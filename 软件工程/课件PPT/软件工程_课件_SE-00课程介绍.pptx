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3.webp" ContentType="image/webp"/>
  <Override PartName="/ppt/media/image20.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1"/>
  </p:handoutMasterIdLst>
  <p:sldIdLst>
    <p:sldId id="256" r:id="rId3"/>
    <p:sldId id="760" r:id="rId5"/>
    <p:sldId id="762" r:id="rId6"/>
    <p:sldId id="836" r:id="rId7"/>
    <p:sldId id="761" r:id="rId8"/>
    <p:sldId id="763" r:id="rId9"/>
    <p:sldId id="764" r:id="rId10"/>
    <p:sldId id="938" r:id="rId11"/>
    <p:sldId id="939" r:id="rId12"/>
    <p:sldId id="940" r:id="rId13"/>
    <p:sldId id="941" r:id="rId14"/>
    <p:sldId id="833" r:id="rId15"/>
    <p:sldId id="955" r:id="rId16"/>
    <p:sldId id="987" r:id="rId17"/>
    <p:sldId id="835" r:id="rId18"/>
    <p:sldId id="986" r:id="rId19"/>
    <p:sldId id="988" r:id="rId20"/>
    <p:sldId id="989" r:id="rId21"/>
    <p:sldId id="776" r:id="rId22"/>
    <p:sldId id="777" r:id="rId23"/>
    <p:sldId id="778" r:id="rId24"/>
    <p:sldId id="779" r:id="rId25"/>
    <p:sldId id="781" r:id="rId26"/>
    <p:sldId id="942" r:id="rId27"/>
    <p:sldId id="943" r:id="rId28"/>
    <p:sldId id="944" r:id="rId29"/>
    <p:sldId id="945" r:id="rId30"/>
    <p:sldId id="946" r:id="rId31"/>
    <p:sldId id="947" r:id="rId32"/>
    <p:sldId id="948" r:id="rId33"/>
    <p:sldId id="949" r:id="rId34"/>
    <p:sldId id="950" r:id="rId35"/>
    <p:sldId id="951" r:id="rId36"/>
    <p:sldId id="952" r:id="rId37"/>
    <p:sldId id="957" r:id="rId38"/>
    <p:sldId id="953" r:id="rId39"/>
    <p:sldId id="782" r:id="rId40"/>
    <p:sldId id="956" r:id="rId41"/>
    <p:sldId id="783" r:id="rId42"/>
    <p:sldId id="785" r:id="rId43"/>
    <p:sldId id="787" r:id="rId44"/>
    <p:sldId id="958" r:id="rId45"/>
    <p:sldId id="791" r:id="rId46"/>
    <p:sldId id="792" r:id="rId47"/>
    <p:sldId id="959" r:id="rId48"/>
    <p:sldId id="960" r:id="rId49"/>
    <p:sldId id="446" r:id="rId50"/>
  </p:sldIdLst>
  <p:sldSz cx="9144000" cy="5143500" type="screen16x9"/>
  <p:notesSz cx="6858000" cy="91440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3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0938" autoAdjust="0"/>
  </p:normalViewPr>
  <p:slideViewPr>
    <p:cSldViewPr snapToGrid="0" showGuides="1">
      <p:cViewPr varScale="1">
        <p:scale>
          <a:sx n="94" d="100"/>
          <a:sy n="94" d="100"/>
        </p:scale>
        <p:origin x="1336" y="56"/>
      </p:cViewPr>
      <p:guideLst>
        <p:guide orient="horz" pos="1638"/>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gs" Target="tags/tag37.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9952792-5137-4208-BB93-A7B3587E24F0}" type="doc">
      <dgm:prSet loTypeId="urn:microsoft.com/office/officeart/2005/8/layout/radial6" loCatId="relationship" qsTypeId="urn:microsoft.com/office/officeart/2005/8/quickstyle/simple1" qsCatId="simple" csTypeId="urn:microsoft.com/office/officeart/2005/8/colors/accent2_2" csCatId="accent2" phldr="1"/>
      <dgm:spPr/>
      <dgm:t>
        <a:bodyPr/>
        <a:lstStyle/>
        <a:p>
          <a:endParaRPr lang="zh-CN" altLang="en-US"/>
        </a:p>
      </dgm:t>
    </dgm:pt>
    <dgm:pt modelId="{3E18D9A5-7275-4EB9-88AD-702CC6659E17}">
      <dgm:prSet phldrT="[文本]" custT="1">
        <dgm:style>
          <a:lnRef idx="0">
            <a:schemeClr val="accent1"/>
          </a:lnRef>
          <a:fillRef idx="3">
            <a:schemeClr val="accent1"/>
          </a:fillRef>
          <a:effectRef idx="3">
            <a:schemeClr val="accent1"/>
          </a:effectRef>
          <a:fontRef idx="minor">
            <a:schemeClr val="lt1"/>
          </a:fontRef>
        </dgm:style>
      </dgm:prSet>
      <dgm:spPr/>
      <dgm:t>
        <a:bodyPr/>
        <a:lstStyle/>
        <a:p>
          <a:r>
            <a:rPr lang="zh-CN" altLang="en-US" sz="1600" b="1" smtClean="0"/>
            <a:t>软件工程    知识</a:t>
          </a:r>
          <a:r>
            <a:rPr lang="zh-CN" altLang="en-US" sz="1600" b="1" dirty="0"/>
            <a:t>与实践</a:t>
          </a:r>
        </a:p>
      </dgm:t>
    </dgm:pt>
    <dgm:pt modelId="{C631AA08-A3DA-4450-AD0E-44CCFE1D5B8C}" cxnId="{413F56F1-F6E1-40DA-952E-5F390145BAEB}" type="parTrans">
      <dgm:prSet/>
      <dgm:spPr/>
      <dgm:t>
        <a:bodyPr/>
        <a:lstStyle/>
        <a:p>
          <a:endParaRPr lang="zh-CN" altLang="en-US" sz="1600" b="1"/>
        </a:p>
      </dgm:t>
    </dgm:pt>
    <dgm:pt modelId="{40600948-B996-424D-A821-5B5C8BB87987}" cxnId="{413F56F1-F6E1-40DA-952E-5F390145BAEB}" type="sibTrans">
      <dgm:prSet/>
      <dgm:spPr/>
      <dgm:t>
        <a:bodyPr/>
        <a:lstStyle/>
        <a:p>
          <a:endParaRPr lang="zh-CN" altLang="en-US" sz="1600" b="1"/>
        </a:p>
      </dgm:t>
    </dgm:pt>
    <dgm:pt modelId="{116A9A81-3EA7-4824-85EB-03C083027D38}">
      <dgm:prSet phldrT="[文本]" custT="1">
        <dgm:style>
          <a:lnRef idx="0">
            <a:schemeClr val="accent1"/>
          </a:lnRef>
          <a:fillRef idx="3">
            <a:schemeClr val="accent1"/>
          </a:fillRef>
          <a:effectRef idx="3">
            <a:schemeClr val="accent1"/>
          </a:effectRef>
          <a:fontRef idx="minor">
            <a:schemeClr val="lt1"/>
          </a:fontRef>
        </dgm:style>
      </dgm:prSet>
      <dgm:spPr/>
      <dgm:t>
        <a:bodyPr/>
        <a:lstStyle/>
        <a:p>
          <a:r>
            <a:rPr lang="zh-CN" altLang="en-US" sz="1600" b="1" dirty="0"/>
            <a:t>工程科学</a:t>
          </a:r>
          <a:r>
            <a:rPr lang="zh-CN" altLang="en-US" sz="1600" b="1" dirty="0" smtClean="0"/>
            <a:t>知识    与</a:t>
          </a:r>
          <a:r>
            <a:rPr lang="zh-CN" altLang="en-US" sz="1600" b="1" dirty="0"/>
            <a:t>实践</a:t>
          </a:r>
        </a:p>
      </dgm:t>
    </dgm:pt>
    <dgm:pt modelId="{E361BBE0-7D88-409C-9896-5615FE7F8672}" cxnId="{CB26F26D-5F0A-4AF0-97CB-13BF527CA702}" type="parTrans">
      <dgm:prSet/>
      <dgm:spPr/>
      <dgm:t>
        <a:bodyPr/>
        <a:lstStyle/>
        <a:p>
          <a:endParaRPr lang="zh-CN" altLang="en-US" sz="1600" b="1"/>
        </a:p>
      </dgm:t>
    </dgm:pt>
    <dgm:pt modelId="{6EE9A516-D570-4EBA-A49C-CB83BE4A8E4E}" cxnId="{CB26F26D-5F0A-4AF0-97CB-13BF527CA702}" type="sibTrans">
      <dgm:prSet/>
      <dgm:spPr/>
      <dgm:t>
        <a:bodyPr/>
        <a:lstStyle/>
        <a:p>
          <a:endParaRPr lang="zh-CN" altLang="en-US" sz="1600" b="1"/>
        </a:p>
      </dgm:t>
    </dgm:pt>
    <dgm:pt modelId="{1F715CAA-2035-4ADF-A7A1-EBDDC74E3C7F}">
      <dgm:prSet phldrT="[文本]" custT="1">
        <dgm:style>
          <a:lnRef idx="0">
            <a:schemeClr val="accent1"/>
          </a:lnRef>
          <a:fillRef idx="3">
            <a:schemeClr val="accent1"/>
          </a:fillRef>
          <a:effectRef idx="3">
            <a:schemeClr val="accent1"/>
          </a:effectRef>
          <a:fontRef idx="minor">
            <a:schemeClr val="lt1"/>
          </a:fontRef>
        </dgm:style>
      </dgm:prSet>
      <dgm:spPr/>
      <dgm:t>
        <a:bodyPr/>
        <a:lstStyle/>
        <a:p>
          <a:r>
            <a:rPr lang="zh-CN" altLang="en-US" sz="1600" b="1"/>
            <a:t>管理科学</a:t>
          </a:r>
          <a:r>
            <a:rPr lang="zh-CN" altLang="en-US" sz="1600" b="1" smtClean="0"/>
            <a:t>知识    与</a:t>
          </a:r>
          <a:r>
            <a:rPr lang="zh-CN" altLang="en-US" sz="1600" b="1" dirty="0"/>
            <a:t>实践</a:t>
          </a:r>
        </a:p>
      </dgm:t>
    </dgm:pt>
    <dgm:pt modelId="{12F63D4B-413A-46DA-8567-7E0C849D23C1}" cxnId="{CAB2F15A-6ED8-4E66-845E-27856D3B79C9}" type="parTrans">
      <dgm:prSet/>
      <dgm:spPr/>
      <dgm:t>
        <a:bodyPr/>
        <a:lstStyle/>
        <a:p>
          <a:endParaRPr lang="zh-CN" altLang="en-US" sz="1600" b="1"/>
        </a:p>
      </dgm:t>
    </dgm:pt>
    <dgm:pt modelId="{696F3BE8-1AC7-4A0F-B4EC-37C82A5C48E9}" cxnId="{CAB2F15A-6ED8-4E66-845E-27856D3B79C9}" type="sibTrans">
      <dgm:prSet/>
      <dgm:spPr/>
      <dgm:t>
        <a:bodyPr/>
        <a:lstStyle/>
        <a:p>
          <a:endParaRPr lang="zh-CN" altLang="en-US" sz="1600" b="1"/>
        </a:p>
      </dgm:t>
    </dgm:pt>
    <dgm:pt modelId="{AD36AC00-301E-4B1F-8022-DEA03FE78F9F}">
      <dgm:prSet phldrT="[文本]" custT="1">
        <dgm:style>
          <a:lnRef idx="0">
            <a:schemeClr val="accent1"/>
          </a:lnRef>
          <a:fillRef idx="3">
            <a:schemeClr val="accent1"/>
          </a:fillRef>
          <a:effectRef idx="3">
            <a:schemeClr val="accent1"/>
          </a:effectRef>
          <a:fontRef idx="minor">
            <a:schemeClr val="lt1"/>
          </a:fontRef>
        </dgm:style>
      </dgm:prSet>
      <dgm:spPr/>
      <dgm:t>
        <a:bodyPr/>
        <a:lstStyle/>
        <a:p>
          <a:r>
            <a:rPr lang="zh-CN" altLang="en-US" sz="1600" b="1" smtClean="0"/>
            <a:t>计算机 科学</a:t>
          </a:r>
          <a:r>
            <a:rPr lang="zh-CN" altLang="en-US" sz="1600" b="1" dirty="0"/>
            <a:t>基本原理</a:t>
          </a:r>
        </a:p>
      </dgm:t>
    </dgm:pt>
    <dgm:pt modelId="{574A61F7-9DAC-454D-85AF-AB138046E4F5}" cxnId="{0FE2D321-4A17-4185-A636-5AF0E5DAABC2}" type="parTrans">
      <dgm:prSet/>
      <dgm:spPr/>
      <dgm:t>
        <a:bodyPr/>
        <a:lstStyle/>
        <a:p>
          <a:endParaRPr lang="zh-CN" altLang="en-US" sz="1600" b="1"/>
        </a:p>
      </dgm:t>
    </dgm:pt>
    <dgm:pt modelId="{5D369EF9-3BC0-47D2-A360-3E608888BD58}" cxnId="{0FE2D321-4A17-4185-A636-5AF0E5DAABC2}" type="sibTrans">
      <dgm:prSet/>
      <dgm:spPr/>
      <dgm:t>
        <a:bodyPr/>
        <a:lstStyle/>
        <a:p>
          <a:endParaRPr lang="zh-CN" altLang="en-US" sz="1600" b="1"/>
        </a:p>
      </dgm:t>
    </dgm:pt>
    <dgm:pt modelId="{BC071D49-535B-4161-8B0B-694C70E786D3}">
      <dgm:prSet phldrT="[文本]" custT="1">
        <dgm:style>
          <a:lnRef idx="0">
            <a:schemeClr val="accent1"/>
          </a:lnRef>
          <a:fillRef idx="3">
            <a:schemeClr val="accent1"/>
          </a:fillRef>
          <a:effectRef idx="3">
            <a:schemeClr val="accent1"/>
          </a:effectRef>
          <a:fontRef idx="minor">
            <a:schemeClr val="lt1"/>
          </a:fontRef>
        </dgm:style>
      </dgm:prSet>
      <dgm:spPr/>
      <dgm:t>
        <a:bodyPr/>
        <a:lstStyle/>
        <a:p>
          <a:r>
            <a:rPr lang="zh-CN" altLang="en-US" sz="1600" b="1"/>
            <a:t>应用</a:t>
          </a:r>
          <a:r>
            <a:rPr lang="zh-CN" altLang="en-US" sz="1600" b="1" smtClean="0"/>
            <a:t>领域知识    与实践</a:t>
          </a:r>
          <a:endParaRPr lang="zh-CN" altLang="en-US" sz="1600" b="1" dirty="0"/>
        </a:p>
      </dgm:t>
    </dgm:pt>
    <dgm:pt modelId="{EB3CDFAD-4968-47C9-8F6B-F37C796FE138}" cxnId="{9B476020-2970-4CB5-870C-2019CD3FE582}" type="parTrans">
      <dgm:prSet/>
      <dgm:spPr/>
      <dgm:t>
        <a:bodyPr/>
        <a:lstStyle/>
        <a:p>
          <a:endParaRPr lang="zh-CN" altLang="en-US" sz="1600" b="1"/>
        </a:p>
      </dgm:t>
    </dgm:pt>
    <dgm:pt modelId="{C98C2634-9D67-4EEC-8EF0-F1B58E5EDAD5}" cxnId="{9B476020-2970-4CB5-870C-2019CD3FE582}" type="sibTrans">
      <dgm:prSet/>
      <dgm:spPr/>
      <dgm:t>
        <a:bodyPr/>
        <a:lstStyle/>
        <a:p>
          <a:endParaRPr lang="zh-CN" altLang="en-US" sz="1600" b="1"/>
        </a:p>
      </dgm:t>
    </dgm:pt>
    <dgm:pt modelId="{6C41D608-5248-47E6-94C8-27ACDD552611}">
      <dgm:prSet phldrT="[文本]" custT="1">
        <dgm:style>
          <a:lnRef idx="0">
            <a:schemeClr val="accent1"/>
          </a:lnRef>
          <a:fillRef idx="3">
            <a:schemeClr val="accent1"/>
          </a:fillRef>
          <a:effectRef idx="3">
            <a:schemeClr val="accent1"/>
          </a:effectRef>
          <a:fontRef idx="minor">
            <a:schemeClr val="lt1"/>
          </a:fontRef>
        </dgm:style>
      </dgm:prSet>
      <dgm:spPr/>
      <dgm:t>
        <a:bodyPr/>
        <a:lstStyle/>
        <a:p>
          <a:r>
            <a:rPr lang="zh-CN" altLang="en-US" sz="1600" b="1" dirty="0"/>
            <a:t>数学基本原理</a:t>
          </a:r>
        </a:p>
      </dgm:t>
    </dgm:pt>
    <dgm:pt modelId="{EA4BDDEF-4E7B-42E2-BBDA-98CAEDDF0BA1}" cxnId="{E2F982D1-CFCC-4108-A219-522639B70FFC}" type="parTrans">
      <dgm:prSet/>
      <dgm:spPr/>
      <dgm:t>
        <a:bodyPr/>
        <a:lstStyle/>
        <a:p>
          <a:endParaRPr lang="zh-CN" altLang="en-US" sz="1600" b="1"/>
        </a:p>
      </dgm:t>
    </dgm:pt>
    <dgm:pt modelId="{B5EE4DBE-086E-44F3-BD36-30382E4CFD7A}" cxnId="{E2F982D1-CFCC-4108-A219-522639B70FFC}" type="sibTrans">
      <dgm:prSet/>
      <dgm:spPr/>
      <dgm:t>
        <a:bodyPr/>
        <a:lstStyle/>
        <a:p>
          <a:endParaRPr lang="zh-CN" altLang="en-US" sz="1600" b="1"/>
        </a:p>
      </dgm:t>
    </dgm:pt>
    <dgm:pt modelId="{4FB2991B-76B8-45BD-84F0-52084889DB79}" type="pres">
      <dgm:prSet presAssocID="{09952792-5137-4208-BB93-A7B3587E24F0}" presName="Name0" presStyleCnt="0">
        <dgm:presLayoutVars>
          <dgm:chMax val="1"/>
          <dgm:dir/>
          <dgm:animLvl val="ctr"/>
          <dgm:resizeHandles val="exact"/>
        </dgm:presLayoutVars>
      </dgm:prSet>
      <dgm:spPr/>
      <dgm:t>
        <a:bodyPr/>
        <a:lstStyle/>
        <a:p>
          <a:endParaRPr lang="zh-CN" altLang="en-US"/>
        </a:p>
      </dgm:t>
    </dgm:pt>
    <dgm:pt modelId="{82BECA90-79FA-49E9-9062-4A6D669239C9}" type="pres">
      <dgm:prSet presAssocID="{3E18D9A5-7275-4EB9-88AD-702CC6659E17}" presName="centerShape" presStyleLbl="node0" presStyleIdx="0" presStyleCnt="1"/>
      <dgm:spPr/>
      <dgm:t>
        <a:bodyPr/>
        <a:lstStyle/>
        <a:p>
          <a:endParaRPr lang="zh-CN" altLang="en-US"/>
        </a:p>
      </dgm:t>
    </dgm:pt>
    <dgm:pt modelId="{A24108F3-8CB5-45F3-B48A-C1D4256B7D78}" type="pres">
      <dgm:prSet presAssocID="{116A9A81-3EA7-4824-85EB-03C083027D38}" presName="node" presStyleLbl="node1" presStyleIdx="0" presStyleCnt="5" custRadScaleRad="98401" custRadScaleInc="-1943">
        <dgm:presLayoutVars>
          <dgm:bulletEnabled val="1"/>
        </dgm:presLayoutVars>
      </dgm:prSet>
      <dgm:spPr/>
      <dgm:t>
        <a:bodyPr/>
        <a:lstStyle/>
        <a:p>
          <a:endParaRPr lang="zh-CN" altLang="en-US"/>
        </a:p>
      </dgm:t>
    </dgm:pt>
    <dgm:pt modelId="{B6D73883-1E92-46B1-9109-BFB5B3856F6D}" type="pres">
      <dgm:prSet presAssocID="{116A9A81-3EA7-4824-85EB-03C083027D38}" presName="dummy" presStyleCnt="0"/>
      <dgm:spPr/>
    </dgm:pt>
    <dgm:pt modelId="{16771D46-420E-4920-B417-6CF22195BD73}" type="pres">
      <dgm:prSet presAssocID="{6EE9A516-D570-4EBA-A49C-CB83BE4A8E4E}" presName="sibTrans" presStyleLbl="sibTrans2D1" presStyleIdx="0" presStyleCnt="5"/>
      <dgm:spPr/>
      <dgm:t>
        <a:bodyPr/>
        <a:lstStyle/>
        <a:p>
          <a:endParaRPr lang="zh-CN" altLang="en-US"/>
        </a:p>
      </dgm:t>
    </dgm:pt>
    <dgm:pt modelId="{4F0A375C-E17C-4ACE-9F63-538403976CAF}" type="pres">
      <dgm:prSet presAssocID="{1F715CAA-2035-4ADF-A7A1-EBDDC74E3C7F}" presName="node" presStyleLbl="node1" presStyleIdx="1" presStyleCnt="5">
        <dgm:presLayoutVars>
          <dgm:bulletEnabled val="1"/>
        </dgm:presLayoutVars>
      </dgm:prSet>
      <dgm:spPr/>
      <dgm:t>
        <a:bodyPr/>
        <a:lstStyle/>
        <a:p>
          <a:endParaRPr lang="zh-CN" altLang="en-US"/>
        </a:p>
      </dgm:t>
    </dgm:pt>
    <dgm:pt modelId="{4ABA47E5-C297-44E5-AB47-AFD272BA2A25}" type="pres">
      <dgm:prSet presAssocID="{1F715CAA-2035-4ADF-A7A1-EBDDC74E3C7F}" presName="dummy" presStyleCnt="0"/>
      <dgm:spPr/>
    </dgm:pt>
    <dgm:pt modelId="{D555D3AD-E20E-4BBD-B7A4-0715E572DA86}" type="pres">
      <dgm:prSet presAssocID="{696F3BE8-1AC7-4A0F-B4EC-37C82A5C48E9}" presName="sibTrans" presStyleLbl="sibTrans2D1" presStyleIdx="1" presStyleCnt="5"/>
      <dgm:spPr/>
      <dgm:t>
        <a:bodyPr/>
        <a:lstStyle/>
        <a:p>
          <a:endParaRPr lang="zh-CN" altLang="en-US"/>
        </a:p>
      </dgm:t>
    </dgm:pt>
    <dgm:pt modelId="{77A4AF19-2B34-4E86-AF39-9E2F32B71372}" type="pres">
      <dgm:prSet presAssocID="{AD36AC00-301E-4B1F-8022-DEA03FE78F9F}" presName="node" presStyleLbl="node1" presStyleIdx="2" presStyleCnt="5">
        <dgm:presLayoutVars>
          <dgm:bulletEnabled val="1"/>
        </dgm:presLayoutVars>
      </dgm:prSet>
      <dgm:spPr/>
      <dgm:t>
        <a:bodyPr/>
        <a:lstStyle/>
        <a:p>
          <a:endParaRPr lang="zh-CN" altLang="en-US"/>
        </a:p>
      </dgm:t>
    </dgm:pt>
    <dgm:pt modelId="{0FA94509-EBB7-4137-8A69-2FE30E45BDAE}" type="pres">
      <dgm:prSet presAssocID="{AD36AC00-301E-4B1F-8022-DEA03FE78F9F}" presName="dummy" presStyleCnt="0"/>
      <dgm:spPr/>
    </dgm:pt>
    <dgm:pt modelId="{3C37C773-E192-43C4-A4F0-EBA5A8091007}" type="pres">
      <dgm:prSet presAssocID="{5D369EF9-3BC0-47D2-A360-3E608888BD58}" presName="sibTrans" presStyleLbl="sibTrans2D1" presStyleIdx="2" presStyleCnt="5"/>
      <dgm:spPr/>
      <dgm:t>
        <a:bodyPr/>
        <a:lstStyle/>
        <a:p>
          <a:endParaRPr lang="zh-CN" altLang="en-US"/>
        </a:p>
      </dgm:t>
    </dgm:pt>
    <dgm:pt modelId="{6A235932-C342-47CF-832F-4BD231AAC330}" type="pres">
      <dgm:prSet presAssocID="{BC071D49-535B-4161-8B0B-694C70E786D3}" presName="node" presStyleLbl="node1" presStyleIdx="3" presStyleCnt="5">
        <dgm:presLayoutVars>
          <dgm:bulletEnabled val="1"/>
        </dgm:presLayoutVars>
      </dgm:prSet>
      <dgm:spPr/>
      <dgm:t>
        <a:bodyPr/>
        <a:lstStyle/>
        <a:p>
          <a:endParaRPr lang="zh-CN" altLang="en-US"/>
        </a:p>
      </dgm:t>
    </dgm:pt>
    <dgm:pt modelId="{8AD0E077-0B32-4808-B2AD-21EDCA1F019A}" type="pres">
      <dgm:prSet presAssocID="{BC071D49-535B-4161-8B0B-694C70E786D3}" presName="dummy" presStyleCnt="0"/>
      <dgm:spPr/>
    </dgm:pt>
    <dgm:pt modelId="{80A0B5F3-E2E8-46DE-A24A-6CCE578F77D6}" type="pres">
      <dgm:prSet presAssocID="{C98C2634-9D67-4EEC-8EF0-F1B58E5EDAD5}" presName="sibTrans" presStyleLbl="sibTrans2D1" presStyleIdx="3" presStyleCnt="5"/>
      <dgm:spPr/>
      <dgm:t>
        <a:bodyPr/>
        <a:lstStyle/>
        <a:p>
          <a:endParaRPr lang="zh-CN" altLang="en-US"/>
        </a:p>
      </dgm:t>
    </dgm:pt>
    <dgm:pt modelId="{8EFDF3F2-7F03-4019-9D26-39F87268FD92}" type="pres">
      <dgm:prSet presAssocID="{6C41D608-5248-47E6-94C8-27ACDD552611}" presName="node" presStyleLbl="node1" presStyleIdx="4" presStyleCnt="5">
        <dgm:presLayoutVars>
          <dgm:bulletEnabled val="1"/>
        </dgm:presLayoutVars>
      </dgm:prSet>
      <dgm:spPr/>
      <dgm:t>
        <a:bodyPr/>
        <a:lstStyle/>
        <a:p>
          <a:endParaRPr lang="zh-CN" altLang="en-US"/>
        </a:p>
      </dgm:t>
    </dgm:pt>
    <dgm:pt modelId="{1DB8373B-4963-4F30-ADBC-A3D4524E1849}" type="pres">
      <dgm:prSet presAssocID="{6C41D608-5248-47E6-94C8-27ACDD552611}" presName="dummy" presStyleCnt="0"/>
      <dgm:spPr/>
    </dgm:pt>
    <dgm:pt modelId="{38600450-4636-4107-A3CE-AE27A3B35D3E}" type="pres">
      <dgm:prSet presAssocID="{B5EE4DBE-086E-44F3-BD36-30382E4CFD7A}" presName="sibTrans" presStyleLbl="sibTrans2D1" presStyleIdx="4" presStyleCnt="5"/>
      <dgm:spPr/>
      <dgm:t>
        <a:bodyPr/>
        <a:lstStyle/>
        <a:p>
          <a:endParaRPr lang="zh-CN" altLang="en-US"/>
        </a:p>
      </dgm:t>
    </dgm:pt>
  </dgm:ptLst>
  <dgm:cxnLst>
    <dgm:cxn modelId="{9B476020-2970-4CB5-870C-2019CD3FE582}" srcId="{3E18D9A5-7275-4EB9-88AD-702CC6659E17}" destId="{BC071D49-535B-4161-8B0B-694C70E786D3}" srcOrd="3" destOrd="0" parTransId="{EB3CDFAD-4968-47C9-8F6B-F37C796FE138}" sibTransId="{C98C2634-9D67-4EEC-8EF0-F1B58E5EDAD5}"/>
    <dgm:cxn modelId="{CB26F26D-5F0A-4AF0-97CB-13BF527CA702}" srcId="{3E18D9A5-7275-4EB9-88AD-702CC6659E17}" destId="{116A9A81-3EA7-4824-85EB-03C083027D38}" srcOrd="0" destOrd="0" parTransId="{E361BBE0-7D88-409C-9896-5615FE7F8672}" sibTransId="{6EE9A516-D570-4EBA-A49C-CB83BE4A8E4E}"/>
    <dgm:cxn modelId="{9171EB99-44AD-45FD-A6AE-78C9CA757BFF}" type="presOf" srcId="{6EE9A516-D570-4EBA-A49C-CB83BE4A8E4E}" destId="{16771D46-420E-4920-B417-6CF22195BD73}" srcOrd="0" destOrd="0" presId="urn:microsoft.com/office/officeart/2005/8/layout/radial6"/>
    <dgm:cxn modelId="{0FE2D321-4A17-4185-A636-5AF0E5DAABC2}" srcId="{3E18D9A5-7275-4EB9-88AD-702CC6659E17}" destId="{AD36AC00-301E-4B1F-8022-DEA03FE78F9F}" srcOrd="2" destOrd="0" parTransId="{574A61F7-9DAC-454D-85AF-AB138046E4F5}" sibTransId="{5D369EF9-3BC0-47D2-A360-3E608888BD58}"/>
    <dgm:cxn modelId="{F4DEC180-F55A-46A5-B653-D80EF9376847}" type="presOf" srcId="{1F715CAA-2035-4ADF-A7A1-EBDDC74E3C7F}" destId="{4F0A375C-E17C-4ACE-9F63-538403976CAF}" srcOrd="0" destOrd="0" presId="urn:microsoft.com/office/officeart/2005/8/layout/radial6"/>
    <dgm:cxn modelId="{EF291C0C-D337-45C9-B797-25FA98377F73}" type="presOf" srcId="{09952792-5137-4208-BB93-A7B3587E24F0}" destId="{4FB2991B-76B8-45BD-84F0-52084889DB79}" srcOrd="0" destOrd="0" presId="urn:microsoft.com/office/officeart/2005/8/layout/radial6"/>
    <dgm:cxn modelId="{413F56F1-F6E1-40DA-952E-5F390145BAEB}" srcId="{09952792-5137-4208-BB93-A7B3587E24F0}" destId="{3E18D9A5-7275-4EB9-88AD-702CC6659E17}" srcOrd="0" destOrd="0" parTransId="{C631AA08-A3DA-4450-AD0E-44CCFE1D5B8C}" sibTransId="{40600948-B996-424D-A821-5B5C8BB87987}"/>
    <dgm:cxn modelId="{AA84EC20-3157-44F5-9C56-ED5324CBE026}" type="presOf" srcId="{B5EE4DBE-086E-44F3-BD36-30382E4CFD7A}" destId="{38600450-4636-4107-A3CE-AE27A3B35D3E}" srcOrd="0" destOrd="0" presId="urn:microsoft.com/office/officeart/2005/8/layout/radial6"/>
    <dgm:cxn modelId="{B325538C-BA7C-4375-8956-5FDE6C3046C3}" type="presOf" srcId="{116A9A81-3EA7-4824-85EB-03C083027D38}" destId="{A24108F3-8CB5-45F3-B48A-C1D4256B7D78}" srcOrd="0" destOrd="0" presId="urn:microsoft.com/office/officeart/2005/8/layout/radial6"/>
    <dgm:cxn modelId="{17B233F2-1133-4DD8-AE10-C4E523FED80D}" type="presOf" srcId="{C98C2634-9D67-4EEC-8EF0-F1B58E5EDAD5}" destId="{80A0B5F3-E2E8-46DE-A24A-6CCE578F77D6}" srcOrd="0" destOrd="0" presId="urn:microsoft.com/office/officeart/2005/8/layout/radial6"/>
    <dgm:cxn modelId="{7536000D-CD6A-4FF7-96FA-A0B8DB3FF0EC}" type="presOf" srcId="{696F3BE8-1AC7-4A0F-B4EC-37C82A5C48E9}" destId="{D555D3AD-E20E-4BBD-B7A4-0715E572DA86}" srcOrd="0" destOrd="0" presId="urn:microsoft.com/office/officeart/2005/8/layout/radial6"/>
    <dgm:cxn modelId="{6B1FD6C7-BB56-4392-A1BB-4A10027462A0}" type="presOf" srcId="{6C41D608-5248-47E6-94C8-27ACDD552611}" destId="{8EFDF3F2-7F03-4019-9D26-39F87268FD92}" srcOrd="0" destOrd="0" presId="urn:microsoft.com/office/officeart/2005/8/layout/radial6"/>
    <dgm:cxn modelId="{5075BB99-6B2E-4B2F-9FE0-6E6CA0171AD9}" type="presOf" srcId="{3E18D9A5-7275-4EB9-88AD-702CC6659E17}" destId="{82BECA90-79FA-49E9-9062-4A6D669239C9}" srcOrd="0" destOrd="0" presId="urn:microsoft.com/office/officeart/2005/8/layout/radial6"/>
    <dgm:cxn modelId="{CAB2F15A-6ED8-4E66-845E-27856D3B79C9}" srcId="{3E18D9A5-7275-4EB9-88AD-702CC6659E17}" destId="{1F715CAA-2035-4ADF-A7A1-EBDDC74E3C7F}" srcOrd="1" destOrd="0" parTransId="{12F63D4B-413A-46DA-8567-7E0C849D23C1}" sibTransId="{696F3BE8-1AC7-4A0F-B4EC-37C82A5C48E9}"/>
    <dgm:cxn modelId="{2F621699-6D94-4901-A609-21963D993F05}" type="presOf" srcId="{5D369EF9-3BC0-47D2-A360-3E608888BD58}" destId="{3C37C773-E192-43C4-A4F0-EBA5A8091007}" srcOrd="0" destOrd="0" presId="urn:microsoft.com/office/officeart/2005/8/layout/radial6"/>
    <dgm:cxn modelId="{E2F982D1-CFCC-4108-A219-522639B70FFC}" srcId="{3E18D9A5-7275-4EB9-88AD-702CC6659E17}" destId="{6C41D608-5248-47E6-94C8-27ACDD552611}" srcOrd="4" destOrd="0" parTransId="{EA4BDDEF-4E7B-42E2-BBDA-98CAEDDF0BA1}" sibTransId="{B5EE4DBE-086E-44F3-BD36-30382E4CFD7A}"/>
    <dgm:cxn modelId="{F9E98374-FF21-45CE-9F5D-FE391951B20A}" type="presOf" srcId="{BC071D49-535B-4161-8B0B-694C70E786D3}" destId="{6A235932-C342-47CF-832F-4BD231AAC330}" srcOrd="0" destOrd="0" presId="urn:microsoft.com/office/officeart/2005/8/layout/radial6"/>
    <dgm:cxn modelId="{6B48AF0D-6F5B-4317-A427-C18CAF279895}" type="presOf" srcId="{AD36AC00-301E-4B1F-8022-DEA03FE78F9F}" destId="{77A4AF19-2B34-4E86-AF39-9E2F32B71372}" srcOrd="0" destOrd="0" presId="urn:microsoft.com/office/officeart/2005/8/layout/radial6"/>
    <dgm:cxn modelId="{3EF06A9A-79CD-45EC-ACBB-6DC6342150EC}" type="presParOf" srcId="{4FB2991B-76B8-45BD-84F0-52084889DB79}" destId="{82BECA90-79FA-49E9-9062-4A6D669239C9}" srcOrd="0" destOrd="0" presId="urn:microsoft.com/office/officeart/2005/8/layout/radial6"/>
    <dgm:cxn modelId="{8075392A-82B9-4636-9112-25550808CA27}" type="presParOf" srcId="{4FB2991B-76B8-45BD-84F0-52084889DB79}" destId="{A24108F3-8CB5-45F3-B48A-C1D4256B7D78}" srcOrd="1" destOrd="0" presId="urn:microsoft.com/office/officeart/2005/8/layout/radial6"/>
    <dgm:cxn modelId="{011DE2D2-C865-4F51-96C1-726A4687670A}" type="presParOf" srcId="{4FB2991B-76B8-45BD-84F0-52084889DB79}" destId="{B6D73883-1E92-46B1-9109-BFB5B3856F6D}" srcOrd="2" destOrd="0" presId="urn:microsoft.com/office/officeart/2005/8/layout/radial6"/>
    <dgm:cxn modelId="{19AB32FB-3646-402F-B766-F369A348A1EA}" type="presParOf" srcId="{4FB2991B-76B8-45BD-84F0-52084889DB79}" destId="{16771D46-420E-4920-B417-6CF22195BD73}" srcOrd="3" destOrd="0" presId="urn:microsoft.com/office/officeart/2005/8/layout/radial6"/>
    <dgm:cxn modelId="{5B36AD5E-B475-4A93-BBBA-EEE565AF77E7}" type="presParOf" srcId="{4FB2991B-76B8-45BD-84F0-52084889DB79}" destId="{4F0A375C-E17C-4ACE-9F63-538403976CAF}" srcOrd="4" destOrd="0" presId="urn:microsoft.com/office/officeart/2005/8/layout/radial6"/>
    <dgm:cxn modelId="{1E300BE8-EB67-4893-99EB-8AE31842B85F}" type="presParOf" srcId="{4FB2991B-76B8-45BD-84F0-52084889DB79}" destId="{4ABA47E5-C297-44E5-AB47-AFD272BA2A25}" srcOrd="5" destOrd="0" presId="urn:microsoft.com/office/officeart/2005/8/layout/radial6"/>
    <dgm:cxn modelId="{8E38CE53-FCF8-4F1C-B502-9D8A79781C21}" type="presParOf" srcId="{4FB2991B-76B8-45BD-84F0-52084889DB79}" destId="{D555D3AD-E20E-4BBD-B7A4-0715E572DA86}" srcOrd="6" destOrd="0" presId="urn:microsoft.com/office/officeart/2005/8/layout/radial6"/>
    <dgm:cxn modelId="{BBA3238E-6FCD-4553-828E-62CB0E230195}" type="presParOf" srcId="{4FB2991B-76B8-45BD-84F0-52084889DB79}" destId="{77A4AF19-2B34-4E86-AF39-9E2F32B71372}" srcOrd="7" destOrd="0" presId="urn:microsoft.com/office/officeart/2005/8/layout/radial6"/>
    <dgm:cxn modelId="{B1678102-5C01-471E-9F92-39379CE77BBE}" type="presParOf" srcId="{4FB2991B-76B8-45BD-84F0-52084889DB79}" destId="{0FA94509-EBB7-4137-8A69-2FE30E45BDAE}" srcOrd="8" destOrd="0" presId="urn:microsoft.com/office/officeart/2005/8/layout/radial6"/>
    <dgm:cxn modelId="{7BC8E71E-56F9-43F4-A580-2945B6412790}" type="presParOf" srcId="{4FB2991B-76B8-45BD-84F0-52084889DB79}" destId="{3C37C773-E192-43C4-A4F0-EBA5A8091007}" srcOrd="9" destOrd="0" presId="urn:microsoft.com/office/officeart/2005/8/layout/radial6"/>
    <dgm:cxn modelId="{BDDF47AE-5C27-4FEF-BAA6-6FD8CF63EC54}" type="presParOf" srcId="{4FB2991B-76B8-45BD-84F0-52084889DB79}" destId="{6A235932-C342-47CF-832F-4BD231AAC330}" srcOrd="10" destOrd="0" presId="urn:microsoft.com/office/officeart/2005/8/layout/radial6"/>
    <dgm:cxn modelId="{219CF895-00D4-4393-BABF-1FB73EE06A72}" type="presParOf" srcId="{4FB2991B-76B8-45BD-84F0-52084889DB79}" destId="{8AD0E077-0B32-4808-B2AD-21EDCA1F019A}" srcOrd="11" destOrd="0" presId="urn:microsoft.com/office/officeart/2005/8/layout/radial6"/>
    <dgm:cxn modelId="{D1C63EC2-770A-4C30-8585-250C57B2BF52}" type="presParOf" srcId="{4FB2991B-76B8-45BD-84F0-52084889DB79}" destId="{80A0B5F3-E2E8-46DE-A24A-6CCE578F77D6}" srcOrd="12" destOrd="0" presId="urn:microsoft.com/office/officeart/2005/8/layout/radial6"/>
    <dgm:cxn modelId="{F5975CFF-A82C-44BF-81E4-C4FC3CD634CF}" type="presParOf" srcId="{4FB2991B-76B8-45BD-84F0-52084889DB79}" destId="{8EFDF3F2-7F03-4019-9D26-39F87268FD92}" srcOrd="13" destOrd="0" presId="urn:microsoft.com/office/officeart/2005/8/layout/radial6"/>
    <dgm:cxn modelId="{0F865E47-CCB1-4D8A-AA75-602AE7EC2ECB}" type="presParOf" srcId="{4FB2991B-76B8-45BD-84F0-52084889DB79}" destId="{1DB8373B-4963-4F30-ADBC-A3D4524E1849}" srcOrd="14" destOrd="0" presId="urn:microsoft.com/office/officeart/2005/8/layout/radial6"/>
    <dgm:cxn modelId="{F5234F12-3A36-4E48-9F7D-9F013D6BD3E7}" type="presParOf" srcId="{4FB2991B-76B8-45BD-84F0-52084889DB79}" destId="{38600450-4636-4107-A3CE-AE27A3B35D3E}" srcOrd="15" destOrd="0" presId="urn:microsoft.com/office/officeart/2005/8/layout/radial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498432" cy="3735366"/>
        <a:chOff x="0" y="0"/>
        <a:chExt cx="5498432" cy="3735366"/>
      </a:xfrm>
    </dsp:grpSpPr>
    <dsp:sp modelId="{16771D46-420E-4920-B417-6CF22195BD73}">
      <dsp:nvSpPr>
        <dsp:cNvPr id="5" name="空心弧 4"/>
        <dsp:cNvSpPr/>
      </dsp:nvSpPr>
      <dsp:spPr bwMode="white">
        <a:xfrm>
          <a:off x="1124735" y="403696"/>
          <a:ext cx="3265073" cy="3265073"/>
        </a:xfrm>
        <a:prstGeom prst="blockArc">
          <a:avLst>
            <a:gd name="adj1" fmla="val 16154159"/>
            <a:gd name="adj2" fmla="val 20462244"/>
            <a:gd name="adj3" fmla="val 3962"/>
          </a:avLst>
        </a:prstGeom>
      </dsp:spPr>
      <dsp:style>
        <a:lnRef idx="0">
          <a:schemeClr val="accent2">
            <a:tint val="60000"/>
          </a:schemeClr>
        </a:lnRef>
        <a:fillRef idx="1">
          <a:schemeClr val="accent2">
            <a:tint val="60000"/>
          </a:schemeClr>
        </a:fillRef>
        <a:effectRef idx="0">
          <a:scrgbClr r="0" g="0" b="0"/>
        </a:effectRef>
        <a:fontRef idx="minor">
          <a:schemeClr val="lt1"/>
        </a:fontRef>
      </dsp:style>
      <dsp:txXfrm>
        <a:off x="1124735" y="403696"/>
        <a:ext cx="3265073" cy="3265073"/>
      </dsp:txXfrm>
    </dsp:sp>
    <dsp:sp modelId="{D555D3AD-E20E-4BBD-B7A4-0715E572DA86}">
      <dsp:nvSpPr>
        <dsp:cNvPr id="7" name="空心弧 6"/>
        <dsp:cNvSpPr/>
      </dsp:nvSpPr>
      <dsp:spPr bwMode="white">
        <a:xfrm>
          <a:off x="1116680" y="379593"/>
          <a:ext cx="3265073" cy="3265073"/>
        </a:xfrm>
        <a:prstGeom prst="blockArc">
          <a:avLst>
            <a:gd name="adj1" fmla="val 20520000"/>
            <a:gd name="adj2" fmla="val 3240000"/>
            <a:gd name="adj3" fmla="val 3962"/>
          </a:avLst>
        </a:prstGeom>
      </dsp:spPr>
      <dsp:style>
        <a:lnRef idx="0">
          <a:schemeClr val="accent2">
            <a:tint val="60000"/>
          </a:schemeClr>
        </a:lnRef>
        <a:fillRef idx="1">
          <a:schemeClr val="accent2">
            <a:tint val="60000"/>
          </a:schemeClr>
        </a:fillRef>
        <a:effectRef idx="0">
          <a:scrgbClr r="0" g="0" b="0"/>
        </a:effectRef>
        <a:fontRef idx="minor">
          <a:schemeClr val="lt1"/>
        </a:fontRef>
      </dsp:style>
      <dsp:txXfrm>
        <a:off x="1116680" y="379593"/>
        <a:ext cx="3265073" cy="3265073"/>
      </dsp:txXfrm>
    </dsp:sp>
    <dsp:sp modelId="{3C37C773-E192-43C4-A4F0-EBA5A8091007}">
      <dsp:nvSpPr>
        <dsp:cNvPr id="9" name="空心弧 8"/>
        <dsp:cNvSpPr/>
      </dsp:nvSpPr>
      <dsp:spPr bwMode="white">
        <a:xfrm>
          <a:off x="1116680" y="379593"/>
          <a:ext cx="3265073" cy="3265073"/>
        </a:xfrm>
        <a:prstGeom prst="blockArc">
          <a:avLst>
            <a:gd name="adj1" fmla="val 3240000"/>
            <a:gd name="adj2" fmla="val 7560000"/>
            <a:gd name="adj3" fmla="val 3962"/>
          </a:avLst>
        </a:prstGeom>
      </dsp:spPr>
      <dsp:style>
        <a:lnRef idx="0">
          <a:schemeClr val="accent2">
            <a:tint val="60000"/>
          </a:schemeClr>
        </a:lnRef>
        <a:fillRef idx="1">
          <a:schemeClr val="accent2">
            <a:tint val="60000"/>
          </a:schemeClr>
        </a:fillRef>
        <a:effectRef idx="0">
          <a:scrgbClr r="0" g="0" b="0"/>
        </a:effectRef>
        <a:fontRef idx="minor">
          <a:schemeClr val="lt1"/>
        </a:fontRef>
      </dsp:style>
      <dsp:txXfrm>
        <a:off x="1116680" y="379593"/>
        <a:ext cx="3265073" cy="3265073"/>
      </dsp:txXfrm>
    </dsp:sp>
    <dsp:sp modelId="{80A0B5F3-E2E8-46DE-A24A-6CCE578F77D6}">
      <dsp:nvSpPr>
        <dsp:cNvPr id="11" name="空心弧 10"/>
        <dsp:cNvSpPr/>
      </dsp:nvSpPr>
      <dsp:spPr bwMode="white">
        <a:xfrm>
          <a:off x="1116680" y="379593"/>
          <a:ext cx="3265073" cy="3265073"/>
        </a:xfrm>
        <a:prstGeom prst="blockArc">
          <a:avLst>
            <a:gd name="adj1" fmla="val 7560000"/>
            <a:gd name="adj2" fmla="val 11880000"/>
            <a:gd name="adj3" fmla="val 3962"/>
          </a:avLst>
        </a:prstGeom>
      </dsp:spPr>
      <dsp:style>
        <a:lnRef idx="0">
          <a:schemeClr val="accent2">
            <a:tint val="60000"/>
          </a:schemeClr>
        </a:lnRef>
        <a:fillRef idx="1">
          <a:schemeClr val="accent2">
            <a:tint val="60000"/>
          </a:schemeClr>
        </a:fillRef>
        <a:effectRef idx="0">
          <a:scrgbClr r="0" g="0" b="0"/>
        </a:effectRef>
        <a:fontRef idx="minor">
          <a:schemeClr val="lt1"/>
        </a:fontRef>
      </dsp:style>
      <dsp:txXfrm>
        <a:off x="1116680" y="379593"/>
        <a:ext cx="3265073" cy="3265073"/>
      </dsp:txXfrm>
    </dsp:sp>
    <dsp:sp modelId="{38600450-4636-4107-A3CE-AE27A3B35D3E}">
      <dsp:nvSpPr>
        <dsp:cNvPr id="13" name="空心弧 12"/>
        <dsp:cNvSpPr/>
      </dsp:nvSpPr>
      <dsp:spPr bwMode="white">
        <a:xfrm>
          <a:off x="1108579" y="403825"/>
          <a:ext cx="3265073" cy="3265073"/>
        </a:xfrm>
        <a:prstGeom prst="blockArc">
          <a:avLst>
            <a:gd name="adj1" fmla="val 11938065"/>
            <a:gd name="adj2" fmla="val 16190877"/>
            <a:gd name="adj3" fmla="val 3962"/>
          </a:avLst>
        </a:prstGeom>
      </dsp:spPr>
      <dsp:style>
        <a:lnRef idx="0">
          <a:schemeClr val="accent2">
            <a:tint val="60000"/>
          </a:schemeClr>
        </a:lnRef>
        <a:fillRef idx="1">
          <a:schemeClr val="accent2">
            <a:tint val="60000"/>
          </a:schemeClr>
        </a:fillRef>
        <a:effectRef idx="0">
          <a:scrgbClr r="0" g="0" b="0"/>
        </a:effectRef>
        <a:fontRef idx="minor">
          <a:schemeClr val="lt1"/>
        </a:fontRef>
      </dsp:style>
      <dsp:txXfrm>
        <a:off x="1108579" y="403825"/>
        <a:ext cx="3265073" cy="3265073"/>
      </dsp:txXfrm>
    </dsp:sp>
    <dsp:sp modelId="{82BECA90-79FA-49E9-9062-4A6D669239C9}">
      <dsp:nvSpPr>
        <dsp:cNvPr id="3" name="椭圆 2"/>
        <dsp:cNvSpPr/>
      </dsp:nvSpPr>
      <dsp:spPr bwMode="white">
        <a:xfrm>
          <a:off x="2035695" y="1298608"/>
          <a:ext cx="1427042" cy="1427042"/>
        </a:xfrm>
        <a:prstGeom prst="ellipse">
          <a:avLst/>
        </a:prstGeom>
      </dsp:spPr>
      <dsp:style>
        <a:lnRef idx="0">
          <a:schemeClr val="accent1"/>
        </a:lnRef>
        <a:fillRef idx="3">
          <a:schemeClr val="accent1"/>
        </a:fillRef>
        <a:effectRef idx="3">
          <a:schemeClr val="accent1"/>
        </a:effectRef>
        <a:fontRef idx="minor">
          <a:schemeClr val="lt1"/>
        </a:fontRef>
      </dsp:style>
      <dsp:txBody>
        <a:bodyPr lIns="20320" tIns="20320" rIns="2032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1" smtClean="0"/>
            <a:t>软件工程    知识</a:t>
          </a:r>
          <a:r>
            <a:rPr lang="zh-CN" altLang="en-US" sz="1600" b="1" dirty="0"/>
            <a:t>与实践</a:t>
          </a:r>
        </a:p>
      </dsp:txBody>
      <dsp:txXfrm>
        <a:off x="2035695" y="1298608"/>
        <a:ext cx="1427042" cy="1427042"/>
      </dsp:txXfrm>
    </dsp:sp>
    <dsp:sp modelId="{A24108F3-8CB5-45F3-B48A-C1D4256B7D78}">
      <dsp:nvSpPr>
        <dsp:cNvPr id="4" name="椭圆 3"/>
        <dsp:cNvSpPr/>
      </dsp:nvSpPr>
      <dsp:spPr bwMode="white">
        <a:xfrm>
          <a:off x="2237637" y="24237"/>
          <a:ext cx="998930" cy="998930"/>
        </a:xfrm>
        <a:prstGeom prst="ellipse">
          <a:avLst/>
        </a:prstGeom>
      </dsp:spPr>
      <dsp:style>
        <a:lnRef idx="0">
          <a:schemeClr val="accent1"/>
        </a:lnRef>
        <a:fillRef idx="3">
          <a:schemeClr val="accent1"/>
        </a:fillRef>
        <a:effectRef idx="3">
          <a:schemeClr val="accent1"/>
        </a:effectRef>
        <a:fontRef idx="minor">
          <a:schemeClr val="lt1"/>
        </a:fontRef>
      </dsp:style>
      <dsp:txBody>
        <a:bodyPr lIns="20320" tIns="20320" rIns="20320" bIns="2032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sz="1600" b="1" dirty="0"/>
            <a:t>工程科学</a:t>
          </a:r>
          <a:r>
            <a:rPr lang="zh-CN" altLang="en-US" sz="1600" b="1" dirty="0" smtClean="0"/>
            <a:t>知识    与</a:t>
          </a:r>
          <a:r>
            <a:rPr lang="zh-CN" altLang="en-US" sz="1600" b="1" dirty="0"/>
            <a:t>实践</a:t>
          </a:r>
        </a:p>
      </dsp:txBody>
      <dsp:txXfrm>
        <a:off x="2237637" y="24237"/>
        <a:ext cx="998930" cy="998930"/>
      </dsp:txXfrm>
    </dsp:sp>
    <dsp:sp modelId="{4F0A375C-E17C-4ACE-9F63-538403976CAF}">
      <dsp:nvSpPr>
        <dsp:cNvPr id="6" name="椭圆 5"/>
        <dsp:cNvSpPr/>
      </dsp:nvSpPr>
      <dsp:spPr bwMode="white">
        <a:xfrm>
          <a:off x="3688381" y="1045226"/>
          <a:ext cx="998930" cy="998930"/>
        </a:xfrm>
        <a:prstGeom prst="ellipse">
          <a:avLst/>
        </a:prstGeom>
      </dsp:spPr>
      <dsp:style>
        <a:lnRef idx="0">
          <a:schemeClr val="accent1"/>
        </a:lnRef>
        <a:fillRef idx="3">
          <a:schemeClr val="accent1"/>
        </a:fillRef>
        <a:effectRef idx="3">
          <a:schemeClr val="accent1"/>
        </a:effectRef>
        <a:fontRef idx="minor">
          <a:schemeClr val="lt1"/>
        </a:fontRef>
      </dsp:style>
      <dsp:txBody>
        <a:bodyPr lIns="20320" tIns="20320" rIns="20320" bIns="2032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sz="1600" b="1"/>
            <a:t>管理科学</a:t>
          </a:r>
          <a:r>
            <a:rPr lang="zh-CN" altLang="en-US" sz="1600" b="1" smtClean="0"/>
            <a:t>知识    与</a:t>
          </a:r>
          <a:r>
            <a:rPr lang="zh-CN" altLang="en-US" sz="1600" b="1" dirty="0"/>
            <a:t>实践</a:t>
          </a:r>
        </a:p>
      </dsp:txBody>
      <dsp:txXfrm>
        <a:off x="3688381" y="1045226"/>
        <a:ext cx="998930" cy="998930"/>
      </dsp:txXfrm>
    </dsp:sp>
    <dsp:sp modelId="{77A4AF19-2B34-4E86-AF39-9E2F32B71372}">
      <dsp:nvSpPr>
        <dsp:cNvPr id="8" name="椭圆 7"/>
        <dsp:cNvSpPr/>
      </dsp:nvSpPr>
      <dsp:spPr bwMode="white">
        <a:xfrm>
          <a:off x="3138873" y="2736436"/>
          <a:ext cx="998930" cy="998930"/>
        </a:xfrm>
        <a:prstGeom prst="ellipse">
          <a:avLst/>
        </a:prstGeom>
      </dsp:spPr>
      <dsp:style>
        <a:lnRef idx="0">
          <a:schemeClr val="accent1"/>
        </a:lnRef>
        <a:fillRef idx="3">
          <a:schemeClr val="accent1"/>
        </a:fillRef>
        <a:effectRef idx="3">
          <a:schemeClr val="accent1"/>
        </a:effectRef>
        <a:fontRef idx="minor">
          <a:schemeClr val="lt1"/>
        </a:fontRef>
      </dsp:style>
      <dsp:txBody>
        <a:bodyPr lIns="20320" tIns="20320" rIns="20320" bIns="2032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sz="1600" b="1" smtClean="0"/>
            <a:t>计算机 科学</a:t>
          </a:r>
          <a:r>
            <a:rPr lang="zh-CN" altLang="en-US" sz="1600" b="1" dirty="0"/>
            <a:t>基本原理</a:t>
          </a:r>
        </a:p>
      </dsp:txBody>
      <dsp:txXfrm>
        <a:off x="3138873" y="2736436"/>
        <a:ext cx="998930" cy="998930"/>
      </dsp:txXfrm>
    </dsp:sp>
    <dsp:sp modelId="{6A235932-C342-47CF-832F-4BD231AAC330}">
      <dsp:nvSpPr>
        <dsp:cNvPr id="10" name="椭圆 9"/>
        <dsp:cNvSpPr/>
      </dsp:nvSpPr>
      <dsp:spPr bwMode="white">
        <a:xfrm>
          <a:off x="1360629" y="2736436"/>
          <a:ext cx="998930" cy="998930"/>
        </a:xfrm>
        <a:prstGeom prst="ellipse">
          <a:avLst/>
        </a:prstGeom>
      </dsp:spPr>
      <dsp:style>
        <a:lnRef idx="0">
          <a:schemeClr val="accent1"/>
        </a:lnRef>
        <a:fillRef idx="3">
          <a:schemeClr val="accent1"/>
        </a:fillRef>
        <a:effectRef idx="3">
          <a:schemeClr val="accent1"/>
        </a:effectRef>
        <a:fontRef idx="minor">
          <a:schemeClr val="lt1"/>
        </a:fontRef>
      </dsp:style>
      <dsp:txBody>
        <a:bodyPr lIns="20320" tIns="20320" rIns="20320" bIns="2032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sz="1600" b="1"/>
            <a:t>应用</a:t>
          </a:r>
          <a:r>
            <a:rPr lang="zh-CN" altLang="en-US" sz="1600" b="1" smtClean="0"/>
            <a:t>领域知识    与实践</a:t>
          </a:r>
          <a:endParaRPr lang="zh-CN" altLang="en-US" sz="1600" b="1" dirty="0"/>
        </a:p>
      </dsp:txBody>
      <dsp:txXfrm>
        <a:off x="1360629" y="2736436"/>
        <a:ext cx="998930" cy="998930"/>
      </dsp:txXfrm>
    </dsp:sp>
    <dsp:sp modelId="{8EFDF3F2-7F03-4019-9D26-39F87268FD92}">
      <dsp:nvSpPr>
        <dsp:cNvPr id="12" name="椭圆 11"/>
        <dsp:cNvSpPr/>
      </dsp:nvSpPr>
      <dsp:spPr bwMode="white">
        <a:xfrm>
          <a:off x="811121" y="1045226"/>
          <a:ext cx="998930" cy="998930"/>
        </a:xfrm>
        <a:prstGeom prst="ellipse">
          <a:avLst/>
        </a:prstGeom>
      </dsp:spPr>
      <dsp:style>
        <a:lnRef idx="0">
          <a:schemeClr val="accent1"/>
        </a:lnRef>
        <a:fillRef idx="3">
          <a:schemeClr val="accent1"/>
        </a:fillRef>
        <a:effectRef idx="3">
          <a:schemeClr val="accent1"/>
        </a:effectRef>
        <a:fontRef idx="minor">
          <a:schemeClr val="lt1"/>
        </a:fontRef>
      </dsp:style>
      <dsp:txBody>
        <a:bodyPr lIns="20320" tIns="20320" rIns="20320" bIns="2032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sz="1600" b="1" dirty="0"/>
            <a:t>数学基本原理</a:t>
          </a:r>
        </a:p>
      </dsp:txBody>
      <dsp:txXfrm>
        <a:off x="811121" y="1045226"/>
        <a:ext cx="998930" cy="998930"/>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进入大模型时代：</a:t>
            </a:r>
            <a:endParaRPr lang="zh-CN" altLang="en-US"/>
          </a:p>
          <a:p>
            <a:r>
              <a:rPr lang="zh-CN" altLang="en-US"/>
              <a:t>有很大一部分的代码，不是我们人类写出来的，是由大模型生成的；</a:t>
            </a:r>
            <a:endParaRPr lang="zh-CN" altLang="en-US"/>
          </a:p>
          <a:p>
            <a:r>
              <a:rPr lang="zh-CN" altLang="en-US"/>
              <a:t>有很大一部分的测试脚本/测试用例，不是我们人类写出来的，是由大模型生成的；</a:t>
            </a:r>
            <a:endParaRPr lang="zh-CN" altLang="en-US"/>
          </a:p>
          <a:p>
            <a:r>
              <a:rPr lang="zh-CN" altLang="en-US"/>
              <a:t>有很大一部分的需求文档、设计文档，不是我们人类写出来的，是由大模型生成的；</a:t>
            </a:r>
            <a:endParaRPr lang="zh-CN" altLang="en-US"/>
          </a:p>
          <a:p>
            <a:r>
              <a:rPr lang="zh-CN" altLang="en-US"/>
              <a:t>华为 AI算法科学家、华为云DevAI Lab 负责人马宇驰的说法，生产力决定了生产关系，大模型驱动软件研发，软件研发的生产力会提高10倍，软件研发的生产关系自然会发生很大变化，他设想大模型时代只留下三种角色（岗位）：产品专家、架构专家（架构师）、QA专家，这三种角色将代替目前十几种角色（岗位）。</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bwMode="auto">
          <a:noFill/>
          <a:ln>
            <a:solidFill>
              <a:srgbClr val="000000"/>
            </a:solidFill>
            <a:miter lim="800000"/>
          </a:ln>
        </p:spPr>
      </p:sp>
      <p:sp>
        <p:nvSpPr>
          <p:cNvPr id="90115" name="备注占位符 2"/>
          <p:cNvSpPr>
            <a:spLocks noGrp="1"/>
          </p:cNvSpPr>
          <p:nvPr>
            <p:ph type="body" idx="1"/>
          </p:nvPr>
        </p:nvSpPr>
        <p:spPr bwMode="auto">
          <a:noFill/>
        </p:spPr>
        <p:txBody>
          <a:bodyPr wrap="square" numCol="1" anchor="t" anchorCtr="0" compatLnSpc="1"/>
          <a:lstStyle/>
          <a:p>
            <a:endParaRPr lang="en-US" altLang="zh-CN" smtClean="0"/>
          </a:p>
        </p:txBody>
      </p:sp>
      <p:sp>
        <p:nvSpPr>
          <p:cNvPr id="90116" name="灯片编号占位符 3"/>
          <p:cNvSpPr txBox="1">
            <a:spLocks noGrp="1"/>
          </p:cNvSpPr>
          <p:nvPr/>
        </p:nvSpPr>
        <p:spPr bwMode="auto">
          <a:xfrm>
            <a:off x="3884613" y="8685213"/>
            <a:ext cx="2971800" cy="457200"/>
          </a:xfrm>
          <a:prstGeom prst="rect">
            <a:avLst/>
          </a:prstGeom>
          <a:noFill/>
          <a:ln w="9525">
            <a:noFill/>
            <a:miter lim="800000"/>
          </a:ln>
        </p:spPr>
        <p:txBody>
          <a:bodyPr anchor="b"/>
          <a:lstStyle/>
          <a:p>
            <a:pPr algn="r" eaLnBrk="0" hangingPunct="0"/>
            <a:fld id="{C597E76C-204A-464E-A35B-6022DD10031D}" type="slidenum">
              <a:rPr lang="zh-CN" altLang="en-US" sz="1200"/>
            </a:fld>
            <a:endParaRPr lang="en-US" altLang="zh-CN"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首先是学习本课程的目的</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标红的为本课程所支撑的毕业要求</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在学习过程中，通过这些任务，来达到学习的目的，以进一步达到学习的要求</a:t>
            </a:r>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那么对于本课程的学习基础，是要具备</a:t>
            </a:r>
            <a:r>
              <a:rPr lang="en-US" altLang="zh-CN" dirty="0" smtClean="0"/>
              <a:t>——</a:t>
            </a:r>
            <a:endParaRPr lang="en-US" altLang="zh-CN" dirty="0" smtClean="0"/>
          </a:p>
          <a:p>
            <a:endParaRPr lang="en-US" altLang="zh-CN" dirty="0" smtClean="0"/>
          </a:p>
          <a:p>
            <a:r>
              <a:rPr lang="zh-CN" altLang="en-US" dirty="0" smtClean="0"/>
              <a:t>具体的学习方法是</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课程中有关概念、原理、技术和方法方面的内容，需要理解的比较多，比如</a:t>
            </a:r>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在理解的基础上，要掌握</a:t>
            </a:r>
            <a:r>
              <a:rPr lang="en-US" altLang="zh-CN" dirty="0" smtClean="0"/>
              <a:t>——</a:t>
            </a:r>
            <a:endParaRPr lang="en-US" altLang="zh-CN" dirty="0" smtClean="0"/>
          </a:p>
          <a:p>
            <a:endParaRPr lang="en-US" altLang="zh-CN" dirty="0" smtClean="0"/>
          </a:p>
          <a:p>
            <a:r>
              <a:rPr lang="zh-CN" altLang="en-US" dirty="0" smtClean="0"/>
              <a:t>要学会运用</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75" b="0" i="0" kern="1200" dirty="0" smtClean="0">
                <a:solidFill>
                  <a:schemeClr val="tx1"/>
                </a:solidFill>
                <a:effectLst/>
                <a:latin typeface="+mn-lt"/>
                <a:ea typeface="+mn-ea"/>
                <a:cs typeface="+mn-cs"/>
              </a:rPr>
              <a:t>奥斯卡</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王尔德</a:t>
            </a:r>
            <a:r>
              <a:rPr lang="en-US" altLang="zh-CN" sz="675" b="0" i="0" kern="1200" dirty="0" smtClean="0">
                <a:solidFill>
                  <a:schemeClr val="tx1"/>
                </a:solidFill>
                <a:effectLst/>
                <a:latin typeface="+mn-lt"/>
                <a:ea typeface="+mn-ea"/>
                <a:cs typeface="+mn-cs"/>
              </a:rPr>
              <a:t>(Oscar Wilde</a:t>
            </a:r>
            <a:r>
              <a:rPr lang="zh-CN" altLang="en-US" sz="675" b="0" i="0" kern="1200" dirty="0" smtClean="0">
                <a:solidFill>
                  <a:schemeClr val="tx1"/>
                </a:solidFill>
                <a:effectLst/>
                <a:latin typeface="+mn-lt"/>
                <a:ea typeface="+mn-ea"/>
                <a:cs typeface="+mn-cs"/>
              </a:rPr>
              <a:t>，</a:t>
            </a:r>
            <a:r>
              <a:rPr lang="en-US" altLang="zh-CN" sz="675" b="0" i="0" kern="1200" dirty="0" smtClean="0">
                <a:solidFill>
                  <a:schemeClr val="tx1"/>
                </a:solidFill>
                <a:effectLst/>
                <a:latin typeface="+mn-lt"/>
                <a:ea typeface="+mn-ea"/>
                <a:cs typeface="+mn-cs"/>
              </a:rPr>
              <a:t>1854</a:t>
            </a:r>
            <a:r>
              <a:rPr lang="zh-CN" altLang="en-US" sz="675" b="0" i="0" kern="1200" dirty="0" smtClean="0">
                <a:solidFill>
                  <a:schemeClr val="tx1"/>
                </a:solidFill>
                <a:effectLst/>
                <a:latin typeface="+mn-lt"/>
                <a:ea typeface="+mn-ea"/>
                <a:cs typeface="+mn-cs"/>
              </a:rPr>
              <a:t>年</a:t>
            </a:r>
            <a:r>
              <a:rPr lang="en-US" altLang="zh-CN" sz="675" b="0" i="0" kern="1200" dirty="0" smtClean="0">
                <a:solidFill>
                  <a:schemeClr val="tx1"/>
                </a:solidFill>
                <a:effectLst/>
                <a:latin typeface="+mn-lt"/>
                <a:ea typeface="+mn-ea"/>
                <a:cs typeface="+mn-cs"/>
              </a:rPr>
              <a:t>10</a:t>
            </a:r>
            <a:r>
              <a:rPr lang="zh-CN" altLang="en-US" sz="675" b="0" i="0" kern="1200" dirty="0" smtClean="0">
                <a:solidFill>
                  <a:schemeClr val="tx1"/>
                </a:solidFill>
                <a:effectLst/>
                <a:latin typeface="+mn-lt"/>
                <a:ea typeface="+mn-ea"/>
                <a:cs typeface="+mn-cs"/>
              </a:rPr>
              <a:t>月</a:t>
            </a:r>
            <a:r>
              <a:rPr lang="en-US" altLang="zh-CN" sz="675" b="0" i="0" kern="1200" dirty="0" smtClean="0">
                <a:solidFill>
                  <a:schemeClr val="tx1"/>
                </a:solidFill>
                <a:effectLst/>
                <a:latin typeface="+mn-lt"/>
                <a:ea typeface="+mn-ea"/>
                <a:cs typeface="+mn-cs"/>
              </a:rPr>
              <a:t>16</a:t>
            </a:r>
            <a:r>
              <a:rPr lang="zh-CN" altLang="en-US" sz="675" b="0" i="0" kern="1200" dirty="0" smtClean="0">
                <a:solidFill>
                  <a:schemeClr val="tx1"/>
                </a:solidFill>
                <a:effectLst/>
                <a:latin typeface="+mn-lt"/>
                <a:ea typeface="+mn-ea"/>
                <a:cs typeface="+mn-cs"/>
              </a:rPr>
              <a:t>日</a:t>
            </a:r>
            <a:r>
              <a:rPr lang="en-US" altLang="zh-CN" sz="675" b="0" i="0" kern="1200" dirty="0" smtClean="0">
                <a:solidFill>
                  <a:schemeClr val="tx1"/>
                </a:solidFill>
                <a:effectLst/>
                <a:latin typeface="+mn-lt"/>
                <a:ea typeface="+mn-ea"/>
                <a:cs typeface="+mn-cs"/>
              </a:rPr>
              <a:t>-1900</a:t>
            </a:r>
            <a:r>
              <a:rPr lang="zh-CN" altLang="en-US" sz="675" b="0" i="0" kern="1200" dirty="0" smtClean="0">
                <a:solidFill>
                  <a:schemeClr val="tx1"/>
                </a:solidFill>
                <a:effectLst/>
                <a:latin typeface="+mn-lt"/>
                <a:ea typeface="+mn-ea"/>
                <a:cs typeface="+mn-cs"/>
              </a:rPr>
              <a:t>年</a:t>
            </a:r>
            <a:r>
              <a:rPr lang="en-US" altLang="zh-CN" sz="675" b="0" i="0" kern="1200" dirty="0" smtClean="0">
                <a:solidFill>
                  <a:schemeClr val="tx1"/>
                </a:solidFill>
                <a:effectLst/>
                <a:latin typeface="+mn-lt"/>
                <a:ea typeface="+mn-ea"/>
                <a:cs typeface="+mn-cs"/>
              </a:rPr>
              <a:t>11</a:t>
            </a:r>
            <a:r>
              <a:rPr lang="zh-CN" altLang="en-US" sz="675" b="0" i="0" kern="1200" dirty="0" smtClean="0">
                <a:solidFill>
                  <a:schemeClr val="tx1"/>
                </a:solidFill>
                <a:effectLst/>
                <a:latin typeface="+mn-lt"/>
                <a:ea typeface="+mn-ea"/>
                <a:cs typeface="+mn-cs"/>
              </a:rPr>
              <a:t>月</a:t>
            </a:r>
            <a:r>
              <a:rPr lang="en-US" altLang="zh-CN" sz="675" b="0" i="0" kern="1200" dirty="0" smtClean="0">
                <a:solidFill>
                  <a:schemeClr val="tx1"/>
                </a:solidFill>
                <a:effectLst/>
                <a:latin typeface="+mn-lt"/>
                <a:ea typeface="+mn-ea"/>
                <a:cs typeface="+mn-cs"/>
              </a:rPr>
              <a:t>30</a:t>
            </a:r>
            <a:r>
              <a:rPr lang="zh-CN" altLang="en-US" sz="675" b="0" i="0" kern="1200" dirty="0" smtClean="0">
                <a:solidFill>
                  <a:schemeClr val="tx1"/>
                </a:solidFill>
                <a:effectLst/>
                <a:latin typeface="+mn-lt"/>
                <a:ea typeface="+mn-ea"/>
                <a:cs typeface="+mn-cs"/>
              </a:rPr>
              <a:t>日</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，爱尔兰作家、诗人、剧作家，英国唯美主义艺术运动的倡导者。他的作品在剧院演出后得到广大回响，在</a:t>
            </a:r>
            <a:r>
              <a:rPr lang="en-US" altLang="zh-CN" sz="675" b="0" i="0" kern="1200" dirty="0" smtClean="0">
                <a:solidFill>
                  <a:schemeClr val="tx1"/>
                </a:solidFill>
                <a:effectLst/>
                <a:latin typeface="+mn-lt"/>
                <a:ea typeface="+mn-ea"/>
                <a:cs typeface="+mn-cs"/>
              </a:rPr>
              <a:t>19</a:t>
            </a:r>
            <a:r>
              <a:rPr lang="zh-CN" altLang="en-US" sz="675" b="0" i="0" kern="1200" dirty="0" smtClean="0">
                <a:solidFill>
                  <a:schemeClr val="tx1"/>
                </a:solidFill>
                <a:effectLst/>
                <a:latin typeface="+mn-lt"/>
                <a:ea typeface="+mn-ea"/>
                <a:cs typeface="+mn-cs"/>
              </a:rPr>
              <a:t>世纪与萧伯纳齐名。他的戏剧、诗作、小说留给后人许多惯用语，如“活得快乐，就是最好的报复”。王尔德富有过人的自信和天赋，虽然他的晚年极为潦倒，但他的艺术成就仍使他成为世界经典的艺术家。他创作了</a:t>
            </a:r>
            <a:r>
              <a:rPr lang="en-US" altLang="zh-CN" sz="675" b="0" i="0" kern="1200" dirty="0" smtClean="0">
                <a:solidFill>
                  <a:schemeClr val="tx1"/>
                </a:solidFill>
                <a:effectLst/>
                <a:latin typeface="+mn-lt"/>
                <a:ea typeface="+mn-ea"/>
                <a:cs typeface="+mn-cs"/>
              </a:rPr>
              <a:t>9 </a:t>
            </a:r>
            <a:r>
              <a:rPr lang="zh-CN" altLang="en-US" sz="675" b="0" i="0" kern="1200" dirty="0" smtClean="0">
                <a:solidFill>
                  <a:schemeClr val="tx1"/>
                </a:solidFill>
                <a:effectLst/>
                <a:latin typeface="+mn-lt"/>
                <a:ea typeface="+mn-ea"/>
                <a:cs typeface="+mn-cs"/>
              </a:rPr>
              <a:t>篇童话，结集为</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快乐王子和其他故事</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和</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石榴屋</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两部童话集。</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那么对于本课程的学习基础，是要具备</a:t>
            </a:r>
            <a:r>
              <a:rPr lang="en-US" altLang="zh-CN" dirty="0" smtClean="0"/>
              <a:t>——</a:t>
            </a:r>
            <a:endParaRPr lang="en-US" altLang="zh-CN" dirty="0" smtClean="0"/>
          </a:p>
          <a:p>
            <a:endParaRPr lang="en-US" altLang="zh-CN" dirty="0" smtClean="0"/>
          </a:p>
          <a:p>
            <a:r>
              <a:rPr lang="zh-CN" altLang="en-US" dirty="0" smtClean="0"/>
              <a:t>具体的学习方法是</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人月神话被称为是软件工程领域的圣经</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dirty="0"/>
              <a:t>那些塔吊，就是建筑工程的工具， 当产品交付时，它们就消失了。 </a:t>
            </a:r>
            <a:endParaRPr lang="en-US" altLang="zh-CN" dirty="0"/>
          </a:p>
          <a:p>
            <a:endParaRPr lang="en-US" dirty="0"/>
          </a:p>
          <a:p>
            <a:r>
              <a:rPr lang="zh-CN" altLang="en-US" dirty="0"/>
              <a:t>提问：在软件的构建过程中， 有什么样的工具，像塔吊那样？ </a:t>
            </a:r>
            <a:endParaRPr lang="en-US" altLang="zh-CN" dirty="0"/>
          </a:p>
          <a:p>
            <a:endParaRPr lang="en-US" dirty="0"/>
          </a:p>
          <a:p>
            <a:r>
              <a:rPr lang="zh-CN" altLang="en-US" dirty="0"/>
              <a:t>塔吊也有一个设计，建造，安装，使用，拆卸的过程：</a:t>
            </a:r>
            <a:endParaRPr lang="en-US" dirty="0"/>
          </a:p>
          <a:p>
            <a:r>
              <a:rPr lang="en-US" dirty="0"/>
              <a:t>	http://www.wuji8.com/meta/565085646.html</a:t>
            </a:r>
            <a:endParaRPr lang="en-US" dirty="0"/>
          </a:p>
          <a:p>
            <a:endParaRPr lang="en-US" dirty="0"/>
          </a:p>
        </p:txBody>
      </p:sp>
      <p:sp>
        <p:nvSpPr>
          <p:cNvPr id="4" name="灯片编号占位符 3"/>
          <p:cNvSpPr>
            <a:spLocks noGrp="1"/>
          </p:cNvSpPr>
          <p:nvPr>
            <p:ph type="sldNum" sz="quarter" idx="10"/>
          </p:nvPr>
        </p:nvSpPr>
        <p:spPr/>
        <p:txBody>
          <a:bodyPr/>
          <a:lstStyle/>
          <a:p>
            <a:pPr>
              <a:defRPr/>
            </a:pPr>
            <a:fld id="{C5ADAB1E-5BE0-4555-8709-524C8D586A6B}"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我们的课程属于过程性评价课程，考核的方式是</a:t>
            </a:r>
            <a:r>
              <a:rPr lang="en-US" altLang="zh-CN" smtClean="0"/>
              <a:t>——</a:t>
            </a:r>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60FB8FB2-9769-4F22-8580-D43F76E3F213}"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D7326FFE-7CCA-4C0D-B453-625569992FBB}"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B74AB904-11F0-40D2-A521-063F99E152E4}"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0529599E-9530-48C5-9CAF-172E1B800D9B}"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5902FD77-8323-485D-87E2-91A0E9C84954}"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8EDE902-01B3-453F-A2EE-45228A659E9E}"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DAEA8122-0D78-4844-A578-3876484268E6}"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E1C514A-AFAF-433D-949D-3F3495E7683C}"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9865EC83-5FAA-4FE9-BB65-5544193D6B0B}"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8F98B0E8-48B0-47D3-A6C8-7E041360F69C}"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727032" y="4805958"/>
            <a:ext cx="1920240" cy="274320"/>
          </a:xfrm>
          <a:prstGeom prst="rect">
            <a:avLst/>
          </a:prstGeom>
        </p:spPr>
        <p:txBody>
          <a:bodyPr/>
          <a:lstStyle>
            <a:lvl1pPr>
              <a:defRPr sz="1050"/>
            </a:lvl1pPr>
          </a:lstStyle>
          <a:p>
            <a:fld id="{7C38504B-1AF3-4156-B61A-8DB24BEED060}" type="datetime1">
              <a:rPr lang="zh-CN" altLang="en-US" smtClean="0"/>
            </a:fld>
            <a:endParaRPr lang="zh-CN" altLang="en-US" dirty="0"/>
          </a:p>
        </p:txBody>
      </p:sp>
      <p:sp>
        <p:nvSpPr>
          <p:cNvPr id="5" name="页脚占位符 4"/>
          <p:cNvSpPr>
            <a:spLocks noGrp="1"/>
          </p:cNvSpPr>
          <p:nvPr>
            <p:ph type="ftr" sz="quarter" idx="11"/>
          </p:nvPr>
        </p:nvSpPr>
        <p:spPr>
          <a:xfrm>
            <a:off x="4380074" y="4805960"/>
            <a:ext cx="2350681" cy="273844"/>
          </a:xfrm>
          <a:prstGeom prst="rect">
            <a:avLst/>
          </a:prstGeom>
        </p:spPr>
        <p:txBody>
          <a:bodyPr/>
          <a:lstStyle>
            <a:lvl1pPr>
              <a:defRPr sz="1050"/>
            </a:lvl1pPr>
          </a:lstStyle>
          <a:p>
            <a:r>
              <a:rPr lang="zh-CN" altLang="en-US"/>
              <a:t>软件工程</a:t>
            </a:r>
            <a:endParaRPr lang="zh-CN" altLang="en-US" dirty="0"/>
          </a:p>
        </p:txBody>
      </p:sp>
      <p:sp>
        <p:nvSpPr>
          <p:cNvPr id="6"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
        <p:nvSpPr>
          <p:cNvPr id="7" name="标题占位符"/>
          <p:cNvSpPr>
            <a:spLocks noGrp="1"/>
          </p:cNvSpPr>
          <p:nvPr>
            <p:ph type="body" sz="quarter" idx="13" hasCustomPrompt="1"/>
          </p:nvPr>
        </p:nvSpPr>
        <p:spPr>
          <a:xfrm>
            <a:off x="1052622" y="159755"/>
            <a:ext cx="6275277" cy="415498"/>
          </a:xfrm>
          <a:prstGeom prst="rect">
            <a:avLst/>
          </a:prstGeom>
        </p:spPr>
        <p:txBody>
          <a:bodyPr wrap="square" anchor="ctr">
            <a:spAutoFit/>
          </a:bodyPr>
          <a:lstStyle>
            <a:lvl1pPr marL="0" indent="0" algn="l">
              <a:lnSpc>
                <a:spcPct val="100000"/>
              </a:lnSpc>
              <a:buFontTx/>
              <a:buNone/>
              <a:defRPr lang="zh-CN" altLang="en-US" sz="2100" b="1" spc="169"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tmplLst>
          <p:tmpl lvl="0">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750"/>
                        <p:tgtEl>
                          <p:spTgt spid="7"/>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4F2F4983-3602-4E3E-983A-EBA4353A8448}"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0" Type="http://schemas.openxmlformats.org/officeDocument/2006/relationships/notesSlide" Target="../notesSlides/notesSlide2.xml"/><Relationship Id="rId2" Type="http://schemas.openxmlformats.org/officeDocument/2006/relationships/tags" Target="../tags/tag4.xml"/><Relationship Id="rId19" Type="http://schemas.openxmlformats.org/officeDocument/2006/relationships/slideLayout" Target="../slideLayouts/slideLayout5.xml"/><Relationship Id="rId18" Type="http://schemas.openxmlformats.org/officeDocument/2006/relationships/tags" Target="../tags/tag19.xml"/><Relationship Id="rId17" Type="http://schemas.openxmlformats.org/officeDocument/2006/relationships/image" Target="../media/image9.png"/><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0" Type="http://schemas.openxmlformats.org/officeDocument/2006/relationships/notesSlide" Target="../notesSlides/notesSlide3.xml"/><Relationship Id="rId2" Type="http://schemas.openxmlformats.org/officeDocument/2006/relationships/tags" Target="../tags/tag21.xml"/><Relationship Id="rId19" Type="http://schemas.openxmlformats.org/officeDocument/2006/relationships/slideLayout" Target="../slideLayouts/slideLayout5.xml"/><Relationship Id="rId18" Type="http://schemas.openxmlformats.org/officeDocument/2006/relationships/tags" Target="../tags/tag36.xml"/><Relationship Id="rId17" Type="http://schemas.openxmlformats.org/officeDocument/2006/relationships/image" Target="../media/image9.png"/><Relationship Id="rId16" Type="http://schemas.openxmlformats.org/officeDocument/2006/relationships/tags" Target="../tags/tag35.xml"/><Relationship Id="rId15" Type="http://schemas.openxmlformats.org/officeDocument/2006/relationships/tags" Target="../tags/tag34.xml"/><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hyperlink" Target="https://www.jobui.com/salary/quanguo-all/ind-ruanjian/" TargetMode="Externa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hyperlink" Target="https://www.jobui.com/salary/quanguo-all/ind-wangluo/" TargetMode="Externa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webp"/><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webp"/></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uml.org.cn/index.asp"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jpeg"/><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image" Target="../media/image28.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uml.org.cn/index.asp"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rgbClr val="000000"/>
                </a:solidFill>
              </a:rPr>
              <a:t>软件工程</a:t>
            </a:r>
            <a:br>
              <a:rPr lang="en-US" altLang="zh-CN" sz="4800" dirty="0">
                <a:solidFill>
                  <a:srgbClr val="000000"/>
                </a:solidFill>
              </a:rPr>
            </a:br>
            <a:r>
              <a:rPr lang="en-US" altLang="zh-CN" sz="3200" cap="none" dirty="0">
                <a:solidFill>
                  <a:srgbClr val="000000"/>
                </a:solidFill>
                <a:effectLst>
                  <a:outerShdw blurRad="38100" dist="38100" dir="2700000" algn="tl">
                    <a:srgbClr val="000000">
                      <a:alpha val="43137"/>
                    </a:srgbClr>
                  </a:outerShdw>
                </a:effectLst>
                <a:ea typeface="华文中宋" panose="02010600040101010101" pitchFamily="2" charset="-122"/>
              </a:rPr>
              <a:t>——</a:t>
            </a:r>
            <a:r>
              <a:rPr lang="zh-CN" altLang="en-US" sz="3200" cap="none" dirty="0">
                <a:solidFill>
                  <a:srgbClr val="000000"/>
                </a:solidFill>
                <a:effectLst>
                  <a:outerShdw blurRad="38100" dist="38100" dir="2700000" algn="tl">
                    <a:srgbClr val="000000">
                      <a:alpha val="43137"/>
                    </a:srgbClr>
                  </a:outerShdw>
                </a:effectLst>
                <a:ea typeface="华文中宋" panose="02010600040101010101" pitchFamily="2" charset="-122"/>
              </a:rPr>
              <a:t>概述</a:t>
            </a:r>
            <a:endParaRPr lang="zh-CN" altLang="en-US" sz="3200" cap="none" dirty="0">
              <a:solidFill>
                <a:srgbClr val="000000"/>
              </a:solidFill>
              <a:effectLst>
                <a:outerShdw blurRad="38100" dist="38100" dir="2700000" algn="tl">
                  <a:srgbClr val="000000">
                    <a:alpha val="43137"/>
                  </a:srgbClr>
                </a:outerShdw>
              </a:effectLst>
              <a:ea typeface="华文中宋" panose="02010600040101010101" pitchFamily="2" charset="-122"/>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河南大学软件学院                                          </a:t>
            </a:r>
            <a:r>
              <a:rPr lang="zh-CN" altLang="en-US" sz="1800" dirty="0"/>
              <a:t>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上课形式</a:t>
            </a:r>
            <a:endParaRPr lang="zh-CN" altLang="en-US" dirty="0"/>
          </a:p>
        </p:txBody>
      </p:sp>
      <p:sp>
        <p:nvSpPr>
          <p:cNvPr id="3" name="内容占位符 2"/>
          <p:cNvSpPr>
            <a:spLocks noGrp="1"/>
          </p:cNvSpPr>
          <p:nvPr>
            <p:ph idx="1"/>
          </p:nvPr>
        </p:nvSpPr>
        <p:spPr/>
        <p:txBody>
          <a:bodyPr/>
          <a:lstStyle/>
          <a:p>
            <a:r>
              <a:rPr lang="zh-CN" altLang="en-US" dirty="0"/>
              <a:t>课前：观看课程视频，完成相应的作业。</a:t>
            </a:r>
            <a:endParaRPr lang="en-US" altLang="zh-CN" dirty="0"/>
          </a:p>
          <a:p>
            <a:r>
              <a:rPr lang="zh-CN" altLang="en-US" dirty="0"/>
              <a:t>课中：重难点讲解</a:t>
            </a:r>
            <a:endParaRPr lang="en-US" altLang="zh-CN" dirty="0"/>
          </a:p>
          <a:p>
            <a:r>
              <a:rPr lang="zh-CN" altLang="en-US" dirty="0"/>
              <a:t>课后：根据项目进度分组完成项目</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课程群</a:t>
            </a:r>
            <a:endParaRPr lang="zh-CN" altLang="en-US"/>
          </a:p>
        </p:txBody>
      </p:sp>
      <p:sp>
        <p:nvSpPr>
          <p:cNvPr id="4" name="日期占位符 3"/>
          <p:cNvSpPr>
            <a:spLocks noGrp="1"/>
          </p:cNvSpPr>
          <p:nvPr>
            <p:ph type="dt" sz="half" idx="10"/>
          </p:nvPr>
        </p:nvSpPr>
        <p:spPr/>
        <p:txBody>
          <a:bodyPr/>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 name="内容占位符 2"/>
          <p:cNvSpPr/>
          <p:nvPr>
            <p:ph idx="1"/>
          </p:nvPr>
        </p:nvSpPr>
        <p:spPr/>
        <p:txBody>
          <a:bodyPr/>
          <a:p>
            <a:endParaRPr lang="zh-CN" altLang="en-US"/>
          </a:p>
        </p:txBody>
      </p:sp>
      <p:pic>
        <p:nvPicPr>
          <p:cNvPr id="7" name="图片 6" descr="微信图片_20250219095422"/>
          <p:cNvPicPr>
            <a:picLocks noChangeAspect="1"/>
          </p:cNvPicPr>
          <p:nvPr/>
        </p:nvPicPr>
        <p:blipFill>
          <a:blip r:embed="rId1"/>
          <a:stretch>
            <a:fillRect/>
          </a:stretch>
        </p:blipFill>
        <p:spPr>
          <a:xfrm>
            <a:off x="2055495" y="925195"/>
            <a:ext cx="1841500" cy="32740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课程群</a:t>
            </a:r>
            <a:endParaRPr lang="zh-CN" altLang="en-US"/>
          </a:p>
        </p:txBody>
      </p:sp>
      <p:sp>
        <p:nvSpPr>
          <p:cNvPr id="4" name="日期占位符 3"/>
          <p:cNvSpPr>
            <a:spLocks noGrp="1"/>
          </p:cNvSpPr>
          <p:nvPr>
            <p:ph type="dt" sz="half" idx="10"/>
          </p:nvPr>
        </p:nvSpPr>
        <p:spPr/>
        <p:txBody>
          <a:bodyPr/>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 name="内容占位符 2"/>
          <p:cNvSpPr/>
          <p:nvPr>
            <p:ph idx="1"/>
          </p:nvPr>
        </p:nvSpPr>
        <p:spPr/>
        <p:txBody>
          <a:bodyPr/>
          <a:p>
            <a:endParaRPr lang="zh-CN" altLang="en-US"/>
          </a:p>
        </p:txBody>
      </p:sp>
      <p:pic>
        <p:nvPicPr>
          <p:cNvPr id="8" name="图片 7" descr="微信图片_20250219095414"/>
          <p:cNvPicPr>
            <a:picLocks noChangeAspect="1"/>
          </p:cNvPicPr>
          <p:nvPr/>
        </p:nvPicPr>
        <p:blipFill>
          <a:blip r:embed="rId1"/>
          <a:stretch>
            <a:fillRect/>
          </a:stretch>
        </p:blipFill>
        <p:spPr>
          <a:xfrm>
            <a:off x="2716530" y="1238250"/>
            <a:ext cx="1854835" cy="32975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课程群</a:t>
            </a:r>
            <a:endParaRPr lang="zh-CN" altLang="en-US"/>
          </a:p>
        </p:txBody>
      </p:sp>
      <p:sp>
        <p:nvSpPr>
          <p:cNvPr id="4" name="日期占位符 3"/>
          <p:cNvSpPr>
            <a:spLocks noGrp="1"/>
          </p:cNvSpPr>
          <p:nvPr>
            <p:ph type="dt" sz="half" idx="10"/>
          </p:nvPr>
        </p:nvSpPr>
        <p:spPr/>
        <p:txBody>
          <a:bodyPr/>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 name="内容占位符 2"/>
          <p:cNvSpPr/>
          <p:nvPr>
            <p:ph idx="1"/>
          </p:nvPr>
        </p:nvSpPr>
        <p:spPr/>
        <p:txBody>
          <a:bodyPr/>
          <a:p>
            <a:endParaRPr lang="zh-CN" altLang="en-US"/>
          </a:p>
        </p:txBody>
      </p:sp>
      <p:pic>
        <p:nvPicPr>
          <p:cNvPr id="7" name="图片 6" descr="微信图片_20250219095344"/>
          <p:cNvPicPr>
            <a:picLocks noChangeAspect="1"/>
          </p:cNvPicPr>
          <p:nvPr/>
        </p:nvPicPr>
        <p:blipFill>
          <a:blip r:embed="rId1"/>
          <a:stretch>
            <a:fillRect/>
          </a:stretch>
        </p:blipFill>
        <p:spPr>
          <a:xfrm>
            <a:off x="1955165" y="925195"/>
            <a:ext cx="1901825" cy="33813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058599" y="778243"/>
            <a:ext cx="7129671" cy="1058704"/>
          </a:xfrm>
          <a:prstGeom prst="rect">
            <a:avLst/>
          </a:prstGeom>
          <a:noFill/>
        </p:spPr>
        <p:txBody>
          <a:bodyPr vert="horz" wrap="square" rtlCol="0" anchor="ctr" anchorCtr="0">
            <a:noAutofit/>
          </a:bodyPr>
          <a:lstStyle/>
          <a:p>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你对软件开发和软件工程了解多少？</a:t>
            </a:r>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089547" y="1842015"/>
            <a:ext cx="2250281" cy="482203"/>
          </a:xfrm>
          <a:prstGeom prst="rect">
            <a:avLst/>
          </a:prstGeom>
          <a:noFill/>
        </p:spPr>
        <p:txBody>
          <a:bodyPr vert="horz" rtlCol="0" anchor="ctr" anchorCtr="0">
            <a:no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完全不了解</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089547" y="2484952"/>
            <a:ext cx="2250281" cy="482203"/>
          </a:xfrm>
          <a:prstGeom prst="rect">
            <a:avLst/>
          </a:prstGeom>
          <a:noFill/>
        </p:spPr>
        <p:txBody>
          <a:bodyPr vert="horz" rtlCol="0" anchor="ctr" anchorCtr="0">
            <a:no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了解一点点</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089547" y="3127890"/>
            <a:ext cx="2250281" cy="482203"/>
          </a:xfrm>
          <a:prstGeom prst="rect">
            <a:avLst/>
          </a:prstGeom>
          <a:noFill/>
        </p:spPr>
        <p:txBody>
          <a:bodyPr vert="horz" rtlCol="0" anchor="ctr" anchorCtr="0">
            <a:no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做过一些项目</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089547" y="3770827"/>
            <a:ext cx="3184980" cy="482203"/>
          </a:xfrm>
          <a:prstGeom prst="rect">
            <a:avLst/>
          </a:prstGeom>
          <a:noFill/>
        </p:spPr>
        <p:txBody>
          <a:bodyPr vert="horz" rtlCol="0" anchor="ctr" anchorCtr="0">
            <a:no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对软件开发比较熟悉</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6"/>
            </p:custDataLst>
          </p:nvPr>
        </p:nvSpPr>
        <p:spPr>
          <a:xfrm>
            <a:off x="1527052" y="1919456"/>
            <a:ext cx="308610" cy="30861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7"/>
            </p:custDataLst>
          </p:nvPr>
        </p:nvSpPr>
        <p:spPr>
          <a:xfrm>
            <a:off x="1527052" y="2562394"/>
            <a:ext cx="308610" cy="30861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1527052" y="3205331"/>
            <a:ext cx="308610" cy="30861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1527052" y="3848269"/>
            <a:ext cx="308610" cy="30861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10"/>
            </p:custDataLst>
          </p:nvPr>
        </p:nvSpPr>
        <p:spPr>
          <a:xfrm>
            <a:off x="7140102" y="3988340"/>
            <a:ext cx="1048168" cy="466927"/>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20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20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日期占位符 7"/>
          <p:cNvSpPr>
            <a:spLocks noGrp="1"/>
          </p:cNvSpPr>
          <p:nvPr>
            <p:ph type="dt" sz="half" idx="10"/>
          </p:nvPr>
        </p:nvSpPr>
        <p:spPr>
          <a:xfrm>
            <a:off x="768096" y="4853028"/>
            <a:ext cx="1615607" cy="205740"/>
          </a:xfrm>
        </p:spPr>
        <p:txBody>
          <a:bodyPr/>
          <a:lstStyle/>
          <a:p>
            <a:fld id="{BF8FB276-A445-4DF0-A914-631E2D78877C}" type="datetime1">
              <a:rPr lang="zh-CN" altLang="en-US" smtClean="0"/>
            </a:fld>
            <a:endParaRPr lang="zh-CN" altLang="en-US" dirty="0"/>
          </a:p>
        </p:txBody>
      </p:sp>
      <p:sp>
        <p:nvSpPr>
          <p:cNvPr id="21" name="页脚占位符 8"/>
          <p:cNvSpPr>
            <a:spLocks noGrp="1"/>
          </p:cNvSpPr>
          <p:nvPr>
            <p:ph type="ftr" sz="quarter" idx="11"/>
          </p:nvPr>
        </p:nvSpPr>
        <p:spPr>
          <a:xfrm>
            <a:off x="2383703" y="4853028"/>
            <a:ext cx="5674590" cy="205740"/>
          </a:xfrm>
        </p:spPr>
        <p:txBody>
          <a:bodyPr/>
          <a:lstStyle/>
          <a:p>
            <a:r>
              <a:rPr lang="zh-CN" altLang="en-US" smtClean="0"/>
              <a:t>软件工程</a:t>
            </a:r>
            <a:endParaRPr lang="zh-CN" altLang="en-US" dirty="0"/>
          </a:p>
        </p:txBody>
      </p:sp>
      <p:sp>
        <p:nvSpPr>
          <p:cNvPr id="22" name="灯片编号占位符 21"/>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17" name="组合 16"/>
          <p:cNvGrpSpPr/>
          <p:nvPr>
            <p:custDataLst>
              <p:tags r:id="rId11"/>
            </p:custDataLst>
          </p:nvPr>
        </p:nvGrpSpPr>
        <p:grpSpPr>
          <a:xfrm>
            <a:off x="0" y="0"/>
            <a:ext cx="3214688" cy="773174"/>
            <a:chOff x="-6360840" y="-1506653"/>
            <a:chExt cx="5715000" cy="635000"/>
          </a:xfrm>
        </p:grpSpPr>
        <p:sp>
          <p:nvSpPr>
            <p:cNvPr id="13" name="TitleBackground"/>
            <p:cNvSpPr/>
            <p:nvPr>
              <p:custDataLst>
                <p:tags r:id="rId12"/>
              </p:custDataLst>
            </p:nvPr>
          </p:nvSpPr>
          <p:spPr>
            <a:xfrm>
              <a:off x="-6360840" y="-1506653"/>
              <a:ext cx="5715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4" name="ColorBlock"/>
            <p:cNvSpPr/>
            <p:nvPr>
              <p:custDataLst>
                <p:tags r:id="rId13"/>
              </p:custDataLst>
            </p:nvPr>
          </p:nvSpPr>
          <p:spPr>
            <a:xfrm>
              <a:off x="-6360840" y="-1506653"/>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5" name="TypeText"/>
            <p:cNvSpPr txBox="1"/>
            <p:nvPr>
              <p:custDataLst>
                <p:tags r:id="rId14"/>
              </p:custDataLst>
            </p:nvPr>
          </p:nvSpPr>
          <p:spPr>
            <a:xfrm>
              <a:off x="-5909285" y="-1506653"/>
              <a:ext cx="1905001" cy="635000"/>
            </a:xfrm>
            <a:prstGeom prst="rect">
              <a:avLst/>
            </a:prstGeom>
            <a:noFill/>
          </p:spPr>
          <p:txBody>
            <a:bodyPr vert="horz" wrap="none" rtlCol="0" anchor="ctr" anchorCtr="0">
              <a:no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ipText"/>
            <p:cNvSpPr txBox="1"/>
            <p:nvPr>
              <p:custDataLst>
                <p:tags r:id="rId15"/>
              </p:custDataLst>
            </p:nvPr>
          </p:nvSpPr>
          <p:spPr>
            <a:xfrm>
              <a:off x="-4328840" y="-1416952"/>
              <a:ext cx="2286000" cy="507999"/>
            </a:xfrm>
            <a:prstGeom prst="rect">
              <a:avLst/>
            </a:prstGeom>
            <a:noFill/>
          </p:spPr>
          <p:txBody>
            <a:bodyPr vert="horz" wrap="none" rtlCol="0" anchor="ctr" anchorCtr="0">
              <a:noAutofit/>
            </a:bodyPr>
            <a:lstStyle/>
            <a:p>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18" name="图片 17"/>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035630" y="1012494"/>
            <a:ext cx="4709299" cy="860847"/>
          </a:xfrm>
          <a:prstGeom prst="rect">
            <a:avLst/>
          </a:prstGeom>
          <a:noFill/>
        </p:spPr>
        <p:txBody>
          <a:bodyPr vert="horz" wrap="square" rtlCol="0" anchor="ctr" anchorCtr="0">
            <a:noAutofit/>
          </a:bodyPr>
          <a:lstStyle/>
          <a:p>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什么是软件工程？</a:t>
            </a:r>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2"/>
            </p:custDataLst>
          </p:nvPr>
        </p:nvSpPr>
        <p:spPr>
          <a:xfrm>
            <a:off x="1812248" y="1947280"/>
            <a:ext cx="5308399" cy="482203"/>
          </a:xfrm>
          <a:prstGeom prst="rect">
            <a:avLst/>
          </a:prstGeom>
          <a:noFill/>
        </p:spPr>
        <p:txBody>
          <a:bodyPr vert="horz" rtlCol="0" anchor="ctr" anchorCtr="0">
            <a:no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软件工程就是写程序</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3"/>
            </p:custDataLst>
          </p:nvPr>
        </p:nvSpPr>
        <p:spPr>
          <a:xfrm>
            <a:off x="1812248" y="2590217"/>
            <a:ext cx="5308399" cy="482203"/>
          </a:xfrm>
          <a:prstGeom prst="rect">
            <a:avLst/>
          </a:prstGeom>
          <a:noFill/>
        </p:spPr>
        <p:txBody>
          <a:bodyPr vert="horz" rtlCol="0" anchor="ctr" anchorCtr="0">
            <a:no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软件工程是用工程化的方法进行软件开发</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4"/>
            </p:custDataLst>
          </p:nvPr>
        </p:nvSpPr>
        <p:spPr>
          <a:xfrm>
            <a:off x="1812248" y="3233155"/>
            <a:ext cx="5308399" cy="482203"/>
          </a:xfrm>
          <a:prstGeom prst="rect">
            <a:avLst/>
          </a:prstGeom>
          <a:noFill/>
        </p:spPr>
        <p:txBody>
          <a:bodyPr vert="horz" rtlCol="0" anchor="ctr" anchorCtr="0">
            <a:no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软件工程就是对软件进行管理</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5"/>
            </p:custDataLst>
          </p:nvPr>
        </p:nvSpPr>
        <p:spPr>
          <a:xfrm>
            <a:off x="1812248" y="3876092"/>
            <a:ext cx="5308399" cy="482203"/>
          </a:xfrm>
          <a:prstGeom prst="rect">
            <a:avLst/>
          </a:prstGeom>
          <a:noFill/>
        </p:spPr>
        <p:txBody>
          <a:bodyPr vert="horz" rtlCol="0" anchor="ctr" anchorCtr="0">
            <a:no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软件工程是以做出软件为目的的</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6"/>
            </p:custDataLst>
          </p:nvPr>
        </p:nvSpPr>
        <p:spPr>
          <a:xfrm>
            <a:off x="1472777" y="2034076"/>
            <a:ext cx="308610" cy="30861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7"/>
            </p:custDataLst>
          </p:nvPr>
        </p:nvSpPr>
        <p:spPr>
          <a:xfrm>
            <a:off x="1472777" y="2677014"/>
            <a:ext cx="308610" cy="30861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8"/>
            </p:custDataLst>
          </p:nvPr>
        </p:nvSpPr>
        <p:spPr>
          <a:xfrm>
            <a:off x="1472777" y="3319951"/>
            <a:ext cx="308610" cy="30861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9"/>
            </p:custDataLst>
          </p:nvPr>
        </p:nvSpPr>
        <p:spPr>
          <a:xfrm>
            <a:off x="1472777" y="3962889"/>
            <a:ext cx="308610" cy="30861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20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圆角矩形 20"/>
          <p:cNvSpPr/>
          <p:nvPr>
            <p:custDataLst>
              <p:tags r:id="rId10"/>
            </p:custDataLst>
          </p:nvPr>
        </p:nvSpPr>
        <p:spPr>
          <a:xfrm>
            <a:off x="7140102" y="3988340"/>
            <a:ext cx="1048168" cy="466927"/>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20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20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日期占位符 7"/>
          <p:cNvSpPr>
            <a:spLocks noGrp="1"/>
          </p:cNvSpPr>
          <p:nvPr>
            <p:ph type="dt" sz="half" idx="10"/>
          </p:nvPr>
        </p:nvSpPr>
        <p:spPr>
          <a:xfrm>
            <a:off x="768096" y="4853028"/>
            <a:ext cx="1615607" cy="205740"/>
          </a:xfrm>
        </p:spPr>
        <p:txBody>
          <a:bodyPr/>
          <a:lstStyle/>
          <a:p>
            <a:fld id="{4D816490-FB1B-4709-A219-A8DAD8C73E5E}" type="datetime1">
              <a:rPr lang="zh-CN" altLang="en-US" smtClean="0"/>
            </a:fld>
            <a:endParaRPr lang="zh-CN" altLang="en-US" dirty="0"/>
          </a:p>
        </p:txBody>
      </p:sp>
      <p:sp>
        <p:nvSpPr>
          <p:cNvPr id="23" name="页脚占位符 8"/>
          <p:cNvSpPr>
            <a:spLocks noGrp="1"/>
          </p:cNvSpPr>
          <p:nvPr>
            <p:ph type="ftr" sz="quarter" idx="11"/>
          </p:nvPr>
        </p:nvSpPr>
        <p:spPr>
          <a:xfrm>
            <a:off x="2383703" y="4853028"/>
            <a:ext cx="5674590" cy="205740"/>
          </a:xfrm>
        </p:spPr>
        <p:txBody>
          <a:bodyPr/>
          <a:lstStyle/>
          <a:p>
            <a:r>
              <a:rPr lang="zh-CN" altLang="en-US" smtClean="0"/>
              <a:t>软件工程</a:t>
            </a:r>
            <a:endParaRPr lang="zh-CN" altLang="en-US" dirty="0"/>
          </a:p>
        </p:txBody>
      </p:sp>
      <p:sp>
        <p:nvSpPr>
          <p:cNvPr id="24" name="灯片编号占位符 23"/>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19" name="组合 18"/>
          <p:cNvGrpSpPr/>
          <p:nvPr>
            <p:custDataLst>
              <p:tags r:id="rId11"/>
            </p:custDataLst>
          </p:nvPr>
        </p:nvGrpSpPr>
        <p:grpSpPr>
          <a:xfrm>
            <a:off x="0" y="0"/>
            <a:ext cx="3214688" cy="758283"/>
            <a:chOff x="-5270499" y="0"/>
            <a:chExt cx="5715000" cy="635000"/>
          </a:xfrm>
        </p:grpSpPr>
        <p:sp>
          <p:nvSpPr>
            <p:cNvPr id="15" name="TitleBackground"/>
            <p:cNvSpPr/>
            <p:nvPr>
              <p:custDataLst>
                <p:tags r:id="rId12"/>
              </p:custDataLst>
            </p:nvPr>
          </p:nvSpPr>
          <p:spPr>
            <a:xfrm>
              <a:off x="-5270499" y="0"/>
              <a:ext cx="5715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6" name="ColorBlock"/>
            <p:cNvSpPr/>
            <p:nvPr>
              <p:custDataLst>
                <p:tags r:id="rId13"/>
              </p:custDataLst>
            </p:nvPr>
          </p:nvSpPr>
          <p:spPr>
            <a:xfrm>
              <a:off x="-5270499"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7" name="TypeText"/>
            <p:cNvSpPr txBox="1"/>
            <p:nvPr>
              <p:custDataLst>
                <p:tags r:id="rId14"/>
              </p:custDataLst>
            </p:nvPr>
          </p:nvSpPr>
          <p:spPr>
            <a:xfrm>
              <a:off x="-4818944" y="0"/>
              <a:ext cx="1905001" cy="635000"/>
            </a:xfrm>
            <a:prstGeom prst="rect">
              <a:avLst/>
            </a:prstGeom>
            <a:noFill/>
          </p:spPr>
          <p:txBody>
            <a:bodyPr vert="horz" wrap="none" rtlCol="0" anchor="ctr" anchorCtr="0">
              <a:noAutofit/>
            </a:bodyPr>
            <a:lstStyle/>
            <a:p>
              <a:r>
                <a:rPr lang="zh-CN" altLang="en-US" sz="20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0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15"/>
              </p:custDataLst>
            </p:nvPr>
          </p:nvSpPr>
          <p:spPr>
            <a:xfrm>
              <a:off x="-3139158" y="91463"/>
              <a:ext cx="1795498" cy="507999"/>
            </a:xfrm>
            <a:prstGeom prst="rect">
              <a:avLst/>
            </a:prstGeom>
            <a:noFill/>
          </p:spPr>
          <p:txBody>
            <a:bodyPr vert="horz" wrap="none" rtlCol="0" anchor="ctr" anchorCtr="0">
              <a:noAutofit/>
            </a:bodyPr>
            <a:lstStyle/>
            <a:p>
              <a:r>
                <a:rPr lang="en-US" altLang="zh-CN" sz="2000" dirty="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dirty="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软件工程</a:t>
            </a:r>
            <a:r>
              <a:rPr lang="zh-CN" altLang="en-US" dirty="0">
                <a:sym typeface="+mn-ea"/>
              </a:rPr>
              <a:t>专业就业形势</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内容占位符 6">
            <a:hlinkClick r:id="rId1" action="ppaction://hlinkfile"/>
          </p:cNvPr>
          <p:cNvPicPr>
            <a:picLocks noChangeAspect="1"/>
          </p:cNvPicPr>
          <p:nvPr>
            <p:ph idx="1"/>
          </p:nvPr>
        </p:nvPicPr>
        <p:blipFill>
          <a:blip r:embed="rId2"/>
          <a:stretch>
            <a:fillRect/>
          </a:stretch>
        </p:blipFill>
        <p:spPr>
          <a:xfrm>
            <a:off x="1546860" y="599440"/>
            <a:ext cx="6050280" cy="4455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网络工程专业就业形势</a:t>
            </a:r>
            <a:endParaRPr lang="zh-CN" altLang="en-US"/>
          </a:p>
        </p:txBody>
      </p:sp>
      <p:sp>
        <p:nvSpPr>
          <p:cNvPr id="4" name="日期占位符 3"/>
          <p:cNvSpPr>
            <a:spLocks noGrp="1"/>
          </p:cNvSpPr>
          <p:nvPr>
            <p:ph type="dt" sz="half" idx="10"/>
          </p:nvPr>
        </p:nvSpPr>
        <p:spPr/>
        <p:txBody>
          <a:bodyPr/>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8" name="内容占位符 7">
            <a:hlinkClick r:id="rId1" action="ppaction://hlinkfile"/>
          </p:cNvPr>
          <p:cNvPicPr>
            <a:picLocks noChangeAspect="1"/>
          </p:cNvPicPr>
          <p:nvPr>
            <p:ph idx="1"/>
          </p:nvPr>
        </p:nvPicPr>
        <p:blipFill>
          <a:blip r:embed="rId2"/>
          <a:stretch>
            <a:fillRect/>
          </a:stretch>
        </p:blipFill>
        <p:spPr>
          <a:xfrm>
            <a:off x="1529715" y="593725"/>
            <a:ext cx="5857240" cy="43643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软件行业发展形势</a:t>
            </a:r>
            <a:endParaRPr lang="en-US" altLang="zh-CN"/>
          </a:p>
        </p:txBody>
      </p:sp>
      <p:sp>
        <p:nvSpPr>
          <p:cNvPr id="4" name="日期占位符 3"/>
          <p:cNvSpPr>
            <a:spLocks noGrp="1"/>
          </p:cNvSpPr>
          <p:nvPr>
            <p:ph type="dt" sz="half" idx="10"/>
          </p:nvPr>
        </p:nvSpPr>
        <p:spPr/>
        <p:txBody>
          <a:bodyPr/>
          <a:p>
            <a:fld id="{79A32385-3E43-4FEF-8ACD-418176943BE0}"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 name="图片 9"/>
          <p:cNvPicPr>
            <a:picLocks noChangeAspect="1"/>
          </p:cNvPicPr>
          <p:nvPr/>
        </p:nvPicPr>
        <p:blipFill>
          <a:blip r:embed="rId1"/>
          <a:stretch>
            <a:fillRect/>
          </a:stretch>
        </p:blipFill>
        <p:spPr>
          <a:xfrm>
            <a:off x="7383780" y="89535"/>
            <a:ext cx="1327785" cy="1303655"/>
          </a:xfrm>
          <a:prstGeom prst="rect">
            <a:avLst/>
          </a:prstGeom>
        </p:spPr>
      </p:pic>
      <p:pic>
        <p:nvPicPr>
          <p:cNvPr id="3" name="图片 2"/>
          <p:cNvPicPr/>
          <p:nvPr/>
        </p:nvPicPr>
        <p:blipFill>
          <a:blip r:embed="rId2"/>
        </p:blipFill>
        <p:spPr>
          <a:xfrm>
            <a:off x="140335" y="1450340"/>
            <a:ext cx="8863965" cy="3032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软件形态发生了根本性变化</a:t>
            </a:r>
            <a:endParaRPr lang="zh-CN" altLang="en-US"/>
          </a:p>
        </p:txBody>
      </p:sp>
      <p:sp>
        <p:nvSpPr>
          <p:cNvPr id="3" name="内容占位符 2"/>
          <p:cNvSpPr>
            <a:spLocks noGrp="1"/>
          </p:cNvSpPr>
          <p:nvPr>
            <p:ph idx="1"/>
          </p:nvPr>
        </p:nvSpPr>
        <p:spPr>
          <a:xfrm>
            <a:off x="768350" y="1153160"/>
            <a:ext cx="4304030" cy="3578860"/>
          </a:xfrm>
        </p:spPr>
        <p:txBody>
          <a:bodyPr/>
          <a:p>
            <a:pPr>
              <a:lnSpc>
                <a:spcPct val="120000"/>
              </a:lnSpc>
            </a:pPr>
            <a:r>
              <a:rPr lang="zh-CN" altLang="en-US" sz="2000"/>
              <a:t>SE1.0：软件作为工业产品存在</a:t>
            </a:r>
            <a:endParaRPr lang="zh-CN" altLang="en-US" sz="2000"/>
          </a:p>
          <a:p>
            <a:pPr>
              <a:lnSpc>
                <a:spcPct val="120000"/>
              </a:lnSpc>
            </a:pPr>
            <a:r>
              <a:rPr lang="zh-CN" altLang="en-US" sz="2000"/>
              <a:t>SE2.0：软件即服务（Software as a Service，SaaS）</a:t>
            </a:r>
            <a:endParaRPr lang="zh-CN" altLang="en-US" sz="2000"/>
          </a:p>
          <a:p>
            <a:pPr>
              <a:lnSpc>
                <a:spcPct val="120000"/>
              </a:lnSpc>
            </a:pPr>
            <a:r>
              <a:rPr lang="zh-CN" altLang="en-US" sz="2000"/>
              <a:t>SE3.0：软件即模型（Software as a Model，SaaM）</a:t>
            </a:r>
            <a:endParaRPr lang="zh-CN" altLang="en-US" sz="2000"/>
          </a:p>
        </p:txBody>
      </p:sp>
      <p:sp>
        <p:nvSpPr>
          <p:cNvPr id="4" name="日期占位符 3"/>
          <p:cNvSpPr>
            <a:spLocks noGrp="1"/>
          </p:cNvSpPr>
          <p:nvPr>
            <p:ph type="dt" sz="half" idx="10"/>
          </p:nvPr>
        </p:nvSpPr>
        <p:spPr/>
        <p:txBody>
          <a:bodyPr/>
          <a:p>
            <a:fld id="{79A32385-3E43-4FEF-8ACD-418176943BE0}"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7" name="文本框 6"/>
          <p:cNvSpPr txBox="1"/>
          <p:nvPr/>
        </p:nvSpPr>
        <p:spPr>
          <a:xfrm>
            <a:off x="5374640" y="1145540"/>
            <a:ext cx="3286125" cy="2161540"/>
          </a:xfrm>
          <a:prstGeom prst="rect">
            <a:avLst/>
          </a:prstGeom>
        </p:spPr>
        <p:txBody>
          <a:bodyPr>
            <a:noAutofit/>
          </a:bodyPr>
          <a:p>
            <a:pPr marL="68580" indent="-431800" algn="l" defTabSz="685800">
              <a:lnSpc>
                <a:spcPct val="120000"/>
              </a:lnSpc>
              <a:spcBef>
                <a:spcPts val="600"/>
              </a:spcBef>
              <a:spcAft>
                <a:spcPts val="150"/>
              </a:spcAft>
              <a:buClr>
                <a:schemeClr val="accent1"/>
              </a:buClr>
              <a:buSzPct val="80000"/>
              <a:buFont typeface="Arial" panose="020B0604020202020204" pitchFamily="34" charset="0"/>
              <a:buChar char="֍"/>
            </a:pPr>
            <a:r>
              <a:rPr lang="zh-CN" altLang="en-US" sz="2000" i="0">
                <a:solidFill>
                  <a:schemeClr val="tx2">
                    <a:lumMod val="90000"/>
                    <a:lumOff val="10000"/>
                  </a:schemeClr>
                </a:solidFill>
              </a:rPr>
              <a:t>SE1.0：瀑布模型</a:t>
            </a:r>
            <a:endParaRPr lang="zh-CN" altLang="en-US" sz="2000" i="0">
              <a:solidFill>
                <a:schemeClr val="tx2">
                  <a:lumMod val="90000"/>
                  <a:lumOff val="10000"/>
                </a:schemeClr>
              </a:solidFill>
            </a:endParaRPr>
          </a:p>
          <a:p>
            <a:pPr marL="68580" indent="-431800" algn="l" defTabSz="685800">
              <a:lnSpc>
                <a:spcPct val="120000"/>
              </a:lnSpc>
              <a:spcBef>
                <a:spcPts val="600"/>
              </a:spcBef>
              <a:spcAft>
                <a:spcPts val="150"/>
              </a:spcAft>
              <a:buClr>
                <a:schemeClr val="accent1"/>
              </a:buClr>
              <a:buSzPct val="80000"/>
              <a:buFont typeface="Arial" panose="020B0604020202020204" pitchFamily="34" charset="0"/>
              <a:buChar char="֍"/>
            </a:pPr>
            <a:r>
              <a:rPr lang="zh-CN" altLang="en-US" sz="2000" i="0">
                <a:solidFill>
                  <a:schemeClr val="tx2">
                    <a:lumMod val="90000"/>
                    <a:lumOff val="10000"/>
                  </a:schemeClr>
                </a:solidFill>
              </a:rPr>
              <a:t>SE2.0：敏捷｜devops</a:t>
            </a:r>
            <a:endParaRPr lang="zh-CN" altLang="en-US" sz="2000" i="0">
              <a:solidFill>
                <a:schemeClr val="tx2">
                  <a:lumMod val="90000"/>
                  <a:lumOff val="10000"/>
                </a:schemeClr>
              </a:solidFill>
            </a:endParaRPr>
          </a:p>
          <a:p>
            <a:pPr marL="68580" indent="-431800" algn="l" defTabSz="685800">
              <a:lnSpc>
                <a:spcPct val="120000"/>
              </a:lnSpc>
              <a:spcBef>
                <a:spcPts val="600"/>
              </a:spcBef>
              <a:spcAft>
                <a:spcPts val="150"/>
              </a:spcAft>
              <a:buClr>
                <a:schemeClr val="accent1"/>
              </a:buClr>
              <a:buSzPct val="80000"/>
              <a:buFont typeface="Arial" panose="020B0604020202020204" pitchFamily="34" charset="0"/>
              <a:buChar char="֍"/>
            </a:pPr>
            <a:endParaRPr lang="zh-CN" altLang="en-US" sz="2000" i="0">
              <a:solidFill>
                <a:schemeClr val="tx2">
                  <a:lumMod val="90000"/>
                  <a:lumOff val="10000"/>
                </a:schemeClr>
              </a:solidFill>
            </a:endParaRPr>
          </a:p>
          <a:p>
            <a:pPr marL="68580" indent="-431800" algn="l" defTabSz="685800">
              <a:lnSpc>
                <a:spcPct val="120000"/>
              </a:lnSpc>
              <a:spcBef>
                <a:spcPts val="600"/>
              </a:spcBef>
              <a:spcAft>
                <a:spcPts val="150"/>
              </a:spcAft>
              <a:buClr>
                <a:schemeClr val="accent1"/>
              </a:buClr>
              <a:buSzPct val="80000"/>
              <a:buFont typeface="Arial" panose="020B0604020202020204" pitchFamily="34" charset="0"/>
              <a:buChar char="֍"/>
            </a:pPr>
            <a:r>
              <a:rPr lang="zh-CN" altLang="en-US" sz="2000" i="0">
                <a:solidFill>
                  <a:schemeClr val="tx2">
                    <a:lumMod val="90000"/>
                    <a:lumOff val="10000"/>
                  </a:schemeClr>
                </a:solidFill>
              </a:rPr>
              <a:t>SE3.0：模型驱动开发</a:t>
            </a:r>
            <a:endParaRPr lang="zh-CN" altLang="en-US" sz="2000" i="0">
              <a:solidFill>
                <a:schemeClr val="tx2">
                  <a:lumMod val="90000"/>
                  <a:lumOff val="10000"/>
                </a:schemeClr>
              </a:solidFill>
            </a:endParaRPr>
          </a:p>
        </p:txBody>
      </p:sp>
      <p:sp>
        <p:nvSpPr>
          <p:cNvPr id="8" name="文本框 7"/>
          <p:cNvSpPr txBox="1"/>
          <p:nvPr/>
        </p:nvSpPr>
        <p:spPr>
          <a:xfrm>
            <a:off x="768350" y="3624580"/>
            <a:ext cx="7777480" cy="1016635"/>
          </a:xfrm>
          <a:prstGeom prst="rect">
            <a:avLst/>
          </a:prstGeom>
        </p:spPr>
        <p:txBody>
          <a:bodyPr wrap="square">
            <a:noAutofit/>
          </a:bodyPr>
          <a:p>
            <a:pPr marL="68580" indent="-431800" algn="l" defTabSz="685800">
              <a:lnSpc>
                <a:spcPct val="120000"/>
              </a:lnSpc>
              <a:spcBef>
                <a:spcPts val="600"/>
              </a:spcBef>
              <a:spcAft>
                <a:spcPts val="150"/>
              </a:spcAft>
              <a:buClr>
                <a:schemeClr val="accent1"/>
              </a:buClr>
              <a:buSzPct val="80000"/>
              <a:buFont typeface="Arial" panose="020B0604020202020204" pitchFamily="34" charset="0"/>
              <a:buChar char="֍"/>
            </a:pPr>
            <a:r>
              <a:rPr lang="zh-CN" altLang="en-US" sz="2000" b="0" i="0">
                <a:solidFill>
                  <a:schemeClr val="tx2">
                    <a:lumMod val="90000"/>
                    <a:lumOff val="10000"/>
                  </a:schemeClr>
                </a:solidFill>
              </a:rPr>
              <a:t>大模型时代范式发生改变，以前是X+AI，AI只起辅助作用，现在是AI+X，AI是核心。</a:t>
            </a:r>
            <a:endParaRPr lang="zh-CN" altLang="en-US" sz="2000" b="0" i="0">
              <a:solidFill>
                <a:schemeClr val="tx2">
                  <a:lumMod val="90000"/>
                  <a:lumOff val="1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软件行业发展趋势</a:t>
            </a:r>
            <a:endParaRPr lang="zh-CN" altLang="en-US"/>
          </a:p>
        </p:txBody>
      </p:sp>
      <p:sp>
        <p:nvSpPr>
          <p:cNvPr id="3" name="内容占位符 2"/>
          <p:cNvSpPr>
            <a:spLocks noGrp="1"/>
          </p:cNvSpPr>
          <p:nvPr>
            <p:ph idx="1"/>
          </p:nvPr>
        </p:nvSpPr>
        <p:spPr/>
        <p:txBody>
          <a:bodyPr/>
          <a:p>
            <a:r>
              <a:rPr lang="zh-CN" altLang="en-US"/>
              <a:t>https://mp.weixin.qq.com/s/9nGePda6N9JEnpQwTEP3Cg</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242060" y="1980565"/>
            <a:ext cx="4231640" cy="2321560"/>
          </a:xfrm>
          <a:prstGeom prst="rect">
            <a:avLst/>
          </a:prstGeom>
        </p:spPr>
      </p:pic>
      <p:pic>
        <p:nvPicPr>
          <p:cNvPr id="8" name="图片 7"/>
          <p:cNvPicPr>
            <a:picLocks noChangeAspect="1"/>
          </p:cNvPicPr>
          <p:nvPr/>
        </p:nvPicPr>
        <p:blipFill>
          <a:blip r:embed="rId2"/>
          <a:stretch>
            <a:fillRect/>
          </a:stretch>
        </p:blipFill>
        <p:spPr>
          <a:xfrm>
            <a:off x="3867150" y="925195"/>
            <a:ext cx="4805680" cy="35763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海绵城市智慧</a:t>
            </a:r>
            <a:r>
              <a:rPr lang="zh-CN" altLang="en-US" dirty="0" smtClean="0"/>
              <a:t>管理系统</a:t>
            </a:r>
            <a:endParaRPr lang="zh-CN" altLang="en-US" dirty="0"/>
          </a:p>
        </p:txBody>
      </p:sp>
      <p:sp>
        <p:nvSpPr>
          <p:cNvPr id="4" name="日期占位符 3"/>
          <p:cNvSpPr>
            <a:spLocks noGrp="1"/>
          </p:cNvSpPr>
          <p:nvPr>
            <p:ph type="dt" sz="half" idx="10"/>
          </p:nvPr>
        </p:nvSpPr>
        <p:spPr/>
        <p:txBody>
          <a:bodyPr/>
          <a:lstStyle/>
          <a:p>
            <a:fld id="{3BCF0624-DDC8-46AB-8289-FF5C355E156E}"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79668" y="1153429"/>
            <a:ext cx="8205601" cy="3905339"/>
          </a:xfrm>
          <a:prstGeom prst="rect">
            <a:avLst/>
          </a:prstGeom>
        </p:spPr>
      </p:pic>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463"/>
            <a:ext cx="9144000" cy="442530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展望</a:t>
            </a:r>
            <a:r>
              <a:rPr lang="en-US" altLang="zh-CN"/>
              <a:t>2025</a:t>
            </a:r>
            <a:r>
              <a:rPr lang="zh-CN" altLang="en-US"/>
              <a:t>年智能软件工程</a:t>
            </a:r>
            <a:endParaRPr lang="zh-CN" altLang="en-US"/>
          </a:p>
        </p:txBody>
      </p:sp>
      <p:sp>
        <p:nvSpPr>
          <p:cNvPr id="3" name="内容占位符 2"/>
          <p:cNvSpPr>
            <a:spLocks noGrp="1"/>
          </p:cNvSpPr>
          <p:nvPr>
            <p:ph idx="1"/>
          </p:nvPr>
        </p:nvSpPr>
        <p:spPr>
          <a:xfrm>
            <a:off x="768350" y="925195"/>
            <a:ext cx="2578100" cy="3806825"/>
          </a:xfrm>
        </p:spPr>
        <p:txBody>
          <a:bodyPr/>
          <a:p>
            <a:r>
              <a:rPr lang="zh-CN" altLang="en-US" sz="1800"/>
              <a:t>一是：</a:t>
            </a:r>
            <a:r>
              <a:rPr lang="en-US" altLang="zh-CN" sz="1800"/>
              <a:t>DeepSeek-V3</a:t>
            </a:r>
            <a:r>
              <a:rPr lang="zh-CN" altLang="en-US" sz="1800"/>
              <a:t>的技术突破：</a:t>
            </a:r>
            <a:endParaRPr lang="zh-CN" altLang="en-US" sz="1800"/>
          </a:p>
          <a:p>
            <a:pPr marL="0" indent="0">
              <a:buNone/>
            </a:pPr>
            <a:endParaRPr lang="zh-CN" altLang="en-US" sz="1800"/>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361950" y="1703705"/>
            <a:ext cx="4311015" cy="1336040"/>
          </a:xfrm>
          <a:prstGeom prst="rect">
            <a:avLst/>
          </a:prstGeom>
        </p:spPr>
      </p:pic>
      <p:sp>
        <p:nvSpPr>
          <p:cNvPr id="7" name="内容占位符 2"/>
          <p:cNvSpPr>
            <a:spLocks noGrp="1"/>
          </p:cNvSpPr>
          <p:nvPr/>
        </p:nvSpPr>
        <p:spPr>
          <a:xfrm>
            <a:off x="5365750" y="828675"/>
            <a:ext cx="3334385" cy="3806825"/>
          </a:xfrm>
          <a:prstGeom prst="rect">
            <a:avLst/>
          </a:prstGeom>
        </p:spPr>
        <p:txBody>
          <a:bodyPr vert="horz" lIns="45720" tIns="45720" rIns="45720" bIns="45720" rtlCol="0"/>
          <a:lst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125984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144018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a:lstStyle>
          <a:p>
            <a:r>
              <a:rPr lang="zh-CN" altLang="en-US" sz="1600"/>
              <a:t>另一是：</a:t>
            </a:r>
            <a:r>
              <a:rPr lang="en-US" altLang="zh-CN" sz="1600"/>
              <a:t>Lovable</a:t>
            </a:r>
            <a:r>
              <a:rPr lang="zh-CN" altLang="en-US" sz="1600"/>
              <a:t>成为世界上第一个</a:t>
            </a:r>
            <a:r>
              <a:rPr lang="en-US" altLang="zh-CN" sz="1600"/>
              <a:t> AI </a:t>
            </a:r>
            <a:r>
              <a:rPr lang="zh-CN" altLang="en-US" sz="1600"/>
              <a:t>全栈工程师</a:t>
            </a:r>
            <a:endParaRPr lang="zh-CN" altLang="en-US" sz="1600"/>
          </a:p>
          <a:p>
            <a:pPr marL="0" indent="0">
              <a:buNone/>
            </a:pPr>
            <a:r>
              <a:rPr lang="zh-CN" altLang="en-US" sz="1400"/>
              <a:t>从软件原型构建开始，通过不断迭代</a:t>
            </a:r>
            <a:r>
              <a:rPr lang="en-US" altLang="zh-CN" sz="1400"/>
              <a:t>&amp;</a:t>
            </a:r>
            <a:r>
              <a:rPr lang="zh-CN" altLang="en-US" sz="1400"/>
              <a:t>验证、修正缺陷，完成软件构建</a:t>
            </a:r>
            <a:r>
              <a:rPr lang="en-US" altLang="zh-CN" sz="1400"/>
              <a:t>,</a:t>
            </a:r>
            <a:r>
              <a:rPr lang="zh-CN" altLang="en-US" sz="1400"/>
              <a:t>不用写代码就可以构建高质量的软件，效率提升</a:t>
            </a:r>
            <a:r>
              <a:rPr lang="en-US" altLang="zh-CN" sz="1400"/>
              <a:t>20</a:t>
            </a:r>
            <a:r>
              <a:rPr lang="zh-CN" altLang="en-US" sz="1400"/>
              <a:t>倍</a:t>
            </a:r>
            <a:r>
              <a:rPr lang="en-US" altLang="zh-CN" sz="1400"/>
              <a:t>.</a:t>
            </a:r>
            <a:endParaRPr lang="en-US" altLang="zh-CN" sz="1400"/>
          </a:p>
        </p:txBody>
      </p:sp>
      <p:pic>
        <p:nvPicPr>
          <p:cNvPr id="9" name="图片 8"/>
          <p:cNvPicPr>
            <a:picLocks noChangeAspect="1"/>
          </p:cNvPicPr>
          <p:nvPr/>
        </p:nvPicPr>
        <p:blipFill>
          <a:blip r:embed="rId2"/>
          <a:stretch>
            <a:fillRect/>
          </a:stretch>
        </p:blipFill>
        <p:spPr>
          <a:xfrm>
            <a:off x="5721985" y="2277110"/>
            <a:ext cx="2683510" cy="2280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AI</a:t>
            </a:r>
            <a:r>
              <a:rPr lang="zh-CN" altLang="en-US"/>
              <a:t>时代对软件工程的影响</a:t>
            </a:r>
            <a:endParaRPr lang="zh-CN" altLang="en-US"/>
          </a:p>
        </p:txBody>
      </p:sp>
      <p:sp>
        <p:nvSpPr>
          <p:cNvPr id="3" name="内容占位符 2"/>
          <p:cNvSpPr>
            <a:spLocks noGrp="1"/>
          </p:cNvSpPr>
          <p:nvPr>
            <p:ph idx="1"/>
          </p:nvPr>
        </p:nvSpPr>
        <p:spPr/>
        <p:txBody>
          <a:bodyPr>
            <a:normAutofit fontScale="50000"/>
          </a:bodyPr>
          <a:p>
            <a:r>
              <a:rPr lang="en-US" altLang="zh-CN"/>
              <a:t>AI</a:t>
            </a:r>
            <a:r>
              <a:rPr lang="zh-CN" altLang="en-US"/>
              <a:t>时代软件工程演进</a:t>
            </a:r>
            <a:endParaRPr lang="zh-CN" altLang="en-US"/>
          </a:p>
          <a:p>
            <a:r>
              <a:rPr lang="en-US" altLang="zh-CN"/>
              <a:t>https://www.bilibili.com/video/BV1Rki9Y6Erd/?spm_id_from=333.337.search-card.all.click&amp;vd_source=126d7d8c96f64baf214de0bfd2cb9361</a:t>
            </a:r>
            <a:endParaRPr lang="en-US" altLang="zh-CN"/>
          </a:p>
          <a:p>
            <a:r>
              <a:rPr lang="en-US" altLang="zh-CN"/>
              <a:t>DeepSeek</a:t>
            </a:r>
            <a:r>
              <a:rPr lang="zh-CN" altLang="en-US"/>
              <a:t>与</a:t>
            </a:r>
            <a:r>
              <a:rPr lang="en-US" altLang="zh-CN"/>
              <a:t>AI</a:t>
            </a:r>
            <a:r>
              <a:rPr lang="zh-CN" altLang="en-US"/>
              <a:t>编程时代，程序员是否会被</a:t>
            </a:r>
            <a:r>
              <a:rPr lang="en-US" altLang="zh-CN"/>
              <a:t>AI</a:t>
            </a:r>
            <a:r>
              <a:rPr lang="zh-CN" altLang="en-US"/>
              <a:t>取代</a:t>
            </a:r>
            <a:endParaRPr lang="zh-CN" altLang="en-US"/>
          </a:p>
          <a:p>
            <a:pPr marL="0" indent="0">
              <a:buNone/>
            </a:pPr>
            <a:r>
              <a:rPr lang="en-US" altLang="zh-CN"/>
              <a:t>https://www.bilibili.com/video/BV1s1AGerEEn/?spm_id_from=333.337.search-card.all.click&amp;vd_source=126d7d8c96f64baf214de0bfd2cb9361</a:t>
            </a:r>
            <a:endParaRPr lang="en-US" altLang="zh-CN"/>
          </a:p>
          <a:p>
            <a:r>
              <a:rPr lang="en-US" altLang="zh-CN"/>
              <a:t>AI+</a:t>
            </a:r>
            <a:r>
              <a:rPr lang="zh-CN" altLang="en-US"/>
              <a:t>软件开发</a:t>
            </a:r>
            <a:endParaRPr lang="zh-CN" altLang="en-US"/>
          </a:p>
          <a:p>
            <a:pPr marL="0" indent="0">
              <a:buNone/>
            </a:pPr>
            <a:r>
              <a:rPr lang="en-US" altLang="zh-CN"/>
              <a:t>https://www.bilibili.com/video/BV1apcTeNEKz/?spm_id_from=333.337.search-card.all.click&amp;vd_source=126d7d8c96f64baf214de0bfd2cb9361</a:t>
            </a:r>
            <a:endParaRPr lang="en-US" altLang="zh-CN"/>
          </a:p>
          <a:p>
            <a:pPr marL="0" indent="0" algn="l">
              <a:buNone/>
            </a:pPr>
            <a:r>
              <a:rPr lang="en-US" altLang="zh-CN"/>
              <a:t>https://www.bilibili.com/video/BV1YVSHY7EVc/?spm_id_from=333.337.search-card.all.click&amp;vd_source=126d7d8c96f64baf214de0bfd2cb9361</a:t>
            </a:r>
            <a:endParaRPr lang="en-US" altLang="zh-CN"/>
          </a:p>
          <a:p>
            <a:pPr marL="0" indent="0" algn="l">
              <a:buNone/>
            </a:pPr>
            <a:endParaRPr lang="en-US" altLang="zh-CN"/>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r>
              <a:rPr lang="zh-CN" altLang="en-US" sz="2000"/>
              <a:t>又一次被震惊：从生成和细化需求到应用各种方法设计测试用例</a:t>
            </a:r>
            <a:endParaRPr lang="zh-CN" altLang="en-US" sz="2000"/>
          </a:p>
          <a:p>
            <a:r>
              <a:rPr lang="en-US" altLang="zh-CN" sz="2000"/>
              <a:t>https://mp.weixin.qq.com/s?__biz=MjM5ODczMDc1Mw==&amp;mid=2651856495&amp;idx=1&amp;sn=3a9a1906f0ad66c0baf6567657af7fe3&amp;chksm=bd22f3018a557a1793f05d7ca1e57bd6b3feb4f038b6a9b65c6aaeae73101cf259797362e194&amp;scene=21#wechat_redirect</a:t>
            </a:r>
            <a:endParaRPr lang="en-US" altLang="zh-CN" sz="2000"/>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mtClean="0">
                <a:sym typeface="+mn-ea"/>
              </a:rPr>
              <a:t>现代软件研发</a:t>
            </a:r>
            <a:endParaRPr lang="zh-CN" altLang="en-US"/>
          </a:p>
        </p:txBody>
      </p:sp>
      <p:sp>
        <p:nvSpPr>
          <p:cNvPr id="3" name="内容占位符 2"/>
          <p:cNvSpPr>
            <a:spLocks noGrp="1"/>
          </p:cNvSpPr>
          <p:nvPr>
            <p:ph idx="1"/>
          </p:nvPr>
        </p:nvSpPr>
        <p:spPr/>
        <p:txBody>
          <a:bodyPr/>
          <a:p>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图片 6"/>
          <p:cNvPicPr/>
          <p:nvPr/>
        </p:nvPicPr>
        <p:blipFill>
          <a:blip r:embed="rId1"/>
        </p:blipFill>
        <p:spPr>
          <a:xfrm>
            <a:off x="1195070" y="673735"/>
            <a:ext cx="6753860" cy="37960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p:txBody>
          <a:bodyPr/>
          <a:lstStyle/>
          <a:p>
            <a:r>
              <a:rPr lang="zh-CN" altLang="en-US" smtClean="0"/>
              <a:t>现代软件研发对软件人才提出的要求 </a:t>
            </a:r>
            <a:endParaRPr lang="zh-CN" altLang="en-US" dirty="0"/>
          </a:p>
        </p:txBody>
      </p:sp>
      <p:sp>
        <p:nvSpPr>
          <p:cNvPr id="49157" name="Rectangle 3"/>
          <p:cNvSpPr>
            <a:spLocks noGrp="1" noChangeArrowheads="1"/>
          </p:cNvSpPr>
          <p:nvPr>
            <p:ph type="body" idx="1"/>
          </p:nvPr>
        </p:nvSpPr>
        <p:spPr>
          <a:xfrm>
            <a:off x="768097" y="1272209"/>
            <a:ext cx="7832833" cy="3459812"/>
          </a:xfrm>
        </p:spPr>
        <p:txBody>
          <a:bodyPr/>
          <a:lstStyle/>
          <a:p>
            <a:pPr>
              <a:lnSpc>
                <a:spcPct val="150000"/>
              </a:lnSpc>
              <a:spcBef>
                <a:spcPts val="0"/>
              </a:spcBef>
              <a:spcAft>
                <a:spcPts val="0"/>
              </a:spcAft>
            </a:pPr>
            <a:r>
              <a:rPr lang="zh-CN" altLang="en-US" dirty="0" smtClean="0"/>
              <a:t>夯实基础，拥抱底层技术</a:t>
            </a:r>
            <a:endParaRPr lang="zh-CN" altLang="en-US" dirty="0" smtClean="0"/>
          </a:p>
          <a:p>
            <a:pPr>
              <a:lnSpc>
                <a:spcPct val="150000"/>
              </a:lnSpc>
              <a:spcBef>
                <a:spcPts val="0"/>
              </a:spcBef>
              <a:spcAft>
                <a:spcPts val="0"/>
              </a:spcAft>
            </a:pPr>
            <a:r>
              <a:rPr lang="zh-CN" altLang="en-US" dirty="0" smtClean="0"/>
              <a:t>构建</a:t>
            </a:r>
            <a:r>
              <a:rPr lang="en-US" altLang="zh-CN" dirty="0" smtClean="0"/>
              <a:t>“T</a:t>
            </a:r>
            <a:r>
              <a:rPr lang="zh-CN" altLang="en-US" dirty="0" smtClean="0"/>
              <a:t>型</a:t>
            </a:r>
            <a:r>
              <a:rPr lang="en-US" altLang="zh-CN" dirty="0" smtClean="0"/>
              <a:t>”</a:t>
            </a:r>
            <a:r>
              <a:rPr lang="zh-CN" altLang="en-US" dirty="0" smtClean="0"/>
              <a:t>知识结构</a:t>
            </a:r>
            <a:endParaRPr lang="zh-CN" altLang="en-US" dirty="0" smtClean="0"/>
          </a:p>
          <a:p>
            <a:pPr>
              <a:lnSpc>
                <a:spcPct val="150000"/>
              </a:lnSpc>
              <a:spcBef>
                <a:spcPts val="0"/>
              </a:spcBef>
              <a:spcAft>
                <a:spcPts val="0"/>
              </a:spcAft>
            </a:pPr>
            <a:r>
              <a:rPr lang="zh-CN" altLang="en-US" dirty="0" smtClean="0"/>
              <a:t>规划新兴领域发展路径</a:t>
            </a:r>
            <a:endParaRPr lang="zh-CN" altLang="en-US" dirty="0"/>
          </a:p>
        </p:txBody>
      </p:sp>
      <p:sp>
        <p:nvSpPr>
          <p:cNvPr id="6" name="灯片编号占位符 5"/>
          <p:cNvSpPr>
            <a:spLocks noGrp="1"/>
          </p:cNvSpPr>
          <p:nvPr>
            <p:ph type="sldNum" sz="quarter" idx="12"/>
          </p:nvPr>
        </p:nvSpPr>
        <p:spPr/>
        <p:txBody>
          <a:bodyPr/>
          <a:lstStyle/>
          <a:p>
            <a:fld id="{B7217D5D-70E6-4624-B9F2-8A1FDE256A10}" type="slidenum">
              <a:rPr lang="en-US" altLang="zh-CN" smtClean="0"/>
            </a:fld>
            <a:endParaRPr lang="en-US" altLang="zh-CN"/>
          </a:p>
        </p:txBody>
      </p:sp>
      <p:pic>
        <p:nvPicPr>
          <p:cNvPr id="49158" name="Picture 7" descr="Related imag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74335" y="1543050"/>
            <a:ext cx="31877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日期占位符 4"/>
          <p:cNvSpPr>
            <a:spLocks noGrp="1"/>
          </p:cNvSpPr>
          <p:nvPr>
            <p:ph type="dt" sz="half" idx="10"/>
          </p:nvPr>
        </p:nvSpPr>
        <p:spPr/>
        <p:txBody>
          <a:bodyPr/>
          <a:lstStyle/>
          <a:p>
            <a:fld id="{CF90CB6A-E5B3-41BB-A309-D9C132AD7DDB}"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339752" y="1815666"/>
            <a:ext cx="4815742" cy="1938992"/>
          </a:xfrm>
          <a:prstGeom prst="rect">
            <a:avLst/>
          </a:prstGeom>
          <a:noFill/>
        </p:spPr>
        <p:txBody>
          <a:bodyPr wrap="none" rtlCol="0">
            <a:spAutoFit/>
          </a:bodyPr>
          <a:lstStyle/>
          <a:p>
            <a:r>
              <a:rPr lang="zh-CN" altLang="en-US" sz="4000" b="1" dirty="0">
                <a:solidFill>
                  <a:srgbClr val="FF0000"/>
                </a:solidFill>
              </a:rPr>
              <a:t>找准定位，树立</a:t>
            </a:r>
            <a:r>
              <a:rPr lang="zh-CN" altLang="en-US" sz="4000" b="1" dirty="0" smtClean="0">
                <a:solidFill>
                  <a:srgbClr val="FF0000"/>
                </a:solidFill>
              </a:rPr>
              <a:t>目标</a:t>
            </a:r>
            <a:endParaRPr lang="en-US" altLang="zh-CN" sz="4000" b="1" dirty="0" smtClean="0">
              <a:solidFill>
                <a:srgbClr val="FF0000"/>
              </a:solidFill>
            </a:endParaRPr>
          </a:p>
          <a:p>
            <a:endParaRPr lang="en-US" altLang="zh-CN" sz="4000" b="1" dirty="0" smtClean="0">
              <a:solidFill>
                <a:srgbClr val="FF0000"/>
              </a:solidFill>
            </a:endParaRPr>
          </a:p>
          <a:p>
            <a:r>
              <a:rPr lang="zh-CN" altLang="en-US" sz="4000" b="1" dirty="0" smtClean="0">
                <a:solidFill>
                  <a:srgbClr val="FF0000"/>
                </a:solidFill>
              </a:rPr>
              <a:t>行动</a:t>
            </a:r>
            <a:r>
              <a:rPr lang="zh-CN" altLang="en-US" sz="4000" b="1" dirty="0">
                <a:solidFill>
                  <a:srgbClr val="FF0000"/>
                </a:solidFill>
              </a:rPr>
              <a:t>起来，坚持</a:t>
            </a:r>
            <a:r>
              <a:rPr lang="zh-CN" altLang="en-US" sz="4000" b="1" dirty="0" smtClean="0">
                <a:solidFill>
                  <a:srgbClr val="FF0000"/>
                </a:solidFill>
              </a:rPr>
              <a:t>下去</a:t>
            </a:r>
            <a:endParaRPr lang="zh-CN" altLang="en-US" sz="4000" b="1" dirty="0">
              <a:solidFill>
                <a:srgbClr val="FF0000"/>
              </a:solidFill>
            </a:endParaRPr>
          </a:p>
        </p:txBody>
      </p:sp>
      <p:sp>
        <p:nvSpPr>
          <p:cNvPr id="2" name="灯片编号占位符 1"/>
          <p:cNvSpPr>
            <a:spLocks noGrp="1"/>
          </p:cNvSpPr>
          <p:nvPr>
            <p:ph type="sldNum" sz="quarter" idx="12"/>
          </p:nvPr>
        </p:nvSpPr>
        <p:spPr/>
        <p:txBody>
          <a:bodyPr/>
          <a:lstStyle/>
          <a:p>
            <a:fld id="{47CA9980-A6FB-42C0-B5E8-AA033557BCE0}" type="slidenum">
              <a:rPr lang="ko-KR" altLang="en-US" smtClean="0"/>
            </a:fld>
            <a:endParaRPr lang="en-US" altLang="ko-KR"/>
          </a:p>
        </p:txBody>
      </p:sp>
      <p:sp>
        <p:nvSpPr>
          <p:cNvPr id="3" name="标题 2"/>
          <p:cNvSpPr>
            <a:spLocks noGrp="1"/>
          </p:cNvSpPr>
          <p:nvPr/>
        </p:nvSpPr>
        <p:spPr>
          <a:xfrm>
            <a:off x="1094321" y="0"/>
            <a:ext cx="7763929" cy="828913"/>
          </a:xfrm>
          <a:prstGeom prst="rect">
            <a:avLst/>
          </a:prstGeom>
        </p:spPr>
        <p:txBody>
          <a:bodyPr vert="horz" lIns="91440" tIns="45720" rIns="91440" bIns="45720" rtlCol="0" anchor="ctr">
            <a:normAutofit/>
          </a:bodyPr>
          <a:lst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a:lstStyle>
          <a:p>
            <a:r>
              <a:rPr lang="zh-CN" altLang="en-US" sz="3200" b="1" dirty="0"/>
              <a:t>怎么做？</a:t>
            </a:r>
            <a:endParaRPr lang="zh-CN" altLang="en-US" sz="3200"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
          <p:cNvSpPr txBox="1">
            <a:spLocks noChangeArrowheads="1"/>
          </p:cNvSpPr>
          <p:nvPr/>
        </p:nvSpPr>
        <p:spPr bwMode="auto">
          <a:xfrm>
            <a:off x="2076872" y="3761188"/>
            <a:ext cx="5890592" cy="646331"/>
          </a:xfrm>
          <a:prstGeom prst="rect">
            <a:avLst/>
          </a:prstGeom>
          <a:noFill/>
          <a:ln w="9525">
            <a:noFill/>
            <a:miter lim="800000"/>
          </a:ln>
          <a:effectLst/>
        </p:spPr>
        <p:txBody>
          <a:bodyPr wrap="square">
            <a:spAutoFit/>
          </a:bodyPr>
          <a:lstStyle/>
          <a:p>
            <a:pPr algn="ctr" eaLnBrk="0" hangingPunct="0">
              <a:spcBef>
                <a:spcPct val="50000"/>
              </a:spcBef>
              <a:defRPr/>
            </a:pPr>
            <a:r>
              <a:rPr kumimoji="1" lang="zh-CN" altLang="en-US" sz="3600" b="1" dirty="0">
                <a:solidFill>
                  <a:srgbClr val="FF0000"/>
                </a:solidFill>
                <a:latin typeface="黑体" panose="02010609060101010101" charset="-122"/>
                <a:ea typeface="黑体" panose="02010609060101010101" charset="-122"/>
                <a:cs typeface="Arial" panose="020B0604020202020204" pitchFamily="34" charset="0"/>
              </a:rPr>
              <a:t>用工程化的方法来开发软件</a:t>
            </a:r>
            <a:endParaRPr lang="zh-CN" altLang="en-US" sz="3600" dirty="0">
              <a:solidFill>
                <a:srgbClr val="FF0000"/>
              </a:solidFill>
              <a:latin typeface="黑体" panose="02010609060101010101" charset="-122"/>
              <a:ea typeface="黑体" panose="02010609060101010101" charset="-122"/>
              <a:cs typeface="Arial" panose="020B0604020202020204" pitchFamily="34" charset="0"/>
            </a:endParaRPr>
          </a:p>
        </p:txBody>
      </p:sp>
      <p:sp>
        <p:nvSpPr>
          <p:cNvPr id="7" name="右箭头 6"/>
          <p:cNvSpPr/>
          <p:nvPr/>
        </p:nvSpPr>
        <p:spPr>
          <a:xfrm>
            <a:off x="1619672" y="3889262"/>
            <a:ext cx="457200" cy="228600"/>
          </a:xfrm>
          <a:prstGeom prst="rightArrow">
            <a:avLst/>
          </a:prstGeom>
          <a:solidFill>
            <a:srgbClr val="00B0F0"/>
          </a:solidFill>
        </p:spPr>
        <p:style>
          <a:lnRef idx="0">
            <a:schemeClr val="dk1"/>
          </a:lnRef>
          <a:fillRef idx="3">
            <a:schemeClr val="dk1"/>
          </a:fillRef>
          <a:effectRef idx="3">
            <a:schemeClr val="dk1"/>
          </a:effectRef>
          <a:fontRef idx="minor">
            <a:schemeClr val="lt1"/>
          </a:fontRef>
        </p:style>
        <p:txBody>
          <a:bodyPr anchor="ctr"/>
          <a:lstStyle/>
          <a:p>
            <a:pPr algn="ctr" eaLnBrk="0" hangingPunct="0">
              <a:defRPr/>
            </a:pPr>
            <a:endParaRPr lang="zh-CN" altLang="en-US" dirty="0">
              <a:solidFill>
                <a:srgbClr val="FF0000"/>
              </a:solidFill>
            </a:endParaRPr>
          </a:p>
        </p:txBody>
      </p:sp>
      <p:sp>
        <p:nvSpPr>
          <p:cNvPr id="3" name="标题 2"/>
          <p:cNvSpPr>
            <a:spLocks noGrp="1"/>
          </p:cNvSpPr>
          <p:nvPr>
            <p:ph type="title"/>
          </p:nvPr>
        </p:nvSpPr>
        <p:spPr/>
        <p:txBody>
          <a:bodyPr/>
          <a:lstStyle/>
          <a:p>
            <a:r>
              <a:rPr lang="zh-CN" altLang="en-US" sz="3200" b="1" dirty="0" smtClean="0"/>
              <a:t>课程介绍</a:t>
            </a:r>
            <a:endParaRPr lang="zh-CN" altLang="en-US" sz="3200" b="1" dirty="0"/>
          </a:p>
        </p:txBody>
      </p:sp>
      <p:pic>
        <p:nvPicPr>
          <p:cNvPr id="10" name="图片 9"/>
          <p:cNvPicPr>
            <a:picLocks noChangeAspect="1"/>
          </p:cNvPicPr>
          <p:nvPr/>
        </p:nvPicPr>
        <p:blipFill rotWithShape="1">
          <a:blip r:embed="rId1"/>
          <a:srcRect t="15948"/>
          <a:stretch>
            <a:fillRect/>
          </a:stretch>
        </p:blipFill>
        <p:spPr>
          <a:xfrm>
            <a:off x="2327685" y="1437625"/>
            <a:ext cx="4847406" cy="1945496"/>
          </a:xfrm>
          <a:prstGeom prst="rect">
            <a:avLst/>
          </a:prstGeom>
        </p:spPr>
      </p:pic>
      <p:sp>
        <p:nvSpPr>
          <p:cNvPr id="6" name="灯片编号占位符 5"/>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transition advTm="1229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课程介绍</a:t>
            </a:r>
            <a:endParaRPr lang="zh-CN" altLang="en-US" b="1" dirty="0"/>
          </a:p>
        </p:txBody>
      </p:sp>
      <p:sp>
        <p:nvSpPr>
          <p:cNvPr id="7" name="日期占位符 6"/>
          <p:cNvSpPr>
            <a:spLocks noGrp="1"/>
          </p:cNvSpPr>
          <p:nvPr>
            <p:ph type="dt" sz="half" idx="10"/>
          </p:nvPr>
        </p:nvSpPr>
        <p:spPr/>
        <p:txBody>
          <a:bodyPr/>
          <a:lstStyle/>
          <a:p>
            <a:fld id="{BEDB6E46-77B0-4AAE-A2BB-184ED7F690A2}"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smtClean="0"/>
              <a:t>软件工程</a:t>
            </a:r>
            <a:endParaRPr lang="zh-CN" altLang="en-US"/>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10" name="矩形 9"/>
          <p:cNvSpPr/>
          <p:nvPr/>
        </p:nvSpPr>
        <p:spPr>
          <a:xfrm>
            <a:off x="695877" y="962298"/>
            <a:ext cx="4294971" cy="3573286"/>
          </a:xfrm>
          <a:prstGeom prst="rect">
            <a:avLst/>
          </a:prstGeom>
        </p:spPr>
        <p:txBody>
          <a:bodyPr wrap="square">
            <a:spAutoFit/>
          </a:bodyPr>
          <a:lstStyle/>
          <a:p>
            <a:pPr marL="342900" indent="-342900" algn="just">
              <a:lnSpc>
                <a:spcPct val="120000"/>
              </a:lnSpc>
              <a:spcAft>
                <a:spcPts val="600"/>
              </a:spcAft>
              <a:buClr>
                <a:srgbClr val="FF8900"/>
              </a:buClr>
              <a:buFont typeface="Arial" panose="020B0604020202020204" pitchFamily="34" charset="0"/>
              <a:buChar char="☼"/>
            </a:pPr>
            <a:r>
              <a:rPr lang="zh-CN" altLang="en-US" sz="2400" b="1" dirty="0">
                <a:solidFill>
                  <a:schemeClr val="tx1">
                    <a:lumMod val="65000"/>
                    <a:lumOff val="35000"/>
                  </a:schemeClr>
                </a:solidFill>
                <a:latin typeface="+mj-ea"/>
                <a:ea typeface="+mj-ea"/>
              </a:rPr>
              <a:t> 课程地位：</a:t>
            </a:r>
            <a:endParaRPr lang="zh-CN" altLang="en-US" sz="2400" b="1" dirty="0">
              <a:solidFill>
                <a:schemeClr val="tx1">
                  <a:lumMod val="65000"/>
                  <a:lumOff val="35000"/>
                </a:schemeClr>
              </a:solidFill>
              <a:latin typeface="+mj-ea"/>
              <a:ea typeface="+mj-ea"/>
            </a:endParaRPr>
          </a:p>
          <a:p>
            <a:pPr algn="just">
              <a:lnSpc>
                <a:spcPct val="120000"/>
              </a:lnSpc>
              <a:spcAft>
                <a:spcPts val="600"/>
              </a:spcAft>
            </a:pPr>
            <a:r>
              <a:rPr lang="zh-CN" altLang="en-US" sz="2400" dirty="0">
                <a:solidFill>
                  <a:schemeClr val="tx1">
                    <a:lumMod val="65000"/>
                    <a:lumOff val="35000"/>
                  </a:schemeClr>
                </a:solidFill>
                <a:latin typeface="+mj-ea"/>
                <a:ea typeface="+mj-ea"/>
              </a:rPr>
              <a:t>       </a:t>
            </a:r>
            <a:r>
              <a:rPr lang="zh-CN" altLang="en-US" sz="2000" dirty="0">
                <a:solidFill>
                  <a:schemeClr val="tx1">
                    <a:lumMod val="65000"/>
                    <a:lumOff val="35000"/>
                  </a:schemeClr>
                </a:solidFill>
                <a:latin typeface="+mj-ea"/>
                <a:ea typeface="+mj-ea"/>
              </a:rPr>
              <a:t>非常重要，是一门管理性质的课程，也是一门交叉学科，应用于软件开发与维护中。</a:t>
            </a:r>
            <a:endParaRPr lang="zh-CN" altLang="en-US" sz="2000" dirty="0">
              <a:solidFill>
                <a:schemeClr val="tx1">
                  <a:lumMod val="65000"/>
                  <a:lumOff val="35000"/>
                </a:schemeClr>
              </a:solidFill>
              <a:latin typeface="+mj-ea"/>
              <a:ea typeface="+mj-ea"/>
            </a:endParaRPr>
          </a:p>
          <a:p>
            <a:pPr marL="342900" indent="-342900" algn="just">
              <a:lnSpc>
                <a:spcPct val="120000"/>
              </a:lnSpc>
              <a:spcAft>
                <a:spcPts val="600"/>
              </a:spcAft>
              <a:buClr>
                <a:srgbClr val="FF8900"/>
              </a:buClr>
              <a:buFont typeface="Arial" panose="020B0604020202020204" pitchFamily="34" charset="0"/>
              <a:buChar char="☼"/>
            </a:pPr>
            <a:r>
              <a:rPr lang="zh-CN" altLang="en-US" sz="2400" b="1" dirty="0">
                <a:solidFill>
                  <a:schemeClr val="tx1">
                    <a:lumMod val="65000"/>
                    <a:lumOff val="35000"/>
                  </a:schemeClr>
                </a:solidFill>
                <a:latin typeface="+mj-ea"/>
                <a:ea typeface="+mj-ea"/>
              </a:rPr>
              <a:t> 课程难度：</a:t>
            </a:r>
            <a:endParaRPr lang="en-US" altLang="zh-CN" sz="2400" b="1" dirty="0">
              <a:solidFill>
                <a:schemeClr val="tx1">
                  <a:lumMod val="65000"/>
                  <a:lumOff val="35000"/>
                </a:schemeClr>
              </a:solidFill>
              <a:latin typeface="+mj-ea"/>
              <a:ea typeface="+mj-ea"/>
            </a:endParaRPr>
          </a:p>
          <a:p>
            <a:pPr algn="just">
              <a:lnSpc>
                <a:spcPct val="120000"/>
              </a:lnSpc>
              <a:spcAft>
                <a:spcPts val="600"/>
              </a:spcAft>
            </a:pPr>
            <a:r>
              <a:rPr lang="en-US" altLang="zh-CN" sz="2400" dirty="0">
                <a:solidFill>
                  <a:schemeClr val="tx1">
                    <a:lumMod val="65000"/>
                    <a:lumOff val="35000"/>
                  </a:schemeClr>
                </a:solidFill>
                <a:latin typeface="+mj-ea"/>
                <a:ea typeface="+mj-ea"/>
              </a:rPr>
              <a:t>       </a:t>
            </a:r>
            <a:r>
              <a:rPr lang="zh-CN" altLang="en-US" sz="2000" dirty="0">
                <a:solidFill>
                  <a:schemeClr val="tx1">
                    <a:lumMod val="65000"/>
                    <a:lumOff val="35000"/>
                  </a:schemeClr>
                </a:solidFill>
                <a:latin typeface="+mj-ea"/>
                <a:ea typeface="+mj-ea"/>
              </a:rPr>
              <a:t>理论性很强，非常难学，但学会对以后的职业生涯具有很重要的指导意义。</a:t>
            </a:r>
            <a:endParaRPr lang="zh-CN" altLang="en-US" sz="2000" dirty="0">
              <a:solidFill>
                <a:schemeClr val="tx1">
                  <a:lumMod val="65000"/>
                  <a:lumOff val="35000"/>
                </a:schemeClr>
              </a:solidFill>
              <a:latin typeface="+mj-ea"/>
              <a:ea typeface="+mj-ea"/>
            </a:endParaRPr>
          </a:p>
        </p:txBody>
      </p:sp>
      <p:graphicFrame>
        <p:nvGraphicFramePr>
          <p:cNvPr id="11" name="图示 10"/>
          <p:cNvGraphicFramePr/>
          <p:nvPr/>
        </p:nvGraphicFramePr>
        <p:xfrm>
          <a:off x="4273158" y="881258"/>
          <a:ext cx="5498432" cy="373536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课程</a:t>
            </a:r>
            <a:r>
              <a:rPr lang="zh-CN" altLang="en-US" sz="3600" b="1" dirty="0" smtClean="0"/>
              <a:t>目标</a:t>
            </a:r>
            <a:endParaRPr lang="zh-CN" altLang="en-US" sz="3600" b="1" dirty="0"/>
          </a:p>
        </p:txBody>
      </p:sp>
      <p:sp>
        <p:nvSpPr>
          <p:cNvPr id="3" name="内容占位符 2"/>
          <p:cNvSpPr>
            <a:spLocks noGrp="1"/>
          </p:cNvSpPr>
          <p:nvPr>
            <p:ph sz="quarter" idx="1"/>
          </p:nvPr>
        </p:nvSpPr>
        <p:spPr>
          <a:xfrm>
            <a:off x="684530" y="828675"/>
            <a:ext cx="8002270" cy="3905885"/>
          </a:xfrm>
        </p:spPr>
        <p:txBody>
          <a:bodyPr>
            <a:noAutofit/>
          </a:bodyPr>
          <a:lstStyle/>
          <a:p>
            <a:pPr fontAlgn="auto">
              <a:lnSpc>
                <a:spcPct val="100000"/>
              </a:lnSpc>
              <a:spcBef>
                <a:spcPts val="0"/>
              </a:spcBef>
            </a:pPr>
            <a:r>
              <a:rPr sz="1800" dirty="0">
                <a:effectLst/>
              </a:rPr>
              <a:t>课程目标1：掌握软件工程的基本概念和原理，实用的软件开发技术，为软件开发实践和软件工程后续课程做好知识储备，并能够对复杂软件工程问题进行分析与综合。</a:t>
            </a:r>
            <a:endParaRPr sz="1800" dirty="0">
              <a:effectLst/>
            </a:endParaRPr>
          </a:p>
          <a:p>
            <a:pPr fontAlgn="auto">
              <a:lnSpc>
                <a:spcPct val="100000"/>
              </a:lnSpc>
              <a:spcBef>
                <a:spcPts val="0"/>
              </a:spcBef>
            </a:pPr>
            <a:r>
              <a:rPr sz="1800" dirty="0">
                <a:effectLst/>
              </a:rPr>
              <a:t>课程目标2：掌握开发高质量软件的需求分析、软件设计，以及软件开发和测试等的技术与方法，能够有效的获取需求、建立分析和设计的模型、完成编码和设计合适的测试用例、以及后期维护工作的技术，并能够在软件开发过程中体现创新精神。</a:t>
            </a:r>
            <a:endParaRPr sz="1800" dirty="0">
              <a:effectLst/>
            </a:endParaRPr>
          </a:p>
          <a:p>
            <a:pPr fontAlgn="auto">
              <a:lnSpc>
                <a:spcPct val="100000"/>
              </a:lnSpc>
              <a:spcBef>
                <a:spcPts val="0"/>
              </a:spcBef>
            </a:pPr>
            <a:r>
              <a:rPr sz="1800" dirty="0">
                <a:effectLst/>
              </a:rPr>
              <a:t>课程目标3：掌握UML面向对象软件建模技术和软件开发的相关工具，能够及时跟进软件行业的发展形势，利用合适的工具完成软件开发的过程。</a:t>
            </a:r>
            <a:endParaRPr sz="1800" dirty="0">
              <a:effectLst/>
            </a:endParaRPr>
          </a:p>
          <a:p>
            <a:pPr fontAlgn="auto">
              <a:lnSpc>
                <a:spcPct val="100000"/>
              </a:lnSpc>
              <a:spcBef>
                <a:spcPts val="0"/>
              </a:spcBef>
            </a:pPr>
            <a:r>
              <a:rPr sz="1800" dirty="0">
                <a:effectLst/>
              </a:rPr>
              <a:t>课程目标4：掌握软件项目开发各阶段的文档书写的规范和要求，能够按步骤、按规范撰写软件项目开发过程中的相关技术文档，并能够在团队合作过程中进行有效的沟通。</a:t>
            </a:r>
            <a:endParaRPr sz="1800" dirty="0">
              <a:effectLst/>
            </a:endParaRPr>
          </a:p>
          <a:p>
            <a:pPr fontAlgn="auto">
              <a:lnSpc>
                <a:spcPct val="100000"/>
              </a:lnSpc>
              <a:spcBef>
                <a:spcPts val="0"/>
              </a:spcBef>
            </a:pPr>
            <a:r>
              <a:rPr sz="1800" dirty="0">
                <a:effectLst/>
              </a:rPr>
              <a:t>课程目标5：了解软件项目开发过程中的先进软件项目管理方法，以及项目开发过程中应遵循的流程、准则、标准和规范。</a:t>
            </a:r>
            <a:endParaRPr sz="1800" dirty="0">
              <a:effectLst/>
            </a:endParaRPr>
          </a:p>
        </p:txBody>
      </p:sp>
      <p:sp>
        <p:nvSpPr>
          <p:cNvPr id="6" name="灯片编号占位符 5"/>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68096" y="1164866"/>
            <a:ext cx="7966830" cy="1993366"/>
          </a:xfrm>
          <a:prstGeom prst="rect">
            <a:avLst/>
          </a:prstGeom>
        </p:spPr>
        <p:txBody>
          <a:bodyPr wrap="square">
            <a:spAutoFit/>
          </a:bodyPr>
          <a:lstStyle/>
          <a:p>
            <a:pPr marL="342900" indent="-342900">
              <a:lnSpc>
                <a:spcPct val="120000"/>
              </a:lnSpc>
              <a:spcBef>
                <a:spcPts val="450"/>
              </a:spcBef>
              <a:spcAft>
                <a:spcPts val="450"/>
              </a:spcAft>
              <a:buClr>
                <a:schemeClr val="accent1"/>
              </a:buClr>
              <a:buSzPct val="80000"/>
              <a:buFontTx/>
              <a:buChar char="֍"/>
            </a:pPr>
            <a:r>
              <a:rPr lang="zh-CN" altLang="en-US" sz="2400" dirty="0">
                <a:solidFill>
                  <a:schemeClr val="tx1">
                    <a:lumMod val="65000"/>
                    <a:lumOff val="35000"/>
                  </a:schemeClr>
                </a:solidFill>
                <a:latin typeface="+mj-ea"/>
                <a:ea typeface="+mj-ea"/>
              </a:rPr>
              <a:t>体验软件工程各阶段的主要任务，切实深入到软件开发的整个过程。</a:t>
            </a:r>
            <a:endParaRPr lang="en-US" altLang="zh-CN" sz="2400" dirty="0">
              <a:solidFill>
                <a:schemeClr val="tx1">
                  <a:lumMod val="65000"/>
                  <a:lumOff val="35000"/>
                </a:schemeClr>
              </a:solidFill>
              <a:latin typeface="+mj-ea"/>
              <a:ea typeface="+mj-ea"/>
            </a:endParaRPr>
          </a:p>
          <a:p>
            <a:pPr marL="342900" indent="-342900">
              <a:lnSpc>
                <a:spcPct val="120000"/>
              </a:lnSpc>
              <a:spcBef>
                <a:spcPts val="450"/>
              </a:spcBef>
              <a:spcAft>
                <a:spcPts val="450"/>
              </a:spcAft>
              <a:buClr>
                <a:schemeClr val="accent1"/>
              </a:buClr>
              <a:buSzPct val="80000"/>
              <a:buFontTx/>
              <a:buChar char="֍"/>
            </a:pPr>
            <a:r>
              <a:rPr lang="zh-CN" altLang="en-US" sz="2400" dirty="0">
                <a:solidFill>
                  <a:schemeClr val="tx1">
                    <a:lumMod val="65000"/>
                    <a:lumOff val="35000"/>
                  </a:schemeClr>
                </a:solidFill>
                <a:latin typeface="+mj-ea"/>
                <a:ea typeface="+mj-ea"/>
              </a:rPr>
              <a:t>了解制作一个软件要做什么，怎么做，以及开发软件用到什么东西，注意吸取教训。</a:t>
            </a:r>
            <a:endParaRPr lang="zh-CN" altLang="en-US" sz="2400" dirty="0">
              <a:solidFill>
                <a:schemeClr val="tx1">
                  <a:lumMod val="65000"/>
                  <a:lumOff val="35000"/>
                </a:schemeClr>
              </a:solidFill>
              <a:latin typeface="+mj-ea"/>
              <a:ea typeface="+mj-ea"/>
            </a:endParaRPr>
          </a:p>
        </p:txBody>
      </p:sp>
      <p:sp>
        <p:nvSpPr>
          <p:cNvPr id="2" name="标题 1"/>
          <p:cNvSpPr>
            <a:spLocks noGrp="1"/>
          </p:cNvSpPr>
          <p:nvPr>
            <p:ph type="title"/>
          </p:nvPr>
        </p:nvSpPr>
        <p:spPr/>
        <p:txBody>
          <a:bodyPr/>
          <a:lstStyle/>
          <a:p>
            <a:r>
              <a:rPr lang="zh-CN" altLang="en-US" dirty="0" smtClean="0"/>
              <a:t>基本目标</a:t>
            </a:r>
            <a:endParaRPr lang="zh-CN" altLang="en-US" dirty="0"/>
          </a:p>
        </p:txBody>
      </p:sp>
      <p:sp>
        <p:nvSpPr>
          <p:cNvPr id="8" name="日期占位符 7"/>
          <p:cNvSpPr>
            <a:spLocks noGrp="1"/>
          </p:cNvSpPr>
          <p:nvPr>
            <p:ph type="dt" sz="half" idx="10"/>
          </p:nvPr>
        </p:nvSpPr>
        <p:spPr/>
        <p:txBody>
          <a:bodyPr/>
          <a:lstStyle/>
          <a:p>
            <a:fld id="{8779B0C5-2266-45DA-A8A3-0461F592484D}"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smtClean="0"/>
              <a:t>软件工程</a:t>
            </a:r>
            <a:endParaRPr lang="zh-CN" altLang="en-US" dirty="0"/>
          </a:p>
        </p:txBody>
      </p:sp>
      <p:sp>
        <p:nvSpPr>
          <p:cNvPr id="10" name="灯片编号占位符 9"/>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中国工程教育专业认证</a:t>
            </a:r>
            <a:endParaRPr lang="zh-CN" altLang="en-US" b="1" dirty="0"/>
          </a:p>
        </p:txBody>
      </p:sp>
      <p:sp>
        <p:nvSpPr>
          <p:cNvPr id="7" name="日期占位符 6"/>
          <p:cNvSpPr>
            <a:spLocks noGrp="1"/>
          </p:cNvSpPr>
          <p:nvPr>
            <p:ph type="dt" sz="half" idx="10"/>
          </p:nvPr>
        </p:nvSpPr>
        <p:spPr/>
        <p:txBody>
          <a:bodyPr/>
          <a:lstStyle/>
          <a:p>
            <a:fld id="{EA0373B9-2E6E-4FF4-AED8-158500CE5338}"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smtClean="0"/>
              <a:t>软件工程</a:t>
            </a:r>
            <a:endParaRPr lang="zh-CN" altLang="en-US"/>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10" name="矩形 9"/>
          <p:cNvSpPr/>
          <p:nvPr/>
        </p:nvSpPr>
        <p:spPr>
          <a:xfrm>
            <a:off x="661737" y="828913"/>
            <a:ext cx="8301789" cy="1646605"/>
          </a:xfrm>
          <a:prstGeom prst="rect">
            <a:avLst/>
          </a:prstGeom>
        </p:spPr>
        <p:txBody>
          <a:bodyPr wrap="square">
            <a:spAutoFit/>
          </a:bodyPr>
          <a:lstStyle/>
          <a:p>
            <a:pPr marL="342900" indent="-342900">
              <a:lnSpc>
                <a:spcPct val="120000"/>
              </a:lnSpc>
              <a:spcAft>
                <a:spcPts val="600"/>
              </a:spcAft>
              <a:buClr>
                <a:srgbClr val="FF8900"/>
              </a:buClr>
              <a:buSzPct val="80000"/>
              <a:buFont typeface="Arial" panose="020B0604020202020204" pitchFamily="34" charset="0"/>
              <a:buChar char="֍"/>
            </a:pPr>
            <a:r>
              <a:rPr lang="zh-CN" altLang="en-US" sz="2000" dirty="0">
                <a:solidFill>
                  <a:schemeClr val="tx1">
                    <a:lumMod val="65000"/>
                    <a:lumOff val="35000"/>
                  </a:schemeClr>
                </a:solidFill>
              </a:rPr>
              <a:t>中国工程教育专业认证简单来说就是我国工程教育的质量是否能在国际社会得到认可，其认证基础是</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华盛顿协议</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，它是工程教育本科专业学位互认协议，目前加入华盛顿协议的国家有</a:t>
            </a:r>
            <a:r>
              <a:rPr lang="en-US" altLang="zh-CN" sz="2000" dirty="0">
                <a:solidFill>
                  <a:schemeClr val="tx1">
                    <a:lumMod val="65000"/>
                    <a:lumOff val="35000"/>
                  </a:schemeClr>
                </a:solidFill>
              </a:rPr>
              <a:t>21</a:t>
            </a:r>
            <a:r>
              <a:rPr lang="zh-CN" altLang="en-US" sz="2000" dirty="0">
                <a:solidFill>
                  <a:schemeClr val="tx1">
                    <a:lumMod val="65000"/>
                    <a:lumOff val="35000"/>
                  </a:schemeClr>
                </a:solidFill>
              </a:rPr>
              <a:t>个。</a:t>
            </a:r>
            <a:endParaRPr lang="zh-CN" altLang="en-US" sz="2000" dirty="0">
              <a:solidFill>
                <a:schemeClr val="tx1">
                  <a:lumMod val="65000"/>
                  <a:lumOff val="35000"/>
                </a:schemeClr>
              </a:solidFill>
            </a:endParaRPr>
          </a:p>
          <a:p>
            <a:pPr marL="342900" indent="-342900">
              <a:lnSpc>
                <a:spcPct val="120000"/>
              </a:lnSpc>
              <a:spcAft>
                <a:spcPts val="600"/>
              </a:spcAft>
              <a:buClr>
                <a:srgbClr val="FF8900"/>
              </a:buClr>
              <a:buSzPct val="80000"/>
              <a:buFont typeface="Arial" panose="020B0604020202020204" pitchFamily="34" charset="0"/>
              <a:buChar char="֍"/>
            </a:pPr>
            <a:r>
              <a:rPr lang="zh-CN" altLang="en-US" sz="2000" dirty="0">
                <a:solidFill>
                  <a:schemeClr val="tx1">
                    <a:lumMod val="65000"/>
                    <a:lumOff val="35000"/>
                  </a:schemeClr>
                </a:solidFill>
              </a:rPr>
              <a:t>核心理念：以学生为中心，成果导向，持续改进。</a:t>
            </a:r>
            <a:endParaRPr lang="zh-CN" altLang="en-US" sz="2000" dirty="0">
              <a:solidFill>
                <a:schemeClr val="tx1">
                  <a:lumMod val="65000"/>
                  <a:lumOff val="35000"/>
                </a:schemeClr>
              </a:solidFill>
            </a:endParaRPr>
          </a:p>
        </p:txBody>
      </p:sp>
      <p:sp>
        <p:nvSpPr>
          <p:cNvPr id="11" name="矩形 10"/>
          <p:cNvSpPr/>
          <p:nvPr/>
        </p:nvSpPr>
        <p:spPr>
          <a:xfrm>
            <a:off x="986590" y="2405717"/>
            <a:ext cx="2383986" cy="461665"/>
          </a:xfrm>
          <a:prstGeom prst="rect">
            <a:avLst/>
          </a:prstGeom>
        </p:spPr>
        <p:txBody>
          <a:bodyPr wrap="none">
            <a:spAutoFit/>
          </a:bodyPr>
          <a:lstStyle/>
          <a:p>
            <a:pPr>
              <a:spcBef>
                <a:spcPts val="1800"/>
              </a:spcBef>
              <a:spcAft>
                <a:spcPts val="1200"/>
              </a:spcAft>
            </a:pPr>
            <a:r>
              <a:rPr lang="zh-CN" altLang="zh-CN" sz="2400" b="1" dirty="0">
                <a:solidFill>
                  <a:srgbClr val="686868"/>
                </a:solidFill>
              </a:rPr>
              <a:t>毕业要求</a:t>
            </a:r>
            <a:r>
              <a:rPr lang="en-US" altLang="zh-CN" sz="2400" b="1" dirty="0">
                <a:solidFill>
                  <a:srgbClr val="686868"/>
                </a:solidFill>
              </a:rPr>
              <a:t>12</a:t>
            </a:r>
            <a:r>
              <a:rPr lang="zh-CN" altLang="en-US" sz="2400" b="1" dirty="0">
                <a:solidFill>
                  <a:srgbClr val="686868"/>
                </a:solidFill>
              </a:rPr>
              <a:t>条：</a:t>
            </a:r>
            <a:endParaRPr lang="en-US" altLang="zh-CN" sz="2400" b="1" dirty="0">
              <a:solidFill>
                <a:srgbClr val="686868"/>
              </a:solidFill>
            </a:endParaRPr>
          </a:p>
        </p:txBody>
      </p:sp>
      <p:sp>
        <p:nvSpPr>
          <p:cNvPr id="12" name="TextBox 1"/>
          <p:cNvSpPr txBox="1"/>
          <p:nvPr/>
        </p:nvSpPr>
        <p:spPr>
          <a:xfrm>
            <a:off x="986590" y="2806392"/>
            <a:ext cx="4426616" cy="1938992"/>
          </a:xfrm>
          <a:prstGeom prst="rect">
            <a:avLst/>
          </a:prstGeom>
          <a:noFill/>
        </p:spPr>
        <p:txBody>
          <a:bodyPr wrap="square" rtlCol="0">
            <a:spAutoFit/>
          </a:bodyPr>
          <a:lstStyle/>
          <a:p>
            <a:pPr marL="971550" lvl="1" indent="-514350">
              <a:spcBef>
                <a:spcPts val="0"/>
              </a:spcBef>
              <a:buClr>
                <a:schemeClr val="accent1"/>
              </a:buClr>
              <a:buFont typeface="+mj-lt"/>
              <a:buAutoNum type="arabicPeriod"/>
            </a:pPr>
            <a:r>
              <a:rPr lang="zh-CN" altLang="zh-CN" sz="2000" b="1" dirty="0">
                <a:solidFill>
                  <a:srgbClr val="FF0000"/>
                </a:solidFill>
              </a:rPr>
              <a:t>工程知识</a:t>
            </a:r>
            <a:endParaRPr lang="en-US" altLang="zh-CN" sz="2000" b="1" dirty="0">
              <a:solidFill>
                <a:srgbClr val="FF0000"/>
              </a:solidFill>
            </a:endParaRPr>
          </a:p>
          <a:p>
            <a:pPr marL="971550" lvl="1" indent="-514350">
              <a:spcBef>
                <a:spcPts val="0"/>
              </a:spcBef>
              <a:buClr>
                <a:schemeClr val="accent1"/>
              </a:buClr>
              <a:buFont typeface="+mj-lt"/>
              <a:buAutoNum type="arabicPeriod"/>
            </a:pPr>
            <a:r>
              <a:rPr lang="zh-CN" altLang="en-US" sz="2000" b="1" dirty="0">
                <a:solidFill>
                  <a:srgbClr val="FF0000"/>
                </a:solidFill>
              </a:rPr>
              <a:t>问题分析</a:t>
            </a:r>
            <a:endParaRPr lang="en-US" altLang="zh-CN" sz="2000" b="1" dirty="0">
              <a:solidFill>
                <a:srgbClr val="FF0000"/>
              </a:solidFill>
            </a:endParaRPr>
          </a:p>
          <a:p>
            <a:pPr marL="971550" lvl="1" indent="-514350">
              <a:spcBef>
                <a:spcPts val="0"/>
              </a:spcBef>
              <a:buClr>
                <a:schemeClr val="accent1"/>
              </a:buClr>
              <a:buFont typeface="+mj-lt"/>
              <a:buAutoNum type="arabicPeriod"/>
            </a:pPr>
            <a:r>
              <a:rPr lang="zh-CN" altLang="zh-CN" sz="2000" b="1" dirty="0">
                <a:solidFill>
                  <a:srgbClr val="FF0000"/>
                </a:solidFill>
              </a:rPr>
              <a:t>设计</a:t>
            </a:r>
            <a:r>
              <a:rPr lang="en-US" altLang="zh-CN" sz="2000" b="1" dirty="0">
                <a:solidFill>
                  <a:srgbClr val="FF0000"/>
                </a:solidFill>
              </a:rPr>
              <a:t>/</a:t>
            </a:r>
            <a:r>
              <a:rPr lang="zh-CN" altLang="zh-CN" sz="2000" b="1" dirty="0">
                <a:solidFill>
                  <a:srgbClr val="FF0000"/>
                </a:solidFill>
              </a:rPr>
              <a:t>开发解决方案</a:t>
            </a:r>
            <a:endParaRPr lang="en-US" altLang="zh-CN" sz="2000" b="1" dirty="0">
              <a:solidFill>
                <a:srgbClr val="FF0000"/>
              </a:solidFill>
            </a:endParaRPr>
          </a:p>
          <a:p>
            <a:pPr marL="971550" lvl="1" indent="-514350">
              <a:spcBef>
                <a:spcPts val="0"/>
              </a:spcBef>
              <a:buClr>
                <a:schemeClr val="accent1"/>
              </a:buClr>
              <a:buFont typeface="+mj-lt"/>
              <a:buAutoNum type="arabicPeriod"/>
            </a:pPr>
            <a:r>
              <a:rPr lang="zh-CN" altLang="en-US" sz="2000" b="1" dirty="0">
                <a:solidFill>
                  <a:srgbClr val="FF0000"/>
                </a:solidFill>
              </a:rPr>
              <a:t>研究</a:t>
            </a:r>
            <a:endParaRPr lang="en-US" altLang="zh-CN" sz="2000" b="1" dirty="0">
              <a:solidFill>
                <a:srgbClr val="FF0000"/>
              </a:solidFill>
            </a:endParaRPr>
          </a:p>
          <a:p>
            <a:pPr marL="971550" lvl="1" indent="-514350">
              <a:spcBef>
                <a:spcPts val="0"/>
              </a:spcBef>
              <a:buClr>
                <a:schemeClr val="accent1"/>
              </a:buClr>
              <a:buFont typeface="+mj-lt"/>
              <a:buAutoNum type="arabicPeriod"/>
            </a:pPr>
            <a:r>
              <a:rPr lang="zh-CN" altLang="en-US" sz="2000" b="1" dirty="0">
                <a:solidFill>
                  <a:srgbClr val="FF0000"/>
                </a:solidFill>
              </a:rPr>
              <a:t>使用现代工具</a:t>
            </a:r>
            <a:endParaRPr lang="en-US" altLang="zh-CN" sz="2000" b="1" dirty="0">
              <a:solidFill>
                <a:srgbClr val="FF0000"/>
              </a:solidFill>
            </a:endParaRPr>
          </a:p>
          <a:p>
            <a:pPr marL="971550" lvl="1" indent="-514350">
              <a:spcBef>
                <a:spcPts val="0"/>
              </a:spcBef>
              <a:buClr>
                <a:schemeClr val="accent1"/>
              </a:buClr>
              <a:buFont typeface="+mj-lt"/>
              <a:buAutoNum type="arabicPeriod"/>
            </a:pPr>
            <a:r>
              <a:rPr lang="zh-CN" altLang="zh-CN" sz="2000" b="1" dirty="0">
                <a:solidFill>
                  <a:srgbClr val="FF0000"/>
                </a:solidFill>
              </a:rPr>
              <a:t>工程与社会</a:t>
            </a:r>
            <a:endParaRPr lang="en-US" altLang="zh-CN" sz="2000" b="1" dirty="0">
              <a:solidFill>
                <a:srgbClr val="FF0000"/>
              </a:solidFill>
            </a:endParaRPr>
          </a:p>
        </p:txBody>
      </p:sp>
      <p:sp>
        <p:nvSpPr>
          <p:cNvPr id="13" name="TextBox 4"/>
          <p:cNvSpPr txBox="1"/>
          <p:nvPr/>
        </p:nvSpPr>
        <p:spPr>
          <a:xfrm>
            <a:off x="4812631" y="2730240"/>
            <a:ext cx="3073570" cy="2003112"/>
          </a:xfrm>
          <a:prstGeom prst="rect">
            <a:avLst/>
          </a:prstGeom>
          <a:noFill/>
        </p:spPr>
        <p:txBody>
          <a:bodyPr wrap="square" rtlCol="0">
            <a:spAutoFit/>
          </a:bodyPr>
          <a:lstStyle/>
          <a:p>
            <a:pPr marL="514350" indent="-514350">
              <a:spcBef>
                <a:spcPts val="100"/>
              </a:spcBef>
              <a:buClr>
                <a:schemeClr val="accent1"/>
              </a:buClr>
              <a:buSzPct val="100000"/>
              <a:buFont typeface="+mj-lt"/>
              <a:buAutoNum type="arabicPeriod" startAt="7"/>
            </a:pPr>
            <a:r>
              <a:rPr lang="zh-CN" altLang="zh-CN" sz="2000" b="1" dirty="0">
                <a:solidFill>
                  <a:srgbClr val="686868"/>
                </a:solidFill>
              </a:rPr>
              <a:t>环境和可持续发展</a:t>
            </a:r>
            <a:endParaRPr lang="en-US" altLang="zh-CN" sz="2000" b="1" dirty="0">
              <a:solidFill>
                <a:srgbClr val="686868"/>
              </a:solidFill>
            </a:endParaRPr>
          </a:p>
          <a:p>
            <a:pPr marL="514350" indent="-514350">
              <a:spcBef>
                <a:spcPts val="100"/>
              </a:spcBef>
              <a:buClr>
                <a:schemeClr val="accent1"/>
              </a:buClr>
              <a:buSzPct val="100000"/>
              <a:buFont typeface="+mj-lt"/>
              <a:buAutoNum type="arabicPeriod" startAt="7"/>
            </a:pPr>
            <a:r>
              <a:rPr lang="zh-CN" altLang="zh-CN" sz="2000" b="1" dirty="0">
                <a:solidFill>
                  <a:srgbClr val="FF0000"/>
                </a:solidFill>
              </a:rPr>
              <a:t>职业规范</a:t>
            </a:r>
            <a:endParaRPr lang="en-US" altLang="zh-CN" sz="2000" b="1" dirty="0">
              <a:solidFill>
                <a:srgbClr val="FF0000"/>
              </a:solidFill>
            </a:endParaRPr>
          </a:p>
          <a:p>
            <a:pPr marL="514350" indent="-514350">
              <a:spcBef>
                <a:spcPts val="100"/>
              </a:spcBef>
              <a:buClr>
                <a:schemeClr val="accent1"/>
              </a:buClr>
              <a:buSzPct val="100000"/>
              <a:buFont typeface="+mj-lt"/>
              <a:buAutoNum type="arabicPeriod" startAt="7"/>
            </a:pPr>
            <a:r>
              <a:rPr lang="zh-CN" altLang="zh-CN" sz="2000" b="1" dirty="0">
                <a:solidFill>
                  <a:srgbClr val="FF0000"/>
                </a:solidFill>
              </a:rPr>
              <a:t>个人和团队</a:t>
            </a:r>
            <a:endParaRPr lang="en-US" altLang="zh-CN" sz="2000" b="1" dirty="0">
              <a:solidFill>
                <a:srgbClr val="FF0000"/>
              </a:solidFill>
            </a:endParaRPr>
          </a:p>
          <a:p>
            <a:pPr marL="514350" indent="-514350">
              <a:spcBef>
                <a:spcPts val="100"/>
              </a:spcBef>
              <a:buClr>
                <a:schemeClr val="accent1"/>
              </a:buClr>
              <a:buSzPct val="100000"/>
              <a:buFont typeface="+mj-lt"/>
              <a:buAutoNum type="arabicPeriod" startAt="7"/>
            </a:pPr>
            <a:r>
              <a:rPr lang="zh-CN" altLang="en-US" sz="2000" b="1" dirty="0">
                <a:solidFill>
                  <a:srgbClr val="FF0000"/>
                </a:solidFill>
              </a:rPr>
              <a:t>沟通</a:t>
            </a:r>
            <a:endParaRPr lang="en-US" altLang="zh-CN" sz="2000" b="1" dirty="0">
              <a:solidFill>
                <a:srgbClr val="FF0000"/>
              </a:solidFill>
            </a:endParaRPr>
          </a:p>
          <a:p>
            <a:pPr marL="514350" indent="-514350">
              <a:spcBef>
                <a:spcPts val="100"/>
              </a:spcBef>
              <a:buClr>
                <a:schemeClr val="accent1"/>
              </a:buClr>
              <a:buSzPct val="100000"/>
              <a:buFont typeface="+mj-lt"/>
              <a:buAutoNum type="arabicPeriod" startAt="7"/>
            </a:pPr>
            <a:r>
              <a:rPr lang="zh-CN" altLang="en-US" sz="2000" b="1" dirty="0">
                <a:solidFill>
                  <a:srgbClr val="FF0000"/>
                </a:solidFill>
              </a:rPr>
              <a:t>项目管理</a:t>
            </a:r>
            <a:endParaRPr lang="en-US" altLang="zh-CN" sz="2000" b="1" dirty="0">
              <a:solidFill>
                <a:srgbClr val="FF0000"/>
              </a:solidFill>
            </a:endParaRPr>
          </a:p>
          <a:p>
            <a:pPr marL="514350" indent="-514350">
              <a:spcBef>
                <a:spcPts val="100"/>
              </a:spcBef>
              <a:buClr>
                <a:schemeClr val="accent1"/>
              </a:buClr>
              <a:buSzPct val="100000"/>
              <a:buFont typeface="+mj-lt"/>
              <a:buAutoNum type="arabicPeriod" startAt="7"/>
            </a:pPr>
            <a:r>
              <a:rPr lang="zh-CN" altLang="en-US" sz="2000" b="1" dirty="0">
                <a:solidFill>
                  <a:srgbClr val="686868"/>
                </a:solidFill>
              </a:rPr>
              <a:t>终身学习</a:t>
            </a:r>
            <a:endParaRPr lang="zh-CN" altLang="en-US" sz="2000" b="1" dirty="0">
              <a:solidFill>
                <a:srgbClr val="686868"/>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25879" y="963063"/>
            <a:ext cx="6918710" cy="3464538"/>
          </a:xfrm>
          <a:prstGeom prst="rect">
            <a:avLst/>
          </a:prstGeom>
        </p:spPr>
        <p:txBody>
          <a:bodyPr wrap="square">
            <a:spAutoFit/>
          </a:bodyPr>
          <a:lstStyle/>
          <a:p>
            <a:pPr marL="342900" indent="-342900">
              <a:lnSpc>
                <a:spcPct val="120000"/>
              </a:lnSpc>
              <a:spcBef>
                <a:spcPts val="450"/>
              </a:spcBef>
              <a:buClr>
                <a:srgbClr val="0091EA"/>
              </a:buClr>
              <a:buSzPct val="80000"/>
              <a:buFont typeface="Arial" panose="020B0604020202020204" pitchFamily="34" charset="0"/>
              <a:buChar char="►"/>
            </a:pPr>
            <a:r>
              <a:rPr lang="zh-CN" altLang="en-US" sz="2000" dirty="0" smtClean="0">
                <a:solidFill>
                  <a:schemeClr val="tx1">
                    <a:lumMod val="65000"/>
                    <a:lumOff val="35000"/>
                  </a:schemeClr>
                </a:solidFill>
                <a:latin typeface="+mj-ea"/>
                <a:ea typeface="+mj-ea"/>
              </a:rPr>
              <a:t>软件开发相关技术的学习</a:t>
            </a:r>
            <a:endParaRPr lang="zh-CN" altLang="en-US" sz="2000" dirty="0">
              <a:solidFill>
                <a:schemeClr val="tx1">
                  <a:lumMod val="65000"/>
                  <a:lumOff val="35000"/>
                </a:schemeClr>
              </a:solidFill>
              <a:latin typeface="+mj-ea"/>
              <a:ea typeface="+mj-ea"/>
            </a:endParaRPr>
          </a:p>
          <a:p>
            <a:pPr marL="600075" lvl="1" indent="-257175">
              <a:lnSpc>
                <a:spcPct val="120000"/>
              </a:lnSpc>
              <a:spcBef>
                <a:spcPts val="450"/>
              </a:spcBef>
              <a:buClr>
                <a:srgbClr val="FF8900"/>
              </a:buClr>
              <a:buFont typeface="Wingdings" panose="05000000000000000000" pitchFamily="2" charset="2"/>
              <a:buChar char="ü"/>
            </a:pPr>
            <a:r>
              <a:rPr lang="zh-CN" altLang="en-US" sz="2000" dirty="0" smtClean="0">
                <a:solidFill>
                  <a:schemeClr val="tx1">
                    <a:lumMod val="65000"/>
                    <a:lumOff val="35000"/>
                  </a:schemeClr>
                </a:solidFill>
                <a:latin typeface="+mj-ea"/>
                <a:ea typeface="+mj-ea"/>
              </a:rPr>
              <a:t>提高开发能力、积累开发经验</a:t>
            </a:r>
            <a:endParaRPr lang="zh-CN" altLang="en-US" sz="2000" dirty="0">
              <a:solidFill>
                <a:schemeClr val="tx1">
                  <a:lumMod val="65000"/>
                  <a:lumOff val="35000"/>
                </a:schemeClr>
              </a:solidFill>
              <a:latin typeface="+mj-ea"/>
              <a:ea typeface="+mj-ea"/>
            </a:endParaRPr>
          </a:p>
          <a:p>
            <a:pPr marL="342900" indent="-342900">
              <a:lnSpc>
                <a:spcPct val="120000"/>
              </a:lnSpc>
              <a:spcBef>
                <a:spcPts val="450"/>
              </a:spcBef>
              <a:buClr>
                <a:srgbClr val="0091EA"/>
              </a:buClr>
              <a:buSzPct val="80000"/>
              <a:buFont typeface="Arial" panose="020B0604020202020204" pitchFamily="34" charset="0"/>
              <a:buChar char="►"/>
            </a:pPr>
            <a:r>
              <a:rPr lang="zh-CN" altLang="en-US" sz="2000" dirty="0" smtClean="0">
                <a:solidFill>
                  <a:schemeClr val="tx1">
                    <a:lumMod val="65000"/>
                    <a:lumOff val="35000"/>
                  </a:schemeClr>
                </a:solidFill>
                <a:latin typeface="+mj-ea"/>
                <a:ea typeface="+mj-ea"/>
              </a:rPr>
              <a:t>软件工程知识</a:t>
            </a:r>
            <a:r>
              <a:rPr lang="zh-CN" altLang="en-US" sz="2000" dirty="0">
                <a:solidFill>
                  <a:schemeClr val="tx1">
                    <a:lumMod val="65000"/>
                    <a:lumOff val="35000"/>
                  </a:schemeClr>
                </a:solidFill>
                <a:latin typeface="+mj-ea"/>
                <a:ea typeface="+mj-ea"/>
              </a:rPr>
              <a:t>体系</a:t>
            </a:r>
            <a:r>
              <a:rPr lang="zh-CN" altLang="en-US" sz="2000" dirty="0" smtClean="0">
                <a:solidFill>
                  <a:schemeClr val="tx1">
                    <a:lumMod val="65000"/>
                    <a:lumOff val="35000"/>
                  </a:schemeClr>
                </a:solidFill>
                <a:latin typeface="+mj-ea"/>
                <a:ea typeface="+mj-ea"/>
              </a:rPr>
              <a:t>的建立</a:t>
            </a:r>
            <a:endParaRPr lang="zh-CN" altLang="en-US" sz="2000" dirty="0">
              <a:solidFill>
                <a:schemeClr val="tx1">
                  <a:lumMod val="65000"/>
                  <a:lumOff val="35000"/>
                </a:schemeClr>
              </a:solidFill>
              <a:latin typeface="+mj-ea"/>
              <a:ea typeface="+mj-ea"/>
            </a:endParaRPr>
          </a:p>
          <a:p>
            <a:pPr marL="600075" lvl="1" indent="-257175">
              <a:lnSpc>
                <a:spcPct val="120000"/>
              </a:lnSpc>
              <a:spcBef>
                <a:spcPts val="450"/>
              </a:spcBef>
              <a:buClr>
                <a:srgbClr val="FF8900"/>
              </a:buClr>
              <a:buFont typeface="Wingdings" panose="05000000000000000000" pitchFamily="2" charset="2"/>
              <a:buChar char="ü"/>
            </a:pPr>
            <a:r>
              <a:rPr lang="zh-CN" altLang="en-US" sz="2000" dirty="0">
                <a:solidFill>
                  <a:schemeClr val="tx1">
                    <a:lumMod val="65000"/>
                    <a:lumOff val="35000"/>
                  </a:schemeClr>
                </a:solidFill>
                <a:latin typeface="+mj-ea"/>
                <a:ea typeface="+mj-ea"/>
              </a:rPr>
              <a:t>培养工程意识、建立管理理念</a:t>
            </a:r>
            <a:endParaRPr lang="zh-CN" altLang="en-US" sz="2000" dirty="0">
              <a:solidFill>
                <a:schemeClr val="tx1">
                  <a:lumMod val="65000"/>
                  <a:lumOff val="35000"/>
                </a:schemeClr>
              </a:solidFill>
              <a:latin typeface="+mj-ea"/>
              <a:ea typeface="+mj-ea"/>
            </a:endParaRPr>
          </a:p>
          <a:p>
            <a:pPr marL="342900" indent="-342900">
              <a:lnSpc>
                <a:spcPct val="120000"/>
              </a:lnSpc>
              <a:spcBef>
                <a:spcPts val="450"/>
              </a:spcBef>
              <a:buClr>
                <a:srgbClr val="0091EA"/>
              </a:buClr>
              <a:buSzPct val="80000"/>
              <a:buFont typeface="Arial" panose="020B0604020202020204" pitchFamily="34" charset="0"/>
              <a:buChar char="►"/>
            </a:pPr>
            <a:r>
              <a:rPr lang="zh-CN" altLang="en-US" sz="2000" dirty="0">
                <a:solidFill>
                  <a:schemeClr val="tx1">
                    <a:lumMod val="65000"/>
                    <a:lumOff val="35000"/>
                  </a:schemeClr>
                </a:solidFill>
                <a:latin typeface="+mj-ea"/>
                <a:ea typeface="+mj-ea"/>
              </a:rPr>
              <a:t>学习思维的提升</a:t>
            </a:r>
            <a:endParaRPr lang="zh-CN" altLang="en-US" sz="2000" dirty="0">
              <a:solidFill>
                <a:schemeClr val="tx1">
                  <a:lumMod val="65000"/>
                  <a:lumOff val="35000"/>
                </a:schemeClr>
              </a:solidFill>
              <a:latin typeface="+mj-ea"/>
              <a:ea typeface="+mj-ea"/>
            </a:endParaRPr>
          </a:p>
          <a:p>
            <a:pPr marL="600075" lvl="1" indent="-257175">
              <a:lnSpc>
                <a:spcPct val="120000"/>
              </a:lnSpc>
              <a:spcBef>
                <a:spcPts val="450"/>
              </a:spcBef>
              <a:buClr>
                <a:srgbClr val="FF8900"/>
              </a:buClr>
              <a:buFont typeface="Wingdings" panose="05000000000000000000" pitchFamily="2" charset="2"/>
              <a:buChar char="ü"/>
            </a:pPr>
            <a:r>
              <a:rPr lang="zh-CN" altLang="en-US" sz="2000" dirty="0">
                <a:solidFill>
                  <a:schemeClr val="tx1">
                    <a:lumMod val="65000"/>
                    <a:lumOff val="35000"/>
                  </a:schemeClr>
                </a:solidFill>
                <a:latin typeface="+mj-ea"/>
                <a:ea typeface="+mj-ea"/>
              </a:rPr>
              <a:t>从程序设计提升到系统的分析和设计</a:t>
            </a:r>
            <a:endParaRPr lang="zh-CN" altLang="en-US" sz="2000" dirty="0">
              <a:solidFill>
                <a:schemeClr val="tx1">
                  <a:lumMod val="65000"/>
                  <a:lumOff val="35000"/>
                </a:schemeClr>
              </a:solidFill>
              <a:latin typeface="+mj-ea"/>
              <a:ea typeface="+mj-ea"/>
            </a:endParaRPr>
          </a:p>
          <a:p>
            <a:pPr marL="342900" indent="-342900">
              <a:lnSpc>
                <a:spcPct val="120000"/>
              </a:lnSpc>
              <a:spcBef>
                <a:spcPts val="450"/>
              </a:spcBef>
              <a:buClr>
                <a:srgbClr val="0091EA"/>
              </a:buClr>
              <a:buSzPct val="80000"/>
              <a:buFont typeface="Arial" panose="020B0604020202020204" pitchFamily="34" charset="0"/>
              <a:buChar char="►"/>
            </a:pPr>
            <a:r>
              <a:rPr lang="zh-CN" altLang="en-US" sz="2000" dirty="0">
                <a:solidFill>
                  <a:schemeClr val="tx1">
                    <a:lumMod val="65000"/>
                    <a:lumOff val="35000"/>
                  </a:schemeClr>
                </a:solidFill>
                <a:latin typeface="+mj-ea"/>
                <a:ea typeface="+mj-ea"/>
              </a:rPr>
              <a:t>角色的转变</a:t>
            </a:r>
            <a:endParaRPr lang="zh-CN" altLang="en-US" sz="2000" dirty="0">
              <a:solidFill>
                <a:schemeClr val="tx1">
                  <a:lumMod val="65000"/>
                  <a:lumOff val="35000"/>
                </a:schemeClr>
              </a:solidFill>
              <a:latin typeface="+mj-ea"/>
              <a:ea typeface="+mj-ea"/>
            </a:endParaRPr>
          </a:p>
          <a:p>
            <a:pPr marL="600075" lvl="1" indent="-257175">
              <a:lnSpc>
                <a:spcPct val="120000"/>
              </a:lnSpc>
              <a:spcBef>
                <a:spcPts val="450"/>
              </a:spcBef>
              <a:buClr>
                <a:srgbClr val="FF8900"/>
              </a:buClr>
              <a:buFont typeface="Wingdings" panose="05000000000000000000" pitchFamily="2" charset="2"/>
              <a:buChar char="ü"/>
            </a:pPr>
            <a:r>
              <a:rPr lang="zh-CN" altLang="en-US" sz="2000" dirty="0">
                <a:solidFill>
                  <a:schemeClr val="tx1">
                    <a:lumMod val="65000"/>
                    <a:lumOff val="35000"/>
                  </a:schemeClr>
                </a:solidFill>
                <a:latin typeface="+mj-ea"/>
                <a:ea typeface="+mj-ea"/>
              </a:rPr>
              <a:t>从精于个人创作到善于团队合作</a:t>
            </a:r>
            <a:endParaRPr lang="zh-CN" altLang="en-US" sz="2000" dirty="0">
              <a:solidFill>
                <a:schemeClr val="tx1">
                  <a:lumMod val="65000"/>
                  <a:lumOff val="35000"/>
                </a:schemeClr>
              </a:solidFill>
              <a:latin typeface="+mj-ea"/>
              <a:ea typeface="+mj-ea"/>
            </a:endParaRPr>
          </a:p>
        </p:txBody>
      </p:sp>
      <p:sp>
        <p:nvSpPr>
          <p:cNvPr id="2" name="标题 1"/>
          <p:cNvSpPr>
            <a:spLocks noGrp="1"/>
          </p:cNvSpPr>
          <p:nvPr>
            <p:ph type="title"/>
          </p:nvPr>
        </p:nvSpPr>
        <p:spPr/>
        <p:txBody>
          <a:bodyPr/>
          <a:lstStyle/>
          <a:p>
            <a:r>
              <a:rPr lang="zh-CN" altLang="en-US" dirty="0" smtClean="0"/>
              <a:t>学习任务</a:t>
            </a:r>
            <a:endParaRPr lang="zh-CN" altLang="en-US" dirty="0"/>
          </a:p>
        </p:txBody>
      </p:sp>
      <p:sp>
        <p:nvSpPr>
          <p:cNvPr id="8" name="日期占位符 7"/>
          <p:cNvSpPr>
            <a:spLocks noGrp="1"/>
          </p:cNvSpPr>
          <p:nvPr>
            <p:ph type="dt" sz="half" idx="10"/>
          </p:nvPr>
        </p:nvSpPr>
        <p:spPr/>
        <p:txBody>
          <a:bodyPr/>
          <a:lstStyle/>
          <a:p>
            <a:fld id="{1983BE36-846C-442C-827C-D7687D2A1D7A}"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smtClean="0"/>
              <a:t>软件工程</a:t>
            </a:r>
            <a:endParaRPr lang="zh-CN" altLang="en-US" dirty="0"/>
          </a:p>
        </p:txBody>
      </p:sp>
      <p:sp>
        <p:nvSpPr>
          <p:cNvPr id="10" name="灯片编号占位符 9"/>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1406318" y="1459691"/>
            <a:ext cx="1188132" cy="1188131"/>
          </a:xfrm>
          <a:prstGeom prst="ellipse">
            <a:avLst/>
          </a:prstGeom>
          <a:no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100" dirty="0">
              <a:solidFill>
                <a:srgbClr val="0087CF"/>
              </a:solidFill>
              <a:latin typeface="+mj-ea"/>
              <a:ea typeface="+mj-ea"/>
            </a:endParaRPr>
          </a:p>
        </p:txBody>
      </p:sp>
      <p:grpSp>
        <p:nvGrpSpPr>
          <p:cNvPr id="34" name="组合 33"/>
          <p:cNvGrpSpPr/>
          <p:nvPr/>
        </p:nvGrpSpPr>
        <p:grpSpPr>
          <a:xfrm>
            <a:off x="768096" y="1841058"/>
            <a:ext cx="1393199" cy="1393198"/>
            <a:chOff x="1754168" y="3653262"/>
            <a:chExt cx="1857599" cy="1857597"/>
          </a:xfrm>
        </p:grpSpPr>
        <p:sp>
          <p:nvSpPr>
            <p:cNvPr id="35" name="椭圆 34"/>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zh-CN" sz="2000">
                  <a:solidFill>
                    <a:srgbClr val="F07F09"/>
                  </a:solidFill>
                  <a:latin typeface="微软雅黑" panose="020B0503020204020204" pitchFamily="34" charset="-122"/>
                  <a:ea typeface="微软雅黑" panose="020B0503020204020204" pitchFamily="34" charset="-122"/>
                </a:rPr>
                <a:t>100%</a:t>
              </a:r>
              <a:endParaRPr lang="zh-CN" altLang="en-US" sz="2000" dirty="0">
                <a:solidFill>
                  <a:srgbClr val="F07F09"/>
                </a:solidFill>
                <a:latin typeface="微软雅黑" panose="020B0503020204020204" pitchFamily="34" charset="-122"/>
                <a:ea typeface="微软雅黑" panose="020B0503020204020204" pitchFamily="34" charset="-122"/>
              </a:endParaRPr>
            </a:p>
          </p:txBody>
        </p:sp>
        <p:sp>
          <p:nvSpPr>
            <p:cNvPr id="36" name="椭圆 35"/>
            <p:cNvSpPr/>
            <p:nvPr/>
          </p:nvSpPr>
          <p:spPr>
            <a:xfrm>
              <a:off x="1911556" y="3810650"/>
              <a:ext cx="1542822" cy="1542820"/>
            </a:xfrm>
            <a:prstGeom prst="ellipse">
              <a:avLst/>
            </a:prstGeom>
            <a:gradFill flip="none" rotWithShape="1">
              <a:gsLst>
                <a:gs pos="0">
                  <a:srgbClr val="F0F0F0"/>
                </a:gs>
                <a:gs pos="100000">
                  <a:srgbClr val="F1F1F1"/>
                </a:gs>
              </a:gsLst>
              <a:lin ang="2700000" scaled="1"/>
              <a:tileRect/>
            </a:gra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accent1"/>
                </a:solidFill>
                <a:latin typeface="+mj-ea"/>
                <a:ea typeface="+mj-ea"/>
              </a:endParaRPr>
            </a:p>
          </p:txBody>
        </p:sp>
        <p:sp>
          <p:nvSpPr>
            <p:cNvPr id="37" name="椭圆 36"/>
            <p:cNvSpPr/>
            <p:nvPr/>
          </p:nvSpPr>
          <p:spPr>
            <a:xfrm>
              <a:off x="1890879" y="3789973"/>
              <a:ext cx="1584176" cy="1584174"/>
            </a:xfrm>
            <a:prstGeom prst="ellipse">
              <a:avLst/>
            </a:prstGeom>
            <a:no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dirty="0">
                <a:solidFill>
                  <a:schemeClr val="accent1"/>
                </a:solidFill>
                <a:latin typeface="+mj-ea"/>
                <a:ea typeface="+mj-ea"/>
              </a:endParaRPr>
            </a:p>
          </p:txBody>
        </p:sp>
        <p:sp>
          <p:nvSpPr>
            <p:cNvPr id="38" name="矩形 37"/>
            <p:cNvSpPr/>
            <p:nvPr/>
          </p:nvSpPr>
          <p:spPr>
            <a:xfrm>
              <a:off x="2132363" y="4087110"/>
              <a:ext cx="1037036" cy="943848"/>
            </a:xfrm>
            <a:prstGeom prst="rect">
              <a:avLst/>
            </a:prstGeom>
          </p:spPr>
          <p:txBody>
            <a:bodyPr wrap="none">
              <a:spAutoFit/>
            </a:bodyPr>
            <a:lstStyle/>
            <a:p>
              <a:pPr algn="ctr"/>
              <a:r>
                <a:rPr lang="zh-CN" altLang="en-US" sz="2000" b="1" dirty="0">
                  <a:solidFill>
                    <a:schemeClr val="accent1"/>
                  </a:solidFill>
                  <a:latin typeface="+mj-ea"/>
                  <a:ea typeface="+mj-ea"/>
                </a:rPr>
                <a:t>先 </a:t>
              </a:r>
              <a:r>
                <a:rPr lang="zh-CN" altLang="en-US" sz="2000" b="1" dirty="0" smtClean="0">
                  <a:solidFill>
                    <a:schemeClr val="accent1"/>
                  </a:solidFill>
                  <a:latin typeface="+mj-ea"/>
                  <a:ea typeface="+mj-ea"/>
                </a:rPr>
                <a:t>导</a:t>
              </a:r>
              <a:endParaRPr lang="en-US" altLang="zh-CN" sz="2000" b="1" dirty="0">
                <a:solidFill>
                  <a:schemeClr val="accent1"/>
                </a:solidFill>
                <a:latin typeface="+mj-ea"/>
                <a:ea typeface="+mj-ea"/>
              </a:endParaRPr>
            </a:p>
            <a:p>
              <a:pPr algn="ctr"/>
              <a:r>
                <a:rPr lang="zh-CN" altLang="en-US" sz="2000" b="1" dirty="0" smtClean="0">
                  <a:solidFill>
                    <a:schemeClr val="accent1"/>
                  </a:solidFill>
                  <a:latin typeface="+mj-ea"/>
                  <a:ea typeface="+mj-ea"/>
                </a:rPr>
                <a:t>要 求</a:t>
              </a:r>
              <a:endParaRPr lang="en-US" altLang="zh-CN" sz="2000" b="1" dirty="0">
                <a:solidFill>
                  <a:schemeClr val="accent1"/>
                </a:solidFill>
                <a:latin typeface="+mj-ea"/>
                <a:ea typeface="+mj-ea"/>
              </a:endParaRPr>
            </a:p>
          </p:txBody>
        </p:sp>
      </p:grpSp>
      <p:sp>
        <p:nvSpPr>
          <p:cNvPr id="39" name="矩形 38"/>
          <p:cNvSpPr/>
          <p:nvPr/>
        </p:nvSpPr>
        <p:spPr>
          <a:xfrm>
            <a:off x="2397828" y="1287315"/>
            <a:ext cx="6460421" cy="2500685"/>
          </a:xfrm>
          <a:prstGeom prst="rect">
            <a:avLst/>
          </a:prstGeom>
        </p:spPr>
        <p:txBody>
          <a:bodyPr wrap="square">
            <a:spAutoFit/>
          </a:bodyPr>
          <a:lstStyle/>
          <a:p>
            <a:pPr>
              <a:lnSpc>
                <a:spcPct val="120000"/>
              </a:lnSpc>
              <a:spcAft>
                <a:spcPts val="450"/>
              </a:spcAft>
            </a:pPr>
            <a:r>
              <a:rPr lang="zh-CN" altLang="en-US" sz="2400" dirty="0">
                <a:solidFill>
                  <a:schemeClr val="tx1">
                    <a:lumMod val="65000"/>
                    <a:lumOff val="35000"/>
                  </a:schemeClr>
                </a:solidFill>
                <a:latin typeface="+mj-ea"/>
                <a:ea typeface="+mj-ea"/>
              </a:rPr>
              <a:t>数学基础</a:t>
            </a:r>
            <a:endParaRPr lang="zh-CN" altLang="en-US" sz="2400" dirty="0">
              <a:solidFill>
                <a:schemeClr val="tx1">
                  <a:lumMod val="65000"/>
                  <a:lumOff val="35000"/>
                </a:schemeClr>
              </a:solidFill>
              <a:latin typeface="+mj-ea"/>
              <a:ea typeface="+mj-ea"/>
            </a:endParaRPr>
          </a:p>
          <a:p>
            <a:pPr>
              <a:lnSpc>
                <a:spcPct val="120000"/>
              </a:lnSpc>
              <a:spcAft>
                <a:spcPts val="450"/>
              </a:spcAft>
            </a:pPr>
            <a:r>
              <a:rPr lang="zh-CN" altLang="en-US" sz="2400" dirty="0">
                <a:solidFill>
                  <a:schemeClr val="tx1">
                    <a:lumMod val="65000"/>
                    <a:lumOff val="35000"/>
                  </a:schemeClr>
                </a:solidFill>
                <a:latin typeface="+mj-ea"/>
                <a:ea typeface="+mj-ea"/>
              </a:rPr>
              <a:t>计算机科学理论知识</a:t>
            </a:r>
            <a:endParaRPr lang="zh-CN" altLang="en-US" sz="2400" dirty="0">
              <a:solidFill>
                <a:schemeClr val="tx1">
                  <a:lumMod val="65000"/>
                  <a:lumOff val="35000"/>
                </a:schemeClr>
              </a:solidFill>
              <a:latin typeface="+mj-ea"/>
              <a:ea typeface="+mj-ea"/>
            </a:endParaRPr>
          </a:p>
          <a:p>
            <a:pPr>
              <a:lnSpc>
                <a:spcPct val="120000"/>
              </a:lnSpc>
              <a:spcAft>
                <a:spcPts val="450"/>
              </a:spcAft>
            </a:pPr>
            <a:r>
              <a:rPr lang="zh-CN" altLang="en-US" sz="2400" dirty="0">
                <a:solidFill>
                  <a:schemeClr val="tx1">
                    <a:lumMod val="65000"/>
                    <a:lumOff val="35000"/>
                  </a:schemeClr>
                </a:solidFill>
                <a:latin typeface="+mj-ea"/>
                <a:ea typeface="+mj-ea"/>
              </a:rPr>
              <a:t>程序设计语言、开发工具、算法、数据库技术基础</a:t>
            </a:r>
            <a:endParaRPr lang="zh-CN" altLang="en-US" sz="2400" dirty="0">
              <a:solidFill>
                <a:schemeClr val="tx1">
                  <a:lumMod val="65000"/>
                  <a:lumOff val="35000"/>
                </a:schemeClr>
              </a:solidFill>
              <a:latin typeface="+mj-ea"/>
              <a:ea typeface="+mj-ea"/>
            </a:endParaRPr>
          </a:p>
          <a:p>
            <a:pPr>
              <a:lnSpc>
                <a:spcPct val="120000"/>
              </a:lnSpc>
              <a:spcAft>
                <a:spcPts val="450"/>
              </a:spcAft>
            </a:pPr>
            <a:r>
              <a:rPr lang="zh-CN" altLang="en-US" sz="2400" dirty="0">
                <a:solidFill>
                  <a:schemeClr val="tx1">
                    <a:lumMod val="65000"/>
                    <a:lumOff val="35000"/>
                  </a:schemeClr>
                </a:solidFill>
                <a:latin typeface="+mj-ea"/>
                <a:ea typeface="+mj-ea"/>
              </a:rPr>
              <a:t>最好有一定的软件开发经验</a:t>
            </a:r>
            <a:endParaRPr lang="zh-CN" altLang="en-US" sz="2400" dirty="0">
              <a:solidFill>
                <a:schemeClr val="tx1">
                  <a:lumMod val="65000"/>
                  <a:lumOff val="35000"/>
                </a:schemeClr>
              </a:solidFill>
              <a:latin typeface="+mj-ea"/>
              <a:ea typeface="+mj-ea"/>
            </a:endParaRPr>
          </a:p>
        </p:txBody>
      </p:sp>
      <p:sp>
        <p:nvSpPr>
          <p:cNvPr id="3" name="标题 2"/>
          <p:cNvSpPr>
            <a:spLocks noGrp="1"/>
          </p:cNvSpPr>
          <p:nvPr>
            <p:ph type="title"/>
          </p:nvPr>
        </p:nvSpPr>
        <p:spPr/>
        <p:txBody>
          <a:bodyPr/>
          <a:lstStyle/>
          <a:p>
            <a:r>
              <a:rPr lang="zh-CN" altLang="en-US" dirty="0" smtClean="0"/>
              <a:t>学习要求</a:t>
            </a:r>
            <a:endParaRPr lang="zh-CN" altLang="en-US" dirty="0"/>
          </a:p>
        </p:txBody>
      </p:sp>
      <p:sp>
        <p:nvSpPr>
          <p:cNvPr id="5" name="日期占位符 4"/>
          <p:cNvSpPr>
            <a:spLocks noGrp="1"/>
          </p:cNvSpPr>
          <p:nvPr>
            <p:ph type="dt" sz="half" idx="10"/>
          </p:nvPr>
        </p:nvSpPr>
        <p:spPr/>
        <p:txBody>
          <a:bodyPr/>
          <a:lstStyle/>
          <a:p>
            <a:fld id="{6089B599-AB68-48FF-8C59-BD742FD5EB0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dirty="0" smtClean="0"/>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45815" y="915753"/>
            <a:ext cx="7021346" cy="590931"/>
          </a:xfrm>
          <a:prstGeom prst="rect">
            <a:avLst/>
          </a:prstGeom>
        </p:spPr>
        <p:txBody>
          <a:bodyPr wrap="square">
            <a:spAutoFit/>
          </a:bodyPr>
          <a:lstStyle/>
          <a:p>
            <a:pPr>
              <a:lnSpc>
                <a:spcPct val="120000"/>
              </a:lnSpc>
              <a:spcAft>
                <a:spcPts val="450"/>
              </a:spcAft>
            </a:pPr>
            <a:r>
              <a:rPr lang="zh-CN" altLang="en-US" sz="2700" dirty="0">
                <a:solidFill>
                  <a:schemeClr val="tx1">
                    <a:lumMod val="65000"/>
                    <a:lumOff val="35000"/>
                  </a:schemeClr>
                </a:solidFill>
                <a:latin typeface="+mj-ea"/>
                <a:ea typeface="+mj-ea"/>
              </a:rPr>
              <a:t>理解：</a:t>
            </a:r>
            <a:endParaRPr lang="zh-CN" altLang="en-US" sz="2700" dirty="0">
              <a:solidFill>
                <a:schemeClr val="tx1">
                  <a:lumMod val="65000"/>
                  <a:lumOff val="35000"/>
                </a:schemeClr>
              </a:solidFill>
              <a:latin typeface="+mj-ea"/>
              <a:ea typeface="+mj-ea"/>
            </a:endParaRPr>
          </a:p>
        </p:txBody>
      </p:sp>
      <p:sp>
        <p:nvSpPr>
          <p:cNvPr id="33" name="Text Box 8"/>
          <p:cNvSpPr txBox="1">
            <a:spLocks noChangeArrowheads="1"/>
          </p:cNvSpPr>
          <p:nvPr/>
        </p:nvSpPr>
        <p:spPr bwMode="gray">
          <a:xfrm>
            <a:off x="3510787" y="3108070"/>
            <a:ext cx="184731" cy="369332"/>
          </a:xfrm>
          <a:prstGeom prst="rect">
            <a:avLst/>
          </a:prstGeom>
          <a:noFill/>
          <a:ln w="9525">
            <a:noFill/>
            <a:miter lim="800000"/>
          </a:ln>
          <a:effectLst/>
        </p:spPr>
        <p:txBody>
          <a:bodyPr wrap="none">
            <a:spAutoFit/>
          </a:bodyPr>
          <a:lstStyle/>
          <a:p>
            <a:pPr eaLnBrk="1" latinLnBrk="1" hangingPunct="1"/>
            <a:endParaRPr lang="zh-CN" altLang="en-US" b="1" dirty="0"/>
          </a:p>
        </p:txBody>
      </p:sp>
      <p:sp>
        <p:nvSpPr>
          <p:cNvPr id="39" name="文本框 38"/>
          <p:cNvSpPr txBox="1"/>
          <p:nvPr/>
        </p:nvSpPr>
        <p:spPr>
          <a:xfrm>
            <a:off x="2965720" y="1422772"/>
            <a:ext cx="2698175" cy="523220"/>
          </a:xfrm>
          <a:prstGeom prst="rect">
            <a:avLst/>
          </a:prstGeom>
          <a:noFill/>
        </p:spPr>
        <p:txBody>
          <a:bodyPr wrap="none" rtlCol="0">
            <a:spAutoFit/>
          </a:bodyPr>
          <a:lstStyle/>
          <a:p>
            <a:r>
              <a:rPr lang="zh-CN" altLang="en-US" sz="2800" dirty="0">
                <a:solidFill>
                  <a:schemeClr val="tx2">
                    <a:lumMod val="90000"/>
                    <a:lumOff val="10000"/>
                  </a:schemeClr>
                </a:solidFill>
                <a:latin typeface="+mj-ea"/>
                <a:ea typeface="+mj-ea"/>
              </a:rPr>
              <a:t>什么是软件工程</a:t>
            </a:r>
            <a:endParaRPr lang="zh-CN" altLang="en-US" sz="2800" dirty="0">
              <a:solidFill>
                <a:schemeClr val="tx2">
                  <a:lumMod val="90000"/>
                  <a:lumOff val="10000"/>
                </a:schemeClr>
              </a:solidFill>
              <a:latin typeface="+mj-ea"/>
              <a:ea typeface="+mj-ea"/>
            </a:endParaRPr>
          </a:p>
        </p:txBody>
      </p:sp>
      <p:sp>
        <p:nvSpPr>
          <p:cNvPr id="40" name="文本框 39"/>
          <p:cNvSpPr txBox="1"/>
          <p:nvPr/>
        </p:nvSpPr>
        <p:spPr>
          <a:xfrm>
            <a:off x="1944196" y="2171784"/>
            <a:ext cx="5093061" cy="523220"/>
          </a:xfrm>
          <a:prstGeom prst="rect">
            <a:avLst/>
          </a:prstGeom>
          <a:noFill/>
        </p:spPr>
        <p:txBody>
          <a:bodyPr wrap="none" rtlCol="0">
            <a:spAutoFit/>
          </a:bodyPr>
          <a:lstStyle/>
          <a:p>
            <a:r>
              <a:rPr lang="zh-CN" altLang="en-US" sz="2800" dirty="0">
                <a:solidFill>
                  <a:schemeClr val="accent1"/>
                </a:solidFill>
                <a:latin typeface="+mj-ea"/>
                <a:ea typeface="+mj-ea"/>
              </a:rPr>
              <a:t>为什么需要软件工程</a:t>
            </a:r>
            <a:r>
              <a:rPr lang="en-US" altLang="zh-CN" sz="2800" dirty="0">
                <a:solidFill>
                  <a:schemeClr val="accent1"/>
                </a:solidFill>
                <a:latin typeface="+mj-ea"/>
                <a:ea typeface="+mj-ea"/>
              </a:rPr>
              <a:t>(</a:t>
            </a:r>
            <a:r>
              <a:rPr lang="zh-CN" altLang="en-US" sz="2800" dirty="0">
                <a:solidFill>
                  <a:schemeClr val="accent1"/>
                </a:solidFill>
                <a:latin typeface="+mj-ea"/>
                <a:ea typeface="+mj-ea"/>
              </a:rPr>
              <a:t>产生背景</a:t>
            </a:r>
            <a:r>
              <a:rPr lang="en-US" altLang="zh-CN" sz="2800" dirty="0">
                <a:solidFill>
                  <a:schemeClr val="accent1"/>
                </a:solidFill>
                <a:latin typeface="+mj-ea"/>
                <a:ea typeface="+mj-ea"/>
              </a:rPr>
              <a:t>)</a:t>
            </a:r>
            <a:endParaRPr lang="en-US" altLang="zh-CN" sz="2800" dirty="0">
              <a:solidFill>
                <a:schemeClr val="accent1"/>
              </a:solidFill>
              <a:latin typeface="+mj-ea"/>
              <a:ea typeface="+mj-ea"/>
            </a:endParaRPr>
          </a:p>
        </p:txBody>
      </p:sp>
      <p:sp>
        <p:nvSpPr>
          <p:cNvPr id="41" name="文本框 40"/>
          <p:cNvSpPr txBox="1"/>
          <p:nvPr/>
        </p:nvSpPr>
        <p:spPr>
          <a:xfrm>
            <a:off x="2328916" y="2872702"/>
            <a:ext cx="4493538" cy="523220"/>
          </a:xfrm>
          <a:prstGeom prst="rect">
            <a:avLst/>
          </a:prstGeom>
          <a:noFill/>
        </p:spPr>
        <p:txBody>
          <a:bodyPr wrap="none" rtlCol="0">
            <a:spAutoFit/>
          </a:bodyPr>
          <a:lstStyle/>
          <a:p>
            <a:r>
              <a:rPr lang="zh-CN" altLang="en-US" sz="2800" dirty="0">
                <a:solidFill>
                  <a:schemeClr val="tx2">
                    <a:lumMod val="90000"/>
                    <a:lumOff val="10000"/>
                  </a:schemeClr>
                </a:solidFill>
                <a:latin typeface="+mj-ea"/>
                <a:ea typeface="+mj-ea"/>
              </a:rPr>
              <a:t>软件工程需要解决哪些问题</a:t>
            </a:r>
            <a:endParaRPr lang="zh-CN" altLang="en-US" sz="2800" dirty="0">
              <a:solidFill>
                <a:schemeClr val="tx2">
                  <a:lumMod val="90000"/>
                  <a:lumOff val="10000"/>
                </a:schemeClr>
              </a:solidFill>
              <a:latin typeface="+mj-ea"/>
              <a:ea typeface="+mj-ea"/>
            </a:endParaRPr>
          </a:p>
        </p:txBody>
      </p:sp>
      <p:sp>
        <p:nvSpPr>
          <p:cNvPr id="42" name="文本框 41"/>
          <p:cNvSpPr txBox="1"/>
          <p:nvPr/>
        </p:nvSpPr>
        <p:spPr>
          <a:xfrm>
            <a:off x="2328916" y="3573620"/>
            <a:ext cx="4493538" cy="523220"/>
          </a:xfrm>
          <a:prstGeom prst="rect">
            <a:avLst/>
          </a:prstGeom>
          <a:noFill/>
        </p:spPr>
        <p:txBody>
          <a:bodyPr wrap="none" rtlCol="0">
            <a:spAutoFit/>
          </a:bodyPr>
          <a:lstStyle/>
          <a:p>
            <a:r>
              <a:rPr lang="zh-CN" altLang="en-US" sz="2800">
                <a:solidFill>
                  <a:schemeClr val="accent1"/>
                </a:solidFill>
                <a:latin typeface="+mj-ea"/>
                <a:ea typeface="+mj-ea"/>
              </a:rPr>
              <a:t>软件工程涉及哪些方面内容</a:t>
            </a:r>
            <a:endParaRPr lang="zh-CN" altLang="en-US" sz="2800">
              <a:solidFill>
                <a:schemeClr val="accent1"/>
              </a:solidFill>
              <a:latin typeface="+mj-ea"/>
              <a:ea typeface="+mj-ea"/>
            </a:endParaRPr>
          </a:p>
        </p:txBody>
      </p:sp>
      <p:sp>
        <p:nvSpPr>
          <p:cNvPr id="3" name="标题 2"/>
          <p:cNvSpPr>
            <a:spLocks noGrp="1"/>
          </p:cNvSpPr>
          <p:nvPr>
            <p:ph type="title"/>
          </p:nvPr>
        </p:nvSpPr>
        <p:spPr/>
        <p:txBody>
          <a:bodyPr/>
          <a:lstStyle/>
          <a:p>
            <a:r>
              <a:rPr lang="zh-CN" altLang="en-US" dirty="0" smtClean="0"/>
              <a:t>学习要求</a:t>
            </a:r>
            <a:endParaRPr lang="zh-CN" altLang="en-US" dirty="0"/>
          </a:p>
        </p:txBody>
      </p:sp>
      <p:sp>
        <p:nvSpPr>
          <p:cNvPr id="6" name="日期占位符 5"/>
          <p:cNvSpPr>
            <a:spLocks noGrp="1"/>
          </p:cNvSpPr>
          <p:nvPr>
            <p:ph type="dt" sz="half" idx="10"/>
          </p:nvPr>
        </p:nvSpPr>
        <p:spPr/>
        <p:txBody>
          <a:bodyPr/>
          <a:lstStyle/>
          <a:p>
            <a:fld id="{C4FDAF34-6AFF-410B-A38E-5A45C7E0707D}"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432559" y="1631059"/>
            <a:ext cx="1313180" cy="2631490"/>
          </a:xfrm>
          <a:prstGeom prst="rect">
            <a:avLst/>
          </a:prstGeom>
          <a:noFill/>
        </p:spPr>
        <p:txBody>
          <a:bodyPr wrap="none" rtlCol="0">
            <a:spAutoFit/>
          </a:bodyPr>
          <a:lstStyle/>
          <a:p>
            <a:pPr marL="428625" indent="-428625">
              <a:spcBef>
                <a:spcPts val="900"/>
              </a:spcBef>
              <a:buClr>
                <a:schemeClr val="accent1"/>
              </a:buClr>
              <a:buSzPct val="80000"/>
              <a:buFont typeface="Arial" panose="020B0604020202020204" pitchFamily="34" charset="0"/>
              <a:buChar char="►"/>
            </a:pPr>
            <a:r>
              <a:rPr lang="zh-CN" altLang="en-US" sz="2700" dirty="0">
                <a:solidFill>
                  <a:schemeClr val="tx1">
                    <a:lumMod val="65000"/>
                    <a:lumOff val="35000"/>
                  </a:schemeClr>
                </a:solidFill>
                <a:latin typeface="+mj-ea"/>
                <a:ea typeface="+mj-ea"/>
              </a:rPr>
              <a:t>概念</a:t>
            </a:r>
            <a:endParaRPr lang="zh-CN" altLang="en-US" sz="2700" dirty="0">
              <a:solidFill>
                <a:schemeClr val="tx1">
                  <a:lumMod val="65000"/>
                  <a:lumOff val="35000"/>
                </a:schemeClr>
              </a:solidFill>
              <a:latin typeface="+mj-ea"/>
              <a:ea typeface="+mj-ea"/>
            </a:endParaRPr>
          </a:p>
          <a:p>
            <a:pPr marL="428625" indent="-428625">
              <a:spcBef>
                <a:spcPts val="900"/>
              </a:spcBef>
              <a:buClr>
                <a:schemeClr val="accent1"/>
              </a:buClr>
              <a:buSzPct val="80000"/>
              <a:buFont typeface="Arial" panose="020B0604020202020204" pitchFamily="34" charset="0"/>
              <a:buChar char="►"/>
            </a:pPr>
            <a:r>
              <a:rPr lang="zh-CN" altLang="en-US" sz="2700" dirty="0">
                <a:solidFill>
                  <a:schemeClr val="tx1">
                    <a:lumMod val="65000"/>
                    <a:lumOff val="35000"/>
                  </a:schemeClr>
                </a:solidFill>
                <a:latin typeface="+mj-ea"/>
                <a:ea typeface="+mj-ea"/>
              </a:rPr>
              <a:t>技术</a:t>
            </a:r>
            <a:endParaRPr lang="zh-CN" altLang="en-US" sz="2700" dirty="0">
              <a:solidFill>
                <a:schemeClr val="tx1">
                  <a:lumMod val="65000"/>
                  <a:lumOff val="35000"/>
                </a:schemeClr>
              </a:solidFill>
              <a:latin typeface="+mj-ea"/>
              <a:ea typeface="+mj-ea"/>
            </a:endParaRPr>
          </a:p>
          <a:p>
            <a:pPr marL="428625" indent="-428625">
              <a:spcBef>
                <a:spcPts val="900"/>
              </a:spcBef>
              <a:buClr>
                <a:schemeClr val="accent1"/>
              </a:buClr>
              <a:buSzPct val="80000"/>
              <a:buFont typeface="Arial" panose="020B0604020202020204" pitchFamily="34" charset="0"/>
              <a:buChar char="►"/>
            </a:pPr>
            <a:r>
              <a:rPr lang="zh-CN" altLang="en-US" sz="2700" dirty="0">
                <a:solidFill>
                  <a:schemeClr val="tx1">
                    <a:lumMod val="65000"/>
                    <a:lumOff val="35000"/>
                  </a:schemeClr>
                </a:solidFill>
                <a:latin typeface="+mj-ea"/>
                <a:ea typeface="+mj-ea"/>
              </a:rPr>
              <a:t>过程</a:t>
            </a:r>
            <a:endParaRPr lang="zh-CN" altLang="en-US" sz="2700" dirty="0">
              <a:solidFill>
                <a:schemeClr val="tx1">
                  <a:lumMod val="65000"/>
                  <a:lumOff val="35000"/>
                </a:schemeClr>
              </a:solidFill>
              <a:latin typeface="+mj-ea"/>
              <a:ea typeface="+mj-ea"/>
            </a:endParaRPr>
          </a:p>
          <a:p>
            <a:pPr marL="428625" indent="-428625">
              <a:spcBef>
                <a:spcPts val="900"/>
              </a:spcBef>
              <a:buClr>
                <a:schemeClr val="accent1"/>
              </a:buClr>
              <a:buSzPct val="80000"/>
              <a:buFont typeface="Arial" panose="020B0604020202020204" pitchFamily="34" charset="0"/>
              <a:buChar char="►"/>
            </a:pPr>
            <a:r>
              <a:rPr lang="zh-CN" altLang="en-US" sz="2700" dirty="0">
                <a:solidFill>
                  <a:schemeClr val="tx1">
                    <a:lumMod val="65000"/>
                    <a:lumOff val="35000"/>
                  </a:schemeClr>
                </a:solidFill>
                <a:latin typeface="+mj-ea"/>
                <a:ea typeface="+mj-ea"/>
              </a:rPr>
              <a:t>方法</a:t>
            </a:r>
            <a:endParaRPr lang="zh-CN" altLang="en-US" sz="2700" dirty="0">
              <a:solidFill>
                <a:schemeClr val="tx1">
                  <a:lumMod val="65000"/>
                  <a:lumOff val="35000"/>
                </a:schemeClr>
              </a:solidFill>
              <a:latin typeface="+mj-ea"/>
              <a:ea typeface="+mj-ea"/>
            </a:endParaRPr>
          </a:p>
          <a:p>
            <a:pPr marL="428625" indent="-428625">
              <a:spcBef>
                <a:spcPts val="900"/>
              </a:spcBef>
              <a:buClr>
                <a:schemeClr val="accent1"/>
              </a:buClr>
              <a:buSzPct val="80000"/>
              <a:buFont typeface="Arial" panose="020B0604020202020204" pitchFamily="34" charset="0"/>
              <a:buChar char="►"/>
            </a:pPr>
            <a:r>
              <a:rPr lang="zh-CN" altLang="en-US" sz="2700" dirty="0">
                <a:solidFill>
                  <a:schemeClr val="tx1">
                    <a:lumMod val="65000"/>
                    <a:lumOff val="35000"/>
                  </a:schemeClr>
                </a:solidFill>
                <a:latin typeface="+mj-ea"/>
                <a:ea typeface="+mj-ea"/>
              </a:rPr>
              <a:t>工具</a:t>
            </a:r>
            <a:endParaRPr lang="zh-CN" altLang="en-US" sz="2700" dirty="0">
              <a:solidFill>
                <a:schemeClr val="tx1">
                  <a:lumMod val="65000"/>
                  <a:lumOff val="35000"/>
                </a:schemeClr>
              </a:solidFill>
              <a:latin typeface="+mj-ea"/>
              <a:ea typeface="+mj-ea"/>
            </a:endParaRPr>
          </a:p>
        </p:txBody>
      </p:sp>
      <p:sp>
        <p:nvSpPr>
          <p:cNvPr id="4" name="矩形 3"/>
          <p:cNvSpPr/>
          <p:nvPr/>
        </p:nvSpPr>
        <p:spPr>
          <a:xfrm>
            <a:off x="878837" y="969826"/>
            <a:ext cx="2975786" cy="548676"/>
          </a:xfrm>
          <a:prstGeom prst="rect">
            <a:avLst/>
          </a:prstGeom>
        </p:spPr>
        <p:txBody>
          <a:bodyPr wrap="square">
            <a:spAutoFit/>
          </a:bodyPr>
          <a:lstStyle/>
          <a:p>
            <a:pPr>
              <a:lnSpc>
                <a:spcPct val="120000"/>
              </a:lnSpc>
              <a:spcAft>
                <a:spcPts val="450"/>
              </a:spcAft>
            </a:pPr>
            <a:r>
              <a:rPr lang="zh-CN" altLang="en-US" sz="2700" dirty="0">
                <a:solidFill>
                  <a:schemeClr val="tx1">
                    <a:lumMod val="65000"/>
                    <a:lumOff val="35000"/>
                  </a:schemeClr>
                </a:solidFill>
                <a:latin typeface="+mj-ea"/>
                <a:ea typeface="+mj-ea"/>
              </a:rPr>
              <a:t>掌握：软件工程</a:t>
            </a:r>
            <a:endParaRPr lang="zh-CN" altLang="en-US" sz="2700" dirty="0">
              <a:solidFill>
                <a:schemeClr val="tx1">
                  <a:lumMod val="65000"/>
                  <a:lumOff val="35000"/>
                </a:schemeClr>
              </a:solidFill>
              <a:latin typeface="+mj-ea"/>
              <a:ea typeface="+mj-ea"/>
            </a:endParaRPr>
          </a:p>
        </p:txBody>
      </p:sp>
      <p:sp>
        <p:nvSpPr>
          <p:cNvPr id="19" name="矩形 18"/>
          <p:cNvSpPr/>
          <p:nvPr/>
        </p:nvSpPr>
        <p:spPr>
          <a:xfrm>
            <a:off x="3722739" y="969826"/>
            <a:ext cx="5005948" cy="548676"/>
          </a:xfrm>
          <a:prstGeom prst="rect">
            <a:avLst/>
          </a:prstGeom>
        </p:spPr>
        <p:txBody>
          <a:bodyPr wrap="square">
            <a:spAutoFit/>
          </a:bodyPr>
          <a:lstStyle/>
          <a:p>
            <a:pPr>
              <a:lnSpc>
                <a:spcPct val="120000"/>
              </a:lnSpc>
              <a:spcAft>
                <a:spcPts val="450"/>
              </a:spcAft>
            </a:pPr>
            <a:r>
              <a:rPr lang="zh-CN" altLang="en-US" sz="2700" dirty="0">
                <a:solidFill>
                  <a:schemeClr val="tx1">
                    <a:lumMod val="65000"/>
                    <a:lumOff val="35000"/>
                  </a:schemeClr>
                </a:solidFill>
                <a:latin typeface="+mj-ea"/>
                <a:ea typeface="+mj-ea"/>
              </a:rPr>
              <a:t>运用：工程化思想进行软件开发</a:t>
            </a:r>
            <a:endParaRPr lang="zh-CN" altLang="en-US" sz="2700" dirty="0">
              <a:solidFill>
                <a:schemeClr val="tx1">
                  <a:lumMod val="65000"/>
                  <a:lumOff val="35000"/>
                </a:schemeClr>
              </a:solidFill>
              <a:latin typeface="+mj-ea"/>
              <a:ea typeface="+mj-ea"/>
            </a:endParaRPr>
          </a:p>
        </p:txBody>
      </p:sp>
      <p:sp>
        <p:nvSpPr>
          <p:cNvPr id="20" name="文本框 19"/>
          <p:cNvSpPr txBox="1"/>
          <p:nvPr/>
        </p:nvSpPr>
        <p:spPr>
          <a:xfrm>
            <a:off x="4334617" y="1631059"/>
            <a:ext cx="2008883" cy="2631490"/>
          </a:xfrm>
          <a:prstGeom prst="rect">
            <a:avLst/>
          </a:prstGeom>
          <a:noFill/>
        </p:spPr>
        <p:txBody>
          <a:bodyPr wrap="none" rtlCol="0">
            <a:spAutoFit/>
          </a:bodyPr>
          <a:lstStyle/>
          <a:p>
            <a:pPr marL="428625" indent="-428625">
              <a:spcBef>
                <a:spcPts val="900"/>
              </a:spcBef>
              <a:buClr>
                <a:schemeClr val="accent1"/>
              </a:buClr>
              <a:buSzPct val="80000"/>
              <a:buFont typeface="Arial" panose="020B0604020202020204" pitchFamily="34" charset="0"/>
              <a:buChar char="►"/>
            </a:pPr>
            <a:r>
              <a:rPr lang="zh-CN" altLang="en-US" sz="2700">
                <a:solidFill>
                  <a:schemeClr val="tx1">
                    <a:lumMod val="65000"/>
                    <a:lumOff val="35000"/>
                  </a:schemeClr>
                </a:solidFill>
                <a:latin typeface="+mj-ea"/>
                <a:ea typeface="+mj-ea"/>
              </a:rPr>
              <a:t>需求分析</a:t>
            </a:r>
            <a:endParaRPr lang="zh-CN" altLang="en-US" sz="2700">
              <a:solidFill>
                <a:schemeClr val="tx1">
                  <a:lumMod val="65000"/>
                  <a:lumOff val="35000"/>
                </a:schemeClr>
              </a:solidFill>
              <a:latin typeface="+mj-ea"/>
              <a:ea typeface="+mj-ea"/>
            </a:endParaRPr>
          </a:p>
          <a:p>
            <a:pPr marL="428625" indent="-428625">
              <a:spcBef>
                <a:spcPts val="900"/>
              </a:spcBef>
              <a:buClr>
                <a:schemeClr val="accent1"/>
              </a:buClr>
              <a:buSzPct val="80000"/>
              <a:buFont typeface="Arial" panose="020B0604020202020204" pitchFamily="34" charset="0"/>
              <a:buChar char="►"/>
            </a:pPr>
            <a:r>
              <a:rPr lang="zh-CN" altLang="en-US" sz="2700">
                <a:solidFill>
                  <a:schemeClr val="tx1">
                    <a:lumMod val="65000"/>
                    <a:lumOff val="35000"/>
                  </a:schemeClr>
                </a:solidFill>
                <a:latin typeface="+mj-ea"/>
                <a:ea typeface="+mj-ea"/>
              </a:rPr>
              <a:t>软件设计</a:t>
            </a:r>
            <a:endParaRPr lang="zh-CN" altLang="en-US" sz="2700">
              <a:solidFill>
                <a:schemeClr val="tx1">
                  <a:lumMod val="65000"/>
                  <a:lumOff val="35000"/>
                </a:schemeClr>
              </a:solidFill>
              <a:latin typeface="+mj-ea"/>
              <a:ea typeface="+mj-ea"/>
            </a:endParaRPr>
          </a:p>
          <a:p>
            <a:pPr marL="428625" indent="-428625">
              <a:spcBef>
                <a:spcPts val="900"/>
              </a:spcBef>
              <a:buClr>
                <a:schemeClr val="accent1"/>
              </a:buClr>
              <a:buSzPct val="80000"/>
              <a:buFont typeface="Arial" panose="020B0604020202020204" pitchFamily="34" charset="0"/>
              <a:buChar char="►"/>
            </a:pPr>
            <a:r>
              <a:rPr lang="zh-CN" altLang="en-US" sz="2700">
                <a:solidFill>
                  <a:schemeClr val="tx1">
                    <a:lumMod val="65000"/>
                    <a:lumOff val="35000"/>
                  </a:schemeClr>
                </a:solidFill>
                <a:latin typeface="+mj-ea"/>
                <a:ea typeface="+mj-ea"/>
              </a:rPr>
              <a:t>软件构造</a:t>
            </a:r>
            <a:endParaRPr lang="zh-CN" altLang="en-US" sz="2700">
              <a:solidFill>
                <a:schemeClr val="tx1">
                  <a:lumMod val="65000"/>
                  <a:lumOff val="35000"/>
                </a:schemeClr>
              </a:solidFill>
              <a:latin typeface="+mj-ea"/>
              <a:ea typeface="+mj-ea"/>
            </a:endParaRPr>
          </a:p>
          <a:p>
            <a:pPr marL="428625" indent="-428625">
              <a:spcBef>
                <a:spcPts val="900"/>
              </a:spcBef>
              <a:buClr>
                <a:schemeClr val="accent1"/>
              </a:buClr>
              <a:buSzPct val="80000"/>
              <a:buFont typeface="Arial" panose="020B0604020202020204" pitchFamily="34" charset="0"/>
              <a:buChar char="►"/>
            </a:pPr>
            <a:r>
              <a:rPr lang="zh-CN" altLang="en-US" sz="2700">
                <a:solidFill>
                  <a:schemeClr val="tx1">
                    <a:lumMod val="65000"/>
                    <a:lumOff val="35000"/>
                  </a:schemeClr>
                </a:solidFill>
                <a:latin typeface="+mj-ea"/>
                <a:ea typeface="+mj-ea"/>
              </a:rPr>
              <a:t>软件测试</a:t>
            </a:r>
            <a:endParaRPr lang="zh-CN" altLang="en-US" sz="2700">
              <a:solidFill>
                <a:schemeClr val="tx1">
                  <a:lumMod val="65000"/>
                  <a:lumOff val="35000"/>
                </a:schemeClr>
              </a:solidFill>
              <a:latin typeface="+mj-ea"/>
              <a:ea typeface="+mj-ea"/>
            </a:endParaRPr>
          </a:p>
          <a:p>
            <a:pPr marL="428625" indent="-428625">
              <a:spcBef>
                <a:spcPts val="900"/>
              </a:spcBef>
              <a:buClr>
                <a:schemeClr val="accent1"/>
              </a:buClr>
              <a:buSzPct val="80000"/>
              <a:buFont typeface="Arial" panose="020B0604020202020204" pitchFamily="34" charset="0"/>
              <a:buChar char="►"/>
            </a:pPr>
            <a:r>
              <a:rPr lang="zh-CN" altLang="en-US" sz="2700">
                <a:solidFill>
                  <a:schemeClr val="tx1">
                    <a:lumMod val="65000"/>
                    <a:lumOff val="35000"/>
                  </a:schemeClr>
                </a:solidFill>
                <a:latin typeface="+mj-ea"/>
                <a:ea typeface="+mj-ea"/>
              </a:rPr>
              <a:t>软件维护</a:t>
            </a:r>
            <a:endParaRPr lang="zh-CN" altLang="en-US" sz="2700">
              <a:solidFill>
                <a:schemeClr val="tx1">
                  <a:lumMod val="65000"/>
                  <a:lumOff val="35000"/>
                </a:schemeClr>
              </a:solidFill>
              <a:latin typeface="+mj-ea"/>
              <a:ea typeface="+mj-ea"/>
            </a:endParaRPr>
          </a:p>
        </p:txBody>
      </p:sp>
      <p:sp>
        <p:nvSpPr>
          <p:cNvPr id="7" name="Line 6"/>
          <p:cNvSpPr>
            <a:spLocks noChangeShapeType="1"/>
          </p:cNvSpPr>
          <p:nvPr/>
        </p:nvSpPr>
        <p:spPr bwMode="auto">
          <a:xfrm>
            <a:off x="3600900" y="969826"/>
            <a:ext cx="0" cy="3363026"/>
          </a:xfrm>
          <a:prstGeom prst="line">
            <a:avLst/>
          </a:prstGeom>
          <a:noFill/>
          <a:ln w="28575" cap="rnd">
            <a:solidFill>
              <a:srgbClr val="00CCFF"/>
            </a:solidFill>
            <a:prstDash val="sysDot"/>
            <a:round/>
            <a:tailEnd type="oval" w="med" len="med"/>
          </a:ln>
          <a:effectLst/>
        </p:spPr>
        <p:txBody>
          <a:bodyPr/>
          <a:lstStyle/>
          <a:p>
            <a:endParaRPr lang="zh-CN" altLang="en-US" sz="1350"/>
          </a:p>
        </p:txBody>
      </p:sp>
      <p:sp>
        <p:nvSpPr>
          <p:cNvPr id="3" name="标题 2"/>
          <p:cNvSpPr>
            <a:spLocks noGrp="1"/>
          </p:cNvSpPr>
          <p:nvPr>
            <p:ph type="title"/>
          </p:nvPr>
        </p:nvSpPr>
        <p:spPr/>
        <p:txBody>
          <a:bodyPr/>
          <a:lstStyle/>
          <a:p>
            <a:r>
              <a:rPr lang="zh-CN" altLang="en-US" dirty="0" smtClean="0"/>
              <a:t>学习要求</a:t>
            </a:r>
            <a:endParaRPr lang="zh-CN" altLang="en-US" dirty="0"/>
          </a:p>
        </p:txBody>
      </p:sp>
      <p:sp>
        <p:nvSpPr>
          <p:cNvPr id="6" name="日期占位符 5"/>
          <p:cNvSpPr>
            <a:spLocks noGrp="1"/>
          </p:cNvSpPr>
          <p:nvPr>
            <p:ph type="dt" sz="half" idx="10"/>
          </p:nvPr>
        </p:nvSpPr>
        <p:spPr/>
        <p:txBody>
          <a:bodyPr/>
          <a:lstStyle/>
          <a:p>
            <a:fld id="{0F0863DB-00A0-4BC3-B87A-B82C7F4C7254}"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怎么学</a:t>
            </a:r>
            <a:endParaRPr lang="zh-CN" altLang="en-US" dirty="0"/>
          </a:p>
        </p:txBody>
      </p:sp>
      <p:sp>
        <p:nvSpPr>
          <p:cNvPr id="3" name="内容占位符 2"/>
          <p:cNvSpPr>
            <a:spLocks noGrp="1"/>
          </p:cNvSpPr>
          <p:nvPr>
            <p:ph idx="1"/>
          </p:nvPr>
        </p:nvSpPr>
        <p:spPr>
          <a:xfrm>
            <a:off x="768097" y="1130967"/>
            <a:ext cx="7832833" cy="3601053"/>
          </a:xfrm>
        </p:spPr>
        <p:txBody>
          <a:bodyPr/>
          <a:lstStyle/>
          <a:p>
            <a:pPr>
              <a:lnSpc>
                <a:spcPct val="120000"/>
              </a:lnSpc>
            </a:pPr>
            <a:r>
              <a:rPr lang="zh-CN" altLang="en-US" sz="3000" dirty="0" smtClean="0">
                <a:solidFill>
                  <a:schemeClr val="tx2">
                    <a:lumMod val="90000"/>
                    <a:lumOff val="10000"/>
                  </a:schemeClr>
                </a:solidFill>
              </a:rPr>
              <a:t>“教育</a:t>
            </a:r>
            <a:r>
              <a:rPr lang="zh-CN" altLang="en-US" sz="3000" dirty="0">
                <a:solidFill>
                  <a:schemeClr val="tx2">
                    <a:lumMod val="90000"/>
                    <a:lumOff val="10000"/>
                  </a:schemeClr>
                </a:solidFill>
              </a:rPr>
              <a:t>是令人羡慕的东西，但是要</a:t>
            </a:r>
            <a:r>
              <a:rPr lang="zh-CN" altLang="en-US" sz="3000" dirty="0" smtClean="0">
                <a:solidFill>
                  <a:schemeClr val="tx2">
                    <a:lumMod val="90000"/>
                    <a:lumOff val="10000"/>
                  </a:schemeClr>
                </a:solidFill>
              </a:rPr>
              <a:t>记住：凡是</a:t>
            </a:r>
            <a:r>
              <a:rPr lang="zh-CN" altLang="en-US" sz="3000" dirty="0">
                <a:solidFill>
                  <a:schemeClr val="tx2">
                    <a:lumMod val="90000"/>
                    <a:lumOff val="10000"/>
                  </a:schemeClr>
                </a:solidFill>
              </a:rPr>
              <a:t>值得知道的，没有一个是能够教会的</a:t>
            </a:r>
            <a:r>
              <a:rPr lang="zh-CN" altLang="en-US" sz="3000" dirty="0" smtClean="0">
                <a:solidFill>
                  <a:schemeClr val="tx2">
                    <a:lumMod val="90000"/>
                    <a:lumOff val="10000"/>
                  </a:schemeClr>
                </a:solidFill>
              </a:rPr>
              <a:t>。</a:t>
            </a:r>
            <a:r>
              <a:rPr lang="zh-CN" altLang="en-US" sz="3000" dirty="0">
                <a:solidFill>
                  <a:schemeClr val="tx2">
                    <a:lumMod val="90000"/>
                    <a:lumOff val="10000"/>
                  </a:schemeClr>
                </a:solidFill>
              </a:rPr>
              <a:t>”</a:t>
            </a:r>
            <a:r>
              <a:rPr lang="zh-CN" altLang="en-US" sz="3000" dirty="0" smtClean="0">
                <a:solidFill>
                  <a:schemeClr val="tx2">
                    <a:lumMod val="90000"/>
                    <a:lumOff val="10000"/>
                  </a:schemeClr>
                </a:solidFill>
              </a:rPr>
              <a:t> </a:t>
            </a:r>
            <a:endParaRPr lang="en-US" altLang="zh-CN" sz="3000" dirty="0">
              <a:solidFill>
                <a:schemeClr val="tx2">
                  <a:lumMod val="90000"/>
                  <a:lumOff val="10000"/>
                </a:schemeClr>
              </a:solidFill>
            </a:endParaRPr>
          </a:p>
          <a:p>
            <a:pPr marL="457200" lvl="1" indent="0">
              <a:lnSpc>
                <a:spcPct val="120000"/>
              </a:lnSpc>
              <a:buNone/>
            </a:pPr>
            <a:r>
              <a:rPr lang="en-US" altLang="zh-CN" sz="2600" dirty="0">
                <a:solidFill>
                  <a:schemeClr val="tx2">
                    <a:lumMod val="90000"/>
                    <a:lumOff val="10000"/>
                  </a:schemeClr>
                </a:solidFill>
              </a:rPr>
              <a:t>	——</a:t>
            </a:r>
            <a:r>
              <a:rPr lang="zh-CN" altLang="en-US" sz="2600" dirty="0">
                <a:solidFill>
                  <a:schemeClr val="tx2">
                    <a:lumMod val="90000"/>
                    <a:lumOff val="10000"/>
                  </a:schemeClr>
                </a:solidFill>
              </a:rPr>
              <a:t>奥斯卡</a:t>
            </a:r>
            <a:r>
              <a:rPr lang="en-US" altLang="zh-CN" sz="2600" dirty="0">
                <a:solidFill>
                  <a:schemeClr val="tx2">
                    <a:lumMod val="90000"/>
                    <a:lumOff val="10000"/>
                  </a:schemeClr>
                </a:solidFill>
              </a:rPr>
              <a:t>•</a:t>
            </a:r>
            <a:r>
              <a:rPr lang="zh-CN" altLang="en-US" sz="2600" dirty="0">
                <a:solidFill>
                  <a:schemeClr val="tx2">
                    <a:lumMod val="90000"/>
                    <a:lumOff val="10000"/>
                  </a:schemeClr>
                </a:solidFill>
              </a:rPr>
              <a:t>王尔德（</a:t>
            </a:r>
            <a:r>
              <a:rPr lang="en-US" altLang="zh-CN" sz="2600" dirty="0">
                <a:solidFill>
                  <a:schemeClr val="tx2">
                    <a:lumMod val="90000"/>
                    <a:lumOff val="10000"/>
                  </a:schemeClr>
                </a:solidFill>
              </a:rPr>
              <a:t>Oscar Wilder</a:t>
            </a:r>
            <a:r>
              <a:rPr lang="zh-CN" altLang="en-US" sz="2600" dirty="0" smtClean="0">
                <a:solidFill>
                  <a:schemeClr val="tx2">
                    <a:lumMod val="90000"/>
                    <a:lumOff val="10000"/>
                  </a:schemeClr>
                </a:solidFill>
              </a:rPr>
              <a:t>）</a:t>
            </a:r>
            <a:endParaRPr lang="en-US" altLang="zh-CN" dirty="0">
              <a:solidFill>
                <a:schemeClr val="tx2">
                  <a:lumMod val="90000"/>
                  <a:lumOff val="10000"/>
                </a:schemeClr>
              </a:solidFill>
            </a:endParaRPr>
          </a:p>
          <a:p>
            <a:pPr marL="0" indent="0" algn="ctr">
              <a:lnSpc>
                <a:spcPct val="120000"/>
              </a:lnSpc>
              <a:spcBef>
                <a:spcPts val="2400"/>
              </a:spcBef>
              <a:buNone/>
            </a:pPr>
            <a:r>
              <a:rPr lang="zh-CN" altLang="en-US" sz="4000" dirty="0">
                <a:solidFill>
                  <a:schemeClr val="accent2"/>
                </a:solidFill>
              </a:rPr>
              <a:t>做中学（</a:t>
            </a:r>
            <a:r>
              <a:rPr lang="en-US" altLang="zh-CN" sz="4000" dirty="0">
                <a:solidFill>
                  <a:schemeClr val="accent2"/>
                </a:solidFill>
              </a:rPr>
              <a:t>Learning By Doing</a:t>
            </a:r>
            <a:r>
              <a:rPr lang="zh-CN" altLang="en-US" sz="4000" dirty="0">
                <a:solidFill>
                  <a:schemeClr val="accent2"/>
                </a:solidFill>
              </a:rPr>
              <a:t>）</a:t>
            </a:r>
            <a:endParaRPr lang="zh-CN" altLang="en-US" sz="4000" dirty="0">
              <a:solidFill>
                <a:schemeClr val="accent2"/>
              </a:solidFill>
            </a:endParaRPr>
          </a:p>
          <a:p>
            <a:pPr>
              <a:lnSpc>
                <a:spcPct val="120000"/>
              </a:lnSpc>
            </a:pPr>
            <a:endParaRPr lang="zh-CN" altLang="en-US" dirty="0">
              <a:solidFill>
                <a:schemeClr val="tx2">
                  <a:lumMod val="90000"/>
                  <a:lumOff val="10000"/>
                </a:schemeClr>
              </a:solidFill>
            </a:endParaRPr>
          </a:p>
        </p:txBody>
      </p:sp>
      <p:sp>
        <p:nvSpPr>
          <p:cNvPr id="4" name="日期占位符 3"/>
          <p:cNvSpPr>
            <a:spLocks noGrp="1"/>
          </p:cNvSpPr>
          <p:nvPr>
            <p:ph type="dt" sz="half" idx="10"/>
          </p:nvPr>
        </p:nvSpPr>
        <p:spPr/>
        <p:txBody>
          <a:bodyPr/>
          <a:lstStyle/>
          <a:p>
            <a:fld id="{0AC09036-68A4-4ABE-83C3-0DE7B2BFEDA1}"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1406318" y="1459691"/>
            <a:ext cx="1188132" cy="1188131"/>
          </a:xfrm>
          <a:prstGeom prst="ellipse">
            <a:avLst/>
          </a:prstGeom>
          <a:no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100" dirty="0">
              <a:solidFill>
                <a:srgbClr val="0087CF"/>
              </a:solidFill>
              <a:latin typeface="+mj-ea"/>
              <a:ea typeface="+mj-ea"/>
            </a:endParaRPr>
          </a:p>
        </p:txBody>
      </p:sp>
      <p:grpSp>
        <p:nvGrpSpPr>
          <p:cNvPr id="33" name="组合 32"/>
          <p:cNvGrpSpPr/>
          <p:nvPr/>
        </p:nvGrpSpPr>
        <p:grpSpPr>
          <a:xfrm>
            <a:off x="607185" y="1885402"/>
            <a:ext cx="1393199" cy="1393198"/>
            <a:chOff x="1754168" y="3653262"/>
            <a:chExt cx="1857599" cy="1857597"/>
          </a:xfrm>
        </p:grpSpPr>
        <p:sp>
          <p:nvSpPr>
            <p:cNvPr id="30" name="椭圆 29"/>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altLang="zh-CN" sz="2000">
                  <a:solidFill>
                    <a:srgbClr val="F07F09"/>
                  </a:solidFill>
                  <a:latin typeface="微软雅黑" panose="020B0503020204020204" pitchFamily="34" charset="-122"/>
                  <a:ea typeface="微软雅黑" panose="020B0503020204020204" pitchFamily="34" charset="-122"/>
                </a:rPr>
                <a:t>100%</a:t>
              </a:r>
              <a:endParaRPr lang="zh-CN" altLang="en-US" sz="2000" dirty="0">
                <a:solidFill>
                  <a:srgbClr val="F07F09"/>
                </a:solidFill>
                <a:latin typeface="微软雅黑" panose="020B0503020204020204" pitchFamily="34" charset="-122"/>
                <a:ea typeface="微软雅黑" panose="020B0503020204020204" pitchFamily="34" charset="-122"/>
              </a:endParaRPr>
            </a:p>
          </p:txBody>
        </p:sp>
        <p:sp>
          <p:nvSpPr>
            <p:cNvPr id="31" name="椭圆 30"/>
            <p:cNvSpPr/>
            <p:nvPr/>
          </p:nvSpPr>
          <p:spPr>
            <a:xfrm>
              <a:off x="1911556" y="3810650"/>
              <a:ext cx="1542822" cy="1542820"/>
            </a:xfrm>
            <a:prstGeom prst="ellipse">
              <a:avLst/>
            </a:prstGeom>
            <a:gradFill flip="none" rotWithShape="1">
              <a:gsLst>
                <a:gs pos="0">
                  <a:srgbClr val="F0F0F0"/>
                </a:gs>
                <a:gs pos="100000">
                  <a:srgbClr val="F1F1F1"/>
                </a:gs>
              </a:gsLst>
              <a:lin ang="2700000" scaled="1"/>
              <a:tileRect/>
            </a:gra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accent1"/>
                </a:solidFill>
                <a:latin typeface="+mj-ea"/>
                <a:ea typeface="+mj-ea"/>
              </a:endParaRPr>
            </a:p>
          </p:txBody>
        </p:sp>
        <p:sp>
          <p:nvSpPr>
            <p:cNvPr id="32" name="椭圆 31"/>
            <p:cNvSpPr/>
            <p:nvPr/>
          </p:nvSpPr>
          <p:spPr>
            <a:xfrm>
              <a:off x="1890879" y="3789973"/>
              <a:ext cx="1584176" cy="1584174"/>
            </a:xfrm>
            <a:prstGeom prst="ellipse">
              <a:avLst/>
            </a:prstGeom>
            <a:no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000" dirty="0">
                <a:solidFill>
                  <a:schemeClr val="accent1"/>
                </a:solidFill>
                <a:latin typeface="+mj-ea"/>
                <a:ea typeface="+mj-ea"/>
              </a:endParaRPr>
            </a:p>
          </p:txBody>
        </p:sp>
        <p:sp>
          <p:nvSpPr>
            <p:cNvPr id="9" name="矩形 8"/>
            <p:cNvSpPr/>
            <p:nvPr/>
          </p:nvSpPr>
          <p:spPr>
            <a:xfrm>
              <a:off x="2148405" y="4090194"/>
              <a:ext cx="1037036" cy="943848"/>
            </a:xfrm>
            <a:prstGeom prst="rect">
              <a:avLst/>
            </a:prstGeom>
          </p:spPr>
          <p:txBody>
            <a:bodyPr wrap="none">
              <a:spAutoFit/>
            </a:bodyPr>
            <a:lstStyle/>
            <a:p>
              <a:pPr algn="ctr"/>
              <a:r>
                <a:rPr lang="zh-CN" altLang="en-US" sz="2000" b="1" dirty="0">
                  <a:solidFill>
                    <a:schemeClr val="accent1"/>
                  </a:solidFill>
                  <a:latin typeface="+mj-ea"/>
                  <a:ea typeface="+mj-ea"/>
                </a:rPr>
                <a:t>学 习</a:t>
              </a:r>
              <a:endParaRPr lang="en-US" altLang="zh-CN" sz="2000" b="1" dirty="0">
                <a:solidFill>
                  <a:schemeClr val="accent1"/>
                </a:solidFill>
                <a:latin typeface="+mj-ea"/>
                <a:ea typeface="+mj-ea"/>
              </a:endParaRPr>
            </a:p>
            <a:p>
              <a:pPr algn="ctr"/>
              <a:r>
                <a:rPr lang="zh-CN" altLang="en-US" sz="2000" b="1" dirty="0" smtClean="0">
                  <a:solidFill>
                    <a:schemeClr val="accent1"/>
                  </a:solidFill>
                  <a:latin typeface="+mj-ea"/>
                  <a:ea typeface="+mj-ea"/>
                </a:rPr>
                <a:t>方 法</a:t>
              </a:r>
              <a:endParaRPr lang="zh-CN" altLang="en-US" sz="2000" b="1" dirty="0">
                <a:solidFill>
                  <a:schemeClr val="accent1"/>
                </a:solidFill>
                <a:latin typeface="+mj-ea"/>
                <a:ea typeface="+mj-ea"/>
              </a:endParaRPr>
            </a:p>
          </p:txBody>
        </p:sp>
      </p:grpSp>
      <p:sp>
        <p:nvSpPr>
          <p:cNvPr id="40" name="矩形 39"/>
          <p:cNvSpPr/>
          <p:nvPr/>
        </p:nvSpPr>
        <p:spPr>
          <a:xfrm>
            <a:off x="2263828" y="1124694"/>
            <a:ext cx="6332641" cy="3387081"/>
          </a:xfrm>
          <a:prstGeom prst="rect">
            <a:avLst/>
          </a:prstGeom>
        </p:spPr>
        <p:txBody>
          <a:bodyPr wrap="square">
            <a:spAutoFit/>
          </a:bodyPr>
          <a:lstStyle/>
          <a:p>
            <a:pPr marL="342900" indent="-342900">
              <a:lnSpc>
                <a:spcPct val="120000"/>
              </a:lnSpc>
              <a:spcAft>
                <a:spcPts val="450"/>
              </a:spcAft>
              <a:buFont typeface="Arial" panose="020B0604020202020204" pitchFamily="34" charset="0"/>
              <a:buChar char="•"/>
            </a:pPr>
            <a:r>
              <a:rPr lang="zh-CN" altLang="en-US" sz="2400" dirty="0">
                <a:solidFill>
                  <a:schemeClr val="tx1">
                    <a:lumMod val="65000"/>
                    <a:lumOff val="35000"/>
                  </a:schemeClr>
                </a:solidFill>
                <a:latin typeface="+mj-ea"/>
                <a:ea typeface="+mj-ea"/>
              </a:rPr>
              <a:t>听：理解知识点和思想，无需死记硬背</a:t>
            </a:r>
            <a:endParaRPr lang="zh-CN" altLang="en-US" sz="2400" dirty="0">
              <a:solidFill>
                <a:schemeClr val="tx1">
                  <a:lumMod val="65000"/>
                  <a:lumOff val="35000"/>
                </a:schemeClr>
              </a:solidFill>
              <a:latin typeface="+mj-ea"/>
              <a:ea typeface="+mj-ea"/>
            </a:endParaRPr>
          </a:p>
          <a:p>
            <a:pPr marL="342900" indent="-342900">
              <a:lnSpc>
                <a:spcPct val="120000"/>
              </a:lnSpc>
              <a:spcAft>
                <a:spcPts val="450"/>
              </a:spcAft>
              <a:buFont typeface="Arial" panose="020B0604020202020204" pitchFamily="34" charset="0"/>
              <a:buChar char="•"/>
            </a:pPr>
            <a:r>
              <a:rPr lang="zh-CN" altLang="en-US" sz="2400" dirty="0">
                <a:solidFill>
                  <a:schemeClr val="tx1">
                    <a:lumMod val="65000"/>
                    <a:lumOff val="35000"/>
                  </a:schemeClr>
                </a:solidFill>
                <a:latin typeface="+mj-ea"/>
                <a:ea typeface="+mj-ea"/>
              </a:rPr>
              <a:t>想</a:t>
            </a:r>
            <a:r>
              <a:rPr lang="zh-CN" altLang="en-US" sz="2400" dirty="0" smtClean="0">
                <a:solidFill>
                  <a:schemeClr val="tx1">
                    <a:lumMod val="65000"/>
                    <a:lumOff val="35000"/>
                  </a:schemeClr>
                </a:solidFill>
                <a:latin typeface="+mj-ea"/>
                <a:ea typeface="+mj-ea"/>
              </a:rPr>
              <a:t>：根据所学知识，思考如何解决实际问题，总结经验教训</a:t>
            </a:r>
            <a:endParaRPr lang="zh-CN" altLang="en-US" sz="2400" dirty="0">
              <a:solidFill>
                <a:schemeClr val="tx1">
                  <a:lumMod val="65000"/>
                  <a:lumOff val="35000"/>
                </a:schemeClr>
              </a:solidFill>
              <a:latin typeface="+mj-ea"/>
              <a:ea typeface="+mj-ea"/>
            </a:endParaRPr>
          </a:p>
          <a:p>
            <a:pPr marL="342900" indent="-342900">
              <a:lnSpc>
                <a:spcPct val="120000"/>
              </a:lnSpc>
              <a:spcAft>
                <a:spcPts val="450"/>
              </a:spcAft>
              <a:buFont typeface="Arial" panose="020B0604020202020204" pitchFamily="34" charset="0"/>
              <a:buChar char="•"/>
            </a:pPr>
            <a:r>
              <a:rPr lang="zh-CN" altLang="en-US" sz="2400" dirty="0">
                <a:solidFill>
                  <a:schemeClr val="tx1">
                    <a:lumMod val="65000"/>
                    <a:lumOff val="35000"/>
                  </a:schemeClr>
                </a:solidFill>
                <a:latin typeface="+mj-ea"/>
                <a:ea typeface="+mj-ea"/>
              </a:rPr>
              <a:t>做：体会软件工程的原则、方法和技术，在实践中提高</a:t>
            </a:r>
            <a:endParaRPr lang="zh-CN" altLang="en-US" sz="2400" dirty="0">
              <a:solidFill>
                <a:schemeClr val="tx1">
                  <a:lumMod val="65000"/>
                  <a:lumOff val="35000"/>
                </a:schemeClr>
              </a:solidFill>
              <a:latin typeface="+mj-ea"/>
              <a:ea typeface="+mj-ea"/>
            </a:endParaRPr>
          </a:p>
          <a:p>
            <a:pPr marL="342900" indent="-342900">
              <a:lnSpc>
                <a:spcPct val="120000"/>
              </a:lnSpc>
              <a:spcAft>
                <a:spcPts val="450"/>
              </a:spcAft>
              <a:buFont typeface="Arial" panose="020B0604020202020204" pitchFamily="34" charset="0"/>
              <a:buChar char="•"/>
            </a:pPr>
            <a:r>
              <a:rPr lang="zh-CN" altLang="en-US" sz="2400" dirty="0">
                <a:solidFill>
                  <a:schemeClr val="tx1">
                    <a:lumMod val="65000"/>
                    <a:lumOff val="35000"/>
                  </a:schemeClr>
                </a:solidFill>
                <a:latin typeface="+mj-ea"/>
                <a:ea typeface="+mj-ea"/>
              </a:rPr>
              <a:t>注意：培养抽象思维能力，培养独立解决问题的能力，</a:t>
            </a:r>
            <a:r>
              <a:rPr lang="zh-CN" altLang="en-US" sz="2400" dirty="0" smtClean="0">
                <a:solidFill>
                  <a:schemeClr val="tx1">
                    <a:lumMod val="65000"/>
                    <a:lumOff val="35000"/>
                  </a:schemeClr>
                </a:solidFill>
                <a:latin typeface="+mj-ea"/>
                <a:ea typeface="+mj-ea"/>
              </a:rPr>
              <a:t>培养团队合作</a:t>
            </a:r>
            <a:r>
              <a:rPr lang="zh-CN" altLang="en-US" sz="2400" dirty="0">
                <a:solidFill>
                  <a:schemeClr val="tx1">
                    <a:lumMod val="65000"/>
                    <a:lumOff val="35000"/>
                  </a:schemeClr>
                </a:solidFill>
                <a:latin typeface="+mj-ea"/>
                <a:ea typeface="+mj-ea"/>
              </a:rPr>
              <a:t>精神</a:t>
            </a:r>
            <a:endParaRPr lang="zh-CN" altLang="en-US" sz="2400" dirty="0">
              <a:solidFill>
                <a:schemeClr val="tx1">
                  <a:lumMod val="65000"/>
                  <a:lumOff val="35000"/>
                </a:schemeClr>
              </a:solidFill>
              <a:latin typeface="+mj-ea"/>
              <a:ea typeface="+mj-ea"/>
            </a:endParaRPr>
          </a:p>
        </p:txBody>
      </p:sp>
      <p:sp>
        <p:nvSpPr>
          <p:cNvPr id="3" name="标题 2"/>
          <p:cNvSpPr>
            <a:spLocks noGrp="1"/>
          </p:cNvSpPr>
          <p:nvPr>
            <p:ph type="title"/>
          </p:nvPr>
        </p:nvSpPr>
        <p:spPr/>
        <p:txBody>
          <a:bodyPr/>
          <a:lstStyle/>
          <a:p>
            <a:r>
              <a:rPr lang="zh-CN" altLang="en-US" dirty="0" smtClean="0"/>
              <a:t>怎么学</a:t>
            </a:r>
            <a:endParaRPr lang="zh-CN" altLang="en-US" dirty="0"/>
          </a:p>
        </p:txBody>
      </p:sp>
      <p:sp>
        <p:nvSpPr>
          <p:cNvPr id="5" name="日期占位符 4"/>
          <p:cNvSpPr>
            <a:spLocks noGrp="1"/>
          </p:cNvSpPr>
          <p:nvPr>
            <p:ph type="dt" sz="half" idx="10"/>
          </p:nvPr>
        </p:nvSpPr>
        <p:spPr/>
        <p:txBody>
          <a:bodyPr/>
          <a:lstStyle/>
          <a:p>
            <a:fld id="{F116BEC7-C8EA-40EA-8EA2-2CDE44B846B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上课</a:t>
            </a:r>
            <a:r>
              <a:rPr lang="zh-CN" altLang="en-US" dirty="0" smtClean="0"/>
              <a:t>形式</a:t>
            </a:r>
            <a:endParaRPr lang="zh-CN" altLang="en-US" dirty="0"/>
          </a:p>
        </p:txBody>
      </p:sp>
      <p:sp>
        <p:nvSpPr>
          <p:cNvPr id="3" name="内容占位符 2"/>
          <p:cNvSpPr>
            <a:spLocks noGrp="1"/>
          </p:cNvSpPr>
          <p:nvPr>
            <p:ph idx="1"/>
          </p:nvPr>
        </p:nvSpPr>
        <p:spPr>
          <a:xfrm>
            <a:off x="768350" y="1692910"/>
            <a:ext cx="7832725" cy="3039110"/>
          </a:xfrm>
        </p:spPr>
        <p:txBody>
          <a:bodyPr>
            <a:normAutofit/>
          </a:bodyPr>
          <a:lstStyle/>
          <a:p>
            <a:pPr marL="457200" indent="-457200">
              <a:spcBef>
                <a:spcPts val="1800"/>
              </a:spcBef>
            </a:pPr>
            <a:r>
              <a:rPr lang="zh-CN" altLang="en-US" dirty="0">
                <a:solidFill>
                  <a:schemeClr val="tx1">
                    <a:lumMod val="65000"/>
                    <a:lumOff val="35000"/>
                  </a:schemeClr>
                </a:solidFill>
                <a:latin typeface="+mj-ea"/>
                <a:ea typeface="+mj-ea"/>
              </a:rPr>
              <a:t>理论</a:t>
            </a:r>
            <a:r>
              <a:rPr lang="zh-CN" altLang="en-US" dirty="0" smtClean="0">
                <a:solidFill>
                  <a:schemeClr val="tx1">
                    <a:lumMod val="65000"/>
                    <a:lumOff val="35000"/>
                  </a:schemeClr>
                </a:solidFill>
                <a:latin typeface="+mj-ea"/>
                <a:ea typeface="+mj-ea"/>
              </a:rPr>
              <a:t>：面授</a:t>
            </a:r>
            <a:r>
              <a:rPr lang="en-US" altLang="zh-CN" dirty="0" smtClean="0">
                <a:solidFill>
                  <a:schemeClr val="tx1">
                    <a:lumMod val="65000"/>
                    <a:lumOff val="35000"/>
                  </a:schemeClr>
                </a:solidFill>
                <a:latin typeface="+mj-ea"/>
                <a:ea typeface="+mj-ea"/>
              </a:rPr>
              <a:t>+</a:t>
            </a:r>
            <a:r>
              <a:rPr lang="zh-CN" altLang="en-US" dirty="0" smtClean="0">
                <a:solidFill>
                  <a:schemeClr val="tx1">
                    <a:lumMod val="65000"/>
                    <a:lumOff val="35000"/>
                  </a:schemeClr>
                </a:solidFill>
                <a:latin typeface="+mj-ea"/>
                <a:ea typeface="+mj-ea"/>
              </a:rPr>
              <a:t>雨课堂互动</a:t>
            </a:r>
            <a:r>
              <a:rPr lang="en-US" altLang="zh-CN" dirty="0" smtClean="0">
                <a:solidFill>
                  <a:schemeClr val="tx1">
                    <a:lumMod val="65000"/>
                    <a:lumOff val="35000"/>
                  </a:schemeClr>
                </a:solidFill>
                <a:latin typeface="+mj-ea"/>
                <a:ea typeface="+mj-ea"/>
              </a:rPr>
              <a:t>+</a:t>
            </a:r>
            <a:r>
              <a:rPr lang="zh-CN" altLang="en-US" dirty="0" smtClean="0">
                <a:solidFill>
                  <a:schemeClr val="tx1">
                    <a:lumMod val="65000"/>
                    <a:lumOff val="35000"/>
                  </a:schemeClr>
                </a:solidFill>
                <a:latin typeface="+mj-ea"/>
                <a:ea typeface="+mj-ea"/>
              </a:rPr>
              <a:t>课堂</a:t>
            </a:r>
            <a:r>
              <a:rPr lang="zh-CN" altLang="en-US" dirty="0">
                <a:solidFill>
                  <a:schemeClr val="tx1">
                    <a:lumMod val="65000"/>
                    <a:lumOff val="35000"/>
                  </a:schemeClr>
                </a:solidFill>
                <a:latin typeface="+mj-ea"/>
                <a:ea typeface="+mj-ea"/>
              </a:rPr>
              <a:t>测试</a:t>
            </a:r>
            <a:endParaRPr lang="en-US" altLang="zh-CN" dirty="0">
              <a:solidFill>
                <a:schemeClr val="tx1">
                  <a:lumMod val="65000"/>
                  <a:lumOff val="35000"/>
                </a:schemeClr>
              </a:solidFill>
              <a:latin typeface="+mj-ea"/>
              <a:ea typeface="+mj-ea"/>
            </a:endParaRPr>
          </a:p>
          <a:p>
            <a:pPr marL="457200" indent="-457200">
              <a:spcBef>
                <a:spcPts val="1800"/>
              </a:spcBef>
            </a:pPr>
            <a:r>
              <a:rPr lang="zh-CN" altLang="en-US" dirty="0">
                <a:solidFill>
                  <a:schemeClr val="tx1">
                    <a:lumMod val="65000"/>
                    <a:lumOff val="35000"/>
                  </a:schemeClr>
                </a:solidFill>
                <a:latin typeface="+mj-ea"/>
                <a:ea typeface="+mj-ea"/>
              </a:rPr>
              <a:t>实验：根据项目进度分组完成项目</a:t>
            </a:r>
            <a:endParaRPr lang="zh-CN" altLang="en-US" dirty="0">
              <a:solidFill>
                <a:schemeClr val="tx1">
                  <a:lumMod val="65000"/>
                  <a:lumOff val="35000"/>
                </a:schemeClr>
              </a:solidFill>
              <a:latin typeface="+mj-ea"/>
              <a:ea typeface="+mj-ea"/>
            </a:endParaRPr>
          </a:p>
        </p:txBody>
      </p:sp>
      <p:sp>
        <p:nvSpPr>
          <p:cNvPr id="4" name="日期占位符 7"/>
          <p:cNvSpPr>
            <a:spLocks noGrp="1"/>
          </p:cNvSpPr>
          <p:nvPr>
            <p:ph type="dt" sz="half" idx="10"/>
          </p:nvPr>
        </p:nvSpPr>
        <p:spPr>
          <a:xfrm>
            <a:off x="768096" y="4853028"/>
            <a:ext cx="1615607" cy="205740"/>
          </a:xfrm>
        </p:spPr>
        <p:txBody>
          <a:bodyPr/>
          <a:lstStyle/>
          <a:p>
            <a:fld id="{A317B6A9-3002-43BA-A59A-2C30C9410B5E}" type="datetime1">
              <a:rPr lang="zh-CN" altLang="en-US" smtClean="0"/>
            </a:fld>
            <a:endParaRPr lang="zh-CN" altLang="en-US" dirty="0"/>
          </a:p>
        </p:txBody>
      </p:sp>
      <p:sp>
        <p:nvSpPr>
          <p:cNvPr id="5" name="页脚占位符 8"/>
          <p:cNvSpPr>
            <a:spLocks noGrp="1"/>
          </p:cNvSpPr>
          <p:nvPr>
            <p:ph type="ftr" sz="quarter" idx="11"/>
          </p:nvPr>
        </p:nvSpPr>
        <p:spPr>
          <a:xfrm>
            <a:off x="2383703" y="4853028"/>
            <a:ext cx="5674590" cy="205740"/>
          </a:xfrm>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教材</a:t>
            </a:r>
            <a:endParaRPr lang="zh-CN" altLang="en-US"/>
          </a:p>
        </p:txBody>
      </p:sp>
      <p:sp>
        <p:nvSpPr>
          <p:cNvPr id="3" name="内容占位符 2"/>
          <p:cNvSpPr>
            <a:spLocks noGrp="1"/>
          </p:cNvSpPr>
          <p:nvPr>
            <p:ph idx="1"/>
          </p:nvPr>
        </p:nvSpPr>
        <p:spPr>
          <a:xfrm>
            <a:off x="768350" y="925195"/>
            <a:ext cx="4241165" cy="3806825"/>
          </a:xfrm>
        </p:spPr>
        <p:txBody>
          <a:bodyPr/>
          <a:p>
            <a:pPr>
              <a:lnSpc>
                <a:spcPct val="120000"/>
              </a:lnSpc>
            </a:pPr>
            <a:r>
              <a:rPr lang="zh-CN" altLang="en-US"/>
              <a:t>《软件工程——方法与实践》 （第</a:t>
            </a:r>
            <a:r>
              <a:rPr lang="en-US" altLang="zh-CN"/>
              <a:t>3</a:t>
            </a:r>
            <a:r>
              <a:rPr lang="zh-CN" altLang="en-US"/>
              <a:t>版）</a:t>
            </a:r>
            <a:endParaRPr lang="zh-CN" altLang="en-US"/>
          </a:p>
          <a:p>
            <a:pPr>
              <a:lnSpc>
                <a:spcPct val="120000"/>
              </a:lnSpc>
            </a:pPr>
            <a:r>
              <a:rPr lang="zh-CN" altLang="en-US"/>
              <a:t>作者：许家怡</a:t>
            </a:r>
            <a:endParaRPr lang="zh-CN" altLang="en-US"/>
          </a:p>
          <a:p>
            <a:pPr>
              <a:lnSpc>
                <a:spcPct val="120000"/>
              </a:lnSpc>
            </a:pPr>
            <a:r>
              <a:rPr lang="zh-CN" altLang="en-US"/>
              <a:t>电子工业出版社</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8" name="图片 7"/>
          <p:cNvPicPr>
            <a:picLocks noChangeAspect="1"/>
          </p:cNvPicPr>
          <p:nvPr/>
        </p:nvPicPr>
        <p:blipFill>
          <a:blip r:embed="rId1"/>
          <a:srcRect l="14104" t="1906" r="15685" b="1185"/>
          <a:stretch>
            <a:fillRect/>
          </a:stretch>
        </p:blipFill>
        <p:spPr>
          <a:xfrm>
            <a:off x="5559425" y="925195"/>
            <a:ext cx="2685415" cy="370713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参考书</a:t>
            </a:r>
            <a:endParaRPr lang="zh-CN" altLang="en-US" dirty="0"/>
          </a:p>
        </p:txBody>
      </p:sp>
      <p:sp>
        <p:nvSpPr>
          <p:cNvPr id="4" name="日期占位符 3"/>
          <p:cNvSpPr>
            <a:spLocks noGrp="1"/>
          </p:cNvSpPr>
          <p:nvPr>
            <p:ph type="dt" sz="half" idx="10"/>
          </p:nvPr>
        </p:nvSpPr>
        <p:spPr/>
        <p:txBody>
          <a:bodyPr/>
          <a:lstStyle/>
          <a:p>
            <a:fld id="{355F3D93-E7A8-4F41-802E-9F4FBFBE5D6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Rectangle 9"/>
          <p:cNvSpPr>
            <a:spLocks noGrp="1" noChangeArrowheads="1"/>
          </p:cNvSpPr>
          <p:nvPr>
            <p:ph idx="1"/>
          </p:nvPr>
        </p:nvSpPr>
        <p:spPr>
          <a:xfrm>
            <a:off x="739140" y="888365"/>
            <a:ext cx="4902835" cy="4255135"/>
          </a:xfrm>
        </p:spPr>
        <p:txBody>
          <a:bodyPr>
            <a:normAutofit/>
          </a:bodyPr>
          <a:lstStyle/>
          <a:p>
            <a:pPr marL="457200" indent="-457200">
              <a:defRPr/>
            </a:pPr>
            <a:r>
              <a:rPr lang="zh-CN" sz="2400" dirty="0">
                <a:latin typeface="+mj-ea"/>
                <a:ea typeface="+mj-ea"/>
              </a:rPr>
              <a:t>新程序员</a:t>
            </a:r>
            <a:r>
              <a:rPr lang="en-US" altLang="zh-CN" sz="2400" dirty="0">
                <a:latin typeface="+mj-ea"/>
                <a:ea typeface="+mj-ea"/>
              </a:rPr>
              <a:t>--</a:t>
            </a:r>
            <a:r>
              <a:rPr lang="zh-CN" sz="2400" dirty="0">
                <a:latin typeface="+mj-ea"/>
                <a:ea typeface="+mj-ea"/>
              </a:rPr>
              <a:t>大模型驱动软件开发</a:t>
            </a:r>
            <a:endParaRPr lang="en-US" altLang="zh-CN" sz="2400" dirty="0">
              <a:latin typeface="+mj-ea"/>
              <a:ea typeface="+mj-ea"/>
            </a:endParaRPr>
          </a:p>
          <a:p>
            <a:pPr marL="0" indent="0">
              <a:buNone/>
              <a:defRPr/>
            </a:pPr>
            <a:r>
              <a:rPr lang="zh-CN" altLang="en-US" sz="2000" dirty="0">
                <a:latin typeface="+mj-ea"/>
                <a:ea typeface="+mj-ea"/>
              </a:rPr>
              <a:t>《新程序员》编辑部</a:t>
            </a:r>
            <a:endParaRPr lang="zh-CN" altLang="en-US" sz="2000" dirty="0">
              <a:latin typeface="+mj-ea"/>
              <a:ea typeface="+mj-ea"/>
            </a:endParaRPr>
          </a:p>
          <a:p>
            <a:pPr marL="0" indent="0">
              <a:buNone/>
              <a:defRPr/>
            </a:pPr>
            <a:r>
              <a:rPr lang="zh-CN" altLang="en-US" sz="2000" dirty="0">
                <a:latin typeface="+mj-ea"/>
                <a:ea typeface="+mj-ea"/>
                <a:sym typeface="+mn-ea"/>
              </a:rPr>
              <a:t>北京理工大学</a:t>
            </a:r>
            <a:r>
              <a:rPr lang="zh-CN" altLang="en-US" sz="2000" dirty="0">
                <a:latin typeface="+mj-ea"/>
                <a:ea typeface="+mj-ea"/>
              </a:rPr>
              <a:t>出版社</a:t>
            </a:r>
            <a:endParaRPr lang="en-US" altLang="zh-CN" sz="2000" dirty="0">
              <a:latin typeface="+mj-ea"/>
              <a:ea typeface="+mj-ea"/>
            </a:endParaRPr>
          </a:p>
          <a:p>
            <a:pPr eaLnBrk="1" hangingPunct="1"/>
            <a:endParaRPr lang="en-US" altLang="zh-CN" sz="2800" dirty="0">
              <a:effectLst/>
              <a:latin typeface="+mj-ea"/>
              <a:ea typeface="+mj-ea"/>
            </a:endParaRPr>
          </a:p>
          <a:p>
            <a:pPr eaLnBrk="1" hangingPunct="1"/>
            <a:r>
              <a:rPr lang="zh-CN" altLang="en-US" sz="2400" dirty="0">
                <a:effectLst/>
                <a:latin typeface="+mj-ea"/>
                <a:ea typeface="+mj-ea"/>
              </a:rPr>
              <a:t>构建之法</a:t>
            </a:r>
            <a:r>
              <a:rPr lang="en-US" altLang="zh-CN" sz="2400" dirty="0" smtClean="0">
                <a:effectLst/>
                <a:latin typeface="+mj-ea"/>
                <a:ea typeface="+mj-ea"/>
              </a:rPr>
              <a:t>—</a:t>
            </a:r>
            <a:r>
              <a:rPr lang="zh-CN" altLang="en-US" sz="2400" dirty="0" smtClean="0">
                <a:effectLst/>
                <a:latin typeface="+mj-ea"/>
                <a:ea typeface="+mj-ea"/>
              </a:rPr>
              <a:t>现代</a:t>
            </a:r>
            <a:r>
              <a:rPr lang="zh-CN" altLang="en-US" sz="2400" dirty="0">
                <a:effectLst/>
                <a:latin typeface="+mj-ea"/>
                <a:ea typeface="+mj-ea"/>
              </a:rPr>
              <a:t>软件工程</a:t>
            </a:r>
            <a:endParaRPr lang="en-US" altLang="zh-CN" sz="2400" dirty="0">
              <a:effectLst/>
              <a:latin typeface="+mj-ea"/>
              <a:ea typeface="+mj-ea"/>
            </a:endParaRPr>
          </a:p>
          <a:p>
            <a:pPr marL="0" indent="0" eaLnBrk="1" hangingPunct="1">
              <a:buNone/>
            </a:pPr>
            <a:r>
              <a:rPr lang="zh-CN" altLang="en-US" sz="2000" dirty="0">
                <a:effectLst/>
                <a:latin typeface="+mj-ea"/>
                <a:ea typeface="+mj-ea"/>
              </a:rPr>
              <a:t>作者：邹欣</a:t>
            </a:r>
            <a:endParaRPr lang="en-US" altLang="zh-CN" sz="2000" dirty="0">
              <a:effectLst/>
              <a:latin typeface="+mj-ea"/>
              <a:ea typeface="+mj-ea"/>
            </a:endParaRPr>
          </a:p>
          <a:p>
            <a:pPr marL="0" indent="0" eaLnBrk="1" hangingPunct="1">
              <a:buNone/>
            </a:pPr>
            <a:r>
              <a:rPr lang="zh-CN" altLang="en-US" sz="2000" dirty="0">
                <a:effectLst/>
                <a:latin typeface="+mj-ea"/>
                <a:ea typeface="+mj-ea"/>
              </a:rPr>
              <a:t>出版社：人民邮电出版社</a:t>
            </a:r>
            <a:endParaRPr lang="en-US" altLang="zh-CN" sz="2000" dirty="0">
              <a:effectLst/>
              <a:latin typeface="+mj-ea"/>
              <a:ea typeface="+mj-ea"/>
            </a:endParaRPr>
          </a:p>
        </p:txBody>
      </p:sp>
      <p:pic>
        <p:nvPicPr>
          <p:cNvPr id="9" name="图片 8"/>
          <p:cNvPicPr>
            <a:picLocks noChangeAspect="1"/>
          </p:cNvPicPr>
          <p:nvPr/>
        </p:nvPicPr>
        <p:blipFill>
          <a:blip r:embed="rId1"/>
          <a:stretch>
            <a:fillRect/>
          </a:stretch>
        </p:blipFill>
        <p:spPr>
          <a:xfrm>
            <a:off x="6986985" y="2190523"/>
            <a:ext cx="2167016" cy="2662505"/>
          </a:xfrm>
          <a:prstGeom prst="rect">
            <a:avLst/>
          </a:prstGeom>
        </p:spPr>
      </p:pic>
      <p:pic>
        <p:nvPicPr>
          <p:cNvPr id="3" name="图片 2"/>
          <p:cNvPicPr>
            <a:picLocks noChangeAspect="1"/>
          </p:cNvPicPr>
          <p:nvPr/>
        </p:nvPicPr>
        <p:blipFill>
          <a:blip r:embed="rId2"/>
          <a:stretch>
            <a:fillRect/>
          </a:stretch>
        </p:blipFill>
        <p:spPr>
          <a:xfrm>
            <a:off x="5561965" y="50800"/>
            <a:ext cx="2250440" cy="30607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参考书</a:t>
            </a:r>
            <a:endParaRPr lang="zh-CN" altLang="en-US" dirty="0"/>
          </a:p>
        </p:txBody>
      </p:sp>
      <p:sp>
        <p:nvSpPr>
          <p:cNvPr id="3" name="内容占位符 2"/>
          <p:cNvSpPr>
            <a:spLocks noGrp="1"/>
          </p:cNvSpPr>
          <p:nvPr>
            <p:ph idx="1"/>
          </p:nvPr>
        </p:nvSpPr>
        <p:spPr>
          <a:xfrm>
            <a:off x="768098" y="943455"/>
            <a:ext cx="4452900" cy="3806854"/>
          </a:xfrm>
        </p:spPr>
        <p:txBody>
          <a:bodyPr>
            <a:noAutofit/>
          </a:bodyPr>
          <a:lstStyle/>
          <a:p>
            <a:r>
              <a:rPr lang="zh-CN" altLang="en-US" sz="2400" dirty="0">
                <a:latin typeface="+mj-ea"/>
                <a:ea typeface="+mj-ea"/>
              </a:rPr>
              <a:t>软件是这样“炼”成的</a:t>
            </a:r>
            <a:r>
              <a:rPr lang="en-US" altLang="zh-CN" sz="2400" dirty="0">
                <a:latin typeface="+mj-ea"/>
                <a:ea typeface="+mj-ea"/>
              </a:rPr>
              <a:t>—</a:t>
            </a:r>
            <a:r>
              <a:rPr lang="zh-CN" altLang="en-US" sz="2400" dirty="0">
                <a:latin typeface="+mj-ea"/>
                <a:ea typeface="+mj-ea"/>
              </a:rPr>
              <a:t>从软件需求分析到软件架构设计</a:t>
            </a:r>
            <a:endParaRPr lang="zh-CN" altLang="en-US" sz="2400" dirty="0">
              <a:latin typeface="+mj-ea"/>
              <a:ea typeface="+mj-ea"/>
            </a:endParaRPr>
          </a:p>
          <a:p>
            <a:pPr marL="0" indent="0">
              <a:buNone/>
            </a:pPr>
            <a:r>
              <a:rPr lang="zh-CN" altLang="en-US" sz="2000" dirty="0">
                <a:sym typeface="+mn-ea"/>
              </a:rPr>
              <a:t>作者：王朔韬</a:t>
            </a:r>
            <a:endParaRPr lang="en-US" altLang="zh-CN" sz="2000" dirty="0">
              <a:latin typeface="+mj-ea"/>
              <a:ea typeface="+mj-ea"/>
            </a:endParaRPr>
          </a:p>
          <a:p>
            <a:pPr marL="0" indent="0">
              <a:buNone/>
            </a:pPr>
            <a:r>
              <a:rPr lang="zh-CN" altLang="en-US" sz="2000" dirty="0">
                <a:sym typeface="+mn-ea"/>
              </a:rPr>
              <a:t>出版社：</a:t>
            </a:r>
            <a:r>
              <a:rPr lang="zh-CN" altLang="en-US" sz="2000" dirty="0" smtClean="0">
                <a:sym typeface="+mn-ea"/>
              </a:rPr>
              <a:t>清华大学出版社</a:t>
            </a:r>
            <a:endParaRPr lang="en-US" altLang="zh-CN" sz="2000" dirty="0" smtClean="0">
              <a:latin typeface="+mj-ea"/>
              <a:ea typeface="+mj-ea"/>
            </a:endParaRPr>
          </a:p>
          <a:p>
            <a:r>
              <a:rPr lang="zh-CN" altLang="en-US" sz="2400" dirty="0" smtClean="0">
                <a:sym typeface="+mn-ea"/>
              </a:rPr>
              <a:t>人</a:t>
            </a:r>
            <a:r>
              <a:rPr lang="zh-CN" altLang="en-US" sz="2400" dirty="0">
                <a:sym typeface="+mn-ea"/>
              </a:rPr>
              <a:t>月神话</a:t>
            </a:r>
            <a:endParaRPr lang="en-US" altLang="zh-CN" sz="2400" dirty="0">
              <a:latin typeface="+mj-ea"/>
              <a:ea typeface="+mj-ea"/>
            </a:endParaRPr>
          </a:p>
          <a:p>
            <a:r>
              <a:rPr lang="zh-CN" altLang="en-US" sz="2000" dirty="0" smtClean="0">
                <a:latin typeface="+mj-ea"/>
                <a:ea typeface="+mj-ea"/>
              </a:rPr>
              <a:t>作者</a:t>
            </a:r>
            <a:r>
              <a:rPr lang="zh-CN" altLang="en-US" sz="2000" dirty="0">
                <a:latin typeface="+mj-ea"/>
                <a:ea typeface="+mj-ea"/>
              </a:rPr>
              <a:t>：（美）小弗雷德里克</a:t>
            </a:r>
            <a:r>
              <a:rPr lang="en-US" altLang="zh-CN" sz="2000" dirty="0">
                <a:latin typeface="+mj-ea"/>
                <a:ea typeface="+mj-ea"/>
              </a:rPr>
              <a:t>·</a:t>
            </a:r>
            <a:r>
              <a:rPr lang="zh-CN" altLang="en-US" sz="2000" dirty="0">
                <a:latin typeface="+mj-ea"/>
                <a:ea typeface="+mj-ea"/>
              </a:rPr>
              <a:t>布鲁克斯（</a:t>
            </a:r>
            <a:r>
              <a:rPr lang="en-US" altLang="zh-CN" sz="2000" dirty="0">
                <a:latin typeface="+mj-ea"/>
                <a:ea typeface="+mj-ea"/>
              </a:rPr>
              <a:t>Frederick </a:t>
            </a:r>
            <a:r>
              <a:rPr lang="en-US" altLang="zh-CN" sz="2000" dirty="0" err="1">
                <a:latin typeface="+mj-ea"/>
                <a:ea typeface="+mj-ea"/>
              </a:rPr>
              <a:t>P.Brooks</a:t>
            </a:r>
            <a:r>
              <a:rPr lang="zh-CN" altLang="en-US" sz="2000" dirty="0">
                <a:latin typeface="+mj-ea"/>
                <a:ea typeface="+mj-ea"/>
              </a:rPr>
              <a:t>，</a:t>
            </a:r>
            <a:r>
              <a:rPr lang="en-US" altLang="zh-CN" sz="2000" dirty="0">
                <a:latin typeface="+mj-ea"/>
                <a:ea typeface="+mj-ea"/>
              </a:rPr>
              <a:t>Jr.</a:t>
            </a:r>
            <a:r>
              <a:rPr lang="zh-CN" altLang="en-US" sz="2000" dirty="0">
                <a:latin typeface="+mj-ea"/>
                <a:ea typeface="+mj-ea"/>
              </a:rPr>
              <a:t>） </a:t>
            </a:r>
            <a:endParaRPr lang="en-US" altLang="zh-CN" sz="2000" dirty="0">
              <a:latin typeface="+mj-ea"/>
              <a:ea typeface="+mj-ea"/>
            </a:endParaRPr>
          </a:p>
          <a:p>
            <a:pPr marL="0" indent="0">
              <a:buNone/>
            </a:pPr>
            <a:r>
              <a:rPr lang="zh-CN" altLang="en-US" sz="2000" dirty="0">
                <a:latin typeface="+mj-ea"/>
                <a:ea typeface="+mj-ea"/>
              </a:rPr>
              <a:t>出版社：清华大学出版社</a:t>
            </a:r>
            <a:endParaRPr lang="en-US" altLang="zh-CN" sz="2000" dirty="0">
              <a:latin typeface="+mj-ea"/>
              <a:ea typeface="+mj-ea"/>
            </a:endParaRPr>
          </a:p>
          <a:p>
            <a:endParaRPr lang="zh-CN" altLang="en-US" sz="2400" dirty="0">
              <a:latin typeface="+mj-ea"/>
              <a:ea typeface="+mj-ea"/>
            </a:endParaRPr>
          </a:p>
        </p:txBody>
      </p:sp>
      <p:sp>
        <p:nvSpPr>
          <p:cNvPr id="4" name="日期占位符 3"/>
          <p:cNvSpPr>
            <a:spLocks noGrp="1"/>
          </p:cNvSpPr>
          <p:nvPr>
            <p:ph type="dt" sz="half" idx="10"/>
          </p:nvPr>
        </p:nvSpPr>
        <p:spPr/>
        <p:txBody>
          <a:bodyPr/>
          <a:lstStyle/>
          <a:p>
            <a:fld id="{A3C18993-3AC3-46B7-8786-17F488A5C6D1}"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9" name="图片 8"/>
          <p:cNvPicPr>
            <a:picLocks noChangeAspect="1"/>
          </p:cNvPicPr>
          <p:nvPr/>
        </p:nvPicPr>
        <p:blipFill>
          <a:blip r:embed="rId1"/>
          <a:stretch>
            <a:fillRect/>
          </a:stretch>
        </p:blipFill>
        <p:spPr>
          <a:xfrm>
            <a:off x="5220998" y="74210"/>
            <a:ext cx="2313580" cy="3282879"/>
          </a:xfrm>
          <a:prstGeom prst="rect">
            <a:avLst/>
          </a:prstGeom>
        </p:spPr>
      </p:pic>
      <p:pic>
        <p:nvPicPr>
          <p:cNvPr id="8" name="图片 7"/>
          <p:cNvPicPr>
            <a:picLocks noChangeAspect="1"/>
          </p:cNvPicPr>
          <p:nvPr/>
        </p:nvPicPr>
        <p:blipFill rotWithShape="1">
          <a:blip r:embed="rId2">
            <a:clrChange>
              <a:clrFrom>
                <a:srgbClr val="EEF2FB"/>
              </a:clrFrom>
              <a:clrTo>
                <a:srgbClr val="EEF2FB">
                  <a:alpha val="0"/>
                </a:srgbClr>
              </a:clrTo>
            </a:clrChange>
          </a:blip>
          <a:srcRect b="2628"/>
          <a:stretch>
            <a:fillRect/>
          </a:stretch>
        </p:blipFill>
        <p:spPr>
          <a:xfrm>
            <a:off x="6873910" y="1861151"/>
            <a:ext cx="2307395" cy="31472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参考书</a:t>
            </a:r>
            <a:endParaRPr lang="zh-CN" altLang="en-US"/>
          </a:p>
        </p:txBody>
      </p:sp>
      <p:sp>
        <p:nvSpPr>
          <p:cNvPr id="3" name="内容占位符 2"/>
          <p:cNvSpPr>
            <a:spLocks noGrp="1"/>
          </p:cNvSpPr>
          <p:nvPr>
            <p:ph idx="1"/>
          </p:nvPr>
        </p:nvSpPr>
        <p:spPr/>
        <p:txBody>
          <a:bodyPr/>
          <a:p>
            <a:r>
              <a:rPr lang="zh-CN" altLang="en-US"/>
              <a:t>《软件工程:实践者的研究方法(原书第</a:t>
            </a:r>
            <a:r>
              <a:rPr lang="en-US" altLang="zh-CN"/>
              <a:t>9</a:t>
            </a:r>
            <a:r>
              <a:rPr lang="zh-CN" altLang="en-US"/>
              <a:t>版)》，普雷斯曼(Roger S.Pressman) (作者)，郑人杰(译者)，马素霞(译者)等(译者)，机械工业出版社；</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学习资源</a:t>
            </a:r>
            <a:endParaRPr lang="zh-CN" altLang="en-US" dirty="0"/>
          </a:p>
        </p:txBody>
      </p:sp>
      <p:sp>
        <p:nvSpPr>
          <p:cNvPr id="3" name="内容占位符 2"/>
          <p:cNvSpPr>
            <a:spLocks noGrp="1"/>
          </p:cNvSpPr>
          <p:nvPr>
            <p:ph idx="1"/>
          </p:nvPr>
        </p:nvSpPr>
        <p:spPr/>
        <p:txBody>
          <a:bodyPr>
            <a:normAutofit fontScale="70000"/>
          </a:bodyPr>
          <a:lstStyle/>
          <a:p>
            <a:pPr>
              <a:lnSpc>
                <a:spcPct val="120000"/>
              </a:lnSpc>
            </a:pPr>
            <a:r>
              <a:rPr lang="zh-CN" altLang="en-US" dirty="0"/>
              <a:t>学习网站：</a:t>
            </a:r>
            <a:endParaRPr lang="en-US" altLang="zh-CN" dirty="0"/>
          </a:p>
          <a:p>
            <a:pPr marL="0" indent="0">
              <a:lnSpc>
                <a:spcPct val="120000"/>
              </a:lnSpc>
              <a:buNone/>
            </a:pPr>
            <a:r>
              <a:rPr lang="en-US" altLang="zh-CN" dirty="0">
                <a:hlinkClick r:id="rId1"/>
              </a:rPr>
              <a:t>1.中国大学MOOC国家精品资源共享课，软件工程，东北大学。</a:t>
            </a:r>
            <a:endParaRPr lang="en-US" altLang="zh-CN" dirty="0">
              <a:hlinkClick r:id="rId1"/>
            </a:endParaRPr>
          </a:p>
          <a:p>
            <a:pPr marL="0" indent="0">
              <a:lnSpc>
                <a:spcPct val="120000"/>
              </a:lnSpc>
              <a:buNone/>
            </a:pPr>
            <a:r>
              <a:rPr lang="en-US" altLang="zh-CN" dirty="0">
                <a:hlinkClick r:id="rId1"/>
              </a:rPr>
              <a:t>https://www.icourse163.org/course/NEU-1001812013?from=searchPage&amp;outVendor=zw_mooc_pcssjg_</a:t>
            </a:r>
            <a:endParaRPr lang="en-US" altLang="zh-CN" dirty="0">
              <a:hlinkClick r:id="rId1"/>
            </a:endParaRPr>
          </a:p>
          <a:p>
            <a:pPr marL="0" indent="0">
              <a:lnSpc>
                <a:spcPct val="120000"/>
              </a:lnSpc>
              <a:buNone/>
            </a:pPr>
            <a:r>
              <a:rPr lang="en-US" altLang="zh-CN" dirty="0">
                <a:hlinkClick r:id="rId1"/>
              </a:rPr>
              <a:t>2.中国大学MOOC国家精品资源共享课，软件工程，北京大学。</a:t>
            </a:r>
            <a:endParaRPr lang="en-US" altLang="zh-CN" dirty="0">
              <a:hlinkClick r:id="rId1"/>
            </a:endParaRPr>
          </a:p>
          <a:p>
            <a:pPr marL="0" indent="0">
              <a:lnSpc>
                <a:spcPct val="120000"/>
              </a:lnSpc>
              <a:buNone/>
            </a:pPr>
            <a:r>
              <a:rPr lang="en-US" altLang="zh-CN" dirty="0">
                <a:hlinkClick r:id="rId1"/>
              </a:rPr>
              <a:t>https://www.icourse163.org/course/PKU-1003177002?from=searchPage&amp;outVendor=zw_mooc_pcssjg_#/info</a:t>
            </a:r>
            <a:endParaRPr lang="en-US" altLang="zh-CN" dirty="0"/>
          </a:p>
          <a:p>
            <a:pPr>
              <a:lnSpc>
                <a:spcPct val="120000"/>
              </a:lnSpc>
            </a:pPr>
            <a:r>
              <a:rPr lang="zh-CN" altLang="en-US" dirty="0"/>
              <a:t>微信公众号：软件工程</a:t>
            </a:r>
            <a:r>
              <a:rPr lang="en-US" altLang="zh-CN" dirty="0"/>
              <a:t>3.0</a:t>
            </a:r>
            <a:r>
              <a:rPr lang="zh-CN" altLang="en-US" dirty="0"/>
              <a:t>时代，</a:t>
            </a:r>
            <a:r>
              <a:rPr lang="en-US" altLang="zh-CN" dirty="0"/>
              <a:t>CSDN</a:t>
            </a:r>
            <a:r>
              <a:rPr lang="zh-CN" altLang="en-US" dirty="0"/>
              <a:t>程序</a:t>
            </a:r>
            <a:r>
              <a:rPr lang="zh-CN" altLang="en-US" dirty="0" smtClean="0"/>
              <a:t>人生，</a:t>
            </a:r>
            <a:r>
              <a:rPr lang="zh-CN" altLang="en-US" dirty="0">
                <a:sym typeface="+mn-ea"/>
              </a:rPr>
              <a:t>程序员那些事</a:t>
            </a:r>
            <a:endParaRPr lang="en-US" altLang="zh-CN" dirty="0" smtClean="0"/>
          </a:p>
          <a:p>
            <a:pPr>
              <a:lnSpc>
                <a:spcPct val="120000"/>
              </a:lnSpc>
            </a:pPr>
            <a:endParaRPr lang="en-US" altLang="zh-CN" dirty="0"/>
          </a:p>
          <a:p>
            <a:endParaRPr lang="zh-CN" altLang="en-US" dirty="0"/>
          </a:p>
        </p:txBody>
      </p:sp>
      <p:sp>
        <p:nvSpPr>
          <p:cNvPr id="4" name="日期占位符 3"/>
          <p:cNvSpPr>
            <a:spLocks noGrp="1"/>
          </p:cNvSpPr>
          <p:nvPr>
            <p:ph type="dt" sz="half" idx="10"/>
          </p:nvPr>
        </p:nvSpPr>
        <p:spPr/>
        <p:txBody>
          <a:bodyPr/>
          <a:lstStyle/>
          <a:p>
            <a:fld id="{0EA73588-68FE-4B93-9E25-E738A1E2E38F}"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学软件工程</a:t>
            </a:r>
            <a:endParaRPr lang="zh-CN" altLang="en-US" dirty="0"/>
          </a:p>
        </p:txBody>
      </p:sp>
      <p:sp>
        <p:nvSpPr>
          <p:cNvPr id="3" name="内容占位符 2"/>
          <p:cNvSpPr>
            <a:spLocks noGrp="1"/>
          </p:cNvSpPr>
          <p:nvPr>
            <p:ph idx="1"/>
          </p:nvPr>
        </p:nvSpPr>
        <p:spPr/>
        <p:txBody>
          <a:bodyPr/>
          <a:lstStyle/>
          <a:p>
            <a:r>
              <a:rPr lang="zh-CN" altLang="en-US" dirty="0" smtClean="0"/>
              <a:t>不是学编程，不是做程序猿！</a:t>
            </a:r>
            <a:endParaRPr lang="en-US" altLang="zh-CN" dirty="0" smtClean="0"/>
          </a:p>
          <a:p>
            <a:r>
              <a:rPr lang="zh-CN" altLang="en-US" dirty="0" smtClean="0"/>
              <a:t>从较高的层次上确保工程优质、省钱、高效！</a:t>
            </a:r>
            <a:endParaRPr lang="en-US" altLang="zh-CN" dirty="0" smtClean="0"/>
          </a:p>
          <a:p>
            <a:pPr marL="0" indent="0">
              <a:buNone/>
            </a:pPr>
            <a:r>
              <a:rPr lang="zh-CN" altLang="en-US" dirty="0"/>
              <a:t>掌</a:t>
            </a:r>
            <a:r>
              <a:rPr lang="zh-CN" altLang="en-US" dirty="0" smtClean="0"/>
              <a:t>控工程、做</a:t>
            </a:r>
            <a:r>
              <a:rPr lang="en-US" altLang="zh-CN" dirty="0" smtClean="0"/>
              <a:t>CIO</a:t>
            </a:r>
            <a:r>
              <a:rPr lang="zh-CN" altLang="en-US" dirty="0" smtClean="0"/>
              <a:t>、架构师、分析师指导开发和运维。</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行业话题</a:t>
            </a:r>
            <a:endParaRPr lang="en-US" altLang="zh-CN"/>
          </a:p>
          <a:p>
            <a:r>
              <a:rPr lang="en-US" altLang="zh-CN"/>
              <a:t>https://www.bilibili.com/video/BV1M1K5ecExV?spm_id_from=333.788.player.switch&amp;vd_source=126d7d8c96f64baf214de0bfd2cb9361&amp;p=2</a:t>
            </a:r>
            <a:endParaRPr lang="en-US" altLang="zh-CN"/>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97507" y="67723"/>
            <a:ext cx="6172200" cy="559811"/>
          </a:xfrm>
        </p:spPr>
        <p:txBody>
          <a:bodyPr/>
          <a:lstStyle/>
          <a:p>
            <a:r>
              <a:rPr lang="en-US" dirty="0"/>
              <a:t>“</a:t>
            </a:r>
            <a:r>
              <a:rPr lang="zh-CN" altLang="en-US" dirty="0"/>
              <a:t>工程</a:t>
            </a:r>
            <a:r>
              <a:rPr lang="en-US" altLang="zh-CN" dirty="0"/>
              <a:t>”  </a:t>
            </a:r>
            <a:r>
              <a:rPr lang="zh-CN" altLang="en-US" dirty="0"/>
              <a:t>在各种行业都有</a:t>
            </a:r>
            <a:endParaRPr lang="en-US" dirty="0"/>
          </a:p>
        </p:txBody>
      </p:sp>
      <p:sp>
        <p:nvSpPr>
          <p:cNvPr id="3" name="内容占位符 2"/>
          <p:cNvSpPr>
            <a:spLocks noGrp="1"/>
          </p:cNvSpPr>
          <p:nvPr>
            <p:ph idx="1"/>
          </p:nvPr>
        </p:nvSpPr>
        <p:spPr>
          <a:xfrm>
            <a:off x="1297306" y="897690"/>
            <a:ext cx="1054894" cy="3469207"/>
          </a:xfrm>
        </p:spPr>
        <p:txBody>
          <a:bodyPr>
            <a:normAutofit fontScale="90000" lnSpcReduction="10000"/>
          </a:bodyPr>
          <a:lstStyle/>
          <a:p>
            <a:pPr fontAlgn="auto">
              <a:lnSpc>
                <a:spcPct val="100000"/>
              </a:lnSpc>
              <a:spcBef>
                <a:spcPts val="0"/>
              </a:spcBef>
            </a:pPr>
            <a:r>
              <a:rPr lang="zh-CN" altLang="en-US" sz="2000" dirty="0"/>
              <a:t>构想</a:t>
            </a:r>
            <a:endParaRPr lang="en-US" altLang="zh-CN" sz="2000" dirty="0"/>
          </a:p>
          <a:p>
            <a:pPr fontAlgn="auto">
              <a:lnSpc>
                <a:spcPct val="100000"/>
              </a:lnSpc>
              <a:spcBef>
                <a:spcPts val="0"/>
              </a:spcBef>
            </a:pPr>
            <a:endParaRPr lang="en-US" altLang="zh-CN" sz="2000" dirty="0"/>
          </a:p>
          <a:p>
            <a:pPr fontAlgn="auto">
              <a:lnSpc>
                <a:spcPct val="100000"/>
              </a:lnSpc>
              <a:spcBef>
                <a:spcPts val="0"/>
              </a:spcBef>
            </a:pPr>
            <a:endParaRPr lang="en-US" altLang="zh-CN" sz="2000" dirty="0"/>
          </a:p>
          <a:p>
            <a:pPr fontAlgn="auto">
              <a:lnSpc>
                <a:spcPct val="100000"/>
              </a:lnSpc>
              <a:spcBef>
                <a:spcPts val="0"/>
              </a:spcBef>
            </a:pPr>
            <a:r>
              <a:rPr lang="zh-CN" altLang="en-US" sz="2000" dirty="0"/>
              <a:t>分析</a:t>
            </a:r>
            <a:endParaRPr lang="en-US" altLang="zh-CN" sz="2000" dirty="0"/>
          </a:p>
          <a:p>
            <a:pPr fontAlgn="auto">
              <a:lnSpc>
                <a:spcPct val="100000"/>
              </a:lnSpc>
              <a:spcBef>
                <a:spcPts val="0"/>
              </a:spcBef>
            </a:pPr>
            <a:endParaRPr lang="en-US" altLang="zh-CN" sz="2000" dirty="0"/>
          </a:p>
          <a:p>
            <a:pPr fontAlgn="auto">
              <a:lnSpc>
                <a:spcPct val="100000"/>
              </a:lnSpc>
              <a:spcBef>
                <a:spcPts val="0"/>
              </a:spcBef>
            </a:pPr>
            <a:endParaRPr lang="en-US" altLang="zh-CN" sz="2000" dirty="0"/>
          </a:p>
          <a:p>
            <a:pPr fontAlgn="auto">
              <a:lnSpc>
                <a:spcPct val="100000"/>
              </a:lnSpc>
              <a:spcBef>
                <a:spcPts val="0"/>
              </a:spcBef>
            </a:pPr>
            <a:r>
              <a:rPr lang="zh-CN" altLang="en-US" sz="2000" dirty="0"/>
              <a:t>建设</a:t>
            </a:r>
            <a:endParaRPr lang="en-US" altLang="zh-CN" sz="2000" dirty="0"/>
          </a:p>
          <a:p>
            <a:pPr fontAlgn="auto">
              <a:lnSpc>
                <a:spcPct val="100000"/>
              </a:lnSpc>
              <a:spcBef>
                <a:spcPts val="0"/>
              </a:spcBef>
            </a:pPr>
            <a:endParaRPr lang="en-US" altLang="zh-CN" sz="2000" dirty="0"/>
          </a:p>
          <a:p>
            <a:pPr fontAlgn="auto">
              <a:lnSpc>
                <a:spcPct val="100000"/>
              </a:lnSpc>
              <a:spcBef>
                <a:spcPts val="0"/>
              </a:spcBef>
            </a:pPr>
            <a:endParaRPr lang="en-US" altLang="zh-CN" sz="2000" dirty="0"/>
          </a:p>
          <a:p>
            <a:pPr fontAlgn="auto">
              <a:lnSpc>
                <a:spcPct val="100000"/>
              </a:lnSpc>
              <a:spcBef>
                <a:spcPts val="0"/>
              </a:spcBef>
            </a:pPr>
            <a:r>
              <a:rPr lang="zh-CN" altLang="en-US" sz="2000" dirty="0"/>
              <a:t>交付</a:t>
            </a:r>
            <a:endParaRPr lang="en-US" altLang="zh-CN" sz="2000" dirty="0"/>
          </a:p>
          <a:p>
            <a:pPr fontAlgn="auto">
              <a:lnSpc>
                <a:spcPct val="100000"/>
              </a:lnSpc>
              <a:spcBef>
                <a:spcPts val="0"/>
              </a:spcBef>
            </a:pPr>
            <a:endParaRPr lang="en-US" sz="2000" dirty="0"/>
          </a:p>
          <a:p>
            <a:pPr fontAlgn="auto">
              <a:lnSpc>
                <a:spcPct val="100000"/>
              </a:lnSpc>
              <a:spcBef>
                <a:spcPts val="0"/>
              </a:spcBef>
            </a:pPr>
            <a:endParaRPr lang="en-US" altLang="zh-CN" sz="2000" dirty="0"/>
          </a:p>
          <a:p>
            <a:pPr fontAlgn="auto">
              <a:lnSpc>
                <a:spcPct val="100000"/>
              </a:lnSpc>
              <a:spcBef>
                <a:spcPts val="0"/>
              </a:spcBef>
            </a:pPr>
            <a:r>
              <a:rPr lang="zh-CN" altLang="en-US" sz="2000" dirty="0"/>
              <a:t>运行</a:t>
            </a:r>
            <a:endParaRPr lang="en-US" sz="20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914650" y="1257302"/>
            <a:ext cx="2937914" cy="1468957"/>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4700" y="1364236"/>
            <a:ext cx="3009900" cy="2233346"/>
          </a:xfrm>
          <a:prstGeom prst="rect">
            <a:avLst/>
          </a:prstGeom>
        </p:spPr>
      </p:pic>
      <p:pic>
        <p:nvPicPr>
          <p:cNvPr id="6" name="图片 5"/>
          <p:cNvPicPr>
            <a:picLocks noChangeAspect="1"/>
          </p:cNvPicPr>
          <p:nvPr/>
        </p:nvPicPr>
        <p:blipFill>
          <a:blip r:embed="rId3"/>
          <a:stretch>
            <a:fillRect/>
          </a:stretch>
        </p:blipFill>
        <p:spPr>
          <a:xfrm>
            <a:off x="3882629" y="1868786"/>
            <a:ext cx="2864644" cy="1928813"/>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01253" y="2601038"/>
            <a:ext cx="2438400" cy="1858061"/>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52823" y="3162586"/>
            <a:ext cx="2505456" cy="18790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7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7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75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75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职业发展空间无限</a:t>
            </a:r>
            <a:endParaRPr lang="zh-CN" altLang="en-US" dirty="0"/>
          </a:p>
        </p:txBody>
      </p:sp>
      <p:sp>
        <p:nvSpPr>
          <p:cNvPr id="3" name="内容占位符 2"/>
          <p:cNvSpPr>
            <a:spLocks noGrp="1"/>
          </p:cNvSpPr>
          <p:nvPr>
            <p:ph idx="1"/>
          </p:nvPr>
        </p:nvSpPr>
        <p:spPr/>
        <p:txBody>
          <a:bodyPr>
            <a:noAutofit/>
          </a:bodyPr>
          <a:lstStyle/>
          <a:p>
            <a:pPr marL="0" indent="0">
              <a:buNone/>
            </a:pPr>
            <a:r>
              <a:rPr lang="zh-CN" altLang="en-US" sz="1800" dirty="0" smtClean="0"/>
              <a:t>   软件工程从较高的层次上确保软件优质、省钱、高效！</a:t>
            </a:r>
            <a:endParaRPr lang="en-US" altLang="zh-CN" sz="1800" dirty="0" smtClean="0"/>
          </a:p>
          <a:p>
            <a:r>
              <a:rPr lang="zh-CN" altLang="en-US" sz="1800" dirty="0" smtClean="0"/>
              <a:t>做项目经理：掌控软件项目全局；</a:t>
            </a:r>
            <a:endParaRPr lang="en-US" altLang="zh-CN" sz="1800" dirty="0" smtClean="0"/>
          </a:p>
          <a:p>
            <a:r>
              <a:rPr lang="zh-CN" altLang="en-US" sz="1800" dirty="0" smtClean="0"/>
              <a:t>做产品经理：设计领先的产品；</a:t>
            </a:r>
            <a:endParaRPr lang="en-US" altLang="zh-CN" sz="1800" dirty="0" smtClean="0"/>
          </a:p>
          <a:p>
            <a:r>
              <a:rPr lang="zh-CN" altLang="en-US" sz="1800" dirty="0" smtClean="0"/>
              <a:t>做系统架构师：指引系统方向；</a:t>
            </a:r>
            <a:endParaRPr lang="en-US" altLang="zh-CN" sz="1800" dirty="0" smtClean="0"/>
          </a:p>
          <a:p>
            <a:r>
              <a:rPr lang="zh-CN" altLang="en-US" sz="1800" dirty="0" smtClean="0"/>
              <a:t>做系统分析师：激发需求；</a:t>
            </a:r>
            <a:endParaRPr lang="en-US" altLang="zh-CN" sz="1800" dirty="0" smtClean="0"/>
          </a:p>
          <a:p>
            <a:r>
              <a:rPr lang="zh-CN" altLang="en-US" sz="1800" dirty="0" smtClean="0"/>
              <a:t>做系统设计师：引导设计和编程；</a:t>
            </a:r>
            <a:endParaRPr lang="en-US" altLang="zh-CN" sz="1800" dirty="0" smtClean="0"/>
          </a:p>
          <a:p>
            <a:r>
              <a:rPr lang="zh-CN" altLang="en-US" sz="1800" dirty="0" smtClean="0"/>
              <a:t>做系统测评师：验证、检测系统品质；</a:t>
            </a:r>
            <a:endParaRPr lang="en-US" altLang="zh-CN" sz="1800" dirty="0" smtClean="0"/>
          </a:p>
          <a:p>
            <a:r>
              <a:rPr lang="zh-CN" altLang="en-US" sz="1800" dirty="0" smtClean="0"/>
              <a:t>做运维管理师：延伸系统生命。</a:t>
            </a:r>
            <a:endParaRPr lang="zh-CN" altLang="en-US" sz="1800" dirty="0" smtClean="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学习资源</a:t>
            </a:r>
            <a:endParaRPr lang="zh-CN" altLang="en-US" dirty="0"/>
          </a:p>
        </p:txBody>
      </p:sp>
      <p:sp>
        <p:nvSpPr>
          <p:cNvPr id="3" name="内容占位符 2"/>
          <p:cNvSpPr>
            <a:spLocks noGrp="1"/>
          </p:cNvSpPr>
          <p:nvPr>
            <p:ph idx="1"/>
          </p:nvPr>
        </p:nvSpPr>
        <p:spPr/>
        <p:txBody>
          <a:bodyPr>
            <a:normAutofit fontScale="60000"/>
          </a:bodyPr>
          <a:lstStyle/>
          <a:p>
            <a:r>
              <a:rPr lang="zh-CN" altLang="en-US" dirty="0"/>
              <a:t>网站：</a:t>
            </a:r>
            <a:endParaRPr lang="en-US" altLang="zh-CN" dirty="0"/>
          </a:p>
          <a:p>
            <a:pPr marL="0" indent="0">
              <a:buNone/>
            </a:pPr>
            <a:r>
              <a:rPr lang="en-US" altLang="zh-CN" dirty="0">
                <a:hlinkClick r:id="rId1"/>
              </a:rPr>
              <a:t>1.中国大学MOOC国家精品资源共享课，软件工程，东北大学。</a:t>
            </a:r>
            <a:endParaRPr lang="en-US" altLang="zh-CN" dirty="0">
              <a:hlinkClick r:id="rId1"/>
            </a:endParaRPr>
          </a:p>
          <a:p>
            <a:pPr marL="0" indent="0">
              <a:buNone/>
            </a:pPr>
            <a:r>
              <a:rPr lang="en-US" altLang="zh-CN" dirty="0">
                <a:hlinkClick r:id="rId1"/>
              </a:rPr>
              <a:t>https://www.icourse163.org/course/NEU-1001812013?from=searchPage&amp;outVendor=zw_mooc_pcssjg_</a:t>
            </a:r>
            <a:endParaRPr lang="en-US" altLang="zh-CN" dirty="0">
              <a:hlinkClick r:id="rId1"/>
            </a:endParaRPr>
          </a:p>
          <a:p>
            <a:pPr marL="0" indent="0">
              <a:buNone/>
            </a:pPr>
            <a:r>
              <a:rPr lang="en-US" altLang="zh-CN" dirty="0">
                <a:hlinkClick r:id="rId1"/>
              </a:rPr>
              <a:t>2.中国大学MOOC国家精品资源共享课，软件工程，北京大学。</a:t>
            </a:r>
            <a:endParaRPr lang="en-US" altLang="zh-CN" dirty="0">
              <a:hlinkClick r:id="rId1"/>
            </a:endParaRPr>
          </a:p>
          <a:p>
            <a:pPr marL="0" indent="0">
              <a:buNone/>
            </a:pPr>
            <a:r>
              <a:rPr lang="en-US" altLang="zh-CN" dirty="0">
                <a:hlinkClick r:id="rId1"/>
              </a:rPr>
              <a:t>https://www.icourse163.org/course/PKU-1003177002?from=searchPage&amp;outVendor=zw_mooc_pcssjg_#/info</a:t>
            </a:r>
            <a:endParaRPr lang="en-US" altLang="zh-CN" dirty="0"/>
          </a:p>
          <a:p>
            <a:r>
              <a:rPr lang="zh-CN" altLang="en-US" dirty="0"/>
              <a:t>微信公众号：程序员那些事、</a:t>
            </a:r>
            <a:r>
              <a:rPr lang="en-US" altLang="zh-CN" dirty="0"/>
              <a:t>CSDN</a:t>
            </a:r>
            <a:r>
              <a:rPr lang="zh-CN" altLang="en-US" dirty="0"/>
              <a:t>程序</a:t>
            </a:r>
            <a:r>
              <a:rPr lang="zh-CN" altLang="en-US" dirty="0" smtClean="0"/>
              <a:t>人生</a:t>
            </a:r>
            <a:endParaRPr lang="en-US" altLang="zh-CN" dirty="0" smtClean="0"/>
          </a:p>
          <a:p>
            <a:endParaRPr lang="en-US" altLang="zh-CN" dirty="0"/>
          </a:p>
          <a:p>
            <a:endParaRPr lang="zh-CN" altLang="en-US" dirty="0"/>
          </a:p>
        </p:txBody>
      </p:sp>
      <p:sp>
        <p:nvSpPr>
          <p:cNvPr id="4" name="日期占位符 3"/>
          <p:cNvSpPr>
            <a:spLocks noGrp="1"/>
          </p:cNvSpPr>
          <p:nvPr>
            <p:ph type="dt" sz="half" idx="10"/>
          </p:nvPr>
        </p:nvSpPr>
        <p:spPr/>
        <p:txBody>
          <a:bodyPr/>
          <a:lstStyle/>
          <a:p>
            <a:fld id="{0EA73588-68FE-4B93-9E25-E738A1E2E38F}"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34"/>
          <p:cNvSpPr/>
          <p:nvPr/>
        </p:nvSpPr>
        <p:spPr bwMode="auto">
          <a:xfrm>
            <a:off x="2034676" y="1727755"/>
            <a:ext cx="653654" cy="852488"/>
          </a:xfrm>
          <a:custGeom>
            <a:avLst/>
            <a:gdLst>
              <a:gd name="T0" fmla="*/ 116 w 232"/>
              <a:gd name="T1" fmla="*/ 0 h 302"/>
              <a:gd name="T2" fmla="*/ 34 w 232"/>
              <a:gd name="T3" fmla="*/ 35 h 302"/>
              <a:gd name="T4" fmla="*/ 0 w 232"/>
              <a:gd name="T5" fmla="*/ 117 h 302"/>
              <a:gd name="T6" fmla="*/ 35 w 232"/>
              <a:gd name="T7" fmla="*/ 198 h 302"/>
              <a:gd name="T8" fmla="*/ 116 w 232"/>
              <a:gd name="T9" fmla="*/ 302 h 302"/>
              <a:gd name="T10" fmla="*/ 197 w 232"/>
              <a:gd name="T11" fmla="*/ 198 h 302"/>
              <a:gd name="T12" fmla="*/ 232 w 232"/>
              <a:gd name="T13" fmla="*/ 117 h 302"/>
              <a:gd name="T14" fmla="*/ 198 w 232"/>
              <a:gd name="T15" fmla="*/ 35 h 302"/>
              <a:gd name="T16" fmla="*/ 116 w 232"/>
              <a:gd name="T17"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2" h="302">
                <a:moveTo>
                  <a:pt x="116" y="0"/>
                </a:moveTo>
                <a:cubicBezTo>
                  <a:pt x="84" y="0"/>
                  <a:pt x="55" y="14"/>
                  <a:pt x="34" y="35"/>
                </a:cubicBezTo>
                <a:cubicBezTo>
                  <a:pt x="13" y="55"/>
                  <a:pt x="0" y="85"/>
                  <a:pt x="0" y="117"/>
                </a:cubicBezTo>
                <a:cubicBezTo>
                  <a:pt x="0" y="149"/>
                  <a:pt x="10" y="174"/>
                  <a:pt x="35" y="198"/>
                </a:cubicBezTo>
                <a:cubicBezTo>
                  <a:pt x="59" y="221"/>
                  <a:pt x="116" y="267"/>
                  <a:pt x="116" y="302"/>
                </a:cubicBezTo>
                <a:cubicBezTo>
                  <a:pt x="116" y="267"/>
                  <a:pt x="173" y="221"/>
                  <a:pt x="197" y="198"/>
                </a:cubicBezTo>
                <a:cubicBezTo>
                  <a:pt x="222" y="174"/>
                  <a:pt x="232" y="149"/>
                  <a:pt x="232" y="117"/>
                </a:cubicBezTo>
                <a:cubicBezTo>
                  <a:pt x="232" y="85"/>
                  <a:pt x="219" y="55"/>
                  <a:pt x="198" y="35"/>
                </a:cubicBezTo>
                <a:cubicBezTo>
                  <a:pt x="177" y="14"/>
                  <a:pt x="148" y="0"/>
                  <a:pt x="116" y="0"/>
                </a:cubicBezTo>
              </a:path>
            </a:pathLst>
          </a:custGeom>
          <a:solidFill>
            <a:srgbClr val="663F9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200"/>
          </a:p>
        </p:txBody>
      </p:sp>
      <p:sp>
        <p:nvSpPr>
          <p:cNvPr id="18" name="Freeform 24"/>
          <p:cNvSpPr/>
          <p:nvPr/>
        </p:nvSpPr>
        <p:spPr bwMode="auto">
          <a:xfrm>
            <a:off x="768096" y="1863134"/>
            <a:ext cx="1239441" cy="1612106"/>
          </a:xfrm>
          <a:custGeom>
            <a:avLst/>
            <a:gdLst>
              <a:gd name="T0" fmla="*/ 220 w 440"/>
              <a:gd name="T1" fmla="*/ 0 h 572"/>
              <a:gd name="T2" fmla="*/ 64 w 440"/>
              <a:gd name="T3" fmla="*/ 65 h 572"/>
              <a:gd name="T4" fmla="*/ 0 w 440"/>
              <a:gd name="T5" fmla="*/ 221 h 572"/>
              <a:gd name="T6" fmla="*/ 66 w 440"/>
              <a:gd name="T7" fmla="*/ 374 h 572"/>
              <a:gd name="T8" fmla="*/ 220 w 440"/>
              <a:gd name="T9" fmla="*/ 572 h 572"/>
              <a:gd name="T10" fmla="*/ 374 w 440"/>
              <a:gd name="T11" fmla="*/ 374 h 572"/>
              <a:gd name="T12" fmla="*/ 440 w 440"/>
              <a:gd name="T13" fmla="*/ 221 h 572"/>
              <a:gd name="T14" fmla="*/ 376 w 440"/>
              <a:gd name="T15" fmla="*/ 65 h 572"/>
              <a:gd name="T16" fmla="*/ 220 w 440"/>
              <a:gd name="T17" fmla="*/ 0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0" h="572">
                <a:moveTo>
                  <a:pt x="220" y="0"/>
                </a:moveTo>
                <a:cubicBezTo>
                  <a:pt x="159" y="0"/>
                  <a:pt x="104" y="25"/>
                  <a:pt x="64" y="65"/>
                </a:cubicBezTo>
                <a:cubicBezTo>
                  <a:pt x="25" y="104"/>
                  <a:pt x="0" y="160"/>
                  <a:pt x="0" y="221"/>
                </a:cubicBezTo>
                <a:cubicBezTo>
                  <a:pt x="0" y="282"/>
                  <a:pt x="20" y="329"/>
                  <a:pt x="66" y="374"/>
                </a:cubicBezTo>
                <a:cubicBezTo>
                  <a:pt x="112" y="419"/>
                  <a:pt x="220" y="506"/>
                  <a:pt x="220" y="572"/>
                </a:cubicBezTo>
                <a:cubicBezTo>
                  <a:pt x="220" y="506"/>
                  <a:pt x="328" y="419"/>
                  <a:pt x="374" y="374"/>
                </a:cubicBezTo>
                <a:cubicBezTo>
                  <a:pt x="420" y="329"/>
                  <a:pt x="440" y="282"/>
                  <a:pt x="440" y="221"/>
                </a:cubicBezTo>
                <a:cubicBezTo>
                  <a:pt x="440" y="160"/>
                  <a:pt x="415" y="104"/>
                  <a:pt x="376" y="65"/>
                </a:cubicBezTo>
                <a:cubicBezTo>
                  <a:pt x="336" y="25"/>
                  <a:pt x="281" y="0"/>
                  <a:pt x="220" y="0"/>
                </a:cubicBezTo>
              </a:path>
            </a:pathLst>
          </a:custGeom>
          <a:solidFill>
            <a:srgbClr val="1F4B9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200"/>
          </a:p>
        </p:txBody>
      </p:sp>
      <p:sp>
        <p:nvSpPr>
          <p:cNvPr id="19" name="Freeform 25"/>
          <p:cNvSpPr/>
          <p:nvPr/>
        </p:nvSpPr>
        <p:spPr bwMode="auto">
          <a:xfrm>
            <a:off x="3433205" y="2477496"/>
            <a:ext cx="1352550" cy="1758554"/>
          </a:xfrm>
          <a:custGeom>
            <a:avLst/>
            <a:gdLst>
              <a:gd name="T0" fmla="*/ 240 w 480"/>
              <a:gd name="T1" fmla="*/ 0 h 624"/>
              <a:gd name="T2" fmla="*/ 70 w 480"/>
              <a:gd name="T3" fmla="*/ 71 h 624"/>
              <a:gd name="T4" fmla="*/ 0 w 480"/>
              <a:gd name="T5" fmla="*/ 241 h 624"/>
              <a:gd name="T6" fmla="*/ 72 w 480"/>
              <a:gd name="T7" fmla="*/ 408 h 624"/>
              <a:gd name="T8" fmla="*/ 240 w 480"/>
              <a:gd name="T9" fmla="*/ 624 h 624"/>
              <a:gd name="T10" fmla="*/ 408 w 480"/>
              <a:gd name="T11" fmla="*/ 408 h 624"/>
              <a:gd name="T12" fmla="*/ 480 w 480"/>
              <a:gd name="T13" fmla="*/ 241 h 624"/>
              <a:gd name="T14" fmla="*/ 410 w 480"/>
              <a:gd name="T15" fmla="*/ 71 h 624"/>
              <a:gd name="T16" fmla="*/ 240 w 480"/>
              <a:gd name="T17" fmla="*/ 0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0" h="624">
                <a:moveTo>
                  <a:pt x="240" y="0"/>
                </a:moveTo>
                <a:cubicBezTo>
                  <a:pt x="174" y="0"/>
                  <a:pt x="114" y="27"/>
                  <a:pt x="70" y="71"/>
                </a:cubicBezTo>
                <a:cubicBezTo>
                  <a:pt x="27" y="114"/>
                  <a:pt x="0" y="175"/>
                  <a:pt x="0" y="241"/>
                </a:cubicBezTo>
                <a:cubicBezTo>
                  <a:pt x="0" y="308"/>
                  <a:pt x="22" y="359"/>
                  <a:pt x="72" y="408"/>
                </a:cubicBezTo>
                <a:cubicBezTo>
                  <a:pt x="122" y="457"/>
                  <a:pt x="240" y="552"/>
                  <a:pt x="240" y="624"/>
                </a:cubicBezTo>
                <a:cubicBezTo>
                  <a:pt x="240" y="552"/>
                  <a:pt x="358" y="457"/>
                  <a:pt x="408" y="408"/>
                </a:cubicBezTo>
                <a:cubicBezTo>
                  <a:pt x="458" y="359"/>
                  <a:pt x="480" y="308"/>
                  <a:pt x="480" y="241"/>
                </a:cubicBezTo>
                <a:cubicBezTo>
                  <a:pt x="480" y="175"/>
                  <a:pt x="453" y="114"/>
                  <a:pt x="410" y="71"/>
                </a:cubicBezTo>
                <a:cubicBezTo>
                  <a:pt x="366" y="27"/>
                  <a:pt x="306" y="0"/>
                  <a:pt x="240" y="0"/>
                </a:cubicBezTo>
              </a:path>
            </a:pathLst>
          </a:custGeom>
          <a:solidFill>
            <a:srgbClr val="F2941D"/>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200"/>
          </a:p>
        </p:txBody>
      </p:sp>
      <p:sp>
        <p:nvSpPr>
          <p:cNvPr id="20" name="Freeform 26"/>
          <p:cNvSpPr/>
          <p:nvPr/>
        </p:nvSpPr>
        <p:spPr bwMode="auto">
          <a:xfrm>
            <a:off x="4447618" y="1969373"/>
            <a:ext cx="676275" cy="879872"/>
          </a:xfrm>
          <a:custGeom>
            <a:avLst/>
            <a:gdLst>
              <a:gd name="T0" fmla="*/ 120 w 240"/>
              <a:gd name="T1" fmla="*/ 0 h 312"/>
              <a:gd name="T2" fmla="*/ 35 w 240"/>
              <a:gd name="T3" fmla="*/ 35 h 312"/>
              <a:gd name="T4" fmla="*/ 0 w 240"/>
              <a:gd name="T5" fmla="*/ 120 h 312"/>
              <a:gd name="T6" fmla="*/ 36 w 240"/>
              <a:gd name="T7" fmla="*/ 204 h 312"/>
              <a:gd name="T8" fmla="*/ 120 w 240"/>
              <a:gd name="T9" fmla="*/ 312 h 312"/>
              <a:gd name="T10" fmla="*/ 204 w 240"/>
              <a:gd name="T11" fmla="*/ 204 h 312"/>
              <a:gd name="T12" fmla="*/ 240 w 240"/>
              <a:gd name="T13" fmla="*/ 120 h 312"/>
              <a:gd name="T14" fmla="*/ 205 w 240"/>
              <a:gd name="T15" fmla="*/ 35 h 312"/>
              <a:gd name="T16" fmla="*/ 120 w 240"/>
              <a:gd name="T17"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312">
                <a:moveTo>
                  <a:pt x="120" y="0"/>
                </a:moveTo>
                <a:cubicBezTo>
                  <a:pt x="87" y="0"/>
                  <a:pt x="57" y="13"/>
                  <a:pt x="35" y="35"/>
                </a:cubicBezTo>
                <a:cubicBezTo>
                  <a:pt x="13" y="57"/>
                  <a:pt x="0" y="87"/>
                  <a:pt x="0" y="120"/>
                </a:cubicBezTo>
                <a:cubicBezTo>
                  <a:pt x="0" y="154"/>
                  <a:pt x="11" y="179"/>
                  <a:pt x="36" y="204"/>
                </a:cubicBezTo>
                <a:cubicBezTo>
                  <a:pt x="61" y="228"/>
                  <a:pt x="120" y="276"/>
                  <a:pt x="120" y="312"/>
                </a:cubicBezTo>
                <a:cubicBezTo>
                  <a:pt x="120" y="276"/>
                  <a:pt x="179" y="228"/>
                  <a:pt x="204" y="204"/>
                </a:cubicBezTo>
                <a:cubicBezTo>
                  <a:pt x="229" y="179"/>
                  <a:pt x="240" y="154"/>
                  <a:pt x="240" y="120"/>
                </a:cubicBezTo>
                <a:cubicBezTo>
                  <a:pt x="240" y="87"/>
                  <a:pt x="226" y="57"/>
                  <a:pt x="205" y="35"/>
                </a:cubicBezTo>
                <a:cubicBezTo>
                  <a:pt x="183" y="13"/>
                  <a:pt x="153" y="0"/>
                  <a:pt x="120" y="0"/>
                </a:cubicBezTo>
              </a:path>
            </a:pathLst>
          </a:custGeom>
          <a:solidFill>
            <a:srgbClr val="7C322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200"/>
          </a:p>
        </p:txBody>
      </p:sp>
      <p:sp>
        <p:nvSpPr>
          <p:cNvPr id="24" name="Freeform 27"/>
          <p:cNvSpPr/>
          <p:nvPr/>
        </p:nvSpPr>
        <p:spPr bwMode="auto">
          <a:xfrm>
            <a:off x="2954084" y="2015680"/>
            <a:ext cx="676275" cy="879872"/>
          </a:xfrm>
          <a:custGeom>
            <a:avLst/>
            <a:gdLst>
              <a:gd name="T0" fmla="*/ 120 w 240"/>
              <a:gd name="T1" fmla="*/ 0 h 312"/>
              <a:gd name="T2" fmla="*/ 35 w 240"/>
              <a:gd name="T3" fmla="*/ 35 h 312"/>
              <a:gd name="T4" fmla="*/ 0 w 240"/>
              <a:gd name="T5" fmla="*/ 121 h 312"/>
              <a:gd name="T6" fmla="*/ 36 w 240"/>
              <a:gd name="T7" fmla="*/ 204 h 312"/>
              <a:gd name="T8" fmla="*/ 120 w 240"/>
              <a:gd name="T9" fmla="*/ 312 h 312"/>
              <a:gd name="T10" fmla="*/ 204 w 240"/>
              <a:gd name="T11" fmla="*/ 204 h 312"/>
              <a:gd name="T12" fmla="*/ 240 w 240"/>
              <a:gd name="T13" fmla="*/ 121 h 312"/>
              <a:gd name="T14" fmla="*/ 205 w 240"/>
              <a:gd name="T15" fmla="*/ 35 h 312"/>
              <a:gd name="T16" fmla="*/ 120 w 240"/>
              <a:gd name="T17"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312">
                <a:moveTo>
                  <a:pt x="120" y="0"/>
                </a:moveTo>
                <a:cubicBezTo>
                  <a:pt x="87" y="0"/>
                  <a:pt x="57" y="14"/>
                  <a:pt x="35" y="35"/>
                </a:cubicBezTo>
                <a:cubicBezTo>
                  <a:pt x="14" y="57"/>
                  <a:pt x="0" y="87"/>
                  <a:pt x="0" y="121"/>
                </a:cubicBezTo>
                <a:cubicBezTo>
                  <a:pt x="0" y="154"/>
                  <a:pt x="11" y="180"/>
                  <a:pt x="36" y="204"/>
                </a:cubicBezTo>
                <a:cubicBezTo>
                  <a:pt x="61" y="228"/>
                  <a:pt x="120" y="276"/>
                  <a:pt x="120" y="312"/>
                </a:cubicBezTo>
                <a:cubicBezTo>
                  <a:pt x="120" y="276"/>
                  <a:pt x="179" y="228"/>
                  <a:pt x="204" y="204"/>
                </a:cubicBezTo>
                <a:cubicBezTo>
                  <a:pt x="229" y="180"/>
                  <a:pt x="240" y="154"/>
                  <a:pt x="240" y="121"/>
                </a:cubicBezTo>
                <a:cubicBezTo>
                  <a:pt x="240" y="87"/>
                  <a:pt x="226" y="57"/>
                  <a:pt x="205" y="35"/>
                </a:cubicBezTo>
                <a:cubicBezTo>
                  <a:pt x="183" y="14"/>
                  <a:pt x="153" y="0"/>
                  <a:pt x="120" y="0"/>
                </a:cubicBezTo>
              </a:path>
            </a:pathLst>
          </a:custGeom>
          <a:solidFill>
            <a:srgbClr val="DD383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200" dirty="0"/>
          </a:p>
        </p:txBody>
      </p:sp>
      <p:sp>
        <p:nvSpPr>
          <p:cNvPr id="25" name="Freeform 28"/>
          <p:cNvSpPr/>
          <p:nvPr/>
        </p:nvSpPr>
        <p:spPr bwMode="auto">
          <a:xfrm>
            <a:off x="2927401" y="3383387"/>
            <a:ext cx="563166" cy="733425"/>
          </a:xfrm>
          <a:custGeom>
            <a:avLst/>
            <a:gdLst>
              <a:gd name="T0" fmla="*/ 100 w 200"/>
              <a:gd name="T1" fmla="*/ 0 h 260"/>
              <a:gd name="T2" fmla="*/ 29 w 200"/>
              <a:gd name="T3" fmla="*/ 29 h 260"/>
              <a:gd name="T4" fmla="*/ 0 w 200"/>
              <a:gd name="T5" fmla="*/ 101 h 260"/>
              <a:gd name="T6" fmla="*/ 30 w 200"/>
              <a:gd name="T7" fmla="*/ 170 h 260"/>
              <a:gd name="T8" fmla="*/ 100 w 200"/>
              <a:gd name="T9" fmla="*/ 260 h 260"/>
              <a:gd name="T10" fmla="*/ 170 w 200"/>
              <a:gd name="T11" fmla="*/ 170 h 260"/>
              <a:gd name="T12" fmla="*/ 200 w 200"/>
              <a:gd name="T13" fmla="*/ 101 h 260"/>
              <a:gd name="T14" fmla="*/ 171 w 200"/>
              <a:gd name="T15" fmla="*/ 29 h 260"/>
              <a:gd name="T16" fmla="*/ 100 w 200"/>
              <a:gd name="T17"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0" h="260">
                <a:moveTo>
                  <a:pt x="100" y="0"/>
                </a:moveTo>
                <a:cubicBezTo>
                  <a:pt x="72" y="0"/>
                  <a:pt x="47" y="11"/>
                  <a:pt x="29" y="29"/>
                </a:cubicBezTo>
                <a:cubicBezTo>
                  <a:pt x="11" y="47"/>
                  <a:pt x="0" y="73"/>
                  <a:pt x="0" y="101"/>
                </a:cubicBezTo>
                <a:cubicBezTo>
                  <a:pt x="0" y="128"/>
                  <a:pt x="9" y="150"/>
                  <a:pt x="30" y="170"/>
                </a:cubicBezTo>
                <a:cubicBezTo>
                  <a:pt x="51" y="190"/>
                  <a:pt x="100" y="230"/>
                  <a:pt x="100" y="260"/>
                </a:cubicBezTo>
                <a:cubicBezTo>
                  <a:pt x="100" y="230"/>
                  <a:pt x="149" y="190"/>
                  <a:pt x="170" y="170"/>
                </a:cubicBezTo>
                <a:cubicBezTo>
                  <a:pt x="191" y="150"/>
                  <a:pt x="200" y="128"/>
                  <a:pt x="200" y="101"/>
                </a:cubicBezTo>
                <a:cubicBezTo>
                  <a:pt x="200" y="73"/>
                  <a:pt x="189" y="47"/>
                  <a:pt x="171" y="29"/>
                </a:cubicBezTo>
                <a:cubicBezTo>
                  <a:pt x="153" y="11"/>
                  <a:pt x="128" y="0"/>
                  <a:pt x="100" y="0"/>
                </a:cubicBezTo>
              </a:path>
            </a:pathLst>
          </a:custGeom>
          <a:solidFill>
            <a:srgbClr val="F5CB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200"/>
          </a:p>
        </p:txBody>
      </p:sp>
      <p:sp>
        <p:nvSpPr>
          <p:cNvPr id="26" name="Freeform 29"/>
          <p:cNvSpPr/>
          <p:nvPr/>
        </p:nvSpPr>
        <p:spPr bwMode="auto">
          <a:xfrm>
            <a:off x="2486764" y="1092190"/>
            <a:ext cx="765572" cy="998935"/>
          </a:xfrm>
          <a:custGeom>
            <a:avLst/>
            <a:gdLst>
              <a:gd name="T0" fmla="*/ 136 w 272"/>
              <a:gd name="T1" fmla="*/ 0 h 354"/>
              <a:gd name="T2" fmla="*/ 40 w 272"/>
              <a:gd name="T3" fmla="*/ 40 h 354"/>
              <a:gd name="T4" fmla="*/ 0 w 272"/>
              <a:gd name="T5" fmla="*/ 137 h 354"/>
              <a:gd name="T6" fmla="*/ 41 w 272"/>
              <a:gd name="T7" fmla="*/ 232 h 354"/>
              <a:gd name="T8" fmla="*/ 136 w 272"/>
              <a:gd name="T9" fmla="*/ 354 h 354"/>
              <a:gd name="T10" fmla="*/ 231 w 272"/>
              <a:gd name="T11" fmla="*/ 232 h 354"/>
              <a:gd name="T12" fmla="*/ 272 w 272"/>
              <a:gd name="T13" fmla="*/ 137 h 354"/>
              <a:gd name="T14" fmla="*/ 232 w 272"/>
              <a:gd name="T15" fmla="*/ 40 h 354"/>
              <a:gd name="T16" fmla="*/ 136 w 272"/>
              <a:gd name="T1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2" h="354">
                <a:moveTo>
                  <a:pt x="136" y="0"/>
                </a:moveTo>
                <a:cubicBezTo>
                  <a:pt x="98" y="0"/>
                  <a:pt x="64" y="16"/>
                  <a:pt x="40" y="40"/>
                </a:cubicBezTo>
                <a:cubicBezTo>
                  <a:pt x="15" y="65"/>
                  <a:pt x="0" y="99"/>
                  <a:pt x="0" y="137"/>
                </a:cubicBezTo>
                <a:cubicBezTo>
                  <a:pt x="0" y="175"/>
                  <a:pt x="12" y="204"/>
                  <a:pt x="41" y="232"/>
                </a:cubicBezTo>
                <a:cubicBezTo>
                  <a:pt x="69" y="259"/>
                  <a:pt x="136" y="313"/>
                  <a:pt x="136" y="354"/>
                </a:cubicBezTo>
                <a:cubicBezTo>
                  <a:pt x="136" y="313"/>
                  <a:pt x="203" y="259"/>
                  <a:pt x="231" y="232"/>
                </a:cubicBezTo>
                <a:cubicBezTo>
                  <a:pt x="260" y="204"/>
                  <a:pt x="272" y="175"/>
                  <a:pt x="272" y="137"/>
                </a:cubicBezTo>
                <a:cubicBezTo>
                  <a:pt x="272" y="99"/>
                  <a:pt x="257" y="65"/>
                  <a:pt x="232" y="40"/>
                </a:cubicBezTo>
                <a:cubicBezTo>
                  <a:pt x="208" y="16"/>
                  <a:pt x="174" y="0"/>
                  <a:pt x="136" y="0"/>
                </a:cubicBezTo>
              </a:path>
            </a:pathLst>
          </a:custGeom>
          <a:solidFill>
            <a:srgbClr val="CA0098"/>
          </a:solidFill>
          <a:ln>
            <a:noFill/>
          </a:ln>
        </p:spPr>
        <p:txBody>
          <a:bodyPr vert="horz" wrap="square" lIns="68580" tIns="34290" rIns="68580" bIns="34290" numCol="1" anchor="t" anchorCtr="0" compatLnSpc="1"/>
          <a:lstStyle/>
          <a:p>
            <a:endParaRPr lang="zh-CN" altLang="en-US" sz="1200"/>
          </a:p>
        </p:txBody>
      </p:sp>
      <p:sp>
        <p:nvSpPr>
          <p:cNvPr id="27" name="Freeform 30"/>
          <p:cNvSpPr/>
          <p:nvPr/>
        </p:nvSpPr>
        <p:spPr bwMode="auto">
          <a:xfrm>
            <a:off x="2537364" y="2392961"/>
            <a:ext cx="338138" cy="439341"/>
          </a:xfrm>
          <a:custGeom>
            <a:avLst/>
            <a:gdLst>
              <a:gd name="T0" fmla="*/ 60 w 120"/>
              <a:gd name="T1" fmla="*/ 0 h 156"/>
              <a:gd name="T2" fmla="*/ 18 w 120"/>
              <a:gd name="T3" fmla="*/ 18 h 156"/>
              <a:gd name="T4" fmla="*/ 0 w 120"/>
              <a:gd name="T5" fmla="*/ 60 h 156"/>
              <a:gd name="T6" fmla="*/ 18 w 120"/>
              <a:gd name="T7" fmla="*/ 102 h 156"/>
              <a:gd name="T8" fmla="*/ 60 w 120"/>
              <a:gd name="T9" fmla="*/ 156 h 156"/>
              <a:gd name="T10" fmla="*/ 102 w 120"/>
              <a:gd name="T11" fmla="*/ 102 h 156"/>
              <a:gd name="T12" fmla="*/ 120 w 120"/>
              <a:gd name="T13" fmla="*/ 60 h 156"/>
              <a:gd name="T14" fmla="*/ 102 w 120"/>
              <a:gd name="T15" fmla="*/ 18 h 156"/>
              <a:gd name="T16" fmla="*/ 60 w 120"/>
              <a:gd name="T1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 h="156">
                <a:moveTo>
                  <a:pt x="60" y="0"/>
                </a:moveTo>
                <a:cubicBezTo>
                  <a:pt x="43" y="0"/>
                  <a:pt x="28" y="7"/>
                  <a:pt x="18" y="18"/>
                </a:cubicBezTo>
                <a:cubicBezTo>
                  <a:pt x="7" y="28"/>
                  <a:pt x="0" y="44"/>
                  <a:pt x="0" y="60"/>
                </a:cubicBezTo>
                <a:cubicBezTo>
                  <a:pt x="0" y="77"/>
                  <a:pt x="5" y="90"/>
                  <a:pt x="18" y="102"/>
                </a:cubicBezTo>
                <a:cubicBezTo>
                  <a:pt x="31" y="114"/>
                  <a:pt x="60" y="138"/>
                  <a:pt x="60" y="156"/>
                </a:cubicBezTo>
                <a:cubicBezTo>
                  <a:pt x="60" y="138"/>
                  <a:pt x="89" y="114"/>
                  <a:pt x="102" y="102"/>
                </a:cubicBezTo>
                <a:cubicBezTo>
                  <a:pt x="115" y="90"/>
                  <a:pt x="120" y="77"/>
                  <a:pt x="120" y="60"/>
                </a:cubicBezTo>
                <a:cubicBezTo>
                  <a:pt x="120" y="44"/>
                  <a:pt x="113" y="28"/>
                  <a:pt x="102" y="18"/>
                </a:cubicBezTo>
                <a:cubicBezTo>
                  <a:pt x="92" y="7"/>
                  <a:pt x="77" y="0"/>
                  <a:pt x="60" y="0"/>
                </a:cubicBezTo>
              </a:path>
            </a:pathLst>
          </a:custGeom>
          <a:solidFill>
            <a:srgbClr val="45455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200"/>
          </a:p>
        </p:txBody>
      </p:sp>
      <p:sp>
        <p:nvSpPr>
          <p:cNvPr id="28" name="Freeform 31"/>
          <p:cNvSpPr/>
          <p:nvPr/>
        </p:nvSpPr>
        <p:spPr bwMode="auto">
          <a:xfrm>
            <a:off x="1556290" y="3264149"/>
            <a:ext cx="451247" cy="586979"/>
          </a:xfrm>
          <a:custGeom>
            <a:avLst/>
            <a:gdLst>
              <a:gd name="T0" fmla="*/ 80 w 160"/>
              <a:gd name="T1" fmla="*/ 0 h 208"/>
              <a:gd name="T2" fmla="*/ 23 w 160"/>
              <a:gd name="T3" fmla="*/ 24 h 208"/>
              <a:gd name="T4" fmla="*/ 0 w 160"/>
              <a:gd name="T5" fmla="*/ 80 h 208"/>
              <a:gd name="T6" fmla="*/ 24 w 160"/>
              <a:gd name="T7" fmla="*/ 136 h 208"/>
              <a:gd name="T8" fmla="*/ 80 w 160"/>
              <a:gd name="T9" fmla="*/ 208 h 208"/>
              <a:gd name="T10" fmla="*/ 136 w 160"/>
              <a:gd name="T11" fmla="*/ 136 h 208"/>
              <a:gd name="T12" fmla="*/ 160 w 160"/>
              <a:gd name="T13" fmla="*/ 80 h 208"/>
              <a:gd name="T14" fmla="*/ 137 w 160"/>
              <a:gd name="T15" fmla="*/ 24 h 208"/>
              <a:gd name="T16" fmla="*/ 80 w 160"/>
              <a:gd name="T17"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 h="208">
                <a:moveTo>
                  <a:pt x="80" y="0"/>
                </a:moveTo>
                <a:cubicBezTo>
                  <a:pt x="58" y="0"/>
                  <a:pt x="38" y="9"/>
                  <a:pt x="23" y="24"/>
                </a:cubicBezTo>
                <a:cubicBezTo>
                  <a:pt x="9" y="38"/>
                  <a:pt x="0" y="58"/>
                  <a:pt x="0" y="80"/>
                </a:cubicBezTo>
                <a:cubicBezTo>
                  <a:pt x="0" y="103"/>
                  <a:pt x="7" y="120"/>
                  <a:pt x="24" y="136"/>
                </a:cubicBezTo>
                <a:cubicBezTo>
                  <a:pt x="41" y="152"/>
                  <a:pt x="80" y="184"/>
                  <a:pt x="80" y="208"/>
                </a:cubicBezTo>
                <a:cubicBezTo>
                  <a:pt x="80" y="184"/>
                  <a:pt x="119" y="152"/>
                  <a:pt x="136" y="136"/>
                </a:cubicBezTo>
                <a:cubicBezTo>
                  <a:pt x="153" y="120"/>
                  <a:pt x="160" y="103"/>
                  <a:pt x="160" y="80"/>
                </a:cubicBezTo>
                <a:cubicBezTo>
                  <a:pt x="160" y="58"/>
                  <a:pt x="151" y="38"/>
                  <a:pt x="137" y="24"/>
                </a:cubicBezTo>
                <a:cubicBezTo>
                  <a:pt x="122" y="9"/>
                  <a:pt x="102" y="0"/>
                  <a:pt x="80" y="0"/>
                </a:cubicBezTo>
              </a:path>
            </a:pathLst>
          </a:custGeom>
          <a:solidFill>
            <a:srgbClr val="DD383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200"/>
          </a:p>
        </p:txBody>
      </p:sp>
      <p:sp>
        <p:nvSpPr>
          <p:cNvPr id="29" name="Freeform 32"/>
          <p:cNvSpPr/>
          <p:nvPr/>
        </p:nvSpPr>
        <p:spPr bwMode="auto">
          <a:xfrm>
            <a:off x="1995183" y="2798367"/>
            <a:ext cx="901304" cy="1172766"/>
          </a:xfrm>
          <a:custGeom>
            <a:avLst/>
            <a:gdLst>
              <a:gd name="T0" fmla="*/ 160 w 320"/>
              <a:gd name="T1" fmla="*/ 0 h 416"/>
              <a:gd name="T2" fmla="*/ 47 w 320"/>
              <a:gd name="T3" fmla="*/ 47 h 416"/>
              <a:gd name="T4" fmla="*/ 0 w 320"/>
              <a:gd name="T5" fmla="*/ 161 h 416"/>
              <a:gd name="T6" fmla="*/ 48 w 320"/>
              <a:gd name="T7" fmla="*/ 272 h 416"/>
              <a:gd name="T8" fmla="*/ 160 w 320"/>
              <a:gd name="T9" fmla="*/ 416 h 416"/>
              <a:gd name="T10" fmla="*/ 272 w 320"/>
              <a:gd name="T11" fmla="*/ 272 h 416"/>
              <a:gd name="T12" fmla="*/ 320 w 320"/>
              <a:gd name="T13" fmla="*/ 161 h 416"/>
              <a:gd name="T14" fmla="*/ 273 w 320"/>
              <a:gd name="T15" fmla="*/ 47 h 416"/>
              <a:gd name="T16" fmla="*/ 160 w 320"/>
              <a:gd name="T17"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0" h="416">
                <a:moveTo>
                  <a:pt x="160" y="0"/>
                </a:moveTo>
                <a:cubicBezTo>
                  <a:pt x="116" y="0"/>
                  <a:pt x="76" y="18"/>
                  <a:pt x="47" y="47"/>
                </a:cubicBezTo>
                <a:cubicBezTo>
                  <a:pt x="18" y="76"/>
                  <a:pt x="0" y="116"/>
                  <a:pt x="0" y="161"/>
                </a:cubicBezTo>
                <a:cubicBezTo>
                  <a:pt x="0" y="205"/>
                  <a:pt x="14" y="239"/>
                  <a:pt x="48" y="272"/>
                </a:cubicBezTo>
                <a:cubicBezTo>
                  <a:pt x="82" y="305"/>
                  <a:pt x="160" y="368"/>
                  <a:pt x="160" y="416"/>
                </a:cubicBezTo>
                <a:cubicBezTo>
                  <a:pt x="160" y="368"/>
                  <a:pt x="238" y="305"/>
                  <a:pt x="272" y="272"/>
                </a:cubicBezTo>
                <a:cubicBezTo>
                  <a:pt x="306" y="239"/>
                  <a:pt x="320" y="205"/>
                  <a:pt x="320" y="161"/>
                </a:cubicBezTo>
                <a:cubicBezTo>
                  <a:pt x="320" y="116"/>
                  <a:pt x="302" y="76"/>
                  <a:pt x="273" y="47"/>
                </a:cubicBezTo>
                <a:cubicBezTo>
                  <a:pt x="244" y="18"/>
                  <a:pt x="204" y="0"/>
                  <a:pt x="160" y="0"/>
                </a:cubicBezTo>
              </a:path>
            </a:pathLst>
          </a:custGeom>
          <a:solidFill>
            <a:srgbClr val="4DB567"/>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200"/>
          </a:p>
        </p:txBody>
      </p:sp>
      <p:sp>
        <p:nvSpPr>
          <p:cNvPr id="30" name="Freeform 33"/>
          <p:cNvSpPr/>
          <p:nvPr/>
        </p:nvSpPr>
        <p:spPr bwMode="auto">
          <a:xfrm>
            <a:off x="3551777" y="1061842"/>
            <a:ext cx="1014413" cy="1319213"/>
          </a:xfrm>
          <a:custGeom>
            <a:avLst/>
            <a:gdLst>
              <a:gd name="T0" fmla="*/ 180 w 360"/>
              <a:gd name="T1" fmla="*/ 0 h 468"/>
              <a:gd name="T2" fmla="*/ 53 w 360"/>
              <a:gd name="T3" fmla="*/ 53 h 468"/>
              <a:gd name="T4" fmla="*/ 0 w 360"/>
              <a:gd name="T5" fmla="*/ 181 h 468"/>
              <a:gd name="T6" fmla="*/ 54 w 360"/>
              <a:gd name="T7" fmla="*/ 306 h 468"/>
              <a:gd name="T8" fmla="*/ 180 w 360"/>
              <a:gd name="T9" fmla="*/ 468 h 468"/>
              <a:gd name="T10" fmla="*/ 306 w 360"/>
              <a:gd name="T11" fmla="*/ 306 h 468"/>
              <a:gd name="T12" fmla="*/ 360 w 360"/>
              <a:gd name="T13" fmla="*/ 181 h 468"/>
              <a:gd name="T14" fmla="*/ 307 w 360"/>
              <a:gd name="T15" fmla="*/ 53 h 468"/>
              <a:gd name="T16" fmla="*/ 180 w 360"/>
              <a:gd name="T17"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0" h="468">
                <a:moveTo>
                  <a:pt x="180" y="0"/>
                </a:moveTo>
                <a:cubicBezTo>
                  <a:pt x="130" y="0"/>
                  <a:pt x="85" y="21"/>
                  <a:pt x="53" y="53"/>
                </a:cubicBezTo>
                <a:cubicBezTo>
                  <a:pt x="20" y="86"/>
                  <a:pt x="0" y="131"/>
                  <a:pt x="0" y="181"/>
                </a:cubicBezTo>
                <a:cubicBezTo>
                  <a:pt x="0" y="231"/>
                  <a:pt x="16" y="270"/>
                  <a:pt x="54" y="306"/>
                </a:cubicBezTo>
                <a:cubicBezTo>
                  <a:pt x="92" y="343"/>
                  <a:pt x="180" y="414"/>
                  <a:pt x="180" y="468"/>
                </a:cubicBezTo>
                <a:cubicBezTo>
                  <a:pt x="180" y="414"/>
                  <a:pt x="268" y="343"/>
                  <a:pt x="306" y="306"/>
                </a:cubicBezTo>
                <a:cubicBezTo>
                  <a:pt x="344" y="270"/>
                  <a:pt x="360" y="231"/>
                  <a:pt x="360" y="181"/>
                </a:cubicBezTo>
                <a:cubicBezTo>
                  <a:pt x="360" y="131"/>
                  <a:pt x="340" y="86"/>
                  <a:pt x="307" y="53"/>
                </a:cubicBezTo>
                <a:cubicBezTo>
                  <a:pt x="275" y="21"/>
                  <a:pt x="230" y="0"/>
                  <a:pt x="180" y="0"/>
                </a:cubicBezTo>
              </a:path>
            </a:pathLst>
          </a:custGeom>
          <a:solidFill>
            <a:srgbClr val="56BAE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200"/>
          </a:p>
        </p:txBody>
      </p:sp>
      <p:sp>
        <p:nvSpPr>
          <p:cNvPr id="31" name="文本框 30"/>
          <p:cNvSpPr txBox="1"/>
          <p:nvPr/>
        </p:nvSpPr>
        <p:spPr>
          <a:xfrm>
            <a:off x="3653243" y="2831608"/>
            <a:ext cx="957313" cy="553998"/>
          </a:xfrm>
          <a:prstGeom prst="rect">
            <a:avLst/>
          </a:prstGeom>
          <a:noFill/>
        </p:spPr>
        <p:txBody>
          <a:bodyPr wrap="none" rtlCol="0">
            <a:spAutoFit/>
          </a:bodyPr>
          <a:lstStyle/>
          <a:p>
            <a:r>
              <a:rPr lang="zh-CN" altLang="en-US" sz="3000" b="1">
                <a:solidFill>
                  <a:schemeClr val="bg1"/>
                </a:solidFill>
              </a:rPr>
              <a:t>考试</a:t>
            </a:r>
            <a:endParaRPr lang="zh-CN" altLang="en-US" sz="3000" b="1" dirty="0">
              <a:solidFill>
                <a:schemeClr val="bg1"/>
              </a:solidFill>
            </a:endParaRPr>
          </a:p>
        </p:txBody>
      </p:sp>
      <p:sp>
        <p:nvSpPr>
          <p:cNvPr id="32" name="文本框 31"/>
          <p:cNvSpPr txBox="1"/>
          <p:nvPr/>
        </p:nvSpPr>
        <p:spPr>
          <a:xfrm>
            <a:off x="2027548" y="1840517"/>
            <a:ext cx="649537" cy="369332"/>
          </a:xfrm>
          <a:prstGeom prst="rect">
            <a:avLst/>
          </a:prstGeom>
          <a:noFill/>
        </p:spPr>
        <p:txBody>
          <a:bodyPr wrap="none" rtlCol="0">
            <a:spAutoFit/>
          </a:bodyPr>
          <a:lstStyle/>
          <a:p>
            <a:r>
              <a:rPr lang="zh-CN" altLang="en-US" b="1" dirty="0">
                <a:solidFill>
                  <a:schemeClr val="bg1"/>
                </a:solidFill>
              </a:rPr>
              <a:t>作业</a:t>
            </a:r>
            <a:endParaRPr lang="zh-CN" altLang="en-US" b="1" dirty="0">
              <a:solidFill>
                <a:schemeClr val="bg1"/>
              </a:solidFill>
            </a:endParaRPr>
          </a:p>
        </p:txBody>
      </p:sp>
      <p:sp>
        <p:nvSpPr>
          <p:cNvPr id="33" name="文本框 32"/>
          <p:cNvSpPr txBox="1"/>
          <p:nvPr/>
        </p:nvSpPr>
        <p:spPr>
          <a:xfrm>
            <a:off x="963978" y="2057264"/>
            <a:ext cx="795020" cy="829945"/>
          </a:xfrm>
          <a:prstGeom prst="rect">
            <a:avLst/>
          </a:prstGeom>
          <a:noFill/>
        </p:spPr>
        <p:txBody>
          <a:bodyPr wrap="none" rtlCol="0">
            <a:spAutoFit/>
          </a:bodyPr>
          <a:lstStyle/>
          <a:p>
            <a:r>
              <a:rPr lang="zh-CN" sz="2400" b="1" dirty="0" smtClean="0">
                <a:solidFill>
                  <a:schemeClr val="bg1"/>
                </a:solidFill>
              </a:rPr>
              <a:t>课堂</a:t>
            </a:r>
            <a:endParaRPr lang="zh-CN" sz="2400" b="1" dirty="0" smtClean="0">
              <a:solidFill>
                <a:schemeClr val="bg1"/>
              </a:solidFill>
            </a:endParaRPr>
          </a:p>
          <a:p>
            <a:r>
              <a:rPr lang="zh-CN" sz="2400" b="1" dirty="0" smtClean="0">
                <a:solidFill>
                  <a:schemeClr val="bg1"/>
                </a:solidFill>
              </a:rPr>
              <a:t>互动</a:t>
            </a:r>
            <a:endParaRPr lang="zh-CN" sz="2400" b="1" dirty="0" smtClean="0">
              <a:solidFill>
                <a:schemeClr val="bg1"/>
              </a:solidFill>
            </a:endParaRPr>
          </a:p>
        </p:txBody>
      </p:sp>
      <p:sp>
        <p:nvSpPr>
          <p:cNvPr id="3" name="矩形 2"/>
          <p:cNvSpPr/>
          <p:nvPr/>
        </p:nvSpPr>
        <p:spPr>
          <a:xfrm>
            <a:off x="5775007" y="1710808"/>
            <a:ext cx="2822194" cy="1728470"/>
          </a:xfrm>
          <a:prstGeom prst="rect">
            <a:avLst/>
          </a:prstGeom>
        </p:spPr>
        <p:txBody>
          <a:bodyPr wrap="square">
            <a:spAutoFit/>
          </a:bodyPr>
          <a:lstStyle/>
          <a:p>
            <a:pPr marL="342900" indent="-342900">
              <a:lnSpc>
                <a:spcPct val="120000"/>
              </a:lnSpc>
              <a:spcBef>
                <a:spcPts val="1200"/>
              </a:spcBef>
              <a:buClr>
                <a:srgbClr val="CA0098"/>
              </a:buClr>
              <a:buFont typeface="Arial" panose="020B0604020202020204" pitchFamily="34" charset="0"/>
              <a:buChar char="♥"/>
            </a:pPr>
            <a:r>
              <a:rPr lang="zh-CN" altLang="en-US" sz="2400" dirty="0" smtClean="0">
                <a:solidFill>
                  <a:schemeClr val="tx1">
                    <a:lumMod val="65000"/>
                    <a:lumOff val="35000"/>
                  </a:schemeClr>
                </a:solidFill>
                <a:latin typeface="+mj-ea"/>
                <a:ea typeface="+mj-ea"/>
              </a:rPr>
              <a:t>过程性测试</a:t>
            </a:r>
            <a:r>
              <a:rPr lang="en-US" altLang="zh-CN" sz="2400" dirty="0" smtClean="0">
                <a:solidFill>
                  <a:schemeClr val="tx1">
                    <a:lumMod val="65000"/>
                    <a:lumOff val="35000"/>
                  </a:schemeClr>
                </a:solidFill>
                <a:latin typeface="+mj-ea"/>
                <a:ea typeface="+mj-ea"/>
              </a:rPr>
              <a:t>(20</a:t>
            </a:r>
            <a:r>
              <a:rPr lang="en-US" altLang="zh-CN" sz="2400" dirty="0">
                <a:solidFill>
                  <a:schemeClr val="tx1">
                    <a:lumMod val="65000"/>
                    <a:lumOff val="35000"/>
                  </a:schemeClr>
                </a:solidFill>
                <a:latin typeface="+mj-ea"/>
                <a:ea typeface="+mj-ea"/>
              </a:rPr>
              <a:t>%)</a:t>
            </a:r>
            <a:endParaRPr lang="en-US" altLang="zh-CN" sz="2400" dirty="0">
              <a:solidFill>
                <a:schemeClr val="tx1">
                  <a:lumMod val="65000"/>
                  <a:lumOff val="35000"/>
                </a:schemeClr>
              </a:solidFill>
              <a:latin typeface="+mj-ea"/>
              <a:ea typeface="+mj-ea"/>
            </a:endParaRPr>
          </a:p>
          <a:p>
            <a:pPr marL="342900" indent="-342900">
              <a:lnSpc>
                <a:spcPct val="120000"/>
              </a:lnSpc>
              <a:spcBef>
                <a:spcPts val="1200"/>
              </a:spcBef>
              <a:buClr>
                <a:srgbClr val="CA0098"/>
              </a:buClr>
              <a:buFont typeface="Arial" panose="020B0604020202020204" pitchFamily="34" charset="0"/>
              <a:buChar char="♥"/>
            </a:pPr>
            <a:r>
              <a:rPr lang="zh-CN" altLang="en-US" sz="2400" dirty="0" smtClean="0">
                <a:solidFill>
                  <a:schemeClr val="tx1">
                    <a:lumMod val="65000"/>
                    <a:lumOff val="35000"/>
                  </a:schemeClr>
                </a:solidFill>
                <a:latin typeface="+mj-ea"/>
                <a:ea typeface="+mj-ea"/>
              </a:rPr>
              <a:t>项目</a:t>
            </a:r>
            <a:r>
              <a:rPr lang="zh-CN" altLang="en-US" sz="2400" dirty="0">
                <a:solidFill>
                  <a:schemeClr val="tx1">
                    <a:lumMod val="65000"/>
                    <a:lumOff val="35000"/>
                  </a:schemeClr>
                </a:solidFill>
                <a:latin typeface="+mj-ea"/>
                <a:ea typeface="+mj-ea"/>
              </a:rPr>
              <a:t>实践</a:t>
            </a:r>
            <a:r>
              <a:rPr lang="en-US" altLang="zh-CN" sz="2400" dirty="0" smtClean="0">
                <a:solidFill>
                  <a:schemeClr val="tx1">
                    <a:lumMod val="65000"/>
                    <a:lumOff val="35000"/>
                  </a:schemeClr>
                </a:solidFill>
                <a:latin typeface="+mj-ea"/>
                <a:ea typeface="+mj-ea"/>
              </a:rPr>
              <a:t>(30</a:t>
            </a:r>
            <a:r>
              <a:rPr lang="en-US" altLang="zh-CN" sz="2400" dirty="0">
                <a:solidFill>
                  <a:schemeClr val="tx1">
                    <a:lumMod val="65000"/>
                    <a:lumOff val="35000"/>
                  </a:schemeClr>
                </a:solidFill>
                <a:latin typeface="+mj-ea"/>
                <a:ea typeface="+mj-ea"/>
              </a:rPr>
              <a:t>%)</a:t>
            </a:r>
            <a:endParaRPr lang="en-US" altLang="zh-CN" sz="2400" dirty="0">
              <a:solidFill>
                <a:schemeClr val="tx1">
                  <a:lumMod val="65000"/>
                  <a:lumOff val="35000"/>
                </a:schemeClr>
              </a:solidFill>
              <a:latin typeface="+mj-ea"/>
              <a:ea typeface="+mj-ea"/>
            </a:endParaRPr>
          </a:p>
          <a:p>
            <a:pPr marL="342900" indent="-342900">
              <a:lnSpc>
                <a:spcPct val="120000"/>
              </a:lnSpc>
              <a:spcBef>
                <a:spcPts val="1200"/>
              </a:spcBef>
              <a:buClr>
                <a:srgbClr val="CA0098"/>
              </a:buClr>
              <a:buFont typeface="Arial" panose="020B0604020202020204" pitchFamily="34" charset="0"/>
              <a:buChar char="♥"/>
            </a:pPr>
            <a:r>
              <a:rPr lang="zh-CN" altLang="en-US" sz="2400" dirty="0" smtClean="0">
                <a:solidFill>
                  <a:schemeClr val="tx1">
                    <a:lumMod val="65000"/>
                    <a:lumOff val="35000"/>
                  </a:schemeClr>
                </a:solidFill>
                <a:latin typeface="+mj-ea"/>
                <a:ea typeface="+mj-ea"/>
              </a:rPr>
              <a:t>期末考试</a:t>
            </a:r>
            <a:r>
              <a:rPr lang="en-US" altLang="zh-CN" sz="2400" dirty="0" smtClean="0">
                <a:solidFill>
                  <a:schemeClr val="tx1">
                    <a:lumMod val="65000"/>
                    <a:lumOff val="35000"/>
                  </a:schemeClr>
                </a:solidFill>
                <a:latin typeface="+mj-ea"/>
                <a:ea typeface="+mj-ea"/>
              </a:rPr>
              <a:t>(50</a:t>
            </a:r>
            <a:r>
              <a:rPr lang="en-US" altLang="zh-CN" sz="2400" dirty="0">
                <a:solidFill>
                  <a:schemeClr val="tx1">
                    <a:lumMod val="65000"/>
                    <a:lumOff val="35000"/>
                  </a:schemeClr>
                </a:solidFill>
                <a:latin typeface="+mj-ea"/>
                <a:ea typeface="+mj-ea"/>
              </a:rPr>
              <a:t>%)</a:t>
            </a:r>
            <a:endParaRPr lang="en-US" altLang="zh-CN" sz="2400" dirty="0">
              <a:solidFill>
                <a:schemeClr val="tx1">
                  <a:lumMod val="65000"/>
                  <a:lumOff val="35000"/>
                </a:schemeClr>
              </a:solidFill>
              <a:latin typeface="+mj-ea"/>
              <a:ea typeface="+mj-ea"/>
            </a:endParaRPr>
          </a:p>
        </p:txBody>
      </p:sp>
      <p:sp>
        <p:nvSpPr>
          <p:cNvPr id="40" name="文本框 39"/>
          <p:cNvSpPr txBox="1"/>
          <p:nvPr/>
        </p:nvSpPr>
        <p:spPr>
          <a:xfrm>
            <a:off x="3681957" y="1372366"/>
            <a:ext cx="803425" cy="461665"/>
          </a:xfrm>
          <a:prstGeom prst="rect">
            <a:avLst/>
          </a:prstGeom>
          <a:noFill/>
        </p:spPr>
        <p:txBody>
          <a:bodyPr wrap="none" rtlCol="0">
            <a:spAutoFit/>
          </a:bodyPr>
          <a:lstStyle/>
          <a:p>
            <a:r>
              <a:rPr lang="zh-CN" altLang="en-US" sz="2400" b="1" dirty="0" smtClean="0">
                <a:solidFill>
                  <a:schemeClr val="bg1"/>
                </a:solidFill>
              </a:rPr>
              <a:t>项目</a:t>
            </a:r>
            <a:endParaRPr lang="zh-CN" altLang="en-US" sz="2400" b="1" dirty="0">
              <a:solidFill>
                <a:schemeClr val="bg1"/>
              </a:solidFill>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课程考核</a:t>
            </a:r>
            <a:r>
              <a:rPr lang="zh-CN" altLang="en-US" kern="100" dirty="0" smtClean="0">
                <a:latin typeface="+mn-ea"/>
                <a:cs typeface="Times New Roman" panose="02020603050405020304" pitchFamily="18" charset="0"/>
              </a:rPr>
              <a:t>方式</a:t>
            </a:r>
            <a:endParaRPr lang="zh-CN" altLang="en-US" dirty="0"/>
          </a:p>
        </p:txBody>
      </p:sp>
      <p:sp>
        <p:nvSpPr>
          <p:cNvPr id="22" name="文本框 21"/>
          <p:cNvSpPr txBox="1"/>
          <p:nvPr/>
        </p:nvSpPr>
        <p:spPr>
          <a:xfrm>
            <a:off x="2970952" y="2163038"/>
            <a:ext cx="646331" cy="369332"/>
          </a:xfrm>
          <a:prstGeom prst="rect">
            <a:avLst/>
          </a:prstGeom>
          <a:noFill/>
        </p:spPr>
        <p:txBody>
          <a:bodyPr wrap="none" rtlCol="0">
            <a:spAutoFit/>
          </a:bodyPr>
          <a:lstStyle/>
          <a:p>
            <a:r>
              <a:rPr lang="zh-CN" altLang="en-US" dirty="0" smtClean="0">
                <a:solidFill>
                  <a:schemeClr val="bg1"/>
                </a:solidFill>
              </a:rPr>
              <a:t>测试</a:t>
            </a:r>
            <a:endParaRPr lang="zh-CN" altLang="en-US" dirty="0">
              <a:solidFill>
                <a:schemeClr val="bg1"/>
              </a:solidFill>
            </a:endParaRPr>
          </a:p>
        </p:txBody>
      </p:sp>
      <p:sp>
        <p:nvSpPr>
          <p:cNvPr id="6" name="日期占位符 5"/>
          <p:cNvSpPr>
            <a:spLocks noGrp="1"/>
          </p:cNvSpPr>
          <p:nvPr>
            <p:ph type="dt" sz="half" idx="10"/>
          </p:nvPr>
        </p:nvSpPr>
        <p:spPr/>
        <p:txBody>
          <a:bodyPr/>
          <a:lstStyle/>
          <a:p>
            <a:fld id="{7BB7C686-B531-42E8-A44B-B0A053E463F0}"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34" name="文本框 33"/>
          <p:cNvSpPr txBox="1"/>
          <p:nvPr/>
        </p:nvSpPr>
        <p:spPr>
          <a:xfrm>
            <a:off x="2566321" y="1300551"/>
            <a:ext cx="646331" cy="369332"/>
          </a:xfrm>
          <a:prstGeom prst="rect">
            <a:avLst/>
          </a:prstGeom>
          <a:noFill/>
        </p:spPr>
        <p:txBody>
          <a:bodyPr wrap="none" rtlCol="0">
            <a:spAutoFit/>
          </a:bodyPr>
          <a:lstStyle/>
          <a:p>
            <a:r>
              <a:rPr lang="zh-CN" altLang="en-US" dirty="0">
                <a:solidFill>
                  <a:schemeClr val="bg1"/>
                </a:solidFill>
              </a:rPr>
              <a:t>评审</a:t>
            </a:r>
            <a:endParaRPr lang="zh-CN" altLang="en-US" dirty="0">
              <a:solidFill>
                <a:schemeClr val="bg1"/>
              </a:solidFill>
            </a:endParaRPr>
          </a:p>
        </p:txBody>
      </p:sp>
      <p:sp>
        <p:nvSpPr>
          <p:cNvPr id="2" name="文本框 1"/>
          <p:cNvSpPr txBox="1"/>
          <p:nvPr/>
        </p:nvSpPr>
        <p:spPr>
          <a:xfrm>
            <a:off x="2127243" y="3031142"/>
            <a:ext cx="642620" cy="368300"/>
          </a:xfrm>
          <a:prstGeom prst="rect">
            <a:avLst/>
          </a:prstGeom>
          <a:noFill/>
        </p:spPr>
        <p:txBody>
          <a:bodyPr wrap="none" rtlCol="0">
            <a:spAutoFit/>
          </a:bodyPr>
          <a:p>
            <a:r>
              <a:rPr lang="zh-CN" altLang="en-US" b="1" dirty="0">
                <a:solidFill>
                  <a:schemeClr val="bg1"/>
                </a:solidFill>
              </a:rPr>
              <a:t>实验</a:t>
            </a:r>
            <a:endParaRPr lang="zh-CN" altLang="en-US"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pPr eaLnBrk="1" fontAlgn="auto" hangingPunct="1">
              <a:spcAft>
                <a:spcPts val="0"/>
              </a:spcAft>
              <a:defRPr/>
            </a:pPr>
            <a:r>
              <a:rPr lang="zh-CN" altLang="en-US" sz="3600" b="1" dirty="0"/>
              <a:t>课程实践</a:t>
            </a:r>
            <a:r>
              <a:rPr lang="zh-CN" altLang="en-US" sz="3600" b="1" dirty="0" smtClean="0"/>
              <a:t>要求</a:t>
            </a:r>
            <a:endParaRPr lang="en-US" altLang="zh-CN" sz="3600" b="1" dirty="0"/>
          </a:p>
        </p:txBody>
      </p:sp>
      <p:sp>
        <p:nvSpPr>
          <p:cNvPr id="30723" name="Rectangle 3"/>
          <p:cNvSpPr>
            <a:spLocks noGrp="1" noChangeArrowheads="1"/>
          </p:cNvSpPr>
          <p:nvPr>
            <p:ph idx="1"/>
          </p:nvPr>
        </p:nvSpPr>
        <p:spPr>
          <a:xfrm>
            <a:off x="684530" y="897255"/>
            <a:ext cx="8002270" cy="3576955"/>
          </a:xfrm>
        </p:spPr>
        <p:txBody>
          <a:bodyPr>
            <a:normAutofit/>
          </a:bodyPr>
          <a:lstStyle/>
          <a:p>
            <a:pPr eaLnBrk="1" hangingPunct="1">
              <a:spcBef>
                <a:spcPts val="1200"/>
              </a:spcBef>
            </a:pPr>
            <a:r>
              <a:rPr lang="zh-CN" altLang="en-US" sz="1600" b="1" dirty="0" smtClean="0">
                <a:effectLst/>
              </a:rPr>
              <a:t>学习方式</a:t>
            </a:r>
            <a:endParaRPr lang="en-US" altLang="zh-CN" sz="1600" b="1" dirty="0">
              <a:effectLst/>
            </a:endParaRPr>
          </a:p>
          <a:p>
            <a:pPr eaLnBrk="1" hangingPunct="1">
              <a:spcBef>
                <a:spcPts val="1200"/>
              </a:spcBef>
              <a:buFont typeface="Wingdings" panose="05000000000000000000" pitchFamily="2" charset="2"/>
              <a:buNone/>
            </a:pPr>
            <a:r>
              <a:rPr lang="en-US" altLang="zh-CN" sz="1600" b="1" dirty="0">
                <a:effectLst/>
              </a:rPr>
              <a:t>	    </a:t>
            </a:r>
            <a:r>
              <a:rPr lang="zh-CN" altLang="en-US" sz="1600" b="1" dirty="0">
                <a:effectLst/>
              </a:rPr>
              <a:t>小组任务驱动教学</a:t>
            </a:r>
            <a:endParaRPr lang="zh-CN" altLang="en-US" sz="1600" b="1" dirty="0">
              <a:effectLst/>
            </a:endParaRPr>
          </a:p>
          <a:p>
            <a:pPr eaLnBrk="1" hangingPunct="1">
              <a:spcBef>
                <a:spcPts val="1200"/>
              </a:spcBef>
            </a:pPr>
            <a:r>
              <a:rPr lang="zh-CN" altLang="en-US" sz="1600" b="1" dirty="0" smtClean="0">
                <a:effectLst/>
              </a:rPr>
              <a:t>实习内容</a:t>
            </a:r>
            <a:endParaRPr lang="zh-CN" altLang="en-US" sz="1600" b="1" dirty="0" smtClean="0">
              <a:effectLst/>
            </a:endParaRPr>
          </a:p>
          <a:p>
            <a:pPr lvl="1" eaLnBrk="1" hangingPunct="1">
              <a:spcBef>
                <a:spcPts val="1200"/>
              </a:spcBef>
            </a:pPr>
            <a:r>
              <a:rPr lang="zh-CN" altLang="en-US" sz="1600" b="1" dirty="0" smtClean="0">
                <a:effectLst/>
              </a:rPr>
              <a:t>选择一个项目开发课题，</a:t>
            </a:r>
            <a:r>
              <a:rPr lang="zh-CN" altLang="en-US" sz="1600" dirty="0">
                <a:latin typeface="+mn-ea"/>
                <a:sym typeface="+mn-ea"/>
              </a:rPr>
              <a:t>小组共同讨论实习的</a:t>
            </a:r>
            <a:r>
              <a:rPr lang="zh-CN" altLang="en-US" sz="1600" dirty="0" smtClean="0">
                <a:latin typeface="+mn-ea"/>
                <a:sym typeface="+mn-ea"/>
              </a:rPr>
              <a:t>课题（不能重复，有一定规模），</a:t>
            </a:r>
            <a:r>
              <a:rPr lang="zh-CN" altLang="en-US" sz="1600" b="1" dirty="0" smtClean="0">
                <a:effectLst/>
              </a:rPr>
              <a:t>用软件工程的思想指导其开发过程，并完成相应的文档汇报。</a:t>
            </a:r>
            <a:endParaRPr lang="zh-CN" altLang="en-US" sz="1600" b="1" dirty="0" smtClean="0">
              <a:effectLst/>
            </a:endParaRPr>
          </a:p>
          <a:p>
            <a:pPr eaLnBrk="1" hangingPunct="1">
              <a:spcBef>
                <a:spcPts val="1200"/>
              </a:spcBef>
            </a:pPr>
            <a:r>
              <a:rPr lang="zh-CN" altLang="en-US" sz="1600" b="1" dirty="0">
                <a:effectLst/>
              </a:rPr>
              <a:t>提交内容</a:t>
            </a:r>
            <a:endParaRPr lang="zh-CN" altLang="en-US" sz="1600" b="1" dirty="0">
              <a:effectLst/>
            </a:endParaRPr>
          </a:p>
          <a:p>
            <a:pPr lvl="1" eaLnBrk="1" hangingPunct="1">
              <a:spcBef>
                <a:spcPts val="1200"/>
              </a:spcBef>
            </a:pPr>
            <a:r>
              <a:rPr lang="zh-CN" altLang="en-US" sz="1600" b="1" dirty="0">
                <a:effectLst/>
              </a:rPr>
              <a:t>电子文档、软件源码</a:t>
            </a:r>
            <a:endParaRPr lang="zh-CN" altLang="en-US" sz="1600" b="1" dirty="0">
              <a:effectLst/>
            </a:endParaRPr>
          </a:p>
          <a:p>
            <a:pPr eaLnBrk="1" hangingPunct="1">
              <a:spcBef>
                <a:spcPts val="1200"/>
              </a:spcBef>
            </a:pPr>
            <a:r>
              <a:rPr lang="zh-CN" altLang="en-US" sz="1600" b="1" dirty="0">
                <a:effectLst/>
              </a:rPr>
              <a:t>评价方法</a:t>
            </a:r>
            <a:endParaRPr lang="zh-CN" altLang="en-US" sz="1600" b="1" dirty="0">
              <a:effectLst/>
            </a:endParaRPr>
          </a:p>
          <a:p>
            <a:pPr lvl="1" eaLnBrk="1" hangingPunct="1">
              <a:spcBef>
                <a:spcPts val="1200"/>
              </a:spcBef>
            </a:pPr>
            <a:r>
              <a:rPr lang="zh-CN" altLang="en-US" sz="1600" b="1" dirty="0" smtClean="0">
                <a:effectLst/>
              </a:rPr>
              <a:t>阶段评审进行打分</a:t>
            </a:r>
            <a:endParaRPr lang="zh-CN" altLang="en-US" sz="1600" b="1" dirty="0" smtClean="0">
              <a:effectLst/>
            </a:endParaRPr>
          </a:p>
        </p:txBody>
      </p:sp>
      <p:sp>
        <p:nvSpPr>
          <p:cNvPr id="3" name="灯片编号占位符 2"/>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a:bodyPr>
          <a:lstStyle/>
          <a:p>
            <a:pPr eaLnBrk="1" fontAlgn="auto" hangingPunct="1">
              <a:spcAft>
                <a:spcPts val="0"/>
              </a:spcAft>
              <a:defRPr/>
            </a:pPr>
            <a:r>
              <a:rPr lang="zh-CN" altLang="en-US" sz="3600" b="1" dirty="0"/>
              <a:t>小组分配方式</a:t>
            </a:r>
            <a:endParaRPr lang="zh-CN" altLang="en-US" sz="3600" b="1" dirty="0"/>
          </a:p>
        </p:txBody>
      </p:sp>
      <p:sp>
        <p:nvSpPr>
          <p:cNvPr id="12290" name="Rectangle 3"/>
          <p:cNvSpPr>
            <a:spLocks noGrp="1" noChangeArrowheads="1"/>
          </p:cNvSpPr>
          <p:nvPr>
            <p:ph idx="1"/>
          </p:nvPr>
        </p:nvSpPr>
        <p:spPr>
          <a:xfrm>
            <a:off x="440690" y="828675"/>
            <a:ext cx="8002270" cy="3517265"/>
          </a:xfrm>
        </p:spPr>
        <p:txBody>
          <a:bodyPr>
            <a:noAutofit/>
          </a:bodyPr>
          <a:lstStyle/>
          <a:p>
            <a:pPr marL="0" algn="l" fontAlgn="auto"/>
            <a:r>
              <a:rPr lang="zh-CN" altLang="en-US" sz="1400" b="1" dirty="0" smtClean="0">
                <a:effectLst/>
              </a:rPr>
              <a:t>每</a:t>
            </a:r>
            <a:r>
              <a:rPr lang="en-US" altLang="zh-CN" sz="1400" b="1" dirty="0" smtClean="0">
                <a:effectLst/>
              </a:rPr>
              <a:t>5-8</a:t>
            </a:r>
            <a:r>
              <a:rPr lang="zh-CN" altLang="en-US" sz="1400" b="1" dirty="0" smtClean="0">
                <a:effectLst/>
              </a:rPr>
              <a:t>人左右为一个小组，每小组推荐一位负责人，通过讨论共同完成指定的系统：</a:t>
            </a:r>
            <a:br>
              <a:rPr lang="zh-CN" altLang="en-US" sz="1400" b="1" dirty="0" smtClean="0">
                <a:effectLst/>
              </a:rPr>
            </a:br>
            <a:r>
              <a:rPr lang="zh-CN" altLang="en-US" sz="1400" b="1" dirty="0" smtClean="0">
                <a:effectLst/>
              </a:rPr>
              <a:t>（</a:t>
            </a:r>
            <a:r>
              <a:rPr lang="en-US" altLang="zh-CN" sz="1400" b="1" dirty="0" smtClean="0">
                <a:effectLst/>
              </a:rPr>
              <a:t>1</a:t>
            </a:r>
            <a:r>
              <a:rPr lang="zh-CN" altLang="en-US" sz="1400" b="1" dirty="0" smtClean="0">
                <a:effectLst/>
              </a:rPr>
              <a:t>）自由分组，分组后不准更改。</a:t>
            </a:r>
            <a:br>
              <a:rPr lang="zh-CN" altLang="en-US" sz="1400" b="1" dirty="0" smtClean="0">
                <a:effectLst/>
              </a:rPr>
            </a:br>
            <a:r>
              <a:rPr lang="zh-CN" altLang="en-US" sz="1400" b="1" dirty="0" smtClean="0">
                <a:effectLst/>
              </a:rPr>
              <a:t>（</a:t>
            </a:r>
            <a:r>
              <a:rPr lang="en-US" altLang="zh-CN" sz="1400" b="1" dirty="0" smtClean="0">
                <a:effectLst/>
              </a:rPr>
              <a:t>2</a:t>
            </a:r>
            <a:r>
              <a:rPr lang="zh-CN" altLang="en-US" sz="1400" b="1" dirty="0" smtClean="0">
                <a:effectLst/>
              </a:rPr>
              <a:t>）各小组成员必须在相邻的上机位置上机。</a:t>
            </a:r>
            <a:endParaRPr lang="zh-CN" altLang="en-US" sz="1400" b="1" dirty="0" smtClean="0">
              <a:effectLst/>
            </a:endParaRPr>
          </a:p>
          <a:p>
            <a:pPr marL="0" algn="l" fontAlgn="auto"/>
            <a:r>
              <a:rPr lang="zh-CN" altLang="en-US" sz="1400" b="1" dirty="0" smtClean="0">
                <a:solidFill>
                  <a:srgbClr val="FF0000"/>
                </a:solidFill>
                <a:effectLst/>
              </a:rPr>
              <a:t>小组内分工方式：</a:t>
            </a:r>
            <a:br>
              <a:rPr lang="zh-CN" altLang="en-US" sz="1400" b="1" dirty="0" smtClean="0">
                <a:solidFill>
                  <a:schemeClr val="tx1"/>
                </a:solidFill>
                <a:effectLst/>
              </a:rPr>
            </a:br>
            <a:r>
              <a:rPr lang="zh-CN" altLang="en-US" sz="1400" b="1" dirty="0" smtClean="0">
                <a:effectLst/>
              </a:rPr>
              <a:t>       一个组长项目经理</a:t>
            </a:r>
            <a:r>
              <a:rPr lang="en-US" altLang="zh-CN" sz="1400" b="1" dirty="0" smtClean="0">
                <a:effectLst/>
              </a:rPr>
              <a:t>,</a:t>
            </a:r>
            <a:r>
              <a:rPr lang="zh-CN" altLang="en-US" sz="1400" b="1" dirty="0" smtClean="0">
                <a:effectLst/>
              </a:rPr>
              <a:t>负责全面工作</a:t>
            </a:r>
            <a:r>
              <a:rPr lang="en-US" altLang="zh-CN" sz="1400" b="1" dirty="0" smtClean="0">
                <a:effectLst/>
              </a:rPr>
              <a:t>,1-2</a:t>
            </a:r>
            <a:r>
              <a:rPr lang="zh-CN" altLang="en-US" sz="1400" b="1" dirty="0" smtClean="0">
                <a:effectLst/>
              </a:rPr>
              <a:t>个系统分析师</a:t>
            </a:r>
            <a:r>
              <a:rPr lang="en-US" altLang="zh-CN" sz="1400" b="1" dirty="0" smtClean="0">
                <a:effectLst/>
              </a:rPr>
              <a:t>,1-2</a:t>
            </a:r>
            <a:r>
              <a:rPr lang="zh-CN" altLang="en-US" sz="1400" b="1" dirty="0" smtClean="0">
                <a:effectLst/>
              </a:rPr>
              <a:t>个系统架构师</a:t>
            </a:r>
            <a:r>
              <a:rPr lang="en-US" altLang="zh-CN" sz="1400" b="1" dirty="0" smtClean="0">
                <a:effectLst/>
              </a:rPr>
              <a:t>,</a:t>
            </a:r>
            <a:r>
              <a:rPr lang="zh-CN" altLang="en-US" sz="1400" b="1" dirty="0" smtClean="0">
                <a:effectLst/>
              </a:rPr>
              <a:t>两个程序员，一个系统测评师</a:t>
            </a:r>
            <a:r>
              <a:rPr lang="en-US" altLang="zh-CN" sz="1400" b="1" dirty="0" smtClean="0">
                <a:effectLst/>
              </a:rPr>
              <a:t>.</a:t>
            </a:r>
            <a:endParaRPr lang="en-US" altLang="zh-CN" sz="1400" b="1" dirty="0" smtClean="0">
              <a:effectLst/>
            </a:endParaRPr>
          </a:p>
          <a:p>
            <a:pPr marL="0" algn="l" fontAlgn="auto"/>
            <a:r>
              <a:rPr lang="en-US" altLang="zh-CN" sz="1400" b="1" dirty="0" smtClean="0">
                <a:effectLst/>
              </a:rPr>
              <a:t>2</a:t>
            </a:r>
            <a:r>
              <a:rPr lang="zh-CN" altLang="en-US" sz="1400" b="1" dirty="0" smtClean="0">
                <a:effectLst/>
              </a:rPr>
              <a:t>月</a:t>
            </a:r>
            <a:r>
              <a:rPr lang="en-US" altLang="zh-CN" sz="1400" b="1" dirty="0" smtClean="0">
                <a:effectLst/>
              </a:rPr>
              <a:t>24</a:t>
            </a:r>
            <a:r>
              <a:rPr lang="zh-CN" altLang="en-US" sz="1400" b="1" dirty="0" smtClean="0">
                <a:effectLst/>
              </a:rPr>
              <a:t>日之前确定，班长将分组、课题、分工结果制作成</a:t>
            </a:r>
            <a:r>
              <a:rPr lang="en-US" altLang="zh-CN" sz="1400" b="1" dirty="0" smtClean="0">
                <a:effectLst/>
              </a:rPr>
              <a:t>Excel</a:t>
            </a:r>
            <a:r>
              <a:rPr lang="zh-CN" altLang="en-US" sz="1400" b="1" dirty="0" smtClean="0">
                <a:effectLst/>
              </a:rPr>
              <a:t>表格上交</a:t>
            </a:r>
            <a:r>
              <a:rPr lang="en-US" altLang="zh-CN" sz="1400" b="1" dirty="0" smtClean="0">
                <a:effectLst/>
              </a:rPr>
              <a:t>QQ</a:t>
            </a:r>
            <a:r>
              <a:rPr lang="zh-CN" altLang="en-US" sz="1400" b="1" dirty="0" smtClean="0">
                <a:effectLst/>
              </a:rPr>
              <a:t>群。中间会定期组织汇报工作进度。</a:t>
            </a:r>
            <a:endParaRPr lang="zh-CN" altLang="en-US" sz="1400" b="1" dirty="0" smtClean="0">
              <a:effectLst/>
            </a:endParaRPr>
          </a:p>
          <a:p>
            <a:pPr marL="0" algn="l" fontAlgn="auto"/>
            <a:r>
              <a:rPr lang="zh-CN" altLang="en-US" sz="1400" b="1" dirty="0" smtClean="0">
                <a:effectLst/>
              </a:rPr>
              <a:t>综合型实验成绩考核办法：</a:t>
            </a:r>
            <a:br>
              <a:rPr lang="zh-CN" altLang="en-US" sz="1400" b="1" dirty="0" smtClean="0">
                <a:effectLst/>
              </a:rPr>
            </a:br>
            <a:r>
              <a:rPr lang="zh-CN" altLang="en-US" sz="1400" b="1" dirty="0" smtClean="0">
                <a:effectLst/>
              </a:rPr>
              <a:t>       每小组提交一个完成的系统及相关文档，期末统一存档，并根据小组任务完成情况作为成绩考核标准。</a:t>
            </a:r>
            <a:endParaRPr lang="en-US" altLang="zh-CN" sz="1400" b="1" dirty="0" smtClean="0">
              <a:effectLst/>
            </a:endParaRPr>
          </a:p>
          <a:p>
            <a:pPr marL="0" algn="l" fontAlgn="auto"/>
            <a:r>
              <a:rPr lang="zh-CN" altLang="en-US" sz="1400" b="1" dirty="0" smtClean="0">
                <a:solidFill>
                  <a:srgbClr val="FF0000"/>
                </a:solidFill>
                <a:effectLst/>
              </a:rPr>
              <a:t>项目成绩组成：</a:t>
            </a:r>
            <a:r>
              <a:rPr lang="zh-CN" altLang="en-US" sz="1400" b="1" dirty="0" smtClean="0">
                <a:effectLst/>
              </a:rPr>
              <a:t>组内打分</a:t>
            </a:r>
            <a:r>
              <a:rPr lang="en-US" altLang="zh-CN" sz="1400" b="1" dirty="0" smtClean="0">
                <a:effectLst/>
              </a:rPr>
              <a:t>+</a:t>
            </a:r>
            <a:r>
              <a:rPr lang="zh-CN" altLang="en-US" sz="1400" b="1" dirty="0" smtClean="0">
                <a:effectLst/>
              </a:rPr>
              <a:t>讨论汇报得分</a:t>
            </a:r>
            <a:r>
              <a:rPr lang="en-US" altLang="zh-CN" sz="1400" b="1" dirty="0" smtClean="0">
                <a:effectLst/>
              </a:rPr>
              <a:t>+</a:t>
            </a:r>
            <a:r>
              <a:rPr lang="zh-CN" altLang="en-US" sz="1400" b="1" dirty="0" smtClean="0">
                <a:effectLst/>
              </a:rPr>
              <a:t>项目贡献得分</a:t>
            </a:r>
            <a:endParaRPr lang="zh-CN" altLang="en-US" sz="1400" b="1" dirty="0" smtClean="0">
              <a:effectLst/>
            </a:endParaRPr>
          </a:p>
        </p:txBody>
      </p:sp>
      <p:sp>
        <p:nvSpPr>
          <p:cNvPr id="3" name="灯片编号占位符 2"/>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1956920" y="828679"/>
            <a:ext cx="7066764" cy="3700145"/>
          </a:xfrm>
          <a:prstGeom prst="rect">
            <a:avLst/>
          </a:prstGeom>
          <a:noFill/>
        </p:spPr>
        <p:txBody>
          <a:bodyPr wrap="square" rtlCol="0">
            <a:spAutoFit/>
          </a:bodyPr>
          <a:lstStyle>
            <a:defPPr>
              <a:defRPr lang="zh-CN"/>
            </a:defPPr>
            <a:lvl1pPr>
              <a:lnSpc>
                <a:spcPct val="120000"/>
              </a:lnSpc>
              <a:spcBef>
                <a:spcPts val="600"/>
              </a:spcBef>
              <a:defRPr sz="2000">
                <a:solidFill>
                  <a:schemeClr val="tx1">
                    <a:lumMod val="65000"/>
                    <a:lumOff val="35000"/>
                  </a:schemeClr>
                </a:solidFill>
              </a:defRPr>
            </a:lvl1pPr>
          </a:lstStyle>
          <a:p>
            <a:pPr marL="342900" indent="-342900" algn="l">
              <a:spcBef>
                <a:spcPts val="900"/>
              </a:spcBef>
              <a:buClr>
                <a:schemeClr val="accent1"/>
              </a:buClr>
              <a:buSzPct val="80000"/>
              <a:buFontTx/>
              <a:buChar char="֍"/>
            </a:pPr>
            <a:r>
              <a:rPr lang="zh-CN" altLang="en-US" dirty="0">
                <a:latin typeface="+mj-ea"/>
                <a:ea typeface="+mj-ea"/>
                <a:sym typeface="+mn-ea"/>
              </a:rPr>
              <a:t>以开发小组为单位选择课题，设计的课题尽量结合教学、科研的实际情况，反映新技术，以获得更好的工程设计实践的训练效果。课题规模、大小适当，具有一定复杂度。</a:t>
            </a:r>
            <a:r>
              <a:rPr lang="zh-CN" altLang="en-US" b="1" dirty="0">
                <a:solidFill>
                  <a:srgbClr val="FF0000"/>
                </a:solidFill>
                <a:latin typeface="+mj-ea"/>
                <a:ea typeface="+mj-ea"/>
                <a:sym typeface="+mn-ea"/>
              </a:rPr>
              <a:t>各组题目不能重复！</a:t>
            </a:r>
            <a:endParaRPr lang="zh-CN" altLang="en-US" b="1" dirty="0">
              <a:solidFill>
                <a:srgbClr val="FF0000"/>
              </a:solidFill>
              <a:latin typeface="+mj-ea"/>
              <a:ea typeface="+mj-ea"/>
              <a:sym typeface="+mn-ea"/>
            </a:endParaRPr>
          </a:p>
          <a:p>
            <a:pPr marL="0" lvl="1" indent="-342900">
              <a:spcBef>
                <a:spcPts val="900"/>
              </a:spcBef>
              <a:buClr>
                <a:schemeClr val="accent1"/>
              </a:buClr>
              <a:buSzPct val="80000"/>
              <a:buFontTx/>
              <a:buChar char="֍"/>
            </a:pPr>
            <a:r>
              <a:rPr lang="zh-CN" altLang="en-US" sz="2000" b="1" dirty="0">
                <a:solidFill>
                  <a:srgbClr val="FF0000"/>
                </a:solidFill>
                <a:latin typeface="+mj-ea"/>
                <a:ea typeface="+mj-ea"/>
                <a:sym typeface="+mn-ea"/>
              </a:rPr>
              <a:t>确定好题目大致功能之后报老师审批。</a:t>
            </a:r>
            <a:endParaRPr lang="zh-CN" altLang="en-US" sz="2000" b="1" dirty="0">
              <a:solidFill>
                <a:srgbClr val="FF0000"/>
              </a:solidFill>
              <a:latin typeface="+mj-ea"/>
              <a:ea typeface="+mj-ea"/>
            </a:endParaRPr>
          </a:p>
          <a:p>
            <a:pPr marL="342900" indent="-342900">
              <a:spcBef>
                <a:spcPts val="900"/>
              </a:spcBef>
              <a:buClr>
                <a:schemeClr val="accent1"/>
              </a:buClr>
              <a:buSzPct val="80000"/>
              <a:buFontTx/>
              <a:buChar char="֍"/>
            </a:pPr>
            <a:r>
              <a:rPr lang="zh-CN" altLang="en-US" dirty="0">
                <a:latin typeface="+mj-ea"/>
                <a:ea typeface="+mj-ea"/>
                <a:sym typeface="+mn-ea"/>
              </a:rPr>
              <a:t>要求</a:t>
            </a:r>
            <a:r>
              <a:rPr lang="zh-CN" altLang="en-US" dirty="0" smtClean="0">
                <a:latin typeface="+mj-ea"/>
                <a:ea typeface="+mj-ea"/>
                <a:sym typeface="+mn-ea"/>
              </a:rPr>
              <a:t>：小组</a:t>
            </a:r>
            <a:r>
              <a:rPr lang="zh-CN" altLang="en-US" dirty="0">
                <a:latin typeface="+mj-ea"/>
                <a:ea typeface="+mj-ea"/>
                <a:sym typeface="+mn-ea"/>
              </a:rPr>
              <a:t>定期组织讨论和汇报工作进度，按照实验要求编写系统的相关文档和系统，并在期末提交一个完成的系统及相关文档。</a:t>
            </a:r>
            <a:endParaRPr lang="en-US" altLang="zh-CN" dirty="0">
              <a:latin typeface="+mj-ea"/>
              <a:ea typeface="+mj-ea"/>
            </a:endParaRPr>
          </a:p>
          <a:p>
            <a:pPr marL="342900" indent="-342900">
              <a:spcBef>
                <a:spcPts val="900"/>
              </a:spcBef>
              <a:buClr>
                <a:schemeClr val="accent1"/>
              </a:buClr>
              <a:buSzPct val="80000"/>
              <a:buFontTx/>
              <a:buChar char="֍"/>
            </a:pPr>
            <a:endParaRPr lang="zh-CN" altLang="en-US" dirty="0">
              <a:latin typeface="+mj-ea"/>
              <a:ea typeface="+mj-ea"/>
            </a:endParaRPr>
          </a:p>
        </p:txBody>
      </p:sp>
      <p:pic>
        <p:nvPicPr>
          <p:cNvPr id="18" name="图片 17"/>
          <p:cNvPicPr>
            <a:picLocks noChangeAspect="1"/>
          </p:cNvPicPr>
          <p:nvPr/>
        </p:nvPicPr>
        <p:blipFill>
          <a:blip r:embed="rId1" cstate="print">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a:off x="231722" y="2194254"/>
            <a:ext cx="1725198" cy="1425279"/>
          </a:xfrm>
          <a:prstGeom prst="rect">
            <a:avLst/>
          </a:prstGeom>
        </p:spPr>
      </p:pic>
      <p:sp>
        <p:nvSpPr>
          <p:cNvPr id="3" name="标题 2"/>
          <p:cNvSpPr>
            <a:spLocks noGrp="1"/>
          </p:cNvSpPr>
          <p:nvPr>
            <p:ph type="title"/>
          </p:nvPr>
        </p:nvSpPr>
        <p:spPr/>
        <p:txBody>
          <a:bodyPr/>
          <a:lstStyle/>
          <a:p>
            <a:r>
              <a:rPr lang="zh-CN" altLang="en-US" kern="100" dirty="0">
                <a:latin typeface="+mn-ea"/>
                <a:cs typeface="Times New Roman" panose="02020603050405020304" pitchFamily="18" charset="0"/>
              </a:rPr>
              <a:t>课程实践项目要求</a:t>
            </a:r>
            <a:endParaRPr lang="zh-CN" altLang="en-US" dirty="0"/>
          </a:p>
        </p:txBody>
      </p:sp>
      <p:sp>
        <p:nvSpPr>
          <p:cNvPr id="5" name="日期占位符 4"/>
          <p:cNvSpPr>
            <a:spLocks noGrp="1"/>
          </p:cNvSpPr>
          <p:nvPr>
            <p:ph type="dt" sz="half" idx="10"/>
          </p:nvPr>
        </p:nvSpPr>
        <p:spPr/>
        <p:txBody>
          <a:bodyPr/>
          <a:lstStyle/>
          <a:p>
            <a:fld id="{C4E3BA5B-64CC-4CEB-B5D2-DEE76809DAB0}"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 name="内容占位符 1"/>
          <p:cNvPicPr>
            <a:picLocks noChangeAspect="1"/>
          </p:cNvPicPr>
          <p:nvPr>
            <p:ph idx="1"/>
          </p:nvPr>
        </p:nvPicPr>
        <p:blipFill>
          <a:blip r:embed="rId2"/>
          <a:stretch>
            <a:fillRect/>
          </a:stretch>
        </p:blipFill>
        <p:spPr>
          <a:xfrm>
            <a:off x="3405505" y="3166745"/>
            <a:ext cx="5114925" cy="13620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项目结项要求</a:t>
            </a:r>
            <a:endParaRPr lang="zh-CN" altLang="en-US"/>
          </a:p>
        </p:txBody>
      </p:sp>
      <p:sp>
        <p:nvSpPr>
          <p:cNvPr id="3" name="内容占位符 2"/>
          <p:cNvSpPr>
            <a:spLocks noGrp="1"/>
          </p:cNvSpPr>
          <p:nvPr>
            <p:ph idx="1"/>
          </p:nvPr>
        </p:nvSpPr>
        <p:spPr/>
        <p:txBody>
          <a:bodyPr/>
          <a:p>
            <a:r>
              <a:rPr lang="zh-CN" altLang="en-US" dirty="0" smtClean="0">
                <a:effectLst/>
                <a:sym typeface="+mn-ea"/>
              </a:rPr>
              <a:t>完成时间：</a:t>
            </a:r>
            <a:r>
              <a:rPr lang="en-US" altLang="zh-CN" dirty="0" smtClean="0">
                <a:effectLst/>
                <a:sym typeface="+mn-ea"/>
              </a:rPr>
              <a:t>2025</a:t>
            </a:r>
            <a:r>
              <a:rPr lang="zh-CN" altLang="en-US" dirty="0" smtClean="0">
                <a:effectLst/>
                <a:sym typeface="+mn-ea"/>
              </a:rPr>
              <a:t>年</a:t>
            </a:r>
            <a:r>
              <a:rPr lang="en-US" altLang="zh-CN" dirty="0" smtClean="0">
                <a:effectLst/>
                <a:sym typeface="+mn-ea"/>
              </a:rPr>
              <a:t>6</a:t>
            </a:r>
            <a:r>
              <a:rPr lang="zh-CN" altLang="en-US" dirty="0" smtClean="0">
                <a:effectLst/>
                <a:sym typeface="+mn-ea"/>
              </a:rPr>
              <a:t>月</a:t>
            </a:r>
            <a:r>
              <a:rPr lang="en-US" altLang="zh-CN" dirty="0" smtClean="0">
                <a:effectLst/>
                <a:sym typeface="+mn-ea"/>
              </a:rPr>
              <a:t>1</a:t>
            </a:r>
            <a:r>
              <a:rPr lang="zh-CN" altLang="en-US" dirty="0" smtClean="0">
                <a:effectLst/>
                <a:sym typeface="+mn-ea"/>
              </a:rPr>
              <a:t>日</a:t>
            </a:r>
            <a:endParaRPr lang="zh-CN" altLang="en-US" dirty="0" smtClean="0">
              <a:effectLst/>
              <a:sym typeface="+mn-ea"/>
            </a:endParaRPr>
          </a:p>
          <a:p>
            <a:r>
              <a:rPr lang="zh-CN" altLang="en-US" dirty="0" smtClean="0">
                <a:effectLst/>
                <a:sym typeface="+mn-ea"/>
              </a:rPr>
              <a:t>文档（项目计划任务书，需求分析文档，系统设计文档，测试文档，项目总结报告，配置文件）和源代码</a:t>
            </a:r>
            <a:endParaRPr lang="zh-CN" altLang="en-US" dirty="0" smtClean="0">
              <a:effectLst/>
              <a:sym typeface="+mn-ea"/>
            </a:endParaRPr>
          </a:p>
          <a:p>
            <a:r>
              <a:rPr lang="zh-CN" altLang="en-US" dirty="0" smtClean="0">
                <a:effectLst/>
                <a:sym typeface="+mn-ea"/>
              </a:rPr>
              <a:t>验收时间：</a:t>
            </a:r>
            <a:r>
              <a:rPr lang="en-US" altLang="zh-CN" dirty="0" smtClean="0">
                <a:effectLst/>
                <a:sym typeface="+mn-ea"/>
              </a:rPr>
              <a:t>2025</a:t>
            </a:r>
            <a:r>
              <a:rPr lang="zh-CN" altLang="en-US" dirty="0" smtClean="0">
                <a:effectLst/>
                <a:sym typeface="+mn-ea"/>
              </a:rPr>
              <a:t>年</a:t>
            </a:r>
            <a:r>
              <a:rPr lang="en-US" altLang="zh-CN" dirty="0" smtClean="0">
                <a:effectLst/>
                <a:sym typeface="+mn-ea"/>
              </a:rPr>
              <a:t>6</a:t>
            </a:r>
            <a:r>
              <a:rPr lang="zh-CN" altLang="en-US" dirty="0" smtClean="0">
                <a:effectLst/>
                <a:sym typeface="+mn-ea"/>
              </a:rPr>
              <a:t>月</a:t>
            </a:r>
            <a:r>
              <a:rPr lang="en-US" altLang="zh-CN" dirty="0" smtClean="0">
                <a:effectLst/>
                <a:sym typeface="+mn-ea"/>
              </a:rPr>
              <a:t>11</a:t>
            </a:r>
            <a:r>
              <a:rPr lang="zh-CN" altLang="en-US" dirty="0" smtClean="0">
                <a:effectLst/>
                <a:sym typeface="+mn-ea"/>
              </a:rPr>
              <a:t>日</a:t>
            </a:r>
            <a:endParaRPr lang="zh-CN" altLang="en-US" dirty="0" smtClean="0">
              <a:effectLst/>
              <a:sym typeface="+mn-ea"/>
            </a:endParaRPr>
          </a:p>
          <a:p>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286FA9E-E811-4918-8CB8-517C9550212D}"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RAINPROBLEM" val="ProblemBody"/>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Item"/>
</p:tagLst>
</file>

<file path=ppt/tags/tag7.xml><?xml version="1.0" encoding="utf-8"?>
<p:tagLst xmlns:p="http://schemas.openxmlformats.org/presentationml/2006/main">
  <p:tag name="RAINPROBLEM" val="ProblemItem"/>
</p:tagLst>
</file>

<file path=ppt/tags/tag8.xml><?xml version="1.0" encoding="utf-8"?>
<p:tagLst xmlns:p="http://schemas.openxmlformats.org/presentationml/2006/main">
  <p:tag name="RAINPROBLEM" val="ProblemBullet"/>
  <p:tag name="RAINPROBLEMTYPE" val="Polling"/>
  <p:tag name="RAINBULLET" val="Wrong"/>
</p:tagLst>
</file>

<file path=ppt/tags/tag9.xml><?xml version="1.0" encoding="utf-8"?>
<p:tagLst xmlns:p="http://schemas.openxmlformats.org/presentationml/2006/main">
  <p:tag name="RAINPROBLEM" val="ProblemBullet"/>
  <p:tag name="RAINPROBLEMTYPE" val="Polling"/>
  <p:tag name="RAINBULLET" val="Wrong"/>
</p:tagLst>
</file>

<file path=ppt/tags/tag10.xml><?xml version="1.0" encoding="utf-8"?>
<p:tagLst xmlns:p="http://schemas.openxmlformats.org/presentationml/2006/main">
  <p:tag name="RAINPROBLEM" val="ProblemBullet"/>
  <p:tag name="RAINPROBLEMTYPE" val="Polling"/>
  <p:tag name="RAINBULLET" val="Wrong"/>
</p:tagLst>
</file>

<file path=ppt/tags/tag11.xml><?xml version="1.0" encoding="utf-8"?>
<p:tagLst xmlns:p="http://schemas.openxmlformats.org/presentationml/2006/main">
  <p:tag name="RAINPROBLEM" val="ProblemBullet"/>
  <p:tag name="RAINPROBLEMTYPE" val="Polling"/>
  <p:tag name="RAINBULLET" val="Wrong"/>
</p:tagLst>
</file>

<file path=ppt/tags/tag12.xml><?xml version="1.0" encoding="utf-8"?>
<p:tagLst xmlns:p="http://schemas.openxmlformats.org/presentationml/2006/main">
  <p:tag name="RAINPROBLEM" val="ProblemSubmit"/>
  <p:tag name="RAINPROBLEMTYPE" val="Polling"/>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 name="RAINPROBLEM" val="PollingAnswer"/>
</p:tagLst>
</file>

<file path=ppt/tags/tag18.xml><?xml version="1.0" encoding="utf-8"?>
<p:tagLst xmlns:p="http://schemas.openxmlformats.org/presentationml/2006/main">
  <p:tag name="RAINPROBLEM" val="ProblemSetting"/>
  <p:tag name="RAINPROBLEMTYPE" val="Polling"/>
</p:tagLst>
</file>

<file path=ppt/tags/tag19.xml><?xml version="1.0" encoding="utf-8"?>
<p:tagLst xmlns:p="http://schemas.openxmlformats.org/presentationml/2006/main">
  <p:tag name="RAINPROBLEM" val="Polling"/>
  <p:tag name="ANONYMOUSPOLLING" val="False"/>
  <p:tag name="PROBLEMSCORE" val="0.0"/>
</p:tagLst>
</file>

<file path=ppt/tags/tag20.xml><?xml version="1.0" encoding="utf-8"?>
<p:tagLst xmlns:p="http://schemas.openxmlformats.org/presentationml/2006/main">
  <p:tag name="RAINPROBLEM" val="ProblemBody"/>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Item"/>
</p:tagLst>
</file>

<file path=ppt/tags/tag24.xml><?xml version="1.0" encoding="utf-8"?>
<p:tagLst xmlns:p="http://schemas.openxmlformats.org/presentationml/2006/main">
  <p:tag name="RAINPROBLEM" val="ProblemItem"/>
</p:tagLst>
</file>

<file path=ppt/tags/tag25.xml><?xml version="1.0" encoding="utf-8"?>
<p:tagLst xmlns:p="http://schemas.openxmlformats.org/presentationml/2006/main">
  <p:tag name="RAINPROBLEM" val="ProblemBullet"/>
  <p:tag name="RAINPROBLEMTYPE" val="MultipleChoice"/>
  <p:tag name="RAINBULLET" val="Wrong"/>
</p:tagLst>
</file>

<file path=ppt/tags/tag26.xml><?xml version="1.0" encoding="utf-8"?>
<p:tagLst xmlns:p="http://schemas.openxmlformats.org/presentationml/2006/main">
  <p:tag name="RAINPROBLEM" val="ProblemBullet"/>
  <p:tag name="RAINPROBLEMTYPE" val="MultipleChoice"/>
  <p:tag name="RAINBULLET" val="Correct"/>
</p:tagLst>
</file>

<file path=ppt/tags/tag27.xml><?xml version="1.0" encoding="utf-8"?>
<p:tagLst xmlns:p="http://schemas.openxmlformats.org/presentationml/2006/main">
  <p:tag name="RAINPROBLEM" val="ProblemBullet"/>
  <p:tag name="RAINPROBLEMTYPE" val="MultipleChoice"/>
  <p:tag name="RAINBULLET" val="Wrong"/>
</p:tagLst>
</file>

<file path=ppt/tags/tag28.xml><?xml version="1.0" encoding="utf-8"?>
<p:tagLst xmlns:p="http://schemas.openxmlformats.org/presentationml/2006/main">
  <p:tag name="RAINPROBLEM" val="ProblemBullet"/>
  <p:tag name="RAINPROBLEMTYPE" val="MultipleChoice"/>
  <p:tag name="RAINBULLET" val="Wrong"/>
</p:tagLst>
</file>

<file path=ppt/tags/tag29.xml><?xml version="1.0" encoding="utf-8"?>
<p:tagLst xmlns:p="http://schemas.openxmlformats.org/presentationml/2006/main">
  <p:tag name="RAINPROBLEM" val="ProblemSubmit"/>
  <p:tag name="RAINPROBLEMTYPE" val="Polling"/>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 val="ProblemSetting"/>
  <p:tag name="RAINPROBLEMTYPE" val="MultipleChoice"/>
</p:tagLst>
</file>

<file path=ppt/tags/tag36.xml><?xml version="1.0" encoding="utf-8"?>
<p:tagLst xmlns:p="http://schemas.openxmlformats.org/presentationml/2006/main">
  <p:tag name="RAINPROBLEM" val="MultipleChoice"/>
  <p:tag name="PROBLEMSCORE" val="1.0"/>
</p:tagLst>
</file>

<file path=ppt/tags/tag37.xml><?xml version="1.0" encoding="utf-8"?>
<p:tagLst xmlns:p="http://schemas.openxmlformats.org/presentationml/2006/main">
  <p:tag name="KSO_WPP_MARK_KEY" val="c1a56755-7a4e-4dd4-a45a-b5cf36d9aec7"/>
  <p:tag name="COMMONDATA" val="eyJoZGlkIjoiZDhmZjM3ZTZiYzVhZjRkYzFlNzUwYmM2YTkxODQ5OTUifQ=="/>
  <p:tag name="commondata" val="eyJoZGlkIjoiMTQyZjdhYmQ1YmM4NjI4YjU0ZWEyNjhlOTYwMTkxZjM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4915</Words>
  <Application>WPS 演示</Application>
  <PresentationFormat>全屏显示(16:9)</PresentationFormat>
  <Paragraphs>625</Paragraphs>
  <Slides>47</Slides>
  <Notes>40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47</vt:i4>
      </vt:variant>
    </vt:vector>
  </HeadingPairs>
  <TitlesOfParts>
    <vt:vector size="62" baseType="lpstr">
      <vt:lpstr>Arial</vt:lpstr>
      <vt:lpstr>宋体</vt:lpstr>
      <vt:lpstr>Wingdings</vt:lpstr>
      <vt:lpstr>Wingdings 3</vt:lpstr>
      <vt:lpstr>微软雅黑</vt:lpstr>
      <vt:lpstr>华康俪金黑W8(P)</vt:lpstr>
      <vt:lpstr>黑体</vt:lpstr>
      <vt:lpstr>经典繁仿黑</vt:lpstr>
      <vt:lpstr>华文中宋</vt:lpstr>
      <vt:lpstr>Arial Black</vt:lpstr>
      <vt:lpstr>Arial Unicode MS</vt:lpstr>
      <vt:lpstr>等线</vt:lpstr>
      <vt:lpstr>Times New Roman</vt:lpstr>
      <vt:lpstr>Wingdings</vt:lpstr>
      <vt:lpstr>积分</vt:lpstr>
      <vt:lpstr>软件工程 ——概述</vt:lpstr>
      <vt:lpstr>上课形式</vt:lpstr>
      <vt:lpstr>课程群</vt:lpstr>
      <vt:lpstr>课程群</vt:lpstr>
      <vt:lpstr>课程群</vt:lpstr>
      <vt:lpstr>PowerPoint 演示文稿</vt:lpstr>
      <vt:lpstr>PowerPoint 演示文稿</vt:lpstr>
      <vt:lpstr>软件工程专业就业形势</vt:lpstr>
      <vt:lpstr>网络工程专业就业形势</vt:lpstr>
      <vt:lpstr>软件行业发展形势</vt:lpstr>
      <vt:lpstr>软件形态发生了根本性变化</vt:lpstr>
      <vt:lpstr>软件行业发展趋势</vt:lpstr>
      <vt:lpstr>海绵城市智慧管理系统</vt:lpstr>
      <vt:lpstr>展望2025年智能软件工程</vt:lpstr>
      <vt:lpstr>AI时代对软件工程的影响</vt:lpstr>
      <vt:lpstr>PowerPoint 演示文稿</vt:lpstr>
      <vt:lpstr>PowerPoint 演示文稿</vt:lpstr>
      <vt:lpstr>现代软件研发对软件人才提出的要求 </vt:lpstr>
      <vt:lpstr>PowerPoint 演示文稿</vt:lpstr>
      <vt:lpstr>课程介绍</vt:lpstr>
      <vt:lpstr>课程介绍</vt:lpstr>
      <vt:lpstr>课程目标</vt:lpstr>
      <vt:lpstr>基本目标</vt:lpstr>
      <vt:lpstr>中国工程教育专业认证</vt:lpstr>
      <vt:lpstr>学习任务</vt:lpstr>
      <vt:lpstr>学习要求</vt:lpstr>
      <vt:lpstr>学习要求</vt:lpstr>
      <vt:lpstr>学习要求</vt:lpstr>
      <vt:lpstr>怎么学</vt:lpstr>
      <vt:lpstr>怎么学</vt:lpstr>
      <vt:lpstr>上课形式</vt:lpstr>
      <vt:lpstr>教材</vt:lpstr>
      <vt:lpstr>参考书</vt:lpstr>
      <vt:lpstr>参考书</vt:lpstr>
      <vt:lpstr>参考书</vt:lpstr>
      <vt:lpstr>学习资源</vt:lpstr>
      <vt:lpstr>学软件工程</vt:lpstr>
      <vt:lpstr>PowerPoint 演示文稿</vt:lpstr>
      <vt:lpstr>“工程”  在各种行业都有</vt:lpstr>
      <vt:lpstr>职业发展空间无限</vt:lpstr>
      <vt:lpstr>学习资源</vt:lpstr>
      <vt:lpstr>课程考核方式</vt:lpstr>
      <vt:lpstr>课程实践要求</vt:lpstr>
      <vt:lpstr>小组分配方式</vt:lpstr>
      <vt:lpstr>课程实践项目要求</vt:lpstr>
      <vt:lpstr>项目结项要求</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803</cp:revision>
  <dcterms:created xsi:type="dcterms:W3CDTF">2020-02-07T06:58:00Z</dcterms:created>
  <dcterms:modified xsi:type="dcterms:W3CDTF">2025-11-24T03:13:47Z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FA21BFD9B651410AA3157E3D73F4F32F_13</vt:lpwstr>
  </property>
  <property fmtid="{D5CDD505-2E9C-101B-9397-08002B2CF9AE}" pid="3" name="KSOProductBuildVer">
    <vt:lpwstr>2052-12.1.0.23542</vt:lpwstr>
  </property>
</Properties>
</file>