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10"/>
  </p:handoutMasterIdLst>
  <p:sldIdLst>
    <p:sldId id="938" r:id="rId3"/>
    <p:sldId id="1173" r:id="rId5"/>
    <p:sldId id="1307" r:id="rId6"/>
    <p:sldId id="1056" r:id="rId7"/>
    <p:sldId id="941" r:id="rId8"/>
    <p:sldId id="942" r:id="rId9"/>
    <p:sldId id="943" r:id="rId10"/>
    <p:sldId id="944" r:id="rId11"/>
    <p:sldId id="1309" r:id="rId12"/>
    <p:sldId id="1053" r:id="rId13"/>
    <p:sldId id="1054" r:id="rId14"/>
    <p:sldId id="1495" r:id="rId15"/>
    <p:sldId id="1496" r:id="rId16"/>
    <p:sldId id="1497" r:id="rId17"/>
    <p:sldId id="1403" r:id="rId18"/>
    <p:sldId id="1302" r:id="rId19"/>
    <p:sldId id="1303" r:id="rId20"/>
    <p:sldId id="1304" r:id="rId21"/>
    <p:sldId id="1305" r:id="rId22"/>
    <p:sldId id="1306" r:id="rId23"/>
    <p:sldId id="954" r:id="rId24"/>
    <p:sldId id="955" r:id="rId25"/>
    <p:sldId id="956" r:id="rId26"/>
    <p:sldId id="957" r:id="rId27"/>
    <p:sldId id="958" r:id="rId28"/>
    <p:sldId id="959" r:id="rId29"/>
    <p:sldId id="960" r:id="rId30"/>
    <p:sldId id="961" r:id="rId31"/>
    <p:sldId id="1310" r:id="rId32"/>
    <p:sldId id="1311" r:id="rId33"/>
    <p:sldId id="1312" r:id="rId34"/>
    <p:sldId id="964" r:id="rId35"/>
    <p:sldId id="1409" r:id="rId36"/>
    <p:sldId id="966" r:id="rId37"/>
    <p:sldId id="1404" r:id="rId38"/>
    <p:sldId id="1405" r:id="rId39"/>
    <p:sldId id="1406" r:id="rId40"/>
    <p:sldId id="1407" r:id="rId41"/>
    <p:sldId id="1408" r:id="rId42"/>
    <p:sldId id="1172" r:id="rId43"/>
    <p:sldId id="975" r:id="rId44"/>
    <p:sldId id="976" r:id="rId45"/>
    <p:sldId id="1175" r:id="rId46"/>
    <p:sldId id="1410" r:id="rId47"/>
    <p:sldId id="991" r:id="rId48"/>
    <p:sldId id="992" r:id="rId49"/>
    <p:sldId id="993" r:id="rId50"/>
    <p:sldId id="1328" r:id="rId51"/>
    <p:sldId id="1329" r:id="rId52"/>
    <p:sldId id="1316" r:id="rId53"/>
    <p:sldId id="1318" r:id="rId54"/>
    <p:sldId id="1319" r:id="rId55"/>
    <p:sldId id="1320" r:id="rId56"/>
    <p:sldId id="1321" r:id="rId57"/>
    <p:sldId id="1322" r:id="rId58"/>
    <p:sldId id="1323" r:id="rId59"/>
    <p:sldId id="1324" r:id="rId60"/>
    <p:sldId id="1325" r:id="rId61"/>
    <p:sldId id="1326" r:id="rId62"/>
    <p:sldId id="1327" r:id="rId63"/>
    <p:sldId id="1174" r:id="rId64"/>
    <p:sldId id="1264" r:id="rId65"/>
    <p:sldId id="995" r:id="rId66"/>
    <p:sldId id="996" r:id="rId67"/>
    <p:sldId id="1263" r:id="rId68"/>
    <p:sldId id="997" r:id="rId69"/>
    <p:sldId id="998" r:id="rId70"/>
    <p:sldId id="1315" r:id="rId71"/>
    <p:sldId id="999" r:id="rId72"/>
    <p:sldId id="1000" r:id="rId73"/>
    <p:sldId id="1001" r:id="rId74"/>
    <p:sldId id="1002" r:id="rId75"/>
    <p:sldId id="1003" r:id="rId76"/>
    <p:sldId id="1004" r:id="rId77"/>
    <p:sldId id="1005" r:id="rId78"/>
    <p:sldId id="1006" r:id="rId79"/>
    <p:sldId id="1007" r:id="rId80"/>
    <p:sldId id="1411" r:id="rId81"/>
    <p:sldId id="1008" r:id="rId82"/>
    <p:sldId id="1009" r:id="rId83"/>
    <p:sldId id="1010" r:id="rId84"/>
    <p:sldId id="1011" r:id="rId85"/>
    <p:sldId id="1012" r:id="rId86"/>
    <p:sldId id="1412" r:id="rId87"/>
    <p:sldId id="1013" r:id="rId88"/>
    <p:sldId id="1014" r:id="rId89"/>
    <p:sldId id="1015" r:id="rId90"/>
    <p:sldId id="1016" r:id="rId91"/>
    <p:sldId id="1017" r:id="rId92"/>
    <p:sldId id="1018" r:id="rId93"/>
    <p:sldId id="1413" r:id="rId94"/>
    <p:sldId id="1019" r:id="rId95"/>
    <p:sldId id="1020" r:id="rId96"/>
    <p:sldId id="1021" r:id="rId97"/>
    <p:sldId id="1414" r:id="rId98"/>
    <p:sldId id="1415" r:id="rId99"/>
    <p:sldId id="1416" r:id="rId100"/>
    <p:sldId id="1417" r:id="rId101"/>
    <p:sldId id="1418" r:id="rId102"/>
    <p:sldId id="1419" r:id="rId103"/>
    <p:sldId id="1422" r:id="rId104"/>
    <p:sldId id="1423" r:id="rId105"/>
    <p:sldId id="1420" r:id="rId106"/>
    <p:sldId id="1050" r:id="rId107"/>
    <p:sldId id="1051" r:id="rId108"/>
    <p:sldId id="1052" r:id="rId109"/>
  </p:sldIdLst>
  <p:sldSz cx="9144000" cy="5143500" type="screen16x9"/>
  <p:notesSz cx="6858000" cy="9144000"/>
  <p:custDataLst>
    <p:tags r:id="rId11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3" userDrawn="1">
          <p15:clr>
            <a:srgbClr val="A4A3A4"/>
          </p15:clr>
        </p15:guide>
        <p15:guide id="2" pos="28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0938" autoAdjust="0"/>
  </p:normalViewPr>
  <p:slideViewPr>
    <p:cSldViewPr snapToGrid="0" showGuides="1">
      <p:cViewPr varScale="1">
        <p:scale>
          <a:sx n="94" d="100"/>
          <a:sy n="94" d="100"/>
        </p:scale>
        <p:origin x="1336" y="56"/>
      </p:cViewPr>
      <p:guideLst>
        <p:guide orient="horz" pos="1583"/>
        <p:guide pos="281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4" Type="http://schemas.openxmlformats.org/officeDocument/2006/relationships/tags" Target="tags/tag3.xml"/><Relationship Id="rId113" Type="http://schemas.openxmlformats.org/officeDocument/2006/relationships/tableStyles" Target="tableStyles.xml"/><Relationship Id="rId112" Type="http://schemas.openxmlformats.org/officeDocument/2006/relationships/viewProps" Target="viewProps.xml"/><Relationship Id="rId111" Type="http://schemas.openxmlformats.org/officeDocument/2006/relationships/presProps" Target="presProps.xml"/><Relationship Id="rId110" Type="http://schemas.openxmlformats.org/officeDocument/2006/relationships/handoutMaster" Target="handoutMasters/handoutMaster1.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dirty="0">
                <a:latin typeface="+mn-ea"/>
                <a:sym typeface="+mn-ea"/>
              </a:rPr>
              <a:t>IBM</a:t>
            </a:r>
            <a:r>
              <a:rPr lang="zh-CN" altLang="en-US" dirty="0">
                <a:latin typeface="+mn-ea"/>
                <a:sym typeface="+mn-ea"/>
              </a:rPr>
              <a:t>公司开发</a:t>
            </a:r>
            <a:r>
              <a:rPr lang="en-US" altLang="zh-CN" dirty="0">
                <a:latin typeface="+mn-ea"/>
                <a:sym typeface="+mn-ea"/>
              </a:rPr>
              <a:t>OS/360</a:t>
            </a:r>
            <a:r>
              <a:rPr lang="zh-CN" altLang="en-US" dirty="0">
                <a:latin typeface="+mn-ea"/>
                <a:sym typeface="+mn-ea"/>
              </a:rPr>
              <a:t>系统，共有4000多个模块，约100万条指令，投入到这个项目中的软件工程师超过</a:t>
            </a:r>
            <a:r>
              <a:rPr lang="en-US" altLang="zh-CN" dirty="0">
                <a:latin typeface="+mn-ea"/>
                <a:sym typeface="+mn-ea"/>
              </a:rPr>
              <a:t>2000</a:t>
            </a:r>
            <a:r>
              <a:rPr lang="zh-CN" altLang="en-US" dirty="0">
                <a:latin typeface="+mn-ea"/>
                <a:sym typeface="+mn-ea"/>
              </a:rPr>
              <a:t>人，计划耗时5000人年（实际起始时间</a:t>
            </a:r>
            <a:r>
              <a:rPr lang="en-US" altLang="zh-CN" dirty="0">
                <a:latin typeface="+mn-ea"/>
                <a:sym typeface="+mn-ea"/>
              </a:rPr>
              <a:t>1961</a:t>
            </a:r>
            <a:r>
              <a:rPr lang="zh-CN" altLang="en-US" dirty="0">
                <a:latin typeface="+mn-ea"/>
                <a:sym typeface="+mn-ea"/>
              </a:rPr>
              <a:t>年至</a:t>
            </a:r>
            <a:r>
              <a:rPr lang="en-US" altLang="zh-CN" dirty="0">
                <a:latin typeface="+mn-ea"/>
                <a:sym typeface="+mn-ea"/>
              </a:rPr>
              <a:t>1964</a:t>
            </a:r>
            <a:r>
              <a:rPr lang="zh-CN" altLang="en-US" dirty="0">
                <a:latin typeface="+mn-ea"/>
                <a:sym typeface="+mn-ea"/>
              </a:rPr>
              <a:t>年），耗资</a:t>
            </a:r>
            <a:r>
              <a:rPr lang="en-US" altLang="zh-CN" dirty="0">
                <a:latin typeface="+mn-ea"/>
                <a:sym typeface="+mn-ea"/>
              </a:rPr>
              <a:t>5</a:t>
            </a:r>
            <a:r>
              <a:rPr lang="zh-CN" altLang="en-US" dirty="0">
                <a:latin typeface="+mn-ea"/>
                <a:sym typeface="+mn-ea"/>
              </a:rPr>
              <a:t>亿美元，结果还是延期交付。在交付使用后的系统中仍发现大量（2000个以上）的错误。</a:t>
            </a:r>
            <a:r>
              <a:rPr lang="en-US" altLang="zh-CN" dirty="0">
                <a:latin typeface="+mn-ea"/>
                <a:sym typeface="+mn-ea"/>
              </a:rPr>
              <a:t> OS/360</a:t>
            </a:r>
            <a:r>
              <a:rPr lang="zh-CN" altLang="en-US" dirty="0">
                <a:latin typeface="+mn-ea"/>
                <a:sym typeface="+mn-ea"/>
              </a:rPr>
              <a:t>系统的负责人</a:t>
            </a:r>
            <a:r>
              <a:rPr lang="en-US" altLang="zh-CN" dirty="0">
                <a:latin typeface="+mn-ea"/>
                <a:sym typeface="+mn-ea"/>
              </a:rPr>
              <a:t>Brooks</a:t>
            </a:r>
            <a:r>
              <a:rPr lang="zh-CN" altLang="en-US" dirty="0">
                <a:latin typeface="+mn-ea"/>
                <a:sym typeface="+mn-ea"/>
              </a:rPr>
              <a:t>这样描述开发过程的困难和混乱：“</a:t>
            </a:r>
            <a:r>
              <a:rPr lang="en-US" altLang="zh-CN" dirty="0">
                <a:latin typeface="+mn-ea"/>
                <a:sym typeface="+mn-ea"/>
              </a:rPr>
              <a:t>…</a:t>
            </a:r>
            <a:r>
              <a:rPr lang="zh-CN" altLang="en-US" dirty="0">
                <a:latin typeface="+mn-ea"/>
                <a:sym typeface="+mn-ea"/>
              </a:rPr>
              <a:t>像巨兽在泥潭中作垂死挣扎，挣扎得越猛，泥浆就沾得越多，最后没有一个野兽能够逃脱淹没在泥潭中的命运。</a:t>
            </a:r>
            <a:r>
              <a:rPr lang="en-US" altLang="zh-CN" dirty="0">
                <a:latin typeface="+mn-ea"/>
                <a:sym typeface="+mn-ea"/>
              </a:rPr>
              <a:t>…”</a:t>
            </a:r>
            <a:endParaRPr lang="zh-CN" altLang="en-US" dirty="0">
              <a:latin typeface="+mn-ea"/>
            </a:endParaRPr>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514350" rtl="0" eaLnBrk="1" fontAlgn="auto" latinLnBrk="0" hangingPunct="1">
              <a:lnSpc>
                <a:spcPct val="100000"/>
              </a:lnSpc>
              <a:spcBef>
                <a:spcPts val="0"/>
              </a:spcBef>
              <a:spcAft>
                <a:spcPts val="0"/>
              </a:spcAft>
              <a:buClrTx/>
              <a:buSzTx/>
              <a:buFontTx/>
              <a:buNone/>
              <a:defRPr/>
            </a:pPr>
            <a:r>
              <a:rPr lang="zh-CN" altLang="en-US" sz="800" dirty="0" smtClean="0"/>
              <a:t>软件工程是从管理和技术两个方面研究如何更好地开发和维护计算机软件的学科。</a:t>
            </a:r>
            <a:endParaRPr lang="en-US" altLang="zh-CN" sz="800" dirty="0" smtClean="0"/>
          </a:p>
          <a:p>
            <a:pPr marL="0" marR="0" lvl="0" indent="0" algn="l" defTabSz="514350" rtl="0" eaLnBrk="1" fontAlgn="auto" latinLnBrk="0" hangingPunct="1">
              <a:lnSpc>
                <a:spcPct val="100000"/>
              </a:lnSpc>
              <a:spcBef>
                <a:spcPts val="0"/>
              </a:spcBef>
              <a:spcAft>
                <a:spcPts val="0"/>
              </a:spcAft>
              <a:buClrTx/>
              <a:buSzTx/>
              <a:buFontTx/>
              <a:buNone/>
              <a:defRPr/>
            </a:pPr>
            <a:r>
              <a:rPr lang="zh-CN" altLang="en-US" sz="800" b="0" dirty="0" smtClean="0"/>
              <a:t>软件工程的目的就是为开发高质量的软件产品提供一个工程框架。</a:t>
            </a:r>
            <a:endParaRPr lang="en-US" altLang="zh-CN" sz="800" b="0" dirty="0" smtClean="0"/>
          </a:p>
          <a:p>
            <a:pPr marL="0" marR="0" lvl="0" indent="0" algn="l" defTabSz="514350" rtl="0" eaLnBrk="1" fontAlgn="auto" latinLnBrk="0" hangingPunct="1">
              <a:lnSpc>
                <a:spcPct val="100000"/>
              </a:lnSpc>
              <a:spcBef>
                <a:spcPts val="0"/>
              </a:spcBef>
              <a:spcAft>
                <a:spcPts val="0"/>
              </a:spcAft>
              <a:buClrTx/>
              <a:buSzTx/>
              <a:buFontTx/>
              <a:buNone/>
              <a:defRPr/>
            </a:pPr>
            <a:endParaRPr lang="zh-CN" altLang="en-US" sz="800" dirty="0" smtClean="0"/>
          </a:p>
          <a:p>
            <a:r>
              <a:rPr lang="en-US" altLang="zh-CN" sz="800" dirty="0" smtClean="0"/>
              <a:t>1968</a:t>
            </a:r>
            <a:r>
              <a:rPr lang="zh-CN" altLang="en-US" sz="800" dirty="0" smtClean="0"/>
              <a:t>年，北大西洋公约组织（</a:t>
            </a:r>
            <a:r>
              <a:rPr lang="en-US" altLang="zh-CN" sz="800" dirty="0" smtClean="0"/>
              <a:t>NATO</a:t>
            </a:r>
            <a:r>
              <a:rPr lang="zh-CN" altLang="en-US" sz="800" dirty="0" smtClean="0"/>
              <a:t>）在德国慕尼黑召开国际会议，提出“软件工程”的概念和术语。</a:t>
            </a:r>
            <a:endParaRPr lang="zh-CN" altLang="en-US" sz="800"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nSpc>
                <a:spcPct val="120000"/>
              </a:lnSpc>
            </a:pPr>
            <a:r>
              <a:rPr lang="zh-CN" altLang="en-US" dirty="0" smtClean="0"/>
              <a:t>哲学家的宗旨是：我思，故我在 </a:t>
            </a:r>
            <a:endParaRPr lang="en-US" altLang="zh-CN" dirty="0" smtClean="0"/>
          </a:p>
          <a:p>
            <a:pPr>
              <a:lnSpc>
                <a:spcPct val="120000"/>
              </a:lnSpc>
            </a:pPr>
            <a:r>
              <a:rPr lang="zh-CN" altLang="en-US" dirty="0" smtClean="0"/>
              <a:t>科学家的宗旨是：我发现，故我在 </a:t>
            </a:r>
            <a:endParaRPr lang="en-US" altLang="zh-CN" dirty="0" smtClean="0"/>
          </a:p>
          <a:p>
            <a:pPr>
              <a:lnSpc>
                <a:spcPct val="120000"/>
              </a:lnSpc>
            </a:pPr>
            <a:r>
              <a:rPr lang="zh-CN" altLang="en-US" dirty="0" smtClean="0"/>
              <a:t>工程师的宗旨是：我构建，故我在</a:t>
            </a:r>
            <a:endParaRPr lang="en-US" altLang="zh-CN" dirty="0" smtClean="0"/>
          </a:p>
          <a:p>
            <a:endParaRPr lang="en-US" dirty="0"/>
          </a:p>
        </p:txBody>
      </p:sp>
      <p:sp>
        <p:nvSpPr>
          <p:cNvPr id="4" name="Slide Number Placeholder 3"/>
          <p:cNvSpPr>
            <a:spLocks noGrp="1"/>
          </p:cNvSpPr>
          <p:nvPr>
            <p:ph type="sldNum" sz="quarter" idx="5"/>
          </p:nvPr>
        </p:nvSpPr>
        <p:spPr/>
        <p:txBody>
          <a:bodyPr/>
          <a:lstStyle/>
          <a:p>
            <a:pPr>
              <a:defRPr/>
            </a:pPr>
            <a:fld id="{C5ADAB1E-5BE0-4555-8709-524C8D586A6B}"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ts val="600"/>
              </a:spcBef>
            </a:pPr>
            <a:r>
              <a:rPr lang="zh-CN" altLang="en-US" sz="1000" b="0" dirty="0" smtClean="0">
                <a:solidFill>
                  <a:schemeClr val="bg1"/>
                </a:solidFill>
                <a:effectLst>
                  <a:outerShdw blurRad="38100" dist="38100" dir="2700000" algn="tl">
                    <a:srgbClr val="000000">
                      <a:alpha val="43137"/>
                    </a:srgbClr>
                  </a:outerShdw>
                </a:effectLst>
              </a:rPr>
              <a:t>软件工程过程</a:t>
            </a:r>
            <a:r>
              <a:rPr lang="zh-CN" altLang="en-US" sz="800" b="0" dirty="0" smtClean="0">
                <a:solidFill>
                  <a:schemeClr val="bg1"/>
                </a:solidFill>
                <a:effectLst>
                  <a:outerShdw blurRad="38100" dist="38100" dir="2700000" algn="tl">
                    <a:srgbClr val="000000">
                      <a:alpha val="43137"/>
                    </a:srgbClr>
                  </a:outerShdw>
                </a:effectLst>
              </a:rPr>
              <a:t>（</a:t>
            </a:r>
            <a:r>
              <a:rPr lang="en-US" altLang="zh-CN" sz="800" b="0" dirty="0" smtClean="0">
                <a:solidFill>
                  <a:schemeClr val="bg1"/>
                </a:solidFill>
                <a:effectLst>
                  <a:outerShdw blurRad="38100" dist="38100" dir="2700000" algn="tl">
                    <a:srgbClr val="000000">
                      <a:alpha val="43137"/>
                    </a:srgbClr>
                  </a:outerShdw>
                </a:effectLst>
              </a:rPr>
              <a:t>Software Engineering Process</a:t>
            </a:r>
            <a:r>
              <a:rPr lang="zh-CN" altLang="en-US" sz="800" b="0" dirty="0" smtClean="0">
                <a:solidFill>
                  <a:schemeClr val="bg1"/>
                </a:solidFill>
                <a:effectLst>
                  <a:outerShdw blurRad="38100" dist="38100" dir="2700000" algn="tl">
                    <a:srgbClr val="000000">
                      <a:alpha val="43137"/>
                    </a:srgbClr>
                  </a:outerShdw>
                </a:effectLst>
              </a:rPr>
              <a:t>）</a:t>
            </a:r>
            <a:endParaRPr lang="en-US" altLang="zh-CN" sz="800" b="0" dirty="0" smtClean="0">
              <a:solidFill>
                <a:schemeClr val="bg1"/>
              </a:solidFill>
              <a:effectLst>
                <a:outerShdw blurRad="38100" dist="38100" dir="2700000" algn="tl">
                  <a:srgbClr val="000000">
                    <a:alpha val="43137"/>
                  </a:srgbClr>
                </a:outerShdw>
              </a:effectLst>
            </a:endParaRPr>
          </a:p>
          <a:p>
            <a:pPr>
              <a:spcBef>
                <a:spcPts val="600"/>
              </a:spcBef>
            </a:pPr>
            <a:r>
              <a:rPr lang="zh-CN" altLang="en-US" sz="1000" b="0" dirty="0" smtClean="0">
                <a:solidFill>
                  <a:schemeClr val="bg1"/>
                </a:solidFill>
                <a:effectLst>
                  <a:outerShdw blurRad="38100" dist="38100" dir="2700000" algn="tl">
                    <a:srgbClr val="000000">
                      <a:alpha val="43137"/>
                    </a:srgbClr>
                  </a:outerShdw>
                </a:effectLst>
              </a:rPr>
              <a:t>软件工程工具和方法</a:t>
            </a:r>
            <a:r>
              <a:rPr lang="zh-CN" altLang="en-US" sz="800" b="0" dirty="0" smtClean="0">
                <a:solidFill>
                  <a:schemeClr val="bg1"/>
                </a:solidFill>
                <a:effectLst>
                  <a:outerShdw blurRad="38100" dist="38100" dir="2700000" algn="tl">
                    <a:srgbClr val="000000">
                      <a:alpha val="43137"/>
                    </a:srgbClr>
                  </a:outerShdw>
                </a:effectLst>
              </a:rPr>
              <a:t>（</a:t>
            </a:r>
            <a:r>
              <a:rPr lang="en-US" altLang="zh-CN" sz="800" b="0" dirty="0" smtClean="0">
                <a:solidFill>
                  <a:schemeClr val="bg1"/>
                </a:solidFill>
                <a:effectLst>
                  <a:outerShdw blurRad="38100" dist="38100" dir="2700000" algn="tl">
                    <a:srgbClr val="000000">
                      <a:alpha val="43137"/>
                    </a:srgbClr>
                  </a:outerShdw>
                </a:effectLst>
              </a:rPr>
              <a:t>Software Engineering Tools and Methods</a:t>
            </a:r>
            <a:r>
              <a:rPr lang="zh-CN" altLang="en-US" sz="800" b="0" dirty="0" smtClean="0">
                <a:solidFill>
                  <a:schemeClr val="bg1"/>
                </a:solidFill>
                <a:effectLst>
                  <a:outerShdw blurRad="38100" dist="38100" dir="2700000" algn="tl">
                    <a:srgbClr val="000000">
                      <a:alpha val="43137"/>
                    </a:srgbClr>
                  </a:outerShdw>
                </a:effectLst>
              </a:rPr>
              <a:t>）</a:t>
            </a:r>
            <a:endParaRPr lang="en-US" altLang="zh-CN" sz="1000" b="0" dirty="0" smtClean="0">
              <a:solidFill>
                <a:schemeClr val="bg1"/>
              </a:solidFill>
              <a:effectLst>
                <a:outerShdw blurRad="38100" dist="38100" dir="2700000" algn="tl">
                  <a:srgbClr val="000000">
                    <a:alpha val="43137"/>
                  </a:srgbClr>
                </a:outerShdw>
              </a:effectLst>
            </a:endParaRPr>
          </a:p>
          <a:p>
            <a:pPr>
              <a:spcBef>
                <a:spcPts val="600"/>
              </a:spcBef>
            </a:pPr>
            <a:r>
              <a:rPr lang="zh-CN" altLang="en-US" sz="1000" b="0" dirty="0" smtClean="0">
                <a:solidFill>
                  <a:schemeClr val="bg1"/>
                </a:solidFill>
                <a:effectLst>
                  <a:outerShdw blurRad="38100" dist="38100" dir="2700000" algn="tl">
                    <a:srgbClr val="000000">
                      <a:alpha val="43137"/>
                    </a:srgbClr>
                  </a:outerShdw>
                </a:effectLst>
              </a:rPr>
              <a:t>软件需求</a:t>
            </a:r>
            <a:r>
              <a:rPr lang="zh-CN" altLang="en-US" sz="800" b="0" dirty="0" smtClean="0">
                <a:solidFill>
                  <a:schemeClr val="bg1"/>
                </a:solidFill>
                <a:effectLst>
                  <a:outerShdw blurRad="38100" dist="38100" dir="2700000" algn="tl">
                    <a:srgbClr val="000000">
                      <a:alpha val="43137"/>
                    </a:srgbClr>
                  </a:outerShdw>
                </a:effectLst>
              </a:rPr>
              <a:t>（</a:t>
            </a:r>
            <a:r>
              <a:rPr lang="en-US" altLang="zh-CN" sz="800" b="0" dirty="0" smtClean="0">
                <a:solidFill>
                  <a:schemeClr val="bg1"/>
                </a:solidFill>
                <a:effectLst>
                  <a:outerShdw blurRad="38100" dist="38100" dir="2700000" algn="tl">
                    <a:srgbClr val="000000">
                      <a:alpha val="43137"/>
                    </a:srgbClr>
                  </a:outerShdw>
                </a:effectLst>
              </a:rPr>
              <a:t>Software Requirement</a:t>
            </a:r>
            <a:r>
              <a:rPr lang="zh-CN" altLang="en-US" sz="800" b="0" dirty="0" smtClean="0">
                <a:solidFill>
                  <a:schemeClr val="bg1"/>
                </a:solidFill>
                <a:effectLst>
                  <a:outerShdw blurRad="38100" dist="38100" dir="2700000" algn="tl">
                    <a:srgbClr val="000000">
                      <a:alpha val="43137"/>
                    </a:srgbClr>
                  </a:outerShdw>
                </a:effectLst>
              </a:rPr>
              <a:t>）</a:t>
            </a:r>
            <a:endParaRPr lang="en-US" altLang="zh-CN" sz="1000" b="0" dirty="0" smtClean="0">
              <a:solidFill>
                <a:schemeClr val="bg1"/>
              </a:solidFill>
              <a:effectLst>
                <a:outerShdw blurRad="38100" dist="38100" dir="2700000" algn="tl">
                  <a:srgbClr val="000000">
                    <a:alpha val="43137"/>
                  </a:srgbClr>
                </a:outerShdw>
              </a:effectLst>
            </a:endParaRPr>
          </a:p>
          <a:p>
            <a:pPr>
              <a:spcBef>
                <a:spcPts val="600"/>
              </a:spcBef>
            </a:pPr>
            <a:r>
              <a:rPr lang="zh-CN" altLang="en-US" sz="1000" b="0" dirty="0" smtClean="0">
                <a:solidFill>
                  <a:schemeClr val="bg1"/>
                </a:solidFill>
                <a:effectLst>
                  <a:outerShdw blurRad="38100" dist="38100" dir="2700000" algn="tl">
                    <a:srgbClr val="000000">
                      <a:alpha val="43137"/>
                    </a:srgbClr>
                  </a:outerShdw>
                </a:effectLst>
              </a:rPr>
              <a:t>软件设计</a:t>
            </a:r>
            <a:r>
              <a:rPr lang="zh-CN" altLang="en-US" sz="800" b="0" dirty="0" smtClean="0">
                <a:solidFill>
                  <a:schemeClr val="bg1"/>
                </a:solidFill>
                <a:effectLst>
                  <a:outerShdw blurRad="38100" dist="38100" dir="2700000" algn="tl">
                    <a:srgbClr val="000000">
                      <a:alpha val="43137"/>
                    </a:srgbClr>
                  </a:outerShdw>
                </a:effectLst>
              </a:rPr>
              <a:t>（</a:t>
            </a:r>
            <a:r>
              <a:rPr lang="en-US" altLang="zh-CN" sz="800" b="0" dirty="0" smtClean="0">
                <a:solidFill>
                  <a:schemeClr val="bg1"/>
                </a:solidFill>
                <a:effectLst>
                  <a:outerShdw blurRad="38100" dist="38100" dir="2700000" algn="tl">
                    <a:srgbClr val="000000">
                      <a:alpha val="43137"/>
                    </a:srgbClr>
                  </a:outerShdw>
                </a:effectLst>
              </a:rPr>
              <a:t>Software Design</a:t>
            </a:r>
            <a:r>
              <a:rPr lang="zh-CN" altLang="en-US" sz="800" b="0" dirty="0" smtClean="0">
                <a:solidFill>
                  <a:schemeClr val="bg1"/>
                </a:solidFill>
                <a:effectLst>
                  <a:outerShdw blurRad="38100" dist="38100" dir="2700000" algn="tl">
                    <a:srgbClr val="000000">
                      <a:alpha val="43137"/>
                    </a:srgbClr>
                  </a:outerShdw>
                </a:effectLst>
              </a:rPr>
              <a:t>）</a:t>
            </a:r>
            <a:endParaRPr lang="en-US" altLang="zh-CN" sz="800" b="0" dirty="0" smtClean="0">
              <a:solidFill>
                <a:schemeClr val="bg1"/>
              </a:solidFill>
              <a:effectLst>
                <a:outerShdw blurRad="38100" dist="38100" dir="2700000" algn="tl">
                  <a:srgbClr val="000000">
                    <a:alpha val="43137"/>
                  </a:srgbClr>
                </a:outerShdw>
              </a:effectLst>
            </a:endParaRPr>
          </a:p>
          <a:p>
            <a:pPr>
              <a:spcBef>
                <a:spcPts val="600"/>
              </a:spcBef>
            </a:pPr>
            <a:r>
              <a:rPr lang="zh-CN" altLang="en-US" sz="1000" b="0" dirty="0" smtClean="0">
                <a:solidFill>
                  <a:schemeClr val="bg1"/>
                </a:solidFill>
                <a:effectLst>
                  <a:outerShdw blurRad="38100" dist="38100" dir="2700000" algn="tl">
                    <a:srgbClr val="000000">
                      <a:alpha val="43137"/>
                    </a:srgbClr>
                  </a:outerShdw>
                </a:effectLst>
              </a:rPr>
              <a:t>软件构造</a:t>
            </a:r>
            <a:r>
              <a:rPr lang="zh-CN" altLang="en-US" sz="800" b="0" dirty="0" smtClean="0">
                <a:solidFill>
                  <a:schemeClr val="bg1"/>
                </a:solidFill>
                <a:effectLst>
                  <a:outerShdw blurRad="38100" dist="38100" dir="2700000" algn="tl">
                    <a:srgbClr val="000000">
                      <a:alpha val="43137"/>
                    </a:srgbClr>
                  </a:outerShdw>
                </a:effectLst>
              </a:rPr>
              <a:t>（</a:t>
            </a:r>
            <a:r>
              <a:rPr lang="en-US" altLang="zh-CN" sz="800" b="0" dirty="0" smtClean="0">
                <a:solidFill>
                  <a:schemeClr val="bg1"/>
                </a:solidFill>
                <a:effectLst>
                  <a:outerShdw blurRad="38100" dist="38100" dir="2700000" algn="tl">
                    <a:srgbClr val="000000">
                      <a:alpha val="43137"/>
                    </a:srgbClr>
                  </a:outerShdw>
                </a:effectLst>
              </a:rPr>
              <a:t>Software Construction</a:t>
            </a:r>
            <a:r>
              <a:rPr lang="zh-CN" altLang="en-US" sz="800" b="0" dirty="0" smtClean="0">
                <a:solidFill>
                  <a:schemeClr val="bg1"/>
                </a:solidFill>
                <a:effectLst>
                  <a:outerShdw blurRad="38100" dist="38100" dir="2700000" algn="tl">
                    <a:srgbClr val="000000">
                      <a:alpha val="43137"/>
                    </a:srgbClr>
                  </a:outerShdw>
                </a:effectLst>
              </a:rPr>
              <a:t>）</a:t>
            </a:r>
            <a:endParaRPr lang="en-US" altLang="zh-CN" sz="800" b="0" dirty="0" smtClean="0">
              <a:solidFill>
                <a:schemeClr val="bg1"/>
              </a:solidFill>
              <a:effectLst>
                <a:outerShdw blurRad="38100" dist="38100" dir="2700000" algn="tl">
                  <a:srgbClr val="000000">
                    <a:alpha val="43137"/>
                  </a:srgbClr>
                </a:outerShdw>
              </a:effectLst>
            </a:endParaRPr>
          </a:p>
          <a:p>
            <a:pPr>
              <a:spcBef>
                <a:spcPts val="600"/>
              </a:spcBef>
            </a:pPr>
            <a:r>
              <a:rPr lang="zh-CN" altLang="en-US" sz="1000" b="0" dirty="0" smtClean="0">
                <a:solidFill>
                  <a:schemeClr val="bg1"/>
                </a:solidFill>
                <a:effectLst>
                  <a:outerShdw blurRad="38100" dist="38100" dir="2700000" algn="tl">
                    <a:srgbClr val="000000">
                      <a:alpha val="43137"/>
                    </a:srgbClr>
                  </a:outerShdw>
                </a:effectLst>
              </a:rPr>
              <a:t>软件测试</a:t>
            </a:r>
            <a:r>
              <a:rPr lang="zh-CN" altLang="en-US" sz="800" b="0" dirty="0" smtClean="0">
                <a:solidFill>
                  <a:schemeClr val="bg1"/>
                </a:solidFill>
                <a:effectLst>
                  <a:outerShdw blurRad="38100" dist="38100" dir="2700000" algn="tl">
                    <a:srgbClr val="000000">
                      <a:alpha val="43137"/>
                    </a:srgbClr>
                  </a:outerShdw>
                </a:effectLst>
              </a:rPr>
              <a:t>（</a:t>
            </a:r>
            <a:r>
              <a:rPr lang="en-US" altLang="zh-CN" sz="800" b="0" dirty="0" smtClean="0">
                <a:solidFill>
                  <a:schemeClr val="bg1"/>
                </a:solidFill>
                <a:effectLst>
                  <a:outerShdw blurRad="38100" dist="38100" dir="2700000" algn="tl">
                    <a:srgbClr val="000000">
                      <a:alpha val="43137"/>
                    </a:srgbClr>
                  </a:outerShdw>
                </a:effectLst>
              </a:rPr>
              <a:t>Software Testing</a:t>
            </a:r>
            <a:r>
              <a:rPr lang="zh-CN" altLang="en-US" sz="800" b="0" dirty="0" smtClean="0">
                <a:solidFill>
                  <a:schemeClr val="bg1"/>
                </a:solidFill>
                <a:effectLst>
                  <a:outerShdw blurRad="38100" dist="38100" dir="2700000" algn="tl">
                    <a:srgbClr val="000000">
                      <a:alpha val="43137"/>
                    </a:srgbClr>
                  </a:outerShdw>
                </a:effectLst>
              </a:rPr>
              <a:t>）</a:t>
            </a:r>
            <a:endParaRPr lang="en-US" altLang="zh-CN" sz="800" b="0" dirty="0" smtClean="0">
              <a:solidFill>
                <a:schemeClr val="bg1"/>
              </a:solidFill>
              <a:effectLst>
                <a:outerShdw blurRad="38100" dist="38100" dir="2700000" algn="tl">
                  <a:srgbClr val="000000">
                    <a:alpha val="43137"/>
                  </a:srgbClr>
                </a:outerShdw>
              </a:effectLst>
            </a:endParaRPr>
          </a:p>
          <a:p>
            <a:pPr>
              <a:spcBef>
                <a:spcPts val="600"/>
              </a:spcBef>
            </a:pPr>
            <a:r>
              <a:rPr lang="zh-CN" altLang="en-US" sz="1000" b="0" dirty="0" smtClean="0">
                <a:solidFill>
                  <a:schemeClr val="bg1"/>
                </a:solidFill>
                <a:effectLst>
                  <a:outerShdw blurRad="38100" dist="38100" dir="2700000" algn="tl">
                    <a:srgbClr val="000000">
                      <a:alpha val="43137"/>
                    </a:srgbClr>
                  </a:outerShdw>
                </a:effectLst>
              </a:rPr>
              <a:t>软件维护</a:t>
            </a:r>
            <a:r>
              <a:rPr lang="zh-CN" altLang="en-US" sz="800" b="0" dirty="0" smtClean="0">
                <a:solidFill>
                  <a:schemeClr val="bg1"/>
                </a:solidFill>
                <a:effectLst>
                  <a:outerShdw blurRad="38100" dist="38100" dir="2700000" algn="tl">
                    <a:srgbClr val="000000">
                      <a:alpha val="43137"/>
                    </a:srgbClr>
                  </a:outerShdw>
                </a:effectLst>
              </a:rPr>
              <a:t>（</a:t>
            </a:r>
            <a:r>
              <a:rPr lang="en-US" altLang="zh-CN" sz="800" b="0" dirty="0" smtClean="0">
                <a:solidFill>
                  <a:schemeClr val="bg1"/>
                </a:solidFill>
                <a:effectLst>
                  <a:outerShdw blurRad="38100" dist="38100" dir="2700000" algn="tl">
                    <a:srgbClr val="000000">
                      <a:alpha val="43137"/>
                    </a:srgbClr>
                  </a:outerShdw>
                </a:effectLst>
              </a:rPr>
              <a:t>Software Maintenance</a:t>
            </a:r>
            <a:r>
              <a:rPr lang="zh-CN" altLang="en-US" sz="800" b="0" dirty="0" smtClean="0">
                <a:solidFill>
                  <a:schemeClr val="bg1"/>
                </a:solidFill>
                <a:effectLst>
                  <a:outerShdw blurRad="38100" dist="38100" dir="2700000" algn="tl">
                    <a:srgbClr val="000000">
                      <a:alpha val="43137"/>
                    </a:srgbClr>
                  </a:outerShdw>
                </a:effectLst>
              </a:rPr>
              <a:t>）</a:t>
            </a:r>
            <a:endParaRPr lang="en-US" altLang="zh-CN" sz="800" b="0" dirty="0" smtClean="0">
              <a:solidFill>
                <a:schemeClr val="bg1"/>
              </a:solidFill>
              <a:effectLst>
                <a:outerShdw blurRad="38100" dist="38100" dir="2700000" algn="tl">
                  <a:srgbClr val="000000">
                    <a:alpha val="43137"/>
                  </a:srgbClr>
                </a:outerShdw>
              </a:effectLst>
            </a:endParaRPr>
          </a:p>
          <a:p>
            <a:pPr>
              <a:spcBef>
                <a:spcPts val="600"/>
              </a:spcBef>
            </a:pPr>
            <a:r>
              <a:rPr lang="zh-CN" altLang="en-US" sz="1000" b="0" dirty="0" smtClean="0">
                <a:solidFill>
                  <a:schemeClr val="bg1"/>
                </a:solidFill>
                <a:effectLst>
                  <a:outerShdw blurRad="38100" dist="38100" dir="2700000" algn="tl">
                    <a:srgbClr val="000000">
                      <a:alpha val="43137"/>
                    </a:srgbClr>
                  </a:outerShdw>
                </a:effectLst>
              </a:rPr>
              <a:t>软件配置管理</a:t>
            </a:r>
            <a:r>
              <a:rPr lang="zh-CN" altLang="en-US" sz="800" b="0" dirty="0" smtClean="0">
                <a:solidFill>
                  <a:schemeClr val="bg1"/>
                </a:solidFill>
                <a:effectLst>
                  <a:outerShdw blurRad="38100" dist="38100" dir="2700000" algn="tl">
                    <a:srgbClr val="000000">
                      <a:alpha val="43137"/>
                    </a:srgbClr>
                  </a:outerShdw>
                </a:effectLst>
              </a:rPr>
              <a:t>（</a:t>
            </a:r>
            <a:r>
              <a:rPr lang="en-US" altLang="zh-CN" sz="800" b="0" dirty="0" smtClean="0">
                <a:solidFill>
                  <a:schemeClr val="bg1"/>
                </a:solidFill>
                <a:effectLst>
                  <a:outerShdw blurRad="38100" dist="38100" dir="2700000" algn="tl">
                    <a:srgbClr val="000000">
                      <a:alpha val="43137"/>
                    </a:srgbClr>
                  </a:outerShdw>
                </a:effectLst>
              </a:rPr>
              <a:t>Software Configuration Management</a:t>
            </a:r>
            <a:r>
              <a:rPr lang="zh-CN" altLang="en-US" sz="800" b="0" dirty="0" smtClean="0">
                <a:solidFill>
                  <a:schemeClr val="bg1"/>
                </a:solidFill>
                <a:effectLst>
                  <a:outerShdw blurRad="38100" dist="38100" dir="2700000" algn="tl">
                    <a:srgbClr val="000000">
                      <a:alpha val="43137"/>
                    </a:srgbClr>
                  </a:outerShdw>
                </a:effectLst>
              </a:rPr>
              <a:t>）</a:t>
            </a:r>
            <a:endParaRPr lang="en-US" altLang="zh-CN" sz="1000" b="0" dirty="0" smtClean="0">
              <a:solidFill>
                <a:schemeClr val="bg1"/>
              </a:solidFill>
              <a:effectLst>
                <a:outerShdw blurRad="38100" dist="38100" dir="2700000" algn="tl">
                  <a:srgbClr val="000000">
                    <a:alpha val="43137"/>
                  </a:srgbClr>
                </a:outerShdw>
              </a:effectLst>
            </a:endParaRPr>
          </a:p>
          <a:p>
            <a:pPr>
              <a:spcBef>
                <a:spcPts val="600"/>
              </a:spcBef>
            </a:pPr>
            <a:r>
              <a:rPr lang="zh-CN" altLang="en-US" sz="1000" b="0" dirty="0" smtClean="0">
                <a:solidFill>
                  <a:schemeClr val="bg1"/>
                </a:solidFill>
                <a:effectLst>
                  <a:outerShdw blurRad="38100" dist="38100" dir="2700000" algn="tl">
                    <a:srgbClr val="000000">
                      <a:alpha val="43137"/>
                    </a:srgbClr>
                  </a:outerShdw>
                </a:effectLst>
              </a:rPr>
              <a:t>软件工程管理</a:t>
            </a:r>
            <a:r>
              <a:rPr lang="zh-CN" altLang="en-US" sz="800" b="0" dirty="0" smtClean="0">
                <a:solidFill>
                  <a:schemeClr val="bg1"/>
                </a:solidFill>
                <a:effectLst>
                  <a:outerShdw blurRad="38100" dist="38100" dir="2700000" algn="tl">
                    <a:srgbClr val="000000">
                      <a:alpha val="43137"/>
                    </a:srgbClr>
                  </a:outerShdw>
                </a:effectLst>
              </a:rPr>
              <a:t>（</a:t>
            </a:r>
            <a:r>
              <a:rPr lang="en-US" altLang="zh-CN" sz="800" b="0" dirty="0" smtClean="0">
                <a:solidFill>
                  <a:schemeClr val="bg1"/>
                </a:solidFill>
                <a:effectLst>
                  <a:outerShdw blurRad="38100" dist="38100" dir="2700000" algn="tl">
                    <a:srgbClr val="000000">
                      <a:alpha val="43137"/>
                    </a:srgbClr>
                  </a:outerShdw>
                </a:effectLst>
              </a:rPr>
              <a:t>Software Engineering Management</a:t>
            </a:r>
            <a:r>
              <a:rPr lang="zh-CN" altLang="en-US" sz="800" b="0" dirty="0" smtClean="0">
                <a:solidFill>
                  <a:schemeClr val="bg1"/>
                </a:solidFill>
                <a:effectLst>
                  <a:outerShdw blurRad="38100" dist="38100" dir="2700000" algn="tl">
                    <a:srgbClr val="000000">
                      <a:alpha val="43137"/>
                    </a:srgbClr>
                  </a:outerShdw>
                </a:effectLst>
              </a:rPr>
              <a:t>）</a:t>
            </a:r>
            <a:endParaRPr lang="en-US" altLang="zh-CN" sz="1000" b="0" dirty="0" smtClean="0">
              <a:solidFill>
                <a:schemeClr val="bg1"/>
              </a:solidFill>
              <a:effectLst>
                <a:outerShdw blurRad="38100" dist="38100" dir="2700000" algn="tl">
                  <a:srgbClr val="000000">
                    <a:alpha val="43137"/>
                  </a:srgbClr>
                </a:outerShdw>
              </a:effectLst>
            </a:endParaRPr>
          </a:p>
          <a:p>
            <a:pPr>
              <a:spcBef>
                <a:spcPts val="600"/>
              </a:spcBef>
            </a:pPr>
            <a:r>
              <a:rPr lang="zh-CN" altLang="en-US" sz="1000" b="0" dirty="0" smtClean="0">
                <a:solidFill>
                  <a:schemeClr val="bg1"/>
                </a:solidFill>
                <a:effectLst>
                  <a:outerShdw blurRad="38100" dist="38100" dir="2700000" algn="tl">
                    <a:srgbClr val="000000">
                      <a:alpha val="43137"/>
                    </a:srgbClr>
                  </a:outerShdw>
                </a:effectLst>
              </a:rPr>
              <a:t>软件质量</a:t>
            </a:r>
            <a:r>
              <a:rPr lang="zh-CN" altLang="en-US" sz="800" b="0" dirty="0" smtClean="0">
                <a:solidFill>
                  <a:schemeClr val="bg1"/>
                </a:solidFill>
                <a:effectLst>
                  <a:outerShdw blurRad="38100" dist="38100" dir="2700000" algn="tl">
                    <a:srgbClr val="000000">
                      <a:alpha val="43137"/>
                    </a:srgbClr>
                  </a:outerShdw>
                </a:effectLst>
              </a:rPr>
              <a:t>（</a:t>
            </a:r>
            <a:r>
              <a:rPr lang="en-US" altLang="zh-CN" sz="800" b="0" dirty="0" smtClean="0">
                <a:solidFill>
                  <a:schemeClr val="bg1"/>
                </a:solidFill>
                <a:effectLst>
                  <a:outerShdw blurRad="38100" dist="38100" dir="2700000" algn="tl">
                    <a:srgbClr val="000000">
                      <a:alpha val="43137"/>
                    </a:srgbClr>
                  </a:outerShdw>
                </a:effectLst>
              </a:rPr>
              <a:t>Software Quality</a:t>
            </a:r>
            <a:r>
              <a:rPr lang="zh-CN" altLang="en-US" sz="800" b="0" dirty="0" smtClean="0">
                <a:solidFill>
                  <a:schemeClr val="bg1"/>
                </a:solidFill>
                <a:effectLst>
                  <a:outerShdw blurRad="38100" dist="38100" dir="2700000" algn="tl">
                    <a:srgbClr val="000000">
                      <a:alpha val="43137"/>
                    </a:srgbClr>
                  </a:outerShdw>
                </a:effectLst>
              </a:rPr>
              <a:t>）</a:t>
            </a:r>
            <a:endParaRPr lang="zh-CN" altLang="en-US" sz="1000" b="0" dirty="0" smtClean="0">
              <a:solidFill>
                <a:schemeClr val="bg1"/>
              </a:solidFill>
              <a:effectLst>
                <a:outerShdw blurRad="38100" dist="38100" dir="2700000" algn="tl">
                  <a:srgbClr val="000000">
                    <a:alpha val="43137"/>
                  </a:srgbClr>
                </a:outerShdw>
              </a:effectLst>
            </a:endParaRPr>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514350" rtl="0" eaLnBrk="1" fontAlgn="auto" latinLnBrk="0" hangingPunct="1">
              <a:lnSpc>
                <a:spcPct val="100000"/>
              </a:lnSpc>
              <a:spcBef>
                <a:spcPts val="0"/>
              </a:spcBef>
              <a:spcAft>
                <a:spcPts val="0"/>
              </a:spcAft>
              <a:buClrTx/>
              <a:buSzTx/>
              <a:buFontTx/>
              <a:buNone/>
              <a:defRPr/>
            </a:pPr>
            <a:r>
              <a:rPr lang="zh-CN" altLang="en-US" sz="800" dirty="0" smtClean="0"/>
              <a:t>软件配置管理（</a:t>
            </a:r>
            <a:r>
              <a:rPr lang="en-US" altLang="zh-CN" sz="800" dirty="0" smtClean="0"/>
              <a:t>Software Configuration Management</a:t>
            </a:r>
            <a:r>
              <a:rPr lang="zh-CN" altLang="en-US" sz="800" dirty="0" smtClean="0"/>
              <a:t>，</a:t>
            </a:r>
            <a:r>
              <a:rPr lang="en-US" altLang="zh-CN" sz="800" dirty="0" smtClean="0"/>
              <a:t>SCM</a:t>
            </a:r>
            <a:r>
              <a:rPr lang="zh-CN" altLang="en-US" sz="800" dirty="0" smtClean="0"/>
              <a:t>）是一种标识、组织和控制修改的技术。软件配置管理应用于整个软件工程过程。在软件建立时变更是不可避免的，而变更加剧了项目中软件开发者之间的混乱。</a:t>
            </a:r>
            <a:r>
              <a:rPr lang="en-US" altLang="zh-CN" sz="800" dirty="0" smtClean="0"/>
              <a:t>SCM</a:t>
            </a:r>
            <a:r>
              <a:rPr lang="zh-CN" altLang="en-US" sz="800" dirty="0" smtClean="0"/>
              <a:t>活动的目标就是为了标识变更、控制变更、确保变更正确实现并向其他有关人员报告变更。从某种角度讲，</a:t>
            </a:r>
            <a:r>
              <a:rPr lang="en-US" altLang="zh-CN" sz="800" dirty="0" smtClean="0"/>
              <a:t>SCM</a:t>
            </a:r>
            <a:r>
              <a:rPr lang="zh-CN" altLang="en-US" sz="800" dirty="0" smtClean="0"/>
              <a:t>是一种标识、组织和控制修改的技术，目的是使错误降为最小并最有效地提高生产效率。</a:t>
            </a:r>
            <a:endParaRPr lang="en-US" altLang="zh-CN" sz="800" dirty="0" smtClean="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200000"/>
              </a:lnSpc>
            </a:pPr>
            <a:r>
              <a:rPr lang="zh-CN" altLang="zh-CN" sz="2400" dirty="0" smtClean="0"/>
              <a:t>每个活动都有其确定的实现步骤。</a:t>
            </a:r>
            <a:endParaRPr lang="en-US" altLang="zh-CN" sz="2400" dirty="0" smtClean="0"/>
          </a:p>
          <a:p>
            <a:pPr lvl="0">
              <a:lnSpc>
                <a:spcPct val="200000"/>
              </a:lnSpc>
            </a:pPr>
            <a:r>
              <a:rPr lang="zh-CN" altLang="zh-CN" sz="2400" dirty="0" smtClean="0"/>
              <a:t>过程也可以划分为多种类型，如开发过程、维护过程、支持过程和管理过程等。</a:t>
            </a:r>
            <a:endParaRPr lang="zh-CN" altLang="zh-CN" sz="2400" dirty="0" smtClean="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200000"/>
              </a:lnSpc>
            </a:pPr>
            <a:r>
              <a:rPr lang="zh-CN" altLang="zh-CN" sz="2400" dirty="0" smtClean="0"/>
              <a:t>通常把软件工程方法等同于软件开发方法。</a:t>
            </a:r>
            <a:endParaRPr lang="en-US" altLang="zh-CN" sz="2400" dirty="0" smtClean="0"/>
          </a:p>
          <a:p>
            <a:pPr lvl="0">
              <a:lnSpc>
                <a:spcPct val="200000"/>
              </a:lnSpc>
            </a:pPr>
            <a:r>
              <a:rPr lang="zh-CN" altLang="zh-CN" sz="2400" dirty="0" smtClean="0"/>
              <a:t>目前，常用的软件开发方法有</a:t>
            </a:r>
            <a:r>
              <a:rPr lang="zh-CN" altLang="en-US" sz="2400" dirty="0" smtClean="0"/>
              <a:t>：</a:t>
            </a:r>
            <a:r>
              <a:rPr lang="zh-CN" altLang="zh-CN" sz="2400" dirty="0" smtClean="0"/>
              <a:t>面向过程的开发方法、面向对象的开发方法、面向数据的开发方法和形式化方法。</a:t>
            </a:r>
            <a:endParaRPr lang="zh-CN" altLang="zh-CN" sz="2400" dirty="0" smtClean="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a:spcBef>
                <a:spcPts val="0"/>
              </a:spcBef>
              <a:spcAft>
                <a:spcPts val="0"/>
              </a:spcAft>
              <a:buFont typeface="Arial" panose="020B0604020202020204" pitchFamily="34" charset="0"/>
              <a:buNone/>
            </a:pPr>
            <a:r>
              <a:rPr lang="zh-CN" altLang="en-US" sz="1000" b="1" dirty="0" smtClean="0">
                <a:solidFill>
                  <a:srgbClr val="FF0000"/>
                </a:solidFill>
                <a:effectLst/>
                <a:latin typeface="+mj-ea"/>
              </a:rPr>
              <a:t>软件开发工具的选择</a:t>
            </a:r>
            <a:endParaRPr lang="zh-CN" altLang="en-US" sz="1000" b="1" dirty="0" smtClean="0">
              <a:solidFill>
                <a:srgbClr val="FF0000"/>
              </a:solidFill>
              <a:effectLst/>
              <a:latin typeface="+mj-ea"/>
            </a:endParaRPr>
          </a:p>
          <a:p>
            <a:pPr marL="171450" indent="-171450" algn="just">
              <a:lnSpc>
                <a:spcPct val="120000"/>
              </a:lnSpc>
              <a:buFont typeface="Arial" panose="020B0604020202020204" pitchFamily="34" charset="0"/>
              <a:buChar char="•"/>
            </a:pPr>
            <a:r>
              <a:rPr lang="zh-CN" altLang="en-US" sz="800" b="0" dirty="0" smtClean="0">
                <a:latin typeface="+mn-ea"/>
              </a:rPr>
              <a:t>提高软件的开发效率，包括模型建立、代码生成、程序静态分析、软件测试、过程管理等，工具的集合称为计算机辅助软件工程（</a:t>
            </a:r>
            <a:r>
              <a:rPr lang="en-US" altLang="zh-CN" sz="800" b="0" dirty="0" smtClean="0">
                <a:latin typeface="+mn-ea"/>
              </a:rPr>
              <a:t>Computer Aided Software Engineering</a:t>
            </a:r>
            <a:r>
              <a:rPr lang="zh-CN" altLang="en-US" sz="800" b="0" dirty="0" smtClean="0">
                <a:latin typeface="+mn-ea"/>
              </a:rPr>
              <a:t>，</a:t>
            </a:r>
            <a:r>
              <a:rPr lang="en-US" altLang="zh-CN" sz="800" b="0" dirty="0" smtClean="0">
                <a:solidFill>
                  <a:srgbClr val="FF0000"/>
                </a:solidFill>
                <a:latin typeface="+mn-ea"/>
              </a:rPr>
              <a:t>CASE</a:t>
            </a:r>
            <a:r>
              <a:rPr lang="zh-CN" altLang="en-US" sz="800" b="0" dirty="0" smtClean="0">
                <a:latin typeface="+mn-ea"/>
              </a:rPr>
              <a:t>）系统。</a:t>
            </a:r>
            <a:endParaRPr lang="en-US" altLang="zh-CN" sz="800" b="0" dirty="0" smtClean="0"/>
          </a:p>
          <a:p>
            <a:pPr marL="171450" indent="-171450" algn="just">
              <a:lnSpc>
                <a:spcPct val="120000"/>
              </a:lnSpc>
              <a:buFont typeface="Arial" panose="020B0604020202020204" pitchFamily="34" charset="0"/>
              <a:buChar char="•"/>
            </a:pPr>
            <a:r>
              <a:rPr lang="zh-CN" altLang="en-US" sz="800" b="0" dirty="0" smtClean="0">
                <a:effectLst/>
                <a:latin typeface="+mn-ea"/>
              </a:rPr>
              <a:t>目前已经推出很多软件开发工具，如需求分析阶段的</a:t>
            </a:r>
            <a:r>
              <a:rPr lang="en-US" altLang="zh-CN" sz="800" b="0" dirty="0" smtClean="0">
                <a:effectLst/>
                <a:latin typeface="+mn-ea"/>
              </a:rPr>
              <a:t>PSL/PSA</a:t>
            </a:r>
            <a:r>
              <a:rPr lang="zh-CN" altLang="en-US" sz="800" b="0" dirty="0" smtClean="0">
                <a:effectLst/>
                <a:latin typeface="+mn-ea"/>
              </a:rPr>
              <a:t>系统；编码阶段的各种语言编译工具、编辑程序、连接程序等，都是软件编码阶段的软件工具；测试阶段的测试数据产生程序、动态分析程序、静态分析程序等软件自动测试工具；维护阶段的版本控制系统等。</a:t>
            </a:r>
            <a:endParaRPr lang="en-US" altLang="zh-CN" sz="800" b="0" dirty="0" smtClean="0">
              <a:latin typeface="+mn-ea"/>
            </a:endParaRPr>
          </a:p>
          <a:p>
            <a:pPr marL="171450" indent="-171450" algn="just">
              <a:lnSpc>
                <a:spcPct val="120000"/>
              </a:lnSpc>
              <a:buFont typeface="Arial" panose="020B0604020202020204" pitchFamily="34" charset="0"/>
              <a:buChar char="•"/>
            </a:pPr>
            <a:r>
              <a:rPr lang="zh-CN" altLang="en-US" sz="800" b="0" dirty="0" smtClean="0">
                <a:effectLst/>
                <a:latin typeface="+mn-ea"/>
              </a:rPr>
              <a:t>从广义上来讲，软件分析、设计阶段的各种图形工具，如</a:t>
            </a:r>
            <a:r>
              <a:rPr lang="zh-CN" altLang="en-US" sz="800" b="0" dirty="0" smtClean="0">
                <a:solidFill>
                  <a:srgbClr val="FF0000"/>
                </a:solidFill>
                <a:effectLst/>
                <a:latin typeface="+mn-ea"/>
              </a:rPr>
              <a:t>数据流图（</a:t>
            </a:r>
            <a:r>
              <a:rPr lang="en-US" altLang="zh-CN" sz="800" b="0" dirty="0" smtClean="0">
                <a:solidFill>
                  <a:srgbClr val="FF0000"/>
                </a:solidFill>
                <a:effectLst/>
                <a:latin typeface="+mn-ea"/>
              </a:rPr>
              <a:t>DFD</a:t>
            </a:r>
            <a:r>
              <a:rPr lang="zh-CN" altLang="en-US" sz="800" b="0" dirty="0" smtClean="0">
                <a:solidFill>
                  <a:srgbClr val="FF0000"/>
                </a:solidFill>
                <a:effectLst/>
                <a:latin typeface="+mn-ea"/>
              </a:rPr>
              <a:t>图）</a:t>
            </a:r>
            <a:r>
              <a:rPr lang="zh-CN" altLang="en-US" sz="800" b="0" dirty="0" smtClean="0">
                <a:effectLst/>
                <a:latin typeface="+mn-ea"/>
              </a:rPr>
              <a:t>等也可以称为软件开发工具。 </a:t>
            </a:r>
            <a:endParaRPr lang="zh-CN" altLang="en-US" sz="800" b="0" dirty="0" smtClean="0">
              <a:effectLst/>
              <a:latin typeface="+mn-ea"/>
            </a:endParaRPr>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60FB8FB2-9769-4F22-8580-D43F76E3F213}"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D7326FFE-7CCA-4C0D-B453-625569992FBB}"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B74AB904-11F0-40D2-A521-063F99E152E4}"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a:t>编辑母版文本样式</a:t>
            </a:r>
            <a:endParaRPr lang="zh-CN" altLang="en-US"/>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0529599E-9530-48C5-9CAF-172E1B800D9B}"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5902FD77-8323-485D-87E2-91A0E9C84954}"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F8EDE902-01B3-453F-A2EE-45228A659E9E}"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DAEA8122-0D78-4844-A578-3876484268E6}"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FE1C514A-AFAF-433D-949D-3F3495E7683C}"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9865EC83-5FAA-4FE9-BB65-5544193D6B0B}"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8F98B0E8-48B0-47D3-A6C8-7E041360F69C}"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727032" y="4805958"/>
            <a:ext cx="1920240" cy="274320"/>
          </a:xfrm>
          <a:prstGeom prst="rect">
            <a:avLst/>
          </a:prstGeom>
        </p:spPr>
        <p:txBody>
          <a:bodyPr/>
          <a:lstStyle>
            <a:lvl1pPr>
              <a:defRPr sz="1050"/>
            </a:lvl1pPr>
          </a:lstStyle>
          <a:p>
            <a:fld id="{7C38504B-1AF3-4156-B61A-8DB24BEED060}" type="datetime1">
              <a:rPr lang="zh-CN" altLang="en-US" smtClean="0"/>
            </a:fld>
            <a:endParaRPr lang="zh-CN" altLang="en-US" dirty="0"/>
          </a:p>
        </p:txBody>
      </p:sp>
      <p:sp>
        <p:nvSpPr>
          <p:cNvPr id="5" name="页脚占位符 4"/>
          <p:cNvSpPr>
            <a:spLocks noGrp="1"/>
          </p:cNvSpPr>
          <p:nvPr>
            <p:ph type="ftr" sz="quarter" idx="11"/>
          </p:nvPr>
        </p:nvSpPr>
        <p:spPr>
          <a:xfrm>
            <a:off x="4380074" y="4805960"/>
            <a:ext cx="2350681" cy="273844"/>
          </a:xfrm>
          <a:prstGeom prst="rect">
            <a:avLst/>
          </a:prstGeom>
        </p:spPr>
        <p:txBody>
          <a:bodyPr/>
          <a:lstStyle>
            <a:lvl1pPr>
              <a:defRPr sz="1050"/>
            </a:lvl1pPr>
          </a:lstStyle>
          <a:p>
            <a:r>
              <a:rPr lang="zh-CN" altLang="en-US"/>
              <a:t>软件工程</a:t>
            </a:r>
            <a:endParaRPr lang="zh-CN" altLang="en-US" dirty="0"/>
          </a:p>
        </p:txBody>
      </p:sp>
      <p:sp>
        <p:nvSpPr>
          <p:cNvPr id="6" name="灯片编号占位符 5"/>
          <p:cNvSpPr>
            <a:spLocks noGrp="1"/>
          </p:cNvSpPr>
          <p:nvPr>
            <p:ph type="sldNum" sz="quarter" idx="12"/>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
        <p:nvSpPr>
          <p:cNvPr id="7" name="标题占位符"/>
          <p:cNvSpPr>
            <a:spLocks noGrp="1"/>
          </p:cNvSpPr>
          <p:nvPr>
            <p:ph type="body" sz="quarter" idx="13" hasCustomPrompt="1"/>
          </p:nvPr>
        </p:nvSpPr>
        <p:spPr>
          <a:xfrm>
            <a:off x="1052622" y="159755"/>
            <a:ext cx="6275277" cy="415498"/>
          </a:xfrm>
          <a:prstGeom prst="rect">
            <a:avLst/>
          </a:prstGeom>
        </p:spPr>
        <p:txBody>
          <a:bodyPr wrap="square" anchor="ctr">
            <a:spAutoFit/>
          </a:bodyPr>
          <a:lstStyle>
            <a:lvl1pPr marL="0" indent="0" algn="l">
              <a:lnSpc>
                <a:spcPct val="100000"/>
              </a:lnSpc>
              <a:buFontTx/>
              <a:buNone/>
              <a:defRPr lang="zh-CN" altLang="en-US" sz="2100" b="1" spc="169"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tmplLst>
          <p:tmpl lvl="0">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750"/>
                        <p:tgtEl>
                          <p:spTgt spid="7"/>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4F2F4983-3602-4E3E-983A-EBA4353A8448}"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0" Type="http://schemas.openxmlformats.org/officeDocument/2006/relationships/slideLayout" Target="../slideLayouts/slideLayout13.xml"/><Relationship Id="rId2" Type="http://schemas.openxmlformats.org/officeDocument/2006/relationships/image" Target="../media/image15.png"/><Relationship Id="rId19" Type="http://schemas.openxmlformats.org/officeDocument/2006/relationships/image" Target="../media/image32.png"/><Relationship Id="rId18" Type="http://schemas.openxmlformats.org/officeDocument/2006/relationships/image" Target="../media/image31.png"/><Relationship Id="rId17" Type="http://schemas.openxmlformats.org/officeDocument/2006/relationships/image" Target="../media/image30.png"/><Relationship Id="rId16" Type="http://schemas.openxmlformats.org/officeDocument/2006/relationships/image" Target="../media/image29.png"/><Relationship Id="rId15" Type="http://schemas.openxmlformats.org/officeDocument/2006/relationships/image" Target="../media/image28.png"/><Relationship Id="rId14" Type="http://schemas.openxmlformats.org/officeDocument/2006/relationships/image" Target="../media/image27.png"/><Relationship Id="rId13" Type="http://schemas.openxmlformats.org/officeDocument/2006/relationships/image" Target="../media/image26.png"/><Relationship Id="rId12" Type="http://schemas.openxmlformats.org/officeDocument/2006/relationships/image" Target="../media/image25.png"/><Relationship Id="rId11" Type="http://schemas.openxmlformats.org/officeDocument/2006/relationships/image" Target="../media/image24.png"/><Relationship Id="rId10" Type="http://schemas.openxmlformats.org/officeDocument/2006/relationships/image" Target="../media/image23.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3.png"/><Relationship Id="rId1"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3.png"/><Relationship Id="rId1"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6.png"/><Relationship Id="rId1" Type="http://schemas.openxmlformats.org/officeDocument/2006/relationships/image" Target="../media/image45.png"/></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44.png"/><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jpeg"/></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44.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1.png"/><Relationship Id="rId1" Type="http://schemas.openxmlformats.org/officeDocument/2006/relationships/image" Target="../media/image80.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4.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5.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6.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7.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8.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1.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2.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4.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5.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95.xml.rels><?xml version="1.0" encoding="UTF-8" standalone="yes"?>
<Relationships xmlns="http://schemas.openxmlformats.org/package/2006/relationships"><Relationship Id="rId9" Type="http://schemas.openxmlformats.org/officeDocument/2006/relationships/image" Target="../media/image105.png"/><Relationship Id="rId8" Type="http://schemas.openxmlformats.org/officeDocument/2006/relationships/image" Target="../media/image104.png"/><Relationship Id="rId7" Type="http://schemas.openxmlformats.org/officeDocument/2006/relationships/image" Target="../media/image103.png"/><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 Id="rId3" Type="http://schemas.openxmlformats.org/officeDocument/2006/relationships/image" Target="../media/image99.png"/><Relationship Id="rId2" Type="http://schemas.openxmlformats.org/officeDocument/2006/relationships/image" Target="../media/image98.png"/><Relationship Id="rId12" Type="http://schemas.openxmlformats.org/officeDocument/2006/relationships/slideLayout" Target="../slideLayouts/slideLayout13.xml"/><Relationship Id="rId11" Type="http://schemas.openxmlformats.org/officeDocument/2006/relationships/image" Target="../media/image107.png"/><Relationship Id="rId10" Type="http://schemas.openxmlformats.org/officeDocument/2006/relationships/image" Target="../media/image106.png"/><Relationship Id="rId1" Type="http://schemas.openxmlformats.org/officeDocument/2006/relationships/image" Target="../media/image97.png"/></Relationships>
</file>

<file path=ppt/slides/_rels/slide96.xml.rels><?xml version="1.0" encoding="UTF-8" standalone="yes"?>
<Relationships xmlns="http://schemas.openxmlformats.org/package/2006/relationships"><Relationship Id="rId9" Type="http://schemas.openxmlformats.org/officeDocument/2006/relationships/image" Target="../media/image116.png"/><Relationship Id="rId8" Type="http://schemas.openxmlformats.org/officeDocument/2006/relationships/image" Target="../media/image115.png"/><Relationship Id="rId7" Type="http://schemas.openxmlformats.org/officeDocument/2006/relationships/image" Target="../media/image114.png"/><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 Id="rId3" Type="http://schemas.openxmlformats.org/officeDocument/2006/relationships/image" Target="../media/image110.png"/><Relationship Id="rId2" Type="http://schemas.openxmlformats.org/officeDocument/2006/relationships/image" Target="../media/image109.png"/><Relationship Id="rId10" Type="http://schemas.openxmlformats.org/officeDocument/2006/relationships/slideLayout" Target="../slideLayouts/slideLayout13.xml"/><Relationship Id="rId1" Type="http://schemas.openxmlformats.org/officeDocument/2006/relationships/image" Target="../media/image108.png"/></Relationships>
</file>

<file path=ppt/slides/_rels/slide97.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20.png"/><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image" Target="../media/image117.png"/></Relationships>
</file>

<file path=ppt/slides/_rels/slide9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image" Target="../media/image121.png"/></Relationships>
</file>

<file path=ppt/slides/_rels/slide99.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23.png"/><Relationship Id="rId2" Type="http://schemas.openxmlformats.org/officeDocument/2006/relationships/image" Target="../media/image124.png"/><Relationship Id="rId1" Type="http://schemas.openxmlformats.org/officeDocument/2006/relationships/image" Target="../media/image121.png"/></Relationships>
</file>

<file path=ppt/slides/_rels/slide100.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28.png"/><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image" Target="../media/image12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9.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chemeClr val="bg1"/>
                </a:solidFill>
              </a:rPr>
              <a:t>软件工程</a:t>
            </a:r>
            <a:br>
              <a:rPr lang="en-US" altLang="zh-CN" sz="4800" dirty="0">
                <a:solidFill>
                  <a:schemeClr val="bg1"/>
                </a:solidFill>
              </a:rPr>
            </a:br>
            <a:r>
              <a:rPr lang="zh-CN" altLang="en-US" sz="3200" u="sng" cap="none" dirty="0" smtClean="0">
                <a:solidFill>
                  <a:schemeClr val="bg1"/>
                </a:solidFill>
                <a:effectLst>
                  <a:outerShdw blurRad="38100" dist="38100" dir="2700000" algn="tl">
                    <a:srgbClr val="000000">
                      <a:alpha val="43137"/>
                    </a:srgbClr>
                  </a:outerShdw>
                </a:effectLst>
                <a:ea typeface="华文中宋" panose="02010600040101010101" pitchFamily="2" charset="-122"/>
              </a:rPr>
              <a:t>概述</a:t>
            </a:r>
            <a:endParaRPr lang="zh-CN" altLang="en-US" sz="3200" u="sng" cap="none" dirty="0" smtClean="0">
              <a:solidFill>
                <a:schemeClr val="bg1"/>
              </a:solidFill>
              <a:effectLst>
                <a:outerShdw blurRad="38100" dist="38100" dir="2700000" algn="tl">
                  <a:srgbClr val="000000">
                    <a:alpha val="43137"/>
                  </a:srgbClr>
                </a:outerShdw>
              </a:effectLst>
              <a:ea typeface="华文中宋" panose="02010600040101010101" pitchFamily="2" charset="-122"/>
            </a:endParaRPr>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a:t>
            </a:r>
            <a:r>
              <a:rPr lang="zh-CN" altLang="en-US" sz="1800" dirty="0" smtClean="0">
                <a:latin typeface="+mj-ea"/>
                <a:ea typeface="+mj-ea"/>
              </a:rPr>
              <a:t>河南大学软件学院                                          楚广琳</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EC0CAFA-DAAC-4005-AB4A-B93FEF29DF29}"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
        <p:nvSpPr>
          <p:cNvPr id="5" name="椭圆 4"/>
          <p:cNvSpPr/>
          <p:nvPr/>
        </p:nvSpPr>
        <p:spPr>
          <a:xfrm>
            <a:off x="4146059" y="1175479"/>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文本框 25"/>
          <p:cNvSpPr txBox="1">
            <a:spLocks noChangeArrowheads="1"/>
          </p:cNvSpPr>
          <p:nvPr/>
        </p:nvSpPr>
        <p:spPr bwMode="auto">
          <a:xfrm>
            <a:off x="3479198" y="1105418"/>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solidFill>
                <a:latin typeface="Arial" panose="020B0604020202020204" pitchFamily="34" charset="0"/>
                <a:cs typeface="Arial" panose="020B0604020202020204" pitchFamily="34" charset="0"/>
                <a:sym typeface="Arial" panose="020B0604020202020204" pitchFamily="34" charset="0"/>
              </a:rPr>
              <a:t>01</a:t>
            </a:r>
            <a:endParaRPr lang="zh-CN" altLang="en-US" sz="2400" dirty="0">
              <a:solidFill>
                <a:schemeClr val="accent2"/>
              </a:solidFill>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p:nvSpPr>
        <p:spPr>
          <a:xfrm>
            <a:off x="4395022" y="1105418"/>
            <a:ext cx="3083937" cy="369332"/>
          </a:xfrm>
          <a:prstGeom prst="rect">
            <a:avLst/>
          </a:prstGeom>
          <a:noFill/>
        </p:spPr>
        <p:txBody>
          <a:bodyPr wrap="square" lIns="0" tIns="0" rIns="0" bIns="0">
            <a:spAutoFit/>
          </a:bodyPr>
          <a:lstStyle/>
          <a:p>
            <a:pPr>
              <a:defRPr/>
            </a:pPr>
            <a:r>
              <a:rPr lang="zh-CN" altLang="en-US" sz="2400" dirty="0" smtClean="0">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软件的概念及本质特性</a:t>
            </a:r>
            <a:endParaRPr lang="zh-CN" altLang="en-US" sz="2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椭圆 7"/>
          <p:cNvSpPr/>
          <p:nvPr/>
        </p:nvSpPr>
        <p:spPr>
          <a:xfrm>
            <a:off x="4146059" y="1778892"/>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9" name="文本框 28"/>
          <p:cNvSpPr txBox="1">
            <a:spLocks noChangeArrowheads="1"/>
          </p:cNvSpPr>
          <p:nvPr/>
        </p:nvSpPr>
        <p:spPr bwMode="auto">
          <a:xfrm>
            <a:off x="3479198" y="1688316"/>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02</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0" name="文本框 9"/>
          <p:cNvSpPr txBox="1"/>
          <p:nvPr/>
        </p:nvSpPr>
        <p:spPr>
          <a:xfrm>
            <a:off x="4395022" y="1708831"/>
            <a:ext cx="3083937" cy="369332"/>
          </a:xfrm>
          <a:prstGeom prst="rect">
            <a:avLst/>
          </a:prstGeom>
          <a:noFill/>
        </p:spPr>
        <p:txBody>
          <a:bodyPr wrap="square" lIns="0" tIns="0" rIns="0" bIns="0">
            <a:spAutoFit/>
          </a:bodyPr>
          <a:lstStyle/>
          <a:p>
            <a:pPr>
              <a:defRPr/>
            </a:pPr>
            <a:r>
              <a:rPr lang="zh-CN" altLang="en-US" sz="2400" dirty="0" smtClean="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软件的发展历程</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椭圆 10"/>
          <p:cNvSpPr/>
          <p:nvPr/>
        </p:nvSpPr>
        <p:spPr>
          <a:xfrm>
            <a:off x="4146059" y="2425739"/>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2" name="文本框 30"/>
          <p:cNvSpPr txBox="1">
            <a:spLocks noChangeArrowheads="1"/>
          </p:cNvSpPr>
          <p:nvPr/>
        </p:nvSpPr>
        <p:spPr bwMode="auto">
          <a:xfrm>
            <a:off x="3479198" y="2314648"/>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solidFill>
                <a:latin typeface="Arial" panose="020B0604020202020204" pitchFamily="34" charset="0"/>
                <a:cs typeface="Arial" panose="020B0604020202020204" pitchFamily="34" charset="0"/>
                <a:sym typeface="Arial" panose="020B0604020202020204" pitchFamily="34" charset="0"/>
              </a:rPr>
              <a:t>03</a:t>
            </a:r>
            <a:endParaRPr lang="zh-CN" altLang="en-US" sz="2400" dirty="0">
              <a:solidFill>
                <a:schemeClr val="accent2"/>
              </a:solidFill>
              <a:latin typeface="Arial" panose="020B0604020202020204" pitchFamily="34" charset="0"/>
              <a:cs typeface="Arial" panose="020B0604020202020204" pitchFamily="34" charset="0"/>
              <a:sym typeface="Arial" panose="020B0604020202020204" pitchFamily="34" charset="0"/>
            </a:endParaRPr>
          </a:p>
        </p:txBody>
      </p:sp>
      <p:sp>
        <p:nvSpPr>
          <p:cNvPr id="13" name="文本框 12"/>
          <p:cNvSpPr txBox="1"/>
          <p:nvPr/>
        </p:nvSpPr>
        <p:spPr>
          <a:xfrm>
            <a:off x="4395022" y="2355679"/>
            <a:ext cx="3083937" cy="369332"/>
          </a:xfrm>
          <a:prstGeom prst="rect">
            <a:avLst/>
          </a:prstGeom>
          <a:noFill/>
        </p:spPr>
        <p:txBody>
          <a:bodyPr wrap="square" lIns="0" tIns="0" rIns="0" bIns="0">
            <a:spAutoFit/>
          </a:bodyPr>
          <a:lstStyle/>
          <a:p>
            <a:pPr>
              <a:defRPr/>
            </a:pPr>
            <a:r>
              <a:rPr lang="zh-CN" altLang="en-US" sz="2400" dirty="0" smtClean="0">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软件危机的概念</a:t>
            </a:r>
            <a:endParaRPr lang="zh-CN" altLang="en-US" sz="2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椭圆 13"/>
          <p:cNvSpPr/>
          <p:nvPr/>
        </p:nvSpPr>
        <p:spPr>
          <a:xfrm>
            <a:off x="4146059" y="3020008"/>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5" name="文本框 32"/>
          <p:cNvSpPr txBox="1">
            <a:spLocks noChangeArrowheads="1"/>
          </p:cNvSpPr>
          <p:nvPr/>
        </p:nvSpPr>
        <p:spPr bwMode="auto">
          <a:xfrm>
            <a:off x="3479198" y="2949948"/>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04</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6" name="文本框 15"/>
          <p:cNvSpPr txBox="1"/>
          <p:nvPr/>
        </p:nvSpPr>
        <p:spPr>
          <a:xfrm>
            <a:off x="4395022" y="2949948"/>
            <a:ext cx="3663271" cy="369332"/>
          </a:xfrm>
          <a:prstGeom prst="rect">
            <a:avLst/>
          </a:prstGeom>
          <a:noFill/>
        </p:spPr>
        <p:txBody>
          <a:bodyPr wrap="square" lIns="0" tIns="0" rIns="0" bIns="0">
            <a:spAutoFit/>
          </a:bodyPr>
          <a:lstStyle/>
          <a:p>
            <a:pPr>
              <a:defRPr/>
            </a:pPr>
            <a:r>
              <a:rPr lang="zh-CN" altLang="en-US" sz="2400" dirty="0" smtClean="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软件工程的概念和三要素</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Title 1"/>
          <p:cNvSpPr txBox="1"/>
          <p:nvPr/>
        </p:nvSpPr>
        <p:spPr>
          <a:xfrm>
            <a:off x="1143000" y="83636"/>
            <a:ext cx="7552030" cy="656340"/>
          </a:xfrm>
          <a:prstGeom prst="rect">
            <a:avLst/>
          </a:prstGeom>
        </p:spPr>
        <p:txBody>
          <a:bodyPr vert="horz" lIns="91440" tIns="45720" rIns="91440" bIns="45720" rtlCol="0" anchor="ctr">
            <a:normAutofit/>
          </a:bodyPr>
          <a:lstStyle>
            <a:lvl1pPr algn="r" defTabSz="685800" rtl="0" eaLnBrk="1" latinLnBrk="0" hangingPunct="1">
              <a:lnSpc>
                <a:spcPct val="80000"/>
              </a:lnSpc>
              <a:spcBef>
                <a:spcPct val="0"/>
              </a:spcBef>
              <a:buNone/>
              <a:defRPr sz="3750" b="1" kern="1200" cap="all" spc="150" baseline="0">
                <a:solidFill>
                  <a:schemeClr val="bg1"/>
                </a:solidFill>
                <a:latin typeface="+mj-lt"/>
                <a:ea typeface="+mj-ea"/>
                <a:cs typeface="+mj-cs"/>
              </a:defRPr>
            </a:lvl1pPr>
          </a:lstStyle>
          <a:p>
            <a:pPr algn="l"/>
            <a:r>
              <a:rPr lang="zh-CN" altLang="en-US" sz="2800" dirty="0" smtClean="0"/>
              <a:t>第</a:t>
            </a:r>
            <a:r>
              <a:rPr lang="en-US" altLang="zh-CN" sz="2800" dirty="0" smtClean="0"/>
              <a:t>1</a:t>
            </a:r>
            <a:r>
              <a:rPr lang="zh-CN" altLang="en-US" sz="2800" dirty="0" smtClean="0"/>
              <a:t>章 软件工程概述</a:t>
            </a:r>
            <a:endParaRPr lang="en-US" sz="2800" dirty="0"/>
          </a:p>
        </p:txBody>
      </p:sp>
      <p:sp>
        <p:nvSpPr>
          <p:cNvPr id="18" name="椭圆 17"/>
          <p:cNvSpPr/>
          <p:nvPr/>
        </p:nvSpPr>
        <p:spPr>
          <a:xfrm>
            <a:off x="4146059" y="3602745"/>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9" name="文本框 32"/>
          <p:cNvSpPr txBox="1">
            <a:spLocks noChangeArrowheads="1"/>
          </p:cNvSpPr>
          <p:nvPr/>
        </p:nvSpPr>
        <p:spPr bwMode="auto">
          <a:xfrm>
            <a:off x="3479198" y="3532685"/>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smtClean="0">
                <a:solidFill>
                  <a:schemeClr val="accent2"/>
                </a:solidFill>
                <a:latin typeface="Arial" panose="020B0604020202020204" pitchFamily="34" charset="0"/>
                <a:cs typeface="Arial" panose="020B0604020202020204" pitchFamily="34" charset="0"/>
                <a:sym typeface="Arial" panose="020B0604020202020204" pitchFamily="34" charset="0"/>
              </a:rPr>
              <a:t>05</a:t>
            </a:r>
            <a:endParaRPr lang="zh-CN" altLang="en-US" sz="2400" dirty="0">
              <a:solidFill>
                <a:schemeClr val="accent2"/>
              </a:solidFill>
              <a:latin typeface="Arial" panose="020B0604020202020204" pitchFamily="34" charset="0"/>
              <a:cs typeface="Arial" panose="020B0604020202020204" pitchFamily="34" charset="0"/>
              <a:sym typeface="Arial" panose="020B0604020202020204" pitchFamily="34" charset="0"/>
            </a:endParaRPr>
          </a:p>
        </p:txBody>
      </p:sp>
      <p:sp>
        <p:nvSpPr>
          <p:cNvPr id="20" name="文本框 19"/>
          <p:cNvSpPr txBox="1"/>
          <p:nvPr/>
        </p:nvSpPr>
        <p:spPr>
          <a:xfrm>
            <a:off x="4395022" y="3532685"/>
            <a:ext cx="3663271" cy="369332"/>
          </a:xfrm>
          <a:prstGeom prst="rect">
            <a:avLst/>
          </a:prstGeom>
          <a:noFill/>
        </p:spPr>
        <p:txBody>
          <a:bodyPr wrap="square" lIns="0" tIns="0" rIns="0" bIns="0">
            <a:spAutoFit/>
          </a:bodyPr>
          <a:lstStyle/>
          <a:p>
            <a:pPr>
              <a:defRPr/>
            </a:pPr>
            <a:r>
              <a:rPr lang="zh-CN" altLang="en-US" sz="2400" dirty="0" smtClean="0">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软件质量实现</a:t>
            </a:r>
            <a:endParaRPr lang="zh-CN" altLang="en-US" sz="2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21" name="椭圆 20"/>
          <p:cNvSpPr/>
          <p:nvPr/>
        </p:nvSpPr>
        <p:spPr>
          <a:xfrm>
            <a:off x="4146059" y="4209140"/>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22" name="文本框 32"/>
          <p:cNvSpPr txBox="1">
            <a:spLocks noChangeArrowheads="1"/>
          </p:cNvSpPr>
          <p:nvPr/>
        </p:nvSpPr>
        <p:spPr bwMode="auto">
          <a:xfrm>
            <a:off x="3479198" y="4139080"/>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smtClean="0">
                <a:solidFill>
                  <a:schemeClr val="accent1"/>
                </a:solidFill>
                <a:latin typeface="Arial" panose="020B0604020202020204" pitchFamily="34" charset="0"/>
                <a:cs typeface="Arial" panose="020B0604020202020204" pitchFamily="34" charset="0"/>
                <a:sym typeface="Arial" panose="020B0604020202020204" pitchFamily="34" charset="0"/>
              </a:rPr>
              <a:t>06</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23" name="文本框 22"/>
          <p:cNvSpPr txBox="1"/>
          <p:nvPr/>
        </p:nvSpPr>
        <p:spPr>
          <a:xfrm>
            <a:off x="4395022" y="4139080"/>
            <a:ext cx="3663271" cy="369332"/>
          </a:xfrm>
          <a:prstGeom prst="rect">
            <a:avLst/>
          </a:prstGeom>
          <a:noFill/>
        </p:spPr>
        <p:txBody>
          <a:bodyPr wrap="square" lIns="0" tIns="0" rIns="0" bIns="0">
            <a:spAutoFit/>
          </a:bodyPr>
          <a:lstStyle/>
          <a:p>
            <a:pPr>
              <a:defRPr/>
            </a:pPr>
            <a:r>
              <a:rPr lang="zh-CN" altLang="en-US" sz="2400" dirty="0" smtClean="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软件的生命周期</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1</a:t>
            </a:r>
            <a:r>
              <a:rPr lang="zh-CN" altLang="en-US" dirty="0"/>
              <a:t>章 软件工程概述</a:t>
            </a:r>
            <a:r>
              <a:rPr lang="en-US" altLang="zh-CN" dirty="0"/>
              <a:t>——</a:t>
            </a:r>
            <a:r>
              <a:rPr lang="zh-CN" altLang="en-US" dirty="0"/>
              <a:t>教学目标</a:t>
            </a:r>
            <a:endParaRPr lang="zh-CN" altLang="en-US" dirty="0"/>
          </a:p>
        </p:txBody>
      </p:sp>
      <p:sp>
        <p:nvSpPr>
          <p:cNvPr id="3" name="内容占位符 2"/>
          <p:cNvSpPr>
            <a:spLocks noGrp="1"/>
          </p:cNvSpPr>
          <p:nvPr>
            <p:ph idx="1"/>
          </p:nvPr>
        </p:nvSpPr>
        <p:spPr>
          <a:xfrm>
            <a:off x="768250" y="974157"/>
            <a:ext cx="7107655" cy="3613084"/>
          </a:xfrm>
        </p:spPr>
        <p:txBody>
          <a:bodyPr/>
          <a:lstStyle/>
          <a:p>
            <a:pPr marL="285750" indent="-285750">
              <a:lnSpc>
                <a:spcPct val="120000"/>
              </a:lnSpc>
              <a:buFont typeface="Wingdings" panose="05000000000000000000" charset="0"/>
              <a:buChar char="l"/>
            </a:pPr>
            <a:r>
              <a:rPr sz="1800" b="1" dirty="0" smtClean="0">
                <a:solidFill>
                  <a:schemeClr val="tx2">
                    <a:lumMod val="90000"/>
                    <a:lumOff val="10000"/>
                  </a:schemeClr>
                </a:solidFill>
                <a:latin typeface="+mj-ea"/>
                <a:ea typeface="+mj-ea"/>
              </a:rPr>
              <a:t>知识目标：掌握程序软件、软件、软件危机与软件工程等基本概念；了解目前软件工程技术历史沿革与发展趋势，生命周期方法，软件工程的八个阶段及主要任务；着重理解软件工程过程的实质，根据实际情况灵活应用各种软件开发模型。</a:t>
            </a:r>
            <a:endParaRPr sz="1800" b="1" dirty="0" smtClean="0">
              <a:solidFill>
                <a:schemeClr val="tx2">
                  <a:lumMod val="90000"/>
                  <a:lumOff val="10000"/>
                </a:schemeClr>
              </a:solidFill>
              <a:latin typeface="+mj-ea"/>
              <a:ea typeface="+mj-ea"/>
            </a:endParaRPr>
          </a:p>
          <a:p>
            <a:pPr marL="285750" indent="-285750">
              <a:lnSpc>
                <a:spcPct val="120000"/>
              </a:lnSpc>
              <a:buFont typeface="Wingdings" panose="05000000000000000000" charset="0"/>
              <a:buChar char="l"/>
            </a:pPr>
            <a:r>
              <a:rPr sz="1800" b="1" dirty="0" smtClean="0">
                <a:solidFill>
                  <a:schemeClr val="tx2">
                    <a:lumMod val="90000"/>
                    <a:lumOff val="10000"/>
                  </a:schemeClr>
                </a:solidFill>
                <a:latin typeface="+mj-ea"/>
                <a:ea typeface="+mj-ea"/>
              </a:rPr>
              <a:t>能力目标：掌握计算机领域的特性与相关背景知识，以及信息化相关产业的政策、法律法规等；掌握理解问题和分析实际问题的方法，使学生初步形成用工程化的方法来开发软件的能力目标。</a:t>
            </a:r>
            <a:endParaRPr sz="1800" b="1" dirty="0" smtClean="0">
              <a:solidFill>
                <a:schemeClr val="tx2">
                  <a:lumMod val="90000"/>
                  <a:lumOff val="10000"/>
                </a:schemeClr>
              </a:solidFill>
              <a:latin typeface="+mj-ea"/>
              <a:ea typeface="+mj-ea"/>
            </a:endParaRPr>
          </a:p>
          <a:p>
            <a:pPr marL="285750" indent="-285750">
              <a:lnSpc>
                <a:spcPct val="120000"/>
              </a:lnSpc>
              <a:buFont typeface="Wingdings" panose="05000000000000000000" charset="0"/>
              <a:buChar char="l"/>
            </a:pPr>
            <a:r>
              <a:rPr sz="1800" b="1" dirty="0" smtClean="0">
                <a:solidFill>
                  <a:schemeClr val="tx2">
                    <a:lumMod val="90000"/>
                    <a:lumOff val="10000"/>
                  </a:schemeClr>
                </a:solidFill>
                <a:latin typeface="+mj-ea"/>
                <a:ea typeface="+mj-ea"/>
              </a:rPr>
              <a:t>素质目标：培养学生学术道德素质和法治素养；引导学生的危机意识，激发学生科技报国的家国情怀和使命担当。</a:t>
            </a:r>
            <a:endParaRPr sz="1800" b="1" dirty="0" smtClean="0">
              <a:solidFill>
                <a:schemeClr val="tx2">
                  <a:lumMod val="90000"/>
                  <a:lumOff val="10000"/>
                </a:schemeClr>
              </a:solidFill>
              <a:latin typeface="+mj-ea"/>
              <a:ea typeface="+mj-ea"/>
            </a:endParaRPr>
          </a:p>
        </p:txBody>
      </p:sp>
      <p:sp>
        <p:nvSpPr>
          <p:cNvPr id="7" name="日期占位符 6"/>
          <p:cNvSpPr>
            <a:spLocks noGrp="1"/>
          </p:cNvSpPr>
          <p:nvPr>
            <p:ph type="dt" sz="half" idx="10"/>
          </p:nvPr>
        </p:nvSpPr>
        <p:spPr/>
        <p:txBody>
          <a:bodyPr/>
          <a:lstStyle/>
          <a:p>
            <a:fld id="{B36FC113-79D8-4BBC-B29D-B7A9D18C37B3}"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dirty="0" smtClean="0"/>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第</a:t>
            </a:r>
            <a:r>
              <a:rPr lang="en-US" altLang="zh-CN" dirty="0">
                <a:sym typeface="+mn-ea"/>
              </a:rPr>
              <a:t>1</a:t>
            </a:r>
            <a:r>
              <a:rPr lang="zh-CN" altLang="en-US" dirty="0">
                <a:sym typeface="+mn-ea"/>
              </a:rPr>
              <a:t>章 软件工程概述</a:t>
            </a:r>
            <a:endParaRPr lang="zh-CN" altLang="en-US"/>
          </a:p>
        </p:txBody>
      </p:sp>
      <p:sp>
        <p:nvSpPr>
          <p:cNvPr id="3" name="内容占位符 2"/>
          <p:cNvSpPr>
            <a:spLocks noGrp="1"/>
          </p:cNvSpPr>
          <p:nvPr>
            <p:ph idx="1"/>
          </p:nvPr>
        </p:nvSpPr>
        <p:spPr/>
        <p:txBody>
          <a:bodyPr/>
          <a:p>
            <a:pPr marL="0" indent="165100" eaLnBrk="1" fontAlgn="auto" hangingPunct="1">
              <a:lnSpc>
                <a:spcPct val="120000"/>
              </a:lnSpc>
              <a:spcAft>
                <a:spcPts val="0"/>
              </a:spcAft>
              <a:buFont typeface="Wingdings" panose="05000000000000000000"/>
              <a:buChar char=""/>
              <a:defRPr/>
            </a:pPr>
            <a:r>
              <a:rPr lang="zh-CN" altLang="en-US" sz="1600" b="1" dirty="0" smtClean="0">
                <a:solidFill>
                  <a:srgbClr val="FF0000"/>
                </a:solidFill>
                <a:effectLst/>
                <a:latin typeface="宋体" panose="02010600030101010101" pitchFamily="2" charset="-122"/>
                <a:sym typeface="+mn-ea"/>
              </a:rPr>
              <a:t>本章主要内容：</a:t>
            </a:r>
            <a:endParaRPr lang="zh-CN" altLang="en-US" sz="1600" b="1" dirty="0" smtClean="0">
              <a:solidFill>
                <a:srgbClr val="FF0000"/>
              </a:solidFill>
              <a:effectLst/>
              <a:latin typeface="宋体" panose="02010600030101010101" pitchFamily="2" charset="-122"/>
            </a:endParaRPr>
          </a:p>
          <a:p>
            <a:pPr marL="457200" indent="165100" eaLnBrk="1" fontAlgn="auto" hangingPunct="1">
              <a:lnSpc>
                <a:spcPct val="120000"/>
              </a:lnSpc>
              <a:spcAft>
                <a:spcPts val="0"/>
              </a:spcAft>
              <a:buFont typeface="Wingdings" panose="05000000000000000000"/>
              <a:buChar char=""/>
              <a:defRPr/>
            </a:pPr>
            <a:r>
              <a:rPr lang="zh-CN" altLang="en-US" sz="1600" b="1" dirty="0" smtClean="0">
                <a:effectLst/>
                <a:sym typeface="+mn-ea"/>
              </a:rPr>
              <a:t> 软件的发展、定义及特征；软件危机的表现及解决途径；软件工程的定义及三要素，软件工程的基本原理及目标；软件生存周期的概念和内容；五种软件开发模型；软件开发方法和开发工具；传统软件工程和面向对象软件工程。 </a:t>
            </a:r>
            <a:endParaRPr lang="zh-CN" altLang="en-US" sz="1600" b="1" dirty="0" smtClean="0">
              <a:effectLst/>
            </a:endParaRPr>
          </a:p>
          <a:p>
            <a:pPr marL="0" indent="165100" eaLnBrk="1" fontAlgn="auto" hangingPunct="1">
              <a:lnSpc>
                <a:spcPct val="120000"/>
              </a:lnSpc>
              <a:spcAft>
                <a:spcPts val="0"/>
              </a:spcAft>
              <a:buFont typeface="Wingdings" panose="05000000000000000000"/>
              <a:buChar char=""/>
              <a:defRPr/>
            </a:pPr>
            <a:r>
              <a:rPr lang="zh-CN" altLang="en-US" sz="1600" b="1" dirty="0" smtClean="0">
                <a:solidFill>
                  <a:srgbClr val="FF0000"/>
                </a:solidFill>
                <a:effectLst/>
                <a:latin typeface="宋体" panose="02010600030101010101" pitchFamily="2" charset="-122"/>
                <a:sym typeface="+mn-ea"/>
              </a:rPr>
              <a:t>本章重点：</a:t>
            </a:r>
            <a:endParaRPr lang="en-US" altLang="zh-CN" sz="1600" b="1" dirty="0">
              <a:solidFill>
                <a:srgbClr val="FF0000"/>
              </a:solidFill>
              <a:effectLst/>
              <a:latin typeface="宋体" panose="02010600030101010101" pitchFamily="2" charset="-122"/>
            </a:endParaRPr>
          </a:p>
          <a:p>
            <a:pPr marL="457200" indent="165100" eaLnBrk="1" fontAlgn="auto" hangingPunct="1">
              <a:lnSpc>
                <a:spcPct val="120000"/>
              </a:lnSpc>
              <a:spcAft>
                <a:spcPts val="0"/>
              </a:spcAft>
              <a:buFont typeface="Wingdings" panose="05000000000000000000"/>
              <a:buChar char=""/>
              <a:defRPr/>
            </a:pPr>
            <a:r>
              <a:rPr lang="zh-CN" altLang="en-US" sz="1600" b="1" dirty="0" smtClean="0">
                <a:effectLst/>
                <a:sym typeface="+mn-ea"/>
              </a:rPr>
              <a:t>软件工程的定义及三要素，软件工程的基本原理及目标，软件开发模型，软件开发方法和开发工具。</a:t>
            </a:r>
            <a:endParaRPr lang="zh-CN" altLang="en-US" sz="1600" b="1" dirty="0" smtClean="0">
              <a:effectLst/>
            </a:endParaRPr>
          </a:p>
          <a:p>
            <a:pPr marL="0" indent="165100" eaLnBrk="1" fontAlgn="auto" hangingPunct="1">
              <a:lnSpc>
                <a:spcPct val="120000"/>
              </a:lnSpc>
              <a:spcAft>
                <a:spcPts val="0"/>
              </a:spcAft>
              <a:buFont typeface="Wingdings" panose="05000000000000000000"/>
              <a:buChar char=""/>
              <a:defRPr/>
            </a:pPr>
            <a:r>
              <a:rPr lang="zh-CN" altLang="en-US" sz="1600" b="1" dirty="0" smtClean="0">
                <a:solidFill>
                  <a:srgbClr val="FF0000"/>
                </a:solidFill>
                <a:effectLst/>
                <a:latin typeface="宋体" panose="02010600030101010101" pitchFamily="2" charset="-122"/>
                <a:sym typeface="+mn-ea"/>
              </a:rPr>
              <a:t>本章难点：</a:t>
            </a:r>
            <a:endParaRPr lang="en-US" altLang="zh-CN" sz="1600" b="1" dirty="0" smtClean="0">
              <a:solidFill>
                <a:srgbClr val="FF0000"/>
              </a:solidFill>
              <a:effectLst/>
              <a:latin typeface="宋体" panose="02010600030101010101" pitchFamily="2" charset="-122"/>
            </a:endParaRPr>
          </a:p>
          <a:p>
            <a:pPr marL="457200" indent="165100" eaLnBrk="1" fontAlgn="auto" hangingPunct="1">
              <a:lnSpc>
                <a:spcPct val="120000"/>
              </a:lnSpc>
              <a:spcAft>
                <a:spcPts val="0"/>
              </a:spcAft>
              <a:buFont typeface="Wingdings" panose="05000000000000000000"/>
              <a:buChar char=""/>
              <a:defRPr/>
            </a:pPr>
            <a:r>
              <a:rPr lang="zh-CN" altLang="en-US" sz="1600" b="1" dirty="0" smtClean="0">
                <a:effectLst/>
                <a:sym typeface="+mn-ea"/>
              </a:rPr>
              <a:t>软件开发模型的使用。</a:t>
            </a:r>
            <a:endParaRPr lang="zh-CN" altLang="en-US" sz="1600" b="1" dirty="0" smtClean="0">
              <a:effectLst/>
              <a:sym typeface="+mn-ea"/>
            </a:endParaRPr>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1.1 </a:t>
            </a:r>
            <a:r>
              <a:rPr lang="zh-CN" altLang="en-US" dirty="0" smtClean="0"/>
              <a:t>软件的概念及本质特性</a:t>
            </a:r>
            <a:endParaRPr lang="zh-CN" altLang="en-US" dirty="0"/>
          </a:p>
        </p:txBody>
      </p:sp>
      <p:sp>
        <p:nvSpPr>
          <p:cNvPr id="3" name="内容占位符 2"/>
          <p:cNvSpPr>
            <a:spLocks noGrp="1"/>
          </p:cNvSpPr>
          <p:nvPr>
            <p:ph idx="1"/>
          </p:nvPr>
        </p:nvSpPr>
        <p:spPr>
          <a:xfrm>
            <a:off x="768096" y="1434552"/>
            <a:ext cx="7832833" cy="2369352"/>
          </a:xfrm>
        </p:spPr>
        <p:txBody>
          <a:bodyPr>
            <a:normAutofit/>
          </a:bodyPr>
          <a:lstStyle/>
          <a:p>
            <a:r>
              <a:rPr lang="zh-CN" altLang="en-US" sz="3600" dirty="0" smtClean="0"/>
              <a:t>什么是软件？</a:t>
            </a:r>
            <a:endParaRPr lang="en-US" altLang="zh-CN" sz="3600" dirty="0" smtClean="0"/>
          </a:p>
          <a:p>
            <a:endParaRPr lang="en-US" altLang="zh-CN" sz="3600" dirty="0" smtClean="0"/>
          </a:p>
          <a:p>
            <a:r>
              <a:rPr lang="zh-CN" altLang="en-US" sz="3600" dirty="0" smtClean="0"/>
              <a:t>软件和程序一样吗？</a:t>
            </a:r>
            <a:endParaRPr lang="en-US" altLang="zh-CN" sz="3600" dirty="0" smtClean="0"/>
          </a:p>
          <a:p>
            <a:endParaRPr lang="en-US" altLang="zh-CN" sz="3600" dirty="0" smtClean="0"/>
          </a:p>
        </p:txBody>
      </p:sp>
      <p:sp>
        <p:nvSpPr>
          <p:cNvPr id="4" name="日期占位符 3"/>
          <p:cNvSpPr>
            <a:spLocks noGrp="1"/>
          </p:cNvSpPr>
          <p:nvPr>
            <p:ph type="dt" sz="half" idx="10"/>
          </p:nvPr>
        </p:nvSpPr>
        <p:spPr/>
        <p:txBody>
          <a:bodyPr/>
          <a:lstStyle/>
          <a:p>
            <a:fld id="{8DDC5E4A-B0B0-4857-B44F-C0A6CDA4EED0}" type="datetime1">
              <a:rPr lang="zh-CN" altLang="en-US" sz="1600" smtClean="0"/>
            </a:fld>
            <a:endParaRPr lang="zh-CN" altLang="en-US" sz="1600" dirty="0"/>
          </a:p>
        </p:txBody>
      </p:sp>
      <p:sp>
        <p:nvSpPr>
          <p:cNvPr id="5" name="页脚占位符 4"/>
          <p:cNvSpPr>
            <a:spLocks noGrp="1"/>
          </p:cNvSpPr>
          <p:nvPr>
            <p:ph type="ftr" sz="quarter" idx="11"/>
          </p:nvPr>
        </p:nvSpPr>
        <p:spPr/>
        <p:txBody>
          <a:bodyPr/>
          <a:lstStyle/>
          <a:p>
            <a:r>
              <a:rPr lang="zh-CN" altLang="en-US" sz="1600" dirty="0" smtClean="0"/>
              <a:t>软件工程</a:t>
            </a:r>
            <a:endParaRPr lang="zh-CN" altLang="en-US" sz="1600" dirty="0"/>
          </a:p>
        </p:txBody>
      </p:sp>
      <p:sp>
        <p:nvSpPr>
          <p:cNvPr id="6" name="灯片编号占位符 5"/>
          <p:cNvSpPr>
            <a:spLocks noGrp="1"/>
          </p:cNvSpPr>
          <p:nvPr>
            <p:ph type="sldNum" sz="quarter" idx="12"/>
          </p:nvPr>
        </p:nvSpPr>
        <p:spPr/>
        <p:txBody>
          <a:bodyPr/>
          <a:lstStyle/>
          <a:p>
            <a:fld id="{F528F39D-B5E5-4CA7-906C-979D5A62978D}" type="slidenum">
              <a:rPr lang="zh-CN" altLang="en-US" sz="1600" smtClean="0"/>
            </a:fld>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a:t>
            </a:r>
            <a:r>
              <a:rPr lang="en-US" altLang="zh-CN" dirty="0"/>
              <a:t> vs. </a:t>
            </a:r>
            <a:r>
              <a:rPr lang="zh-CN" altLang="en-US" dirty="0"/>
              <a:t>软件</a:t>
            </a:r>
            <a:endParaRPr lang="zh-CN" altLang="en-US" dirty="0"/>
          </a:p>
        </p:txBody>
      </p:sp>
      <p:sp>
        <p:nvSpPr>
          <p:cNvPr id="19" name="内容占位符 18"/>
          <p:cNvSpPr>
            <a:spLocks noGrp="1"/>
          </p:cNvSpPr>
          <p:nvPr>
            <p:ph idx="1"/>
          </p:nvPr>
        </p:nvSpPr>
        <p:spPr>
          <a:xfrm>
            <a:off x="768096" y="816881"/>
            <a:ext cx="7832833" cy="3806854"/>
          </a:xfrm>
        </p:spPr>
        <p:txBody>
          <a:bodyPr>
            <a:noAutofit/>
          </a:bodyPr>
          <a:lstStyle/>
          <a:p>
            <a:pPr>
              <a:lnSpc>
                <a:spcPct val="100000"/>
              </a:lnSpc>
              <a:spcBef>
                <a:spcPts val="0"/>
              </a:spcBef>
            </a:pPr>
            <a:r>
              <a:rPr lang="zh-CN" altLang="en-US" sz="2000" b="1" dirty="0">
                <a:solidFill>
                  <a:schemeClr val="tx2">
                    <a:lumMod val="90000"/>
                    <a:lumOff val="10000"/>
                  </a:schemeClr>
                </a:solidFill>
                <a:latin typeface="+mj-ea"/>
                <a:ea typeface="+mj-ea"/>
              </a:rPr>
              <a:t>一</a:t>
            </a:r>
            <a:r>
              <a:rPr lang="zh-CN" altLang="en-US" sz="2000" b="1" dirty="0" smtClean="0">
                <a:solidFill>
                  <a:schemeClr val="tx2">
                    <a:lumMod val="90000"/>
                    <a:lumOff val="10000"/>
                  </a:schemeClr>
                </a:solidFill>
                <a:latin typeface="+mj-ea"/>
                <a:ea typeface="+mj-ea"/>
              </a:rPr>
              <a:t>个案例：</a:t>
            </a:r>
            <a:r>
              <a:rPr lang="zh-CN" altLang="en-US" sz="2000" dirty="0" smtClean="0">
                <a:solidFill>
                  <a:schemeClr val="tx2">
                    <a:lumMod val="90000"/>
                    <a:lumOff val="10000"/>
                  </a:schemeClr>
                </a:solidFill>
                <a:latin typeface="+mj-ea"/>
                <a:ea typeface="+mj-ea"/>
              </a:rPr>
              <a:t>小学</a:t>
            </a:r>
            <a:r>
              <a:rPr lang="zh-CN" altLang="en-US" sz="2000" dirty="0">
                <a:solidFill>
                  <a:schemeClr val="tx2">
                    <a:lumMod val="90000"/>
                    <a:lumOff val="10000"/>
                  </a:schemeClr>
                </a:solidFill>
                <a:latin typeface="+mj-ea"/>
                <a:ea typeface="+mj-ea"/>
              </a:rPr>
              <a:t>老师要每周</a:t>
            </a:r>
            <a:r>
              <a:rPr lang="zh-CN" altLang="en-US" sz="2000" dirty="0" smtClean="0">
                <a:solidFill>
                  <a:schemeClr val="tx2">
                    <a:lumMod val="90000"/>
                    <a:lumOff val="10000"/>
                  </a:schemeClr>
                </a:solidFill>
                <a:latin typeface="+mj-ea"/>
                <a:ea typeface="+mj-ea"/>
              </a:rPr>
              <a:t>给学生出</a:t>
            </a:r>
            <a:r>
              <a:rPr lang="en-US" altLang="zh-CN" sz="2000" dirty="0">
                <a:solidFill>
                  <a:schemeClr val="tx2">
                    <a:lumMod val="90000"/>
                    <a:lumOff val="10000"/>
                  </a:schemeClr>
                </a:solidFill>
                <a:latin typeface="+mj-ea"/>
                <a:ea typeface="+mj-ea"/>
              </a:rPr>
              <a:t>300</a:t>
            </a:r>
            <a:r>
              <a:rPr lang="zh-CN" altLang="en-US" sz="2000" dirty="0">
                <a:solidFill>
                  <a:schemeClr val="tx2">
                    <a:lumMod val="90000"/>
                    <a:lumOff val="10000"/>
                  </a:schemeClr>
                </a:solidFill>
                <a:latin typeface="+mj-ea"/>
                <a:ea typeface="+mj-ea"/>
              </a:rPr>
              <a:t>道四则运算练习题。</a:t>
            </a:r>
            <a:endParaRPr lang="en-US" altLang="zh-CN" sz="2000" dirty="0">
              <a:solidFill>
                <a:schemeClr val="tx2">
                  <a:lumMod val="90000"/>
                  <a:lumOff val="10000"/>
                </a:schemeClr>
              </a:solidFill>
              <a:latin typeface="+mj-ea"/>
              <a:ea typeface="+mj-ea"/>
            </a:endParaRPr>
          </a:p>
          <a:p>
            <a:pPr>
              <a:lnSpc>
                <a:spcPct val="100000"/>
              </a:lnSpc>
              <a:spcBef>
                <a:spcPts val="0"/>
              </a:spcBef>
            </a:pPr>
            <a:r>
              <a:rPr lang="zh-CN" altLang="en-US" sz="2000" dirty="0">
                <a:solidFill>
                  <a:schemeClr val="tx2">
                    <a:lumMod val="90000"/>
                    <a:lumOff val="10000"/>
                  </a:schemeClr>
                </a:solidFill>
                <a:latin typeface="+mj-ea"/>
                <a:ea typeface="+mj-ea"/>
              </a:rPr>
              <a:t>这个程序有很多种实现</a:t>
            </a:r>
            <a:r>
              <a:rPr lang="zh-CN" altLang="en-US" sz="2000" dirty="0" smtClean="0">
                <a:solidFill>
                  <a:schemeClr val="tx2">
                    <a:lumMod val="90000"/>
                    <a:lumOff val="10000"/>
                  </a:schemeClr>
                </a:solidFill>
                <a:latin typeface="+mj-ea"/>
                <a:ea typeface="+mj-ea"/>
              </a:rPr>
              <a:t>方式：</a:t>
            </a:r>
            <a:endParaRPr lang="en-US" altLang="zh-CN" sz="2000" dirty="0" smtClean="0">
              <a:solidFill>
                <a:schemeClr val="tx2">
                  <a:lumMod val="90000"/>
                  <a:lumOff val="10000"/>
                </a:schemeClr>
              </a:solidFill>
              <a:latin typeface="+mj-ea"/>
              <a:ea typeface="+mj-ea"/>
            </a:endParaRPr>
          </a:p>
          <a:p>
            <a:pPr lvl="1">
              <a:lnSpc>
                <a:spcPct val="100000"/>
              </a:lnSpc>
              <a:spcBef>
                <a:spcPts val="0"/>
              </a:spcBef>
            </a:pPr>
            <a:r>
              <a:rPr lang="en-US" altLang="zh-CN" sz="2000" dirty="0" smtClean="0">
                <a:solidFill>
                  <a:schemeClr val="tx2">
                    <a:lumMod val="90000"/>
                    <a:lumOff val="10000"/>
                  </a:schemeClr>
                </a:solidFill>
                <a:latin typeface="+mj-ea"/>
                <a:ea typeface="+mj-ea"/>
              </a:rPr>
              <a:t>C/C++</a:t>
            </a:r>
            <a:endParaRPr lang="en-US" altLang="zh-CN" sz="2000" dirty="0" smtClean="0">
              <a:solidFill>
                <a:schemeClr val="tx2">
                  <a:lumMod val="90000"/>
                  <a:lumOff val="10000"/>
                </a:schemeClr>
              </a:solidFill>
              <a:latin typeface="+mj-ea"/>
              <a:ea typeface="+mj-ea"/>
            </a:endParaRPr>
          </a:p>
          <a:p>
            <a:pPr lvl="1">
              <a:lnSpc>
                <a:spcPct val="100000"/>
              </a:lnSpc>
              <a:spcBef>
                <a:spcPts val="0"/>
              </a:spcBef>
            </a:pPr>
            <a:r>
              <a:rPr lang="en-US" altLang="zh-CN" sz="2000" dirty="0" smtClean="0">
                <a:solidFill>
                  <a:schemeClr val="tx2">
                    <a:lumMod val="90000"/>
                    <a:lumOff val="10000"/>
                  </a:schemeClr>
                </a:solidFill>
                <a:latin typeface="+mj-ea"/>
                <a:ea typeface="+mj-ea"/>
              </a:rPr>
              <a:t>C</a:t>
            </a:r>
            <a:r>
              <a:rPr lang="en-US" altLang="zh-CN" sz="2000" dirty="0">
                <a:solidFill>
                  <a:schemeClr val="tx2">
                    <a:lumMod val="90000"/>
                    <a:lumOff val="10000"/>
                  </a:schemeClr>
                </a:solidFill>
                <a:latin typeface="+mj-ea"/>
                <a:ea typeface="+mj-ea"/>
              </a:rPr>
              <a:t>#/VB.net/Java</a:t>
            </a:r>
            <a:endParaRPr lang="en-US" altLang="zh-CN" sz="2000" dirty="0">
              <a:solidFill>
                <a:schemeClr val="tx2">
                  <a:lumMod val="90000"/>
                  <a:lumOff val="10000"/>
                </a:schemeClr>
              </a:solidFill>
              <a:latin typeface="+mj-ea"/>
              <a:ea typeface="+mj-ea"/>
            </a:endParaRPr>
          </a:p>
          <a:p>
            <a:pPr lvl="1">
              <a:lnSpc>
                <a:spcPct val="100000"/>
              </a:lnSpc>
              <a:spcBef>
                <a:spcPts val="0"/>
              </a:spcBef>
            </a:pPr>
            <a:r>
              <a:rPr lang="en-US" altLang="zh-CN" sz="2000" dirty="0">
                <a:solidFill>
                  <a:schemeClr val="tx2">
                    <a:lumMod val="90000"/>
                    <a:lumOff val="10000"/>
                  </a:schemeClr>
                </a:solidFill>
                <a:latin typeface="+mj-ea"/>
                <a:ea typeface="+mj-ea"/>
              </a:rPr>
              <a:t>Excel</a:t>
            </a:r>
            <a:endParaRPr lang="en-US" altLang="zh-CN" sz="2000" dirty="0">
              <a:solidFill>
                <a:schemeClr val="tx2">
                  <a:lumMod val="90000"/>
                  <a:lumOff val="10000"/>
                </a:schemeClr>
              </a:solidFill>
              <a:latin typeface="+mj-ea"/>
              <a:ea typeface="+mj-ea"/>
            </a:endParaRPr>
          </a:p>
          <a:p>
            <a:pPr lvl="1">
              <a:lnSpc>
                <a:spcPct val="100000"/>
              </a:lnSpc>
              <a:spcBef>
                <a:spcPts val="0"/>
              </a:spcBef>
            </a:pPr>
            <a:r>
              <a:rPr lang="en-US" altLang="zh-CN" sz="2000" dirty="0">
                <a:solidFill>
                  <a:schemeClr val="tx2">
                    <a:lumMod val="90000"/>
                    <a:lumOff val="10000"/>
                  </a:schemeClr>
                </a:solidFill>
                <a:latin typeface="+mj-ea"/>
                <a:ea typeface="+mj-ea"/>
              </a:rPr>
              <a:t>Unix Shell</a:t>
            </a:r>
            <a:endParaRPr lang="en-US" altLang="zh-CN" sz="2000" dirty="0">
              <a:solidFill>
                <a:schemeClr val="tx2">
                  <a:lumMod val="90000"/>
                  <a:lumOff val="10000"/>
                </a:schemeClr>
              </a:solidFill>
              <a:latin typeface="+mj-ea"/>
              <a:ea typeface="+mj-ea"/>
            </a:endParaRPr>
          </a:p>
          <a:p>
            <a:pPr lvl="1">
              <a:lnSpc>
                <a:spcPct val="100000"/>
              </a:lnSpc>
              <a:spcBef>
                <a:spcPts val="0"/>
              </a:spcBef>
            </a:pPr>
            <a:r>
              <a:rPr lang="en-US" altLang="zh-CN" sz="2000" dirty="0" err="1">
                <a:solidFill>
                  <a:schemeClr val="tx2">
                    <a:lumMod val="90000"/>
                    <a:lumOff val="10000"/>
                  </a:schemeClr>
                </a:solidFill>
                <a:latin typeface="+mj-ea"/>
                <a:ea typeface="+mj-ea"/>
              </a:rPr>
              <a:t>Emacs</a:t>
            </a:r>
            <a:r>
              <a:rPr lang="en-US" altLang="zh-CN" sz="2000" dirty="0">
                <a:solidFill>
                  <a:schemeClr val="tx2">
                    <a:lumMod val="90000"/>
                    <a:lumOff val="10000"/>
                  </a:schemeClr>
                </a:solidFill>
                <a:latin typeface="+mj-ea"/>
                <a:ea typeface="+mj-ea"/>
              </a:rPr>
              <a:t>/</a:t>
            </a:r>
            <a:r>
              <a:rPr lang="en-US" altLang="zh-CN" sz="2000" dirty="0" err="1">
                <a:solidFill>
                  <a:schemeClr val="tx2">
                    <a:lumMod val="90000"/>
                    <a:lumOff val="10000"/>
                  </a:schemeClr>
                </a:solidFill>
                <a:latin typeface="+mj-ea"/>
                <a:ea typeface="+mj-ea"/>
              </a:rPr>
              <a:t>Powershell</a:t>
            </a:r>
            <a:r>
              <a:rPr lang="en-US" altLang="zh-CN" sz="2000" dirty="0">
                <a:solidFill>
                  <a:schemeClr val="tx2">
                    <a:lumMod val="90000"/>
                    <a:lumOff val="10000"/>
                  </a:schemeClr>
                </a:solidFill>
                <a:latin typeface="+mj-ea"/>
                <a:ea typeface="+mj-ea"/>
              </a:rPr>
              <a:t>/</a:t>
            </a:r>
            <a:r>
              <a:rPr lang="en-US" altLang="zh-CN" sz="2000" dirty="0" err="1">
                <a:solidFill>
                  <a:schemeClr val="tx2">
                    <a:lumMod val="90000"/>
                    <a:lumOff val="10000"/>
                  </a:schemeClr>
                </a:solidFill>
                <a:latin typeface="+mj-ea"/>
                <a:ea typeface="+mj-ea"/>
              </a:rPr>
              <a:t>Vbscript</a:t>
            </a:r>
            <a:endParaRPr lang="en-US" altLang="zh-CN" sz="2000" dirty="0">
              <a:solidFill>
                <a:schemeClr val="tx2">
                  <a:lumMod val="90000"/>
                  <a:lumOff val="10000"/>
                </a:schemeClr>
              </a:solidFill>
              <a:latin typeface="+mj-ea"/>
              <a:ea typeface="+mj-ea"/>
            </a:endParaRPr>
          </a:p>
          <a:p>
            <a:pPr lvl="1">
              <a:lnSpc>
                <a:spcPct val="100000"/>
              </a:lnSpc>
              <a:spcBef>
                <a:spcPts val="0"/>
              </a:spcBef>
            </a:pPr>
            <a:r>
              <a:rPr lang="en-US" altLang="zh-CN" sz="2000" dirty="0">
                <a:solidFill>
                  <a:schemeClr val="tx2">
                    <a:lumMod val="90000"/>
                    <a:lumOff val="10000"/>
                  </a:schemeClr>
                </a:solidFill>
                <a:latin typeface="+mj-ea"/>
                <a:ea typeface="+mj-ea"/>
              </a:rPr>
              <a:t>Perl</a:t>
            </a:r>
            <a:endParaRPr lang="en-US" altLang="zh-CN" sz="2000" dirty="0">
              <a:solidFill>
                <a:schemeClr val="tx2">
                  <a:lumMod val="90000"/>
                  <a:lumOff val="10000"/>
                </a:schemeClr>
              </a:solidFill>
              <a:latin typeface="+mj-ea"/>
              <a:ea typeface="+mj-ea"/>
            </a:endParaRPr>
          </a:p>
          <a:p>
            <a:pPr lvl="1">
              <a:lnSpc>
                <a:spcPct val="100000"/>
              </a:lnSpc>
              <a:spcBef>
                <a:spcPts val="0"/>
              </a:spcBef>
            </a:pPr>
            <a:r>
              <a:rPr lang="en-US" altLang="zh-CN" sz="2000" dirty="0">
                <a:solidFill>
                  <a:schemeClr val="tx2">
                    <a:lumMod val="90000"/>
                    <a:lumOff val="10000"/>
                  </a:schemeClr>
                </a:solidFill>
                <a:latin typeface="+mj-ea"/>
                <a:ea typeface="+mj-ea"/>
              </a:rPr>
              <a:t>Python</a:t>
            </a:r>
            <a:endParaRPr lang="en-US" altLang="zh-CN" sz="2000" dirty="0">
              <a:solidFill>
                <a:schemeClr val="tx2">
                  <a:lumMod val="90000"/>
                  <a:lumOff val="10000"/>
                </a:schemeClr>
              </a:solidFill>
              <a:latin typeface="+mj-ea"/>
              <a:ea typeface="+mj-ea"/>
            </a:endParaRPr>
          </a:p>
          <a:p>
            <a:pPr>
              <a:lnSpc>
                <a:spcPct val="100000"/>
              </a:lnSpc>
              <a:spcBef>
                <a:spcPts val="0"/>
              </a:spcBef>
            </a:pPr>
            <a:r>
              <a:rPr lang="zh-CN" altLang="en-US" sz="2000" dirty="0">
                <a:solidFill>
                  <a:schemeClr val="tx2">
                    <a:lumMod val="90000"/>
                    <a:lumOff val="10000"/>
                  </a:schemeClr>
                </a:solidFill>
                <a:latin typeface="+mj-ea"/>
                <a:ea typeface="+mj-ea"/>
              </a:rPr>
              <a:t>两个运算符，</a:t>
            </a:r>
            <a:r>
              <a:rPr lang="en-US" altLang="zh-CN" sz="2000" dirty="0">
                <a:solidFill>
                  <a:schemeClr val="tx2">
                    <a:lumMod val="90000"/>
                    <a:lumOff val="10000"/>
                  </a:schemeClr>
                </a:solidFill>
                <a:latin typeface="+mj-ea"/>
                <a:ea typeface="+mj-ea"/>
              </a:rPr>
              <a:t>100 </a:t>
            </a:r>
            <a:r>
              <a:rPr lang="zh-CN" altLang="en-US" sz="2000" dirty="0">
                <a:solidFill>
                  <a:schemeClr val="tx2">
                    <a:lumMod val="90000"/>
                    <a:lumOff val="10000"/>
                  </a:schemeClr>
                </a:solidFill>
                <a:latin typeface="+mj-ea"/>
                <a:ea typeface="+mj-ea"/>
              </a:rPr>
              <a:t>以内的数字，不需要写答案</a:t>
            </a:r>
            <a:r>
              <a:rPr lang="zh-CN" altLang="en-US" sz="2000" dirty="0" smtClean="0">
                <a:solidFill>
                  <a:schemeClr val="tx2">
                    <a:lumMod val="90000"/>
                    <a:lumOff val="10000"/>
                  </a:schemeClr>
                </a:solidFill>
                <a:latin typeface="+mj-ea"/>
                <a:ea typeface="+mj-ea"/>
              </a:rPr>
              <a:t>。</a:t>
            </a:r>
            <a:endParaRPr lang="en-US" altLang="zh-CN" sz="2000" dirty="0" smtClean="0">
              <a:solidFill>
                <a:schemeClr val="tx2">
                  <a:lumMod val="90000"/>
                  <a:lumOff val="10000"/>
                </a:schemeClr>
              </a:solidFill>
              <a:latin typeface="+mj-ea"/>
              <a:ea typeface="+mj-ea"/>
            </a:endParaRPr>
          </a:p>
          <a:p>
            <a:pPr>
              <a:lnSpc>
                <a:spcPct val="100000"/>
              </a:lnSpc>
              <a:spcBef>
                <a:spcPts val="0"/>
              </a:spcBef>
            </a:pPr>
            <a:r>
              <a:rPr lang="zh-CN" altLang="en-US" sz="2000" dirty="0" smtClean="0">
                <a:solidFill>
                  <a:schemeClr val="tx2">
                    <a:lumMod val="90000"/>
                    <a:lumOff val="10000"/>
                  </a:schemeClr>
                </a:solidFill>
                <a:latin typeface="+mj-ea"/>
                <a:ea typeface="+mj-ea"/>
              </a:rPr>
              <a:t>需要</a:t>
            </a:r>
            <a:r>
              <a:rPr lang="zh-CN" altLang="en-US" sz="2000" dirty="0">
                <a:solidFill>
                  <a:schemeClr val="tx2">
                    <a:lumMod val="90000"/>
                    <a:lumOff val="10000"/>
                  </a:schemeClr>
                </a:solidFill>
                <a:latin typeface="+mj-ea"/>
                <a:ea typeface="+mj-ea"/>
              </a:rPr>
              <a:t>写答案，并且保证答案在 </a:t>
            </a:r>
            <a:r>
              <a:rPr lang="en-US" altLang="zh-CN" sz="2000" dirty="0">
                <a:solidFill>
                  <a:schemeClr val="tx2">
                    <a:lumMod val="90000"/>
                    <a:lumOff val="10000"/>
                  </a:schemeClr>
                </a:solidFill>
                <a:latin typeface="+mj-ea"/>
                <a:ea typeface="+mj-ea"/>
              </a:rPr>
              <a:t>0..100</a:t>
            </a:r>
            <a:r>
              <a:rPr lang="zh-CN" altLang="en-US" sz="2000" dirty="0">
                <a:solidFill>
                  <a:schemeClr val="tx2">
                    <a:lumMod val="90000"/>
                    <a:lumOff val="10000"/>
                  </a:schemeClr>
                </a:solidFill>
                <a:latin typeface="+mj-ea"/>
                <a:ea typeface="+mj-ea"/>
              </a:rPr>
              <a:t> </a:t>
            </a:r>
            <a:r>
              <a:rPr lang="zh-CN" altLang="en-US" sz="2000" dirty="0" smtClean="0">
                <a:solidFill>
                  <a:schemeClr val="tx2">
                    <a:lumMod val="90000"/>
                    <a:lumOff val="10000"/>
                  </a:schemeClr>
                </a:solidFill>
                <a:latin typeface="+mj-ea"/>
                <a:ea typeface="+mj-ea"/>
              </a:rPr>
              <a:t>之间</a:t>
            </a:r>
            <a:endParaRPr lang="zh-CN" altLang="en-US" sz="2000" dirty="0">
              <a:solidFill>
                <a:schemeClr val="tx2">
                  <a:lumMod val="90000"/>
                  <a:lumOff val="10000"/>
                </a:schemeClr>
              </a:solidFill>
              <a:latin typeface="+mj-ea"/>
              <a:ea typeface="+mj-ea"/>
            </a:endParaRPr>
          </a:p>
        </p:txBody>
      </p:sp>
      <p:sp>
        <p:nvSpPr>
          <p:cNvPr id="4" name="日期占位符 3"/>
          <p:cNvSpPr>
            <a:spLocks noGrp="1"/>
          </p:cNvSpPr>
          <p:nvPr>
            <p:ph type="dt" sz="half" idx="10"/>
          </p:nvPr>
        </p:nvSpPr>
        <p:spPr/>
        <p:txBody>
          <a:bodyPr/>
          <a:lstStyle/>
          <a:p>
            <a:fld id="{55B64FFB-31E9-4FF2-8EB4-226FEF5BD7FE}"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软件：很多细节</a:t>
            </a:r>
            <a:endParaRPr lang="zh-CN" altLang="en-US" dirty="0"/>
          </a:p>
        </p:txBody>
      </p:sp>
      <p:sp>
        <p:nvSpPr>
          <p:cNvPr id="3" name="内容占位符 2"/>
          <p:cNvSpPr>
            <a:spLocks noGrp="1"/>
          </p:cNvSpPr>
          <p:nvPr>
            <p:ph idx="1"/>
          </p:nvPr>
        </p:nvSpPr>
        <p:spPr>
          <a:xfrm>
            <a:off x="614694" y="828958"/>
            <a:ext cx="8243556" cy="3806854"/>
          </a:xfrm>
        </p:spPr>
        <p:txBody>
          <a:bodyPr>
            <a:noAutofit/>
          </a:bodyPr>
          <a:lstStyle/>
          <a:p>
            <a:pPr>
              <a:lnSpc>
                <a:spcPct val="110000"/>
              </a:lnSpc>
            </a:pPr>
            <a:r>
              <a:rPr lang="zh-CN" altLang="en-US" sz="2000" dirty="0">
                <a:solidFill>
                  <a:schemeClr val="tx2">
                    <a:lumMod val="90000"/>
                    <a:lumOff val="10000"/>
                  </a:schemeClr>
                </a:solidFill>
                <a:latin typeface="+mj-ea"/>
                <a:ea typeface="+mj-ea"/>
              </a:rPr>
              <a:t>这个老师发现你的程序很好用，其他老师都想要一份，有些新的要求：</a:t>
            </a:r>
            <a:endParaRPr lang="en-US" altLang="zh-CN" sz="2000" dirty="0">
              <a:solidFill>
                <a:schemeClr val="tx2">
                  <a:lumMod val="90000"/>
                  <a:lumOff val="10000"/>
                </a:schemeClr>
              </a:solidFill>
              <a:latin typeface="+mj-ea"/>
              <a:ea typeface="+mj-ea"/>
            </a:endParaRPr>
          </a:p>
          <a:p>
            <a:pPr marL="817245" lvl="1" indent="-457200">
              <a:lnSpc>
                <a:spcPct val="110000"/>
              </a:lnSpc>
              <a:buFont typeface="+mj-lt"/>
              <a:buAutoNum type="arabicPeriod"/>
            </a:pPr>
            <a:r>
              <a:rPr lang="zh-CN" altLang="en-US" sz="2000" dirty="0">
                <a:solidFill>
                  <a:schemeClr val="tx2">
                    <a:lumMod val="90000"/>
                    <a:lumOff val="10000"/>
                  </a:schemeClr>
                </a:solidFill>
                <a:latin typeface="+mj-ea"/>
                <a:ea typeface="+mj-ea"/>
              </a:rPr>
              <a:t>题目避免重复</a:t>
            </a:r>
            <a:endParaRPr lang="en-US" altLang="zh-CN" sz="2000" dirty="0">
              <a:solidFill>
                <a:schemeClr val="tx2">
                  <a:lumMod val="90000"/>
                  <a:lumOff val="10000"/>
                </a:schemeClr>
              </a:solidFill>
              <a:latin typeface="+mj-ea"/>
              <a:ea typeface="+mj-ea"/>
            </a:endParaRPr>
          </a:p>
          <a:p>
            <a:pPr marL="817245" lvl="1" indent="-457200">
              <a:lnSpc>
                <a:spcPct val="110000"/>
              </a:lnSpc>
              <a:buFont typeface="+mj-lt"/>
              <a:buAutoNum type="arabicPeriod"/>
            </a:pPr>
            <a:r>
              <a:rPr lang="zh-CN" altLang="en-US" sz="2000" dirty="0">
                <a:solidFill>
                  <a:schemeClr val="tx2">
                    <a:lumMod val="90000"/>
                    <a:lumOff val="10000"/>
                  </a:schemeClr>
                </a:solidFill>
                <a:latin typeface="+mj-ea"/>
                <a:ea typeface="+mj-ea"/>
              </a:rPr>
              <a:t>可扩展性</a:t>
            </a:r>
            <a:endParaRPr lang="en-US" altLang="zh-CN" sz="2000" dirty="0">
              <a:solidFill>
                <a:schemeClr val="tx2">
                  <a:lumMod val="90000"/>
                  <a:lumOff val="10000"/>
                </a:schemeClr>
              </a:solidFill>
              <a:latin typeface="+mj-ea"/>
              <a:ea typeface="+mj-ea"/>
            </a:endParaRPr>
          </a:p>
          <a:p>
            <a:pPr marL="817245" lvl="1" indent="-457200">
              <a:lnSpc>
                <a:spcPct val="110000"/>
              </a:lnSpc>
              <a:buFont typeface="+mj-lt"/>
              <a:buAutoNum type="arabicPeriod"/>
            </a:pPr>
            <a:r>
              <a:rPr lang="zh-CN" altLang="en-US" sz="2000" dirty="0">
                <a:solidFill>
                  <a:schemeClr val="tx2">
                    <a:lumMod val="90000"/>
                    <a:lumOff val="10000"/>
                  </a:schemeClr>
                </a:solidFill>
                <a:latin typeface="+mj-ea"/>
                <a:ea typeface="+mj-ea"/>
              </a:rPr>
              <a:t>可定制（数量</a:t>
            </a:r>
            <a:r>
              <a:rPr lang="en-US" altLang="zh-CN" sz="2000" dirty="0">
                <a:solidFill>
                  <a:schemeClr val="tx2">
                    <a:lumMod val="90000"/>
                    <a:lumOff val="10000"/>
                  </a:schemeClr>
                </a:solidFill>
                <a:latin typeface="+mj-ea"/>
                <a:ea typeface="+mj-ea"/>
              </a:rPr>
              <a:t>/</a:t>
            </a:r>
            <a:r>
              <a:rPr lang="zh-CN" altLang="en-US" sz="2000" dirty="0">
                <a:solidFill>
                  <a:schemeClr val="tx2">
                    <a:lumMod val="90000"/>
                    <a:lumOff val="10000"/>
                  </a:schemeClr>
                </a:solidFill>
                <a:latin typeface="+mj-ea"/>
                <a:ea typeface="+mj-ea"/>
              </a:rPr>
              <a:t>打印方式）</a:t>
            </a:r>
            <a:endParaRPr lang="en-US" altLang="zh-CN" sz="2000" dirty="0">
              <a:solidFill>
                <a:schemeClr val="tx2">
                  <a:lumMod val="90000"/>
                  <a:lumOff val="10000"/>
                </a:schemeClr>
              </a:solidFill>
              <a:latin typeface="+mj-ea"/>
              <a:ea typeface="+mj-ea"/>
            </a:endParaRPr>
          </a:p>
          <a:p>
            <a:pPr marL="817245" lvl="1" indent="-457200">
              <a:lnSpc>
                <a:spcPct val="110000"/>
              </a:lnSpc>
              <a:buFont typeface="+mj-lt"/>
              <a:buAutoNum type="arabicPeriod"/>
            </a:pPr>
            <a:r>
              <a:rPr lang="zh-CN" altLang="en-US" sz="2000" dirty="0">
                <a:solidFill>
                  <a:schemeClr val="tx2">
                    <a:lumMod val="90000"/>
                    <a:lumOff val="10000"/>
                  </a:schemeClr>
                </a:solidFill>
                <a:latin typeface="+mj-ea"/>
                <a:ea typeface="+mj-ea"/>
              </a:rPr>
              <a:t>具体</a:t>
            </a:r>
            <a:r>
              <a:rPr lang="zh-CN" altLang="en-US" sz="2000" dirty="0" smtClean="0">
                <a:solidFill>
                  <a:schemeClr val="tx2">
                    <a:lumMod val="90000"/>
                    <a:lumOff val="10000"/>
                  </a:schemeClr>
                </a:solidFill>
                <a:latin typeface="+mj-ea"/>
                <a:ea typeface="+mj-ea"/>
              </a:rPr>
              <a:t>定制：</a:t>
            </a:r>
            <a:endParaRPr lang="en-US" altLang="zh-CN" sz="2000" dirty="0">
              <a:solidFill>
                <a:schemeClr val="tx2">
                  <a:lumMod val="90000"/>
                  <a:lumOff val="10000"/>
                </a:schemeClr>
              </a:solidFill>
              <a:latin typeface="+mj-ea"/>
              <a:ea typeface="+mj-ea"/>
            </a:endParaRPr>
          </a:p>
          <a:p>
            <a:pPr marL="1306195" lvl="2" indent="-514350">
              <a:lnSpc>
                <a:spcPct val="110000"/>
              </a:lnSpc>
              <a:buFont typeface="+mj-lt"/>
              <a:buAutoNum type="romanUcPeriod"/>
            </a:pPr>
            <a:r>
              <a:rPr lang="zh-CN" altLang="en-US" dirty="0">
                <a:solidFill>
                  <a:schemeClr val="tx2">
                    <a:lumMod val="90000"/>
                    <a:lumOff val="10000"/>
                  </a:schemeClr>
                </a:solidFill>
                <a:latin typeface="+mj-ea"/>
                <a:ea typeface="+mj-ea"/>
              </a:rPr>
              <a:t>是否有乘除法，是否有括号，数值范围，加减有无负数</a:t>
            </a:r>
            <a:endParaRPr lang="en-US" altLang="zh-CN" dirty="0">
              <a:solidFill>
                <a:schemeClr val="tx2">
                  <a:lumMod val="90000"/>
                  <a:lumOff val="10000"/>
                </a:schemeClr>
              </a:solidFill>
              <a:latin typeface="+mj-ea"/>
              <a:ea typeface="+mj-ea"/>
            </a:endParaRPr>
          </a:p>
          <a:p>
            <a:pPr marL="1306195" lvl="2" indent="-514350">
              <a:lnSpc>
                <a:spcPct val="110000"/>
              </a:lnSpc>
              <a:buFont typeface="+mj-lt"/>
              <a:buAutoNum type="romanUcPeriod"/>
            </a:pPr>
            <a:r>
              <a:rPr lang="zh-CN" altLang="en-US" dirty="0">
                <a:solidFill>
                  <a:schemeClr val="tx2">
                    <a:lumMod val="90000"/>
                    <a:lumOff val="10000"/>
                  </a:schemeClr>
                </a:solidFill>
                <a:latin typeface="+mj-ea"/>
                <a:ea typeface="+mj-ea"/>
              </a:rPr>
              <a:t>除法有无余数，是否支持分数，打印中每行的间隔可调整</a:t>
            </a:r>
            <a:endParaRPr lang="en-US" altLang="zh-CN" dirty="0">
              <a:solidFill>
                <a:schemeClr val="tx2">
                  <a:lumMod val="90000"/>
                  <a:lumOff val="10000"/>
                </a:schemeClr>
              </a:solidFill>
              <a:latin typeface="+mj-ea"/>
              <a:ea typeface="+mj-ea"/>
            </a:endParaRPr>
          </a:p>
          <a:p>
            <a:pPr>
              <a:lnSpc>
                <a:spcPct val="110000"/>
              </a:lnSpc>
            </a:pPr>
            <a:r>
              <a:rPr lang="zh-CN" altLang="en-US" sz="2000" dirty="0" smtClean="0">
                <a:solidFill>
                  <a:schemeClr val="tx2">
                    <a:lumMod val="90000"/>
                    <a:lumOff val="10000"/>
                  </a:schemeClr>
                </a:solidFill>
                <a:latin typeface="+mj-ea"/>
                <a:ea typeface="+mj-ea"/>
              </a:rPr>
              <a:t>现在这就是一个稍微有些复杂的软件了。</a:t>
            </a:r>
            <a:endParaRPr lang="en-US" altLang="zh-CN" sz="2000" dirty="0">
              <a:solidFill>
                <a:schemeClr val="tx2">
                  <a:lumMod val="90000"/>
                  <a:lumOff val="10000"/>
                </a:schemeClr>
              </a:solidFill>
              <a:latin typeface="+mj-ea"/>
              <a:ea typeface="+mj-ea"/>
            </a:endParaRPr>
          </a:p>
          <a:p>
            <a:pPr marL="0" indent="0">
              <a:lnSpc>
                <a:spcPct val="110000"/>
              </a:lnSpc>
              <a:buNone/>
            </a:pPr>
            <a:endParaRPr lang="zh-CN" altLang="en-US" sz="2000" dirty="0">
              <a:solidFill>
                <a:schemeClr val="tx2">
                  <a:lumMod val="90000"/>
                  <a:lumOff val="10000"/>
                </a:schemeClr>
              </a:solidFill>
              <a:latin typeface="+mj-ea"/>
              <a:ea typeface="+mj-ea"/>
            </a:endParaRPr>
          </a:p>
        </p:txBody>
      </p:sp>
      <p:sp>
        <p:nvSpPr>
          <p:cNvPr id="4" name="日期占位符 3"/>
          <p:cNvSpPr>
            <a:spLocks noGrp="1"/>
          </p:cNvSpPr>
          <p:nvPr>
            <p:ph type="dt" sz="half" idx="10"/>
          </p:nvPr>
        </p:nvSpPr>
        <p:spPr/>
        <p:txBody>
          <a:bodyPr/>
          <a:lstStyle/>
          <a:p>
            <a:fld id="{5896CDAC-1671-4875-A97E-EBCBFD4956BF}"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更多需求</a:t>
            </a:r>
            <a:endParaRPr lang="zh-CN" altLang="en-US" dirty="0"/>
          </a:p>
        </p:txBody>
      </p:sp>
      <p:sp>
        <p:nvSpPr>
          <p:cNvPr id="3" name="内容占位符 2"/>
          <p:cNvSpPr>
            <a:spLocks noGrp="1"/>
          </p:cNvSpPr>
          <p:nvPr>
            <p:ph idx="1"/>
          </p:nvPr>
        </p:nvSpPr>
        <p:spPr/>
        <p:txBody>
          <a:bodyPr>
            <a:normAutofit/>
          </a:bodyPr>
          <a:lstStyle/>
          <a:p>
            <a:pPr>
              <a:lnSpc>
                <a:spcPct val="100000"/>
              </a:lnSpc>
            </a:pPr>
            <a:r>
              <a:rPr lang="zh-CN" altLang="en-US" sz="2400" dirty="0">
                <a:solidFill>
                  <a:schemeClr val="tx2">
                    <a:lumMod val="90000"/>
                    <a:lumOff val="10000"/>
                  </a:schemeClr>
                </a:solidFill>
                <a:latin typeface="+mj-ea"/>
                <a:ea typeface="+mj-ea"/>
              </a:rPr>
              <a:t>然后你发现全国的老师都有这个</a:t>
            </a:r>
            <a:r>
              <a:rPr lang="zh-CN" altLang="en-US" sz="2400" dirty="0" smtClean="0">
                <a:solidFill>
                  <a:schemeClr val="tx2">
                    <a:lumMod val="90000"/>
                    <a:lumOff val="10000"/>
                  </a:schemeClr>
                </a:solidFill>
                <a:latin typeface="+mj-ea"/>
                <a:ea typeface="+mj-ea"/>
              </a:rPr>
              <a:t>需求。</a:t>
            </a:r>
            <a:endParaRPr lang="en-US" altLang="zh-CN" sz="2400" dirty="0">
              <a:solidFill>
                <a:schemeClr val="tx2">
                  <a:lumMod val="90000"/>
                  <a:lumOff val="10000"/>
                </a:schemeClr>
              </a:solidFill>
              <a:latin typeface="+mj-ea"/>
              <a:ea typeface="+mj-ea"/>
            </a:endParaRPr>
          </a:p>
          <a:p>
            <a:pPr>
              <a:lnSpc>
                <a:spcPct val="100000"/>
              </a:lnSpc>
            </a:pPr>
            <a:r>
              <a:rPr lang="zh-CN" altLang="en-US" sz="2400" dirty="0">
                <a:solidFill>
                  <a:schemeClr val="tx2">
                    <a:lumMod val="90000"/>
                    <a:lumOff val="10000"/>
                  </a:schemeClr>
                </a:solidFill>
                <a:latin typeface="+mj-ea"/>
                <a:ea typeface="+mj-ea"/>
              </a:rPr>
              <a:t>甚至有好些家长都想要</a:t>
            </a:r>
            <a:r>
              <a:rPr lang="zh-CN" altLang="en-US" sz="2400" dirty="0" smtClean="0">
                <a:solidFill>
                  <a:schemeClr val="tx2">
                    <a:lumMod val="90000"/>
                    <a:lumOff val="10000"/>
                  </a:schemeClr>
                </a:solidFill>
                <a:latin typeface="+mj-ea"/>
                <a:ea typeface="+mj-ea"/>
              </a:rPr>
              <a:t>这个。</a:t>
            </a:r>
            <a:endParaRPr lang="en-US" altLang="zh-CN" sz="2400" dirty="0">
              <a:solidFill>
                <a:schemeClr val="tx2">
                  <a:lumMod val="90000"/>
                  <a:lumOff val="10000"/>
                </a:schemeClr>
              </a:solidFill>
              <a:latin typeface="+mj-ea"/>
              <a:ea typeface="+mj-ea"/>
            </a:endParaRPr>
          </a:p>
          <a:p>
            <a:pPr marL="95885" lvl="1" indent="0">
              <a:lnSpc>
                <a:spcPct val="100000"/>
              </a:lnSpc>
              <a:buNone/>
            </a:pPr>
            <a:r>
              <a:rPr lang="zh-CN" altLang="en-US" dirty="0">
                <a:solidFill>
                  <a:schemeClr val="tx2">
                    <a:lumMod val="90000"/>
                    <a:lumOff val="10000"/>
                  </a:schemeClr>
                </a:solidFill>
                <a:latin typeface="+mj-ea"/>
                <a:ea typeface="+mj-ea"/>
              </a:rPr>
              <a:t>。。。</a:t>
            </a:r>
            <a:endParaRPr lang="en-US" altLang="zh-CN" dirty="0">
              <a:solidFill>
                <a:schemeClr val="tx2">
                  <a:lumMod val="90000"/>
                  <a:lumOff val="10000"/>
                </a:schemeClr>
              </a:solidFill>
              <a:latin typeface="+mj-ea"/>
              <a:ea typeface="+mj-ea"/>
            </a:endParaRPr>
          </a:p>
          <a:p>
            <a:pPr>
              <a:lnSpc>
                <a:spcPct val="100000"/>
              </a:lnSpc>
            </a:pPr>
            <a:r>
              <a:rPr lang="zh-CN" altLang="en-US" sz="2400" dirty="0">
                <a:solidFill>
                  <a:schemeClr val="tx2">
                    <a:lumMod val="90000"/>
                    <a:lumOff val="10000"/>
                  </a:schemeClr>
                </a:solidFill>
                <a:latin typeface="+mj-ea"/>
                <a:ea typeface="+mj-ea"/>
              </a:rPr>
              <a:t>校长希望你写一个网站满足大家的需求，希望能接受上万个用户同时</a:t>
            </a:r>
            <a:r>
              <a:rPr lang="zh-CN" altLang="en-US" sz="2400" dirty="0" smtClean="0">
                <a:solidFill>
                  <a:schemeClr val="tx2">
                    <a:lumMod val="90000"/>
                    <a:lumOff val="10000"/>
                  </a:schemeClr>
                </a:solidFill>
                <a:latin typeface="+mj-ea"/>
                <a:ea typeface="+mj-ea"/>
              </a:rPr>
              <a:t>访问。</a:t>
            </a:r>
            <a:endParaRPr lang="en-US" altLang="zh-CN" sz="2400" dirty="0">
              <a:solidFill>
                <a:schemeClr val="tx2">
                  <a:lumMod val="90000"/>
                  <a:lumOff val="10000"/>
                </a:schemeClr>
              </a:solidFill>
              <a:latin typeface="+mj-ea"/>
              <a:ea typeface="+mj-ea"/>
            </a:endParaRPr>
          </a:p>
          <a:p>
            <a:pPr>
              <a:lnSpc>
                <a:spcPct val="100000"/>
              </a:lnSpc>
            </a:pPr>
            <a:endParaRPr lang="en-US" altLang="zh-CN" sz="2400" dirty="0">
              <a:solidFill>
                <a:schemeClr val="tx2">
                  <a:lumMod val="90000"/>
                  <a:lumOff val="10000"/>
                </a:schemeClr>
              </a:solidFill>
              <a:latin typeface="+mj-ea"/>
              <a:ea typeface="+mj-ea"/>
            </a:endParaRPr>
          </a:p>
          <a:p>
            <a:pPr>
              <a:lnSpc>
                <a:spcPct val="100000"/>
              </a:lnSpc>
            </a:pPr>
            <a:r>
              <a:rPr lang="zh-CN" altLang="en-US" sz="2400" dirty="0" smtClean="0">
                <a:solidFill>
                  <a:schemeClr val="tx2">
                    <a:lumMod val="90000"/>
                    <a:lumOff val="10000"/>
                  </a:schemeClr>
                </a:solidFill>
                <a:latin typeface="+mj-ea"/>
                <a:ea typeface="+mj-ea"/>
              </a:rPr>
              <a:t>大家也可以估计一下完成</a:t>
            </a:r>
            <a:r>
              <a:rPr lang="zh-CN" altLang="en-US" sz="2400" dirty="0">
                <a:solidFill>
                  <a:schemeClr val="tx2">
                    <a:lumMod val="90000"/>
                    <a:lumOff val="10000"/>
                  </a:schemeClr>
                </a:solidFill>
                <a:latin typeface="+mj-ea"/>
                <a:ea typeface="+mj-ea"/>
              </a:rPr>
              <a:t>这一</a:t>
            </a:r>
            <a:r>
              <a:rPr lang="zh-CN" altLang="en-US" sz="2400" b="1" dirty="0">
                <a:solidFill>
                  <a:schemeClr val="tx2">
                    <a:lumMod val="90000"/>
                    <a:lumOff val="10000"/>
                  </a:schemeClr>
                </a:solidFill>
                <a:latin typeface="+mj-ea"/>
                <a:ea typeface="+mj-ea"/>
              </a:rPr>
              <a:t>软件服务</a:t>
            </a:r>
            <a:r>
              <a:rPr lang="zh-CN" altLang="en-US" sz="2400" dirty="0">
                <a:solidFill>
                  <a:schemeClr val="tx2">
                    <a:lumMod val="90000"/>
                    <a:lumOff val="10000"/>
                  </a:schemeClr>
                </a:solidFill>
                <a:latin typeface="+mj-ea"/>
                <a:ea typeface="+mj-ea"/>
              </a:rPr>
              <a:t>需要的</a:t>
            </a:r>
            <a:r>
              <a:rPr lang="zh-CN" altLang="en-US" sz="2400" dirty="0" smtClean="0">
                <a:solidFill>
                  <a:schemeClr val="tx2">
                    <a:lumMod val="90000"/>
                    <a:lumOff val="10000"/>
                  </a:schemeClr>
                </a:solidFill>
                <a:latin typeface="+mj-ea"/>
                <a:ea typeface="+mj-ea"/>
              </a:rPr>
              <a:t>时间。</a:t>
            </a:r>
            <a:endParaRPr lang="en-US" altLang="zh-CN" sz="2400" dirty="0">
              <a:solidFill>
                <a:schemeClr val="tx2">
                  <a:lumMod val="90000"/>
                  <a:lumOff val="10000"/>
                </a:schemeClr>
              </a:solidFill>
              <a:latin typeface="+mj-ea"/>
              <a:ea typeface="+mj-ea"/>
            </a:endParaRPr>
          </a:p>
          <a:p>
            <a:pPr>
              <a:lnSpc>
                <a:spcPct val="100000"/>
              </a:lnSpc>
            </a:pPr>
            <a:endParaRPr lang="zh-CN" altLang="en-US" sz="2400" dirty="0">
              <a:solidFill>
                <a:schemeClr val="tx2">
                  <a:lumMod val="90000"/>
                  <a:lumOff val="10000"/>
                </a:schemeClr>
              </a:solidFill>
              <a:latin typeface="+mj-ea"/>
              <a:ea typeface="+mj-ea"/>
            </a:endParaRPr>
          </a:p>
        </p:txBody>
      </p:sp>
      <p:sp>
        <p:nvSpPr>
          <p:cNvPr id="4" name="日期占位符 3"/>
          <p:cNvSpPr>
            <a:spLocks noGrp="1"/>
          </p:cNvSpPr>
          <p:nvPr>
            <p:ph type="dt" sz="half" idx="10"/>
          </p:nvPr>
        </p:nvSpPr>
        <p:spPr/>
        <p:txBody>
          <a:bodyPr/>
          <a:lstStyle/>
          <a:p>
            <a:fld id="{728AA68A-45AE-4198-A177-131DA1F68A6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软件的概念</a:t>
            </a:r>
            <a:endParaRPr lang="zh-CN" altLang="en-US" dirty="0"/>
          </a:p>
        </p:txBody>
      </p:sp>
      <p:sp>
        <p:nvSpPr>
          <p:cNvPr id="3" name="内容占位符 2"/>
          <p:cNvSpPr>
            <a:spLocks noGrp="1"/>
          </p:cNvSpPr>
          <p:nvPr>
            <p:ph idx="1"/>
          </p:nvPr>
        </p:nvSpPr>
        <p:spPr>
          <a:xfrm>
            <a:off x="768096" y="828636"/>
            <a:ext cx="7832833" cy="716042"/>
          </a:xfrm>
        </p:spPr>
        <p:txBody>
          <a:bodyPr>
            <a:noAutofit/>
          </a:bodyPr>
          <a:lstStyle/>
          <a:p>
            <a:r>
              <a:rPr lang="zh-CN" altLang="en-US" sz="2400" dirty="0" smtClean="0"/>
              <a:t>什么是软件？</a:t>
            </a:r>
            <a:endParaRPr lang="zh-CN" altLang="en-US" sz="2400" dirty="0" smtClean="0"/>
          </a:p>
          <a:p>
            <a:pPr marL="0" indent="0">
              <a:buNone/>
            </a:pPr>
            <a:r>
              <a:rPr lang="en-US" altLang="zh-CN" sz="2400" dirty="0" smtClean="0"/>
              <a:t>IEEE</a:t>
            </a:r>
            <a:r>
              <a:rPr lang="zh-CN" altLang="en-US" sz="2400" dirty="0" smtClean="0"/>
              <a:t>在</a:t>
            </a:r>
            <a:r>
              <a:rPr lang="en-US" altLang="zh-CN" sz="2400" dirty="0" smtClean="0"/>
              <a:t>1983</a:t>
            </a:r>
            <a:r>
              <a:rPr lang="zh-CN" altLang="en-US" sz="2400" dirty="0" smtClean="0"/>
              <a:t>年给出的软件定义为：</a:t>
            </a:r>
            <a:r>
              <a:rPr lang="en-US" altLang="zh-CN" sz="2400" dirty="0" smtClean="0"/>
              <a:t>“</a:t>
            </a:r>
            <a:r>
              <a:rPr lang="zh-CN" altLang="en-US" sz="2400" dirty="0" smtClean="0"/>
              <a:t>计算机程序、文档、运行程序必须的数据、方法、规则</a:t>
            </a:r>
            <a:r>
              <a:rPr lang="en-US" altLang="zh-CN" sz="2400" dirty="0" smtClean="0"/>
              <a:t>”</a:t>
            </a:r>
            <a:r>
              <a:rPr lang="zh-CN" altLang="en-US" sz="2400" dirty="0" smtClean="0"/>
              <a:t>。</a:t>
            </a:r>
            <a:endParaRPr lang="zh-CN" altLang="en-US" sz="2400" dirty="0" smtClean="0"/>
          </a:p>
          <a:p>
            <a:endParaRPr lang="zh-CN" altLang="en-US" sz="2400" dirty="0" smtClean="0"/>
          </a:p>
        </p:txBody>
      </p:sp>
      <p:sp>
        <p:nvSpPr>
          <p:cNvPr id="4" name="日期占位符 3"/>
          <p:cNvSpPr>
            <a:spLocks noGrp="1"/>
          </p:cNvSpPr>
          <p:nvPr>
            <p:ph type="dt" sz="half" idx="10"/>
          </p:nvPr>
        </p:nvSpPr>
        <p:spPr/>
        <p:txBody>
          <a:bodyPr/>
          <a:lstStyle/>
          <a:p>
            <a:fld id="{3B07AA59-4CE6-4C53-936C-DBAF01358383}" type="datetime1">
              <a:rPr lang="zh-CN" altLang="en-US" sz="1600" smtClean="0"/>
            </a:fld>
            <a:endParaRPr lang="zh-CN" altLang="en-US" sz="1600" dirty="0"/>
          </a:p>
        </p:txBody>
      </p:sp>
      <p:sp>
        <p:nvSpPr>
          <p:cNvPr id="5" name="页脚占位符 4"/>
          <p:cNvSpPr>
            <a:spLocks noGrp="1"/>
          </p:cNvSpPr>
          <p:nvPr>
            <p:ph type="ftr" sz="quarter" idx="11"/>
          </p:nvPr>
        </p:nvSpPr>
        <p:spPr/>
        <p:txBody>
          <a:bodyPr/>
          <a:lstStyle/>
          <a:p>
            <a:r>
              <a:rPr lang="zh-CN" altLang="en-US" sz="1600" dirty="0" smtClean="0"/>
              <a:t>软件工程</a:t>
            </a:r>
            <a:endParaRPr lang="zh-CN" altLang="en-US" sz="1600" dirty="0"/>
          </a:p>
        </p:txBody>
      </p:sp>
      <p:sp>
        <p:nvSpPr>
          <p:cNvPr id="6" name="灯片编号占位符 5"/>
          <p:cNvSpPr>
            <a:spLocks noGrp="1"/>
          </p:cNvSpPr>
          <p:nvPr>
            <p:ph type="sldNum" sz="quarter" idx="12"/>
          </p:nvPr>
        </p:nvSpPr>
        <p:spPr/>
        <p:txBody>
          <a:bodyPr/>
          <a:lstStyle/>
          <a:p>
            <a:fld id="{F528F39D-B5E5-4CA7-906C-979D5A62978D}" type="slidenum">
              <a:rPr lang="zh-CN" altLang="en-US" sz="1600" smtClean="0"/>
            </a:fld>
            <a:endParaRPr lang="zh-CN" altLang="en-US" sz="1600"/>
          </a:p>
        </p:txBody>
      </p:sp>
      <p:pic>
        <p:nvPicPr>
          <p:cNvPr id="7" name="图片 6"/>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85340" y="2230755"/>
            <a:ext cx="5422265" cy="23634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调查：</a:t>
            </a:r>
            <a:endParaRPr lang="zh-CN" altLang="en-US" dirty="0"/>
          </a:p>
        </p:txBody>
      </p:sp>
      <p:sp>
        <p:nvSpPr>
          <p:cNvPr id="3" name="内容占位符 2"/>
          <p:cNvSpPr>
            <a:spLocks noGrp="1"/>
          </p:cNvSpPr>
          <p:nvPr>
            <p:ph idx="1"/>
          </p:nvPr>
        </p:nvSpPr>
        <p:spPr>
          <a:xfrm>
            <a:off x="768096" y="1434551"/>
            <a:ext cx="7832833" cy="2549619"/>
          </a:xfrm>
        </p:spPr>
        <p:txBody>
          <a:bodyPr>
            <a:normAutofit/>
          </a:bodyPr>
          <a:lstStyle/>
          <a:p>
            <a:pPr>
              <a:lnSpc>
                <a:spcPct val="100000"/>
              </a:lnSpc>
            </a:pPr>
            <a:r>
              <a:rPr lang="zh-CN" altLang="en-US" sz="3600" dirty="0" smtClean="0"/>
              <a:t>大家常用</a:t>
            </a:r>
            <a:r>
              <a:rPr lang="zh-CN" altLang="en-US" sz="3600" dirty="0"/>
              <a:t>的软件有哪些</a:t>
            </a:r>
            <a:r>
              <a:rPr lang="zh-CN" altLang="en-US" sz="3600" dirty="0" smtClean="0"/>
              <a:t>？</a:t>
            </a:r>
            <a:endParaRPr lang="en-US" altLang="zh-CN" sz="3600" dirty="0"/>
          </a:p>
        </p:txBody>
      </p:sp>
      <p:sp>
        <p:nvSpPr>
          <p:cNvPr id="4" name="日期占位符 3"/>
          <p:cNvSpPr>
            <a:spLocks noGrp="1"/>
          </p:cNvSpPr>
          <p:nvPr>
            <p:ph type="dt" sz="half" idx="10"/>
          </p:nvPr>
        </p:nvSpPr>
        <p:spPr/>
        <p:txBody>
          <a:bodyPr/>
          <a:lstStyle/>
          <a:p>
            <a:fld id="{1A59A5AC-86AE-4137-951C-D69B84157511}" type="datetime1">
              <a:rPr lang="zh-CN" altLang="en-US" sz="1600" smtClean="0"/>
            </a:fld>
            <a:endParaRPr lang="zh-CN" altLang="en-US" sz="1600" dirty="0"/>
          </a:p>
        </p:txBody>
      </p:sp>
      <p:sp>
        <p:nvSpPr>
          <p:cNvPr id="5" name="页脚占位符 4"/>
          <p:cNvSpPr>
            <a:spLocks noGrp="1"/>
          </p:cNvSpPr>
          <p:nvPr>
            <p:ph type="ftr" sz="quarter" idx="11"/>
          </p:nvPr>
        </p:nvSpPr>
        <p:spPr/>
        <p:txBody>
          <a:bodyPr/>
          <a:lstStyle/>
          <a:p>
            <a:r>
              <a:rPr lang="zh-CN" altLang="en-US" sz="1600" dirty="0" smtClean="0"/>
              <a:t>软件工程</a:t>
            </a:r>
            <a:endParaRPr lang="zh-CN" altLang="en-US" sz="1600" dirty="0"/>
          </a:p>
        </p:txBody>
      </p:sp>
      <p:sp>
        <p:nvSpPr>
          <p:cNvPr id="6" name="灯片编号占位符 5"/>
          <p:cNvSpPr>
            <a:spLocks noGrp="1"/>
          </p:cNvSpPr>
          <p:nvPr>
            <p:ph type="sldNum" sz="quarter" idx="12"/>
          </p:nvPr>
        </p:nvSpPr>
        <p:spPr/>
        <p:txBody>
          <a:bodyPr/>
          <a:lstStyle/>
          <a:p>
            <a:fld id="{F528F39D-B5E5-4CA7-906C-979D5A62978D}" type="slidenum">
              <a:rPr lang="zh-CN" altLang="en-US" sz="1600" smtClean="0"/>
            </a:fld>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7" name="内容占位符 6"/>
          <p:cNvPicPr>
            <a:picLocks noChangeAspect="1"/>
          </p:cNvPicPr>
          <p:nvPr>
            <p:ph idx="1"/>
          </p:nvPr>
        </p:nvPicPr>
        <p:blipFill>
          <a:blip r:embed="rId1"/>
          <a:stretch>
            <a:fillRect/>
          </a:stretch>
        </p:blipFill>
        <p:spPr>
          <a:xfrm>
            <a:off x="2826385" y="1036955"/>
            <a:ext cx="1461135" cy="1419225"/>
          </a:xfrm>
          <a:prstGeom prst="rect">
            <a:avLst/>
          </a:prstGeom>
        </p:spPr>
      </p:pic>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8" name="图片 7"/>
          <p:cNvPicPr>
            <a:picLocks noChangeAspect="1"/>
          </p:cNvPicPr>
          <p:nvPr/>
        </p:nvPicPr>
        <p:blipFill>
          <a:blip r:embed="rId2"/>
          <a:stretch>
            <a:fillRect/>
          </a:stretch>
        </p:blipFill>
        <p:spPr>
          <a:xfrm>
            <a:off x="875665" y="1036955"/>
            <a:ext cx="1628775" cy="1419225"/>
          </a:xfrm>
          <a:prstGeom prst="rect">
            <a:avLst/>
          </a:prstGeom>
        </p:spPr>
      </p:pic>
      <p:pic>
        <p:nvPicPr>
          <p:cNvPr id="9" name="图片 8"/>
          <p:cNvPicPr>
            <a:picLocks noChangeAspect="1"/>
          </p:cNvPicPr>
          <p:nvPr/>
        </p:nvPicPr>
        <p:blipFill>
          <a:blip r:embed="rId3"/>
          <a:stretch>
            <a:fillRect/>
          </a:stretch>
        </p:blipFill>
        <p:spPr>
          <a:xfrm>
            <a:off x="4906010" y="1242695"/>
            <a:ext cx="2085975" cy="885825"/>
          </a:xfrm>
          <a:prstGeom prst="rect">
            <a:avLst/>
          </a:prstGeom>
        </p:spPr>
      </p:pic>
      <p:pic>
        <p:nvPicPr>
          <p:cNvPr id="10" name="图片 9"/>
          <p:cNvPicPr>
            <a:picLocks noChangeAspect="1"/>
          </p:cNvPicPr>
          <p:nvPr/>
        </p:nvPicPr>
        <p:blipFill>
          <a:blip r:embed="rId4"/>
          <a:stretch>
            <a:fillRect/>
          </a:stretch>
        </p:blipFill>
        <p:spPr>
          <a:xfrm>
            <a:off x="683260" y="2692400"/>
            <a:ext cx="2037080" cy="744855"/>
          </a:xfrm>
          <a:prstGeom prst="rect">
            <a:avLst/>
          </a:prstGeom>
        </p:spPr>
      </p:pic>
      <p:pic>
        <p:nvPicPr>
          <p:cNvPr id="11" name="图片 10"/>
          <p:cNvPicPr>
            <a:picLocks noChangeAspect="1"/>
          </p:cNvPicPr>
          <p:nvPr/>
        </p:nvPicPr>
        <p:blipFill>
          <a:blip r:embed="rId5"/>
          <a:stretch>
            <a:fillRect/>
          </a:stretch>
        </p:blipFill>
        <p:spPr>
          <a:xfrm>
            <a:off x="3064510" y="2752090"/>
            <a:ext cx="1513205" cy="788035"/>
          </a:xfrm>
          <a:prstGeom prst="rect">
            <a:avLst/>
          </a:prstGeom>
        </p:spPr>
      </p:pic>
      <p:pic>
        <p:nvPicPr>
          <p:cNvPr id="12" name="图片 11"/>
          <p:cNvPicPr>
            <a:picLocks noChangeAspect="1"/>
          </p:cNvPicPr>
          <p:nvPr/>
        </p:nvPicPr>
        <p:blipFill>
          <a:blip r:embed="rId6"/>
          <a:stretch>
            <a:fillRect/>
          </a:stretch>
        </p:blipFill>
        <p:spPr>
          <a:xfrm>
            <a:off x="4843145" y="2692400"/>
            <a:ext cx="1473835" cy="847725"/>
          </a:xfrm>
          <a:prstGeom prst="rect">
            <a:avLst/>
          </a:prstGeom>
        </p:spPr>
      </p:pic>
      <p:pic>
        <p:nvPicPr>
          <p:cNvPr id="14" name="图片 13"/>
          <p:cNvPicPr>
            <a:picLocks noChangeAspect="1"/>
          </p:cNvPicPr>
          <p:nvPr/>
        </p:nvPicPr>
        <p:blipFill>
          <a:blip r:embed="rId7"/>
          <a:stretch>
            <a:fillRect/>
          </a:stretch>
        </p:blipFill>
        <p:spPr>
          <a:xfrm>
            <a:off x="6908165" y="2571750"/>
            <a:ext cx="1050290" cy="10350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a:t>
            </a:r>
            <a:r>
              <a:rPr lang="zh-CN" altLang="en-US" dirty="0" smtClean="0"/>
              <a:t>软件分类</a:t>
            </a:r>
            <a:endParaRPr lang="zh-CN" altLang="en-US" dirty="0"/>
          </a:p>
        </p:txBody>
      </p:sp>
      <p:sp>
        <p:nvSpPr>
          <p:cNvPr id="3" name="内容占位符 2"/>
          <p:cNvSpPr>
            <a:spLocks noGrp="1"/>
          </p:cNvSpPr>
          <p:nvPr>
            <p:ph idx="1"/>
          </p:nvPr>
        </p:nvSpPr>
        <p:spPr/>
        <p:txBody>
          <a:bodyPr>
            <a:noAutofit/>
          </a:bodyPr>
          <a:lstStyle/>
          <a:p>
            <a:pPr>
              <a:defRPr/>
            </a:pPr>
            <a:r>
              <a:rPr lang="zh-CN" altLang="en-US" sz="2400" b="1" dirty="0">
                <a:effectLst>
                  <a:outerShdw blurRad="38100" dist="38100" dir="2700000" algn="tl">
                    <a:srgbClr val="000000"/>
                  </a:outerShdw>
                </a:effectLst>
                <a:ea typeface="楷体_GB2312" pitchFamily="49" charset="-122"/>
              </a:rPr>
              <a:t>按软件的功能进行划分：</a:t>
            </a:r>
            <a:endParaRPr lang="zh-CN" altLang="en-US" sz="2400" b="1" dirty="0">
              <a:effectLst>
                <a:outerShdw blurRad="38100" dist="38100" dir="2700000" algn="tl">
                  <a:srgbClr val="000000"/>
                </a:outerShdw>
              </a:effectLst>
              <a:ea typeface="楷体_GB2312" pitchFamily="49" charset="-122"/>
            </a:endParaRPr>
          </a:p>
          <a:p>
            <a:pPr lvl="1">
              <a:defRPr/>
            </a:pPr>
            <a:r>
              <a:rPr lang="zh-CN" altLang="en-US" sz="1800" dirty="0">
                <a:latin typeface="+mj-ea"/>
                <a:ea typeface="+mj-ea"/>
              </a:rPr>
              <a:t>系统软件</a:t>
            </a:r>
            <a:endParaRPr lang="zh-CN" altLang="en-US" sz="1800" dirty="0">
              <a:latin typeface="+mj-ea"/>
              <a:ea typeface="+mj-ea"/>
            </a:endParaRPr>
          </a:p>
          <a:p>
            <a:pPr lvl="1">
              <a:buNone/>
              <a:defRPr/>
            </a:pPr>
            <a:r>
              <a:rPr lang="zh-CN" altLang="en-US" sz="1800" dirty="0">
                <a:latin typeface="+mj-ea"/>
                <a:ea typeface="+mj-ea"/>
              </a:rPr>
              <a:t>   使计算机系统各个部件、相关软件和数据协调、高效地工作的软件</a:t>
            </a:r>
            <a:endParaRPr lang="zh-CN" altLang="en-US" sz="1800" dirty="0">
              <a:latin typeface="+mj-ea"/>
              <a:ea typeface="+mj-ea"/>
            </a:endParaRPr>
          </a:p>
          <a:p>
            <a:pPr lvl="2">
              <a:defRPr/>
            </a:pPr>
            <a:r>
              <a:rPr lang="zh-CN" altLang="en-US" sz="1800" dirty="0">
                <a:latin typeface="+mj-ea"/>
                <a:ea typeface="+mj-ea"/>
              </a:rPr>
              <a:t>操作系统</a:t>
            </a:r>
            <a:endParaRPr lang="zh-CN" altLang="en-US" sz="1800" dirty="0">
              <a:latin typeface="+mj-ea"/>
              <a:ea typeface="+mj-ea"/>
            </a:endParaRPr>
          </a:p>
          <a:p>
            <a:pPr lvl="2">
              <a:defRPr/>
            </a:pPr>
            <a:r>
              <a:rPr lang="zh-CN" altLang="en-US" sz="1800" dirty="0">
                <a:latin typeface="+mj-ea"/>
                <a:ea typeface="+mj-ea"/>
              </a:rPr>
              <a:t>数据库管理系统</a:t>
            </a:r>
            <a:endParaRPr lang="zh-CN" altLang="en-US" sz="1800" dirty="0">
              <a:latin typeface="+mj-ea"/>
              <a:ea typeface="+mj-ea"/>
            </a:endParaRPr>
          </a:p>
          <a:p>
            <a:pPr lvl="2">
              <a:defRPr/>
            </a:pPr>
            <a:r>
              <a:rPr lang="zh-CN" altLang="en-US" sz="1800" dirty="0">
                <a:latin typeface="+mj-ea"/>
                <a:ea typeface="+mj-ea"/>
              </a:rPr>
              <a:t>设备驱动程序</a:t>
            </a:r>
            <a:endParaRPr lang="zh-CN" altLang="en-US" sz="1800" dirty="0">
              <a:latin typeface="+mj-ea"/>
              <a:ea typeface="+mj-ea"/>
            </a:endParaRPr>
          </a:p>
          <a:p>
            <a:pPr lvl="2">
              <a:defRPr/>
            </a:pPr>
            <a:r>
              <a:rPr lang="zh-CN" altLang="en-US" sz="1800" dirty="0">
                <a:latin typeface="+mj-ea"/>
                <a:ea typeface="+mj-ea"/>
              </a:rPr>
              <a:t>通信处理程序等</a:t>
            </a:r>
            <a:endParaRPr lang="zh-CN" altLang="en-US" sz="1800" dirty="0">
              <a:latin typeface="+mj-ea"/>
              <a:ea typeface="+mj-ea"/>
            </a:endParaRPr>
          </a:p>
          <a:p>
            <a:endParaRPr lang="zh-CN" altLang="en-US" sz="1800" dirty="0">
              <a:latin typeface="+mj-ea"/>
              <a:ea typeface="+mj-ea"/>
            </a:endParaRPr>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pPr lvl="1">
              <a:defRPr/>
            </a:pPr>
            <a:r>
              <a:rPr lang="zh-CN" altLang="en-US" sz="2000" dirty="0">
                <a:latin typeface="+mj-ea"/>
                <a:ea typeface="+mj-ea"/>
              </a:rPr>
              <a:t>支撑软件</a:t>
            </a:r>
            <a:endParaRPr lang="zh-CN" altLang="en-US" sz="2000" dirty="0">
              <a:latin typeface="+mj-ea"/>
              <a:ea typeface="+mj-ea"/>
            </a:endParaRPr>
          </a:p>
          <a:p>
            <a:pPr lvl="1">
              <a:buNone/>
              <a:defRPr/>
            </a:pPr>
            <a:r>
              <a:rPr lang="zh-CN" altLang="en-US" sz="2000" dirty="0">
                <a:latin typeface="+mj-ea"/>
                <a:ea typeface="+mj-ea"/>
              </a:rPr>
              <a:t>            协助用户开发软件的工具软件</a:t>
            </a:r>
            <a:endParaRPr lang="zh-CN" altLang="en-US" sz="2000" dirty="0">
              <a:latin typeface="+mj-ea"/>
              <a:ea typeface="+mj-ea"/>
            </a:endParaRPr>
          </a:p>
          <a:p>
            <a:pPr lvl="2">
              <a:defRPr/>
            </a:pPr>
            <a:r>
              <a:rPr lang="zh-CN" altLang="en-US" dirty="0">
                <a:latin typeface="+mj-ea"/>
                <a:ea typeface="+mj-ea"/>
              </a:rPr>
              <a:t>文本编辑程序</a:t>
            </a:r>
            <a:endParaRPr lang="zh-CN" altLang="en-US" dirty="0">
              <a:latin typeface="+mj-ea"/>
              <a:ea typeface="+mj-ea"/>
            </a:endParaRPr>
          </a:p>
          <a:p>
            <a:pPr lvl="2">
              <a:defRPr/>
            </a:pPr>
            <a:r>
              <a:rPr lang="zh-CN" altLang="en-US" dirty="0">
                <a:latin typeface="+mj-ea"/>
                <a:ea typeface="+mj-ea"/>
              </a:rPr>
              <a:t>文件格式化程序</a:t>
            </a:r>
            <a:endParaRPr lang="zh-CN" altLang="en-US" dirty="0">
              <a:latin typeface="+mj-ea"/>
              <a:ea typeface="+mj-ea"/>
            </a:endParaRPr>
          </a:p>
          <a:p>
            <a:pPr lvl="2">
              <a:defRPr/>
            </a:pPr>
            <a:r>
              <a:rPr lang="zh-CN" altLang="en-US" dirty="0">
                <a:latin typeface="+mj-ea"/>
                <a:ea typeface="+mj-ea"/>
              </a:rPr>
              <a:t>磁盘向磁带进行数据传输的程序</a:t>
            </a:r>
            <a:endParaRPr lang="zh-CN" altLang="en-US" dirty="0">
              <a:latin typeface="+mj-ea"/>
              <a:ea typeface="+mj-ea"/>
            </a:endParaRPr>
          </a:p>
          <a:p>
            <a:pPr lvl="2">
              <a:defRPr/>
            </a:pPr>
            <a:r>
              <a:rPr lang="zh-CN" altLang="en-US" dirty="0">
                <a:latin typeface="+mj-ea"/>
                <a:ea typeface="+mj-ea"/>
              </a:rPr>
              <a:t>程序库系统</a:t>
            </a:r>
            <a:endParaRPr lang="zh-CN" altLang="en-US" dirty="0">
              <a:latin typeface="+mj-ea"/>
              <a:ea typeface="+mj-ea"/>
            </a:endParaRPr>
          </a:p>
          <a:p>
            <a:pPr lvl="2">
              <a:defRPr/>
            </a:pPr>
            <a:r>
              <a:rPr lang="zh-CN" altLang="en-US" dirty="0">
                <a:latin typeface="+mj-ea"/>
                <a:ea typeface="+mj-ea"/>
              </a:rPr>
              <a:t>支持需求分析、设计、实现、测试和支持管理的软件</a:t>
            </a:r>
            <a:endParaRPr lang="zh-CN" altLang="en-US" dirty="0">
              <a:latin typeface="+mj-ea"/>
              <a:ea typeface="+mj-ea"/>
            </a:endParaRPr>
          </a:p>
          <a:p>
            <a:endParaRPr lang="zh-CN" altLang="en-US" dirty="0">
              <a:latin typeface="+mj-ea"/>
              <a:ea typeface="+mj-ea"/>
            </a:endParaRPr>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pPr lvl="1">
              <a:defRPr/>
            </a:pPr>
            <a:r>
              <a:rPr lang="zh-CN" altLang="en-US" sz="1600" dirty="0">
                <a:latin typeface="+mj-ea"/>
                <a:ea typeface="+mj-ea"/>
              </a:rPr>
              <a:t>应用软件</a:t>
            </a:r>
            <a:endParaRPr lang="zh-CN" altLang="en-US" sz="1600" dirty="0">
              <a:latin typeface="+mj-ea"/>
              <a:ea typeface="+mj-ea"/>
            </a:endParaRPr>
          </a:p>
          <a:p>
            <a:pPr lvl="2">
              <a:defRPr/>
            </a:pPr>
            <a:r>
              <a:rPr lang="zh-CN" altLang="en-US" sz="1600" dirty="0">
                <a:latin typeface="+mj-ea"/>
                <a:ea typeface="+mj-ea"/>
              </a:rPr>
              <a:t>商业数据处理软件</a:t>
            </a:r>
            <a:endParaRPr lang="zh-CN" altLang="en-US" sz="1600" dirty="0">
              <a:latin typeface="+mj-ea"/>
              <a:ea typeface="+mj-ea"/>
            </a:endParaRPr>
          </a:p>
          <a:p>
            <a:pPr lvl="2">
              <a:defRPr/>
            </a:pPr>
            <a:r>
              <a:rPr lang="zh-CN" altLang="en-US" sz="1600" dirty="0">
                <a:latin typeface="+mj-ea"/>
                <a:ea typeface="+mj-ea"/>
              </a:rPr>
              <a:t>工程与科学计算软件</a:t>
            </a:r>
            <a:endParaRPr lang="zh-CN" altLang="en-US" sz="1600" dirty="0">
              <a:latin typeface="+mj-ea"/>
              <a:ea typeface="+mj-ea"/>
            </a:endParaRPr>
          </a:p>
          <a:p>
            <a:pPr lvl="2">
              <a:defRPr/>
            </a:pPr>
            <a:r>
              <a:rPr lang="zh-CN" altLang="en-US" sz="1600" dirty="0">
                <a:latin typeface="+mj-ea"/>
                <a:ea typeface="+mj-ea"/>
              </a:rPr>
              <a:t>计算机辅助设计／制造软件</a:t>
            </a:r>
            <a:endParaRPr lang="zh-CN" altLang="en-US" sz="1600" dirty="0">
              <a:latin typeface="+mj-ea"/>
              <a:ea typeface="+mj-ea"/>
            </a:endParaRPr>
          </a:p>
          <a:p>
            <a:pPr lvl="2">
              <a:defRPr/>
            </a:pPr>
            <a:r>
              <a:rPr lang="zh-CN" altLang="en-US" sz="1600" dirty="0">
                <a:latin typeface="+mj-ea"/>
                <a:ea typeface="+mj-ea"/>
              </a:rPr>
              <a:t>系统仿真软件</a:t>
            </a:r>
            <a:endParaRPr lang="zh-CN" altLang="en-US" sz="1600" dirty="0">
              <a:latin typeface="+mj-ea"/>
              <a:ea typeface="+mj-ea"/>
            </a:endParaRPr>
          </a:p>
          <a:p>
            <a:pPr lvl="2">
              <a:defRPr/>
            </a:pPr>
            <a:r>
              <a:rPr lang="zh-CN" altLang="en-US" sz="1600" dirty="0">
                <a:latin typeface="+mj-ea"/>
                <a:ea typeface="+mj-ea"/>
              </a:rPr>
              <a:t>智能产品嵌入软件</a:t>
            </a:r>
            <a:endParaRPr lang="zh-CN" altLang="en-US" sz="1600" dirty="0">
              <a:latin typeface="+mj-ea"/>
              <a:ea typeface="+mj-ea"/>
            </a:endParaRPr>
          </a:p>
          <a:p>
            <a:pPr lvl="2">
              <a:defRPr/>
            </a:pPr>
            <a:r>
              <a:rPr lang="zh-CN" altLang="en-US" sz="1600" dirty="0">
                <a:latin typeface="+mj-ea"/>
                <a:ea typeface="+mj-ea"/>
              </a:rPr>
              <a:t>医疗、制药软件</a:t>
            </a:r>
            <a:endParaRPr lang="zh-CN" altLang="en-US" sz="1600" dirty="0">
              <a:latin typeface="+mj-ea"/>
              <a:ea typeface="+mj-ea"/>
            </a:endParaRPr>
          </a:p>
          <a:p>
            <a:pPr lvl="2">
              <a:defRPr/>
            </a:pPr>
            <a:r>
              <a:rPr lang="zh-CN" altLang="en-US" sz="1600" dirty="0">
                <a:latin typeface="+mj-ea"/>
                <a:ea typeface="+mj-ea"/>
              </a:rPr>
              <a:t>事务管理、办公自动化软件</a:t>
            </a:r>
            <a:endParaRPr lang="zh-CN" altLang="en-US" sz="1600" dirty="0">
              <a:latin typeface="+mj-ea"/>
              <a:ea typeface="+mj-ea"/>
            </a:endParaRPr>
          </a:p>
          <a:p>
            <a:pPr lvl="2">
              <a:defRPr/>
            </a:pPr>
            <a:r>
              <a:rPr lang="zh-CN" altLang="en-US" sz="1600" dirty="0">
                <a:latin typeface="+mj-ea"/>
                <a:ea typeface="+mj-ea"/>
              </a:rPr>
              <a:t>计算机辅助教学软件</a:t>
            </a:r>
            <a:endParaRPr lang="zh-CN" altLang="en-US" sz="1600" dirty="0">
              <a:latin typeface="+mj-ea"/>
              <a:ea typeface="+mj-ea"/>
            </a:endParaRPr>
          </a:p>
          <a:p>
            <a:endParaRPr lang="zh-CN" altLang="en-US" sz="1600" dirty="0">
              <a:latin typeface="+mj-ea"/>
              <a:ea typeface="+mj-ea"/>
            </a:endParaRPr>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 name="picture 120"/>
          <p:cNvPicPr>
            <a:picLocks noChangeAspect="1"/>
          </p:cNvPicPr>
          <p:nvPr/>
        </p:nvPicPr>
        <p:blipFill>
          <a:blip r:embed="rId1"/>
          <a:stretch>
            <a:fillRect/>
          </a:stretch>
        </p:blipFill>
        <p:spPr>
          <a:xfrm rot="21600000">
            <a:off x="0" y="1472984"/>
            <a:ext cx="9144000" cy="1015965"/>
          </a:xfrm>
          <a:prstGeom prst="rect">
            <a:avLst/>
          </a:prstGeom>
        </p:spPr>
      </p:pic>
      <p:pic>
        <p:nvPicPr>
          <p:cNvPr id="124" name="picture 124"/>
          <p:cNvPicPr>
            <a:picLocks noChangeAspect="1"/>
          </p:cNvPicPr>
          <p:nvPr/>
        </p:nvPicPr>
        <p:blipFill>
          <a:blip r:embed="rId2"/>
          <a:stretch>
            <a:fillRect/>
          </a:stretch>
        </p:blipFill>
        <p:spPr>
          <a:xfrm rot="21600000">
            <a:off x="3117751" y="2494959"/>
            <a:ext cx="944918" cy="11430"/>
          </a:xfrm>
          <a:prstGeom prst="rect">
            <a:avLst/>
          </a:prstGeom>
        </p:spPr>
      </p:pic>
      <p:pic>
        <p:nvPicPr>
          <p:cNvPr id="126" name="picture 126"/>
          <p:cNvPicPr>
            <a:picLocks noChangeAspect="1"/>
          </p:cNvPicPr>
          <p:nvPr/>
        </p:nvPicPr>
        <p:blipFill>
          <a:blip r:embed="rId3"/>
          <a:stretch>
            <a:fillRect/>
          </a:stretch>
        </p:blipFill>
        <p:spPr>
          <a:xfrm rot="21600000">
            <a:off x="3295868" y="2447925"/>
            <a:ext cx="4923473" cy="59550"/>
          </a:xfrm>
          <a:prstGeom prst="rect">
            <a:avLst/>
          </a:prstGeom>
        </p:spPr>
      </p:pic>
      <p:grpSp>
        <p:nvGrpSpPr>
          <p:cNvPr id="12" name="group 12"/>
          <p:cNvGrpSpPr/>
          <p:nvPr/>
        </p:nvGrpSpPr>
        <p:grpSpPr>
          <a:xfrm rot="21600000">
            <a:off x="3158953" y="1528442"/>
            <a:ext cx="876533" cy="849304"/>
            <a:chOff x="0" y="0"/>
            <a:chExt cx="1168711" cy="1132405"/>
          </a:xfrm>
        </p:grpSpPr>
        <p:pic>
          <p:nvPicPr>
            <p:cNvPr id="128" name="picture 128"/>
            <p:cNvPicPr>
              <a:picLocks noChangeAspect="1"/>
            </p:cNvPicPr>
            <p:nvPr/>
          </p:nvPicPr>
          <p:blipFill>
            <a:blip r:embed="rId4"/>
            <a:stretch>
              <a:fillRect/>
            </a:stretch>
          </p:blipFill>
          <p:spPr>
            <a:xfrm rot="21600000">
              <a:off x="0" y="0"/>
              <a:ext cx="1168711" cy="1132405"/>
            </a:xfrm>
            <a:prstGeom prst="rect">
              <a:avLst/>
            </a:prstGeom>
          </p:spPr>
        </p:pic>
        <p:sp>
          <p:nvSpPr>
            <p:cNvPr id="130" name="textbox 130"/>
            <p:cNvSpPr/>
            <p:nvPr/>
          </p:nvSpPr>
          <p:spPr>
            <a:xfrm>
              <a:off x="-12700" y="-12700"/>
              <a:ext cx="1194435" cy="1180464"/>
            </a:xfrm>
            <a:prstGeom prst="rect">
              <a:avLst/>
            </a:prstGeom>
            <a:noFill/>
            <a:ln w="0" cap="flat">
              <a:noFill/>
              <a:prstDash val="solid"/>
              <a:miter lim="0"/>
            </a:ln>
          </p:spPr>
          <p:txBody>
            <a:bodyPr vert="horz" wrap="square" lIns="0" tIns="0" rIns="0" bIns="0"/>
            <a:lstStyle/>
            <a:p>
              <a:pPr algn="l" rtl="0" eaLnBrk="0">
                <a:lnSpc>
                  <a:spcPct val="100000"/>
                </a:lnSpc>
              </a:pPr>
              <a:endParaRPr sz="750" dirty="0">
                <a:latin typeface="Arial" panose="020B0604020202020204"/>
                <a:ea typeface="Arial" panose="020B0604020202020204"/>
                <a:cs typeface="Arial" panose="020B0604020202020204"/>
              </a:endParaRPr>
            </a:p>
            <a:p>
              <a:pPr algn="l" rtl="0" eaLnBrk="0">
                <a:lnSpc>
                  <a:spcPct val="100000"/>
                </a:lnSpc>
              </a:pPr>
              <a:endParaRPr sz="750" dirty="0">
                <a:latin typeface="Arial" panose="020B0604020202020204"/>
                <a:ea typeface="Arial" panose="020B0604020202020204"/>
                <a:cs typeface="Arial" panose="020B0604020202020204"/>
              </a:endParaRPr>
            </a:p>
            <a:p>
              <a:pPr marL="205740" algn="l" rtl="0" eaLnBrk="0">
                <a:lnSpc>
                  <a:spcPct val="83000"/>
                </a:lnSpc>
                <a:spcBef>
                  <a:spcPts val="0"/>
                </a:spcBef>
              </a:pP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嵌入式</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a:p>
              <a:pPr marL="318135" algn="l" rtl="0" eaLnBrk="0">
                <a:lnSpc>
                  <a:spcPts val="2110"/>
                </a:lnSpc>
              </a:pPr>
              <a:r>
                <a:rPr sz="1275" kern="0" spc="6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4" name="group 14"/>
          <p:cNvGrpSpPr/>
          <p:nvPr/>
        </p:nvGrpSpPr>
        <p:grpSpPr>
          <a:xfrm rot="21600000">
            <a:off x="4154309" y="1423667"/>
            <a:ext cx="944918" cy="969507"/>
            <a:chOff x="0" y="0"/>
            <a:chExt cx="1259890" cy="1292676"/>
          </a:xfrm>
        </p:grpSpPr>
        <p:pic>
          <p:nvPicPr>
            <p:cNvPr id="132" name="picture 132"/>
            <p:cNvPicPr>
              <a:picLocks noChangeAspect="1"/>
            </p:cNvPicPr>
            <p:nvPr/>
          </p:nvPicPr>
          <p:blipFill>
            <a:blip r:embed="rId5"/>
            <a:stretch>
              <a:fillRect/>
            </a:stretch>
          </p:blipFill>
          <p:spPr>
            <a:xfrm rot="21600000">
              <a:off x="53937" y="0"/>
              <a:ext cx="1168668" cy="1132405"/>
            </a:xfrm>
            <a:prstGeom prst="rect">
              <a:avLst/>
            </a:prstGeom>
          </p:spPr>
        </p:pic>
        <p:sp>
          <p:nvSpPr>
            <p:cNvPr id="134" name="textbox 134"/>
            <p:cNvSpPr/>
            <p:nvPr/>
          </p:nvSpPr>
          <p:spPr>
            <a:xfrm>
              <a:off x="282803" y="273908"/>
              <a:ext cx="702944" cy="509269"/>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a:ea typeface="Arial" panose="020B0604020202020204"/>
                <a:cs typeface="Arial" panose="020B0604020202020204"/>
              </a:endParaRPr>
            </a:p>
            <a:p>
              <a:pPr marL="125730" indent="-113665" algn="l" rtl="0" eaLnBrk="0">
                <a:lnSpc>
                  <a:spcPct val="93000"/>
                </a:lnSpc>
              </a:pP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产品线</a:t>
              </a:r>
              <a:r>
                <a:rPr sz="1275"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6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6" name="picture 136"/>
            <p:cNvPicPr>
              <a:picLocks noChangeAspect="1"/>
            </p:cNvPicPr>
            <p:nvPr/>
          </p:nvPicPr>
          <p:blipFill>
            <a:blip r:embed="rId6"/>
            <a:stretch>
              <a:fillRect/>
            </a:stretch>
          </p:blipFill>
          <p:spPr>
            <a:xfrm rot="21600000">
              <a:off x="0" y="1234891"/>
              <a:ext cx="1259890" cy="57785"/>
            </a:xfrm>
            <a:prstGeom prst="rect">
              <a:avLst/>
            </a:prstGeom>
          </p:spPr>
        </p:pic>
      </p:grpSp>
      <p:sp>
        <p:nvSpPr>
          <p:cNvPr id="138" name="textbox 138"/>
          <p:cNvSpPr/>
          <p:nvPr/>
        </p:nvSpPr>
        <p:spPr>
          <a:xfrm>
            <a:off x="3208463" y="2607955"/>
            <a:ext cx="900113" cy="2078831"/>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marL="15240" algn="l" rtl="0" eaLnBrk="0">
              <a:lnSpc>
                <a:spcPct val="83000"/>
              </a:lnSpc>
            </a:pPr>
            <a:r>
              <a:rPr sz="1125" b="1"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广泛应用于</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1270" algn="l" rtl="0" eaLnBrk="0">
              <a:lnSpc>
                <a:spcPct val="139000"/>
              </a:lnSpc>
              <a:spcBef>
                <a:spcPts val="115"/>
              </a:spcBef>
            </a:pPr>
            <a:r>
              <a:rPr sz="1125" b="1"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各种智能设</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备中，</a:t>
            </a:r>
            <a:r>
              <a:rPr sz="1125" b="1"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如智</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能手机</a:t>
            </a:r>
            <a:r>
              <a:rPr sz="1125" b="1" kern="0" spc="-2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平</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板电脑</a:t>
            </a:r>
            <a:r>
              <a:rPr sz="1125" b="1" kern="0" spc="-2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2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智</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能家居设备、</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汽车控制系</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统</a:t>
            </a:r>
            <a:r>
              <a:rPr sz="1125" b="1" kern="0" spc="-2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工业控</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制系统等。</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0" name="textbox 140"/>
          <p:cNvSpPr/>
          <p:nvPr/>
        </p:nvSpPr>
        <p:spPr>
          <a:xfrm>
            <a:off x="4218548" y="2535372"/>
            <a:ext cx="899636" cy="1839753"/>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a:ea typeface="Arial" panose="020B0604020202020204"/>
              <a:cs typeface="Arial" panose="020B0604020202020204"/>
            </a:endParaRPr>
          </a:p>
          <a:p>
            <a:pPr marL="14605" algn="l" rtl="0" eaLnBrk="0">
              <a:lnSpc>
                <a:spcPct val="83000"/>
              </a:lnSpc>
            </a:pPr>
            <a:r>
              <a:rPr sz="1125" b="1"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如企业级市</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635" algn="l" rtl="0" eaLnBrk="0">
              <a:lnSpc>
                <a:spcPct val="140000"/>
              </a:lnSpc>
              <a:spcBef>
                <a:spcPts val="35"/>
              </a:spcBef>
            </a:pP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场</a:t>
            </a:r>
            <a:r>
              <a:rPr sz="1125" b="1" kern="0" spc="-2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2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大众消</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费市场</a:t>
            </a:r>
            <a:r>
              <a:rPr sz="1125" b="1" kern="0" spc="-2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2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垂</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直行业市场、</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政府和公共</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事业市场、</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635" algn="l" rtl="0" eaLnBrk="0">
              <a:lnSpc>
                <a:spcPct val="129000"/>
              </a:lnSpc>
              <a:spcBef>
                <a:spcPts val="350"/>
              </a:spcBef>
            </a:pPr>
            <a:r>
              <a:rPr sz="1125" b="1"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新兴市场和</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创新领域。</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4" name="textbox 144"/>
          <p:cNvSpPr/>
          <p:nvPr/>
        </p:nvSpPr>
        <p:spPr>
          <a:xfrm>
            <a:off x="5313045" y="2465070"/>
            <a:ext cx="857885" cy="2553335"/>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5875" algn="l" rtl="0" eaLnBrk="0">
              <a:lnSpc>
                <a:spcPct val="83000"/>
              </a:lnSpc>
            </a:pP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包</a:t>
            </a:r>
            <a:r>
              <a:rPr sz="1125" b="1"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括</a:t>
            </a:r>
            <a:r>
              <a:rPr sz="1125" b="1"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电</a:t>
            </a:r>
            <a:r>
              <a:rPr sz="1125" b="1" kern="0" spc="1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子</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5715" algn="l" rtl="0" eaLnBrk="0">
              <a:lnSpc>
                <a:spcPct val="139000"/>
              </a:lnSpc>
              <a:spcBef>
                <a:spcPts val="95"/>
              </a:spcBef>
            </a:pP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a:t>
            </a:r>
            <a:r>
              <a:rPr sz="1125" b="1"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务</a:t>
            </a:r>
            <a:r>
              <a:rPr sz="1125" b="1" kern="0" spc="2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2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社</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交</a:t>
            </a:r>
            <a:r>
              <a:rPr sz="1125" b="1" kern="0" spc="1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媒</a:t>
            </a:r>
            <a:r>
              <a:rPr sz="1125" b="1"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体</a:t>
            </a:r>
            <a:r>
              <a:rPr sz="1125" b="1" kern="0" spc="2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在线服务</a:t>
            </a:r>
            <a:r>
              <a:rPr sz="1125" b="1"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在线教育</a:t>
            </a:r>
            <a:r>
              <a:rPr sz="1125" b="1"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a:t>
            </a:r>
            <a:r>
              <a:rPr sz="1125" b="1" kern="0" spc="1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线</a:t>
            </a:r>
            <a:r>
              <a:rPr sz="1125" b="1"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银</a:t>
            </a:r>
            <a:r>
              <a:rPr sz="1125" b="1"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行</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sz="1125" b="1" kern="0" spc="1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金</a:t>
            </a:r>
            <a:r>
              <a:rPr sz="1125" b="1" kern="0" spc="1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融</a:t>
            </a:r>
            <a:r>
              <a:rPr sz="1125" b="1" kern="0" spc="1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平</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台</a:t>
            </a:r>
            <a:r>
              <a:rPr sz="1125" b="1" kern="0" spc="2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a:t>
            </a:r>
            <a:r>
              <a:rPr sz="1125" b="1" kern="0" spc="1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线</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视</a:t>
            </a:r>
            <a:r>
              <a:rPr sz="1125" b="1" kern="0" spc="1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频</a:t>
            </a:r>
            <a:r>
              <a:rPr sz="1125" b="1" kern="0" spc="2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2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即</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时</a:t>
            </a:r>
            <a:r>
              <a:rPr sz="1125" b="1" kern="0" spc="1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a:t>
            </a:r>
            <a:r>
              <a:rPr sz="1125" b="1"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讯</a:t>
            </a:r>
            <a:r>
              <a:rPr sz="1125" b="1"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件等。</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6" name="textbox 146"/>
          <p:cNvSpPr/>
          <p:nvPr/>
        </p:nvSpPr>
        <p:spPr>
          <a:xfrm>
            <a:off x="6322695" y="2516505"/>
            <a:ext cx="864235" cy="231521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3335" algn="l" rtl="0" eaLnBrk="0">
              <a:lnSpc>
                <a:spcPct val="83000"/>
              </a:lnSpc>
            </a:pP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包</a:t>
            </a:r>
            <a:r>
              <a:rPr sz="1125" b="1"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括</a:t>
            </a:r>
            <a:r>
              <a:rPr sz="1125" b="1" kern="0" spc="1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机</a:t>
            </a:r>
            <a:r>
              <a:rPr sz="1125" b="1"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器</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4445" algn="l" rtl="0" eaLnBrk="0">
              <a:lnSpc>
                <a:spcPct val="139000"/>
              </a:lnSpc>
              <a:spcBef>
                <a:spcPts val="100"/>
              </a:spcBef>
            </a:pP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学习框架</a:t>
            </a:r>
            <a:r>
              <a:rPr sz="1125" b="1" kern="0" spc="-2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自</a:t>
            </a:r>
            <a:r>
              <a:rPr sz="1125" b="1" kern="0" spc="1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然</a:t>
            </a:r>
            <a:r>
              <a:rPr sz="1125" b="1"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语</a:t>
            </a:r>
            <a:r>
              <a:rPr sz="1125" b="1"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言</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处理工具</a:t>
            </a:r>
            <a:r>
              <a:rPr sz="1125" b="1" kern="0" spc="-2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计</a:t>
            </a:r>
            <a:r>
              <a:rPr sz="1125" b="1"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算</a:t>
            </a:r>
            <a:r>
              <a:rPr sz="1125" b="1" kern="0" spc="1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机</a:t>
            </a:r>
            <a:r>
              <a:rPr sz="1125" b="1"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视</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觉</a:t>
            </a:r>
            <a:r>
              <a:rPr sz="1125" b="1"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2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机</a:t>
            </a:r>
            <a:r>
              <a:rPr sz="1125" b="1" kern="0" spc="1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器</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a:t>
            </a:r>
            <a:r>
              <a:rPr sz="1125" b="1"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专</a:t>
            </a:r>
            <a:r>
              <a:rPr sz="1125" b="1"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家</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a:t>
            </a:r>
            <a:r>
              <a:rPr sz="1125" b="1" kern="0" spc="1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统</a:t>
            </a:r>
            <a:r>
              <a:rPr sz="1125" b="1" kern="0" spc="1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sz="1125" b="1"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决</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策</a:t>
            </a:r>
            <a:r>
              <a:rPr sz="1125" b="1"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支</a:t>
            </a:r>
            <a:r>
              <a:rPr sz="1125" b="1" kern="0" spc="1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持</a:t>
            </a:r>
            <a:r>
              <a:rPr sz="1125" b="1" kern="0" spc="1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统等应用。</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8" name="textbox 148"/>
          <p:cNvSpPr/>
          <p:nvPr/>
        </p:nvSpPr>
        <p:spPr>
          <a:xfrm>
            <a:off x="1123400" y="2859740"/>
            <a:ext cx="899636" cy="1840706"/>
          </a:xfrm>
          <a:prstGeom prst="rect">
            <a:avLst/>
          </a:prstGeom>
          <a:noFill/>
          <a:ln w="0" cap="flat">
            <a:noFill/>
            <a:prstDash val="solid"/>
            <a:miter lim="0"/>
          </a:ln>
        </p:spPr>
        <p:txBody>
          <a:bodyPr vert="horz" wrap="square" lIns="0" tIns="0" rIns="0" bIns="0"/>
          <a:lstStyle/>
          <a:p>
            <a:pPr algn="l" rtl="0" eaLnBrk="0">
              <a:lnSpc>
                <a:spcPct val="62000"/>
              </a:lnSpc>
            </a:pPr>
            <a:endParaRPr sz="100" dirty="0">
              <a:latin typeface="Arial" panose="020B0604020202020204"/>
              <a:ea typeface="Arial" panose="020B0604020202020204"/>
              <a:cs typeface="Arial" panose="020B0604020202020204"/>
            </a:endParaRPr>
          </a:p>
          <a:p>
            <a:pPr marL="12700" indent="1270" algn="l" rtl="0" eaLnBrk="0">
              <a:lnSpc>
                <a:spcPct val="133000"/>
              </a:lnSpc>
            </a:pPr>
            <a:r>
              <a:rPr sz="1125" b="1"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涵盖了各种</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行业和领域，</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如办公软件、</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图像处理软</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件</a:t>
            </a:r>
            <a:r>
              <a:rPr sz="1125" b="1" kern="0" spc="-1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视频编</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辑软件</a:t>
            </a:r>
            <a:r>
              <a:rPr sz="1125" b="1" kern="0" spc="-1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教</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育软件</a:t>
            </a:r>
            <a:r>
              <a:rPr sz="1125" b="1"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游</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戏软件等。</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0" name="textbox 150"/>
          <p:cNvSpPr/>
          <p:nvPr/>
        </p:nvSpPr>
        <p:spPr>
          <a:xfrm>
            <a:off x="8329682" y="2770143"/>
            <a:ext cx="749617" cy="2078831"/>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8415" algn="l" rtl="0" eaLnBrk="0">
              <a:lnSpc>
                <a:spcPct val="83000"/>
              </a:lnSpc>
            </a:pP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包括</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Linux</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5080" algn="l" rtl="0" eaLnBrk="0">
              <a:lnSpc>
                <a:spcPct val="139000"/>
              </a:lnSpc>
              <a:spcBef>
                <a:spcPts val="120"/>
              </a:spcBef>
            </a:pPr>
            <a:r>
              <a:rPr sz="1125" b="1"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Apache服</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务器软件、</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MySQL</a:t>
            </a:r>
            <a:r>
              <a:rPr sz="1125" b="1" kern="0" spc="1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数</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据库软件</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Python</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编程语言</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等。</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2" name="textbox 152"/>
          <p:cNvSpPr/>
          <p:nvPr/>
        </p:nvSpPr>
        <p:spPr>
          <a:xfrm>
            <a:off x="53759" y="869423"/>
            <a:ext cx="5690235" cy="257651"/>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algn="l" rtl="0" eaLnBrk="0">
              <a:lnSpc>
                <a:spcPct val="91000"/>
              </a:lnSpc>
            </a:pPr>
            <a:r>
              <a:rPr lang="zh-CN" altLang="en-US" sz="1725" b="1" dirty="0">
                <a:effectLst>
                  <a:outerShdw blurRad="38100" dist="38100" dir="2700000" algn="tl">
                    <a:srgbClr val="000000"/>
                  </a:outerShdw>
                </a:effectLst>
                <a:ea typeface="楷体_GB2312" pitchFamily="49" charset="-122"/>
                <a:sym typeface="+mn-ea"/>
              </a:rPr>
              <a:t>按软件的应用领域进行划分：</a:t>
            </a:r>
            <a:endParaRPr lang="zh-CN" altLang="en-US" sz="1725" b="1" dirty="0">
              <a:effectLst>
                <a:outerShdw blurRad="38100" dist="38100" dir="2700000" algn="tl">
                  <a:srgbClr val="000000"/>
                </a:outerShdw>
              </a:effectLst>
              <a:ea typeface="楷体_GB2312" pitchFamily="49" charset="-122"/>
            </a:endParaRPr>
          </a:p>
          <a:p>
            <a:pPr algn="r" rtl="0" eaLnBrk="0">
              <a:lnSpc>
                <a:spcPct val="91000"/>
              </a:lnSpc>
            </a:pP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4" name="textbox 154"/>
          <p:cNvSpPr/>
          <p:nvPr/>
        </p:nvSpPr>
        <p:spPr>
          <a:xfrm>
            <a:off x="2250512" y="2683851"/>
            <a:ext cx="746283" cy="1603534"/>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a:ea typeface="Arial" panose="020B0604020202020204"/>
              <a:cs typeface="Arial" panose="020B0604020202020204"/>
            </a:endParaRPr>
          </a:p>
          <a:p>
            <a:pPr marL="13970" algn="l" rtl="0" eaLnBrk="0">
              <a:lnSpc>
                <a:spcPct val="84000"/>
              </a:lnSpc>
            </a:pPr>
            <a:r>
              <a:rPr sz="1125" b="1" kern="0" spc="1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包括科学</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3335" algn="l" rtl="0" eaLnBrk="0">
              <a:lnSpc>
                <a:spcPct val="141000"/>
              </a:lnSpc>
              <a:spcBef>
                <a:spcPts val="15"/>
              </a:spcBef>
            </a:pPr>
            <a:r>
              <a:rPr sz="1125" b="1"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计算软件、</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计算机辅</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助设计</a:t>
            </a:r>
            <a:r>
              <a:rPr sz="1125" b="1" kern="0" spc="-2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1905" algn="l" rtl="0" eaLnBrk="0">
              <a:lnSpc>
                <a:spcPct val="132000"/>
              </a:lnSpc>
              <a:spcBef>
                <a:spcPts val="370"/>
              </a:spcBef>
            </a:pPr>
            <a:r>
              <a:rPr sz="1125" b="1"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制造软件、</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系统仿真</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软件等。</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6" name="textbox 156"/>
          <p:cNvSpPr/>
          <p:nvPr/>
        </p:nvSpPr>
        <p:spPr>
          <a:xfrm>
            <a:off x="205169" y="2994457"/>
            <a:ext cx="648652" cy="1841183"/>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3335" algn="l" rtl="0" eaLnBrk="0">
              <a:lnSpc>
                <a:spcPct val="83000"/>
              </a:lnSpc>
            </a:pPr>
            <a:r>
              <a:rPr sz="1125" b="1" kern="0" spc="1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包括操作</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1905" algn="l" rtl="0" eaLnBrk="0">
              <a:lnSpc>
                <a:spcPct val="139000"/>
              </a:lnSpc>
              <a:spcBef>
                <a:spcPts val="125"/>
              </a:spcBef>
            </a:pP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a:t>
            </a:r>
            <a:r>
              <a:rPr sz="1125" b="1"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数</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据库管理</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a:t>
            </a:r>
            <a:r>
              <a:rPr sz="1125" b="1" kern="0" spc="-1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设</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备驱动程</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序</a:t>
            </a:r>
            <a:r>
              <a:rPr sz="1125" b="1" kern="0" spc="-1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1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通信</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处理程序</a:t>
            </a:r>
            <a:r>
              <a:rPr sz="1125"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等。</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8" name="textbox 158"/>
          <p:cNvSpPr/>
          <p:nvPr/>
        </p:nvSpPr>
        <p:spPr>
          <a:xfrm>
            <a:off x="7352786" y="2685371"/>
            <a:ext cx="757714" cy="1364456"/>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3335" algn="l" rtl="0" eaLnBrk="0">
              <a:lnSpc>
                <a:spcPct val="83000"/>
              </a:lnSpc>
            </a:pP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包</a:t>
            </a:r>
            <a:r>
              <a:rPr sz="1125" b="1" kern="0" spc="1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括</a:t>
            </a:r>
            <a:r>
              <a:rPr sz="1125" b="1" kern="0" spc="1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云</a:t>
            </a:r>
            <a:r>
              <a:rPr sz="1125" b="1"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计</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635" algn="l" rtl="0" eaLnBrk="0">
              <a:lnSpc>
                <a:spcPct val="140000"/>
              </a:lnSpc>
              <a:spcBef>
                <a:spcPts val="35"/>
              </a:spcBef>
            </a:pP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算</a:t>
            </a:r>
            <a:r>
              <a:rPr sz="1125" b="1" kern="0" spc="1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平</a:t>
            </a:r>
            <a:r>
              <a:rPr sz="1125" b="1"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台</a:t>
            </a:r>
            <a:r>
              <a:rPr sz="1125" b="1" kern="0" spc="2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a:t>
            </a:r>
            <a:r>
              <a:rPr sz="1125" b="1"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数</a:t>
            </a:r>
            <a:r>
              <a:rPr sz="1125" b="1"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据</a:t>
            </a:r>
            <a:r>
              <a:rPr sz="1125" b="1" kern="0" spc="1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处</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理</a:t>
            </a:r>
            <a:r>
              <a:rPr sz="1125" b="1" kern="0" spc="1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a:t>
            </a:r>
            <a:r>
              <a:rPr sz="1125" b="1"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统</a:t>
            </a:r>
            <a:r>
              <a:rPr sz="1125" b="1"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以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及</a:t>
            </a:r>
            <a:r>
              <a:rPr sz="1125" b="1"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a:t>
            </a:r>
            <a:r>
              <a:rPr sz="1125" b="1"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布</a:t>
            </a:r>
            <a:r>
              <a:rPr sz="1125" b="1" kern="0" spc="1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式</a:t>
            </a:r>
            <a:r>
              <a:rPr sz="1125" b="1"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数据库等。</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6" name="group 16"/>
          <p:cNvGrpSpPr/>
          <p:nvPr/>
        </p:nvGrpSpPr>
        <p:grpSpPr>
          <a:xfrm rot="21600000">
            <a:off x="5196107" y="1301747"/>
            <a:ext cx="944918" cy="949505"/>
            <a:chOff x="0" y="0"/>
            <a:chExt cx="1259891" cy="1266006"/>
          </a:xfrm>
        </p:grpSpPr>
        <p:pic>
          <p:nvPicPr>
            <p:cNvPr id="160" name="picture 160"/>
            <p:cNvPicPr>
              <a:picLocks noChangeAspect="1"/>
            </p:cNvPicPr>
            <p:nvPr/>
          </p:nvPicPr>
          <p:blipFill>
            <a:blip r:embed="rId7"/>
            <a:stretch>
              <a:fillRect/>
            </a:stretch>
          </p:blipFill>
          <p:spPr>
            <a:xfrm rot="21600000">
              <a:off x="76162" y="0"/>
              <a:ext cx="1168668" cy="1132405"/>
            </a:xfrm>
            <a:prstGeom prst="rect">
              <a:avLst/>
            </a:prstGeom>
          </p:spPr>
        </p:pic>
        <p:sp>
          <p:nvSpPr>
            <p:cNvPr id="162" name="textbox 162"/>
            <p:cNvSpPr/>
            <p:nvPr/>
          </p:nvSpPr>
          <p:spPr>
            <a:xfrm>
              <a:off x="148132" y="357829"/>
              <a:ext cx="965835" cy="32892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2390"/>
                </a:lnSpc>
              </a:pPr>
              <a:r>
                <a:rPr sz="1275"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Web</a:t>
              </a:r>
              <a:r>
                <a:rPr sz="1275" kern="0" spc="10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应用</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64" name="picture 164"/>
            <p:cNvPicPr>
              <a:picLocks noChangeAspect="1"/>
            </p:cNvPicPr>
            <p:nvPr/>
          </p:nvPicPr>
          <p:blipFill>
            <a:blip r:embed="rId8"/>
            <a:stretch>
              <a:fillRect/>
            </a:stretch>
          </p:blipFill>
          <p:spPr>
            <a:xfrm rot="21600000">
              <a:off x="0" y="1208221"/>
              <a:ext cx="1259891" cy="57784"/>
            </a:xfrm>
            <a:prstGeom prst="rect">
              <a:avLst/>
            </a:prstGeom>
          </p:spPr>
        </p:pic>
      </p:grpSp>
      <p:grpSp>
        <p:nvGrpSpPr>
          <p:cNvPr id="18" name="group 18"/>
          <p:cNvGrpSpPr/>
          <p:nvPr/>
        </p:nvGrpSpPr>
        <p:grpSpPr>
          <a:xfrm rot="21600000">
            <a:off x="85381" y="1820637"/>
            <a:ext cx="882268" cy="846182"/>
            <a:chOff x="0" y="0"/>
            <a:chExt cx="1176357" cy="1128243"/>
          </a:xfrm>
        </p:grpSpPr>
        <p:pic>
          <p:nvPicPr>
            <p:cNvPr id="166" name="picture 166"/>
            <p:cNvPicPr>
              <a:picLocks noChangeAspect="1"/>
            </p:cNvPicPr>
            <p:nvPr/>
          </p:nvPicPr>
          <p:blipFill>
            <a:blip r:embed="rId9"/>
            <a:stretch>
              <a:fillRect/>
            </a:stretch>
          </p:blipFill>
          <p:spPr>
            <a:xfrm rot="21600000">
              <a:off x="0" y="0"/>
              <a:ext cx="1176357" cy="1128243"/>
            </a:xfrm>
            <a:prstGeom prst="rect">
              <a:avLst/>
            </a:prstGeom>
          </p:spPr>
        </p:pic>
        <p:sp>
          <p:nvSpPr>
            <p:cNvPr id="168" name="textbox 168"/>
            <p:cNvSpPr/>
            <p:nvPr/>
          </p:nvSpPr>
          <p:spPr>
            <a:xfrm>
              <a:off x="-12700" y="-12700"/>
              <a:ext cx="1202055" cy="1176655"/>
            </a:xfrm>
            <a:prstGeom prst="rect">
              <a:avLst/>
            </a:prstGeom>
            <a:noFill/>
            <a:ln w="0" cap="flat">
              <a:noFill/>
              <a:prstDash val="solid"/>
              <a:miter lim="0"/>
            </a:ln>
          </p:spPr>
          <p:txBody>
            <a:bodyPr vert="horz" wrap="square" lIns="0" tIns="0" rIns="0" bIns="0"/>
            <a:lstStyle/>
            <a:p>
              <a:pPr algn="l" rtl="0" eaLnBrk="0">
                <a:lnSpc>
                  <a:spcPct val="139000"/>
                </a:lnSpc>
              </a:pPr>
              <a:endParaRPr sz="750" dirty="0">
                <a:latin typeface="Arial" panose="020B0604020202020204"/>
                <a:ea typeface="Arial" panose="020B0604020202020204"/>
                <a:cs typeface="Arial" panose="020B0604020202020204"/>
              </a:endParaRPr>
            </a:p>
            <a:p>
              <a:pPr algn="l" rtl="0" eaLnBrk="0">
                <a:lnSpc>
                  <a:spcPct val="139000"/>
                </a:lnSpc>
              </a:pPr>
              <a:endParaRPr sz="75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28905" algn="l" rtl="0" eaLnBrk="0">
                <a:lnSpc>
                  <a:spcPct val="92000"/>
                </a:lnSpc>
              </a:pP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系统软件</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0" name="group 20"/>
          <p:cNvGrpSpPr/>
          <p:nvPr/>
        </p:nvGrpSpPr>
        <p:grpSpPr>
          <a:xfrm rot="21600000">
            <a:off x="6255973" y="1316035"/>
            <a:ext cx="876501" cy="849304"/>
            <a:chOff x="0" y="0"/>
            <a:chExt cx="1168668" cy="1132405"/>
          </a:xfrm>
        </p:grpSpPr>
        <p:pic>
          <p:nvPicPr>
            <p:cNvPr id="170" name="picture 170"/>
            <p:cNvPicPr>
              <a:picLocks noChangeAspect="1"/>
            </p:cNvPicPr>
            <p:nvPr/>
          </p:nvPicPr>
          <p:blipFill>
            <a:blip r:embed="rId10"/>
            <a:stretch>
              <a:fillRect/>
            </a:stretch>
          </p:blipFill>
          <p:spPr>
            <a:xfrm rot="21600000">
              <a:off x="0" y="0"/>
              <a:ext cx="1168668" cy="1132405"/>
            </a:xfrm>
            <a:prstGeom prst="rect">
              <a:avLst/>
            </a:prstGeom>
          </p:spPr>
        </p:pic>
        <p:sp>
          <p:nvSpPr>
            <p:cNvPr id="172" name="textbox 172"/>
            <p:cNvSpPr/>
            <p:nvPr/>
          </p:nvSpPr>
          <p:spPr>
            <a:xfrm>
              <a:off x="-12700" y="-12700"/>
              <a:ext cx="1194435" cy="1180464"/>
            </a:xfrm>
            <a:prstGeom prst="rect">
              <a:avLst/>
            </a:prstGeom>
            <a:noFill/>
            <a:ln w="0" cap="flat">
              <a:noFill/>
              <a:prstDash val="solid"/>
              <a:miter lim="0"/>
            </a:ln>
          </p:spPr>
          <p:txBody>
            <a:bodyPr vert="horz" wrap="square" lIns="0" tIns="0" rIns="0" bIns="0"/>
            <a:lstStyle/>
            <a:p>
              <a:pPr algn="l" rtl="0" eaLnBrk="0">
                <a:lnSpc>
                  <a:spcPct val="189000"/>
                </a:lnSpc>
              </a:pPr>
              <a:endParaRPr sz="75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55270" algn="l" rtl="0" eaLnBrk="0">
                <a:lnSpc>
                  <a:spcPct val="82000"/>
                </a:lnSpc>
              </a:pPr>
              <a:r>
                <a:rPr sz="1275" kern="0" spc="6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人工智</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a:p>
              <a:pPr marL="257175" algn="l" rtl="0" eaLnBrk="0">
                <a:lnSpc>
                  <a:spcPts val="2120"/>
                </a:lnSpc>
              </a:pPr>
              <a:r>
                <a:rPr sz="1275" kern="0" spc="5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能软件</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2" name="group 22"/>
          <p:cNvGrpSpPr/>
          <p:nvPr/>
        </p:nvGrpSpPr>
        <p:grpSpPr>
          <a:xfrm rot="21600000">
            <a:off x="8269099" y="1687987"/>
            <a:ext cx="874901" cy="849304"/>
            <a:chOff x="0" y="0"/>
            <a:chExt cx="1166534" cy="1132405"/>
          </a:xfrm>
        </p:grpSpPr>
        <p:pic>
          <p:nvPicPr>
            <p:cNvPr id="174" name="picture 174"/>
            <p:cNvPicPr>
              <a:picLocks noChangeAspect="1"/>
            </p:cNvPicPr>
            <p:nvPr/>
          </p:nvPicPr>
          <p:blipFill>
            <a:blip r:embed="rId11"/>
            <a:stretch>
              <a:fillRect/>
            </a:stretch>
          </p:blipFill>
          <p:spPr>
            <a:xfrm rot="21600000">
              <a:off x="0" y="0"/>
              <a:ext cx="1166534" cy="1132405"/>
            </a:xfrm>
            <a:prstGeom prst="rect">
              <a:avLst/>
            </a:prstGeom>
          </p:spPr>
        </p:pic>
        <p:sp>
          <p:nvSpPr>
            <p:cNvPr id="176" name="textbox 176"/>
            <p:cNvSpPr/>
            <p:nvPr/>
          </p:nvSpPr>
          <p:spPr>
            <a:xfrm>
              <a:off x="-12700" y="-12700"/>
              <a:ext cx="1192530" cy="1180464"/>
            </a:xfrm>
            <a:prstGeom prst="rect">
              <a:avLst/>
            </a:prstGeom>
            <a:noFill/>
            <a:ln w="0" cap="flat">
              <a:noFill/>
              <a:prstDash val="solid"/>
              <a:miter lim="0"/>
            </a:ln>
          </p:spPr>
          <p:txBody>
            <a:bodyPr vert="horz" wrap="square" lIns="0" tIns="0" rIns="0" bIns="0"/>
            <a:lstStyle/>
            <a:p>
              <a:pPr algn="l" rtl="0" eaLnBrk="0">
                <a:lnSpc>
                  <a:spcPct val="140000"/>
                </a:lnSpc>
              </a:pPr>
              <a:endParaRPr sz="750" dirty="0">
                <a:latin typeface="Arial" panose="020B0604020202020204"/>
                <a:ea typeface="Arial" panose="020B0604020202020204"/>
                <a:cs typeface="Arial" panose="020B0604020202020204"/>
              </a:endParaRPr>
            </a:p>
            <a:p>
              <a:pPr algn="l" rtl="0" eaLnBrk="0">
                <a:lnSpc>
                  <a:spcPct val="141000"/>
                </a:lnSpc>
              </a:pPr>
              <a:endParaRPr sz="75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39065" algn="l" rtl="0" eaLnBrk="0">
                <a:lnSpc>
                  <a:spcPct val="91000"/>
                </a:lnSpc>
              </a:pP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开源软件</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4" name="group 24"/>
          <p:cNvGrpSpPr/>
          <p:nvPr/>
        </p:nvGrpSpPr>
        <p:grpSpPr>
          <a:xfrm rot="21600000">
            <a:off x="2136636" y="1557494"/>
            <a:ext cx="873452" cy="849304"/>
            <a:chOff x="0" y="0"/>
            <a:chExt cx="1164602" cy="1132405"/>
          </a:xfrm>
        </p:grpSpPr>
        <p:pic>
          <p:nvPicPr>
            <p:cNvPr id="178" name="picture 178"/>
            <p:cNvPicPr>
              <a:picLocks noChangeAspect="1"/>
            </p:cNvPicPr>
            <p:nvPr/>
          </p:nvPicPr>
          <p:blipFill>
            <a:blip r:embed="rId12"/>
            <a:stretch>
              <a:fillRect/>
            </a:stretch>
          </p:blipFill>
          <p:spPr>
            <a:xfrm rot="21600000">
              <a:off x="0" y="0"/>
              <a:ext cx="1164602" cy="1132405"/>
            </a:xfrm>
            <a:prstGeom prst="rect">
              <a:avLst/>
            </a:prstGeom>
          </p:spPr>
        </p:pic>
        <p:sp>
          <p:nvSpPr>
            <p:cNvPr id="180" name="textbox 180"/>
            <p:cNvSpPr/>
            <p:nvPr/>
          </p:nvSpPr>
          <p:spPr>
            <a:xfrm>
              <a:off x="-12700" y="-12700"/>
              <a:ext cx="1190625" cy="1180464"/>
            </a:xfrm>
            <a:prstGeom prst="rect">
              <a:avLst/>
            </a:prstGeom>
            <a:noFill/>
            <a:ln w="0" cap="flat">
              <a:noFill/>
              <a:prstDash val="solid"/>
              <a:miter lim="0"/>
            </a:ln>
          </p:spPr>
          <p:txBody>
            <a:bodyPr vert="horz" wrap="square" lIns="0" tIns="0" rIns="0" bIns="0"/>
            <a:lstStyle/>
            <a:p>
              <a:pPr algn="l" rtl="0" eaLnBrk="0">
                <a:lnSpc>
                  <a:spcPct val="166000"/>
                </a:lnSpc>
              </a:pPr>
              <a:endParaRPr sz="75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34620" indent="191135" algn="l" rtl="0" eaLnBrk="0">
                <a:lnSpc>
                  <a:spcPct val="102000"/>
                </a:lnSpc>
              </a:pPr>
              <a:r>
                <a:rPr sz="1275"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工程/</a:t>
              </a:r>
              <a:r>
                <a:rPr sz="1275"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科学软件</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6" name="group 26"/>
          <p:cNvGrpSpPr/>
          <p:nvPr/>
        </p:nvGrpSpPr>
        <p:grpSpPr>
          <a:xfrm rot="21600000">
            <a:off x="7286804" y="1616072"/>
            <a:ext cx="873452" cy="849304"/>
            <a:chOff x="0" y="0"/>
            <a:chExt cx="1164602" cy="1132405"/>
          </a:xfrm>
        </p:grpSpPr>
        <p:pic>
          <p:nvPicPr>
            <p:cNvPr id="182" name="picture 182"/>
            <p:cNvPicPr>
              <a:picLocks noChangeAspect="1"/>
            </p:cNvPicPr>
            <p:nvPr/>
          </p:nvPicPr>
          <p:blipFill>
            <a:blip r:embed="rId13"/>
            <a:stretch>
              <a:fillRect/>
            </a:stretch>
          </p:blipFill>
          <p:spPr>
            <a:xfrm rot="21600000">
              <a:off x="0" y="0"/>
              <a:ext cx="1164602" cy="1132405"/>
            </a:xfrm>
            <a:prstGeom prst="rect">
              <a:avLst/>
            </a:prstGeom>
          </p:spPr>
        </p:pic>
        <p:sp>
          <p:nvSpPr>
            <p:cNvPr id="184" name="textbox 184"/>
            <p:cNvSpPr/>
            <p:nvPr/>
          </p:nvSpPr>
          <p:spPr>
            <a:xfrm>
              <a:off x="-12700" y="-12700"/>
              <a:ext cx="1190625" cy="1179194"/>
            </a:xfrm>
            <a:prstGeom prst="rect">
              <a:avLst/>
            </a:prstGeom>
            <a:noFill/>
            <a:ln w="0" cap="flat">
              <a:noFill/>
              <a:prstDash val="solid"/>
              <a:miter lim="0"/>
            </a:ln>
          </p:spPr>
          <p:txBody>
            <a:bodyPr vert="horz" wrap="square" lIns="0" tIns="0" rIns="0" bIns="0"/>
            <a:lstStyle/>
            <a:p>
              <a:pPr algn="l" rtl="0" eaLnBrk="0">
                <a:lnSpc>
                  <a:spcPct val="186000"/>
                </a:lnSpc>
              </a:pPr>
              <a:endParaRPr sz="750" dirty="0">
                <a:latin typeface="Arial" panose="020B0604020202020204"/>
                <a:ea typeface="Arial" panose="020B0604020202020204"/>
                <a:cs typeface="Arial" panose="020B0604020202020204"/>
              </a:endParaRPr>
            </a:p>
            <a:p>
              <a:pPr marL="137160" indent="113030" algn="l" rtl="0" eaLnBrk="0">
                <a:lnSpc>
                  <a:spcPct val="94000"/>
                </a:lnSpc>
                <a:spcBef>
                  <a:spcPts val="5"/>
                </a:spcBef>
              </a:pP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分布式</a:t>
              </a:r>
              <a:r>
                <a:rPr sz="1275"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应用软件</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8" name="group 28"/>
          <p:cNvGrpSpPr/>
          <p:nvPr/>
        </p:nvGrpSpPr>
        <p:grpSpPr>
          <a:xfrm rot="21600000">
            <a:off x="1114127" y="1744437"/>
            <a:ext cx="873452" cy="846182"/>
            <a:chOff x="0" y="0"/>
            <a:chExt cx="1164602" cy="1128243"/>
          </a:xfrm>
        </p:grpSpPr>
        <p:pic>
          <p:nvPicPr>
            <p:cNvPr id="186" name="picture 186"/>
            <p:cNvPicPr>
              <a:picLocks noChangeAspect="1"/>
            </p:cNvPicPr>
            <p:nvPr/>
          </p:nvPicPr>
          <p:blipFill>
            <a:blip r:embed="rId14"/>
            <a:stretch>
              <a:fillRect/>
            </a:stretch>
          </p:blipFill>
          <p:spPr>
            <a:xfrm rot="21600000">
              <a:off x="0" y="0"/>
              <a:ext cx="1164602" cy="1128243"/>
            </a:xfrm>
            <a:prstGeom prst="rect">
              <a:avLst/>
            </a:prstGeom>
          </p:spPr>
        </p:pic>
        <p:sp>
          <p:nvSpPr>
            <p:cNvPr id="188" name="textbox 188"/>
            <p:cNvSpPr/>
            <p:nvPr/>
          </p:nvSpPr>
          <p:spPr>
            <a:xfrm>
              <a:off x="-12700" y="-12700"/>
              <a:ext cx="1190625" cy="1175385"/>
            </a:xfrm>
            <a:prstGeom prst="rect">
              <a:avLst/>
            </a:prstGeom>
            <a:noFill/>
            <a:ln w="0" cap="flat">
              <a:noFill/>
              <a:prstDash val="solid"/>
              <a:miter lim="0"/>
            </a:ln>
          </p:spPr>
          <p:txBody>
            <a:bodyPr vert="horz" wrap="square" lIns="0" tIns="0" rIns="0" bIns="0"/>
            <a:lstStyle/>
            <a:p>
              <a:pPr algn="l" rtl="0" eaLnBrk="0">
                <a:lnSpc>
                  <a:spcPct val="135000"/>
                </a:lnSpc>
              </a:pPr>
              <a:endParaRPr sz="750" dirty="0">
                <a:latin typeface="Arial" panose="020B0604020202020204"/>
                <a:ea typeface="Arial" panose="020B0604020202020204"/>
                <a:cs typeface="Arial" panose="020B0604020202020204"/>
              </a:endParaRPr>
            </a:p>
            <a:p>
              <a:pPr algn="l" rtl="0" eaLnBrk="0">
                <a:lnSpc>
                  <a:spcPct val="135000"/>
                </a:lnSpc>
              </a:pPr>
              <a:endParaRPr sz="750" dirty="0">
                <a:latin typeface="Arial" panose="020B0604020202020204"/>
                <a:ea typeface="Arial" panose="020B0604020202020204"/>
                <a:cs typeface="Arial" panose="020B0604020202020204"/>
              </a:endParaRPr>
            </a:p>
            <a:p>
              <a:pPr marL="130175" algn="l" rtl="0" eaLnBrk="0">
                <a:lnSpc>
                  <a:spcPct val="92000"/>
                </a:lnSpc>
                <a:spcBef>
                  <a:spcPts val="5"/>
                </a:spcBef>
              </a:pP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应用软件</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192" name="picture 192"/>
          <p:cNvPicPr>
            <a:picLocks noChangeAspect="1"/>
          </p:cNvPicPr>
          <p:nvPr/>
        </p:nvPicPr>
        <p:blipFill>
          <a:blip r:embed="rId15"/>
          <a:stretch>
            <a:fillRect/>
          </a:stretch>
        </p:blipFill>
        <p:spPr>
          <a:xfrm rot="21600000">
            <a:off x="8254821" y="2519838"/>
            <a:ext cx="869195" cy="48101"/>
          </a:xfrm>
          <a:prstGeom prst="rect">
            <a:avLst/>
          </a:prstGeom>
        </p:spPr>
      </p:pic>
      <p:pic>
        <p:nvPicPr>
          <p:cNvPr id="194" name="picture 194"/>
          <p:cNvPicPr>
            <a:picLocks noChangeAspect="1"/>
          </p:cNvPicPr>
          <p:nvPr/>
        </p:nvPicPr>
        <p:blipFill>
          <a:blip r:embed="rId16"/>
          <a:stretch>
            <a:fillRect/>
          </a:stretch>
        </p:blipFill>
        <p:spPr>
          <a:xfrm rot="21600000">
            <a:off x="6213614" y="2279332"/>
            <a:ext cx="944918" cy="43339"/>
          </a:xfrm>
          <a:prstGeom prst="rect">
            <a:avLst/>
          </a:prstGeom>
        </p:spPr>
      </p:pic>
      <p:pic>
        <p:nvPicPr>
          <p:cNvPr id="196" name="picture 196"/>
          <p:cNvPicPr>
            <a:picLocks noChangeAspect="1"/>
          </p:cNvPicPr>
          <p:nvPr/>
        </p:nvPicPr>
        <p:blipFill>
          <a:blip r:embed="rId17"/>
          <a:stretch>
            <a:fillRect/>
          </a:stretch>
        </p:blipFill>
        <p:spPr>
          <a:xfrm rot="21600000">
            <a:off x="2095004" y="2506999"/>
            <a:ext cx="944918" cy="43338"/>
          </a:xfrm>
          <a:prstGeom prst="rect">
            <a:avLst/>
          </a:prstGeom>
        </p:spPr>
      </p:pic>
      <p:pic>
        <p:nvPicPr>
          <p:cNvPr id="198" name="picture 198"/>
          <p:cNvPicPr>
            <a:picLocks noChangeAspect="1"/>
          </p:cNvPicPr>
          <p:nvPr/>
        </p:nvPicPr>
        <p:blipFill>
          <a:blip r:embed="rId18"/>
          <a:stretch>
            <a:fillRect/>
          </a:stretch>
        </p:blipFill>
        <p:spPr>
          <a:xfrm rot="21600000">
            <a:off x="35699" y="2724169"/>
            <a:ext cx="944918" cy="43338"/>
          </a:xfrm>
          <a:prstGeom prst="rect">
            <a:avLst/>
          </a:prstGeom>
        </p:spPr>
      </p:pic>
      <p:pic>
        <p:nvPicPr>
          <p:cNvPr id="200" name="picture 200"/>
          <p:cNvPicPr>
            <a:picLocks noChangeAspect="1"/>
          </p:cNvPicPr>
          <p:nvPr/>
        </p:nvPicPr>
        <p:blipFill>
          <a:blip r:embed="rId19"/>
          <a:stretch>
            <a:fillRect/>
          </a:stretch>
        </p:blipFill>
        <p:spPr>
          <a:xfrm rot="21600000">
            <a:off x="1065352" y="2681306"/>
            <a:ext cx="944918" cy="43338"/>
          </a:xfrm>
          <a:prstGeom prst="rect">
            <a:avLst/>
          </a:prstGeom>
        </p:spPr>
      </p:pic>
      <p:sp>
        <p:nvSpPr>
          <p:cNvPr id="2" name="标题 1"/>
          <p:cNvSpPr>
            <a:spLocks noGrp="1"/>
          </p:cNvSpPr>
          <p:nvPr>
            <p:ph type="title"/>
          </p:nvPr>
        </p:nvSpPr>
        <p:spPr/>
        <p:txBody>
          <a:bodyPr/>
          <a:p>
            <a:r>
              <a:rPr lang="en-US" altLang="zh-CN" dirty="0" smtClean="0"/>
              <a:t>2.</a:t>
            </a:r>
            <a:r>
              <a:rPr lang="zh-CN" altLang="en-US" dirty="0" smtClean="0"/>
              <a:t>软件分类</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mn-ea"/>
              </a:rPr>
              <a:t>软件分类</a:t>
            </a:r>
            <a:endParaRPr lang="zh-CN" altLang="en-US"/>
          </a:p>
        </p:txBody>
      </p:sp>
      <p:sp>
        <p:nvSpPr>
          <p:cNvPr id="3" name="内容占位符 2"/>
          <p:cNvSpPr>
            <a:spLocks noGrp="1"/>
          </p:cNvSpPr>
          <p:nvPr>
            <p:ph idx="1"/>
          </p:nvPr>
        </p:nvSpPr>
        <p:spPr>
          <a:xfrm>
            <a:off x="768350" y="890905"/>
            <a:ext cx="7832725" cy="4040505"/>
          </a:xfrm>
        </p:spPr>
        <p:txBody>
          <a:bodyPr>
            <a:normAutofit/>
          </a:bodyPr>
          <a:lstStyle/>
          <a:p>
            <a:pPr algn="just">
              <a:defRPr/>
            </a:pPr>
            <a:r>
              <a:rPr lang="zh-CN" altLang="en-US" sz="2400" dirty="0">
                <a:effectLst/>
                <a:latin typeface="微软雅黑" panose="020B0503020204020204" pitchFamily="34" charset="-122"/>
                <a:ea typeface="微软雅黑" panose="020B0503020204020204" pitchFamily="34" charset="-122"/>
                <a:cs typeface="微软雅黑" panose="020B0503020204020204" pitchFamily="34" charset="-122"/>
              </a:rPr>
              <a:t>按软件规模进行划分：</a:t>
            </a:r>
            <a:endParaRPr lang="zh-CN" altLang="en-US" sz="24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914400" lvl="2" indent="0" algn="just">
              <a:buNone/>
              <a:defRPr/>
            </a:pPr>
            <a:r>
              <a:rPr lang="zh-CN" altLang="en-US" sz="2000" dirty="0">
                <a:effectLst/>
                <a:latin typeface="微软雅黑" panose="020B0503020204020204" pitchFamily="34" charset="-122"/>
                <a:ea typeface="微软雅黑" panose="020B0503020204020204" pitchFamily="34" charset="-122"/>
                <a:cs typeface="微软雅黑" panose="020B0503020204020204" pitchFamily="34" charset="-122"/>
              </a:rPr>
              <a:t>类别  参加人员数	  研制期限    源程序行数     </a:t>
            </a:r>
            <a:endParaRPr lang="zh-CN" altLang="en-US" sz="20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914400" lvl="2" indent="0" algn="just">
              <a:buNone/>
              <a:defRPr/>
            </a:pPr>
            <a:r>
              <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微型	1	            1～4周        0.5</a:t>
            </a:r>
            <a:r>
              <a:rPr lang="en-US" altLang="zh-CN"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k  </a:t>
            </a:r>
            <a:endParaRPr lang="en-US" altLang="zh-CN"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914400" lvl="2" indent="0" algn="just">
              <a:buNone/>
              <a:defRPr/>
            </a:pPr>
            <a:r>
              <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小型         1	            1～6月        1</a:t>
            </a:r>
            <a:r>
              <a:rPr lang="en-US" altLang="zh-CN"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k～2k</a:t>
            </a:r>
            <a:endPar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457200" algn="just">
              <a:buNone/>
              <a:defRPr/>
            </a:pPr>
            <a:r>
              <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中型      2～5	            1～2年        5</a:t>
            </a:r>
            <a:r>
              <a:rPr lang="en-US" altLang="zh-CN"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k～50k</a:t>
            </a:r>
            <a:endParaRPr lang="zh-CN" altLang="en-US" sz="2000" noProof="1" dirty="0" smtClean="0">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线形标注 2 6"/>
          <p:cNvSpPr/>
          <p:nvPr/>
        </p:nvSpPr>
        <p:spPr>
          <a:xfrm>
            <a:off x="1094105" y="2998470"/>
            <a:ext cx="3576320" cy="1520190"/>
          </a:xfrm>
          <a:prstGeom prst="borderCallout2">
            <a:avLst>
              <a:gd name="adj1" fmla="val 2213"/>
              <a:gd name="adj2" fmla="val 532"/>
              <a:gd name="adj3" fmla="val -21283"/>
              <a:gd name="adj4" fmla="val -6402"/>
              <a:gd name="adj5" fmla="val -43984"/>
              <a:gd name="adj6" fmla="val 18075"/>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just"/>
            <a:r>
              <a:rPr lang="zh-CN" altLang="en-US">
                <a:effectLst/>
                <a:latin typeface="微软雅黑" panose="020B0503020204020204" pitchFamily="34" charset="-122"/>
                <a:ea typeface="微软雅黑" panose="020B0503020204020204" pitchFamily="34" charset="-122"/>
                <a:cs typeface="微软雅黑" panose="020B0503020204020204" pitchFamily="34" charset="-122"/>
                <a:sym typeface="+mn-ea"/>
              </a:rPr>
              <a:t>数值计算或数据处理,通常没有与其它程序的接口。需要按一定的标准化技术、正规的资料书写以及定期的系统审查。只是没有大题目那样严格。</a:t>
            </a:r>
            <a:endParaRPr lang="zh-CN" altLang="en-US"/>
          </a:p>
        </p:txBody>
      </p:sp>
      <p:sp>
        <p:nvSpPr>
          <p:cNvPr id="8" name="线形标注 2 7"/>
          <p:cNvSpPr/>
          <p:nvPr/>
        </p:nvSpPr>
        <p:spPr>
          <a:xfrm>
            <a:off x="4991735" y="2998470"/>
            <a:ext cx="3709670" cy="1520190"/>
          </a:xfrm>
          <a:prstGeom prst="borderCallout2">
            <a:avLst>
              <a:gd name="adj1" fmla="val 1461"/>
              <a:gd name="adj2" fmla="val 513"/>
              <a:gd name="adj3" fmla="val -10317"/>
              <a:gd name="adj4" fmla="val -15679"/>
              <a:gd name="adj5" fmla="val -16959"/>
              <a:gd name="adj6" fmla="val -74101"/>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just"/>
            <a:r>
              <a:rPr lang="zh-CN" altLang="en-US">
                <a:effectLst/>
                <a:latin typeface="微软雅黑" panose="020B0503020204020204" pitchFamily="34" charset="-122"/>
                <a:ea typeface="微软雅黑" panose="020B0503020204020204" pitchFamily="34" charset="-122"/>
                <a:cs typeface="微软雅黑" panose="020B0503020204020204" pitchFamily="34" charset="-122"/>
                <a:sym typeface="+mn-ea"/>
              </a:rPr>
              <a:t>软件人员之间、与用户之间的联系、协调的配合关系。因而计划、资料书写以及技术审查需要比较严格地进行。应用程序和系统程序。系统的软件工程方法是完全必要的</a:t>
            </a:r>
            <a:r>
              <a:rPr lang="zh-CN" altLang="en-US" smtClean="0">
                <a:effectLst/>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250" fill="hold">
                                          <p:stCondLst>
                                            <p:cond delay="0"/>
                                          </p:stCondLst>
                                        </p:cTn>
                                        <p:tgtEl>
                                          <p:spTgt spid="7"/>
                                        </p:tgtEl>
                                        <p:attrNameLst>
                                          <p:attrName>style.visibility</p:attrName>
                                        </p:attrNameLst>
                                      </p:cBhvr>
                                      <p:to>
                                        <p:strVal val="visible"/>
                                      </p:to>
                                    </p:set>
                                    <p:animEffect transition="in" filter="wipe(up)">
                                      <p:cBhvr>
                                        <p:cTn id="7" dur="2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8" grpId="0" bldLvl="0" animBg="1"/>
      <p:bldP spid="8"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mn-ea"/>
              </a:rPr>
              <a:t>软件分类</a:t>
            </a:r>
            <a:endParaRPr lang="zh-CN" altLang="en-US"/>
          </a:p>
        </p:txBody>
      </p:sp>
      <p:sp>
        <p:nvSpPr>
          <p:cNvPr id="3" name="内容占位符 2"/>
          <p:cNvSpPr>
            <a:spLocks noGrp="1"/>
          </p:cNvSpPr>
          <p:nvPr>
            <p:ph idx="1"/>
          </p:nvPr>
        </p:nvSpPr>
        <p:spPr>
          <a:xfrm>
            <a:off x="768350" y="925195"/>
            <a:ext cx="7832725" cy="2496185"/>
          </a:xfrm>
        </p:spPr>
        <p:txBody>
          <a:bodyPr>
            <a:normAutofit/>
          </a:bodyPr>
          <a:lstStyle/>
          <a:p>
            <a:pPr algn="just">
              <a:defRPr/>
            </a:pPr>
            <a:r>
              <a:rPr lang="zh-CN" altLang="en-US" sz="24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按软件规模进行划分：</a:t>
            </a:r>
            <a:endParaRPr lang="zh-CN" altLang="en-US" sz="24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914400" lvl="2" indent="0" algn="just">
              <a:buNone/>
              <a:defRPr/>
            </a:pPr>
            <a:r>
              <a:rPr lang="zh-CN" altLang="en-US" dirty="0">
                <a:effectLst/>
                <a:latin typeface="微软雅黑" panose="020B0503020204020204" pitchFamily="34" charset="-122"/>
                <a:ea typeface="微软雅黑" panose="020B0503020204020204" pitchFamily="34" charset="-122"/>
                <a:cs typeface="微软雅黑" panose="020B0503020204020204" pitchFamily="34" charset="-122"/>
                <a:sym typeface="+mn-ea"/>
              </a:rPr>
              <a:t>类别  </a:t>
            </a:r>
            <a:r>
              <a:rPr lang="en-US" altLang="zh-CN" dirty="0">
                <a:effectLst/>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effectLst/>
                <a:latin typeface="微软雅黑" panose="020B0503020204020204" pitchFamily="34" charset="-122"/>
                <a:ea typeface="微软雅黑" panose="020B0503020204020204" pitchFamily="34" charset="-122"/>
                <a:cs typeface="微软雅黑" panose="020B0503020204020204" pitchFamily="34" charset="-122"/>
                <a:sym typeface="+mn-ea"/>
              </a:rPr>
              <a:t>参加人员数	 </a:t>
            </a:r>
            <a:r>
              <a:rPr lang="en-US" altLang="zh-CN" dirty="0">
                <a:effectLst/>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effectLst/>
                <a:latin typeface="微软雅黑" panose="020B0503020204020204" pitchFamily="34" charset="-122"/>
                <a:ea typeface="微软雅黑" panose="020B0503020204020204" pitchFamily="34" charset="-122"/>
                <a:cs typeface="微软雅黑" panose="020B0503020204020204" pitchFamily="34" charset="-122"/>
                <a:sym typeface="+mn-ea"/>
              </a:rPr>
              <a:t> 研制期限    </a:t>
            </a:r>
            <a:r>
              <a:rPr lang="en-US" altLang="zh-CN" dirty="0">
                <a:effectLst/>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effectLst/>
                <a:latin typeface="微软雅黑" panose="020B0503020204020204" pitchFamily="34" charset="-122"/>
                <a:ea typeface="微软雅黑" panose="020B0503020204020204" pitchFamily="34" charset="-122"/>
                <a:cs typeface="微软雅黑" panose="020B0503020204020204" pitchFamily="34" charset="-122"/>
                <a:sym typeface="+mn-ea"/>
              </a:rPr>
              <a:t>源程序行数     </a:t>
            </a:r>
            <a:endParaRPr lang="zh-CN" altLang="en-US"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914400" lvl="2" indent="0" algn="just">
              <a:lnSpc>
                <a:spcPct val="120000"/>
              </a:lnSpc>
              <a:buSzTx/>
              <a:buNone/>
              <a:defRPr/>
            </a:pPr>
            <a:r>
              <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大型     </a:t>
            </a:r>
            <a:r>
              <a:rPr lang="en-US" altLang="zh-CN"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5～20 </a:t>
            </a:r>
            <a:r>
              <a:rPr lang="en-US" altLang="zh-CN"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2～3年      </a:t>
            </a:r>
            <a:r>
              <a:rPr lang="en-US" altLang="zh-CN"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50k～100k</a:t>
            </a:r>
            <a:endPar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914400" lvl="2" algn="just">
              <a:lnSpc>
                <a:spcPct val="120000"/>
              </a:lnSpc>
              <a:buSzTx/>
              <a:buNone/>
              <a:defRPr/>
            </a:pPr>
            <a:r>
              <a:rPr lang="zh-CN" altLang="en-US" sz="2400" noProof="1" smtClean="0">
                <a:latin typeface="宋体" panose="02010600030101010101" pitchFamily="2" charset="-122"/>
              </a:rPr>
              <a:t>  </a:t>
            </a:r>
            <a:r>
              <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极大型 </a:t>
            </a:r>
            <a:r>
              <a:rPr lang="en-US" altLang="zh-CN"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2000～5000</a:t>
            </a:r>
            <a:r>
              <a:rPr 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5～10年     </a:t>
            </a:r>
            <a:r>
              <a:rPr lang="en-US" altLang="zh-CN"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CC3300"/>
                </a:solidFill>
                <a:effectLst/>
                <a:latin typeface="微软雅黑" panose="020B0503020204020204" pitchFamily="34" charset="-122"/>
                <a:ea typeface="微软雅黑" panose="020B0503020204020204" pitchFamily="34" charset="-122"/>
                <a:cs typeface="微软雅黑" panose="020B0503020204020204" pitchFamily="34" charset="-122"/>
              </a:rPr>
              <a:t>1M～10M	</a:t>
            </a:r>
            <a:endParaRPr lang="zh-CN" altLang="en-US" dirty="0"/>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线形标注 2 6"/>
          <p:cNvSpPr/>
          <p:nvPr/>
        </p:nvSpPr>
        <p:spPr>
          <a:xfrm>
            <a:off x="1027430" y="2921000"/>
            <a:ext cx="4326890" cy="1616075"/>
          </a:xfrm>
          <a:prstGeom prst="borderCallout2">
            <a:avLst>
              <a:gd name="adj1" fmla="val -1178"/>
              <a:gd name="adj2" fmla="val -117"/>
              <a:gd name="adj3" fmla="val -17721"/>
              <a:gd name="adj4" fmla="val -5884"/>
              <a:gd name="adj5" fmla="val -57328"/>
              <a:gd name="adj6" fmla="val 16216"/>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just"/>
            <a:r>
              <a:rPr lang="zh-CN" altLang="en-US" smtClean="0">
                <a:latin typeface="宋体" panose="02010600030101010101" pitchFamily="2" charset="-122"/>
                <a:sym typeface="+mn-ea"/>
              </a:rPr>
              <a:t>编译程序</a:t>
            </a:r>
            <a:r>
              <a:rPr lang="zh-CN" altLang="en-US">
                <a:latin typeface="宋体" panose="02010600030101010101" pitchFamily="2" charset="-122"/>
                <a:sym typeface="+mn-ea"/>
              </a:rPr>
              <a:t>、小型分时系统、实时控制系统等。二级管理，若干小组，每组5人以下。人员调整往往不可避免，新手的培训。采用统一的标准，实行严格的审查是绝对必要的。</a:t>
            </a:r>
            <a:endParaRPr lang="zh-CN" altLang="en-US"/>
          </a:p>
        </p:txBody>
      </p:sp>
      <p:sp>
        <p:nvSpPr>
          <p:cNvPr id="8" name="线形标注 2 7"/>
          <p:cNvSpPr/>
          <p:nvPr/>
        </p:nvSpPr>
        <p:spPr>
          <a:xfrm>
            <a:off x="6066155" y="2921000"/>
            <a:ext cx="2358390" cy="867410"/>
          </a:xfrm>
          <a:prstGeom prst="borderCallout2">
            <a:avLst>
              <a:gd name="adj1" fmla="val 732"/>
              <a:gd name="adj2" fmla="val 619"/>
              <a:gd name="adj3" fmla="val -14494"/>
              <a:gd name="adj4" fmla="val -13354"/>
              <a:gd name="adj5" fmla="val -38653"/>
              <a:gd name="adj6" fmla="val -152207"/>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marL="0" lvl="1" indent="0">
              <a:spcAft>
                <a:spcPts val="150"/>
              </a:spcAft>
              <a:buClr>
                <a:schemeClr val="accent1"/>
              </a:buClr>
              <a:buSzPct val="80000"/>
              <a:buNone/>
              <a:defRPr/>
            </a:pPr>
            <a:r>
              <a:rPr lang="zh-CN" altLang="en-US" smtClean="0">
                <a:latin typeface="宋体" panose="02010600030101010101" pitchFamily="2" charset="-122"/>
                <a:sym typeface="+mn-ea"/>
              </a:rPr>
              <a:t>军事</a:t>
            </a:r>
            <a:r>
              <a:rPr lang="zh-CN" altLang="en-US">
                <a:latin typeface="宋体" panose="02010600030101010101" pitchFamily="2" charset="-122"/>
                <a:sym typeface="+mn-ea"/>
              </a:rPr>
              <a:t>指挥、弹道导弹防御系统</a:t>
            </a:r>
            <a:r>
              <a:rPr lang="zh-CN" altLang="en-US" smtClean="0">
                <a:latin typeface="宋体" panose="02010600030101010101" pitchFamily="2" charset="-122"/>
                <a:sym typeface="+mn-ea"/>
              </a:rPr>
              <a:t>。</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8" grpId="0" bldLvl="0" animBg="1"/>
      <p:bldP spid="8"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mn-ea"/>
              </a:rPr>
              <a:t>软件分类</a:t>
            </a:r>
            <a:endParaRPr lang="zh-CN" altLang="en-US"/>
          </a:p>
        </p:txBody>
      </p:sp>
      <p:sp>
        <p:nvSpPr>
          <p:cNvPr id="3" name="内容占位符 2"/>
          <p:cNvSpPr>
            <a:spLocks noGrp="1"/>
          </p:cNvSpPr>
          <p:nvPr>
            <p:ph idx="1"/>
          </p:nvPr>
        </p:nvSpPr>
        <p:spPr/>
        <p:txBody>
          <a:bodyPr>
            <a:normAutofit/>
          </a:bodyPr>
          <a:lstStyle/>
          <a:p>
            <a:pPr algn="just">
              <a:lnSpc>
                <a:spcPct val="130000"/>
              </a:lnSpc>
              <a:defRPr/>
            </a:pPr>
            <a:r>
              <a:rPr lang="zh-CN" altLang="en-US" dirty="0">
                <a:effectLst/>
                <a:latin typeface="微软雅黑" panose="020B0503020204020204" pitchFamily="34" charset="-122"/>
                <a:ea typeface="微软雅黑" panose="020B0503020204020204" pitchFamily="34" charset="-122"/>
                <a:cs typeface="微软雅黑" panose="020B0503020204020204" pitchFamily="34" charset="-122"/>
              </a:rPr>
              <a:t>按软件工作方式划分：</a:t>
            </a:r>
            <a:endParaRPr lang="zh-CN" altLang="en-US" dirty="0">
              <a:effectLst/>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30000"/>
              </a:lnSpc>
              <a:defRPr/>
            </a:pPr>
            <a:r>
              <a:rPr lang="zh-CN" altLang="en-US" sz="2400" dirty="0" smtClean="0">
                <a:latin typeface="+mj-ea"/>
                <a:ea typeface="+mj-ea"/>
              </a:rPr>
              <a:t>实时处理</a:t>
            </a:r>
            <a:r>
              <a:rPr lang="zh-CN" altLang="en-US" sz="2400" dirty="0">
                <a:latin typeface="+mj-ea"/>
                <a:ea typeface="+mj-ea"/>
              </a:rPr>
              <a:t>软件</a:t>
            </a:r>
            <a:endParaRPr lang="zh-CN" altLang="en-US" sz="2400" dirty="0">
              <a:latin typeface="+mj-ea"/>
              <a:ea typeface="+mj-ea"/>
            </a:endParaRPr>
          </a:p>
          <a:p>
            <a:pPr lvl="2">
              <a:lnSpc>
                <a:spcPct val="130000"/>
              </a:lnSpc>
              <a:defRPr/>
            </a:pPr>
            <a:r>
              <a:rPr lang="zh-CN" altLang="en-US" sz="2400" dirty="0">
                <a:latin typeface="+mj-ea"/>
                <a:ea typeface="+mj-ea"/>
              </a:rPr>
              <a:t>分时软件</a:t>
            </a:r>
            <a:endParaRPr lang="zh-CN" altLang="en-US" sz="2400" dirty="0">
              <a:latin typeface="+mj-ea"/>
              <a:ea typeface="+mj-ea"/>
            </a:endParaRPr>
          </a:p>
          <a:p>
            <a:pPr lvl="2">
              <a:lnSpc>
                <a:spcPct val="130000"/>
              </a:lnSpc>
              <a:defRPr/>
            </a:pPr>
            <a:r>
              <a:rPr lang="zh-CN" altLang="en-US" sz="2400" dirty="0">
                <a:latin typeface="+mj-ea"/>
                <a:ea typeface="+mj-ea"/>
              </a:rPr>
              <a:t>交互式软件</a:t>
            </a:r>
            <a:endParaRPr lang="zh-CN" altLang="en-US" sz="2400" dirty="0">
              <a:latin typeface="+mj-ea"/>
              <a:ea typeface="+mj-ea"/>
            </a:endParaRPr>
          </a:p>
          <a:p>
            <a:pPr lvl="2">
              <a:lnSpc>
                <a:spcPct val="130000"/>
              </a:lnSpc>
              <a:defRPr/>
            </a:pPr>
            <a:r>
              <a:rPr lang="zh-CN" altLang="en-US" sz="2400" dirty="0">
                <a:latin typeface="+mj-ea"/>
                <a:ea typeface="+mj-ea"/>
              </a:rPr>
              <a:t>批处理软件</a:t>
            </a:r>
            <a:endParaRPr lang="zh-CN" altLang="en-US" sz="2400" dirty="0">
              <a:latin typeface="+mj-ea"/>
              <a:ea typeface="+mj-ea"/>
            </a:endParaRPr>
          </a:p>
          <a:p>
            <a:endParaRPr lang="zh-CN" altLang="en-US" sz="2400" dirty="0">
              <a:latin typeface="+mj-ea"/>
              <a:ea typeface="+mj-ea"/>
            </a:endParaRPr>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mn-ea"/>
              </a:rPr>
              <a:t>软件分类</a:t>
            </a:r>
            <a:endParaRPr lang="zh-CN" altLang="en-US"/>
          </a:p>
        </p:txBody>
      </p:sp>
      <p:sp>
        <p:nvSpPr>
          <p:cNvPr id="3" name="内容占位符 2"/>
          <p:cNvSpPr>
            <a:spLocks noGrp="1"/>
          </p:cNvSpPr>
          <p:nvPr>
            <p:ph idx="1"/>
          </p:nvPr>
        </p:nvSpPr>
        <p:spPr>
          <a:xfrm>
            <a:off x="768350" y="1091565"/>
            <a:ext cx="7832725" cy="3640455"/>
          </a:xfrm>
        </p:spPr>
        <p:txBody>
          <a:bodyPr>
            <a:normAutofit/>
          </a:bodyPr>
          <a:lstStyle/>
          <a:p>
            <a:pPr algn="just">
              <a:lnSpc>
                <a:spcPct val="110000"/>
              </a:lnSpc>
              <a:defRPr/>
            </a:pPr>
            <a:r>
              <a:rPr lang="zh-CN" altLang="en-US" sz="2800" dirty="0">
                <a:effectLst/>
                <a:latin typeface="微软雅黑" panose="020B0503020204020204" pitchFamily="34" charset="-122"/>
                <a:ea typeface="微软雅黑" panose="020B0503020204020204" pitchFamily="34" charset="-122"/>
                <a:cs typeface="微软雅黑" panose="020B0503020204020204" pitchFamily="34" charset="-122"/>
              </a:rPr>
              <a:t>按软件服务对象的范围划分：</a:t>
            </a:r>
            <a:endParaRPr lang="zh-CN" altLang="en-US" sz="2800" dirty="0">
              <a:effectLst/>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10000"/>
              </a:lnSpc>
              <a:defRPr/>
            </a:pPr>
            <a:r>
              <a:rPr lang="zh-CN" altLang="en-US" dirty="0" smtClean="0">
                <a:latin typeface="+mj-ea"/>
                <a:ea typeface="+mj-ea"/>
              </a:rPr>
              <a:t>项目</a:t>
            </a:r>
            <a:r>
              <a:rPr lang="zh-CN" altLang="en-US" dirty="0">
                <a:latin typeface="+mj-ea"/>
                <a:ea typeface="+mj-ea"/>
              </a:rPr>
              <a:t>软件</a:t>
            </a:r>
            <a:endParaRPr lang="zh-CN" altLang="en-US" dirty="0">
              <a:latin typeface="+mj-ea"/>
              <a:ea typeface="+mj-ea"/>
            </a:endParaRPr>
          </a:p>
          <a:p>
            <a:pPr marL="360045" lvl="1" indent="0">
              <a:lnSpc>
                <a:spcPct val="110000"/>
              </a:lnSpc>
              <a:buNone/>
              <a:defRPr/>
            </a:pPr>
            <a:r>
              <a:rPr lang="en-US" altLang="zh-CN" dirty="0" smtClean="0">
                <a:latin typeface="+mj-ea"/>
                <a:ea typeface="+mj-ea"/>
              </a:rPr>
              <a:t>    </a:t>
            </a:r>
            <a:r>
              <a:rPr lang="zh-CN" altLang="en-US" dirty="0" smtClean="0">
                <a:latin typeface="+mj-ea"/>
                <a:ea typeface="+mj-ea"/>
              </a:rPr>
              <a:t>合同</a:t>
            </a:r>
            <a:r>
              <a:rPr lang="zh-CN" altLang="en-US" dirty="0">
                <a:latin typeface="+mj-ea"/>
                <a:ea typeface="+mj-ea"/>
              </a:rPr>
              <a:t>约束，实验</a:t>
            </a:r>
            <a:r>
              <a:rPr lang="zh-CN" altLang="en-US" dirty="0" smtClean="0">
                <a:latin typeface="+mj-ea"/>
                <a:ea typeface="+mj-ea"/>
              </a:rPr>
              <a:t>研究，特殊</a:t>
            </a:r>
            <a:r>
              <a:rPr lang="zh-CN" altLang="en-US" dirty="0">
                <a:latin typeface="+mj-ea"/>
                <a:ea typeface="+mj-ea"/>
              </a:rPr>
              <a:t>定制的</a:t>
            </a:r>
            <a:endParaRPr lang="zh-CN" altLang="en-US" dirty="0">
              <a:latin typeface="+mj-ea"/>
              <a:ea typeface="+mj-ea"/>
            </a:endParaRPr>
          </a:p>
          <a:p>
            <a:pPr lvl="1">
              <a:lnSpc>
                <a:spcPct val="110000"/>
              </a:lnSpc>
              <a:defRPr/>
            </a:pPr>
            <a:r>
              <a:rPr lang="zh-CN" altLang="en-US" dirty="0">
                <a:latin typeface="+mj-ea"/>
                <a:ea typeface="+mj-ea"/>
              </a:rPr>
              <a:t>产品软件</a:t>
            </a:r>
            <a:endParaRPr lang="zh-CN" altLang="en-US" dirty="0">
              <a:latin typeface="+mj-ea"/>
              <a:ea typeface="+mj-ea"/>
            </a:endParaRPr>
          </a:p>
          <a:p>
            <a:pPr marL="360045" lvl="1" indent="0">
              <a:lnSpc>
                <a:spcPct val="110000"/>
              </a:lnSpc>
              <a:buNone/>
              <a:defRPr/>
            </a:pPr>
            <a:r>
              <a:rPr lang="en-US" altLang="zh-CN" dirty="0" smtClean="0">
                <a:latin typeface="+mj-ea"/>
                <a:ea typeface="+mj-ea"/>
              </a:rPr>
              <a:t>    </a:t>
            </a:r>
            <a:r>
              <a:rPr lang="zh-CN" altLang="en-US" dirty="0" smtClean="0">
                <a:latin typeface="+mj-ea"/>
                <a:ea typeface="+mj-ea"/>
              </a:rPr>
              <a:t>提供</a:t>
            </a:r>
            <a:r>
              <a:rPr lang="zh-CN" altLang="en-US" dirty="0">
                <a:latin typeface="+mj-ea"/>
                <a:ea typeface="+mj-ea"/>
              </a:rPr>
              <a:t>市场，功能、性能、培训及</a:t>
            </a:r>
            <a:r>
              <a:rPr lang="zh-CN" altLang="en-US" dirty="0" smtClean="0">
                <a:latin typeface="+mj-ea"/>
                <a:ea typeface="+mj-ea"/>
              </a:rPr>
              <a:t>服务</a:t>
            </a:r>
            <a:endParaRPr lang="zh-CN" altLang="en-US" dirty="0">
              <a:latin typeface="+mj-ea"/>
              <a:ea typeface="+mj-ea"/>
            </a:endParaRPr>
          </a:p>
          <a:p>
            <a:endParaRPr lang="zh-CN" altLang="en-US" dirty="0"/>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mn-ea"/>
              </a:rPr>
              <a:t>软件分类</a:t>
            </a:r>
            <a:endParaRPr lang="zh-CN" altLang="en-US"/>
          </a:p>
        </p:txBody>
      </p:sp>
      <p:sp>
        <p:nvSpPr>
          <p:cNvPr id="3" name="内容占位符 2"/>
          <p:cNvSpPr>
            <a:spLocks noGrp="1"/>
          </p:cNvSpPr>
          <p:nvPr>
            <p:ph idx="1"/>
          </p:nvPr>
        </p:nvSpPr>
        <p:spPr/>
        <p:txBody>
          <a:bodyPr>
            <a:normAutofit lnSpcReduction="10000"/>
          </a:bodyPr>
          <a:lstStyle/>
          <a:p>
            <a:pPr algn="just">
              <a:lnSpc>
                <a:spcPct val="120000"/>
              </a:lnSpc>
              <a:defRPr/>
            </a:pPr>
            <a:r>
              <a:rPr lang="zh-CN" altLang="en-US" sz="2800" dirty="0">
                <a:effectLst/>
                <a:latin typeface="微软雅黑" panose="020B0503020204020204" pitchFamily="34" charset="-122"/>
                <a:ea typeface="微软雅黑" panose="020B0503020204020204" pitchFamily="34" charset="-122"/>
                <a:cs typeface="微软雅黑" panose="020B0503020204020204" pitchFamily="34" charset="-122"/>
              </a:rPr>
              <a:t>按使用的频度进行划分：</a:t>
            </a:r>
            <a:endParaRPr lang="zh-CN" altLang="en-US" sz="1800" dirty="0">
              <a:ea typeface="黑体" panose="02010609060101010101" charset="-122"/>
            </a:endParaRPr>
          </a:p>
          <a:p>
            <a:pPr lvl="2">
              <a:lnSpc>
                <a:spcPct val="120000"/>
              </a:lnSpc>
              <a:defRPr/>
            </a:pPr>
            <a:r>
              <a:rPr lang="zh-CN" altLang="en-US" sz="2400" dirty="0">
                <a:latin typeface="+mj-ea"/>
                <a:ea typeface="+mj-ea"/>
              </a:rPr>
              <a:t> 低频度使用</a:t>
            </a:r>
            <a:endParaRPr lang="zh-CN" altLang="en-US" sz="2400" dirty="0">
              <a:latin typeface="+mj-ea"/>
              <a:ea typeface="+mj-ea"/>
            </a:endParaRPr>
          </a:p>
          <a:p>
            <a:pPr lvl="2">
              <a:lnSpc>
                <a:spcPct val="120000"/>
              </a:lnSpc>
              <a:defRPr/>
            </a:pPr>
            <a:r>
              <a:rPr lang="zh-CN" altLang="en-US" sz="2400" dirty="0">
                <a:latin typeface="+mj-ea"/>
                <a:ea typeface="+mj-ea"/>
              </a:rPr>
              <a:t> 频繁</a:t>
            </a:r>
            <a:r>
              <a:rPr lang="zh-CN" altLang="en-US" sz="2400" dirty="0" smtClean="0">
                <a:latin typeface="+mj-ea"/>
                <a:ea typeface="+mj-ea"/>
              </a:rPr>
              <a:t>使用</a:t>
            </a:r>
            <a:endParaRPr lang="en-US" altLang="zh-CN" sz="2400" dirty="0" smtClean="0">
              <a:latin typeface="+mj-ea"/>
              <a:ea typeface="+mj-ea"/>
            </a:endParaRPr>
          </a:p>
          <a:p>
            <a:pPr algn="just">
              <a:lnSpc>
                <a:spcPct val="120000"/>
              </a:lnSpc>
              <a:defRPr/>
            </a:pPr>
            <a:r>
              <a:rPr lang="zh-CN" altLang="en-US" sz="2800" dirty="0">
                <a:effectLst/>
                <a:latin typeface="微软雅黑" panose="020B0503020204020204" pitchFamily="34" charset="-122"/>
                <a:ea typeface="微软雅黑" panose="020B0503020204020204" pitchFamily="34" charset="-122"/>
                <a:cs typeface="微软雅黑" panose="020B0503020204020204" pitchFamily="34" charset="-122"/>
              </a:rPr>
              <a:t>按软件失效的影响进行划分：</a:t>
            </a:r>
            <a:endParaRPr lang="zh-CN" altLang="en-US" sz="2800" dirty="0">
              <a:effectLst/>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20000"/>
              </a:lnSpc>
              <a:defRPr/>
            </a:pPr>
            <a:r>
              <a:rPr lang="zh-CN" altLang="en-US" sz="2400" dirty="0">
                <a:latin typeface="+mj-ea"/>
                <a:ea typeface="+mj-ea"/>
              </a:rPr>
              <a:t> 高可靠性软件</a:t>
            </a:r>
            <a:endParaRPr lang="zh-CN" altLang="en-US" sz="2400" dirty="0">
              <a:latin typeface="+mj-ea"/>
              <a:ea typeface="+mj-ea"/>
            </a:endParaRPr>
          </a:p>
          <a:p>
            <a:pPr lvl="2">
              <a:lnSpc>
                <a:spcPct val="120000"/>
              </a:lnSpc>
              <a:defRPr/>
            </a:pPr>
            <a:r>
              <a:rPr lang="zh-CN" altLang="en-US" sz="2400" dirty="0">
                <a:latin typeface="+mj-ea"/>
                <a:ea typeface="+mj-ea"/>
              </a:rPr>
              <a:t> 一般可靠性软件</a:t>
            </a:r>
            <a:endParaRPr lang="zh-CN" altLang="en-US" sz="2400" dirty="0">
              <a:latin typeface="+mj-ea"/>
              <a:ea typeface="+mj-ea"/>
            </a:endParaRPr>
          </a:p>
          <a:p>
            <a:pPr lvl="2">
              <a:lnSpc>
                <a:spcPct val="120000"/>
              </a:lnSpc>
              <a:defRPr/>
            </a:pPr>
            <a:endParaRPr lang="zh-CN" altLang="en-US" sz="2900" dirty="0">
              <a:latin typeface="+mj-ea"/>
              <a:ea typeface="+mj-ea"/>
            </a:endParaRPr>
          </a:p>
          <a:p>
            <a:endParaRPr lang="zh-CN" altLang="en-US" dirty="0"/>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a:t>
            </a:r>
            <a:r>
              <a:rPr lang="zh-CN" altLang="en-US" dirty="0" smtClean="0"/>
              <a:t>软件</a:t>
            </a:r>
            <a:r>
              <a:rPr lang="zh-CN" altLang="en-US" dirty="0"/>
              <a:t>的特点</a:t>
            </a:r>
            <a:endParaRPr lang="zh-CN" altLang="en-US" dirty="0"/>
          </a:p>
        </p:txBody>
      </p:sp>
      <p:sp>
        <p:nvSpPr>
          <p:cNvPr id="3" name="内容占位符 2"/>
          <p:cNvSpPr>
            <a:spLocks noGrp="1"/>
          </p:cNvSpPr>
          <p:nvPr>
            <p:ph idx="1"/>
          </p:nvPr>
        </p:nvSpPr>
        <p:spPr>
          <a:xfrm>
            <a:off x="2637064" y="925167"/>
            <a:ext cx="5963866" cy="3806854"/>
          </a:xfrm>
        </p:spPr>
        <p:txBody>
          <a:bodyPr>
            <a:normAutofit lnSpcReduction="10000"/>
          </a:bodyPr>
          <a:lstStyle/>
          <a:p>
            <a:pPr fontAlgn="auto">
              <a:lnSpc>
                <a:spcPct val="100000"/>
              </a:lnSpc>
              <a:spcBef>
                <a:spcPts val="600"/>
              </a:spcBef>
            </a:pPr>
            <a:r>
              <a:rPr lang="en-US" altLang="zh-CN" dirty="0" err="1" smtClean="0"/>
              <a:t>Fre</a:t>
            </a:r>
            <a:r>
              <a:rPr lang="en-US" altLang="zh-CN" dirty="0" smtClean="0"/>
              <a:t> Brooks</a:t>
            </a:r>
            <a:r>
              <a:rPr lang="zh-CN" altLang="en-US" dirty="0" smtClean="0"/>
              <a:t>是北卡罗莱纳大学的计算机科学教授，曾担任</a:t>
            </a:r>
            <a:r>
              <a:rPr lang="en-US" altLang="zh-CN" dirty="0" smtClean="0"/>
              <a:t>IBM OS360</a:t>
            </a:r>
            <a:r>
              <a:rPr lang="zh-CN" altLang="en-US" dirty="0" smtClean="0"/>
              <a:t>系统的项目经理，在计算机体系结构、操作系统和软件工程方面做出了里程碑式的贡献，于</a:t>
            </a:r>
            <a:r>
              <a:rPr lang="en-US" altLang="zh-CN" dirty="0" smtClean="0"/>
              <a:t>1999</a:t>
            </a:r>
            <a:r>
              <a:rPr lang="zh-CN" altLang="en-US" dirty="0" smtClean="0"/>
              <a:t>年获图灵奖。</a:t>
            </a:r>
            <a:endParaRPr lang="en-US" altLang="zh-CN" dirty="0" smtClean="0"/>
          </a:p>
          <a:p>
            <a:pPr fontAlgn="auto">
              <a:lnSpc>
                <a:spcPct val="100000"/>
              </a:lnSpc>
              <a:spcBef>
                <a:spcPts val="600"/>
              </a:spcBef>
            </a:pPr>
            <a:r>
              <a:rPr lang="zh-CN" altLang="en-US" dirty="0" smtClean="0"/>
              <a:t>软件具有</a:t>
            </a:r>
            <a:r>
              <a:rPr lang="zh-CN" altLang="en-US" dirty="0" smtClean="0">
                <a:solidFill>
                  <a:srgbClr val="FF0000"/>
                </a:solidFill>
              </a:rPr>
              <a:t>复杂性</a:t>
            </a:r>
            <a:r>
              <a:rPr lang="zh-CN" altLang="en-US" dirty="0" smtClean="0"/>
              <a:t>，</a:t>
            </a:r>
            <a:r>
              <a:rPr lang="zh-CN" altLang="en-US" dirty="0" smtClean="0">
                <a:solidFill>
                  <a:srgbClr val="FF0000"/>
                </a:solidFill>
              </a:rPr>
              <a:t>一致性</a:t>
            </a:r>
            <a:r>
              <a:rPr lang="zh-CN" altLang="en-US" dirty="0" smtClean="0"/>
              <a:t>，</a:t>
            </a:r>
            <a:r>
              <a:rPr lang="zh-CN" altLang="en-US" dirty="0" smtClean="0">
                <a:solidFill>
                  <a:srgbClr val="FF0000"/>
                </a:solidFill>
              </a:rPr>
              <a:t>可变性</a:t>
            </a:r>
            <a:r>
              <a:rPr lang="zh-CN" altLang="en-US" dirty="0" smtClean="0"/>
              <a:t>和</a:t>
            </a:r>
            <a:r>
              <a:rPr lang="zh-CN" altLang="en-US" dirty="0" smtClean="0">
                <a:solidFill>
                  <a:srgbClr val="FF0000"/>
                </a:solidFill>
              </a:rPr>
              <a:t>不可见性</a:t>
            </a:r>
            <a:r>
              <a:rPr lang="zh-CN" altLang="en-US" dirty="0" smtClean="0"/>
              <a:t>的固有的内在特征，这是造成软件开发困难的根本原因。</a:t>
            </a:r>
            <a:endParaRPr lang="zh-CN" altLang="en-US" dirty="0"/>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815" y="1244375"/>
            <a:ext cx="2128157" cy="3039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软件的本质特性：复杂性</a:t>
            </a:r>
            <a:endParaRPr lang="zh-CN" altLang="en-US" dirty="0"/>
          </a:p>
        </p:txBody>
      </p:sp>
      <p:sp>
        <p:nvSpPr>
          <p:cNvPr id="3" name="内容占位符 2"/>
          <p:cNvSpPr>
            <a:spLocks noGrp="1"/>
          </p:cNvSpPr>
          <p:nvPr>
            <p:ph idx="1"/>
          </p:nvPr>
        </p:nvSpPr>
        <p:spPr>
          <a:xfrm>
            <a:off x="3370997" y="925167"/>
            <a:ext cx="5229933" cy="3806854"/>
          </a:xfrm>
        </p:spPr>
        <p:txBody>
          <a:bodyPr>
            <a:normAutofit lnSpcReduction="20000"/>
          </a:bodyPr>
          <a:lstStyle/>
          <a:p>
            <a:pPr fontAlgn="auto">
              <a:lnSpc>
                <a:spcPct val="100000"/>
              </a:lnSpc>
              <a:spcBef>
                <a:spcPts val="600"/>
              </a:spcBef>
            </a:pPr>
            <a:r>
              <a:rPr lang="en-US" altLang="zh-CN" dirty="0"/>
              <a:t>Linux</a:t>
            </a:r>
            <a:r>
              <a:rPr lang="zh-CN" altLang="en-US" dirty="0"/>
              <a:t>内核有</a:t>
            </a:r>
            <a:r>
              <a:rPr lang="en-US" altLang="zh-CN" dirty="0"/>
              <a:t>630</a:t>
            </a:r>
            <a:r>
              <a:rPr lang="zh-CN" altLang="en-US" dirty="0"/>
              <a:t>个函数，存在</a:t>
            </a:r>
            <a:r>
              <a:rPr lang="en-US" altLang="zh-CN" dirty="0"/>
              <a:t>1814</a:t>
            </a:r>
            <a:r>
              <a:rPr lang="zh-CN" altLang="en-US" dirty="0"/>
              <a:t>个函数调用。</a:t>
            </a:r>
            <a:br>
              <a:rPr lang="zh-CN" altLang="en-US" dirty="0"/>
            </a:br>
            <a:r>
              <a:rPr lang="zh-CN" altLang="en-US" dirty="0"/>
              <a:t>注：图中将函数表示为节点，调用关系表示为边。 </a:t>
            </a:r>
            <a:endParaRPr lang="en-US" altLang="zh-CN" dirty="0" smtClean="0"/>
          </a:p>
          <a:p>
            <a:pPr fontAlgn="auto">
              <a:lnSpc>
                <a:spcPct val="100000"/>
              </a:lnSpc>
              <a:spcBef>
                <a:spcPts val="600"/>
              </a:spcBef>
            </a:pPr>
            <a:r>
              <a:rPr lang="zh-CN" altLang="en-US" dirty="0"/>
              <a:t>函数 </a:t>
            </a:r>
            <a:r>
              <a:rPr lang="en-US" altLang="zh-CN" dirty="0" err="1"/>
              <a:t>vsprintf</a:t>
            </a:r>
            <a:r>
              <a:rPr lang="en-US" altLang="zh-CN" dirty="0"/>
              <a:t> </a:t>
            </a:r>
            <a:r>
              <a:rPr lang="zh-CN" altLang="en-US" dirty="0"/>
              <a:t>向控制台输出字符、 数字和字符串</a:t>
            </a:r>
            <a:r>
              <a:rPr lang="zh-CN" altLang="en-US" dirty="0" smtClean="0"/>
              <a:t>，它</a:t>
            </a:r>
            <a:r>
              <a:rPr lang="zh-CN" altLang="en-US" dirty="0"/>
              <a:t>调用了 </a:t>
            </a:r>
            <a:r>
              <a:rPr lang="en-US" altLang="zh-CN" dirty="0" err="1"/>
              <a:t>is_digit</a:t>
            </a:r>
            <a:r>
              <a:rPr lang="zh-CN" altLang="en-US" dirty="0"/>
              <a:t>、 </a:t>
            </a:r>
            <a:r>
              <a:rPr lang="en-US" altLang="zh-CN" dirty="0" err="1"/>
              <a:t>strlen</a:t>
            </a:r>
            <a:r>
              <a:rPr lang="zh-CN" altLang="en-US" dirty="0"/>
              <a:t>、 </a:t>
            </a:r>
            <a:r>
              <a:rPr lang="en-US" altLang="zh-CN" dirty="0"/>
              <a:t>number </a:t>
            </a:r>
            <a:r>
              <a:rPr lang="zh-CN" altLang="en-US" dirty="0"/>
              <a:t>等多个函数</a:t>
            </a:r>
            <a:r>
              <a:rPr lang="zh-CN" altLang="en-US" dirty="0" smtClean="0"/>
              <a:t>，函数</a:t>
            </a:r>
            <a:r>
              <a:rPr lang="zh-CN" altLang="en-US" dirty="0"/>
              <a:t>在动态执行过程中呈现出更为复杂的状态。 </a:t>
            </a:r>
            <a:endParaRPr lang="zh-CN" altLang="en-US" dirty="0"/>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0108" y="1056464"/>
            <a:ext cx="2893467" cy="3343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软件的本质特性：复杂性</a:t>
            </a:r>
            <a:endParaRPr lang="zh-CN" altLang="en-US" dirty="0"/>
          </a:p>
        </p:txBody>
      </p:sp>
      <p:sp>
        <p:nvSpPr>
          <p:cNvPr id="3" name="内容占位符 2"/>
          <p:cNvSpPr>
            <a:spLocks noGrp="1"/>
          </p:cNvSpPr>
          <p:nvPr>
            <p:ph idx="1"/>
          </p:nvPr>
        </p:nvSpPr>
        <p:spPr/>
        <p:txBody>
          <a:bodyPr/>
          <a:lstStyle/>
          <a:p>
            <a:r>
              <a:rPr lang="en-US" altLang="zh-CN" b="1" dirty="0"/>
              <a:t>Windows</a:t>
            </a:r>
            <a:r>
              <a:rPr lang="en-US" altLang="zh-CN" b="1" dirty="0">
                <a:latin typeface="宋体" panose="02010600030101010101" pitchFamily="2" charset="-122"/>
              </a:rPr>
              <a:t>95</a:t>
            </a:r>
            <a:r>
              <a:rPr lang="zh-CN" altLang="en-US" b="1" dirty="0">
                <a:latin typeface="宋体" panose="02010600030101010101" pitchFamily="2" charset="-122"/>
              </a:rPr>
              <a:t>有1000万行</a:t>
            </a:r>
            <a:r>
              <a:rPr lang="zh-CN" altLang="en-US" b="1" dirty="0" smtClean="0">
                <a:latin typeface="宋体" panose="02010600030101010101" pitchFamily="2" charset="-122"/>
              </a:rPr>
              <a:t>代码</a:t>
            </a:r>
            <a:endParaRPr lang="en-US" altLang="zh-CN" b="1" dirty="0" smtClean="0">
              <a:latin typeface="宋体" panose="02010600030101010101" pitchFamily="2" charset="-122"/>
            </a:endParaRPr>
          </a:p>
          <a:p>
            <a:r>
              <a:rPr lang="en-US" altLang="zh-CN" b="1" dirty="0"/>
              <a:t>Windows</a:t>
            </a:r>
            <a:r>
              <a:rPr lang="en-US" altLang="zh-CN" b="1" dirty="0">
                <a:latin typeface="宋体" panose="02010600030101010101" pitchFamily="2" charset="-122"/>
              </a:rPr>
              <a:t>2000</a:t>
            </a:r>
            <a:r>
              <a:rPr lang="zh-CN" altLang="en-US" b="1" dirty="0">
                <a:latin typeface="宋体" panose="02010600030101010101" pitchFamily="2" charset="-122"/>
              </a:rPr>
              <a:t>有5000万行</a:t>
            </a:r>
            <a:r>
              <a:rPr lang="zh-CN" altLang="en-US" b="1" dirty="0" smtClean="0">
                <a:latin typeface="宋体" panose="02010600030101010101" pitchFamily="2" charset="-122"/>
              </a:rPr>
              <a:t>代码</a:t>
            </a:r>
            <a:endParaRPr lang="zh-CN" altLang="en-US" dirty="0"/>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aphicFrame>
        <p:nvGraphicFramePr>
          <p:cNvPr id="7" name="Group 5"/>
          <p:cNvGraphicFramePr>
            <a:graphicFrameLocks noGrp="1"/>
          </p:cNvGraphicFramePr>
          <p:nvPr/>
        </p:nvGraphicFramePr>
        <p:xfrm>
          <a:off x="245659" y="2529104"/>
          <a:ext cx="8495731" cy="2019785"/>
        </p:xfrm>
        <a:graphic>
          <a:graphicData uri="http://schemas.openxmlformats.org/drawingml/2006/table">
            <a:tbl>
              <a:tblPr/>
              <a:tblGrid>
                <a:gridCol w="1769944"/>
                <a:gridCol w="3469090"/>
                <a:gridCol w="3256697"/>
              </a:tblGrid>
              <a:tr h="448581">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endParaRPr kumimoji="1" lang="zh-CN" altLang="en-US" sz="21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1" lang="en-US" altLang="zh-CN" sz="27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Exchange2000</a:t>
                      </a:r>
                      <a:endParaRPr kumimoji="1" lang="en-US" altLang="zh-CN" sz="27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1" lang="en-US" altLang="zh-CN" sz="27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Windows</a:t>
                      </a:r>
                      <a:r>
                        <a:rPr kumimoji="1" lang="en-US" altLang="zh-CN" sz="27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2000</a:t>
                      </a:r>
                      <a:endParaRPr kumimoji="1" lang="en-US" altLang="zh-CN" sz="27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45572">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项目经理</a:t>
                      </a:r>
                      <a:endParaRPr kumimoji="1"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25人</a:t>
                      </a:r>
                      <a:endParaRPr kumimoji="1"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约250人</a:t>
                      </a:r>
                      <a:endParaRPr kumimoji="1"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45572">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开发人员</a:t>
                      </a:r>
                      <a:endParaRPr kumimoji="1"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140人</a:t>
                      </a:r>
                      <a:endParaRPr kumimoji="1"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约1700人</a:t>
                      </a:r>
                      <a:endParaRPr kumimoji="1"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48581">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测试人员</a:t>
                      </a:r>
                      <a:endParaRPr kumimoji="1"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350人</a:t>
                      </a:r>
                      <a:endParaRPr kumimoji="1"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约3200人</a:t>
                      </a:r>
                      <a:endParaRPr kumimoji="1"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34290" marB="3429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软件的本质特性：复杂性 </a:t>
            </a:r>
            <a:endParaRPr lang="zh-CN" altLang="en-US" dirty="0"/>
          </a:p>
        </p:txBody>
      </p:sp>
      <p:sp>
        <p:nvSpPr>
          <p:cNvPr id="3" name="内容占位符 2"/>
          <p:cNvSpPr>
            <a:spLocks noGrp="1"/>
          </p:cNvSpPr>
          <p:nvPr>
            <p:ph idx="1"/>
          </p:nvPr>
        </p:nvSpPr>
        <p:spPr>
          <a:xfrm>
            <a:off x="4988257" y="925167"/>
            <a:ext cx="3612673" cy="3806854"/>
          </a:xfrm>
        </p:spPr>
        <p:txBody>
          <a:bodyPr>
            <a:normAutofit fontScale="72500"/>
          </a:bodyPr>
          <a:lstStyle/>
          <a:p>
            <a:pPr fontAlgn="auto">
              <a:lnSpc>
                <a:spcPct val="100000"/>
              </a:lnSpc>
              <a:spcBef>
                <a:spcPts val="600"/>
              </a:spcBef>
            </a:pPr>
            <a:r>
              <a:rPr lang="en-US" altLang="zh-CN" dirty="0" smtClean="0"/>
              <a:t>Google</a:t>
            </a:r>
            <a:r>
              <a:rPr lang="zh-CN" altLang="en-US" dirty="0" smtClean="0"/>
              <a:t>搜索引擎建立在遍布全球</a:t>
            </a:r>
            <a:r>
              <a:rPr lang="en-US" altLang="zh-CN" dirty="0" smtClean="0"/>
              <a:t>30</a:t>
            </a:r>
            <a:r>
              <a:rPr lang="zh-CN" altLang="en-US" dirty="0" smtClean="0"/>
              <a:t>多个站点，超过</a:t>
            </a:r>
            <a:r>
              <a:rPr lang="en-US" altLang="zh-CN" dirty="0" smtClean="0"/>
              <a:t>100</a:t>
            </a:r>
            <a:r>
              <a:rPr lang="zh-CN" altLang="en-US" dirty="0" smtClean="0"/>
              <a:t>万台服务器的云计算设施上。</a:t>
            </a:r>
            <a:endParaRPr lang="en-US" altLang="zh-CN" dirty="0" smtClean="0"/>
          </a:p>
          <a:p>
            <a:pPr fontAlgn="auto">
              <a:lnSpc>
                <a:spcPct val="100000"/>
              </a:lnSpc>
              <a:spcBef>
                <a:spcPts val="600"/>
              </a:spcBef>
            </a:pPr>
            <a:r>
              <a:rPr lang="en-US" altLang="zh-CN" dirty="0" smtClean="0"/>
              <a:t>Amazon</a:t>
            </a:r>
            <a:r>
              <a:rPr lang="zh-CN" altLang="en-US" dirty="0" smtClean="0"/>
              <a:t>拥有</a:t>
            </a:r>
            <a:r>
              <a:rPr lang="en-US" altLang="zh-CN" dirty="0" smtClean="0"/>
              <a:t>28</a:t>
            </a:r>
            <a:r>
              <a:rPr lang="zh-CN" altLang="en-US" dirty="0" smtClean="0"/>
              <a:t>个云计算中心，在全球的服务器总量超过</a:t>
            </a:r>
            <a:r>
              <a:rPr lang="en-US" altLang="zh-CN" dirty="0" smtClean="0"/>
              <a:t>150</a:t>
            </a:r>
            <a:r>
              <a:rPr lang="zh-CN" altLang="en-US" dirty="0" smtClean="0"/>
              <a:t>万台。</a:t>
            </a:r>
            <a:endParaRPr lang="en-US" altLang="zh-CN" dirty="0" smtClean="0"/>
          </a:p>
          <a:p>
            <a:pPr fontAlgn="auto">
              <a:lnSpc>
                <a:spcPct val="100000"/>
              </a:lnSpc>
              <a:spcBef>
                <a:spcPts val="600"/>
              </a:spcBef>
            </a:pPr>
            <a:r>
              <a:rPr lang="zh-CN" altLang="en-US" dirty="0"/>
              <a:t>阿里</a:t>
            </a:r>
            <a:r>
              <a:rPr lang="zh-CN" altLang="en-US" dirty="0" smtClean="0"/>
              <a:t>云是国内最大的云计算平台，拥有近百万台服务器，分布在北京、上海、深圳、香港和美国等。</a:t>
            </a:r>
            <a:endParaRPr lang="zh-CN" altLang="en-US" dirty="0"/>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5441" y="859808"/>
            <a:ext cx="4551012" cy="3623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软件的本质特性：一致性</a:t>
            </a:r>
            <a:endParaRPr lang="zh-CN" altLang="en-US" dirty="0"/>
          </a:p>
        </p:txBody>
      </p:sp>
      <p:sp>
        <p:nvSpPr>
          <p:cNvPr id="3" name="内容占位符 2"/>
          <p:cNvSpPr>
            <a:spLocks noGrp="1"/>
          </p:cNvSpPr>
          <p:nvPr>
            <p:ph idx="1"/>
          </p:nvPr>
        </p:nvSpPr>
        <p:spPr/>
        <p:txBody>
          <a:bodyPr>
            <a:normAutofit/>
          </a:bodyPr>
          <a:lstStyle/>
          <a:p>
            <a:r>
              <a:rPr lang="zh-CN" altLang="en-US" sz="2000" dirty="0" smtClean="0"/>
              <a:t>软件不能独立存在，需要依附于一定的环境（如硬件、网络等）。</a:t>
            </a:r>
            <a:endParaRPr lang="en-US" altLang="zh-CN" sz="2000" dirty="0" smtClean="0"/>
          </a:p>
          <a:p>
            <a:r>
              <a:rPr lang="zh-CN" altLang="en-US" sz="2000" dirty="0" smtClean="0"/>
              <a:t>软件必须遵从人为的惯例并适应已有的技术和系统。</a:t>
            </a:r>
            <a:endParaRPr lang="en-US" altLang="zh-CN" sz="2000" dirty="0" smtClean="0"/>
          </a:p>
          <a:p>
            <a:r>
              <a:rPr lang="zh-CN" altLang="en-US" sz="2000" dirty="0" smtClean="0"/>
              <a:t>软件需要随接口不同而改变，随时间推移而变化，而这些变化是不同人设计的结果。</a:t>
            </a:r>
            <a:endParaRPr lang="zh-CN" altLang="en-US" sz="2000" dirty="0"/>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4098"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383790" y="2753995"/>
            <a:ext cx="5106035" cy="1772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软件的本质特性：可变性</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0199" y="832718"/>
            <a:ext cx="8005354" cy="3623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软件的本质特性：可变性</a:t>
            </a:r>
            <a:endParaRPr lang="zh-CN" altLang="en-US" dirty="0"/>
          </a:p>
        </p:txBody>
      </p:sp>
      <p:sp>
        <p:nvSpPr>
          <p:cNvPr id="3" name="内容占位符 2"/>
          <p:cNvSpPr>
            <a:spLocks noGrp="1"/>
          </p:cNvSpPr>
          <p:nvPr>
            <p:ph idx="1"/>
          </p:nvPr>
        </p:nvSpPr>
        <p:spPr/>
        <p:txBody>
          <a:bodyPr>
            <a:normAutofit/>
          </a:bodyPr>
          <a:lstStyle/>
          <a:p>
            <a:r>
              <a:rPr lang="zh-CN" altLang="en-US" sz="2400" dirty="0" smtClean="0"/>
              <a:t>人们总是认为软件是容易修改的，但忽视了修改所带来的副作用</a:t>
            </a:r>
            <a:endParaRPr lang="en-US" altLang="zh-CN" sz="2400" dirty="0" smtClean="0"/>
          </a:p>
          <a:p>
            <a:r>
              <a:rPr lang="zh-CN" altLang="en-US" sz="2400" dirty="0" smtClean="0"/>
              <a:t>不断的修改最终导致软件的退化，从而结束其生命周期</a:t>
            </a:r>
            <a:endParaRPr lang="zh-CN" altLang="en-US" sz="2400" dirty="0"/>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84755" y="2572385"/>
            <a:ext cx="5550535"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软件的本质特性：不可见性</a:t>
            </a:r>
            <a:endParaRPr lang="zh-CN" altLang="en-US" dirty="0"/>
          </a:p>
        </p:txBody>
      </p:sp>
      <p:sp>
        <p:nvSpPr>
          <p:cNvPr id="3" name="内容占位符 2"/>
          <p:cNvSpPr>
            <a:spLocks noGrp="1"/>
          </p:cNvSpPr>
          <p:nvPr>
            <p:ph idx="1"/>
          </p:nvPr>
        </p:nvSpPr>
        <p:spPr>
          <a:xfrm>
            <a:off x="768097" y="797151"/>
            <a:ext cx="7832833" cy="3806854"/>
          </a:xfrm>
        </p:spPr>
        <p:txBody>
          <a:bodyPr>
            <a:normAutofit/>
          </a:bodyPr>
          <a:lstStyle/>
          <a:p>
            <a:r>
              <a:rPr lang="zh-CN" altLang="en-US" sz="2000" dirty="0" smtClean="0"/>
              <a:t>软件是一种“看不见、摸不着”的逻辑实体，不具有空间的形体特征</a:t>
            </a:r>
            <a:endParaRPr lang="en-US" altLang="zh-CN" sz="2000" dirty="0" smtClean="0"/>
          </a:p>
          <a:p>
            <a:r>
              <a:rPr lang="zh-CN" altLang="en-US" sz="2000" dirty="0" smtClean="0"/>
              <a:t>开发人员可以直接看到程序代码，但代码并不是软件本身</a:t>
            </a:r>
            <a:endParaRPr lang="en-US" altLang="zh-CN" sz="2000" dirty="0" smtClean="0"/>
          </a:p>
          <a:p>
            <a:r>
              <a:rPr lang="zh-CN" altLang="en-US" sz="2000" dirty="0" smtClean="0"/>
              <a:t>软件是以机器代码的形式运行，但是开发人员无法看到源代码是如何执行的</a:t>
            </a:r>
            <a:endParaRPr lang="zh-CN" altLang="en-US" sz="2000" dirty="0"/>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87015" y="2716530"/>
            <a:ext cx="5503545" cy="177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软件工程的产生与发展</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Rectangle 2"/>
          <p:cNvSpPr>
            <a:spLocks noChangeArrowheads="1"/>
          </p:cNvSpPr>
          <p:nvPr/>
        </p:nvSpPr>
        <p:spPr bwMode="gray">
          <a:xfrm>
            <a:off x="185980" y="1048304"/>
            <a:ext cx="8778508" cy="3703929"/>
          </a:xfrm>
          <a:prstGeom prst="rect">
            <a:avLst/>
          </a:prstGeom>
          <a:gradFill rotWithShape="1">
            <a:gsLst>
              <a:gs pos="0">
                <a:schemeClr val="accent1"/>
              </a:gs>
              <a:gs pos="100000">
                <a:schemeClr val="accent2"/>
              </a:gs>
            </a:gsLst>
            <a:lin ang="5400000" scaled="1"/>
          </a:gradFill>
          <a:ln w="76200">
            <a:noFill/>
            <a:miter lim="800000"/>
          </a:ln>
          <a:effectLst/>
        </p:spPr>
        <p:txBody>
          <a:bodyPr wrap="none" anchor="ctr"/>
          <a:lstStyle/>
          <a:p>
            <a:pPr algn="ctr" eaLnBrk="1" latinLnBrk="1" hangingPunct="1"/>
            <a:endParaRPr kumimoji="1" lang="ko-KR" altLang="en-US">
              <a:latin typeface="굴림" pitchFamily="50" charset="-127"/>
              <a:ea typeface="굴림" pitchFamily="50" charset="-127"/>
            </a:endParaRPr>
          </a:p>
        </p:txBody>
      </p:sp>
      <p:grpSp>
        <p:nvGrpSpPr>
          <p:cNvPr id="8" name="组合 7"/>
          <p:cNvGrpSpPr/>
          <p:nvPr/>
        </p:nvGrpSpPr>
        <p:grpSpPr>
          <a:xfrm>
            <a:off x="62859" y="796925"/>
            <a:ext cx="1829935" cy="3623310"/>
            <a:chOff x="371349" y="1397000"/>
            <a:chExt cx="2746501" cy="4432300"/>
          </a:xfrm>
        </p:grpSpPr>
        <p:sp>
          <p:nvSpPr>
            <p:cNvPr id="9" name="AutoShape 3"/>
            <p:cNvSpPr>
              <a:spLocks noChangeArrowheads="1"/>
            </p:cNvSpPr>
            <p:nvPr/>
          </p:nvSpPr>
          <p:spPr bwMode="gray">
            <a:xfrm>
              <a:off x="577850" y="1397000"/>
              <a:ext cx="2540000" cy="4432300"/>
            </a:xfrm>
            <a:prstGeom prst="roundRect">
              <a:avLst>
                <a:gd name="adj" fmla="val 11671"/>
              </a:avLst>
            </a:prstGeom>
            <a:gradFill rotWithShape="1">
              <a:gsLst>
                <a:gs pos="0">
                  <a:schemeClr val="tx2"/>
                </a:gs>
                <a:gs pos="100000">
                  <a:schemeClr val="accent2"/>
                </a:gs>
              </a:gsLst>
              <a:lin ang="5400000" scaled="1"/>
            </a:gradFill>
            <a:ln w="9525">
              <a:noFill/>
              <a:round/>
            </a:ln>
            <a:effectLst/>
          </p:spPr>
          <p:txBody>
            <a:bodyPr wrap="none" anchor="ctr"/>
            <a:lstStyle/>
            <a:p>
              <a:endParaRPr lang="zh-CN" altLang="en-US"/>
            </a:p>
          </p:txBody>
        </p:sp>
        <p:sp>
          <p:nvSpPr>
            <p:cNvPr id="10" name="Line 4"/>
            <p:cNvSpPr>
              <a:spLocks noChangeShapeType="1"/>
            </p:cNvSpPr>
            <p:nvPr/>
          </p:nvSpPr>
          <p:spPr bwMode="gray">
            <a:xfrm>
              <a:off x="571500" y="1984375"/>
              <a:ext cx="2546350" cy="0"/>
            </a:xfrm>
            <a:prstGeom prst="line">
              <a:avLst/>
            </a:prstGeom>
            <a:noFill/>
            <a:ln w="28575">
              <a:solidFill>
                <a:schemeClr val="folHlink"/>
              </a:solidFill>
              <a:round/>
            </a:ln>
            <a:effectLst/>
          </p:spPr>
          <p:txBody>
            <a:bodyPr/>
            <a:lstStyle/>
            <a:p>
              <a:endParaRPr lang="zh-CN" altLang="en-US"/>
            </a:p>
          </p:txBody>
        </p:sp>
        <p:sp>
          <p:nvSpPr>
            <p:cNvPr id="11" name="Text Box 6"/>
            <p:cNvSpPr txBox="1">
              <a:spLocks noChangeArrowheads="1"/>
            </p:cNvSpPr>
            <p:nvPr/>
          </p:nvSpPr>
          <p:spPr bwMode="gray">
            <a:xfrm>
              <a:off x="915245" y="1497013"/>
              <a:ext cx="1903311" cy="375184"/>
            </a:xfrm>
            <a:prstGeom prst="rect">
              <a:avLst/>
            </a:prstGeom>
            <a:noFill/>
            <a:ln w="9525">
              <a:noFill/>
              <a:miter lim="800000"/>
            </a:ln>
            <a:effectLst/>
          </p:spPr>
          <p:txBody>
            <a:bodyPr wrap="square">
              <a:spAutoFit/>
            </a:bodyPr>
            <a:lstStyle/>
            <a:p>
              <a:pPr algn="ctr" eaLnBrk="1" latinLnBrk="1" hangingPunct="1"/>
              <a:r>
                <a:rPr lang="zh-CN" altLang="en-US" sz="1400" b="1" dirty="0">
                  <a:solidFill>
                    <a:schemeClr val="bg1"/>
                  </a:solidFill>
                  <a:effectLst>
                    <a:outerShdw blurRad="38100" dist="38100" dir="2700000" algn="tl">
                      <a:srgbClr val="000000">
                        <a:alpha val="43137"/>
                      </a:srgbClr>
                    </a:outerShdw>
                  </a:effectLst>
                </a:rPr>
                <a:t>程序设计阶段</a:t>
              </a:r>
              <a:endParaRPr kumimoji="1" lang="zh-CN"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굴림" pitchFamily="50" charset="-127"/>
              </a:endParaRPr>
            </a:p>
          </p:txBody>
        </p:sp>
        <p:sp>
          <p:nvSpPr>
            <p:cNvPr id="12" name="Line 7"/>
            <p:cNvSpPr>
              <a:spLocks noChangeShapeType="1"/>
            </p:cNvSpPr>
            <p:nvPr/>
          </p:nvSpPr>
          <p:spPr bwMode="gray">
            <a:xfrm>
              <a:off x="571500" y="5578475"/>
              <a:ext cx="2546350" cy="0"/>
            </a:xfrm>
            <a:prstGeom prst="line">
              <a:avLst/>
            </a:prstGeom>
            <a:noFill/>
            <a:ln w="28575">
              <a:solidFill>
                <a:schemeClr val="folHlink"/>
              </a:solidFill>
              <a:round/>
            </a:ln>
            <a:effectLst/>
          </p:spPr>
          <p:txBody>
            <a:bodyPr/>
            <a:lstStyle/>
            <a:p>
              <a:endParaRPr lang="zh-CN" altLang="en-US"/>
            </a:p>
          </p:txBody>
        </p:sp>
        <p:sp>
          <p:nvSpPr>
            <p:cNvPr id="13" name="Text Box 8"/>
            <p:cNvSpPr txBox="1">
              <a:spLocks noChangeArrowheads="1"/>
            </p:cNvSpPr>
            <p:nvPr/>
          </p:nvSpPr>
          <p:spPr bwMode="gray">
            <a:xfrm>
              <a:off x="371349" y="2091672"/>
              <a:ext cx="2683802" cy="375184"/>
            </a:xfrm>
            <a:prstGeom prst="rect">
              <a:avLst/>
            </a:prstGeom>
            <a:noFill/>
            <a:ln w="9525">
              <a:noFill/>
              <a:miter lim="800000"/>
            </a:ln>
            <a:effectLst/>
          </p:spPr>
          <p:txBody>
            <a:bodyPr wrap="square">
              <a:spAutoFit/>
            </a:bodyPr>
            <a:lstStyle/>
            <a:p>
              <a:pPr>
                <a:spcBef>
                  <a:spcPts val="0"/>
                </a:spcBef>
              </a:pPr>
              <a:r>
                <a:rPr lang="zh-CN" altLang="en-US" sz="1400" b="1" dirty="0" smtClean="0">
                  <a:solidFill>
                    <a:schemeClr val="bg1"/>
                  </a:solidFill>
                  <a:effectLst>
                    <a:outerShdw blurRad="38100" dist="38100" dir="2700000" algn="tl">
                      <a:srgbClr val="000000">
                        <a:alpha val="43137"/>
                      </a:srgbClr>
                    </a:outerShdw>
                  </a:effectLst>
                </a:rPr>
                <a:t>（</a:t>
              </a:r>
              <a:r>
                <a:rPr lang="zh-CN" altLang="en-US" sz="1400" b="1" dirty="0">
                  <a:solidFill>
                    <a:schemeClr val="bg1"/>
                  </a:solidFill>
                  <a:effectLst>
                    <a:outerShdw blurRad="38100" dist="38100" dir="2700000" algn="tl">
                      <a:srgbClr val="000000">
                        <a:alpha val="43137"/>
                      </a:srgbClr>
                    </a:outerShdw>
                  </a:effectLst>
                </a:rPr>
                <a:t>20世纪</a:t>
              </a:r>
              <a:r>
                <a:rPr lang="en-US" altLang="zh-CN" sz="1400" b="1" dirty="0">
                  <a:solidFill>
                    <a:schemeClr val="bg1"/>
                  </a:solidFill>
                  <a:effectLst>
                    <a:outerShdw blurRad="38100" dist="38100" dir="2700000" algn="tl">
                      <a:srgbClr val="000000">
                        <a:alpha val="43137"/>
                      </a:srgbClr>
                    </a:outerShdw>
                  </a:effectLst>
                </a:rPr>
                <a:t>5</a:t>
              </a:r>
              <a:r>
                <a:rPr lang="zh-CN" altLang="en-US" sz="1400" b="1" dirty="0">
                  <a:solidFill>
                    <a:schemeClr val="bg1"/>
                  </a:solidFill>
                  <a:effectLst>
                    <a:outerShdw blurRad="38100" dist="38100" dir="2700000" algn="tl">
                      <a:srgbClr val="000000">
                        <a:alpha val="43137"/>
                      </a:srgbClr>
                    </a:outerShdw>
                  </a:effectLst>
                </a:rPr>
                <a:t>0</a:t>
              </a:r>
              <a:r>
                <a:rPr lang="zh-CN" altLang="en-US" sz="1400" b="1" dirty="0" smtClean="0">
                  <a:solidFill>
                    <a:schemeClr val="bg1"/>
                  </a:solidFill>
                  <a:effectLst>
                    <a:outerShdw blurRad="38100" dist="38100" dir="2700000" algn="tl">
                      <a:srgbClr val="000000">
                        <a:alpha val="43137"/>
                      </a:srgbClr>
                    </a:outerShdw>
                  </a:effectLst>
                </a:rPr>
                <a:t>~60年代</a:t>
              </a:r>
              <a:r>
                <a:rPr lang="zh-CN" altLang="en-US" sz="1400" b="1" dirty="0">
                  <a:solidFill>
                    <a:schemeClr val="bg1"/>
                  </a:solidFill>
                  <a:effectLst>
                    <a:outerShdw blurRad="38100" dist="38100" dir="2700000" algn="tl">
                      <a:srgbClr val="000000">
                        <a:alpha val="43137"/>
                      </a:srgbClr>
                    </a:outerShdw>
                  </a:effectLst>
                </a:rPr>
                <a:t>）</a:t>
              </a:r>
              <a:endParaRPr lang="zh-CN" altLang="en-US" sz="1400" b="1" dirty="0">
                <a:solidFill>
                  <a:schemeClr val="bg1"/>
                </a:solidFill>
                <a:effectLst>
                  <a:outerShdw blurRad="38100" dist="38100" dir="2700000" algn="tl">
                    <a:srgbClr val="000000">
                      <a:alpha val="43137"/>
                    </a:srgbClr>
                  </a:outerShdw>
                </a:effectLst>
              </a:endParaRPr>
            </a:p>
          </p:txBody>
        </p:sp>
      </p:grpSp>
      <p:sp>
        <p:nvSpPr>
          <p:cNvPr id="14" name="AutoShape 10"/>
          <p:cNvSpPr>
            <a:spLocks noChangeArrowheads="1"/>
          </p:cNvSpPr>
          <p:nvPr/>
        </p:nvSpPr>
        <p:spPr bwMode="gray">
          <a:xfrm>
            <a:off x="1952625" y="789305"/>
            <a:ext cx="1841500" cy="3630295"/>
          </a:xfrm>
          <a:prstGeom prst="roundRect">
            <a:avLst>
              <a:gd name="adj" fmla="val 11671"/>
            </a:avLst>
          </a:prstGeom>
          <a:gradFill rotWithShape="1">
            <a:gsLst>
              <a:gs pos="0">
                <a:schemeClr val="tx2"/>
              </a:gs>
              <a:gs pos="100000">
                <a:schemeClr val="accent2"/>
              </a:gs>
            </a:gsLst>
            <a:lin ang="5400000" scaled="1"/>
          </a:gradFill>
          <a:ln w="9525">
            <a:noFill/>
            <a:round/>
          </a:ln>
          <a:effectLst/>
        </p:spPr>
        <p:txBody>
          <a:bodyPr wrap="none" anchor="ctr"/>
          <a:lstStyle/>
          <a:p>
            <a:endParaRPr lang="zh-CN" altLang="en-US"/>
          </a:p>
        </p:txBody>
      </p:sp>
      <p:sp>
        <p:nvSpPr>
          <p:cNvPr id="15" name="Line 11"/>
          <p:cNvSpPr>
            <a:spLocks noChangeShapeType="1"/>
          </p:cNvSpPr>
          <p:nvPr/>
        </p:nvSpPr>
        <p:spPr bwMode="gray">
          <a:xfrm>
            <a:off x="1946910" y="1280160"/>
            <a:ext cx="1950085" cy="6350"/>
          </a:xfrm>
          <a:prstGeom prst="line">
            <a:avLst/>
          </a:prstGeom>
          <a:noFill/>
          <a:ln w="28575">
            <a:solidFill>
              <a:schemeClr val="folHlink"/>
            </a:solidFill>
            <a:round/>
          </a:ln>
          <a:effectLst/>
        </p:spPr>
        <p:txBody>
          <a:bodyPr/>
          <a:lstStyle/>
          <a:p>
            <a:endParaRPr lang="zh-CN" altLang="en-US"/>
          </a:p>
        </p:txBody>
      </p:sp>
      <p:sp>
        <p:nvSpPr>
          <p:cNvPr id="16" name="Text Box 12"/>
          <p:cNvSpPr txBox="1">
            <a:spLocks noChangeArrowheads="1"/>
          </p:cNvSpPr>
          <p:nvPr/>
        </p:nvSpPr>
        <p:spPr bwMode="gray">
          <a:xfrm>
            <a:off x="2186641" y="863999"/>
            <a:ext cx="1579279" cy="369332"/>
          </a:xfrm>
          <a:prstGeom prst="rect">
            <a:avLst/>
          </a:prstGeom>
          <a:noFill/>
          <a:ln w="9525">
            <a:noFill/>
            <a:miter lim="800000"/>
          </a:ln>
          <a:effectLst/>
        </p:spPr>
        <p:txBody>
          <a:bodyPr wrap="none">
            <a:spAutoFit/>
          </a:bodyPr>
          <a:lstStyle/>
          <a:p>
            <a:pPr algn="ctr" eaLnBrk="1" latinLnBrk="1" hangingPunct="1"/>
            <a:r>
              <a:rPr lang="zh-CN" altLang="en-US" b="1" dirty="0">
                <a:solidFill>
                  <a:schemeClr val="bg1"/>
                </a:solidFill>
                <a:effectLst>
                  <a:outerShdw blurRad="38100" dist="38100" dir="2700000" algn="tl">
                    <a:srgbClr val="000000">
                      <a:alpha val="43137"/>
                    </a:srgbClr>
                  </a:outerShdw>
                </a:effectLst>
              </a:rPr>
              <a:t>程序系统阶段</a:t>
            </a:r>
            <a:endParaRPr kumimoji="1" lang="en-US" altLang="ko-KR" b="1" dirty="0">
              <a:solidFill>
                <a:schemeClr val="bg1"/>
              </a:solidFill>
              <a:effectLst>
                <a:outerShdw blurRad="38100" dist="38100" dir="2700000" algn="tl">
                  <a:srgbClr val="000000">
                    <a:alpha val="43137"/>
                  </a:srgbClr>
                </a:outerShdw>
              </a:effectLst>
              <a:latin typeface="Arial" panose="020B0604020202020204" pitchFamily="34" charset="0"/>
              <a:ea typeface="굴림" pitchFamily="50" charset="-127"/>
            </a:endParaRPr>
          </a:p>
        </p:txBody>
      </p:sp>
      <p:sp>
        <p:nvSpPr>
          <p:cNvPr id="17" name="Line 13"/>
          <p:cNvSpPr>
            <a:spLocks noChangeShapeType="1"/>
          </p:cNvSpPr>
          <p:nvPr/>
        </p:nvSpPr>
        <p:spPr bwMode="gray">
          <a:xfrm>
            <a:off x="1892935" y="4215130"/>
            <a:ext cx="2004060" cy="635"/>
          </a:xfrm>
          <a:prstGeom prst="line">
            <a:avLst/>
          </a:prstGeom>
          <a:noFill/>
          <a:ln w="28575">
            <a:solidFill>
              <a:schemeClr val="folHlink"/>
            </a:solidFill>
            <a:round/>
          </a:ln>
          <a:effectLst/>
        </p:spPr>
        <p:txBody>
          <a:bodyPr/>
          <a:lstStyle/>
          <a:p>
            <a:endParaRPr lang="zh-CN" altLang="en-US"/>
          </a:p>
        </p:txBody>
      </p:sp>
      <p:sp>
        <p:nvSpPr>
          <p:cNvPr id="18" name="Text Box 14"/>
          <p:cNvSpPr txBox="1">
            <a:spLocks noChangeArrowheads="1"/>
          </p:cNvSpPr>
          <p:nvPr/>
        </p:nvSpPr>
        <p:spPr bwMode="gray">
          <a:xfrm>
            <a:off x="1996014" y="1302826"/>
            <a:ext cx="1770435" cy="337185"/>
          </a:xfrm>
          <a:prstGeom prst="rect">
            <a:avLst/>
          </a:prstGeom>
          <a:noFill/>
          <a:ln w="9525">
            <a:noFill/>
            <a:miter lim="800000"/>
          </a:ln>
          <a:effectLst/>
        </p:spPr>
        <p:txBody>
          <a:bodyPr wrap="square">
            <a:spAutoFit/>
          </a:bodyPr>
          <a:lstStyle/>
          <a:p>
            <a:pPr>
              <a:spcBef>
                <a:spcPts val="1800"/>
              </a:spcBef>
            </a:pPr>
            <a:r>
              <a:rPr lang="zh-CN" altLang="en-US" sz="1600" b="1" dirty="0">
                <a:solidFill>
                  <a:schemeClr val="bg1"/>
                </a:solidFill>
                <a:effectLst>
                  <a:outerShdw blurRad="38100" dist="38100" dir="2700000" algn="tl">
                    <a:srgbClr val="000000">
                      <a:alpha val="43137"/>
                    </a:srgbClr>
                  </a:outerShdw>
                </a:effectLst>
              </a:rPr>
              <a:t>（</a:t>
            </a:r>
            <a:r>
              <a:rPr lang="en-US" altLang="zh-CN" sz="1600" b="1" dirty="0">
                <a:solidFill>
                  <a:schemeClr val="bg1"/>
                </a:solidFill>
                <a:effectLst>
                  <a:outerShdw blurRad="38100" dist="38100" dir="2700000" algn="tl">
                    <a:srgbClr val="000000">
                      <a:alpha val="43137"/>
                    </a:srgbClr>
                  </a:outerShdw>
                </a:effectLst>
              </a:rPr>
              <a:t>20</a:t>
            </a:r>
            <a:r>
              <a:rPr lang="zh-CN" altLang="en-US" sz="1600" b="1" dirty="0">
                <a:solidFill>
                  <a:schemeClr val="bg1"/>
                </a:solidFill>
                <a:effectLst>
                  <a:outerShdw blurRad="38100" dist="38100" dir="2700000" algn="tl">
                    <a:srgbClr val="000000">
                      <a:alpha val="43137"/>
                    </a:srgbClr>
                  </a:outerShdw>
                </a:effectLst>
              </a:rPr>
              <a:t>世纪</a:t>
            </a:r>
            <a:r>
              <a:rPr lang="zh-CN" altLang="en-US" sz="1600" b="1" dirty="0" smtClean="0">
                <a:solidFill>
                  <a:schemeClr val="bg1"/>
                </a:solidFill>
                <a:effectLst>
                  <a:outerShdw blurRad="38100" dist="38100" dir="2700000" algn="tl">
                    <a:srgbClr val="000000">
                      <a:alpha val="43137"/>
                    </a:srgbClr>
                  </a:outerShdw>
                </a:effectLst>
              </a:rPr>
              <a:t>70年代</a:t>
            </a:r>
            <a:r>
              <a:rPr lang="zh-CN" altLang="en-US" sz="1600" b="1" dirty="0">
                <a:solidFill>
                  <a:schemeClr val="bg1"/>
                </a:solidFill>
                <a:effectLst>
                  <a:outerShdw blurRad="38100" dist="38100" dir="2700000" algn="tl">
                    <a:srgbClr val="000000">
                      <a:alpha val="43137"/>
                    </a:srgbClr>
                  </a:outerShdw>
                </a:effectLst>
              </a:rPr>
              <a:t>）</a:t>
            </a:r>
            <a:endParaRPr lang="zh-CN" altLang="en-US" sz="1600" b="1" dirty="0">
              <a:solidFill>
                <a:schemeClr val="bg1"/>
              </a:solidFill>
              <a:effectLst>
                <a:outerShdw blurRad="38100" dist="38100" dir="2700000" algn="tl">
                  <a:srgbClr val="000000">
                    <a:alpha val="43137"/>
                  </a:srgbClr>
                </a:outerShdw>
              </a:effectLst>
            </a:endParaRPr>
          </a:p>
        </p:txBody>
      </p:sp>
      <p:sp>
        <p:nvSpPr>
          <p:cNvPr id="19" name="AutoShape 16"/>
          <p:cNvSpPr>
            <a:spLocks noChangeArrowheads="1"/>
          </p:cNvSpPr>
          <p:nvPr/>
        </p:nvSpPr>
        <p:spPr bwMode="gray">
          <a:xfrm>
            <a:off x="3836670" y="789940"/>
            <a:ext cx="1502410" cy="3662680"/>
          </a:xfrm>
          <a:prstGeom prst="roundRect">
            <a:avLst>
              <a:gd name="adj" fmla="val 11671"/>
            </a:avLst>
          </a:prstGeom>
          <a:gradFill rotWithShape="1">
            <a:gsLst>
              <a:gs pos="0">
                <a:schemeClr val="tx2"/>
              </a:gs>
              <a:gs pos="100000">
                <a:schemeClr val="accent2"/>
              </a:gs>
            </a:gsLst>
            <a:lin ang="5400000" scaled="1"/>
          </a:gradFill>
          <a:ln w="9525">
            <a:noFill/>
            <a:round/>
          </a:ln>
          <a:effectLst/>
        </p:spPr>
        <p:txBody>
          <a:bodyPr wrap="none" anchor="ctr"/>
          <a:lstStyle/>
          <a:p>
            <a:endParaRPr lang="zh-CN" altLang="en-US"/>
          </a:p>
        </p:txBody>
      </p:sp>
      <p:sp>
        <p:nvSpPr>
          <p:cNvPr id="20" name="Line 17"/>
          <p:cNvSpPr>
            <a:spLocks noChangeShapeType="1"/>
          </p:cNvSpPr>
          <p:nvPr/>
        </p:nvSpPr>
        <p:spPr bwMode="gray">
          <a:xfrm>
            <a:off x="3831590" y="1281430"/>
            <a:ext cx="2027555" cy="635"/>
          </a:xfrm>
          <a:prstGeom prst="line">
            <a:avLst/>
          </a:prstGeom>
          <a:noFill/>
          <a:ln w="28575">
            <a:solidFill>
              <a:schemeClr val="folHlink"/>
            </a:solidFill>
            <a:round/>
          </a:ln>
          <a:effectLst/>
        </p:spPr>
        <p:txBody>
          <a:bodyPr/>
          <a:lstStyle/>
          <a:p>
            <a:endParaRPr lang="zh-CN" altLang="en-US"/>
          </a:p>
        </p:txBody>
      </p:sp>
      <p:sp>
        <p:nvSpPr>
          <p:cNvPr id="21" name="Text Box 18"/>
          <p:cNvSpPr txBox="1">
            <a:spLocks noChangeArrowheads="1"/>
          </p:cNvSpPr>
          <p:nvPr/>
        </p:nvSpPr>
        <p:spPr bwMode="gray">
          <a:xfrm>
            <a:off x="3816985" y="928370"/>
            <a:ext cx="1579245" cy="407035"/>
          </a:xfrm>
          <a:prstGeom prst="rect">
            <a:avLst/>
          </a:prstGeom>
          <a:noFill/>
          <a:ln w="9525">
            <a:noFill/>
            <a:miter lim="800000"/>
          </a:ln>
          <a:effectLst/>
        </p:spPr>
        <p:txBody>
          <a:bodyPr wrap="none">
            <a:noAutofit/>
          </a:bodyPr>
          <a:lstStyle/>
          <a:p>
            <a:pPr algn="ctr" eaLnBrk="1" latinLnBrk="1" hangingPunct="1"/>
            <a:r>
              <a:rPr lang="zh-CN" altLang="en-US" sz="1400" b="1" dirty="0">
                <a:solidFill>
                  <a:schemeClr val="bg1"/>
                </a:solidFill>
                <a:effectLst>
                  <a:outerShdw blurRad="38100" dist="38100" dir="2700000" algn="tl">
                    <a:srgbClr val="000000">
                      <a:alpha val="43137"/>
                    </a:srgbClr>
                  </a:outerShdw>
                </a:effectLst>
              </a:rPr>
              <a:t>软件工程阶段</a:t>
            </a:r>
            <a:endParaRPr kumimoji="1" lang="zh-CN"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굴림" pitchFamily="50" charset="-127"/>
            </a:endParaRPr>
          </a:p>
        </p:txBody>
      </p:sp>
      <p:sp>
        <p:nvSpPr>
          <p:cNvPr id="22" name="Line 19"/>
          <p:cNvSpPr>
            <a:spLocks noChangeShapeType="1"/>
          </p:cNvSpPr>
          <p:nvPr/>
        </p:nvSpPr>
        <p:spPr bwMode="gray">
          <a:xfrm>
            <a:off x="3842385" y="4214495"/>
            <a:ext cx="1488440" cy="635"/>
          </a:xfrm>
          <a:prstGeom prst="line">
            <a:avLst/>
          </a:prstGeom>
          <a:noFill/>
          <a:ln w="28575">
            <a:solidFill>
              <a:schemeClr val="folHlink"/>
            </a:solidFill>
            <a:round/>
          </a:ln>
          <a:effectLst/>
        </p:spPr>
        <p:txBody>
          <a:bodyPr/>
          <a:lstStyle/>
          <a:p>
            <a:endParaRPr lang="zh-CN" altLang="en-US"/>
          </a:p>
        </p:txBody>
      </p:sp>
      <p:sp>
        <p:nvSpPr>
          <p:cNvPr id="23" name="Text Box 21"/>
          <p:cNvSpPr txBox="1">
            <a:spLocks noChangeArrowheads="1"/>
          </p:cNvSpPr>
          <p:nvPr/>
        </p:nvSpPr>
        <p:spPr bwMode="gray">
          <a:xfrm>
            <a:off x="3684905" y="1377950"/>
            <a:ext cx="1899920" cy="306705"/>
          </a:xfrm>
          <a:prstGeom prst="rect">
            <a:avLst/>
          </a:prstGeom>
          <a:noFill/>
          <a:ln w="9525">
            <a:noFill/>
            <a:miter lim="800000"/>
          </a:ln>
          <a:effectLst/>
        </p:spPr>
        <p:txBody>
          <a:bodyPr wrap="square">
            <a:spAutoFit/>
          </a:bodyPr>
          <a:lstStyle/>
          <a:p>
            <a:pPr>
              <a:spcBef>
                <a:spcPts val="1800"/>
              </a:spcBef>
            </a:pPr>
            <a:r>
              <a:rPr lang="zh-CN" altLang="en-US" sz="1400" b="1" dirty="0">
                <a:solidFill>
                  <a:schemeClr val="bg1"/>
                </a:solidFill>
                <a:effectLst>
                  <a:outerShdw blurRad="38100" dist="38100" dir="2700000" algn="tl">
                    <a:srgbClr val="000000">
                      <a:alpha val="43137"/>
                    </a:srgbClr>
                  </a:outerShdw>
                </a:effectLst>
              </a:rPr>
              <a:t>（20世纪</a:t>
            </a:r>
            <a:r>
              <a:rPr lang="en-US" altLang="zh-CN" sz="1400" b="1" dirty="0">
                <a:solidFill>
                  <a:schemeClr val="bg1"/>
                </a:solidFill>
                <a:effectLst>
                  <a:outerShdw blurRad="38100" dist="38100" dir="2700000" algn="tl">
                    <a:srgbClr val="000000">
                      <a:alpha val="43137"/>
                    </a:srgbClr>
                  </a:outerShdw>
                </a:effectLst>
              </a:rPr>
              <a:t>8</a:t>
            </a:r>
            <a:r>
              <a:rPr lang="zh-CN" altLang="en-US" sz="1400" b="1" dirty="0">
                <a:solidFill>
                  <a:schemeClr val="bg1"/>
                </a:solidFill>
                <a:effectLst>
                  <a:outerShdw blurRad="38100" dist="38100" dir="2700000" algn="tl">
                    <a:srgbClr val="000000">
                      <a:alpha val="43137"/>
                    </a:srgbClr>
                  </a:outerShdw>
                </a:effectLst>
              </a:rPr>
              <a:t>0年代）</a:t>
            </a:r>
            <a:endParaRPr lang="zh-CN" altLang="en-US" sz="1400" b="1" dirty="0">
              <a:solidFill>
                <a:schemeClr val="bg1"/>
              </a:solidFill>
              <a:effectLst>
                <a:outerShdw blurRad="38100" dist="38100" dir="2700000" algn="tl">
                  <a:srgbClr val="000000">
                    <a:alpha val="43137"/>
                  </a:srgbClr>
                </a:outerShdw>
              </a:effectLst>
            </a:endParaRPr>
          </a:p>
        </p:txBody>
      </p:sp>
      <p:sp>
        <p:nvSpPr>
          <p:cNvPr id="24" name="Text Box 5"/>
          <p:cNvSpPr txBox="1">
            <a:spLocks noChangeArrowheads="1"/>
          </p:cNvSpPr>
          <p:nvPr/>
        </p:nvSpPr>
        <p:spPr bwMode="auto">
          <a:xfrm>
            <a:off x="274320" y="1849755"/>
            <a:ext cx="1541145" cy="2300605"/>
          </a:xfrm>
          <a:prstGeom prst="rect">
            <a:avLst/>
          </a:prstGeom>
          <a:solidFill>
            <a:srgbClr val="002060"/>
          </a:solidFill>
          <a:ln w="9525">
            <a:noFill/>
            <a:miter lim="800000"/>
          </a:ln>
        </p:spPr>
        <p:txBody>
          <a:bodyPr wrap="square">
            <a:noAutofit/>
          </a:bodyPr>
          <a:lstStyle/>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手工作坊式开发</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编程和调试技能</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采用硬件工程方法</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软件工程产生</a:t>
            </a:r>
            <a:endParaRPr lang="zh-CN" altLang="en-US" sz="1200" b="1" dirty="0" smtClean="0">
              <a:solidFill>
                <a:srgbClr val="FFFFCC"/>
              </a:solidFill>
              <a:latin typeface="楷体_GB2312" pitchFamily="49" charset="-122"/>
              <a:ea typeface="楷体_GB2312" pitchFamily="49" charset="-122"/>
            </a:endParaRPr>
          </a:p>
        </p:txBody>
      </p:sp>
      <p:sp>
        <p:nvSpPr>
          <p:cNvPr id="25" name="Text Box 7"/>
          <p:cNvSpPr txBox="1">
            <a:spLocks noChangeArrowheads="1"/>
          </p:cNvSpPr>
          <p:nvPr/>
        </p:nvSpPr>
        <p:spPr bwMode="auto">
          <a:xfrm>
            <a:off x="2066290" y="1833245"/>
            <a:ext cx="1653540" cy="2310130"/>
          </a:xfrm>
          <a:prstGeom prst="rect">
            <a:avLst/>
          </a:prstGeom>
          <a:solidFill>
            <a:srgbClr val="002060"/>
          </a:solidFill>
          <a:ln w="9525">
            <a:noFill/>
            <a:miter lim="800000"/>
          </a:ln>
        </p:spPr>
        <p:txBody>
          <a:bodyPr wrap="square">
            <a:noAutofit/>
          </a:bodyPr>
          <a:lstStyle/>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程序设计语言和方法学</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瀑布模型</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结构化软件开发方法</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形式方法</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定量的软件工程</a:t>
            </a:r>
            <a:endParaRPr lang="zh-CN" altLang="en-US" sz="1200" b="1" dirty="0" smtClean="0">
              <a:solidFill>
                <a:srgbClr val="FFFFCC"/>
              </a:solidFill>
              <a:latin typeface="楷体_GB2312" pitchFamily="49" charset="-122"/>
              <a:ea typeface="楷体_GB2312" pitchFamily="49" charset="-122"/>
            </a:endParaRPr>
          </a:p>
        </p:txBody>
      </p:sp>
      <p:sp>
        <p:nvSpPr>
          <p:cNvPr id="26" name="Text Box 9"/>
          <p:cNvSpPr txBox="1">
            <a:spLocks noChangeArrowheads="1"/>
          </p:cNvSpPr>
          <p:nvPr/>
        </p:nvSpPr>
        <p:spPr bwMode="auto">
          <a:xfrm>
            <a:off x="3965575" y="1832610"/>
            <a:ext cx="1187450" cy="1931035"/>
          </a:xfrm>
          <a:prstGeom prst="rect">
            <a:avLst/>
          </a:prstGeom>
          <a:solidFill>
            <a:srgbClr val="002060"/>
          </a:solidFill>
          <a:ln w="9525">
            <a:noFill/>
            <a:miter lim="800000"/>
          </a:ln>
        </p:spPr>
        <p:txBody>
          <a:bodyPr wrap="square">
            <a:noAutofit/>
          </a:bodyPr>
          <a:lstStyle/>
          <a:p>
            <a:pPr marL="171450" indent="-171450">
              <a:lnSpc>
                <a:spcPct val="125000"/>
              </a:lnSpc>
              <a:buFont typeface="Arial" panose="020B0604020202020204" pitchFamily="34" charset="0"/>
              <a:buChar char="•"/>
            </a:pPr>
            <a:r>
              <a:rPr lang="en-US" altLang="zh-CN" sz="1200" b="1" dirty="0" smtClean="0">
                <a:solidFill>
                  <a:srgbClr val="FFFFCC"/>
                </a:solidFill>
                <a:latin typeface="楷体_GB2312" pitchFamily="49" charset="-122"/>
                <a:ea typeface="楷体_GB2312" pitchFamily="49" charset="-122"/>
              </a:rPr>
              <a:t>OOP</a:t>
            </a:r>
            <a:r>
              <a:rPr lang="zh-CN" altLang="en-US" sz="1200" b="1" dirty="0" smtClean="0">
                <a:solidFill>
                  <a:srgbClr val="FFFFCC"/>
                </a:solidFill>
                <a:latin typeface="楷体_GB2312" pitchFamily="49" charset="-122"/>
                <a:ea typeface="楷体_GB2312" pitchFamily="49" charset="-122"/>
              </a:rPr>
              <a:t>技术</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软件重用</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标准化技术</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软件工程标准化</a:t>
            </a:r>
            <a:endParaRPr lang="zh-CN" altLang="en-US" sz="1200" b="1" dirty="0" smtClean="0">
              <a:solidFill>
                <a:srgbClr val="FFFFCC"/>
              </a:solidFill>
              <a:latin typeface="楷体_GB2312" pitchFamily="49" charset="-122"/>
              <a:ea typeface="楷体_GB2312" pitchFamily="49" charset="-122"/>
            </a:endParaRPr>
          </a:p>
        </p:txBody>
      </p:sp>
      <p:sp>
        <p:nvSpPr>
          <p:cNvPr id="28" name="AutoShape 16"/>
          <p:cNvSpPr>
            <a:spLocks noChangeArrowheads="1"/>
          </p:cNvSpPr>
          <p:nvPr/>
        </p:nvSpPr>
        <p:spPr bwMode="gray">
          <a:xfrm>
            <a:off x="5368290" y="796925"/>
            <a:ext cx="1786890" cy="3655695"/>
          </a:xfrm>
          <a:prstGeom prst="roundRect">
            <a:avLst>
              <a:gd name="adj" fmla="val 11671"/>
            </a:avLst>
          </a:prstGeom>
          <a:gradFill rotWithShape="1">
            <a:gsLst>
              <a:gs pos="0">
                <a:schemeClr val="tx2"/>
              </a:gs>
              <a:gs pos="100000">
                <a:schemeClr val="accent2"/>
              </a:gs>
            </a:gsLst>
            <a:lin ang="5400000" scaled="1"/>
          </a:gradFill>
          <a:ln w="9525">
            <a:noFill/>
            <a:round/>
          </a:ln>
          <a:effectLst/>
        </p:spPr>
        <p:txBody>
          <a:bodyPr wrap="none" anchor="ctr"/>
          <a:lstStyle/>
          <a:p>
            <a:endParaRPr lang="zh-CN" altLang="en-US"/>
          </a:p>
        </p:txBody>
      </p:sp>
      <p:sp>
        <p:nvSpPr>
          <p:cNvPr id="29" name="Line 17"/>
          <p:cNvSpPr>
            <a:spLocks noChangeShapeType="1"/>
          </p:cNvSpPr>
          <p:nvPr/>
        </p:nvSpPr>
        <p:spPr bwMode="gray">
          <a:xfrm>
            <a:off x="5363473" y="1275836"/>
            <a:ext cx="2027697" cy="0"/>
          </a:xfrm>
          <a:prstGeom prst="line">
            <a:avLst/>
          </a:prstGeom>
          <a:noFill/>
          <a:ln w="28575">
            <a:solidFill>
              <a:schemeClr val="folHlink"/>
            </a:solidFill>
            <a:round/>
          </a:ln>
          <a:effectLst/>
        </p:spPr>
        <p:txBody>
          <a:bodyPr/>
          <a:lstStyle/>
          <a:p>
            <a:endParaRPr lang="zh-CN" altLang="en-US"/>
          </a:p>
        </p:txBody>
      </p:sp>
      <p:sp>
        <p:nvSpPr>
          <p:cNvPr id="30" name="Text Box 18"/>
          <p:cNvSpPr txBox="1">
            <a:spLocks noChangeArrowheads="1"/>
          </p:cNvSpPr>
          <p:nvPr/>
        </p:nvSpPr>
        <p:spPr bwMode="gray">
          <a:xfrm>
            <a:off x="5615565" y="872214"/>
            <a:ext cx="1114408" cy="369332"/>
          </a:xfrm>
          <a:prstGeom prst="rect">
            <a:avLst/>
          </a:prstGeom>
          <a:noFill/>
          <a:ln w="9525">
            <a:noFill/>
            <a:miter lim="800000"/>
          </a:ln>
          <a:effectLst/>
        </p:spPr>
        <p:txBody>
          <a:bodyPr wrap="none">
            <a:spAutoFit/>
          </a:bodyPr>
          <a:lstStyle/>
          <a:p>
            <a:pPr algn="ctr" eaLnBrk="1" latinLnBrk="1" hangingPunct="1"/>
            <a:r>
              <a:rPr lang="zh-CN" altLang="en-US" b="1" dirty="0">
                <a:solidFill>
                  <a:schemeClr val="bg1"/>
                </a:solidFill>
                <a:effectLst>
                  <a:outerShdw blurRad="38100" dist="38100" dir="2700000" algn="tl">
                    <a:srgbClr val="000000">
                      <a:alpha val="43137"/>
                    </a:srgbClr>
                  </a:outerShdw>
                </a:effectLst>
              </a:rPr>
              <a:t>第四</a:t>
            </a:r>
            <a:r>
              <a:rPr lang="zh-CN" altLang="en-US" b="1" dirty="0" smtClean="0">
                <a:solidFill>
                  <a:schemeClr val="bg1"/>
                </a:solidFill>
                <a:effectLst>
                  <a:outerShdw blurRad="38100" dist="38100" dir="2700000" algn="tl">
                    <a:srgbClr val="000000">
                      <a:alpha val="43137"/>
                    </a:srgbClr>
                  </a:outerShdw>
                </a:effectLst>
              </a:rPr>
              <a:t>阶段</a:t>
            </a:r>
            <a:endParaRPr kumimoji="1" lang="en-US" altLang="ko-KR" b="1" dirty="0">
              <a:solidFill>
                <a:schemeClr val="bg1"/>
              </a:solidFill>
              <a:effectLst>
                <a:outerShdw blurRad="38100" dist="38100" dir="2700000" algn="tl">
                  <a:srgbClr val="000000">
                    <a:alpha val="43137"/>
                  </a:srgbClr>
                </a:outerShdw>
              </a:effectLst>
              <a:latin typeface="Arial" panose="020B0604020202020204" pitchFamily="34" charset="0"/>
              <a:ea typeface="굴림" pitchFamily="50" charset="-127"/>
            </a:endParaRPr>
          </a:p>
        </p:txBody>
      </p:sp>
      <p:sp>
        <p:nvSpPr>
          <p:cNvPr id="31" name="Line 19"/>
          <p:cNvSpPr>
            <a:spLocks noChangeShapeType="1"/>
          </p:cNvSpPr>
          <p:nvPr/>
        </p:nvSpPr>
        <p:spPr bwMode="gray">
          <a:xfrm>
            <a:off x="5363473" y="4212711"/>
            <a:ext cx="2027697" cy="0"/>
          </a:xfrm>
          <a:prstGeom prst="line">
            <a:avLst/>
          </a:prstGeom>
          <a:noFill/>
          <a:ln w="28575">
            <a:solidFill>
              <a:schemeClr val="folHlink"/>
            </a:solidFill>
            <a:round/>
          </a:ln>
          <a:effectLst/>
        </p:spPr>
        <p:txBody>
          <a:bodyPr/>
          <a:lstStyle/>
          <a:p>
            <a:endParaRPr lang="zh-CN" altLang="en-US"/>
          </a:p>
        </p:txBody>
      </p:sp>
      <p:sp>
        <p:nvSpPr>
          <p:cNvPr id="32" name="Text Box 11"/>
          <p:cNvSpPr txBox="1">
            <a:spLocks noChangeArrowheads="1"/>
          </p:cNvSpPr>
          <p:nvPr/>
        </p:nvSpPr>
        <p:spPr bwMode="auto">
          <a:xfrm>
            <a:off x="5517515" y="1762760"/>
            <a:ext cx="1475105" cy="2168525"/>
          </a:xfrm>
          <a:prstGeom prst="rect">
            <a:avLst/>
          </a:prstGeom>
          <a:solidFill>
            <a:srgbClr val="002060"/>
          </a:solidFill>
          <a:ln w="9525">
            <a:noFill/>
            <a:miter lim="800000"/>
          </a:ln>
        </p:spPr>
        <p:txBody>
          <a:bodyPr wrap="square">
            <a:spAutoFit/>
          </a:bodyPr>
          <a:lstStyle/>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构件技术</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en-US" altLang="zh-CN" sz="1200" b="1" dirty="0" smtClean="0">
                <a:solidFill>
                  <a:srgbClr val="FFFFCC"/>
                </a:solidFill>
                <a:latin typeface="楷体_GB2312" pitchFamily="49" charset="-122"/>
                <a:ea typeface="楷体_GB2312" pitchFamily="49" charset="-122"/>
              </a:rPr>
              <a:t>OO</a:t>
            </a:r>
            <a:r>
              <a:rPr lang="zh-CN" altLang="en-US" sz="1200" b="1" dirty="0" smtClean="0">
                <a:solidFill>
                  <a:srgbClr val="FFFFCC"/>
                </a:solidFill>
                <a:latin typeface="楷体_GB2312" pitchFamily="49" charset="-122"/>
                <a:ea typeface="楷体_GB2312" pitchFamily="49" charset="-122"/>
              </a:rPr>
              <a:t>软件开发方法</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软件设计模式，软件体系结构技术</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开源软件</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en-US" altLang="zh-CN" sz="1200" b="1" dirty="0" smtClean="0">
                <a:solidFill>
                  <a:srgbClr val="FFFFCC"/>
                </a:solidFill>
                <a:latin typeface="楷体_GB2312" pitchFamily="49" charset="-122"/>
                <a:ea typeface="楷体_GB2312" pitchFamily="49" charset="-122"/>
              </a:rPr>
              <a:t>SW-CMM</a:t>
            </a:r>
            <a:r>
              <a:rPr lang="zh-CN" altLang="en-US" sz="1200" b="1" dirty="0" smtClean="0">
                <a:solidFill>
                  <a:srgbClr val="FFFFCC"/>
                </a:solidFill>
                <a:latin typeface="楷体_GB2312" pitchFamily="49" charset="-122"/>
                <a:ea typeface="楷体_GB2312" pitchFamily="49" charset="-122"/>
              </a:rPr>
              <a:t>逐步成熟和系列化</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人机交互技术</a:t>
            </a:r>
            <a:endParaRPr lang="zh-CN" altLang="en-US" sz="1200" b="1" dirty="0" smtClean="0">
              <a:solidFill>
                <a:srgbClr val="FFFFCC"/>
              </a:solidFill>
              <a:latin typeface="楷体_GB2312" pitchFamily="49" charset="-122"/>
              <a:ea typeface="楷体_GB2312" pitchFamily="49" charset="-122"/>
            </a:endParaRPr>
          </a:p>
        </p:txBody>
      </p:sp>
      <p:sp>
        <p:nvSpPr>
          <p:cNvPr id="36" name="Text Box 21"/>
          <p:cNvSpPr txBox="1">
            <a:spLocks noChangeArrowheads="1"/>
          </p:cNvSpPr>
          <p:nvPr/>
        </p:nvSpPr>
        <p:spPr bwMode="gray">
          <a:xfrm>
            <a:off x="5216624" y="1381183"/>
            <a:ext cx="1653540" cy="306705"/>
          </a:xfrm>
          <a:prstGeom prst="rect">
            <a:avLst/>
          </a:prstGeom>
          <a:noFill/>
          <a:ln w="9525">
            <a:noFill/>
            <a:miter lim="800000"/>
          </a:ln>
          <a:effectLst/>
        </p:spPr>
        <p:txBody>
          <a:bodyPr wrap="none">
            <a:spAutoFit/>
          </a:bodyPr>
          <a:lstStyle/>
          <a:p>
            <a:pPr>
              <a:spcBef>
                <a:spcPts val="1800"/>
              </a:spcBef>
            </a:pPr>
            <a:r>
              <a:rPr lang="zh-CN" altLang="en-US" sz="1400" b="1" dirty="0">
                <a:solidFill>
                  <a:schemeClr val="bg1"/>
                </a:solidFill>
                <a:effectLst>
                  <a:outerShdw blurRad="38100" dist="38100" dir="2700000" algn="tl">
                    <a:srgbClr val="000000">
                      <a:alpha val="43137"/>
                    </a:srgbClr>
                  </a:outerShdw>
                </a:effectLst>
              </a:rPr>
              <a:t>（</a:t>
            </a:r>
            <a:r>
              <a:rPr lang="zh-CN" altLang="en-US" sz="1400" b="1" dirty="0" smtClean="0">
                <a:solidFill>
                  <a:schemeClr val="bg1"/>
                </a:solidFill>
                <a:effectLst>
                  <a:outerShdw blurRad="38100" dist="38100" dir="2700000" algn="tl">
                    <a:srgbClr val="000000">
                      <a:alpha val="43137"/>
                    </a:srgbClr>
                  </a:outerShdw>
                </a:effectLst>
              </a:rPr>
              <a:t>20世纪</a:t>
            </a:r>
            <a:r>
              <a:rPr lang="en-US" altLang="zh-CN" sz="1400" b="1" dirty="0" smtClean="0">
                <a:solidFill>
                  <a:schemeClr val="bg1"/>
                </a:solidFill>
                <a:effectLst>
                  <a:outerShdw blurRad="38100" dist="38100" dir="2700000" algn="tl">
                    <a:srgbClr val="000000">
                      <a:alpha val="43137"/>
                    </a:srgbClr>
                  </a:outerShdw>
                </a:effectLst>
              </a:rPr>
              <a:t>9</a:t>
            </a:r>
            <a:r>
              <a:rPr lang="zh-CN" altLang="en-US" sz="1400" b="1" dirty="0" smtClean="0">
                <a:solidFill>
                  <a:schemeClr val="bg1"/>
                </a:solidFill>
                <a:effectLst>
                  <a:outerShdw blurRad="38100" dist="38100" dir="2700000" algn="tl">
                    <a:srgbClr val="000000">
                      <a:alpha val="43137"/>
                    </a:srgbClr>
                  </a:outerShdw>
                </a:effectLst>
              </a:rPr>
              <a:t>0年代）</a:t>
            </a:r>
            <a:endParaRPr lang="zh-CN" altLang="en-US" sz="1400" b="1" dirty="0">
              <a:solidFill>
                <a:schemeClr val="bg1"/>
              </a:solidFill>
              <a:effectLst>
                <a:outerShdw blurRad="38100" dist="38100" dir="2700000" algn="tl">
                  <a:srgbClr val="000000">
                    <a:alpha val="43137"/>
                  </a:srgbClr>
                </a:outerShdw>
              </a:effectLst>
            </a:endParaRPr>
          </a:p>
        </p:txBody>
      </p:sp>
      <p:sp>
        <p:nvSpPr>
          <p:cNvPr id="37" name="AutoShape 16"/>
          <p:cNvSpPr>
            <a:spLocks noChangeArrowheads="1"/>
          </p:cNvSpPr>
          <p:nvPr/>
        </p:nvSpPr>
        <p:spPr bwMode="gray">
          <a:xfrm>
            <a:off x="7184390" y="790575"/>
            <a:ext cx="1786890" cy="3655695"/>
          </a:xfrm>
          <a:prstGeom prst="roundRect">
            <a:avLst>
              <a:gd name="adj" fmla="val 11671"/>
            </a:avLst>
          </a:prstGeom>
          <a:gradFill rotWithShape="1">
            <a:gsLst>
              <a:gs pos="0">
                <a:schemeClr val="tx2"/>
              </a:gs>
              <a:gs pos="100000">
                <a:schemeClr val="accent2"/>
              </a:gs>
            </a:gsLst>
            <a:lin ang="5400000" scaled="1"/>
          </a:gradFill>
          <a:ln w="9525">
            <a:noFill/>
            <a:round/>
          </a:ln>
          <a:effectLst/>
        </p:spPr>
        <p:txBody>
          <a:bodyPr wrap="none" anchor="ctr"/>
          <a:p>
            <a:endParaRPr lang="zh-CN" altLang="en-US"/>
          </a:p>
        </p:txBody>
      </p:sp>
      <p:sp>
        <p:nvSpPr>
          <p:cNvPr id="38" name="Line 17"/>
          <p:cNvSpPr>
            <a:spLocks noChangeShapeType="1"/>
          </p:cNvSpPr>
          <p:nvPr/>
        </p:nvSpPr>
        <p:spPr bwMode="gray">
          <a:xfrm flipV="1">
            <a:off x="7179310" y="1250950"/>
            <a:ext cx="1811020" cy="18415"/>
          </a:xfrm>
          <a:prstGeom prst="line">
            <a:avLst/>
          </a:prstGeom>
          <a:noFill/>
          <a:ln w="28575">
            <a:solidFill>
              <a:schemeClr val="folHlink"/>
            </a:solidFill>
            <a:round/>
          </a:ln>
          <a:effectLst/>
        </p:spPr>
        <p:txBody>
          <a:bodyPr/>
          <a:p>
            <a:endParaRPr lang="zh-CN" altLang="en-US"/>
          </a:p>
        </p:txBody>
      </p:sp>
      <p:sp>
        <p:nvSpPr>
          <p:cNvPr id="39" name="Text Box 18"/>
          <p:cNvSpPr txBox="1">
            <a:spLocks noChangeArrowheads="1"/>
          </p:cNvSpPr>
          <p:nvPr/>
        </p:nvSpPr>
        <p:spPr bwMode="gray">
          <a:xfrm>
            <a:off x="7437689" y="865864"/>
            <a:ext cx="1102360" cy="368300"/>
          </a:xfrm>
          <a:prstGeom prst="rect">
            <a:avLst/>
          </a:prstGeom>
          <a:noFill/>
          <a:ln w="9525">
            <a:noFill/>
            <a:miter lim="800000"/>
          </a:ln>
          <a:effectLst/>
        </p:spPr>
        <p:txBody>
          <a:bodyPr wrap="none">
            <a:spAutoFit/>
          </a:bodyPr>
          <a:p>
            <a:pPr algn="ctr" eaLnBrk="1" latinLnBrk="1" hangingPunct="1"/>
            <a:r>
              <a:rPr lang="zh-CN" altLang="en-US" b="1" dirty="0">
                <a:solidFill>
                  <a:schemeClr val="bg1"/>
                </a:solidFill>
                <a:effectLst>
                  <a:outerShdw blurRad="38100" dist="38100" dir="2700000" algn="tl">
                    <a:srgbClr val="000000">
                      <a:alpha val="43137"/>
                    </a:srgbClr>
                  </a:outerShdw>
                </a:effectLst>
              </a:rPr>
              <a:t>第五</a:t>
            </a:r>
            <a:r>
              <a:rPr lang="zh-CN" altLang="en-US" b="1" dirty="0" smtClean="0">
                <a:solidFill>
                  <a:schemeClr val="bg1"/>
                </a:solidFill>
                <a:effectLst>
                  <a:outerShdw blurRad="38100" dist="38100" dir="2700000" algn="tl">
                    <a:srgbClr val="000000">
                      <a:alpha val="43137"/>
                    </a:srgbClr>
                  </a:outerShdw>
                </a:effectLst>
              </a:rPr>
              <a:t>阶段</a:t>
            </a:r>
            <a:endParaRPr kumimoji="1" lang="en-US" altLang="ko-KR" b="1" dirty="0">
              <a:solidFill>
                <a:schemeClr val="bg1"/>
              </a:solidFill>
              <a:effectLst>
                <a:outerShdw blurRad="38100" dist="38100" dir="2700000" algn="tl">
                  <a:srgbClr val="000000">
                    <a:alpha val="43137"/>
                  </a:srgbClr>
                </a:outerShdw>
              </a:effectLst>
              <a:latin typeface="Arial" panose="020B0604020202020204" pitchFamily="34" charset="0"/>
              <a:ea typeface="굴림" pitchFamily="50" charset="-127"/>
            </a:endParaRPr>
          </a:p>
        </p:txBody>
      </p:sp>
      <p:sp>
        <p:nvSpPr>
          <p:cNvPr id="40" name="Line 19"/>
          <p:cNvSpPr>
            <a:spLocks noChangeShapeType="1"/>
          </p:cNvSpPr>
          <p:nvPr/>
        </p:nvSpPr>
        <p:spPr bwMode="gray">
          <a:xfrm flipV="1">
            <a:off x="7179310" y="4200525"/>
            <a:ext cx="1816735" cy="5715"/>
          </a:xfrm>
          <a:prstGeom prst="line">
            <a:avLst/>
          </a:prstGeom>
          <a:noFill/>
          <a:ln w="28575">
            <a:solidFill>
              <a:schemeClr val="folHlink"/>
            </a:solidFill>
            <a:round/>
          </a:ln>
          <a:effectLst/>
        </p:spPr>
        <p:txBody>
          <a:bodyPr/>
          <a:p>
            <a:endParaRPr lang="zh-CN" altLang="en-US"/>
          </a:p>
        </p:txBody>
      </p:sp>
      <p:sp>
        <p:nvSpPr>
          <p:cNvPr id="41" name="Text Box 11"/>
          <p:cNvSpPr txBox="1">
            <a:spLocks noChangeArrowheads="1"/>
          </p:cNvSpPr>
          <p:nvPr/>
        </p:nvSpPr>
        <p:spPr bwMode="auto">
          <a:xfrm>
            <a:off x="7333615" y="1756410"/>
            <a:ext cx="1475105" cy="2630170"/>
          </a:xfrm>
          <a:prstGeom prst="rect">
            <a:avLst/>
          </a:prstGeom>
          <a:solidFill>
            <a:srgbClr val="002060"/>
          </a:solidFill>
          <a:ln w="9525">
            <a:noFill/>
            <a:miter lim="800000"/>
          </a:ln>
        </p:spPr>
        <p:txBody>
          <a:bodyPr wrap="square">
            <a:spAutoFit/>
          </a:bodyPr>
          <a:p>
            <a:pPr>
              <a:lnSpc>
                <a:spcPct val="125000"/>
              </a:lnSpc>
            </a:pPr>
            <a:r>
              <a:rPr lang="zh-CN" altLang="en-US" sz="1200" b="1" dirty="0" smtClean="0">
                <a:solidFill>
                  <a:srgbClr val="FFFFCC"/>
                </a:solidFill>
                <a:latin typeface="楷体_GB2312" pitchFamily="49" charset="-122"/>
                <a:ea typeface="楷体_GB2312" pitchFamily="49" charset="-122"/>
              </a:rPr>
              <a:t>前</a:t>
            </a:r>
            <a:r>
              <a:rPr lang="en-US" altLang="zh-CN" sz="1200" b="1" dirty="0" smtClean="0">
                <a:solidFill>
                  <a:srgbClr val="FFFFCC"/>
                </a:solidFill>
                <a:latin typeface="楷体_GB2312" pitchFamily="49" charset="-122"/>
                <a:ea typeface="楷体_GB2312" pitchFamily="49" charset="-122"/>
              </a:rPr>
              <a:t>10</a:t>
            </a:r>
            <a:r>
              <a:rPr lang="zh-CN" altLang="en-US" sz="1200" b="1" dirty="0" smtClean="0">
                <a:solidFill>
                  <a:srgbClr val="FFFFCC"/>
                </a:solidFill>
                <a:latin typeface="楷体_GB2312" pitchFamily="49" charset="-122"/>
                <a:ea typeface="楷体_GB2312" pitchFamily="49" charset="-122"/>
              </a:rPr>
              <a:t>年</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面向服务的软件工程</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敏捷方法</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模型驱动的开发技术</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群体化开发方法</a:t>
            </a:r>
            <a:endParaRPr lang="zh-CN" altLang="en-US" sz="1200" b="1" dirty="0" smtClean="0">
              <a:solidFill>
                <a:srgbClr val="FFFFCC"/>
              </a:solidFill>
              <a:latin typeface="楷体_GB2312" pitchFamily="49" charset="-122"/>
              <a:ea typeface="楷体_GB2312" pitchFamily="49" charset="-122"/>
            </a:endParaRPr>
          </a:p>
          <a:p>
            <a:pPr>
              <a:lnSpc>
                <a:spcPct val="125000"/>
              </a:lnSpc>
            </a:pPr>
            <a:r>
              <a:rPr lang="zh-CN" altLang="en-US" sz="1200" b="1" dirty="0" smtClean="0">
                <a:solidFill>
                  <a:srgbClr val="FFFFCC"/>
                </a:solidFill>
                <a:latin typeface="楷体_GB2312" pitchFamily="49" charset="-122"/>
                <a:ea typeface="楷体_GB2312" pitchFamily="49" charset="-122"/>
              </a:rPr>
              <a:t>近</a:t>
            </a:r>
            <a:r>
              <a:rPr lang="en-US" altLang="zh-CN" sz="1200" b="1" dirty="0" smtClean="0">
                <a:solidFill>
                  <a:srgbClr val="FFFFCC"/>
                </a:solidFill>
                <a:latin typeface="楷体_GB2312" pitchFamily="49" charset="-122"/>
                <a:ea typeface="楷体_GB2312" pitchFamily="49" charset="-122"/>
              </a:rPr>
              <a:t>10</a:t>
            </a:r>
            <a:r>
              <a:rPr lang="zh-CN" altLang="en-US" sz="1200" b="1" dirty="0" smtClean="0">
                <a:solidFill>
                  <a:srgbClr val="FFFFCC"/>
                </a:solidFill>
                <a:latin typeface="楷体_GB2312" pitchFamily="49" charset="-122"/>
                <a:ea typeface="楷体_GB2312" pitchFamily="49" charset="-122"/>
              </a:rPr>
              <a:t>年</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en-US" altLang="zh-CN" sz="1200" b="1" dirty="0" smtClean="0">
                <a:solidFill>
                  <a:srgbClr val="FFFFCC"/>
                </a:solidFill>
                <a:latin typeface="楷体_GB2312" pitchFamily="49" charset="-122"/>
                <a:ea typeface="楷体_GB2312" pitchFamily="49" charset="-122"/>
              </a:rPr>
              <a:t>DevOps</a:t>
            </a:r>
            <a:r>
              <a:rPr lang="zh-CN" altLang="en-US" sz="1200" b="1" dirty="0" smtClean="0">
                <a:solidFill>
                  <a:srgbClr val="FFFFCC"/>
                </a:solidFill>
                <a:latin typeface="楷体_GB2312" pitchFamily="49" charset="-122"/>
                <a:ea typeface="楷体_GB2312" pitchFamily="49" charset="-122"/>
              </a:rPr>
              <a:t>方法</a:t>
            </a:r>
            <a:endParaRPr lang="zh-CN" altLang="en-US" sz="1200" b="1" dirty="0" smtClean="0">
              <a:solidFill>
                <a:srgbClr val="FFFFCC"/>
              </a:solidFill>
              <a:latin typeface="楷体_GB2312" pitchFamily="49" charset="-122"/>
              <a:ea typeface="楷体_GB2312" pitchFamily="49" charset="-122"/>
            </a:endParaRPr>
          </a:p>
          <a:p>
            <a:pPr marL="171450" indent="-171450">
              <a:lnSpc>
                <a:spcPct val="125000"/>
              </a:lnSpc>
              <a:buFont typeface="Arial" panose="020B0604020202020204" pitchFamily="34" charset="0"/>
              <a:buChar char="•"/>
            </a:pPr>
            <a:r>
              <a:rPr lang="zh-CN" altLang="en-US" sz="1200" b="1" dirty="0" smtClean="0">
                <a:solidFill>
                  <a:srgbClr val="FFFFCC"/>
                </a:solidFill>
                <a:latin typeface="楷体_GB2312" pitchFamily="49" charset="-122"/>
                <a:ea typeface="楷体_GB2312" pitchFamily="49" charset="-122"/>
              </a:rPr>
              <a:t>智能化软件开发技术</a:t>
            </a:r>
            <a:endParaRPr lang="zh-CN" altLang="en-US" sz="1200" b="1" dirty="0" smtClean="0">
              <a:solidFill>
                <a:srgbClr val="FFFFCC"/>
              </a:solidFill>
              <a:latin typeface="楷体_GB2312" pitchFamily="49" charset="-122"/>
              <a:ea typeface="楷体_GB2312" pitchFamily="49" charset="-122"/>
            </a:endParaRPr>
          </a:p>
        </p:txBody>
      </p:sp>
      <p:sp>
        <p:nvSpPr>
          <p:cNvPr id="42" name="Text Box 21"/>
          <p:cNvSpPr txBox="1">
            <a:spLocks noChangeArrowheads="1"/>
          </p:cNvSpPr>
          <p:nvPr/>
        </p:nvSpPr>
        <p:spPr bwMode="gray">
          <a:xfrm>
            <a:off x="7371179" y="1374198"/>
            <a:ext cx="1097280" cy="306705"/>
          </a:xfrm>
          <a:prstGeom prst="rect">
            <a:avLst/>
          </a:prstGeom>
          <a:noFill/>
          <a:ln w="9525">
            <a:noFill/>
            <a:miter lim="800000"/>
          </a:ln>
          <a:effectLst/>
        </p:spPr>
        <p:txBody>
          <a:bodyPr wrap="none">
            <a:spAutoFit/>
          </a:bodyPr>
          <a:p>
            <a:pPr>
              <a:spcBef>
                <a:spcPts val="1800"/>
              </a:spcBef>
            </a:pPr>
            <a:r>
              <a:rPr lang="zh-CN" altLang="en-US" sz="1400" b="1" dirty="0">
                <a:solidFill>
                  <a:schemeClr val="bg1"/>
                </a:solidFill>
                <a:effectLst>
                  <a:outerShdw blurRad="38100" dist="38100" dir="2700000" algn="tl">
                    <a:srgbClr val="000000">
                      <a:alpha val="43137"/>
                    </a:srgbClr>
                  </a:outerShdw>
                </a:effectLst>
              </a:rPr>
              <a:t>（</a:t>
            </a:r>
            <a:r>
              <a:rPr lang="zh-CN" altLang="en-US" sz="1400" b="1" dirty="0" smtClean="0">
                <a:solidFill>
                  <a:schemeClr val="bg1"/>
                </a:solidFill>
                <a:effectLst>
                  <a:outerShdw blurRad="38100" dist="38100" dir="2700000" algn="tl">
                    <a:srgbClr val="000000">
                      <a:alpha val="43137"/>
                    </a:srgbClr>
                  </a:outerShdw>
                </a:effectLst>
              </a:rPr>
              <a:t>2</a:t>
            </a:r>
            <a:r>
              <a:rPr lang="en-US" altLang="zh-CN" sz="1400" b="1" dirty="0" smtClean="0">
                <a:solidFill>
                  <a:schemeClr val="bg1"/>
                </a:solidFill>
                <a:effectLst>
                  <a:outerShdw blurRad="38100" dist="38100" dir="2700000" algn="tl">
                    <a:srgbClr val="000000">
                      <a:alpha val="43137"/>
                    </a:srgbClr>
                  </a:outerShdw>
                </a:effectLst>
              </a:rPr>
              <a:t>1</a:t>
            </a:r>
            <a:r>
              <a:rPr lang="zh-CN" altLang="en-US" sz="1400" b="1" dirty="0" smtClean="0">
                <a:solidFill>
                  <a:schemeClr val="bg1"/>
                </a:solidFill>
                <a:effectLst>
                  <a:outerShdw blurRad="38100" dist="38100" dir="2700000" algn="tl">
                    <a:srgbClr val="000000">
                      <a:alpha val="43137"/>
                    </a:srgbClr>
                  </a:outerShdw>
                </a:effectLst>
              </a:rPr>
              <a:t>世纪）</a:t>
            </a:r>
            <a:endParaRPr lang="zh-CN" altLang="en-US" sz="1400" b="1" dirty="0">
              <a:solidFill>
                <a:schemeClr val="bg1"/>
              </a:solidFill>
              <a:effectLst>
                <a:outerShdw blurRad="38100" dist="38100" dir="2700000" algn="tl">
                  <a:srgbClr val="000000">
                    <a:alpha val="43137"/>
                  </a:srgbClr>
                </a:outerShdw>
              </a:effectLst>
            </a:endParaRPr>
          </a:p>
        </p:txBody>
      </p:sp>
      <p:sp>
        <p:nvSpPr>
          <p:cNvPr id="62" name="圆角矩形标注 61"/>
          <p:cNvSpPr/>
          <p:nvPr/>
        </p:nvSpPr>
        <p:spPr>
          <a:xfrm>
            <a:off x="200398" y="3844442"/>
            <a:ext cx="8534400" cy="742950"/>
          </a:xfrm>
          <a:prstGeom prst="wedgeRoundRectCallout">
            <a:avLst>
              <a:gd name="adj1" fmla="val -41098"/>
              <a:gd name="adj2" fmla="val -76772"/>
              <a:gd name="adj3" fmla="val 16667"/>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anchor="ctr"/>
          <a:p>
            <a:pPr eaLnBrk="0" hangingPunct="0">
              <a:defRPr/>
            </a:pPr>
            <a:r>
              <a:rPr lang="en-US" altLang="zh-CN" sz="2400" b="1" dirty="0">
                <a:solidFill>
                  <a:schemeClr val="tx1"/>
                </a:solidFill>
              </a:rPr>
              <a:t> 1968</a:t>
            </a:r>
            <a:r>
              <a:rPr lang="zh-CN" altLang="en-US" sz="2400" b="1" dirty="0">
                <a:solidFill>
                  <a:schemeClr val="tx1"/>
                </a:solidFill>
              </a:rPr>
              <a:t>年</a:t>
            </a:r>
            <a:r>
              <a:rPr lang="en-US" altLang="zh-CN" sz="2400" b="1" dirty="0">
                <a:solidFill>
                  <a:schemeClr val="tx1"/>
                </a:solidFill>
              </a:rPr>
              <a:t>10</a:t>
            </a:r>
            <a:r>
              <a:rPr lang="zh-CN" altLang="en-US" sz="2400" b="1" dirty="0">
                <a:solidFill>
                  <a:schemeClr val="tx1"/>
                </a:solidFill>
              </a:rPr>
              <a:t>月，北大西洋公约组织（</a:t>
            </a:r>
            <a:r>
              <a:rPr lang="en-US" altLang="zh-CN" sz="2400" b="1" dirty="0">
                <a:solidFill>
                  <a:schemeClr val="tx1"/>
                </a:solidFill>
              </a:rPr>
              <a:t>NATO</a:t>
            </a:r>
            <a:r>
              <a:rPr lang="zh-CN" altLang="en-US" sz="2400" b="1" dirty="0">
                <a:solidFill>
                  <a:schemeClr val="tx1"/>
                </a:solidFill>
              </a:rPr>
              <a:t>）的科学家在德国召开的学术会议上正式提出了</a:t>
            </a:r>
            <a:r>
              <a:rPr lang="zh-CN" altLang="en-US" sz="2400" b="1" dirty="0">
                <a:solidFill>
                  <a:srgbClr val="FF0000"/>
                </a:solidFill>
              </a:rPr>
              <a:t>软件危机</a:t>
            </a:r>
            <a:r>
              <a:rPr lang="zh-CN" altLang="en-US" sz="2400" b="1" dirty="0">
                <a:solidFill>
                  <a:schemeClr val="tx1"/>
                </a:solidFill>
              </a:rPr>
              <a:t>问题。</a:t>
            </a:r>
            <a:endParaRPr lang="zh-CN" altLang="en-US"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2"/>
                                        </p:tgtEl>
                                        <p:attrNameLst>
                                          <p:attrName>style.visibility</p:attrName>
                                        </p:attrNameLst>
                                      </p:cBhvr>
                                      <p:to>
                                        <p:strVal val="visible"/>
                                      </p:to>
                                    </p:set>
                                    <p:anim calcmode="lin" valueType="num">
                                      <p:cBhvr additive="base">
                                        <p:cTn id="27" dur="500" fill="hold"/>
                                        <p:tgtEl>
                                          <p:spTgt spid="62"/>
                                        </p:tgtEl>
                                        <p:attrNameLst>
                                          <p:attrName>ppt_x</p:attrName>
                                        </p:attrNameLst>
                                      </p:cBhvr>
                                      <p:tavLst>
                                        <p:tav tm="0">
                                          <p:val>
                                            <p:strVal val="#ppt_x"/>
                                          </p:val>
                                        </p:tav>
                                        <p:tav tm="100000">
                                          <p:val>
                                            <p:strVal val="#ppt_x"/>
                                          </p:val>
                                        </p:tav>
                                      </p:tavLst>
                                    </p:anim>
                                    <p:anim calcmode="lin" valueType="num">
                                      <p:cBhvr additive="base">
                                        <p:cTn id="2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autoUpdateAnimBg="0"/>
      <p:bldP spid="25" grpId="0" bldLvl="0" animBg="1" autoUpdateAnimBg="0"/>
      <p:bldP spid="26" grpId="0" bldLvl="0" animBg="1" autoUpdateAnimBg="0"/>
      <p:bldP spid="32" grpId="0" bldLvl="0" animBg="1" autoUpdateAnimBg="0"/>
      <p:bldP spid="41" grpId="0" bldLvl="0" animBg="1" autoUpdateAnimBg="0"/>
      <p:bldP spid="62"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软件工程发展的特点</a:t>
            </a:r>
            <a:endParaRPr lang="zh-CN" altLang="en-US"/>
          </a:p>
        </p:txBody>
      </p:sp>
      <p:sp>
        <p:nvSpPr>
          <p:cNvPr id="3" name="内容占位符 2"/>
          <p:cNvSpPr>
            <a:spLocks noGrp="1"/>
          </p:cNvSpPr>
          <p:nvPr>
            <p:ph idx="1"/>
          </p:nvPr>
        </p:nvSpPr>
        <p:spPr/>
        <p:txBody>
          <a:bodyPr>
            <a:noAutofit/>
          </a:bodyPr>
          <a:p>
            <a:r>
              <a:rPr lang="en-US" altLang="zh-CN" sz="2000">
                <a:solidFill>
                  <a:srgbClr val="0070C0"/>
                </a:solidFill>
              </a:rPr>
              <a:t>20</a:t>
            </a:r>
            <a:r>
              <a:rPr lang="zh-CN" altLang="en-US" sz="2000">
                <a:solidFill>
                  <a:srgbClr val="0070C0"/>
                </a:solidFill>
              </a:rPr>
              <a:t>世纪</a:t>
            </a:r>
            <a:r>
              <a:rPr lang="en-US" altLang="zh-CN" sz="2000">
                <a:solidFill>
                  <a:srgbClr val="0070C0"/>
                </a:solidFill>
              </a:rPr>
              <a:t>60-80</a:t>
            </a:r>
            <a:r>
              <a:rPr lang="zh-CN" altLang="en-US" sz="2000">
                <a:solidFill>
                  <a:srgbClr val="0070C0"/>
                </a:solidFill>
              </a:rPr>
              <a:t>年代初</a:t>
            </a:r>
            <a:r>
              <a:rPr lang="zh-CN" altLang="en-US" sz="2000"/>
              <a:t>，软件主要服务于军事和商业应用，提供科学和工程计算，商业事务处理，设备和系统的控制等。软件工程主要关注软件的结构复杂性问题。</a:t>
            </a:r>
            <a:endParaRPr lang="zh-CN" altLang="en-US" sz="2000"/>
          </a:p>
          <a:p>
            <a:r>
              <a:rPr lang="en-US" altLang="zh-CN" sz="2000">
                <a:solidFill>
                  <a:srgbClr val="0070C0"/>
                </a:solidFill>
              </a:rPr>
              <a:t>20</a:t>
            </a:r>
            <a:r>
              <a:rPr lang="zh-CN" altLang="en-US" sz="2000">
                <a:solidFill>
                  <a:srgbClr val="0070C0"/>
                </a:solidFill>
              </a:rPr>
              <a:t>世纪</a:t>
            </a:r>
            <a:r>
              <a:rPr lang="en-US" altLang="zh-CN" sz="2000">
                <a:solidFill>
                  <a:srgbClr val="0070C0"/>
                </a:solidFill>
              </a:rPr>
              <a:t>80</a:t>
            </a:r>
            <a:r>
              <a:rPr lang="zh-CN" altLang="en-US" sz="2000">
                <a:solidFill>
                  <a:srgbClr val="0070C0"/>
                </a:solidFill>
              </a:rPr>
              <a:t>年的中期</a:t>
            </a:r>
            <a:r>
              <a:rPr lang="en-US" altLang="zh-CN" sz="2000">
                <a:solidFill>
                  <a:srgbClr val="0070C0"/>
                </a:solidFill>
              </a:rPr>
              <a:t>-90</a:t>
            </a:r>
            <a:r>
              <a:rPr lang="zh-CN" altLang="en-US" sz="2000">
                <a:solidFill>
                  <a:srgbClr val="0070C0"/>
                </a:solidFill>
              </a:rPr>
              <a:t>年代</a:t>
            </a:r>
            <a:r>
              <a:rPr lang="zh-CN" altLang="en-US" sz="2000"/>
              <a:t>，软件服务于个人计算和网络计算（个人计算机和局域网出现），软件工程主要关注于交互复杂性问题。</a:t>
            </a:r>
            <a:endParaRPr lang="zh-CN" altLang="en-US" sz="2000"/>
          </a:p>
          <a:p>
            <a:r>
              <a:rPr lang="en-US" altLang="zh-CN" sz="2000">
                <a:solidFill>
                  <a:srgbClr val="0070C0"/>
                </a:solidFill>
              </a:rPr>
              <a:t>21</a:t>
            </a:r>
            <a:r>
              <a:rPr lang="zh-CN" altLang="en-US" sz="2000">
                <a:solidFill>
                  <a:srgbClr val="0070C0"/>
                </a:solidFill>
              </a:rPr>
              <a:t>世纪</a:t>
            </a:r>
            <a:r>
              <a:rPr lang="zh-CN" altLang="en-US" sz="2000"/>
              <a:t>，软件系统部署在动态、难控和不确定的互联网（互联网的应用普及）。软件工程关注于软件与环境的持续交互、快速反应等。</a:t>
            </a:r>
            <a:endParaRPr lang="zh-CN" altLang="en-US" sz="2000"/>
          </a:p>
          <a:p>
            <a:r>
              <a:rPr lang="en-US" altLang="zh-CN" sz="2000">
                <a:solidFill>
                  <a:srgbClr val="0070C0"/>
                </a:solidFill>
              </a:rPr>
              <a:t>2010</a:t>
            </a:r>
            <a:r>
              <a:rPr lang="zh-CN" altLang="en-US" sz="2000">
                <a:solidFill>
                  <a:srgbClr val="0070C0"/>
                </a:solidFill>
              </a:rPr>
              <a:t>年以来</a:t>
            </a:r>
            <a:r>
              <a:rPr lang="zh-CN" altLang="en-US" sz="2000"/>
              <a:t>，软件工程主要关注软件的社会技术复杂性问题。</a:t>
            </a:r>
            <a:endParaRPr lang="zh-CN" altLang="en-US" sz="2000"/>
          </a:p>
        </p:txBody>
      </p:sp>
      <p:sp>
        <p:nvSpPr>
          <p:cNvPr id="4" name="日期占位符 3"/>
          <p:cNvSpPr>
            <a:spLocks noGrp="1"/>
          </p:cNvSpPr>
          <p:nvPr>
            <p:ph type="dt" sz="half" idx="10"/>
          </p:nvPr>
        </p:nvSpPr>
        <p:spPr/>
        <p:txBody>
          <a:bodyPr/>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软件工程发展的特点</a:t>
            </a:r>
            <a:endParaRPr lang="zh-CN" altLang="en-US"/>
          </a:p>
        </p:txBody>
      </p:sp>
      <p:sp>
        <p:nvSpPr>
          <p:cNvPr id="3" name="内容占位符 2"/>
          <p:cNvSpPr>
            <a:spLocks noGrp="1"/>
          </p:cNvSpPr>
          <p:nvPr>
            <p:ph idx="1"/>
          </p:nvPr>
        </p:nvSpPr>
        <p:spPr/>
        <p:txBody>
          <a:bodyPr/>
          <a:p>
            <a:r>
              <a:rPr lang="zh-CN" altLang="en-US" sz="2400"/>
              <a:t>软件工程技术进步的特点</a:t>
            </a:r>
            <a:endParaRPr lang="zh-CN" altLang="en-US" sz="2400"/>
          </a:p>
          <a:p>
            <a:pPr lvl="1"/>
            <a:r>
              <a:rPr lang="zh-CN" altLang="en-US" sz="2000"/>
              <a:t>软件抽象层次越来越高</a:t>
            </a:r>
            <a:endParaRPr lang="zh-CN" altLang="en-US" sz="2000"/>
          </a:p>
          <a:p>
            <a:pPr lvl="1"/>
            <a:r>
              <a:rPr lang="zh-CN" altLang="en-US" sz="2000"/>
              <a:t>软件重用的粒度越来越大</a:t>
            </a:r>
            <a:endParaRPr lang="zh-CN" altLang="en-US" sz="2000"/>
          </a:p>
          <a:p>
            <a:r>
              <a:rPr lang="zh-CN" altLang="en-US" sz="2400"/>
              <a:t>软件开发理念的变化</a:t>
            </a:r>
            <a:endParaRPr lang="zh-CN" altLang="en-US" sz="2400"/>
          </a:p>
          <a:p>
            <a:pPr lvl="1"/>
            <a:r>
              <a:rPr lang="zh-CN" altLang="en-US" sz="2000"/>
              <a:t>以文档和代码为中心</a:t>
            </a:r>
            <a:endParaRPr lang="zh-CN" altLang="en-US" sz="2000"/>
          </a:p>
          <a:p>
            <a:pPr lvl="1"/>
            <a:r>
              <a:rPr lang="zh-CN" altLang="en-US" sz="2000"/>
              <a:t>从个体、团队到群体的开发</a:t>
            </a:r>
            <a:endParaRPr lang="zh-CN" altLang="en-US" sz="2000"/>
          </a:p>
          <a:p>
            <a:pPr lvl="1"/>
            <a:r>
              <a:rPr lang="zh-CN" altLang="en-US" sz="2000"/>
              <a:t>从还原论到演化论</a:t>
            </a:r>
            <a:endParaRPr lang="zh-CN" altLang="en-US" sz="2000"/>
          </a:p>
        </p:txBody>
      </p:sp>
      <p:sp>
        <p:nvSpPr>
          <p:cNvPr id="4" name="日期占位符 3"/>
          <p:cNvSpPr>
            <a:spLocks noGrp="1"/>
          </p:cNvSpPr>
          <p:nvPr>
            <p:ph type="dt" sz="half" idx="10"/>
          </p:nvPr>
        </p:nvSpPr>
        <p:spPr/>
        <p:txBody>
          <a:bodyPr/>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1.2 </a:t>
            </a:r>
            <a:r>
              <a:rPr lang="zh-CN" altLang="en-US" dirty="0" smtClean="0"/>
              <a:t>软件危机的概念</a:t>
            </a:r>
            <a:endParaRPr lang="zh-CN" altLang="en-US" dirty="0"/>
          </a:p>
        </p:txBody>
      </p:sp>
      <p:sp>
        <p:nvSpPr>
          <p:cNvPr id="3" name="内容占位符 2"/>
          <p:cNvSpPr>
            <a:spLocks noGrp="1"/>
          </p:cNvSpPr>
          <p:nvPr>
            <p:ph idx="1"/>
          </p:nvPr>
        </p:nvSpPr>
        <p:spPr>
          <a:xfrm>
            <a:off x="768097" y="1064711"/>
            <a:ext cx="7832833" cy="3667309"/>
          </a:xfrm>
        </p:spPr>
        <p:txBody>
          <a:bodyPr/>
          <a:lstStyle/>
          <a:p>
            <a:r>
              <a:rPr lang="zh-CN" altLang="en-US" dirty="0" smtClean="0"/>
              <a:t>什么是软件危机？</a:t>
            </a:r>
            <a:endParaRPr lang="zh-CN" altLang="en-US" dirty="0"/>
          </a:p>
        </p:txBody>
      </p:sp>
      <p:sp>
        <p:nvSpPr>
          <p:cNvPr id="4" name="日期占位符 3"/>
          <p:cNvSpPr>
            <a:spLocks noGrp="1"/>
          </p:cNvSpPr>
          <p:nvPr>
            <p:ph type="dt" sz="half" idx="10"/>
          </p:nvPr>
        </p:nvSpPr>
        <p:spPr/>
        <p:txBody>
          <a:bodyPr/>
          <a:lstStyle/>
          <a:p>
            <a:fld id="{9CE59971-ED2D-4B47-91CC-090B55BC3ADB}" type="datetime1">
              <a:rPr lang="zh-CN" altLang="en-US" sz="1600" smtClean="0"/>
            </a:fld>
            <a:endParaRPr lang="zh-CN" altLang="en-US" sz="1600" dirty="0"/>
          </a:p>
        </p:txBody>
      </p:sp>
      <p:sp>
        <p:nvSpPr>
          <p:cNvPr id="5" name="页脚占位符 4"/>
          <p:cNvSpPr>
            <a:spLocks noGrp="1"/>
          </p:cNvSpPr>
          <p:nvPr>
            <p:ph type="ftr" sz="quarter" idx="11"/>
          </p:nvPr>
        </p:nvSpPr>
        <p:spPr/>
        <p:txBody>
          <a:bodyPr/>
          <a:lstStyle/>
          <a:p>
            <a:r>
              <a:rPr lang="zh-CN" altLang="en-US" sz="1600" dirty="0" smtClean="0"/>
              <a:t>软件工程</a:t>
            </a:r>
            <a:endParaRPr lang="zh-CN" altLang="en-US" sz="1600" dirty="0"/>
          </a:p>
        </p:txBody>
      </p:sp>
      <p:sp>
        <p:nvSpPr>
          <p:cNvPr id="6" name="灯片编号占位符 5"/>
          <p:cNvSpPr>
            <a:spLocks noGrp="1"/>
          </p:cNvSpPr>
          <p:nvPr>
            <p:ph type="sldNum" sz="quarter" idx="12"/>
          </p:nvPr>
        </p:nvSpPr>
        <p:spPr/>
        <p:txBody>
          <a:bodyPr/>
          <a:lstStyle/>
          <a:p>
            <a:fld id="{F528F39D-B5E5-4CA7-906C-979D5A62978D}" type="slidenum">
              <a:rPr lang="zh-CN" altLang="en-US" sz="1600" smtClean="0"/>
            </a:fld>
            <a:endParaRPr lang="zh-CN" altLang="en-US" sz="1600"/>
          </a:p>
        </p:txBody>
      </p:sp>
      <p:sp>
        <p:nvSpPr>
          <p:cNvPr id="7" name="圆角矩形 6"/>
          <p:cNvSpPr/>
          <p:nvPr/>
        </p:nvSpPr>
        <p:spPr>
          <a:xfrm>
            <a:off x="398044" y="1859231"/>
            <a:ext cx="2783566" cy="1810895"/>
          </a:xfrm>
          <a:prstGeom prst="roundRect">
            <a:avLst/>
          </a:prstGeom>
        </p:spPr>
        <p:style>
          <a:lnRef idx="2">
            <a:schemeClr val="accent2"/>
          </a:lnRef>
          <a:fillRef idx="1">
            <a:schemeClr val="lt1"/>
          </a:fillRef>
          <a:effectRef idx="0">
            <a:schemeClr val="accent2"/>
          </a:effectRef>
          <a:fontRef idx="minor">
            <a:schemeClr val="dk1"/>
          </a:fontRef>
        </p:style>
        <p:txBody>
          <a:bodyPr anchor="ctr"/>
          <a:lstStyle/>
          <a:p>
            <a:pPr lvl="0" indent="457200">
              <a:defRPr/>
            </a:pPr>
            <a:r>
              <a:rPr lang="zh-CN" altLang="en-US" sz="2400">
                <a:solidFill>
                  <a:prstClr val="black"/>
                </a:solidFill>
                <a:latin typeface="微软雅黑" panose="020B0503020204020204" pitchFamily="34" charset="-122"/>
                <a:ea typeface="微软雅黑" panose="020B0503020204020204" pitchFamily="34" charset="-122"/>
              </a:rPr>
              <a:t>在计算机软件的开发和维护过程中所遇到的一系列严重问题。</a:t>
            </a:r>
            <a:endParaRPr lang="zh-CN" altLang="en-US" sz="2400" dirty="0">
              <a:solidFill>
                <a:prstClr val="black"/>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3407078" y="1704628"/>
            <a:ext cx="5563905" cy="256388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软件危机的典型表现</a:t>
            </a:r>
            <a:endParaRPr lang="zh-CN" altLang="en-US" dirty="0"/>
          </a:p>
        </p:txBody>
      </p:sp>
      <p:sp>
        <p:nvSpPr>
          <p:cNvPr id="3" name="内容占位符 2"/>
          <p:cNvSpPr>
            <a:spLocks noGrp="1"/>
          </p:cNvSpPr>
          <p:nvPr>
            <p:ph idx="1"/>
          </p:nvPr>
        </p:nvSpPr>
        <p:spPr>
          <a:xfrm>
            <a:off x="768096" y="964504"/>
            <a:ext cx="8090153" cy="3888523"/>
          </a:xfrm>
        </p:spPr>
        <p:txBody>
          <a:bodyPr>
            <a:noAutofit/>
          </a:bodyPr>
          <a:lstStyle/>
          <a:p>
            <a:pPr marL="504190" indent="-504190" fontAlgn="auto">
              <a:lnSpc>
                <a:spcPct val="100000"/>
              </a:lnSpc>
              <a:spcBef>
                <a:spcPts val="600"/>
              </a:spcBef>
              <a:spcAft>
                <a:spcPts val="0"/>
              </a:spcAft>
              <a:buFont typeface="+mj-lt"/>
              <a:buAutoNum type="arabicPeriod"/>
            </a:pPr>
            <a:r>
              <a:rPr lang="zh-CN" altLang="en-US" sz="2400" dirty="0">
                <a:latin typeface="+mn-ea"/>
              </a:rPr>
              <a:t>软件开发成本估计不准</a:t>
            </a:r>
            <a:r>
              <a:rPr lang="en-US" altLang="zh-CN" sz="2400" dirty="0">
                <a:latin typeface="+mn-ea"/>
              </a:rPr>
              <a:t>,</a:t>
            </a:r>
            <a:r>
              <a:rPr lang="zh-CN" altLang="en-US" sz="2400" dirty="0">
                <a:latin typeface="+mn-ea"/>
              </a:rPr>
              <a:t>开发成本超出预算</a:t>
            </a:r>
            <a:endParaRPr lang="zh-CN" altLang="en-US" sz="2400" dirty="0">
              <a:latin typeface="+mn-ea"/>
            </a:endParaRPr>
          </a:p>
          <a:p>
            <a:pPr marL="504190" indent="-504190" fontAlgn="auto">
              <a:lnSpc>
                <a:spcPct val="100000"/>
              </a:lnSpc>
              <a:spcBef>
                <a:spcPts val="600"/>
              </a:spcBef>
              <a:spcAft>
                <a:spcPts val="0"/>
              </a:spcAft>
              <a:buFont typeface="+mj-lt"/>
              <a:buAutoNum type="arabicPeriod"/>
            </a:pPr>
            <a:r>
              <a:rPr lang="zh-CN" altLang="en-US" sz="2400" dirty="0">
                <a:latin typeface="+mn-ea"/>
              </a:rPr>
              <a:t>开发进度不能保证</a:t>
            </a:r>
            <a:r>
              <a:rPr lang="en-US" altLang="zh-CN" sz="2400" dirty="0">
                <a:latin typeface="+mn-ea"/>
              </a:rPr>
              <a:t>,</a:t>
            </a:r>
            <a:r>
              <a:rPr lang="zh-CN" altLang="en-US" sz="2400" dirty="0">
                <a:latin typeface="+mn-ea"/>
              </a:rPr>
              <a:t>交付时间一再拖延</a:t>
            </a:r>
            <a:endParaRPr lang="zh-CN" altLang="en-US" sz="2400" dirty="0">
              <a:latin typeface="+mn-ea"/>
            </a:endParaRPr>
          </a:p>
          <a:p>
            <a:pPr marL="504190" indent="-504190" fontAlgn="auto">
              <a:lnSpc>
                <a:spcPct val="100000"/>
              </a:lnSpc>
              <a:spcBef>
                <a:spcPts val="600"/>
              </a:spcBef>
              <a:spcAft>
                <a:spcPts val="0"/>
              </a:spcAft>
              <a:buFont typeface="+mj-lt"/>
              <a:buAutoNum type="arabicPeriod"/>
            </a:pPr>
            <a:r>
              <a:rPr lang="zh-CN" altLang="en-US" sz="2400" dirty="0">
                <a:latin typeface="+mn-ea"/>
              </a:rPr>
              <a:t>开发出来的产品不符合用户的需求</a:t>
            </a:r>
            <a:endParaRPr lang="zh-CN" altLang="en-US" sz="2400" dirty="0">
              <a:latin typeface="+mn-ea"/>
            </a:endParaRPr>
          </a:p>
          <a:p>
            <a:pPr marL="504190" indent="-504190" fontAlgn="auto">
              <a:lnSpc>
                <a:spcPct val="100000"/>
              </a:lnSpc>
              <a:spcBef>
                <a:spcPts val="600"/>
              </a:spcBef>
              <a:spcAft>
                <a:spcPts val="0"/>
              </a:spcAft>
              <a:buFont typeface="+mj-lt"/>
              <a:buAutoNum type="arabicPeriod"/>
            </a:pPr>
            <a:r>
              <a:rPr lang="zh-CN" altLang="en-US" sz="2400" dirty="0" smtClean="0">
                <a:latin typeface="+mn-ea"/>
              </a:rPr>
              <a:t>软件产品</a:t>
            </a:r>
            <a:r>
              <a:rPr lang="zh-CN" altLang="en-US" sz="2400" dirty="0">
                <a:latin typeface="+mn-ea"/>
              </a:rPr>
              <a:t>的</a:t>
            </a:r>
            <a:r>
              <a:rPr lang="zh-CN" altLang="en-US" sz="2400" dirty="0" smtClean="0">
                <a:latin typeface="+mn-ea"/>
              </a:rPr>
              <a:t>质量无法保证</a:t>
            </a:r>
            <a:endParaRPr lang="en-US" altLang="zh-CN" sz="2400" dirty="0" smtClean="0">
              <a:latin typeface="+mn-ea"/>
            </a:endParaRPr>
          </a:p>
          <a:p>
            <a:pPr marL="504190" indent="-504190" fontAlgn="auto">
              <a:lnSpc>
                <a:spcPct val="100000"/>
              </a:lnSpc>
              <a:spcBef>
                <a:spcPts val="600"/>
              </a:spcBef>
              <a:spcAft>
                <a:spcPts val="0"/>
              </a:spcAft>
              <a:buFont typeface="+mj-lt"/>
              <a:buAutoNum type="arabicPeriod"/>
            </a:pPr>
            <a:r>
              <a:rPr lang="zh-CN" altLang="en-US" sz="2400" dirty="0" smtClean="0">
                <a:latin typeface="+mn-ea"/>
              </a:rPr>
              <a:t>软件</a:t>
            </a:r>
            <a:r>
              <a:rPr lang="zh-CN" altLang="en-US" sz="2400" dirty="0">
                <a:latin typeface="+mn-ea"/>
              </a:rPr>
              <a:t>常常是不可维护</a:t>
            </a:r>
            <a:r>
              <a:rPr lang="zh-CN" altLang="en-US" sz="2400" dirty="0" smtClean="0">
                <a:latin typeface="+mn-ea"/>
              </a:rPr>
              <a:t>的</a:t>
            </a:r>
            <a:endParaRPr lang="zh-CN" altLang="en-US" sz="2400" dirty="0">
              <a:latin typeface="+mn-ea"/>
            </a:endParaRPr>
          </a:p>
          <a:p>
            <a:pPr marL="504190" indent="-504190" fontAlgn="auto">
              <a:lnSpc>
                <a:spcPct val="100000"/>
              </a:lnSpc>
              <a:spcBef>
                <a:spcPts val="600"/>
              </a:spcBef>
              <a:spcAft>
                <a:spcPts val="0"/>
              </a:spcAft>
              <a:buFont typeface="+mj-lt"/>
              <a:buAutoNum type="arabicPeriod"/>
            </a:pPr>
            <a:r>
              <a:rPr lang="zh-CN" altLang="zh-CN" sz="2400" dirty="0">
                <a:latin typeface="+mn-ea"/>
              </a:rPr>
              <a:t>软件通常没有适当的文档</a:t>
            </a:r>
            <a:r>
              <a:rPr lang="zh-CN" altLang="zh-CN" sz="2400" dirty="0" smtClean="0">
                <a:latin typeface="+mn-ea"/>
              </a:rPr>
              <a:t>资料</a:t>
            </a:r>
            <a:endParaRPr lang="zh-CN" altLang="en-US" sz="2400" dirty="0">
              <a:latin typeface="+mn-ea"/>
            </a:endParaRPr>
          </a:p>
          <a:p>
            <a:pPr marL="504190" indent="-504190" fontAlgn="auto">
              <a:lnSpc>
                <a:spcPct val="100000"/>
              </a:lnSpc>
              <a:spcBef>
                <a:spcPts val="600"/>
              </a:spcBef>
              <a:spcAft>
                <a:spcPts val="0"/>
              </a:spcAft>
              <a:buFont typeface="+mj-lt"/>
              <a:buAutoNum type="arabicPeriod"/>
            </a:pPr>
            <a:r>
              <a:rPr lang="zh-CN" altLang="zh-CN" sz="2400" dirty="0" smtClean="0">
                <a:latin typeface="+mn-ea"/>
              </a:rPr>
              <a:t>软件开发</a:t>
            </a:r>
            <a:r>
              <a:rPr lang="zh-CN" altLang="zh-CN" sz="2400" dirty="0">
                <a:latin typeface="+mn-ea"/>
              </a:rPr>
              <a:t>生产率提高的速度，远远跟不上计算机应用迅速普及深入的趋势</a:t>
            </a:r>
            <a:r>
              <a:rPr lang="zh-CN" altLang="en-US" sz="2400" dirty="0" smtClean="0">
                <a:latin typeface="+mn-ea"/>
              </a:rPr>
              <a:t>。</a:t>
            </a:r>
            <a:endParaRPr lang="en-US" altLang="zh-CN" sz="2400" dirty="0">
              <a:latin typeface="+mn-ea"/>
            </a:endParaRPr>
          </a:p>
        </p:txBody>
      </p:sp>
      <p:sp>
        <p:nvSpPr>
          <p:cNvPr id="4" name="日期占位符 3"/>
          <p:cNvSpPr>
            <a:spLocks noGrp="1"/>
          </p:cNvSpPr>
          <p:nvPr>
            <p:ph type="dt" sz="half" idx="10"/>
          </p:nvPr>
        </p:nvSpPr>
        <p:spPr/>
        <p:txBody>
          <a:bodyPr/>
          <a:lstStyle/>
          <a:p>
            <a:fld id="{1598FD55-CA12-433D-AD13-039402DA1F99}" type="datetime1">
              <a:rPr lang="zh-CN" altLang="en-US" sz="1600" smtClean="0"/>
            </a:fld>
            <a:endParaRPr lang="zh-CN" altLang="en-US" sz="1600" dirty="0"/>
          </a:p>
        </p:txBody>
      </p:sp>
      <p:sp>
        <p:nvSpPr>
          <p:cNvPr id="5" name="页脚占位符 4"/>
          <p:cNvSpPr>
            <a:spLocks noGrp="1"/>
          </p:cNvSpPr>
          <p:nvPr>
            <p:ph type="ftr" sz="quarter" idx="11"/>
          </p:nvPr>
        </p:nvSpPr>
        <p:spPr/>
        <p:txBody>
          <a:bodyPr/>
          <a:lstStyle/>
          <a:p>
            <a:r>
              <a:rPr lang="zh-CN" altLang="en-US" sz="1600" dirty="0" smtClean="0"/>
              <a:t>软件工程</a:t>
            </a:r>
            <a:endParaRPr lang="zh-CN" altLang="en-US" sz="1600" dirty="0"/>
          </a:p>
        </p:txBody>
      </p:sp>
      <p:sp>
        <p:nvSpPr>
          <p:cNvPr id="6" name="灯片编号占位符 5"/>
          <p:cNvSpPr>
            <a:spLocks noGrp="1"/>
          </p:cNvSpPr>
          <p:nvPr>
            <p:ph type="sldNum" sz="quarter" idx="12"/>
          </p:nvPr>
        </p:nvSpPr>
        <p:spPr/>
        <p:txBody>
          <a:bodyPr/>
          <a:lstStyle/>
          <a:p>
            <a:fld id="{F528F39D-B5E5-4CA7-906C-979D5A62978D}" type="slidenum">
              <a:rPr lang="zh-CN" altLang="en-US" sz="1600" smtClean="0"/>
            </a:fld>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美国</a:t>
            </a:r>
            <a:r>
              <a:rPr lang="en-US" altLang="zh-CN" dirty="0" smtClean="0"/>
              <a:t>Standish</a:t>
            </a:r>
            <a:r>
              <a:rPr lang="zh-CN" altLang="en-US" dirty="0" smtClean="0"/>
              <a:t>集团的调查报告</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0597" y="856797"/>
            <a:ext cx="8790399" cy="357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6" name="picture 316"/>
          <p:cNvPicPr>
            <a:picLocks noChangeAspect="1"/>
          </p:cNvPicPr>
          <p:nvPr/>
        </p:nvPicPr>
        <p:blipFill>
          <a:blip r:embed="rId1"/>
          <a:stretch>
            <a:fillRect/>
          </a:stretch>
        </p:blipFill>
        <p:spPr>
          <a:xfrm rot="21600000">
            <a:off x="371039" y="1757939"/>
            <a:ext cx="8392550" cy="3175584"/>
          </a:xfrm>
          <a:prstGeom prst="rect">
            <a:avLst/>
          </a:prstGeom>
        </p:spPr>
      </p:pic>
      <p:pic>
        <p:nvPicPr>
          <p:cNvPr id="318" name="picture 318"/>
          <p:cNvPicPr>
            <a:picLocks noChangeAspect="1"/>
          </p:cNvPicPr>
          <p:nvPr/>
        </p:nvPicPr>
        <p:blipFill>
          <a:blip r:embed="rId2"/>
          <a:stretch>
            <a:fillRect/>
          </a:stretch>
        </p:blipFill>
        <p:spPr>
          <a:xfrm rot="21600000">
            <a:off x="371475" y="1532762"/>
            <a:ext cx="8204358" cy="3123076"/>
          </a:xfrm>
          <a:prstGeom prst="rect">
            <a:avLst/>
          </a:prstGeom>
        </p:spPr>
      </p:pic>
      <p:sp>
        <p:nvSpPr>
          <p:cNvPr id="320" name="textbox 320"/>
          <p:cNvSpPr/>
          <p:nvPr/>
        </p:nvSpPr>
        <p:spPr>
          <a:xfrm>
            <a:off x="442303" y="1693888"/>
            <a:ext cx="8071961" cy="2643663"/>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925830" algn="l" rtl="0" eaLnBrk="0">
              <a:lnSpc>
                <a:spcPct val="92000"/>
              </a:lnSpc>
            </a:pPr>
            <a:r>
              <a:rPr sz="1725" kern="0" spc="9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美国发射的火星气候探测器因导航系统单位不同而被毁（</a:t>
            </a:r>
            <a:r>
              <a:rPr sz="1725" kern="0" spc="90" dirty="0">
                <a:solidFill>
                  <a:srgbClr val="FFFFFF">
                    <a:alpha val="100000"/>
                  </a:srgbClr>
                </a:solidFill>
                <a:latin typeface="Arial" panose="020B0604020202020204"/>
                <a:ea typeface="Arial" panose="020B0604020202020204"/>
                <a:cs typeface="Arial" panose="020B0604020202020204"/>
              </a:rPr>
              <a:t>1998</a:t>
            </a:r>
            <a:r>
              <a:rPr sz="1725" kern="0" spc="9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23000"/>
              </a:lnSpc>
            </a:pPr>
            <a:endParaRPr sz="750" dirty="0">
              <a:latin typeface="Arial" panose="020B0604020202020204"/>
              <a:ea typeface="Arial" panose="020B0604020202020204"/>
              <a:cs typeface="Arial" panose="020B0604020202020204"/>
            </a:endParaRPr>
          </a:p>
          <a:p>
            <a:pPr algn="l" rtl="0" eaLnBrk="0">
              <a:lnSpc>
                <a:spcPct val="123000"/>
              </a:lnSpc>
            </a:pPr>
            <a:endParaRPr sz="750" dirty="0">
              <a:latin typeface="Arial" panose="020B0604020202020204"/>
              <a:ea typeface="Arial" panose="020B0604020202020204"/>
              <a:cs typeface="Arial" panose="020B0604020202020204"/>
            </a:endParaRPr>
          </a:p>
          <a:p>
            <a:pPr algn="l" rtl="0" eaLnBrk="0">
              <a:lnSpc>
                <a:spcPct val="123000"/>
              </a:lnSpc>
            </a:pPr>
            <a:endParaRPr sz="750" dirty="0">
              <a:latin typeface="Arial" panose="020B0604020202020204"/>
              <a:ea typeface="Arial" panose="020B0604020202020204"/>
              <a:cs typeface="Arial" panose="020B0604020202020204"/>
            </a:endParaRPr>
          </a:p>
          <a:p>
            <a:pPr marL="15875" algn="l" rtl="0" eaLnBrk="0">
              <a:lnSpc>
                <a:spcPct val="90000"/>
              </a:lnSpc>
              <a:spcBef>
                <a:spcPts val="700"/>
              </a:spcBef>
            </a:pPr>
            <a:r>
              <a:rPr sz="1725" b="1" u="sng" kern="0" spc="10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事件：</a:t>
            </a:r>
            <a:r>
              <a:rPr sz="1725" kern="0" spc="1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美国宇航局发</a:t>
            </a:r>
            <a:r>
              <a:rPr sz="1725"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射的火星气候探测器在飞往火星的途中失去联系。</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7000"/>
              </a:lnSpc>
            </a:pPr>
            <a:endParaRPr sz="750" dirty="0">
              <a:latin typeface="Arial" panose="020B0604020202020204"/>
              <a:ea typeface="Arial" panose="020B0604020202020204"/>
              <a:cs typeface="Arial" panose="020B0604020202020204"/>
            </a:endParaRPr>
          </a:p>
          <a:p>
            <a:pPr algn="l" rtl="0" eaLnBrk="0">
              <a:lnSpc>
                <a:spcPct val="107000"/>
              </a:lnSpc>
            </a:pPr>
            <a:endParaRPr sz="750" dirty="0">
              <a:latin typeface="Arial" panose="020B0604020202020204"/>
              <a:ea typeface="Arial" panose="020B0604020202020204"/>
              <a:cs typeface="Arial" panose="020B0604020202020204"/>
            </a:endParaRPr>
          </a:p>
          <a:p>
            <a:pPr marL="12700" algn="l" rtl="0" eaLnBrk="0">
              <a:lnSpc>
                <a:spcPct val="91000"/>
              </a:lnSpc>
              <a:spcBef>
                <a:spcPts val="695"/>
              </a:spcBef>
            </a:pPr>
            <a:r>
              <a:rPr sz="1725" b="1" u="sng" kern="0" spc="5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后果：</a:t>
            </a:r>
            <a:r>
              <a:rPr sz="1725"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探测器被毁</a:t>
            </a:r>
            <a:r>
              <a:rPr sz="1725"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5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任务失败</a:t>
            </a:r>
            <a:r>
              <a:rPr sz="1725" kern="0" spc="-2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5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造成了巨大的经济损失。</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a:p>
            <a:pPr marL="13970" indent="-1905" algn="l" rtl="0" eaLnBrk="0">
              <a:lnSpc>
                <a:spcPct val="197000"/>
              </a:lnSpc>
              <a:spcBef>
                <a:spcPts val="660"/>
              </a:spcBef>
            </a:pPr>
            <a:r>
              <a:rPr sz="1725" b="1" u="sng" kern="0" spc="9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原因：</a:t>
            </a:r>
            <a:r>
              <a:rPr sz="1725" b="1" kern="0" spc="-40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由于地面控制软件与探测器上的</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导航系统软件在距离单位上的不一致（ 一</a:t>
            </a:r>
            <a:r>
              <a:rPr sz="172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个使用公制单位</a:t>
            </a:r>
            <a:r>
              <a:rPr sz="1725" kern="0" spc="-2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4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另一个使用英制单位</a:t>
            </a:r>
            <a:r>
              <a:rPr sz="1725"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4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导致探测器无法正确执行飞行</a:t>
            </a:r>
            <a:r>
              <a:rPr sz="1725"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任务。</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8" name="textbox 328"/>
          <p:cNvSpPr/>
          <p:nvPr/>
        </p:nvSpPr>
        <p:spPr>
          <a:xfrm>
            <a:off x="446965" y="953522"/>
            <a:ext cx="1829753" cy="292418"/>
          </a:xfrm>
          <a:prstGeom prst="rect">
            <a:avLst/>
          </a:prstGeom>
          <a:noFill/>
          <a:ln w="0" cap="flat">
            <a:noFill/>
            <a:prstDash val="solid"/>
            <a:miter lim="0"/>
          </a:ln>
        </p:spPr>
        <p:txBody>
          <a:bodyPr vert="horz" wrap="square" lIns="0" tIns="0" rIns="0" bIns="0"/>
          <a:lstStyle/>
          <a:p>
            <a:pPr algn="l" rtl="0" eaLnBrk="0">
              <a:lnSpc>
                <a:spcPct val="71000"/>
              </a:lnSpc>
            </a:pPr>
            <a:endParaRPr sz="100" dirty="0">
              <a:latin typeface="Arial" panose="020B0604020202020204"/>
              <a:ea typeface="Arial" panose="020B0604020202020204"/>
              <a:cs typeface="Arial" panose="020B0604020202020204"/>
            </a:endParaRPr>
          </a:p>
          <a:p>
            <a:pPr algn="r" rtl="0" eaLnBrk="0">
              <a:lnSpc>
                <a:spcPct val="89000"/>
              </a:lnSpc>
            </a:pPr>
            <a:r>
              <a:rPr sz="2025"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软件灾难案例：</a:t>
            </a:r>
            <a:endParaRPr sz="2025"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30" name="picture 330"/>
          <p:cNvPicPr>
            <a:picLocks noChangeAspect="1"/>
          </p:cNvPicPr>
          <p:nvPr/>
        </p:nvPicPr>
        <p:blipFill>
          <a:blip r:embed="rId3"/>
          <a:stretch>
            <a:fillRect/>
          </a:stretch>
        </p:blipFill>
        <p:spPr>
          <a:xfrm rot="21600000">
            <a:off x="268605" y="65798"/>
            <a:ext cx="41147" cy="486155"/>
          </a:xfrm>
          <a:prstGeom prst="rect">
            <a:avLst/>
          </a:prstGeom>
        </p:spPr>
      </p:pic>
      <p:sp>
        <p:nvSpPr>
          <p:cNvPr id="2" name="标题 1"/>
          <p:cNvSpPr>
            <a:spLocks noGrp="1"/>
          </p:cNvSpPr>
          <p:nvPr>
            <p:ph type="title"/>
          </p:nvPr>
        </p:nvSpPr>
        <p:spPr/>
        <p:txBody>
          <a:bodyPr/>
          <a:p>
            <a:r>
              <a:rPr lang="en-US" altLang="zh-CN" dirty="0" smtClean="0"/>
              <a:t>1. </a:t>
            </a:r>
            <a:r>
              <a:rPr lang="zh-CN" altLang="en-US" dirty="0" smtClean="0"/>
              <a:t>软件危机的定义</a:t>
            </a:r>
            <a:endParaRPr lang="en-US" altLang="zh-CN" dirty="0"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2" name="picture 332"/>
          <p:cNvPicPr>
            <a:picLocks noChangeAspect="1"/>
          </p:cNvPicPr>
          <p:nvPr/>
        </p:nvPicPr>
        <p:blipFill>
          <a:blip r:embed="rId1"/>
          <a:stretch>
            <a:fillRect/>
          </a:stretch>
        </p:blipFill>
        <p:spPr>
          <a:xfrm rot="21600000">
            <a:off x="371039" y="1757939"/>
            <a:ext cx="8392550" cy="3175584"/>
          </a:xfrm>
          <a:prstGeom prst="rect">
            <a:avLst/>
          </a:prstGeom>
        </p:spPr>
      </p:pic>
      <p:pic>
        <p:nvPicPr>
          <p:cNvPr id="334" name="picture 334"/>
          <p:cNvPicPr>
            <a:picLocks noChangeAspect="1"/>
          </p:cNvPicPr>
          <p:nvPr/>
        </p:nvPicPr>
        <p:blipFill>
          <a:blip r:embed="rId2"/>
          <a:stretch>
            <a:fillRect/>
          </a:stretch>
        </p:blipFill>
        <p:spPr>
          <a:xfrm rot="21600000">
            <a:off x="371475" y="1532762"/>
            <a:ext cx="8204358" cy="3123076"/>
          </a:xfrm>
          <a:prstGeom prst="rect">
            <a:avLst/>
          </a:prstGeom>
        </p:spPr>
      </p:pic>
      <p:sp>
        <p:nvSpPr>
          <p:cNvPr id="336" name="textbox 336"/>
          <p:cNvSpPr/>
          <p:nvPr/>
        </p:nvSpPr>
        <p:spPr>
          <a:xfrm>
            <a:off x="442303" y="1693888"/>
            <a:ext cx="8071961" cy="2641282"/>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2803525" algn="l" rtl="0" eaLnBrk="0">
              <a:lnSpc>
                <a:spcPct val="92000"/>
              </a:lnSpc>
            </a:pPr>
            <a:r>
              <a:rPr sz="1725"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波音</a:t>
            </a:r>
            <a:r>
              <a:rPr sz="1725" kern="0" spc="40" dirty="0">
                <a:solidFill>
                  <a:srgbClr val="FFFFFF">
                    <a:alpha val="100000"/>
                  </a:srgbClr>
                </a:solidFill>
                <a:latin typeface="Arial" panose="020B0604020202020204"/>
                <a:ea typeface="Arial" panose="020B0604020202020204"/>
                <a:cs typeface="Arial" panose="020B0604020202020204"/>
              </a:rPr>
              <a:t>737 </a:t>
            </a:r>
            <a:r>
              <a:rPr sz="1725" b="1" kern="0" spc="0" dirty="0">
                <a:solidFill>
                  <a:srgbClr val="FFFFFF">
                    <a:alpha val="100000"/>
                  </a:srgbClr>
                </a:solidFill>
                <a:latin typeface="Tahoma" panose="020B0604030504040204"/>
                <a:ea typeface="Tahoma" panose="020B0604030504040204"/>
                <a:cs typeface="Tahoma" panose="020B0604030504040204"/>
              </a:rPr>
              <a:t>Max</a:t>
            </a:r>
            <a:r>
              <a:rPr sz="1725"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飞机事故（</a:t>
            </a:r>
            <a:r>
              <a:rPr sz="1725" kern="0" spc="40" dirty="0">
                <a:solidFill>
                  <a:srgbClr val="FFFFFF">
                    <a:alpha val="100000"/>
                  </a:srgbClr>
                </a:solidFill>
                <a:latin typeface="Arial" panose="020B0604020202020204"/>
                <a:ea typeface="Arial" panose="020B0604020202020204"/>
                <a:cs typeface="Arial" panose="020B0604020202020204"/>
              </a:rPr>
              <a:t>2018</a:t>
            </a:r>
            <a:r>
              <a:rPr sz="1725"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年至今</a:t>
            </a:r>
            <a:r>
              <a:rPr sz="1725" kern="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15000"/>
              </a:lnSpc>
            </a:pPr>
            <a:endParaRPr sz="750" dirty="0">
              <a:latin typeface="Arial" panose="020B0604020202020204"/>
              <a:ea typeface="Arial" panose="020B0604020202020204"/>
              <a:cs typeface="Arial" panose="020B0604020202020204"/>
            </a:endParaRPr>
          </a:p>
          <a:p>
            <a:pPr algn="l" rtl="0" eaLnBrk="0">
              <a:lnSpc>
                <a:spcPct val="115000"/>
              </a:lnSpc>
            </a:pPr>
            <a:endParaRPr sz="750" dirty="0">
              <a:latin typeface="Arial" panose="020B0604020202020204"/>
              <a:ea typeface="Arial" panose="020B0604020202020204"/>
              <a:cs typeface="Arial" panose="020B0604020202020204"/>
            </a:endParaRPr>
          </a:p>
          <a:p>
            <a:pPr algn="l" rtl="0" eaLnBrk="0">
              <a:lnSpc>
                <a:spcPct val="116000"/>
              </a:lnSpc>
            </a:pPr>
            <a:endParaRPr sz="750" dirty="0">
              <a:latin typeface="Arial" panose="020B0604020202020204"/>
              <a:ea typeface="Arial" panose="020B0604020202020204"/>
              <a:cs typeface="Arial" panose="020B0604020202020204"/>
            </a:endParaRPr>
          </a:p>
          <a:p>
            <a:pPr marL="15875" algn="l" rtl="0" eaLnBrk="0">
              <a:lnSpc>
                <a:spcPct val="91000"/>
              </a:lnSpc>
              <a:spcBef>
                <a:spcPts val="690"/>
              </a:spcBef>
            </a:pPr>
            <a:r>
              <a:rPr sz="1725" b="1" u="sng" kern="0" spc="5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事件：</a:t>
            </a:r>
            <a:r>
              <a:rPr sz="1725"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波音</a:t>
            </a:r>
            <a:r>
              <a:rPr sz="1725" kern="0" spc="50" dirty="0">
                <a:solidFill>
                  <a:srgbClr val="000000">
                    <a:alpha val="100000"/>
                  </a:srgbClr>
                </a:solidFill>
                <a:latin typeface="Arial" panose="020B0604020202020204"/>
                <a:ea typeface="Arial" panose="020B0604020202020204"/>
                <a:cs typeface="Arial" panose="020B0604020202020204"/>
              </a:rPr>
              <a:t>737 </a:t>
            </a:r>
            <a:r>
              <a:rPr sz="1725" b="1" kern="0" spc="0" dirty="0">
                <a:solidFill>
                  <a:srgbClr val="000000">
                    <a:alpha val="100000"/>
                  </a:srgbClr>
                </a:solidFill>
                <a:latin typeface="Tahoma" panose="020B0604030504040204"/>
                <a:ea typeface="Tahoma" panose="020B0604030504040204"/>
                <a:cs typeface="Tahoma" panose="020B0604030504040204"/>
              </a:rPr>
              <a:t>Max</a:t>
            </a:r>
            <a:r>
              <a:rPr sz="1725"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飞机的飞行控制软件存在缺陷</a:t>
            </a:r>
            <a:r>
              <a:rPr sz="1725" kern="0" spc="-2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4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导致多起坠机事故。</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18000"/>
              </a:lnSpc>
            </a:pPr>
            <a:endParaRPr sz="750" dirty="0">
              <a:latin typeface="Arial" panose="020B0604020202020204"/>
              <a:ea typeface="Arial" panose="020B0604020202020204"/>
              <a:cs typeface="Arial" panose="020B0604020202020204"/>
            </a:endParaRPr>
          </a:p>
          <a:p>
            <a:pPr algn="l" rtl="0" eaLnBrk="0">
              <a:lnSpc>
                <a:spcPct val="119000"/>
              </a:lnSpc>
            </a:pPr>
            <a:endParaRPr sz="750" dirty="0">
              <a:latin typeface="Arial" panose="020B0604020202020204"/>
              <a:ea typeface="Arial" panose="020B0604020202020204"/>
              <a:cs typeface="Arial" panose="020B0604020202020204"/>
            </a:endParaRPr>
          </a:p>
          <a:p>
            <a:pPr marL="12700" algn="l" rtl="0" eaLnBrk="0">
              <a:lnSpc>
                <a:spcPct val="90000"/>
              </a:lnSpc>
              <a:spcBef>
                <a:spcPts val="695"/>
              </a:spcBef>
            </a:pPr>
            <a:r>
              <a:rPr sz="1725" b="1" u="sng" kern="0" spc="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后果：</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造成数百人死亡</a:t>
            </a:r>
            <a:r>
              <a:rPr sz="1725" kern="0" spc="-2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4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导</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致波音公司面临严重的财务和声誉损失。</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a:p>
            <a:pPr marL="23495" indent="-11430" algn="l" rtl="0" eaLnBrk="0">
              <a:lnSpc>
                <a:spcPct val="208000"/>
              </a:lnSpc>
              <a:spcBef>
                <a:spcPts val="40"/>
              </a:spcBef>
            </a:pPr>
            <a:r>
              <a:rPr sz="1725" b="1" u="sng" kern="0" spc="7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原因：</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波音公司暂停了</a:t>
            </a:r>
            <a:r>
              <a:rPr sz="1725" kern="0" spc="70" dirty="0">
                <a:solidFill>
                  <a:srgbClr val="000000">
                    <a:alpha val="100000"/>
                  </a:srgbClr>
                </a:solidFill>
                <a:latin typeface="Arial" panose="020B0604020202020204"/>
                <a:ea typeface="Arial" panose="020B0604020202020204"/>
                <a:cs typeface="Arial" panose="020B0604020202020204"/>
              </a:rPr>
              <a:t>737 </a:t>
            </a:r>
            <a:r>
              <a:rPr sz="1725" b="1" kern="0" spc="0" dirty="0">
                <a:solidFill>
                  <a:srgbClr val="000000">
                    <a:alpha val="100000"/>
                  </a:srgbClr>
                </a:solidFill>
                <a:latin typeface="Tahoma" panose="020B0604030504040204"/>
                <a:ea typeface="Tahoma" panose="020B0604030504040204"/>
                <a:cs typeface="Tahoma" panose="020B0604030504040204"/>
              </a:rPr>
              <a:t>Max</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的生产</a:t>
            </a:r>
            <a:r>
              <a:rPr sz="1725" kern="0" spc="-2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4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并进行了大量的修复和测试工作</a:t>
            </a:r>
            <a:r>
              <a:rPr sz="1725" kern="0" spc="-2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3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以修</a:t>
            </a:r>
            <a:r>
              <a:rPr sz="172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复飞行控制软件的问题。</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4" name="textbox 344"/>
          <p:cNvSpPr/>
          <p:nvPr/>
        </p:nvSpPr>
        <p:spPr>
          <a:xfrm>
            <a:off x="446965" y="953522"/>
            <a:ext cx="1829753" cy="292418"/>
          </a:xfrm>
          <a:prstGeom prst="rect">
            <a:avLst/>
          </a:prstGeom>
          <a:noFill/>
          <a:ln w="0" cap="flat">
            <a:noFill/>
            <a:prstDash val="solid"/>
            <a:miter lim="0"/>
          </a:ln>
        </p:spPr>
        <p:txBody>
          <a:bodyPr vert="horz" wrap="square" lIns="0" tIns="0" rIns="0" bIns="0"/>
          <a:lstStyle/>
          <a:p>
            <a:pPr algn="l" rtl="0" eaLnBrk="0">
              <a:lnSpc>
                <a:spcPct val="71000"/>
              </a:lnSpc>
            </a:pPr>
            <a:endParaRPr sz="100" dirty="0">
              <a:latin typeface="Arial" panose="020B0604020202020204"/>
              <a:ea typeface="Arial" panose="020B0604020202020204"/>
              <a:cs typeface="Arial" panose="020B0604020202020204"/>
            </a:endParaRPr>
          </a:p>
          <a:p>
            <a:pPr algn="r" rtl="0" eaLnBrk="0">
              <a:lnSpc>
                <a:spcPct val="89000"/>
              </a:lnSpc>
            </a:pPr>
            <a:r>
              <a:rPr sz="2025"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软件灾难案例：</a:t>
            </a:r>
            <a:endParaRPr sz="20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标题 1"/>
          <p:cNvSpPr>
            <a:spLocks noGrp="1"/>
          </p:cNvSpPr>
          <p:nvPr>
            <p:ph type="title"/>
          </p:nvPr>
        </p:nvSpPr>
        <p:spPr/>
        <p:txBody>
          <a:bodyPr/>
          <a:p>
            <a:r>
              <a:rPr lang="en-US" altLang="zh-CN" dirty="0" smtClean="0"/>
              <a:t>1. </a:t>
            </a:r>
            <a:r>
              <a:rPr lang="zh-CN" altLang="en-US" dirty="0" smtClean="0"/>
              <a:t>软件危机的定义</a:t>
            </a:r>
            <a:endParaRPr lang="en-US" altLang="zh-CN"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 name="picture 348"/>
          <p:cNvPicPr>
            <a:picLocks noChangeAspect="1"/>
          </p:cNvPicPr>
          <p:nvPr/>
        </p:nvPicPr>
        <p:blipFill>
          <a:blip r:embed="rId1"/>
          <a:stretch>
            <a:fillRect/>
          </a:stretch>
        </p:blipFill>
        <p:spPr>
          <a:xfrm rot="21600000">
            <a:off x="371039" y="1757939"/>
            <a:ext cx="8392550" cy="3175584"/>
          </a:xfrm>
          <a:prstGeom prst="rect">
            <a:avLst/>
          </a:prstGeom>
        </p:spPr>
      </p:pic>
      <p:pic>
        <p:nvPicPr>
          <p:cNvPr id="350" name="picture 350"/>
          <p:cNvPicPr>
            <a:picLocks noChangeAspect="1"/>
          </p:cNvPicPr>
          <p:nvPr/>
        </p:nvPicPr>
        <p:blipFill>
          <a:blip r:embed="rId2"/>
          <a:stretch>
            <a:fillRect/>
          </a:stretch>
        </p:blipFill>
        <p:spPr>
          <a:xfrm rot="21600000">
            <a:off x="371475" y="1532762"/>
            <a:ext cx="8204358" cy="3123076"/>
          </a:xfrm>
          <a:prstGeom prst="rect">
            <a:avLst/>
          </a:prstGeom>
        </p:spPr>
      </p:pic>
      <p:sp>
        <p:nvSpPr>
          <p:cNvPr id="352" name="textbox 352"/>
          <p:cNvSpPr/>
          <p:nvPr/>
        </p:nvSpPr>
        <p:spPr>
          <a:xfrm>
            <a:off x="442303" y="1693888"/>
            <a:ext cx="8071961" cy="2642711"/>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995805" algn="l" rtl="0" eaLnBrk="0">
              <a:lnSpc>
                <a:spcPct val="92000"/>
              </a:lnSpc>
            </a:pPr>
            <a:r>
              <a:rPr sz="1725" kern="0" spc="9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暴雪娱乐公司</a:t>
            </a:r>
            <a:r>
              <a:rPr sz="1725" b="1" kern="0" spc="90" dirty="0">
                <a:solidFill>
                  <a:srgbClr val="FFFFFF">
                    <a:alpha val="100000"/>
                  </a:srgbClr>
                </a:solidFill>
                <a:latin typeface="Tahoma" panose="020B0604030504040204"/>
                <a:ea typeface="Tahoma" panose="020B0604030504040204"/>
                <a:cs typeface="Tahoma" panose="020B0604030504040204"/>
              </a:rPr>
              <a:t>“</a:t>
            </a:r>
            <a:r>
              <a:rPr sz="1725" kern="0" spc="9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魔兽世</a:t>
            </a:r>
            <a:r>
              <a:rPr sz="1725"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界</a:t>
            </a:r>
            <a:r>
              <a:rPr sz="1725" b="1" kern="0" spc="80" dirty="0">
                <a:solidFill>
                  <a:srgbClr val="FFFFFF">
                    <a:alpha val="100000"/>
                  </a:srgbClr>
                </a:solidFill>
                <a:latin typeface="Tahoma" panose="020B0604030504040204"/>
                <a:ea typeface="Tahoma" panose="020B0604030504040204"/>
                <a:cs typeface="Tahoma" panose="020B0604030504040204"/>
              </a:rPr>
              <a:t>”</a:t>
            </a:r>
            <a:r>
              <a:rPr sz="1725"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虚拟货币漏洞（</a:t>
            </a:r>
            <a:r>
              <a:rPr sz="1725" kern="0" spc="80" dirty="0">
                <a:solidFill>
                  <a:srgbClr val="FFFFFF">
                    <a:alpha val="100000"/>
                  </a:srgbClr>
                </a:solidFill>
                <a:latin typeface="Arial" panose="020B0604020202020204"/>
                <a:ea typeface="Arial" panose="020B0604020202020204"/>
                <a:cs typeface="Arial" panose="020B0604020202020204"/>
              </a:rPr>
              <a:t>2011</a:t>
            </a:r>
            <a:r>
              <a:rPr sz="1725"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41000"/>
              </a:lnSpc>
            </a:pPr>
            <a:endParaRPr sz="750" dirty="0">
              <a:latin typeface="Arial" panose="020B0604020202020204"/>
              <a:ea typeface="Arial" panose="020B0604020202020204"/>
              <a:cs typeface="Arial" panose="020B0604020202020204"/>
            </a:endParaRPr>
          </a:p>
          <a:p>
            <a:pPr marL="17780" indent="-1905" algn="l" rtl="0" eaLnBrk="0">
              <a:lnSpc>
                <a:spcPct val="199000"/>
              </a:lnSpc>
              <a:spcBef>
                <a:spcPts val="695"/>
              </a:spcBef>
            </a:pPr>
            <a:r>
              <a:rPr sz="1725" b="1" u="sng" kern="0" spc="9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事件：</a:t>
            </a:r>
            <a:r>
              <a:rPr sz="1725" b="1" kern="0" spc="-39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由于游戏软件中的一个漏洞</a:t>
            </a:r>
            <a:r>
              <a:rPr sz="1725"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4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导致玩家可以利用虚拟货</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币的错误赚取真实</a:t>
            </a:r>
            <a:r>
              <a:rPr sz="172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货币。</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7000"/>
              </a:lnSpc>
            </a:pPr>
            <a:endParaRPr sz="750" dirty="0">
              <a:latin typeface="Arial" panose="020B0604020202020204"/>
              <a:ea typeface="Arial" panose="020B0604020202020204"/>
              <a:cs typeface="Arial" panose="020B0604020202020204"/>
            </a:endParaRPr>
          </a:p>
          <a:p>
            <a:pPr algn="l" rtl="0" eaLnBrk="0">
              <a:lnSpc>
                <a:spcPct val="107000"/>
              </a:lnSpc>
            </a:pPr>
            <a:endParaRPr sz="750" dirty="0">
              <a:latin typeface="Arial" panose="020B0604020202020204"/>
              <a:ea typeface="Arial" panose="020B0604020202020204"/>
              <a:cs typeface="Arial" panose="020B0604020202020204"/>
            </a:endParaRPr>
          </a:p>
          <a:p>
            <a:pPr marL="12700" algn="l" rtl="0" eaLnBrk="0">
              <a:lnSpc>
                <a:spcPct val="91000"/>
              </a:lnSpc>
              <a:spcBef>
                <a:spcPts val="695"/>
              </a:spcBef>
            </a:pPr>
            <a:r>
              <a:rPr sz="1725" b="1" u="sng" kern="0" spc="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后果：</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引发了大规模的虚拟经济混乱</a:t>
            </a:r>
            <a:r>
              <a:rPr sz="1725" kern="0" spc="-2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5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使得游戏运营商损失</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了大量收益。</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6000"/>
              </a:lnSpc>
            </a:pPr>
            <a:endParaRPr sz="750" dirty="0">
              <a:latin typeface="Arial" panose="020B0604020202020204"/>
              <a:ea typeface="Arial" panose="020B0604020202020204"/>
              <a:cs typeface="Arial" panose="020B0604020202020204"/>
            </a:endParaRPr>
          </a:p>
          <a:p>
            <a:pPr algn="l" rtl="0" eaLnBrk="0">
              <a:lnSpc>
                <a:spcPct val="107000"/>
              </a:lnSpc>
            </a:pPr>
            <a:endParaRPr sz="750" dirty="0">
              <a:latin typeface="Arial" panose="020B0604020202020204"/>
              <a:ea typeface="Arial" panose="020B0604020202020204"/>
              <a:cs typeface="Arial" panose="020B0604020202020204"/>
            </a:endParaRPr>
          </a:p>
          <a:p>
            <a:pPr algn="l" rtl="0" eaLnBrk="0">
              <a:lnSpc>
                <a:spcPct val="115000"/>
              </a:lnSpc>
            </a:pPr>
            <a:endParaRPr sz="375" dirty="0">
              <a:latin typeface="Arial" panose="020B0604020202020204"/>
              <a:ea typeface="Arial" panose="020B0604020202020204"/>
              <a:cs typeface="Arial" panose="020B0604020202020204"/>
            </a:endParaRPr>
          </a:p>
          <a:p>
            <a:pPr marL="12700" algn="l" rtl="0" eaLnBrk="0">
              <a:lnSpc>
                <a:spcPct val="91000"/>
              </a:lnSpc>
              <a:spcBef>
                <a:spcPts val="5"/>
              </a:spcBef>
            </a:pPr>
            <a:r>
              <a:rPr sz="1725" b="1" u="sng" kern="0" spc="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原因：</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暴雪娱乐公司紧急修复了这个漏洞</a:t>
            </a:r>
            <a:r>
              <a:rPr sz="1725" kern="0" spc="-2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5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并加强了游戏的安全</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性和稳定性。</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0" name="textbox 360"/>
          <p:cNvSpPr/>
          <p:nvPr/>
        </p:nvSpPr>
        <p:spPr>
          <a:xfrm>
            <a:off x="446965" y="953522"/>
            <a:ext cx="1829753" cy="292418"/>
          </a:xfrm>
          <a:prstGeom prst="rect">
            <a:avLst/>
          </a:prstGeom>
          <a:noFill/>
          <a:ln w="0" cap="flat">
            <a:noFill/>
            <a:prstDash val="solid"/>
            <a:miter lim="0"/>
          </a:ln>
        </p:spPr>
        <p:txBody>
          <a:bodyPr vert="horz" wrap="square" lIns="0" tIns="0" rIns="0" bIns="0"/>
          <a:lstStyle/>
          <a:p>
            <a:pPr algn="l" rtl="0" eaLnBrk="0">
              <a:lnSpc>
                <a:spcPct val="71000"/>
              </a:lnSpc>
            </a:pPr>
            <a:endParaRPr sz="100" dirty="0">
              <a:latin typeface="Arial" panose="020B0604020202020204"/>
              <a:ea typeface="Arial" panose="020B0604020202020204"/>
              <a:cs typeface="Arial" panose="020B0604020202020204"/>
            </a:endParaRPr>
          </a:p>
          <a:p>
            <a:pPr algn="r" rtl="0" eaLnBrk="0">
              <a:lnSpc>
                <a:spcPct val="89000"/>
              </a:lnSpc>
            </a:pPr>
            <a:r>
              <a:rPr sz="2025"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软件灾难案例：</a:t>
            </a:r>
            <a:endParaRPr sz="20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标题 1"/>
          <p:cNvSpPr>
            <a:spLocks noGrp="1"/>
          </p:cNvSpPr>
          <p:nvPr>
            <p:ph type="title"/>
          </p:nvPr>
        </p:nvSpPr>
        <p:spPr/>
        <p:txBody>
          <a:bodyPr/>
          <a:p>
            <a:r>
              <a:rPr lang="en-US" altLang="zh-CN" dirty="0" smtClean="0"/>
              <a:t>1. </a:t>
            </a:r>
            <a:r>
              <a:rPr lang="zh-CN" altLang="en-US" dirty="0" smtClean="0"/>
              <a:t>软件危机的定义</a:t>
            </a:r>
            <a:endParaRPr lang="en-US" altLang="zh-CN"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4" name="picture 364"/>
          <p:cNvPicPr>
            <a:picLocks noChangeAspect="1"/>
          </p:cNvPicPr>
          <p:nvPr/>
        </p:nvPicPr>
        <p:blipFill>
          <a:blip r:embed="rId1"/>
          <a:stretch>
            <a:fillRect/>
          </a:stretch>
        </p:blipFill>
        <p:spPr>
          <a:xfrm rot="21600000">
            <a:off x="561037" y="3184111"/>
            <a:ext cx="8474405" cy="1832325"/>
          </a:xfrm>
          <a:prstGeom prst="rect">
            <a:avLst/>
          </a:prstGeom>
        </p:spPr>
      </p:pic>
      <p:sp>
        <p:nvSpPr>
          <p:cNvPr id="366" name="rect 366"/>
          <p:cNvSpPr/>
          <p:nvPr/>
        </p:nvSpPr>
        <p:spPr>
          <a:xfrm>
            <a:off x="570357" y="2566034"/>
            <a:ext cx="408051" cy="437768"/>
          </a:xfrm>
          <a:prstGeom prst="rect">
            <a:avLst/>
          </a:prstGeom>
          <a:solidFill>
            <a:srgbClr val="0070C0">
              <a:alpha val="100000"/>
            </a:srgbClr>
          </a:solidFill>
          <a:ln w="0" cap="flat">
            <a:noFill/>
            <a:prstDash val="solid"/>
            <a:miter lim="0"/>
          </a:ln>
        </p:spPr>
        <p:txBody>
          <a:bodyPr rtlCol="0"/>
          <a:lstStyle/>
          <a:p>
            <a:pPr algn="ctr"/>
            <a:endParaRPr lang="zh-CN" altLang="en-US" sz="1350"/>
          </a:p>
        </p:txBody>
      </p:sp>
      <p:sp>
        <p:nvSpPr>
          <p:cNvPr id="368" name="textbox 368"/>
          <p:cNvSpPr/>
          <p:nvPr/>
        </p:nvSpPr>
        <p:spPr>
          <a:xfrm>
            <a:off x="560832" y="2675082"/>
            <a:ext cx="8338661" cy="2229803"/>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6000"/>
              </a:lnSpc>
              <a:tabLst>
                <a:tab pos="209550" algn="l"/>
              </a:tabLst>
            </a:pPr>
            <a:r>
              <a:rPr sz="1500" kern="0" spc="0" dirty="0">
                <a:solidFill>
                  <a:srgbClr val="FFFFFF">
                    <a:alpha val="100000"/>
                  </a:srgbClr>
                </a:solidFill>
                <a:latin typeface="Arial" panose="020B0604020202020204"/>
                <a:ea typeface="Arial" panose="020B0604020202020204"/>
                <a:cs typeface="Arial" panose="020B0604020202020204"/>
              </a:rPr>
              <a:t>	</a:t>
            </a:r>
            <a:r>
              <a:rPr sz="1500" b="1" kern="0" spc="-10" dirty="0">
                <a:solidFill>
                  <a:srgbClr val="FFFFFF">
                    <a:alpha val="100000"/>
                  </a:srgbClr>
                </a:solidFill>
                <a:latin typeface="Arial" panose="020B0604020202020204"/>
                <a:ea typeface="Arial" panose="020B0604020202020204"/>
                <a:cs typeface="Arial" panose="020B0604020202020204"/>
              </a:rPr>
              <a:t>2</a:t>
            </a:r>
            <a:r>
              <a:rPr sz="1500" b="1" kern="0" spc="40" dirty="0">
                <a:solidFill>
                  <a:srgbClr val="FFFFFF">
                    <a:alpha val="100000"/>
                  </a:srgbClr>
                </a:solidFill>
                <a:latin typeface="Arial" panose="020B0604020202020204"/>
                <a:ea typeface="Arial" panose="020B0604020202020204"/>
                <a:cs typeface="Arial" panose="020B0604020202020204"/>
              </a:rPr>
              <a:t>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与软件开发与维护的方法不</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正确有关</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12000"/>
              </a:lnSpc>
            </a:pPr>
            <a:endParaRPr sz="750" dirty="0">
              <a:latin typeface="Arial" panose="020B0604020202020204"/>
              <a:ea typeface="Arial" panose="020B0604020202020204"/>
              <a:cs typeface="Arial" panose="020B0604020202020204"/>
            </a:endParaRPr>
          </a:p>
          <a:p>
            <a:pPr algn="l" rtl="0" eaLnBrk="0">
              <a:lnSpc>
                <a:spcPct val="112000"/>
              </a:lnSpc>
            </a:pPr>
            <a:endParaRPr sz="750" dirty="0">
              <a:latin typeface="Arial" panose="020B0604020202020204"/>
              <a:ea typeface="Arial" panose="020B0604020202020204"/>
              <a:cs typeface="Arial" panose="020B0604020202020204"/>
            </a:endParaRPr>
          </a:p>
          <a:p>
            <a:pPr algn="l" rtl="0" eaLnBrk="0">
              <a:lnSpc>
                <a:spcPct val="113000"/>
              </a:lnSpc>
            </a:pPr>
            <a:endParaRPr sz="750" dirty="0">
              <a:latin typeface="Arial" panose="020B0604020202020204"/>
              <a:ea typeface="Arial" panose="020B0604020202020204"/>
              <a:cs typeface="Arial" panose="020B0604020202020204"/>
            </a:endParaRPr>
          </a:p>
          <a:p>
            <a:pPr marL="243205" algn="l" rtl="0" eaLnBrk="0">
              <a:lnSpc>
                <a:spcPct val="87000"/>
              </a:lnSpc>
              <a:spcBef>
                <a:spcPts val="605"/>
              </a:spcBef>
            </a:pPr>
            <a:r>
              <a:rPr sz="1500" b="1" kern="0" spc="-30" dirty="0">
                <a:solidFill>
                  <a:srgbClr val="0B5FD1">
                    <a:alpha val="100000"/>
                  </a:srgbClr>
                </a:solidFill>
                <a:latin typeface="Tahoma" panose="020B0604030504040204"/>
                <a:ea typeface="Tahoma" panose="020B0604030504040204"/>
                <a:cs typeface="Tahoma" panose="020B0604030504040204"/>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软件开发过程中缺乏标准化和规范化</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243205" algn="l" rtl="0" eaLnBrk="0">
              <a:lnSpc>
                <a:spcPct val="87000"/>
              </a:lnSpc>
              <a:spcBef>
                <a:spcPts val="1510"/>
              </a:spcBef>
            </a:pPr>
            <a:r>
              <a:rPr sz="1500" b="1" kern="0" spc="-20" dirty="0">
                <a:solidFill>
                  <a:srgbClr val="0B5FD1">
                    <a:alpha val="100000"/>
                  </a:srgbClr>
                </a:solidFill>
                <a:latin typeface="Tahoma" panose="020B0604030504040204"/>
                <a:ea typeface="Tahoma" panose="020B0604030504040204"/>
                <a:cs typeface="Tahoma" panose="020B0604030504040204"/>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软件开发技术和工具未能及时跟上软件规模和复杂度的增长速度。</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704215" indent="-461010" algn="l" rtl="0" eaLnBrk="0">
              <a:lnSpc>
                <a:spcPct val="119000"/>
              </a:lnSpc>
              <a:spcBef>
                <a:spcPts val="1495"/>
              </a:spcBef>
            </a:pPr>
            <a:r>
              <a:rPr sz="1500" b="1" kern="0" spc="-40" dirty="0">
                <a:solidFill>
                  <a:srgbClr val="0B5FD1">
                    <a:alpha val="100000"/>
                  </a:srgbClr>
                </a:solidFill>
                <a:latin typeface="Tahoma" panose="020B0604030504040204"/>
                <a:ea typeface="Tahoma" panose="020B0604030504040204"/>
                <a:cs typeface="Tahoma" panose="020B0604030504040204"/>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项目管理不足</a:t>
            </a:r>
            <a:r>
              <a:rPr sz="1500" kern="0" spc="-2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，项目规划不周、</a:t>
            </a:r>
            <a:r>
              <a:rPr sz="1500" kern="0" spc="-4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资源分配不均、</a:t>
            </a:r>
            <a:r>
              <a:rPr sz="1500" kern="0" spc="-4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人员水平参差不齐</a:t>
            </a:r>
            <a:r>
              <a:rPr sz="1500"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，技术、</a:t>
            </a:r>
            <a:r>
              <a:rPr sz="1500" kern="0" spc="-4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经验、</a:t>
            </a:r>
            <a:r>
              <a:rPr sz="1500" kern="0" spc="-4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沟通能力不</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足</a:t>
            </a:r>
            <a:r>
              <a:rPr sz="1500" kern="0" spc="-2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，容易导致项目延期或超出预算。</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4000"/>
              </a:lnSpc>
            </a:pPr>
            <a:endParaRPr sz="900" dirty="0">
              <a:latin typeface="Arial" panose="020B0604020202020204"/>
              <a:ea typeface="Arial" panose="020B0604020202020204"/>
              <a:cs typeface="Arial" panose="020B0604020202020204"/>
            </a:endParaRPr>
          </a:p>
          <a:p>
            <a:pPr marL="243205" algn="l" rtl="0" eaLnBrk="0">
              <a:lnSpc>
                <a:spcPct val="88000"/>
              </a:lnSpc>
              <a:spcBef>
                <a:spcPts val="0"/>
              </a:spcBef>
            </a:pPr>
            <a:r>
              <a:rPr sz="1500" b="1" kern="0" spc="-30" dirty="0">
                <a:solidFill>
                  <a:srgbClr val="0B5FD1">
                    <a:alpha val="100000"/>
                  </a:srgbClr>
                </a:solidFill>
                <a:latin typeface="Tahoma" panose="020B0604030504040204"/>
                <a:ea typeface="Tahoma" panose="020B0604030504040204"/>
                <a:cs typeface="Tahoma" panose="020B0604030504040204"/>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软件质量控制不足</a:t>
            </a:r>
            <a:r>
              <a:rPr sz="1500"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，缺乏有效的软件测试质量保证措施</a:t>
            </a:r>
            <a:r>
              <a:rPr sz="1500"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4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导致软件</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存在缺陷和质量问题。</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0" name="group 30"/>
          <p:cNvGrpSpPr/>
          <p:nvPr/>
        </p:nvGrpSpPr>
        <p:grpSpPr>
          <a:xfrm rot="21600000">
            <a:off x="586281" y="1803920"/>
            <a:ext cx="8448672" cy="562205"/>
            <a:chOff x="0" y="0"/>
            <a:chExt cx="11264896" cy="749606"/>
          </a:xfrm>
        </p:grpSpPr>
        <p:pic>
          <p:nvPicPr>
            <p:cNvPr id="372" name="picture 372"/>
            <p:cNvPicPr>
              <a:picLocks noChangeAspect="1"/>
            </p:cNvPicPr>
            <p:nvPr/>
          </p:nvPicPr>
          <p:blipFill>
            <a:blip r:embed="rId2"/>
            <a:stretch>
              <a:fillRect/>
            </a:stretch>
          </p:blipFill>
          <p:spPr>
            <a:xfrm rot="21600000">
              <a:off x="0" y="0"/>
              <a:ext cx="11264896" cy="749606"/>
            </a:xfrm>
            <a:prstGeom prst="rect">
              <a:avLst/>
            </a:prstGeom>
          </p:spPr>
        </p:pic>
        <p:sp>
          <p:nvSpPr>
            <p:cNvPr id="374" name="textbox 374"/>
            <p:cNvSpPr/>
            <p:nvPr/>
          </p:nvSpPr>
          <p:spPr>
            <a:xfrm>
              <a:off x="-12700" y="-12700"/>
              <a:ext cx="11290300" cy="800100"/>
            </a:xfrm>
            <a:prstGeom prst="rect">
              <a:avLst/>
            </a:prstGeom>
            <a:noFill/>
            <a:ln w="0" cap="flat">
              <a:noFill/>
              <a:prstDash val="solid"/>
              <a:miter lim="0"/>
            </a:ln>
          </p:spPr>
          <p:txBody>
            <a:bodyPr vert="horz" wrap="square" lIns="0" tIns="0" rIns="0" bIns="0"/>
            <a:lstStyle/>
            <a:p>
              <a:pPr algn="l" rtl="0" eaLnBrk="0">
                <a:lnSpc>
                  <a:spcPct val="191000"/>
                </a:lnSpc>
              </a:pPr>
              <a:endParaRPr sz="75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502920" algn="l" rtl="0" eaLnBrk="0">
                <a:lnSpc>
                  <a:spcPct val="8700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软件系统的规模和复杂度不断增加、</a:t>
              </a:r>
              <a:r>
                <a:rPr sz="1500" kern="0" spc="-4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不明确或频繁变更</a:t>
              </a:r>
              <a:r>
                <a:rPr sz="1500"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，增加了开发和维护的成本。</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376" name="rect 376"/>
          <p:cNvSpPr/>
          <p:nvPr/>
        </p:nvSpPr>
        <p:spPr>
          <a:xfrm>
            <a:off x="595503" y="1253871"/>
            <a:ext cx="408051" cy="438911"/>
          </a:xfrm>
          <a:prstGeom prst="rect">
            <a:avLst/>
          </a:prstGeom>
          <a:solidFill>
            <a:srgbClr val="0070C0">
              <a:alpha val="100000"/>
            </a:srgbClr>
          </a:solidFill>
          <a:ln w="0" cap="flat">
            <a:noFill/>
            <a:prstDash val="solid"/>
            <a:miter lim="0"/>
          </a:ln>
        </p:spPr>
        <p:txBody>
          <a:bodyPr rtlCol="0"/>
          <a:lstStyle/>
          <a:p>
            <a:pPr algn="ctr"/>
            <a:endParaRPr lang="zh-CN" altLang="en-US" sz="1350"/>
          </a:p>
        </p:txBody>
      </p:sp>
      <p:sp>
        <p:nvSpPr>
          <p:cNvPr id="378" name="textbox 378"/>
          <p:cNvSpPr/>
          <p:nvPr/>
        </p:nvSpPr>
        <p:spPr>
          <a:xfrm>
            <a:off x="586105" y="771525"/>
            <a:ext cx="3929380" cy="65214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algn="r" rtl="0" eaLnBrk="0">
              <a:lnSpc>
                <a:spcPct val="86000"/>
              </a:lnSpc>
            </a:pPr>
            <a:r>
              <a:rPr sz="15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软件危机产生的主要原因包括以下两个方</a:t>
            </a:r>
            <a:r>
              <a:rPr sz="1500"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面：</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4000"/>
              </a:lnSpc>
            </a:pPr>
            <a:endParaRPr sz="750" dirty="0">
              <a:latin typeface="Arial" panose="020B0604020202020204"/>
              <a:ea typeface="Arial" panose="020B0604020202020204"/>
              <a:cs typeface="Arial" panose="020B0604020202020204"/>
            </a:endParaRPr>
          </a:p>
          <a:p>
            <a:pPr algn="l" rtl="0" eaLnBrk="0">
              <a:lnSpc>
                <a:spcPct val="104000"/>
              </a:lnSpc>
            </a:pPr>
            <a:endParaRPr sz="750" dirty="0">
              <a:latin typeface="Arial" panose="020B0604020202020204"/>
              <a:ea typeface="Arial" panose="020B0604020202020204"/>
              <a:cs typeface="Arial" panose="020B0604020202020204"/>
            </a:endParaRPr>
          </a:p>
          <a:p>
            <a:pPr algn="l" rtl="0" eaLnBrk="0">
              <a:lnSpc>
                <a:spcPct val="104000"/>
              </a:lnSpc>
            </a:pPr>
            <a:endParaRPr sz="750" dirty="0">
              <a:latin typeface="Arial" panose="020B0604020202020204"/>
              <a:ea typeface="Arial" panose="020B0604020202020204"/>
              <a:cs typeface="Arial" panose="020B0604020202020204"/>
            </a:endParaRPr>
          </a:p>
          <a:p>
            <a:pPr algn="l" rtl="0" eaLnBrk="0">
              <a:lnSpc>
                <a:spcPct val="101000"/>
              </a:lnSpc>
            </a:pPr>
            <a:endParaRPr sz="375" dirty="0">
              <a:latin typeface="Arial" panose="020B0604020202020204"/>
              <a:ea typeface="Arial" panose="020B0604020202020204"/>
              <a:cs typeface="Arial" panose="020B0604020202020204"/>
            </a:endParaRPr>
          </a:p>
          <a:p>
            <a:pPr marL="12700" algn="l" rtl="0" eaLnBrk="0">
              <a:lnSpc>
                <a:spcPct val="86000"/>
              </a:lnSpc>
              <a:spcBef>
                <a:spcPts val="0"/>
              </a:spcBef>
              <a:tabLst>
                <a:tab pos="213995" algn="l"/>
              </a:tabLst>
            </a:pPr>
            <a:r>
              <a:rPr sz="1425" kern="0" spc="0" dirty="0">
                <a:solidFill>
                  <a:srgbClr val="FFFFFF">
                    <a:alpha val="100000"/>
                  </a:srgbClr>
                </a:solidFill>
                <a:latin typeface="Arial" panose="020B0604020202020204"/>
                <a:ea typeface="Arial" panose="020B0604020202020204"/>
                <a:cs typeface="Arial" panose="020B0604020202020204"/>
              </a:rPr>
              <a:t>	</a:t>
            </a:r>
            <a:r>
              <a:rPr sz="2250" b="1" kern="0" spc="-20" baseline="3000" dirty="0">
                <a:solidFill>
                  <a:srgbClr val="FFFFFF">
                    <a:alpha val="100000"/>
                  </a:srgbClr>
                </a:solidFill>
                <a:latin typeface="Arial" panose="020B0604020202020204"/>
                <a:ea typeface="Arial" panose="020B0604020202020204"/>
                <a:cs typeface="Arial" panose="020B0604020202020204"/>
              </a:rPr>
              <a:t>1</a:t>
            </a:r>
            <a:r>
              <a:rPr sz="1425" b="1" kern="0" spc="30" dirty="0">
                <a:solidFill>
                  <a:srgbClr val="FFFFFF">
                    <a:alpha val="100000"/>
                  </a:srgbClr>
                </a:solidFill>
                <a:latin typeface="Arial" panose="020B0604020202020204"/>
                <a:ea typeface="Arial" panose="020B0604020202020204"/>
                <a:cs typeface="Arial" panose="020B0604020202020204"/>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与软件本身的特点有</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标题 1"/>
          <p:cNvSpPr>
            <a:spLocks noGrp="1"/>
          </p:cNvSpPr>
          <p:nvPr>
            <p:ph type="title"/>
          </p:nvPr>
        </p:nvSpPr>
        <p:spPr/>
        <p:txBody>
          <a:bodyPr/>
          <a:p>
            <a:r>
              <a:rPr lang="en-US" altLang="zh-CN" dirty="0" smtClean="0"/>
              <a:t>2. </a:t>
            </a:r>
            <a:r>
              <a:rPr lang="zh-CN" altLang="en-US" dirty="0" smtClean="0"/>
              <a:t>软件危机产生的原因</a:t>
            </a:r>
            <a:endParaRPr lang="en-US" altLang="zh-CN" dirty="0" smtClean="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6" name="picture 386"/>
          <p:cNvPicPr>
            <a:picLocks noChangeAspect="1"/>
          </p:cNvPicPr>
          <p:nvPr/>
        </p:nvPicPr>
        <p:blipFill>
          <a:blip r:embed="rId1"/>
          <a:stretch>
            <a:fillRect/>
          </a:stretch>
        </p:blipFill>
        <p:spPr>
          <a:xfrm rot="21600000">
            <a:off x="326136" y="3818599"/>
            <a:ext cx="8675025" cy="1075981"/>
          </a:xfrm>
          <a:prstGeom prst="rect">
            <a:avLst/>
          </a:prstGeom>
        </p:spPr>
      </p:pic>
      <p:grpSp>
        <p:nvGrpSpPr>
          <p:cNvPr id="32" name="group 32"/>
          <p:cNvGrpSpPr/>
          <p:nvPr/>
        </p:nvGrpSpPr>
        <p:grpSpPr>
          <a:xfrm rot="21600000">
            <a:off x="283058" y="2717264"/>
            <a:ext cx="8708645" cy="1110597"/>
            <a:chOff x="0" y="0"/>
            <a:chExt cx="11611526" cy="1480796"/>
          </a:xfrm>
        </p:grpSpPr>
        <p:pic>
          <p:nvPicPr>
            <p:cNvPr id="388" name="picture 388"/>
            <p:cNvPicPr>
              <a:picLocks noChangeAspect="1"/>
            </p:cNvPicPr>
            <p:nvPr/>
          </p:nvPicPr>
          <p:blipFill>
            <a:blip r:embed="rId2"/>
            <a:stretch>
              <a:fillRect/>
            </a:stretch>
          </p:blipFill>
          <p:spPr>
            <a:xfrm rot="21600000">
              <a:off x="37015" y="16603"/>
              <a:ext cx="11574511" cy="1464193"/>
            </a:xfrm>
            <a:prstGeom prst="rect">
              <a:avLst/>
            </a:prstGeom>
          </p:spPr>
        </p:pic>
        <p:sp>
          <p:nvSpPr>
            <p:cNvPr id="390" name="textbox 390"/>
            <p:cNvSpPr/>
            <p:nvPr/>
          </p:nvSpPr>
          <p:spPr>
            <a:xfrm>
              <a:off x="1981918" y="-12700"/>
              <a:ext cx="9057005" cy="1151889"/>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a:ea typeface="Arial" panose="020B0604020202020204"/>
                <a:cs typeface="Arial" panose="020B0604020202020204"/>
              </a:endParaRPr>
            </a:p>
            <a:p>
              <a:pPr marL="8348345" algn="l" rtl="0" eaLnBrk="0">
                <a:lnSpc>
                  <a:spcPct val="99000"/>
                </a:lnSpc>
              </a:pPr>
              <a:r>
                <a:rPr sz="600" kern="0" spc="5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600" dirty="0">
                <a:latin typeface="微软雅黑" panose="020B0503020204020204" pitchFamily="34" charset="-122"/>
                <a:ea typeface="微软雅黑" panose="020B0503020204020204" pitchFamily="34" charset="-122"/>
                <a:cs typeface="微软雅黑" panose="020B0503020204020204" pitchFamily="34" charset="-122"/>
              </a:endParaRPr>
            </a:p>
            <a:p>
              <a:pPr marL="13970" indent="-1905" algn="l" rtl="0" eaLnBrk="0">
                <a:lnSpc>
                  <a:spcPct val="142000"/>
                </a:lnSpc>
                <a:spcBef>
                  <a:spcPts val="75"/>
                </a:spcBef>
              </a:pPr>
              <a:r>
                <a:rPr sz="1725"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如集成开发环境（ </a:t>
              </a:r>
              <a:r>
                <a:rPr sz="1725" b="1" kern="0" spc="0" dirty="0">
                  <a:solidFill>
                    <a:srgbClr val="000000">
                      <a:alpha val="100000"/>
                    </a:srgbClr>
                  </a:solidFill>
                  <a:latin typeface="Tahoma" panose="020B0604030504040204"/>
                  <a:ea typeface="Tahoma" panose="020B0604030504040204"/>
                  <a:cs typeface="Tahoma" panose="020B0604030504040204"/>
                </a:rPr>
                <a:t>IDE</a:t>
              </a:r>
              <a:r>
                <a:rPr sz="1725"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4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版本控制系统、</a:t>
              </a:r>
              <a:r>
                <a:rPr sz="1725" kern="0" spc="-4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项目管理工具、</a:t>
              </a:r>
              <a:r>
                <a:rPr sz="1725" kern="0" spc="-4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集成软件</a:t>
              </a:r>
              <a:r>
                <a:rPr sz="172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开发工具链。</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2" name="path 392"/>
            <p:cNvSpPr/>
            <p:nvPr/>
          </p:nvSpPr>
          <p:spPr>
            <a:xfrm>
              <a:off x="17304" y="469259"/>
              <a:ext cx="121920" cy="752856"/>
            </a:xfrm>
            <a:custGeom>
              <a:avLst/>
              <a:gdLst/>
              <a:ahLst/>
              <a:cxnLst/>
              <a:rect l="0" t="0" r="0" b="0"/>
              <a:pathLst>
                <a:path w="192" h="1185">
                  <a:moveTo>
                    <a:pt x="192" y="0"/>
                  </a:moveTo>
                  <a:lnTo>
                    <a:pt x="192" y="1185"/>
                  </a:lnTo>
                  <a:lnTo>
                    <a:pt x="0" y="1185"/>
                  </a:lnTo>
                  <a:lnTo>
                    <a:pt x="0" y="0"/>
                  </a:lnTo>
                  <a:lnTo>
                    <a:pt x="192" y="0"/>
                  </a:lnTo>
                </a:path>
              </a:pathLst>
            </a:custGeom>
            <a:solidFill>
              <a:srgbClr val="0070C0">
                <a:alpha val="100000"/>
              </a:srgbClr>
            </a:solidFill>
            <a:ln w="0" cap="flat">
              <a:noFill/>
              <a:prstDash val="solid"/>
              <a:miter lim="0"/>
            </a:ln>
          </p:spPr>
          <p:txBody>
            <a:bodyPr rtlCol="0"/>
            <a:lstStyle/>
            <a:p>
              <a:pPr algn="ctr"/>
              <a:endParaRPr lang="zh-CN" altLang="en-US" sz="1350"/>
            </a:p>
          </p:txBody>
        </p:sp>
        <p:pic>
          <p:nvPicPr>
            <p:cNvPr id="394" name="picture 394"/>
            <p:cNvPicPr>
              <a:picLocks noChangeAspect="1"/>
            </p:cNvPicPr>
            <p:nvPr/>
          </p:nvPicPr>
          <p:blipFill>
            <a:blip r:embed="rId3"/>
            <a:stretch>
              <a:fillRect/>
            </a:stretch>
          </p:blipFill>
          <p:spPr>
            <a:xfrm rot="21600000">
              <a:off x="0" y="7828"/>
              <a:ext cx="1848368" cy="655668"/>
            </a:xfrm>
            <a:prstGeom prst="rect">
              <a:avLst/>
            </a:prstGeom>
          </p:spPr>
        </p:pic>
      </p:grpSp>
      <p:grpSp>
        <p:nvGrpSpPr>
          <p:cNvPr id="34" name="group 34"/>
          <p:cNvGrpSpPr/>
          <p:nvPr/>
        </p:nvGrpSpPr>
        <p:grpSpPr>
          <a:xfrm rot="21600000">
            <a:off x="270549" y="1612925"/>
            <a:ext cx="8721155" cy="1047996"/>
            <a:chOff x="0" y="0"/>
            <a:chExt cx="11628206" cy="1397328"/>
          </a:xfrm>
        </p:grpSpPr>
        <p:pic>
          <p:nvPicPr>
            <p:cNvPr id="396" name="picture 396"/>
            <p:cNvPicPr>
              <a:picLocks noChangeAspect="1"/>
            </p:cNvPicPr>
            <p:nvPr/>
          </p:nvPicPr>
          <p:blipFill>
            <a:blip r:embed="rId4"/>
            <a:stretch>
              <a:fillRect/>
            </a:stretch>
          </p:blipFill>
          <p:spPr>
            <a:xfrm rot="21600000">
              <a:off x="53694" y="59358"/>
              <a:ext cx="11574511" cy="1337969"/>
            </a:xfrm>
            <a:prstGeom prst="rect">
              <a:avLst/>
            </a:prstGeom>
          </p:spPr>
        </p:pic>
        <p:sp>
          <p:nvSpPr>
            <p:cNvPr id="398" name="textbox 398"/>
            <p:cNvSpPr/>
            <p:nvPr/>
          </p:nvSpPr>
          <p:spPr>
            <a:xfrm>
              <a:off x="1866669" y="-12700"/>
              <a:ext cx="9398634" cy="84518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algn="r" rtl="0" eaLnBrk="0">
                <a:lnSpc>
                  <a:spcPct val="85000"/>
                </a:lnSpc>
              </a:pPr>
              <a:r>
                <a:rPr sz="2400" kern="0" spc="-1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践</a:t>
              </a:r>
              <a:r>
                <a:rPr sz="2400" kern="0" spc="-9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实</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ts val="3105"/>
                </a:lnSpc>
                <a:spcBef>
                  <a:spcPts val="75"/>
                </a:spcBef>
              </a:pPr>
              <a:r>
                <a:rPr sz="1725"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体系结构设计、</a:t>
              </a:r>
              <a:r>
                <a:rPr sz="1725" kern="0" spc="-4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敏捷开发、</a:t>
              </a:r>
              <a:r>
                <a:rPr sz="1725" kern="0" spc="-4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持续集成和持续部署（</a:t>
              </a:r>
              <a:r>
                <a:rPr sz="1725" b="1" kern="0" spc="0" dirty="0">
                  <a:solidFill>
                    <a:srgbClr val="000000">
                      <a:alpha val="100000"/>
                    </a:srgbClr>
                  </a:solidFill>
                  <a:latin typeface="Tahoma" panose="020B0604030504040204"/>
                  <a:ea typeface="Tahoma" panose="020B0604030504040204"/>
                  <a:cs typeface="Tahoma" panose="020B0604030504040204"/>
                </a:rPr>
                <a:t>CI</a:t>
              </a:r>
              <a:r>
                <a:rPr sz="1725" b="1" kern="0" spc="10" dirty="0">
                  <a:solidFill>
                    <a:srgbClr val="000000">
                      <a:alpha val="100000"/>
                    </a:srgbClr>
                  </a:solidFill>
                  <a:latin typeface="Tahoma" panose="020B0604030504040204"/>
                  <a:ea typeface="Tahoma" panose="020B0604030504040204"/>
                  <a:cs typeface="Tahoma" panose="020B0604030504040204"/>
                </a:rPr>
                <a:t>/</a:t>
              </a:r>
              <a:r>
                <a:rPr sz="1725" b="1" kern="0" spc="0" dirty="0">
                  <a:solidFill>
                    <a:srgbClr val="000000">
                      <a:alpha val="100000"/>
                    </a:srgbClr>
                  </a:solidFill>
                  <a:latin typeface="Tahoma" panose="020B0604030504040204"/>
                  <a:ea typeface="Tahoma" panose="020B0604030504040204"/>
                  <a:cs typeface="Tahoma" panose="020B0604030504040204"/>
                </a:rPr>
                <a:t>CD</a:t>
              </a:r>
              <a:r>
                <a:rPr sz="1725"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3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的实践。</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00" name="picture 400"/>
            <p:cNvPicPr>
              <a:picLocks noChangeAspect="1"/>
            </p:cNvPicPr>
            <p:nvPr/>
          </p:nvPicPr>
          <p:blipFill>
            <a:blip r:embed="rId5"/>
            <a:stretch>
              <a:fillRect/>
            </a:stretch>
          </p:blipFill>
          <p:spPr>
            <a:xfrm rot="21600000">
              <a:off x="0" y="95345"/>
              <a:ext cx="1847126" cy="655668"/>
            </a:xfrm>
            <a:prstGeom prst="rect">
              <a:avLst/>
            </a:prstGeom>
          </p:spPr>
        </p:pic>
      </p:grpSp>
      <p:sp>
        <p:nvSpPr>
          <p:cNvPr id="404" name="textbox 404"/>
          <p:cNvSpPr/>
          <p:nvPr/>
        </p:nvSpPr>
        <p:spPr>
          <a:xfrm>
            <a:off x="367931" y="916095"/>
            <a:ext cx="8244839" cy="645795"/>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a:ea typeface="Arial" panose="020B0604020202020204"/>
              <a:cs typeface="Arial" panose="020B0604020202020204"/>
            </a:endParaRPr>
          </a:p>
          <a:p>
            <a:pPr marL="12700" algn="l" rtl="0" eaLnBrk="0">
              <a:lnSpc>
                <a:spcPct val="82000"/>
              </a:lnSpc>
            </a:pP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解决软件危机是一个多方面的挑战</a:t>
            </a:r>
            <a:r>
              <a:rPr sz="1725" kern="0" spc="-2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725" kern="0" spc="-5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涉及</a:t>
            </a:r>
            <a:r>
              <a:rPr sz="1725" b="1" u="sng" kern="0" spc="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技</a:t>
            </a:r>
            <a:r>
              <a:rPr sz="1725" b="1" u="sng" kern="0" spc="7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术方法、</a:t>
            </a:r>
            <a:r>
              <a:rPr sz="1725" b="1" u="sng" kern="0" spc="-37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b="1" u="sng" kern="0" spc="7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开发工具和组织管理</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等多个层面。</a:t>
            </a:r>
            <a:r>
              <a:rPr sz="1725"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以下是从这三个方面介绍的一些具体措</a:t>
            </a:r>
            <a:r>
              <a:rPr sz="1725"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施：</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6" name="textbox 406"/>
          <p:cNvSpPr/>
          <p:nvPr/>
        </p:nvSpPr>
        <p:spPr>
          <a:xfrm>
            <a:off x="8125777" y="3810343"/>
            <a:ext cx="609124" cy="300513"/>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algn="r" rtl="0" eaLnBrk="0">
              <a:lnSpc>
                <a:spcPct val="77000"/>
              </a:lnSpc>
            </a:pPr>
            <a:r>
              <a:rPr sz="2400" kern="0" spc="-1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践</a:t>
            </a:r>
            <a:r>
              <a:rPr sz="2400" kern="0" spc="-9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实</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8" name="textbox 408"/>
          <p:cNvSpPr/>
          <p:nvPr/>
        </p:nvSpPr>
        <p:spPr>
          <a:xfrm>
            <a:off x="1765839" y="3990447"/>
            <a:ext cx="6756082" cy="646748"/>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a:ea typeface="Arial" panose="020B0604020202020204"/>
              <a:cs typeface="Arial" panose="020B0604020202020204"/>
            </a:endParaRPr>
          </a:p>
          <a:p>
            <a:pPr marL="19685" algn="l" rtl="0" eaLnBrk="0">
              <a:lnSpc>
                <a:spcPct val="82000"/>
              </a:lnSpc>
            </a:pPr>
            <a:r>
              <a:rPr sz="1725"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建立严格的管理制度、</a:t>
            </a:r>
            <a:r>
              <a:rPr sz="1725" kern="0" spc="-4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1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推广成功的开发技术和</a:t>
            </a:r>
            <a:r>
              <a:rPr sz="1725"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方法、</a:t>
            </a:r>
            <a:r>
              <a:rPr sz="1725" kern="0" spc="-4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加强团队协作</a:t>
            </a:r>
            <a:r>
              <a:rPr sz="1725"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和沟通、</a:t>
            </a:r>
            <a:r>
              <a:rPr sz="1725" kern="0" spc="-4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注重文档和服务。</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4" name="rect 414"/>
          <p:cNvSpPr/>
          <p:nvPr/>
        </p:nvSpPr>
        <p:spPr>
          <a:xfrm>
            <a:off x="347472" y="1717039"/>
            <a:ext cx="1082420" cy="345186"/>
          </a:xfrm>
          <a:prstGeom prst="rect">
            <a:avLst/>
          </a:prstGeom>
          <a:solidFill>
            <a:srgbClr val="0070C0">
              <a:alpha val="100000"/>
            </a:srgbClr>
          </a:solidFill>
          <a:ln w="0" cap="flat">
            <a:noFill/>
            <a:prstDash val="solid"/>
            <a:miter lim="0"/>
          </a:ln>
        </p:spPr>
        <p:txBody>
          <a:bodyPr rtlCol="0"/>
          <a:lstStyle/>
          <a:p>
            <a:pPr algn="ctr"/>
            <a:endParaRPr lang="zh-CN" altLang="en-US" sz="1350"/>
          </a:p>
        </p:txBody>
      </p:sp>
      <p:sp>
        <p:nvSpPr>
          <p:cNvPr id="416" name="textbox 416"/>
          <p:cNvSpPr/>
          <p:nvPr/>
        </p:nvSpPr>
        <p:spPr>
          <a:xfrm>
            <a:off x="273685" y="1765935"/>
            <a:ext cx="1257300" cy="739775"/>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34620" algn="l" rtl="0" eaLnBrk="0">
              <a:lnSpc>
                <a:spcPct val="88000"/>
              </a:lnSpc>
              <a:tabLst>
                <a:tab pos="222250" algn="l"/>
              </a:tabLst>
            </a:pPr>
            <a:r>
              <a:rPr sz="1725"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技术方法</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8" name="path 418"/>
          <p:cNvSpPr/>
          <p:nvPr/>
        </p:nvSpPr>
        <p:spPr>
          <a:xfrm>
            <a:off x="283464" y="1909063"/>
            <a:ext cx="91440" cy="564641"/>
          </a:xfrm>
          <a:custGeom>
            <a:avLst/>
            <a:gdLst/>
            <a:ahLst/>
            <a:cxnLst/>
            <a:rect l="0" t="0" r="0" b="0"/>
            <a:pathLst>
              <a:path w="192" h="1185">
                <a:moveTo>
                  <a:pt x="192" y="0"/>
                </a:moveTo>
                <a:lnTo>
                  <a:pt x="192" y="1185"/>
                </a:lnTo>
                <a:lnTo>
                  <a:pt x="0" y="1185"/>
                </a:lnTo>
                <a:lnTo>
                  <a:pt x="0" y="0"/>
                </a:lnTo>
                <a:lnTo>
                  <a:pt x="192" y="0"/>
                </a:lnTo>
              </a:path>
            </a:pathLst>
          </a:custGeom>
          <a:solidFill>
            <a:srgbClr val="0070C0">
              <a:alpha val="100000"/>
            </a:srgbClr>
          </a:solidFill>
          <a:ln w="0" cap="flat">
            <a:noFill/>
            <a:prstDash val="solid"/>
            <a:miter lim="0"/>
          </a:ln>
        </p:spPr>
        <p:txBody>
          <a:bodyPr rtlCol="0"/>
          <a:lstStyle/>
          <a:p>
            <a:pPr algn="ctr"/>
            <a:endParaRPr lang="zh-CN" altLang="en-US" sz="1350"/>
          </a:p>
        </p:txBody>
      </p:sp>
      <p:sp>
        <p:nvSpPr>
          <p:cNvPr id="420" name="path 420"/>
          <p:cNvSpPr/>
          <p:nvPr/>
        </p:nvSpPr>
        <p:spPr>
          <a:xfrm>
            <a:off x="298322" y="4166488"/>
            <a:ext cx="91440" cy="564641"/>
          </a:xfrm>
          <a:custGeom>
            <a:avLst/>
            <a:gdLst/>
            <a:ahLst/>
            <a:cxnLst/>
            <a:rect l="0" t="0" r="0" b="0"/>
            <a:pathLst>
              <a:path w="192" h="1185">
                <a:moveTo>
                  <a:pt x="192" y="0"/>
                </a:moveTo>
                <a:lnTo>
                  <a:pt x="192" y="1185"/>
                </a:lnTo>
                <a:lnTo>
                  <a:pt x="0" y="1185"/>
                </a:lnTo>
                <a:lnTo>
                  <a:pt x="0" y="0"/>
                </a:lnTo>
                <a:lnTo>
                  <a:pt x="192" y="0"/>
                </a:lnTo>
              </a:path>
            </a:pathLst>
          </a:custGeom>
          <a:solidFill>
            <a:srgbClr val="0070C0">
              <a:alpha val="100000"/>
            </a:srgbClr>
          </a:solidFill>
          <a:ln w="0" cap="flat">
            <a:noFill/>
            <a:prstDash val="solid"/>
            <a:miter lim="0"/>
          </a:ln>
        </p:spPr>
        <p:txBody>
          <a:bodyPr rtlCol="0"/>
          <a:lstStyle/>
          <a:p>
            <a:pPr algn="ctr"/>
            <a:endParaRPr lang="zh-CN" altLang="en-US" sz="1350"/>
          </a:p>
        </p:txBody>
      </p:sp>
      <p:pic>
        <p:nvPicPr>
          <p:cNvPr id="422" name="picture 422"/>
          <p:cNvPicPr>
            <a:picLocks noChangeAspect="1"/>
          </p:cNvPicPr>
          <p:nvPr/>
        </p:nvPicPr>
        <p:blipFill>
          <a:blip r:embed="rId6"/>
          <a:stretch>
            <a:fillRect/>
          </a:stretch>
        </p:blipFill>
        <p:spPr>
          <a:xfrm rot="21600000">
            <a:off x="295277" y="3819940"/>
            <a:ext cx="1385345" cy="491751"/>
          </a:xfrm>
          <a:prstGeom prst="rect">
            <a:avLst/>
          </a:prstGeom>
        </p:spPr>
      </p:pic>
      <p:sp>
        <p:nvSpPr>
          <p:cNvPr id="424" name="rect 424"/>
          <p:cNvSpPr/>
          <p:nvPr/>
        </p:nvSpPr>
        <p:spPr>
          <a:xfrm>
            <a:off x="360044" y="2756026"/>
            <a:ext cx="1082420" cy="345185"/>
          </a:xfrm>
          <a:prstGeom prst="rect">
            <a:avLst/>
          </a:prstGeom>
          <a:solidFill>
            <a:srgbClr val="0070C0">
              <a:alpha val="100000"/>
            </a:srgbClr>
          </a:solidFill>
          <a:ln w="0" cap="flat">
            <a:noFill/>
            <a:prstDash val="solid"/>
            <a:miter lim="0"/>
          </a:ln>
        </p:spPr>
        <p:txBody>
          <a:bodyPr rtlCol="0"/>
          <a:lstStyle/>
          <a:p>
            <a:pPr algn="ctr"/>
            <a:endParaRPr lang="zh-CN" altLang="en-US" sz="1350"/>
          </a:p>
        </p:txBody>
      </p:sp>
      <p:sp>
        <p:nvSpPr>
          <p:cNvPr id="426" name="rect 426"/>
          <p:cNvSpPr/>
          <p:nvPr/>
        </p:nvSpPr>
        <p:spPr>
          <a:xfrm>
            <a:off x="362331" y="3852163"/>
            <a:ext cx="1082420" cy="345185"/>
          </a:xfrm>
          <a:prstGeom prst="rect">
            <a:avLst/>
          </a:prstGeom>
          <a:solidFill>
            <a:srgbClr val="0070C0">
              <a:alpha val="100000"/>
            </a:srgbClr>
          </a:solidFill>
          <a:ln w="0" cap="flat">
            <a:noFill/>
            <a:prstDash val="solid"/>
            <a:miter lim="0"/>
          </a:ln>
        </p:spPr>
        <p:txBody>
          <a:bodyPr rtlCol="0"/>
          <a:lstStyle/>
          <a:p>
            <a:pPr algn="ctr"/>
            <a:endParaRPr lang="zh-CN" altLang="en-US" sz="1350"/>
          </a:p>
        </p:txBody>
      </p:sp>
      <p:sp>
        <p:nvSpPr>
          <p:cNvPr id="428" name="textbox 428"/>
          <p:cNvSpPr/>
          <p:nvPr/>
        </p:nvSpPr>
        <p:spPr>
          <a:xfrm>
            <a:off x="448275" y="3900846"/>
            <a:ext cx="922020" cy="229076"/>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80000"/>
              </a:lnSpc>
            </a:pPr>
            <a:r>
              <a:rPr sz="1725" kern="0" spc="6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组织管理</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0" name="textbox 430"/>
          <p:cNvSpPr/>
          <p:nvPr/>
        </p:nvSpPr>
        <p:spPr>
          <a:xfrm>
            <a:off x="447675" y="2806700"/>
            <a:ext cx="1082675" cy="227965"/>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12700" algn="l" rtl="0" eaLnBrk="0">
              <a:lnSpc>
                <a:spcPct val="79000"/>
              </a:lnSpc>
            </a:pPr>
            <a:r>
              <a:rPr sz="1725" kern="0" spc="6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开发工具</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32" name="picture 432"/>
          <p:cNvPicPr>
            <a:picLocks noChangeAspect="1"/>
          </p:cNvPicPr>
          <p:nvPr/>
        </p:nvPicPr>
        <p:blipFill>
          <a:blip r:embed="rId7"/>
          <a:stretch>
            <a:fillRect/>
          </a:stretch>
        </p:blipFill>
        <p:spPr>
          <a:xfrm rot="21600000">
            <a:off x="268605" y="65798"/>
            <a:ext cx="41147" cy="486155"/>
          </a:xfrm>
          <a:prstGeom prst="rect">
            <a:avLst/>
          </a:prstGeom>
        </p:spPr>
      </p:pic>
      <p:sp>
        <p:nvSpPr>
          <p:cNvPr id="434" name="textbox 434"/>
          <p:cNvSpPr/>
          <p:nvPr/>
        </p:nvSpPr>
        <p:spPr>
          <a:xfrm>
            <a:off x="8036807" y="3804543"/>
            <a:ext cx="142398" cy="10048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9000"/>
              </a:lnSpc>
            </a:pPr>
            <a:r>
              <a:rPr sz="600" kern="0" spc="5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标题 1"/>
          <p:cNvSpPr>
            <a:spLocks noGrp="1"/>
          </p:cNvSpPr>
          <p:nvPr>
            <p:ph type="title"/>
          </p:nvPr>
        </p:nvSpPr>
        <p:spPr/>
        <p:txBody>
          <a:bodyPr/>
          <a:p>
            <a:r>
              <a:rPr lang="en-US" altLang="zh-CN" dirty="0">
                <a:sym typeface="+mn-ea"/>
              </a:rPr>
              <a:t>3.</a:t>
            </a:r>
            <a:r>
              <a:rPr lang="zh-CN" altLang="en-US" dirty="0">
                <a:sym typeface="+mn-ea"/>
              </a:rPr>
              <a:t>软件工程(学):解决</a:t>
            </a:r>
            <a:r>
              <a:rPr lang="zh-CN" altLang="en-US" dirty="0">
                <a:sym typeface="+mn-ea"/>
              </a:rPr>
              <a:t>软件</a:t>
            </a:r>
            <a:r>
              <a:rPr lang="zh-CN" altLang="en-US" dirty="0">
                <a:sym typeface="+mn-ea"/>
              </a:rPr>
              <a:t>危机的主要措施</a:t>
            </a: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1.3</a:t>
            </a:r>
            <a:r>
              <a:rPr lang="zh-CN" altLang="en-US" dirty="0" smtClean="0"/>
              <a:t>探讨软件之道</a:t>
            </a:r>
            <a:endParaRPr lang="zh-CN" altLang="en-US" dirty="0"/>
          </a:p>
        </p:txBody>
      </p:sp>
      <p:sp>
        <p:nvSpPr>
          <p:cNvPr id="3" name="内容占位符 2"/>
          <p:cNvSpPr>
            <a:spLocks noGrp="1"/>
          </p:cNvSpPr>
          <p:nvPr>
            <p:ph idx="1"/>
          </p:nvPr>
        </p:nvSpPr>
        <p:spPr>
          <a:xfrm>
            <a:off x="768097" y="1324303"/>
            <a:ext cx="7832833" cy="3407718"/>
          </a:xfrm>
        </p:spPr>
        <p:txBody>
          <a:bodyPr>
            <a:normAutofit/>
          </a:bodyPr>
          <a:lstStyle/>
          <a:p>
            <a:r>
              <a:rPr lang="en-US" altLang="zh-CN" sz="3200" dirty="0" smtClean="0"/>
              <a:t>1968</a:t>
            </a:r>
            <a:r>
              <a:rPr lang="zh-CN" altLang="en-US" sz="3200" dirty="0" smtClean="0"/>
              <a:t>年，北大西洋公约组织（</a:t>
            </a:r>
            <a:r>
              <a:rPr lang="en-US" altLang="zh-CN" sz="3200" dirty="0" smtClean="0"/>
              <a:t>NATO</a:t>
            </a:r>
            <a:r>
              <a:rPr lang="zh-CN" altLang="en-US" sz="3200" dirty="0" smtClean="0"/>
              <a:t>）在德国慕尼黑召开国际会议，提出“软件工程”的概念和术语。</a:t>
            </a:r>
            <a:endParaRPr lang="zh-CN" altLang="en-US" sz="3200" dirty="0"/>
          </a:p>
        </p:txBody>
      </p:sp>
      <p:sp>
        <p:nvSpPr>
          <p:cNvPr id="4" name="日期占位符 3"/>
          <p:cNvSpPr>
            <a:spLocks noGrp="1"/>
          </p:cNvSpPr>
          <p:nvPr>
            <p:ph type="dt" sz="half" idx="10"/>
          </p:nvPr>
        </p:nvSpPr>
        <p:spPr/>
        <p:txBody>
          <a:bodyPr/>
          <a:lstStyle/>
          <a:p>
            <a:fld id="{2066DBC2-A837-4C36-8279-1C205B8B151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1.3 </a:t>
            </a:r>
            <a:r>
              <a:rPr lang="zh-CN" altLang="en-US" dirty="0" smtClean="0"/>
              <a:t>软件工程的概念</a:t>
            </a:r>
            <a:endParaRPr lang="zh-CN" altLang="en-US" dirty="0"/>
          </a:p>
        </p:txBody>
      </p:sp>
      <p:sp>
        <p:nvSpPr>
          <p:cNvPr id="3" name="内容占位符 2"/>
          <p:cNvSpPr>
            <a:spLocks noGrp="1"/>
          </p:cNvSpPr>
          <p:nvPr>
            <p:ph idx="1"/>
          </p:nvPr>
        </p:nvSpPr>
        <p:spPr>
          <a:xfrm>
            <a:off x="768097" y="987551"/>
            <a:ext cx="7832833" cy="3744469"/>
          </a:xfrm>
        </p:spPr>
        <p:txBody>
          <a:bodyPr/>
          <a:lstStyle/>
          <a:p>
            <a:r>
              <a:rPr lang="zh-CN" altLang="en-US" dirty="0" smtClean="0">
                <a:latin typeface="+mj-ea"/>
                <a:ea typeface="+mj-ea"/>
              </a:rPr>
              <a:t>什么是软件工程？</a:t>
            </a:r>
            <a:endParaRPr lang="zh-CN" altLang="en-US" dirty="0">
              <a:latin typeface="+mj-ea"/>
              <a:ea typeface="+mj-ea"/>
            </a:endParaRPr>
          </a:p>
        </p:txBody>
      </p:sp>
      <p:sp>
        <p:nvSpPr>
          <p:cNvPr id="4" name="日期占位符 3"/>
          <p:cNvSpPr>
            <a:spLocks noGrp="1"/>
          </p:cNvSpPr>
          <p:nvPr>
            <p:ph type="dt" sz="half" idx="10"/>
          </p:nvPr>
        </p:nvSpPr>
        <p:spPr/>
        <p:txBody>
          <a:bodyPr/>
          <a:lstStyle/>
          <a:p>
            <a:fld id="{AF40C05F-6683-4DDF-8317-D9E37E8D09F1}"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圆角矩形 7"/>
          <p:cNvSpPr/>
          <p:nvPr/>
        </p:nvSpPr>
        <p:spPr>
          <a:xfrm>
            <a:off x="536430" y="1563591"/>
            <a:ext cx="8218950" cy="2423479"/>
          </a:xfrm>
          <a:prstGeom prst="roundRect">
            <a:avLst/>
          </a:prstGeom>
          <a:noFill/>
        </p:spPr>
        <p:style>
          <a:lnRef idx="2">
            <a:schemeClr val="accent2"/>
          </a:lnRef>
          <a:fillRef idx="1">
            <a:schemeClr val="lt1"/>
          </a:fillRef>
          <a:effectRef idx="0">
            <a:schemeClr val="accent2"/>
          </a:effectRef>
          <a:fontRef idx="minor">
            <a:schemeClr val="dk1"/>
          </a:fontRef>
        </p:style>
        <p:txBody>
          <a:bodyPr anchor="ctr"/>
          <a:lstStyle/>
          <a:p>
            <a:pPr lvl="0" indent="457200">
              <a:lnSpc>
                <a:spcPct val="125000"/>
              </a:lnSpc>
              <a:defRPr/>
            </a:pPr>
            <a:r>
              <a:rPr lang="zh-CN" altLang="zh-CN" sz="2400" dirty="0">
                <a:solidFill>
                  <a:prstClr val="black"/>
                </a:solidFill>
                <a:latin typeface="微软雅黑" panose="020B0503020204020204" pitchFamily="34" charset="-122"/>
                <a:ea typeface="微软雅黑" panose="020B0503020204020204" pitchFamily="34" charset="-122"/>
              </a:rPr>
              <a:t>软件工程是指导计算机软件开发和维护的一门工程学科。采用工程的概念、原理、技术和方法来开发与维护软件，把经过时间考验而证明正确的管理技术和当前能够得到的最好的技术方法结合起来，以经济地开发出高质量的软件并有效地维护它。</a:t>
            </a:r>
            <a:endParaRPr lang="en-US" altLang="zh-CN" sz="2400" b="1" dirty="0">
              <a:solidFill>
                <a:prstClr val="black"/>
              </a:solidFill>
              <a:latin typeface="微软雅黑" panose="020B0503020204020204" pitchFamily="34" charset="-122"/>
              <a:ea typeface="微软雅黑" panose="020B0503020204020204" pitchFamily="34" charset="-122"/>
            </a:endParaRPr>
          </a:p>
        </p:txBody>
      </p:sp>
      <p:sp>
        <p:nvSpPr>
          <p:cNvPr id="7" name="矩形 6"/>
          <p:cNvSpPr/>
          <p:nvPr/>
        </p:nvSpPr>
        <p:spPr>
          <a:xfrm>
            <a:off x="1393333" y="4081875"/>
            <a:ext cx="6664960" cy="461665"/>
          </a:xfrm>
          <a:prstGeom prst="rect">
            <a:avLst/>
          </a:prstGeom>
        </p:spPr>
        <p:txBody>
          <a:bodyPr wrap="square">
            <a:spAutoFit/>
          </a:bodyPr>
          <a:lstStyle/>
          <a:p>
            <a:r>
              <a:rPr lang="zh-CN" altLang="en-US" sz="2400" b="1" dirty="0">
                <a:solidFill>
                  <a:prstClr val="black"/>
                </a:solidFill>
                <a:latin typeface="微软雅黑" panose="020B0503020204020204" pitchFamily="34" charset="-122"/>
                <a:ea typeface="微软雅黑" panose="020B0503020204020204" pitchFamily="34" charset="-122"/>
              </a:rPr>
              <a:t>软件工程的目标 </a:t>
            </a:r>
            <a:r>
              <a:rPr lang="en-US" altLang="zh-CN" sz="2400" b="1" dirty="0">
                <a:solidFill>
                  <a:prstClr val="black"/>
                </a:solidFill>
                <a:latin typeface="微软雅黑" panose="020B0503020204020204" pitchFamily="34" charset="-122"/>
                <a:ea typeface="微软雅黑" panose="020B0503020204020204" pitchFamily="34" charset="-122"/>
              </a:rPr>
              <a:t>—— </a:t>
            </a:r>
            <a:r>
              <a:rPr lang="zh-CN" altLang="en-US" sz="2400" b="1" dirty="0">
                <a:solidFill>
                  <a:prstClr val="black"/>
                </a:solidFill>
                <a:latin typeface="微软雅黑" panose="020B0503020204020204" pitchFamily="34" charset="-122"/>
                <a:ea typeface="微软雅黑" panose="020B0503020204020204" pitchFamily="34" charset="-122"/>
              </a:rPr>
              <a:t>创造“足够好” 的软件</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软件工程概念</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矩形 6"/>
          <p:cNvSpPr/>
          <p:nvPr/>
        </p:nvSpPr>
        <p:spPr>
          <a:xfrm>
            <a:off x="739183" y="805467"/>
            <a:ext cx="8066088" cy="1944687"/>
          </a:xfrm>
          <a:prstGeom prst="rect">
            <a:avLst/>
          </a:prstGeom>
        </p:spPr>
        <p:style>
          <a:lnRef idx="2">
            <a:schemeClr val="accent1"/>
          </a:lnRef>
          <a:fillRef idx="1">
            <a:schemeClr val="lt1"/>
          </a:fillRef>
          <a:effectRef idx="0">
            <a:schemeClr val="accent1"/>
          </a:effectRef>
          <a:fontRef idx="minor">
            <a:schemeClr val="dk1"/>
          </a:fontRef>
        </p:style>
        <p:txBody>
          <a:bodyPr anchor="ctr"/>
          <a:lstStyle/>
          <a:p>
            <a:pPr indent="457200" eaLnBrk="1" hangingPunct="1">
              <a:lnSpc>
                <a:spcPct val="125000"/>
              </a:lnSpc>
              <a:defRPr/>
            </a:pPr>
            <a:r>
              <a:rPr lang="en-US" altLang="zh-CN" sz="2400" dirty="0">
                <a:solidFill>
                  <a:schemeClr val="tx1"/>
                </a:solidFill>
                <a:latin typeface="+mn-ea"/>
              </a:rPr>
              <a:t>1968</a:t>
            </a:r>
            <a:r>
              <a:rPr lang="zh-CN" altLang="zh-CN" sz="2400" dirty="0">
                <a:solidFill>
                  <a:schemeClr val="tx1"/>
                </a:solidFill>
                <a:latin typeface="+mn-ea"/>
              </a:rPr>
              <a:t>年在第一届</a:t>
            </a:r>
            <a:r>
              <a:rPr lang="en-US" altLang="zh-CN" sz="2400" dirty="0">
                <a:solidFill>
                  <a:schemeClr val="tx1"/>
                </a:solidFill>
                <a:latin typeface="+mn-ea"/>
              </a:rPr>
              <a:t>NATO</a:t>
            </a:r>
            <a:r>
              <a:rPr lang="zh-CN" altLang="zh-CN" sz="2400" dirty="0">
                <a:solidFill>
                  <a:schemeClr val="tx1"/>
                </a:solidFill>
                <a:latin typeface="+mn-ea"/>
              </a:rPr>
              <a:t>会议上曾经给出了软件工程的一个早期定义：“软件工程就是为了经济地获得可靠的且能在实际机器上有效地运行的软件，而建立和使用完善的工程原理。”</a:t>
            </a:r>
            <a:endParaRPr lang="en-US" altLang="zh-CN" sz="2400" b="1" dirty="0">
              <a:solidFill>
                <a:schemeClr val="tx1"/>
              </a:solidFill>
              <a:latin typeface="+mn-ea"/>
            </a:endParaRPr>
          </a:p>
        </p:txBody>
      </p:sp>
      <p:sp>
        <p:nvSpPr>
          <p:cNvPr id="8" name="矩形 7"/>
          <p:cNvSpPr/>
          <p:nvPr/>
        </p:nvSpPr>
        <p:spPr>
          <a:xfrm>
            <a:off x="739183" y="2790712"/>
            <a:ext cx="8066088" cy="1943100"/>
          </a:xfrm>
          <a:prstGeom prst="rect">
            <a:avLst/>
          </a:prstGeom>
        </p:spPr>
        <p:style>
          <a:lnRef idx="2">
            <a:schemeClr val="accent1"/>
          </a:lnRef>
          <a:fillRef idx="1">
            <a:schemeClr val="lt1"/>
          </a:fillRef>
          <a:effectRef idx="0">
            <a:schemeClr val="accent1"/>
          </a:effectRef>
          <a:fontRef idx="minor">
            <a:schemeClr val="dk1"/>
          </a:fontRef>
        </p:style>
        <p:txBody>
          <a:bodyPr anchor="ctr"/>
          <a:lstStyle/>
          <a:p>
            <a:pPr indent="457200" eaLnBrk="1" hangingPunct="1">
              <a:defRPr/>
            </a:pPr>
            <a:r>
              <a:rPr lang="en-US" altLang="zh-CN" sz="2400" dirty="0">
                <a:solidFill>
                  <a:schemeClr val="tx1"/>
                </a:solidFill>
                <a:latin typeface="+mn-ea"/>
              </a:rPr>
              <a:t>1993</a:t>
            </a:r>
            <a:r>
              <a:rPr lang="zh-CN" altLang="zh-CN" sz="2400" dirty="0">
                <a:solidFill>
                  <a:schemeClr val="tx1"/>
                </a:solidFill>
                <a:latin typeface="+mn-ea"/>
              </a:rPr>
              <a:t>年</a:t>
            </a:r>
            <a:r>
              <a:rPr lang="en-US" altLang="zh-CN" sz="2400" dirty="0">
                <a:solidFill>
                  <a:schemeClr val="tx1"/>
                </a:solidFill>
                <a:latin typeface="+mn-ea"/>
              </a:rPr>
              <a:t>IEEE</a:t>
            </a:r>
            <a:r>
              <a:rPr lang="zh-CN" altLang="zh-CN" sz="2400" dirty="0">
                <a:solidFill>
                  <a:schemeClr val="tx1"/>
                </a:solidFill>
                <a:latin typeface="+mn-ea"/>
              </a:rPr>
              <a:t>进一步给出了一个更全面更具体的定义：“软件工程是： ①把系统的、规范的、可度量的途径应用于软件开发、运行和维护过程，也就是把工程应用于</a:t>
            </a:r>
            <a:r>
              <a:rPr lang="zh-CN" altLang="zh-CN" sz="2400" dirty="0" smtClean="0">
                <a:solidFill>
                  <a:schemeClr val="tx1"/>
                </a:solidFill>
                <a:latin typeface="+mn-ea"/>
              </a:rPr>
              <a:t>软件； ②研究①中提到的途径。</a:t>
            </a:r>
            <a:endParaRPr lang="en-US" altLang="zh-CN" sz="2400" b="1" dirty="0">
              <a:solidFill>
                <a:schemeClr val="tx1"/>
              </a:solidFill>
              <a:latin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normAutofit/>
          </a:bodyPr>
          <a:lstStyle/>
          <a:p>
            <a:r>
              <a:rPr lang="zh-CN" altLang="en-US" b="1" cap="none" dirty="0" smtClean="0">
                <a:latin typeface="+mj-ea"/>
              </a:rPr>
              <a:t>软件工程</a:t>
            </a:r>
            <a:r>
              <a:rPr lang="zh-CN" altLang="en-US" b="1" cap="none" dirty="0">
                <a:latin typeface="+mj-ea"/>
              </a:rPr>
              <a:t>的特性</a:t>
            </a:r>
            <a:endParaRPr lang="zh-CN" altLang="en-US" b="1" cap="none" dirty="0">
              <a:latin typeface="+mj-ea"/>
            </a:endParaRPr>
          </a:p>
        </p:txBody>
      </p:sp>
      <p:sp>
        <p:nvSpPr>
          <p:cNvPr id="57348" name="Rectangle 4"/>
          <p:cNvSpPr>
            <a:spLocks noGrp="1" noChangeArrowheads="1"/>
          </p:cNvSpPr>
          <p:nvPr>
            <p:ph idx="1"/>
          </p:nvPr>
        </p:nvSpPr>
        <p:spPr bwMode="gray">
          <a:xfrm>
            <a:off x="3343531" y="920636"/>
            <a:ext cx="5779555" cy="3806854"/>
          </a:xfrm>
        </p:spPr>
        <p:txBody>
          <a:bodyPr>
            <a:noAutofit/>
          </a:bodyPr>
          <a:lstStyle/>
          <a:p>
            <a:pPr>
              <a:lnSpc>
                <a:spcPct val="100000"/>
              </a:lnSpc>
              <a:spcBef>
                <a:spcPts val="1200"/>
              </a:spcBef>
              <a:spcAft>
                <a:spcPts val="0"/>
              </a:spcAft>
            </a:pPr>
            <a:r>
              <a:rPr lang="zh-CN" altLang="en-US" sz="2200" dirty="0" smtClean="0">
                <a:effectLst/>
                <a:latin typeface="+mj-ea"/>
                <a:ea typeface="+mj-ea"/>
              </a:rPr>
              <a:t>关注</a:t>
            </a:r>
            <a:r>
              <a:rPr lang="zh-CN" altLang="en-US" sz="2200" dirty="0">
                <a:effectLst/>
                <a:latin typeface="+mj-ea"/>
                <a:ea typeface="+mj-ea"/>
              </a:rPr>
              <a:t>于大型程序的构造</a:t>
            </a:r>
            <a:endParaRPr lang="zh-CN" altLang="en-US" sz="2200" dirty="0">
              <a:effectLst/>
              <a:latin typeface="+mj-ea"/>
              <a:ea typeface="+mj-ea"/>
            </a:endParaRPr>
          </a:p>
          <a:p>
            <a:pPr>
              <a:lnSpc>
                <a:spcPct val="100000"/>
              </a:lnSpc>
              <a:spcBef>
                <a:spcPts val="1200"/>
              </a:spcBef>
              <a:spcAft>
                <a:spcPts val="0"/>
              </a:spcAft>
            </a:pPr>
            <a:r>
              <a:rPr lang="zh-CN" altLang="en-US" sz="2200" dirty="0" smtClean="0">
                <a:effectLst/>
                <a:latin typeface="+mj-ea"/>
                <a:ea typeface="+mj-ea"/>
              </a:rPr>
              <a:t>软件工程</a:t>
            </a:r>
            <a:r>
              <a:rPr lang="zh-CN" altLang="en-US" sz="2200" dirty="0">
                <a:effectLst/>
                <a:latin typeface="+mj-ea"/>
                <a:ea typeface="+mj-ea"/>
              </a:rPr>
              <a:t>的中心课题是控制复杂性</a:t>
            </a:r>
            <a:endParaRPr lang="zh-CN" altLang="en-US" sz="2200" dirty="0">
              <a:effectLst/>
              <a:latin typeface="+mj-ea"/>
              <a:ea typeface="+mj-ea"/>
            </a:endParaRPr>
          </a:p>
          <a:p>
            <a:pPr>
              <a:lnSpc>
                <a:spcPct val="100000"/>
              </a:lnSpc>
              <a:spcBef>
                <a:spcPts val="1200"/>
              </a:spcBef>
              <a:spcAft>
                <a:spcPts val="0"/>
              </a:spcAft>
            </a:pPr>
            <a:r>
              <a:rPr lang="zh-CN" altLang="en-US" sz="2200" dirty="0" smtClean="0">
                <a:effectLst/>
                <a:latin typeface="+mj-ea"/>
                <a:ea typeface="+mj-ea"/>
              </a:rPr>
              <a:t>软件</a:t>
            </a:r>
            <a:r>
              <a:rPr lang="zh-CN" altLang="en-US" sz="2200" dirty="0">
                <a:effectLst/>
                <a:latin typeface="+mj-ea"/>
                <a:ea typeface="+mj-ea"/>
              </a:rPr>
              <a:t>经常变化</a:t>
            </a:r>
            <a:endParaRPr lang="zh-CN" altLang="en-US" sz="2200" dirty="0">
              <a:effectLst/>
              <a:latin typeface="+mj-ea"/>
              <a:ea typeface="+mj-ea"/>
            </a:endParaRPr>
          </a:p>
          <a:p>
            <a:pPr>
              <a:lnSpc>
                <a:spcPct val="100000"/>
              </a:lnSpc>
              <a:spcBef>
                <a:spcPts val="1200"/>
              </a:spcBef>
              <a:spcAft>
                <a:spcPts val="0"/>
              </a:spcAft>
            </a:pPr>
            <a:r>
              <a:rPr lang="zh-CN" altLang="en-US" sz="2200" dirty="0" smtClean="0">
                <a:effectLst/>
                <a:latin typeface="+mj-ea"/>
                <a:ea typeface="+mj-ea"/>
              </a:rPr>
              <a:t>开发</a:t>
            </a:r>
            <a:r>
              <a:rPr lang="zh-CN" altLang="en-US" sz="2200" dirty="0">
                <a:effectLst/>
                <a:latin typeface="+mj-ea"/>
                <a:ea typeface="+mj-ea"/>
              </a:rPr>
              <a:t>软件的效率非常重要</a:t>
            </a:r>
            <a:endParaRPr lang="zh-CN" altLang="en-US" sz="2200" dirty="0">
              <a:effectLst/>
              <a:latin typeface="+mj-ea"/>
              <a:ea typeface="+mj-ea"/>
            </a:endParaRPr>
          </a:p>
          <a:p>
            <a:pPr>
              <a:lnSpc>
                <a:spcPct val="100000"/>
              </a:lnSpc>
              <a:spcBef>
                <a:spcPts val="1200"/>
              </a:spcBef>
              <a:spcAft>
                <a:spcPts val="0"/>
              </a:spcAft>
            </a:pPr>
            <a:r>
              <a:rPr lang="zh-CN" altLang="en-US" sz="2200" dirty="0" smtClean="0">
                <a:effectLst/>
                <a:latin typeface="+mj-ea"/>
                <a:ea typeface="+mj-ea"/>
              </a:rPr>
              <a:t>和谐</a:t>
            </a:r>
            <a:r>
              <a:rPr lang="zh-CN" altLang="en-US" sz="2200" dirty="0">
                <a:effectLst/>
                <a:latin typeface="+mj-ea"/>
                <a:ea typeface="+mj-ea"/>
              </a:rPr>
              <a:t>地合作是开发软件的关键</a:t>
            </a:r>
            <a:endParaRPr lang="zh-CN" altLang="en-US" sz="2200" dirty="0">
              <a:effectLst/>
              <a:latin typeface="+mj-ea"/>
              <a:ea typeface="+mj-ea"/>
            </a:endParaRPr>
          </a:p>
          <a:p>
            <a:pPr>
              <a:lnSpc>
                <a:spcPct val="100000"/>
              </a:lnSpc>
              <a:spcBef>
                <a:spcPts val="1200"/>
              </a:spcBef>
              <a:spcAft>
                <a:spcPts val="0"/>
              </a:spcAft>
            </a:pPr>
            <a:r>
              <a:rPr lang="zh-CN" altLang="en-US" sz="2200" dirty="0" smtClean="0">
                <a:effectLst/>
                <a:latin typeface="+mj-ea"/>
                <a:ea typeface="+mj-ea"/>
              </a:rPr>
              <a:t>软件</a:t>
            </a:r>
            <a:r>
              <a:rPr lang="zh-CN" altLang="en-US" sz="2200" dirty="0">
                <a:effectLst/>
                <a:latin typeface="+mj-ea"/>
                <a:ea typeface="+mj-ea"/>
              </a:rPr>
              <a:t>必须有效地支持它的用户</a:t>
            </a:r>
            <a:endParaRPr lang="zh-CN" altLang="en-US" sz="2200" dirty="0">
              <a:effectLst/>
              <a:latin typeface="+mj-ea"/>
              <a:ea typeface="+mj-ea"/>
            </a:endParaRPr>
          </a:p>
          <a:p>
            <a:pPr>
              <a:lnSpc>
                <a:spcPct val="100000"/>
              </a:lnSpc>
              <a:spcBef>
                <a:spcPts val="1200"/>
              </a:spcBef>
              <a:spcAft>
                <a:spcPts val="0"/>
              </a:spcAft>
            </a:pPr>
            <a:r>
              <a:rPr lang="zh-CN" altLang="en-US" sz="2200" dirty="0" smtClean="0">
                <a:effectLst/>
                <a:latin typeface="+mj-ea"/>
                <a:ea typeface="+mj-ea"/>
              </a:rPr>
              <a:t>在</a:t>
            </a:r>
            <a:r>
              <a:rPr lang="zh-CN" altLang="en-US" sz="2200" dirty="0">
                <a:effectLst/>
                <a:latin typeface="+mj-ea"/>
                <a:ea typeface="+mj-ea"/>
              </a:rPr>
              <a:t>软件工程领域中是由具有一种文化背景的人替具有另一种文化背景的人</a:t>
            </a:r>
            <a:endParaRPr lang="zh-CN" altLang="en-US" sz="2200" dirty="0">
              <a:effectLst/>
              <a:latin typeface="+mj-ea"/>
              <a:ea typeface="+mj-ea"/>
            </a:endParaRPr>
          </a:p>
        </p:txBody>
      </p:sp>
      <p:sp>
        <p:nvSpPr>
          <p:cNvPr id="7" name="灯片编号占位符 5"/>
          <p:cNvSpPr>
            <a:spLocks noGrp="1"/>
          </p:cNvSpPr>
          <p:nvPr>
            <p:ph type="sldNum" sz="quarter" idx="12"/>
          </p:nvPr>
        </p:nvSpPr>
        <p:spPr/>
        <p:txBody>
          <a:bodyPr/>
          <a:lstStyle/>
          <a:p>
            <a:fld id="{366B5892-A2D6-4C96-A8CA-4576F844AF13}" type="slidenum">
              <a:rPr lang="ko-KR" altLang="en-US"/>
            </a:fld>
            <a:endParaRPr lang="en-US" altLang="ko-KR"/>
          </a:p>
        </p:txBody>
      </p:sp>
      <p:grpSp>
        <p:nvGrpSpPr>
          <p:cNvPr id="2" name="组合 1"/>
          <p:cNvGrpSpPr/>
          <p:nvPr/>
        </p:nvGrpSpPr>
        <p:grpSpPr>
          <a:xfrm>
            <a:off x="494978" y="1767948"/>
            <a:ext cx="2465392" cy="2004489"/>
            <a:chOff x="530225" y="1663700"/>
            <a:chExt cx="4313238" cy="4286250"/>
          </a:xfrm>
        </p:grpSpPr>
        <p:sp>
          <p:nvSpPr>
            <p:cNvPr id="57349" name="AutoShape 5"/>
            <p:cNvSpPr>
              <a:spLocks noChangeArrowheads="1"/>
            </p:cNvSpPr>
            <p:nvPr/>
          </p:nvSpPr>
          <p:spPr bwMode="gray">
            <a:xfrm>
              <a:off x="530225" y="1663700"/>
              <a:ext cx="4313238" cy="4286250"/>
            </a:xfrm>
            <a:prstGeom prst="roundRect">
              <a:avLst>
                <a:gd name="adj" fmla="val 16667"/>
              </a:avLst>
            </a:prstGeom>
            <a:gradFill rotWithShape="1">
              <a:gsLst>
                <a:gs pos="0">
                  <a:srgbClr val="FFFFFF"/>
                </a:gs>
                <a:gs pos="7001">
                  <a:srgbClr val="E6E6E6"/>
                </a:gs>
                <a:gs pos="32001">
                  <a:srgbClr val="7D8496"/>
                </a:gs>
                <a:gs pos="47000">
                  <a:srgbClr val="E6E6E6"/>
                </a:gs>
                <a:gs pos="85001">
                  <a:srgbClr val="7D8496"/>
                </a:gs>
                <a:gs pos="100000">
                  <a:srgbClr val="E6E6E6"/>
                </a:gs>
              </a:gsLst>
              <a:path path="shape">
                <a:fillToRect l="50000" t="50000" r="50000" b="50000"/>
              </a:path>
            </a:gradFill>
            <a:ln w="76200">
              <a:noFill/>
              <a:round/>
            </a:ln>
            <a:effectLst/>
          </p:spPr>
          <p:txBody>
            <a:bodyPr wrap="none" anchor="ctr"/>
            <a:lstStyle/>
            <a:p>
              <a:endParaRPr lang="zh-CN" altLang="en-US"/>
            </a:p>
          </p:txBody>
        </p:sp>
        <p:sp>
          <p:nvSpPr>
            <p:cNvPr id="57350" name="AutoShape 6" descr="116_1652"/>
            <p:cNvSpPr>
              <a:spLocks noChangeArrowheads="1"/>
            </p:cNvSpPr>
            <p:nvPr/>
          </p:nvSpPr>
          <p:spPr bwMode="gray">
            <a:xfrm>
              <a:off x="622300" y="1736725"/>
              <a:ext cx="4124325" cy="4129088"/>
            </a:xfrm>
            <a:prstGeom prst="roundRect">
              <a:avLst>
                <a:gd name="adj" fmla="val 16667"/>
              </a:avLst>
            </a:prstGeom>
            <a:blipFill dpi="0" rotWithShape="1">
              <a:blip r:embed="rId1"/>
              <a:srcRect/>
              <a:stretch>
                <a:fillRect/>
              </a:stretch>
            </a:blipFill>
            <a:ln w="76200">
              <a:noFill/>
              <a:round/>
            </a:ln>
            <a:effectLst/>
          </p:spPr>
          <p:txBody>
            <a:bodyPr wrap="none" anchor="ctr"/>
            <a:lstStyle/>
            <a:p>
              <a:endParaRPr lang="zh-CN" altLang="en-US"/>
            </a:p>
          </p:txBody>
        </p:sp>
      </p:grpSp>
      <p:sp>
        <p:nvSpPr>
          <p:cNvPr id="8" name="日期占位符 5"/>
          <p:cNvSpPr>
            <a:spLocks noGrp="1"/>
          </p:cNvSpPr>
          <p:nvPr>
            <p:ph type="dt" sz="half" idx="10"/>
          </p:nvPr>
        </p:nvSpPr>
        <p:spPr>
          <a:xfrm>
            <a:off x="768096" y="4853028"/>
            <a:ext cx="1615607" cy="205740"/>
          </a:xfrm>
        </p:spPr>
        <p:txBody>
          <a:bodyPr/>
          <a:lstStyle/>
          <a:p>
            <a:fld id="{19CC2C91-8807-46EA-A655-40C3A72A1C02}" type="datetime1">
              <a:rPr lang="zh-CN" altLang="en-US" smtClean="0"/>
            </a:fld>
            <a:endParaRPr lang="zh-CN" altLang="en-US" dirty="0"/>
          </a:p>
        </p:txBody>
      </p:sp>
      <p:sp>
        <p:nvSpPr>
          <p:cNvPr id="9" name="页脚占位符 6"/>
          <p:cNvSpPr>
            <a:spLocks noGrp="1"/>
          </p:cNvSpPr>
          <p:nvPr>
            <p:ph type="ftr" sz="quarter" idx="11"/>
          </p:nvPr>
        </p:nvSpPr>
        <p:spPr>
          <a:xfrm>
            <a:off x="2383703" y="4853028"/>
            <a:ext cx="5674590" cy="205740"/>
          </a:xfrm>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40"/>
          <p:cNvGrpSpPr/>
          <p:nvPr/>
        </p:nvGrpSpPr>
        <p:grpSpPr>
          <a:xfrm rot="21600000">
            <a:off x="2301002" y="627935"/>
            <a:ext cx="6616064" cy="1219200"/>
            <a:chOff x="0" y="0"/>
            <a:chExt cx="8821419" cy="1625600"/>
          </a:xfrm>
        </p:grpSpPr>
        <p:pic>
          <p:nvPicPr>
            <p:cNvPr id="492" name="picture 492"/>
            <p:cNvPicPr>
              <a:picLocks noChangeAspect="1"/>
            </p:cNvPicPr>
            <p:nvPr/>
          </p:nvPicPr>
          <p:blipFill>
            <a:blip r:embed="rId1"/>
            <a:stretch>
              <a:fillRect/>
            </a:stretch>
          </p:blipFill>
          <p:spPr>
            <a:xfrm rot="21600000">
              <a:off x="0" y="0"/>
              <a:ext cx="8821419" cy="1625600"/>
            </a:xfrm>
            <a:prstGeom prst="rect">
              <a:avLst/>
            </a:prstGeom>
          </p:spPr>
        </p:pic>
        <p:sp>
          <p:nvSpPr>
            <p:cNvPr id="494" name="textbox 494"/>
            <p:cNvSpPr/>
            <p:nvPr/>
          </p:nvSpPr>
          <p:spPr>
            <a:xfrm>
              <a:off x="-12700" y="-12700"/>
              <a:ext cx="8846819" cy="1677670"/>
            </a:xfrm>
            <a:prstGeom prst="rect">
              <a:avLst/>
            </a:prstGeom>
            <a:noFill/>
            <a:ln w="0" cap="flat">
              <a:noFill/>
              <a:prstDash val="solid"/>
              <a:miter lim="0"/>
            </a:ln>
          </p:spPr>
          <p:txBody>
            <a:bodyPr vert="horz" wrap="square" lIns="0" tIns="0" rIns="0" bIns="0"/>
            <a:lstStyle/>
            <a:p>
              <a:pPr algn="l" rtl="0" eaLnBrk="0">
                <a:lnSpc>
                  <a:spcPct val="107000"/>
                </a:lnSpc>
              </a:pPr>
              <a:endParaRPr sz="6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601345" indent="3810" algn="l" rtl="0" eaLnBrk="0">
                <a:lnSpc>
                  <a:spcPct val="145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著名的软件工程专家</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B.W.Boehm于1983年提出了软件工程的七条基</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本原理</a:t>
              </a:r>
              <a:r>
                <a:rPr sz="1500" kern="0" spc="-2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，这些原理是确保软件产品质量和开发效率的关键要素。</a:t>
              </a:r>
              <a:r>
                <a:rPr sz="1500" kern="0" spc="-4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工程的七条基本原理如下：</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496" name="picture 496"/>
          <p:cNvPicPr>
            <a:picLocks noChangeAspect="1"/>
          </p:cNvPicPr>
          <p:nvPr/>
        </p:nvPicPr>
        <p:blipFill>
          <a:blip r:embed="rId2"/>
          <a:stretch>
            <a:fillRect/>
          </a:stretch>
        </p:blipFill>
        <p:spPr>
          <a:xfrm rot="21600000">
            <a:off x="0" y="733796"/>
            <a:ext cx="957425" cy="1355162"/>
          </a:xfrm>
          <a:prstGeom prst="rect">
            <a:avLst/>
          </a:prstGeom>
        </p:spPr>
      </p:pic>
      <p:pic>
        <p:nvPicPr>
          <p:cNvPr id="498" name="picture 498"/>
          <p:cNvPicPr>
            <a:picLocks noChangeAspect="1"/>
          </p:cNvPicPr>
          <p:nvPr/>
        </p:nvPicPr>
        <p:blipFill>
          <a:blip r:embed="rId3"/>
          <a:stretch>
            <a:fillRect/>
          </a:stretch>
        </p:blipFill>
        <p:spPr>
          <a:xfrm rot="21600000">
            <a:off x="0" y="1140008"/>
            <a:ext cx="2747351" cy="4003491"/>
          </a:xfrm>
          <a:prstGeom prst="rect">
            <a:avLst/>
          </a:prstGeom>
        </p:spPr>
      </p:pic>
      <p:sp>
        <p:nvSpPr>
          <p:cNvPr id="500" name="textbox 500"/>
          <p:cNvSpPr/>
          <p:nvPr/>
        </p:nvSpPr>
        <p:spPr>
          <a:xfrm>
            <a:off x="3503436" y="2161874"/>
            <a:ext cx="4319588" cy="2282666"/>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28575" algn="l" rtl="0" eaLnBrk="0">
              <a:lnSpc>
                <a:spcPct val="78000"/>
              </a:lnSpc>
            </a:pPr>
            <a:r>
              <a:rPr sz="1725" b="1" kern="0" spc="-40" dirty="0">
                <a:solidFill>
                  <a:srgbClr val="0B5FD1">
                    <a:alpha val="100000"/>
                  </a:srgbClr>
                </a:solidFill>
                <a:latin typeface="Tahoma" panose="020B0604030504040204"/>
                <a:ea typeface="Tahoma" panose="020B0604030504040204"/>
                <a:cs typeface="Tahoma" panose="020B0604030504040204"/>
              </a:rPr>
              <a:t>1.</a:t>
            </a:r>
            <a:r>
              <a:rPr sz="1725" b="1" kern="0" spc="290" dirty="0">
                <a:solidFill>
                  <a:srgbClr val="0B5FD1">
                    <a:alpha val="100000"/>
                  </a:srgbClr>
                </a:solidFill>
                <a:latin typeface="Tahoma" panose="020B0604030504040204"/>
                <a:ea typeface="Tahoma" panose="020B0604030504040204"/>
                <a:cs typeface="Tahoma" panose="020B0604030504040204"/>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用分阶段的生命周期计划严格管理。</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16510" algn="l" rtl="0" eaLnBrk="0">
              <a:lnSpc>
                <a:spcPct val="79000"/>
              </a:lnSpc>
              <a:spcBef>
                <a:spcPts val="1440"/>
              </a:spcBef>
            </a:pPr>
            <a:r>
              <a:rPr sz="1725" b="1" kern="0" spc="-50" dirty="0">
                <a:solidFill>
                  <a:srgbClr val="0B5FD1">
                    <a:alpha val="100000"/>
                  </a:srgbClr>
                </a:solidFill>
                <a:latin typeface="Tahoma" panose="020B0604030504040204"/>
                <a:ea typeface="Tahoma" panose="020B0604030504040204"/>
                <a:cs typeface="Tahoma" panose="020B0604030504040204"/>
              </a:rPr>
              <a:t>2.</a:t>
            </a:r>
            <a:r>
              <a:rPr sz="1725" b="1" kern="0" spc="270" dirty="0">
                <a:solidFill>
                  <a:srgbClr val="0B5FD1">
                    <a:alpha val="100000"/>
                  </a:srgbClr>
                </a:solidFill>
                <a:latin typeface="Tahoma" panose="020B0604030504040204"/>
                <a:ea typeface="Tahoma" panose="020B0604030504040204"/>
                <a:cs typeface="Tahoma" panose="020B0604030504040204"/>
              </a:rPr>
              <a:t>  </a:t>
            </a: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坚持阶段评审制度</a:t>
            </a:r>
            <a:r>
              <a:rPr sz="1500"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3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以确保软件产品的质量</a:t>
            </a:r>
            <a:r>
              <a:rPr sz="15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5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6510" algn="l" rtl="0" eaLnBrk="0">
              <a:lnSpc>
                <a:spcPct val="79000"/>
              </a:lnSpc>
              <a:spcBef>
                <a:spcPts val="1440"/>
              </a:spcBef>
            </a:pPr>
            <a:r>
              <a:rPr sz="1725" b="1" kern="0" spc="-100" dirty="0">
                <a:solidFill>
                  <a:srgbClr val="0B5FD1">
                    <a:alpha val="100000"/>
                  </a:srgbClr>
                </a:solidFill>
                <a:latin typeface="Tahoma" panose="020B0604030504040204"/>
                <a:ea typeface="Tahoma" panose="020B0604030504040204"/>
                <a:cs typeface="Tahoma" panose="020B0604030504040204"/>
              </a:rPr>
              <a:t>3.   </a:t>
            </a:r>
            <a:r>
              <a:rPr sz="1500" kern="0" spc="-1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实施严格的产品控制</a:t>
            </a:r>
            <a:r>
              <a:rPr sz="1500" kern="0" spc="-2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3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以适应软件规格的</a:t>
            </a:r>
            <a:r>
              <a:rPr sz="1500"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变更。</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78000"/>
              </a:lnSpc>
              <a:spcBef>
                <a:spcPts val="1425"/>
              </a:spcBef>
            </a:pPr>
            <a:r>
              <a:rPr sz="1725" b="1" kern="0" spc="-40" dirty="0">
                <a:solidFill>
                  <a:srgbClr val="0B5FD1">
                    <a:alpha val="100000"/>
                  </a:srgbClr>
                </a:solidFill>
                <a:latin typeface="Tahoma" panose="020B0604030504040204"/>
                <a:ea typeface="Tahoma" panose="020B0604030504040204"/>
                <a:cs typeface="Tahoma" panose="020B0604030504040204"/>
              </a:rPr>
              <a:t>4.</a:t>
            </a:r>
            <a:r>
              <a:rPr sz="1725" b="1" kern="0" spc="260" dirty="0">
                <a:solidFill>
                  <a:srgbClr val="0B5FD1">
                    <a:alpha val="100000"/>
                  </a:srgbClr>
                </a:solidFill>
                <a:latin typeface="Tahoma" panose="020B0604030504040204"/>
                <a:ea typeface="Tahoma" panose="020B0604030504040204"/>
                <a:cs typeface="Tahoma" panose="020B0604030504040204"/>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采用现代程序设计技术。</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13970" algn="l" rtl="0" eaLnBrk="0">
              <a:lnSpc>
                <a:spcPct val="78000"/>
              </a:lnSpc>
              <a:spcBef>
                <a:spcPts val="1445"/>
              </a:spcBef>
            </a:pPr>
            <a:r>
              <a:rPr sz="1725" b="1" kern="0" spc="-20" dirty="0">
                <a:solidFill>
                  <a:srgbClr val="0B5FD1">
                    <a:alpha val="100000"/>
                  </a:srgbClr>
                </a:solidFill>
                <a:latin typeface="Tahoma" panose="020B0604030504040204"/>
                <a:ea typeface="Tahoma" panose="020B0604030504040204"/>
                <a:cs typeface="Tahoma" panose="020B0604030504040204"/>
              </a:rPr>
              <a:t>5.</a:t>
            </a:r>
            <a:r>
              <a:rPr sz="1725" b="1" kern="0" spc="270" dirty="0">
                <a:solidFill>
                  <a:srgbClr val="0B5FD1">
                    <a:alpha val="100000"/>
                  </a:srgbClr>
                </a:solidFill>
                <a:latin typeface="Tahoma" panose="020B0604030504040204"/>
                <a:ea typeface="Tahoma" panose="020B0604030504040204"/>
                <a:cs typeface="Tahoma" panose="020B0604030504040204"/>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开发出来的软件产</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品应该能够清楚地被审查。</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19685" algn="l" rtl="0" eaLnBrk="0">
              <a:lnSpc>
                <a:spcPct val="78000"/>
              </a:lnSpc>
              <a:spcBef>
                <a:spcPts val="1445"/>
              </a:spcBef>
            </a:pPr>
            <a:r>
              <a:rPr sz="1725" b="1" kern="0" spc="-30" dirty="0">
                <a:solidFill>
                  <a:srgbClr val="0B5FD1">
                    <a:alpha val="100000"/>
                  </a:srgbClr>
                </a:solidFill>
                <a:latin typeface="Tahoma" panose="020B0604030504040204"/>
                <a:ea typeface="Tahoma" panose="020B0604030504040204"/>
                <a:cs typeface="Tahoma" panose="020B0604030504040204"/>
              </a:rPr>
              <a:t>6.</a:t>
            </a:r>
            <a:r>
              <a:rPr sz="1725" b="1" kern="0" spc="250" dirty="0">
                <a:solidFill>
                  <a:srgbClr val="0B5FD1">
                    <a:alpha val="100000"/>
                  </a:srgbClr>
                </a:solidFill>
                <a:latin typeface="Tahoma" panose="020B0604030504040204"/>
                <a:ea typeface="Tahoma" panose="020B0604030504040204"/>
                <a:cs typeface="Tahoma" panose="020B0604030504040204"/>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合理地安排软件开发</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小组的人员。</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0000"/>
              </a:lnSpc>
            </a:pPr>
            <a:endParaRPr sz="9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19685" algn="l" rtl="0" eaLnBrk="0">
              <a:lnSpc>
                <a:spcPct val="78000"/>
              </a:lnSpc>
            </a:pPr>
            <a:r>
              <a:rPr sz="1725" b="1" kern="0" spc="-40" dirty="0">
                <a:solidFill>
                  <a:srgbClr val="0B5FD1">
                    <a:alpha val="100000"/>
                  </a:srgbClr>
                </a:solidFill>
                <a:latin typeface="Tahoma" panose="020B0604030504040204"/>
                <a:ea typeface="Tahoma" panose="020B0604030504040204"/>
                <a:cs typeface="Tahoma" panose="020B0604030504040204"/>
              </a:rPr>
              <a:t>7.</a:t>
            </a:r>
            <a:r>
              <a:rPr sz="1725" b="1" kern="0" spc="250" dirty="0">
                <a:solidFill>
                  <a:srgbClr val="0B5FD1">
                    <a:alpha val="100000"/>
                  </a:srgbClr>
                </a:solidFill>
                <a:latin typeface="Tahoma" panose="020B0604030504040204"/>
                <a:ea typeface="Tahoma" panose="020B0604030504040204"/>
                <a:cs typeface="Tahoma" panose="020B0604030504040204"/>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不断地改进软件工程实践</a:t>
            </a: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08" name="picture 508"/>
          <p:cNvPicPr>
            <a:picLocks noChangeAspect="1"/>
          </p:cNvPicPr>
          <p:nvPr/>
        </p:nvPicPr>
        <p:blipFill>
          <a:blip r:embed="rId4"/>
          <a:stretch>
            <a:fillRect/>
          </a:stretch>
        </p:blipFill>
        <p:spPr>
          <a:xfrm rot="21600000">
            <a:off x="268605" y="65798"/>
            <a:ext cx="41147" cy="486155"/>
          </a:xfrm>
          <a:prstGeom prst="rect">
            <a:avLst/>
          </a:prstGeom>
        </p:spPr>
      </p:pic>
      <p:sp>
        <p:nvSpPr>
          <p:cNvPr id="2" name="标题 1"/>
          <p:cNvSpPr>
            <a:spLocks noGrp="1"/>
          </p:cNvSpPr>
          <p:nvPr>
            <p:ph type="title"/>
          </p:nvPr>
        </p:nvSpPr>
        <p:spPr/>
        <p:txBody>
          <a:bodyPr/>
          <a:p>
            <a:r>
              <a:rPr lang="en-US" altLang="zh-CN" dirty="0"/>
              <a:t>2.</a:t>
            </a:r>
            <a:r>
              <a:rPr lang="zh-CN" altLang="en-US" dirty="0"/>
              <a:t>软件工程的</a:t>
            </a:r>
            <a:r>
              <a:rPr lang="zh-CN" altLang="en-US" dirty="0" smtClean="0"/>
              <a:t>基本原则</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软件工程项目的基本目标</a:t>
            </a:r>
            <a:endParaRPr lang="zh-CN" altLang="en-US" dirty="0"/>
          </a:p>
        </p:txBody>
      </p:sp>
      <p:sp>
        <p:nvSpPr>
          <p:cNvPr id="3" name="内容占位符 2"/>
          <p:cNvSpPr>
            <a:spLocks noGrp="1"/>
          </p:cNvSpPr>
          <p:nvPr>
            <p:ph idx="1"/>
          </p:nvPr>
        </p:nvSpPr>
        <p:spPr>
          <a:xfrm>
            <a:off x="870967" y="988692"/>
            <a:ext cx="7832833" cy="3742465"/>
          </a:xfrm>
        </p:spPr>
        <p:txBody>
          <a:bodyPr>
            <a:normAutofit/>
          </a:bodyPr>
          <a:lstStyle/>
          <a:p>
            <a:pPr fontAlgn="auto">
              <a:lnSpc>
                <a:spcPct val="100000"/>
              </a:lnSpc>
              <a:spcBef>
                <a:spcPts val="1200"/>
              </a:spcBef>
            </a:pPr>
            <a:r>
              <a:rPr lang="zh-CN" altLang="en-US" sz="2400" dirty="0">
                <a:latin typeface="+mj-ea"/>
                <a:ea typeface="+mj-ea"/>
              </a:rPr>
              <a:t>付出较低的开发成本</a:t>
            </a:r>
            <a:endParaRPr lang="en-US" altLang="zh-CN" sz="2400" dirty="0">
              <a:latin typeface="+mj-ea"/>
              <a:ea typeface="+mj-ea"/>
            </a:endParaRPr>
          </a:p>
          <a:p>
            <a:pPr fontAlgn="auto">
              <a:lnSpc>
                <a:spcPct val="100000"/>
              </a:lnSpc>
              <a:spcBef>
                <a:spcPts val="1200"/>
              </a:spcBef>
            </a:pPr>
            <a:r>
              <a:rPr lang="zh-CN" altLang="en-US" sz="2400" dirty="0">
                <a:latin typeface="+mj-ea"/>
                <a:ea typeface="+mj-ea"/>
              </a:rPr>
              <a:t>达到要求的软件功能</a:t>
            </a:r>
            <a:endParaRPr lang="en-US" altLang="zh-CN" sz="2400" dirty="0">
              <a:latin typeface="+mj-ea"/>
              <a:ea typeface="+mj-ea"/>
            </a:endParaRPr>
          </a:p>
          <a:p>
            <a:pPr fontAlgn="auto">
              <a:lnSpc>
                <a:spcPct val="100000"/>
              </a:lnSpc>
              <a:spcBef>
                <a:spcPts val="1200"/>
              </a:spcBef>
            </a:pPr>
            <a:r>
              <a:rPr lang="zh-CN" altLang="en-US" sz="2400" dirty="0">
                <a:latin typeface="+mj-ea"/>
                <a:ea typeface="+mj-ea"/>
              </a:rPr>
              <a:t>取得较好的软件性能</a:t>
            </a:r>
            <a:endParaRPr lang="en-US" altLang="zh-CN" sz="2400" dirty="0">
              <a:latin typeface="+mj-ea"/>
              <a:ea typeface="+mj-ea"/>
            </a:endParaRPr>
          </a:p>
          <a:p>
            <a:pPr fontAlgn="auto">
              <a:lnSpc>
                <a:spcPct val="100000"/>
              </a:lnSpc>
              <a:spcBef>
                <a:spcPts val="1200"/>
              </a:spcBef>
            </a:pPr>
            <a:r>
              <a:rPr lang="zh-CN" altLang="en-US" sz="2400" dirty="0">
                <a:latin typeface="+mj-ea"/>
                <a:ea typeface="+mj-ea"/>
              </a:rPr>
              <a:t>开发的软件易于移植</a:t>
            </a:r>
            <a:endParaRPr lang="en-US" altLang="zh-CN" sz="2400" dirty="0">
              <a:latin typeface="+mj-ea"/>
              <a:ea typeface="+mj-ea"/>
            </a:endParaRPr>
          </a:p>
          <a:p>
            <a:pPr fontAlgn="auto">
              <a:lnSpc>
                <a:spcPct val="100000"/>
              </a:lnSpc>
              <a:spcBef>
                <a:spcPts val="1200"/>
              </a:spcBef>
            </a:pPr>
            <a:r>
              <a:rPr lang="zh-CN" altLang="en-US" sz="2400" dirty="0">
                <a:latin typeface="+mj-ea"/>
                <a:ea typeface="+mj-ea"/>
              </a:rPr>
              <a:t>需要较低的维护费用</a:t>
            </a:r>
            <a:endParaRPr lang="en-US" altLang="zh-CN" sz="2400" dirty="0">
              <a:latin typeface="+mj-ea"/>
              <a:ea typeface="+mj-ea"/>
            </a:endParaRPr>
          </a:p>
          <a:p>
            <a:pPr fontAlgn="auto">
              <a:lnSpc>
                <a:spcPct val="100000"/>
              </a:lnSpc>
              <a:spcBef>
                <a:spcPts val="1200"/>
              </a:spcBef>
            </a:pPr>
            <a:r>
              <a:rPr lang="zh-CN" altLang="en-US" sz="2400" dirty="0">
                <a:latin typeface="+mj-ea"/>
                <a:ea typeface="+mj-ea"/>
              </a:rPr>
              <a:t>开发的软件可靠性高</a:t>
            </a:r>
            <a:endParaRPr lang="zh-CN" altLang="en-US" sz="2400" dirty="0">
              <a:latin typeface="+mj-ea"/>
              <a:ea typeface="+mj-ea"/>
            </a:endParaRPr>
          </a:p>
          <a:p>
            <a:pPr fontAlgn="auto">
              <a:lnSpc>
                <a:spcPct val="100000"/>
              </a:lnSpc>
              <a:spcBef>
                <a:spcPts val="1200"/>
              </a:spcBef>
            </a:pPr>
            <a:r>
              <a:rPr lang="zh-CN" altLang="en-US" sz="2400" dirty="0">
                <a:latin typeface="+mj-ea"/>
                <a:ea typeface="+mj-ea"/>
              </a:rPr>
              <a:t>能按时完成开发工作，及时交付</a:t>
            </a:r>
            <a:r>
              <a:rPr lang="zh-CN" altLang="en-US" sz="2400" dirty="0" smtClean="0">
                <a:latin typeface="+mj-ea"/>
                <a:ea typeface="+mj-ea"/>
              </a:rPr>
              <a:t>使用</a:t>
            </a:r>
            <a:endParaRPr lang="zh-CN" altLang="en-US" sz="2400" dirty="0">
              <a:latin typeface="+mj-ea"/>
              <a:ea typeface="+mj-ea"/>
            </a:endParaRPr>
          </a:p>
        </p:txBody>
      </p:sp>
      <p:sp>
        <p:nvSpPr>
          <p:cNvPr id="4" name="日期占位符 3"/>
          <p:cNvSpPr>
            <a:spLocks noGrp="1"/>
          </p:cNvSpPr>
          <p:nvPr>
            <p:ph type="dt" sz="half" idx="10"/>
          </p:nvPr>
        </p:nvSpPr>
        <p:spPr/>
        <p:txBody>
          <a:bodyPr/>
          <a:lstStyle/>
          <a:p>
            <a:fld id="{23460E93-9366-48D7-B53A-22D6A8993B29}"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Oval 16"/>
          <p:cNvSpPr/>
          <p:nvPr/>
        </p:nvSpPr>
        <p:spPr bwMode="auto">
          <a:xfrm>
            <a:off x="7299106" y="1702942"/>
            <a:ext cx="1313511" cy="1313511"/>
          </a:xfrm>
          <a:prstGeom prst="ellipse">
            <a:avLst/>
          </a:prstGeom>
          <a:solidFill>
            <a:schemeClr val="accent2"/>
          </a:solidFill>
          <a:ln w="14288" cap="flat">
            <a:noFill/>
            <a:prstDash val="solid"/>
            <a:miter lim="800000"/>
          </a:ln>
          <a:effectLst>
            <a:outerShdw blurRad="203200" dist="38100" dir="2700000" sx="102000" sy="102000" algn="tl" rotWithShape="0">
              <a:schemeClr val="tx1">
                <a:lumMod val="65000"/>
                <a:lumOff val="35000"/>
                <a:alpha val="30000"/>
              </a:schemeClr>
            </a:outerShdw>
          </a:effectLst>
        </p:spPr>
        <p:txBody>
          <a:bodyPr vert="horz" wrap="square" lIns="91440" tIns="45720" rIns="91440" bIns="45720" numCol="1" anchor="t" anchorCtr="0" compatLnSpc="1"/>
          <a:lstStyle/>
          <a:p>
            <a:endParaRPr lang="zh-CN" altLang="en-US">
              <a:solidFill>
                <a:schemeClr val="tx1"/>
              </a:solidFill>
            </a:endParaRPr>
          </a:p>
        </p:txBody>
      </p:sp>
      <p:grpSp>
        <p:nvGrpSpPr>
          <p:cNvPr id="9" name="组合 8"/>
          <p:cNvGrpSpPr/>
          <p:nvPr/>
        </p:nvGrpSpPr>
        <p:grpSpPr>
          <a:xfrm>
            <a:off x="7677474" y="1910623"/>
            <a:ext cx="654996" cy="718277"/>
            <a:chOff x="5517728" y="2286956"/>
            <a:chExt cx="497207" cy="562393"/>
          </a:xfrm>
          <a:solidFill>
            <a:schemeClr val="bg1"/>
          </a:solidFill>
        </p:grpSpPr>
        <p:sp>
          <p:nvSpPr>
            <p:cNvPr id="10" name="Freeform 29"/>
            <p:cNvSpPr/>
            <p:nvPr/>
          </p:nvSpPr>
          <p:spPr bwMode="auto">
            <a:xfrm>
              <a:off x="5659604" y="2557927"/>
              <a:ext cx="149546" cy="148268"/>
            </a:xfrm>
            <a:custGeom>
              <a:avLst/>
              <a:gdLst>
                <a:gd name="T0" fmla="*/ 39 w 49"/>
                <a:gd name="T1" fmla="*/ 27 h 49"/>
                <a:gd name="T2" fmla="*/ 17 w 49"/>
                <a:gd name="T3" fmla="*/ 28 h 49"/>
                <a:gd name="T4" fmla="*/ 38 w 49"/>
                <a:gd name="T5" fmla="*/ 3 h 49"/>
                <a:gd name="T6" fmla="*/ 24 w 49"/>
                <a:gd name="T7" fmla="*/ 0 h 49"/>
                <a:gd name="T8" fmla="*/ 0 w 49"/>
                <a:gd name="T9" fmla="*/ 24 h 49"/>
                <a:gd name="T10" fmla="*/ 24 w 49"/>
                <a:gd name="T11" fmla="*/ 49 h 49"/>
                <a:gd name="T12" fmla="*/ 49 w 49"/>
                <a:gd name="T13" fmla="*/ 24 h 49"/>
                <a:gd name="T14" fmla="*/ 48 w 49"/>
                <a:gd name="T15" fmla="*/ 16 h 49"/>
                <a:gd name="T16" fmla="*/ 39 w 49"/>
                <a:gd name="T17" fmla="*/ 2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9">
                  <a:moveTo>
                    <a:pt x="39" y="27"/>
                  </a:moveTo>
                  <a:cubicBezTo>
                    <a:pt x="17" y="28"/>
                    <a:pt x="17" y="28"/>
                    <a:pt x="17" y="28"/>
                  </a:cubicBezTo>
                  <a:cubicBezTo>
                    <a:pt x="38" y="3"/>
                    <a:pt x="38" y="3"/>
                    <a:pt x="38" y="3"/>
                  </a:cubicBezTo>
                  <a:cubicBezTo>
                    <a:pt x="34" y="1"/>
                    <a:pt x="29" y="0"/>
                    <a:pt x="24" y="0"/>
                  </a:cubicBezTo>
                  <a:cubicBezTo>
                    <a:pt x="11" y="0"/>
                    <a:pt x="0" y="11"/>
                    <a:pt x="0" y="24"/>
                  </a:cubicBezTo>
                  <a:cubicBezTo>
                    <a:pt x="0" y="38"/>
                    <a:pt x="11" y="49"/>
                    <a:pt x="24" y="49"/>
                  </a:cubicBezTo>
                  <a:cubicBezTo>
                    <a:pt x="38" y="49"/>
                    <a:pt x="49" y="38"/>
                    <a:pt x="49" y="24"/>
                  </a:cubicBezTo>
                  <a:cubicBezTo>
                    <a:pt x="49" y="21"/>
                    <a:pt x="49" y="19"/>
                    <a:pt x="48" y="16"/>
                  </a:cubicBezTo>
                  <a:lnTo>
                    <a:pt x="39" y="27"/>
                  </a:lnTo>
                  <a:close/>
                </a:path>
              </a:pathLst>
            </a:custGeom>
            <a:grpFill/>
            <a:ln>
              <a:noFill/>
            </a:ln>
          </p:spPr>
          <p:txBody>
            <a:bodyPr vert="horz" wrap="square" lIns="91440" tIns="45720" rIns="91440" bIns="45720" numCol="1" anchor="t" anchorCtr="0" compatLnSpc="1"/>
            <a:lstStyle/>
            <a:p>
              <a:endParaRPr lang="zh-CN" altLang="en-US"/>
            </a:p>
          </p:txBody>
        </p:sp>
        <p:sp>
          <p:nvSpPr>
            <p:cNvPr id="11" name="Freeform 30"/>
            <p:cNvSpPr/>
            <p:nvPr/>
          </p:nvSpPr>
          <p:spPr bwMode="auto">
            <a:xfrm>
              <a:off x="5517728" y="2413494"/>
              <a:ext cx="433300" cy="435855"/>
            </a:xfrm>
            <a:custGeom>
              <a:avLst/>
              <a:gdLst>
                <a:gd name="T0" fmla="*/ 113 w 143"/>
                <a:gd name="T1" fmla="*/ 46 h 144"/>
                <a:gd name="T2" fmla="*/ 121 w 143"/>
                <a:gd name="T3" fmla="*/ 72 h 144"/>
                <a:gd name="T4" fmla="*/ 71 w 143"/>
                <a:gd name="T5" fmla="*/ 121 h 144"/>
                <a:gd name="T6" fmla="*/ 22 w 143"/>
                <a:gd name="T7" fmla="*/ 72 h 144"/>
                <a:gd name="T8" fmla="*/ 71 w 143"/>
                <a:gd name="T9" fmla="*/ 23 h 144"/>
                <a:gd name="T10" fmla="*/ 103 w 143"/>
                <a:gd name="T11" fmla="*/ 34 h 144"/>
                <a:gd name="T12" fmla="*/ 117 w 143"/>
                <a:gd name="T13" fmla="*/ 16 h 144"/>
                <a:gd name="T14" fmla="*/ 71 w 143"/>
                <a:gd name="T15" fmla="*/ 0 h 144"/>
                <a:gd name="T16" fmla="*/ 0 w 143"/>
                <a:gd name="T17" fmla="*/ 72 h 144"/>
                <a:gd name="T18" fmla="*/ 71 w 143"/>
                <a:gd name="T19" fmla="*/ 144 h 144"/>
                <a:gd name="T20" fmla="*/ 143 w 143"/>
                <a:gd name="T21" fmla="*/ 72 h 144"/>
                <a:gd name="T22" fmla="*/ 128 w 143"/>
                <a:gd name="T23" fmla="*/ 27 h 144"/>
                <a:gd name="T24" fmla="*/ 113 w 143"/>
                <a:gd name="T25" fmla="*/ 4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3" h="144">
                  <a:moveTo>
                    <a:pt x="113" y="46"/>
                  </a:moveTo>
                  <a:cubicBezTo>
                    <a:pt x="118" y="53"/>
                    <a:pt x="121" y="62"/>
                    <a:pt x="121" y="72"/>
                  </a:cubicBezTo>
                  <a:cubicBezTo>
                    <a:pt x="121" y="99"/>
                    <a:pt x="99" y="121"/>
                    <a:pt x="71" y="121"/>
                  </a:cubicBezTo>
                  <a:cubicBezTo>
                    <a:pt x="44" y="121"/>
                    <a:pt x="22" y="99"/>
                    <a:pt x="22" y="72"/>
                  </a:cubicBezTo>
                  <a:cubicBezTo>
                    <a:pt x="22" y="45"/>
                    <a:pt x="44" y="23"/>
                    <a:pt x="71" y="23"/>
                  </a:cubicBezTo>
                  <a:cubicBezTo>
                    <a:pt x="83" y="23"/>
                    <a:pt x="94" y="27"/>
                    <a:pt x="103" y="34"/>
                  </a:cubicBezTo>
                  <a:cubicBezTo>
                    <a:pt x="117" y="16"/>
                    <a:pt x="117" y="16"/>
                    <a:pt x="117" y="16"/>
                  </a:cubicBezTo>
                  <a:cubicBezTo>
                    <a:pt x="104" y="6"/>
                    <a:pt x="89" y="0"/>
                    <a:pt x="71" y="0"/>
                  </a:cubicBezTo>
                  <a:cubicBezTo>
                    <a:pt x="32" y="0"/>
                    <a:pt x="0" y="33"/>
                    <a:pt x="0" y="72"/>
                  </a:cubicBezTo>
                  <a:cubicBezTo>
                    <a:pt x="0" y="112"/>
                    <a:pt x="32" y="144"/>
                    <a:pt x="71" y="144"/>
                  </a:cubicBezTo>
                  <a:cubicBezTo>
                    <a:pt x="111" y="144"/>
                    <a:pt x="143" y="112"/>
                    <a:pt x="143" y="72"/>
                  </a:cubicBezTo>
                  <a:cubicBezTo>
                    <a:pt x="143" y="55"/>
                    <a:pt x="137" y="40"/>
                    <a:pt x="128" y="27"/>
                  </a:cubicBezTo>
                  <a:lnTo>
                    <a:pt x="113" y="46"/>
                  </a:lnTo>
                  <a:close/>
                </a:path>
              </a:pathLst>
            </a:custGeom>
            <a:grpFill/>
            <a:ln>
              <a:noFill/>
            </a:ln>
          </p:spPr>
          <p:txBody>
            <a:bodyPr vert="horz" wrap="square" lIns="91440" tIns="45720" rIns="91440" bIns="45720" numCol="1" anchor="t" anchorCtr="0" compatLnSpc="1"/>
            <a:lstStyle/>
            <a:p>
              <a:endParaRPr lang="zh-CN" altLang="en-US"/>
            </a:p>
          </p:txBody>
        </p:sp>
        <p:sp>
          <p:nvSpPr>
            <p:cNvPr id="12" name="Freeform 31"/>
            <p:cNvSpPr/>
            <p:nvPr/>
          </p:nvSpPr>
          <p:spPr bwMode="auto">
            <a:xfrm>
              <a:off x="5712009" y="2286956"/>
              <a:ext cx="302926" cy="356609"/>
            </a:xfrm>
            <a:custGeom>
              <a:avLst/>
              <a:gdLst>
                <a:gd name="T0" fmla="*/ 237 w 237"/>
                <a:gd name="T1" fmla="*/ 47 h 279"/>
                <a:gd name="T2" fmla="*/ 182 w 237"/>
                <a:gd name="T3" fmla="*/ 54 h 279"/>
                <a:gd name="T4" fmla="*/ 175 w 237"/>
                <a:gd name="T5" fmla="*/ 0 h 279"/>
                <a:gd name="T6" fmla="*/ 133 w 237"/>
                <a:gd name="T7" fmla="*/ 54 h 279"/>
                <a:gd name="T8" fmla="*/ 128 w 237"/>
                <a:gd name="T9" fmla="*/ 94 h 279"/>
                <a:gd name="T10" fmla="*/ 4 w 237"/>
                <a:gd name="T11" fmla="*/ 246 h 279"/>
                <a:gd name="T12" fmla="*/ 0 w 237"/>
                <a:gd name="T13" fmla="*/ 279 h 279"/>
                <a:gd name="T14" fmla="*/ 30 w 237"/>
                <a:gd name="T15" fmla="*/ 269 h 279"/>
                <a:gd name="T16" fmla="*/ 156 w 237"/>
                <a:gd name="T17" fmla="*/ 115 h 279"/>
                <a:gd name="T18" fmla="*/ 194 w 237"/>
                <a:gd name="T19" fmla="*/ 101 h 279"/>
                <a:gd name="T20" fmla="*/ 237 w 237"/>
                <a:gd name="T21" fmla="*/ 47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7" h="279">
                  <a:moveTo>
                    <a:pt x="237" y="47"/>
                  </a:moveTo>
                  <a:lnTo>
                    <a:pt x="182" y="54"/>
                  </a:lnTo>
                  <a:lnTo>
                    <a:pt x="175" y="0"/>
                  </a:lnTo>
                  <a:lnTo>
                    <a:pt x="133" y="54"/>
                  </a:lnTo>
                  <a:lnTo>
                    <a:pt x="128" y="94"/>
                  </a:lnTo>
                  <a:lnTo>
                    <a:pt x="4" y="246"/>
                  </a:lnTo>
                  <a:lnTo>
                    <a:pt x="0" y="279"/>
                  </a:lnTo>
                  <a:lnTo>
                    <a:pt x="30" y="269"/>
                  </a:lnTo>
                  <a:lnTo>
                    <a:pt x="156" y="115"/>
                  </a:lnTo>
                  <a:lnTo>
                    <a:pt x="194" y="101"/>
                  </a:lnTo>
                  <a:lnTo>
                    <a:pt x="237" y="47"/>
                  </a:lnTo>
                  <a:close/>
                </a:path>
              </a:pathLst>
            </a:custGeom>
            <a:grpFill/>
            <a:ln>
              <a:noFill/>
            </a:ln>
          </p:spPr>
          <p:txBody>
            <a:bodyPr vert="horz" wrap="square" lIns="91440" tIns="45720" rIns="91440" bIns="45720" numCol="1" anchor="t" anchorCtr="0" compatLnSpc="1"/>
            <a:lstStyle/>
            <a:p>
              <a:endParaRPr lang="zh-CN" altLang="en-US"/>
            </a:p>
          </p:txBody>
        </p:sp>
      </p:grpSp>
      <p:cxnSp>
        <p:nvCxnSpPr>
          <p:cNvPr id="13" name="Elbow Connector 52"/>
          <p:cNvCxnSpPr>
            <a:stCxn id="8" idx="4"/>
          </p:cNvCxnSpPr>
          <p:nvPr/>
        </p:nvCxnSpPr>
        <p:spPr>
          <a:xfrm rot="5400000">
            <a:off x="6954362" y="2977499"/>
            <a:ext cx="962546" cy="1040454"/>
          </a:xfrm>
          <a:prstGeom prst="bentConnector2">
            <a:avLst/>
          </a:prstGeom>
          <a:ln w="6350">
            <a:solidFill>
              <a:srgbClr val="1D8DE5"/>
            </a:solidFill>
            <a:prstDash val="solid"/>
            <a:headEnd type="none" w="lg" len="lg"/>
            <a:tailEnd type="oval" w="lg" len="lg"/>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构建软件的不同目的</a:t>
            </a:r>
            <a:endParaRPr lang="en-US" dirty="0"/>
          </a:p>
        </p:txBody>
      </p:sp>
      <p:sp>
        <p:nvSpPr>
          <p:cNvPr id="3" name="Content Placeholder 2"/>
          <p:cNvSpPr>
            <a:spLocks noGrp="1"/>
          </p:cNvSpPr>
          <p:nvPr>
            <p:ph idx="1"/>
          </p:nvPr>
        </p:nvSpPr>
        <p:spPr>
          <a:xfrm>
            <a:off x="768096" y="939800"/>
            <a:ext cx="7832833" cy="3783754"/>
          </a:xfrm>
        </p:spPr>
        <p:txBody>
          <a:bodyPr>
            <a:normAutofit fontScale="62500" lnSpcReduction="20000"/>
          </a:bodyPr>
          <a:lstStyle/>
          <a:p>
            <a:pPr marL="431800">
              <a:lnSpc>
                <a:spcPct val="140000"/>
              </a:lnSpc>
              <a:spcBef>
                <a:spcPts val="1200"/>
              </a:spcBef>
              <a:spcAft>
                <a:spcPts val="0"/>
              </a:spcAft>
            </a:pPr>
            <a:r>
              <a:rPr lang="en-US" altLang="zh-CN" dirty="0" smtClean="0">
                <a:latin typeface="+mj-ea"/>
                <a:ea typeface="+mj-ea"/>
              </a:rPr>
              <a:t>Build </a:t>
            </a:r>
            <a:r>
              <a:rPr lang="en-US" altLang="zh-CN" dirty="0">
                <a:latin typeface="+mj-ea"/>
                <a:ea typeface="+mj-ea"/>
              </a:rPr>
              <a:t>To Learn</a:t>
            </a:r>
            <a:r>
              <a:rPr lang="zh-CN" altLang="en-US" dirty="0">
                <a:latin typeface="+mj-ea"/>
                <a:ea typeface="+mj-ea"/>
              </a:rPr>
              <a:t>：开发软件，构建系统的目的是做进一步的试验，试图发现客观规律 或探求某方法的优劣。这些项目经常是科研论文的基础工作。 </a:t>
            </a:r>
            <a:endParaRPr lang="en-US" altLang="zh-CN" dirty="0">
              <a:latin typeface="+mj-ea"/>
              <a:ea typeface="+mj-ea"/>
            </a:endParaRPr>
          </a:p>
          <a:p>
            <a:pPr marL="431800">
              <a:lnSpc>
                <a:spcPct val="140000"/>
              </a:lnSpc>
              <a:spcBef>
                <a:spcPts val="1200"/>
              </a:spcBef>
              <a:spcAft>
                <a:spcPts val="0"/>
              </a:spcAft>
            </a:pPr>
            <a:r>
              <a:rPr lang="en-US" altLang="zh-CN" dirty="0">
                <a:latin typeface="+mj-ea"/>
                <a:ea typeface="+mj-ea"/>
              </a:rPr>
              <a:t>Build To Show</a:t>
            </a:r>
            <a:r>
              <a:rPr lang="zh-CN" altLang="en-US" dirty="0">
                <a:latin typeface="+mj-ea"/>
                <a:ea typeface="+mj-ea"/>
              </a:rPr>
              <a:t>：为了突出地展现某个技术的作用，开发一些以演示为目的的软件，这 些项目很吸引眼球，经常获得新闻报道，但是功能未必全面或实用。</a:t>
            </a:r>
            <a:endParaRPr lang="en-US" altLang="zh-CN" dirty="0">
              <a:latin typeface="+mj-ea"/>
              <a:ea typeface="+mj-ea"/>
            </a:endParaRPr>
          </a:p>
          <a:p>
            <a:pPr marL="431800">
              <a:lnSpc>
                <a:spcPct val="140000"/>
              </a:lnSpc>
              <a:spcBef>
                <a:spcPts val="1200"/>
              </a:spcBef>
              <a:spcAft>
                <a:spcPts val="0"/>
              </a:spcAft>
            </a:pPr>
            <a:r>
              <a:rPr lang="en-US" altLang="zh-CN" dirty="0">
                <a:latin typeface="+mj-ea"/>
                <a:ea typeface="+mj-ea"/>
              </a:rPr>
              <a:t>Build To Serve</a:t>
            </a:r>
            <a:r>
              <a:rPr lang="zh-CN" altLang="en-US" dirty="0">
                <a:latin typeface="+mj-ea"/>
                <a:ea typeface="+mj-ea"/>
              </a:rPr>
              <a:t>：为了服务一定范围的目标用户而构建的工具等，有时以公开</a:t>
            </a:r>
            <a:r>
              <a:rPr lang="en-US" altLang="zh-CN" dirty="0">
                <a:latin typeface="+mj-ea"/>
                <a:ea typeface="+mj-ea"/>
              </a:rPr>
              <a:t>SDK</a:t>
            </a:r>
            <a:r>
              <a:rPr lang="zh-CN" altLang="en-US" dirty="0">
                <a:latin typeface="+mj-ea"/>
                <a:ea typeface="+mj-ea"/>
              </a:rPr>
              <a:t>的 形式发布，让别的研发人员使用。</a:t>
            </a:r>
            <a:endParaRPr lang="en-US" altLang="zh-CN" dirty="0">
              <a:latin typeface="+mj-ea"/>
              <a:ea typeface="+mj-ea"/>
            </a:endParaRPr>
          </a:p>
          <a:p>
            <a:pPr marL="431800">
              <a:lnSpc>
                <a:spcPct val="140000"/>
              </a:lnSpc>
              <a:spcBef>
                <a:spcPts val="1200"/>
              </a:spcBef>
              <a:spcAft>
                <a:spcPts val="0"/>
              </a:spcAft>
            </a:pPr>
            <a:r>
              <a:rPr lang="en-US" altLang="zh-CN" dirty="0">
                <a:latin typeface="+mj-ea"/>
                <a:ea typeface="+mj-ea"/>
              </a:rPr>
              <a:t>Build To Win</a:t>
            </a:r>
            <a:r>
              <a:rPr lang="zh-CN" altLang="en-US" dirty="0">
                <a:latin typeface="+mj-ea"/>
                <a:ea typeface="+mj-ea"/>
              </a:rPr>
              <a:t>：以在市场上赢得用户为目标而构建的软件。这也是种种科学发现、技 术突破最好的试金石。</a:t>
            </a:r>
            <a:endParaRPr lang="zh-CN" altLang="en-US" dirty="0">
              <a:latin typeface="+mj-ea"/>
              <a:ea typeface="+mj-ea"/>
            </a:endParaRPr>
          </a:p>
        </p:txBody>
      </p:sp>
      <p:sp>
        <p:nvSpPr>
          <p:cNvPr id="4" name="日期占位符 3"/>
          <p:cNvSpPr>
            <a:spLocks noGrp="1"/>
          </p:cNvSpPr>
          <p:nvPr>
            <p:ph type="dt" sz="half" idx="10"/>
          </p:nvPr>
        </p:nvSpPr>
        <p:spPr/>
        <p:txBody>
          <a:bodyPr/>
          <a:lstStyle/>
          <a:p>
            <a:fld id="{64E1AB4A-A8DA-4A48-8285-E71E586F895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软件工程和软件开发流程</a:t>
            </a:r>
            <a:endParaRPr lang="zh-CN" altLang="en-US" dirty="0"/>
          </a:p>
        </p:txBody>
      </p:sp>
      <p:sp>
        <p:nvSpPr>
          <p:cNvPr id="3" name="内容占位符 2"/>
          <p:cNvSpPr>
            <a:spLocks noGrp="1"/>
          </p:cNvSpPr>
          <p:nvPr>
            <p:ph idx="1"/>
          </p:nvPr>
        </p:nvSpPr>
        <p:spPr>
          <a:xfrm>
            <a:off x="768096" y="1082842"/>
            <a:ext cx="7930736" cy="3224463"/>
          </a:xfrm>
        </p:spPr>
        <p:txBody>
          <a:bodyPr/>
          <a:lstStyle/>
          <a:p>
            <a:pPr indent="-360045" algn="just">
              <a:lnSpc>
                <a:spcPct val="120000"/>
              </a:lnSpc>
              <a:spcBef>
                <a:spcPts val="1200"/>
              </a:spcBef>
              <a:buClr>
                <a:schemeClr val="accent1"/>
              </a:buClr>
              <a:buSzPct val="80000"/>
              <a:buFont typeface="Arial" panose="020B0604020202020204" pitchFamily="34" charset="0"/>
              <a:buChar char="֍"/>
            </a:pPr>
            <a:r>
              <a:rPr lang="zh-CN" altLang="en-US" sz="2400" dirty="0">
                <a:solidFill>
                  <a:schemeClr val="tx2">
                    <a:lumMod val="90000"/>
                    <a:lumOff val="10000"/>
                  </a:schemeClr>
                </a:solidFill>
                <a:latin typeface="+mj-ea"/>
                <a:ea typeface="+mj-ea"/>
              </a:rPr>
              <a:t>人们在开发、运营、维护软件的过程中有很多技术、做法、习惯和思想体系。软件工程把</a:t>
            </a:r>
            <a:r>
              <a:rPr lang="zh-CN" altLang="en-US" sz="2400" dirty="0" smtClean="0">
                <a:solidFill>
                  <a:schemeClr val="tx2">
                    <a:lumMod val="90000"/>
                    <a:lumOff val="10000"/>
                  </a:schemeClr>
                </a:solidFill>
                <a:latin typeface="+mj-ea"/>
                <a:ea typeface="+mj-ea"/>
              </a:rPr>
              <a:t>这些相关</a:t>
            </a:r>
            <a:r>
              <a:rPr lang="zh-CN" altLang="en-US" sz="2400" dirty="0">
                <a:solidFill>
                  <a:schemeClr val="tx2">
                    <a:lumMod val="90000"/>
                    <a:lumOff val="10000"/>
                  </a:schemeClr>
                </a:solidFill>
                <a:latin typeface="+mj-ea"/>
                <a:ea typeface="+mj-ea"/>
              </a:rPr>
              <a:t>的技术和过程统一到一个体系中，叫“软件开发流程”。</a:t>
            </a:r>
            <a:endParaRPr lang="en-US" altLang="zh-CN" sz="2400" dirty="0">
              <a:solidFill>
                <a:schemeClr val="tx2">
                  <a:lumMod val="90000"/>
                  <a:lumOff val="10000"/>
                </a:schemeClr>
              </a:solidFill>
              <a:latin typeface="+mj-ea"/>
              <a:ea typeface="+mj-ea"/>
            </a:endParaRPr>
          </a:p>
          <a:p>
            <a:pPr indent="-360045" algn="just">
              <a:lnSpc>
                <a:spcPct val="120000"/>
              </a:lnSpc>
              <a:spcBef>
                <a:spcPts val="1200"/>
              </a:spcBef>
              <a:buClr>
                <a:schemeClr val="accent1"/>
              </a:buClr>
              <a:buSzPct val="80000"/>
              <a:buFont typeface="Arial" panose="020B0604020202020204" pitchFamily="34" charset="0"/>
              <a:buChar char="֍"/>
            </a:pPr>
            <a:r>
              <a:rPr lang="zh-CN" altLang="en-US" sz="2400" dirty="0">
                <a:solidFill>
                  <a:schemeClr val="tx2">
                    <a:lumMod val="90000"/>
                    <a:lumOff val="10000"/>
                  </a:schemeClr>
                </a:solidFill>
                <a:latin typeface="+mj-ea"/>
                <a:ea typeface="+mj-ea"/>
              </a:rPr>
              <a:t>软件开发流程的目的是为了</a:t>
            </a:r>
            <a:r>
              <a:rPr lang="zh-CN" altLang="en-US" sz="2400" dirty="0" smtClean="0">
                <a:solidFill>
                  <a:schemeClr val="tx2">
                    <a:lumMod val="90000"/>
                    <a:lumOff val="10000"/>
                  </a:schemeClr>
                </a:solidFill>
                <a:latin typeface="+mj-ea"/>
                <a:ea typeface="+mj-ea"/>
              </a:rPr>
              <a:t>提高软件开发</a:t>
            </a:r>
            <a:r>
              <a:rPr lang="zh-CN" altLang="en-US" sz="2400" dirty="0">
                <a:solidFill>
                  <a:schemeClr val="tx2">
                    <a:lumMod val="90000"/>
                    <a:lumOff val="10000"/>
                  </a:schemeClr>
                </a:solidFill>
                <a:latin typeface="+mj-ea"/>
                <a:ea typeface="+mj-ea"/>
              </a:rPr>
              <a:t>、运营、维护的效率，并提高软件的质量、用户满意度、可靠性和软件的可维护性</a:t>
            </a:r>
            <a:r>
              <a:rPr lang="zh-CN" altLang="en-US" sz="2400" dirty="0" smtClean="0">
                <a:solidFill>
                  <a:schemeClr val="tx2">
                    <a:lumMod val="90000"/>
                    <a:lumOff val="10000"/>
                  </a:schemeClr>
                </a:solidFill>
                <a:latin typeface="+mj-ea"/>
                <a:ea typeface="+mj-ea"/>
              </a:rPr>
              <a:t>。</a:t>
            </a:r>
            <a:endParaRPr lang="zh-CN" altLang="en-US" sz="2400" dirty="0">
              <a:solidFill>
                <a:schemeClr val="tx2">
                  <a:lumMod val="90000"/>
                  <a:lumOff val="10000"/>
                </a:schemeClr>
              </a:solidFill>
              <a:latin typeface="+mj-ea"/>
              <a:ea typeface="+mj-ea"/>
            </a:endParaRPr>
          </a:p>
        </p:txBody>
      </p:sp>
      <p:sp>
        <p:nvSpPr>
          <p:cNvPr id="4" name="日期占位符 3"/>
          <p:cNvSpPr>
            <a:spLocks noGrp="1"/>
          </p:cNvSpPr>
          <p:nvPr>
            <p:ph type="dt" sz="half" idx="10"/>
          </p:nvPr>
        </p:nvSpPr>
        <p:spPr/>
        <p:txBody>
          <a:bodyPr/>
          <a:lstStyle/>
          <a:p>
            <a:fld id="{580275AA-EB45-4B6C-96F8-55DDDD1C8971}" type="datetime1">
              <a:rPr lang="zh-CN" altLang="en-US" sz="1600" smtClean="0"/>
            </a:fld>
            <a:endParaRPr lang="zh-CN" altLang="en-US" sz="1600" dirty="0"/>
          </a:p>
        </p:txBody>
      </p:sp>
      <p:sp>
        <p:nvSpPr>
          <p:cNvPr id="5" name="页脚占位符 4"/>
          <p:cNvSpPr>
            <a:spLocks noGrp="1"/>
          </p:cNvSpPr>
          <p:nvPr>
            <p:ph type="ftr" sz="quarter" idx="11"/>
          </p:nvPr>
        </p:nvSpPr>
        <p:spPr/>
        <p:txBody>
          <a:bodyPr/>
          <a:lstStyle/>
          <a:p>
            <a:r>
              <a:rPr lang="zh-CN" altLang="en-US" sz="1600" smtClean="0"/>
              <a:t>软件工程</a:t>
            </a:r>
            <a:endParaRPr lang="zh-CN" altLang="en-US" sz="1600" dirty="0"/>
          </a:p>
        </p:txBody>
      </p:sp>
      <p:sp>
        <p:nvSpPr>
          <p:cNvPr id="6" name="灯片编号占位符 5"/>
          <p:cNvSpPr>
            <a:spLocks noGrp="1"/>
          </p:cNvSpPr>
          <p:nvPr>
            <p:ph type="sldNum" sz="quarter" idx="12"/>
          </p:nvPr>
        </p:nvSpPr>
        <p:spPr/>
        <p:txBody>
          <a:bodyPr/>
          <a:lstStyle/>
          <a:p>
            <a:fld id="{F528F39D-B5E5-4CA7-906C-979D5A62978D}" type="slidenum">
              <a:rPr lang="zh-CN" altLang="en-US" sz="1600" smtClean="0"/>
            </a:fld>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思考题</a:t>
            </a:r>
            <a:endParaRPr lang="zh-CN" altLang="en-US"/>
          </a:p>
        </p:txBody>
      </p:sp>
      <p:sp>
        <p:nvSpPr>
          <p:cNvPr id="3" name="内容占位符 2"/>
          <p:cNvSpPr>
            <a:spLocks noGrp="1"/>
          </p:cNvSpPr>
          <p:nvPr>
            <p:ph idx="1"/>
          </p:nvPr>
        </p:nvSpPr>
        <p:spPr/>
        <p:txBody>
          <a:bodyPr/>
          <a:p>
            <a:r>
              <a:rPr lang="zh-CN" altLang="en-US"/>
              <a:t>面对复杂的软件开发项目，如何系统地规划、实施和维护？</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1.4 </a:t>
            </a:r>
            <a:r>
              <a:rPr lang="zh-CN" altLang="en-US" dirty="0">
                <a:sym typeface="+mn-ea"/>
              </a:rPr>
              <a:t>软件工程知识体系</a:t>
            </a:r>
            <a:endParaRPr lang="zh-CN" altLang="en-US"/>
          </a:p>
        </p:txBody>
      </p:sp>
      <p:sp>
        <p:nvSpPr>
          <p:cNvPr id="3" name="内容占位符 2"/>
          <p:cNvSpPr>
            <a:spLocks noGrp="1"/>
          </p:cNvSpPr>
          <p:nvPr>
            <p:ph idx="1"/>
          </p:nvPr>
        </p:nvSpPr>
        <p:spPr/>
        <p:txBody>
          <a:bodyPr/>
          <a:p>
            <a:pPr marL="0" indent="0">
              <a:buNone/>
            </a:pPr>
            <a:r>
              <a:rPr lang="zh-CN" altLang="en-US" sz="2400" dirty="0">
                <a:sym typeface="+mn-ea"/>
              </a:rPr>
              <a:t>软件工程知识体系（</a:t>
            </a:r>
            <a:r>
              <a:rPr lang="en-US" altLang="zh-CN" sz="2400" dirty="0">
                <a:sym typeface="+mn-ea"/>
              </a:rPr>
              <a:t>SWEBOK</a:t>
            </a:r>
            <a:r>
              <a:rPr lang="zh-CN" altLang="en-US" sz="2400" dirty="0">
                <a:sym typeface="+mn-ea"/>
              </a:rPr>
              <a:t>，即</a:t>
            </a:r>
            <a:r>
              <a:rPr lang="en-US" altLang="zh-CN" sz="2400" dirty="0">
                <a:sym typeface="+mn-ea"/>
              </a:rPr>
              <a:t>Software Engineering Body of Knowledge</a:t>
            </a:r>
            <a:r>
              <a:rPr lang="zh-CN" altLang="en-US" sz="2400" dirty="0">
                <a:sym typeface="+mn-ea"/>
              </a:rPr>
              <a:t>）</a:t>
            </a:r>
            <a:endParaRPr lang="zh-CN" altLang="en-US" sz="2400" dirty="0">
              <a:sym typeface="+mn-ea"/>
            </a:endParaRPr>
          </a:p>
          <a:p>
            <a:r>
              <a:rPr lang="zh-CN" altLang="en-US" sz="2400"/>
              <a:t>中国版软件工程知识体系</a:t>
            </a:r>
            <a:r>
              <a:rPr lang="en-US" altLang="zh-CN" sz="2400"/>
              <a:t>C-SWEBOK</a:t>
            </a:r>
            <a:r>
              <a:rPr lang="zh-CN" altLang="en-US" sz="2400"/>
              <a:t>在</a:t>
            </a:r>
            <a:r>
              <a:rPr lang="en-US" altLang="zh-CN" sz="2400"/>
              <a:t>SWEBOK3.0</a:t>
            </a:r>
            <a:r>
              <a:rPr lang="zh-CN" altLang="en-US" sz="2400"/>
              <a:t>的基础上中，新增了</a:t>
            </a:r>
            <a:r>
              <a:rPr lang="en-US" altLang="zh-CN" sz="2400"/>
              <a:t>“</a:t>
            </a:r>
            <a:r>
              <a:rPr lang="zh-CN" altLang="en-US" sz="2400"/>
              <a:t>软件服务工程</a:t>
            </a:r>
            <a:r>
              <a:rPr lang="en-US" altLang="zh-CN" sz="2400"/>
              <a:t>”</a:t>
            </a:r>
            <a:r>
              <a:rPr lang="zh-CN" altLang="en-US" sz="2400"/>
              <a:t>和</a:t>
            </a:r>
            <a:r>
              <a:rPr lang="en-US" altLang="zh-CN" sz="2400"/>
              <a:t>“</a:t>
            </a:r>
            <a:r>
              <a:rPr lang="zh-CN" altLang="en-US" sz="2400"/>
              <a:t>软件工程典型应用</a:t>
            </a:r>
            <a:r>
              <a:rPr lang="en-US" altLang="zh-CN" sz="2400"/>
              <a:t>”2</a:t>
            </a:r>
            <a:r>
              <a:rPr lang="zh-CN" altLang="en-US" sz="2400"/>
              <a:t>个知识领域，改造和扩充了</a:t>
            </a:r>
            <a:r>
              <a:rPr lang="en-US" altLang="zh-CN" sz="2400"/>
              <a:t>“</a:t>
            </a:r>
            <a:r>
              <a:rPr lang="zh-CN" altLang="en-US" sz="2400"/>
              <a:t>软件工程职业实践</a:t>
            </a:r>
            <a:r>
              <a:rPr lang="en-US" altLang="zh-CN" sz="2400"/>
              <a:t>”1</a:t>
            </a:r>
            <a:r>
              <a:rPr lang="zh-CN" altLang="en-US" sz="2400"/>
              <a:t>个知识领域，共包含</a:t>
            </a:r>
            <a:r>
              <a:rPr lang="en-US" altLang="zh-CN" sz="2400"/>
              <a:t>17</a:t>
            </a:r>
            <a:r>
              <a:rPr lang="zh-CN" altLang="en-US" sz="2400"/>
              <a:t>个知识领域。</a:t>
            </a:r>
            <a:endParaRPr lang="zh-CN" altLang="en-US" sz="2400"/>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软件工程知识体系</a:t>
            </a:r>
            <a:endParaRPr lang="en-US" dirty="0"/>
          </a:p>
        </p:txBody>
      </p:sp>
      <p:sp>
        <p:nvSpPr>
          <p:cNvPr id="3" name="Content Placeholder 2"/>
          <p:cNvSpPr>
            <a:spLocks noGrp="1"/>
          </p:cNvSpPr>
          <p:nvPr>
            <p:ph idx="1"/>
          </p:nvPr>
        </p:nvSpPr>
        <p:spPr>
          <a:xfrm>
            <a:off x="804194" y="915101"/>
            <a:ext cx="8054056" cy="1126887"/>
          </a:xfrm>
        </p:spPr>
        <p:txBody>
          <a:bodyPr>
            <a:noAutofit/>
          </a:bodyPr>
          <a:lstStyle/>
          <a:p>
            <a:pPr>
              <a:lnSpc>
                <a:spcPct val="100000"/>
              </a:lnSpc>
              <a:spcBef>
                <a:spcPts val="0"/>
              </a:spcBef>
              <a:buClr>
                <a:schemeClr val="accent1"/>
              </a:buClr>
              <a:buSzPct val="80000"/>
              <a:buFont typeface="Arial" panose="020B0604020202020204" pitchFamily="34" charset="0"/>
              <a:buChar char="֍"/>
            </a:pPr>
            <a:r>
              <a:rPr lang="zh-CN" altLang="en-US" sz="2000" dirty="0" smtClean="0">
                <a:solidFill>
                  <a:schemeClr val="tx2">
                    <a:lumMod val="90000"/>
                    <a:lumOff val="10000"/>
                  </a:schemeClr>
                </a:solidFill>
                <a:latin typeface="+mj-ea"/>
                <a:ea typeface="+mj-ea"/>
              </a:rPr>
              <a:t> 软件工程</a:t>
            </a:r>
            <a:r>
              <a:rPr lang="zh-CN" altLang="en-US" sz="2000" dirty="0">
                <a:solidFill>
                  <a:schemeClr val="tx2">
                    <a:lumMod val="90000"/>
                    <a:lumOff val="10000"/>
                  </a:schemeClr>
                </a:solidFill>
                <a:latin typeface="+mj-ea"/>
                <a:ea typeface="+mj-ea"/>
              </a:rPr>
              <a:t>这个学科包含了</a:t>
            </a:r>
            <a:r>
              <a:rPr lang="en-US" sz="2000" dirty="0">
                <a:solidFill>
                  <a:schemeClr val="tx2">
                    <a:lumMod val="90000"/>
                    <a:lumOff val="10000"/>
                  </a:schemeClr>
                </a:solidFill>
                <a:latin typeface="+mj-ea"/>
                <a:ea typeface="+mj-ea"/>
              </a:rPr>
              <a:t>17</a:t>
            </a:r>
            <a:r>
              <a:rPr lang="zh-CN" altLang="en-US" sz="2000" dirty="0">
                <a:solidFill>
                  <a:schemeClr val="tx2">
                    <a:lumMod val="90000"/>
                    <a:lumOff val="10000"/>
                  </a:schemeClr>
                </a:solidFill>
                <a:latin typeface="+mj-ea"/>
                <a:ea typeface="+mj-ea"/>
              </a:rPr>
              <a:t>个知识领域 （</a:t>
            </a:r>
            <a:r>
              <a:rPr lang="en-US" sz="2000" dirty="0">
                <a:solidFill>
                  <a:schemeClr val="tx2">
                    <a:lumMod val="90000"/>
                    <a:lumOff val="10000"/>
                  </a:schemeClr>
                </a:solidFill>
                <a:latin typeface="+mj-ea"/>
                <a:ea typeface="+mj-ea"/>
              </a:rPr>
              <a:t>Knowledge Area</a:t>
            </a:r>
            <a:r>
              <a:rPr lang="zh-CN" altLang="en-US" sz="2000" dirty="0">
                <a:solidFill>
                  <a:schemeClr val="tx2">
                    <a:lumMod val="90000"/>
                    <a:lumOff val="10000"/>
                  </a:schemeClr>
                </a:solidFill>
                <a:latin typeface="+mj-ea"/>
                <a:ea typeface="+mj-ea"/>
              </a:rPr>
              <a:t>，</a:t>
            </a:r>
            <a:r>
              <a:rPr lang="en-US" sz="2000" dirty="0">
                <a:solidFill>
                  <a:schemeClr val="tx2">
                    <a:lumMod val="90000"/>
                    <a:lumOff val="10000"/>
                  </a:schemeClr>
                </a:solidFill>
                <a:latin typeface="+mj-ea"/>
                <a:ea typeface="+mj-ea"/>
              </a:rPr>
              <a:t>KA</a:t>
            </a:r>
            <a:r>
              <a:rPr lang="zh-CN" altLang="en-US" sz="2000" dirty="0">
                <a:solidFill>
                  <a:schemeClr val="tx2">
                    <a:lumMod val="90000"/>
                    <a:lumOff val="10000"/>
                  </a:schemeClr>
                </a:solidFill>
                <a:latin typeface="+mj-ea"/>
                <a:ea typeface="+mj-ea"/>
              </a:rPr>
              <a:t>）</a:t>
            </a:r>
            <a:r>
              <a:rPr lang="zh-CN" altLang="en-US" sz="2000" dirty="0" smtClean="0">
                <a:solidFill>
                  <a:schemeClr val="tx2">
                    <a:lumMod val="90000"/>
                    <a:lumOff val="10000"/>
                  </a:schemeClr>
                </a:solidFill>
                <a:latin typeface="+mj-ea"/>
                <a:ea typeface="+mj-ea"/>
              </a:rPr>
              <a:t>：</a:t>
            </a:r>
            <a:endParaRPr lang="en-US" sz="2000" dirty="0">
              <a:solidFill>
                <a:schemeClr val="tx2">
                  <a:lumMod val="90000"/>
                  <a:lumOff val="10000"/>
                </a:schemeClr>
              </a:solidFill>
              <a:latin typeface="+mj-ea"/>
              <a:ea typeface="+mj-ea"/>
            </a:endParaRPr>
          </a:p>
        </p:txBody>
      </p:sp>
      <p:sp>
        <p:nvSpPr>
          <p:cNvPr id="4" name="文本框 3"/>
          <p:cNvSpPr txBox="1"/>
          <p:nvPr/>
        </p:nvSpPr>
        <p:spPr>
          <a:xfrm>
            <a:off x="4764405" y="1379220"/>
            <a:ext cx="4379595" cy="3291840"/>
          </a:xfrm>
          <a:prstGeom prst="rect">
            <a:avLst/>
          </a:prstGeom>
          <a:noFill/>
        </p:spPr>
        <p:txBody>
          <a:bodyPr wrap="square" rtlCol="0">
            <a:spAutoFit/>
          </a:bodyPr>
          <a:lstStyle/>
          <a:p>
            <a:pPr marL="457200" indent="-457200" algn="l" fontAlgn="auto">
              <a:spcBef>
                <a:spcPts val="0"/>
              </a:spcBef>
              <a:buClr>
                <a:schemeClr val="accent2"/>
              </a:buClr>
              <a:buSzTx/>
              <a:buFont typeface="+mj-lt"/>
              <a:buAutoNum type="arabicPeriod" startAt="10"/>
            </a:pPr>
            <a:r>
              <a:rPr lang="en-US" altLang="zh-CN" sz="1600" dirty="0">
                <a:solidFill>
                  <a:schemeClr val="tx2">
                    <a:lumMod val="90000"/>
                    <a:lumOff val="10000"/>
                  </a:schemeClr>
                </a:solidFill>
                <a:sym typeface="+mn-ea"/>
              </a:rPr>
              <a:t>软件质量 - Software Quality</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startAt="10"/>
            </a:pPr>
            <a:r>
              <a:rPr lang="en-US" altLang="zh-CN" sz="1600" dirty="0">
                <a:solidFill>
                  <a:schemeClr val="tx2">
                    <a:lumMod val="90000"/>
                    <a:lumOff val="10000"/>
                  </a:schemeClr>
                </a:solidFill>
                <a:sym typeface="+mn-ea"/>
              </a:rPr>
              <a:t>软件工程专业实践 - Software Engineering Professional Practice</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startAt="10"/>
            </a:pPr>
            <a:r>
              <a:rPr lang="en-US" altLang="zh-CN" sz="1600" dirty="0">
                <a:solidFill>
                  <a:schemeClr val="tx2">
                    <a:lumMod val="90000"/>
                    <a:lumOff val="10000"/>
                  </a:schemeClr>
                </a:solidFill>
                <a:sym typeface="+mn-ea"/>
              </a:rPr>
              <a:t>软件工程经济学 - Software Engineering Economics</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startAt="10"/>
            </a:pPr>
            <a:r>
              <a:rPr lang="en-US" altLang="zh-CN" sz="1600" dirty="0">
                <a:solidFill>
                  <a:schemeClr val="tx2">
                    <a:lumMod val="90000"/>
                    <a:lumOff val="10000"/>
                  </a:schemeClr>
                </a:solidFill>
                <a:sym typeface="+mn-ea"/>
              </a:rPr>
              <a:t>计算基础 - Computing Foundations</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startAt="10"/>
            </a:pPr>
            <a:r>
              <a:rPr lang="en-US" altLang="zh-CN" sz="1600" dirty="0">
                <a:solidFill>
                  <a:schemeClr val="tx2">
                    <a:lumMod val="90000"/>
                    <a:lumOff val="10000"/>
                  </a:schemeClr>
                </a:solidFill>
                <a:sym typeface="+mn-ea"/>
              </a:rPr>
              <a:t>数学基础 - Mathematical Foundations</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startAt="10"/>
            </a:pPr>
            <a:r>
              <a:rPr lang="en-US" altLang="zh-CN" sz="1600" dirty="0">
                <a:solidFill>
                  <a:schemeClr val="tx2">
                    <a:lumMod val="90000"/>
                    <a:lumOff val="10000"/>
                  </a:schemeClr>
                </a:solidFill>
                <a:sym typeface="+mn-ea"/>
              </a:rPr>
              <a:t>工程基础 - Engineering Foundations</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startAt="10"/>
            </a:pPr>
            <a:r>
              <a:rPr lang="en-US" altLang="zh-CN" sz="1600" dirty="0">
                <a:solidFill>
                  <a:schemeClr val="tx2">
                    <a:lumMod val="90000"/>
                    <a:lumOff val="10000"/>
                  </a:schemeClr>
                </a:solidFill>
                <a:sym typeface="+mn-ea"/>
              </a:rPr>
              <a:t>软件工程伦理与职业行为 - Software Engineering Ethics and Professional Conduct</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startAt="10"/>
            </a:pPr>
            <a:r>
              <a:rPr lang="en-US" altLang="zh-CN" sz="1600" dirty="0">
                <a:solidFill>
                  <a:schemeClr val="tx2">
                    <a:lumMod val="90000"/>
                    <a:lumOff val="10000"/>
                  </a:schemeClr>
                </a:solidFill>
                <a:sym typeface="+mn-ea"/>
              </a:rPr>
              <a:t>软件工程标准 - Software Engineering Standards</a:t>
            </a:r>
            <a:endParaRPr lang="en-US" altLang="zh-CN" sz="1600" dirty="0" smtClean="0">
              <a:solidFill>
                <a:schemeClr val="tx2">
                  <a:lumMod val="90000"/>
                  <a:lumOff val="10000"/>
                </a:schemeClr>
              </a:solidFill>
            </a:endParaRPr>
          </a:p>
        </p:txBody>
      </p:sp>
      <p:sp>
        <p:nvSpPr>
          <p:cNvPr id="5" name="文本框 4"/>
          <p:cNvSpPr txBox="1"/>
          <p:nvPr/>
        </p:nvSpPr>
        <p:spPr>
          <a:xfrm>
            <a:off x="547208" y="1379048"/>
            <a:ext cx="4369387" cy="3569335"/>
          </a:xfrm>
          <a:prstGeom prst="rect">
            <a:avLst/>
          </a:prstGeom>
          <a:noFill/>
        </p:spPr>
        <p:txBody>
          <a:bodyPr wrap="square" rtlCol="0">
            <a:spAutoFit/>
          </a:bodyPr>
          <a:lstStyle/>
          <a:p>
            <a:pPr marL="457200" indent="-457200" algn="l" fontAlgn="auto">
              <a:spcBef>
                <a:spcPts val="0"/>
              </a:spcBef>
              <a:buClr>
                <a:schemeClr val="accent2"/>
              </a:buClr>
              <a:buSzTx/>
              <a:buFont typeface="+mj-lt"/>
              <a:buAutoNum type="arabicPeriod"/>
            </a:pPr>
            <a:r>
              <a:rPr lang="en-US" altLang="zh-CN" sz="1600" dirty="0">
                <a:solidFill>
                  <a:schemeClr val="tx2">
                    <a:lumMod val="90000"/>
                    <a:lumOff val="10000"/>
                  </a:schemeClr>
                </a:solidFill>
              </a:rPr>
              <a:t>软件需求 - Software Requirements</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a:pPr>
            <a:r>
              <a:rPr lang="en-US" altLang="zh-CN" sz="1600" dirty="0">
                <a:solidFill>
                  <a:schemeClr val="tx2">
                    <a:lumMod val="90000"/>
                    <a:lumOff val="10000"/>
                  </a:schemeClr>
                </a:solidFill>
              </a:rPr>
              <a:t>软件设计 - Software Design</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a:pPr>
            <a:r>
              <a:rPr lang="en-US" altLang="zh-CN" sz="1600" dirty="0">
                <a:solidFill>
                  <a:schemeClr val="tx2">
                    <a:lumMod val="90000"/>
                    <a:lumOff val="10000"/>
                  </a:schemeClr>
                </a:solidFill>
              </a:rPr>
              <a:t>软件构造 - Software Construction</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a:pPr>
            <a:r>
              <a:rPr lang="en-US" altLang="zh-CN" sz="1600" dirty="0">
                <a:solidFill>
                  <a:schemeClr val="tx2">
                    <a:lumMod val="90000"/>
                    <a:lumOff val="10000"/>
                  </a:schemeClr>
                </a:solidFill>
              </a:rPr>
              <a:t>软件测试 - Software Testing</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a:pPr>
            <a:r>
              <a:rPr lang="en-US" altLang="zh-CN" sz="1600" dirty="0">
                <a:solidFill>
                  <a:schemeClr val="tx2">
                    <a:lumMod val="90000"/>
                    <a:lumOff val="10000"/>
                  </a:schemeClr>
                </a:solidFill>
              </a:rPr>
              <a:t>软件维护 - Software Maintenance</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a:pPr>
            <a:r>
              <a:rPr lang="en-US" altLang="zh-CN" sz="1600" dirty="0">
                <a:solidFill>
                  <a:schemeClr val="tx2">
                    <a:lumMod val="90000"/>
                    <a:lumOff val="10000"/>
                  </a:schemeClr>
                </a:solidFill>
              </a:rPr>
              <a:t>软件配置管理 - Software Configuration Management</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a:pPr>
            <a:r>
              <a:rPr lang="en-US" altLang="zh-CN" sz="1600" dirty="0">
                <a:solidFill>
                  <a:schemeClr val="tx2">
                    <a:lumMod val="90000"/>
                    <a:lumOff val="10000"/>
                  </a:schemeClr>
                </a:solidFill>
              </a:rPr>
              <a:t>软件工程管理 - Software Engineering Management</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a:pPr>
            <a:r>
              <a:rPr lang="en-US" altLang="zh-CN" sz="1600" dirty="0">
                <a:solidFill>
                  <a:schemeClr val="tx2">
                    <a:lumMod val="90000"/>
                    <a:lumOff val="10000"/>
                  </a:schemeClr>
                </a:solidFill>
              </a:rPr>
              <a:t>软件工程过程 - Software Engineering Process</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a:pPr>
            <a:r>
              <a:rPr lang="en-US" altLang="zh-CN" sz="1600" dirty="0">
                <a:solidFill>
                  <a:schemeClr val="tx2">
                    <a:lumMod val="90000"/>
                    <a:lumOff val="10000"/>
                  </a:schemeClr>
                </a:solidFill>
                <a:sym typeface="+mn-ea"/>
              </a:rPr>
              <a:t>软件工程模型和方法 - Software Engineering Models and Methods</a:t>
            </a:r>
            <a:endParaRPr lang="en-US" altLang="zh-CN" sz="1600" dirty="0">
              <a:solidFill>
                <a:schemeClr val="tx2">
                  <a:lumMod val="90000"/>
                  <a:lumOff val="10000"/>
                </a:schemeClr>
              </a:solidFill>
            </a:endParaRPr>
          </a:p>
          <a:p>
            <a:pPr marL="457200" indent="-457200" algn="l" fontAlgn="auto">
              <a:spcBef>
                <a:spcPts val="0"/>
              </a:spcBef>
              <a:buClr>
                <a:schemeClr val="accent2"/>
              </a:buClr>
              <a:buSzTx/>
              <a:buFont typeface="+mj-lt"/>
              <a:buAutoNum type="arabicPeriod"/>
            </a:pPr>
            <a:endParaRPr lang="en-US" altLang="zh-CN" dirty="0">
              <a:solidFill>
                <a:schemeClr val="tx2">
                  <a:lumMod val="90000"/>
                  <a:lumOff val="10000"/>
                </a:schemeClr>
              </a:solidFill>
            </a:endParaRPr>
          </a:p>
        </p:txBody>
      </p:sp>
      <p:sp>
        <p:nvSpPr>
          <p:cNvPr id="6" name="日期占位符 5"/>
          <p:cNvSpPr>
            <a:spLocks noGrp="1"/>
          </p:cNvSpPr>
          <p:nvPr>
            <p:ph type="dt" sz="half" idx="10"/>
          </p:nvPr>
        </p:nvSpPr>
        <p:spPr/>
        <p:txBody>
          <a:bodyPr/>
          <a:lstStyle/>
          <a:p>
            <a:fld id="{19CC2C91-8807-46EA-A655-40C3A72A1C02}"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mj-ea"/>
              </a:rPr>
              <a:t>软件工程的知识体系</a:t>
            </a:r>
            <a:endParaRPr lang="en-US" dirty="0">
              <a:latin typeface="+mj-ea"/>
            </a:endParaRPr>
          </a:p>
        </p:txBody>
      </p:sp>
      <p:sp>
        <p:nvSpPr>
          <p:cNvPr id="3" name="Content Placeholder 2"/>
          <p:cNvSpPr>
            <a:spLocks noGrp="1"/>
          </p:cNvSpPr>
          <p:nvPr>
            <p:ph idx="1"/>
          </p:nvPr>
        </p:nvSpPr>
        <p:spPr>
          <a:xfrm>
            <a:off x="279455" y="1423583"/>
            <a:ext cx="2592887" cy="3139141"/>
          </a:xfrm>
        </p:spPr>
        <p:txBody>
          <a:bodyPr>
            <a:noAutofit/>
          </a:bodyPr>
          <a:lstStyle/>
          <a:p>
            <a:pPr algn="just">
              <a:lnSpc>
                <a:spcPct val="100000"/>
              </a:lnSpc>
            </a:pPr>
            <a:r>
              <a:rPr lang="zh-CN" altLang="zh-CN" sz="2000" b="1" dirty="0">
                <a:solidFill>
                  <a:srgbClr val="C00000"/>
                </a:solidFill>
              </a:rPr>
              <a:t>软件需求</a:t>
            </a:r>
            <a:r>
              <a:rPr lang="zh-CN" altLang="zh-CN" sz="2000" dirty="0"/>
              <a:t>是为解决特定问题而必须由被开发的软件展示的特性。可进一步分为</a:t>
            </a:r>
            <a:r>
              <a:rPr lang="en-US" altLang="zh-CN" sz="2000" dirty="0"/>
              <a:t>7</a:t>
            </a:r>
            <a:r>
              <a:rPr lang="zh-CN" altLang="zh-CN" sz="2000" dirty="0"/>
              <a:t>个子</a:t>
            </a:r>
            <a:r>
              <a:rPr lang="zh-CN" altLang="zh-CN" sz="2000" dirty="0" smtClean="0"/>
              <a:t>领域。</a:t>
            </a:r>
            <a:endParaRPr lang="zh-CN" altLang="zh-CN" sz="2000" dirty="0"/>
          </a:p>
        </p:txBody>
      </p:sp>
      <p:pic>
        <p:nvPicPr>
          <p:cNvPr id="4098" name="图片 4" descr="010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031299" y="741231"/>
            <a:ext cx="5999581" cy="4118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5A1E9827-676F-4739-9EE7-1DA395EF12D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mj-ea"/>
              </a:rPr>
              <a:t>软件工程的知识体系</a:t>
            </a:r>
            <a:endParaRPr lang="en-US" dirty="0">
              <a:latin typeface="+mj-ea"/>
            </a:endParaRPr>
          </a:p>
        </p:txBody>
      </p:sp>
      <p:sp>
        <p:nvSpPr>
          <p:cNvPr id="3" name="Content Placeholder 2"/>
          <p:cNvSpPr>
            <a:spLocks noGrp="1"/>
          </p:cNvSpPr>
          <p:nvPr>
            <p:ph idx="1"/>
          </p:nvPr>
        </p:nvSpPr>
        <p:spPr>
          <a:xfrm>
            <a:off x="216954" y="1463040"/>
            <a:ext cx="2050258" cy="3221694"/>
          </a:xfrm>
        </p:spPr>
        <p:txBody>
          <a:bodyPr>
            <a:noAutofit/>
          </a:bodyPr>
          <a:lstStyle/>
          <a:p>
            <a:pPr algn="just"/>
            <a:r>
              <a:rPr lang="zh-CN" altLang="zh-CN" sz="2000" dirty="0">
                <a:latin typeface="+mj-ea"/>
                <a:ea typeface="+mj-ea"/>
              </a:rPr>
              <a:t>定义一个系统或组件的体系结构、组件、接口和其他特征的过程，以及这个过程的结果被称为</a:t>
            </a:r>
            <a:r>
              <a:rPr lang="zh-CN" altLang="zh-CN" sz="2000" b="1" dirty="0">
                <a:solidFill>
                  <a:srgbClr val="C00000"/>
                </a:solidFill>
                <a:latin typeface="+mj-ea"/>
                <a:ea typeface="+mj-ea"/>
              </a:rPr>
              <a:t>软件设计</a:t>
            </a:r>
            <a:r>
              <a:rPr lang="zh-CN" altLang="zh-CN" sz="2000" dirty="0">
                <a:latin typeface="+mj-ea"/>
                <a:ea typeface="+mj-ea"/>
              </a:rPr>
              <a:t>。软件设计包含</a:t>
            </a:r>
            <a:r>
              <a:rPr lang="en-US" altLang="zh-CN" sz="2000" dirty="0">
                <a:latin typeface="+mj-ea"/>
                <a:ea typeface="+mj-ea"/>
              </a:rPr>
              <a:t>6</a:t>
            </a:r>
            <a:r>
              <a:rPr lang="zh-CN" altLang="zh-CN" sz="2000" dirty="0">
                <a:latin typeface="+mj-ea"/>
                <a:ea typeface="+mj-ea"/>
              </a:rPr>
              <a:t>个子</a:t>
            </a:r>
            <a:r>
              <a:rPr lang="zh-CN" altLang="zh-CN" sz="2000" dirty="0" smtClean="0">
                <a:latin typeface="+mj-ea"/>
                <a:ea typeface="+mj-ea"/>
              </a:rPr>
              <a:t>领域。</a:t>
            </a:r>
            <a:endParaRPr lang="zh-CN" altLang="zh-CN" sz="2000" dirty="0">
              <a:latin typeface="+mj-ea"/>
              <a:ea typeface="+mj-ea"/>
            </a:endParaRPr>
          </a:p>
        </p:txBody>
      </p:sp>
      <p:pic>
        <p:nvPicPr>
          <p:cNvPr id="5122" name="图片 5" descr="010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383703" y="997207"/>
            <a:ext cx="6591999" cy="345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29DAA39F-AEFD-4AF4-8292-706E89DFD22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mj-ea"/>
              </a:rPr>
              <a:t>软件工程的知识体系</a:t>
            </a:r>
            <a:endParaRPr lang="en-US" dirty="0">
              <a:latin typeface="+mj-ea"/>
            </a:endParaRPr>
          </a:p>
        </p:txBody>
      </p:sp>
      <p:sp>
        <p:nvSpPr>
          <p:cNvPr id="3" name="Content Placeholder 2"/>
          <p:cNvSpPr>
            <a:spLocks noGrp="1"/>
          </p:cNvSpPr>
          <p:nvPr>
            <p:ph idx="1"/>
          </p:nvPr>
        </p:nvSpPr>
        <p:spPr>
          <a:xfrm>
            <a:off x="441043" y="1510137"/>
            <a:ext cx="2751716" cy="2999232"/>
          </a:xfrm>
        </p:spPr>
        <p:txBody>
          <a:bodyPr>
            <a:noAutofit/>
          </a:bodyPr>
          <a:lstStyle/>
          <a:p>
            <a:pPr algn="just">
              <a:lnSpc>
                <a:spcPct val="100000"/>
              </a:lnSpc>
            </a:pPr>
            <a:r>
              <a:rPr lang="zh-CN" altLang="zh-CN" sz="2000" b="1" dirty="0">
                <a:solidFill>
                  <a:srgbClr val="C00000"/>
                </a:solidFill>
                <a:latin typeface="+mj-ea"/>
                <a:ea typeface="+mj-ea"/>
              </a:rPr>
              <a:t>软件构造</a:t>
            </a:r>
            <a:r>
              <a:rPr lang="zh-CN" altLang="zh-CN" sz="2000" dirty="0">
                <a:latin typeface="+mj-ea"/>
                <a:ea typeface="+mj-ea"/>
              </a:rPr>
              <a:t>是指通过编码、验证、单元测试、集成测试和调试的组合，详细地创建可工作的和有意义的软件的过程。软件构造知识域包含</a:t>
            </a:r>
            <a:r>
              <a:rPr lang="en-US" altLang="zh-CN" sz="2000" dirty="0">
                <a:latin typeface="+mj-ea"/>
                <a:ea typeface="+mj-ea"/>
              </a:rPr>
              <a:t>3</a:t>
            </a:r>
            <a:r>
              <a:rPr lang="zh-CN" altLang="zh-CN" sz="2000" dirty="0">
                <a:latin typeface="+mj-ea"/>
                <a:ea typeface="+mj-ea"/>
              </a:rPr>
              <a:t>个子</a:t>
            </a:r>
            <a:r>
              <a:rPr lang="zh-CN" altLang="zh-CN" sz="2000" dirty="0" smtClean="0">
                <a:latin typeface="+mj-ea"/>
                <a:ea typeface="+mj-ea"/>
              </a:rPr>
              <a:t>领域。</a:t>
            </a:r>
            <a:endParaRPr lang="zh-CN" altLang="zh-CN" sz="2000" dirty="0">
              <a:latin typeface="+mj-ea"/>
              <a:ea typeface="+mj-ea"/>
            </a:endParaRPr>
          </a:p>
        </p:txBody>
      </p:sp>
      <p:pic>
        <p:nvPicPr>
          <p:cNvPr id="6146" name="图片 6" descr="0109"/>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51784" y="1062952"/>
            <a:ext cx="5406466" cy="3446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76D10C4E-8382-48BC-B775-B15642F06C1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mj-ea"/>
              </a:rPr>
              <a:t>软件工程的知识体系</a:t>
            </a:r>
            <a:endParaRPr lang="en-US" dirty="0">
              <a:latin typeface="+mj-ea"/>
            </a:endParaRPr>
          </a:p>
        </p:txBody>
      </p:sp>
      <p:sp>
        <p:nvSpPr>
          <p:cNvPr id="3" name="Content Placeholder 2"/>
          <p:cNvSpPr>
            <a:spLocks noGrp="1"/>
          </p:cNvSpPr>
          <p:nvPr>
            <p:ph idx="1"/>
          </p:nvPr>
        </p:nvSpPr>
        <p:spPr>
          <a:xfrm>
            <a:off x="292108" y="1472184"/>
            <a:ext cx="2192423" cy="3087290"/>
          </a:xfrm>
        </p:spPr>
        <p:txBody>
          <a:bodyPr>
            <a:noAutofit/>
          </a:bodyPr>
          <a:lstStyle/>
          <a:p>
            <a:pPr algn="just">
              <a:lnSpc>
                <a:spcPct val="100000"/>
              </a:lnSpc>
            </a:pPr>
            <a:r>
              <a:rPr lang="zh-CN" altLang="zh-CN" sz="2000" b="1" dirty="0">
                <a:solidFill>
                  <a:srgbClr val="C00000"/>
                </a:solidFill>
                <a:latin typeface="+mj-ea"/>
                <a:ea typeface="+mj-ea"/>
              </a:rPr>
              <a:t>软件测试</a:t>
            </a:r>
            <a:r>
              <a:rPr lang="zh-CN" altLang="zh-CN" sz="2000" dirty="0">
                <a:latin typeface="+mj-ea"/>
                <a:ea typeface="+mj-ea"/>
              </a:rPr>
              <a:t>是为评价和改进产品的质量、标识产品的缺陷和问题而进行的</a:t>
            </a:r>
            <a:r>
              <a:rPr lang="zh-CN" altLang="zh-CN" sz="2000" dirty="0" smtClean="0">
                <a:latin typeface="+mj-ea"/>
                <a:ea typeface="+mj-ea"/>
              </a:rPr>
              <a:t>活动。</a:t>
            </a:r>
            <a:endParaRPr lang="zh-CN" altLang="zh-CN" sz="2000" dirty="0">
              <a:latin typeface="+mj-ea"/>
              <a:ea typeface="+mj-ea"/>
            </a:endParaRPr>
          </a:p>
        </p:txBody>
      </p:sp>
      <p:pic>
        <p:nvPicPr>
          <p:cNvPr id="7170" name="图片 7" descr="011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484531" y="1081936"/>
            <a:ext cx="6545954" cy="347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85952524-15DA-4471-8645-9C4B869B71E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mj-ea"/>
              </a:rPr>
              <a:t>软件工程的知识体系</a:t>
            </a:r>
            <a:endParaRPr lang="en-US" dirty="0">
              <a:latin typeface="+mj-ea"/>
            </a:endParaRPr>
          </a:p>
        </p:txBody>
      </p:sp>
      <p:sp>
        <p:nvSpPr>
          <p:cNvPr id="3" name="Content Placeholder 2"/>
          <p:cNvSpPr>
            <a:spLocks noGrp="1"/>
          </p:cNvSpPr>
          <p:nvPr>
            <p:ph idx="1"/>
          </p:nvPr>
        </p:nvSpPr>
        <p:spPr>
          <a:xfrm>
            <a:off x="394194" y="1483614"/>
            <a:ext cx="2363410" cy="2954570"/>
          </a:xfrm>
        </p:spPr>
        <p:txBody>
          <a:bodyPr>
            <a:noAutofit/>
          </a:bodyPr>
          <a:lstStyle/>
          <a:p>
            <a:pPr algn="just">
              <a:lnSpc>
                <a:spcPct val="100000"/>
              </a:lnSpc>
            </a:pPr>
            <a:r>
              <a:rPr lang="zh-CN" altLang="zh-CN" sz="2000" b="1" dirty="0">
                <a:solidFill>
                  <a:srgbClr val="C00000"/>
                </a:solidFill>
                <a:latin typeface="+mj-ea"/>
                <a:ea typeface="+mj-ea"/>
              </a:rPr>
              <a:t>软件维护</a:t>
            </a:r>
            <a:r>
              <a:rPr lang="zh-CN" altLang="zh-CN" sz="2000" dirty="0">
                <a:latin typeface="+mj-ea"/>
                <a:ea typeface="+mj-ea"/>
              </a:rPr>
              <a:t>是指由于一个问题或改进的需要而修改代码和相关文档，进而修正现有软件产品并保证其完整性的过程。软件维护知识域包括</a:t>
            </a:r>
            <a:r>
              <a:rPr lang="en-US" altLang="zh-CN" sz="2000" dirty="0">
                <a:latin typeface="+mj-ea"/>
                <a:ea typeface="+mj-ea"/>
              </a:rPr>
              <a:t>4</a:t>
            </a:r>
            <a:r>
              <a:rPr lang="zh-CN" altLang="zh-CN" sz="2000" dirty="0">
                <a:latin typeface="+mj-ea"/>
                <a:ea typeface="+mj-ea"/>
              </a:rPr>
              <a:t>个子</a:t>
            </a:r>
            <a:r>
              <a:rPr lang="zh-CN" altLang="zh-CN" sz="2000" dirty="0" smtClean="0">
                <a:latin typeface="+mj-ea"/>
                <a:ea typeface="+mj-ea"/>
              </a:rPr>
              <a:t>领域。</a:t>
            </a:r>
            <a:endParaRPr lang="zh-CN" altLang="zh-CN" sz="2000" dirty="0">
              <a:latin typeface="+mj-ea"/>
              <a:ea typeface="+mj-ea"/>
            </a:endParaRPr>
          </a:p>
        </p:txBody>
      </p:sp>
      <p:pic>
        <p:nvPicPr>
          <p:cNvPr id="8194" name="图片 8" descr="011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33438" y="1102291"/>
            <a:ext cx="6057900" cy="3228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E4597CD1-2D80-4E90-9BE7-05453BC5341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mj-ea"/>
              </a:rPr>
              <a:t>软件工程的知识体系</a:t>
            </a:r>
            <a:endParaRPr lang="en-US" dirty="0">
              <a:latin typeface="+mj-ea"/>
            </a:endParaRPr>
          </a:p>
        </p:txBody>
      </p:sp>
      <p:sp>
        <p:nvSpPr>
          <p:cNvPr id="3" name="Content Placeholder 2"/>
          <p:cNvSpPr>
            <a:spLocks noGrp="1"/>
          </p:cNvSpPr>
          <p:nvPr>
            <p:ph idx="1"/>
          </p:nvPr>
        </p:nvSpPr>
        <p:spPr>
          <a:xfrm>
            <a:off x="317161" y="1415441"/>
            <a:ext cx="2426039" cy="2893512"/>
          </a:xfrm>
        </p:spPr>
        <p:txBody>
          <a:bodyPr>
            <a:noAutofit/>
          </a:bodyPr>
          <a:lstStyle/>
          <a:p>
            <a:pPr algn="just">
              <a:lnSpc>
                <a:spcPct val="100000"/>
              </a:lnSpc>
            </a:pPr>
            <a:r>
              <a:rPr lang="zh-CN" altLang="zh-CN" sz="2000" b="1" dirty="0">
                <a:solidFill>
                  <a:srgbClr val="C00000"/>
                </a:solidFill>
                <a:latin typeface="+mj-ea"/>
                <a:ea typeface="+mj-ea"/>
              </a:rPr>
              <a:t>软件配置管理</a:t>
            </a:r>
            <a:r>
              <a:rPr lang="zh-CN" altLang="zh-CN" sz="2000" dirty="0">
                <a:latin typeface="+mj-ea"/>
                <a:ea typeface="+mj-ea"/>
              </a:rPr>
              <a:t>是一个支持性的软件生命周期过程，它是标识系统在不同时间点上的配置的学科</a:t>
            </a:r>
            <a:r>
              <a:rPr lang="zh-CN" altLang="zh-CN" sz="2000" dirty="0" smtClean="0">
                <a:latin typeface="+mj-ea"/>
                <a:ea typeface="+mj-ea"/>
              </a:rPr>
              <a:t>。</a:t>
            </a:r>
            <a:endParaRPr lang="zh-CN" altLang="zh-CN" sz="2000" dirty="0">
              <a:latin typeface="+mj-ea"/>
              <a:ea typeface="+mj-ea"/>
            </a:endParaRPr>
          </a:p>
        </p:txBody>
      </p:sp>
      <p:pic>
        <p:nvPicPr>
          <p:cNvPr id="9218" name="图片 9" descr="011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45687" y="929141"/>
            <a:ext cx="6115050" cy="354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D22C5D28-C796-4BDF-BED9-43242EE2E12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mj-ea"/>
              </a:rPr>
              <a:t>软件工程的知识体系</a:t>
            </a:r>
            <a:endParaRPr lang="en-US" dirty="0">
              <a:latin typeface="+mj-ea"/>
            </a:endParaRPr>
          </a:p>
        </p:txBody>
      </p:sp>
      <p:sp>
        <p:nvSpPr>
          <p:cNvPr id="3" name="Content Placeholder 2"/>
          <p:cNvSpPr>
            <a:spLocks noGrp="1"/>
          </p:cNvSpPr>
          <p:nvPr>
            <p:ph idx="1"/>
          </p:nvPr>
        </p:nvSpPr>
        <p:spPr>
          <a:xfrm>
            <a:off x="175364" y="1349172"/>
            <a:ext cx="1828800" cy="3323036"/>
          </a:xfrm>
        </p:spPr>
        <p:txBody>
          <a:bodyPr>
            <a:noAutofit/>
          </a:bodyPr>
          <a:lstStyle/>
          <a:p>
            <a:pPr algn="just">
              <a:lnSpc>
                <a:spcPct val="100000"/>
              </a:lnSpc>
            </a:pPr>
            <a:r>
              <a:rPr lang="zh-CN" altLang="zh-CN" sz="2000" dirty="0">
                <a:latin typeface="+mj-ea"/>
                <a:ea typeface="+mj-ea"/>
              </a:rPr>
              <a:t>为了保证软件的开发和维护是系统的、规范的和量化的，对</a:t>
            </a:r>
            <a:r>
              <a:rPr lang="zh-CN" altLang="zh-CN" sz="2000" b="1" dirty="0">
                <a:solidFill>
                  <a:srgbClr val="C00000"/>
                </a:solidFill>
                <a:latin typeface="+mj-ea"/>
                <a:ea typeface="+mj-ea"/>
              </a:rPr>
              <a:t>软件工程进行管理</a:t>
            </a:r>
            <a:r>
              <a:rPr lang="zh-CN" altLang="zh-CN" sz="2000" dirty="0">
                <a:latin typeface="+mj-ea"/>
                <a:ea typeface="+mj-ea"/>
              </a:rPr>
              <a:t>是非常必要的</a:t>
            </a:r>
            <a:r>
              <a:rPr lang="zh-CN" altLang="zh-CN" sz="2000" dirty="0" smtClean="0">
                <a:latin typeface="+mj-ea"/>
                <a:ea typeface="+mj-ea"/>
              </a:rPr>
              <a:t>。</a:t>
            </a:r>
            <a:endParaRPr lang="zh-CN" altLang="zh-CN" sz="2000" dirty="0">
              <a:latin typeface="+mj-ea"/>
              <a:ea typeface="+mj-ea"/>
            </a:endParaRPr>
          </a:p>
        </p:txBody>
      </p:sp>
      <p:pic>
        <p:nvPicPr>
          <p:cNvPr id="10242" name="图片 10" descr="01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04164" y="1016803"/>
            <a:ext cx="7009538" cy="3555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A01F636E-0094-42B2-9356-4BE687D425D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mj-ea"/>
              </a:rPr>
              <a:t>软件工程的知识体系</a:t>
            </a:r>
            <a:endParaRPr lang="en-US" dirty="0">
              <a:latin typeface="+mj-ea"/>
            </a:endParaRPr>
          </a:p>
        </p:txBody>
      </p:sp>
      <p:sp>
        <p:nvSpPr>
          <p:cNvPr id="3" name="Content Placeholder 2"/>
          <p:cNvSpPr>
            <a:spLocks noGrp="1"/>
          </p:cNvSpPr>
          <p:nvPr>
            <p:ph idx="1"/>
          </p:nvPr>
        </p:nvSpPr>
        <p:spPr>
          <a:xfrm>
            <a:off x="254530" y="1465544"/>
            <a:ext cx="2058902" cy="2830883"/>
          </a:xfrm>
        </p:spPr>
        <p:txBody>
          <a:bodyPr>
            <a:noAutofit/>
          </a:bodyPr>
          <a:lstStyle/>
          <a:p>
            <a:pPr algn="just">
              <a:lnSpc>
                <a:spcPct val="100000"/>
              </a:lnSpc>
            </a:pPr>
            <a:r>
              <a:rPr lang="zh-CN" altLang="zh-CN" sz="2000" b="1" dirty="0">
                <a:solidFill>
                  <a:srgbClr val="C00000"/>
                </a:solidFill>
                <a:latin typeface="+mj-ea"/>
                <a:ea typeface="+mj-ea"/>
              </a:rPr>
              <a:t>软件工程过程</a:t>
            </a:r>
            <a:r>
              <a:rPr lang="zh-CN" altLang="zh-CN" sz="2000" dirty="0">
                <a:latin typeface="+mj-ea"/>
                <a:ea typeface="+mj-ea"/>
              </a:rPr>
              <a:t>涉及软件生命周期过程本身的定义、实现、评估、管理、变更和改进</a:t>
            </a:r>
            <a:r>
              <a:rPr lang="zh-CN" altLang="zh-CN" sz="2000" dirty="0" smtClean="0">
                <a:latin typeface="+mj-ea"/>
                <a:ea typeface="+mj-ea"/>
              </a:rPr>
              <a:t>。</a:t>
            </a:r>
            <a:endParaRPr lang="zh-CN" altLang="zh-CN" sz="2000" dirty="0">
              <a:latin typeface="+mj-ea"/>
              <a:ea typeface="+mj-ea"/>
            </a:endParaRPr>
          </a:p>
        </p:txBody>
      </p:sp>
      <p:pic>
        <p:nvPicPr>
          <p:cNvPr id="11266" name="图片 11" descr="01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430050" y="1056944"/>
            <a:ext cx="6563328"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8EF57D44-1EBB-4054-BA61-9A034470AAE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mj-ea"/>
              </a:rPr>
              <a:t>软件工程的知识体系</a:t>
            </a:r>
            <a:endParaRPr lang="en-US" dirty="0">
              <a:latin typeface="+mj-ea"/>
            </a:endParaRPr>
          </a:p>
        </p:txBody>
      </p:sp>
      <p:sp>
        <p:nvSpPr>
          <p:cNvPr id="3" name="Content Placeholder 2"/>
          <p:cNvSpPr>
            <a:spLocks noGrp="1"/>
          </p:cNvSpPr>
          <p:nvPr>
            <p:ph idx="1"/>
          </p:nvPr>
        </p:nvSpPr>
        <p:spPr/>
        <p:txBody>
          <a:bodyPr>
            <a:noAutofit/>
          </a:bodyPr>
          <a:lstStyle/>
          <a:p>
            <a:pPr>
              <a:lnSpc>
                <a:spcPct val="100000"/>
              </a:lnSpc>
            </a:pPr>
            <a:r>
              <a:rPr lang="zh-CN" altLang="zh-CN" sz="2400" b="1" dirty="0">
                <a:solidFill>
                  <a:srgbClr val="C00000"/>
                </a:solidFill>
                <a:latin typeface="+mj-ea"/>
                <a:ea typeface="+mj-ea"/>
              </a:rPr>
              <a:t>软件工程工具与方法</a:t>
            </a:r>
            <a:r>
              <a:rPr lang="zh-CN" altLang="zh-CN" sz="2400" dirty="0">
                <a:latin typeface="+mj-ea"/>
                <a:ea typeface="+mj-ea"/>
              </a:rPr>
              <a:t>和知识域覆盖整个生命周期</a:t>
            </a:r>
            <a:r>
              <a:rPr lang="zh-CN" altLang="zh-CN" sz="2400" dirty="0" smtClean="0">
                <a:latin typeface="+mj-ea"/>
                <a:ea typeface="+mj-ea"/>
              </a:rPr>
              <a:t>过程。</a:t>
            </a:r>
            <a:endParaRPr lang="zh-CN" altLang="zh-CN" sz="2400" dirty="0">
              <a:latin typeface="+mj-ea"/>
              <a:ea typeface="+mj-ea"/>
            </a:endParaRPr>
          </a:p>
        </p:txBody>
      </p:sp>
      <p:sp>
        <p:nvSpPr>
          <p:cNvPr id="6" name="Rectangle 3701"/>
          <p:cNvSpPr>
            <a:spLocks noChangeArrowheads="1"/>
          </p:cNvSpPr>
          <p:nvPr/>
        </p:nvSpPr>
        <p:spPr bwMode="auto">
          <a:xfrm>
            <a:off x="2493169" y="2343150"/>
            <a:ext cx="614363" cy="116919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endParaRPr lang="zh-CN" altLang="en-US" sz="1350"/>
          </a:p>
        </p:txBody>
      </p:sp>
      <p:pic>
        <p:nvPicPr>
          <p:cNvPr id="12298" name="Picture 10"/>
          <p:cNvPicPr>
            <a:picLocks noChangeAspect="1" noChangeArrowheads="1"/>
          </p:cNvPicPr>
          <p:nvPr/>
        </p:nvPicPr>
        <p:blipFill rotWithShape="1">
          <a:blip r:embed="rId1">
            <a:extLst>
              <a:ext uri="{28A0092B-C50C-407E-A947-70E740481C1C}">
                <a14:useLocalDpi xmlns:a14="http://schemas.microsoft.com/office/drawing/2010/main" val="0"/>
              </a:ext>
            </a:extLst>
          </a:blip>
          <a:srcRect t="6015" b="5383"/>
          <a:stretch>
            <a:fillRect/>
          </a:stretch>
        </p:blipFill>
        <p:spPr bwMode="auto">
          <a:xfrm>
            <a:off x="1094321" y="1412097"/>
            <a:ext cx="7147805" cy="3156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日期占位符 3"/>
          <p:cNvSpPr>
            <a:spLocks noGrp="1"/>
          </p:cNvSpPr>
          <p:nvPr>
            <p:ph type="dt" sz="half" idx="10"/>
          </p:nvPr>
        </p:nvSpPr>
        <p:spPr/>
        <p:txBody>
          <a:bodyPr/>
          <a:lstStyle/>
          <a:p>
            <a:fld id="{FA62B2EE-321C-4814-9EAE-AD703835A75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mj-ea"/>
              </a:rPr>
              <a:t>软件工程的知识体系</a:t>
            </a:r>
            <a:endParaRPr lang="en-US" dirty="0">
              <a:latin typeface="+mj-ea"/>
            </a:endParaRPr>
          </a:p>
        </p:txBody>
      </p:sp>
      <p:sp>
        <p:nvSpPr>
          <p:cNvPr id="3" name="Content Placeholder 2"/>
          <p:cNvSpPr>
            <a:spLocks noGrp="1"/>
          </p:cNvSpPr>
          <p:nvPr>
            <p:ph idx="1"/>
          </p:nvPr>
        </p:nvSpPr>
        <p:spPr>
          <a:xfrm>
            <a:off x="404842" y="1336646"/>
            <a:ext cx="2601405" cy="2872397"/>
          </a:xfrm>
        </p:spPr>
        <p:txBody>
          <a:bodyPr>
            <a:noAutofit/>
          </a:bodyPr>
          <a:lstStyle/>
          <a:p>
            <a:pPr>
              <a:lnSpc>
                <a:spcPct val="100000"/>
              </a:lnSpc>
            </a:pPr>
            <a:r>
              <a:rPr lang="zh-CN" altLang="zh-CN" sz="2400" b="1" dirty="0">
                <a:solidFill>
                  <a:srgbClr val="C00000"/>
                </a:solidFill>
                <a:latin typeface="+mj-ea"/>
                <a:ea typeface="+mj-ea"/>
              </a:rPr>
              <a:t>软件质量</a:t>
            </a:r>
            <a:r>
              <a:rPr lang="zh-CN" altLang="zh-CN" sz="2400" dirty="0">
                <a:latin typeface="+mj-ea"/>
                <a:ea typeface="+mj-ea"/>
              </a:rPr>
              <a:t>特征涉及多个方面，保证软件产品的质量是软件工程的重要目标。软件质量知识域包含</a:t>
            </a:r>
            <a:r>
              <a:rPr lang="en-US" altLang="zh-CN" sz="2400" dirty="0">
                <a:latin typeface="+mj-ea"/>
                <a:ea typeface="+mj-ea"/>
              </a:rPr>
              <a:t>3</a:t>
            </a:r>
            <a:r>
              <a:rPr lang="zh-CN" altLang="zh-CN" sz="2400" dirty="0">
                <a:latin typeface="+mj-ea"/>
                <a:ea typeface="+mj-ea"/>
              </a:rPr>
              <a:t>个子</a:t>
            </a:r>
            <a:r>
              <a:rPr lang="zh-CN" altLang="zh-CN" sz="2400" dirty="0" smtClean="0">
                <a:latin typeface="+mj-ea"/>
                <a:ea typeface="+mj-ea"/>
              </a:rPr>
              <a:t>领域。</a:t>
            </a:r>
            <a:endParaRPr lang="zh-CN" altLang="zh-CN" sz="2400" dirty="0">
              <a:latin typeface="+mj-ea"/>
              <a:ea typeface="+mj-ea"/>
            </a:endParaRPr>
          </a:p>
        </p:txBody>
      </p:sp>
      <p:pic>
        <p:nvPicPr>
          <p:cNvPr id="1026" name="图片 12" descr="011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181349" y="1229793"/>
            <a:ext cx="5812157" cy="308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FF24BF89-6796-4C01-AA8F-EC5262205FA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1.5</a:t>
            </a:r>
            <a:r>
              <a:rPr lang="zh-CN" altLang="en-US"/>
              <a:t>软件工程三要素</a:t>
            </a:r>
            <a:endParaRPr lang="zh-CN" altLang="en-US"/>
          </a:p>
        </p:txBody>
      </p:sp>
      <p:sp>
        <p:nvSpPr>
          <p:cNvPr id="3" name="内容占位符 2"/>
          <p:cNvSpPr>
            <a:spLocks noGrp="1"/>
          </p:cNvSpPr>
          <p:nvPr>
            <p:ph idx="1"/>
          </p:nvPr>
        </p:nvSpPr>
        <p:spPr/>
        <p:txBody>
          <a:bodyPr>
            <a:normAutofit fontScale="90000"/>
          </a:bodyPr>
          <a:p>
            <a:pPr marL="723900" indent="-457200" eaLnBrk="1" hangingPunct="1">
              <a:spcBef>
                <a:spcPts val="1200"/>
              </a:spcBef>
            </a:pPr>
            <a:r>
              <a:rPr lang="zh-CN" altLang="en-US" b="1" dirty="0" smtClean="0">
                <a:effectLst/>
                <a:sym typeface="+mn-ea"/>
              </a:rPr>
              <a:t>软件工程包括</a:t>
            </a:r>
            <a:r>
              <a:rPr lang="zh-CN" altLang="en-US" b="1" dirty="0" smtClean="0">
                <a:solidFill>
                  <a:srgbClr val="FF0000"/>
                </a:solidFill>
                <a:effectLst/>
                <a:sym typeface="+mn-ea"/>
              </a:rPr>
              <a:t>软件开发技术</a:t>
            </a:r>
            <a:r>
              <a:rPr lang="zh-CN" altLang="en-US" b="1" dirty="0" smtClean="0">
                <a:effectLst/>
                <a:sym typeface="+mn-ea"/>
              </a:rPr>
              <a:t>和</a:t>
            </a:r>
            <a:r>
              <a:rPr lang="zh-CN" altLang="en-US" b="1" dirty="0" smtClean="0">
                <a:solidFill>
                  <a:srgbClr val="FF0000"/>
                </a:solidFill>
                <a:effectLst/>
                <a:sym typeface="+mn-ea"/>
              </a:rPr>
              <a:t>软件工程管理</a:t>
            </a:r>
            <a:r>
              <a:rPr lang="zh-CN" altLang="en-US" b="1" dirty="0" smtClean="0">
                <a:effectLst/>
                <a:sym typeface="+mn-ea"/>
              </a:rPr>
              <a:t>两方面的内容，是技术与管理紧密结合所形成的工程学科。</a:t>
            </a:r>
            <a:endParaRPr lang="zh-CN" altLang="en-US" b="1" dirty="0" smtClean="0">
              <a:effectLst/>
            </a:endParaRPr>
          </a:p>
          <a:p>
            <a:pPr marL="723900" indent="-457200" eaLnBrk="1" hangingPunct="1">
              <a:spcBef>
                <a:spcPts val="1200"/>
              </a:spcBef>
            </a:pPr>
            <a:r>
              <a:rPr lang="zh-CN" altLang="en-US" b="1" dirty="0" smtClean="0">
                <a:effectLst/>
                <a:sym typeface="+mn-ea"/>
              </a:rPr>
              <a:t>通常把在软件生命周期全过程中使用的一整套技术方法的集合称为</a:t>
            </a:r>
            <a:r>
              <a:rPr lang="zh-CN" altLang="en-US" b="1" dirty="0" smtClean="0">
                <a:solidFill>
                  <a:srgbClr val="FF0000"/>
                </a:solidFill>
                <a:effectLst/>
                <a:sym typeface="+mn-ea"/>
              </a:rPr>
              <a:t>方法学</a:t>
            </a:r>
            <a:r>
              <a:rPr lang="en-US" altLang="zh-CN" b="1" dirty="0" smtClean="0">
                <a:effectLst/>
                <a:sym typeface="+mn-ea"/>
              </a:rPr>
              <a:t>(methodology)</a:t>
            </a:r>
            <a:r>
              <a:rPr lang="zh-CN" altLang="en-US" b="1" dirty="0" smtClean="0">
                <a:effectLst/>
                <a:sym typeface="+mn-ea"/>
              </a:rPr>
              <a:t>，也称为</a:t>
            </a:r>
            <a:r>
              <a:rPr lang="zh-CN" altLang="en-US" b="1" dirty="0" smtClean="0">
                <a:solidFill>
                  <a:srgbClr val="FF0000"/>
                </a:solidFill>
                <a:effectLst/>
                <a:sym typeface="+mn-ea"/>
              </a:rPr>
              <a:t>范型</a:t>
            </a:r>
            <a:r>
              <a:rPr lang="en-US" altLang="zh-CN" b="1" dirty="0" smtClean="0">
                <a:effectLst/>
                <a:sym typeface="+mn-ea"/>
              </a:rPr>
              <a:t>(paradigm)</a:t>
            </a:r>
            <a:r>
              <a:rPr lang="zh-CN" altLang="en-US" b="1" dirty="0" smtClean="0">
                <a:effectLst/>
                <a:sym typeface="+mn-ea"/>
              </a:rPr>
              <a:t>。在软件工程领域中，这两个术语的含义基本相同。</a:t>
            </a:r>
            <a:endParaRPr lang="en-US" altLang="zh-CN" b="1" dirty="0" smtClean="0">
              <a:effectLst/>
            </a:endParaRPr>
          </a:p>
          <a:p>
            <a:pPr marL="723900" indent="-457200" eaLnBrk="1" hangingPunct="1">
              <a:spcBef>
                <a:spcPts val="1200"/>
              </a:spcBef>
            </a:pPr>
            <a:r>
              <a:rPr lang="zh-CN" altLang="en-US" b="1" dirty="0" smtClean="0">
                <a:effectLst/>
                <a:sym typeface="+mn-ea"/>
              </a:rPr>
              <a:t>软件工程方法学包含</a:t>
            </a:r>
            <a:r>
              <a:rPr lang="en-US" altLang="zh-CN" b="1" dirty="0" smtClean="0">
                <a:solidFill>
                  <a:srgbClr val="FF0000"/>
                </a:solidFill>
                <a:effectLst/>
                <a:sym typeface="+mn-ea"/>
              </a:rPr>
              <a:t>3</a:t>
            </a:r>
            <a:r>
              <a:rPr lang="zh-CN" altLang="en-US" b="1" dirty="0" smtClean="0">
                <a:solidFill>
                  <a:srgbClr val="FF0000"/>
                </a:solidFill>
                <a:effectLst/>
                <a:sym typeface="+mn-ea"/>
              </a:rPr>
              <a:t>个要素</a:t>
            </a:r>
            <a:r>
              <a:rPr lang="zh-CN" altLang="en-US" b="1" dirty="0" smtClean="0">
                <a:effectLst/>
                <a:sym typeface="+mn-ea"/>
              </a:rPr>
              <a:t>：方法、工具和过程。</a:t>
            </a:r>
            <a:endParaRPr lang="zh-CN" altLang="en-US" b="1" dirty="0">
              <a:effectLst/>
            </a:endParaRPr>
          </a:p>
          <a:p>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软件工程三要素</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grpSp>
        <p:nvGrpSpPr>
          <p:cNvPr id="7" name="Group 5"/>
          <p:cNvGrpSpPr/>
          <p:nvPr/>
        </p:nvGrpSpPr>
        <p:grpSpPr bwMode="auto">
          <a:xfrm>
            <a:off x="2606040" y="1833880"/>
            <a:ext cx="3512820" cy="2788037"/>
            <a:chOff x="864" y="1392"/>
            <a:chExt cx="4224" cy="2463"/>
          </a:xfrm>
        </p:grpSpPr>
        <p:sp>
          <p:nvSpPr>
            <p:cNvPr id="55308" name="Oval 6"/>
            <p:cNvSpPr>
              <a:spLocks noChangeArrowheads="1"/>
            </p:cNvSpPr>
            <p:nvPr/>
          </p:nvSpPr>
          <p:spPr bwMode="auto">
            <a:xfrm>
              <a:off x="864" y="2544"/>
              <a:ext cx="4224" cy="672"/>
            </a:xfrm>
            <a:prstGeom prst="ellipse">
              <a:avLst/>
            </a:prstGeom>
            <a:solidFill>
              <a:srgbClr val="FF3300"/>
            </a:solidFill>
            <a:ln w="9525">
              <a:round/>
            </a:ln>
            <a:scene3d>
              <a:camera prst="legacyPerspectiveBottom"/>
              <a:lightRig rig="legacyFlat3" dir="t"/>
            </a:scene3d>
            <a:sp3d extrusionH="887400" prstMaterial="legacyMatte">
              <a:bevelT w="13500" h="13500" prst="angle"/>
              <a:bevelB w="13500" h="13500" prst="angle"/>
              <a:extrusionClr>
                <a:srgbClr val="FF3300"/>
              </a:extrusionClr>
            </a:sp3d>
          </p:spPr>
          <p:txBody>
            <a:bodyPr wrap="none" anchor="ctr">
              <a:flatTx/>
            </a:bodyPr>
            <a:p>
              <a:pPr algn="ctr"/>
              <a:endParaRPr lang="zh-CN" altLang="en-US" sz="2000" b="1">
                <a:solidFill>
                  <a:schemeClr val="bg1"/>
                </a:solidFill>
                <a:effectLst>
                  <a:outerShdw blurRad="38100" dist="38100" dir="2700000" algn="tl">
                    <a:srgbClr val="000000">
                      <a:alpha val="43137"/>
                    </a:srgbClr>
                  </a:outerShdw>
                </a:effectLst>
                <a:latin typeface="Arial" panose="020B0604020202020204" pitchFamily="34" charset="0"/>
              </a:endParaRPr>
            </a:p>
          </p:txBody>
        </p:sp>
        <p:sp>
          <p:nvSpPr>
            <p:cNvPr id="55309" name="Oval 7"/>
            <p:cNvSpPr>
              <a:spLocks noChangeArrowheads="1"/>
            </p:cNvSpPr>
            <p:nvPr/>
          </p:nvSpPr>
          <p:spPr bwMode="auto">
            <a:xfrm>
              <a:off x="1152" y="2112"/>
              <a:ext cx="3552" cy="576"/>
            </a:xfrm>
            <a:prstGeom prst="ellipse">
              <a:avLst/>
            </a:prstGeom>
            <a:solidFill>
              <a:srgbClr val="FF9900"/>
            </a:solidFill>
            <a:ln w="9525">
              <a:round/>
            </a:ln>
            <a:scene3d>
              <a:camera prst="legacyPerspectiveBottom"/>
              <a:lightRig rig="legacyFlat3" dir="t"/>
            </a:scene3d>
            <a:sp3d extrusionH="887400" prstMaterial="legacyMatte">
              <a:bevelT w="13500" h="13500" prst="angle"/>
              <a:bevelB w="13500" h="13500" prst="angle"/>
              <a:extrusionClr>
                <a:srgbClr val="FF9900"/>
              </a:extrusionClr>
            </a:sp3d>
          </p:spPr>
          <p:txBody>
            <a:bodyPr wrap="none" anchor="ctr">
              <a:flatTx/>
            </a:bodyPr>
            <a:p>
              <a:pPr eaLnBrk="0" hangingPunct="0"/>
              <a:endParaRPr lang="zh-CN" altLang="en-US" sz="2000" b="1">
                <a:solidFill>
                  <a:schemeClr val="bg1"/>
                </a:solidFill>
                <a:effectLst>
                  <a:outerShdw blurRad="38100" dist="38100" dir="2700000" algn="tl">
                    <a:srgbClr val="000000">
                      <a:alpha val="43137"/>
                    </a:srgbClr>
                  </a:outerShdw>
                </a:effectLst>
              </a:endParaRPr>
            </a:p>
          </p:txBody>
        </p:sp>
        <p:sp>
          <p:nvSpPr>
            <p:cNvPr id="55310" name="Oval 8"/>
            <p:cNvSpPr>
              <a:spLocks noChangeArrowheads="1"/>
            </p:cNvSpPr>
            <p:nvPr/>
          </p:nvSpPr>
          <p:spPr bwMode="auto">
            <a:xfrm>
              <a:off x="1536" y="1728"/>
              <a:ext cx="2784" cy="480"/>
            </a:xfrm>
            <a:prstGeom prst="ellipse">
              <a:avLst/>
            </a:prstGeom>
            <a:solidFill>
              <a:srgbClr val="FFFF66"/>
            </a:solidFill>
            <a:ln w="9525">
              <a:round/>
            </a:ln>
            <a:scene3d>
              <a:camera prst="legacyPerspectiveBottom"/>
              <a:lightRig rig="legacyFlat3" dir="t"/>
            </a:scene3d>
            <a:sp3d extrusionH="887400" prstMaterial="legacyMatte">
              <a:bevelT w="13500" h="13500" prst="angle"/>
              <a:bevelB w="13500" h="13500" prst="angle"/>
              <a:extrusionClr>
                <a:srgbClr val="FFFF66"/>
              </a:extrusionClr>
            </a:sp3d>
          </p:spPr>
          <p:txBody>
            <a:bodyPr wrap="none" anchor="ctr">
              <a:flatTx/>
            </a:bodyPr>
            <a:p>
              <a:pPr eaLnBrk="0" hangingPunct="0"/>
              <a:endParaRPr lang="zh-CN" altLang="en-US" sz="2000" b="1">
                <a:solidFill>
                  <a:schemeClr val="bg1"/>
                </a:solidFill>
                <a:effectLst>
                  <a:outerShdw blurRad="38100" dist="38100" dir="2700000" algn="tl">
                    <a:srgbClr val="000000">
                      <a:alpha val="43137"/>
                    </a:srgbClr>
                  </a:outerShdw>
                </a:effectLst>
              </a:endParaRPr>
            </a:p>
          </p:txBody>
        </p:sp>
        <p:sp>
          <p:nvSpPr>
            <p:cNvPr id="55311" name="Oval 9"/>
            <p:cNvSpPr>
              <a:spLocks noChangeArrowheads="1"/>
            </p:cNvSpPr>
            <p:nvPr/>
          </p:nvSpPr>
          <p:spPr bwMode="auto">
            <a:xfrm>
              <a:off x="1824" y="1392"/>
              <a:ext cx="2256" cy="432"/>
            </a:xfrm>
            <a:prstGeom prst="ellipse">
              <a:avLst/>
            </a:prstGeom>
            <a:solidFill>
              <a:srgbClr val="00FF00"/>
            </a:solidFill>
            <a:ln w="9525">
              <a:round/>
            </a:ln>
            <a:scene3d>
              <a:camera prst="legacyPerspectiveBottom"/>
              <a:lightRig rig="legacyFlat3" dir="t"/>
            </a:scene3d>
            <a:sp3d extrusionH="887400" prstMaterial="legacyMatte">
              <a:bevelT w="13500" h="13500" prst="angle"/>
              <a:bevelB w="13500" h="13500" prst="angle"/>
              <a:extrusionClr>
                <a:srgbClr val="00FF00"/>
              </a:extrusionClr>
            </a:sp3d>
          </p:spPr>
          <p:txBody>
            <a:bodyPr wrap="none" anchor="ctr">
              <a:flatTx/>
            </a:bodyPr>
            <a:p>
              <a:pPr eaLnBrk="0" hangingPunct="0"/>
              <a:endParaRPr lang="zh-CN" altLang="en-US" sz="2000" b="1">
                <a:solidFill>
                  <a:schemeClr val="bg1"/>
                </a:solidFill>
                <a:effectLst>
                  <a:outerShdw blurRad="38100" dist="38100" dir="2700000" algn="tl">
                    <a:srgbClr val="000000">
                      <a:alpha val="43137"/>
                    </a:srgbClr>
                  </a:outerShdw>
                </a:effectLst>
              </a:endParaRPr>
            </a:p>
          </p:txBody>
        </p:sp>
        <p:sp>
          <p:nvSpPr>
            <p:cNvPr id="55312" name="Text Box 10"/>
            <p:cNvSpPr txBox="1">
              <a:spLocks noChangeArrowheads="1"/>
            </p:cNvSpPr>
            <p:nvPr/>
          </p:nvSpPr>
          <p:spPr bwMode="auto">
            <a:xfrm>
              <a:off x="1903" y="2883"/>
              <a:ext cx="2049" cy="352"/>
            </a:xfrm>
            <a:prstGeom prst="rect">
              <a:avLst/>
            </a:prstGeom>
            <a:noFill/>
            <a:ln w="9525">
              <a:noFill/>
              <a:miter lim="800000"/>
            </a:ln>
          </p:spPr>
          <p:txBody>
            <a:bodyPr wrap="square">
              <a:spAutoFit/>
            </a:bodyPr>
            <a:p>
              <a:pPr>
                <a:spcBef>
                  <a:spcPct val="50000"/>
                </a:spcBef>
              </a:pPr>
              <a:r>
                <a:rPr lang="zh-CN" altLang="en-US" sz="2000" b="1" dirty="0">
                  <a:solidFill>
                    <a:schemeClr val="bg1"/>
                  </a:solidFill>
                  <a:effectLst>
                    <a:outerShdw blurRad="38100" dist="38100" dir="2700000" algn="tl">
                      <a:srgbClr val="000000">
                        <a:alpha val="43137"/>
                      </a:srgbClr>
                    </a:outerShdw>
                  </a:effectLst>
                  <a:latin typeface="Arial" panose="020B0604020202020204" pitchFamily="34" charset="0"/>
                </a:rPr>
                <a:t>质量关注点</a:t>
              </a:r>
              <a:endParaRPr lang="en-US" altLang="zh-CN" sz="2000" b="1" dirty="0">
                <a:solidFill>
                  <a:schemeClr val="bg1"/>
                </a:solidFill>
                <a:effectLst>
                  <a:outerShdw blurRad="38100" dist="38100" dir="2700000" algn="tl">
                    <a:srgbClr val="000000">
                      <a:alpha val="43137"/>
                    </a:srgbClr>
                  </a:outerShdw>
                </a:effectLst>
                <a:latin typeface="Arial" panose="020B0604020202020204" pitchFamily="34" charset="0"/>
              </a:endParaRPr>
            </a:p>
          </p:txBody>
        </p:sp>
        <p:sp>
          <p:nvSpPr>
            <p:cNvPr id="55313" name="Text Box 11"/>
            <p:cNvSpPr txBox="1">
              <a:spLocks noChangeArrowheads="1"/>
            </p:cNvSpPr>
            <p:nvPr/>
          </p:nvSpPr>
          <p:spPr bwMode="auto">
            <a:xfrm>
              <a:off x="2496" y="2390"/>
              <a:ext cx="864" cy="352"/>
            </a:xfrm>
            <a:prstGeom prst="rect">
              <a:avLst/>
            </a:prstGeom>
            <a:noFill/>
            <a:ln w="9525">
              <a:noFill/>
              <a:miter lim="800000"/>
            </a:ln>
          </p:spPr>
          <p:txBody>
            <a:bodyPr>
              <a:spAutoFit/>
            </a:bodyPr>
            <a:p>
              <a:pPr>
                <a:spcBef>
                  <a:spcPct val="50000"/>
                </a:spcBef>
              </a:pPr>
              <a:r>
                <a:rPr lang="zh-CN" altLang="en-US" sz="2000" b="1" dirty="0">
                  <a:solidFill>
                    <a:schemeClr val="bg1"/>
                  </a:solidFill>
                  <a:effectLst>
                    <a:outerShdw blurRad="38100" dist="38100" dir="2700000" algn="tl">
                      <a:srgbClr val="000000">
                        <a:alpha val="43137"/>
                      </a:srgbClr>
                    </a:outerShdw>
                  </a:effectLst>
                  <a:latin typeface="Arial" panose="020B0604020202020204" pitchFamily="34" charset="0"/>
                </a:rPr>
                <a:t>过程</a:t>
              </a:r>
              <a:endParaRPr lang="zh-CN" altLang="en-US" sz="2000" b="1" dirty="0">
                <a:solidFill>
                  <a:schemeClr val="bg1"/>
                </a:solidFill>
                <a:effectLst>
                  <a:outerShdw blurRad="38100" dist="38100" dir="2700000" algn="tl">
                    <a:srgbClr val="000000">
                      <a:alpha val="43137"/>
                    </a:srgbClr>
                  </a:outerShdw>
                </a:effectLst>
                <a:latin typeface="Arial" panose="020B0604020202020204" pitchFamily="34" charset="0"/>
              </a:endParaRPr>
            </a:p>
          </p:txBody>
        </p:sp>
        <p:sp>
          <p:nvSpPr>
            <p:cNvPr id="55314" name="Text Box 12"/>
            <p:cNvSpPr txBox="1">
              <a:spLocks noChangeArrowheads="1"/>
            </p:cNvSpPr>
            <p:nvPr/>
          </p:nvSpPr>
          <p:spPr bwMode="auto">
            <a:xfrm>
              <a:off x="2491" y="1957"/>
              <a:ext cx="1048" cy="352"/>
            </a:xfrm>
            <a:prstGeom prst="rect">
              <a:avLst/>
            </a:prstGeom>
            <a:noFill/>
            <a:ln w="9525">
              <a:noFill/>
              <a:miter lim="800000"/>
            </a:ln>
          </p:spPr>
          <p:txBody>
            <a:bodyPr wrap="square">
              <a:spAutoFit/>
            </a:bodyPr>
            <a:p>
              <a:pPr>
                <a:spcBef>
                  <a:spcPct val="50000"/>
                </a:spcBef>
              </a:pPr>
              <a:r>
                <a:rPr lang="zh-CN" altLang="en-US" sz="2000" b="1" dirty="0">
                  <a:solidFill>
                    <a:schemeClr val="bg1"/>
                  </a:solidFill>
                  <a:effectLst>
                    <a:outerShdw blurRad="38100" dist="38100" dir="2700000" algn="tl">
                      <a:srgbClr val="000000">
                        <a:alpha val="43137"/>
                      </a:srgbClr>
                    </a:outerShdw>
                  </a:effectLst>
                  <a:latin typeface="Arial" panose="020B0604020202020204" pitchFamily="34" charset="0"/>
                </a:rPr>
                <a:t>方法</a:t>
              </a:r>
              <a:endParaRPr lang="zh-CN" altLang="en-US" sz="2000" b="1" dirty="0">
                <a:solidFill>
                  <a:schemeClr val="bg1"/>
                </a:solidFill>
                <a:effectLst>
                  <a:outerShdw blurRad="38100" dist="38100" dir="2700000" algn="tl">
                    <a:srgbClr val="000000">
                      <a:alpha val="43137"/>
                    </a:srgbClr>
                  </a:outerShdw>
                </a:effectLst>
                <a:latin typeface="Arial" panose="020B0604020202020204" pitchFamily="34" charset="0"/>
              </a:endParaRPr>
            </a:p>
          </p:txBody>
        </p:sp>
        <p:sp>
          <p:nvSpPr>
            <p:cNvPr id="55315" name="Text Box 13"/>
            <p:cNvSpPr txBox="1">
              <a:spLocks noChangeArrowheads="1"/>
            </p:cNvSpPr>
            <p:nvPr/>
          </p:nvSpPr>
          <p:spPr bwMode="auto">
            <a:xfrm>
              <a:off x="2492" y="1526"/>
              <a:ext cx="871" cy="352"/>
            </a:xfrm>
            <a:prstGeom prst="rect">
              <a:avLst/>
            </a:prstGeom>
            <a:noFill/>
            <a:ln w="9525">
              <a:noFill/>
              <a:miter lim="800000"/>
            </a:ln>
          </p:spPr>
          <p:txBody>
            <a:bodyPr wrap="square">
              <a:spAutoFit/>
            </a:bodyPr>
            <a:p>
              <a:pPr>
                <a:spcBef>
                  <a:spcPct val="50000"/>
                </a:spcBef>
              </a:pPr>
              <a:r>
                <a:rPr lang="zh-CN" altLang="en-US" sz="2000" b="1">
                  <a:solidFill>
                    <a:schemeClr val="bg1"/>
                  </a:solidFill>
                  <a:effectLst>
                    <a:outerShdw blurRad="38100" dist="38100" dir="2700000" algn="tl">
                      <a:srgbClr val="000000">
                        <a:alpha val="43137"/>
                      </a:srgbClr>
                    </a:outerShdw>
                  </a:effectLst>
                  <a:latin typeface="Arial" panose="020B0604020202020204" pitchFamily="34" charset="0"/>
                </a:rPr>
                <a:t>工具    </a:t>
              </a:r>
              <a:endParaRPr lang="zh-CN" altLang="en-US" sz="2000" b="1">
                <a:solidFill>
                  <a:schemeClr val="bg1"/>
                </a:solidFill>
                <a:effectLst>
                  <a:outerShdw blurRad="38100" dist="38100" dir="2700000" algn="tl">
                    <a:srgbClr val="000000">
                      <a:alpha val="43137"/>
                    </a:srgbClr>
                  </a:outerShdw>
                </a:effectLst>
                <a:latin typeface="Arial" panose="020B0604020202020204" pitchFamily="34" charset="0"/>
              </a:endParaRPr>
            </a:p>
          </p:txBody>
        </p:sp>
        <p:sp>
          <p:nvSpPr>
            <p:cNvPr id="55316" name="Text Box 14"/>
            <p:cNvSpPr txBox="1">
              <a:spLocks noChangeArrowheads="1"/>
            </p:cNvSpPr>
            <p:nvPr/>
          </p:nvSpPr>
          <p:spPr bwMode="auto">
            <a:xfrm>
              <a:off x="1345" y="3503"/>
              <a:ext cx="3118" cy="352"/>
            </a:xfrm>
            <a:prstGeom prst="rect">
              <a:avLst/>
            </a:prstGeom>
            <a:noFill/>
            <a:ln w="9525">
              <a:noFill/>
              <a:miter lim="800000"/>
            </a:ln>
          </p:spPr>
          <p:txBody>
            <a:bodyPr>
              <a:spAutoFit/>
            </a:bodyPr>
            <a:p>
              <a:pPr>
                <a:spcBef>
                  <a:spcPct val="50000"/>
                </a:spcBef>
              </a:pPr>
              <a:r>
                <a:rPr lang="zh-CN" altLang="en-US" sz="2000" b="1" dirty="0">
                  <a:latin typeface="Arial" panose="020B0604020202020204" pitchFamily="34" charset="0"/>
                </a:rPr>
                <a:t>	</a:t>
              </a:r>
              <a:r>
                <a:rPr lang="zh-CN" altLang="en-US" sz="2000" b="1" dirty="0">
                  <a:latin typeface="Arial" panose="020B0604020202020204" pitchFamily="34" charset="0"/>
                  <a:ea typeface="黑体" panose="02010609060101010101" charset="-122"/>
                </a:rPr>
                <a:t>软件工程层次图</a:t>
              </a:r>
              <a:endParaRPr lang="zh-CN" altLang="en-US" sz="2000" b="1" dirty="0">
                <a:latin typeface="Arial" panose="020B0604020202020204" pitchFamily="34" charset="0"/>
                <a:ea typeface="黑体" panose="02010609060101010101" charset="-122"/>
              </a:endParaRPr>
            </a:p>
          </p:txBody>
        </p:sp>
      </p:grpSp>
      <p:sp>
        <p:nvSpPr>
          <p:cNvPr id="154644" name="AutoShape 20"/>
          <p:cNvSpPr>
            <a:spLocks noChangeArrowheads="1"/>
          </p:cNvSpPr>
          <p:nvPr/>
        </p:nvSpPr>
        <p:spPr bwMode="auto">
          <a:xfrm>
            <a:off x="539115" y="1527810"/>
            <a:ext cx="1795145" cy="686435"/>
          </a:xfrm>
          <a:prstGeom prst="wedgeRoundRectCallout">
            <a:avLst>
              <a:gd name="adj1" fmla="val 109285"/>
              <a:gd name="adj2" fmla="val 97271"/>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p>
            <a:pPr algn="ctr" eaLnBrk="0" hangingPunct="0"/>
            <a:endParaRPr lang="zh-CN" altLang="en-US"/>
          </a:p>
        </p:txBody>
      </p:sp>
      <p:sp>
        <p:nvSpPr>
          <p:cNvPr id="154645" name="Text Box 21"/>
          <p:cNvSpPr txBox="1">
            <a:spLocks noChangeArrowheads="1"/>
          </p:cNvSpPr>
          <p:nvPr/>
        </p:nvSpPr>
        <p:spPr bwMode="auto">
          <a:xfrm>
            <a:off x="6821170" y="2963545"/>
            <a:ext cx="1779905" cy="1144905"/>
          </a:xfrm>
          <a:prstGeom prst="wedgeRoundRectCallout">
            <a:avLst>
              <a:gd name="adj1" fmla="val -111541"/>
              <a:gd name="adj2" fmla="val 2833"/>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oAutofit/>
          </a:bodyPr>
          <a:p>
            <a:pPr eaLnBrk="0" hangingPunct="0">
              <a:spcBef>
                <a:spcPct val="50000"/>
              </a:spcBef>
            </a:pPr>
            <a:r>
              <a:rPr lang="zh-CN" altLang="en-US" sz="1400" b="1" dirty="0">
                <a:solidFill>
                  <a:schemeClr val="bg1"/>
                </a:solidFill>
                <a:effectLst>
                  <a:outerShdw blurRad="38100" dist="38100" dir="2700000" algn="tl">
                    <a:srgbClr val="000000">
                      <a:alpha val="43137"/>
                    </a:srgbClr>
                  </a:outerShdw>
                </a:effectLst>
              </a:rPr>
              <a:t>基础层，综合方法及工具，定义方法使用的顺序，所需要的</a:t>
            </a:r>
            <a:r>
              <a:rPr lang="zh-CN" altLang="en-US" sz="1400" b="1" dirty="0" smtClean="0">
                <a:solidFill>
                  <a:schemeClr val="bg1"/>
                </a:solidFill>
                <a:effectLst>
                  <a:outerShdw blurRad="38100" dist="38100" dir="2700000" algn="tl">
                    <a:srgbClr val="000000">
                      <a:alpha val="43137"/>
                    </a:srgbClr>
                  </a:outerShdw>
                </a:effectLst>
              </a:rPr>
              <a:t>管理。</a:t>
            </a:r>
            <a:endParaRPr lang="en-US" altLang="zh-CN" sz="1400" b="1" dirty="0">
              <a:solidFill>
                <a:schemeClr val="bg1"/>
              </a:solidFill>
              <a:effectLst>
                <a:outerShdw blurRad="38100" dist="38100" dir="2700000" algn="tl">
                  <a:srgbClr val="000000">
                    <a:alpha val="43137"/>
                  </a:srgbClr>
                </a:outerShdw>
              </a:effectLst>
            </a:endParaRPr>
          </a:p>
        </p:txBody>
      </p:sp>
      <p:sp>
        <p:nvSpPr>
          <p:cNvPr id="154648" name="Text Box 24"/>
          <p:cNvSpPr txBox="1">
            <a:spLocks noChangeArrowheads="1"/>
          </p:cNvSpPr>
          <p:nvPr/>
        </p:nvSpPr>
        <p:spPr bwMode="auto">
          <a:xfrm>
            <a:off x="560070" y="1586865"/>
            <a:ext cx="1808480" cy="539750"/>
          </a:xfrm>
          <a:prstGeom prst="rect">
            <a:avLst/>
          </a:prstGeom>
          <a:noFill/>
          <a:ln w="9525">
            <a:noFill/>
            <a:miter lim="800000"/>
          </a:ln>
        </p:spPr>
        <p:txBody>
          <a:bodyPr>
            <a:noAutofit/>
          </a:bodyPr>
          <a:p>
            <a:pPr eaLnBrk="0" hangingPunct="0">
              <a:spcBef>
                <a:spcPct val="50000"/>
              </a:spcBef>
            </a:pPr>
            <a:r>
              <a:rPr lang="zh-CN" altLang="en-US" sz="1400" b="1" dirty="0">
                <a:solidFill>
                  <a:schemeClr val="bg1"/>
                </a:solidFill>
                <a:effectLst>
                  <a:outerShdw blurRad="38100" dist="38100" dir="2700000" algn="tl">
                    <a:srgbClr val="000000">
                      <a:alpha val="43137"/>
                    </a:srgbClr>
                  </a:outerShdw>
                </a:effectLst>
              </a:rPr>
              <a:t>为软件开发提供</a:t>
            </a:r>
            <a:r>
              <a:rPr lang="zh-CN" altLang="en-US" sz="1400" b="1" dirty="0">
                <a:solidFill>
                  <a:schemeClr val="bg1"/>
                </a:solidFill>
                <a:effectLst>
                  <a:outerShdw blurRad="38100" dist="38100" dir="2700000" algn="tl">
                    <a:srgbClr val="000000">
                      <a:alpha val="43137"/>
                    </a:srgbClr>
                  </a:outerShdw>
                </a:effectLst>
                <a:latin typeface="宋体" panose="02010600030101010101" pitchFamily="2" charset="-122"/>
              </a:rPr>
              <a:t>“</a:t>
            </a:r>
            <a:r>
              <a:rPr lang="zh-CN" altLang="en-US" sz="1400" b="1" dirty="0">
                <a:solidFill>
                  <a:schemeClr val="bg1"/>
                </a:solidFill>
                <a:effectLst>
                  <a:outerShdw blurRad="38100" dist="38100" dir="2700000" algn="tl">
                    <a:srgbClr val="000000">
                      <a:alpha val="43137"/>
                    </a:srgbClr>
                  </a:outerShdw>
                </a:effectLst>
              </a:rPr>
              <a:t>如何做</a:t>
            </a:r>
            <a:r>
              <a:rPr lang="zh-CN" altLang="en-US" sz="1400" b="1" dirty="0">
                <a:solidFill>
                  <a:schemeClr val="bg1"/>
                </a:solidFill>
                <a:effectLst>
                  <a:outerShdw blurRad="38100" dist="38100" dir="2700000" algn="tl">
                    <a:srgbClr val="000000">
                      <a:alpha val="43137"/>
                    </a:srgbClr>
                  </a:outerShdw>
                </a:effectLst>
                <a:latin typeface="宋体" panose="02010600030101010101" pitchFamily="2" charset="-122"/>
              </a:rPr>
              <a:t>”</a:t>
            </a:r>
            <a:r>
              <a:rPr lang="zh-CN" altLang="en-US" sz="1400" b="1" dirty="0">
                <a:solidFill>
                  <a:schemeClr val="bg1"/>
                </a:solidFill>
                <a:effectLst>
                  <a:outerShdw blurRad="38100" dist="38100" dir="2700000" algn="tl">
                    <a:srgbClr val="000000">
                      <a:alpha val="43137"/>
                    </a:srgbClr>
                  </a:outerShdw>
                </a:effectLst>
              </a:rPr>
              <a:t>的</a:t>
            </a:r>
            <a:r>
              <a:rPr lang="zh-CN" altLang="en-US" sz="1400" b="1" dirty="0" smtClean="0">
                <a:solidFill>
                  <a:schemeClr val="bg1"/>
                </a:solidFill>
                <a:effectLst>
                  <a:outerShdw blurRad="38100" dist="38100" dir="2700000" algn="tl">
                    <a:srgbClr val="000000">
                      <a:alpha val="43137"/>
                    </a:srgbClr>
                  </a:outerShdw>
                </a:effectLst>
              </a:rPr>
              <a:t>技术。</a:t>
            </a:r>
            <a:endParaRPr lang="en-US" altLang="zh-CN" sz="1400" b="1" dirty="0">
              <a:solidFill>
                <a:schemeClr val="bg1"/>
              </a:solidFill>
              <a:effectLst>
                <a:outerShdw blurRad="38100" dist="38100" dir="2700000" algn="tl">
                  <a:srgbClr val="000000">
                    <a:alpha val="43137"/>
                  </a:srgbClr>
                </a:outerShdw>
              </a:effectLst>
            </a:endParaRPr>
          </a:p>
        </p:txBody>
      </p:sp>
      <p:sp>
        <p:nvSpPr>
          <p:cNvPr id="154649" name="Text Box 25"/>
          <p:cNvSpPr txBox="1">
            <a:spLocks noChangeArrowheads="1"/>
          </p:cNvSpPr>
          <p:nvPr/>
        </p:nvSpPr>
        <p:spPr bwMode="auto">
          <a:xfrm>
            <a:off x="6350000" y="864235"/>
            <a:ext cx="2033270" cy="1389380"/>
          </a:xfrm>
          <a:prstGeom prst="wedgeRoundRectCallout">
            <a:avLst>
              <a:gd name="adj1" fmla="val -104559"/>
              <a:gd name="adj2" fmla="val 36106"/>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oAutofit/>
          </a:bodyPr>
          <a:p>
            <a:pPr eaLnBrk="0" hangingPunct="0">
              <a:spcBef>
                <a:spcPct val="50000"/>
              </a:spcBef>
            </a:pPr>
            <a:r>
              <a:rPr lang="zh-CN" altLang="en-US" sz="1400" b="1" dirty="0">
                <a:solidFill>
                  <a:schemeClr val="bg1"/>
                </a:solidFill>
                <a:effectLst>
                  <a:outerShdw blurRad="38100" dist="38100" dir="2700000" algn="tl">
                    <a:srgbClr val="000000">
                      <a:alpha val="43137"/>
                    </a:srgbClr>
                  </a:outerShdw>
                </a:effectLst>
              </a:rPr>
              <a:t>为软件开发提供自动或半自动的软件支撑环境，建立计算机辅助软件工程</a:t>
            </a:r>
            <a:r>
              <a:rPr lang="en-US" altLang="zh-CN" sz="1400" b="1" dirty="0">
                <a:solidFill>
                  <a:schemeClr val="bg1"/>
                </a:solidFill>
                <a:effectLst>
                  <a:outerShdw blurRad="38100" dist="38100" dir="2700000" algn="tl">
                    <a:srgbClr val="000000">
                      <a:alpha val="43137"/>
                    </a:srgbClr>
                  </a:outerShdw>
                </a:effectLst>
              </a:rPr>
              <a:t>(CASE)</a:t>
            </a:r>
            <a:r>
              <a:rPr lang="zh-CN" altLang="en-US" sz="1400" b="1" dirty="0">
                <a:solidFill>
                  <a:schemeClr val="bg1"/>
                </a:solidFill>
                <a:effectLst>
                  <a:outerShdw blurRad="38100" dist="38100" dir="2700000" algn="tl">
                    <a:srgbClr val="000000">
                      <a:alpha val="43137"/>
                    </a:srgbClr>
                  </a:outerShdw>
                </a:effectLst>
              </a:rPr>
              <a:t>的软件开发支撑</a:t>
            </a:r>
            <a:r>
              <a:rPr lang="zh-CN" altLang="en-US" sz="1400" b="1" dirty="0" smtClean="0">
                <a:solidFill>
                  <a:schemeClr val="bg1"/>
                </a:solidFill>
                <a:effectLst>
                  <a:outerShdw blurRad="38100" dist="38100" dir="2700000" algn="tl">
                    <a:srgbClr val="000000">
                      <a:alpha val="43137"/>
                    </a:srgbClr>
                  </a:outerShdw>
                </a:effectLst>
              </a:rPr>
              <a:t>系统</a:t>
            </a:r>
            <a:r>
              <a:rPr lang="zh-CN" altLang="en-US" sz="1400" b="1" dirty="0">
                <a:solidFill>
                  <a:schemeClr val="bg1"/>
                </a:solidFill>
                <a:effectLst>
                  <a:outerShdw blurRad="38100" dist="38100" dir="2700000" algn="tl">
                    <a:srgbClr val="000000">
                      <a:alpha val="43137"/>
                    </a:srgbClr>
                  </a:outerShdw>
                </a:effectLst>
              </a:rPr>
              <a:t>。</a:t>
            </a:r>
            <a:endParaRPr lang="en-US" altLang="zh-CN" sz="1400" b="1" dirty="0">
              <a:solidFill>
                <a:schemeClr val="bg1"/>
              </a:solidFill>
              <a:effectLst>
                <a:outerShdw blurRad="38100" dist="38100" dir="2700000" algn="tl">
                  <a:srgbClr val="000000">
                    <a:alpha val="43137"/>
                  </a:srgbClr>
                </a:outerShdw>
              </a:effectLst>
            </a:endParaRPr>
          </a:p>
        </p:txBody>
      </p:sp>
      <p:sp>
        <p:nvSpPr>
          <p:cNvPr id="8" name="AutoShape 20"/>
          <p:cNvSpPr>
            <a:spLocks noChangeArrowheads="1"/>
          </p:cNvSpPr>
          <p:nvPr/>
        </p:nvSpPr>
        <p:spPr bwMode="auto">
          <a:xfrm>
            <a:off x="434975" y="2835275"/>
            <a:ext cx="1795145" cy="920750"/>
          </a:xfrm>
          <a:prstGeom prst="wedgeRoundRectCallout">
            <a:avLst>
              <a:gd name="adj1" fmla="val 116501"/>
              <a:gd name="adj2" fmla="val -17160"/>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p>
            <a:pPr algn="ctr" eaLnBrk="0" hangingPunct="0"/>
            <a:r>
              <a:rPr lang="zh-CN" altLang="en-US" sz="1400" b="1" dirty="0">
                <a:solidFill>
                  <a:schemeClr val="bg1"/>
                </a:solidFill>
                <a:effectLst>
                  <a:outerShdw blurRad="38100" dist="38100" dir="2700000" algn="tl">
                    <a:srgbClr val="000000">
                      <a:alpha val="43137"/>
                    </a:srgbClr>
                  </a:outerShdw>
                </a:effectLst>
                <a:sym typeface="+mn-ea"/>
              </a:rPr>
              <a:t>为开发高质量软件规定各项任务的工作步骤。</a:t>
            </a:r>
            <a:endParaRPr lang="en-US" altLang="zh-CN" sz="1400" b="1" dirty="0">
              <a:solidFill>
                <a:schemeClr val="bg1"/>
              </a:solidFill>
              <a:effectLst>
                <a:outerShdw blurRad="38100" dist="38100" dir="2700000" algn="tl">
                  <a:srgbClr val="000000">
                    <a:alpha val="43137"/>
                  </a:srgbClr>
                </a:outerShdw>
              </a:effectLst>
            </a:endParaRPr>
          </a:p>
          <a:p>
            <a:pPr algn="ctr" eaLnBrk="0" hangingPunct="0"/>
            <a:endParaRPr lang="zh-CN" altLang="en-US"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54645"/>
                                        </p:tgtEl>
                                        <p:attrNameLst>
                                          <p:attrName>style.visibility</p:attrName>
                                        </p:attrNameLst>
                                      </p:cBhvr>
                                      <p:to>
                                        <p:strVal val="visible"/>
                                      </p:to>
                                    </p:set>
                                    <p:anim calcmode="lin" valueType="num">
                                      <p:cBhvr additive="base">
                                        <p:cTn id="7" dur="500" fill="hold"/>
                                        <p:tgtEl>
                                          <p:spTgt spid="154645"/>
                                        </p:tgtEl>
                                        <p:attrNameLst>
                                          <p:attrName>ppt_x</p:attrName>
                                        </p:attrNameLst>
                                      </p:cBhvr>
                                      <p:tavLst>
                                        <p:tav tm="0">
                                          <p:val>
                                            <p:strVal val="#ppt_x"/>
                                          </p:val>
                                        </p:tav>
                                        <p:tav tm="100000">
                                          <p:val>
                                            <p:strVal val="#ppt_x"/>
                                          </p:val>
                                        </p:tav>
                                      </p:tavLst>
                                    </p:anim>
                                    <p:anim calcmode="lin" valueType="num">
                                      <p:cBhvr additive="base">
                                        <p:cTn id="8" dur="500" fill="hold"/>
                                        <p:tgtEl>
                                          <p:spTgt spid="15464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4648"/>
                                        </p:tgtEl>
                                        <p:attrNameLst>
                                          <p:attrName>style.visibility</p:attrName>
                                        </p:attrNameLst>
                                      </p:cBhvr>
                                      <p:to>
                                        <p:strVal val="visible"/>
                                      </p:to>
                                    </p:set>
                                    <p:anim calcmode="lin" valueType="num">
                                      <p:cBhvr additive="base">
                                        <p:cTn id="13" dur="500" fill="hold"/>
                                        <p:tgtEl>
                                          <p:spTgt spid="154648"/>
                                        </p:tgtEl>
                                        <p:attrNameLst>
                                          <p:attrName>ppt_x</p:attrName>
                                        </p:attrNameLst>
                                      </p:cBhvr>
                                      <p:tavLst>
                                        <p:tav tm="0">
                                          <p:val>
                                            <p:strVal val="#ppt_x"/>
                                          </p:val>
                                        </p:tav>
                                        <p:tav tm="100000">
                                          <p:val>
                                            <p:strVal val="#ppt_x"/>
                                          </p:val>
                                        </p:tav>
                                      </p:tavLst>
                                    </p:anim>
                                    <p:anim calcmode="lin" valueType="num">
                                      <p:cBhvr additive="base">
                                        <p:cTn id="14" dur="500" fill="hold"/>
                                        <p:tgtEl>
                                          <p:spTgt spid="15464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54644"/>
                                        </p:tgtEl>
                                        <p:attrNameLst>
                                          <p:attrName>style.visibility</p:attrName>
                                        </p:attrNameLst>
                                      </p:cBhvr>
                                      <p:to>
                                        <p:strVal val="visible"/>
                                      </p:to>
                                    </p:set>
                                    <p:anim calcmode="lin" valueType="num">
                                      <p:cBhvr additive="base">
                                        <p:cTn id="17" dur="500" fill="hold"/>
                                        <p:tgtEl>
                                          <p:spTgt spid="154644"/>
                                        </p:tgtEl>
                                        <p:attrNameLst>
                                          <p:attrName>ppt_x</p:attrName>
                                        </p:attrNameLst>
                                      </p:cBhvr>
                                      <p:tavLst>
                                        <p:tav tm="0">
                                          <p:val>
                                            <p:strVal val="#ppt_x"/>
                                          </p:val>
                                        </p:tav>
                                        <p:tav tm="100000">
                                          <p:val>
                                            <p:strVal val="#ppt_x"/>
                                          </p:val>
                                        </p:tav>
                                      </p:tavLst>
                                    </p:anim>
                                    <p:anim calcmode="lin" valueType="num">
                                      <p:cBhvr additive="base">
                                        <p:cTn id="18" dur="500" fill="hold"/>
                                        <p:tgtEl>
                                          <p:spTgt spid="15464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54649"/>
                                        </p:tgtEl>
                                        <p:attrNameLst>
                                          <p:attrName>style.visibility</p:attrName>
                                        </p:attrNameLst>
                                      </p:cBhvr>
                                      <p:to>
                                        <p:strVal val="visible"/>
                                      </p:to>
                                    </p:set>
                                    <p:anim calcmode="lin" valueType="num">
                                      <p:cBhvr additive="base">
                                        <p:cTn id="23" dur="500" fill="hold"/>
                                        <p:tgtEl>
                                          <p:spTgt spid="154649"/>
                                        </p:tgtEl>
                                        <p:attrNameLst>
                                          <p:attrName>ppt_x</p:attrName>
                                        </p:attrNameLst>
                                      </p:cBhvr>
                                      <p:tavLst>
                                        <p:tav tm="0">
                                          <p:val>
                                            <p:strVal val="#ppt_x"/>
                                          </p:val>
                                        </p:tav>
                                        <p:tav tm="100000">
                                          <p:val>
                                            <p:strVal val="#ppt_x"/>
                                          </p:val>
                                        </p:tav>
                                      </p:tavLst>
                                    </p:anim>
                                    <p:anim calcmode="lin" valueType="num">
                                      <p:cBhvr additive="base">
                                        <p:cTn id="24" dur="500" fill="hold"/>
                                        <p:tgtEl>
                                          <p:spTgt spid="15464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44" grpId="0" bldLvl="0" animBg="1"/>
      <p:bldP spid="154645" grpId="0" bldLvl="0" animBg="1"/>
      <p:bldP spid="154648" grpId="0"/>
      <p:bldP spid="154649" grpId="0" bldLvl="0" animBg="1"/>
      <p:bldP spid="8"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软件工程过程</a:t>
            </a:r>
            <a:endParaRPr lang="zh-CN" altLang="en-US" dirty="0"/>
          </a:p>
        </p:txBody>
      </p:sp>
      <p:sp>
        <p:nvSpPr>
          <p:cNvPr id="4" name="日期占位符 3"/>
          <p:cNvSpPr>
            <a:spLocks noGrp="1"/>
          </p:cNvSpPr>
          <p:nvPr>
            <p:ph type="dt" sz="half" idx="10"/>
          </p:nvPr>
        </p:nvSpPr>
        <p:spPr/>
        <p:txBody>
          <a:bodyPr/>
          <a:lstStyle/>
          <a:p>
            <a:fld id="{D9130DE6-9F66-4630-A909-8620CB27F3F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768096" y="1123339"/>
            <a:ext cx="7835576" cy="3554282"/>
          </a:xfrm>
          <a:prstGeom prst="rect">
            <a:avLst/>
          </a:prstGeom>
        </p:spPr>
      </p:pic>
      <p:sp>
        <p:nvSpPr>
          <p:cNvPr id="3" name="文本框 2"/>
          <p:cNvSpPr txBox="1"/>
          <p:nvPr/>
        </p:nvSpPr>
        <p:spPr>
          <a:xfrm>
            <a:off x="768096" y="938673"/>
            <a:ext cx="8203342" cy="119888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zh-CN" b="1" dirty="0">
                <a:solidFill>
                  <a:schemeClr val="tx2"/>
                </a:solidFill>
                <a:latin typeface="+mj-ea"/>
                <a:ea typeface="+mj-ea"/>
              </a:rPr>
              <a:t>软件工程过程</a:t>
            </a:r>
            <a:r>
              <a:rPr lang="zh-CN" altLang="zh-CN" dirty="0">
                <a:solidFill>
                  <a:schemeClr val="tx2"/>
                </a:solidFill>
                <a:latin typeface="+mj-ea"/>
                <a:ea typeface="+mj-ea"/>
              </a:rPr>
              <a:t>是</a:t>
            </a:r>
            <a:r>
              <a:rPr lang="zh-CN" altLang="zh-CN" dirty="0">
                <a:solidFill>
                  <a:schemeClr val="tx2"/>
                </a:solidFill>
                <a:latin typeface="+mj-ea"/>
                <a:ea typeface="+mj-ea"/>
                <a:sym typeface="+mn-ea"/>
              </a:rPr>
              <a:t>指</a:t>
            </a:r>
            <a:r>
              <a:rPr lang="zh-CN" altLang="zh-CN" dirty="0" smtClean="0">
                <a:solidFill>
                  <a:schemeClr val="tx2"/>
                </a:solidFill>
                <a:latin typeface="+mj-ea"/>
                <a:ea typeface="+mj-ea"/>
                <a:sym typeface="+mn-ea"/>
              </a:rPr>
              <a:t>在生命周期</a:t>
            </a:r>
            <a:r>
              <a:rPr lang="zh-CN" altLang="zh-CN" dirty="0">
                <a:solidFill>
                  <a:schemeClr val="tx2"/>
                </a:solidFill>
                <a:latin typeface="+mj-ea"/>
                <a:ea typeface="+mj-ea"/>
                <a:sym typeface="+mn-ea"/>
              </a:rPr>
              <a:t>内，为了实现特定目标而进行的一系列相关活动</a:t>
            </a:r>
            <a:r>
              <a:rPr lang="zh-CN" altLang="zh-CN" dirty="0" smtClean="0">
                <a:solidFill>
                  <a:schemeClr val="tx2"/>
                </a:solidFill>
                <a:latin typeface="+mj-ea"/>
                <a:ea typeface="+mj-ea"/>
                <a:sym typeface="+mn-ea"/>
              </a:rPr>
              <a:t>。</a:t>
            </a:r>
            <a:endParaRPr lang="en-US" altLang="zh-CN" dirty="0">
              <a:solidFill>
                <a:schemeClr val="tx2"/>
              </a:solidFill>
              <a:latin typeface="+mj-ea"/>
              <a:ea typeface="+mj-ea"/>
            </a:endParaRPr>
          </a:p>
          <a:p>
            <a:r>
              <a:rPr lang="zh-CN" altLang="zh-CN" dirty="0">
                <a:solidFill>
                  <a:schemeClr val="tx2"/>
                </a:solidFill>
                <a:latin typeface="+mj-ea"/>
                <a:ea typeface="+mj-ea"/>
              </a:rPr>
              <a:t>从管理者的角度，回答软件开发、运行和维护需要做哪些工作，如何管理好这些工作等问题，关注软件仙姑的规范化组织和可量化实施。</a:t>
            </a:r>
            <a:endParaRPr lang="zh-CN" altLang="zh-CN" dirty="0">
              <a:solidFill>
                <a:schemeClr val="tx2"/>
              </a:solidFill>
              <a:latin typeface="+mj-ea"/>
              <a:ea typeface="+mj-ea"/>
            </a:endParaRPr>
          </a:p>
          <a:p>
            <a:endParaRPr lang="en-US" altLang="zh-CN" dirty="0">
              <a:solidFill>
                <a:schemeClr val="tx2"/>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软件工程过程</a:t>
            </a:r>
            <a:endParaRPr lang="zh-CN" altLang="en-US" dirty="0"/>
          </a:p>
        </p:txBody>
      </p:sp>
      <p:sp>
        <p:nvSpPr>
          <p:cNvPr id="4" name="日期占位符 3"/>
          <p:cNvSpPr>
            <a:spLocks noGrp="1"/>
          </p:cNvSpPr>
          <p:nvPr>
            <p:ph type="dt" sz="half" idx="10"/>
          </p:nvPr>
        </p:nvSpPr>
        <p:spPr/>
        <p:txBody>
          <a:bodyPr/>
          <a:lstStyle/>
          <a:p>
            <a:fld id="{FDAE1E67-03F0-4D63-A685-23A967BA011E}"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 name="图片 7"/>
          <p:cNvPicPr>
            <a:picLocks noChangeAspect="1"/>
          </p:cNvPicPr>
          <p:nvPr/>
        </p:nvPicPr>
        <p:blipFill>
          <a:blip r:embed="rId1">
            <a:clrChange>
              <a:clrFrom>
                <a:srgbClr val="FFFFFF"/>
              </a:clrFrom>
              <a:clrTo>
                <a:srgbClr val="FFFFFF">
                  <a:alpha val="0"/>
                </a:srgbClr>
              </a:clrTo>
            </a:clrChange>
          </a:blip>
          <a:stretch>
            <a:fillRect/>
          </a:stretch>
        </p:blipFill>
        <p:spPr>
          <a:xfrm>
            <a:off x="655361" y="979226"/>
            <a:ext cx="8090154" cy="35453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61447" name="Rectangle 8"/>
          <p:cNvSpPr>
            <a:spLocks noChangeArrowheads="1"/>
          </p:cNvSpPr>
          <p:nvPr/>
        </p:nvSpPr>
        <p:spPr bwMode="auto">
          <a:xfrm>
            <a:off x="2408873" y="2012633"/>
            <a:ext cx="3003550" cy="1692275"/>
          </a:xfrm>
          <a:prstGeom prst="rect">
            <a:avLst/>
          </a:prstGeom>
          <a:solidFill>
            <a:srgbClr val="CC00FF"/>
          </a:solidFill>
          <a:ln w="9525">
            <a:miter lim="800000"/>
          </a:ln>
          <a:scene3d>
            <a:camera prst="legacyPerspectiveTopRight"/>
            <a:lightRig rig="legacyFlat3" dir="b"/>
          </a:scene3d>
          <a:sp3d extrusionH="887400" prstMaterial="legacyMatte">
            <a:bevelT w="13500" h="13500" prst="angle"/>
            <a:bevelB w="13500" h="13500" prst="angle"/>
            <a:extrusionClr>
              <a:srgbClr val="CC00FF"/>
            </a:extrusionClr>
          </a:sp3d>
        </p:spPr>
        <p:txBody>
          <a:bodyPr wrap="none" anchor="ctr">
            <a:flatTx/>
          </a:bodyPr>
          <a:p>
            <a:pPr eaLnBrk="0" hangingPunct="0"/>
            <a:endParaRPr lang="zh-CN" altLang="en-US"/>
          </a:p>
        </p:txBody>
      </p:sp>
      <p:grpSp>
        <p:nvGrpSpPr>
          <p:cNvPr id="7" name="组合 6"/>
          <p:cNvGrpSpPr/>
          <p:nvPr/>
        </p:nvGrpSpPr>
        <p:grpSpPr>
          <a:xfrm>
            <a:off x="664555" y="1174432"/>
            <a:ext cx="5332412" cy="3384550"/>
            <a:chOff x="719138" y="2624138"/>
            <a:chExt cx="5332412" cy="3384550"/>
          </a:xfrm>
        </p:grpSpPr>
        <p:sp>
          <p:nvSpPr>
            <p:cNvPr id="61444" name="Rectangle 5"/>
            <p:cNvSpPr>
              <a:spLocks noChangeArrowheads="1"/>
            </p:cNvSpPr>
            <p:nvPr/>
          </p:nvSpPr>
          <p:spPr bwMode="auto">
            <a:xfrm>
              <a:off x="795338" y="2624138"/>
              <a:ext cx="5256212" cy="3384550"/>
            </a:xfrm>
            <a:prstGeom prst="rect">
              <a:avLst/>
            </a:prstGeom>
            <a:solidFill>
              <a:schemeClr val="accent2"/>
            </a:solidFill>
            <a:ln w="9525">
              <a:miter lim="800000"/>
            </a:ln>
            <a:scene3d>
              <a:camera prst="legacyObliqueTopRight"/>
              <a:lightRig rig="legacyFlat3" dir="b"/>
            </a:scene3d>
            <a:sp3d extrusionH="430200" prstMaterial="legacyMatte">
              <a:bevelT w="13500" h="13500" prst="angle"/>
              <a:bevelB w="13500" h="13500" prst="angle"/>
              <a:extrusionClr>
                <a:schemeClr val="accent2"/>
              </a:extrusionClr>
            </a:sp3d>
          </p:spPr>
          <p:txBody>
            <a:bodyPr wrap="none" anchor="ctr">
              <a:flatTx/>
            </a:bodyPr>
            <a:p>
              <a:pPr eaLnBrk="0" hangingPunct="0"/>
              <a:endParaRPr lang="zh-CN" altLang="en-US"/>
            </a:p>
          </p:txBody>
        </p:sp>
        <p:sp>
          <p:nvSpPr>
            <p:cNvPr id="61445" name="Rectangle 6"/>
            <p:cNvSpPr>
              <a:spLocks noChangeArrowheads="1"/>
            </p:cNvSpPr>
            <p:nvPr/>
          </p:nvSpPr>
          <p:spPr bwMode="auto">
            <a:xfrm>
              <a:off x="1100138" y="3767138"/>
              <a:ext cx="4562475" cy="2130425"/>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p>
              <a:pPr eaLnBrk="0" hangingPunct="0"/>
              <a:endParaRPr lang="zh-CN" altLang="en-US"/>
            </a:p>
          </p:txBody>
        </p:sp>
        <p:sp>
          <p:nvSpPr>
            <p:cNvPr id="61446" name="Rectangle 7"/>
            <p:cNvSpPr>
              <a:spLocks noChangeArrowheads="1"/>
            </p:cNvSpPr>
            <p:nvPr/>
          </p:nvSpPr>
          <p:spPr bwMode="auto">
            <a:xfrm>
              <a:off x="1384300" y="3276600"/>
              <a:ext cx="4043363" cy="2268538"/>
            </a:xfrm>
            <a:prstGeom prst="rect">
              <a:avLst/>
            </a:prstGeom>
            <a:solidFill>
              <a:srgbClr val="9966FF"/>
            </a:solidFill>
            <a:ln w="9525">
              <a:miter lim="800000"/>
            </a:ln>
            <a:scene3d>
              <a:camera prst="legacyObliqueTopRight"/>
              <a:lightRig rig="legacyFlat3" dir="b"/>
            </a:scene3d>
            <a:sp3d extrusionH="430200" prstMaterial="legacyMatte">
              <a:bevelT w="13500" h="13500" prst="angle"/>
              <a:bevelB w="13500" h="13500" prst="angle"/>
              <a:extrusionClr>
                <a:srgbClr val="9966FF"/>
              </a:extrusionClr>
            </a:sp3d>
          </p:spPr>
          <p:txBody>
            <a:bodyPr wrap="none" anchor="ctr">
              <a:flatTx/>
            </a:bodyPr>
            <a:p>
              <a:pPr eaLnBrk="0" hangingPunct="0"/>
              <a:endParaRPr lang="zh-CN" altLang="en-US"/>
            </a:p>
          </p:txBody>
        </p:sp>
        <p:sp>
          <p:nvSpPr>
            <p:cNvPr id="61448" name="Rectangle 9"/>
            <p:cNvSpPr>
              <a:spLocks noChangeArrowheads="1"/>
            </p:cNvSpPr>
            <p:nvPr/>
          </p:nvSpPr>
          <p:spPr bwMode="auto">
            <a:xfrm>
              <a:off x="3157538" y="3919538"/>
              <a:ext cx="1327150" cy="312737"/>
            </a:xfrm>
            <a:prstGeom prst="rect">
              <a:avLst/>
            </a:prstGeom>
            <a:solidFill>
              <a:schemeClr val="accent1"/>
            </a:solidFill>
            <a:ln w="9525">
              <a:solidFill>
                <a:schemeClr val="tx1"/>
              </a:solidFill>
              <a:miter lim="800000"/>
            </a:ln>
          </p:spPr>
          <p:txBody>
            <a:bodyPr wrap="none" anchor="ctr"/>
            <a:p>
              <a:pPr algn="ctr"/>
              <a:r>
                <a:rPr lang="zh-CN" altLang="en-US">
                  <a:latin typeface="Arial" panose="020B0604020202020204" pitchFamily="34" charset="0"/>
                </a:rPr>
                <a:t>工作任务</a:t>
              </a:r>
              <a:endParaRPr lang="zh-CN" altLang="en-US">
                <a:latin typeface="Arial" panose="020B0604020202020204" pitchFamily="34" charset="0"/>
              </a:endParaRPr>
            </a:p>
          </p:txBody>
        </p:sp>
        <p:sp>
          <p:nvSpPr>
            <p:cNvPr id="61449" name="Rectangle 10"/>
            <p:cNvSpPr>
              <a:spLocks noChangeArrowheads="1"/>
            </p:cNvSpPr>
            <p:nvPr/>
          </p:nvSpPr>
          <p:spPr bwMode="auto">
            <a:xfrm>
              <a:off x="2921000" y="4452938"/>
              <a:ext cx="1736725" cy="341312"/>
            </a:xfrm>
            <a:prstGeom prst="rect">
              <a:avLst/>
            </a:prstGeom>
            <a:solidFill>
              <a:schemeClr val="accent1"/>
            </a:solidFill>
            <a:ln w="9525">
              <a:solidFill>
                <a:schemeClr val="tx1"/>
              </a:solidFill>
              <a:miter lim="800000"/>
            </a:ln>
          </p:spPr>
          <p:txBody>
            <a:bodyPr wrap="none" anchor="ctr"/>
            <a:p>
              <a:pPr algn="ctr"/>
              <a:r>
                <a:rPr lang="zh-CN" altLang="en-US">
                  <a:latin typeface="Arial" panose="020B0604020202020204" pitchFamily="34" charset="0"/>
                </a:rPr>
                <a:t>里程碑、交付物</a:t>
              </a:r>
              <a:endParaRPr lang="zh-CN" altLang="en-US">
                <a:latin typeface="Arial" panose="020B0604020202020204" pitchFamily="34" charset="0"/>
              </a:endParaRPr>
            </a:p>
          </p:txBody>
        </p:sp>
        <p:sp>
          <p:nvSpPr>
            <p:cNvPr id="61450" name="Rectangle 11"/>
            <p:cNvSpPr>
              <a:spLocks noChangeArrowheads="1"/>
            </p:cNvSpPr>
            <p:nvPr/>
          </p:nvSpPr>
          <p:spPr bwMode="auto">
            <a:xfrm>
              <a:off x="3157538" y="4986338"/>
              <a:ext cx="1327150" cy="314325"/>
            </a:xfrm>
            <a:prstGeom prst="rect">
              <a:avLst/>
            </a:prstGeom>
            <a:solidFill>
              <a:schemeClr val="accent1"/>
            </a:solidFill>
            <a:ln w="9525">
              <a:solidFill>
                <a:schemeClr val="tx1"/>
              </a:solidFill>
              <a:miter lim="800000"/>
            </a:ln>
          </p:spPr>
          <p:txBody>
            <a:bodyPr wrap="none" anchor="ctr"/>
            <a:p>
              <a:pPr algn="ctr"/>
              <a:r>
                <a:rPr lang="en-US" altLang="zh-CN"/>
                <a:t>SQA</a:t>
              </a:r>
              <a:r>
                <a:rPr lang="zh-CN" altLang="en-US">
                  <a:latin typeface="宋体" panose="02010600030101010101" pitchFamily="2" charset="-122"/>
                </a:rPr>
                <a:t>点 </a:t>
              </a:r>
              <a:endParaRPr lang="zh-CN" altLang="en-US">
                <a:latin typeface="宋体" panose="02010600030101010101" pitchFamily="2" charset="-122"/>
              </a:endParaRPr>
            </a:p>
          </p:txBody>
        </p:sp>
        <p:sp>
          <p:nvSpPr>
            <p:cNvPr id="61452" name="Text Box 13"/>
            <p:cNvSpPr txBox="1">
              <a:spLocks noChangeArrowheads="1"/>
            </p:cNvSpPr>
            <p:nvPr/>
          </p:nvSpPr>
          <p:spPr bwMode="auto">
            <a:xfrm>
              <a:off x="719138" y="2624138"/>
              <a:ext cx="1800225" cy="366712"/>
            </a:xfrm>
            <a:prstGeom prst="rect">
              <a:avLst/>
            </a:prstGeom>
            <a:noFill/>
            <a:ln w="9525">
              <a:noFill/>
              <a:miter lim="800000"/>
            </a:ln>
          </p:spPr>
          <p:txBody>
            <a:bodyPr>
              <a:spAutoFit/>
            </a:bodyPr>
            <a:p>
              <a:pPr eaLnBrk="0" hangingPunct="0">
                <a:spcBef>
                  <a:spcPct val="50000"/>
                </a:spcBef>
              </a:pPr>
              <a:r>
                <a:rPr lang="zh-CN" altLang="en-US" b="1" dirty="0">
                  <a:solidFill>
                    <a:schemeClr val="bg1"/>
                  </a:solidFill>
                  <a:effectLst>
                    <a:outerShdw blurRad="38100" dist="38100" dir="2700000" algn="tl">
                      <a:srgbClr val="000000">
                        <a:alpha val="43137"/>
                      </a:srgbClr>
                    </a:outerShdw>
                  </a:effectLst>
                  <a:latin typeface="Arial" panose="020B0604020202020204" pitchFamily="34" charset="0"/>
                </a:rPr>
                <a:t>公共过程框架</a:t>
              </a:r>
              <a:endParaRPr lang="zh-CN" altLang="en-US" b="1" dirty="0">
                <a:solidFill>
                  <a:schemeClr val="bg1"/>
                </a:solidFill>
                <a:effectLst>
                  <a:outerShdw blurRad="38100" dist="38100" dir="2700000" algn="tl">
                    <a:srgbClr val="000000">
                      <a:alpha val="43137"/>
                    </a:srgbClr>
                  </a:outerShdw>
                </a:effectLst>
                <a:latin typeface="Arial" panose="020B0604020202020204" pitchFamily="34" charset="0"/>
              </a:endParaRPr>
            </a:p>
          </p:txBody>
        </p:sp>
        <p:sp>
          <p:nvSpPr>
            <p:cNvPr id="61453" name="Text Box 14"/>
            <p:cNvSpPr txBox="1">
              <a:spLocks noChangeArrowheads="1"/>
            </p:cNvSpPr>
            <p:nvPr/>
          </p:nvSpPr>
          <p:spPr bwMode="auto">
            <a:xfrm>
              <a:off x="1155700" y="5505450"/>
              <a:ext cx="1655763" cy="366713"/>
            </a:xfrm>
            <a:prstGeom prst="rect">
              <a:avLst/>
            </a:prstGeom>
            <a:noFill/>
            <a:ln w="9525">
              <a:noFill/>
              <a:miter lim="800000"/>
            </a:ln>
          </p:spPr>
          <p:txBody>
            <a:bodyPr>
              <a:spAutoFit/>
            </a:bodyPr>
            <a:p>
              <a:pPr eaLnBrk="0" hangingPunct="0">
                <a:spcBef>
                  <a:spcPct val="50000"/>
                </a:spcBef>
              </a:pPr>
              <a:r>
                <a:rPr lang="zh-CN" altLang="en-US" b="1">
                  <a:solidFill>
                    <a:schemeClr val="bg1"/>
                  </a:solidFill>
                  <a:effectLst>
                    <a:outerShdw blurRad="38100" dist="38100" dir="2700000" algn="tl">
                      <a:srgbClr val="000000">
                        <a:alpha val="43137"/>
                      </a:srgbClr>
                    </a:outerShdw>
                  </a:effectLst>
                  <a:latin typeface="Arial" panose="020B0604020202020204" pitchFamily="34" charset="0"/>
                </a:rPr>
                <a:t>辅助活动</a:t>
              </a:r>
              <a:endParaRPr lang="zh-CN" altLang="en-US" b="1">
                <a:solidFill>
                  <a:schemeClr val="bg1"/>
                </a:solidFill>
                <a:effectLst>
                  <a:outerShdw blurRad="38100" dist="38100" dir="2700000" algn="tl">
                    <a:srgbClr val="000000">
                      <a:alpha val="43137"/>
                    </a:srgbClr>
                  </a:outerShdw>
                </a:effectLst>
                <a:latin typeface="Arial" panose="020B0604020202020204" pitchFamily="34" charset="0"/>
              </a:endParaRPr>
            </a:p>
          </p:txBody>
        </p:sp>
        <p:sp>
          <p:nvSpPr>
            <p:cNvPr id="61454" name="Text Box 15"/>
            <p:cNvSpPr txBox="1">
              <a:spLocks noChangeArrowheads="1"/>
            </p:cNvSpPr>
            <p:nvPr/>
          </p:nvSpPr>
          <p:spPr bwMode="auto">
            <a:xfrm>
              <a:off x="1481138" y="3157538"/>
              <a:ext cx="1223962" cy="366712"/>
            </a:xfrm>
            <a:prstGeom prst="rect">
              <a:avLst/>
            </a:prstGeom>
            <a:noFill/>
            <a:ln w="9525">
              <a:noFill/>
              <a:miter lim="800000"/>
            </a:ln>
          </p:spPr>
          <p:txBody>
            <a:bodyPr>
              <a:spAutoFit/>
            </a:bodyPr>
            <a:p>
              <a:pPr eaLnBrk="0" hangingPunct="0">
                <a:spcBef>
                  <a:spcPct val="50000"/>
                </a:spcBef>
              </a:pPr>
              <a:r>
                <a:rPr lang="zh-CN" altLang="en-US" b="1">
                  <a:solidFill>
                    <a:schemeClr val="bg1"/>
                  </a:solidFill>
                  <a:effectLst>
                    <a:outerShdw blurRad="38100" dist="38100" dir="2700000" algn="tl">
                      <a:srgbClr val="000000">
                        <a:alpha val="43137"/>
                      </a:srgbClr>
                    </a:outerShdw>
                  </a:effectLst>
                  <a:latin typeface="Arial" panose="020B0604020202020204" pitchFamily="34" charset="0"/>
                </a:rPr>
                <a:t>框架活动</a:t>
              </a:r>
              <a:endParaRPr lang="zh-CN" altLang="en-US" b="1">
                <a:solidFill>
                  <a:schemeClr val="bg1"/>
                </a:solidFill>
                <a:effectLst>
                  <a:outerShdw blurRad="38100" dist="38100" dir="2700000" algn="tl">
                    <a:srgbClr val="000000">
                      <a:alpha val="43137"/>
                    </a:srgbClr>
                  </a:outerShdw>
                </a:effectLst>
                <a:latin typeface="Arial" panose="020B0604020202020204" pitchFamily="34" charset="0"/>
              </a:endParaRPr>
            </a:p>
          </p:txBody>
        </p:sp>
        <p:sp>
          <p:nvSpPr>
            <p:cNvPr id="61455" name="Text Box 16"/>
            <p:cNvSpPr txBox="1">
              <a:spLocks noChangeArrowheads="1"/>
            </p:cNvSpPr>
            <p:nvPr/>
          </p:nvSpPr>
          <p:spPr bwMode="auto">
            <a:xfrm>
              <a:off x="2090738" y="3614738"/>
              <a:ext cx="1152525" cy="366712"/>
            </a:xfrm>
            <a:prstGeom prst="rect">
              <a:avLst/>
            </a:prstGeom>
            <a:noFill/>
            <a:ln w="9525">
              <a:noFill/>
              <a:miter lim="800000"/>
            </a:ln>
          </p:spPr>
          <p:txBody>
            <a:bodyPr>
              <a:spAutoFit/>
            </a:bodyPr>
            <a:p>
              <a:pPr eaLnBrk="0" hangingPunct="0">
                <a:spcBef>
                  <a:spcPct val="50000"/>
                </a:spcBef>
              </a:pPr>
              <a:r>
                <a:rPr lang="zh-CN" altLang="en-US" b="1">
                  <a:solidFill>
                    <a:schemeClr val="bg1"/>
                  </a:solidFill>
                  <a:effectLst>
                    <a:outerShdw blurRad="38100" dist="38100" dir="2700000" algn="tl">
                      <a:srgbClr val="000000">
                        <a:alpha val="43137"/>
                      </a:srgbClr>
                    </a:outerShdw>
                  </a:effectLst>
                  <a:latin typeface="Arial" panose="020B0604020202020204" pitchFamily="34" charset="0"/>
                </a:rPr>
                <a:t>任务集合</a:t>
              </a:r>
              <a:endParaRPr lang="zh-CN" altLang="en-US" b="1">
                <a:solidFill>
                  <a:schemeClr val="bg1"/>
                </a:solidFill>
                <a:effectLst>
                  <a:outerShdw blurRad="38100" dist="38100" dir="2700000" algn="tl">
                    <a:srgbClr val="000000">
                      <a:alpha val="43137"/>
                    </a:srgbClr>
                  </a:outerShdw>
                </a:effectLst>
                <a:latin typeface="Arial" panose="020B0604020202020204" pitchFamily="34" charset="0"/>
              </a:endParaRPr>
            </a:p>
          </p:txBody>
        </p:sp>
      </p:grpSp>
      <p:sp>
        <p:nvSpPr>
          <p:cNvPr id="61451" name="Text Box 12"/>
          <p:cNvSpPr txBox="1">
            <a:spLocks noChangeArrowheads="1"/>
          </p:cNvSpPr>
          <p:nvPr/>
        </p:nvSpPr>
        <p:spPr bwMode="auto">
          <a:xfrm>
            <a:off x="6213475" y="1071245"/>
            <a:ext cx="2387600" cy="3487420"/>
          </a:xfrm>
          <a:prstGeom prst="rect">
            <a:avLst/>
          </a:prstGeom>
          <a:noFill/>
          <a:extLst>
            <a:ext uri="{909E8E84-426E-40DD-AFC4-6F175D3DCCD1}">
              <a14:hiddenFill xmlns:a14="http://schemas.microsoft.com/office/drawing/2010/main">
                <a:solidFill>
                  <a:schemeClr val="accent1"/>
                </a:solidFill>
              </a14:hiddenFill>
            </a:ext>
          </a:extLst>
        </p:spPr>
        <p:style>
          <a:lnRef idx="3">
            <a:schemeClr val="lt1"/>
          </a:lnRef>
          <a:fillRef idx="1">
            <a:schemeClr val="accent1"/>
          </a:fillRef>
          <a:effectRef idx="1">
            <a:schemeClr val="accent1"/>
          </a:effectRef>
          <a:fontRef idx="minor">
            <a:schemeClr val="lt1"/>
          </a:fontRef>
        </p:style>
        <p:txBody>
          <a:bodyPr>
            <a:noAutofit/>
          </a:bodyPr>
          <a:p>
            <a:pPr>
              <a:lnSpc>
                <a:spcPct val="130000"/>
              </a:lnSpc>
            </a:pPr>
            <a:r>
              <a:rPr kumimoji="1" lang="en-US" altLang="zh-CN" sz="2400" b="1" dirty="0">
                <a:solidFill>
                  <a:schemeClr val="tx1"/>
                </a:solidFill>
                <a:effectLst>
                  <a:outerShdw blurRad="38100" dist="38100" dir="2700000" algn="tl">
                    <a:srgbClr val="000000">
                      <a:alpha val="43137"/>
                    </a:srgbClr>
                  </a:outerShdw>
                </a:effectLst>
              </a:rPr>
              <a:t>A process defines </a:t>
            </a:r>
            <a:r>
              <a:rPr kumimoji="1" lang="en-US" altLang="zh-CN" sz="2400" b="1" dirty="0">
                <a:solidFill>
                  <a:srgbClr val="FFC000"/>
                </a:solidFill>
                <a:effectLst>
                  <a:outerShdw blurRad="38100" dist="38100" dir="2700000" algn="tl">
                    <a:srgbClr val="000000">
                      <a:alpha val="43137"/>
                    </a:srgbClr>
                  </a:outerShdw>
                </a:effectLst>
              </a:rPr>
              <a:t>Who</a:t>
            </a:r>
            <a:r>
              <a:rPr kumimoji="1" lang="en-US" altLang="zh-CN" sz="2400" b="1" dirty="0">
                <a:solidFill>
                  <a:schemeClr val="tx1"/>
                </a:solidFill>
                <a:effectLst>
                  <a:outerShdw blurRad="38100" dist="38100" dir="2700000" algn="tl">
                    <a:srgbClr val="000000">
                      <a:alpha val="43137"/>
                    </a:srgbClr>
                  </a:outerShdw>
                </a:effectLst>
              </a:rPr>
              <a:t> is doing </a:t>
            </a:r>
            <a:r>
              <a:rPr kumimoji="1" lang="en-US" altLang="zh-CN" sz="2400" b="1" dirty="0">
                <a:solidFill>
                  <a:srgbClr val="FFC000"/>
                </a:solidFill>
                <a:effectLst>
                  <a:outerShdw blurRad="38100" dist="38100" dir="2700000" algn="tl">
                    <a:srgbClr val="000000">
                      <a:alpha val="43137"/>
                    </a:srgbClr>
                  </a:outerShdw>
                </a:effectLst>
              </a:rPr>
              <a:t>What</a:t>
            </a:r>
            <a:r>
              <a:rPr kumimoji="1" lang="en-US" altLang="zh-CN" sz="2400" b="1" dirty="0">
                <a:solidFill>
                  <a:schemeClr val="tx1"/>
                </a:solidFill>
                <a:effectLst>
                  <a:outerShdw blurRad="38100" dist="38100" dir="2700000" algn="tl">
                    <a:srgbClr val="000000">
                      <a:alpha val="43137"/>
                    </a:srgbClr>
                  </a:outerShdw>
                </a:effectLst>
              </a:rPr>
              <a:t>, </a:t>
            </a:r>
            <a:r>
              <a:rPr kumimoji="1" lang="en-US" altLang="zh-CN" sz="2400" b="1" dirty="0">
                <a:solidFill>
                  <a:srgbClr val="FFC000"/>
                </a:solidFill>
                <a:effectLst>
                  <a:outerShdw blurRad="38100" dist="38100" dir="2700000" algn="tl">
                    <a:srgbClr val="000000">
                      <a:alpha val="43137"/>
                    </a:srgbClr>
                  </a:outerShdw>
                </a:effectLst>
              </a:rPr>
              <a:t>When</a:t>
            </a:r>
            <a:r>
              <a:rPr kumimoji="1" lang="en-US" altLang="zh-CN" sz="2400" b="1" dirty="0">
                <a:solidFill>
                  <a:schemeClr val="tx1"/>
                </a:solidFill>
                <a:effectLst>
                  <a:outerShdw blurRad="38100" dist="38100" dir="2700000" algn="tl">
                    <a:srgbClr val="000000">
                      <a:alpha val="43137"/>
                    </a:srgbClr>
                  </a:outerShdw>
                </a:effectLst>
              </a:rPr>
              <a:t>, and </a:t>
            </a:r>
            <a:r>
              <a:rPr kumimoji="1" lang="en-US" altLang="zh-CN" sz="2400" b="1" dirty="0">
                <a:solidFill>
                  <a:srgbClr val="FFC000"/>
                </a:solidFill>
                <a:effectLst>
                  <a:outerShdw blurRad="38100" dist="38100" dir="2700000" algn="tl">
                    <a:srgbClr val="000000">
                      <a:alpha val="43137"/>
                    </a:srgbClr>
                  </a:outerShdw>
                </a:effectLst>
              </a:rPr>
              <a:t>How</a:t>
            </a:r>
            <a:r>
              <a:rPr kumimoji="1" lang="en-US" altLang="zh-CN" sz="2400" b="1" dirty="0">
                <a:solidFill>
                  <a:schemeClr val="tx1"/>
                </a:solidFill>
                <a:effectLst>
                  <a:outerShdw blurRad="38100" dist="38100" dir="2700000" algn="tl">
                    <a:srgbClr val="000000">
                      <a:alpha val="43137"/>
                    </a:srgbClr>
                  </a:outerShdw>
                </a:effectLst>
              </a:rPr>
              <a:t>, in order to reach a certain goal.</a:t>
            </a:r>
            <a:endParaRPr kumimoji="1" lang="en-US" altLang="zh-CN" sz="2400" b="1" dirty="0">
              <a:solidFill>
                <a:schemeClr val="tx1"/>
              </a:solidFill>
              <a:effectLst>
                <a:outerShdw blurRad="38100" dist="38100" dir="2700000" algn="tl">
                  <a:srgbClr val="000000">
                    <a:alpha val="43137"/>
                  </a:srgbClr>
                </a:outerShdw>
              </a:effectLst>
            </a:endParaRPr>
          </a:p>
          <a:p>
            <a:pPr>
              <a:lnSpc>
                <a:spcPct val="130000"/>
              </a:lnSpc>
            </a:pPr>
            <a:endParaRPr kumimoji="1" lang="en-US" altLang="zh-CN" sz="2400" b="1" dirty="0">
              <a:solidFill>
                <a:schemeClr val="tx1"/>
              </a:solidFill>
              <a:effectLst>
                <a:outerShdw blurRad="38100" dist="38100" dir="2700000" algn="tl">
                  <a:srgbClr val="000000">
                    <a:alpha val="43137"/>
                  </a:srgbClr>
                </a:outerShdw>
              </a:effectLs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软件工程方法</a:t>
            </a:r>
            <a:endParaRPr lang="zh-CN" altLang="en-US" dirty="0"/>
          </a:p>
        </p:txBody>
      </p:sp>
      <p:sp>
        <p:nvSpPr>
          <p:cNvPr id="4" name="日期占位符 3"/>
          <p:cNvSpPr>
            <a:spLocks noGrp="1"/>
          </p:cNvSpPr>
          <p:nvPr>
            <p:ph type="dt" sz="half" idx="10"/>
          </p:nvPr>
        </p:nvSpPr>
        <p:spPr/>
        <p:txBody>
          <a:bodyPr/>
          <a:lstStyle/>
          <a:p>
            <a:fld id="{7C1A2572-0F04-485D-A717-6947F15E6CBF}"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283412" y="1446591"/>
            <a:ext cx="8366502" cy="3141214"/>
          </a:xfrm>
          <a:prstGeom prst="rect">
            <a:avLst/>
          </a:prstGeom>
        </p:spPr>
      </p:pic>
      <p:sp>
        <p:nvSpPr>
          <p:cNvPr id="3" name="矩形 2"/>
          <p:cNvSpPr/>
          <p:nvPr/>
        </p:nvSpPr>
        <p:spPr>
          <a:xfrm>
            <a:off x="719383" y="770970"/>
            <a:ext cx="8513804" cy="646331"/>
          </a:xfrm>
          <a:prstGeom prst="rect">
            <a:avLst/>
          </a:prstGeom>
        </p:spPr>
        <p:txBody>
          <a:bodyPr wrap="square">
            <a:spAutoFit/>
          </a:bodyPr>
          <a:lstStyle/>
          <a:p>
            <a:pPr>
              <a:lnSpc>
                <a:spcPct val="200000"/>
              </a:lnSpc>
            </a:pPr>
            <a:r>
              <a:rPr lang="zh-CN" altLang="zh-CN" b="1" dirty="0">
                <a:solidFill>
                  <a:schemeClr val="tx2"/>
                </a:solidFill>
                <a:latin typeface="+mj-ea"/>
                <a:ea typeface="+mj-ea"/>
              </a:rPr>
              <a:t>软件工程方法</a:t>
            </a:r>
            <a:r>
              <a:rPr lang="zh-CN" altLang="zh-CN" dirty="0">
                <a:latin typeface="+mj-ea"/>
                <a:ea typeface="+mj-ea"/>
              </a:rPr>
              <a:t>包含软件开发方法、软件度量方法、软件管理方法和软件环境方法</a:t>
            </a:r>
            <a:r>
              <a:rPr lang="zh-CN" altLang="en-US" dirty="0">
                <a:latin typeface="+mj-ea"/>
                <a:ea typeface="+mj-ea"/>
              </a:rPr>
              <a:t>。</a:t>
            </a:r>
            <a:endParaRPr lang="en-US" altLang="zh-CN"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软件工程工具</a:t>
            </a:r>
            <a:endParaRPr lang="zh-CN" altLang="en-US" dirty="0"/>
          </a:p>
        </p:txBody>
      </p:sp>
      <p:sp>
        <p:nvSpPr>
          <p:cNvPr id="4" name="日期占位符 3"/>
          <p:cNvSpPr>
            <a:spLocks noGrp="1"/>
          </p:cNvSpPr>
          <p:nvPr>
            <p:ph type="dt" sz="half" idx="10"/>
          </p:nvPr>
        </p:nvSpPr>
        <p:spPr/>
        <p:txBody>
          <a:bodyPr/>
          <a:lstStyle/>
          <a:p>
            <a:fld id="{6D0B110B-F28A-4056-9F1D-F764E8C41B3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592732" y="1013030"/>
            <a:ext cx="8358195" cy="33335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CASE</a:t>
            </a:r>
            <a:r>
              <a:rPr lang="zh-CN" altLang="en-US"/>
              <a:t>工具和环境</a:t>
            </a:r>
            <a:endParaRPr lang="zh-CN" altLang="en-US"/>
          </a:p>
        </p:txBody>
      </p:sp>
      <p:sp>
        <p:nvSpPr>
          <p:cNvPr id="3" name="内容占位符 2"/>
          <p:cNvSpPr>
            <a:spLocks noGrp="1"/>
          </p:cNvSpPr>
          <p:nvPr>
            <p:ph idx="1"/>
          </p:nvPr>
        </p:nvSpPr>
        <p:spPr/>
        <p:txBody>
          <a:bodyPr/>
          <a:p>
            <a:r>
              <a:rPr lang="zh-CN" altLang="en-US"/>
              <a:t>当前流行的敏捷方法和</a:t>
            </a:r>
            <a:r>
              <a:rPr lang="en-US" altLang="zh-CN"/>
              <a:t>DevOps</a:t>
            </a:r>
            <a:r>
              <a:rPr lang="zh-CN" altLang="en-US"/>
              <a:t>方法，高度依赖</a:t>
            </a:r>
            <a:r>
              <a:rPr lang="en-US" altLang="zh-CN"/>
              <a:t>CASE</a:t>
            </a:r>
            <a:r>
              <a:rPr lang="zh-CN" altLang="en-US"/>
              <a:t>工具和环境，以支持软件开发和运行的自动化，实现敏捷开发、持续集成（</a:t>
            </a:r>
            <a:r>
              <a:rPr lang="en-US" altLang="zh-CN"/>
              <a:t>CI</a:t>
            </a:r>
            <a:r>
              <a:rPr lang="zh-CN" altLang="en-US"/>
              <a:t>）、持续交付（</a:t>
            </a:r>
            <a:r>
              <a:rPr lang="en-US" altLang="zh-CN"/>
              <a:t>CD)</a:t>
            </a:r>
            <a:r>
              <a:rPr lang="zh-CN" altLang="en-US"/>
              <a:t>、持续部署（</a:t>
            </a:r>
            <a:r>
              <a:rPr lang="en-US" altLang="zh-CN"/>
              <a:t>CD</a:t>
            </a:r>
            <a:r>
              <a:rPr lang="zh-CN" altLang="en-US"/>
              <a:t>）。</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软件开发的基本策略</a:t>
            </a:r>
            <a:endParaRPr lang="zh-CN" altLang="en-US" dirty="0"/>
          </a:p>
        </p:txBody>
      </p:sp>
      <p:sp>
        <p:nvSpPr>
          <p:cNvPr id="4" name="日期占位符 3"/>
          <p:cNvSpPr>
            <a:spLocks noGrp="1"/>
          </p:cNvSpPr>
          <p:nvPr>
            <p:ph type="dt" sz="half" idx="10"/>
          </p:nvPr>
        </p:nvSpPr>
        <p:spPr/>
        <p:txBody>
          <a:bodyPr/>
          <a:lstStyle/>
          <a:p>
            <a:fld id="{01426BB1-85CD-43EB-84F5-72D68208153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内容占位符 6"/>
          <p:cNvSpPr>
            <a:spLocks noGrp="1"/>
          </p:cNvSpPr>
          <p:nvPr>
            <p:ph idx="1"/>
          </p:nvPr>
        </p:nvSpPr>
        <p:spPr/>
        <p:txBody>
          <a:bodyPr/>
          <a:lstStyle/>
          <a:p>
            <a:endParaRPr lang="zh-CN" altLang="en-US"/>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984" y="823677"/>
            <a:ext cx="9047101" cy="370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软件开发的基本</a:t>
            </a:r>
            <a:r>
              <a:rPr lang="zh-CN" altLang="en-US" dirty="0" smtClean="0"/>
              <a:t>策略：软件复用</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8791" y="798528"/>
            <a:ext cx="8510093" cy="3797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软件开发的基本</a:t>
            </a:r>
            <a:r>
              <a:rPr lang="zh-CN" altLang="en-US" dirty="0" smtClean="0"/>
              <a:t>策略：分而治之</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3093" y="777665"/>
            <a:ext cx="8761176" cy="38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软件开发的基本</a:t>
            </a:r>
            <a:r>
              <a:rPr lang="zh-CN" altLang="en-US" dirty="0" smtClean="0"/>
              <a:t>策略：逐步演进</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7043" y="806636"/>
            <a:ext cx="8331841" cy="3686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软件开发的基本</a:t>
            </a:r>
            <a:r>
              <a:rPr lang="zh-CN" altLang="en-US" dirty="0" smtClean="0"/>
              <a:t>策略：优化折中</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17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2585" y="805452"/>
            <a:ext cx="8312092" cy="3652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软件开发的基本策略：优化折中</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4401" y="854070"/>
            <a:ext cx="7677225" cy="3752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a:t>
            </a:r>
            <a:r>
              <a:rPr lang="zh-CN" altLang="en-US" dirty="0"/>
              <a:t>软件质量实现</a:t>
            </a:r>
            <a:endParaRPr lang="zh-CN" altLang="en-US" dirty="0"/>
          </a:p>
        </p:txBody>
      </p:sp>
      <p:sp>
        <p:nvSpPr>
          <p:cNvPr id="3" name="内容占位符 2"/>
          <p:cNvSpPr>
            <a:spLocks noGrp="1"/>
          </p:cNvSpPr>
          <p:nvPr>
            <p:ph idx="1"/>
          </p:nvPr>
        </p:nvSpPr>
        <p:spPr/>
        <p:txBody>
          <a:bodyPr/>
          <a:lstStyle/>
          <a:p>
            <a:r>
              <a:rPr lang="zh-CN" altLang="en-US" dirty="0"/>
              <a:t>什么是好的软件？</a:t>
            </a:r>
            <a:endParaRPr lang="en-US" altLang="zh-CN" dirty="0"/>
          </a:p>
          <a:p>
            <a:endParaRPr lang="zh-CN" altLang="en-US" dirty="0"/>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65225" y="1473835"/>
            <a:ext cx="6153150" cy="3119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什么是好的软件</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2337" y="801094"/>
            <a:ext cx="8858949" cy="382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什么是好的软件</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612" y="818926"/>
            <a:ext cx="8803029" cy="3795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 name="textbox 712"/>
          <p:cNvSpPr/>
          <p:nvPr/>
        </p:nvSpPr>
        <p:spPr>
          <a:xfrm>
            <a:off x="359664" y="1454677"/>
            <a:ext cx="7625238" cy="2433161"/>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247015" algn="l" rtl="0" eaLnBrk="0">
              <a:lnSpc>
                <a:spcPct val="92000"/>
              </a:lnSpc>
              <a:tabLst>
                <a:tab pos="4803140" algn="l"/>
              </a:tabLst>
            </a:pPr>
            <a:r>
              <a:rPr sz="1725" b="1" u="sng" kern="0" spc="-4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一个</a:t>
            </a:r>
            <a:r>
              <a:rPr sz="1725" b="1" u="sng" kern="0" spc="-5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b="1" u="sng" kern="0" spc="-4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“好</a:t>
            </a:r>
            <a:r>
              <a:rPr sz="1725" b="1" u="sng" kern="0" spc="-4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b="1" u="sng" kern="0" spc="-4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”软件要满足两个条件：</a:t>
            </a:r>
            <a:r>
              <a:rPr sz="1725" b="1" u="sng" kern="0" spc="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90000"/>
              </a:lnSpc>
            </a:pPr>
            <a:endParaRPr sz="750" dirty="0">
              <a:latin typeface="Arial" panose="020B0604020202020204"/>
              <a:ea typeface="Arial" panose="020B0604020202020204"/>
              <a:cs typeface="Arial" panose="020B0604020202020204"/>
            </a:endParaRPr>
          </a:p>
          <a:p>
            <a:pPr marL="687705" algn="l" rtl="0" eaLnBrk="0">
              <a:lnSpc>
                <a:spcPct val="88000"/>
              </a:lnSpc>
              <a:spcBef>
                <a:spcPts val="700"/>
              </a:spcBef>
              <a:tabLst>
                <a:tab pos="875030" algn="l"/>
              </a:tabLst>
            </a:pPr>
            <a:r>
              <a:rPr sz="172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正确的软件</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16000"/>
              </a:lnSpc>
            </a:pPr>
            <a:endParaRPr sz="750" dirty="0">
              <a:latin typeface="Arial" panose="020B0604020202020204"/>
              <a:ea typeface="Arial" panose="020B0604020202020204"/>
              <a:cs typeface="Arial" panose="020B0604020202020204"/>
            </a:endParaRPr>
          </a:p>
          <a:p>
            <a:pPr marL="572135" indent="-5080" algn="l" rtl="0" eaLnBrk="0">
              <a:lnSpc>
                <a:spcPct val="141000"/>
              </a:lnSpc>
              <a:spcBef>
                <a:spcPts val="600"/>
              </a:spcBef>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一个软件要能够满足用户的需求</a:t>
            </a:r>
            <a:r>
              <a:rPr sz="1500" kern="0" spc="-2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4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为用户创造价值。</a:t>
            </a:r>
            <a:r>
              <a:rPr sz="1500" kern="0" spc="-4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这里的价值可以体现在两个方面，</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即为用户创造利润和减少成本。</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13000"/>
              </a:lnSpc>
            </a:pPr>
            <a:endParaRPr sz="750" dirty="0">
              <a:latin typeface="Arial" panose="020B0604020202020204"/>
              <a:ea typeface="Arial" panose="020B0604020202020204"/>
              <a:cs typeface="Arial" panose="020B0604020202020204"/>
            </a:endParaRPr>
          </a:p>
          <a:p>
            <a:pPr algn="l" rtl="0" eaLnBrk="0">
              <a:lnSpc>
                <a:spcPct val="113000"/>
              </a:lnSpc>
            </a:pPr>
            <a:endParaRPr sz="750" dirty="0">
              <a:latin typeface="Arial" panose="020B0604020202020204"/>
              <a:ea typeface="Arial" panose="020B0604020202020204"/>
              <a:cs typeface="Arial" panose="020B0604020202020204"/>
            </a:endParaRPr>
          </a:p>
          <a:p>
            <a:pPr algn="l" rtl="0" eaLnBrk="0">
              <a:lnSpc>
                <a:spcPct val="113000"/>
              </a:lnSpc>
            </a:pPr>
            <a:endParaRPr sz="750" dirty="0">
              <a:latin typeface="Arial" panose="020B0604020202020204"/>
              <a:ea typeface="Arial" panose="020B0604020202020204"/>
              <a:cs typeface="Arial" panose="020B0604020202020204"/>
            </a:endParaRPr>
          </a:p>
          <a:p>
            <a:pPr algn="l" rtl="0" eaLnBrk="0">
              <a:lnSpc>
                <a:spcPct val="116000"/>
              </a:lnSpc>
            </a:pPr>
            <a:endParaRPr sz="375" dirty="0">
              <a:latin typeface="Arial" panose="020B0604020202020204"/>
              <a:ea typeface="Arial" panose="020B0604020202020204"/>
              <a:cs typeface="Arial" panose="020B0604020202020204"/>
            </a:endParaRPr>
          </a:p>
          <a:p>
            <a:pPr marL="743585" algn="l" rtl="0" eaLnBrk="0">
              <a:lnSpc>
                <a:spcPct val="89000"/>
              </a:lnSpc>
              <a:tabLst>
                <a:tab pos="949960" algn="l"/>
              </a:tabLst>
            </a:pPr>
            <a:r>
              <a:rPr sz="172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软件运行正确</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14" name="path 714"/>
          <p:cNvSpPr/>
          <p:nvPr/>
        </p:nvSpPr>
        <p:spPr>
          <a:xfrm>
            <a:off x="411480" y="3643883"/>
            <a:ext cx="506348" cy="208025"/>
          </a:xfrm>
          <a:custGeom>
            <a:avLst/>
            <a:gdLst/>
            <a:ahLst/>
            <a:cxnLst/>
            <a:rect l="0" t="0" r="0" b="0"/>
            <a:pathLst>
              <a:path w="1063" h="436">
                <a:moveTo>
                  <a:pt x="0" y="107"/>
                </a:moveTo>
                <a:lnTo>
                  <a:pt x="842" y="107"/>
                </a:lnTo>
                <a:lnTo>
                  <a:pt x="842" y="0"/>
                </a:lnTo>
                <a:lnTo>
                  <a:pt x="1063" y="218"/>
                </a:lnTo>
                <a:lnTo>
                  <a:pt x="842" y="436"/>
                </a:lnTo>
                <a:lnTo>
                  <a:pt x="842" y="326"/>
                </a:lnTo>
                <a:lnTo>
                  <a:pt x="0" y="326"/>
                </a:lnTo>
                <a:lnTo>
                  <a:pt x="0" y="107"/>
                </a:lnTo>
              </a:path>
            </a:pathLst>
          </a:custGeom>
          <a:solidFill>
            <a:srgbClr val="0070C0">
              <a:alpha val="100000"/>
            </a:srgbClr>
          </a:solidFill>
          <a:ln w="0" cap="flat">
            <a:noFill/>
            <a:prstDash val="solid"/>
            <a:miter lim="0"/>
          </a:ln>
        </p:spPr>
        <p:txBody>
          <a:bodyPr rtlCol="0"/>
          <a:lstStyle/>
          <a:p>
            <a:pPr algn="ctr"/>
            <a:endParaRPr lang="zh-CN" altLang="en-US" sz="1350"/>
          </a:p>
        </p:txBody>
      </p:sp>
      <p:sp>
        <p:nvSpPr>
          <p:cNvPr id="716" name="path 716"/>
          <p:cNvSpPr/>
          <p:nvPr/>
        </p:nvSpPr>
        <p:spPr>
          <a:xfrm>
            <a:off x="369189" y="1983105"/>
            <a:ext cx="506348" cy="208025"/>
          </a:xfrm>
          <a:custGeom>
            <a:avLst/>
            <a:gdLst/>
            <a:ahLst/>
            <a:cxnLst/>
            <a:rect l="0" t="0" r="0" b="0"/>
            <a:pathLst>
              <a:path w="1063" h="436">
                <a:moveTo>
                  <a:pt x="0" y="107"/>
                </a:moveTo>
                <a:lnTo>
                  <a:pt x="844" y="107"/>
                </a:lnTo>
                <a:lnTo>
                  <a:pt x="844" y="0"/>
                </a:lnTo>
                <a:lnTo>
                  <a:pt x="1063" y="218"/>
                </a:lnTo>
                <a:lnTo>
                  <a:pt x="844" y="436"/>
                </a:lnTo>
                <a:lnTo>
                  <a:pt x="844" y="326"/>
                </a:lnTo>
                <a:lnTo>
                  <a:pt x="0" y="326"/>
                </a:lnTo>
                <a:lnTo>
                  <a:pt x="0" y="107"/>
                </a:lnTo>
              </a:path>
            </a:pathLst>
          </a:custGeom>
          <a:solidFill>
            <a:srgbClr val="0070C0">
              <a:alpha val="100000"/>
            </a:srgbClr>
          </a:solidFill>
          <a:ln w="0" cap="flat">
            <a:noFill/>
            <a:prstDash val="solid"/>
            <a:miter lim="0"/>
          </a:ln>
        </p:spPr>
        <p:txBody>
          <a:bodyPr rtlCol="0"/>
          <a:lstStyle/>
          <a:p>
            <a:pPr algn="ctr"/>
            <a:endParaRPr lang="zh-CN" altLang="en-US" sz="1350"/>
          </a:p>
        </p:txBody>
      </p:sp>
      <p:grpSp>
        <p:nvGrpSpPr>
          <p:cNvPr id="64" name="group 64"/>
          <p:cNvGrpSpPr/>
          <p:nvPr/>
        </p:nvGrpSpPr>
        <p:grpSpPr>
          <a:xfrm rot="21600000">
            <a:off x="427814" y="3908616"/>
            <a:ext cx="8329268" cy="1139893"/>
            <a:chOff x="0" y="0"/>
            <a:chExt cx="11105691" cy="1519857"/>
          </a:xfrm>
        </p:grpSpPr>
        <p:pic>
          <p:nvPicPr>
            <p:cNvPr id="718" name="picture 718"/>
            <p:cNvPicPr>
              <a:picLocks noChangeAspect="1"/>
            </p:cNvPicPr>
            <p:nvPr/>
          </p:nvPicPr>
          <p:blipFill>
            <a:blip r:embed="rId1"/>
            <a:stretch>
              <a:fillRect/>
            </a:stretch>
          </p:blipFill>
          <p:spPr>
            <a:xfrm rot="21600000">
              <a:off x="0" y="0"/>
              <a:ext cx="11105691" cy="1519857"/>
            </a:xfrm>
            <a:prstGeom prst="rect">
              <a:avLst/>
            </a:prstGeom>
          </p:spPr>
        </p:pic>
        <p:sp>
          <p:nvSpPr>
            <p:cNvPr id="720" name="textbox 720"/>
            <p:cNvSpPr/>
            <p:nvPr/>
          </p:nvSpPr>
          <p:spPr>
            <a:xfrm>
              <a:off x="-12700" y="-12700"/>
              <a:ext cx="11131550" cy="1570989"/>
            </a:xfrm>
            <a:prstGeom prst="rect">
              <a:avLst/>
            </a:prstGeom>
            <a:noFill/>
            <a:ln w="0" cap="flat">
              <a:noFill/>
              <a:prstDash val="solid"/>
              <a:miter lim="0"/>
            </a:ln>
          </p:spPr>
          <p:txBody>
            <a:bodyPr vert="horz" wrap="square" lIns="0" tIns="0" rIns="0" bIns="0"/>
            <a:lstStyle/>
            <a:p>
              <a:pPr algn="l" rtl="0" eaLnBrk="0">
                <a:lnSpc>
                  <a:spcPct val="112000"/>
                </a:lnSpc>
              </a:pPr>
              <a:endParaRPr sz="750" dirty="0">
                <a:latin typeface="Arial" panose="020B0604020202020204"/>
                <a:ea typeface="Arial" panose="020B0604020202020204"/>
                <a:cs typeface="Arial" panose="020B0604020202020204"/>
              </a:endParaRPr>
            </a:p>
            <a:p>
              <a:pPr algn="l" rtl="0" eaLnBrk="0">
                <a:lnSpc>
                  <a:spcPct val="112000"/>
                </a:lnSpc>
              </a:pPr>
              <a:endParaRPr sz="750" dirty="0">
                <a:latin typeface="Arial" panose="020B0604020202020204"/>
                <a:ea typeface="Arial" panose="020B0604020202020204"/>
                <a:cs typeface="Arial" panose="020B0604020202020204"/>
              </a:endParaRPr>
            </a:p>
            <a:p>
              <a:pPr algn="l" rtl="0" eaLnBrk="0">
                <a:lnSpc>
                  <a:spcPct val="112000"/>
                </a:lnSpc>
              </a:pPr>
              <a:endParaRPr sz="75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481330" algn="l" rtl="0" eaLnBrk="0">
                <a:lnSpc>
                  <a:spcPct val="87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软件没有或者有很少缺陷</a:t>
              </a:r>
              <a:r>
                <a:rPr sz="1500"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，具有很强的扩展性、</a:t>
              </a:r>
              <a:r>
                <a:rPr sz="1500" kern="0" spc="-2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良好的性能以</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及较高的易用性等。</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724" name="textbox 724"/>
          <p:cNvSpPr/>
          <p:nvPr/>
        </p:nvSpPr>
        <p:spPr>
          <a:xfrm>
            <a:off x="457200" y="732662"/>
            <a:ext cx="7123271" cy="487204"/>
          </a:xfrm>
          <a:prstGeom prst="rect">
            <a:avLst/>
          </a:prstGeom>
          <a:solidFill>
            <a:srgbClr val="0070C0">
              <a:alpha val="100000"/>
            </a:srgbClr>
          </a:solidFill>
          <a:ln w="0" cap="flat">
            <a:noFill/>
            <a:prstDash val="solid"/>
            <a:miter lim="0"/>
          </a:ln>
        </p:spPr>
        <p:txBody>
          <a:bodyPr vert="horz" wrap="square" lIns="0" tIns="0" rIns="0" bIns="0"/>
          <a:lstStyle/>
          <a:p>
            <a:pPr algn="l" rtl="0" eaLnBrk="0">
              <a:lnSpc>
                <a:spcPct val="112000"/>
              </a:lnSpc>
            </a:pPr>
            <a:endParaRPr sz="75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34315" algn="l" rtl="0" eaLnBrk="0">
              <a:lnSpc>
                <a:spcPct val="91000"/>
              </a:lnSpc>
            </a:pPr>
            <a:r>
              <a:rPr sz="1725"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质量就是软件产品对</a:t>
            </a:r>
            <a:r>
              <a:rPr sz="172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于某个(或某些)人的价值。</a:t>
            </a:r>
            <a:r>
              <a:rPr sz="1725" kern="0" spc="-4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72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—杰拉尔德·温伯格</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标题 1"/>
          <p:cNvSpPr>
            <a:spLocks noGrp="1"/>
          </p:cNvSpPr>
          <p:nvPr>
            <p:ph type="title"/>
          </p:nvPr>
        </p:nvSpPr>
        <p:spPr/>
        <p:txBody>
          <a:bodyPr/>
          <a:p>
            <a:r>
              <a:rPr lang="en-US" altLang="zh-CN" dirty="0"/>
              <a:t>1.</a:t>
            </a:r>
            <a:r>
              <a:rPr lang="zh-CN" altLang="en-US" dirty="0"/>
              <a:t>什么是好的软件</a:t>
            </a:r>
            <a:endParaRPr lang="zh-CN" altLang="en-US" dirty="0"/>
          </a:p>
        </p:txBody>
      </p:sp>
      <p:pic>
        <p:nvPicPr>
          <p:cNvPr id="3" name="图片 2"/>
          <p:cNvPicPr>
            <a:picLocks noChangeAspect="1"/>
          </p:cNvPicPr>
          <p:nvPr/>
        </p:nvPicPr>
        <p:blipFill>
          <a:blip r:embed="rId2"/>
          <a:stretch>
            <a:fillRect/>
          </a:stretch>
        </p:blipFill>
        <p:spPr>
          <a:xfrm>
            <a:off x="7693660" y="828675"/>
            <a:ext cx="1257300" cy="1685925"/>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什么是好的软件</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2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779" y="899048"/>
            <a:ext cx="8956221" cy="3508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什么是好的软件</a:t>
            </a:r>
            <a:endParaRPr lang="zh-CN" altLang="en-US" dirty="0"/>
          </a:p>
        </p:txBody>
      </p:sp>
      <p:sp>
        <p:nvSpPr>
          <p:cNvPr id="4" name="日期占位符 3"/>
          <p:cNvSpPr>
            <a:spLocks noGrp="1"/>
          </p:cNvSpPr>
          <p:nvPr>
            <p:ph type="dt" sz="half" idx="10"/>
          </p:nvPr>
        </p:nvSpPr>
        <p:spPr/>
        <p:txBody>
          <a:bodyPr/>
          <a:lstStyle/>
          <a:p>
            <a:fld id="{C21161C4-6202-4734-8F08-BA4174D8772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768096" y="1257252"/>
            <a:ext cx="7797661" cy="270895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产品质量维度</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7877" y="841466"/>
            <a:ext cx="7600951" cy="3717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产品质量维度</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3791" y="1029700"/>
            <a:ext cx="7212347" cy="3282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a:t>
            </a:r>
            <a:r>
              <a:rPr lang="zh-CN" altLang="en-US" dirty="0" smtClean="0"/>
              <a:t>软件质量度量：</a:t>
            </a:r>
            <a:r>
              <a:rPr lang="en-US" altLang="zh-CN" dirty="0" smtClean="0"/>
              <a:t>ISO9126</a:t>
            </a:r>
            <a:r>
              <a:rPr lang="zh-CN" altLang="en-US" dirty="0" smtClean="0"/>
              <a:t>质量模型</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53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6234" y="813822"/>
            <a:ext cx="7877686" cy="3912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2" name="picture 732"/>
          <p:cNvPicPr>
            <a:picLocks noChangeAspect="1"/>
          </p:cNvPicPr>
          <p:nvPr/>
        </p:nvPicPr>
        <p:blipFill>
          <a:blip r:embed="rId1"/>
          <a:stretch>
            <a:fillRect/>
          </a:stretch>
        </p:blipFill>
        <p:spPr>
          <a:xfrm rot="21600000">
            <a:off x="65484" y="1256585"/>
            <a:ext cx="8898255" cy="1230154"/>
          </a:xfrm>
          <a:prstGeom prst="rect">
            <a:avLst/>
          </a:prstGeom>
        </p:spPr>
      </p:pic>
      <p:sp>
        <p:nvSpPr>
          <p:cNvPr id="736" name="textbox 736"/>
          <p:cNvSpPr/>
          <p:nvPr/>
        </p:nvSpPr>
        <p:spPr>
          <a:xfrm>
            <a:off x="692771" y="1405497"/>
            <a:ext cx="7822882" cy="570071"/>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904875" algn="l" rtl="0" eaLnBrk="0">
              <a:lnSpc>
                <a:spcPct val="85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使用质量模型</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4000"/>
              </a:lnSpc>
            </a:pPr>
            <a:endParaRPr sz="975" dirty="0">
              <a:latin typeface="Arial" panose="020B0604020202020204"/>
              <a:ea typeface="Arial" panose="020B0604020202020204"/>
              <a:cs typeface="Arial" panose="020B0604020202020204"/>
            </a:endParaRPr>
          </a:p>
          <a:p>
            <a:pPr marL="12700" algn="l" rtl="0" eaLnBrk="0">
              <a:lnSpc>
                <a:spcPct val="88000"/>
              </a:lnSpc>
              <a:spcBef>
                <a:spcPts val="0"/>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使用质量描述了产品（系统或软件产品）对利益相关方造成的影响。</a:t>
            </a:r>
            <a:r>
              <a:rPr sz="1500" kern="0" spc="-3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它是由软件、</a:t>
            </a:r>
            <a:r>
              <a:rPr sz="1500" kern="0" spc="-4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硬件和运行</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38" name="textbox 738"/>
          <p:cNvSpPr/>
          <p:nvPr/>
        </p:nvSpPr>
        <p:spPr>
          <a:xfrm>
            <a:off x="3930419" y="2838913"/>
            <a:ext cx="1725453" cy="76723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3335" algn="l" rtl="0" eaLnBrk="0">
              <a:lnSpc>
                <a:spcPct val="77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软件产品在面对潜在</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20320" indent="-7620" algn="l" rtl="0" eaLnBrk="0">
              <a:lnSpc>
                <a:spcPct val="124000"/>
              </a:lnSpc>
              <a:spcBef>
                <a:spcPts val="45"/>
              </a:spcBef>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风险时的稳健性和恢</a:t>
            </a:r>
            <a:r>
              <a:rPr sz="15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复能力。</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40" name="textbox 740"/>
          <p:cNvSpPr/>
          <p:nvPr/>
        </p:nvSpPr>
        <p:spPr>
          <a:xfrm>
            <a:off x="695063" y="2098344"/>
            <a:ext cx="7410450" cy="21907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algn="r" rtl="0" eaLnBrk="0">
              <a:lnSpc>
                <a:spcPct val="87000"/>
              </a:lnSpc>
            </a:pP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环境的质量</a:t>
            </a:r>
            <a:r>
              <a:rPr sz="1500" kern="0" spc="-2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3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以及用户、</a:t>
            </a:r>
            <a:r>
              <a:rPr sz="1500" kern="0" spc="-4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任务和社会环</a:t>
            </a:r>
            <a:r>
              <a:rPr sz="15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境的特性所决定的。</a:t>
            </a:r>
            <a:r>
              <a:rPr sz="1500" kern="0" spc="-4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使用质量分为以下五个特性：</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44" name="rect 744"/>
          <p:cNvSpPr/>
          <p:nvPr/>
        </p:nvSpPr>
        <p:spPr>
          <a:xfrm>
            <a:off x="0" y="3862196"/>
            <a:ext cx="2009393" cy="324612"/>
          </a:xfrm>
          <a:prstGeom prst="rect">
            <a:avLst/>
          </a:prstGeom>
          <a:solidFill>
            <a:srgbClr val="A491BB">
              <a:alpha val="100000"/>
            </a:srgbClr>
          </a:solidFill>
          <a:ln w="0" cap="flat">
            <a:noFill/>
            <a:prstDash val="solid"/>
            <a:miter lim="0"/>
          </a:ln>
        </p:spPr>
        <p:txBody>
          <a:bodyPr rtlCol="0"/>
          <a:lstStyle/>
          <a:p>
            <a:pPr algn="ctr"/>
            <a:endParaRPr lang="zh-CN" altLang="en-US" sz="1350"/>
          </a:p>
        </p:txBody>
      </p:sp>
      <p:sp>
        <p:nvSpPr>
          <p:cNvPr id="746" name="rect 746"/>
          <p:cNvSpPr/>
          <p:nvPr/>
        </p:nvSpPr>
        <p:spPr>
          <a:xfrm>
            <a:off x="1922135" y="3862863"/>
            <a:ext cx="2001783" cy="325088"/>
          </a:xfrm>
          <a:prstGeom prst="rect">
            <a:avLst/>
          </a:prstGeom>
          <a:solidFill>
            <a:srgbClr val="77A9D3">
              <a:alpha val="100000"/>
            </a:srgbClr>
          </a:solidFill>
          <a:ln w="0" cap="flat">
            <a:noFill/>
            <a:prstDash val="solid"/>
            <a:miter lim="0"/>
          </a:ln>
        </p:spPr>
        <p:txBody>
          <a:bodyPr rtlCol="0"/>
          <a:lstStyle/>
          <a:p>
            <a:pPr algn="ctr"/>
            <a:endParaRPr lang="zh-CN" altLang="en-US" sz="1350"/>
          </a:p>
        </p:txBody>
      </p:sp>
      <p:sp>
        <p:nvSpPr>
          <p:cNvPr id="748" name="rect 748"/>
          <p:cNvSpPr/>
          <p:nvPr/>
        </p:nvSpPr>
        <p:spPr>
          <a:xfrm>
            <a:off x="3806885" y="3862196"/>
            <a:ext cx="2002984" cy="324612"/>
          </a:xfrm>
          <a:prstGeom prst="rect">
            <a:avLst/>
          </a:prstGeom>
          <a:solidFill>
            <a:srgbClr val="A491BB">
              <a:alpha val="100000"/>
            </a:srgbClr>
          </a:solidFill>
          <a:ln w="0" cap="flat">
            <a:noFill/>
            <a:prstDash val="solid"/>
            <a:miter lim="0"/>
          </a:ln>
        </p:spPr>
        <p:txBody>
          <a:bodyPr rtlCol="0"/>
          <a:lstStyle/>
          <a:p>
            <a:pPr algn="ctr"/>
            <a:endParaRPr lang="zh-CN" altLang="en-US" sz="1350"/>
          </a:p>
        </p:txBody>
      </p:sp>
      <p:sp>
        <p:nvSpPr>
          <p:cNvPr id="750" name="rect 750"/>
          <p:cNvSpPr/>
          <p:nvPr/>
        </p:nvSpPr>
        <p:spPr>
          <a:xfrm>
            <a:off x="5687567" y="3862863"/>
            <a:ext cx="2966085" cy="325088"/>
          </a:xfrm>
          <a:prstGeom prst="rect">
            <a:avLst/>
          </a:prstGeom>
          <a:solidFill>
            <a:srgbClr val="77A9D3">
              <a:alpha val="100000"/>
            </a:srgbClr>
          </a:solidFill>
          <a:ln w="0" cap="flat">
            <a:noFill/>
            <a:prstDash val="solid"/>
            <a:miter lim="0"/>
          </a:ln>
        </p:spPr>
        <p:txBody>
          <a:bodyPr rtlCol="0"/>
          <a:lstStyle/>
          <a:p>
            <a:pPr algn="ctr"/>
            <a:endParaRPr lang="zh-CN" altLang="en-US" sz="1350"/>
          </a:p>
        </p:txBody>
      </p:sp>
      <p:sp>
        <p:nvSpPr>
          <p:cNvPr id="752" name="rect 752"/>
          <p:cNvSpPr/>
          <p:nvPr/>
        </p:nvSpPr>
        <p:spPr>
          <a:xfrm>
            <a:off x="7432928" y="3864483"/>
            <a:ext cx="1711071" cy="324611"/>
          </a:xfrm>
          <a:prstGeom prst="rect">
            <a:avLst/>
          </a:prstGeom>
          <a:solidFill>
            <a:srgbClr val="A491BB">
              <a:alpha val="100000"/>
            </a:srgbClr>
          </a:solidFill>
          <a:ln w="0" cap="flat">
            <a:noFill/>
            <a:prstDash val="solid"/>
            <a:miter lim="0"/>
          </a:ln>
        </p:spPr>
        <p:txBody>
          <a:bodyPr rtlCol="0"/>
          <a:lstStyle/>
          <a:p>
            <a:pPr algn="ctr"/>
            <a:endParaRPr lang="zh-CN" altLang="en-US" sz="1350"/>
          </a:p>
        </p:txBody>
      </p:sp>
      <p:sp>
        <p:nvSpPr>
          <p:cNvPr id="754" name="textbox 754"/>
          <p:cNvSpPr/>
          <p:nvPr/>
        </p:nvSpPr>
        <p:spPr>
          <a:xfrm>
            <a:off x="-9525" y="3916287"/>
            <a:ext cx="9163050" cy="210026"/>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3000"/>
              </a:lnSpc>
              <a:tabLst>
                <a:tab pos="1063625" algn="l"/>
              </a:tabLst>
            </a:pPr>
            <a:r>
              <a:rPr sz="1500"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b="1"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效率</a:t>
            </a:r>
            <a:r>
              <a:rPr sz="1500" b="1"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有效性                        </a:t>
            </a:r>
            <a:r>
              <a:rPr sz="1275" b="1"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抗风险                          </a:t>
            </a:r>
            <a:r>
              <a:rPr sz="150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满意度            </a:t>
            </a:r>
            <a:r>
              <a:rPr sz="150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周境覆盖         </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56" name="textbox 756"/>
          <p:cNvSpPr/>
          <p:nvPr/>
        </p:nvSpPr>
        <p:spPr>
          <a:xfrm>
            <a:off x="578262" y="787031"/>
            <a:ext cx="7268051" cy="255746"/>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ct val="90000"/>
              </a:lnSpc>
            </a:pPr>
            <a:r>
              <a:rPr sz="1725" b="1" kern="0" spc="-2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ISO/IEC 25010:2011质量模型</a:t>
            </a:r>
            <a:r>
              <a:rPr sz="1725"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主要定义了使用质量模型</a:t>
            </a:r>
            <a:r>
              <a:rPr sz="1725"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和产品质量模型。</a:t>
            </a:r>
            <a:endParaRPr sz="17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58" name="textbox 758"/>
          <p:cNvSpPr/>
          <p:nvPr/>
        </p:nvSpPr>
        <p:spPr>
          <a:xfrm>
            <a:off x="1252752" y="4448162"/>
            <a:ext cx="3248501" cy="472916"/>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marL="12700" algn="l" rtl="0" eaLnBrk="0">
              <a:lnSpc>
                <a:spcPct val="79000"/>
              </a:lnSpc>
            </a:pP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软件产品在指定条件下使用时</a:t>
            </a:r>
            <a:r>
              <a:rPr sz="1500" kern="0" spc="-2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，提供满</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13335" algn="l" rtl="0" eaLnBrk="0">
              <a:lnSpc>
                <a:spcPts val="2865"/>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足显性需求和隐形需求的功能的程度。</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60" name="textbox 760"/>
          <p:cNvSpPr/>
          <p:nvPr/>
        </p:nvSpPr>
        <p:spPr>
          <a:xfrm>
            <a:off x="190040" y="2802906"/>
            <a:ext cx="1727359" cy="767239"/>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marL="16510" algn="l" rtl="0" eaLnBrk="0">
              <a:lnSpc>
                <a:spcPct val="78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软件产品在完成指定</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635" algn="l" rtl="0" eaLnBrk="0">
              <a:lnSpc>
                <a:spcPct val="124000"/>
              </a:lnSpc>
              <a:spcBef>
                <a:spcPts val="35"/>
              </a:spcBef>
            </a:pP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任务时</a:t>
            </a:r>
            <a:r>
              <a:rPr sz="1500" kern="0" spc="-2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，对资源的有</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效利用程度。</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62" name="textbox 762"/>
          <p:cNvSpPr/>
          <p:nvPr/>
        </p:nvSpPr>
        <p:spPr>
          <a:xfrm>
            <a:off x="7415615" y="2803670"/>
            <a:ext cx="1494948" cy="766286"/>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3335" algn="l" rtl="0" eaLnBrk="0">
              <a:lnSpc>
                <a:spcPct val="77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软件产品在不同</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635" algn="l" rtl="0" eaLnBrk="0">
              <a:lnSpc>
                <a:spcPct val="127000"/>
              </a:lnSpc>
              <a:spcBef>
                <a:spcPts val="45"/>
              </a:spcBef>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环境和条件下的</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25"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适应性和兼容性。</a:t>
            </a:r>
            <a:endParaRPr sz="14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64" name="textbox 764"/>
          <p:cNvSpPr/>
          <p:nvPr/>
        </p:nvSpPr>
        <p:spPr>
          <a:xfrm>
            <a:off x="5755597" y="4410062"/>
            <a:ext cx="1535429" cy="447199"/>
          </a:xfrm>
          <a:prstGeom prst="rect">
            <a:avLst/>
          </a:prstGeom>
          <a:noFill/>
          <a:ln w="0" cap="flat">
            <a:noFill/>
            <a:prstDash val="solid"/>
            <a:miter lim="0"/>
          </a:ln>
        </p:spPr>
        <p:txBody>
          <a:bodyPr vert="horz" wrap="square" lIns="0" tIns="0" rIns="0" bIns="0"/>
          <a:lstStyle/>
          <a:p>
            <a:pPr algn="l" rtl="0" eaLnBrk="0">
              <a:lnSpc>
                <a:spcPct val="67000"/>
              </a:lnSpc>
            </a:pPr>
            <a:endParaRPr sz="100" dirty="0">
              <a:latin typeface="Arial" panose="020B0604020202020204"/>
              <a:ea typeface="Arial" panose="020B0604020202020204"/>
              <a:cs typeface="Arial" panose="020B0604020202020204"/>
            </a:endParaRPr>
          </a:p>
          <a:p>
            <a:pPr marL="15875" indent="-3810" algn="l" rtl="0" eaLnBrk="0">
              <a:lnSpc>
                <a:spcPct val="94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用户对软件产品的</a:t>
            </a:r>
            <a:r>
              <a:rPr sz="15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主观满意程度。</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68" name="path 768"/>
          <p:cNvSpPr/>
          <p:nvPr/>
        </p:nvSpPr>
        <p:spPr>
          <a:xfrm>
            <a:off x="941832" y="3807333"/>
            <a:ext cx="7460360" cy="73151"/>
          </a:xfrm>
          <a:custGeom>
            <a:avLst/>
            <a:gdLst/>
            <a:ahLst/>
            <a:cxnLst/>
            <a:rect l="0" t="0" r="0" b="0"/>
            <a:pathLst>
              <a:path w="15664" h="153">
                <a:moveTo>
                  <a:pt x="0" y="148"/>
                </a:moveTo>
                <a:lnTo>
                  <a:pt x="141" y="0"/>
                </a:lnTo>
                <a:lnTo>
                  <a:pt x="280" y="148"/>
                </a:lnTo>
                <a:lnTo>
                  <a:pt x="0" y="148"/>
                </a:lnTo>
              </a:path>
              <a:path w="15664" h="153">
                <a:moveTo>
                  <a:pt x="7977" y="148"/>
                </a:moveTo>
                <a:lnTo>
                  <a:pt x="8119" y="0"/>
                </a:lnTo>
                <a:lnTo>
                  <a:pt x="8260" y="148"/>
                </a:lnTo>
                <a:lnTo>
                  <a:pt x="7977" y="148"/>
                </a:lnTo>
              </a:path>
              <a:path w="15664" h="153">
                <a:moveTo>
                  <a:pt x="15408" y="153"/>
                </a:moveTo>
                <a:lnTo>
                  <a:pt x="15537" y="4"/>
                </a:lnTo>
                <a:lnTo>
                  <a:pt x="15664" y="153"/>
                </a:lnTo>
                <a:lnTo>
                  <a:pt x="15408" y="153"/>
                </a:lnTo>
              </a:path>
            </a:pathLst>
          </a:custGeom>
          <a:solidFill>
            <a:srgbClr val="A491BB">
              <a:alpha val="100000"/>
            </a:srgbClr>
          </a:solidFill>
          <a:ln w="0" cap="flat">
            <a:noFill/>
            <a:prstDash val="solid"/>
            <a:miter lim="0"/>
          </a:ln>
        </p:spPr>
        <p:txBody>
          <a:bodyPr rtlCol="0"/>
          <a:lstStyle/>
          <a:p>
            <a:pPr algn="ctr"/>
            <a:endParaRPr lang="zh-CN" altLang="en-US" sz="1350"/>
          </a:p>
        </p:txBody>
      </p:sp>
      <p:sp>
        <p:nvSpPr>
          <p:cNvPr id="770" name="path 770"/>
          <p:cNvSpPr/>
          <p:nvPr/>
        </p:nvSpPr>
        <p:spPr>
          <a:xfrm>
            <a:off x="2855214" y="4171950"/>
            <a:ext cx="3901058" cy="70866"/>
          </a:xfrm>
          <a:custGeom>
            <a:avLst/>
            <a:gdLst/>
            <a:ahLst/>
            <a:cxnLst/>
            <a:rect l="0" t="0" r="0" b="0"/>
            <a:pathLst>
              <a:path w="8191" h="148">
                <a:moveTo>
                  <a:pt x="283" y="0"/>
                </a:moveTo>
                <a:lnTo>
                  <a:pt x="141" y="148"/>
                </a:lnTo>
                <a:lnTo>
                  <a:pt x="0" y="0"/>
                </a:lnTo>
                <a:lnTo>
                  <a:pt x="283" y="0"/>
                </a:lnTo>
              </a:path>
              <a:path w="8191" h="148">
                <a:moveTo>
                  <a:pt x="8191" y="0"/>
                </a:moveTo>
                <a:lnTo>
                  <a:pt x="8049" y="148"/>
                </a:lnTo>
                <a:lnTo>
                  <a:pt x="7910" y="0"/>
                </a:lnTo>
                <a:lnTo>
                  <a:pt x="8191" y="0"/>
                </a:lnTo>
              </a:path>
            </a:pathLst>
          </a:custGeom>
          <a:solidFill>
            <a:srgbClr val="77A9D3">
              <a:alpha val="100000"/>
            </a:srgbClr>
          </a:solidFill>
          <a:ln w="0" cap="flat">
            <a:noFill/>
            <a:prstDash val="solid"/>
            <a:miter lim="0"/>
          </a:ln>
        </p:spPr>
        <p:txBody>
          <a:bodyPr rtlCol="0"/>
          <a:lstStyle/>
          <a:p>
            <a:pPr algn="ctr"/>
            <a:endParaRPr lang="zh-CN" altLang="en-US" sz="1350"/>
          </a:p>
        </p:txBody>
      </p:sp>
      <p:sp>
        <p:nvSpPr>
          <p:cNvPr id="2" name="标题 1"/>
          <p:cNvSpPr>
            <a:spLocks noGrp="1"/>
          </p:cNvSpPr>
          <p:nvPr>
            <p:ph type="title"/>
          </p:nvPr>
        </p:nvSpPr>
        <p:spPr/>
        <p:txBody>
          <a:bodyPr/>
          <a:p>
            <a:r>
              <a:rPr lang="en-US" altLang="zh-CN" dirty="0" smtClean="0"/>
              <a:t>2.</a:t>
            </a:r>
            <a:r>
              <a:rPr lang="zh-CN" altLang="en-US" dirty="0" smtClean="0"/>
              <a:t>软件质量度量</a:t>
            </a: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ISO9126</a:t>
            </a:r>
            <a:r>
              <a:rPr lang="zh-CN" altLang="en-US" dirty="0"/>
              <a:t>质量模型</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1499" y="961295"/>
            <a:ext cx="8147957" cy="3446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ISO9126</a:t>
            </a:r>
            <a:r>
              <a:rPr lang="zh-CN" altLang="en-US" dirty="0"/>
              <a:t>质量模型</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74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8021" y="1061968"/>
            <a:ext cx="8213107" cy="3192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ISO9126</a:t>
            </a:r>
            <a:r>
              <a:rPr lang="zh-CN" altLang="en-US" dirty="0"/>
              <a:t>质量模型</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84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0915" y="948390"/>
            <a:ext cx="8678674" cy="3487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软件质量的实现</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94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7039" y="1218339"/>
            <a:ext cx="7936947" cy="2910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实现软件质量</a:t>
            </a:r>
            <a:endParaRPr lang="zh-CN" altLang="en-US" dirty="0"/>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1094321" y="953076"/>
            <a:ext cx="7430720" cy="35503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实现软件质量</a:t>
            </a:r>
            <a:endParaRPr lang="zh-CN" altLang="en-US" dirty="0"/>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993775" y="1160920"/>
            <a:ext cx="7624445" cy="3360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 name="path 852"/>
          <p:cNvSpPr/>
          <p:nvPr/>
        </p:nvSpPr>
        <p:spPr>
          <a:xfrm>
            <a:off x="2192020" y="1929765"/>
            <a:ext cx="4668520" cy="2139950"/>
          </a:xfrm>
          <a:custGeom>
            <a:avLst/>
            <a:gdLst/>
            <a:ahLst/>
            <a:cxnLst/>
            <a:rect l="0" t="0" r="0" b="0"/>
            <a:pathLst>
              <a:path w="10965" h="4927">
                <a:moveTo>
                  <a:pt x="1210" y="2599"/>
                </a:moveTo>
                <a:cubicBezTo>
                  <a:pt x="805" y="2599"/>
                  <a:pt x="478" y="2912"/>
                  <a:pt x="478" y="3298"/>
                </a:cubicBezTo>
                <a:cubicBezTo>
                  <a:pt x="478" y="3685"/>
                  <a:pt x="805" y="3998"/>
                  <a:pt x="1210" y="3998"/>
                </a:cubicBezTo>
                <a:cubicBezTo>
                  <a:pt x="1614" y="3998"/>
                  <a:pt x="1941" y="3685"/>
                  <a:pt x="1941" y="3298"/>
                </a:cubicBezTo>
                <a:cubicBezTo>
                  <a:pt x="1941" y="2912"/>
                  <a:pt x="1614" y="2599"/>
                  <a:pt x="1210" y="2599"/>
                </a:cubicBezTo>
                <a:moveTo>
                  <a:pt x="950" y="2167"/>
                </a:moveTo>
                <a:lnTo>
                  <a:pt x="955" y="2167"/>
                </a:lnTo>
                <a:lnTo>
                  <a:pt x="961" y="2168"/>
                </a:lnTo>
                <a:lnTo>
                  <a:pt x="967" y="2169"/>
                </a:lnTo>
                <a:lnTo>
                  <a:pt x="972" y="2171"/>
                </a:lnTo>
                <a:lnTo>
                  <a:pt x="977" y="2173"/>
                </a:lnTo>
                <a:lnTo>
                  <a:pt x="982" y="2176"/>
                </a:lnTo>
                <a:lnTo>
                  <a:pt x="987" y="2179"/>
                </a:lnTo>
                <a:lnTo>
                  <a:pt x="991" y="2182"/>
                </a:lnTo>
                <a:lnTo>
                  <a:pt x="995" y="2186"/>
                </a:lnTo>
                <a:lnTo>
                  <a:pt x="999" y="2191"/>
                </a:lnTo>
                <a:lnTo>
                  <a:pt x="1002" y="2195"/>
                </a:lnTo>
                <a:lnTo>
                  <a:pt x="1005" y="2201"/>
                </a:lnTo>
                <a:lnTo>
                  <a:pt x="1007" y="2206"/>
                </a:lnTo>
                <a:lnTo>
                  <a:pt x="1068" y="2388"/>
                </a:lnTo>
                <a:lnTo>
                  <a:pt x="1086" y="2385"/>
                </a:lnTo>
                <a:lnTo>
                  <a:pt x="1103" y="2384"/>
                </a:lnTo>
                <a:lnTo>
                  <a:pt x="1121" y="2382"/>
                </a:lnTo>
                <a:lnTo>
                  <a:pt x="1138" y="2380"/>
                </a:lnTo>
                <a:lnTo>
                  <a:pt x="1156" y="2379"/>
                </a:lnTo>
                <a:lnTo>
                  <a:pt x="1174" y="2378"/>
                </a:lnTo>
                <a:lnTo>
                  <a:pt x="1192" y="2378"/>
                </a:lnTo>
                <a:lnTo>
                  <a:pt x="1210" y="2378"/>
                </a:lnTo>
                <a:lnTo>
                  <a:pt x="1227" y="2378"/>
                </a:lnTo>
                <a:lnTo>
                  <a:pt x="1245" y="2378"/>
                </a:lnTo>
                <a:lnTo>
                  <a:pt x="1263" y="2379"/>
                </a:lnTo>
                <a:lnTo>
                  <a:pt x="1281" y="2380"/>
                </a:lnTo>
                <a:lnTo>
                  <a:pt x="1298" y="2382"/>
                </a:lnTo>
                <a:lnTo>
                  <a:pt x="1315" y="2384"/>
                </a:lnTo>
                <a:lnTo>
                  <a:pt x="1333" y="2385"/>
                </a:lnTo>
                <a:lnTo>
                  <a:pt x="1350" y="2388"/>
                </a:lnTo>
                <a:lnTo>
                  <a:pt x="1412" y="2206"/>
                </a:lnTo>
                <a:lnTo>
                  <a:pt x="1414" y="2200"/>
                </a:lnTo>
                <a:lnTo>
                  <a:pt x="1417" y="2195"/>
                </a:lnTo>
                <a:lnTo>
                  <a:pt x="1421" y="2191"/>
                </a:lnTo>
                <a:lnTo>
                  <a:pt x="1424" y="2186"/>
                </a:lnTo>
                <a:lnTo>
                  <a:pt x="1428" y="2182"/>
                </a:lnTo>
                <a:lnTo>
                  <a:pt x="1432" y="2179"/>
                </a:lnTo>
                <a:lnTo>
                  <a:pt x="1437" y="2175"/>
                </a:lnTo>
                <a:lnTo>
                  <a:pt x="1442" y="2173"/>
                </a:lnTo>
                <a:lnTo>
                  <a:pt x="1447" y="2171"/>
                </a:lnTo>
                <a:lnTo>
                  <a:pt x="1453" y="2169"/>
                </a:lnTo>
                <a:lnTo>
                  <a:pt x="1458" y="2168"/>
                </a:lnTo>
                <a:lnTo>
                  <a:pt x="1464" y="2167"/>
                </a:lnTo>
                <a:lnTo>
                  <a:pt x="1470" y="2167"/>
                </a:lnTo>
                <a:lnTo>
                  <a:pt x="1476" y="2167"/>
                </a:lnTo>
                <a:lnTo>
                  <a:pt x="1481" y="2168"/>
                </a:lnTo>
                <a:lnTo>
                  <a:pt x="1488" y="2169"/>
                </a:lnTo>
                <a:lnTo>
                  <a:pt x="1679" y="2229"/>
                </a:lnTo>
                <a:lnTo>
                  <a:pt x="1685" y="2231"/>
                </a:lnTo>
                <a:lnTo>
                  <a:pt x="1690" y="2234"/>
                </a:lnTo>
                <a:lnTo>
                  <a:pt x="1696" y="2237"/>
                </a:lnTo>
                <a:lnTo>
                  <a:pt x="1700" y="2240"/>
                </a:lnTo>
                <a:lnTo>
                  <a:pt x="1705" y="2244"/>
                </a:lnTo>
                <a:lnTo>
                  <a:pt x="1708" y="2248"/>
                </a:lnTo>
                <a:lnTo>
                  <a:pt x="1711" y="2253"/>
                </a:lnTo>
                <a:lnTo>
                  <a:pt x="1714" y="2257"/>
                </a:lnTo>
                <a:lnTo>
                  <a:pt x="1716" y="2262"/>
                </a:lnTo>
                <a:lnTo>
                  <a:pt x="1719" y="2267"/>
                </a:lnTo>
                <a:lnTo>
                  <a:pt x="1720" y="2273"/>
                </a:lnTo>
                <a:lnTo>
                  <a:pt x="1721" y="2278"/>
                </a:lnTo>
                <a:lnTo>
                  <a:pt x="1721" y="2284"/>
                </a:lnTo>
                <a:lnTo>
                  <a:pt x="1720" y="2290"/>
                </a:lnTo>
                <a:lnTo>
                  <a:pt x="1719" y="2295"/>
                </a:lnTo>
                <a:lnTo>
                  <a:pt x="1718" y="2301"/>
                </a:lnTo>
                <a:lnTo>
                  <a:pt x="1656" y="2483"/>
                </a:lnTo>
                <a:lnTo>
                  <a:pt x="1671" y="2491"/>
                </a:lnTo>
                <a:lnTo>
                  <a:pt x="1687" y="2499"/>
                </a:lnTo>
                <a:lnTo>
                  <a:pt x="1702" y="2508"/>
                </a:lnTo>
                <a:lnTo>
                  <a:pt x="1718" y="2516"/>
                </a:lnTo>
                <a:lnTo>
                  <a:pt x="1733" y="2525"/>
                </a:lnTo>
                <a:lnTo>
                  <a:pt x="1747" y="2535"/>
                </a:lnTo>
                <a:lnTo>
                  <a:pt x="1762" y="2544"/>
                </a:lnTo>
                <a:lnTo>
                  <a:pt x="1776" y="2554"/>
                </a:lnTo>
                <a:lnTo>
                  <a:pt x="1790" y="2564"/>
                </a:lnTo>
                <a:lnTo>
                  <a:pt x="1804" y="2574"/>
                </a:lnTo>
                <a:lnTo>
                  <a:pt x="1818" y="2585"/>
                </a:lnTo>
                <a:lnTo>
                  <a:pt x="1832" y="2596"/>
                </a:lnTo>
                <a:lnTo>
                  <a:pt x="1845" y="2606"/>
                </a:lnTo>
                <a:lnTo>
                  <a:pt x="1858" y="2618"/>
                </a:lnTo>
                <a:lnTo>
                  <a:pt x="1871" y="2629"/>
                </a:lnTo>
                <a:lnTo>
                  <a:pt x="1884" y="2641"/>
                </a:lnTo>
                <a:lnTo>
                  <a:pt x="2046" y="2528"/>
                </a:lnTo>
                <a:lnTo>
                  <a:pt x="2051" y="2525"/>
                </a:lnTo>
                <a:lnTo>
                  <a:pt x="2056" y="2523"/>
                </a:lnTo>
                <a:lnTo>
                  <a:pt x="2062" y="2521"/>
                </a:lnTo>
                <a:lnTo>
                  <a:pt x="2067" y="2519"/>
                </a:lnTo>
                <a:lnTo>
                  <a:pt x="2073" y="2518"/>
                </a:lnTo>
                <a:lnTo>
                  <a:pt x="2079" y="2518"/>
                </a:lnTo>
                <a:lnTo>
                  <a:pt x="2085" y="2518"/>
                </a:lnTo>
                <a:lnTo>
                  <a:pt x="2090" y="2518"/>
                </a:lnTo>
                <a:lnTo>
                  <a:pt x="2096" y="2519"/>
                </a:lnTo>
                <a:lnTo>
                  <a:pt x="2101" y="2521"/>
                </a:lnTo>
                <a:lnTo>
                  <a:pt x="2106" y="2523"/>
                </a:lnTo>
                <a:lnTo>
                  <a:pt x="2112" y="2526"/>
                </a:lnTo>
                <a:lnTo>
                  <a:pt x="2117" y="2529"/>
                </a:lnTo>
                <a:lnTo>
                  <a:pt x="2121" y="2533"/>
                </a:lnTo>
                <a:lnTo>
                  <a:pt x="2125" y="2537"/>
                </a:lnTo>
                <a:lnTo>
                  <a:pt x="2129" y="2541"/>
                </a:lnTo>
                <a:lnTo>
                  <a:pt x="2248" y="2697"/>
                </a:lnTo>
                <a:lnTo>
                  <a:pt x="2251" y="2702"/>
                </a:lnTo>
                <a:lnTo>
                  <a:pt x="2254" y="2707"/>
                </a:lnTo>
                <a:lnTo>
                  <a:pt x="2256" y="2712"/>
                </a:lnTo>
                <a:lnTo>
                  <a:pt x="2258" y="2717"/>
                </a:lnTo>
                <a:lnTo>
                  <a:pt x="2259" y="2723"/>
                </a:lnTo>
                <a:lnTo>
                  <a:pt x="2259" y="2728"/>
                </a:lnTo>
                <a:lnTo>
                  <a:pt x="2259" y="2734"/>
                </a:lnTo>
                <a:lnTo>
                  <a:pt x="2258" y="2739"/>
                </a:lnTo>
                <a:lnTo>
                  <a:pt x="2257" y="2745"/>
                </a:lnTo>
                <a:lnTo>
                  <a:pt x="2256" y="2750"/>
                </a:lnTo>
                <a:lnTo>
                  <a:pt x="2254" y="2755"/>
                </a:lnTo>
                <a:lnTo>
                  <a:pt x="2251" y="2760"/>
                </a:lnTo>
                <a:lnTo>
                  <a:pt x="2247" y="2765"/>
                </a:lnTo>
                <a:lnTo>
                  <a:pt x="2244" y="2769"/>
                </a:lnTo>
                <a:lnTo>
                  <a:pt x="2240" y="2773"/>
                </a:lnTo>
                <a:lnTo>
                  <a:pt x="2235" y="2776"/>
                </a:lnTo>
                <a:lnTo>
                  <a:pt x="2073" y="2889"/>
                </a:lnTo>
                <a:lnTo>
                  <a:pt x="2080" y="2904"/>
                </a:lnTo>
                <a:lnTo>
                  <a:pt x="2088" y="2919"/>
                </a:lnTo>
                <a:lnTo>
                  <a:pt x="2095" y="2934"/>
                </a:lnTo>
                <a:lnTo>
                  <a:pt x="2101" y="2950"/>
                </a:lnTo>
                <a:lnTo>
                  <a:pt x="2108" y="2965"/>
                </a:lnTo>
                <a:lnTo>
                  <a:pt x="2114" y="2981"/>
                </a:lnTo>
                <a:lnTo>
                  <a:pt x="2120" y="2997"/>
                </a:lnTo>
                <a:lnTo>
                  <a:pt x="2126" y="3013"/>
                </a:lnTo>
                <a:lnTo>
                  <a:pt x="2131" y="3029"/>
                </a:lnTo>
                <a:lnTo>
                  <a:pt x="2136" y="3045"/>
                </a:lnTo>
                <a:lnTo>
                  <a:pt x="2141" y="3061"/>
                </a:lnTo>
                <a:lnTo>
                  <a:pt x="2145" y="3078"/>
                </a:lnTo>
                <a:lnTo>
                  <a:pt x="2150" y="3095"/>
                </a:lnTo>
                <a:lnTo>
                  <a:pt x="2153" y="3111"/>
                </a:lnTo>
                <a:lnTo>
                  <a:pt x="2157" y="3128"/>
                </a:lnTo>
                <a:lnTo>
                  <a:pt x="2160" y="3145"/>
                </a:lnTo>
                <a:lnTo>
                  <a:pt x="2360" y="3145"/>
                </a:lnTo>
                <a:lnTo>
                  <a:pt x="2366" y="3145"/>
                </a:lnTo>
                <a:lnTo>
                  <a:pt x="2372" y="3146"/>
                </a:lnTo>
                <a:lnTo>
                  <a:pt x="2378" y="3147"/>
                </a:lnTo>
                <a:lnTo>
                  <a:pt x="2383" y="3150"/>
                </a:lnTo>
                <a:lnTo>
                  <a:pt x="2388" y="3152"/>
                </a:lnTo>
                <a:lnTo>
                  <a:pt x="2393" y="3155"/>
                </a:lnTo>
                <a:lnTo>
                  <a:pt x="2398" y="3158"/>
                </a:lnTo>
                <a:lnTo>
                  <a:pt x="2402" y="3162"/>
                </a:lnTo>
                <a:lnTo>
                  <a:pt x="2406" y="3166"/>
                </a:lnTo>
                <a:lnTo>
                  <a:pt x="2409" y="3170"/>
                </a:lnTo>
                <a:lnTo>
                  <a:pt x="2412" y="3175"/>
                </a:lnTo>
                <a:lnTo>
                  <a:pt x="2415" y="3179"/>
                </a:lnTo>
                <a:lnTo>
                  <a:pt x="2417" y="3185"/>
                </a:lnTo>
                <a:lnTo>
                  <a:pt x="2418" y="3190"/>
                </a:lnTo>
                <a:lnTo>
                  <a:pt x="2419" y="3196"/>
                </a:lnTo>
                <a:lnTo>
                  <a:pt x="2420" y="3201"/>
                </a:lnTo>
                <a:lnTo>
                  <a:pt x="2420" y="3395"/>
                </a:lnTo>
                <a:lnTo>
                  <a:pt x="2419" y="3400"/>
                </a:lnTo>
                <a:lnTo>
                  <a:pt x="2419" y="3406"/>
                </a:lnTo>
                <a:lnTo>
                  <a:pt x="2417" y="3412"/>
                </a:lnTo>
                <a:lnTo>
                  <a:pt x="2415" y="3417"/>
                </a:lnTo>
                <a:lnTo>
                  <a:pt x="2412" y="3422"/>
                </a:lnTo>
                <a:lnTo>
                  <a:pt x="2409" y="3427"/>
                </a:lnTo>
                <a:lnTo>
                  <a:pt x="2406" y="3431"/>
                </a:lnTo>
                <a:lnTo>
                  <a:pt x="2402" y="3435"/>
                </a:lnTo>
                <a:lnTo>
                  <a:pt x="2398" y="3438"/>
                </a:lnTo>
                <a:lnTo>
                  <a:pt x="2393" y="3442"/>
                </a:lnTo>
                <a:lnTo>
                  <a:pt x="2388" y="3445"/>
                </a:lnTo>
                <a:lnTo>
                  <a:pt x="2383" y="3447"/>
                </a:lnTo>
                <a:lnTo>
                  <a:pt x="2378" y="3449"/>
                </a:lnTo>
                <a:lnTo>
                  <a:pt x="2372" y="3450"/>
                </a:lnTo>
                <a:lnTo>
                  <a:pt x="2366" y="3451"/>
                </a:lnTo>
                <a:lnTo>
                  <a:pt x="2360" y="3452"/>
                </a:lnTo>
                <a:lnTo>
                  <a:pt x="2160" y="3452"/>
                </a:lnTo>
                <a:lnTo>
                  <a:pt x="2157" y="3468"/>
                </a:lnTo>
                <a:lnTo>
                  <a:pt x="2153" y="3485"/>
                </a:lnTo>
                <a:lnTo>
                  <a:pt x="2150" y="3502"/>
                </a:lnTo>
                <a:lnTo>
                  <a:pt x="2145" y="3519"/>
                </a:lnTo>
                <a:lnTo>
                  <a:pt x="2141" y="3535"/>
                </a:lnTo>
                <a:lnTo>
                  <a:pt x="2136" y="3551"/>
                </a:lnTo>
                <a:lnTo>
                  <a:pt x="2131" y="3568"/>
                </a:lnTo>
                <a:lnTo>
                  <a:pt x="2126" y="3584"/>
                </a:lnTo>
                <a:lnTo>
                  <a:pt x="2120" y="3600"/>
                </a:lnTo>
                <a:lnTo>
                  <a:pt x="2114" y="3615"/>
                </a:lnTo>
                <a:lnTo>
                  <a:pt x="2108" y="3631"/>
                </a:lnTo>
                <a:lnTo>
                  <a:pt x="2101" y="3647"/>
                </a:lnTo>
                <a:lnTo>
                  <a:pt x="2095" y="3662"/>
                </a:lnTo>
                <a:lnTo>
                  <a:pt x="2088" y="3678"/>
                </a:lnTo>
                <a:lnTo>
                  <a:pt x="2080" y="3693"/>
                </a:lnTo>
                <a:lnTo>
                  <a:pt x="2073" y="3708"/>
                </a:lnTo>
                <a:lnTo>
                  <a:pt x="2235" y="3820"/>
                </a:lnTo>
                <a:lnTo>
                  <a:pt x="2240" y="3823"/>
                </a:lnTo>
                <a:lnTo>
                  <a:pt x="2244" y="3827"/>
                </a:lnTo>
                <a:lnTo>
                  <a:pt x="2247" y="3832"/>
                </a:lnTo>
                <a:lnTo>
                  <a:pt x="2251" y="3836"/>
                </a:lnTo>
                <a:lnTo>
                  <a:pt x="2254" y="3841"/>
                </a:lnTo>
                <a:lnTo>
                  <a:pt x="2256" y="3846"/>
                </a:lnTo>
                <a:lnTo>
                  <a:pt x="2257" y="3852"/>
                </a:lnTo>
                <a:lnTo>
                  <a:pt x="2258" y="3857"/>
                </a:lnTo>
                <a:lnTo>
                  <a:pt x="2259" y="3862"/>
                </a:lnTo>
                <a:lnTo>
                  <a:pt x="2259" y="3868"/>
                </a:lnTo>
                <a:lnTo>
                  <a:pt x="2259" y="3873"/>
                </a:lnTo>
                <a:lnTo>
                  <a:pt x="2258" y="3879"/>
                </a:lnTo>
                <a:lnTo>
                  <a:pt x="2256" y="3884"/>
                </a:lnTo>
                <a:lnTo>
                  <a:pt x="2254" y="3890"/>
                </a:lnTo>
                <a:lnTo>
                  <a:pt x="2251" y="3894"/>
                </a:lnTo>
                <a:lnTo>
                  <a:pt x="2248" y="3899"/>
                </a:lnTo>
                <a:lnTo>
                  <a:pt x="2129" y="4055"/>
                </a:lnTo>
                <a:lnTo>
                  <a:pt x="2125" y="4060"/>
                </a:lnTo>
                <a:lnTo>
                  <a:pt x="2121" y="4064"/>
                </a:lnTo>
                <a:lnTo>
                  <a:pt x="2117" y="4068"/>
                </a:lnTo>
                <a:lnTo>
                  <a:pt x="2112" y="4070"/>
                </a:lnTo>
                <a:lnTo>
                  <a:pt x="2106" y="4073"/>
                </a:lnTo>
                <a:lnTo>
                  <a:pt x="2101" y="4076"/>
                </a:lnTo>
                <a:lnTo>
                  <a:pt x="2096" y="4077"/>
                </a:lnTo>
                <a:lnTo>
                  <a:pt x="2090" y="4078"/>
                </a:lnTo>
                <a:lnTo>
                  <a:pt x="2085" y="4079"/>
                </a:lnTo>
                <a:lnTo>
                  <a:pt x="2079" y="4079"/>
                </a:lnTo>
                <a:lnTo>
                  <a:pt x="2073" y="4078"/>
                </a:lnTo>
                <a:lnTo>
                  <a:pt x="2067" y="4077"/>
                </a:lnTo>
                <a:lnTo>
                  <a:pt x="2062" y="4076"/>
                </a:lnTo>
                <a:lnTo>
                  <a:pt x="2056" y="4074"/>
                </a:lnTo>
                <a:lnTo>
                  <a:pt x="2051" y="4071"/>
                </a:lnTo>
                <a:lnTo>
                  <a:pt x="2046" y="4068"/>
                </a:lnTo>
                <a:lnTo>
                  <a:pt x="1884" y="3956"/>
                </a:lnTo>
                <a:lnTo>
                  <a:pt x="1871" y="3968"/>
                </a:lnTo>
                <a:lnTo>
                  <a:pt x="1858" y="3979"/>
                </a:lnTo>
                <a:lnTo>
                  <a:pt x="1845" y="3990"/>
                </a:lnTo>
                <a:lnTo>
                  <a:pt x="1832" y="4001"/>
                </a:lnTo>
                <a:lnTo>
                  <a:pt x="1818" y="4012"/>
                </a:lnTo>
                <a:lnTo>
                  <a:pt x="1804" y="4022"/>
                </a:lnTo>
                <a:lnTo>
                  <a:pt x="1790" y="4032"/>
                </a:lnTo>
                <a:lnTo>
                  <a:pt x="1776" y="4042"/>
                </a:lnTo>
                <a:lnTo>
                  <a:pt x="1762" y="4052"/>
                </a:lnTo>
                <a:lnTo>
                  <a:pt x="1747" y="4062"/>
                </a:lnTo>
                <a:lnTo>
                  <a:pt x="1733" y="4071"/>
                </a:lnTo>
                <a:lnTo>
                  <a:pt x="1718" y="4080"/>
                </a:lnTo>
                <a:lnTo>
                  <a:pt x="1702" y="4089"/>
                </a:lnTo>
                <a:lnTo>
                  <a:pt x="1687" y="4098"/>
                </a:lnTo>
                <a:lnTo>
                  <a:pt x="1671" y="4106"/>
                </a:lnTo>
                <a:lnTo>
                  <a:pt x="1656" y="4114"/>
                </a:lnTo>
                <a:lnTo>
                  <a:pt x="1718" y="4295"/>
                </a:lnTo>
                <a:lnTo>
                  <a:pt x="1719" y="4301"/>
                </a:lnTo>
                <a:lnTo>
                  <a:pt x="1720" y="4307"/>
                </a:lnTo>
                <a:lnTo>
                  <a:pt x="1721" y="4313"/>
                </a:lnTo>
                <a:lnTo>
                  <a:pt x="1721" y="4318"/>
                </a:lnTo>
                <a:lnTo>
                  <a:pt x="1720" y="4324"/>
                </a:lnTo>
                <a:lnTo>
                  <a:pt x="1719" y="4329"/>
                </a:lnTo>
                <a:lnTo>
                  <a:pt x="1716" y="4334"/>
                </a:lnTo>
                <a:lnTo>
                  <a:pt x="1714" y="4339"/>
                </a:lnTo>
                <a:lnTo>
                  <a:pt x="1711" y="4344"/>
                </a:lnTo>
                <a:lnTo>
                  <a:pt x="1708" y="4348"/>
                </a:lnTo>
                <a:lnTo>
                  <a:pt x="1705" y="4352"/>
                </a:lnTo>
                <a:lnTo>
                  <a:pt x="1700" y="4356"/>
                </a:lnTo>
                <a:lnTo>
                  <a:pt x="1696" y="4360"/>
                </a:lnTo>
                <a:lnTo>
                  <a:pt x="1691" y="4363"/>
                </a:lnTo>
                <a:lnTo>
                  <a:pt x="1685" y="4365"/>
                </a:lnTo>
                <a:lnTo>
                  <a:pt x="1680" y="4367"/>
                </a:lnTo>
                <a:lnTo>
                  <a:pt x="1488" y="4427"/>
                </a:lnTo>
                <a:lnTo>
                  <a:pt x="1481" y="4428"/>
                </a:lnTo>
                <a:lnTo>
                  <a:pt x="1476" y="4429"/>
                </a:lnTo>
                <a:lnTo>
                  <a:pt x="1470" y="4430"/>
                </a:lnTo>
                <a:lnTo>
                  <a:pt x="1464" y="4430"/>
                </a:lnTo>
                <a:lnTo>
                  <a:pt x="1458" y="4429"/>
                </a:lnTo>
                <a:lnTo>
                  <a:pt x="1453" y="4428"/>
                </a:lnTo>
                <a:lnTo>
                  <a:pt x="1447" y="4426"/>
                </a:lnTo>
                <a:lnTo>
                  <a:pt x="1442" y="4423"/>
                </a:lnTo>
                <a:lnTo>
                  <a:pt x="1437" y="4421"/>
                </a:lnTo>
                <a:lnTo>
                  <a:pt x="1432" y="4418"/>
                </a:lnTo>
                <a:lnTo>
                  <a:pt x="1428" y="4414"/>
                </a:lnTo>
                <a:lnTo>
                  <a:pt x="1424" y="4410"/>
                </a:lnTo>
                <a:lnTo>
                  <a:pt x="1421" y="4406"/>
                </a:lnTo>
                <a:lnTo>
                  <a:pt x="1417" y="4401"/>
                </a:lnTo>
                <a:lnTo>
                  <a:pt x="1414" y="4396"/>
                </a:lnTo>
                <a:lnTo>
                  <a:pt x="1412" y="4390"/>
                </a:lnTo>
                <a:lnTo>
                  <a:pt x="1350" y="4208"/>
                </a:lnTo>
                <a:lnTo>
                  <a:pt x="1333" y="4211"/>
                </a:lnTo>
                <a:lnTo>
                  <a:pt x="1316" y="4213"/>
                </a:lnTo>
                <a:lnTo>
                  <a:pt x="1298" y="4214"/>
                </a:lnTo>
                <a:lnTo>
                  <a:pt x="1281" y="4216"/>
                </a:lnTo>
                <a:lnTo>
                  <a:pt x="1263" y="4217"/>
                </a:lnTo>
                <a:lnTo>
                  <a:pt x="1245" y="4218"/>
                </a:lnTo>
                <a:lnTo>
                  <a:pt x="1227" y="4218"/>
                </a:lnTo>
                <a:lnTo>
                  <a:pt x="1210" y="4218"/>
                </a:lnTo>
                <a:lnTo>
                  <a:pt x="1192" y="4218"/>
                </a:lnTo>
                <a:lnTo>
                  <a:pt x="1174" y="4218"/>
                </a:lnTo>
                <a:lnTo>
                  <a:pt x="1156" y="4217"/>
                </a:lnTo>
                <a:lnTo>
                  <a:pt x="1138" y="4216"/>
                </a:lnTo>
                <a:lnTo>
                  <a:pt x="1121" y="4214"/>
                </a:lnTo>
                <a:lnTo>
                  <a:pt x="1103" y="4213"/>
                </a:lnTo>
                <a:lnTo>
                  <a:pt x="1086" y="4211"/>
                </a:lnTo>
                <a:lnTo>
                  <a:pt x="1068" y="4208"/>
                </a:lnTo>
                <a:lnTo>
                  <a:pt x="1007" y="4390"/>
                </a:lnTo>
                <a:lnTo>
                  <a:pt x="1005" y="4396"/>
                </a:lnTo>
                <a:lnTo>
                  <a:pt x="1002" y="4401"/>
                </a:lnTo>
                <a:lnTo>
                  <a:pt x="999" y="4406"/>
                </a:lnTo>
                <a:lnTo>
                  <a:pt x="995" y="4410"/>
                </a:lnTo>
                <a:lnTo>
                  <a:pt x="991" y="4414"/>
                </a:lnTo>
                <a:lnTo>
                  <a:pt x="987" y="4418"/>
                </a:lnTo>
                <a:lnTo>
                  <a:pt x="982" y="4421"/>
                </a:lnTo>
                <a:lnTo>
                  <a:pt x="977" y="4423"/>
                </a:lnTo>
                <a:lnTo>
                  <a:pt x="972" y="4426"/>
                </a:lnTo>
                <a:lnTo>
                  <a:pt x="967" y="4428"/>
                </a:lnTo>
                <a:lnTo>
                  <a:pt x="961" y="4429"/>
                </a:lnTo>
                <a:lnTo>
                  <a:pt x="955" y="4430"/>
                </a:lnTo>
                <a:lnTo>
                  <a:pt x="950" y="4430"/>
                </a:lnTo>
                <a:lnTo>
                  <a:pt x="944" y="4429"/>
                </a:lnTo>
                <a:lnTo>
                  <a:pt x="938" y="4428"/>
                </a:lnTo>
                <a:lnTo>
                  <a:pt x="932" y="4427"/>
                </a:lnTo>
                <a:lnTo>
                  <a:pt x="740" y="4367"/>
                </a:lnTo>
                <a:lnTo>
                  <a:pt x="734" y="4365"/>
                </a:lnTo>
                <a:lnTo>
                  <a:pt x="729" y="4363"/>
                </a:lnTo>
                <a:lnTo>
                  <a:pt x="724" y="4360"/>
                </a:lnTo>
                <a:lnTo>
                  <a:pt x="719" y="4356"/>
                </a:lnTo>
                <a:lnTo>
                  <a:pt x="715" y="4352"/>
                </a:lnTo>
                <a:lnTo>
                  <a:pt x="711" y="4348"/>
                </a:lnTo>
                <a:lnTo>
                  <a:pt x="708" y="4344"/>
                </a:lnTo>
                <a:lnTo>
                  <a:pt x="705" y="4339"/>
                </a:lnTo>
                <a:lnTo>
                  <a:pt x="702" y="4334"/>
                </a:lnTo>
                <a:lnTo>
                  <a:pt x="701" y="4329"/>
                </a:lnTo>
                <a:lnTo>
                  <a:pt x="699" y="4324"/>
                </a:lnTo>
                <a:lnTo>
                  <a:pt x="699" y="4318"/>
                </a:lnTo>
                <a:lnTo>
                  <a:pt x="699" y="4313"/>
                </a:lnTo>
                <a:lnTo>
                  <a:pt x="699" y="4307"/>
                </a:lnTo>
                <a:lnTo>
                  <a:pt x="700" y="4301"/>
                </a:lnTo>
                <a:lnTo>
                  <a:pt x="701" y="4295"/>
                </a:lnTo>
                <a:lnTo>
                  <a:pt x="763" y="4114"/>
                </a:lnTo>
                <a:lnTo>
                  <a:pt x="748" y="4106"/>
                </a:lnTo>
                <a:lnTo>
                  <a:pt x="732" y="4098"/>
                </a:lnTo>
                <a:lnTo>
                  <a:pt x="717" y="4089"/>
                </a:lnTo>
                <a:lnTo>
                  <a:pt x="702" y="4080"/>
                </a:lnTo>
                <a:lnTo>
                  <a:pt x="687" y="4071"/>
                </a:lnTo>
                <a:lnTo>
                  <a:pt x="672" y="4062"/>
                </a:lnTo>
                <a:lnTo>
                  <a:pt x="657" y="4052"/>
                </a:lnTo>
                <a:lnTo>
                  <a:pt x="643" y="4042"/>
                </a:lnTo>
                <a:lnTo>
                  <a:pt x="629" y="4032"/>
                </a:lnTo>
                <a:lnTo>
                  <a:pt x="615" y="4022"/>
                </a:lnTo>
                <a:lnTo>
                  <a:pt x="601" y="4012"/>
                </a:lnTo>
                <a:lnTo>
                  <a:pt x="587" y="4001"/>
                </a:lnTo>
                <a:lnTo>
                  <a:pt x="574" y="3990"/>
                </a:lnTo>
                <a:lnTo>
                  <a:pt x="561" y="3979"/>
                </a:lnTo>
                <a:lnTo>
                  <a:pt x="548" y="3967"/>
                </a:lnTo>
                <a:lnTo>
                  <a:pt x="535" y="3955"/>
                </a:lnTo>
                <a:lnTo>
                  <a:pt x="373" y="4068"/>
                </a:lnTo>
                <a:lnTo>
                  <a:pt x="368" y="4071"/>
                </a:lnTo>
                <a:lnTo>
                  <a:pt x="363" y="4074"/>
                </a:lnTo>
                <a:lnTo>
                  <a:pt x="357" y="4076"/>
                </a:lnTo>
                <a:lnTo>
                  <a:pt x="352" y="4077"/>
                </a:lnTo>
                <a:lnTo>
                  <a:pt x="346" y="4078"/>
                </a:lnTo>
                <a:lnTo>
                  <a:pt x="340" y="4079"/>
                </a:lnTo>
                <a:lnTo>
                  <a:pt x="335" y="4079"/>
                </a:lnTo>
                <a:lnTo>
                  <a:pt x="329" y="4078"/>
                </a:lnTo>
                <a:lnTo>
                  <a:pt x="323" y="4077"/>
                </a:lnTo>
                <a:lnTo>
                  <a:pt x="318" y="4076"/>
                </a:lnTo>
                <a:lnTo>
                  <a:pt x="312" y="4073"/>
                </a:lnTo>
                <a:lnTo>
                  <a:pt x="307" y="4071"/>
                </a:lnTo>
                <a:lnTo>
                  <a:pt x="303" y="4068"/>
                </a:lnTo>
                <a:lnTo>
                  <a:pt x="298" y="4064"/>
                </a:lnTo>
                <a:lnTo>
                  <a:pt x="294" y="4060"/>
                </a:lnTo>
                <a:lnTo>
                  <a:pt x="290" y="4055"/>
                </a:lnTo>
                <a:lnTo>
                  <a:pt x="171" y="3899"/>
                </a:lnTo>
                <a:lnTo>
                  <a:pt x="168" y="3894"/>
                </a:lnTo>
                <a:lnTo>
                  <a:pt x="165" y="3890"/>
                </a:lnTo>
                <a:lnTo>
                  <a:pt x="163" y="3884"/>
                </a:lnTo>
                <a:lnTo>
                  <a:pt x="161" y="3879"/>
                </a:lnTo>
                <a:lnTo>
                  <a:pt x="160" y="3873"/>
                </a:lnTo>
                <a:lnTo>
                  <a:pt x="160" y="3868"/>
                </a:lnTo>
                <a:lnTo>
                  <a:pt x="160" y="3862"/>
                </a:lnTo>
                <a:lnTo>
                  <a:pt x="161" y="3857"/>
                </a:lnTo>
                <a:lnTo>
                  <a:pt x="162" y="3852"/>
                </a:lnTo>
                <a:lnTo>
                  <a:pt x="164" y="3846"/>
                </a:lnTo>
                <a:lnTo>
                  <a:pt x="166" y="3841"/>
                </a:lnTo>
                <a:lnTo>
                  <a:pt x="169" y="3836"/>
                </a:lnTo>
                <a:lnTo>
                  <a:pt x="172" y="3832"/>
                </a:lnTo>
                <a:lnTo>
                  <a:pt x="175" y="3827"/>
                </a:lnTo>
                <a:lnTo>
                  <a:pt x="180" y="3823"/>
                </a:lnTo>
                <a:lnTo>
                  <a:pt x="185" y="3820"/>
                </a:lnTo>
                <a:lnTo>
                  <a:pt x="346" y="3708"/>
                </a:lnTo>
                <a:lnTo>
                  <a:pt x="339" y="3693"/>
                </a:lnTo>
                <a:lnTo>
                  <a:pt x="332" y="3677"/>
                </a:lnTo>
                <a:lnTo>
                  <a:pt x="324" y="3662"/>
                </a:lnTo>
                <a:lnTo>
                  <a:pt x="317" y="3647"/>
                </a:lnTo>
                <a:lnTo>
                  <a:pt x="311" y="3631"/>
                </a:lnTo>
                <a:lnTo>
                  <a:pt x="305" y="3615"/>
                </a:lnTo>
                <a:lnTo>
                  <a:pt x="299" y="3600"/>
                </a:lnTo>
                <a:lnTo>
                  <a:pt x="293" y="3584"/>
                </a:lnTo>
                <a:lnTo>
                  <a:pt x="288" y="3568"/>
                </a:lnTo>
                <a:lnTo>
                  <a:pt x="283" y="3551"/>
                </a:lnTo>
                <a:lnTo>
                  <a:pt x="278" y="3535"/>
                </a:lnTo>
                <a:lnTo>
                  <a:pt x="274" y="3519"/>
                </a:lnTo>
                <a:lnTo>
                  <a:pt x="270" y="3502"/>
                </a:lnTo>
                <a:lnTo>
                  <a:pt x="266" y="3485"/>
                </a:lnTo>
                <a:lnTo>
                  <a:pt x="263" y="3468"/>
                </a:lnTo>
                <a:lnTo>
                  <a:pt x="259" y="3452"/>
                </a:lnTo>
                <a:lnTo>
                  <a:pt x="59" y="3452"/>
                </a:lnTo>
                <a:lnTo>
                  <a:pt x="53" y="3451"/>
                </a:lnTo>
                <a:lnTo>
                  <a:pt x="47" y="3450"/>
                </a:lnTo>
                <a:lnTo>
                  <a:pt x="41" y="3449"/>
                </a:lnTo>
                <a:lnTo>
                  <a:pt x="36" y="3447"/>
                </a:lnTo>
                <a:lnTo>
                  <a:pt x="31" y="3445"/>
                </a:lnTo>
                <a:lnTo>
                  <a:pt x="26" y="3442"/>
                </a:lnTo>
                <a:lnTo>
                  <a:pt x="21" y="3438"/>
                </a:lnTo>
                <a:lnTo>
                  <a:pt x="17" y="3435"/>
                </a:lnTo>
                <a:lnTo>
                  <a:pt x="13" y="3431"/>
                </a:lnTo>
                <a:lnTo>
                  <a:pt x="10" y="3427"/>
                </a:lnTo>
                <a:lnTo>
                  <a:pt x="7" y="3422"/>
                </a:lnTo>
                <a:lnTo>
                  <a:pt x="4" y="3417"/>
                </a:lnTo>
                <a:lnTo>
                  <a:pt x="2" y="3412"/>
                </a:lnTo>
                <a:lnTo>
                  <a:pt x="1" y="3406"/>
                </a:lnTo>
                <a:lnTo>
                  <a:pt x="0" y="3400"/>
                </a:lnTo>
                <a:lnTo>
                  <a:pt x="0" y="3395"/>
                </a:lnTo>
                <a:lnTo>
                  <a:pt x="0" y="3201"/>
                </a:lnTo>
                <a:lnTo>
                  <a:pt x="0" y="3196"/>
                </a:lnTo>
                <a:lnTo>
                  <a:pt x="1" y="3190"/>
                </a:lnTo>
                <a:lnTo>
                  <a:pt x="2" y="3185"/>
                </a:lnTo>
                <a:lnTo>
                  <a:pt x="4" y="3179"/>
                </a:lnTo>
                <a:lnTo>
                  <a:pt x="7" y="3175"/>
                </a:lnTo>
                <a:lnTo>
                  <a:pt x="10" y="3170"/>
                </a:lnTo>
                <a:lnTo>
                  <a:pt x="13" y="3166"/>
                </a:lnTo>
                <a:lnTo>
                  <a:pt x="17" y="3162"/>
                </a:lnTo>
                <a:lnTo>
                  <a:pt x="21" y="3158"/>
                </a:lnTo>
                <a:lnTo>
                  <a:pt x="26" y="3155"/>
                </a:lnTo>
                <a:lnTo>
                  <a:pt x="31" y="3152"/>
                </a:lnTo>
                <a:lnTo>
                  <a:pt x="36" y="3150"/>
                </a:lnTo>
                <a:lnTo>
                  <a:pt x="41" y="3147"/>
                </a:lnTo>
                <a:lnTo>
                  <a:pt x="47" y="3146"/>
                </a:lnTo>
                <a:lnTo>
                  <a:pt x="53" y="3145"/>
                </a:lnTo>
                <a:lnTo>
                  <a:pt x="59" y="3145"/>
                </a:lnTo>
                <a:lnTo>
                  <a:pt x="259" y="3145"/>
                </a:lnTo>
                <a:lnTo>
                  <a:pt x="263" y="3128"/>
                </a:lnTo>
                <a:lnTo>
                  <a:pt x="266" y="3111"/>
                </a:lnTo>
                <a:lnTo>
                  <a:pt x="270" y="3095"/>
                </a:lnTo>
                <a:lnTo>
                  <a:pt x="274" y="3078"/>
                </a:lnTo>
                <a:lnTo>
                  <a:pt x="278" y="3061"/>
                </a:lnTo>
                <a:lnTo>
                  <a:pt x="283" y="3045"/>
                </a:lnTo>
                <a:lnTo>
                  <a:pt x="288" y="3029"/>
                </a:lnTo>
                <a:lnTo>
                  <a:pt x="293" y="3013"/>
                </a:lnTo>
                <a:lnTo>
                  <a:pt x="299" y="2997"/>
                </a:lnTo>
                <a:lnTo>
                  <a:pt x="305" y="2981"/>
                </a:lnTo>
                <a:lnTo>
                  <a:pt x="311" y="2965"/>
                </a:lnTo>
                <a:lnTo>
                  <a:pt x="317" y="2950"/>
                </a:lnTo>
                <a:lnTo>
                  <a:pt x="324" y="2934"/>
                </a:lnTo>
                <a:lnTo>
                  <a:pt x="332" y="2919"/>
                </a:lnTo>
                <a:lnTo>
                  <a:pt x="339" y="2904"/>
                </a:lnTo>
                <a:lnTo>
                  <a:pt x="346" y="2889"/>
                </a:lnTo>
                <a:lnTo>
                  <a:pt x="185" y="2776"/>
                </a:lnTo>
                <a:lnTo>
                  <a:pt x="180" y="2773"/>
                </a:lnTo>
                <a:lnTo>
                  <a:pt x="175" y="2769"/>
                </a:lnTo>
                <a:lnTo>
                  <a:pt x="172" y="2765"/>
                </a:lnTo>
                <a:lnTo>
                  <a:pt x="169" y="2760"/>
                </a:lnTo>
                <a:lnTo>
                  <a:pt x="166" y="2755"/>
                </a:lnTo>
                <a:lnTo>
                  <a:pt x="164" y="2750"/>
                </a:lnTo>
                <a:lnTo>
                  <a:pt x="162" y="2745"/>
                </a:lnTo>
                <a:lnTo>
                  <a:pt x="161" y="2739"/>
                </a:lnTo>
                <a:lnTo>
                  <a:pt x="160" y="2734"/>
                </a:lnTo>
                <a:lnTo>
                  <a:pt x="160" y="2728"/>
                </a:lnTo>
                <a:lnTo>
                  <a:pt x="160" y="2723"/>
                </a:lnTo>
                <a:lnTo>
                  <a:pt x="161" y="2717"/>
                </a:lnTo>
                <a:lnTo>
                  <a:pt x="163" y="2712"/>
                </a:lnTo>
                <a:lnTo>
                  <a:pt x="165" y="2707"/>
                </a:lnTo>
                <a:lnTo>
                  <a:pt x="168" y="2702"/>
                </a:lnTo>
                <a:lnTo>
                  <a:pt x="171" y="2697"/>
                </a:lnTo>
                <a:lnTo>
                  <a:pt x="290" y="2541"/>
                </a:lnTo>
                <a:lnTo>
                  <a:pt x="294" y="2537"/>
                </a:lnTo>
                <a:lnTo>
                  <a:pt x="298" y="2533"/>
                </a:lnTo>
                <a:lnTo>
                  <a:pt x="303" y="2529"/>
                </a:lnTo>
                <a:lnTo>
                  <a:pt x="307" y="2526"/>
                </a:lnTo>
                <a:lnTo>
                  <a:pt x="312" y="2523"/>
                </a:lnTo>
                <a:lnTo>
                  <a:pt x="318" y="2521"/>
                </a:lnTo>
                <a:lnTo>
                  <a:pt x="323" y="2519"/>
                </a:lnTo>
                <a:lnTo>
                  <a:pt x="329" y="2518"/>
                </a:lnTo>
                <a:lnTo>
                  <a:pt x="335" y="2518"/>
                </a:lnTo>
                <a:lnTo>
                  <a:pt x="340" y="2518"/>
                </a:lnTo>
                <a:lnTo>
                  <a:pt x="346" y="2518"/>
                </a:lnTo>
                <a:lnTo>
                  <a:pt x="352" y="2519"/>
                </a:lnTo>
                <a:lnTo>
                  <a:pt x="357" y="2521"/>
                </a:lnTo>
                <a:lnTo>
                  <a:pt x="363" y="2523"/>
                </a:lnTo>
                <a:lnTo>
                  <a:pt x="368" y="2525"/>
                </a:lnTo>
                <a:lnTo>
                  <a:pt x="373" y="2528"/>
                </a:lnTo>
                <a:lnTo>
                  <a:pt x="535" y="2641"/>
                </a:lnTo>
                <a:lnTo>
                  <a:pt x="548" y="2629"/>
                </a:lnTo>
                <a:lnTo>
                  <a:pt x="561" y="2618"/>
                </a:lnTo>
                <a:lnTo>
                  <a:pt x="574" y="2606"/>
                </a:lnTo>
                <a:lnTo>
                  <a:pt x="587" y="2596"/>
                </a:lnTo>
                <a:lnTo>
                  <a:pt x="601" y="2585"/>
                </a:lnTo>
                <a:lnTo>
                  <a:pt x="615" y="2574"/>
                </a:lnTo>
                <a:lnTo>
                  <a:pt x="629" y="2564"/>
                </a:lnTo>
                <a:lnTo>
                  <a:pt x="643" y="2554"/>
                </a:lnTo>
                <a:lnTo>
                  <a:pt x="657" y="2544"/>
                </a:lnTo>
                <a:lnTo>
                  <a:pt x="672" y="2535"/>
                </a:lnTo>
                <a:lnTo>
                  <a:pt x="687" y="2525"/>
                </a:lnTo>
                <a:lnTo>
                  <a:pt x="702" y="2516"/>
                </a:lnTo>
                <a:lnTo>
                  <a:pt x="717" y="2508"/>
                </a:lnTo>
                <a:lnTo>
                  <a:pt x="732" y="2499"/>
                </a:lnTo>
                <a:lnTo>
                  <a:pt x="748" y="2491"/>
                </a:lnTo>
                <a:lnTo>
                  <a:pt x="763" y="2483"/>
                </a:lnTo>
                <a:lnTo>
                  <a:pt x="701" y="2301"/>
                </a:lnTo>
                <a:lnTo>
                  <a:pt x="699" y="2295"/>
                </a:lnTo>
                <a:lnTo>
                  <a:pt x="699" y="2289"/>
                </a:lnTo>
                <a:lnTo>
                  <a:pt x="698" y="2284"/>
                </a:lnTo>
                <a:lnTo>
                  <a:pt x="699" y="2278"/>
                </a:lnTo>
                <a:lnTo>
                  <a:pt x="699" y="2273"/>
                </a:lnTo>
                <a:lnTo>
                  <a:pt x="701" y="2267"/>
                </a:lnTo>
                <a:lnTo>
                  <a:pt x="702" y="2262"/>
                </a:lnTo>
                <a:lnTo>
                  <a:pt x="705" y="2258"/>
                </a:lnTo>
                <a:lnTo>
                  <a:pt x="708" y="2253"/>
                </a:lnTo>
                <a:lnTo>
                  <a:pt x="711" y="2248"/>
                </a:lnTo>
                <a:lnTo>
                  <a:pt x="715" y="2244"/>
                </a:lnTo>
                <a:lnTo>
                  <a:pt x="719" y="2240"/>
                </a:lnTo>
                <a:lnTo>
                  <a:pt x="724" y="2237"/>
                </a:lnTo>
                <a:lnTo>
                  <a:pt x="729" y="2234"/>
                </a:lnTo>
                <a:lnTo>
                  <a:pt x="734" y="2231"/>
                </a:lnTo>
                <a:lnTo>
                  <a:pt x="740" y="2229"/>
                </a:lnTo>
                <a:lnTo>
                  <a:pt x="932" y="2169"/>
                </a:lnTo>
                <a:lnTo>
                  <a:pt x="938" y="2168"/>
                </a:lnTo>
                <a:lnTo>
                  <a:pt x="944" y="2167"/>
                </a:lnTo>
                <a:lnTo>
                  <a:pt x="950" y="2167"/>
                </a:lnTo>
              </a:path>
              <a:path w="10965" h="4927">
                <a:moveTo>
                  <a:pt x="3118" y="559"/>
                </a:moveTo>
                <a:cubicBezTo>
                  <a:pt x="2595" y="559"/>
                  <a:pt x="2170" y="965"/>
                  <a:pt x="2170" y="1465"/>
                </a:cubicBezTo>
                <a:cubicBezTo>
                  <a:pt x="2170" y="1965"/>
                  <a:pt x="2595" y="2371"/>
                  <a:pt x="3118" y="2371"/>
                </a:cubicBezTo>
                <a:cubicBezTo>
                  <a:pt x="3642" y="2371"/>
                  <a:pt x="4066" y="1965"/>
                  <a:pt x="4066" y="1465"/>
                </a:cubicBezTo>
                <a:cubicBezTo>
                  <a:pt x="4066" y="965"/>
                  <a:pt x="3642" y="559"/>
                  <a:pt x="3118" y="559"/>
                </a:cubicBezTo>
                <a:moveTo>
                  <a:pt x="2781" y="0"/>
                </a:moveTo>
                <a:lnTo>
                  <a:pt x="2789" y="0"/>
                </a:lnTo>
                <a:lnTo>
                  <a:pt x="2796" y="1"/>
                </a:lnTo>
                <a:lnTo>
                  <a:pt x="2803" y="2"/>
                </a:lnTo>
                <a:lnTo>
                  <a:pt x="2811" y="5"/>
                </a:lnTo>
                <a:lnTo>
                  <a:pt x="2817" y="7"/>
                </a:lnTo>
                <a:lnTo>
                  <a:pt x="2824" y="11"/>
                </a:lnTo>
                <a:lnTo>
                  <a:pt x="2830" y="15"/>
                </a:lnTo>
                <a:lnTo>
                  <a:pt x="2836" y="20"/>
                </a:lnTo>
                <a:lnTo>
                  <a:pt x="2841" y="25"/>
                </a:lnTo>
                <a:lnTo>
                  <a:pt x="2845" y="31"/>
                </a:lnTo>
                <a:lnTo>
                  <a:pt x="2850" y="37"/>
                </a:lnTo>
                <a:lnTo>
                  <a:pt x="2853" y="44"/>
                </a:lnTo>
                <a:lnTo>
                  <a:pt x="2856" y="50"/>
                </a:lnTo>
                <a:lnTo>
                  <a:pt x="2935" y="286"/>
                </a:lnTo>
                <a:lnTo>
                  <a:pt x="2958" y="283"/>
                </a:lnTo>
                <a:lnTo>
                  <a:pt x="2981" y="280"/>
                </a:lnTo>
                <a:lnTo>
                  <a:pt x="3003" y="278"/>
                </a:lnTo>
                <a:lnTo>
                  <a:pt x="3026" y="276"/>
                </a:lnTo>
                <a:lnTo>
                  <a:pt x="3049" y="275"/>
                </a:lnTo>
                <a:lnTo>
                  <a:pt x="3072" y="274"/>
                </a:lnTo>
                <a:lnTo>
                  <a:pt x="3095" y="273"/>
                </a:lnTo>
                <a:lnTo>
                  <a:pt x="3118" y="273"/>
                </a:lnTo>
                <a:lnTo>
                  <a:pt x="3141" y="273"/>
                </a:lnTo>
                <a:lnTo>
                  <a:pt x="3165" y="274"/>
                </a:lnTo>
                <a:lnTo>
                  <a:pt x="3188" y="275"/>
                </a:lnTo>
                <a:lnTo>
                  <a:pt x="3210" y="276"/>
                </a:lnTo>
                <a:lnTo>
                  <a:pt x="3233" y="278"/>
                </a:lnTo>
                <a:lnTo>
                  <a:pt x="3255" y="280"/>
                </a:lnTo>
                <a:lnTo>
                  <a:pt x="3278" y="283"/>
                </a:lnTo>
                <a:lnTo>
                  <a:pt x="3301" y="286"/>
                </a:lnTo>
                <a:lnTo>
                  <a:pt x="3381" y="50"/>
                </a:lnTo>
                <a:lnTo>
                  <a:pt x="3384" y="43"/>
                </a:lnTo>
                <a:lnTo>
                  <a:pt x="3387" y="37"/>
                </a:lnTo>
                <a:lnTo>
                  <a:pt x="3392" y="31"/>
                </a:lnTo>
                <a:lnTo>
                  <a:pt x="3396" y="25"/>
                </a:lnTo>
                <a:lnTo>
                  <a:pt x="3401" y="20"/>
                </a:lnTo>
                <a:lnTo>
                  <a:pt x="3407" y="15"/>
                </a:lnTo>
                <a:lnTo>
                  <a:pt x="3413" y="11"/>
                </a:lnTo>
                <a:lnTo>
                  <a:pt x="3419" y="7"/>
                </a:lnTo>
                <a:lnTo>
                  <a:pt x="3426" y="5"/>
                </a:lnTo>
                <a:lnTo>
                  <a:pt x="3433" y="2"/>
                </a:lnTo>
                <a:lnTo>
                  <a:pt x="3440" y="1"/>
                </a:lnTo>
                <a:lnTo>
                  <a:pt x="3448" y="0"/>
                </a:lnTo>
                <a:lnTo>
                  <a:pt x="3455" y="0"/>
                </a:lnTo>
                <a:lnTo>
                  <a:pt x="3463" y="0"/>
                </a:lnTo>
                <a:lnTo>
                  <a:pt x="3470" y="1"/>
                </a:lnTo>
                <a:lnTo>
                  <a:pt x="3478" y="3"/>
                </a:lnTo>
                <a:lnTo>
                  <a:pt x="3727" y="80"/>
                </a:lnTo>
                <a:lnTo>
                  <a:pt x="3734" y="83"/>
                </a:lnTo>
                <a:lnTo>
                  <a:pt x="3741" y="86"/>
                </a:lnTo>
                <a:lnTo>
                  <a:pt x="3748" y="90"/>
                </a:lnTo>
                <a:lnTo>
                  <a:pt x="3754" y="94"/>
                </a:lnTo>
                <a:lnTo>
                  <a:pt x="3759" y="100"/>
                </a:lnTo>
                <a:lnTo>
                  <a:pt x="3764" y="105"/>
                </a:lnTo>
                <a:lnTo>
                  <a:pt x="3768" y="111"/>
                </a:lnTo>
                <a:lnTo>
                  <a:pt x="3772" y="117"/>
                </a:lnTo>
                <a:lnTo>
                  <a:pt x="3775" y="123"/>
                </a:lnTo>
                <a:lnTo>
                  <a:pt x="3778" y="130"/>
                </a:lnTo>
                <a:lnTo>
                  <a:pt x="3779" y="137"/>
                </a:lnTo>
                <a:lnTo>
                  <a:pt x="3780" y="144"/>
                </a:lnTo>
                <a:lnTo>
                  <a:pt x="3781" y="151"/>
                </a:lnTo>
                <a:lnTo>
                  <a:pt x="3779" y="159"/>
                </a:lnTo>
                <a:lnTo>
                  <a:pt x="3778" y="166"/>
                </a:lnTo>
                <a:lnTo>
                  <a:pt x="3777" y="173"/>
                </a:lnTo>
                <a:lnTo>
                  <a:pt x="3696" y="408"/>
                </a:lnTo>
                <a:lnTo>
                  <a:pt x="3717" y="419"/>
                </a:lnTo>
                <a:lnTo>
                  <a:pt x="3737" y="430"/>
                </a:lnTo>
                <a:lnTo>
                  <a:pt x="3757" y="441"/>
                </a:lnTo>
                <a:lnTo>
                  <a:pt x="3776" y="452"/>
                </a:lnTo>
                <a:lnTo>
                  <a:pt x="3796" y="464"/>
                </a:lnTo>
                <a:lnTo>
                  <a:pt x="3815" y="476"/>
                </a:lnTo>
                <a:lnTo>
                  <a:pt x="3833" y="488"/>
                </a:lnTo>
                <a:lnTo>
                  <a:pt x="3852" y="501"/>
                </a:lnTo>
                <a:lnTo>
                  <a:pt x="3871" y="514"/>
                </a:lnTo>
                <a:lnTo>
                  <a:pt x="3889" y="527"/>
                </a:lnTo>
                <a:lnTo>
                  <a:pt x="3907" y="541"/>
                </a:lnTo>
                <a:lnTo>
                  <a:pt x="3924" y="555"/>
                </a:lnTo>
                <a:lnTo>
                  <a:pt x="3941" y="569"/>
                </a:lnTo>
                <a:lnTo>
                  <a:pt x="3958" y="583"/>
                </a:lnTo>
                <a:lnTo>
                  <a:pt x="3975" y="598"/>
                </a:lnTo>
                <a:lnTo>
                  <a:pt x="3992" y="613"/>
                </a:lnTo>
                <a:lnTo>
                  <a:pt x="4202" y="468"/>
                </a:lnTo>
                <a:lnTo>
                  <a:pt x="4208" y="464"/>
                </a:lnTo>
                <a:lnTo>
                  <a:pt x="4215" y="460"/>
                </a:lnTo>
                <a:lnTo>
                  <a:pt x="4222" y="458"/>
                </a:lnTo>
                <a:lnTo>
                  <a:pt x="4230" y="456"/>
                </a:lnTo>
                <a:lnTo>
                  <a:pt x="4237" y="455"/>
                </a:lnTo>
                <a:lnTo>
                  <a:pt x="4244" y="454"/>
                </a:lnTo>
                <a:lnTo>
                  <a:pt x="4252" y="454"/>
                </a:lnTo>
                <a:lnTo>
                  <a:pt x="4259" y="455"/>
                </a:lnTo>
                <a:lnTo>
                  <a:pt x="4266" y="456"/>
                </a:lnTo>
                <a:lnTo>
                  <a:pt x="4273" y="458"/>
                </a:lnTo>
                <a:lnTo>
                  <a:pt x="4280" y="461"/>
                </a:lnTo>
                <a:lnTo>
                  <a:pt x="4287" y="464"/>
                </a:lnTo>
                <a:lnTo>
                  <a:pt x="4293" y="468"/>
                </a:lnTo>
                <a:lnTo>
                  <a:pt x="4299" y="473"/>
                </a:lnTo>
                <a:lnTo>
                  <a:pt x="4304" y="478"/>
                </a:lnTo>
                <a:lnTo>
                  <a:pt x="4309" y="485"/>
                </a:lnTo>
                <a:lnTo>
                  <a:pt x="4463" y="686"/>
                </a:lnTo>
                <a:lnTo>
                  <a:pt x="4468" y="693"/>
                </a:lnTo>
                <a:lnTo>
                  <a:pt x="4471" y="699"/>
                </a:lnTo>
                <a:lnTo>
                  <a:pt x="4474" y="706"/>
                </a:lnTo>
                <a:lnTo>
                  <a:pt x="4476" y="713"/>
                </a:lnTo>
                <a:lnTo>
                  <a:pt x="4478" y="720"/>
                </a:lnTo>
                <a:lnTo>
                  <a:pt x="4478" y="727"/>
                </a:lnTo>
                <a:lnTo>
                  <a:pt x="4478" y="734"/>
                </a:lnTo>
                <a:lnTo>
                  <a:pt x="4477" y="741"/>
                </a:lnTo>
                <a:lnTo>
                  <a:pt x="4475" y="748"/>
                </a:lnTo>
                <a:lnTo>
                  <a:pt x="4473" y="755"/>
                </a:lnTo>
                <a:lnTo>
                  <a:pt x="4471" y="761"/>
                </a:lnTo>
                <a:lnTo>
                  <a:pt x="4467" y="768"/>
                </a:lnTo>
                <a:lnTo>
                  <a:pt x="4463" y="774"/>
                </a:lnTo>
                <a:lnTo>
                  <a:pt x="4458" y="780"/>
                </a:lnTo>
                <a:lnTo>
                  <a:pt x="4453" y="785"/>
                </a:lnTo>
                <a:lnTo>
                  <a:pt x="4446" y="789"/>
                </a:lnTo>
                <a:lnTo>
                  <a:pt x="4236" y="935"/>
                </a:lnTo>
                <a:lnTo>
                  <a:pt x="4246" y="954"/>
                </a:lnTo>
                <a:lnTo>
                  <a:pt x="4256" y="974"/>
                </a:lnTo>
                <a:lnTo>
                  <a:pt x="4265" y="994"/>
                </a:lnTo>
                <a:lnTo>
                  <a:pt x="4274" y="1014"/>
                </a:lnTo>
                <a:lnTo>
                  <a:pt x="4282" y="1034"/>
                </a:lnTo>
                <a:lnTo>
                  <a:pt x="4290" y="1054"/>
                </a:lnTo>
                <a:lnTo>
                  <a:pt x="4298" y="1075"/>
                </a:lnTo>
                <a:lnTo>
                  <a:pt x="4305" y="1095"/>
                </a:lnTo>
                <a:lnTo>
                  <a:pt x="4312" y="1116"/>
                </a:lnTo>
                <a:lnTo>
                  <a:pt x="4319" y="1137"/>
                </a:lnTo>
                <a:lnTo>
                  <a:pt x="4325" y="1158"/>
                </a:lnTo>
                <a:lnTo>
                  <a:pt x="4330" y="1180"/>
                </a:lnTo>
                <a:lnTo>
                  <a:pt x="4336" y="1201"/>
                </a:lnTo>
                <a:lnTo>
                  <a:pt x="4341" y="1223"/>
                </a:lnTo>
                <a:lnTo>
                  <a:pt x="4345" y="1244"/>
                </a:lnTo>
                <a:lnTo>
                  <a:pt x="4350" y="1266"/>
                </a:lnTo>
                <a:lnTo>
                  <a:pt x="4608" y="1266"/>
                </a:lnTo>
                <a:lnTo>
                  <a:pt x="4616" y="1267"/>
                </a:lnTo>
                <a:lnTo>
                  <a:pt x="4624" y="1268"/>
                </a:lnTo>
                <a:lnTo>
                  <a:pt x="4631" y="1269"/>
                </a:lnTo>
                <a:lnTo>
                  <a:pt x="4638" y="1272"/>
                </a:lnTo>
                <a:lnTo>
                  <a:pt x="4645" y="1275"/>
                </a:lnTo>
                <a:lnTo>
                  <a:pt x="4652" y="1279"/>
                </a:lnTo>
                <a:lnTo>
                  <a:pt x="4657" y="1283"/>
                </a:lnTo>
                <a:lnTo>
                  <a:pt x="4663" y="1288"/>
                </a:lnTo>
                <a:lnTo>
                  <a:pt x="4668" y="1293"/>
                </a:lnTo>
                <a:lnTo>
                  <a:pt x="4673" y="1299"/>
                </a:lnTo>
                <a:lnTo>
                  <a:pt x="4677" y="1305"/>
                </a:lnTo>
                <a:lnTo>
                  <a:pt x="4680" y="1311"/>
                </a:lnTo>
                <a:lnTo>
                  <a:pt x="4682" y="1318"/>
                </a:lnTo>
                <a:lnTo>
                  <a:pt x="4684" y="1325"/>
                </a:lnTo>
                <a:lnTo>
                  <a:pt x="4685" y="1332"/>
                </a:lnTo>
                <a:lnTo>
                  <a:pt x="4686" y="1340"/>
                </a:lnTo>
                <a:lnTo>
                  <a:pt x="4686" y="1590"/>
                </a:lnTo>
                <a:lnTo>
                  <a:pt x="4685" y="1597"/>
                </a:lnTo>
                <a:lnTo>
                  <a:pt x="4684" y="1605"/>
                </a:lnTo>
                <a:lnTo>
                  <a:pt x="4682" y="1612"/>
                </a:lnTo>
                <a:lnTo>
                  <a:pt x="4680" y="1619"/>
                </a:lnTo>
                <a:lnTo>
                  <a:pt x="4677" y="1625"/>
                </a:lnTo>
                <a:lnTo>
                  <a:pt x="4673" y="1631"/>
                </a:lnTo>
                <a:lnTo>
                  <a:pt x="4668" y="1637"/>
                </a:lnTo>
                <a:lnTo>
                  <a:pt x="4663" y="1642"/>
                </a:lnTo>
                <a:lnTo>
                  <a:pt x="4658" y="1647"/>
                </a:lnTo>
                <a:lnTo>
                  <a:pt x="4652" y="1651"/>
                </a:lnTo>
                <a:lnTo>
                  <a:pt x="4645" y="1655"/>
                </a:lnTo>
                <a:lnTo>
                  <a:pt x="4638" y="1658"/>
                </a:lnTo>
                <a:lnTo>
                  <a:pt x="4631" y="1660"/>
                </a:lnTo>
                <a:lnTo>
                  <a:pt x="4624" y="1662"/>
                </a:lnTo>
                <a:lnTo>
                  <a:pt x="4616" y="1663"/>
                </a:lnTo>
                <a:lnTo>
                  <a:pt x="4609" y="1664"/>
                </a:lnTo>
                <a:lnTo>
                  <a:pt x="4350" y="1664"/>
                </a:lnTo>
                <a:lnTo>
                  <a:pt x="4345" y="1686"/>
                </a:lnTo>
                <a:lnTo>
                  <a:pt x="4341" y="1707"/>
                </a:lnTo>
                <a:lnTo>
                  <a:pt x="4336" y="1729"/>
                </a:lnTo>
                <a:lnTo>
                  <a:pt x="4330" y="1751"/>
                </a:lnTo>
                <a:lnTo>
                  <a:pt x="4325" y="1771"/>
                </a:lnTo>
                <a:lnTo>
                  <a:pt x="4319" y="1793"/>
                </a:lnTo>
                <a:lnTo>
                  <a:pt x="4312" y="1814"/>
                </a:lnTo>
                <a:lnTo>
                  <a:pt x="4305" y="1835"/>
                </a:lnTo>
                <a:lnTo>
                  <a:pt x="4298" y="1855"/>
                </a:lnTo>
                <a:lnTo>
                  <a:pt x="4290" y="1876"/>
                </a:lnTo>
                <a:lnTo>
                  <a:pt x="4282" y="1896"/>
                </a:lnTo>
                <a:lnTo>
                  <a:pt x="4274" y="1916"/>
                </a:lnTo>
                <a:lnTo>
                  <a:pt x="4265" y="1937"/>
                </a:lnTo>
                <a:lnTo>
                  <a:pt x="4256" y="1956"/>
                </a:lnTo>
                <a:lnTo>
                  <a:pt x="4246" y="1976"/>
                </a:lnTo>
                <a:lnTo>
                  <a:pt x="4236" y="1995"/>
                </a:lnTo>
                <a:lnTo>
                  <a:pt x="4446" y="2140"/>
                </a:lnTo>
                <a:lnTo>
                  <a:pt x="4453" y="2145"/>
                </a:lnTo>
                <a:lnTo>
                  <a:pt x="4458" y="2150"/>
                </a:lnTo>
                <a:lnTo>
                  <a:pt x="4463" y="2156"/>
                </a:lnTo>
                <a:lnTo>
                  <a:pt x="4467" y="2162"/>
                </a:lnTo>
                <a:lnTo>
                  <a:pt x="4471" y="2168"/>
                </a:lnTo>
                <a:lnTo>
                  <a:pt x="4473" y="2175"/>
                </a:lnTo>
                <a:lnTo>
                  <a:pt x="4475" y="2182"/>
                </a:lnTo>
                <a:lnTo>
                  <a:pt x="4477" y="2189"/>
                </a:lnTo>
                <a:lnTo>
                  <a:pt x="4478" y="2195"/>
                </a:lnTo>
                <a:lnTo>
                  <a:pt x="4478" y="2203"/>
                </a:lnTo>
                <a:lnTo>
                  <a:pt x="4478" y="2210"/>
                </a:lnTo>
                <a:lnTo>
                  <a:pt x="4476" y="2217"/>
                </a:lnTo>
                <a:lnTo>
                  <a:pt x="4474" y="2224"/>
                </a:lnTo>
                <a:lnTo>
                  <a:pt x="4471" y="2231"/>
                </a:lnTo>
                <a:lnTo>
                  <a:pt x="4468" y="2237"/>
                </a:lnTo>
                <a:lnTo>
                  <a:pt x="4463" y="2243"/>
                </a:lnTo>
                <a:lnTo>
                  <a:pt x="4309" y="2446"/>
                </a:lnTo>
                <a:lnTo>
                  <a:pt x="4304" y="2452"/>
                </a:lnTo>
                <a:lnTo>
                  <a:pt x="4299" y="2457"/>
                </a:lnTo>
                <a:lnTo>
                  <a:pt x="4293" y="2461"/>
                </a:lnTo>
                <a:lnTo>
                  <a:pt x="4287" y="2465"/>
                </a:lnTo>
                <a:lnTo>
                  <a:pt x="4280" y="2469"/>
                </a:lnTo>
                <a:lnTo>
                  <a:pt x="4273" y="2472"/>
                </a:lnTo>
                <a:lnTo>
                  <a:pt x="4266" y="2474"/>
                </a:lnTo>
                <a:lnTo>
                  <a:pt x="4259" y="2475"/>
                </a:lnTo>
                <a:lnTo>
                  <a:pt x="4252" y="2476"/>
                </a:lnTo>
                <a:lnTo>
                  <a:pt x="4244" y="2476"/>
                </a:lnTo>
                <a:lnTo>
                  <a:pt x="4237" y="2475"/>
                </a:lnTo>
                <a:lnTo>
                  <a:pt x="4229" y="2474"/>
                </a:lnTo>
                <a:lnTo>
                  <a:pt x="4222" y="2472"/>
                </a:lnTo>
                <a:lnTo>
                  <a:pt x="4215" y="2470"/>
                </a:lnTo>
                <a:lnTo>
                  <a:pt x="4208" y="2466"/>
                </a:lnTo>
                <a:lnTo>
                  <a:pt x="4202" y="2462"/>
                </a:lnTo>
                <a:lnTo>
                  <a:pt x="3992" y="2317"/>
                </a:lnTo>
                <a:lnTo>
                  <a:pt x="3975" y="2332"/>
                </a:lnTo>
                <a:lnTo>
                  <a:pt x="3958" y="2346"/>
                </a:lnTo>
                <a:lnTo>
                  <a:pt x="3941" y="2361"/>
                </a:lnTo>
                <a:lnTo>
                  <a:pt x="3924" y="2375"/>
                </a:lnTo>
                <a:lnTo>
                  <a:pt x="3907" y="2389"/>
                </a:lnTo>
                <a:lnTo>
                  <a:pt x="3889" y="2402"/>
                </a:lnTo>
                <a:lnTo>
                  <a:pt x="3871" y="2416"/>
                </a:lnTo>
                <a:lnTo>
                  <a:pt x="3852" y="2429"/>
                </a:lnTo>
                <a:lnTo>
                  <a:pt x="3834" y="2442"/>
                </a:lnTo>
                <a:lnTo>
                  <a:pt x="3815" y="2454"/>
                </a:lnTo>
                <a:lnTo>
                  <a:pt x="3796" y="2466"/>
                </a:lnTo>
                <a:lnTo>
                  <a:pt x="3776" y="2478"/>
                </a:lnTo>
                <a:lnTo>
                  <a:pt x="3757" y="2489"/>
                </a:lnTo>
                <a:lnTo>
                  <a:pt x="3737" y="2500"/>
                </a:lnTo>
                <a:lnTo>
                  <a:pt x="3717" y="2511"/>
                </a:lnTo>
                <a:lnTo>
                  <a:pt x="3696" y="2522"/>
                </a:lnTo>
                <a:lnTo>
                  <a:pt x="3777" y="2757"/>
                </a:lnTo>
                <a:lnTo>
                  <a:pt x="3778" y="2764"/>
                </a:lnTo>
                <a:lnTo>
                  <a:pt x="3779" y="2772"/>
                </a:lnTo>
                <a:lnTo>
                  <a:pt x="3781" y="2779"/>
                </a:lnTo>
                <a:lnTo>
                  <a:pt x="3780" y="2786"/>
                </a:lnTo>
                <a:lnTo>
                  <a:pt x="3779" y="2793"/>
                </a:lnTo>
                <a:lnTo>
                  <a:pt x="3778" y="2800"/>
                </a:lnTo>
                <a:lnTo>
                  <a:pt x="3775" y="2807"/>
                </a:lnTo>
                <a:lnTo>
                  <a:pt x="3772" y="2813"/>
                </a:lnTo>
                <a:lnTo>
                  <a:pt x="3768" y="2819"/>
                </a:lnTo>
                <a:lnTo>
                  <a:pt x="3764" y="2825"/>
                </a:lnTo>
                <a:lnTo>
                  <a:pt x="3759" y="2830"/>
                </a:lnTo>
                <a:lnTo>
                  <a:pt x="3754" y="2835"/>
                </a:lnTo>
                <a:lnTo>
                  <a:pt x="3748" y="2840"/>
                </a:lnTo>
                <a:lnTo>
                  <a:pt x="3742" y="2843"/>
                </a:lnTo>
                <a:lnTo>
                  <a:pt x="3734" y="2847"/>
                </a:lnTo>
                <a:lnTo>
                  <a:pt x="3727" y="2850"/>
                </a:lnTo>
                <a:lnTo>
                  <a:pt x="3478" y="2927"/>
                </a:lnTo>
                <a:lnTo>
                  <a:pt x="3470" y="2929"/>
                </a:lnTo>
                <a:lnTo>
                  <a:pt x="3463" y="2930"/>
                </a:lnTo>
                <a:lnTo>
                  <a:pt x="3455" y="2930"/>
                </a:lnTo>
                <a:lnTo>
                  <a:pt x="3448" y="2930"/>
                </a:lnTo>
                <a:lnTo>
                  <a:pt x="3440" y="2929"/>
                </a:lnTo>
                <a:lnTo>
                  <a:pt x="3433" y="2928"/>
                </a:lnTo>
                <a:lnTo>
                  <a:pt x="3426" y="2925"/>
                </a:lnTo>
                <a:lnTo>
                  <a:pt x="3419" y="2922"/>
                </a:lnTo>
                <a:lnTo>
                  <a:pt x="3413" y="2919"/>
                </a:lnTo>
                <a:lnTo>
                  <a:pt x="3407" y="2915"/>
                </a:lnTo>
                <a:lnTo>
                  <a:pt x="3401" y="2910"/>
                </a:lnTo>
                <a:lnTo>
                  <a:pt x="3396" y="2905"/>
                </a:lnTo>
                <a:lnTo>
                  <a:pt x="3392" y="2899"/>
                </a:lnTo>
                <a:lnTo>
                  <a:pt x="3387" y="2893"/>
                </a:lnTo>
                <a:lnTo>
                  <a:pt x="3384" y="2886"/>
                </a:lnTo>
                <a:lnTo>
                  <a:pt x="3381" y="2880"/>
                </a:lnTo>
                <a:lnTo>
                  <a:pt x="3301" y="2644"/>
                </a:lnTo>
                <a:lnTo>
                  <a:pt x="3278" y="2647"/>
                </a:lnTo>
                <a:lnTo>
                  <a:pt x="3256" y="2649"/>
                </a:lnTo>
                <a:lnTo>
                  <a:pt x="3233" y="2651"/>
                </a:lnTo>
                <a:lnTo>
                  <a:pt x="3210" y="2654"/>
                </a:lnTo>
                <a:lnTo>
                  <a:pt x="3188" y="2655"/>
                </a:lnTo>
                <a:lnTo>
                  <a:pt x="3165" y="2656"/>
                </a:lnTo>
                <a:lnTo>
                  <a:pt x="3141" y="2656"/>
                </a:lnTo>
                <a:lnTo>
                  <a:pt x="3118" y="2657"/>
                </a:lnTo>
                <a:lnTo>
                  <a:pt x="3095" y="2656"/>
                </a:lnTo>
                <a:lnTo>
                  <a:pt x="3072" y="2656"/>
                </a:lnTo>
                <a:lnTo>
                  <a:pt x="3049" y="2655"/>
                </a:lnTo>
                <a:lnTo>
                  <a:pt x="3026" y="2654"/>
                </a:lnTo>
                <a:lnTo>
                  <a:pt x="3003" y="2651"/>
                </a:lnTo>
                <a:lnTo>
                  <a:pt x="2981" y="2649"/>
                </a:lnTo>
                <a:lnTo>
                  <a:pt x="2958" y="2647"/>
                </a:lnTo>
                <a:lnTo>
                  <a:pt x="2935" y="2644"/>
                </a:lnTo>
                <a:lnTo>
                  <a:pt x="2856" y="2880"/>
                </a:lnTo>
                <a:lnTo>
                  <a:pt x="2853" y="2887"/>
                </a:lnTo>
                <a:lnTo>
                  <a:pt x="2850" y="2893"/>
                </a:lnTo>
                <a:lnTo>
                  <a:pt x="2845" y="2899"/>
                </a:lnTo>
                <a:lnTo>
                  <a:pt x="2841" y="2905"/>
                </a:lnTo>
                <a:lnTo>
                  <a:pt x="2836" y="2910"/>
                </a:lnTo>
                <a:lnTo>
                  <a:pt x="2830" y="2915"/>
                </a:lnTo>
                <a:lnTo>
                  <a:pt x="2824" y="2919"/>
                </a:lnTo>
                <a:lnTo>
                  <a:pt x="2817" y="2922"/>
                </a:lnTo>
                <a:lnTo>
                  <a:pt x="2811" y="2925"/>
                </a:lnTo>
                <a:lnTo>
                  <a:pt x="2803" y="2928"/>
                </a:lnTo>
                <a:lnTo>
                  <a:pt x="2796" y="2929"/>
                </a:lnTo>
                <a:lnTo>
                  <a:pt x="2788" y="2930"/>
                </a:lnTo>
                <a:lnTo>
                  <a:pt x="2781" y="2930"/>
                </a:lnTo>
                <a:lnTo>
                  <a:pt x="2774" y="2930"/>
                </a:lnTo>
                <a:lnTo>
                  <a:pt x="2766" y="2929"/>
                </a:lnTo>
                <a:lnTo>
                  <a:pt x="2758" y="2927"/>
                </a:lnTo>
                <a:lnTo>
                  <a:pt x="2509" y="2850"/>
                </a:lnTo>
                <a:lnTo>
                  <a:pt x="2502" y="2847"/>
                </a:lnTo>
                <a:lnTo>
                  <a:pt x="2495" y="2843"/>
                </a:lnTo>
                <a:lnTo>
                  <a:pt x="2489" y="2840"/>
                </a:lnTo>
                <a:lnTo>
                  <a:pt x="2483" y="2835"/>
                </a:lnTo>
                <a:lnTo>
                  <a:pt x="2477" y="2830"/>
                </a:lnTo>
                <a:lnTo>
                  <a:pt x="2472" y="2825"/>
                </a:lnTo>
                <a:lnTo>
                  <a:pt x="2468" y="2819"/>
                </a:lnTo>
                <a:lnTo>
                  <a:pt x="2465" y="2813"/>
                </a:lnTo>
                <a:lnTo>
                  <a:pt x="2461" y="2807"/>
                </a:lnTo>
                <a:lnTo>
                  <a:pt x="2459" y="2800"/>
                </a:lnTo>
                <a:lnTo>
                  <a:pt x="2457" y="2793"/>
                </a:lnTo>
                <a:lnTo>
                  <a:pt x="2456" y="2786"/>
                </a:lnTo>
                <a:lnTo>
                  <a:pt x="2456" y="2779"/>
                </a:lnTo>
                <a:lnTo>
                  <a:pt x="2457" y="2772"/>
                </a:lnTo>
                <a:lnTo>
                  <a:pt x="2458" y="2764"/>
                </a:lnTo>
                <a:lnTo>
                  <a:pt x="2459" y="2757"/>
                </a:lnTo>
                <a:lnTo>
                  <a:pt x="2540" y="2522"/>
                </a:lnTo>
                <a:lnTo>
                  <a:pt x="2520" y="2511"/>
                </a:lnTo>
                <a:lnTo>
                  <a:pt x="2500" y="2500"/>
                </a:lnTo>
                <a:lnTo>
                  <a:pt x="2480" y="2489"/>
                </a:lnTo>
                <a:lnTo>
                  <a:pt x="2460" y="2478"/>
                </a:lnTo>
                <a:lnTo>
                  <a:pt x="2441" y="2466"/>
                </a:lnTo>
                <a:lnTo>
                  <a:pt x="2422" y="2454"/>
                </a:lnTo>
                <a:lnTo>
                  <a:pt x="2403" y="2442"/>
                </a:lnTo>
                <a:lnTo>
                  <a:pt x="2384" y="2429"/>
                </a:lnTo>
                <a:lnTo>
                  <a:pt x="2366" y="2416"/>
                </a:lnTo>
                <a:lnTo>
                  <a:pt x="2348" y="2402"/>
                </a:lnTo>
                <a:lnTo>
                  <a:pt x="2330" y="2389"/>
                </a:lnTo>
                <a:lnTo>
                  <a:pt x="2312" y="2375"/>
                </a:lnTo>
                <a:lnTo>
                  <a:pt x="2295" y="2361"/>
                </a:lnTo>
                <a:lnTo>
                  <a:pt x="2278" y="2346"/>
                </a:lnTo>
                <a:lnTo>
                  <a:pt x="2261" y="2332"/>
                </a:lnTo>
                <a:lnTo>
                  <a:pt x="2244" y="2316"/>
                </a:lnTo>
                <a:lnTo>
                  <a:pt x="2035" y="2462"/>
                </a:lnTo>
                <a:lnTo>
                  <a:pt x="2028" y="2466"/>
                </a:lnTo>
                <a:lnTo>
                  <a:pt x="2021" y="2470"/>
                </a:lnTo>
                <a:lnTo>
                  <a:pt x="2014" y="2472"/>
                </a:lnTo>
                <a:lnTo>
                  <a:pt x="2007" y="2474"/>
                </a:lnTo>
                <a:lnTo>
                  <a:pt x="2000" y="2475"/>
                </a:lnTo>
                <a:lnTo>
                  <a:pt x="1992" y="2476"/>
                </a:lnTo>
                <a:lnTo>
                  <a:pt x="1985" y="2476"/>
                </a:lnTo>
                <a:lnTo>
                  <a:pt x="1978" y="2475"/>
                </a:lnTo>
                <a:lnTo>
                  <a:pt x="1970" y="2474"/>
                </a:lnTo>
                <a:lnTo>
                  <a:pt x="1963" y="2472"/>
                </a:lnTo>
                <a:lnTo>
                  <a:pt x="1956" y="2469"/>
                </a:lnTo>
                <a:lnTo>
                  <a:pt x="1949" y="2466"/>
                </a:lnTo>
                <a:lnTo>
                  <a:pt x="1944" y="2461"/>
                </a:lnTo>
                <a:lnTo>
                  <a:pt x="1938" y="2457"/>
                </a:lnTo>
                <a:lnTo>
                  <a:pt x="1932" y="2452"/>
                </a:lnTo>
                <a:lnTo>
                  <a:pt x="1927" y="2446"/>
                </a:lnTo>
                <a:lnTo>
                  <a:pt x="1773" y="2243"/>
                </a:lnTo>
                <a:lnTo>
                  <a:pt x="1769" y="2237"/>
                </a:lnTo>
                <a:lnTo>
                  <a:pt x="1765" y="2231"/>
                </a:lnTo>
                <a:lnTo>
                  <a:pt x="1763" y="2224"/>
                </a:lnTo>
                <a:lnTo>
                  <a:pt x="1760" y="2217"/>
                </a:lnTo>
                <a:lnTo>
                  <a:pt x="1759" y="2210"/>
                </a:lnTo>
                <a:lnTo>
                  <a:pt x="1759" y="2203"/>
                </a:lnTo>
                <a:lnTo>
                  <a:pt x="1759" y="2195"/>
                </a:lnTo>
                <a:lnTo>
                  <a:pt x="1759" y="2189"/>
                </a:lnTo>
                <a:lnTo>
                  <a:pt x="1761" y="2182"/>
                </a:lnTo>
                <a:lnTo>
                  <a:pt x="1763" y="2175"/>
                </a:lnTo>
                <a:lnTo>
                  <a:pt x="1766" y="2168"/>
                </a:lnTo>
                <a:lnTo>
                  <a:pt x="1770" y="2162"/>
                </a:lnTo>
                <a:lnTo>
                  <a:pt x="1774" y="2156"/>
                </a:lnTo>
                <a:lnTo>
                  <a:pt x="1779" y="2150"/>
                </a:lnTo>
                <a:lnTo>
                  <a:pt x="1784" y="2145"/>
                </a:lnTo>
                <a:lnTo>
                  <a:pt x="1790" y="2140"/>
                </a:lnTo>
                <a:lnTo>
                  <a:pt x="2000" y="1995"/>
                </a:lnTo>
                <a:lnTo>
                  <a:pt x="1990" y="1976"/>
                </a:lnTo>
                <a:lnTo>
                  <a:pt x="1981" y="1956"/>
                </a:lnTo>
                <a:lnTo>
                  <a:pt x="1971" y="1937"/>
                </a:lnTo>
                <a:lnTo>
                  <a:pt x="1963" y="1916"/>
                </a:lnTo>
                <a:lnTo>
                  <a:pt x="1954" y="1896"/>
                </a:lnTo>
                <a:lnTo>
                  <a:pt x="1946" y="1876"/>
                </a:lnTo>
                <a:lnTo>
                  <a:pt x="1939" y="1855"/>
                </a:lnTo>
                <a:lnTo>
                  <a:pt x="1931" y="1835"/>
                </a:lnTo>
                <a:lnTo>
                  <a:pt x="1924" y="1814"/>
                </a:lnTo>
                <a:lnTo>
                  <a:pt x="1918" y="1793"/>
                </a:lnTo>
                <a:lnTo>
                  <a:pt x="1912" y="1771"/>
                </a:lnTo>
                <a:lnTo>
                  <a:pt x="1906" y="1751"/>
                </a:lnTo>
                <a:lnTo>
                  <a:pt x="1901" y="1729"/>
                </a:lnTo>
                <a:lnTo>
                  <a:pt x="1896" y="1707"/>
                </a:lnTo>
                <a:lnTo>
                  <a:pt x="1891" y="1686"/>
                </a:lnTo>
                <a:lnTo>
                  <a:pt x="1887" y="1664"/>
                </a:lnTo>
                <a:lnTo>
                  <a:pt x="1628" y="1664"/>
                </a:lnTo>
                <a:lnTo>
                  <a:pt x="1620" y="1663"/>
                </a:lnTo>
                <a:lnTo>
                  <a:pt x="1612" y="1662"/>
                </a:lnTo>
                <a:lnTo>
                  <a:pt x="1605" y="1660"/>
                </a:lnTo>
                <a:lnTo>
                  <a:pt x="1598" y="1658"/>
                </a:lnTo>
                <a:lnTo>
                  <a:pt x="1591" y="1655"/>
                </a:lnTo>
                <a:lnTo>
                  <a:pt x="1585" y="1651"/>
                </a:lnTo>
                <a:lnTo>
                  <a:pt x="1579" y="1647"/>
                </a:lnTo>
                <a:lnTo>
                  <a:pt x="1574" y="1642"/>
                </a:lnTo>
                <a:lnTo>
                  <a:pt x="1569" y="1637"/>
                </a:lnTo>
                <a:lnTo>
                  <a:pt x="1564" y="1631"/>
                </a:lnTo>
                <a:lnTo>
                  <a:pt x="1560" y="1625"/>
                </a:lnTo>
                <a:lnTo>
                  <a:pt x="1557" y="1619"/>
                </a:lnTo>
                <a:lnTo>
                  <a:pt x="1554" y="1612"/>
                </a:lnTo>
                <a:lnTo>
                  <a:pt x="1552" y="1605"/>
                </a:lnTo>
                <a:lnTo>
                  <a:pt x="1551" y="1597"/>
                </a:lnTo>
                <a:lnTo>
                  <a:pt x="1551" y="1590"/>
                </a:lnTo>
                <a:lnTo>
                  <a:pt x="1551" y="1340"/>
                </a:lnTo>
                <a:lnTo>
                  <a:pt x="1551" y="1332"/>
                </a:lnTo>
                <a:lnTo>
                  <a:pt x="1552" y="1325"/>
                </a:lnTo>
                <a:lnTo>
                  <a:pt x="1554" y="1318"/>
                </a:lnTo>
                <a:lnTo>
                  <a:pt x="1557" y="1311"/>
                </a:lnTo>
                <a:lnTo>
                  <a:pt x="1560" y="1305"/>
                </a:lnTo>
                <a:lnTo>
                  <a:pt x="1564" y="1299"/>
                </a:lnTo>
                <a:lnTo>
                  <a:pt x="1569" y="1293"/>
                </a:lnTo>
                <a:lnTo>
                  <a:pt x="1574" y="1288"/>
                </a:lnTo>
                <a:lnTo>
                  <a:pt x="1579" y="1283"/>
                </a:lnTo>
                <a:lnTo>
                  <a:pt x="1585" y="1279"/>
                </a:lnTo>
                <a:lnTo>
                  <a:pt x="1591" y="1275"/>
                </a:lnTo>
                <a:lnTo>
                  <a:pt x="1598" y="1272"/>
                </a:lnTo>
                <a:lnTo>
                  <a:pt x="1605" y="1269"/>
                </a:lnTo>
                <a:lnTo>
                  <a:pt x="1612" y="1268"/>
                </a:lnTo>
                <a:lnTo>
                  <a:pt x="1620" y="1267"/>
                </a:lnTo>
                <a:lnTo>
                  <a:pt x="1628" y="1266"/>
                </a:lnTo>
                <a:lnTo>
                  <a:pt x="1887" y="1266"/>
                </a:lnTo>
                <a:lnTo>
                  <a:pt x="1891" y="1244"/>
                </a:lnTo>
                <a:lnTo>
                  <a:pt x="1896" y="1223"/>
                </a:lnTo>
                <a:lnTo>
                  <a:pt x="1901" y="1201"/>
                </a:lnTo>
                <a:lnTo>
                  <a:pt x="1906" y="1180"/>
                </a:lnTo>
                <a:lnTo>
                  <a:pt x="1912" y="1158"/>
                </a:lnTo>
                <a:lnTo>
                  <a:pt x="1918" y="1137"/>
                </a:lnTo>
                <a:lnTo>
                  <a:pt x="1924" y="1116"/>
                </a:lnTo>
                <a:lnTo>
                  <a:pt x="1931" y="1095"/>
                </a:lnTo>
                <a:lnTo>
                  <a:pt x="1939" y="1075"/>
                </a:lnTo>
                <a:lnTo>
                  <a:pt x="1946" y="1054"/>
                </a:lnTo>
                <a:lnTo>
                  <a:pt x="1954" y="1034"/>
                </a:lnTo>
                <a:lnTo>
                  <a:pt x="1963" y="1014"/>
                </a:lnTo>
                <a:lnTo>
                  <a:pt x="1971" y="993"/>
                </a:lnTo>
                <a:lnTo>
                  <a:pt x="1981" y="974"/>
                </a:lnTo>
                <a:lnTo>
                  <a:pt x="1990" y="954"/>
                </a:lnTo>
                <a:lnTo>
                  <a:pt x="2000" y="935"/>
                </a:lnTo>
                <a:lnTo>
                  <a:pt x="1790" y="789"/>
                </a:lnTo>
                <a:lnTo>
                  <a:pt x="1784" y="784"/>
                </a:lnTo>
                <a:lnTo>
                  <a:pt x="1779" y="779"/>
                </a:lnTo>
                <a:lnTo>
                  <a:pt x="1774" y="774"/>
                </a:lnTo>
                <a:lnTo>
                  <a:pt x="1770" y="768"/>
                </a:lnTo>
                <a:lnTo>
                  <a:pt x="1766" y="761"/>
                </a:lnTo>
                <a:lnTo>
                  <a:pt x="1763" y="755"/>
                </a:lnTo>
                <a:lnTo>
                  <a:pt x="1761" y="748"/>
                </a:lnTo>
                <a:lnTo>
                  <a:pt x="1759" y="741"/>
                </a:lnTo>
                <a:lnTo>
                  <a:pt x="1759" y="734"/>
                </a:lnTo>
                <a:lnTo>
                  <a:pt x="1759" y="727"/>
                </a:lnTo>
                <a:lnTo>
                  <a:pt x="1759" y="720"/>
                </a:lnTo>
                <a:lnTo>
                  <a:pt x="1760" y="713"/>
                </a:lnTo>
                <a:lnTo>
                  <a:pt x="1763" y="706"/>
                </a:lnTo>
                <a:lnTo>
                  <a:pt x="1765" y="699"/>
                </a:lnTo>
                <a:lnTo>
                  <a:pt x="1769" y="693"/>
                </a:lnTo>
                <a:lnTo>
                  <a:pt x="1773" y="686"/>
                </a:lnTo>
                <a:lnTo>
                  <a:pt x="1927" y="485"/>
                </a:lnTo>
                <a:lnTo>
                  <a:pt x="1932" y="478"/>
                </a:lnTo>
                <a:lnTo>
                  <a:pt x="1938" y="473"/>
                </a:lnTo>
                <a:lnTo>
                  <a:pt x="1944" y="468"/>
                </a:lnTo>
                <a:lnTo>
                  <a:pt x="1949" y="464"/>
                </a:lnTo>
                <a:lnTo>
                  <a:pt x="1956" y="461"/>
                </a:lnTo>
                <a:lnTo>
                  <a:pt x="1963" y="458"/>
                </a:lnTo>
                <a:lnTo>
                  <a:pt x="1970" y="456"/>
                </a:lnTo>
                <a:lnTo>
                  <a:pt x="1978" y="455"/>
                </a:lnTo>
                <a:lnTo>
                  <a:pt x="1985" y="454"/>
                </a:lnTo>
                <a:lnTo>
                  <a:pt x="1992" y="454"/>
                </a:lnTo>
                <a:lnTo>
                  <a:pt x="2000" y="455"/>
                </a:lnTo>
                <a:lnTo>
                  <a:pt x="2007" y="456"/>
                </a:lnTo>
                <a:lnTo>
                  <a:pt x="2014" y="458"/>
                </a:lnTo>
                <a:lnTo>
                  <a:pt x="2021" y="460"/>
                </a:lnTo>
                <a:lnTo>
                  <a:pt x="2028" y="464"/>
                </a:lnTo>
                <a:lnTo>
                  <a:pt x="2035" y="468"/>
                </a:lnTo>
                <a:lnTo>
                  <a:pt x="2244" y="613"/>
                </a:lnTo>
                <a:lnTo>
                  <a:pt x="2261" y="598"/>
                </a:lnTo>
                <a:lnTo>
                  <a:pt x="2278" y="583"/>
                </a:lnTo>
                <a:lnTo>
                  <a:pt x="2295" y="569"/>
                </a:lnTo>
                <a:lnTo>
                  <a:pt x="2312" y="555"/>
                </a:lnTo>
                <a:lnTo>
                  <a:pt x="2330" y="541"/>
                </a:lnTo>
                <a:lnTo>
                  <a:pt x="2348" y="527"/>
                </a:lnTo>
                <a:lnTo>
                  <a:pt x="2366" y="514"/>
                </a:lnTo>
                <a:lnTo>
                  <a:pt x="2384" y="501"/>
                </a:lnTo>
                <a:lnTo>
                  <a:pt x="2403" y="488"/>
                </a:lnTo>
                <a:lnTo>
                  <a:pt x="2422" y="476"/>
                </a:lnTo>
                <a:lnTo>
                  <a:pt x="2441" y="464"/>
                </a:lnTo>
                <a:lnTo>
                  <a:pt x="2460" y="452"/>
                </a:lnTo>
                <a:lnTo>
                  <a:pt x="2480" y="441"/>
                </a:lnTo>
                <a:lnTo>
                  <a:pt x="2500" y="430"/>
                </a:lnTo>
                <a:lnTo>
                  <a:pt x="2520" y="419"/>
                </a:lnTo>
                <a:lnTo>
                  <a:pt x="2540" y="408"/>
                </a:lnTo>
                <a:lnTo>
                  <a:pt x="2459" y="173"/>
                </a:lnTo>
                <a:lnTo>
                  <a:pt x="2457" y="166"/>
                </a:lnTo>
                <a:lnTo>
                  <a:pt x="2457" y="158"/>
                </a:lnTo>
                <a:lnTo>
                  <a:pt x="2456" y="151"/>
                </a:lnTo>
                <a:lnTo>
                  <a:pt x="2456" y="144"/>
                </a:lnTo>
                <a:lnTo>
                  <a:pt x="2457" y="137"/>
                </a:lnTo>
                <a:lnTo>
                  <a:pt x="2459" y="130"/>
                </a:lnTo>
                <a:lnTo>
                  <a:pt x="2461" y="123"/>
                </a:lnTo>
                <a:lnTo>
                  <a:pt x="2464" y="117"/>
                </a:lnTo>
                <a:lnTo>
                  <a:pt x="2468" y="111"/>
                </a:lnTo>
                <a:lnTo>
                  <a:pt x="2472" y="105"/>
                </a:lnTo>
                <a:lnTo>
                  <a:pt x="2477" y="100"/>
                </a:lnTo>
                <a:lnTo>
                  <a:pt x="2483" y="95"/>
                </a:lnTo>
                <a:lnTo>
                  <a:pt x="2489" y="90"/>
                </a:lnTo>
                <a:lnTo>
                  <a:pt x="2495" y="86"/>
                </a:lnTo>
                <a:lnTo>
                  <a:pt x="2502" y="83"/>
                </a:lnTo>
                <a:lnTo>
                  <a:pt x="2509" y="80"/>
                </a:lnTo>
                <a:lnTo>
                  <a:pt x="2758" y="3"/>
                </a:lnTo>
                <a:lnTo>
                  <a:pt x="2766" y="1"/>
                </a:lnTo>
                <a:lnTo>
                  <a:pt x="2774" y="0"/>
                </a:lnTo>
                <a:lnTo>
                  <a:pt x="2781" y="0"/>
                </a:lnTo>
              </a:path>
              <a:path w="10965" h="4927">
                <a:moveTo>
                  <a:pt x="5187" y="2650"/>
                </a:moveTo>
                <a:cubicBezTo>
                  <a:pt x="4685" y="2650"/>
                  <a:pt x="4277" y="3040"/>
                  <a:pt x="4277" y="3520"/>
                </a:cubicBezTo>
                <a:cubicBezTo>
                  <a:pt x="4277" y="4001"/>
                  <a:pt x="4685" y="4390"/>
                  <a:pt x="5187" y="4390"/>
                </a:cubicBezTo>
                <a:cubicBezTo>
                  <a:pt x="5690" y="4390"/>
                  <a:pt x="6097" y="4001"/>
                  <a:pt x="6097" y="3520"/>
                </a:cubicBezTo>
                <a:cubicBezTo>
                  <a:pt x="6097" y="3040"/>
                  <a:pt x="5690" y="2650"/>
                  <a:pt x="5187" y="2650"/>
                </a:cubicBezTo>
                <a:moveTo>
                  <a:pt x="4864" y="2113"/>
                </a:moveTo>
                <a:lnTo>
                  <a:pt x="4871" y="2113"/>
                </a:lnTo>
                <a:lnTo>
                  <a:pt x="4878" y="2114"/>
                </a:lnTo>
                <a:lnTo>
                  <a:pt x="4885" y="2116"/>
                </a:lnTo>
                <a:lnTo>
                  <a:pt x="4892" y="2118"/>
                </a:lnTo>
                <a:lnTo>
                  <a:pt x="4898" y="2120"/>
                </a:lnTo>
                <a:lnTo>
                  <a:pt x="4905" y="2124"/>
                </a:lnTo>
                <a:lnTo>
                  <a:pt x="4910" y="2128"/>
                </a:lnTo>
                <a:lnTo>
                  <a:pt x="4916" y="2132"/>
                </a:lnTo>
                <a:lnTo>
                  <a:pt x="4921" y="2137"/>
                </a:lnTo>
                <a:lnTo>
                  <a:pt x="4925" y="2143"/>
                </a:lnTo>
                <a:lnTo>
                  <a:pt x="4929" y="2149"/>
                </a:lnTo>
                <a:lnTo>
                  <a:pt x="4932" y="2155"/>
                </a:lnTo>
                <a:lnTo>
                  <a:pt x="4935" y="2162"/>
                </a:lnTo>
                <a:lnTo>
                  <a:pt x="5012" y="2388"/>
                </a:lnTo>
                <a:lnTo>
                  <a:pt x="5033" y="2385"/>
                </a:lnTo>
                <a:lnTo>
                  <a:pt x="5055" y="2382"/>
                </a:lnTo>
                <a:lnTo>
                  <a:pt x="5077" y="2380"/>
                </a:lnTo>
                <a:lnTo>
                  <a:pt x="5099" y="2379"/>
                </a:lnTo>
                <a:lnTo>
                  <a:pt x="5121" y="2377"/>
                </a:lnTo>
                <a:lnTo>
                  <a:pt x="5143" y="2376"/>
                </a:lnTo>
                <a:lnTo>
                  <a:pt x="5165" y="2376"/>
                </a:lnTo>
                <a:lnTo>
                  <a:pt x="5187" y="2376"/>
                </a:lnTo>
                <a:lnTo>
                  <a:pt x="5209" y="2376"/>
                </a:lnTo>
                <a:lnTo>
                  <a:pt x="5232" y="2376"/>
                </a:lnTo>
                <a:lnTo>
                  <a:pt x="5254" y="2377"/>
                </a:lnTo>
                <a:lnTo>
                  <a:pt x="5276" y="2379"/>
                </a:lnTo>
                <a:lnTo>
                  <a:pt x="5298" y="2380"/>
                </a:lnTo>
                <a:lnTo>
                  <a:pt x="5319" y="2382"/>
                </a:lnTo>
                <a:lnTo>
                  <a:pt x="5341" y="2385"/>
                </a:lnTo>
                <a:lnTo>
                  <a:pt x="5362" y="2388"/>
                </a:lnTo>
                <a:lnTo>
                  <a:pt x="5439" y="2162"/>
                </a:lnTo>
                <a:lnTo>
                  <a:pt x="5442" y="2155"/>
                </a:lnTo>
                <a:lnTo>
                  <a:pt x="5445" y="2149"/>
                </a:lnTo>
                <a:lnTo>
                  <a:pt x="5450" y="2143"/>
                </a:lnTo>
                <a:lnTo>
                  <a:pt x="5454" y="2137"/>
                </a:lnTo>
                <a:lnTo>
                  <a:pt x="5459" y="2132"/>
                </a:lnTo>
                <a:lnTo>
                  <a:pt x="5464" y="2128"/>
                </a:lnTo>
                <a:lnTo>
                  <a:pt x="5470" y="2124"/>
                </a:lnTo>
                <a:lnTo>
                  <a:pt x="5476" y="2120"/>
                </a:lnTo>
                <a:lnTo>
                  <a:pt x="5483" y="2118"/>
                </a:lnTo>
                <a:lnTo>
                  <a:pt x="5489" y="2116"/>
                </a:lnTo>
                <a:lnTo>
                  <a:pt x="5496" y="2114"/>
                </a:lnTo>
                <a:lnTo>
                  <a:pt x="5503" y="2113"/>
                </a:lnTo>
                <a:lnTo>
                  <a:pt x="5511" y="2113"/>
                </a:lnTo>
                <a:lnTo>
                  <a:pt x="5518" y="2113"/>
                </a:lnTo>
                <a:lnTo>
                  <a:pt x="5525" y="2114"/>
                </a:lnTo>
                <a:lnTo>
                  <a:pt x="5533" y="2116"/>
                </a:lnTo>
                <a:lnTo>
                  <a:pt x="5771" y="2191"/>
                </a:lnTo>
                <a:lnTo>
                  <a:pt x="5779" y="2193"/>
                </a:lnTo>
                <a:lnTo>
                  <a:pt x="5785" y="2196"/>
                </a:lnTo>
                <a:lnTo>
                  <a:pt x="5792" y="2200"/>
                </a:lnTo>
                <a:lnTo>
                  <a:pt x="5797" y="2204"/>
                </a:lnTo>
                <a:lnTo>
                  <a:pt x="5803" y="2209"/>
                </a:lnTo>
                <a:lnTo>
                  <a:pt x="5807" y="2214"/>
                </a:lnTo>
                <a:lnTo>
                  <a:pt x="5811" y="2220"/>
                </a:lnTo>
                <a:lnTo>
                  <a:pt x="5815" y="2225"/>
                </a:lnTo>
                <a:lnTo>
                  <a:pt x="5818" y="2231"/>
                </a:lnTo>
                <a:lnTo>
                  <a:pt x="5820" y="2238"/>
                </a:lnTo>
                <a:lnTo>
                  <a:pt x="5822" y="2245"/>
                </a:lnTo>
                <a:lnTo>
                  <a:pt x="5823" y="2252"/>
                </a:lnTo>
                <a:lnTo>
                  <a:pt x="5823" y="2259"/>
                </a:lnTo>
                <a:lnTo>
                  <a:pt x="5822" y="2266"/>
                </a:lnTo>
                <a:lnTo>
                  <a:pt x="5821" y="2273"/>
                </a:lnTo>
                <a:lnTo>
                  <a:pt x="5819" y="2280"/>
                </a:lnTo>
                <a:lnTo>
                  <a:pt x="5742" y="2506"/>
                </a:lnTo>
                <a:lnTo>
                  <a:pt x="5762" y="2516"/>
                </a:lnTo>
                <a:lnTo>
                  <a:pt x="5781" y="2526"/>
                </a:lnTo>
                <a:lnTo>
                  <a:pt x="5800" y="2537"/>
                </a:lnTo>
                <a:lnTo>
                  <a:pt x="5819" y="2548"/>
                </a:lnTo>
                <a:lnTo>
                  <a:pt x="5838" y="2559"/>
                </a:lnTo>
                <a:lnTo>
                  <a:pt x="5856" y="2570"/>
                </a:lnTo>
                <a:lnTo>
                  <a:pt x="5874" y="2582"/>
                </a:lnTo>
                <a:lnTo>
                  <a:pt x="5892" y="2594"/>
                </a:lnTo>
                <a:lnTo>
                  <a:pt x="5909" y="2607"/>
                </a:lnTo>
                <a:lnTo>
                  <a:pt x="5927" y="2620"/>
                </a:lnTo>
                <a:lnTo>
                  <a:pt x="5944" y="2633"/>
                </a:lnTo>
                <a:lnTo>
                  <a:pt x="5961" y="2646"/>
                </a:lnTo>
                <a:lnTo>
                  <a:pt x="5977" y="2660"/>
                </a:lnTo>
                <a:lnTo>
                  <a:pt x="5994" y="2674"/>
                </a:lnTo>
                <a:lnTo>
                  <a:pt x="6010" y="2688"/>
                </a:lnTo>
                <a:lnTo>
                  <a:pt x="6026" y="2702"/>
                </a:lnTo>
                <a:lnTo>
                  <a:pt x="6227" y="2563"/>
                </a:lnTo>
                <a:lnTo>
                  <a:pt x="6234" y="2559"/>
                </a:lnTo>
                <a:lnTo>
                  <a:pt x="6240" y="2555"/>
                </a:lnTo>
                <a:lnTo>
                  <a:pt x="6247" y="2553"/>
                </a:lnTo>
                <a:lnTo>
                  <a:pt x="6254" y="2551"/>
                </a:lnTo>
                <a:lnTo>
                  <a:pt x="6261" y="2550"/>
                </a:lnTo>
                <a:lnTo>
                  <a:pt x="6268" y="2549"/>
                </a:lnTo>
                <a:lnTo>
                  <a:pt x="6275" y="2549"/>
                </a:lnTo>
                <a:lnTo>
                  <a:pt x="6282" y="2550"/>
                </a:lnTo>
                <a:lnTo>
                  <a:pt x="6289" y="2551"/>
                </a:lnTo>
                <a:lnTo>
                  <a:pt x="6296" y="2553"/>
                </a:lnTo>
                <a:lnTo>
                  <a:pt x="6302" y="2556"/>
                </a:lnTo>
                <a:lnTo>
                  <a:pt x="6309" y="2559"/>
                </a:lnTo>
                <a:lnTo>
                  <a:pt x="6315" y="2563"/>
                </a:lnTo>
                <a:lnTo>
                  <a:pt x="6321" y="2568"/>
                </a:lnTo>
                <a:lnTo>
                  <a:pt x="6326" y="2573"/>
                </a:lnTo>
                <a:lnTo>
                  <a:pt x="6331" y="2579"/>
                </a:lnTo>
                <a:lnTo>
                  <a:pt x="6478" y="2772"/>
                </a:lnTo>
                <a:lnTo>
                  <a:pt x="6483" y="2778"/>
                </a:lnTo>
                <a:lnTo>
                  <a:pt x="6486" y="2785"/>
                </a:lnTo>
                <a:lnTo>
                  <a:pt x="6489" y="2791"/>
                </a:lnTo>
                <a:lnTo>
                  <a:pt x="6491" y="2798"/>
                </a:lnTo>
                <a:lnTo>
                  <a:pt x="6492" y="2805"/>
                </a:lnTo>
                <a:lnTo>
                  <a:pt x="6492" y="2812"/>
                </a:lnTo>
                <a:lnTo>
                  <a:pt x="6492" y="2818"/>
                </a:lnTo>
                <a:lnTo>
                  <a:pt x="6491" y="2825"/>
                </a:lnTo>
                <a:lnTo>
                  <a:pt x="6490" y="2832"/>
                </a:lnTo>
                <a:lnTo>
                  <a:pt x="6488" y="2838"/>
                </a:lnTo>
                <a:lnTo>
                  <a:pt x="6486" y="2845"/>
                </a:lnTo>
                <a:lnTo>
                  <a:pt x="6482" y="2851"/>
                </a:lnTo>
                <a:lnTo>
                  <a:pt x="6478" y="2856"/>
                </a:lnTo>
                <a:lnTo>
                  <a:pt x="6473" y="2862"/>
                </a:lnTo>
                <a:lnTo>
                  <a:pt x="6468" y="2867"/>
                </a:lnTo>
                <a:lnTo>
                  <a:pt x="6462" y="2871"/>
                </a:lnTo>
                <a:lnTo>
                  <a:pt x="6261" y="3011"/>
                </a:lnTo>
                <a:lnTo>
                  <a:pt x="6270" y="3030"/>
                </a:lnTo>
                <a:lnTo>
                  <a:pt x="6279" y="3049"/>
                </a:lnTo>
                <a:lnTo>
                  <a:pt x="6288" y="3068"/>
                </a:lnTo>
                <a:lnTo>
                  <a:pt x="6296" y="3087"/>
                </a:lnTo>
                <a:lnTo>
                  <a:pt x="6305" y="3106"/>
                </a:lnTo>
                <a:lnTo>
                  <a:pt x="6312" y="3126"/>
                </a:lnTo>
                <a:lnTo>
                  <a:pt x="6320" y="3145"/>
                </a:lnTo>
                <a:lnTo>
                  <a:pt x="6326" y="3165"/>
                </a:lnTo>
                <a:lnTo>
                  <a:pt x="6333" y="3185"/>
                </a:lnTo>
                <a:lnTo>
                  <a:pt x="6339" y="3206"/>
                </a:lnTo>
                <a:lnTo>
                  <a:pt x="6346" y="3226"/>
                </a:lnTo>
                <a:lnTo>
                  <a:pt x="6351" y="3246"/>
                </a:lnTo>
                <a:lnTo>
                  <a:pt x="6356" y="3267"/>
                </a:lnTo>
                <a:lnTo>
                  <a:pt x="6361" y="3287"/>
                </a:lnTo>
                <a:lnTo>
                  <a:pt x="6365" y="3308"/>
                </a:lnTo>
                <a:lnTo>
                  <a:pt x="6369" y="3329"/>
                </a:lnTo>
                <a:lnTo>
                  <a:pt x="6618" y="3329"/>
                </a:lnTo>
                <a:lnTo>
                  <a:pt x="6625" y="3330"/>
                </a:lnTo>
                <a:lnTo>
                  <a:pt x="6633" y="3331"/>
                </a:lnTo>
                <a:lnTo>
                  <a:pt x="6640" y="3332"/>
                </a:lnTo>
                <a:lnTo>
                  <a:pt x="6646" y="3335"/>
                </a:lnTo>
                <a:lnTo>
                  <a:pt x="6653" y="3338"/>
                </a:lnTo>
                <a:lnTo>
                  <a:pt x="6659" y="3341"/>
                </a:lnTo>
                <a:lnTo>
                  <a:pt x="6665" y="3346"/>
                </a:lnTo>
                <a:lnTo>
                  <a:pt x="6670" y="3350"/>
                </a:lnTo>
                <a:lnTo>
                  <a:pt x="6675" y="3355"/>
                </a:lnTo>
                <a:lnTo>
                  <a:pt x="6679" y="3361"/>
                </a:lnTo>
                <a:lnTo>
                  <a:pt x="6683" y="3367"/>
                </a:lnTo>
                <a:lnTo>
                  <a:pt x="6686" y="3372"/>
                </a:lnTo>
                <a:lnTo>
                  <a:pt x="6689" y="3379"/>
                </a:lnTo>
                <a:lnTo>
                  <a:pt x="6690" y="3386"/>
                </a:lnTo>
                <a:lnTo>
                  <a:pt x="6691" y="3393"/>
                </a:lnTo>
                <a:lnTo>
                  <a:pt x="6692" y="3400"/>
                </a:lnTo>
                <a:lnTo>
                  <a:pt x="6692" y="3640"/>
                </a:lnTo>
                <a:lnTo>
                  <a:pt x="6691" y="3647"/>
                </a:lnTo>
                <a:lnTo>
                  <a:pt x="6691" y="3655"/>
                </a:lnTo>
                <a:lnTo>
                  <a:pt x="6689" y="3661"/>
                </a:lnTo>
                <a:lnTo>
                  <a:pt x="6686" y="3668"/>
                </a:lnTo>
                <a:lnTo>
                  <a:pt x="6683" y="3674"/>
                </a:lnTo>
                <a:lnTo>
                  <a:pt x="6679" y="3680"/>
                </a:lnTo>
                <a:lnTo>
                  <a:pt x="6675" y="3685"/>
                </a:lnTo>
                <a:lnTo>
                  <a:pt x="6670" y="3690"/>
                </a:lnTo>
                <a:lnTo>
                  <a:pt x="6665" y="3695"/>
                </a:lnTo>
                <a:lnTo>
                  <a:pt x="6659" y="3699"/>
                </a:lnTo>
                <a:lnTo>
                  <a:pt x="6653" y="3702"/>
                </a:lnTo>
                <a:lnTo>
                  <a:pt x="6646" y="3705"/>
                </a:lnTo>
                <a:lnTo>
                  <a:pt x="6640" y="3708"/>
                </a:lnTo>
                <a:lnTo>
                  <a:pt x="6633" y="3709"/>
                </a:lnTo>
                <a:lnTo>
                  <a:pt x="6625" y="3711"/>
                </a:lnTo>
                <a:lnTo>
                  <a:pt x="6618" y="3711"/>
                </a:lnTo>
                <a:lnTo>
                  <a:pt x="6369" y="3711"/>
                </a:lnTo>
                <a:lnTo>
                  <a:pt x="6365" y="3732"/>
                </a:lnTo>
                <a:lnTo>
                  <a:pt x="6361" y="3753"/>
                </a:lnTo>
                <a:lnTo>
                  <a:pt x="6356" y="3773"/>
                </a:lnTo>
                <a:lnTo>
                  <a:pt x="6351" y="3794"/>
                </a:lnTo>
                <a:lnTo>
                  <a:pt x="6346" y="3814"/>
                </a:lnTo>
                <a:lnTo>
                  <a:pt x="6339" y="3835"/>
                </a:lnTo>
                <a:lnTo>
                  <a:pt x="6333" y="3855"/>
                </a:lnTo>
                <a:lnTo>
                  <a:pt x="6326" y="3875"/>
                </a:lnTo>
                <a:lnTo>
                  <a:pt x="6320" y="3895"/>
                </a:lnTo>
                <a:lnTo>
                  <a:pt x="6312" y="3915"/>
                </a:lnTo>
                <a:lnTo>
                  <a:pt x="6305" y="3934"/>
                </a:lnTo>
                <a:lnTo>
                  <a:pt x="6296" y="3953"/>
                </a:lnTo>
                <a:lnTo>
                  <a:pt x="6288" y="3973"/>
                </a:lnTo>
                <a:lnTo>
                  <a:pt x="6279" y="3992"/>
                </a:lnTo>
                <a:lnTo>
                  <a:pt x="6270" y="4011"/>
                </a:lnTo>
                <a:lnTo>
                  <a:pt x="6261" y="4029"/>
                </a:lnTo>
                <a:lnTo>
                  <a:pt x="6462" y="4169"/>
                </a:lnTo>
                <a:lnTo>
                  <a:pt x="6468" y="4173"/>
                </a:lnTo>
                <a:lnTo>
                  <a:pt x="6473" y="4178"/>
                </a:lnTo>
                <a:lnTo>
                  <a:pt x="6478" y="4184"/>
                </a:lnTo>
                <a:lnTo>
                  <a:pt x="6482" y="4189"/>
                </a:lnTo>
                <a:lnTo>
                  <a:pt x="6486" y="4196"/>
                </a:lnTo>
                <a:lnTo>
                  <a:pt x="6488" y="4202"/>
                </a:lnTo>
                <a:lnTo>
                  <a:pt x="6490" y="4208"/>
                </a:lnTo>
                <a:lnTo>
                  <a:pt x="6491" y="4215"/>
                </a:lnTo>
                <a:lnTo>
                  <a:pt x="6492" y="4222"/>
                </a:lnTo>
                <a:lnTo>
                  <a:pt x="6492" y="4229"/>
                </a:lnTo>
                <a:lnTo>
                  <a:pt x="6492" y="4235"/>
                </a:lnTo>
                <a:lnTo>
                  <a:pt x="6491" y="4242"/>
                </a:lnTo>
                <a:lnTo>
                  <a:pt x="6489" y="4249"/>
                </a:lnTo>
                <a:lnTo>
                  <a:pt x="6486" y="4256"/>
                </a:lnTo>
                <a:lnTo>
                  <a:pt x="6483" y="4261"/>
                </a:lnTo>
                <a:lnTo>
                  <a:pt x="6478" y="4267"/>
                </a:lnTo>
                <a:lnTo>
                  <a:pt x="6331" y="4462"/>
                </a:lnTo>
                <a:lnTo>
                  <a:pt x="6326" y="4467"/>
                </a:lnTo>
                <a:lnTo>
                  <a:pt x="6321" y="4472"/>
                </a:lnTo>
                <a:lnTo>
                  <a:pt x="6315" y="4477"/>
                </a:lnTo>
                <a:lnTo>
                  <a:pt x="6309" y="4481"/>
                </a:lnTo>
                <a:lnTo>
                  <a:pt x="6302" y="4484"/>
                </a:lnTo>
                <a:lnTo>
                  <a:pt x="6296" y="4487"/>
                </a:lnTo>
                <a:lnTo>
                  <a:pt x="6289" y="4489"/>
                </a:lnTo>
                <a:lnTo>
                  <a:pt x="6282" y="4490"/>
                </a:lnTo>
                <a:lnTo>
                  <a:pt x="6275" y="4491"/>
                </a:lnTo>
                <a:lnTo>
                  <a:pt x="6268" y="4491"/>
                </a:lnTo>
                <a:lnTo>
                  <a:pt x="6261" y="4490"/>
                </a:lnTo>
                <a:lnTo>
                  <a:pt x="6254" y="4489"/>
                </a:lnTo>
                <a:lnTo>
                  <a:pt x="6247" y="4487"/>
                </a:lnTo>
                <a:lnTo>
                  <a:pt x="6240" y="4485"/>
                </a:lnTo>
                <a:lnTo>
                  <a:pt x="6234" y="4481"/>
                </a:lnTo>
                <a:lnTo>
                  <a:pt x="6227" y="4477"/>
                </a:lnTo>
                <a:lnTo>
                  <a:pt x="6026" y="4338"/>
                </a:lnTo>
                <a:lnTo>
                  <a:pt x="6010" y="4352"/>
                </a:lnTo>
                <a:lnTo>
                  <a:pt x="5994" y="4366"/>
                </a:lnTo>
                <a:lnTo>
                  <a:pt x="5977" y="4380"/>
                </a:lnTo>
                <a:lnTo>
                  <a:pt x="5961" y="4394"/>
                </a:lnTo>
                <a:lnTo>
                  <a:pt x="5944" y="4408"/>
                </a:lnTo>
                <a:lnTo>
                  <a:pt x="5927" y="4420"/>
                </a:lnTo>
                <a:lnTo>
                  <a:pt x="5909" y="4433"/>
                </a:lnTo>
                <a:lnTo>
                  <a:pt x="5892" y="4446"/>
                </a:lnTo>
                <a:lnTo>
                  <a:pt x="5874" y="4458"/>
                </a:lnTo>
                <a:lnTo>
                  <a:pt x="5856" y="4470"/>
                </a:lnTo>
                <a:lnTo>
                  <a:pt x="5838" y="4481"/>
                </a:lnTo>
                <a:lnTo>
                  <a:pt x="5819" y="4493"/>
                </a:lnTo>
                <a:lnTo>
                  <a:pt x="5800" y="4504"/>
                </a:lnTo>
                <a:lnTo>
                  <a:pt x="5781" y="4514"/>
                </a:lnTo>
                <a:lnTo>
                  <a:pt x="5762" y="4524"/>
                </a:lnTo>
                <a:lnTo>
                  <a:pt x="5742" y="4535"/>
                </a:lnTo>
                <a:lnTo>
                  <a:pt x="5819" y="4760"/>
                </a:lnTo>
                <a:lnTo>
                  <a:pt x="5821" y="4767"/>
                </a:lnTo>
                <a:lnTo>
                  <a:pt x="5822" y="4775"/>
                </a:lnTo>
                <a:lnTo>
                  <a:pt x="5823" y="4782"/>
                </a:lnTo>
                <a:lnTo>
                  <a:pt x="5823" y="4788"/>
                </a:lnTo>
                <a:lnTo>
                  <a:pt x="5822" y="4795"/>
                </a:lnTo>
                <a:lnTo>
                  <a:pt x="5820" y="4802"/>
                </a:lnTo>
                <a:lnTo>
                  <a:pt x="5818" y="4808"/>
                </a:lnTo>
                <a:lnTo>
                  <a:pt x="5815" y="4815"/>
                </a:lnTo>
                <a:lnTo>
                  <a:pt x="5811" y="4821"/>
                </a:lnTo>
                <a:lnTo>
                  <a:pt x="5807" y="4826"/>
                </a:lnTo>
                <a:lnTo>
                  <a:pt x="5803" y="4831"/>
                </a:lnTo>
                <a:lnTo>
                  <a:pt x="5797" y="4836"/>
                </a:lnTo>
                <a:lnTo>
                  <a:pt x="5792" y="4840"/>
                </a:lnTo>
                <a:lnTo>
                  <a:pt x="5786" y="4844"/>
                </a:lnTo>
                <a:lnTo>
                  <a:pt x="5779" y="4847"/>
                </a:lnTo>
                <a:lnTo>
                  <a:pt x="5772" y="4850"/>
                </a:lnTo>
                <a:lnTo>
                  <a:pt x="5533" y="4924"/>
                </a:lnTo>
                <a:lnTo>
                  <a:pt x="5525" y="4926"/>
                </a:lnTo>
                <a:lnTo>
                  <a:pt x="5518" y="4927"/>
                </a:lnTo>
                <a:lnTo>
                  <a:pt x="5511" y="4927"/>
                </a:lnTo>
                <a:lnTo>
                  <a:pt x="5503" y="4927"/>
                </a:lnTo>
                <a:lnTo>
                  <a:pt x="5496" y="4926"/>
                </a:lnTo>
                <a:lnTo>
                  <a:pt x="5489" y="4925"/>
                </a:lnTo>
                <a:lnTo>
                  <a:pt x="5483" y="4922"/>
                </a:lnTo>
                <a:lnTo>
                  <a:pt x="5476" y="4919"/>
                </a:lnTo>
                <a:lnTo>
                  <a:pt x="5470" y="4917"/>
                </a:lnTo>
                <a:lnTo>
                  <a:pt x="5464" y="4912"/>
                </a:lnTo>
                <a:lnTo>
                  <a:pt x="5459" y="4908"/>
                </a:lnTo>
                <a:lnTo>
                  <a:pt x="5454" y="4903"/>
                </a:lnTo>
                <a:lnTo>
                  <a:pt x="5450" y="4897"/>
                </a:lnTo>
                <a:lnTo>
                  <a:pt x="5445" y="4892"/>
                </a:lnTo>
                <a:lnTo>
                  <a:pt x="5442" y="4885"/>
                </a:lnTo>
                <a:lnTo>
                  <a:pt x="5439" y="4878"/>
                </a:lnTo>
                <a:lnTo>
                  <a:pt x="5362" y="4652"/>
                </a:lnTo>
                <a:lnTo>
                  <a:pt x="5341" y="4655"/>
                </a:lnTo>
                <a:lnTo>
                  <a:pt x="5320" y="4657"/>
                </a:lnTo>
                <a:lnTo>
                  <a:pt x="5298" y="4659"/>
                </a:lnTo>
                <a:lnTo>
                  <a:pt x="5276" y="4661"/>
                </a:lnTo>
                <a:lnTo>
                  <a:pt x="5254" y="4663"/>
                </a:lnTo>
                <a:lnTo>
                  <a:pt x="5232" y="4664"/>
                </a:lnTo>
                <a:lnTo>
                  <a:pt x="5209" y="4664"/>
                </a:lnTo>
                <a:lnTo>
                  <a:pt x="5187" y="4665"/>
                </a:lnTo>
                <a:lnTo>
                  <a:pt x="5165" y="4664"/>
                </a:lnTo>
                <a:lnTo>
                  <a:pt x="5143" y="4664"/>
                </a:lnTo>
                <a:lnTo>
                  <a:pt x="5121" y="4663"/>
                </a:lnTo>
                <a:lnTo>
                  <a:pt x="5099" y="4661"/>
                </a:lnTo>
                <a:lnTo>
                  <a:pt x="5077" y="4659"/>
                </a:lnTo>
                <a:lnTo>
                  <a:pt x="5055" y="4657"/>
                </a:lnTo>
                <a:lnTo>
                  <a:pt x="5033" y="4655"/>
                </a:lnTo>
                <a:lnTo>
                  <a:pt x="5012" y="4652"/>
                </a:lnTo>
                <a:lnTo>
                  <a:pt x="4935" y="4878"/>
                </a:lnTo>
                <a:lnTo>
                  <a:pt x="4932" y="4885"/>
                </a:lnTo>
                <a:lnTo>
                  <a:pt x="4929" y="4892"/>
                </a:lnTo>
                <a:lnTo>
                  <a:pt x="4925" y="4897"/>
                </a:lnTo>
                <a:lnTo>
                  <a:pt x="4921" y="4903"/>
                </a:lnTo>
                <a:lnTo>
                  <a:pt x="4916" y="4908"/>
                </a:lnTo>
                <a:lnTo>
                  <a:pt x="4910" y="4912"/>
                </a:lnTo>
                <a:lnTo>
                  <a:pt x="4905" y="4917"/>
                </a:lnTo>
                <a:lnTo>
                  <a:pt x="4898" y="4919"/>
                </a:lnTo>
                <a:lnTo>
                  <a:pt x="4892" y="4922"/>
                </a:lnTo>
                <a:lnTo>
                  <a:pt x="4885" y="4925"/>
                </a:lnTo>
                <a:lnTo>
                  <a:pt x="4878" y="4926"/>
                </a:lnTo>
                <a:lnTo>
                  <a:pt x="4871" y="4927"/>
                </a:lnTo>
                <a:lnTo>
                  <a:pt x="4864" y="4927"/>
                </a:lnTo>
                <a:lnTo>
                  <a:pt x="4857" y="4927"/>
                </a:lnTo>
                <a:lnTo>
                  <a:pt x="4849" y="4926"/>
                </a:lnTo>
                <a:lnTo>
                  <a:pt x="4841" y="4924"/>
                </a:lnTo>
                <a:lnTo>
                  <a:pt x="4603" y="4850"/>
                </a:lnTo>
                <a:lnTo>
                  <a:pt x="4596" y="4847"/>
                </a:lnTo>
                <a:lnTo>
                  <a:pt x="4589" y="4844"/>
                </a:lnTo>
                <a:lnTo>
                  <a:pt x="4583" y="4840"/>
                </a:lnTo>
                <a:lnTo>
                  <a:pt x="4577" y="4836"/>
                </a:lnTo>
                <a:lnTo>
                  <a:pt x="4572" y="4831"/>
                </a:lnTo>
                <a:lnTo>
                  <a:pt x="4567" y="4826"/>
                </a:lnTo>
                <a:lnTo>
                  <a:pt x="4563" y="4821"/>
                </a:lnTo>
                <a:lnTo>
                  <a:pt x="4560" y="4815"/>
                </a:lnTo>
                <a:lnTo>
                  <a:pt x="4556" y="4808"/>
                </a:lnTo>
                <a:lnTo>
                  <a:pt x="4554" y="4802"/>
                </a:lnTo>
                <a:lnTo>
                  <a:pt x="4553" y="4795"/>
                </a:lnTo>
                <a:lnTo>
                  <a:pt x="4552" y="4788"/>
                </a:lnTo>
                <a:lnTo>
                  <a:pt x="4552" y="4782"/>
                </a:lnTo>
                <a:lnTo>
                  <a:pt x="4552" y="4775"/>
                </a:lnTo>
                <a:lnTo>
                  <a:pt x="4553" y="4767"/>
                </a:lnTo>
                <a:lnTo>
                  <a:pt x="4555" y="4760"/>
                </a:lnTo>
                <a:lnTo>
                  <a:pt x="4632" y="4535"/>
                </a:lnTo>
                <a:lnTo>
                  <a:pt x="4613" y="4524"/>
                </a:lnTo>
                <a:lnTo>
                  <a:pt x="4593" y="4514"/>
                </a:lnTo>
                <a:lnTo>
                  <a:pt x="4574" y="4504"/>
                </a:lnTo>
                <a:lnTo>
                  <a:pt x="4555" y="4493"/>
                </a:lnTo>
                <a:lnTo>
                  <a:pt x="4537" y="4481"/>
                </a:lnTo>
                <a:lnTo>
                  <a:pt x="4518" y="4470"/>
                </a:lnTo>
                <a:lnTo>
                  <a:pt x="4501" y="4458"/>
                </a:lnTo>
                <a:lnTo>
                  <a:pt x="4482" y="4446"/>
                </a:lnTo>
                <a:lnTo>
                  <a:pt x="4465" y="4433"/>
                </a:lnTo>
                <a:lnTo>
                  <a:pt x="4447" y="4420"/>
                </a:lnTo>
                <a:lnTo>
                  <a:pt x="4430" y="4407"/>
                </a:lnTo>
                <a:lnTo>
                  <a:pt x="4413" y="4394"/>
                </a:lnTo>
                <a:lnTo>
                  <a:pt x="4397" y="4380"/>
                </a:lnTo>
                <a:lnTo>
                  <a:pt x="4381" y="4366"/>
                </a:lnTo>
                <a:lnTo>
                  <a:pt x="4364" y="4352"/>
                </a:lnTo>
                <a:lnTo>
                  <a:pt x="4348" y="4337"/>
                </a:lnTo>
                <a:lnTo>
                  <a:pt x="4147" y="4477"/>
                </a:lnTo>
                <a:lnTo>
                  <a:pt x="4141" y="4481"/>
                </a:lnTo>
                <a:lnTo>
                  <a:pt x="4134" y="4485"/>
                </a:lnTo>
                <a:lnTo>
                  <a:pt x="4127" y="4487"/>
                </a:lnTo>
                <a:lnTo>
                  <a:pt x="4120" y="4489"/>
                </a:lnTo>
                <a:lnTo>
                  <a:pt x="4113" y="4490"/>
                </a:lnTo>
                <a:lnTo>
                  <a:pt x="4106" y="4491"/>
                </a:lnTo>
                <a:lnTo>
                  <a:pt x="4099" y="4491"/>
                </a:lnTo>
                <a:lnTo>
                  <a:pt x="4092" y="4490"/>
                </a:lnTo>
                <a:lnTo>
                  <a:pt x="4085" y="4489"/>
                </a:lnTo>
                <a:lnTo>
                  <a:pt x="4078" y="4487"/>
                </a:lnTo>
                <a:lnTo>
                  <a:pt x="4072" y="4484"/>
                </a:lnTo>
                <a:lnTo>
                  <a:pt x="4065" y="4481"/>
                </a:lnTo>
                <a:lnTo>
                  <a:pt x="4060" y="4477"/>
                </a:lnTo>
                <a:lnTo>
                  <a:pt x="4054" y="4472"/>
                </a:lnTo>
                <a:lnTo>
                  <a:pt x="4049" y="4467"/>
                </a:lnTo>
                <a:lnTo>
                  <a:pt x="4044" y="4462"/>
                </a:lnTo>
                <a:lnTo>
                  <a:pt x="3896" y="4267"/>
                </a:lnTo>
                <a:lnTo>
                  <a:pt x="3891" y="4261"/>
                </a:lnTo>
                <a:lnTo>
                  <a:pt x="3888" y="4256"/>
                </a:lnTo>
                <a:lnTo>
                  <a:pt x="3886" y="4249"/>
                </a:lnTo>
                <a:lnTo>
                  <a:pt x="3884" y="4242"/>
                </a:lnTo>
                <a:lnTo>
                  <a:pt x="3882" y="4235"/>
                </a:lnTo>
                <a:lnTo>
                  <a:pt x="3882" y="4229"/>
                </a:lnTo>
                <a:lnTo>
                  <a:pt x="3882" y="4222"/>
                </a:lnTo>
                <a:lnTo>
                  <a:pt x="3883" y="4215"/>
                </a:lnTo>
                <a:lnTo>
                  <a:pt x="3884" y="4208"/>
                </a:lnTo>
                <a:lnTo>
                  <a:pt x="3886" y="4202"/>
                </a:lnTo>
                <a:lnTo>
                  <a:pt x="3889" y="4196"/>
                </a:lnTo>
                <a:lnTo>
                  <a:pt x="3892" y="4189"/>
                </a:lnTo>
                <a:lnTo>
                  <a:pt x="3897" y="4184"/>
                </a:lnTo>
                <a:lnTo>
                  <a:pt x="3901" y="4178"/>
                </a:lnTo>
                <a:lnTo>
                  <a:pt x="3906" y="4173"/>
                </a:lnTo>
                <a:lnTo>
                  <a:pt x="3912" y="4169"/>
                </a:lnTo>
                <a:lnTo>
                  <a:pt x="4113" y="4029"/>
                </a:lnTo>
                <a:lnTo>
                  <a:pt x="4104" y="4011"/>
                </a:lnTo>
                <a:lnTo>
                  <a:pt x="4095" y="3992"/>
                </a:lnTo>
                <a:lnTo>
                  <a:pt x="4086" y="3973"/>
                </a:lnTo>
                <a:lnTo>
                  <a:pt x="4078" y="3953"/>
                </a:lnTo>
                <a:lnTo>
                  <a:pt x="4069" y="3934"/>
                </a:lnTo>
                <a:lnTo>
                  <a:pt x="4062" y="3915"/>
                </a:lnTo>
                <a:lnTo>
                  <a:pt x="4055" y="3895"/>
                </a:lnTo>
                <a:lnTo>
                  <a:pt x="4047" y="3875"/>
                </a:lnTo>
                <a:lnTo>
                  <a:pt x="4041" y="3855"/>
                </a:lnTo>
                <a:lnTo>
                  <a:pt x="4034" y="3835"/>
                </a:lnTo>
                <a:lnTo>
                  <a:pt x="4029" y="3814"/>
                </a:lnTo>
                <a:lnTo>
                  <a:pt x="4023" y="3794"/>
                </a:lnTo>
                <a:lnTo>
                  <a:pt x="4018" y="3773"/>
                </a:lnTo>
                <a:lnTo>
                  <a:pt x="4014" y="3753"/>
                </a:lnTo>
                <a:lnTo>
                  <a:pt x="4009" y="3732"/>
                </a:lnTo>
                <a:lnTo>
                  <a:pt x="4005" y="3711"/>
                </a:lnTo>
                <a:lnTo>
                  <a:pt x="3757" y="3711"/>
                </a:lnTo>
                <a:lnTo>
                  <a:pt x="3749" y="3711"/>
                </a:lnTo>
                <a:lnTo>
                  <a:pt x="3742" y="3709"/>
                </a:lnTo>
                <a:lnTo>
                  <a:pt x="3734" y="3708"/>
                </a:lnTo>
                <a:lnTo>
                  <a:pt x="3728" y="3705"/>
                </a:lnTo>
                <a:lnTo>
                  <a:pt x="3721" y="3702"/>
                </a:lnTo>
                <a:lnTo>
                  <a:pt x="3715" y="3699"/>
                </a:lnTo>
                <a:lnTo>
                  <a:pt x="3709" y="3695"/>
                </a:lnTo>
                <a:lnTo>
                  <a:pt x="3704" y="3690"/>
                </a:lnTo>
                <a:lnTo>
                  <a:pt x="3699" y="3685"/>
                </a:lnTo>
                <a:lnTo>
                  <a:pt x="3695" y="3680"/>
                </a:lnTo>
                <a:lnTo>
                  <a:pt x="3691" y="3674"/>
                </a:lnTo>
                <a:lnTo>
                  <a:pt x="3688" y="3668"/>
                </a:lnTo>
                <a:lnTo>
                  <a:pt x="3685" y="3661"/>
                </a:lnTo>
                <a:lnTo>
                  <a:pt x="3684" y="3655"/>
                </a:lnTo>
                <a:lnTo>
                  <a:pt x="3683" y="3647"/>
                </a:lnTo>
                <a:lnTo>
                  <a:pt x="3682" y="3640"/>
                </a:lnTo>
                <a:lnTo>
                  <a:pt x="3682" y="3400"/>
                </a:lnTo>
                <a:lnTo>
                  <a:pt x="3683" y="3393"/>
                </a:lnTo>
                <a:lnTo>
                  <a:pt x="3684" y="3386"/>
                </a:lnTo>
                <a:lnTo>
                  <a:pt x="3685" y="3379"/>
                </a:lnTo>
                <a:lnTo>
                  <a:pt x="3688" y="3372"/>
                </a:lnTo>
                <a:lnTo>
                  <a:pt x="3691" y="3367"/>
                </a:lnTo>
                <a:lnTo>
                  <a:pt x="3695" y="3361"/>
                </a:lnTo>
                <a:lnTo>
                  <a:pt x="3699" y="3355"/>
                </a:lnTo>
                <a:lnTo>
                  <a:pt x="3704" y="3350"/>
                </a:lnTo>
                <a:lnTo>
                  <a:pt x="3709" y="3346"/>
                </a:lnTo>
                <a:lnTo>
                  <a:pt x="3715" y="3341"/>
                </a:lnTo>
                <a:lnTo>
                  <a:pt x="3721" y="3338"/>
                </a:lnTo>
                <a:lnTo>
                  <a:pt x="3728" y="3335"/>
                </a:lnTo>
                <a:lnTo>
                  <a:pt x="3734" y="3332"/>
                </a:lnTo>
                <a:lnTo>
                  <a:pt x="3742" y="3331"/>
                </a:lnTo>
                <a:lnTo>
                  <a:pt x="3749" y="3330"/>
                </a:lnTo>
                <a:lnTo>
                  <a:pt x="3757" y="3329"/>
                </a:lnTo>
                <a:lnTo>
                  <a:pt x="4005" y="3329"/>
                </a:lnTo>
                <a:lnTo>
                  <a:pt x="4009" y="3308"/>
                </a:lnTo>
                <a:lnTo>
                  <a:pt x="4014" y="3287"/>
                </a:lnTo>
                <a:lnTo>
                  <a:pt x="4018" y="3267"/>
                </a:lnTo>
                <a:lnTo>
                  <a:pt x="4023" y="3246"/>
                </a:lnTo>
                <a:lnTo>
                  <a:pt x="4029" y="3226"/>
                </a:lnTo>
                <a:lnTo>
                  <a:pt x="4034" y="3205"/>
                </a:lnTo>
                <a:lnTo>
                  <a:pt x="4041" y="3185"/>
                </a:lnTo>
                <a:lnTo>
                  <a:pt x="4047" y="3165"/>
                </a:lnTo>
                <a:lnTo>
                  <a:pt x="4055" y="3145"/>
                </a:lnTo>
                <a:lnTo>
                  <a:pt x="4062" y="3126"/>
                </a:lnTo>
                <a:lnTo>
                  <a:pt x="4069" y="3106"/>
                </a:lnTo>
                <a:lnTo>
                  <a:pt x="4078" y="3087"/>
                </a:lnTo>
                <a:lnTo>
                  <a:pt x="4086" y="3067"/>
                </a:lnTo>
                <a:lnTo>
                  <a:pt x="4095" y="3048"/>
                </a:lnTo>
                <a:lnTo>
                  <a:pt x="4104" y="3030"/>
                </a:lnTo>
                <a:lnTo>
                  <a:pt x="4113" y="3011"/>
                </a:lnTo>
                <a:lnTo>
                  <a:pt x="3912" y="2871"/>
                </a:lnTo>
                <a:lnTo>
                  <a:pt x="3906" y="2867"/>
                </a:lnTo>
                <a:lnTo>
                  <a:pt x="3901" y="2862"/>
                </a:lnTo>
                <a:lnTo>
                  <a:pt x="3897" y="2856"/>
                </a:lnTo>
                <a:lnTo>
                  <a:pt x="3892" y="2851"/>
                </a:lnTo>
                <a:lnTo>
                  <a:pt x="3889" y="2845"/>
                </a:lnTo>
                <a:lnTo>
                  <a:pt x="3886" y="2838"/>
                </a:lnTo>
                <a:lnTo>
                  <a:pt x="3884" y="2832"/>
                </a:lnTo>
                <a:lnTo>
                  <a:pt x="3883" y="2825"/>
                </a:lnTo>
                <a:lnTo>
                  <a:pt x="3882" y="2818"/>
                </a:lnTo>
                <a:lnTo>
                  <a:pt x="3882" y="2812"/>
                </a:lnTo>
                <a:lnTo>
                  <a:pt x="3882" y="2805"/>
                </a:lnTo>
                <a:lnTo>
                  <a:pt x="3884" y="2798"/>
                </a:lnTo>
                <a:lnTo>
                  <a:pt x="3886" y="2791"/>
                </a:lnTo>
                <a:lnTo>
                  <a:pt x="3888" y="2785"/>
                </a:lnTo>
                <a:lnTo>
                  <a:pt x="3891" y="2778"/>
                </a:lnTo>
                <a:lnTo>
                  <a:pt x="3896" y="2772"/>
                </a:lnTo>
                <a:lnTo>
                  <a:pt x="4044" y="2579"/>
                </a:lnTo>
                <a:lnTo>
                  <a:pt x="4049" y="2573"/>
                </a:lnTo>
                <a:lnTo>
                  <a:pt x="4054" y="2568"/>
                </a:lnTo>
                <a:lnTo>
                  <a:pt x="4060" y="2563"/>
                </a:lnTo>
                <a:lnTo>
                  <a:pt x="4065" y="2559"/>
                </a:lnTo>
                <a:lnTo>
                  <a:pt x="4072" y="2556"/>
                </a:lnTo>
                <a:lnTo>
                  <a:pt x="4078" y="2553"/>
                </a:lnTo>
                <a:lnTo>
                  <a:pt x="4085" y="2551"/>
                </a:lnTo>
                <a:lnTo>
                  <a:pt x="4092" y="2550"/>
                </a:lnTo>
                <a:lnTo>
                  <a:pt x="4099" y="2549"/>
                </a:lnTo>
                <a:lnTo>
                  <a:pt x="4106" y="2549"/>
                </a:lnTo>
                <a:lnTo>
                  <a:pt x="4113" y="2550"/>
                </a:lnTo>
                <a:lnTo>
                  <a:pt x="4120" y="2551"/>
                </a:lnTo>
                <a:lnTo>
                  <a:pt x="4127" y="2553"/>
                </a:lnTo>
                <a:lnTo>
                  <a:pt x="4134" y="2555"/>
                </a:lnTo>
                <a:lnTo>
                  <a:pt x="4141" y="2559"/>
                </a:lnTo>
                <a:lnTo>
                  <a:pt x="4147" y="2563"/>
                </a:lnTo>
                <a:lnTo>
                  <a:pt x="4348" y="2702"/>
                </a:lnTo>
                <a:lnTo>
                  <a:pt x="4364" y="2688"/>
                </a:lnTo>
                <a:lnTo>
                  <a:pt x="4381" y="2674"/>
                </a:lnTo>
                <a:lnTo>
                  <a:pt x="4397" y="2660"/>
                </a:lnTo>
                <a:lnTo>
                  <a:pt x="4413" y="2646"/>
                </a:lnTo>
                <a:lnTo>
                  <a:pt x="4431" y="2633"/>
                </a:lnTo>
                <a:lnTo>
                  <a:pt x="4447" y="2620"/>
                </a:lnTo>
                <a:lnTo>
                  <a:pt x="4465" y="2607"/>
                </a:lnTo>
                <a:lnTo>
                  <a:pt x="4482" y="2594"/>
                </a:lnTo>
                <a:lnTo>
                  <a:pt x="4501" y="2582"/>
                </a:lnTo>
                <a:lnTo>
                  <a:pt x="4518" y="2570"/>
                </a:lnTo>
                <a:lnTo>
                  <a:pt x="4537" y="2559"/>
                </a:lnTo>
                <a:lnTo>
                  <a:pt x="4555" y="2548"/>
                </a:lnTo>
                <a:lnTo>
                  <a:pt x="4574" y="2537"/>
                </a:lnTo>
                <a:lnTo>
                  <a:pt x="4593" y="2526"/>
                </a:lnTo>
                <a:lnTo>
                  <a:pt x="4613" y="2516"/>
                </a:lnTo>
                <a:lnTo>
                  <a:pt x="4632" y="2506"/>
                </a:lnTo>
                <a:lnTo>
                  <a:pt x="4555" y="2280"/>
                </a:lnTo>
                <a:lnTo>
                  <a:pt x="4553" y="2273"/>
                </a:lnTo>
                <a:lnTo>
                  <a:pt x="4552" y="2265"/>
                </a:lnTo>
                <a:lnTo>
                  <a:pt x="4551" y="2258"/>
                </a:lnTo>
                <a:lnTo>
                  <a:pt x="4552" y="2252"/>
                </a:lnTo>
                <a:lnTo>
                  <a:pt x="4552" y="2245"/>
                </a:lnTo>
                <a:lnTo>
                  <a:pt x="4554" y="2238"/>
                </a:lnTo>
                <a:lnTo>
                  <a:pt x="4556" y="2231"/>
                </a:lnTo>
                <a:lnTo>
                  <a:pt x="4559" y="2226"/>
                </a:lnTo>
                <a:lnTo>
                  <a:pt x="4563" y="2220"/>
                </a:lnTo>
                <a:lnTo>
                  <a:pt x="4567" y="2214"/>
                </a:lnTo>
                <a:lnTo>
                  <a:pt x="4572" y="2209"/>
                </a:lnTo>
                <a:lnTo>
                  <a:pt x="4577" y="2204"/>
                </a:lnTo>
                <a:lnTo>
                  <a:pt x="4583" y="2200"/>
                </a:lnTo>
                <a:lnTo>
                  <a:pt x="4589" y="2196"/>
                </a:lnTo>
                <a:lnTo>
                  <a:pt x="4596" y="2193"/>
                </a:lnTo>
                <a:lnTo>
                  <a:pt x="4603" y="2191"/>
                </a:lnTo>
                <a:lnTo>
                  <a:pt x="4842" y="2116"/>
                </a:lnTo>
                <a:lnTo>
                  <a:pt x="4849" y="2114"/>
                </a:lnTo>
                <a:lnTo>
                  <a:pt x="4857" y="2113"/>
                </a:lnTo>
                <a:lnTo>
                  <a:pt x="4864" y="2113"/>
                </a:lnTo>
              </a:path>
              <a:path w="10965" h="4927">
                <a:moveTo>
                  <a:pt x="7025" y="986"/>
                </a:moveTo>
                <a:cubicBezTo>
                  <a:pt x="6621" y="986"/>
                  <a:pt x="6293" y="1299"/>
                  <a:pt x="6293" y="1686"/>
                </a:cubicBezTo>
                <a:cubicBezTo>
                  <a:pt x="6293" y="2072"/>
                  <a:pt x="6621" y="2385"/>
                  <a:pt x="7025" y="2385"/>
                </a:cubicBezTo>
                <a:cubicBezTo>
                  <a:pt x="7429" y="2385"/>
                  <a:pt x="7757" y="2072"/>
                  <a:pt x="7757" y="1686"/>
                </a:cubicBezTo>
                <a:cubicBezTo>
                  <a:pt x="7757" y="1299"/>
                  <a:pt x="7429" y="986"/>
                  <a:pt x="7025" y="986"/>
                </a:cubicBezTo>
                <a:moveTo>
                  <a:pt x="6765" y="554"/>
                </a:moveTo>
                <a:lnTo>
                  <a:pt x="6771" y="554"/>
                </a:lnTo>
                <a:lnTo>
                  <a:pt x="6776" y="555"/>
                </a:lnTo>
                <a:lnTo>
                  <a:pt x="6782" y="556"/>
                </a:lnTo>
                <a:lnTo>
                  <a:pt x="6787" y="558"/>
                </a:lnTo>
                <a:lnTo>
                  <a:pt x="6793" y="560"/>
                </a:lnTo>
                <a:lnTo>
                  <a:pt x="6798" y="563"/>
                </a:lnTo>
                <a:lnTo>
                  <a:pt x="6802" y="566"/>
                </a:lnTo>
                <a:lnTo>
                  <a:pt x="6807" y="570"/>
                </a:lnTo>
                <a:lnTo>
                  <a:pt x="6810" y="574"/>
                </a:lnTo>
                <a:lnTo>
                  <a:pt x="6814" y="578"/>
                </a:lnTo>
                <a:lnTo>
                  <a:pt x="6817" y="583"/>
                </a:lnTo>
                <a:lnTo>
                  <a:pt x="6820" y="588"/>
                </a:lnTo>
                <a:lnTo>
                  <a:pt x="6822" y="593"/>
                </a:lnTo>
                <a:lnTo>
                  <a:pt x="6884" y="775"/>
                </a:lnTo>
                <a:lnTo>
                  <a:pt x="6901" y="773"/>
                </a:lnTo>
                <a:lnTo>
                  <a:pt x="6919" y="771"/>
                </a:lnTo>
                <a:lnTo>
                  <a:pt x="6936" y="769"/>
                </a:lnTo>
                <a:lnTo>
                  <a:pt x="6954" y="768"/>
                </a:lnTo>
                <a:lnTo>
                  <a:pt x="6971" y="767"/>
                </a:lnTo>
                <a:lnTo>
                  <a:pt x="6989" y="766"/>
                </a:lnTo>
                <a:lnTo>
                  <a:pt x="7007" y="765"/>
                </a:lnTo>
                <a:lnTo>
                  <a:pt x="7025" y="765"/>
                </a:lnTo>
                <a:lnTo>
                  <a:pt x="7042" y="765"/>
                </a:lnTo>
                <a:lnTo>
                  <a:pt x="7061" y="766"/>
                </a:lnTo>
                <a:lnTo>
                  <a:pt x="7078" y="767"/>
                </a:lnTo>
                <a:lnTo>
                  <a:pt x="7096" y="768"/>
                </a:lnTo>
                <a:lnTo>
                  <a:pt x="7114" y="769"/>
                </a:lnTo>
                <a:lnTo>
                  <a:pt x="7131" y="771"/>
                </a:lnTo>
                <a:lnTo>
                  <a:pt x="7148" y="773"/>
                </a:lnTo>
                <a:lnTo>
                  <a:pt x="7166" y="775"/>
                </a:lnTo>
                <a:lnTo>
                  <a:pt x="7227" y="593"/>
                </a:lnTo>
                <a:lnTo>
                  <a:pt x="7230" y="588"/>
                </a:lnTo>
                <a:lnTo>
                  <a:pt x="7232" y="583"/>
                </a:lnTo>
                <a:lnTo>
                  <a:pt x="7236" y="578"/>
                </a:lnTo>
                <a:lnTo>
                  <a:pt x="7239" y="574"/>
                </a:lnTo>
                <a:lnTo>
                  <a:pt x="7243" y="570"/>
                </a:lnTo>
                <a:lnTo>
                  <a:pt x="7247" y="566"/>
                </a:lnTo>
                <a:lnTo>
                  <a:pt x="7252" y="563"/>
                </a:lnTo>
                <a:lnTo>
                  <a:pt x="7257" y="560"/>
                </a:lnTo>
                <a:lnTo>
                  <a:pt x="7262" y="558"/>
                </a:lnTo>
                <a:lnTo>
                  <a:pt x="7268" y="556"/>
                </a:lnTo>
                <a:lnTo>
                  <a:pt x="7273" y="555"/>
                </a:lnTo>
                <a:lnTo>
                  <a:pt x="7279" y="554"/>
                </a:lnTo>
                <a:lnTo>
                  <a:pt x="7285" y="554"/>
                </a:lnTo>
                <a:lnTo>
                  <a:pt x="7291" y="554"/>
                </a:lnTo>
                <a:lnTo>
                  <a:pt x="7297" y="555"/>
                </a:lnTo>
                <a:lnTo>
                  <a:pt x="7303" y="557"/>
                </a:lnTo>
                <a:lnTo>
                  <a:pt x="7494" y="617"/>
                </a:lnTo>
                <a:lnTo>
                  <a:pt x="7500" y="618"/>
                </a:lnTo>
                <a:lnTo>
                  <a:pt x="7506" y="621"/>
                </a:lnTo>
                <a:lnTo>
                  <a:pt x="7511" y="624"/>
                </a:lnTo>
                <a:lnTo>
                  <a:pt x="7515" y="627"/>
                </a:lnTo>
                <a:lnTo>
                  <a:pt x="7520" y="632"/>
                </a:lnTo>
                <a:lnTo>
                  <a:pt x="7523" y="636"/>
                </a:lnTo>
                <a:lnTo>
                  <a:pt x="7526" y="640"/>
                </a:lnTo>
                <a:lnTo>
                  <a:pt x="7529" y="645"/>
                </a:lnTo>
                <a:lnTo>
                  <a:pt x="7532" y="650"/>
                </a:lnTo>
                <a:lnTo>
                  <a:pt x="7534" y="655"/>
                </a:lnTo>
                <a:lnTo>
                  <a:pt x="7535" y="660"/>
                </a:lnTo>
                <a:lnTo>
                  <a:pt x="7536" y="666"/>
                </a:lnTo>
                <a:lnTo>
                  <a:pt x="7536" y="671"/>
                </a:lnTo>
                <a:lnTo>
                  <a:pt x="7535" y="677"/>
                </a:lnTo>
                <a:lnTo>
                  <a:pt x="7534" y="683"/>
                </a:lnTo>
                <a:lnTo>
                  <a:pt x="7533" y="688"/>
                </a:lnTo>
                <a:lnTo>
                  <a:pt x="7471" y="870"/>
                </a:lnTo>
                <a:lnTo>
                  <a:pt x="7487" y="878"/>
                </a:lnTo>
                <a:lnTo>
                  <a:pt x="7502" y="886"/>
                </a:lnTo>
                <a:lnTo>
                  <a:pt x="7518" y="895"/>
                </a:lnTo>
                <a:lnTo>
                  <a:pt x="7533" y="904"/>
                </a:lnTo>
                <a:lnTo>
                  <a:pt x="7548" y="913"/>
                </a:lnTo>
                <a:lnTo>
                  <a:pt x="7562" y="922"/>
                </a:lnTo>
                <a:lnTo>
                  <a:pt x="7577" y="931"/>
                </a:lnTo>
                <a:lnTo>
                  <a:pt x="7591" y="941"/>
                </a:lnTo>
                <a:lnTo>
                  <a:pt x="7606" y="951"/>
                </a:lnTo>
                <a:lnTo>
                  <a:pt x="7620" y="962"/>
                </a:lnTo>
                <a:lnTo>
                  <a:pt x="7633" y="972"/>
                </a:lnTo>
                <a:lnTo>
                  <a:pt x="7647" y="983"/>
                </a:lnTo>
                <a:lnTo>
                  <a:pt x="7660" y="994"/>
                </a:lnTo>
                <a:lnTo>
                  <a:pt x="7673" y="1005"/>
                </a:lnTo>
                <a:lnTo>
                  <a:pt x="7686" y="1017"/>
                </a:lnTo>
                <a:lnTo>
                  <a:pt x="7699" y="1028"/>
                </a:lnTo>
                <a:lnTo>
                  <a:pt x="7861" y="916"/>
                </a:lnTo>
                <a:lnTo>
                  <a:pt x="7866" y="913"/>
                </a:lnTo>
                <a:lnTo>
                  <a:pt x="7872" y="910"/>
                </a:lnTo>
                <a:lnTo>
                  <a:pt x="7877" y="908"/>
                </a:lnTo>
                <a:lnTo>
                  <a:pt x="7883" y="907"/>
                </a:lnTo>
                <a:lnTo>
                  <a:pt x="7888" y="905"/>
                </a:lnTo>
                <a:lnTo>
                  <a:pt x="7894" y="905"/>
                </a:lnTo>
                <a:lnTo>
                  <a:pt x="7900" y="905"/>
                </a:lnTo>
                <a:lnTo>
                  <a:pt x="7905" y="905"/>
                </a:lnTo>
                <a:lnTo>
                  <a:pt x="7911" y="907"/>
                </a:lnTo>
                <a:lnTo>
                  <a:pt x="7916" y="908"/>
                </a:lnTo>
                <a:lnTo>
                  <a:pt x="7922" y="910"/>
                </a:lnTo>
                <a:lnTo>
                  <a:pt x="7927" y="913"/>
                </a:lnTo>
                <a:lnTo>
                  <a:pt x="7932" y="916"/>
                </a:lnTo>
                <a:lnTo>
                  <a:pt x="7936" y="920"/>
                </a:lnTo>
                <a:lnTo>
                  <a:pt x="7940" y="924"/>
                </a:lnTo>
                <a:lnTo>
                  <a:pt x="7944" y="929"/>
                </a:lnTo>
                <a:lnTo>
                  <a:pt x="8063" y="1084"/>
                </a:lnTo>
                <a:lnTo>
                  <a:pt x="8066" y="1089"/>
                </a:lnTo>
                <a:lnTo>
                  <a:pt x="8069" y="1094"/>
                </a:lnTo>
                <a:lnTo>
                  <a:pt x="8071" y="1100"/>
                </a:lnTo>
                <a:lnTo>
                  <a:pt x="8073" y="1105"/>
                </a:lnTo>
                <a:lnTo>
                  <a:pt x="8074" y="1110"/>
                </a:lnTo>
                <a:lnTo>
                  <a:pt x="8074" y="1116"/>
                </a:lnTo>
                <a:lnTo>
                  <a:pt x="8074" y="1121"/>
                </a:lnTo>
                <a:lnTo>
                  <a:pt x="8073" y="1127"/>
                </a:lnTo>
                <a:lnTo>
                  <a:pt x="8072" y="1132"/>
                </a:lnTo>
                <a:lnTo>
                  <a:pt x="8071" y="1137"/>
                </a:lnTo>
                <a:lnTo>
                  <a:pt x="8069" y="1142"/>
                </a:lnTo>
                <a:lnTo>
                  <a:pt x="8066" y="1147"/>
                </a:lnTo>
                <a:lnTo>
                  <a:pt x="8062" y="1152"/>
                </a:lnTo>
                <a:lnTo>
                  <a:pt x="8059" y="1156"/>
                </a:lnTo>
                <a:lnTo>
                  <a:pt x="8055" y="1160"/>
                </a:lnTo>
                <a:lnTo>
                  <a:pt x="8050" y="1164"/>
                </a:lnTo>
                <a:lnTo>
                  <a:pt x="7888" y="1276"/>
                </a:lnTo>
                <a:lnTo>
                  <a:pt x="7895" y="1291"/>
                </a:lnTo>
                <a:lnTo>
                  <a:pt x="7903" y="1307"/>
                </a:lnTo>
                <a:lnTo>
                  <a:pt x="7910" y="1322"/>
                </a:lnTo>
                <a:lnTo>
                  <a:pt x="7917" y="1337"/>
                </a:lnTo>
                <a:lnTo>
                  <a:pt x="7923" y="1353"/>
                </a:lnTo>
                <a:lnTo>
                  <a:pt x="7930" y="1368"/>
                </a:lnTo>
                <a:lnTo>
                  <a:pt x="7935" y="1384"/>
                </a:lnTo>
                <a:lnTo>
                  <a:pt x="7941" y="1400"/>
                </a:lnTo>
                <a:lnTo>
                  <a:pt x="7946" y="1416"/>
                </a:lnTo>
                <a:lnTo>
                  <a:pt x="7951" y="1433"/>
                </a:lnTo>
                <a:lnTo>
                  <a:pt x="7956" y="1449"/>
                </a:lnTo>
                <a:lnTo>
                  <a:pt x="7960" y="1465"/>
                </a:lnTo>
                <a:lnTo>
                  <a:pt x="7965" y="1482"/>
                </a:lnTo>
                <a:lnTo>
                  <a:pt x="7968" y="1499"/>
                </a:lnTo>
                <a:lnTo>
                  <a:pt x="7972" y="1515"/>
                </a:lnTo>
                <a:lnTo>
                  <a:pt x="7975" y="1532"/>
                </a:lnTo>
                <a:lnTo>
                  <a:pt x="8175" y="1532"/>
                </a:lnTo>
                <a:lnTo>
                  <a:pt x="8181" y="1532"/>
                </a:lnTo>
                <a:lnTo>
                  <a:pt x="8187" y="1534"/>
                </a:lnTo>
                <a:lnTo>
                  <a:pt x="8193" y="1535"/>
                </a:lnTo>
                <a:lnTo>
                  <a:pt x="8198" y="1537"/>
                </a:lnTo>
                <a:lnTo>
                  <a:pt x="8203" y="1539"/>
                </a:lnTo>
                <a:lnTo>
                  <a:pt x="8208" y="1542"/>
                </a:lnTo>
                <a:lnTo>
                  <a:pt x="8213" y="1545"/>
                </a:lnTo>
                <a:lnTo>
                  <a:pt x="8217" y="1549"/>
                </a:lnTo>
                <a:lnTo>
                  <a:pt x="8221" y="1553"/>
                </a:lnTo>
                <a:lnTo>
                  <a:pt x="8225" y="1558"/>
                </a:lnTo>
                <a:lnTo>
                  <a:pt x="8228" y="1562"/>
                </a:lnTo>
                <a:lnTo>
                  <a:pt x="8230" y="1567"/>
                </a:lnTo>
                <a:lnTo>
                  <a:pt x="8232" y="1572"/>
                </a:lnTo>
                <a:lnTo>
                  <a:pt x="8233" y="1578"/>
                </a:lnTo>
                <a:lnTo>
                  <a:pt x="8234" y="1583"/>
                </a:lnTo>
                <a:lnTo>
                  <a:pt x="8235" y="1589"/>
                </a:lnTo>
                <a:lnTo>
                  <a:pt x="8235" y="1782"/>
                </a:lnTo>
                <a:lnTo>
                  <a:pt x="8234" y="1788"/>
                </a:lnTo>
                <a:lnTo>
                  <a:pt x="8234" y="1794"/>
                </a:lnTo>
                <a:lnTo>
                  <a:pt x="8232" y="1799"/>
                </a:lnTo>
                <a:lnTo>
                  <a:pt x="8230" y="1804"/>
                </a:lnTo>
                <a:lnTo>
                  <a:pt x="8228" y="1809"/>
                </a:lnTo>
                <a:lnTo>
                  <a:pt x="8225" y="1814"/>
                </a:lnTo>
                <a:lnTo>
                  <a:pt x="8221" y="1818"/>
                </a:lnTo>
                <a:lnTo>
                  <a:pt x="8217" y="1822"/>
                </a:lnTo>
                <a:lnTo>
                  <a:pt x="8213" y="1826"/>
                </a:lnTo>
                <a:lnTo>
                  <a:pt x="8208" y="1829"/>
                </a:lnTo>
                <a:lnTo>
                  <a:pt x="8203" y="1832"/>
                </a:lnTo>
                <a:lnTo>
                  <a:pt x="8198" y="1835"/>
                </a:lnTo>
                <a:lnTo>
                  <a:pt x="8193" y="1836"/>
                </a:lnTo>
                <a:lnTo>
                  <a:pt x="8187" y="1838"/>
                </a:lnTo>
                <a:lnTo>
                  <a:pt x="8181" y="1839"/>
                </a:lnTo>
                <a:lnTo>
                  <a:pt x="8175" y="1839"/>
                </a:lnTo>
                <a:lnTo>
                  <a:pt x="7975" y="1839"/>
                </a:lnTo>
                <a:lnTo>
                  <a:pt x="7972" y="1856"/>
                </a:lnTo>
                <a:lnTo>
                  <a:pt x="7968" y="1873"/>
                </a:lnTo>
                <a:lnTo>
                  <a:pt x="7965" y="1889"/>
                </a:lnTo>
                <a:lnTo>
                  <a:pt x="7960" y="1906"/>
                </a:lnTo>
                <a:lnTo>
                  <a:pt x="7956" y="1922"/>
                </a:lnTo>
                <a:lnTo>
                  <a:pt x="7951" y="1939"/>
                </a:lnTo>
                <a:lnTo>
                  <a:pt x="7946" y="1955"/>
                </a:lnTo>
                <a:lnTo>
                  <a:pt x="7941" y="1971"/>
                </a:lnTo>
                <a:lnTo>
                  <a:pt x="7935" y="1987"/>
                </a:lnTo>
                <a:lnTo>
                  <a:pt x="7930" y="2003"/>
                </a:lnTo>
                <a:lnTo>
                  <a:pt x="7923" y="2018"/>
                </a:lnTo>
                <a:lnTo>
                  <a:pt x="7917" y="2034"/>
                </a:lnTo>
                <a:lnTo>
                  <a:pt x="7910" y="2050"/>
                </a:lnTo>
                <a:lnTo>
                  <a:pt x="7903" y="2065"/>
                </a:lnTo>
                <a:lnTo>
                  <a:pt x="7895" y="2080"/>
                </a:lnTo>
                <a:lnTo>
                  <a:pt x="7888" y="2095"/>
                </a:lnTo>
                <a:lnTo>
                  <a:pt x="8050" y="2207"/>
                </a:lnTo>
                <a:lnTo>
                  <a:pt x="8055" y="2211"/>
                </a:lnTo>
                <a:lnTo>
                  <a:pt x="8059" y="2215"/>
                </a:lnTo>
                <a:lnTo>
                  <a:pt x="8062" y="2219"/>
                </a:lnTo>
                <a:lnTo>
                  <a:pt x="8066" y="2224"/>
                </a:lnTo>
                <a:lnTo>
                  <a:pt x="8069" y="2229"/>
                </a:lnTo>
                <a:lnTo>
                  <a:pt x="8071" y="2234"/>
                </a:lnTo>
                <a:lnTo>
                  <a:pt x="8072" y="2239"/>
                </a:lnTo>
                <a:lnTo>
                  <a:pt x="8073" y="2244"/>
                </a:lnTo>
                <a:lnTo>
                  <a:pt x="8074" y="2250"/>
                </a:lnTo>
                <a:lnTo>
                  <a:pt x="8074" y="2255"/>
                </a:lnTo>
                <a:lnTo>
                  <a:pt x="8074" y="2261"/>
                </a:lnTo>
                <a:lnTo>
                  <a:pt x="8073" y="2266"/>
                </a:lnTo>
                <a:lnTo>
                  <a:pt x="8071" y="2271"/>
                </a:lnTo>
                <a:lnTo>
                  <a:pt x="8069" y="2277"/>
                </a:lnTo>
                <a:lnTo>
                  <a:pt x="8066" y="2282"/>
                </a:lnTo>
                <a:lnTo>
                  <a:pt x="8063" y="2286"/>
                </a:lnTo>
                <a:lnTo>
                  <a:pt x="7944" y="2443"/>
                </a:lnTo>
                <a:lnTo>
                  <a:pt x="7940" y="2447"/>
                </a:lnTo>
                <a:lnTo>
                  <a:pt x="7936" y="2451"/>
                </a:lnTo>
                <a:lnTo>
                  <a:pt x="7932" y="2455"/>
                </a:lnTo>
                <a:lnTo>
                  <a:pt x="7927" y="2458"/>
                </a:lnTo>
                <a:lnTo>
                  <a:pt x="7922" y="2461"/>
                </a:lnTo>
                <a:lnTo>
                  <a:pt x="7916" y="2463"/>
                </a:lnTo>
                <a:lnTo>
                  <a:pt x="7911" y="2465"/>
                </a:lnTo>
                <a:lnTo>
                  <a:pt x="7905" y="2465"/>
                </a:lnTo>
                <a:lnTo>
                  <a:pt x="7900" y="2466"/>
                </a:lnTo>
                <a:lnTo>
                  <a:pt x="7894" y="2466"/>
                </a:lnTo>
                <a:lnTo>
                  <a:pt x="7888" y="2466"/>
                </a:lnTo>
                <a:lnTo>
                  <a:pt x="7882" y="2465"/>
                </a:lnTo>
                <a:lnTo>
                  <a:pt x="7877" y="2463"/>
                </a:lnTo>
                <a:lnTo>
                  <a:pt x="7871" y="2461"/>
                </a:lnTo>
                <a:lnTo>
                  <a:pt x="7866" y="2458"/>
                </a:lnTo>
                <a:lnTo>
                  <a:pt x="7861" y="2455"/>
                </a:lnTo>
                <a:lnTo>
                  <a:pt x="7699" y="2343"/>
                </a:lnTo>
                <a:lnTo>
                  <a:pt x="7686" y="2355"/>
                </a:lnTo>
                <a:lnTo>
                  <a:pt x="7673" y="2366"/>
                </a:lnTo>
                <a:lnTo>
                  <a:pt x="7660" y="2377"/>
                </a:lnTo>
                <a:lnTo>
                  <a:pt x="7647" y="2388"/>
                </a:lnTo>
                <a:lnTo>
                  <a:pt x="7633" y="2399"/>
                </a:lnTo>
                <a:lnTo>
                  <a:pt x="7620" y="2409"/>
                </a:lnTo>
                <a:lnTo>
                  <a:pt x="7606" y="2420"/>
                </a:lnTo>
                <a:lnTo>
                  <a:pt x="7591" y="2430"/>
                </a:lnTo>
                <a:lnTo>
                  <a:pt x="7577" y="2440"/>
                </a:lnTo>
                <a:lnTo>
                  <a:pt x="7562" y="2449"/>
                </a:lnTo>
                <a:lnTo>
                  <a:pt x="7548" y="2458"/>
                </a:lnTo>
                <a:lnTo>
                  <a:pt x="7533" y="2468"/>
                </a:lnTo>
                <a:lnTo>
                  <a:pt x="7518" y="2476"/>
                </a:lnTo>
                <a:lnTo>
                  <a:pt x="7502" y="2485"/>
                </a:lnTo>
                <a:lnTo>
                  <a:pt x="7487" y="2493"/>
                </a:lnTo>
                <a:lnTo>
                  <a:pt x="7471" y="2501"/>
                </a:lnTo>
                <a:lnTo>
                  <a:pt x="7533" y="2683"/>
                </a:lnTo>
                <a:lnTo>
                  <a:pt x="7534" y="2689"/>
                </a:lnTo>
                <a:lnTo>
                  <a:pt x="7535" y="2694"/>
                </a:lnTo>
                <a:lnTo>
                  <a:pt x="7536" y="2700"/>
                </a:lnTo>
                <a:lnTo>
                  <a:pt x="7536" y="2705"/>
                </a:lnTo>
                <a:lnTo>
                  <a:pt x="7535" y="2711"/>
                </a:lnTo>
                <a:lnTo>
                  <a:pt x="7534" y="2716"/>
                </a:lnTo>
                <a:lnTo>
                  <a:pt x="7532" y="2722"/>
                </a:lnTo>
                <a:lnTo>
                  <a:pt x="7529" y="2727"/>
                </a:lnTo>
                <a:lnTo>
                  <a:pt x="7526" y="2731"/>
                </a:lnTo>
                <a:lnTo>
                  <a:pt x="7523" y="2736"/>
                </a:lnTo>
                <a:lnTo>
                  <a:pt x="7520" y="2740"/>
                </a:lnTo>
                <a:lnTo>
                  <a:pt x="7515" y="2744"/>
                </a:lnTo>
                <a:lnTo>
                  <a:pt x="7511" y="2747"/>
                </a:lnTo>
                <a:lnTo>
                  <a:pt x="7506" y="2750"/>
                </a:lnTo>
                <a:lnTo>
                  <a:pt x="7500" y="2753"/>
                </a:lnTo>
                <a:lnTo>
                  <a:pt x="7495" y="2755"/>
                </a:lnTo>
                <a:lnTo>
                  <a:pt x="7303" y="2814"/>
                </a:lnTo>
                <a:lnTo>
                  <a:pt x="7297" y="2816"/>
                </a:lnTo>
                <a:lnTo>
                  <a:pt x="7291" y="2817"/>
                </a:lnTo>
                <a:lnTo>
                  <a:pt x="7285" y="2817"/>
                </a:lnTo>
                <a:lnTo>
                  <a:pt x="7279" y="2817"/>
                </a:lnTo>
                <a:lnTo>
                  <a:pt x="7273" y="2816"/>
                </a:lnTo>
                <a:lnTo>
                  <a:pt x="7268" y="2815"/>
                </a:lnTo>
                <a:lnTo>
                  <a:pt x="7262" y="2813"/>
                </a:lnTo>
                <a:lnTo>
                  <a:pt x="7257" y="2811"/>
                </a:lnTo>
                <a:lnTo>
                  <a:pt x="7252" y="2808"/>
                </a:lnTo>
                <a:lnTo>
                  <a:pt x="7247" y="2805"/>
                </a:lnTo>
                <a:lnTo>
                  <a:pt x="7243" y="2802"/>
                </a:lnTo>
                <a:lnTo>
                  <a:pt x="7239" y="2797"/>
                </a:lnTo>
                <a:lnTo>
                  <a:pt x="7236" y="2793"/>
                </a:lnTo>
                <a:lnTo>
                  <a:pt x="7232" y="2788"/>
                </a:lnTo>
                <a:lnTo>
                  <a:pt x="7230" y="2783"/>
                </a:lnTo>
                <a:lnTo>
                  <a:pt x="7227" y="2778"/>
                </a:lnTo>
                <a:lnTo>
                  <a:pt x="7166" y="2596"/>
                </a:lnTo>
                <a:lnTo>
                  <a:pt x="7148" y="2598"/>
                </a:lnTo>
                <a:lnTo>
                  <a:pt x="7131" y="2600"/>
                </a:lnTo>
                <a:lnTo>
                  <a:pt x="7114" y="2602"/>
                </a:lnTo>
                <a:lnTo>
                  <a:pt x="7096" y="2603"/>
                </a:lnTo>
                <a:lnTo>
                  <a:pt x="7078" y="2604"/>
                </a:lnTo>
                <a:lnTo>
                  <a:pt x="7061" y="2605"/>
                </a:lnTo>
                <a:lnTo>
                  <a:pt x="7042" y="2605"/>
                </a:lnTo>
                <a:lnTo>
                  <a:pt x="7025" y="2606"/>
                </a:lnTo>
                <a:lnTo>
                  <a:pt x="7007" y="2605"/>
                </a:lnTo>
                <a:lnTo>
                  <a:pt x="6989" y="2605"/>
                </a:lnTo>
                <a:lnTo>
                  <a:pt x="6971" y="2604"/>
                </a:lnTo>
                <a:lnTo>
                  <a:pt x="6954" y="2603"/>
                </a:lnTo>
                <a:lnTo>
                  <a:pt x="6936" y="2602"/>
                </a:lnTo>
                <a:lnTo>
                  <a:pt x="6919" y="2600"/>
                </a:lnTo>
                <a:lnTo>
                  <a:pt x="6901" y="2598"/>
                </a:lnTo>
                <a:lnTo>
                  <a:pt x="6884" y="2596"/>
                </a:lnTo>
                <a:lnTo>
                  <a:pt x="6822" y="2778"/>
                </a:lnTo>
                <a:lnTo>
                  <a:pt x="6820" y="2783"/>
                </a:lnTo>
                <a:lnTo>
                  <a:pt x="6817" y="2788"/>
                </a:lnTo>
                <a:lnTo>
                  <a:pt x="6814" y="2793"/>
                </a:lnTo>
                <a:lnTo>
                  <a:pt x="6810" y="2797"/>
                </a:lnTo>
                <a:lnTo>
                  <a:pt x="6807" y="2802"/>
                </a:lnTo>
                <a:lnTo>
                  <a:pt x="6802" y="2805"/>
                </a:lnTo>
                <a:lnTo>
                  <a:pt x="6798" y="2808"/>
                </a:lnTo>
                <a:lnTo>
                  <a:pt x="6793" y="2811"/>
                </a:lnTo>
                <a:lnTo>
                  <a:pt x="6787" y="2813"/>
                </a:lnTo>
                <a:lnTo>
                  <a:pt x="6782" y="2815"/>
                </a:lnTo>
                <a:lnTo>
                  <a:pt x="6776" y="2816"/>
                </a:lnTo>
                <a:lnTo>
                  <a:pt x="6770" y="2817"/>
                </a:lnTo>
                <a:lnTo>
                  <a:pt x="6765" y="2817"/>
                </a:lnTo>
                <a:lnTo>
                  <a:pt x="6759" y="2817"/>
                </a:lnTo>
                <a:lnTo>
                  <a:pt x="6753" y="2816"/>
                </a:lnTo>
                <a:lnTo>
                  <a:pt x="6747" y="2814"/>
                </a:lnTo>
                <a:lnTo>
                  <a:pt x="6555" y="2755"/>
                </a:lnTo>
                <a:lnTo>
                  <a:pt x="6549" y="2753"/>
                </a:lnTo>
                <a:lnTo>
                  <a:pt x="6544" y="2750"/>
                </a:lnTo>
                <a:lnTo>
                  <a:pt x="6539" y="2747"/>
                </a:lnTo>
                <a:lnTo>
                  <a:pt x="6534" y="2744"/>
                </a:lnTo>
                <a:lnTo>
                  <a:pt x="6530" y="2740"/>
                </a:lnTo>
                <a:lnTo>
                  <a:pt x="6526" y="2736"/>
                </a:lnTo>
                <a:lnTo>
                  <a:pt x="6523" y="2731"/>
                </a:lnTo>
                <a:lnTo>
                  <a:pt x="6520" y="2727"/>
                </a:lnTo>
                <a:lnTo>
                  <a:pt x="6518" y="2722"/>
                </a:lnTo>
                <a:lnTo>
                  <a:pt x="6516" y="2716"/>
                </a:lnTo>
                <a:lnTo>
                  <a:pt x="6515" y="2711"/>
                </a:lnTo>
                <a:lnTo>
                  <a:pt x="6514" y="2705"/>
                </a:lnTo>
                <a:lnTo>
                  <a:pt x="6514" y="2700"/>
                </a:lnTo>
                <a:lnTo>
                  <a:pt x="6514" y="2694"/>
                </a:lnTo>
                <a:lnTo>
                  <a:pt x="6515" y="2689"/>
                </a:lnTo>
                <a:lnTo>
                  <a:pt x="6516" y="2683"/>
                </a:lnTo>
                <a:lnTo>
                  <a:pt x="6579" y="2501"/>
                </a:lnTo>
                <a:lnTo>
                  <a:pt x="6563" y="2493"/>
                </a:lnTo>
                <a:lnTo>
                  <a:pt x="6547" y="2485"/>
                </a:lnTo>
                <a:lnTo>
                  <a:pt x="6532" y="2476"/>
                </a:lnTo>
                <a:lnTo>
                  <a:pt x="6517" y="2468"/>
                </a:lnTo>
                <a:lnTo>
                  <a:pt x="6502" y="2458"/>
                </a:lnTo>
                <a:lnTo>
                  <a:pt x="6487" y="2449"/>
                </a:lnTo>
                <a:lnTo>
                  <a:pt x="6473" y="2440"/>
                </a:lnTo>
                <a:lnTo>
                  <a:pt x="6458" y="2430"/>
                </a:lnTo>
                <a:lnTo>
                  <a:pt x="6444" y="2420"/>
                </a:lnTo>
                <a:lnTo>
                  <a:pt x="6430" y="2409"/>
                </a:lnTo>
                <a:lnTo>
                  <a:pt x="6416" y="2399"/>
                </a:lnTo>
                <a:lnTo>
                  <a:pt x="6403" y="2388"/>
                </a:lnTo>
                <a:lnTo>
                  <a:pt x="6389" y="2377"/>
                </a:lnTo>
                <a:lnTo>
                  <a:pt x="6376" y="2366"/>
                </a:lnTo>
                <a:lnTo>
                  <a:pt x="6363" y="2355"/>
                </a:lnTo>
                <a:lnTo>
                  <a:pt x="6350" y="2343"/>
                </a:lnTo>
                <a:lnTo>
                  <a:pt x="6189" y="2455"/>
                </a:lnTo>
                <a:lnTo>
                  <a:pt x="6183" y="2458"/>
                </a:lnTo>
                <a:lnTo>
                  <a:pt x="6178" y="2461"/>
                </a:lnTo>
                <a:lnTo>
                  <a:pt x="6173" y="2463"/>
                </a:lnTo>
                <a:lnTo>
                  <a:pt x="6167" y="2465"/>
                </a:lnTo>
                <a:lnTo>
                  <a:pt x="6161" y="2466"/>
                </a:lnTo>
                <a:lnTo>
                  <a:pt x="6156" y="2466"/>
                </a:lnTo>
                <a:lnTo>
                  <a:pt x="6150" y="2466"/>
                </a:lnTo>
                <a:lnTo>
                  <a:pt x="6144" y="2466"/>
                </a:lnTo>
                <a:lnTo>
                  <a:pt x="6138" y="2465"/>
                </a:lnTo>
                <a:lnTo>
                  <a:pt x="6133" y="2463"/>
                </a:lnTo>
                <a:lnTo>
                  <a:pt x="6128" y="2461"/>
                </a:lnTo>
                <a:lnTo>
                  <a:pt x="6122" y="2458"/>
                </a:lnTo>
                <a:lnTo>
                  <a:pt x="6118" y="2455"/>
                </a:lnTo>
                <a:lnTo>
                  <a:pt x="6113" y="2451"/>
                </a:lnTo>
                <a:lnTo>
                  <a:pt x="6109" y="2447"/>
                </a:lnTo>
                <a:lnTo>
                  <a:pt x="6105" y="2443"/>
                </a:lnTo>
                <a:lnTo>
                  <a:pt x="5986" y="2286"/>
                </a:lnTo>
                <a:lnTo>
                  <a:pt x="5983" y="2282"/>
                </a:lnTo>
                <a:lnTo>
                  <a:pt x="5980" y="2277"/>
                </a:lnTo>
                <a:lnTo>
                  <a:pt x="5978" y="2271"/>
                </a:lnTo>
                <a:lnTo>
                  <a:pt x="5977" y="2266"/>
                </a:lnTo>
                <a:lnTo>
                  <a:pt x="5975" y="2261"/>
                </a:lnTo>
                <a:lnTo>
                  <a:pt x="5975" y="2255"/>
                </a:lnTo>
                <a:lnTo>
                  <a:pt x="5975" y="2250"/>
                </a:lnTo>
                <a:lnTo>
                  <a:pt x="5976" y="2244"/>
                </a:lnTo>
                <a:lnTo>
                  <a:pt x="5977" y="2239"/>
                </a:lnTo>
                <a:lnTo>
                  <a:pt x="5979" y="2234"/>
                </a:lnTo>
                <a:lnTo>
                  <a:pt x="5981" y="2229"/>
                </a:lnTo>
                <a:lnTo>
                  <a:pt x="5984" y="2224"/>
                </a:lnTo>
                <a:lnTo>
                  <a:pt x="5987" y="2219"/>
                </a:lnTo>
                <a:lnTo>
                  <a:pt x="5991" y="2215"/>
                </a:lnTo>
                <a:lnTo>
                  <a:pt x="5995" y="2211"/>
                </a:lnTo>
                <a:lnTo>
                  <a:pt x="6000" y="2207"/>
                </a:lnTo>
                <a:lnTo>
                  <a:pt x="6161" y="2095"/>
                </a:lnTo>
                <a:lnTo>
                  <a:pt x="6154" y="2080"/>
                </a:lnTo>
                <a:lnTo>
                  <a:pt x="6147" y="2065"/>
                </a:lnTo>
                <a:lnTo>
                  <a:pt x="6140" y="2050"/>
                </a:lnTo>
                <a:lnTo>
                  <a:pt x="6133" y="2034"/>
                </a:lnTo>
                <a:lnTo>
                  <a:pt x="6126" y="2018"/>
                </a:lnTo>
                <a:lnTo>
                  <a:pt x="6120" y="2003"/>
                </a:lnTo>
                <a:lnTo>
                  <a:pt x="6114" y="1987"/>
                </a:lnTo>
                <a:lnTo>
                  <a:pt x="6108" y="1971"/>
                </a:lnTo>
                <a:lnTo>
                  <a:pt x="6103" y="1955"/>
                </a:lnTo>
                <a:lnTo>
                  <a:pt x="6098" y="1939"/>
                </a:lnTo>
                <a:lnTo>
                  <a:pt x="6093" y="1922"/>
                </a:lnTo>
                <a:lnTo>
                  <a:pt x="6089" y="1906"/>
                </a:lnTo>
                <a:lnTo>
                  <a:pt x="6085" y="1889"/>
                </a:lnTo>
                <a:lnTo>
                  <a:pt x="6081" y="1873"/>
                </a:lnTo>
                <a:lnTo>
                  <a:pt x="6078" y="1856"/>
                </a:lnTo>
                <a:lnTo>
                  <a:pt x="6074" y="1839"/>
                </a:lnTo>
                <a:lnTo>
                  <a:pt x="5875" y="1839"/>
                </a:lnTo>
                <a:lnTo>
                  <a:pt x="5868" y="1839"/>
                </a:lnTo>
                <a:lnTo>
                  <a:pt x="5862" y="1838"/>
                </a:lnTo>
                <a:lnTo>
                  <a:pt x="5857" y="1836"/>
                </a:lnTo>
                <a:lnTo>
                  <a:pt x="5851" y="1835"/>
                </a:lnTo>
                <a:lnTo>
                  <a:pt x="5846" y="1832"/>
                </a:lnTo>
                <a:lnTo>
                  <a:pt x="5841" y="1829"/>
                </a:lnTo>
                <a:lnTo>
                  <a:pt x="5836" y="1826"/>
                </a:lnTo>
                <a:lnTo>
                  <a:pt x="5832" y="1822"/>
                </a:lnTo>
                <a:lnTo>
                  <a:pt x="5828" y="1818"/>
                </a:lnTo>
                <a:lnTo>
                  <a:pt x="5825" y="1814"/>
                </a:lnTo>
                <a:lnTo>
                  <a:pt x="5822" y="1809"/>
                </a:lnTo>
                <a:lnTo>
                  <a:pt x="5819" y="1804"/>
                </a:lnTo>
                <a:lnTo>
                  <a:pt x="5817" y="1799"/>
                </a:lnTo>
                <a:lnTo>
                  <a:pt x="5816" y="1794"/>
                </a:lnTo>
                <a:lnTo>
                  <a:pt x="5815" y="1788"/>
                </a:lnTo>
                <a:lnTo>
                  <a:pt x="5815" y="1782"/>
                </a:lnTo>
                <a:lnTo>
                  <a:pt x="5815" y="1589"/>
                </a:lnTo>
                <a:lnTo>
                  <a:pt x="5815" y="1583"/>
                </a:lnTo>
                <a:lnTo>
                  <a:pt x="5816" y="1578"/>
                </a:lnTo>
                <a:lnTo>
                  <a:pt x="5817" y="1572"/>
                </a:lnTo>
                <a:lnTo>
                  <a:pt x="5819" y="1567"/>
                </a:lnTo>
                <a:lnTo>
                  <a:pt x="5822" y="1562"/>
                </a:lnTo>
                <a:lnTo>
                  <a:pt x="5825" y="1558"/>
                </a:lnTo>
                <a:lnTo>
                  <a:pt x="5828" y="1553"/>
                </a:lnTo>
                <a:lnTo>
                  <a:pt x="5832" y="1549"/>
                </a:lnTo>
                <a:lnTo>
                  <a:pt x="5836" y="1545"/>
                </a:lnTo>
                <a:lnTo>
                  <a:pt x="5841" y="1542"/>
                </a:lnTo>
                <a:lnTo>
                  <a:pt x="5846" y="1539"/>
                </a:lnTo>
                <a:lnTo>
                  <a:pt x="5851" y="1537"/>
                </a:lnTo>
                <a:lnTo>
                  <a:pt x="5857" y="1535"/>
                </a:lnTo>
                <a:lnTo>
                  <a:pt x="5862" y="1534"/>
                </a:lnTo>
                <a:lnTo>
                  <a:pt x="5868" y="1532"/>
                </a:lnTo>
                <a:lnTo>
                  <a:pt x="5875" y="1532"/>
                </a:lnTo>
                <a:lnTo>
                  <a:pt x="6074" y="1532"/>
                </a:lnTo>
                <a:lnTo>
                  <a:pt x="6078" y="1515"/>
                </a:lnTo>
                <a:lnTo>
                  <a:pt x="6081" y="1499"/>
                </a:lnTo>
                <a:lnTo>
                  <a:pt x="6085" y="1482"/>
                </a:lnTo>
                <a:lnTo>
                  <a:pt x="6089" y="1465"/>
                </a:lnTo>
                <a:lnTo>
                  <a:pt x="6093" y="1449"/>
                </a:lnTo>
                <a:lnTo>
                  <a:pt x="6098" y="1432"/>
                </a:lnTo>
                <a:lnTo>
                  <a:pt x="6103" y="1416"/>
                </a:lnTo>
                <a:lnTo>
                  <a:pt x="6108" y="1400"/>
                </a:lnTo>
                <a:lnTo>
                  <a:pt x="6114" y="1384"/>
                </a:lnTo>
                <a:lnTo>
                  <a:pt x="6120" y="1368"/>
                </a:lnTo>
                <a:lnTo>
                  <a:pt x="6126" y="1353"/>
                </a:lnTo>
                <a:lnTo>
                  <a:pt x="6133" y="1337"/>
                </a:lnTo>
                <a:lnTo>
                  <a:pt x="6140" y="1322"/>
                </a:lnTo>
                <a:lnTo>
                  <a:pt x="6147" y="1306"/>
                </a:lnTo>
                <a:lnTo>
                  <a:pt x="6154" y="1291"/>
                </a:lnTo>
                <a:lnTo>
                  <a:pt x="6161" y="1276"/>
                </a:lnTo>
                <a:lnTo>
                  <a:pt x="6000" y="1164"/>
                </a:lnTo>
                <a:lnTo>
                  <a:pt x="5995" y="1160"/>
                </a:lnTo>
                <a:lnTo>
                  <a:pt x="5991" y="1156"/>
                </a:lnTo>
                <a:lnTo>
                  <a:pt x="5987" y="1152"/>
                </a:lnTo>
                <a:lnTo>
                  <a:pt x="5984" y="1147"/>
                </a:lnTo>
                <a:lnTo>
                  <a:pt x="5981" y="1142"/>
                </a:lnTo>
                <a:lnTo>
                  <a:pt x="5979" y="1137"/>
                </a:lnTo>
                <a:lnTo>
                  <a:pt x="5977" y="1132"/>
                </a:lnTo>
                <a:lnTo>
                  <a:pt x="5976" y="1127"/>
                </a:lnTo>
                <a:lnTo>
                  <a:pt x="5975" y="1121"/>
                </a:lnTo>
                <a:lnTo>
                  <a:pt x="5975" y="1116"/>
                </a:lnTo>
                <a:lnTo>
                  <a:pt x="5975" y="1110"/>
                </a:lnTo>
                <a:lnTo>
                  <a:pt x="5977" y="1105"/>
                </a:lnTo>
                <a:lnTo>
                  <a:pt x="5978" y="1100"/>
                </a:lnTo>
                <a:lnTo>
                  <a:pt x="5980" y="1094"/>
                </a:lnTo>
                <a:lnTo>
                  <a:pt x="5983" y="1089"/>
                </a:lnTo>
                <a:lnTo>
                  <a:pt x="5986" y="1084"/>
                </a:lnTo>
                <a:lnTo>
                  <a:pt x="6105" y="929"/>
                </a:lnTo>
                <a:lnTo>
                  <a:pt x="6109" y="924"/>
                </a:lnTo>
                <a:lnTo>
                  <a:pt x="6113" y="920"/>
                </a:lnTo>
                <a:lnTo>
                  <a:pt x="6118" y="916"/>
                </a:lnTo>
                <a:lnTo>
                  <a:pt x="6122" y="913"/>
                </a:lnTo>
                <a:lnTo>
                  <a:pt x="6128" y="910"/>
                </a:lnTo>
                <a:lnTo>
                  <a:pt x="6133" y="908"/>
                </a:lnTo>
                <a:lnTo>
                  <a:pt x="6138" y="907"/>
                </a:lnTo>
                <a:lnTo>
                  <a:pt x="6144" y="905"/>
                </a:lnTo>
                <a:lnTo>
                  <a:pt x="6150" y="905"/>
                </a:lnTo>
                <a:lnTo>
                  <a:pt x="6156" y="905"/>
                </a:lnTo>
                <a:lnTo>
                  <a:pt x="6161" y="905"/>
                </a:lnTo>
                <a:lnTo>
                  <a:pt x="6167" y="907"/>
                </a:lnTo>
                <a:lnTo>
                  <a:pt x="6173" y="908"/>
                </a:lnTo>
                <a:lnTo>
                  <a:pt x="6178" y="910"/>
                </a:lnTo>
                <a:lnTo>
                  <a:pt x="6183" y="913"/>
                </a:lnTo>
                <a:lnTo>
                  <a:pt x="6189" y="916"/>
                </a:lnTo>
                <a:lnTo>
                  <a:pt x="6350" y="1028"/>
                </a:lnTo>
                <a:lnTo>
                  <a:pt x="6363" y="1017"/>
                </a:lnTo>
                <a:lnTo>
                  <a:pt x="6376" y="1005"/>
                </a:lnTo>
                <a:lnTo>
                  <a:pt x="6389" y="994"/>
                </a:lnTo>
                <a:lnTo>
                  <a:pt x="6403" y="983"/>
                </a:lnTo>
                <a:lnTo>
                  <a:pt x="6416" y="972"/>
                </a:lnTo>
                <a:lnTo>
                  <a:pt x="6430" y="962"/>
                </a:lnTo>
                <a:lnTo>
                  <a:pt x="6444" y="951"/>
                </a:lnTo>
                <a:lnTo>
                  <a:pt x="6458" y="941"/>
                </a:lnTo>
                <a:lnTo>
                  <a:pt x="6473" y="931"/>
                </a:lnTo>
                <a:lnTo>
                  <a:pt x="6487" y="922"/>
                </a:lnTo>
                <a:lnTo>
                  <a:pt x="6502" y="913"/>
                </a:lnTo>
                <a:lnTo>
                  <a:pt x="6517" y="904"/>
                </a:lnTo>
                <a:lnTo>
                  <a:pt x="6532" y="895"/>
                </a:lnTo>
                <a:lnTo>
                  <a:pt x="6547" y="886"/>
                </a:lnTo>
                <a:lnTo>
                  <a:pt x="6563" y="878"/>
                </a:lnTo>
                <a:lnTo>
                  <a:pt x="6579" y="870"/>
                </a:lnTo>
                <a:lnTo>
                  <a:pt x="6516" y="688"/>
                </a:lnTo>
                <a:lnTo>
                  <a:pt x="6515" y="683"/>
                </a:lnTo>
                <a:lnTo>
                  <a:pt x="6514" y="677"/>
                </a:lnTo>
                <a:lnTo>
                  <a:pt x="6513" y="671"/>
                </a:lnTo>
                <a:lnTo>
                  <a:pt x="6514" y="666"/>
                </a:lnTo>
                <a:lnTo>
                  <a:pt x="6514" y="660"/>
                </a:lnTo>
                <a:lnTo>
                  <a:pt x="6516" y="655"/>
                </a:lnTo>
                <a:lnTo>
                  <a:pt x="6518" y="650"/>
                </a:lnTo>
                <a:lnTo>
                  <a:pt x="6520" y="645"/>
                </a:lnTo>
                <a:lnTo>
                  <a:pt x="6523" y="640"/>
                </a:lnTo>
                <a:lnTo>
                  <a:pt x="6526" y="636"/>
                </a:lnTo>
                <a:lnTo>
                  <a:pt x="6530" y="632"/>
                </a:lnTo>
                <a:lnTo>
                  <a:pt x="6534" y="628"/>
                </a:lnTo>
                <a:lnTo>
                  <a:pt x="6539" y="624"/>
                </a:lnTo>
                <a:lnTo>
                  <a:pt x="6544" y="621"/>
                </a:lnTo>
                <a:lnTo>
                  <a:pt x="6549" y="619"/>
                </a:lnTo>
                <a:lnTo>
                  <a:pt x="6555" y="617"/>
                </a:lnTo>
                <a:lnTo>
                  <a:pt x="6747" y="557"/>
                </a:lnTo>
                <a:lnTo>
                  <a:pt x="6753" y="555"/>
                </a:lnTo>
                <a:lnTo>
                  <a:pt x="6759" y="554"/>
                </a:lnTo>
                <a:lnTo>
                  <a:pt x="6765" y="554"/>
                </a:lnTo>
              </a:path>
              <a:path w="10965" h="4927">
                <a:moveTo>
                  <a:pt x="9460" y="1990"/>
                </a:moveTo>
                <a:cubicBezTo>
                  <a:pt x="8957" y="1990"/>
                  <a:pt x="8549" y="2380"/>
                  <a:pt x="8549" y="2860"/>
                </a:cubicBezTo>
                <a:cubicBezTo>
                  <a:pt x="8549" y="3341"/>
                  <a:pt x="8957" y="3730"/>
                  <a:pt x="9460" y="3730"/>
                </a:cubicBezTo>
                <a:cubicBezTo>
                  <a:pt x="9962" y="3730"/>
                  <a:pt x="10370" y="3341"/>
                  <a:pt x="10370" y="2860"/>
                </a:cubicBezTo>
                <a:cubicBezTo>
                  <a:pt x="10370" y="2380"/>
                  <a:pt x="9962" y="1990"/>
                  <a:pt x="9460" y="1990"/>
                </a:cubicBezTo>
                <a:moveTo>
                  <a:pt x="9136" y="1453"/>
                </a:moveTo>
                <a:lnTo>
                  <a:pt x="9143" y="1453"/>
                </a:lnTo>
                <a:lnTo>
                  <a:pt x="9151" y="1454"/>
                </a:lnTo>
                <a:lnTo>
                  <a:pt x="9157" y="1456"/>
                </a:lnTo>
                <a:lnTo>
                  <a:pt x="9164" y="1458"/>
                </a:lnTo>
                <a:lnTo>
                  <a:pt x="9171" y="1460"/>
                </a:lnTo>
                <a:lnTo>
                  <a:pt x="9177" y="1464"/>
                </a:lnTo>
                <a:lnTo>
                  <a:pt x="9182" y="1468"/>
                </a:lnTo>
                <a:lnTo>
                  <a:pt x="9188" y="1472"/>
                </a:lnTo>
                <a:lnTo>
                  <a:pt x="9193" y="1477"/>
                </a:lnTo>
                <a:lnTo>
                  <a:pt x="9198" y="1483"/>
                </a:lnTo>
                <a:lnTo>
                  <a:pt x="9202" y="1489"/>
                </a:lnTo>
                <a:lnTo>
                  <a:pt x="9205" y="1495"/>
                </a:lnTo>
                <a:lnTo>
                  <a:pt x="9208" y="1502"/>
                </a:lnTo>
                <a:lnTo>
                  <a:pt x="9284" y="1728"/>
                </a:lnTo>
                <a:lnTo>
                  <a:pt x="9306" y="1725"/>
                </a:lnTo>
                <a:lnTo>
                  <a:pt x="9328" y="1722"/>
                </a:lnTo>
                <a:lnTo>
                  <a:pt x="9349" y="1720"/>
                </a:lnTo>
                <a:lnTo>
                  <a:pt x="9371" y="1719"/>
                </a:lnTo>
                <a:lnTo>
                  <a:pt x="9393" y="1717"/>
                </a:lnTo>
                <a:lnTo>
                  <a:pt x="9415" y="1716"/>
                </a:lnTo>
                <a:lnTo>
                  <a:pt x="9437" y="1716"/>
                </a:lnTo>
                <a:lnTo>
                  <a:pt x="9460" y="1716"/>
                </a:lnTo>
                <a:lnTo>
                  <a:pt x="9482" y="1716"/>
                </a:lnTo>
                <a:lnTo>
                  <a:pt x="9504" y="1716"/>
                </a:lnTo>
                <a:lnTo>
                  <a:pt x="9526" y="1717"/>
                </a:lnTo>
                <a:lnTo>
                  <a:pt x="9548" y="1719"/>
                </a:lnTo>
                <a:lnTo>
                  <a:pt x="9570" y="1720"/>
                </a:lnTo>
                <a:lnTo>
                  <a:pt x="9591" y="1722"/>
                </a:lnTo>
                <a:lnTo>
                  <a:pt x="9613" y="1725"/>
                </a:lnTo>
                <a:lnTo>
                  <a:pt x="9635" y="1728"/>
                </a:lnTo>
                <a:lnTo>
                  <a:pt x="9712" y="1502"/>
                </a:lnTo>
                <a:lnTo>
                  <a:pt x="9714" y="1495"/>
                </a:lnTo>
                <a:lnTo>
                  <a:pt x="9718" y="1489"/>
                </a:lnTo>
                <a:lnTo>
                  <a:pt x="9722" y="1483"/>
                </a:lnTo>
                <a:lnTo>
                  <a:pt x="9726" y="1477"/>
                </a:lnTo>
                <a:lnTo>
                  <a:pt x="9731" y="1472"/>
                </a:lnTo>
                <a:lnTo>
                  <a:pt x="9736" y="1468"/>
                </a:lnTo>
                <a:lnTo>
                  <a:pt x="9743" y="1464"/>
                </a:lnTo>
                <a:lnTo>
                  <a:pt x="9749" y="1460"/>
                </a:lnTo>
                <a:lnTo>
                  <a:pt x="9755" y="1458"/>
                </a:lnTo>
                <a:lnTo>
                  <a:pt x="9762" y="1456"/>
                </a:lnTo>
                <a:lnTo>
                  <a:pt x="9769" y="1454"/>
                </a:lnTo>
                <a:lnTo>
                  <a:pt x="9776" y="1453"/>
                </a:lnTo>
                <a:lnTo>
                  <a:pt x="9783" y="1453"/>
                </a:lnTo>
                <a:lnTo>
                  <a:pt x="9791" y="1453"/>
                </a:lnTo>
                <a:lnTo>
                  <a:pt x="9798" y="1454"/>
                </a:lnTo>
                <a:lnTo>
                  <a:pt x="9805" y="1456"/>
                </a:lnTo>
                <a:lnTo>
                  <a:pt x="10044" y="1531"/>
                </a:lnTo>
                <a:lnTo>
                  <a:pt x="10051" y="1533"/>
                </a:lnTo>
                <a:lnTo>
                  <a:pt x="10058" y="1536"/>
                </a:lnTo>
                <a:lnTo>
                  <a:pt x="10064" y="1540"/>
                </a:lnTo>
                <a:lnTo>
                  <a:pt x="10070" y="1544"/>
                </a:lnTo>
                <a:lnTo>
                  <a:pt x="10075" y="1549"/>
                </a:lnTo>
                <a:lnTo>
                  <a:pt x="10080" y="1554"/>
                </a:lnTo>
                <a:lnTo>
                  <a:pt x="10083" y="1560"/>
                </a:lnTo>
                <a:lnTo>
                  <a:pt x="10087" y="1565"/>
                </a:lnTo>
                <a:lnTo>
                  <a:pt x="10090" y="1571"/>
                </a:lnTo>
                <a:lnTo>
                  <a:pt x="10093" y="1578"/>
                </a:lnTo>
                <a:lnTo>
                  <a:pt x="10094" y="1585"/>
                </a:lnTo>
                <a:lnTo>
                  <a:pt x="10095" y="1592"/>
                </a:lnTo>
                <a:lnTo>
                  <a:pt x="10095" y="1599"/>
                </a:lnTo>
                <a:lnTo>
                  <a:pt x="10094" y="1606"/>
                </a:lnTo>
                <a:lnTo>
                  <a:pt x="10093" y="1613"/>
                </a:lnTo>
                <a:lnTo>
                  <a:pt x="10092" y="1620"/>
                </a:lnTo>
                <a:lnTo>
                  <a:pt x="10014" y="1846"/>
                </a:lnTo>
                <a:lnTo>
                  <a:pt x="10034" y="1856"/>
                </a:lnTo>
                <a:lnTo>
                  <a:pt x="10054" y="1866"/>
                </a:lnTo>
                <a:lnTo>
                  <a:pt x="10072" y="1877"/>
                </a:lnTo>
                <a:lnTo>
                  <a:pt x="10091" y="1888"/>
                </a:lnTo>
                <a:lnTo>
                  <a:pt x="10110" y="1899"/>
                </a:lnTo>
                <a:lnTo>
                  <a:pt x="10128" y="1910"/>
                </a:lnTo>
                <a:lnTo>
                  <a:pt x="10146" y="1922"/>
                </a:lnTo>
                <a:lnTo>
                  <a:pt x="10164" y="1934"/>
                </a:lnTo>
                <a:lnTo>
                  <a:pt x="10182" y="1947"/>
                </a:lnTo>
                <a:lnTo>
                  <a:pt x="10199" y="1960"/>
                </a:lnTo>
                <a:lnTo>
                  <a:pt x="10217" y="1973"/>
                </a:lnTo>
                <a:lnTo>
                  <a:pt x="10233" y="1986"/>
                </a:lnTo>
                <a:lnTo>
                  <a:pt x="10250" y="2000"/>
                </a:lnTo>
                <a:lnTo>
                  <a:pt x="10266" y="2014"/>
                </a:lnTo>
                <a:lnTo>
                  <a:pt x="10282" y="2028"/>
                </a:lnTo>
                <a:lnTo>
                  <a:pt x="10298" y="2042"/>
                </a:lnTo>
                <a:lnTo>
                  <a:pt x="10500" y="1903"/>
                </a:lnTo>
                <a:lnTo>
                  <a:pt x="10506" y="1899"/>
                </a:lnTo>
                <a:lnTo>
                  <a:pt x="10513" y="1895"/>
                </a:lnTo>
                <a:lnTo>
                  <a:pt x="10519" y="1893"/>
                </a:lnTo>
                <a:lnTo>
                  <a:pt x="10527" y="1891"/>
                </a:lnTo>
                <a:lnTo>
                  <a:pt x="10533" y="1890"/>
                </a:lnTo>
                <a:lnTo>
                  <a:pt x="10541" y="1889"/>
                </a:lnTo>
                <a:lnTo>
                  <a:pt x="10548" y="1889"/>
                </a:lnTo>
                <a:lnTo>
                  <a:pt x="10555" y="1890"/>
                </a:lnTo>
                <a:lnTo>
                  <a:pt x="10562" y="1891"/>
                </a:lnTo>
                <a:lnTo>
                  <a:pt x="10568" y="1893"/>
                </a:lnTo>
                <a:lnTo>
                  <a:pt x="10575" y="1896"/>
                </a:lnTo>
                <a:lnTo>
                  <a:pt x="10581" y="1899"/>
                </a:lnTo>
                <a:lnTo>
                  <a:pt x="10588" y="1903"/>
                </a:lnTo>
                <a:lnTo>
                  <a:pt x="10593" y="1908"/>
                </a:lnTo>
                <a:lnTo>
                  <a:pt x="10598" y="1913"/>
                </a:lnTo>
                <a:lnTo>
                  <a:pt x="10603" y="1919"/>
                </a:lnTo>
                <a:lnTo>
                  <a:pt x="10751" y="2112"/>
                </a:lnTo>
                <a:lnTo>
                  <a:pt x="10755" y="2118"/>
                </a:lnTo>
                <a:lnTo>
                  <a:pt x="10758" y="2125"/>
                </a:lnTo>
                <a:lnTo>
                  <a:pt x="10761" y="2131"/>
                </a:lnTo>
                <a:lnTo>
                  <a:pt x="10763" y="2138"/>
                </a:lnTo>
                <a:lnTo>
                  <a:pt x="10765" y="2145"/>
                </a:lnTo>
                <a:lnTo>
                  <a:pt x="10765" y="2152"/>
                </a:lnTo>
                <a:lnTo>
                  <a:pt x="10765" y="2158"/>
                </a:lnTo>
                <a:lnTo>
                  <a:pt x="10764" y="2165"/>
                </a:lnTo>
                <a:lnTo>
                  <a:pt x="10763" y="2172"/>
                </a:lnTo>
                <a:lnTo>
                  <a:pt x="10760" y="2178"/>
                </a:lnTo>
                <a:lnTo>
                  <a:pt x="10758" y="2185"/>
                </a:lnTo>
                <a:lnTo>
                  <a:pt x="10754" y="2191"/>
                </a:lnTo>
                <a:lnTo>
                  <a:pt x="10750" y="2196"/>
                </a:lnTo>
                <a:lnTo>
                  <a:pt x="10746" y="2202"/>
                </a:lnTo>
                <a:lnTo>
                  <a:pt x="10741" y="2207"/>
                </a:lnTo>
                <a:lnTo>
                  <a:pt x="10735" y="2211"/>
                </a:lnTo>
                <a:lnTo>
                  <a:pt x="10533" y="2351"/>
                </a:lnTo>
                <a:lnTo>
                  <a:pt x="10542" y="2370"/>
                </a:lnTo>
                <a:lnTo>
                  <a:pt x="10552" y="2389"/>
                </a:lnTo>
                <a:lnTo>
                  <a:pt x="10561" y="2408"/>
                </a:lnTo>
                <a:lnTo>
                  <a:pt x="10569" y="2427"/>
                </a:lnTo>
                <a:lnTo>
                  <a:pt x="10577" y="2446"/>
                </a:lnTo>
                <a:lnTo>
                  <a:pt x="10585" y="2466"/>
                </a:lnTo>
                <a:lnTo>
                  <a:pt x="10592" y="2485"/>
                </a:lnTo>
                <a:lnTo>
                  <a:pt x="10599" y="2505"/>
                </a:lnTo>
                <a:lnTo>
                  <a:pt x="10606" y="2525"/>
                </a:lnTo>
                <a:lnTo>
                  <a:pt x="10612" y="2546"/>
                </a:lnTo>
                <a:lnTo>
                  <a:pt x="10618" y="2566"/>
                </a:lnTo>
                <a:lnTo>
                  <a:pt x="10623" y="2586"/>
                </a:lnTo>
                <a:lnTo>
                  <a:pt x="10629" y="2607"/>
                </a:lnTo>
                <a:lnTo>
                  <a:pt x="10633" y="2627"/>
                </a:lnTo>
                <a:lnTo>
                  <a:pt x="10638" y="2648"/>
                </a:lnTo>
                <a:lnTo>
                  <a:pt x="10642" y="2669"/>
                </a:lnTo>
                <a:lnTo>
                  <a:pt x="10890" y="2669"/>
                </a:lnTo>
                <a:lnTo>
                  <a:pt x="10898" y="2670"/>
                </a:lnTo>
                <a:lnTo>
                  <a:pt x="10905" y="2671"/>
                </a:lnTo>
                <a:lnTo>
                  <a:pt x="10912" y="2672"/>
                </a:lnTo>
                <a:lnTo>
                  <a:pt x="10919" y="2675"/>
                </a:lnTo>
                <a:lnTo>
                  <a:pt x="10925" y="2678"/>
                </a:lnTo>
                <a:lnTo>
                  <a:pt x="10932" y="2681"/>
                </a:lnTo>
                <a:lnTo>
                  <a:pt x="10937" y="2686"/>
                </a:lnTo>
                <a:lnTo>
                  <a:pt x="10943" y="2690"/>
                </a:lnTo>
                <a:lnTo>
                  <a:pt x="10947" y="2695"/>
                </a:lnTo>
                <a:lnTo>
                  <a:pt x="10952" y="2701"/>
                </a:lnTo>
                <a:lnTo>
                  <a:pt x="10956" y="2707"/>
                </a:lnTo>
                <a:lnTo>
                  <a:pt x="10959" y="2712"/>
                </a:lnTo>
                <a:lnTo>
                  <a:pt x="10961" y="2719"/>
                </a:lnTo>
                <a:lnTo>
                  <a:pt x="10963" y="2726"/>
                </a:lnTo>
                <a:lnTo>
                  <a:pt x="10964" y="2733"/>
                </a:lnTo>
                <a:lnTo>
                  <a:pt x="10965" y="2740"/>
                </a:lnTo>
                <a:lnTo>
                  <a:pt x="10965" y="2980"/>
                </a:lnTo>
                <a:lnTo>
                  <a:pt x="10964" y="2987"/>
                </a:lnTo>
                <a:lnTo>
                  <a:pt x="10963" y="2995"/>
                </a:lnTo>
                <a:lnTo>
                  <a:pt x="10961" y="3001"/>
                </a:lnTo>
                <a:lnTo>
                  <a:pt x="10959" y="3008"/>
                </a:lnTo>
                <a:lnTo>
                  <a:pt x="10956" y="3014"/>
                </a:lnTo>
                <a:lnTo>
                  <a:pt x="10952" y="3020"/>
                </a:lnTo>
                <a:lnTo>
                  <a:pt x="10947" y="3025"/>
                </a:lnTo>
                <a:lnTo>
                  <a:pt x="10943" y="3030"/>
                </a:lnTo>
                <a:lnTo>
                  <a:pt x="10937" y="3035"/>
                </a:lnTo>
                <a:lnTo>
                  <a:pt x="10932" y="3039"/>
                </a:lnTo>
                <a:lnTo>
                  <a:pt x="10925" y="3042"/>
                </a:lnTo>
                <a:lnTo>
                  <a:pt x="10919" y="3045"/>
                </a:lnTo>
                <a:lnTo>
                  <a:pt x="10912" y="3048"/>
                </a:lnTo>
                <a:lnTo>
                  <a:pt x="10905" y="3049"/>
                </a:lnTo>
                <a:lnTo>
                  <a:pt x="10898" y="3051"/>
                </a:lnTo>
                <a:lnTo>
                  <a:pt x="10890" y="3051"/>
                </a:lnTo>
                <a:lnTo>
                  <a:pt x="10642" y="3051"/>
                </a:lnTo>
                <a:lnTo>
                  <a:pt x="10638" y="3072"/>
                </a:lnTo>
                <a:lnTo>
                  <a:pt x="10633" y="3093"/>
                </a:lnTo>
                <a:lnTo>
                  <a:pt x="10629" y="3113"/>
                </a:lnTo>
                <a:lnTo>
                  <a:pt x="10623" y="3134"/>
                </a:lnTo>
                <a:lnTo>
                  <a:pt x="10618" y="3154"/>
                </a:lnTo>
                <a:lnTo>
                  <a:pt x="10612" y="3175"/>
                </a:lnTo>
                <a:lnTo>
                  <a:pt x="10606" y="3195"/>
                </a:lnTo>
                <a:lnTo>
                  <a:pt x="10599" y="3215"/>
                </a:lnTo>
                <a:lnTo>
                  <a:pt x="10592" y="3235"/>
                </a:lnTo>
                <a:lnTo>
                  <a:pt x="10585" y="3255"/>
                </a:lnTo>
                <a:lnTo>
                  <a:pt x="10577" y="3274"/>
                </a:lnTo>
                <a:lnTo>
                  <a:pt x="10569" y="3293"/>
                </a:lnTo>
                <a:lnTo>
                  <a:pt x="10561" y="3313"/>
                </a:lnTo>
                <a:lnTo>
                  <a:pt x="10552" y="3332"/>
                </a:lnTo>
                <a:lnTo>
                  <a:pt x="10542" y="3351"/>
                </a:lnTo>
                <a:lnTo>
                  <a:pt x="10533" y="3369"/>
                </a:lnTo>
                <a:lnTo>
                  <a:pt x="10735" y="3509"/>
                </a:lnTo>
                <a:lnTo>
                  <a:pt x="10741" y="3513"/>
                </a:lnTo>
                <a:lnTo>
                  <a:pt x="10746" y="3518"/>
                </a:lnTo>
                <a:lnTo>
                  <a:pt x="10750" y="3524"/>
                </a:lnTo>
                <a:lnTo>
                  <a:pt x="10754" y="3529"/>
                </a:lnTo>
                <a:lnTo>
                  <a:pt x="10758" y="3536"/>
                </a:lnTo>
                <a:lnTo>
                  <a:pt x="10760" y="3542"/>
                </a:lnTo>
                <a:lnTo>
                  <a:pt x="10763" y="3548"/>
                </a:lnTo>
                <a:lnTo>
                  <a:pt x="10764" y="3555"/>
                </a:lnTo>
                <a:lnTo>
                  <a:pt x="10765" y="3562"/>
                </a:lnTo>
                <a:lnTo>
                  <a:pt x="10765" y="3569"/>
                </a:lnTo>
                <a:lnTo>
                  <a:pt x="10765" y="3575"/>
                </a:lnTo>
                <a:lnTo>
                  <a:pt x="10763" y="3582"/>
                </a:lnTo>
                <a:lnTo>
                  <a:pt x="10761" y="3589"/>
                </a:lnTo>
                <a:lnTo>
                  <a:pt x="10758" y="3596"/>
                </a:lnTo>
                <a:lnTo>
                  <a:pt x="10755" y="3601"/>
                </a:lnTo>
                <a:lnTo>
                  <a:pt x="10751" y="3607"/>
                </a:lnTo>
                <a:lnTo>
                  <a:pt x="10603" y="3802"/>
                </a:lnTo>
                <a:lnTo>
                  <a:pt x="10598" y="3807"/>
                </a:lnTo>
                <a:lnTo>
                  <a:pt x="10593" y="3812"/>
                </a:lnTo>
                <a:lnTo>
                  <a:pt x="10588" y="3817"/>
                </a:lnTo>
                <a:lnTo>
                  <a:pt x="10581" y="3821"/>
                </a:lnTo>
                <a:lnTo>
                  <a:pt x="10575" y="3824"/>
                </a:lnTo>
                <a:lnTo>
                  <a:pt x="10568" y="3827"/>
                </a:lnTo>
                <a:lnTo>
                  <a:pt x="10562" y="3829"/>
                </a:lnTo>
                <a:lnTo>
                  <a:pt x="10555" y="3830"/>
                </a:lnTo>
                <a:lnTo>
                  <a:pt x="10548" y="3831"/>
                </a:lnTo>
                <a:lnTo>
                  <a:pt x="10541" y="3831"/>
                </a:lnTo>
                <a:lnTo>
                  <a:pt x="10533" y="3830"/>
                </a:lnTo>
                <a:lnTo>
                  <a:pt x="10526" y="3829"/>
                </a:lnTo>
                <a:lnTo>
                  <a:pt x="10519" y="3827"/>
                </a:lnTo>
                <a:lnTo>
                  <a:pt x="10512" y="3825"/>
                </a:lnTo>
                <a:lnTo>
                  <a:pt x="10506" y="3821"/>
                </a:lnTo>
                <a:lnTo>
                  <a:pt x="10500" y="3817"/>
                </a:lnTo>
                <a:lnTo>
                  <a:pt x="10298" y="3678"/>
                </a:lnTo>
                <a:lnTo>
                  <a:pt x="10282" y="3693"/>
                </a:lnTo>
                <a:lnTo>
                  <a:pt x="10266" y="3706"/>
                </a:lnTo>
                <a:lnTo>
                  <a:pt x="10250" y="3720"/>
                </a:lnTo>
                <a:lnTo>
                  <a:pt x="10233" y="3734"/>
                </a:lnTo>
                <a:lnTo>
                  <a:pt x="10217" y="3748"/>
                </a:lnTo>
                <a:lnTo>
                  <a:pt x="10199" y="3760"/>
                </a:lnTo>
                <a:lnTo>
                  <a:pt x="10182" y="3773"/>
                </a:lnTo>
                <a:lnTo>
                  <a:pt x="10164" y="3786"/>
                </a:lnTo>
                <a:lnTo>
                  <a:pt x="10147" y="3798"/>
                </a:lnTo>
                <a:lnTo>
                  <a:pt x="10128" y="3810"/>
                </a:lnTo>
                <a:lnTo>
                  <a:pt x="10110" y="3821"/>
                </a:lnTo>
                <a:lnTo>
                  <a:pt x="10091" y="3833"/>
                </a:lnTo>
                <a:lnTo>
                  <a:pt x="10072" y="3844"/>
                </a:lnTo>
                <a:lnTo>
                  <a:pt x="10054" y="3854"/>
                </a:lnTo>
                <a:lnTo>
                  <a:pt x="10034" y="3864"/>
                </a:lnTo>
                <a:lnTo>
                  <a:pt x="10014" y="3875"/>
                </a:lnTo>
                <a:lnTo>
                  <a:pt x="10092" y="4100"/>
                </a:lnTo>
                <a:lnTo>
                  <a:pt x="10093" y="4107"/>
                </a:lnTo>
                <a:lnTo>
                  <a:pt x="10094" y="4115"/>
                </a:lnTo>
                <a:lnTo>
                  <a:pt x="10095" y="4122"/>
                </a:lnTo>
                <a:lnTo>
                  <a:pt x="10095" y="4128"/>
                </a:lnTo>
                <a:lnTo>
                  <a:pt x="10094" y="4135"/>
                </a:lnTo>
                <a:lnTo>
                  <a:pt x="10093" y="4142"/>
                </a:lnTo>
                <a:lnTo>
                  <a:pt x="10090" y="4148"/>
                </a:lnTo>
                <a:lnTo>
                  <a:pt x="10087" y="4155"/>
                </a:lnTo>
                <a:lnTo>
                  <a:pt x="10083" y="4161"/>
                </a:lnTo>
                <a:lnTo>
                  <a:pt x="10080" y="4166"/>
                </a:lnTo>
                <a:lnTo>
                  <a:pt x="10075" y="4171"/>
                </a:lnTo>
                <a:lnTo>
                  <a:pt x="10070" y="4176"/>
                </a:lnTo>
                <a:lnTo>
                  <a:pt x="10064" y="4180"/>
                </a:lnTo>
                <a:lnTo>
                  <a:pt x="10058" y="4184"/>
                </a:lnTo>
                <a:lnTo>
                  <a:pt x="10051" y="4187"/>
                </a:lnTo>
                <a:lnTo>
                  <a:pt x="10044" y="4190"/>
                </a:lnTo>
                <a:lnTo>
                  <a:pt x="9805" y="4264"/>
                </a:lnTo>
                <a:lnTo>
                  <a:pt x="9798" y="4266"/>
                </a:lnTo>
                <a:lnTo>
                  <a:pt x="9791" y="4267"/>
                </a:lnTo>
                <a:lnTo>
                  <a:pt x="9783" y="4267"/>
                </a:lnTo>
                <a:lnTo>
                  <a:pt x="9776" y="4267"/>
                </a:lnTo>
                <a:lnTo>
                  <a:pt x="9769" y="4266"/>
                </a:lnTo>
                <a:lnTo>
                  <a:pt x="9762" y="4265"/>
                </a:lnTo>
                <a:lnTo>
                  <a:pt x="9755" y="4262"/>
                </a:lnTo>
                <a:lnTo>
                  <a:pt x="9749" y="4259"/>
                </a:lnTo>
                <a:lnTo>
                  <a:pt x="9742" y="4257"/>
                </a:lnTo>
                <a:lnTo>
                  <a:pt x="9736" y="4252"/>
                </a:lnTo>
                <a:lnTo>
                  <a:pt x="9731" y="4248"/>
                </a:lnTo>
                <a:lnTo>
                  <a:pt x="9726" y="4243"/>
                </a:lnTo>
                <a:lnTo>
                  <a:pt x="9722" y="4238"/>
                </a:lnTo>
                <a:lnTo>
                  <a:pt x="9718" y="4232"/>
                </a:lnTo>
                <a:lnTo>
                  <a:pt x="9714" y="4225"/>
                </a:lnTo>
                <a:lnTo>
                  <a:pt x="9712" y="4219"/>
                </a:lnTo>
                <a:lnTo>
                  <a:pt x="9635" y="3992"/>
                </a:lnTo>
                <a:lnTo>
                  <a:pt x="9613" y="3995"/>
                </a:lnTo>
                <a:lnTo>
                  <a:pt x="9592" y="3997"/>
                </a:lnTo>
                <a:lnTo>
                  <a:pt x="9570" y="3999"/>
                </a:lnTo>
                <a:lnTo>
                  <a:pt x="9548" y="4001"/>
                </a:lnTo>
                <a:lnTo>
                  <a:pt x="9526" y="4003"/>
                </a:lnTo>
                <a:lnTo>
                  <a:pt x="9504" y="4004"/>
                </a:lnTo>
                <a:lnTo>
                  <a:pt x="9482" y="4004"/>
                </a:lnTo>
                <a:lnTo>
                  <a:pt x="9460" y="4005"/>
                </a:lnTo>
                <a:lnTo>
                  <a:pt x="9437" y="4004"/>
                </a:lnTo>
                <a:lnTo>
                  <a:pt x="9415" y="4004"/>
                </a:lnTo>
                <a:lnTo>
                  <a:pt x="9393" y="4003"/>
                </a:lnTo>
                <a:lnTo>
                  <a:pt x="9371" y="4001"/>
                </a:lnTo>
                <a:lnTo>
                  <a:pt x="9349" y="3999"/>
                </a:lnTo>
                <a:lnTo>
                  <a:pt x="9328" y="3997"/>
                </a:lnTo>
                <a:lnTo>
                  <a:pt x="9306" y="3995"/>
                </a:lnTo>
                <a:lnTo>
                  <a:pt x="9284" y="3992"/>
                </a:lnTo>
                <a:lnTo>
                  <a:pt x="9208" y="4219"/>
                </a:lnTo>
                <a:lnTo>
                  <a:pt x="9205" y="4225"/>
                </a:lnTo>
                <a:lnTo>
                  <a:pt x="9202" y="4232"/>
                </a:lnTo>
                <a:lnTo>
                  <a:pt x="9198" y="4238"/>
                </a:lnTo>
                <a:lnTo>
                  <a:pt x="9193" y="4243"/>
                </a:lnTo>
                <a:lnTo>
                  <a:pt x="9188" y="4248"/>
                </a:lnTo>
                <a:lnTo>
                  <a:pt x="9182" y="4252"/>
                </a:lnTo>
                <a:lnTo>
                  <a:pt x="9177" y="4257"/>
                </a:lnTo>
                <a:lnTo>
                  <a:pt x="9171" y="4259"/>
                </a:lnTo>
                <a:lnTo>
                  <a:pt x="9164" y="4262"/>
                </a:lnTo>
                <a:lnTo>
                  <a:pt x="9157" y="4265"/>
                </a:lnTo>
                <a:lnTo>
                  <a:pt x="9151" y="4266"/>
                </a:lnTo>
                <a:lnTo>
                  <a:pt x="9143" y="4267"/>
                </a:lnTo>
                <a:lnTo>
                  <a:pt x="9136" y="4267"/>
                </a:lnTo>
                <a:lnTo>
                  <a:pt x="9129" y="4267"/>
                </a:lnTo>
                <a:lnTo>
                  <a:pt x="9121" y="4266"/>
                </a:lnTo>
                <a:lnTo>
                  <a:pt x="9114" y="4264"/>
                </a:lnTo>
                <a:lnTo>
                  <a:pt x="8875" y="4190"/>
                </a:lnTo>
                <a:lnTo>
                  <a:pt x="8868" y="4187"/>
                </a:lnTo>
                <a:lnTo>
                  <a:pt x="8861" y="4184"/>
                </a:lnTo>
                <a:lnTo>
                  <a:pt x="8855" y="4180"/>
                </a:lnTo>
                <a:lnTo>
                  <a:pt x="8850" y="4176"/>
                </a:lnTo>
                <a:lnTo>
                  <a:pt x="8844" y="4171"/>
                </a:lnTo>
                <a:lnTo>
                  <a:pt x="8840" y="4166"/>
                </a:lnTo>
                <a:lnTo>
                  <a:pt x="8835" y="4161"/>
                </a:lnTo>
                <a:lnTo>
                  <a:pt x="8832" y="4155"/>
                </a:lnTo>
                <a:lnTo>
                  <a:pt x="8829" y="4148"/>
                </a:lnTo>
                <a:lnTo>
                  <a:pt x="8827" y="4142"/>
                </a:lnTo>
                <a:lnTo>
                  <a:pt x="8825" y="4135"/>
                </a:lnTo>
                <a:lnTo>
                  <a:pt x="8824" y="4128"/>
                </a:lnTo>
                <a:lnTo>
                  <a:pt x="8824" y="4122"/>
                </a:lnTo>
                <a:lnTo>
                  <a:pt x="8824" y="4115"/>
                </a:lnTo>
                <a:lnTo>
                  <a:pt x="8826" y="4107"/>
                </a:lnTo>
                <a:lnTo>
                  <a:pt x="8827" y="4100"/>
                </a:lnTo>
                <a:lnTo>
                  <a:pt x="8905" y="3875"/>
                </a:lnTo>
                <a:lnTo>
                  <a:pt x="8885" y="3864"/>
                </a:lnTo>
                <a:lnTo>
                  <a:pt x="8866" y="3854"/>
                </a:lnTo>
                <a:lnTo>
                  <a:pt x="8847" y="3844"/>
                </a:lnTo>
                <a:lnTo>
                  <a:pt x="8828" y="3833"/>
                </a:lnTo>
                <a:lnTo>
                  <a:pt x="8809" y="3821"/>
                </a:lnTo>
                <a:lnTo>
                  <a:pt x="8791" y="3810"/>
                </a:lnTo>
                <a:lnTo>
                  <a:pt x="8773" y="3798"/>
                </a:lnTo>
                <a:lnTo>
                  <a:pt x="8755" y="3786"/>
                </a:lnTo>
                <a:lnTo>
                  <a:pt x="8737" y="3773"/>
                </a:lnTo>
                <a:lnTo>
                  <a:pt x="8720" y="3760"/>
                </a:lnTo>
                <a:lnTo>
                  <a:pt x="8703" y="3747"/>
                </a:lnTo>
                <a:lnTo>
                  <a:pt x="8686" y="3734"/>
                </a:lnTo>
                <a:lnTo>
                  <a:pt x="8669" y="3720"/>
                </a:lnTo>
                <a:lnTo>
                  <a:pt x="8653" y="3706"/>
                </a:lnTo>
                <a:lnTo>
                  <a:pt x="8637" y="3692"/>
                </a:lnTo>
                <a:lnTo>
                  <a:pt x="8621" y="3677"/>
                </a:lnTo>
                <a:lnTo>
                  <a:pt x="8420" y="3817"/>
                </a:lnTo>
                <a:lnTo>
                  <a:pt x="8413" y="3821"/>
                </a:lnTo>
                <a:lnTo>
                  <a:pt x="8407" y="3825"/>
                </a:lnTo>
                <a:lnTo>
                  <a:pt x="8400" y="3827"/>
                </a:lnTo>
                <a:lnTo>
                  <a:pt x="8393" y="3829"/>
                </a:lnTo>
                <a:lnTo>
                  <a:pt x="8386" y="3830"/>
                </a:lnTo>
                <a:lnTo>
                  <a:pt x="8379" y="3831"/>
                </a:lnTo>
                <a:lnTo>
                  <a:pt x="8371" y="3831"/>
                </a:lnTo>
                <a:lnTo>
                  <a:pt x="8365" y="3830"/>
                </a:lnTo>
                <a:lnTo>
                  <a:pt x="8357" y="3829"/>
                </a:lnTo>
                <a:lnTo>
                  <a:pt x="8350" y="3827"/>
                </a:lnTo>
                <a:lnTo>
                  <a:pt x="8344" y="3824"/>
                </a:lnTo>
                <a:lnTo>
                  <a:pt x="8337" y="3821"/>
                </a:lnTo>
                <a:lnTo>
                  <a:pt x="8332" y="3817"/>
                </a:lnTo>
                <a:lnTo>
                  <a:pt x="8326" y="3812"/>
                </a:lnTo>
                <a:lnTo>
                  <a:pt x="8321" y="3807"/>
                </a:lnTo>
                <a:lnTo>
                  <a:pt x="8316" y="3802"/>
                </a:lnTo>
                <a:lnTo>
                  <a:pt x="8168" y="3607"/>
                </a:lnTo>
                <a:lnTo>
                  <a:pt x="8164" y="3601"/>
                </a:lnTo>
                <a:lnTo>
                  <a:pt x="8161" y="3596"/>
                </a:lnTo>
                <a:lnTo>
                  <a:pt x="8158" y="3589"/>
                </a:lnTo>
                <a:lnTo>
                  <a:pt x="8156" y="3582"/>
                </a:lnTo>
                <a:lnTo>
                  <a:pt x="8155" y="3575"/>
                </a:lnTo>
                <a:lnTo>
                  <a:pt x="8154" y="3569"/>
                </a:lnTo>
                <a:lnTo>
                  <a:pt x="8154" y="3562"/>
                </a:lnTo>
                <a:lnTo>
                  <a:pt x="8155" y="3555"/>
                </a:lnTo>
                <a:lnTo>
                  <a:pt x="8157" y="3548"/>
                </a:lnTo>
                <a:lnTo>
                  <a:pt x="8159" y="3542"/>
                </a:lnTo>
                <a:lnTo>
                  <a:pt x="8162" y="3536"/>
                </a:lnTo>
                <a:lnTo>
                  <a:pt x="8165" y="3529"/>
                </a:lnTo>
                <a:lnTo>
                  <a:pt x="8169" y="3524"/>
                </a:lnTo>
                <a:lnTo>
                  <a:pt x="8173" y="3518"/>
                </a:lnTo>
                <a:lnTo>
                  <a:pt x="8179" y="3513"/>
                </a:lnTo>
                <a:lnTo>
                  <a:pt x="8185" y="3509"/>
                </a:lnTo>
                <a:lnTo>
                  <a:pt x="8386" y="3369"/>
                </a:lnTo>
                <a:lnTo>
                  <a:pt x="8377" y="3351"/>
                </a:lnTo>
                <a:lnTo>
                  <a:pt x="8368" y="3332"/>
                </a:lnTo>
                <a:lnTo>
                  <a:pt x="8359" y="3313"/>
                </a:lnTo>
                <a:lnTo>
                  <a:pt x="8350" y="3293"/>
                </a:lnTo>
                <a:lnTo>
                  <a:pt x="8342" y="3274"/>
                </a:lnTo>
                <a:lnTo>
                  <a:pt x="8334" y="3255"/>
                </a:lnTo>
                <a:lnTo>
                  <a:pt x="8327" y="3235"/>
                </a:lnTo>
                <a:lnTo>
                  <a:pt x="8320" y="3215"/>
                </a:lnTo>
                <a:lnTo>
                  <a:pt x="8313" y="3195"/>
                </a:lnTo>
                <a:lnTo>
                  <a:pt x="8307" y="3175"/>
                </a:lnTo>
                <a:lnTo>
                  <a:pt x="8301" y="3154"/>
                </a:lnTo>
                <a:lnTo>
                  <a:pt x="8296" y="3134"/>
                </a:lnTo>
                <a:lnTo>
                  <a:pt x="8291" y="3113"/>
                </a:lnTo>
                <a:lnTo>
                  <a:pt x="8286" y="3093"/>
                </a:lnTo>
                <a:lnTo>
                  <a:pt x="8282" y="3072"/>
                </a:lnTo>
                <a:lnTo>
                  <a:pt x="8278" y="3051"/>
                </a:lnTo>
                <a:lnTo>
                  <a:pt x="8029" y="3051"/>
                </a:lnTo>
                <a:lnTo>
                  <a:pt x="8021" y="3051"/>
                </a:lnTo>
                <a:lnTo>
                  <a:pt x="8014" y="3049"/>
                </a:lnTo>
                <a:lnTo>
                  <a:pt x="8007" y="3048"/>
                </a:lnTo>
                <a:lnTo>
                  <a:pt x="8000" y="3045"/>
                </a:lnTo>
                <a:lnTo>
                  <a:pt x="7994" y="3042"/>
                </a:lnTo>
                <a:lnTo>
                  <a:pt x="7988" y="3039"/>
                </a:lnTo>
                <a:lnTo>
                  <a:pt x="7981" y="3035"/>
                </a:lnTo>
                <a:lnTo>
                  <a:pt x="7977" y="3030"/>
                </a:lnTo>
                <a:lnTo>
                  <a:pt x="7972" y="3025"/>
                </a:lnTo>
                <a:lnTo>
                  <a:pt x="7967" y="3020"/>
                </a:lnTo>
                <a:lnTo>
                  <a:pt x="7964" y="3014"/>
                </a:lnTo>
                <a:lnTo>
                  <a:pt x="7961" y="3008"/>
                </a:lnTo>
                <a:lnTo>
                  <a:pt x="7958" y="3001"/>
                </a:lnTo>
                <a:lnTo>
                  <a:pt x="7956" y="2995"/>
                </a:lnTo>
                <a:lnTo>
                  <a:pt x="7955" y="2987"/>
                </a:lnTo>
                <a:lnTo>
                  <a:pt x="7955" y="2980"/>
                </a:lnTo>
                <a:lnTo>
                  <a:pt x="7955" y="2740"/>
                </a:lnTo>
                <a:lnTo>
                  <a:pt x="7955" y="2733"/>
                </a:lnTo>
                <a:lnTo>
                  <a:pt x="7956" y="2726"/>
                </a:lnTo>
                <a:lnTo>
                  <a:pt x="7958" y="2719"/>
                </a:lnTo>
                <a:lnTo>
                  <a:pt x="7961" y="2712"/>
                </a:lnTo>
                <a:lnTo>
                  <a:pt x="7964" y="2707"/>
                </a:lnTo>
                <a:lnTo>
                  <a:pt x="7967" y="2701"/>
                </a:lnTo>
                <a:lnTo>
                  <a:pt x="7972" y="2695"/>
                </a:lnTo>
                <a:lnTo>
                  <a:pt x="7977" y="2690"/>
                </a:lnTo>
                <a:lnTo>
                  <a:pt x="7981" y="2686"/>
                </a:lnTo>
                <a:lnTo>
                  <a:pt x="7988" y="2681"/>
                </a:lnTo>
                <a:lnTo>
                  <a:pt x="7994" y="2678"/>
                </a:lnTo>
                <a:lnTo>
                  <a:pt x="8000" y="2675"/>
                </a:lnTo>
                <a:lnTo>
                  <a:pt x="8007" y="2672"/>
                </a:lnTo>
                <a:lnTo>
                  <a:pt x="8014" y="2671"/>
                </a:lnTo>
                <a:lnTo>
                  <a:pt x="8021" y="2670"/>
                </a:lnTo>
                <a:lnTo>
                  <a:pt x="8029" y="2669"/>
                </a:lnTo>
                <a:lnTo>
                  <a:pt x="8278" y="2669"/>
                </a:lnTo>
                <a:lnTo>
                  <a:pt x="8282" y="2648"/>
                </a:lnTo>
                <a:lnTo>
                  <a:pt x="8286" y="2627"/>
                </a:lnTo>
                <a:lnTo>
                  <a:pt x="8291" y="2607"/>
                </a:lnTo>
                <a:lnTo>
                  <a:pt x="8296" y="2586"/>
                </a:lnTo>
                <a:lnTo>
                  <a:pt x="8301" y="2566"/>
                </a:lnTo>
                <a:lnTo>
                  <a:pt x="8307" y="2545"/>
                </a:lnTo>
                <a:lnTo>
                  <a:pt x="8313" y="2525"/>
                </a:lnTo>
                <a:lnTo>
                  <a:pt x="8320" y="2505"/>
                </a:lnTo>
                <a:lnTo>
                  <a:pt x="8327" y="2485"/>
                </a:lnTo>
                <a:lnTo>
                  <a:pt x="8334" y="2466"/>
                </a:lnTo>
                <a:lnTo>
                  <a:pt x="8342" y="2446"/>
                </a:lnTo>
                <a:lnTo>
                  <a:pt x="8350" y="2427"/>
                </a:lnTo>
                <a:lnTo>
                  <a:pt x="8359" y="2407"/>
                </a:lnTo>
                <a:lnTo>
                  <a:pt x="8368" y="2388"/>
                </a:lnTo>
                <a:lnTo>
                  <a:pt x="8377" y="2370"/>
                </a:lnTo>
                <a:lnTo>
                  <a:pt x="8386" y="2351"/>
                </a:lnTo>
                <a:lnTo>
                  <a:pt x="8185" y="2211"/>
                </a:lnTo>
                <a:lnTo>
                  <a:pt x="8179" y="2207"/>
                </a:lnTo>
                <a:lnTo>
                  <a:pt x="8173" y="2202"/>
                </a:lnTo>
                <a:lnTo>
                  <a:pt x="8169" y="2196"/>
                </a:lnTo>
                <a:lnTo>
                  <a:pt x="8165" y="2191"/>
                </a:lnTo>
                <a:lnTo>
                  <a:pt x="8162" y="2185"/>
                </a:lnTo>
                <a:lnTo>
                  <a:pt x="8159" y="2178"/>
                </a:lnTo>
                <a:lnTo>
                  <a:pt x="8157" y="2172"/>
                </a:lnTo>
                <a:lnTo>
                  <a:pt x="8155" y="2165"/>
                </a:lnTo>
                <a:lnTo>
                  <a:pt x="8154" y="2158"/>
                </a:lnTo>
                <a:lnTo>
                  <a:pt x="8154" y="2152"/>
                </a:lnTo>
                <a:lnTo>
                  <a:pt x="8155" y="2145"/>
                </a:lnTo>
                <a:lnTo>
                  <a:pt x="8156" y="2138"/>
                </a:lnTo>
                <a:lnTo>
                  <a:pt x="8158" y="2131"/>
                </a:lnTo>
                <a:lnTo>
                  <a:pt x="8161" y="2125"/>
                </a:lnTo>
                <a:lnTo>
                  <a:pt x="8164" y="2118"/>
                </a:lnTo>
                <a:lnTo>
                  <a:pt x="8168" y="2112"/>
                </a:lnTo>
                <a:lnTo>
                  <a:pt x="8316" y="1919"/>
                </a:lnTo>
                <a:lnTo>
                  <a:pt x="8321" y="1913"/>
                </a:lnTo>
                <a:lnTo>
                  <a:pt x="8326" y="1908"/>
                </a:lnTo>
                <a:lnTo>
                  <a:pt x="8332" y="1903"/>
                </a:lnTo>
                <a:lnTo>
                  <a:pt x="8337" y="1899"/>
                </a:lnTo>
                <a:lnTo>
                  <a:pt x="8344" y="1896"/>
                </a:lnTo>
                <a:lnTo>
                  <a:pt x="8350" y="1893"/>
                </a:lnTo>
                <a:lnTo>
                  <a:pt x="8357" y="1891"/>
                </a:lnTo>
                <a:lnTo>
                  <a:pt x="8365" y="1890"/>
                </a:lnTo>
                <a:lnTo>
                  <a:pt x="8371" y="1889"/>
                </a:lnTo>
                <a:lnTo>
                  <a:pt x="8379" y="1889"/>
                </a:lnTo>
                <a:lnTo>
                  <a:pt x="8386" y="1890"/>
                </a:lnTo>
                <a:lnTo>
                  <a:pt x="8393" y="1891"/>
                </a:lnTo>
                <a:lnTo>
                  <a:pt x="8400" y="1893"/>
                </a:lnTo>
                <a:lnTo>
                  <a:pt x="8407" y="1895"/>
                </a:lnTo>
                <a:lnTo>
                  <a:pt x="8413" y="1899"/>
                </a:lnTo>
                <a:lnTo>
                  <a:pt x="8420" y="1903"/>
                </a:lnTo>
                <a:lnTo>
                  <a:pt x="8621" y="2042"/>
                </a:lnTo>
                <a:lnTo>
                  <a:pt x="8637" y="2028"/>
                </a:lnTo>
                <a:lnTo>
                  <a:pt x="8653" y="2014"/>
                </a:lnTo>
                <a:lnTo>
                  <a:pt x="8669" y="2000"/>
                </a:lnTo>
                <a:lnTo>
                  <a:pt x="8686" y="1986"/>
                </a:lnTo>
                <a:lnTo>
                  <a:pt x="8703" y="1973"/>
                </a:lnTo>
                <a:lnTo>
                  <a:pt x="8720" y="1960"/>
                </a:lnTo>
                <a:lnTo>
                  <a:pt x="8737" y="1947"/>
                </a:lnTo>
                <a:lnTo>
                  <a:pt x="8755" y="1934"/>
                </a:lnTo>
                <a:lnTo>
                  <a:pt x="8773" y="1922"/>
                </a:lnTo>
                <a:lnTo>
                  <a:pt x="8791" y="1910"/>
                </a:lnTo>
                <a:lnTo>
                  <a:pt x="8809" y="1899"/>
                </a:lnTo>
                <a:lnTo>
                  <a:pt x="8828" y="1888"/>
                </a:lnTo>
                <a:lnTo>
                  <a:pt x="8847" y="1877"/>
                </a:lnTo>
                <a:lnTo>
                  <a:pt x="8866" y="1866"/>
                </a:lnTo>
                <a:lnTo>
                  <a:pt x="8885" y="1856"/>
                </a:lnTo>
                <a:lnTo>
                  <a:pt x="8905" y="1846"/>
                </a:lnTo>
                <a:lnTo>
                  <a:pt x="8827" y="1620"/>
                </a:lnTo>
                <a:lnTo>
                  <a:pt x="8825" y="1613"/>
                </a:lnTo>
                <a:lnTo>
                  <a:pt x="8824" y="1605"/>
                </a:lnTo>
                <a:lnTo>
                  <a:pt x="8824" y="1598"/>
                </a:lnTo>
                <a:lnTo>
                  <a:pt x="8824" y="1592"/>
                </a:lnTo>
                <a:lnTo>
                  <a:pt x="8825" y="1585"/>
                </a:lnTo>
                <a:lnTo>
                  <a:pt x="8827" y="1578"/>
                </a:lnTo>
                <a:lnTo>
                  <a:pt x="8829" y="1571"/>
                </a:lnTo>
                <a:lnTo>
                  <a:pt x="8832" y="1566"/>
                </a:lnTo>
                <a:lnTo>
                  <a:pt x="8835" y="1560"/>
                </a:lnTo>
                <a:lnTo>
                  <a:pt x="8840" y="1554"/>
                </a:lnTo>
                <a:lnTo>
                  <a:pt x="8844" y="1549"/>
                </a:lnTo>
                <a:lnTo>
                  <a:pt x="8850" y="1544"/>
                </a:lnTo>
                <a:lnTo>
                  <a:pt x="8855" y="1540"/>
                </a:lnTo>
                <a:lnTo>
                  <a:pt x="8861" y="1536"/>
                </a:lnTo>
                <a:lnTo>
                  <a:pt x="8868" y="1533"/>
                </a:lnTo>
                <a:lnTo>
                  <a:pt x="8875" y="1531"/>
                </a:lnTo>
                <a:lnTo>
                  <a:pt x="9114" y="1456"/>
                </a:lnTo>
                <a:lnTo>
                  <a:pt x="9121" y="1454"/>
                </a:lnTo>
                <a:lnTo>
                  <a:pt x="9129" y="1453"/>
                </a:lnTo>
                <a:lnTo>
                  <a:pt x="9136" y="1453"/>
                </a:lnTo>
              </a:path>
            </a:pathLst>
          </a:custGeom>
          <a:solidFill>
            <a:srgbClr val="0070C0">
              <a:alpha val="100000"/>
            </a:srgbClr>
          </a:solidFill>
          <a:ln w="0" cap="flat">
            <a:noFill/>
            <a:prstDash val="solid"/>
            <a:miter lim="0"/>
          </a:ln>
        </p:spPr>
        <p:txBody>
          <a:bodyPr rtlCol="0"/>
          <a:lstStyle/>
          <a:p>
            <a:pPr algn="ctr"/>
            <a:endParaRPr lang="zh-CN" altLang="en-US" sz="1350"/>
          </a:p>
        </p:txBody>
      </p:sp>
      <p:sp>
        <p:nvSpPr>
          <p:cNvPr id="856" name="textbox 856"/>
          <p:cNvSpPr/>
          <p:nvPr/>
        </p:nvSpPr>
        <p:spPr>
          <a:xfrm>
            <a:off x="410544" y="3707910"/>
            <a:ext cx="1920240" cy="903923"/>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marL="26670" algn="l" rtl="0" eaLnBrk="0">
              <a:lnSpc>
                <a:spcPct val="85000"/>
              </a:lnSpc>
            </a:pPr>
            <a:r>
              <a:rPr sz="1500" b="1" u="sng" kern="0" spc="-2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明确需求：</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软件开发的</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17145" indent="-5080" algn="l" rtl="0" eaLnBrk="0">
              <a:lnSpc>
                <a:spcPct val="141000"/>
              </a:lnSpc>
              <a:spcBef>
                <a:spcPts val="475"/>
              </a:spcBef>
            </a:pPr>
            <a:r>
              <a:rPr sz="15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起点</a:t>
            </a:r>
            <a:r>
              <a:rPr sz="1500" kern="0" spc="-2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4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明确、</a:t>
            </a:r>
            <a:r>
              <a:rPr sz="1500" kern="0" spc="-4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准确的需</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求是软件质量的基础。</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58" name="textbox 858"/>
          <p:cNvSpPr/>
          <p:nvPr/>
        </p:nvSpPr>
        <p:spPr>
          <a:xfrm>
            <a:off x="742778" y="2005187"/>
            <a:ext cx="1877378" cy="90487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6000"/>
              </a:lnSpc>
            </a:pPr>
            <a:r>
              <a:rPr sz="1500" b="1" u="sng" kern="0" spc="-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合理设计：</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确保软件</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algn="r" rtl="0" eaLnBrk="0">
              <a:lnSpc>
                <a:spcPct val="87000"/>
              </a:lnSpc>
              <a:spcBef>
                <a:spcPts val="1550"/>
              </a:spcBef>
            </a:pPr>
            <a:r>
              <a:rPr sz="1500"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具有良好的可扩展性、</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4000"/>
              </a:lnSpc>
            </a:pPr>
            <a:endParaRPr sz="9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algn="r" rtl="0" eaLnBrk="0">
              <a:lnSpc>
                <a:spcPct val="87000"/>
              </a:lnSpc>
            </a:pPr>
            <a:r>
              <a:rPr sz="1500"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可维护性和可测试性。</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60" name="textbox 860"/>
          <p:cNvSpPr/>
          <p:nvPr/>
        </p:nvSpPr>
        <p:spPr>
          <a:xfrm>
            <a:off x="6172087" y="3878725"/>
            <a:ext cx="2492693" cy="562451"/>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14605" algn="l" rtl="0" eaLnBrk="0">
              <a:lnSpc>
                <a:spcPct val="86000"/>
              </a:lnSpc>
            </a:pPr>
            <a:r>
              <a:rPr sz="1500" b="1" u="sng" kern="0" spc="-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持续监控：</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及时发现并修复潜</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5000"/>
              </a:lnSpc>
            </a:pPr>
            <a:endParaRPr sz="9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12700" algn="l" rtl="0" eaLnBrk="0">
              <a:lnSpc>
                <a:spcPct val="88000"/>
              </a:lnSpc>
            </a:pP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在问题</a:t>
            </a:r>
            <a:r>
              <a:rPr sz="1500"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，不断提升软件质量</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62" name="textbox 862"/>
          <p:cNvSpPr/>
          <p:nvPr/>
        </p:nvSpPr>
        <p:spPr>
          <a:xfrm>
            <a:off x="5997531" y="1930228"/>
            <a:ext cx="2299811" cy="541496"/>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77000"/>
              </a:lnSpc>
            </a:pPr>
            <a:r>
              <a:rPr sz="1500" b="1" u="sng" kern="0" spc="-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全面测试：</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确保软件在各种</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17780" algn="l" rtl="0" eaLnBrk="0">
              <a:lnSpc>
                <a:spcPts val="364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条件下都能正确运行。</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64" name="textbox 864"/>
          <p:cNvSpPr/>
          <p:nvPr/>
        </p:nvSpPr>
        <p:spPr>
          <a:xfrm>
            <a:off x="3495602" y="4069860"/>
            <a:ext cx="1918811" cy="54244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4605" algn="l" rtl="0" eaLnBrk="0">
              <a:lnSpc>
                <a:spcPct val="77000"/>
              </a:lnSpc>
            </a:pPr>
            <a:r>
              <a:rPr sz="1500" b="1" u="sng" kern="0" spc="-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高质量编码：</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确保代码</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ts val="3640"/>
              </a:lnSpc>
            </a:pP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清晰、</a:t>
            </a:r>
            <a:r>
              <a:rPr sz="1500" kern="0" spc="-4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简洁、</a:t>
            </a:r>
            <a:r>
              <a:rPr sz="1500" kern="0" spc="-4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可重用。</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591820" y="872490"/>
            <a:ext cx="8266430" cy="1116330"/>
          </a:xfrm>
          <a:prstGeom prst="rect">
            <a:avLst/>
          </a:prstGeom>
          <a:noFill/>
        </p:spPr>
        <p:txBody>
          <a:bodyPr wrap="square" rtlCol="0" anchor="t">
            <a:spAutoFit/>
          </a:bodyPr>
          <a:p>
            <a:pPr indent="0" algn="l" rtl="0" eaLnBrk="0" fontAlgn="auto">
              <a:lnSpc>
                <a:spcPct val="139000"/>
              </a:lnSpc>
              <a:spcBef>
                <a:spcPts val="0"/>
              </a:spcBef>
            </a:pPr>
            <a:r>
              <a:rPr sz="16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软件质量的实现是一个贯穿整个软件开发生命周期（SDLC）的过程</a:t>
            </a:r>
            <a:r>
              <a:rPr sz="1600" kern="0" spc="-1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，从需求分析、</a:t>
            </a:r>
            <a:r>
              <a:rPr sz="1600" kern="0" spc="-4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设计、</a:t>
            </a:r>
            <a:r>
              <a:rPr sz="1600" kern="0" spc="-4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编码、</a:t>
            </a:r>
            <a:r>
              <a:rPr sz="1600" kern="0" spc="-4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测</a:t>
            </a:r>
            <a:r>
              <a:rPr sz="16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试到部署和维护</a:t>
            </a:r>
            <a:r>
              <a:rPr sz="1600"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，每一个环节都对软件质量产生重要影响。</a:t>
            </a:r>
            <a:r>
              <a:rPr sz="1600" kern="0" spc="-4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实现软件质量需要关注以下几个方面：</a:t>
            </a:r>
            <a:endParaRPr lang="zh-CN" altLang="en-US" sz="16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标题 2"/>
          <p:cNvSpPr>
            <a:spLocks noGrp="1"/>
          </p:cNvSpPr>
          <p:nvPr>
            <p:ph type="title"/>
          </p:nvPr>
        </p:nvSpPr>
        <p:spPr/>
        <p:txBody>
          <a:bodyPr/>
          <a:p>
            <a:r>
              <a:rPr lang="en-US" altLang="zh-CN" dirty="0"/>
              <a:t>3.</a:t>
            </a:r>
            <a:r>
              <a:rPr lang="zh-CN" altLang="en-US" dirty="0"/>
              <a:t>软件质量的实现</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商业环境下的软件质量</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04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1299" y="993282"/>
            <a:ext cx="8457064" cy="2881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商业环境下的软件质量</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15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0293" y="973320"/>
            <a:ext cx="8300120" cy="3346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商业环境下的软件质量</a:t>
            </a:r>
            <a:endParaRPr lang="zh-CN" altLang="en-US" dirty="0"/>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929515" y="941010"/>
            <a:ext cx="7460105" cy="358319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group 74"/>
          <p:cNvGrpSpPr/>
          <p:nvPr/>
        </p:nvGrpSpPr>
        <p:grpSpPr>
          <a:xfrm rot="21600000">
            <a:off x="6115843" y="3295173"/>
            <a:ext cx="2072164" cy="443865"/>
            <a:chOff x="0" y="0"/>
            <a:chExt cx="2762885" cy="591820"/>
          </a:xfrm>
        </p:grpSpPr>
        <p:pic>
          <p:nvPicPr>
            <p:cNvPr id="880" name="picture 880"/>
            <p:cNvPicPr>
              <a:picLocks noChangeAspect="1"/>
            </p:cNvPicPr>
            <p:nvPr/>
          </p:nvPicPr>
          <p:blipFill>
            <a:blip r:embed="rId1"/>
            <a:stretch>
              <a:fillRect/>
            </a:stretch>
          </p:blipFill>
          <p:spPr>
            <a:xfrm rot="21600000">
              <a:off x="0" y="0"/>
              <a:ext cx="2762885" cy="591820"/>
            </a:xfrm>
            <a:prstGeom prst="rect">
              <a:avLst/>
            </a:prstGeom>
          </p:spPr>
        </p:pic>
        <p:sp>
          <p:nvSpPr>
            <p:cNvPr id="882" name="textbox 882"/>
            <p:cNvSpPr/>
            <p:nvPr/>
          </p:nvSpPr>
          <p:spPr>
            <a:xfrm>
              <a:off x="-12700" y="-12700"/>
              <a:ext cx="2788920" cy="642619"/>
            </a:xfrm>
            <a:prstGeom prst="rect">
              <a:avLst/>
            </a:prstGeom>
            <a:noFill/>
            <a:ln w="0" cap="flat">
              <a:noFill/>
              <a:prstDash val="solid"/>
              <a:miter lim="0"/>
            </a:ln>
          </p:spPr>
          <p:txBody>
            <a:bodyPr vert="horz" wrap="square" lIns="0" tIns="0" rIns="0" bIns="0"/>
            <a:lstStyle/>
            <a:p>
              <a:pPr algn="l" rtl="0" eaLnBrk="0">
                <a:lnSpc>
                  <a:spcPct val="130000"/>
                </a:lnSpc>
              </a:pPr>
              <a:endParaRPr sz="75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494030" algn="l" rtl="0" eaLnBrk="0">
                <a:lnSpc>
                  <a:spcPct val="85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持续学习与改进</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76" name="group 76"/>
          <p:cNvGrpSpPr/>
          <p:nvPr/>
        </p:nvGrpSpPr>
        <p:grpSpPr>
          <a:xfrm rot="21600000">
            <a:off x="3674269" y="3337083"/>
            <a:ext cx="1578769" cy="539115"/>
            <a:chOff x="-12700" y="-127000"/>
            <a:chExt cx="2105025" cy="718820"/>
          </a:xfrm>
        </p:grpSpPr>
        <p:pic>
          <p:nvPicPr>
            <p:cNvPr id="884" name="picture 884"/>
            <p:cNvPicPr>
              <a:picLocks noChangeAspect="1"/>
            </p:cNvPicPr>
            <p:nvPr/>
          </p:nvPicPr>
          <p:blipFill>
            <a:blip r:embed="rId2"/>
            <a:stretch>
              <a:fillRect/>
            </a:stretch>
          </p:blipFill>
          <p:spPr>
            <a:xfrm rot="21600000">
              <a:off x="0" y="0"/>
              <a:ext cx="2078990" cy="591820"/>
            </a:xfrm>
            <a:prstGeom prst="rect">
              <a:avLst/>
            </a:prstGeom>
          </p:spPr>
        </p:pic>
        <p:sp>
          <p:nvSpPr>
            <p:cNvPr id="886" name="textbox 886"/>
            <p:cNvSpPr/>
            <p:nvPr/>
          </p:nvSpPr>
          <p:spPr>
            <a:xfrm>
              <a:off x="-12700" y="-127000"/>
              <a:ext cx="2105025" cy="643890"/>
            </a:xfrm>
            <a:prstGeom prst="rect">
              <a:avLst/>
            </a:prstGeom>
            <a:noFill/>
            <a:ln w="0" cap="flat">
              <a:noFill/>
              <a:prstDash val="solid"/>
              <a:miter lim="0"/>
            </a:ln>
          </p:spPr>
          <p:txBody>
            <a:bodyPr vert="horz" wrap="square" lIns="0" tIns="0" rIns="0" bIns="0"/>
            <a:lstStyle/>
            <a:p>
              <a:pPr algn="l" rtl="0" eaLnBrk="0">
                <a:lnSpc>
                  <a:spcPct val="129000"/>
                </a:lnSpc>
              </a:pPr>
              <a:endParaRPr sz="75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294640" algn="l" rtl="0" eaLnBrk="0">
                <a:lnSpc>
                  <a:spcPct val="86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性能与安全性</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78" name="group 78"/>
          <p:cNvGrpSpPr/>
          <p:nvPr/>
        </p:nvGrpSpPr>
        <p:grpSpPr>
          <a:xfrm rot="21600000">
            <a:off x="841534" y="3334226"/>
            <a:ext cx="2224564" cy="561975"/>
            <a:chOff x="-12700" y="-157480"/>
            <a:chExt cx="2966085" cy="749300"/>
          </a:xfrm>
        </p:grpSpPr>
        <p:pic>
          <p:nvPicPr>
            <p:cNvPr id="888" name="picture 888"/>
            <p:cNvPicPr>
              <a:picLocks noChangeAspect="1"/>
            </p:cNvPicPr>
            <p:nvPr/>
          </p:nvPicPr>
          <p:blipFill>
            <a:blip r:embed="rId3"/>
            <a:stretch>
              <a:fillRect/>
            </a:stretch>
          </p:blipFill>
          <p:spPr>
            <a:xfrm rot="21600000">
              <a:off x="0" y="0"/>
              <a:ext cx="2940684" cy="591820"/>
            </a:xfrm>
            <a:prstGeom prst="rect">
              <a:avLst/>
            </a:prstGeom>
          </p:spPr>
        </p:pic>
        <p:sp>
          <p:nvSpPr>
            <p:cNvPr id="890" name="textbox 890"/>
            <p:cNvSpPr/>
            <p:nvPr/>
          </p:nvSpPr>
          <p:spPr>
            <a:xfrm>
              <a:off x="-12700" y="-157480"/>
              <a:ext cx="2966085" cy="643890"/>
            </a:xfrm>
            <a:prstGeom prst="rect">
              <a:avLst/>
            </a:prstGeom>
            <a:noFill/>
            <a:ln w="0" cap="flat">
              <a:noFill/>
              <a:prstDash val="solid"/>
              <a:miter lim="0"/>
            </a:ln>
          </p:spPr>
          <p:txBody>
            <a:bodyPr vert="horz" wrap="square" lIns="0" tIns="0" rIns="0" bIns="0"/>
            <a:lstStyle/>
            <a:p>
              <a:pPr algn="l" rtl="0" eaLnBrk="0">
                <a:lnSpc>
                  <a:spcPct val="131000"/>
                </a:lnSpc>
              </a:pPr>
              <a:endParaRPr sz="75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347345" algn="l" rtl="0" eaLnBrk="0">
                <a:lnSpc>
                  <a:spcPct val="85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可维护性与可扩展性</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892" name="picture 892"/>
          <p:cNvPicPr>
            <a:picLocks noChangeAspect="1"/>
          </p:cNvPicPr>
          <p:nvPr/>
        </p:nvPicPr>
        <p:blipFill>
          <a:blip r:embed="rId4"/>
          <a:stretch>
            <a:fillRect/>
          </a:stretch>
        </p:blipFill>
        <p:spPr>
          <a:xfrm rot="21600000">
            <a:off x="0" y="3264535"/>
            <a:ext cx="9144000" cy="1494472"/>
          </a:xfrm>
          <a:prstGeom prst="rect">
            <a:avLst/>
          </a:prstGeom>
        </p:spPr>
      </p:pic>
      <p:grpSp>
        <p:nvGrpSpPr>
          <p:cNvPr id="80" name="group 80"/>
          <p:cNvGrpSpPr/>
          <p:nvPr/>
        </p:nvGrpSpPr>
        <p:grpSpPr>
          <a:xfrm rot="21600000">
            <a:off x="153590" y="979884"/>
            <a:ext cx="8895398" cy="799148"/>
            <a:chOff x="0" y="0"/>
            <a:chExt cx="11860530" cy="1065530"/>
          </a:xfrm>
        </p:grpSpPr>
        <p:pic>
          <p:nvPicPr>
            <p:cNvPr id="894" name="picture 894"/>
            <p:cNvPicPr>
              <a:picLocks noChangeAspect="1"/>
            </p:cNvPicPr>
            <p:nvPr/>
          </p:nvPicPr>
          <p:blipFill>
            <a:blip r:embed="rId5"/>
            <a:stretch>
              <a:fillRect/>
            </a:stretch>
          </p:blipFill>
          <p:spPr>
            <a:xfrm rot="21600000">
              <a:off x="0" y="0"/>
              <a:ext cx="11860530" cy="1065530"/>
            </a:xfrm>
            <a:prstGeom prst="rect">
              <a:avLst/>
            </a:prstGeom>
          </p:spPr>
        </p:pic>
        <p:sp>
          <p:nvSpPr>
            <p:cNvPr id="896" name="textbox 896"/>
            <p:cNvSpPr/>
            <p:nvPr/>
          </p:nvSpPr>
          <p:spPr>
            <a:xfrm>
              <a:off x="-12700" y="-12700"/>
              <a:ext cx="11886565" cy="1116964"/>
            </a:xfrm>
            <a:prstGeom prst="rect">
              <a:avLst/>
            </a:prstGeom>
            <a:noFill/>
            <a:ln w="0" cap="flat">
              <a:noFill/>
              <a:prstDash val="solid"/>
              <a:miter lim="0"/>
            </a:ln>
          </p:spPr>
          <p:txBody>
            <a:bodyPr vert="horz" wrap="square" lIns="0" tIns="0" rIns="0" bIns="0"/>
            <a:lstStyle/>
            <a:p>
              <a:pPr algn="l" rtl="0" eaLnBrk="0">
                <a:lnSpc>
                  <a:spcPct val="102000"/>
                </a:lnSpc>
              </a:pPr>
              <a:endParaRPr sz="300" dirty="0">
                <a:latin typeface="Arial" panose="020B0604020202020204"/>
                <a:ea typeface="Arial" panose="020B0604020202020204"/>
                <a:cs typeface="Arial" panose="020B0604020202020204"/>
              </a:endParaRPr>
            </a:p>
            <a:p>
              <a:pPr marL="408305" indent="3810" algn="l" rtl="0" eaLnBrk="0">
                <a:lnSpc>
                  <a:spcPct val="141000"/>
                </a:lnSpc>
                <a:spcBef>
                  <a:spcPts val="0"/>
                </a:spcBef>
              </a:pPr>
              <a:r>
                <a:rPr sz="1500" b="1" kern="0" spc="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高质量软件开发之道</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是一个综合性的过程</a:t>
              </a:r>
              <a:r>
                <a:rPr sz="1500" kern="0" spc="-1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4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共同构成了确保软件质量、</a:t>
              </a:r>
              <a:r>
                <a:rPr sz="1500" kern="0" spc="-4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提升开发效率和维护性的关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键要素。</a:t>
              </a:r>
              <a:r>
                <a:rPr sz="1500"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以下是一些核心方面：</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82" name="group 82"/>
          <p:cNvGrpSpPr/>
          <p:nvPr/>
        </p:nvGrpSpPr>
        <p:grpSpPr>
          <a:xfrm rot="21600000">
            <a:off x="3683794" y="1971675"/>
            <a:ext cx="1559243" cy="443865"/>
            <a:chOff x="0" y="0"/>
            <a:chExt cx="2078990" cy="591820"/>
          </a:xfrm>
        </p:grpSpPr>
        <p:pic>
          <p:nvPicPr>
            <p:cNvPr id="900" name="picture 900"/>
            <p:cNvPicPr>
              <a:picLocks noChangeAspect="1"/>
            </p:cNvPicPr>
            <p:nvPr/>
          </p:nvPicPr>
          <p:blipFill>
            <a:blip r:embed="rId6"/>
            <a:stretch>
              <a:fillRect/>
            </a:stretch>
          </p:blipFill>
          <p:spPr>
            <a:xfrm rot="21600000">
              <a:off x="0" y="0"/>
              <a:ext cx="2078990" cy="591820"/>
            </a:xfrm>
            <a:prstGeom prst="rect">
              <a:avLst/>
            </a:prstGeom>
          </p:spPr>
        </p:pic>
        <p:sp>
          <p:nvSpPr>
            <p:cNvPr id="902" name="textbox 902"/>
            <p:cNvSpPr/>
            <p:nvPr/>
          </p:nvSpPr>
          <p:spPr>
            <a:xfrm>
              <a:off x="-12700" y="-12700"/>
              <a:ext cx="2105025" cy="642619"/>
            </a:xfrm>
            <a:prstGeom prst="rect">
              <a:avLst/>
            </a:prstGeom>
            <a:noFill/>
            <a:ln w="0" cap="flat">
              <a:noFill/>
              <a:prstDash val="solid"/>
              <a:miter lim="0"/>
            </a:ln>
          </p:spPr>
          <p:txBody>
            <a:bodyPr vert="horz" wrap="square" lIns="0" tIns="0" rIns="0" bIns="0"/>
            <a:lstStyle/>
            <a:p>
              <a:pPr algn="l" rtl="0" eaLnBrk="0">
                <a:lnSpc>
                  <a:spcPct val="131000"/>
                </a:lnSpc>
              </a:pPr>
              <a:endParaRPr sz="75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541655" algn="l" rtl="0" eaLnBrk="0">
                <a:lnSpc>
                  <a:spcPct val="85000"/>
                </a:lnSpc>
              </a:pPr>
              <a:r>
                <a:rPr lang="zh-CN"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合理</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设计</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84" name="group 84"/>
          <p:cNvGrpSpPr/>
          <p:nvPr/>
        </p:nvGrpSpPr>
        <p:grpSpPr>
          <a:xfrm rot="21600000">
            <a:off x="3683794" y="2654141"/>
            <a:ext cx="1559243" cy="443865"/>
            <a:chOff x="0" y="0"/>
            <a:chExt cx="2078990" cy="591820"/>
          </a:xfrm>
        </p:grpSpPr>
        <p:pic>
          <p:nvPicPr>
            <p:cNvPr id="904" name="picture 904"/>
            <p:cNvPicPr>
              <a:picLocks noChangeAspect="1"/>
            </p:cNvPicPr>
            <p:nvPr/>
          </p:nvPicPr>
          <p:blipFill>
            <a:blip r:embed="rId7"/>
            <a:stretch>
              <a:fillRect/>
            </a:stretch>
          </p:blipFill>
          <p:spPr>
            <a:xfrm rot="21600000">
              <a:off x="0" y="0"/>
              <a:ext cx="2078990" cy="591820"/>
            </a:xfrm>
            <a:prstGeom prst="rect">
              <a:avLst/>
            </a:prstGeom>
          </p:spPr>
        </p:pic>
        <p:sp>
          <p:nvSpPr>
            <p:cNvPr id="906" name="textbox 906"/>
            <p:cNvSpPr/>
            <p:nvPr/>
          </p:nvSpPr>
          <p:spPr>
            <a:xfrm>
              <a:off x="-12700" y="-12700"/>
              <a:ext cx="2105025" cy="643255"/>
            </a:xfrm>
            <a:prstGeom prst="rect">
              <a:avLst/>
            </a:prstGeom>
            <a:noFill/>
            <a:ln w="0" cap="flat">
              <a:noFill/>
              <a:prstDash val="solid"/>
              <a:miter lim="0"/>
            </a:ln>
          </p:spPr>
          <p:txBody>
            <a:bodyPr vert="horz" wrap="square" lIns="0" tIns="0" rIns="0" bIns="0"/>
            <a:lstStyle/>
            <a:p>
              <a:pPr algn="l" rtl="0" eaLnBrk="0">
                <a:lnSpc>
                  <a:spcPct val="131000"/>
                </a:lnSpc>
              </a:pPr>
              <a:endParaRPr sz="750" dirty="0">
                <a:latin typeface="Arial" panose="020B0604020202020204"/>
                <a:ea typeface="Arial" panose="020B0604020202020204"/>
                <a:cs typeface="Arial" panose="020B0604020202020204"/>
              </a:endParaRPr>
            </a:p>
            <a:p>
              <a:pPr marL="412750" algn="l" rtl="0" eaLnBrk="0">
                <a:lnSpc>
                  <a:spcPct val="85000"/>
                </a:lnSpc>
                <a:spcBef>
                  <a:spcPts val="5"/>
                </a:spcBef>
              </a:pPr>
              <a:r>
                <a:rPr lang="zh-CN"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全面</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测试</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86" name="group 86"/>
          <p:cNvGrpSpPr/>
          <p:nvPr/>
        </p:nvGrpSpPr>
        <p:grpSpPr>
          <a:xfrm rot="21600000">
            <a:off x="822960" y="1966436"/>
            <a:ext cx="2205513" cy="443864"/>
            <a:chOff x="0" y="0"/>
            <a:chExt cx="2940684" cy="591819"/>
          </a:xfrm>
        </p:grpSpPr>
        <p:pic>
          <p:nvPicPr>
            <p:cNvPr id="910" name="picture 910"/>
            <p:cNvPicPr>
              <a:picLocks noChangeAspect="1"/>
            </p:cNvPicPr>
            <p:nvPr/>
          </p:nvPicPr>
          <p:blipFill>
            <a:blip r:embed="rId8"/>
            <a:stretch>
              <a:fillRect/>
            </a:stretch>
          </p:blipFill>
          <p:spPr>
            <a:xfrm rot="21600000">
              <a:off x="0" y="0"/>
              <a:ext cx="2940684" cy="591819"/>
            </a:xfrm>
            <a:prstGeom prst="rect">
              <a:avLst/>
            </a:prstGeom>
          </p:spPr>
        </p:pic>
        <p:sp>
          <p:nvSpPr>
            <p:cNvPr id="912" name="textbox 912"/>
            <p:cNvSpPr/>
            <p:nvPr/>
          </p:nvSpPr>
          <p:spPr>
            <a:xfrm>
              <a:off x="-12700" y="-12700"/>
              <a:ext cx="2966085" cy="643255"/>
            </a:xfrm>
            <a:prstGeom prst="rect">
              <a:avLst/>
            </a:prstGeom>
            <a:noFill/>
            <a:ln w="0" cap="flat">
              <a:noFill/>
              <a:prstDash val="solid"/>
              <a:miter lim="0"/>
            </a:ln>
          </p:spPr>
          <p:txBody>
            <a:bodyPr vert="horz" wrap="square" lIns="0" tIns="0" rIns="0" bIns="0"/>
            <a:lstStyle/>
            <a:p>
              <a:pPr algn="l" rtl="0" eaLnBrk="0">
                <a:lnSpc>
                  <a:spcPct val="125000"/>
                </a:lnSpc>
              </a:pPr>
              <a:endParaRPr sz="750" dirty="0">
                <a:latin typeface="Arial" panose="020B0604020202020204"/>
                <a:ea typeface="Arial" panose="020B0604020202020204"/>
                <a:cs typeface="Arial" panose="020B0604020202020204"/>
              </a:endParaRPr>
            </a:p>
            <a:p>
              <a:pPr marL="558165" algn="l" rtl="0" eaLnBrk="0">
                <a:lnSpc>
                  <a:spcPct val="85000"/>
                </a:lnSpc>
                <a:spcBef>
                  <a:spcPts val="5"/>
                </a:spcBef>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明确</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88" name="group 88"/>
          <p:cNvGrpSpPr/>
          <p:nvPr/>
        </p:nvGrpSpPr>
        <p:grpSpPr>
          <a:xfrm rot="21600000">
            <a:off x="823093" y="2650807"/>
            <a:ext cx="2195883" cy="443865"/>
            <a:chOff x="0" y="0"/>
            <a:chExt cx="2927844" cy="591820"/>
          </a:xfrm>
        </p:grpSpPr>
        <p:pic>
          <p:nvPicPr>
            <p:cNvPr id="914" name="picture 914"/>
            <p:cNvPicPr>
              <a:picLocks noChangeAspect="1"/>
            </p:cNvPicPr>
            <p:nvPr/>
          </p:nvPicPr>
          <p:blipFill>
            <a:blip r:embed="rId9"/>
            <a:stretch>
              <a:fillRect/>
            </a:stretch>
          </p:blipFill>
          <p:spPr>
            <a:xfrm rot="21600000">
              <a:off x="0" y="0"/>
              <a:ext cx="2927844" cy="591820"/>
            </a:xfrm>
            <a:prstGeom prst="rect">
              <a:avLst/>
            </a:prstGeom>
          </p:spPr>
        </p:pic>
        <p:sp>
          <p:nvSpPr>
            <p:cNvPr id="916" name="textbox 916"/>
            <p:cNvSpPr/>
            <p:nvPr/>
          </p:nvSpPr>
          <p:spPr>
            <a:xfrm>
              <a:off x="-12700" y="-12700"/>
              <a:ext cx="2953385" cy="615315"/>
            </a:xfrm>
            <a:prstGeom prst="rect">
              <a:avLst/>
            </a:prstGeom>
            <a:noFill/>
            <a:ln w="0" cap="flat">
              <a:noFill/>
              <a:prstDash val="solid"/>
              <a:miter lim="0"/>
            </a:ln>
          </p:spPr>
          <p:txBody>
            <a:bodyPr vert="horz" wrap="square" lIns="0" tIns="0" rIns="0" bIns="0"/>
            <a:lstStyle/>
            <a:p>
              <a:pPr algn="l" rtl="0" eaLnBrk="0">
                <a:lnSpc>
                  <a:spcPct val="122000"/>
                </a:lnSpc>
              </a:pPr>
              <a:endParaRPr sz="75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132080" algn="l" rtl="0" eaLnBrk="0">
                <a:lnSpc>
                  <a:spcPct val="88000"/>
                </a:lnSpc>
              </a:pP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敏捷开发与DevOp</a:t>
              </a:r>
              <a:r>
                <a:rPr sz="15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s实践</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90" name="group 90"/>
          <p:cNvGrpSpPr/>
          <p:nvPr/>
        </p:nvGrpSpPr>
        <p:grpSpPr>
          <a:xfrm rot="21600000">
            <a:off x="6054089" y="1895475"/>
            <a:ext cx="2143601" cy="443865"/>
            <a:chOff x="0" y="0"/>
            <a:chExt cx="2858134" cy="591820"/>
          </a:xfrm>
        </p:grpSpPr>
        <p:pic>
          <p:nvPicPr>
            <p:cNvPr id="918" name="picture 918"/>
            <p:cNvPicPr>
              <a:picLocks noChangeAspect="1"/>
            </p:cNvPicPr>
            <p:nvPr/>
          </p:nvPicPr>
          <p:blipFill>
            <a:blip r:embed="rId10"/>
            <a:stretch>
              <a:fillRect/>
            </a:stretch>
          </p:blipFill>
          <p:spPr>
            <a:xfrm rot="21600000">
              <a:off x="0" y="0"/>
              <a:ext cx="2858134" cy="591820"/>
            </a:xfrm>
            <a:prstGeom prst="rect">
              <a:avLst/>
            </a:prstGeom>
          </p:spPr>
        </p:pic>
        <p:sp>
          <p:nvSpPr>
            <p:cNvPr id="920" name="textbox 920"/>
            <p:cNvSpPr/>
            <p:nvPr/>
          </p:nvSpPr>
          <p:spPr>
            <a:xfrm>
              <a:off x="-12700" y="-12700"/>
              <a:ext cx="2883535" cy="643255"/>
            </a:xfrm>
            <a:prstGeom prst="rect">
              <a:avLst/>
            </a:prstGeom>
            <a:noFill/>
            <a:ln w="0" cap="flat">
              <a:noFill/>
              <a:prstDash val="solid"/>
              <a:miter lim="0"/>
            </a:ln>
          </p:spPr>
          <p:txBody>
            <a:bodyPr vert="horz" wrap="square" lIns="0" tIns="0" rIns="0" bIns="0"/>
            <a:lstStyle/>
            <a:p>
              <a:pPr algn="l" rtl="0" eaLnBrk="0">
                <a:lnSpc>
                  <a:spcPct val="129000"/>
                </a:lnSpc>
              </a:pPr>
              <a:endParaRPr sz="75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584835" algn="l" rtl="0" eaLnBrk="0">
                <a:lnSpc>
                  <a:spcPct val="86000"/>
                </a:lnSpc>
              </a:pPr>
              <a:r>
                <a:rPr lang="zh-CN"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高质量</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编码</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92" name="group 92"/>
          <p:cNvGrpSpPr/>
          <p:nvPr/>
        </p:nvGrpSpPr>
        <p:grpSpPr>
          <a:xfrm rot="21600000">
            <a:off x="6054089" y="2579846"/>
            <a:ext cx="2143601" cy="443865"/>
            <a:chOff x="0" y="0"/>
            <a:chExt cx="2858134" cy="591820"/>
          </a:xfrm>
        </p:grpSpPr>
        <p:pic>
          <p:nvPicPr>
            <p:cNvPr id="922" name="picture 922"/>
            <p:cNvPicPr>
              <a:picLocks noChangeAspect="1"/>
            </p:cNvPicPr>
            <p:nvPr/>
          </p:nvPicPr>
          <p:blipFill>
            <a:blip r:embed="rId11"/>
            <a:stretch>
              <a:fillRect/>
            </a:stretch>
          </p:blipFill>
          <p:spPr>
            <a:xfrm rot="21600000">
              <a:off x="0" y="0"/>
              <a:ext cx="2858134" cy="591820"/>
            </a:xfrm>
            <a:prstGeom prst="rect">
              <a:avLst/>
            </a:prstGeom>
          </p:spPr>
        </p:pic>
        <p:sp>
          <p:nvSpPr>
            <p:cNvPr id="924" name="textbox 924"/>
            <p:cNvSpPr/>
            <p:nvPr/>
          </p:nvSpPr>
          <p:spPr>
            <a:xfrm>
              <a:off x="-12700" y="-12700"/>
              <a:ext cx="2883535" cy="645159"/>
            </a:xfrm>
            <a:prstGeom prst="rect">
              <a:avLst/>
            </a:prstGeom>
            <a:noFill/>
            <a:ln w="0" cap="flat">
              <a:noFill/>
              <a:prstDash val="solid"/>
              <a:miter lim="0"/>
            </a:ln>
          </p:spPr>
          <p:txBody>
            <a:bodyPr vert="horz" wrap="square" lIns="0" tIns="0" rIns="0" bIns="0"/>
            <a:lstStyle/>
            <a:p>
              <a:pPr algn="l" rtl="0" eaLnBrk="0">
                <a:lnSpc>
                  <a:spcPct val="130000"/>
                </a:lnSpc>
              </a:pPr>
              <a:endParaRPr sz="750" dirty="0">
                <a:latin typeface="Arial" panose="020B0604020202020204"/>
                <a:ea typeface="Arial" panose="020B0604020202020204"/>
                <a:cs typeface="Arial" panose="020B0604020202020204"/>
              </a:endParaRPr>
            </a:p>
            <a:p>
              <a:pPr marL="262890" algn="l" rtl="0" eaLnBrk="0">
                <a:lnSpc>
                  <a:spcPct val="86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代码审查与知识共享</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2" name="标题 1"/>
          <p:cNvSpPr>
            <a:spLocks noGrp="1"/>
          </p:cNvSpPr>
          <p:nvPr>
            <p:ph type="title"/>
          </p:nvPr>
        </p:nvSpPr>
        <p:spPr/>
        <p:txBody>
          <a:bodyPr/>
          <a:p>
            <a:r>
              <a:rPr lang="zh-CN" altLang="en-US"/>
              <a:t>提高软件质量的方法</a:t>
            </a:r>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 name="group 94"/>
          <p:cNvGrpSpPr/>
          <p:nvPr/>
        </p:nvGrpSpPr>
        <p:grpSpPr>
          <a:xfrm rot="21600000">
            <a:off x="443235" y="3696927"/>
            <a:ext cx="8700764" cy="1418021"/>
            <a:chOff x="0" y="0"/>
            <a:chExt cx="11601019" cy="1890695"/>
          </a:xfrm>
        </p:grpSpPr>
        <p:pic>
          <p:nvPicPr>
            <p:cNvPr id="934" name="picture 934"/>
            <p:cNvPicPr>
              <a:picLocks noChangeAspect="1"/>
            </p:cNvPicPr>
            <p:nvPr/>
          </p:nvPicPr>
          <p:blipFill>
            <a:blip r:embed="rId1"/>
            <a:stretch>
              <a:fillRect/>
            </a:stretch>
          </p:blipFill>
          <p:spPr>
            <a:xfrm rot="21600000">
              <a:off x="0" y="0"/>
              <a:ext cx="11601019" cy="1890695"/>
            </a:xfrm>
            <a:prstGeom prst="rect">
              <a:avLst/>
            </a:prstGeom>
          </p:spPr>
        </p:pic>
        <p:sp>
          <p:nvSpPr>
            <p:cNvPr id="936" name="textbox 936"/>
            <p:cNvSpPr/>
            <p:nvPr/>
          </p:nvSpPr>
          <p:spPr>
            <a:xfrm>
              <a:off x="-12700" y="-12700"/>
              <a:ext cx="11626850" cy="1952625"/>
            </a:xfrm>
            <a:prstGeom prst="rect">
              <a:avLst/>
            </a:prstGeom>
            <a:noFill/>
            <a:ln w="0" cap="flat">
              <a:noFill/>
              <a:prstDash val="solid"/>
              <a:miter lim="0"/>
            </a:ln>
          </p:spPr>
          <p:txBody>
            <a:bodyPr vert="horz" wrap="square" lIns="0" tIns="0" rIns="0" bIns="0"/>
            <a:lstStyle/>
            <a:p>
              <a:pPr algn="l" rtl="0" eaLnBrk="0">
                <a:lnSpc>
                  <a:spcPct val="114000"/>
                </a:lnSpc>
              </a:pPr>
              <a:endParaRPr sz="450" dirty="0">
                <a:latin typeface="Arial" panose="020B0604020202020204"/>
                <a:ea typeface="Arial" panose="020B0604020202020204"/>
                <a:cs typeface="Arial" panose="020B0604020202020204"/>
              </a:endParaRPr>
            </a:p>
            <a:p>
              <a:pPr marL="289560" indent="1905" algn="l" rtl="0" eaLnBrk="0">
                <a:lnSpc>
                  <a:spcPct val="143000"/>
                </a:lnSpc>
                <a:spcBef>
                  <a:spcPts val="5"/>
                </a:spcBef>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这些原则不仅是对软件工程从业者个人行为的</a:t>
              </a:r>
              <a:r>
                <a:rPr sz="1500" b="1" u="sng" kern="0" spc="-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规范</a:t>
              </a:r>
              <a:r>
                <a:rPr sz="1500" b="1" kern="0" spc="-2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，也是</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对行业整体发展的</a:t>
              </a:r>
              <a:r>
                <a:rPr sz="1500" b="1" u="sng" kern="0" spc="-2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引导</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4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它们要求软件</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工程师在追求技术创新和经济效益的同时</a:t>
              </a:r>
              <a:r>
                <a:rPr sz="1500"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，始终不忘对公众、</a:t>
              </a:r>
              <a:r>
                <a:rPr sz="1500" kern="0" spc="-4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客户、</a:t>
              </a:r>
              <a:r>
                <a:rPr sz="1500" kern="0" spc="-4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雇主以及社</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会的责任和义务</a:t>
              </a:r>
              <a:r>
                <a:rPr sz="1500"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b="1" u="sng" kern="0" spc="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确保软件技术的健康发展和社会福祉的提升</a:t>
              </a:r>
              <a:r>
                <a:rPr sz="15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940" name="textbox 940"/>
          <p:cNvSpPr/>
          <p:nvPr/>
        </p:nvSpPr>
        <p:spPr>
          <a:xfrm>
            <a:off x="504190" y="792480"/>
            <a:ext cx="8428355" cy="60896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2590"/>
              </a:lnSpc>
            </a:pP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ACM和IEEE推出的关于职业道德和职业行为的准则 ，包括两个版本：简明版和完整版（ Gotterbarn,</a:t>
            </a:r>
            <a:r>
              <a:rPr lang="en-US"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Miller, and Rogerson 1999）增加了一些细节和要义</a:t>
            </a:r>
            <a:r>
              <a:rPr sz="1500"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，并在序言中给出了该准则背后的出</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发点。</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42" name="textbox 942"/>
          <p:cNvSpPr/>
          <p:nvPr/>
        </p:nvSpPr>
        <p:spPr>
          <a:xfrm>
            <a:off x="445769" y="1596771"/>
            <a:ext cx="3606641" cy="487204"/>
          </a:xfrm>
          <a:prstGeom prst="rect">
            <a:avLst/>
          </a:prstGeom>
          <a:solidFill>
            <a:srgbClr val="0070C0">
              <a:alpha val="100000"/>
            </a:srgbClr>
          </a:solidFill>
          <a:ln w="0" cap="flat">
            <a:noFill/>
            <a:prstDash val="solid"/>
            <a:miter lim="0"/>
          </a:ln>
        </p:spPr>
        <p:txBody>
          <a:bodyPr vert="horz" wrap="square" lIns="0" tIns="0" rIns="0" bIns="0"/>
          <a:lstStyle/>
          <a:p>
            <a:pPr algn="l" rtl="0" eaLnBrk="0">
              <a:lnSpc>
                <a:spcPct val="129000"/>
              </a:lnSpc>
            </a:pPr>
            <a:endParaRPr sz="750" dirty="0">
              <a:latin typeface="Arial" panose="020B0604020202020204"/>
              <a:ea typeface="Arial" panose="020B0604020202020204"/>
              <a:cs typeface="Arial" panose="020B0604020202020204"/>
            </a:endParaRPr>
          </a:p>
          <a:p>
            <a:pPr marL="298450" algn="l" rtl="0" eaLnBrk="0">
              <a:lnSpc>
                <a:spcPct val="85000"/>
              </a:lnSpc>
              <a:spcBef>
                <a:spcPts val="5"/>
              </a:spcBef>
            </a:pPr>
            <a:r>
              <a:rPr sz="1500"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软件工程师应当遵守以下8条</a:t>
            </a:r>
            <a:r>
              <a:rPr sz="1500"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原则：</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96" name="group 96"/>
          <p:cNvGrpSpPr/>
          <p:nvPr/>
        </p:nvGrpSpPr>
        <p:grpSpPr>
          <a:xfrm rot="21600000">
            <a:off x="2642711" y="2334101"/>
            <a:ext cx="1559243" cy="443865"/>
            <a:chOff x="0" y="0"/>
            <a:chExt cx="2078990" cy="591820"/>
          </a:xfrm>
        </p:grpSpPr>
        <p:pic>
          <p:nvPicPr>
            <p:cNvPr id="944" name="picture 944"/>
            <p:cNvPicPr>
              <a:picLocks noChangeAspect="1"/>
            </p:cNvPicPr>
            <p:nvPr/>
          </p:nvPicPr>
          <p:blipFill>
            <a:blip r:embed="rId2"/>
            <a:stretch>
              <a:fillRect/>
            </a:stretch>
          </p:blipFill>
          <p:spPr>
            <a:xfrm rot="21600000">
              <a:off x="0" y="0"/>
              <a:ext cx="2078990" cy="591820"/>
            </a:xfrm>
            <a:prstGeom prst="rect">
              <a:avLst/>
            </a:prstGeom>
          </p:spPr>
        </p:pic>
        <p:sp>
          <p:nvSpPr>
            <p:cNvPr id="946" name="textbox 946"/>
            <p:cNvSpPr/>
            <p:nvPr/>
          </p:nvSpPr>
          <p:spPr>
            <a:xfrm>
              <a:off x="-12700" y="-12700"/>
              <a:ext cx="2105025" cy="645794"/>
            </a:xfrm>
            <a:prstGeom prst="rect">
              <a:avLst/>
            </a:prstGeom>
            <a:noFill/>
            <a:ln w="0" cap="flat">
              <a:noFill/>
              <a:prstDash val="solid"/>
              <a:miter lim="0"/>
            </a:ln>
          </p:spPr>
          <p:txBody>
            <a:bodyPr vert="horz" wrap="square" lIns="0" tIns="0" rIns="0" bIns="0"/>
            <a:lstStyle/>
            <a:p>
              <a:pPr algn="l" rtl="0" eaLnBrk="0">
                <a:lnSpc>
                  <a:spcPct val="130000"/>
                </a:lnSpc>
              </a:pPr>
              <a:endParaRPr sz="750" dirty="0">
                <a:latin typeface="Arial" panose="020B0604020202020204"/>
                <a:ea typeface="Arial" panose="020B0604020202020204"/>
                <a:cs typeface="Arial" panose="020B0604020202020204"/>
              </a:endParaRPr>
            </a:p>
            <a:p>
              <a:pPr marL="796925" algn="l" rtl="0" eaLnBrk="0">
                <a:lnSpc>
                  <a:spcPct val="86000"/>
                </a:lnSpc>
                <a:spcBef>
                  <a:spcPts val="0"/>
                </a:spcBef>
              </a:pPr>
              <a:r>
                <a:rPr sz="15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管理</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98" name="group 98"/>
          <p:cNvGrpSpPr/>
          <p:nvPr/>
        </p:nvGrpSpPr>
        <p:grpSpPr>
          <a:xfrm rot="21600000">
            <a:off x="2642711" y="3016568"/>
            <a:ext cx="1559243" cy="443864"/>
            <a:chOff x="0" y="0"/>
            <a:chExt cx="2078990" cy="591819"/>
          </a:xfrm>
        </p:grpSpPr>
        <p:pic>
          <p:nvPicPr>
            <p:cNvPr id="948" name="picture 948"/>
            <p:cNvPicPr>
              <a:picLocks noChangeAspect="1"/>
            </p:cNvPicPr>
            <p:nvPr/>
          </p:nvPicPr>
          <p:blipFill>
            <a:blip r:embed="rId3"/>
            <a:stretch>
              <a:fillRect/>
            </a:stretch>
          </p:blipFill>
          <p:spPr>
            <a:xfrm rot="21600000">
              <a:off x="0" y="0"/>
              <a:ext cx="2078990" cy="591819"/>
            </a:xfrm>
            <a:prstGeom prst="rect">
              <a:avLst/>
            </a:prstGeom>
          </p:spPr>
        </p:pic>
        <p:sp>
          <p:nvSpPr>
            <p:cNvPr id="950" name="textbox 950"/>
            <p:cNvSpPr/>
            <p:nvPr/>
          </p:nvSpPr>
          <p:spPr>
            <a:xfrm>
              <a:off x="-12700" y="-12700"/>
              <a:ext cx="2105025" cy="647065"/>
            </a:xfrm>
            <a:prstGeom prst="rect">
              <a:avLst/>
            </a:prstGeom>
            <a:noFill/>
            <a:ln w="0" cap="flat">
              <a:noFill/>
              <a:prstDash val="solid"/>
              <a:miter lim="0"/>
            </a:ln>
          </p:spPr>
          <p:txBody>
            <a:bodyPr vert="horz" wrap="square" lIns="0" tIns="0" rIns="0" bIns="0"/>
            <a:lstStyle/>
            <a:p>
              <a:pPr algn="l" rtl="0" eaLnBrk="0">
                <a:lnSpc>
                  <a:spcPct val="130000"/>
                </a:lnSpc>
              </a:pPr>
              <a:endParaRPr sz="75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667385" algn="l" rtl="0" eaLnBrk="0">
                <a:lnSpc>
                  <a:spcPct val="86000"/>
                </a:lnSpc>
              </a:pPr>
              <a:r>
                <a:rPr sz="150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职业感</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00" name="group 100"/>
          <p:cNvGrpSpPr/>
          <p:nvPr/>
        </p:nvGrpSpPr>
        <p:grpSpPr>
          <a:xfrm rot="21600000">
            <a:off x="4579144" y="2328863"/>
            <a:ext cx="1559243" cy="443865"/>
            <a:chOff x="0" y="0"/>
            <a:chExt cx="2078990" cy="591820"/>
          </a:xfrm>
        </p:grpSpPr>
        <p:pic>
          <p:nvPicPr>
            <p:cNvPr id="952" name="picture 952"/>
            <p:cNvPicPr>
              <a:picLocks noChangeAspect="1"/>
            </p:cNvPicPr>
            <p:nvPr/>
          </p:nvPicPr>
          <p:blipFill>
            <a:blip r:embed="rId4"/>
            <a:stretch>
              <a:fillRect/>
            </a:stretch>
          </p:blipFill>
          <p:spPr>
            <a:xfrm rot="21600000">
              <a:off x="0" y="0"/>
              <a:ext cx="2078990" cy="591820"/>
            </a:xfrm>
            <a:prstGeom prst="rect">
              <a:avLst/>
            </a:prstGeom>
          </p:spPr>
        </p:pic>
        <p:sp>
          <p:nvSpPr>
            <p:cNvPr id="954" name="textbox 954"/>
            <p:cNvSpPr/>
            <p:nvPr/>
          </p:nvSpPr>
          <p:spPr>
            <a:xfrm>
              <a:off x="-12700" y="-12700"/>
              <a:ext cx="2105025" cy="644525"/>
            </a:xfrm>
            <a:prstGeom prst="rect">
              <a:avLst/>
            </a:prstGeom>
            <a:noFill/>
            <a:ln w="0" cap="flat">
              <a:noFill/>
              <a:prstDash val="solid"/>
              <a:miter lim="0"/>
            </a:ln>
          </p:spPr>
          <p:txBody>
            <a:bodyPr vert="horz" wrap="square" lIns="0" tIns="0" rIns="0" bIns="0"/>
            <a:lstStyle/>
            <a:p>
              <a:pPr algn="l" rtl="0" eaLnBrk="0">
                <a:lnSpc>
                  <a:spcPct val="132000"/>
                </a:lnSpc>
              </a:pPr>
              <a:endParaRPr sz="75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793750" algn="l" rtl="0" eaLnBrk="0">
                <a:lnSpc>
                  <a:spcPct val="85000"/>
                </a:lnSpc>
              </a:pP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产品</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02" name="group 102"/>
          <p:cNvGrpSpPr/>
          <p:nvPr/>
        </p:nvGrpSpPr>
        <p:grpSpPr>
          <a:xfrm rot="21600000">
            <a:off x="4579144" y="3013233"/>
            <a:ext cx="1559243" cy="443865"/>
            <a:chOff x="0" y="0"/>
            <a:chExt cx="2078990" cy="591820"/>
          </a:xfrm>
        </p:grpSpPr>
        <p:pic>
          <p:nvPicPr>
            <p:cNvPr id="956" name="picture 956"/>
            <p:cNvPicPr>
              <a:picLocks noChangeAspect="1"/>
            </p:cNvPicPr>
            <p:nvPr/>
          </p:nvPicPr>
          <p:blipFill>
            <a:blip r:embed="rId5"/>
            <a:stretch>
              <a:fillRect/>
            </a:stretch>
          </p:blipFill>
          <p:spPr>
            <a:xfrm rot="21600000">
              <a:off x="0" y="0"/>
              <a:ext cx="2078990" cy="591820"/>
            </a:xfrm>
            <a:prstGeom prst="rect">
              <a:avLst/>
            </a:prstGeom>
          </p:spPr>
        </p:pic>
        <p:sp>
          <p:nvSpPr>
            <p:cNvPr id="958" name="textbox 958"/>
            <p:cNvSpPr/>
            <p:nvPr/>
          </p:nvSpPr>
          <p:spPr>
            <a:xfrm>
              <a:off x="-12700" y="-12700"/>
              <a:ext cx="2105025" cy="642619"/>
            </a:xfrm>
            <a:prstGeom prst="rect">
              <a:avLst/>
            </a:prstGeom>
            <a:noFill/>
            <a:ln w="0" cap="flat">
              <a:noFill/>
              <a:prstDash val="solid"/>
              <a:miter lim="0"/>
            </a:ln>
          </p:spPr>
          <p:txBody>
            <a:bodyPr vert="horz" wrap="square" lIns="0" tIns="0" rIns="0" bIns="0"/>
            <a:lstStyle/>
            <a:p>
              <a:pPr algn="l" rtl="0" eaLnBrk="0">
                <a:lnSpc>
                  <a:spcPct val="130000"/>
                </a:lnSpc>
              </a:pPr>
              <a:endParaRPr sz="75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673735" algn="l" rtl="0" eaLnBrk="0">
                <a:lnSpc>
                  <a:spcPct val="85000"/>
                </a:lnSpc>
              </a:pP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判断力</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04" name="group 104"/>
          <p:cNvGrpSpPr/>
          <p:nvPr/>
        </p:nvGrpSpPr>
        <p:grpSpPr>
          <a:xfrm rot="21600000">
            <a:off x="6453188" y="3012757"/>
            <a:ext cx="1559243" cy="443865"/>
            <a:chOff x="0" y="0"/>
            <a:chExt cx="2078990" cy="591820"/>
          </a:xfrm>
        </p:grpSpPr>
        <p:pic>
          <p:nvPicPr>
            <p:cNvPr id="962" name="picture 962"/>
            <p:cNvPicPr>
              <a:picLocks noChangeAspect="1"/>
            </p:cNvPicPr>
            <p:nvPr/>
          </p:nvPicPr>
          <p:blipFill>
            <a:blip r:embed="rId6"/>
            <a:stretch>
              <a:fillRect/>
            </a:stretch>
          </p:blipFill>
          <p:spPr>
            <a:xfrm rot="21600000">
              <a:off x="0" y="0"/>
              <a:ext cx="2078990" cy="591820"/>
            </a:xfrm>
            <a:prstGeom prst="rect">
              <a:avLst/>
            </a:prstGeom>
          </p:spPr>
        </p:pic>
        <p:sp>
          <p:nvSpPr>
            <p:cNvPr id="964" name="textbox 964"/>
            <p:cNvSpPr/>
            <p:nvPr/>
          </p:nvSpPr>
          <p:spPr>
            <a:xfrm>
              <a:off x="-12700" y="-12700"/>
              <a:ext cx="2105025" cy="645794"/>
            </a:xfrm>
            <a:prstGeom prst="rect">
              <a:avLst/>
            </a:prstGeom>
            <a:noFill/>
            <a:ln w="0" cap="flat">
              <a:noFill/>
              <a:prstDash val="solid"/>
              <a:miter lim="0"/>
            </a:ln>
          </p:spPr>
          <p:txBody>
            <a:bodyPr vert="horz" wrap="square" lIns="0" tIns="0" rIns="0" bIns="0"/>
            <a:lstStyle/>
            <a:p>
              <a:pPr algn="l" rtl="0" eaLnBrk="0">
                <a:lnSpc>
                  <a:spcPct val="130000"/>
                </a:lnSpc>
              </a:pPr>
              <a:endParaRPr sz="750" dirty="0">
                <a:latin typeface="Arial" panose="020B0604020202020204"/>
                <a:ea typeface="Arial" panose="020B0604020202020204"/>
                <a:cs typeface="Arial" panose="020B0604020202020204"/>
              </a:endParaRPr>
            </a:p>
            <a:p>
              <a:pPr marL="818515" algn="l" rtl="0" eaLnBrk="0">
                <a:lnSpc>
                  <a:spcPct val="86000"/>
                </a:lnSpc>
                <a:spcBef>
                  <a:spcPts val="5"/>
                </a:spcBef>
              </a:pPr>
              <a:r>
                <a:rPr sz="1500" kern="0" spc="-1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自己</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06" name="group 106"/>
          <p:cNvGrpSpPr/>
          <p:nvPr/>
        </p:nvGrpSpPr>
        <p:grpSpPr>
          <a:xfrm rot="21600000">
            <a:off x="768667" y="2328863"/>
            <a:ext cx="1559242" cy="443865"/>
            <a:chOff x="0" y="0"/>
            <a:chExt cx="2078989" cy="591820"/>
          </a:xfrm>
        </p:grpSpPr>
        <p:pic>
          <p:nvPicPr>
            <p:cNvPr id="966" name="picture 966"/>
            <p:cNvPicPr>
              <a:picLocks noChangeAspect="1"/>
            </p:cNvPicPr>
            <p:nvPr/>
          </p:nvPicPr>
          <p:blipFill>
            <a:blip r:embed="rId7"/>
            <a:stretch>
              <a:fillRect/>
            </a:stretch>
          </p:blipFill>
          <p:spPr>
            <a:xfrm rot="21600000">
              <a:off x="0" y="0"/>
              <a:ext cx="2078989" cy="591820"/>
            </a:xfrm>
            <a:prstGeom prst="rect">
              <a:avLst/>
            </a:prstGeom>
          </p:spPr>
        </p:pic>
        <p:sp>
          <p:nvSpPr>
            <p:cNvPr id="968" name="textbox 968"/>
            <p:cNvSpPr/>
            <p:nvPr/>
          </p:nvSpPr>
          <p:spPr>
            <a:xfrm>
              <a:off x="-12700" y="-12700"/>
              <a:ext cx="2104389" cy="643255"/>
            </a:xfrm>
            <a:prstGeom prst="rect">
              <a:avLst/>
            </a:prstGeom>
            <a:noFill/>
            <a:ln w="0" cap="flat">
              <a:noFill/>
              <a:prstDash val="solid"/>
              <a:miter lim="0"/>
            </a:ln>
          </p:spPr>
          <p:txBody>
            <a:bodyPr vert="horz" wrap="square" lIns="0" tIns="0" rIns="0" bIns="0"/>
            <a:lstStyle/>
            <a:p>
              <a:pPr algn="l" rtl="0" eaLnBrk="0">
                <a:lnSpc>
                  <a:spcPct val="123000"/>
                </a:lnSpc>
              </a:pPr>
              <a:endParaRPr sz="75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661670" algn="l" rtl="0" eaLnBrk="0">
                <a:lnSpc>
                  <a:spcPct val="86000"/>
                </a:lnSpc>
              </a:pPr>
              <a:r>
                <a:rPr sz="15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公众感</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08" name="group 108"/>
          <p:cNvGrpSpPr/>
          <p:nvPr/>
        </p:nvGrpSpPr>
        <p:grpSpPr>
          <a:xfrm rot="21600000">
            <a:off x="768667" y="3013233"/>
            <a:ext cx="1559242" cy="443865"/>
            <a:chOff x="0" y="0"/>
            <a:chExt cx="2078989" cy="591820"/>
          </a:xfrm>
        </p:grpSpPr>
        <p:pic>
          <p:nvPicPr>
            <p:cNvPr id="970" name="picture 970"/>
            <p:cNvPicPr>
              <a:picLocks noChangeAspect="1"/>
            </p:cNvPicPr>
            <p:nvPr/>
          </p:nvPicPr>
          <p:blipFill>
            <a:blip r:embed="rId8"/>
            <a:stretch>
              <a:fillRect/>
            </a:stretch>
          </p:blipFill>
          <p:spPr>
            <a:xfrm rot="21600000">
              <a:off x="0" y="0"/>
              <a:ext cx="2078989" cy="591820"/>
            </a:xfrm>
            <a:prstGeom prst="rect">
              <a:avLst/>
            </a:prstGeom>
          </p:spPr>
        </p:pic>
        <p:sp>
          <p:nvSpPr>
            <p:cNvPr id="972" name="textbox 972"/>
            <p:cNvSpPr/>
            <p:nvPr/>
          </p:nvSpPr>
          <p:spPr>
            <a:xfrm>
              <a:off x="-12700" y="-12700"/>
              <a:ext cx="2104389" cy="642619"/>
            </a:xfrm>
            <a:prstGeom prst="rect">
              <a:avLst/>
            </a:prstGeom>
            <a:noFill/>
            <a:ln w="0" cap="flat">
              <a:noFill/>
              <a:prstDash val="solid"/>
              <a:miter lim="0"/>
            </a:ln>
          </p:spPr>
          <p:txBody>
            <a:bodyPr vert="horz" wrap="square" lIns="0" tIns="0" rIns="0" bIns="0"/>
            <a:lstStyle/>
            <a:p>
              <a:pPr algn="l" rtl="0" eaLnBrk="0">
                <a:lnSpc>
                  <a:spcPct val="130000"/>
                </a:lnSpc>
              </a:pPr>
              <a:endParaRPr sz="75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390525" algn="l" rtl="0" eaLnBrk="0">
                <a:lnSpc>
                  <a:spcPct val="85000"/>
                </a:lnSpc>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客户和雇主</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10" name="group 110"/>
          <p:cNvGrpSpPr/>
          <p:nvPr/>
        </p:nvGrpSpPr>
        <p:grpSpPr>
          <a:xfrm rot="21600000">
            <a:off x="6453188" y="2330291"/>
            <a:ext cx="1559243" cy="443864"/>
            <a:chOff x="0" y="0"/>
            <a:chExt cx="2078990" cy="591819"/>
          </a:xfrm>
        </p:grpSpPr>
        <p:pic>
          <p:nvPicPr>
            <p:cNvPr id="974" name="picture 974"/>
            <p:cNvPicPr>
              <a:picLocks noChangeAspect="1"/>
            </p:cNvPicPr>
            <p:nvPr/>
          </p:nvPicPr>
          <p:blipFill>
            <a:blip r:embed="rId9"/>
            <a:stretch>
              <a:fillRect/>
            </a:stretch>
          </p:blipFill>
          <p:spPr>
            <a:xfrm rot="21600000">
              <a:off x="0" y="0"/>
              <a:ext cx="2078990" cy="591819"/>
            </a:xfrm>
            <a:prstGeom prst="rect">
              <a:avLst/>
            </a:prstGeom>
          </p:spPr>
        </p:pic>
        <p:sp>
          <p:nvSpPr>
            <p:cNvPr id="976" name="textbox 976"/>
            <p:cNvSpPr/>
            <p:nvPr/>
          </p:nvSpPr>
          <p:spPr>
            <a:xfrm>
              <a:off x="-12700" y="-12700"/>
              <a:ext cx="2105025" cy="647700"/>
            </a:xfrm>
            <a:prstGeom prst="rect">
              <a:avLst/>
            </a:prstGeom>
            <a:noFill/>
            <a:ln w="0" cap="flat">
              <a:noFill/>
              <a:prstDash val="solid"/>
              <a:miter lim="0"/>
            </a:ln>
          </p:spPr>
          <p:txBody>
            <a:bodyPr vert="horz" wrap="square" lIns="0" tIns="0" rIns="0" bIns="0"/>
            <a:lstStyle/>
            <a:p>
              <a:pPr algn="l" rtl="0" eaLnBrk="0">
                <a:lnSpc>
                  <a:spcPct val="130000"/>
                </a:lnSpc>
              </a:pPr>
              <a:endParaRPr sz="75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807720" algn="l" rtl="0" eaLnBrk="0">
                <a:lnSpc>
                  <a:spcPct val="87000"/>
                </a:lnSpc>
              </a:pPr>
              <a:r>
                <a:rPr sz="1500"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同事</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2" name="标题 1"/>
          <p:cNvSpPr>
            <a:spLocks noGrp="1"/>
          </p:cNvSpPr>
          <p:nvPr>
            <p:ph type="title"/>
          </p:nvPr>
        </p:nvSpPr>
        <p:spPr/>
        <p:txBody>
          <a:bodyPr/>
          <a:p>
            <a:r>
              <a:rPr lang="en-US" altLang="zh-CN"/>
              <a:t>1.7 </a:t>
            </a:r>
            <a:r>
              <a:rPr lang="zh-CN" altLang="en-US"/>
              <a:t>软件工程职业道德</a:t>
            </a:r>
            <a:endParaRPr lang="zh-C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112"/>
          <p:cNvGrpSpPr/>
          <p:nvPr/>
        </p:nvGrpSpPr>
        <p:grpSpPr>
          <a:xfrm rot="21600000">
            <a:off x="2866323" y="1224589"/>
            <a:ext cx="6077175" cy="2872936"/>
            <a:chOff x="0" y="0"/>
            <a:chExt cx="8102900" cy="3830581"/>
          </a:xfrm>
        </p:grpSpPr>
        <p:pic>
          <p:nvPicPr>
            <p:cNvPr id="982" name="picture 982"/>
            <p:cNvPicPr>
              <a:picLocks noChangeAspect="1"/>
            </p:cNvPicPr>
            <p:nvPr/>
          </p:nvPicPr>
          <p:blipFill>
            <a:blip r:embed="rId1"/>
            <a:stretch>
              <a:fillRect/>
            </a:stretch>
          </p:blipFill>
          <p:spPr>
            <a:xfrm rot="21600000">
              <a:off x="1094564" y="233737"/>
              <a:ext cx="5884501" cy="3084405"/>
            </a:xfrm>
            <a:prstGeom prst="rect">
              <a:avLst/>
            </a:prstGeom>
          </p:spPr>
        </p:pic>
        <p:sp>
          <p:nvSpPr>
            <p:cNvPr id="984" name="textbox 984"/>
            <p:cNvSpPr/>
            <p:nvPr/>
          </p:nvSpPr>
          <p:spPr>
            <a:xfrm>
              <a:off x="-12700" y="-12700"/>
              <a:ext cx="8116569" cy="3856354"/>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a:ea typeface="Arial" panose="020B0604020202020204"/>
                <a:cs typeface="Arial" panose="020B0604020202020204"/>
              </a:endParaRPr>
            </a:p>
            <a:p>
              <a:pPr algn="r" rtl="0" eaLnBrk="0">
                <a:lnSpc>
                  <a:spcPct val="91000"/>
                </a:lnSpc>
              </a:pPr>
              <a:r>
                <a:rPr sz="1125" b="1" kern="0" spc="-20" dirty="0">
                  <a:solidFill>
                    <a:srgbClr val="05073B">
                      <a:alpha val="100000"/>
                    </a:srgbClr>
                  </a:solidFill>
                  <a:latin typeface="Tahoma" panose="020B0604030504040204"/>
                  <a:ea typeface="Tahoma" panose="020B0604030504040204"/>
                  <a:cs typeface="Tahoma" panose="020B0604030504040204"/>
                </a:rPr>
                <a:t>2013</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年发布了具</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750" dirty="0">
                <a:latin typeface="Arial" panose="020B0604020202020204"/>
                <a:ea typeface="Arial" panose="020B0604020202020204"/>
                <a:cs typeface="Arial" panose="020B0604020202020204"/>
              </a:endParaRPr>
            </a:p>
            <a:p>
              <a:pPr algn="l" rtl="0" eaLnBrk="0">
                <a:lnSpc>
                  <a:spcPct val="109000"/>
                </a:lnSpc>
              </a:pPr>
              <a:endParaRPr sz="750" dirty="0">
                <a:latin typeface="Arial" panose="020B0604020202020204"/>
                <a:ea typeface="Arial" panose="020B0604020202020204"/>
                <a:cs typeface="Arial" panose="020B0604020202020204"/>
              </a:endParaRPr>
            </a:p>
            <a:p>
              <a:pPr algn="l" rtl="0" eaLnBrk="0">
                <a:lnSpc>
                  <a:spcPct val="109000"/>
                </a:lnSpc>
              </a:pPr>
              <a:endParaRPr sz="750" dirty="0">
                <a:latin typeface="Arial" panose="020B0604020202020204"/>
                <a:ea typeface="Arial" panose="020B0604020202020204"/>
                <a:cs typeface="Arial" panose="020B0604020202020204"/>
              </a:endParaRPr>
            </a:p>
            <a:p>
              <a:pPr algn="l" rtl="0" eaLnBrk="0">
                <a:lnSpc>
                  <a:spcPct val="109000"/>
                </a:lnSpc>
              </a:pPr>
              <a:endParaRPr sz="750" dirty="0">
                <a:latin typeface="Arial" panose="020B0604020202020204"/>
                <a:ea typeface="Arial" panose="020B0604020202020204"/>
                <a:cs typeface="Arial" panose="020B0604020202020204"/>
              </a:endParaRPr>
            </a:p>
            <a:p>
              <a:pPr algn="l" rtl="0" eaLnBrk="0">
                <a:lnSpc>
                  <a:spcPct val="109000"/>
                </a:lnSpc>
              </a:pPr>
              <a:endParaRPr sz="750" dirty="0">
                <a:latin typeface="Arial" panose="020B0604020202020204"/>
                <a:ea typeface="Arial" panose="020B0604020202020204"/>
                <a:cs typeface="Arial" panose="020B0604020202020204"/>
              </a:endParaRPr>
            </a:p>
            <a:p>
              <a:pPr algn="l" rtl="0" eaLnBrk="0">
                <a:lnSpc>
                  <a:spcPct val="110000"/>
                </a:lnSpc>
              </a:pPr>
              <a:endParaRPr sz="750" dirty="0">
                <a:latin typeface="Arial" panose="020B0604020202020204"/>
                <a:ea typeface="Arial" panose="020B0604020202020204"/>
                <a:cs typeface="Arial" panose="020B0604020202020204"/>
              </a:endParaRPr>
            </a:p>
            <a:p>
              <a:pPr algn="l" rtl="0" eaLnBrk="0">
                <a:lnSpc>
                  <a:spcPct val="110000"/>
                </a:lnSpc>
              </a:pPr>
              <a:endParaRPr sz="750" dirty="0">
                <a:latin typeface="Arial" panose="020B0604020202020204"/>
                <a:ea typeface="Arial" panose="020B0604020202020204"/>
                <a:cs typeface="Arial" panose="020B0604020202020204"/>
              </a:endParaRPr>
            </a:p>
            <a:p>
              <a:pPr algn="l" rtl="0" eaLnBrk="0">
                <a:lnSpc>
                  <a:spcPct val="110000"/>
                </a:lnSpc>
              </a:pPr>
              <a:endParaRPr sz="750" dirty="0">
                <a:latin typeface="Arial" panose="020B0604020202020204"/>
                <a:ea typeface="Arial" panose="020B0604020202020204"/>
                <a:cs typeface="Arial" panose="020B0604020202020204"/>
              </a:endParaRPr>
            </a:p>
            <a:p>
              <a:pPr marL="12700" algn="l" rtl="0" eaLnBrk="0">
                <a:lnSpc>
                  <a:spcPct val="82000"/>
                </a:lnSpc>
                <a:spcBef>
                  <a:spcPts val="455"/>
                </a:spcBef>
              </a:pPr>
              <a:r>
                <a:rPr sz="1125" b="1" kern="0" spc="140" dirty="0">
                  <a:solidFill>
                    <a:srgbClr val="05073B">
                      <a:alpha val="100000"/>
                    </a:srgbClr>
                  </a:solidFill>
                  <a:latin typeface="Tahoma" panose="020B0604030504040204"/>
                  <a:ea typeface="Tahoma" panose="020B0604030504040204"/>
                  <a:cs typeface="Tahoma" panose="020B0604030504040204"/>
                </a:rPr>
                <a:t>20</a:t>
              </a:r>
              <a:r>
                <a:rPr sz="1125" kern="0" spc="1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世纪八九十年</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3335" algn="l" rtl="0" eaLnBrk="0">
                <a:lnSpc>
                  <a:spcPts val="2305"/>
                </a:lnSpc>
              </a:pP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代 ，</a:t>
              </a:r>
              <a:r>
                <a:rPr sz="1125" kern="0" spc="-1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王恩东带领</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24130" algn="l" rtl="0" eaLnBrk="0">
                <a:lnSpc>
                  <a:spcPts val="2300"/>
                </a:lnSpc>
              </a:pP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团队 ，</a:t>
              </a:r>
              <a:r>
                <a:rPr sz="1125" kern="0" spc="-1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通过拆解</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ts val="2265"/>
                </a:lnSpc>
              </a:pPr>
              <a:r>
                <a:rPr sz="1125" kern="0" spc="2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和组装国外废弃</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22225" algn="l" rtl="0" eaLnBrk="0">
                <a:lnSpc>
                  <a:spcPts val="2335"/>
                </a:lnSpc>
              </a:pPr>
              <a:r>
                <a:rPr sz="1125" kern="0" spc="1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的小型服务器</a:t>
              </a:r>
              <a:r>
                <a:rPr sz="1125" kern="0" spc="-2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5240" algn="l" rtl="0" eaLnBrk="0">
                <a:lnSpc>
                  <a:spcPts val="2280"/>
                </a:lnSpc>
              </a:pPr>
              <a:r>
                <a:rPr sz="1125" kern="0" spc="2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逐步掌握了服务</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4605" algn="l" rtl="0" eaLnBrk="0">
                <a:lnSpc>
                  <a:spcPct val="81000"/>
                </a:lnSpc>
                <a:spcBef>
                  <a:spcPts val="820"/>
                </a:spcBef>
              </a:pPr>
              <a:r>
                <a:rPr sz="1125" kern="0" spc="2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器研发的核心技</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9050" algn="l" rtl="0" eaLnBrk="0">
                <a:lnSpc>
                  <a:spcPts val="2330"/>
                </a:lnSpc>
              </a:pP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术。</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14" name="group 114"/>
          <p:cNvGrpSpPr/>
          <p:nvPr/>
        </p:nvGrpSpPr>
        <p:grpSpPr>
          <a:xfrm rot="21600000">
            <a:off x="2854392" y="4150949"/>
            <a:ext cx="6289607" cy="992551"/>
            <a:chOff x="0" y="0"/>
            <a:chExt cx="8386143" cy="1323401"/>
          </a:xfrm>
        </p:grpSpPr>
        <p:pic>
          <p:nvPicPr>
            <p:cNvPr id="988" name="picture 988"/>
            <p:cNvPicPr>
              <a:picLocks noChangeAspect="1"/>
            </p:cNvPicPr>
            <p:nvPr/>
          </p:nvPicPr>
          <p:blipFill>
            <a:blip r:embed="rId2"/>
            <a:stretch>
              <a:fillRect/>
            </a:stretch>
          </p:blipFill>
          <p:spPr>
            <a:xfrm rot="21600000">
              <a:off x="0" y="0"/>
              <a:ext cx="8386143" cy="1323401"/>
            </a:xfrm>
            <a:prstGeom prst="rect">
              <a:avLst/>
            </a:prstGeom>
          </p:spPr>
        </p:pic>
        <p:sp>
          <p:nvSpPr>
            <p:cNvPr id="990" name="textbox 990"/>
            <p:cNvSpPr/>
            <p:nvPr/>
          </p:nvSpPr>
          <p:spPr>
            <a:xfrm>
              <a:off x="-12700" y="-12700"/>
              <a:ext cx="8411844" cy="1367789"/>
            </a:xfrm>
            <a:prstGeom prst="rect">
              <a:avLst/>
            </a:prstGeom>
            <a:noFill/>
            <a:ln w="0" cap="flat">
              <a:noFill/>
              <a:prstDash val="solid"/>
              <a:miter lim="0"/>
            </a:ln>
          </p:spPr>
          <p:txBody>
            <a:bodyPr vert="horz" wrap="square" lIns="0" tIns="0" rIns="0" bIns="0"/>
            <a:lstStyle/>
            <a:p>
              <a:pPr algn="l" rtl="0" eaLnBrk="0">
                <a:lnSpc>
                  <a:spcPct val="111000"/>
                </a:lnSpc>
              </a:pPr>
              <a:endParaRPr sz="375" dirty="0">
                <a:latin typeface="Arial" panose="020B0604020202020204"/>
                <a:ea typeface="Arial" panose="020B0604020202020204"/>
                <a:cs typeface="Arial" panose="020B0604020202020204"/>
              </a:endParaRPr>
            </a:p>
            <a:p>
              <a:pPr marL="464820" indent="5080" algn="l" rtl="0" eaLnBrk="0">
                <a:lnSpc>
                  <a:spcPct val="155000"/>
                </a:lnSpc>
              </a:pP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王恩东的故事体现了科技报国的精神</a:t>
              </a:r>
              <a:r>
                <a:rPr sz="1125" kern="0" spc="-1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，他凭借对技术的执着追求和对国家安全</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的责任</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感</a:t>
              </a:r>
              <a:r>
                <a:rPr sz="1125" kern="0" spc="-1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3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不断攻克技术难关</a:t>
              </a:r>
              <a:r>
                <a:rPr sz="1125" kern="0" spc="-1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3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实现了高端服务器的国产化。</a:t>
              </a:r>
              <a:r>
                <a:rPr sz="1125" kern="0" spc="-2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这一成就不仅提升了我国在国</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际</a:t>
              </a:r>
              <a:r>
                <a:rPr sz="1125" b="1" kern="0" spc="0" dirty="0">
                  <a:solidFill>
                    <a:srgbClr val="05073B">
                      <a:alpha val="100000"/>
                    </a:srgbClr>
                  </a:solidFill>
                  <a:latin typeface="Tahoma" panose="020B0604030504040204"/>
                  <a:ea typeface="Tahoma" panose="020B0604030504040204"/>
                  <a:cs typeface="Tahoma" panose="020B0604030504040204"/>
                </a:rPr>
                <a:t>IT</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领域的竞争力</a:t>
              </a:r>
              <a:r>
                <a:rPr sz="1125" kern="0" spc="-1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3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更为国家信息安全提供了坚实保障。</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992" name="picture 992"/>
          <p:cNvPicPr>
            <a:picLocks noChangeAspect="1"/>
          </p:cNvPicPr>
          <p:nvPr/>
        </p:nvPicPr>
        <p:blipFill>
          <a:blip r:embed="rId3"/>
          <a:stretch>
            <a:fillRect/>
          </a:stretch>
        </p:blipFill>
        <p:spPr>
          <a:xfrm rot="21600000">
            <a:off x="239315" y="1211889"/>
            <a:ext cx="2578560" cy="2012654"/>
          </a:xfrm>
          <a:prstGeom prst="rect">
            <a:avLst/>
          </a:prstGeom>
        </p:spPr>
      </p:pic>
      <p:pic>
        <p:nvPicPr>
          <p:cNvPr id="994" name="picture 994"/>
          <p:cNvPicPr>
            <a:picLocks noChangeAspect="1"/>
          </p:cNvPicPr>
          <p:nvPr/>
        </p:nvPicPr>
        <p:blipFill>
          <a:blip r:embed="rId4"/>
          <a:stretch>
            <a:fillRect/>
          </a:stretch>
        </p:blipFill>
        <p:spPr>
          <a:xfrm rot="21600000">
            <a:off x="239117" y="3186974"/>
            <a:ext cx="2623258" cy="1956525"/>
          </a:xfrm>
          <a:prstGeom prst="rect">
            <a:avLst/>
          </a:prstGeom>
        </p:spPr>
      </p:pic>
      <p:sp>
        <p:nvSpPr>
          <p:cNvPr id="998" name="textbox 998"/>
          <p:cNvSpPr/>
          <p:nvPr/>
        </p:nvSpPr>
        <p:spPr>
          <a:xfrm>
            <a:off x="5031896" y="2080308"/>
            <a:ext cx="180975" cy="1459706"/>
          </a:xfrm>
          <a:prstGeom prst="rect">
            <a:avLst/>
          </a:prstGeom>
          <a:noFill/>
          <a:ln w="0" cap="flat">
            <a:noFill/>
            <a:prstDash val="solid"/>
            <a:miter lim="0"/>
          </a:ln>
        </p:spPr>
        <p:txBody>
          <a:bodyPr vert="eaVert"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ct val="89000"/>
              </a:lnSpc>
            </a:pPr>
            <a:r>
              <a:rPr sz="1125" kern="0" spc="-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成</a:t>
            </a:r>
            <a:r>
              <a:rPr sz="1125" kern="0" spc="3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我  服  器 </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kern="0" spc="-50" baseline="-170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国  业</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0" name="textbox 1000"/>
          <p:cNvSpPr/>
          <p:nvPr/>
        </p:nvSpPr>
        <p:spPr>
          <a:xfrm>
            <a:off x="4302521" y="2078029"/>
            <a:ext cx="736758" cy="1707356"/>
          </a:xfrm>
          <a:prstGeom prst="rect">
            <a:avLst/>
          </a:prstGeom>
          <a:noFill/>
          <a:ln w="0" cap="flat">
            <a:noFill/>
            <a:prstDash val="solid"/>
            <a:miter lim="0"/>
          </a:ln>
        </p:spPr>
        <p:txBody>
          <a:bodyPr vert="horz" wrap="square" lIns="0" tIns="0" rIns="0" bIns="0"/>
          <a:lstStyle/>
          <a:p>
            <a:pPr algn="l" rtl="0" eaLnBrk="0">
              <a:lnSpc>
                <a:spcPct val="20000"/>
              </a:lnSpc>
            </a:pPr>
            <a:endParaRPr sz="100" dirty="0">
              <a:latin typeface="Arial" panose="020B0604020202020204"/>
              <a:ea typeface="Arial" panose="020B0604020202020204"/>
              <a:cs typeface="Arial" panose="020B0604020202020204"/>
            </a:endParaRPr>
          </a:p>
          <a:p>
            <a:pPr marL="15875" indent="4445" algn="l" rtl="0" eaLnBrk="0">
              <a:lnSpc>
                <a:spcPct val="119000"/>
              </a:lnSpc>
            </a:pPr>
            <a:r>
              <a:rPr sz="1125" b="1" kern="0" spc="40" dirty="0">
                <a:solidFill>
                  <a:srgbClr val="05073B">
                    <a:alpha val="100000"/>
                  </a:srgbClr>
                </a:solidFill>
                <a:latin typeface="Tahoma" panose="020B0604030504040204"/>
                <a:ea typeface="Tahoma" panose="020B0604030504040204"/>
                <a:cs typeface="Tahoma" panose="020B0604030504040204"/>
              </a:rPr>
              <a:t>1993</a:t>
            </a:r>
            <a:r>
              <a:rPr sz="1125" kern="0" spc="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 ，</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功 研 发 出 </a:t>
            </a:r>
            <a:r>
              <a:rPr sz="1125" kern="0" spc="-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国 第 一</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台</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务</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algn="r" rtl="0" eaLnBrk="0">
              <a:lnSpc>
                <a:spcPct val="80000"/>
              </a:lnSpc>
              <a:spcBef>
                <a:spcPts val="955"/>
              </a:spcBef>
            </a:pPr>
            <a:r>
              <a:rPr sz="1125" b="1" kern="0" spc="0" dirty="0">
                <a:solidFill>
                  <a:srgbClr val="05073B">
                    <a:alpha val="100000"/>
                  </a:srgbClr>
                </a:solidFill>
                <a:latin typeface="Tahoma" panose="020B0604030504040204"/>
                <a:ea typeface="Tahoma" panose="020B0604030504040204"/>
                <a:cs typeface="Tahoma" panose="020B0604030504040204"/>
              </a:rPr>
              <a:t>SMP</a:t>
            </a:r>
            <a:r>
              <a:rPr sz="1125" b="1" kern="0" spc="100" dirty="0">
                <a:solidFill>
                  <a:srgbClr val="05073B">
                    <a:alpha val="100000"/>
                  </a:srgbClr>
                </a:solidFill>
                <a:latin typeface="Tahoma" panose="020B0604030504040204"/>
                <a:ea typeface="Tahoma" panose="020B0604030504040204"/>
                <a:cs typeface="Tahoma" panose="020B0604030504040204"/>
              </a:rPr>
              <a:t>2000</a:t>
            </a:r>
            <a:endParaRPr sz="1125" dirty="0">
              <a:latin typeface="Tahoma" panose="020B0604030504040204"/>
              <a:ea typeface="Tahoma" panose="020B0604030504040204"/>
              <a:cs typeface="Tahoma" panose="020B0604030504040204"/>
            </a:endParaRPr>
          </a:p>
          <a:p>
            <a:pPr marL="13970" indent="-1270" algn="l" rtl="0" eaLnBrk="0">
              <a:lnSpc>
                <a:spcPct val="122000"/>
              </a:lnSpc>
              <a:spcBef>
                <a:spcPts val="250"/>
              </a:spcBef>
            </a:pP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标 志 着 中</a:t>
            </a:r>
            <a:r>
              <a:rPr sz="1125" kern="0" spc="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服 务 器</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 </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的起步。</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4" name="textbox 1004"/>
          <p:cNvSpPr/>
          <p:nvPr/>
        </p:nvSpPr>
        <p:spPr>
          <a:xfrm>
            <a:off x="7856298" y="1430937"/>
            <a:ext cx="1096804" cy="1492567"/>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7145" algn="l" rtl="0" eaLnBrk="0">
              <a:lnSpc>
                <a:spcPct val="82000"/>
              </a:lnSpc>
            </a:pP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有完全自主知识</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1270" algn="l" rtl="0" eaLnBrk="0">
              <a:lnSpc>
                <a:spcPct val="129000"/>
              </a:lnSpc>
              <a:spcBef>
                <a:spcPts val="65"/>
              </a:spcBef>
            </a:pP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产权的浪潮天梭</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0" dirty="0">
                <a:solidFill>
                  <a:srgbClr val="05073B">
                    <a:alpha val="100000"/>
                  </a:srgbClr>
                </a:solidFill>
                <a:latin typeface="Tahoma" panose="020B0604030504040204"/>
                <a:ea typeface="Tahoma" panose="020B0604030504040204"/>
                <a:cs typeface="Tahoma" panose="020B0604030504040204"/>
              </a:rPr>
              <a:t>K1</a:t>
            </a:r>
            <a:r>
              <a:rPr sz="1125" b="1" kern="0" spc="-150" dirty="0">
                <a:solidFill>
                  <a:srgbClr val="05073B">
                    <a:alpha val="100000"/>
                  </a:srgbClr>
                </a:solidFill>
                <a:latin typeface="Tahoma" panose="020B0604030504040204"/>
                <a:ea typeface="Tahoma" panose="020B0604030504040204"/>
                <a:cs typeface="Tahoma" panose="020B0604030504040204"/>
              </a:rPr>
              <a:t> </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，使我国成为 </a:t>
            </a:r>
            <a:r>
              <a:rPr sz="1125" kern="0" spc="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继美国、</a:t>
            </a:r>
            <a:r>
              <a:rPr sz="1125" kern="0" spc="-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日本后</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第三个具备关键</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应用主机研制能</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力的国家。</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6" name="textbox 1006"/>
          <p:cNvSpPr/>
          <p:nvPr/>
        </p:nvSpPr>
        <p:spPr>
          <a:xfrm>
            <a:off x="6714186" y="1482006"/>
            <a:ext cx="926306" cy="171211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58420" algn="l" rtl="0" eaLnBrk="0">
              <a:lnSpc>
                <a:spcPct val="81000"/>
              </a:lnSpc>
            </a:pP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进入</a:t>
            </a:r>
            <a:r>
              <a:rPr sz="1125" b="1" kern="0" spc="100" dirty="0">
                <a:solidFill>
                  <a:srgbClr val="05073B">
                    <a:alpha val="100000"/>
                  </a:srgbClr>
                </a:solidFill>
                <a:latin typeface="Tahoma" panose="020B0604030504040204"/>
                <a:ea typeface="Tahoma" panose="020B0604030504040204"/>
                <a:cs typeface="Tahoma" panose="020B0604030504040204"/>
              </a:rPr>
              <a:t>21</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世纪</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60325" indent="-3175" algn="l" rtl="0" eaLnBrk="0">
              <a:lnSpc>
                <a:spcPct val="129000"/>
              </a:lnSpc>
              <a:spcBef>
                <a:spcPts val="5"/>
              </a:spcBef>
            </a:pP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后 ，</a:t>
            </a:r>
            <a:r>
              <a:rPr sz="1125" kern="0" spc="-1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启动了</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30" dirty="0">
                <a:solidFill>
                  <a:srgbClr val="05073B">
                    <a:alpha val="100000"/>
                  </a:srgbClr>
                </a:solidFill>
                <a:latin typeface="Tahoma" panose="020B0604030504040204"/>
                <a:ea typeface="Tahoma" panose="020B0604030504040204"/>
                <a:cs typeface="Tahoma" panose="020B0604030504040204"/>
              </a:rPr>
              <a:t>“</a:t>
            </a:r>
            <a:r>
              <a:rPr sz="1125" kern="0" spc="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天梭工程</a:t>
            </a:r>
            <a:r>
              <a:rPr sz="1125" b="1" kern="0" spc="30" dirty="0">
                <a:solidFill>
                  <a:srgbClr val="05073B">
                    <a:alpha val="100000"/>
                  </a:srgbClr>
                </a:solidFill>
                <a:latin typeface="Tahoma" panose="020B0604030504040204"/>
                <a:ea typeface="Tahoma" panose="020B0604030504040204"/>
                <a:cs typeface="Tahoma" panose="020B0604030504040204"/>
              </a:rPr>
              <a:t>”</a:t>
            </a:r>
            <a:r>
              <a:rPr sz="1125" kern="0" spc="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并成功研发</a:t>
            </a:r>
            <a:r>
              <a:rPr sz="1125" kern="0" spc="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出国内第一</a:t>
            </a:r>
            <a:r>
              <a:rPr sz="1125" kern="0" spc="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台高端服务</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54610" indent="3175" algn="l" rtl="0" eaLnBrk="0">
              <a:lnSpc>
                <a:spcPct val="131000"/>
              </a:lnSpc>
              <a:spcBef>
                <a:spcPts val="140"/>
              </a:spcBef>
            </a:pPr>
            <a:r>
              <a:rPr sz="1125" kern="0" spc="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器</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天</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梭</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kern="0" spc="-40" dirty="0">
                <a:solidFill>
                  <a:srgbClr val="05073B">
                    <a:alpha val="100000"/>
                  </a:srgbClr>
                </a:solidFill>
                <a:latin typeface="Tahoma" panose="020B0604030504040204"/>
                <a:ea typeface="Tahoma" panose="020B0604030504040204"/>
                <a:cs typeface="Tahoma" panose="020B0604030504040204"/>
              </a:rPr>
              <a:t>TS20000</a:t>
            </a:r>
            <a:r>
              <a:rPr sz="1050" kern="0" spc="-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8" name="textbox 1008"/>
          <p:cNvSpPr/>
          <p:nvPr/>
        </p:nvSpPr>
        <p:spPr>
          <a:xfrm>
            <a:off x="5487694" y="1768253"/>
            <a:ext cx="985838" cy="149113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5875" algn="l" rtl="0" eaLnBrk="0">
              <a:lnSpc>
                <a:spcPct val="82000"/>
              </a:lnSpc>
            </a:pPr>
            <a:r>
              <a:rPr sz="1125" kern="0" spc="1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主导开发的浪</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129000"/>
              </a:lnSpc>
              <a:spcBef>
                <a:spcPts val="45"/>
              </a:spcBef>
            </a:pP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潮</a:t>
            </a:r>
            <a:r>
              <a:rPr sz="1125" b="1" kern="0" spc="-60" dirty="0">
                <a:solidFill>
                  <a:srgbClr val="05073B">
                    <a:alpha val="100000"/>
                  </a:srgbClr>
                </a:solidFill>
                <a:latin typeface="Tahoma" panose="020B0604030504040204"/>
                <a:ea typeface="Tahoma" panose="020B0604030504040204"/>
                <a:cs typeface="Tahoma" panose="020B0604030504040204"/>
              </a:rPr>
              <a:t>SM3000</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系列</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小型计算机</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填补了国内空</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白</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2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并获得国</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家科技进步三</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等奖。</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42" name="textbox 942"/>
          <p:cNvSpPr/>
          <p:nvPr/>
        </p:nvSpPr>
        <p:spPr>
          <a:xfrm>
            <a:off x="0" y="765175"/>
            <a:ext cx="9143365" cy="635000"/>
          </a:xfrm>
          <a:prstGeom prst="rect">
            <a:avLst/>
          </a:prstGeom>
          <a:solidFill>
            <a:srgbClr val="0070C0">
              <a:alpha val="100000"/>
            </a:srgbClr>
          </a:solidFill>
          <a:ln w="0" cap="flat">
            <a:noFill/>
            <a:prstDash val="solid"/>
            <a:miter lim="0"/>
          </a:ln>
        </p:spPr>
        <p:txBody>
          <a:bodyPr vert="horz" wrap="square" lIns="0" tIns="0" rIns="0" bIns="0"/>
          <a:p>
            <a:pPr algn="l" rtl="0" eaLnBrk="0">
              <a:lnSpc>
                <a:spcPct val="129000"/>
              </a:lnSpc>
            </a:pPr>
            <a:endParaRPr sz="750" dirty="0">
              <a:latin typeface="Arial" panose="020B0604020202020204"/>
              <a:ea typeface="Arial" panose="020B0604020202020204"/>
              <a:cs typeface="Arial" panose="020B0604020202020204"/>
            </a:endParaRPr>
          </a:p>
          <a:p>
            <a:pPr marL="298450" algn="l" rtl="0" eaLnBrk="0">
              <a:lnSpc>
                <a:spcPct val="85000"/>
              </a:lnSpc>
              <a:spcBef>
                <a:spcPts val="5"/>
              </a:spcBef>
            </a:pPr>
            <a:r>
              <a:rPr sz="1500"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sz="1500" b="1" kern="0" spc="-20" dirty="0">
                <a:solidFill>
                  <a:srgbClr val="FFFFFF">
                    <a:alpha val="100000"/>
                  </a:srgbClr>
                </a:solidFill>
                <a:latin typeface="Tahoma" panose="020B0604030504040204"/>
                <a:ea typeface="Tahoma" panose="020B0604030504040204"/>
                <a:cs typeface="Tahoma" panose="020B0604030504040204"/>
                <a:sym typeface="+mn-ea"/>
              </a:rPr>
              <a:t>IT</a:t>
            </a:r>
            <a:r>
              <a:rPr sz="1500"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行业中</a:t>
            </a:r>
            <a:r>
              <a:rPr sz="1500" kern="0" spc="-2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500"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，有许多领军人</a:t>
            </a:r>
            <a:r>
              <a:rPr sz="1500" kern="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物不仅推动了技术的革新</a:t>
            </a:r>
            <a:r>
              <a:rPr sz="1500" kern="0" spc="-26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500" kern="0" spc="-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，还通过他们的努力和智慧为整个行业乃至社会带</a:t>
            </a:r>
            <a:r>
              <a:rPr sz="1500" kern="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500"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来了巨大的变革。</a:t>
            </a:r>
            <a:r>
              <a:rPr sz="1500" kern="0" spc="-29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500"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以下关于</a:t>
            </a:r>
            <a:r>
              <a:rPr sz="1500" b="1" kern="0" spc="-40" dirty="0">
                <a:solidFill>
                  <a:srgbClr val="FFFFFF">
                    <a:alpha val="100000"/>
                  </a:srgbClr>
                </a:solidFill>
                <a:latin typeface="Tahoma" panose="020B0604030504040204"/>
                <a:ea typeface="Tahoma" panose="020B0604030504040204"/>
                <a:cs typeface="Tahoma" panose="020B0604030504040204"/>
                <a:sym typeface="+mn-ea"/>
              </a:rPr>
              <a:t>IT</a:t>
            </a:r>
            <a:r>
              <a:rPr sz="1500"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行业领军人物及其发展史的思政案例</a:t>
            </a:r>
            <a:r>
              <a:rPr sz="1500" kern="0" spc="-2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500"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500" kern="0" spc="-3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500"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以王恩东、</a:t>
            </a:r>
            <a:r>
              <a:rPr sz="1500" kern="0" spc="-45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500"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李彦宏、</a:t>
            </a:r>
            <a:r>
              <a:rPr sz="1500" kern="0" spc="-35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500"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马化腾为例。</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p>
            <a:pPr marL="298450" algn="l" rtl="0" eaLnBrk="0">
              <a:lnSpc>
                <a:spcPct val="85000"/>
              </a:lnSpc>
              <a:spcBef>
                <a:spcPts val="5"/>
              </a:spcBef>
            </a:pP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标题 1"/>
          <p:cNvSpPr>
            <a:spLocks noGrp="1"/>
          </p:cNvSpPr>
          <p:nvPr>
            <p:ph type="title"/>
          </p:nvPr>
        </p:nvSpPr>
        <p:spPr/>
        <p:txBody>
          <a:bodyPr/>
          <a:p>
            <a:r>
              <a:rPr lang="zh-CN" altLang="en-US"/>
              <a:t>思政小课堂</a:t>
            </a:r>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 name="group 116"/>
          <p:cNvGrpSpPr/>
          <p:nvPr/>
        </p:nvGrpSpPr>
        <p:grpSpPr>
          <a:xfrm rot="21600000">
            <a:off x="2854627" y="3255759"/>
            <a:ext cx="6289373" cy="1802365"/>
            <a:chOff x="0" y="0"/>
            <a:chExt cx="8385830" cy="2403153"/>
          </a:xfrm>
        </p:grpSpPr>
        <p:pic>
          <p:nvPicPr>
            <p:cNvPr id="1014" name="picture 1014"/>
            <p:cNvPicPr>
              <a:picLocks noChangeAspect="1"/>
            </p:cNvPicPr>
            <p:nvPr/>
          </p:nvPicPr>
          <p:blipFill>
            <a:blip r:embed="rId1"/>
            <a:stretch>
              <a:fillRect/>
            </a:stretch>
          </p:blipFill>
          <p:spPr>
            <a:xfrm rot="21600000">
              <a:off x="0" y="0"/>
              <a:ext cx="8385830" cy="2403153"/>
            </a:xfrm>
            <a:prstGeom prst="rect">
              <a:avLst/>
            </a:prstGeom>
          </p:spPr>
        </p:pic>
        <p:sp>
          <p:nvSpPr>
            <p:cNvPr id="1016" name="textbox 1016"/>
            <p:cNvSpPr/>
            <p:nvPr/>
          </p:nvSpPr>
          <p:spPr>
            <a:xfrm>
              <a:off x="-12700" y="-12700"/>
              <a:ext cx="8411844" cy="2463164"/>
            </a:xfrm>
            <a:prstGeom prst="rect">
              <a:avLst/>
            </a:prstGeom>
            <a:noFill/>
            <a:ln w="0" cap="flat">
              <a:noFill/>
              <a:prstDash val="solid"/>
              <a:miter lim="0"/>
            </a:ln>
          </p:spPr>
          <p:txBody>
            <a:bodyPr vert="horz" wrap="square" lIns="0" tIns="0" rIns="0" bIns="0"/>
            <a:lstStyle/>
            <a:p>
              <a:pPr algn="l" rtl="0" eaLnBrk="0">
                <a:lnSpc>
                  <a:spcPct val="138000"/>
                </a:lnSpc>
              </a:pPr>
              <a:endParaRPr sz="750" dirty="0">
                <a:latin typeface="Arial" panose="020B0604020202020204"/>
                <a:ea typeface="Arial" panose="020B0604020202020204"/>
                <a:cs typeface="Arial" panose="020B0604020202020204"/>
              </a:endParaRPr>
            </a:p>
            <a:p>
              <a:pPr algn="l" rtl="0" eaLnBrk="0">
                <a:lnSpc>
                  <a:spcPct val="138000"/>
                </a:lnSpc>
              </a:pPr>
              <a:endParaRPr sz="750" dirty="0">
                <a:latin typeface="Arial" panose="020B0604020202020204"/>
                <a:ea typeface="Arial" panose="020B0604020202020204"/>
                <a:cs typeface="Arial" panose="020B0604020202020204"/>
              </a:endParaRPr>
            </a:p>
            <a:p>
              <a:pPr marL="414655" indent="1270" algn="l" rtl="0" eaLnBrk="0">
                <a:lnSpc>
                  <a:spcPct val="154000"/>
                </a:lnSpc>
                <a:spcBef>
                  <a:spcPts val="0"/>
                </a:spcBef>
              </a:pPr>
              <a:r>
                <a:rPr sz="127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李彦宏的创业历程和</a:t>
              </a:r>
              <a:r>
                <a:rPr sz="1275" b="1" u="sng" kern="0" spc="9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创新精神</a:t>
              </a:r>
              <a:r>
                <a:rPr sz="127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是当代青年学习的榜样。</a:t>
              </a:r>
              <a:r>
                <a:rPr sz="1275" kern="0" spc="-2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他凭借对技术的</a:t>
              </a:r>
              <a:r>
                <a:rPr sz="1275" b="1" u="sng" kern="0" spc="9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敏锐</a:t>
              </a:r>
              <a:r>
                <a:rPr sz="1275" b="1" kern="0" spc="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b="1" u="sng" kern="0" spc="9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洞察力</a:t>
              </a:r>
              <a:r>
                <a:rPr sz="127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和对市场的深刻理解</a:t>
              </a:r>
              <a:r>
                <a:rPr sz="1275" kern="0" spc="-2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，成功地将百度打造</a:t>
              </a:r>
              <a:r>
                <a:rPr sz="127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成为全球领先的互联网企业。</a:t>
              </a:r>
              <a:r>
                <a:rPr sz="127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同时</a:t>
              </a:r>
              <a:r>
                <a:rPr sz="1275" kern="0" spc="-2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，他始终坚持</a:t>
              </a:r>
              <a:r>
                <a:rPr sz="1275" b="1" u="sng" kern="0" spc="7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科技报国</a:t>
              </a:r>
              <a:r>
                <a:rPr sz="127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的理念</a:t>
              </a:r>
              <a:r>
                <a:rPr sz="1275" kern="0" spc="-2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，将企</a:t>
              </a:r>
              <a:r>
                <a:rPr sz="127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业发展与国家战略紧密结合</a:t>
              </a:r>
              <a:r>
                <a:rPr sz="1275" kern="0" spc="-2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275" kern="0" spc="-3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为国</a:t>
              </a:r>
              <a:r>
                <a:rPr sz="127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家的科技进步和经济发展做出了重要贡献。</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1018" name="picture 1018"/>
          <p:cNvPicPr>
            <a:picLocks noChangeAspect="1"/>
          </p:cNvPicPr>
          <p:nvPr/>
        </p:nvPicPr>
        <p:blipFill>
          <a:blip r:embed="rId2"/>
          <a:stretch>
            <a:fillRect/>
          </a:stretch>
        </p:blipFill>
        <p:spPr>
          <a:xfrm rot="21600000">
            <a:off x="171073" y="945665"/>
            <a:ext cx="2629000" cy="4017356"/>
          </a:xfrm>
          <a:prstGeom prst="rect">
            <a:avLst/>
          </a:prstGeom>
        </p:spPr>
      </p:pic>
      <p:pic>
        <p:nvPicPr>
          <p:cNvPr id="1020" name="picture 1020"/>
          <p:cNvPicPr>
            <a:picLocks noChangeAspect="1"/>
          </p:cNvPicPr>
          <p:nvPr/>
        </p:nvPicPr>
        <p:blipFill>
          <a:blip r:embed="rId3"/>
          <a:stretch>
            <a:fillRect/>
          </a:stretch>
        </p:blipFill>
        <p:spPr>
          <a:xfrm rot="21600000">
            <a:off x="2898833" y="1043692"/>
            <a:ext cx="4495445" cy="2014688"/>
          </a:xfrm>
          <a:prstGeom prst="rect">
            <a:avLst/>
          </a:prstGeom>
        </p:spPr>
      </p:pic>
      <p:sp>
        <p:nvSpPr>
          <p:cNvPr id="1024" name="textbox 1024"/>
          <p:cNvSpPr/>
          <p:nvPr/>
        </p:nvSpPr>
        <p:spPr>
          <a:xfrm>
            <a:off x="3142934" y="1379502"/>
            <a:ext cx="1488758" cy="1492091"/>
          </a:xfrm>
          <a:prstGeom prst="rect">
            <a:avLst/>
          </a:prstGeom>
          <a:noFill/>
          <a:ln w="0" cap="flat">
            <a:noFill/>
            <a:prstDash val="solid"/>
            <a:miter lim="0"/>
          </a:ln>
        </p:spPr>
        <p:txBody>
          <a:bodyPr vert="horz" wrap="square" lIns="0" tIns="0" rIns="0" bIns="0"/>
          <a:lstStyle/>
          <a:p>
            <a:pPr algn="l" rtl="0" eaLnBrk="0">
              <a:lnSpc>
                <a:spcPct val="54000"/>
              </a:lnSpc>
            </a:pPr>
            <a:endParaRPr sz="100" dirty="0">
              <a:latin typeface="Arial" panose="020B0604020202020204"/>
              <a:ea typeface="Arial" panose="020B0604020202020204"/>
              <a:cs typeface="Arial" panose="020B0604020202020204"/>
            </a:endParaRPr>
          </a:p>
          <a:p>
            <a:pPr marL="12700" indent="1270" algn="l" rtl="0" eaLnBrk="0">
              <a:lnSpc>
                <a:spcPct val="123000"/>
              </a:lnSpc>
            </a:pPr>
            <a:r>
              <a:rPr sz="1125" kern="0" spc="1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在创立百度之前</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1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李</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彦宏已经是全球顶尖</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的搜索引擎工程师之</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一</a:t>
            </a:r>
            <a:r>
              <a:rPr sz="1125" kern="0" spc="-1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3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其发明的</a:t>
            </a:r>
            <a:r>
              <a:rPr sz="1125" b="1" kern="0" spc="70" dirty="0">
                <a:solidFill>
                  <a:srgbClr val="05073B">
                    <a:alpha val="100000"/>
                  </a:srgbClr>
                </a:solidFill>
                <a:latin typeface="Tahoma" panose="020B0604030504040204"/>
                <a:ea typeface="Tahoma" panose="020B0604030504040204"/>
                <a:cs typeface="Tahoma" panose="020B0604030504040204"/>
              </a:rPr>
              <a:t>“</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超链分</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析</a:t>
            </a:r>
            <a:r>
              <a:rPr sz="1125" b="1" kern="0" spc="110" dirty="0">
                <a:solidFill>
                  <a:srgbClr val="05073B">
                    <a:alpha val="100000"/>
                  </a:srgbClr>
                </a:solidFill>
                <a:latin typeface="Tahoma" panose="020B0604030504040204"/>
                <a:ea typeface="Tahoma" panose="020B0604030504040204"/>
                <a:cs typeface="Tahoma" panose="020B0604030504040204"/>
              </a:rPr>
              <a:t>”</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技术专利为现代搜</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索引擎的发展奠定了</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重要基础。</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26" name="textbox 1026"/>
          <p:cNvSpPr/>
          <p:nvPr/>
        </p:nvSpPr>
        <p:spPr>
          <a:xfrm>
            <a:off x="5154532" y="1018373"/>
            <a:ext cx="1441609" cy="1510189"/>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5240" algn="l" rtl="0" eaLnBrk="0">
              <a:lnSpc>
                <a:spcPct val="85000"/>
              </a:lnSpc>
            </a:pPr>
            <a:r>
              <a:rPr sz="1125" kern="0" spc="50" dirty="0">
                <a:solidFill>
                  <a:srgbClr val="05073B">
                    <a:alpha val="100000"/>
                  </a:srgbClr>
                </a:solidFill>
                <a:latin typeface="Arial" panose="020B0604020202020204"/>
                <a:ea typeface="Arial" panose="020B0604020202020204"/>
                <a:cs typeface="Arial" panose="020B0604020202020204"/>
              </a:rPr>
              <a:t>2000</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3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李彦宏回国</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635" algn="l" rtl="0" eaLnBrk="0">
              <a:lnSpc>
                <a:spcPct val="130000"/>
              </a:lnSpc>
              <a:spcBef>
                <a:spcPts val="90"/>
              </a:spcBef>
            </a:pPr>
            <a:r>
              <a:rPr sz="1125" kern="0" spc="1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创立了百度公司。</a:t>
            </a:r>
            <a:r>
              <a:rPr sz="1125" kern="0" spc="-1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他的带领下</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2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百度迅</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速成长为全球最大的</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中文搜索引擎之</a:t>
            </a:r>
            <a:r>
              <a:rPr sz="1125" kern="0" spc="-1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一</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并成功在美国纳斯达</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克上市。</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0" name="textbox 1030"/>
          <p:cNvSpPr/>
          <p:nvPr/>
        </p:nvSpPr>
        <p:spPr>
          <a:xfrm>
            <a:off x="7119063" y="935505"/>
            <a:ext cx="1334928" cy="1492091"/>
          </a:xfrm>
          <a:prstGeom prst="rect">
            <a:avLst/>
          </a:prstGeom>
          <a:noFill/>
          <a:ln w="0" cap="flat">
            <a:noFill/>
            <a:prstDash val="solid"/>
            <a:miter lim="0"/>
          </a:ln>
        </p:spPr>
        <p:txBody>
          <a:bodyPr vert="horz" wrap="square" lIns="0" tIns="0" rIns="0" bIns="0"/>
          <a:lstStyle/>
          <a:p>
            <a:pPr algn="l" rtl="0" eaLnBrk="0">
              <a:lnSpc>
                <a:spcPct val="54000"/>
              </a:lnSpc>
            </a:pPr>
            <a:endParaRPr sz="100" dirty="0">
              <a:latin typeface="Arial" panose="020B0604020202020204"/>
              <a:ea typeface="Arial" panose="020B0604020202020204"/>
              <a:cs typeface="Arial" panose="020B0604020202020204"/>
            </a:endParaRPr>
          </a:p>
          <a:p>
            <a:pPr marL="12700" indent="1270" algn="l" rtl="0" eaLnBrk="0">
              <a:lnSpc>
                <a:spcPct val="123000"/>
              </a:lnSpc>
            </a:pPr>
            <a:r>
              <a:rPr sz="1125" kern="0" spc="1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人工智能</a:t>
            </a:r>
            <a:r>
              <a:rPr sz="1125" kern="0" spc="-1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1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大数据</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等领域取得了一系</a:t>
            </a:r>
            <a:r>
              <a:rPr sz="1125" kern="0" spc="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列重大突破</a:t>
            </a:r>
            <a:r>
              <a:rPr sz="1125" kern="0" spc="-2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1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他提</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出的</a:t>
            </a:r>
            <a:r>
              <a:rPr sz="1125" b="1" kern="0" spc="110" dirty="0">
                <a:solidFill>
                  <a:srgbClr val="05073B">
                    <a:alpha val="100000"/>
                  </a:srgbClr>
                </a:solidFill>
                <a:latin typeface="Tahoma" panose="020B0604030504040204"/>
                <a:ea typeface="Tahoma" panose="020B0604030504040204"/>
                <a:cs typeface="Tahoma" panose="020B0604030504040204"/>
              </a:rPr>
              <a:t>“</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用科技让复杂</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的世界更简单</a:t>
            </a:r>
            <a:r>
              <a:rPr sz="1125" b="1" kern="0" spc="110" dirty="0">
                <a:solidFill>
                  <a:srgbClr val="05073B">
                    <a:alpha val="100000"/>
                  </a:srgbClr>
                </a:solidFill>
                <a:latin typeface="Tahoma" panose="020B0604030504040204"/>
                <a:ea typeface="Tahoma" panose="020B0604030504040204"/>
                <a:cs typeface="Tahoma" panose="020B0604030504040204"/>
              </a:rPr>
              <a:t>”</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的理</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念 ，</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引领着百度不</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断向前发展。</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4" name="textbox 1034"/>
          <p:cNvSpPr/>
          <p:nvPr/>
        </p:nvSpPr>
        <p:spPr>
          <a:xfrm>
            <a:off x="7121494" y="717645"/>
            <a:ext cx="1332547" cy="173831"/>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a:ea typeface="Arial" panose="020B0604020202020204"/>
              <a:cs typeface="Arial" panose="020B0604020202020204"/>
            </a:endParaRPr>
          </a:p>
          <a:p>
            <a:pPr marL="12700" algn="l" rtl="0" eaLnBrk="0">
              <a:lnSpc>
                <a:spcPct val="90000"/>
              </a:lnSpc>
            </a:pPr>
            <a:r>
              <a:rPr sz="1125" kern="0" spc="2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李彦宏推动百度在</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标题 1"/>
          <p:cNvSpPr>
            <a:spLocks noGrp="1"/>
          </p:cNvSpPr>
          <p:nvPr>
            <p:ph type="title"/>
          </p:nvPr>
        </p:nvSpPr>
        <p:spPr/>
        <p:txBody>
          <a:bodyPr/>
          <a:p>
            <a:r>
              <a:rPr lang="zh-CN" altLang="en-US"/>
              <a:t>思政小课堂</a:t>
            </a:r>
            <a:endParaRPr lang="zh-CN"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group 118"/>
          <p:cNvGrpSpPr/>
          <p:nvPr/>
        </p:nvGrpSpPr>
        <p:grpSpPr>
          <a:xfrm rot="21600000">
            <a:off x="2854627" y="3255759"/>
            <a:ext cx="6289373" cy="1802365"/>
            <a:chOff x="0" y="0"/>
            <a:chExt cx="8385830" cy="2403153"/>
          </a:xfrm>
        </p:grpSpPr>
        <p:pic>
          <p:nvPicPr>
            <p:cNvPr id="1038" name="picture 1038"/>
            <p:cNvPicPr>
              <a:picLocks noChangeAspect="1"/>
            </p:cNvPicPr>
            <p:nvPr/>
          </p:nvPicPr>
          <p:blipFill>
            <a:blip r:embed="rId1"/>
            <a:stretch>
              <a:fillRect/>
            </a:stretch>
          </p:blipFill>
          <p:spPr>
            <a:xfrm rot="21600000">
              <a:off x="0" y="0"/>
              <a:ext cx="8385830" cy="2403153"/>
            </a:xfrm>
            <a:prstGeom prst="rect">
              <a:avLst/>
            </a:prstGeom>
          </p:spPr>
        </p:pic>
        <p:sp>
          <p:nvSpPr>
            <p:cNvPr id="1040" name="textbox 1040"/>
            <p:cNvSpPr/>
            <p:nvPr/>
          </p:nvSpPr>
          <p:spPr>
            <a:xfrm>
              <a:off x="-12700" y="-12700"/>
              <a:ext cx="8411844" cy="2463800"/>
            </a:xfrm>
            <a:prstGeom prst="rect">
              <a:avLst/>
            </a:prstGeom>
            <a:noFill/>
            <a:ln w="0" cap="flat">
              <a:noFill/>
              <a:prstDash val="solid"/>
              <a:miter lim="0"/>
            </a:ln>
          </p:spPr>
          <p:txBody>
            <a:bodyPr vert="horz" wrap="square" lIns="0" tIns="0" rIns="0" bIns="0"/>
            <a:lstStyle/>
            <a:p>
              <a:pPr algn="l" rtl="0" eaLnBrk="0">
                <a:lnSpc>
                  <a:spcPct val="130000"/>
                </a:lnSpc>
              </a:pPr>
              <a:endParaRPr sz="750" dirty="0">
                <a:latin typeface="Arial" panose="020B0604020202020204"/>
                <a:ea typeface="Arial" panose="020B0604020202020204"/>
                <a:cs typeface="Arial" panose="020B0604020202020204"/>
              </a:endParaRPr>
            </a:p>
            <a:p>
              <a:pPr algn="l" rtl="0" eaLnBrk="0">
                <a:lnSpc>
                  <a:spcPct val="130000"/>
                </a:lnSpc>
              </a:pPr>
              <a:endParaRPr sz="750" dirty="0">
                <a:latin typeface="Arial" panose="020B0604020202020204"/>
                <a:ea typeface="Arial" panose="020B0604020202020204"/>
                <a:cs typeface="Arial" panose="020B0604020202020204"/>
              </a:endParaRPr>
            </a:p>
            <a:p>
              <a:pPr marL="412750" indent="15875" algn="l" rtl="0" eaLnBrk="0">
                <a:lnSpc>
                  <a:spcPct val="154000"/>
                </a:lnSpc>
                <a:spcBef>
                  <a:spcPts val="5"/>
                </a:spcBef>
              </a:pPr>
              <a:r>
                <a:rPr sz="1275"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马化腾的成功故事展现了</a:t>
              </a:r>
              <a:r>
                <a:rPr sz="1275" b="1" u="sng" kern="0" spc="9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创新精神</a:t>
              </a:r>
              <a:r>
                <a:rPr sz="1275"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sz="1275" b="1" u="sng" kern="0" spc="9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市场洞察力</a:t>
              </a:r>
              <a:r>
                <a:rPr sz="1275"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的重要性。</a:t>
              </a:r>
              <a:r>
                <a:rPr sz="1275" kern="0" spc="-3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他凭借对互联网</a:t>
              </a:r>
              <a:r>
                <a:rPr sz="127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趋势的敏锐把握和持续创新</a:t>
              </a:r>
              <a:r>
                <a:rPr sz="1275" kern="0" spc="-2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9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，将腾讯打造成</a:t>
              </a:r>
              <a:r>
                <a:rPr sz="127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为全球领先的互联网企业之一。</a:t>
              </a:r>
              <a:r>
                <a:rPr sz="127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同时</a:t>
              </a:r>
              <a:r>
                <a:rPr sz="1275" kern="0" spc="-2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，他也非常注重企业的</a:t>
              </a:r>
              <a:r>
                <a:rPr sz="1275" b="1" u="sng" kern="0" spc="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社会责任</a:t>
              </a:r>
              <a:r>
                <a:rPr sz="127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sz="1275" b="1" u="sng" kern="0" spc="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长远发展</a:t>
              </a:r>
              <a:r>
                <a:rPr sz="1275" b="1" kern="0" spc="-2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275" kern="0" spc="-4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积极投</a:t>
              </a:r>
              <a:r>
                <a:rPr sz="1275"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身公益事业和科技</a:t>
              </a:r>
              <a:r>
                <a:rPr sz="1275"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创新领域。</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1042" name="picture 1042"/>
          <p:cNvPicPr>
            <a:picLocks noChangeAspect="1"/>
          </p:cNvPicPr>
          <p:nvPr/>
        </p:nvPicPr>
        <p:blipFill>
          <a:blip r:embed="rId2"/>
          <a:stretch>
            <a:fillRect/>
          </a:stretch>
        </p:blipFill>
        <p:spPr>
          <a:xfrm rot="21600000">
            <a:off x="183396" y="914709"/>
            <a:ext cx="2623258" cy="4021364"/>
          </a:xfrm>
          <a:prstGeom prst="rect">
            <a:avLst/>
          </a:prstGeom>
        </p:spPr>
      </p:pic>
      <p:pic>
        <p:nvPicPr>
          <p:cNvPr id="1044" name="picture 1044"/>
          <p:cNvPicPr>
            <a:picLocks noChangeAspect="1"/>
          </p:cNvPicPr>
          <p:nvPr/>
        </p:nvPicPr>
        <p:blipFill>
          <a:blip r:embed="rId3"/>
          <a:stretch>
            <a:fillRect/>
          </a:stretch>
        </p:blipFill>
        <p:spPr>
          <a:xfrm rot="21600000">
            <a:off x="2898833" y="1043692"/>
            <a:ext cx="4495445" cy="2014688"/>
          </a:xfrm>
          <a:prstGeom prst="rect">
            <a:avLst/>
          </a:prstGeom>
        </p:spPr>
      </p:pic>
      <p:sp>
        <p:nvSpPr>
          <p:cNvPr id="1048" name="textbox 1048"/>
          <p:cNvSpPr/>
          <p:nvPr/>
        </p:nvSpPr>
        <p:spPr>
          <a:xfrm>
            <a:off x="3145973" y="1380110"/>
            <a:ext cx="1485900" cy="1490663"/>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24765" algn="l" rtl="0" eaLnBrk="0">
              <a:lnSpc>
                <a:spcPct val="82000"/>
              </a:lnSpc>
            </a:pPr>
            <a:r>
              <a:rPr sz="1125" kern="0" spc="1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马化腾在深圳大学主</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a:p>
            <a:pPr marL="12700" indent="1270" algn="l" rtl="0" eaLnBrk="0">
              <a:lnSpc>
                <a:spcPct val="129000"/>
              </a:lnSpc>
              <a:spcBef>
                <a:spcPts val="50"/>
              </a:spcBef>
            </a:pPr>
            <a:r>
              <a:rPr sz="1125" kern="0" spc="1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修计算机及应用后</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于</a:t>
            </a:r>
            <a:r>
              <a:rPr sz="1125" kern="0" spc="140" dirty="0">
                <a:solidFill>
                  <a:srgbClr val="05073B">
                    <a:alpha val="100000"/>
                  </a:srgbClr>
                </a:solidFill>
                <a:latin typeface="Arial" panose="020B0604020202020204"/>
                <a:ea typeface="Arial" panose="020B0604020202020204"/>
                <a:cs typeface="Arial" panose="020B0604020202020204"/>
              </a:rPr>
              <a:t>1998</a:t>
            </a:r>
            <a:r>
              <a:rPr sz="1125" kern="0" spc="1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年与好友张</a:t>
            </a:r>
            <a:r>
              <a:rPr sz="1125" kern="0" spc="1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志</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东共同创立了腾讯公</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司。</a:t>
            </a:r>
            <a:r>
              <a:rPr sz="1125" kern="0" spc="-1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起初 ，</a:t>
            </a:r>
            <a:r>
              <a:rPr sz="1125" kern="0" spc="-1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腾讯主要</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提供互联网传呼系统</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服务。</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2" name="textbox 1052"/>
          <p:cNvSpPr/>
          <p:nvPr/>
        </p:nvSpPr>
        <p:spPr>
          <a:xfrm>
            <a:off x="5133582" y="1036733"/>
            <a:ext cx="1462564" cy="1268729"/>
          </a:xfrm>
          <a:prstGeom prst="rect">
            <a:avLst/>
          </a:prstGeom>
          <a:noFill/>
          <a:ln w="0" cap="flat">
            <a:noFill/>
            <a:prstDash val="solid"/>
            <a:miter lim="0"/>
          </a:ln>
        </p:spPr>
        <p:txBody>
          <a:bodyPr vert="horz" wrap="square" lIns="0" tIns="0" rIns="0" bIns="0"/>
          <a:lstStyle/>
          <a:p>
            <a:pPr algn="l" rtl="0" eaLnBrk="0">
              <a:lnSpc>
                <a:spcPct val="36000"/>
              </a:lnSpc>
            </a:pPr>
            <a:endParaRPr sz="100" dirty="0">
              <a:latin typeface="Arial" panose="020B0604020202020204"/>
              <a:ea typeface="Arial" panose="020B0604020202020204"/>
              <a:cs typeface="Arial" panose="020B0604020202020204"/>
            </a:endParaRPr>
          </a:p>
          <a:p>
            <a:pPr marL="43815" indent="2540" algn="l" rtl="0" eaLnBrk="0">
              <a:lnSpc>
                <a:spcPct val="122000"/>
              </a:lnSpc>
            </a:pPr>
            <a:r>
              <a:rPr sz="1125" kern="0" spc="1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随着互联网的普及</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腾讯迅速推出了一系</a:t>
            </a:r>
            <a:r>
              <a:rPr sz="1125" kern="0" spc="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列</a:t>
            </a:r>
            <a:r>
              <a:rPr sz="1125" kern="0" spc="-1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创</a:t>
            </a:r>
            <a:r>
              <a:rPr sz="1125" kern="0" spc="-1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新</a:t>
            </a:r>
            <a:r>
              <a:rPr sz="1125" kern="0" spc="-1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品 ，</a:t>
            </a:r>
            <a:r>
              <a:rPr sz="1125" kern="0" spc="-13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如</a:t>
            </a:r>
            <a:r>
              <a:rPr sz="1125" kern="0" spc="-1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kern="0" spc="-20" dirty="0">
                <a:solidFill>
                  <a:srgbClr val="05073B">
                    <a:alpha val="100000"/>
                  </a:srgbClr>
                </a:solidFill>
                <a:latin typeface="Tahoma" panose="020B0604030504040204"/>
                <a:ea typeface="Tahoma" panose="020B0604030504040204"/>
                <a:cs typeface="Tahoma" panose="020B0604030504040204"/>
              </a:rPr>
              <a:t>QQ</a:t>
            </a:r>
            <a:r>
              <a:rPr sz="1125" b="1" kern="0" spc="0" dirty="0">
                <a:solidFill>
                  <a:srgbClr val="05073B">
                    <a:alpha val="100000"/>
                  </a:srgbClr>
                </a:solidFill>
                <a:latin typeface="Tahoma" panose="020B0604030504040204"/>
                <a:ea typeface="Tahoma" panose="020B0604030504040204"/>
                <a:cs typeface="Tahoma" panose="020B0604030504040204"/>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（后更名为微信 ）等</a:t>
            </a:r>
            <a:r>
              <a:rPr sz="1125" kern="0" spc="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即时通讯工具</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2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迅速</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占领市场</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4" name="textbox 1054"/>
          <p:cNvSpPr/>
          <p:nvPr/>
        </p:nvSpPr>
        <p:spPr>
          <a:xfrm>
            <a:off x="7120279" y="937176"/>
            <a:ext cx="1349216" cy="1049179"/>
          </a:xfrm>
          <a:prstGeom prst="rect">
            <a:avLst/>
          </a:prstGeom>
          <a:noFill/>
          <a:ln w="0" cap="flat">
            <a:noFill/>
            <a:prstDash val="solid"/>
            <a:miter lim="0"/>
          </a:ln>
        </p:spPr>
        <p:txBody>
          <a:bodyPr vert="horz" wrap="square" lIns="0" tIns="0" rIns="0" bIns="0"/>
          <a:lstStyle/>
          <a:p>
            <a:pPr algn="l" rtl="0" eaLnBrk="0">
              <a:lnSpc>
                <a:spcPct val="21000"/>
              </a:lnSpc>
            </a:pPr>
            <a:endParaRPr sz="100" dirty="0">
              <a:latin typeface="Arial" panose="020B0604020202020204"/>
              <a:ea typeface="Arial" panose="020B0604020202020204"/>
              <a:cs typeface="Arial" panose="020B0604020202020204"/>
            </a:endParaRPr>
          </a:p>
          <a:p>
            <a:pPr marL="12700" indent="-635" algn="l" rtl="0" eaLnBrk="0">
              <a:lnSpc>
                <a:spcPct val="121000"/>
              </a:lnSpc>
            </a:pP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场地位的同时 ，</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腾</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6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讯还积极拓展游戏、</a:t>
            </a:r>
            <a:r>
              <a:rPr sz="1125" kern="0" spc="-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金融</a:t>
            </a:r>
            <a:r>
              <a:rPr sz="1125" kern="0" spc="-2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云计算等多</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个领域 ，</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形成了多</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元化的业务布局</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8" name="textbox 1058"/>
          <p:cNvSpPr/>
          <p:nvPr/>
        </p:nvSpPr>
        <p:spPr>
          <a:xfrm>
            <a:off x="7118456" y="717645"/>
            <a:ext cx="1335881" cy="174307"/>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90000"/>
              </a:lnSpc>
            </a:pPr>
            <a:r>
              <a:rPr sz="1125" kern="0" spc="22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在巩固即时通讯市</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标题 1"/>
          <p:cNvSpPr>
            <a:spLocks noGrp="1"/>
          </p:cNvSpPr>
          <p:nvPr>
            <p:ph type="title"/>
          </p:nvPr>
        </p:nvSpPr>
        <p:spPr/>
        <p:txBody>
          <a:bodyPr/>
          <a:p>
            <a:r>
              <a:rPr lang="zh-CN" altLang="en-US"/>
              <a:t>思政小课堂</a:t>
            </a:r>
            <a:endParaRPr lang="zh-CN"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2" name="table 1062"/>
          <p:cNvGraphicFramePr>
            <a:graphicFrameLocks noGrp="1"/>
          </p:cNvGraphicFramePr>
          <p:nvPr/>
        </p:nvGraphicFramePr>
        <p:xfrm>
          <a:off x="219551" y="1453122"/>
          <a:ext cx="6323965" cy="1557655"/>
        </p:xfrm>
        <a:graphic>
          <a:graphicData uri="http://schemas.openxmlformats.org/drawingml/2006/table">
            <a:tbl>
              <a:tblPr/>
              <a:tblGrid>
                <a:gridCol w="2062480"/>
                <a:gridCol w="1910080"/>
                <a:gridCol w="2351405"/>
              </a:tblGrid>
              <a:tr h="1557655">
                <a:tc>
                  <a:txBody>
                    <a:bodyPr/>
                    <a:lstStyle/>
                    <a:p>
                      <a:pPr algn="l" rtl="0" eaLnBrk="0">
                        <a:lnSpc>
                          <a:spcPct val="7000"/>
                        </a:lnSpc>
                      </a:pPr>
                      <a:endParaRPr sz="100" dirty="0">
                        <a:latin typeface="Arial" panose="020B0604020202020204"/>
                        <a:ea typeface="Arial" panose="020B0604020202020204"/>
                        <a:cs typeface="Arial" panose="020B0604020202020204"/>
                      </a:endParaRPr>
                    </a:p>
                    <a:p>
                      <a:pPr marL="8890" algn="l" rtl="0" eaLnBrk="0">
                        <a:lnSpc>
                          <a:spcPct val="83000"/>
                        </a:lnSpc>
                      </a:pPr>
                      <a:r>
                        <a:rPr sz="1050" b="1" u="sng" kern="0" spc="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腾讯云</a:t>
                      </a:r>
                      <a:r>
                        <a:rPr sz="1050" b="1" u="sng" kern="0" spc="0" dirty="0">
                          <a:solidFill>
                            <a:srgbClr val="0070C0">
                              <a:alpha val="100000"/>
                            </a:srgbClr>
                          </a:solidFill>
                          <a:latin typeface="Tahoma" panose="020B0604030504040204"/>
                          <a:ea typeface="Tahoma" panose="020B0604030504040204"/>
                          <a:cs typeface="Tahoma" panose="020B0604030504040204"/>
                        </a:rPr>
                        <a:t>TDSQL</a:t>
                      </a:r>
                      <a:r>
                        <a:rPr sz="1050" b="1" u="sng" kern="0" spc="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作为腾讯自研</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p>
                      <a:pPr marL="7620" indent="6350" algn="l" rtl="0" eaLnBrk="0">
                        <a:lnSpc>
                          <a:spcPct val="135000"/>
                        </a:lnSpc>
                        <a:spcBef>
                          <a:spcPts val="45"/>
                        </a:spcBef>
                      </a:pPr>
                      <a:r>
                        <a:rPr sz="1050" b="1" u="sng" kern="0" spc="2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的分布式数据库</a:t>
                      </a:r>
                      <a:r>
                        <a:rPr sz="1050" b="1" u="sng" kern="0" spc="-9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u="sng" kern="0" spc="2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0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提供了高</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性能、</a:t>
                      </a:r>
                      <a:r>
                        <a:rPr sz="1050" kern="0" spc="-2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高可靠、</a:t>
                      </a:r>
                      <a:r>
                        <a:rPr sz="1050" kern="0" spc="-2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跨数据中心</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整体高可用等核心能</a:t>
                      </a:r>
                      <a:r>
                        <a:rPr sz="10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力</a:t>
                      </a:r>
                      <a:r>
                        <a:rPr sz="1050" kern="0" spc="-1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，是</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腾讯云在分布式数据库领域</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的杰出代表。</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tcPr>
                </a:tc>
                <a:tc>
                  <a:txBody>
                    <a:bodyPr/>
                    <a:lstStyle/>
                    <a:p>
                      <a:pPr marL="540385" algn="l" rtl="0" eaLnBrk="0">
                        <a:lnSpc>
                          <a:spcPct val="77000"/>
                        </a:lnSpc>
                        <a:spcBef>
                          <a:spcPts val="5"/>
                        </a:spcBef>
                      </a:pPr>
                      <a:r>
                        <a:rPr sz="1050" b="1" u="sng" kern="0" spc="10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华为推出的麒麟系列</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p>
                      <a:pPr marL="534035" indent="3175" algn="l" rtl="0" eaLnBrk="0">
                        <a:lnSpc>
                          <a:spcPct val="139000"/>
                        </a:lnSpc>
                        <a:spcBef>
                          <a:spcPts val="30"/>
                        </a:spcBef>
                      </a:pPr>
                      <a:r>
                        <a:rPr sz="1050" b="1" u="sng" kern="0" spc="17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芯片 ，</a:t>
                      </a:r>
                      <a:r>
                        <a:rPr sz="1050" b="1" u="sng" kern="0" spc="2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u="sng" kern="0" spc="17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尤其是麒麟</a:t>
                      </a:r>
                      <a:r>
                        <a:rPr sz="1050" b="1" kern="0" spc="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u="sng" kern="0" spc="10" dirty="0">
                          <a:solidFill>
                            <a:srgbClr val="0070C0">
                              <a:alpha val="100000"/>
                            </a:srgbClr>
                          </a:solidFill>
                          <a:latin typeface="Arial" panose="020B0604020202020204"/>
                          <a:ea typeface="Arial" panose="020B0604020202020204"/>
                          <a:cs typeface="Arial" panose="020B0604020202020204"/>
                        </a:rPr>
                        <a:t>9</a:t>
                      </a:r>
                      <a:r>
                        <a:rPr sz="1050" b="1" u="sng" kern="0" spc="-200" dirty="0">
                          <a:solidFill>
                            <a:srgbClr val="0070C0">
                              <a:alpha val="100000"/>
                            </a:srgbClr>
                          </a:solidFill>
                          <a:latin typeface="Arial" panose="020B0604020202020204"/>
                          <a:ea typeface="Arial" panose="020B0604020202020204"/>
                          <a:cs typeface="Arial" panose="020B0604020202020204"/>
                        </a:rPr>
                        <a:t> </a:t>
                      </a:r>
                      <a:r>
                        <a:rPr sz="1050" b="1" u="sng" kern="0" spc="10" dirty="0">
                          <a:solidFill>
                            <a:srgbClr val="0070C0">
                              <a:alpha val="100000"/>
                            </a:srgbClr>
                          </a:solidFill>
                          <a:latin typeface="Arial" panose="020B0604020202020204"/>
                          <a:ea typeface="Arial" panose="020B0604020202020204"/>
                          <a:cs typeface="Arial" panose="020B0604020202020204"/>
                        </a:rPr>
                        <a:t>0</a:t>
                      </a:r>
                      <a:r>
                        <a:rPr sz="1050" b="1" u="sng" kern="0" spc="-220" dirty="0">
                          <a:solidFill>
                            <a:srgbClr val="0070C0">
                              <a:alpha val="100000"/>
                            </a:srgbClr>
                          </a:solidFill>
                          <a:latin typeface="Arial" panose="020B0604020202020204"/>
                          <a:ea typeface="Arial" panose="020B0604020202020204"/>
                          <a:cs typeface="Arial" panose="020B0604020202020204"/>
                        </a:rPr>
                        <a:t> </a:t>
                      </a:r>
                      <a:r>
                        <a:rPr sz="1050" b="1" u="sng" kern="0" spc="10" dirty="0">
                          <a:solidFill>
                            <a:srgbClr val="0070C0">
                              <a:alpha val="100000"/>
                            </a:srgbClr>
                          </a:solidFill>
                          <a:latin typeface="Arial" panose="020B0604020202020204"/>
                          <a:ea typeface="Arial" panose="020B0604020202020204"/>
                          <a:cs typeface="Arial" panose="020B0604020202020204"/>
                        </a:rPr>
                        <a:t>0</a:t>
                      </a:r>
                      <a:r>
                        <a:rPr sz="1050" b="1" u="sng" kern="0" spc="-210" dirty="0">
                          <a:solidFill>
                            <a:srgbClr val="0070C0">
                              <a:alpha val="100000"/>
                            </a:srgbClr>
                          </a:solidFill>
                          <a:latin typeface="Arial" panose="020B0604020202020204"/>
                          <a:ea typeface="Arial" panose="020B0604020202020204"/>
                          <a:cs typeface="Arial" panose="020B0604020202020204"/>
                        </a:rPr>
                        <a:t> </a:t>
                      </a:r>
                      <a:r>
                        <a:rPr sz="1050" b="1" u="sng" kern="0" spc="10" dirty="0">
                          <a:solidFill>
                            <a:srgbClr val="0070C0">
                              <a:alpha val="100000"/>
                            </a:srgbClr>
                          </a:solidFill>
                          <a:latin typeface="Arial" panose="020B0604020202020204"/>
                          <a:ea typeface="Arial" panose="020B0604020202020204"/>
                          <a:cs typeface="Arial" panose="020B0604020202020204"/>
                        </a:rPr>
                        <a:t>0</a:t>
                      </a:r>
                      <a:r>
                        <a:rPr sz="1050" b="1" u="sng" kern="0" spc="-210" dirty="0">
                          <a:solidFill>
                            <a:srgbClr val="0070C0">
                              <a:alpha val="100000"/>
                            </a:srgbClr>
                          </a:solidFill>
                          <a:latin typeface="Arial" panose="020B0604020202020204"/>
                          <a:ea typeface="Arial" panose="020B0604020202020204"/>
                          <a:cs typeface="Arial" panose="020B0604020202020204"/>
                        </a:rPr>
                        <a:t> </a:t>
                      </a:r>
                      <a:r>
                        <a:rPr sz="1050" b="1" u="sng" kern="0" spc="10" dirty="0">
                          <a:solidFill>
                            <a:srgbClr val="0070C0">
                              <a:alpha val="100000"/>
                            </a:srgbClr>
                          </a:solidFill>
                          <a:latin typeface="Tahoma" panose="020B0604030504040204"/>
                          <a:ea typeface="Tahoma" panose="020B0604030504040204"/>
                          <a:cs typeface="Tahoma" panose="020B0604030504040204"/>
                        </a:rPr>
                        <a:t>S</a:t>
                      </a:r>
                      <a:r>
                        <a:rPr sz="1050" b="1" u="sng" kern="0" spc="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芯片</a:t>
                      </a:r>
                      <a:r>
                        <a:rPr sz="1050" b="1" u="sng" kern="0" spc="-24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u="sng" kern="0" spc="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050" b="1" u="sng" kern="0" spc="-2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kern="0" spc="-35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提升了</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手机性能 ，</a:t>
                      </a:r>
                      <a:r>
                        <a:rPr sz="1050" kern="0" spc="-2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代表了中</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国智能制造业的崛起。</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600" marB="0" vert="horz">
                    <a:lnL>
                      <a:noFill/>
                    </a:lnL>
                    <a:lnR>
                      <a:noFill/>
                    </a:lnR>
                    <a:lnT>
                      <a:noFill/>
                    </a:lnT>
                    <a:lnB>
                      <a:noFill/>
                    </a:lnB>
                  </a:tcPr>
                </a:tc>
                <a:tc>
                  <a:txBody>
                    <a:bodyPr/>
                    <a:lstStyle/>
                    <a:p>
                      <a:pPr algn="l" rtl="0" eaLnBrk="0">
                        <a:lnSpc>
                          <a:spcPct val="14000"/>
                        </a:lnSpc>
                      </a:pPr>
                      <a:endParaRPr sz="100" dirty="0">
                        <a:latin typeface="Arial" panose="020B0604020202020204"/>
                        <a:ea typeface="Arial" panose="020B0604020202020204"/>
                        <a:cs typeface="Arial" panose="020B0604020202020204"/>
                      </a:endParaRPr>
                    </a:p>
                    <a:p>
                      <a:pPr marL="292735" indent="0" algn="l" rtl="0" eaLnBrk="0" fontAlgn="auto">
                        <a:lnSpc>
                          <a:spcPct val="100000"/>
                        </a:lnSpc>
                      </a:pPr>
                      <a:r>
                        <a:rPr sz="1050" b="1" u="sng" kern="0" spc="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华为鲲鹏自主研发的</a:t>
                      </a:r>
                      <a:r>
                        <a:rPr sz="1050" b="1" u="sng" kern="0" spc="7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案例涵盖了芯</a:t>
                      </a:r>
                      <a:r>
                        <a:rPr sz="1050" b="1" u="sng" kern="0" spc="-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片、</a:t>
                      </a:r>
                      <a:r>
                        <a:rPr sz="1050" b="1" u="sng" kern="0" spc="-23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u="sng" kern="0" spc="-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服务器、</a:t>
                      </a:r>
                      <a:r>
                        <a:rPr sz="1050" b="1" u="sng" kern="0" spc="-27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u="sng" kern="0" spc="-8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算力创新等多个方面，</a:t>
                      </a:r>
                      <a:r>
                        <a:rPr sz="1050" b="1" u="sng" kern="0" spc="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如鲲鹏</a:t>
                      </a:r>
                      <a:r>
                        <a:rPr sz="1050" b="1" u="sng" kern="0" spc="0" dirty="0">
                          <a:solidFill>
                            <a:srgbClr val="0070C0">
                              <a:alpha val="100000"/>
                            </a:srgbClr>
                          </a:solidFill>
                          <a:latin typeface="Arial" panose="020B0604020202020204"/>
                          <a:ea typeface="Arial" panose="020B0604020202020204"/>
                          <a:cs typeface="Arial" panose="020B0604020202020204"/>
                        </a:rPr>
                        <a:t>920</a:t>
                      </a:r>
                      <a:r>
                        <a:rPr sz="1050" b="1" u="sng" kern="0" spc="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芯片等</a:t>
                      </a:r>
                      <a:r>
                        <a:rPr sz="1050" b="1" u="sng" kern="0" spc="-16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b="1" u="sng" kern="0" spc="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推动了国内集成 </a:t>
                      </a:r>
                      <a:r>
                        <a:rPr sz="10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电路工业的发展</a:t>
                      </a:r>
                      <a:r>
                        <a:rPr sz="1050" kern="0" spc="-1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050" kern="0" spc="-2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为国</a:t>
                      </a:r>
                      <a:r>
                        <a:rPr sz="105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产芯片厂商</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树立了新的标准</a:t>
                      </a:r>
                      <a:r>
                        <a:rPr sz="1050" kern="0" spc="-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050" kern="0" spc="-3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促进了技术进步</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和产业升级。</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tcPr>
                </a:tc>
              </a:tr>
            </a:tbl>
          </a:graphicData>
        </a:graphic>
      </p:graphicFrame>
      <p:sp>
        <p:nvSpPr>
          <p:cNvPr id="1064" name="textbox 1064"/>
          <p:cNvSpPr/>
          <p:nvPr/>
        </p:nvSpPr>
        <p:spPr>
          <a:xfrm>
            <a:off x="0" y="4401911"/>
            <a:ext cx="9144000" cy="741998"/>
          </a:xfrm>
          <a:prstGeom prst="rect">
            <a:avLst/>
          </a:prstGeom>
          <a:solidFill>
            <a:srgbClr val="0070BF">
              <a:alpha val="99607"/>
            </a:srgbClr>
          </a:solidFill>
          <a:ln w="0" cap="flat">
            <a:noFill/>
            <a:prstDash val="solid"/>
            <a:miter lim="0"/>
          </a:ln>
        </p:spPr>
        <p:txBody>
          <a:bodyPr vert="horz" wrap="square" lIns="0" tIns="0" rIns="0" bIns="0"/>
          <a:lstStyle/>
          <a:p>
            <a:pPr algn="l" rtl="0" eaLnBrk="0">
              <a:lnSpc>
                <a:spcPct val="103000"/>
              </a:lnSpc>
            </a:pPr>
            <a:endParaRPr sz="600" dirty="0">
              <a:latin typeface="Arial" panose="020B0604020202020204"/>
              <a:ea typeface="Arial" panose="020B0604020202020204"/>
              <a:cs typeface="Arial" panose="020B0604020202020204"/>
            </a:endParaRPr>
          </a:p>
          <a:p>
            <a:pPr marL="274320" indent="269240" algn="l" rtl="0" eaLnBrk="0">
              <a:lnSpc>
                <a:spcPct val="101000"/>
              </a:lnSpc>
            </a:pPr>
            <a:r>
              <a:rPr sz="1275"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作为新时代的青年学子</a:t>
            </a:r>
            <a:r>
              <a:rPr sz="1275" kern="0" spc="-2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275" kern="0" spc="-3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肩负着实现中华民族伟大复兴的历史使命。</a:t>
            </a:r>
            <a:r>
              <a:rPr sz="1275" kern="0" spc="-3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通过学习和掌握先进的科技知识</a:t>
            </a:r>
            <a:r>
              <a:rPr sz="1275" kern="0" spc="-2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275" kern="0" spc="-3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为国家的</a:t>
            </a:r>
            <a:r>
              <a:rPr sz="1275"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科技进步和经济发展贡献</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自己的力量。</a:t>
            </a:r>
            <a:r>
              <a:rPr sz="1275" kern="0" spc="-25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因此</a:t>
            </a:r>
            <a:r>
              <a:rPr sz="1275" kern="0" spc="-2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275" kern="0" spc="-3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我们更应该树立正确的价值观</a:t>
            </a:r>
            <a:r>
              <a:rPr sz="1275" kern="0" spc="-2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275" kern="0" spc="-35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时刻具有危机意识、</a:t>
            </a:r>
            <a:r>
              <a:rPr sz="1275" kern="0" spc="-3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爱国情怀和使命</a:t>
            </a:r>
            <a:r>
              <a:rPr sz="1275" kern="0" spc="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担当</a:t>
            </a:r>
            <a:r>
              <a:rPr sz="1275" kern="0" spc="-1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275" kern="0" spc="-3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75"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为国家的科技进步和民族复兴贡献自己的力量。</a:t>
            </a:r>
            <a:endParaRPr sz="1275"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20" name="group 120"/>
          <p:cNvGrpSpPr/>
          <p:nvPr/>
        </p:nvGrpSpPr>
        <p:grpSpPr>
          <a:xfrm rot="21600000">
            <a:off x="152400" y="682436"/>
            <a:ext cx="8991600" cy="695643"/>
            <a:chOff x="0" y="0"/>
            <a:chExt cx="11988800" cy="927524"/>
          </a:xfrm>
        </p:grpSpPr>
        <p:pic>
          <p:nvPicPr>
            <p:cNvPr id="1066" name="picture 1066"/>
            <p:cNvPicPr>
              <a:picLocks noChangeAspect="1"/>
            </p:cNvPicPr>
            <p:nvPr/>
          </p:nvPicPr>
          <p:blipFill>
            <a:blip r:embed="rId1"/>
            <a:stretch>
              <a:fillRect/>
            </a:stretch>
          </p:blipFill>
          <p:spPr>
            <a:xfrm rot="21600000">
              <a:off x="0" y="0"/>
              <a:ext cx="11988800" cy="927524"/>
            </a:xfrm>
            <a:prstGeom prst="rect">
              <a:avLst/>
            </a:prstGeom>
          </p:spPr>
        </p:pic>
        <p:sp>
          <p:nvSpPr>
            <p:cNvPr id="1068" name="textbox 1068"/>
            <p:cNvSpPr/>
            <p:nvPr/>
          </p:nvSpPr>
          <p:spPr>
            <a:xfrm>
              <a:off x="-12700" y="-12700"/>
              <a:ext cx="12014200" cy="978535"/>
            </a:xfrm>
            <a:prstGeom prst="rect">
              <a:avLst/>
            </a:prstGeom>
            <a:noFill/>
            <a:ln w="0" cap="flat">
              <a:noFill/>
              <a:prstDash val="solid"/>
              <a:miter lim="0"/>
            </a:ln>
          </p:spPr>
          <p:txBody>
            <a:bodyPr vert="horz" wrap="square" lIns="0" tIns="0" rIns="0" bIns="0"/>
            <a:lstStyle/>
            <a:p>
              <a:pPr algn="l" rtl="0" eaLnBrk="0">
                <a:lnSpc>
                  <a:spcPct val="146000"/>
                </a:lnSpc>
              </a:pPr>
              <a:endParaRPr sz="750" dirty="0">
                <a:latin typeface="Arial" panose="020B0604020202020204"/>
                <a:ea typeface="Arial" panose="020B0604020202020204"/>
                <a:cs typeface="Arial" panose="020B0604020202020204"/>
              </a:endParaRPr>
            </a:p>
            <a:p>
              <a:pPr marL="356870" algn="l" rtl="0" eaLnBrk="0">
                <a:lnSpc>
                  <a:spcPct val="88000"/>
                </a:lnSpc>
                <a:spcBef>
                  <a:spcPts val="5"/>
                </a:spcBef>
              </a:pP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进入</a:t>
              </a:r>
              <a:r>
                <a:rPr sz="1500" b="1" kern="0" spc="-20" dirty="0">
                  <a:solidFill>
                    <a:srgbClr val="000000">
                      <a:alpha val="100000"/>
                    </a:srgbClr>
                  </a:solidFill>
                  <a:latin typeface="Tahoma" panose="020B0604030504040204"/>
                  <a:ea typeface="Tahoma" panose="020B0604030504040204"/>
                  <a:cs typeface="Tahoma" panose="020B0604030504040204"/>
                </a:rPr>
                <a:t>21</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世纪以来</a:t>
              </a:r>
              <a:r>
                <a:rPr sz="1500"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，我国在多</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个领域取得了显著的自主研发成果</a:t>
              </a:r>
              <a:r>
                <a:rPr sz="1500" kern="0" spc="-2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，展示了我国软件产品的世界领先地位。</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grpSp>
      <p:graphicFrame>
        <p:nvGraphicFramePr>
          <p:cNvPr id="1072" name="table 1072"/>
          <p:cNvGraphicFramePr>
            <a:graphicFrameLocks noGrp="1"/>
          </p:cNvGraphicFramePr>
          <p:nvPr/>
        </p:nvGraphicFramePr>
        <p:xfrm>
          <a:off x="1334453" y="3166670"/>
          <a:ext cx="3782060" cy="1495425"/>
        </p:xfrm>
        <a:graphic>
          <a:graphicData uri="http://schemas.openxmlformats.org/drawingml/2006/table">
            <a:tbl>
              <a:tblPr/>
              <a:tblGrid>
                <a:gridCol w="2015490"/>
                <a:gridCol w="1766570"/>
              </a:tblGrid>
              <a:tr h="1495425">
                <a:tc>
                  <a:txBody>
                    <a:bodyPr/>
                    <a:lstStyle/>
                    <a:p>
                      <a:pPr marL="11430" algn="l" rtl="0" eaLnBrk="0">
                        <a:lnSpc>
                          <a:spcPct val="77000"/>
                        </a:lnSpc>
                        <a:spcBef>
                          <a:spcPts val="0"/>
                        </a:spcBef>
                      </a:pPr>
                      <a:r>
                        <a:rPr sz="1050" b="1" u="sng" kern="0" spc="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华为在超声波指纹识别技术上</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p>
                      <a:pPr marL="5080" indent="3175" algn="l" rtl="0" eaLnBrk="0">
                        <a:lnSpc>
                          <a:spcPct val="139000"/>
                        </a:lnSpc>
                        <a:spcBef>
                          <a:spcPts val="20"/>
                        </a:spcBef>
                      </a:pPr>
                      <a:r>
                        <a:rPr sz="1050" b="1" u="sng" kern="0" spc="6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取得了重要突破</a:t>
                      </a:r>
                      <a:r>
                        <a:rPr sz="1050" b="1" u="sng" kern="0" spc="60" dirty="0">
                          <a:solidFill>
                            <a:srgbClr val="0070C0">
                              <a:alpha val="100000"/>
                            </a:srgbClr>
                          </a:solidFill>
                          <a:latin typeface="Arial" panose="020B0604020202020204"/>
                          <a:ea typeface="Arial" panose="020B0604020202020204"/>
                          <a:cs typeface="Arial" panose="020B0604020202020204"/>
                        </a:rPr>
                        <a:t>,</a:t>
                      </a:r>
                      <a:r>
                        <a:rPr sz="1050" b="1" u="sng" kern="0" spc="-260" dirty="0">
                          <a:solidFill>
                            <a:srgbClr val="0070C0">
                              <a:alpha val="100000"/>
                            </a:srgbClr>
                          </a:solidFill>
                          <a:latin typeface="Arial" panose="020B0604020202020204"/>
                          <a:ea typeface="Arial" panose="020B0604020202020204"/>
                          <a:cs typeface="Arial" panose="020B0604020202020204"/>
                        </a:rPr>
                        <a:t> </a:t>
                      </a:r>
                      <a:r>
                        <a:rPr sz="1050" b="1" kern="0" spc="-190" dirty="0">
                          <a:solidFill>
                            <a:srgbClr val="0070C0">
                              <a:alpha val="100000"/>
                            </a:srgbClr>
                          </a:solidFill>
                          <a:latin typeface="Arial" panose="020B0604020202020204"/>
                          <a:ea typeface="Arial" panose="020B0604020202020204"/>
                          <a:cs typeface="Arial" panose="020B0604020202020204"/>
                        </a:rPr>
                        <a:t> </a:t>
                      </a:r>
                      <a:r>
                        <a:rPr sz="10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自主研发出</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具备高速识别、精准准确率和</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抗干扰能力的技术</a:t>
                      </a:r>
                      <a:r>
                        <a:rPr sz="1050" kern="0" spc="-1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，挑战了外</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部高通专利壁垒。</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183" marB="0" vert="horz">
                    <a:lnL>
                      <a:noFill/>
                    </a:lnL>
                    <a:lnR>
                      <a:noFill/>
                    </a:lnR>
                    <a:lnT>
                      <a:noFill/>
                    </a:lnT>
                    <a:lnB>
                      <a:noFill/>
                    </a:lnB>
                  </a:tcPr>
                </a:tc>
                <a:tc>
                  <a:txBody>
                    <a:bodyPr/>
                    <a:lstStyle/>
                    <a:p>
                      <a:pPr algn="l" rtl="0" eaLnBrk="0">
                        <a:lnSpc>
                          <a:spcPct val="127000"/>
                        </a:lnSpc>
                      </a:pPr>
                      <a:endParaRPr sz="100" dirty="0">
                        <a:latin typeface="Arial" panose="020B0604020202020204"/>
                        <a:ea typeface="Arial" panose="020B0604020202020204"/>
                        <a:cs typeface="Arial" panose="020B0604020202020204"/>
                      </a:endParaRPr>
                    </a:p>
                    <a:p>
                      <a:pPr marL="363855" algn="l" rtl="0" eaLnBrk="0">
                        <a:lnSpc>
                          <a:spcPct val="76000"/>
                        </a:lnSpc>
                      </a:pPr>
                      <a:r>
                        <a:rPr sz="1050" b="1" u="sng" kern="0" spc="-2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华为</a:t>
                      </a:r>
                      <a:r>
                        <a:rPr sz="1050" b="1" u="sng" kern="0" spc="-20" dirty="0">
                          <a:solidFill>
                            <a:srgbClr val="0070C0">
                              <a:alpha val="100000"/>
                            </a:srgbClr>
                          </a:solidFill>
                          <a:latin typeface="Tahoma" panose="020B0604030504040204"/>
                          <a:ea typeface="Tahoma" panose="020B0604030504040204"/>
                          <a:cs typeface="Tahoma" panose="020B0604030504040204"/>
                        </a:rPr>
                        <a:t>Mate</a:t>
                      </a:r>
                      <a:r>
                        <a:rPr sz="1050" b="1" u="sng" kern="0" spc="-20" dirty="0">
                          <a:solidFill>
                            <a:srgbClr val="0070C0">
                              <a:alpha val="100000"/>
                            </a:srgbClr>
                          </a:solidFill>
                          <a:latin typeface="Arial" panose="020B0604020202020204"/>
                          <a:ea typeface="Arial" panose="020B0604020202020204"/>
                          <a:cs typeface="Arial" panose="020B0604020202020204"/>
                        </a:rPr>
                        <a:t>60</a:t>
                      </a:r>
                      <a:r>
                        <a:rPr sz="1050" b="1" u="sng" kern="0" spc="-2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系</a:t>
                      </a:r>
                      <a:r>
                        <a:rPr sz="1050" b="1" u="sng" kern="0" spc="-3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列手机首</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p>
                      <a:pPr marL="361950" algn="l" rtl="0" eaLnBrk="0">
                        <a:lnSpc>
                          <a:spcPct val="159000"/>
                        </a:lnSpc>
                        <a:spcBef>
                          <a:spcPts val="5"/>
                        </a:spcBef>
                        <a:tabLst>
                          <a:tab pos="2354580" algn="l"/>
                        </a:tabLst>
                      </a:pPr>
                      <a:r>
                        <a:rPr sz="1050" b="1" u="sng" kern="0" spc="-1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次搭载鸿蒙</a:t>
                      </a:r>
                      <a:r>
                        <a:rPr sz="1050" b="1" u="sng" kern="0" spc="-110" dirty="0">
                          <a:solidFill>
                            <a:srgbClr val="0070C0">
                              <a:alpha val="100000"/>
                            </a:srgbClr>
                          </a:solidFill>
                          <a:latin typeface="Tahoma" panose="020B0604030504040204"/>
                          <a:ea typeface="Tahoma" panose="020B0604030504040204"/>
                          <a:cs typeface="Tahoma" panose="020B0604030504040204"/>
                        </a:rPr>
                        <a:t>OS</a:t>
                      </a:r>
                      <a:r>
                        <a:rPr sz="1050" b="1" u="sng" kern="0" spc="-1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p>
                      <a:pPr marL="360045" indent="2540" algn="l" rtl="0" eaLnBrk="0">
                        <a:lnSpc>
                          <a:spcPct val="127000"/>
                        </a:lnSpc>
                        <a:spcBef>
                          <a:spcPts val="265"/>
                        </a:spcBef>
                      </a:pPr>
                      <a:r>
                        <a:rPr sz="105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减少了对外部操作系</a:t>
                      </a:r>
                      <a:r>
                        <a:rPr sz="105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统</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的依赖</a:t>
                      </a:r>
                      <a:r>
                        <a:rPr sz="1050" kern="0" spc="-7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050" kern="0" spc="-2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为用户带来更</a:t>
                      </a:r>
                      <a:r>
                        <a:rPr sz="105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5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流畅、更安全的体验。</a:t>
                      </a:r>
                      <a:endParaRPr sz="105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tcPr>
                </a:tc>
              </a:tr>
            </a:tbl>
          </a:graphicData>
        </a:graphic>
      </p:graphicFrame>
      <p:sp>
        <p:nvSpPr>
          <p:cNvPr id="1074" name="textbox 1074"/>
          <p:cNvSpPr/>
          <p:nvPr/>
        </p:nvSpPr>
        <p:spPr>
          <a:xfrm>
            <a:off x="6894405" y="2068767"/>
            <a:ext cx="2043113" cy="1832134"/>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12700" algn="l" rtl="0" eaLnBrk="0">
              <a:lnSpc>
                <a:spcPct val="84000"/>
              </a:lnSpc>
            </a:pP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但在某些关键领域</a:t>
            </a:r>
            <a:r>
              <a:rPr sz="1125" kern="0" spc="-1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b="1" u="sng" kern="0" spc="1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如高端</a:t>
            </a:r>
            <a:r>
              <a:rPr sz="1125" b="1" u="sng" kern="0" spc="10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芯</a:t>
            </a:r>
            <a:r>
              <a:rPr sz="1125" b="1" u="sng" kern="0" spc="1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片制造、</a:t>
            </a:r>
            <a:r>
              <a:rPr sz="1125" b="1" u="sng" kern="0" spc="-16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u="sng" kern="0" spc="11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操作系统生态构建等</a:t>
            </a:r>
            <a:r>
              <a:rPr sz="1125" b="1" kern="0" spc="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b="1" u="sng" kern="0" spc="10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方面</a:t>
            </a:r>
            <a:r>
              <a:rPr sz="1125" b="1" kern="0" spc="-150" dirty="0">
                <a:solidFill>
                  <a:srgbClr val="0070C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3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仍面临外部技术封</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锁和</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市场竞争的压力</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2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需要继续加</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大研发投入</a:t>
            </a:r>
            <a:r>
              <a:rPr sz="1125" kern="0" spc="-15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2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突破技术瓶颈</a:t>
            </a:r>
            <a:r>
              <a:rPr sz="1125" kern="0" spc="-1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8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实现自主可控</a:t>
            </a:r>
            <a:r>
              <a:rPr sz="1125" kern="0" spc="-14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125" kern="0" spc="-31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10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确保在</a:t>
            </a:r>
            <a:r>
              <a:rPr sz="1125" kern="0" spc="9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关键技</a:t>
            </a:r>
            <a:r>
              <a:rPr sz="1125" kern="0" spc="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25" kern="0" spc="70" dirty="0">
                <a:solidFill>
                  <a:srgbClr val="05073B">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术领域不受制于人。</a:t>
            </a:r>
            <a:endParaRPr sz="1125"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76" name="picture 1076"/>
          <p:cNvPicPr>
            <a:picLocks noChangeAspect="1"/>
          </p:cNvPicPr>
          <p:nvPr/>
        </p:nvPicPr>
        <p:blipFill>
          <a:blip r:embed="rId2"/>
          <a:stretch>
            <a:fillRect/>
          </a:stretch>
        </p:blipFill>
        <p:spPr>
          <a:xfrm rot="21600000">
            <a:off x="0" y="2777337"/>
            <a:ext cx="6626561" cy="187319"/>
          </a:xfrm>
          <a:prstGeom prst="rect">
            <a:avLst/>
          </a:prstGeom>
        </p:spPr>
      </p:pic>
      <p:pic>
        <p:nvPicPr>
          <p:cNvPr id="1078" name="picture 1078"/>
          <p:cNvPicPr>
            <a:picLocks noChangeAspect="1"/>
          </p:cNvPicPr>
          <p:nvPr/>
        </p:nvPicPr>
        <p:blipFill>
          <a:blip r:embed="rId3"/>
          <a:stretch>
            <a:fillRect/>
          </a:stretch>
        </p:blipFill>
        <p:spPr>
          <a:xfrm rot="21600000">
            <a:off x="4260370" y="2777337"/>
            <a:ext cx="187328" cy="187319"/>
          </a:xfrm>
          <a:prstGeom prst="rect">
            <a:avLst/>
          </a:prstGeom>
        </p:spPr>
      </p:pic>
      <p:pic>
        <p:nvPicPr>
          <p:cNvPr id="1084" name="picture 1084"/>
          <p:cNvPicPr>
            <a:picLocks noChangeAspect="1"/>
          </p:cNvPicPr>
          <p:nvPr/>
        </p:nvPicPr>
        <p:blipFill>
          <a:blip r:embed="rId4"/>
          <a:stretch>
            <a:fillRect/>
          </a:stretch>
        </p:blipFill>
        <p:spPr>
          <a:xfrm rot="21600000">
            <a:off x="5290499" y="2777337"/>
            <a:ext cx="187328" cy="187319"/>
          </a:xfrm>
          <a:prstGeom prst="rect">
            <a:avLst/>
          </a:prstGeom>
        </p:spPr>
      </p:pic>
      <p:sp>
        <p:nvSpPr>
          <p:cNvPr id="2" name="标题 1"/>
          <p:cNvSpPr>
            <a:spLocks noGrp="1"/>
          </p:cNvSpPr>
          <p:nvPr>
            <p:ph type="title"/>
          </p:nvPr>
        </p:nvSpPr>
        <p:spPr/>
        <p:txBody>
          <a:bodyPr/>
          <a:p>
            <a:r>
              <a:rPr lang="zh-CN" altLang="en-US"/>
              <a:t>思政小课堂</a:t>
            </a:r>
            <a:endParaRPr lang="zh-CN"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41655" y="1191895"/>
            <a:ext cx="8191500" cy="3465195"/>
          </a:xfrm>
        </p:spPr>
        <p:txBody>
          <a:bodyPr>
            <a:noAutofit/>
          </a:bodyPr>
          <a:p>
            <a:pPr marL="0" indent="0">
              <a:buNone/>
            </a:pPr>
            <a:r>
              <a:rPr lang="en-US" altLang="zh-CN" sz="1600">
                <a:sym typeface="+mn-ea"/>
              </a:rPr>
              <a:t>DeepSeek R1</a:t>
            </a:r>
            <a:r>
              <a:rPr lang="zh-CN" altLang="en-US" sz="1600">
                <a:sym typeface="+mn-ea"/>
              </a:rPr>
              <a:t>是在</a:t>
            </a:r>
            <a:r>
              <a:rPr lang="zh-CN" altLang="en-US" sz="1600">
                <a:solidFill>
                  <a:srgbClr val="FF0000"/>
                </a:solidFill>
                <a:sym typeface="+mn-ea"/>
              </a:rPr>
              <a:t>探明方向</a:t>
            </a:r>
            <a:r>
              <a:rPr lang="en-US" altLang="zh-CN" sz="1600">
                <a:solidFill>
                  <a:srgbClr val="FF0000"/>
                </a:solidFill>
                <a:sym typeface="+mn-ea"/>
              </a:rPr>
              <a:t>(</a:t>
            </a:r>
            <a:r>
              <a:rPr lang="en-US" altLang="zh-CN" sz="1600">
                <a:sym typeface="+mn-ea"/>
              </a:rPr>
              <a:t>OpenAlo1</a:t>
            </a:r>
            <a:r>
              <a:rPr lang="zh-CN" altLang="en-US" sz="1600">
                <a:sym typeface="+mn-ea"/>
              </a:rPr>
              <a:t>引领和证实的方向</a:t>
            </a:r>
            <a:r>
              <a:rPr lang="en-US" altLang="zh-CN" sz="1600">
                <a:sym typeface="+mn-ea"/>
              </a:rPr>
              <a:t>)</a:t>
            </a:r>
            <a:r>
              <a:rPr lang="zh-CN" altLang="en-US" sz="1600">
                <a:sym typeface="+mn-ea"/>
              </a:rPr>
              <a:t>上进行</a:t>
            </a:r>
            <a:r>
              <a:rPr lang="en-US" altLang="zh-CN" sz="1600">
                <a:solidFill>
                  <a:srgbClr val="FF0000"/>
                </a:solidFill>
                <a:sym typeface="+mn-ea"/>
              </a:rPr>
              <a:t>0-1</a:t>
            </a:r>
            <a:r>
              <a:rPr lang="zh-CN" altLang="en-US" sz="1600">
                <a:solidFill>
                  <a:srgbClr val="FF0000"/>
                </a:solidFill>
                <a:sym typeface="+mn-ea"/>
              </a:rPr>
              <a:t>的创新突破</a:t>
            </a:r>
            <a:r>
              <a:rPr lang="zh-CN" altLang="en-US" sz="1600">
                <a:sym typeface="+mn-ea"/>
              </a:rPr>
              <a:t>，独立探索出基于大规模强化学习的大语言模型推理技术路线，避开了过去一年多</a:t>
            </a:r>
            <a:r>
              <a:rPr lang="en-US" altLang="zh-CN" sz="1600">
                <a:sym typeface="+mn-ea"/>
              </a:rPr>
              <a:t>(</a:t>
            </a:r>
            <a:r>
              <a:rPr lang="zh-CN" altLang="en-US" sz="1600">
                <a:sym typeface="+mn-ea"/>
              </a:rPr>
              <a:t>自</a:t>
            </a:r>
            <a:r>
              <a:rPr lang="en-US" altLang="zh-CN" sz="1600">
                <a:sym typeface="+mn-ea"/>
              </a:rPr>
              <a:t>OpenAl</a:t>
            </a:r>
            <a:r>
              <a:rPr lang="zh-CN" altLang="en-US" sz="1600">
                <a:sym typeface="+mn-ea"/>
              </a:rPr>
              <a:t>的</a:t>
            </a:r>
            <a:r>
              <a:rPr lang="en-US" altLang="zh-CN" sz="1600">
                <a:sym typeface="+mn-ea"/>
              </a:rPr>
              <a:t>Q*</a:t>
            </a:r>
            <a:r>
              <a:rPr lang="zh-CN" altLang="en-US" sz="1600">
                <a:sym typeface="+mn-ea"/>
              </a:rPr>
              <a:t>在社交媒体讨论</a:t>
            </a:r>
            <a:r>
              <a:rPr lang="en-US" altLang="zh-CN" sz="1600">
                <a:sym typeface="+mn-ea"/>
              </a:rPr>
              <a:t>)</a:t>
            </a:r>
            <a:r>
              <a:rPr lang="zh-CN" altLang="en-US" sz="1600">
                <a:sym typeface="+mn-ea"/>
              </a:rPr>
              <a:t>业内广泛思索的通过在训练中进行显式搜索过程奖励模型</a:t>
            </a:r>
            <a:r>
              <a:rPr lang="en-US" altLang="zh-CN" sz="1600">
                <a:sym typeface="+mn-ea"/>
              </a:rPr>
              <a:t>(</a:t>
            </a:r>
            <a:r>
              <a:rPr lang="zh-CN" altLang="en-US" sz="1600">
                <a:sym typeface="+mn-ea"/>
              </a:rPr>
              <a:t>即</a:t>
            </a:r>
            <a:r>
              <a:rPr lang="en-US" altLang="zh-CN" sz="1600">
                <a:sym typeface="+mn-ea"/>
              </a:rPr>
              <a:t>Search+PRM)</a:t>
            </a:r>
            <a:r>
              <a:rPr lang="zh-CN" altLang="en-US" sz="1600">
                <a:sym typeface="+mn-ea"/>
              </a:rPr>
              <a:t>实现推理的</a:t>
            </a:r>
            <a:r>
              <a:rPr lang="en-US" altLang="zh-CN" sz="1600">
                <a:sym typeface="+mn-ea"/>
              </a:rPr>
              <a:t>“</a:t>
            </a:r>
            <a:r>
              <a:rPr lang="zh-CN" altLang="en-US" sz="1600">
                <a:sym typeface="+mn-ea"/>
              </a:rPr>
              <a:t>误区</a:t>
            </a:r>
            <a:r>
              <a:rPr lang="en-US" altLang="zh-CN" sz="1600">
                <a:sym typeface="+mn-ea"/>
              </a:rPr>
              <a:t>”:</a:t>
            </a:r>
            <a:endParaRPr lang="en-US" altLang="zh-CN" sz="1600"/>
          </a:p>
          <a:p>
            <a:pPr marL="0" indent="0">
              <a:buNone/>
            </a:pPr>
            <a:r>
              <a:rPr lang="zh-CN" altLang="en-US" sz="1600">
                <a:sym typeface="+mn-ea"/>
              </a:rPr>
              <a:t>贡献</a:t>
            </a:r>
            <a:r>
              <a:rPr lang="en-US" altLang="zh-CN" sz="1600">
                <a:sym typeface="+mn-ea"/>
              </a:rPr>
              <a:t>:</a:t>
            </a:r>
            <a:endParaRPr lang="en-US" altLang="zh-CN" sz="1600"/>
          </a:p>
          <a:p>
            <a:r>
              <a:rPr lang="zh-CN" altLang="en-US" sz="1600">
                <a:sym typeface="+mn-ea"/>
              </a:rPr>
              <a:t>独立探索出推理技术路线</a:t>
            </a:r>
            <a:endParaRPr lang="zh-CN" altLang="en-US" sz="1600"/>
          </a:p>
          <a:p>
            <a:r>
              <a:rPr lang="zh-CN" altLang="en-US" sz="1600">
                <a:sym typeface="+mn-ea"/>
              </a:rPr>
              <a:t>将技术路线公开发布</a:t>
            </a:r>
            <a:r>
              <a:rPr lang="en-US" altLang="zh-CN" sz="1600">
                <a:sym typeface="+mn-ea"/>
              </a:rPr>
              <a:t>(</a:t>
            </a:r>
            <a:r>
              <a:rPr lang="zh-CN" altLang="en-US" sz="1600">
                <a:sym typeface="+mn-ea"/>
              </a:rPr>
              <a:t>解惑了业内的</a:t>
            </a:r>
            <a:r>
              <a:rPr lang="en-US" altLang="zh-CN" sz="1600">
                <a:sym typeface="+mn-ea"/>
              </a:rPr>
              <a:t>“</a:t>
            </a:r>
            <a:r>
              <a:rPr lang="zh-CN" altLang="en-US" sz="1600">
                <a:sym typeface="+mn-ea"/>
              </a:rPr>
              <a:t>不知</a:t>
            </a:r>
            <a:r>
              <a:rPr lang="en-US" altLang="zh-CN" sz="1600">
                <a:sym typeface="+mn-ea"/>
              </a:rPr>
              <a:t>”)</a:t>
            </a:r>
            <a:endParaRPr lang="en-US" altLang="zh-CN" sz="1600"/>
          </a:p>
          <a:p>
            <a:r>
              <a:rPr lang="zh-CN" altLang="en-US" sz="1600">
                <a:sym typeface="+mn-ea"/>
              </a:rPr>
              <a:t>模型开源</a:t>
            </a:r>
            <a:r>
              <a:rPr lang="en-US" altLang="zh-CN" sz="1600">
                <a:sym typeface="+mn-ea"/>
              </a:rPr>
              <a:t>(MIT License)</a:t>
            </a:r>
            <a:r>
              <a:rPr lang="zh-CN" altLang="en-US" sz="1600">
                <a:sym typeface="+mn-ea"/>
              </a:rPr>
              <a:t>。</a:t>
            </a:r>
            <a:endParaRPr lang="zh-CN" altLang="en-US" sz="1600"/>
          </a:p>
          <a:p>
            <a:pPr marL="0" indent="0">
              <a:buNone/>
            </a:pPr>
            <a:r>
              <a:rPr lang="en-US" altLang="zh-CN" sz="1600">
                <a:sym typeface="+mn-ea"/>
              </a:rPr>
              <a:t>DeepSeek R1</a:t>
            </a:r>
            <a:r>
              <a:rPr lang="zh-CN" altLang="en-US" sz="1600">
                <a:solidFill>
                  <a:srgbClr val="FF0000"/>
                </a:solidFill>
                <a:sym typeface="+mn-ea"/>
              </a:rPr>
              <a:t>打破了</a:t>
            </a:r>
            <a:r>
              <a:rPr lang="zh-CN" altLang="en-US" sz="1600">
                <a:sym typeface="+mn-ea"/>
              </a:rPr>
              <a:t>美国第一梯队企业以闭源形成的技术</a:t>
            </a:r>
            <a:r>
              <a:rPr lang="zh-CN" altLang="en-US" sz="1600">
                <a:solidFill>
                  <a:srgbClr val="FF0000"/>
                </a:solidFill>
                <a:sym typeface="+mn-ea"/>
              </a:rPr>
              <a:t>护城河</a:t>
            </a:r>
            <a:r>
              <a:rPr lang="zh-CN" altLang="en-US" sz="1600">
                <a:sym typeface="+mn-ea"/>
              </a:rPr>
              <a:t>，进一步</a:t>
            </a:r>
            <a:r>
              <a:rPr lang="zh-CN" altLang="en-US" sz="1600">
                <a:solidFill>
                  <a:srgbClr val="FF0000"/>
                </a:solidFill>
                <a:sym typeface="+mn-ea"/>
              </a:rPr>
              <a:t>动摇了美国的</a:t>
            </a:r>
            <a:r>
              <a:rPr lang="en-US" altLang="zh-CN" sz="1600">
                <a:solidFill>
                  <a:srgbClr val="FF0000"/>
                </a:solidFill>
                <a:sym typeface="+mn-ea"/>
              </a:rPr>
              <a:t>“Al Dominance“</a:t>
            </a:r>
            <a:endParaRPr lang="en-US" altLang="zh-CN" sz="1600">
              <a:solidFill>
                <a:srgbClr val="FF0000"/>
              </a:solidFill>
              <a:sym typeface="+mn-ea"/>
            </a:endParaRPr>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7" name="文本框 6"/>
          <p:cNvSpPr txBox="1"/>
          <p:nvPr/>
        </p:nvSpPr>
        <p:spPr>
          <a:xfrm>
            <a:off x="697865" y="823595"/>
            <a:ext cx="4572000" cy="368300"/>
          </a:xfrm>
          <a:prstGeom prst="rect">
            <a:avLst/>
          </a:prstGeom>
          <a:noFill/>
        </p:spPr>
        <p:txBody>
          <a:bodyPr wrap="square" rtlCol="0" anchor="t">
            <a:spAutoFit/>
          </a:bodyPr>
          <a:p>
            <a:r>
              <a:rPr lang="en-US" altLang="zh-CN"/>
              <a:t>DeepSeek:</a:t>
            </a:r>
            <a:r>
              <a:rPr lang="zh-CN" altLang="en-US"/>
              <a:t>技术创新</a:t>
            </a:r>
            <a:r>
              <a:rPr lang="en-US" altLang="zh-CN"/>
              <a:t>--</a:t>
            </a:r>
            <a:r>
              <a:rPr lang="zh-CN" altLang="en-US"/>
              <a:t>创新程度</a:t>
            </a:r>
            <a:endParaRPr lang="zh-CN" altLang="en-US"/>
          </a:p>
        </p:txBody>
      </p:sp>
      <p:sp>
        <p:nvSpPr>
          <p:cNvPr id="9" name="标题 1"/>
          <p:cNvSpPr>
            <a:spLocks noGrp="1"/>
          </p:cNvSpPr>
          <p:nvPr/>
        </p:nvSpPr>
        <p:spPr>
          <a:xfrm>
            <a:off x="1094321" y="0"/>
            <a:ext cx="7763929" cy="828913"/>
          </a:xfrm>
          <a:prstGeom prst="rect">
            <a:avLst/>
          </a:prstGeom>
        </p:spPr>
        <p:txBody>
          <a:bodyPr vert="horz" lIns="91440" tIns="45720" rIns="91440" bIns="45720" rtlCol="0" anchor="ctr">
            <a:normAutofit/>
          </a:bodyPr>
          <a:lst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a:lstStyle>
          <a:p>
            <a:r>
              <a:rPr lang="zh-CN" altLang="en-US"/>
              <a:t>思政小课堂</a:t>
            </a:r>
            <a:endParaRPr lang="zh-CN"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3899535" y="3656330"/>
            <a:ext cx="1911985" cy="851535"/>
          </a:xfrm>
        </p:spPr>
        <p:txBody>
          <a:bodyPr>
            <a:normAutofit fontScale="60000"/>
          </a:bodyPr>
          <a:p>
            <a:r>
              <a:rPr lang="zh-CN" altLang="en-US"/>
              <a:t>算力价格战</a:t>
            </a:r>
            <a:endParaRPr lang="zh-CN" altLang="en-US"/>
          </a:p>
          <a:p>
            <a:r>
              <a:rPr lang="zh-CN" altLang="en-US"/>
              <a:t>开源</a:t>
            </a:r>
            <a:r>
              <a:rPr lang="en-US" altLang="zh-CN"/>
              <a:t>vs</a:t>
            </a:r>
            <a:r>
              <a:rPr lang="zh-CN" altLang="en-US"/>
              <a:t>闭源</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8" name="图片 7"/>
          <p:cNvPicPr>
            <a:picLocks noChangeAspect="1"/>
          </p:cNvPicPr>
          <p:nvPr/>
        </p:nvPicPr>
        <p:blipFill>
          <a:blip r:embed="rId1"/>
          <a:stretch>
            <a:fillRect/>
          </a:stretch>
        </p:blipFill>
        <p:spPr>
          <a:xfrm>
            <a:off x="19685" y="828675"/>
            <a:ext cx="9124315" cy="2827655"/>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思政小课堂</a:t>
            </a:r>
            <a:endParaRPr lang="zh-CN" altLang="en-US"/>
          </a:p>
        </p:txBody>
      </p:sp>
      <p:sp>
        <p:nvSpPr>
          <p:cNvPr id="1064" name="textbox 1064"/>
          <p:cNvSpPr/>
          <p:nvPr/>
        </p:nvSpPr>
        <p:spPr>
          <a:xfrm>
            <a:off x="0" y="1299210"/>
            <a:ext cx="9144000" cy="2033905"/>
          </a:xfrm>
          <a:prstGeom prst="rect">
            <a:avLst/>
          </a:prstGeom>
          <a:solidFill>
            <a:srgbClr val="0070BF">
              <a:alpha val="99607"/>
            </a:srgbClr>
          </a:solidFill>
          <a:ln w="0" cap="flat">
            <a:noFill/>
            <a:prstDash val="solid"/>
            <a:miter lim="0"/>
          </a:ln>
        </p:spPr>
        <p:txBody>
          <a:bodyPr vert="horz" wrap="square" lIns="0" tIns="0" rIns="0" bIns="0"/>
          <a:p>
            <a:pPr algn="l" rtl="0" eaLnBrk="0">
              <a:lnSpc>
                <a:spcPct val="103000"/>
              </a:lnSpc>
            </a:pPr>
            <a:endParaRPr sz="600" dirty="0">
              <a:latin typeface="Arial" panose="020B0604020202020204"/>
              <a:ea typeface="Arial" panose="020B0604020202020204"/>
              <a:cs typeface="Arial" panose="020B0604020202020204"/>
            </a:endParaRPr>
          </a:p>
          <a:p>
            <a:pPr marL="274320" indent="269240" algn="l" rtl="0" eaLnBrk="0">
              <a:lnSpc>
                <a:spcPct val="101000"/>
              </a:lnSpc>
            </a:pPr>
            <a:r>
              <a:rPr sz="24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作为新时代的青年学子</a:t>
            </a:r>
            <a:r>
              <a:rPr sz="2400" kern="0" spc="-2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2400" kern="0" spc="-3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肩负着实现中华民族伟大复兴的历史使命。</a:t>
            </a:r>
            <a:r>
              <a:rPr sz="2400" kern="0" spc="-3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通过学习和掌握先进的科技知识</a:t>
            </a:r>
            <a:r>
              <a:rPr sz="2400" kern="0" spc="-2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2400" kern="0" spc="-33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为国家的</a:t>
            </a:r>
            <a:r>
              <a:rPr sz="24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科技进步和经济发展贡献</a:t>
            </a:r>
            <a:r>
              <a:rPr sz="2400"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自己的力量。</a:t>
            </a:r>
            <a:r>
              <a:rPr sz="2400" kern="0" spc="-25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因此</a:t>
            </a:r>
            <a:r>
              <a:rPr sz="2400" kern="0" spc="-2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2400" kern="0" spc="-3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我们更应该树立正确的价值观</a:t>
            </a:r>
            <a:r>
              <a:rPr sz="2400" kern="0" spc="-2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sz="2400" kern="0" spc="-2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2400" kern="0" spc="-35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时刻具有危机意识、</a:t>
            </a:r>
            <a:r>
              <a:rPr sz="2400" kern="0" spc="-3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爱国情怀和使命担当</a:t>
            </a:r>
            <a:r>
              <a:rPr sz="2400" kern="0" spc="-1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2400"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，为国家的科技进步和民族复兴贡献自己的力量。</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5778" y="1024196"/>
            <a:ext cx="7863795" cy="2517775"/>
          </a:xfrm>
          <a:prstGeom prst="rect">
            <a:avLst/>
          </a:prstGeom>
        </p:spPr>
        <p:txBody>
          <a:bodyPr wrap="square">
            <a:spAutoFit/>
          </a:bodyPr>
          <a:lstStyle/>
          <a:p>
            <a:pPr marL="342900" indent="-342900">
              <a:spcBef>
                <a:spcPts val="400"/>
              </a:spcBef>
              <a:buFont typeface="Arial" panose="020B0604020202020204" pitchFamily="34" charset="0"/>
              <a:buChar char="•"/>
            </a:pPr>
            <a:r>
              <a:rPr lang="zh-CN" altLang="en-US" sz="2400" b="1" dirty="0" smtClean="0">
                <a:latin typeface="+mj-ea"/>
                <a:ea typeface="+mj-ea"/>
              </a:rPr>
              <a:t>软件概念、特点</a:t>
            </a:r>
            <a:endParaRPr lang="zh-CN" altLang="en-US" sz="2400" b="1" dirty="0" smtClean="0">
              <a:latin typeface="+mj-ea"/>
              <a:ea typeface="+mj-ea"/>
            </a:endParaRPr>
          </a:p>
          <a:p>
            <a:pPr marL="342900" indent="-342900">
              <a:spcBef>
                <a:spcPts val="400"/>
              </a:spcBef>
              <a:buFont typeface="Arial" panose="020B0604020202020204" pitchFamily="34" charset="0"/>
              <a:buChar char="•"/>
            </a:pPr>
            <a:r>
              <a:rPr lang="zh-CN" altLang="en-US" sz="2400" b="1" dirty="0" smtClean="0">
                <a:latin typeface="+mj-ea"/>
                <a:ea typeface="+mj-ea"/>
              </a:rPr>
              <a:t>软件工程</a:t>
            </a:r>
            <a:endParaRPr lang="zh-CN" altLang="en-US" sz="2400" b="1" dirty="0" smtClean="0">
              <a:latin typeface="+mj-ea"/>
              <a:ea typeface="+mj-ea"/>
            </a:endParaRPr>
          </a:p>
          <a:p>
            <a:pPr indent="0">
              <a:spcBef>
                <a:spcPts val="400"/>
              </a:spcBef>
              <a:buFont typeface="Arial" panose="020B0604020202020204" pitchFamily="34" charset="0"/>
              <a:buNone/>
            </a:pPr>
            <a:r>
              <a:rPr lang="en-US" altLang="ko-KR" sz="2400" b="1" dirty="0">
                <a:latin typeface="+mj-ea"/>
                <a:ea typeface="+mj-ea"/>
                <a:sym typeface="+mn-ea"/>
              </a:rPr>
              <a:t>    </a:t>
            </a:r>
            <a:r>
              <a:rPr lang="zh-CN" altLang="en-US" sz="2400" dirty="0">
                <a:solidFill>
                  <a:srgbClr val="FF0000"/>
                </a:solidFill>
                <a:latin typeface="+mj-ea"/>
                <a:ea typeface="+mj-ea"/>
                <a:sym typeface="+mn-ea"/>
              </a:rPr>
              <a:t>概念</a:t>
            </a:r>
            <a:r>
              <a:rPr lang="zh-CN" altLang="en-US" sz="2400" dirty="0">
                <a:latin typeface="+mj-ea"/>
                <a:ea typeface="+mj-ea"/>
                <a:sym typeface="+mn-ea"/>
              </a:rPr>
              <a:t>、发展、</a:t>
            </a:r>
            <a:r>
              <a:rPr lang="zh-CN" altLang="en-US" sz="2400" dirty="0">
                <a:solidFill>
                  <a:srgbClr val="FF0000"/>
                </a:solidFill>
                <a:latin typeface="+mj-ea"/>
                <a:ea typeface="+mj-ea"/>
                <a:sym typeface="+mn-ea"/>
              </a:rPr>
              <a:t>三</a:t>
            </a:r>
            <a:r>
              <a:rPr lang="zh-CN" altLang="en-US" sz="2400" dirty="0" smtClean="0">
                <a:solidFill>
                  <a:srgbClr val="FF0000"/>
                </a:solidFill>
                <a:latin typeface="+mj-ea"/>
                <a:ea typeface="+mj-ea"/>
                <a:sym typeface="+mn-ea"/>
              </a:rPr>
              <a:t>要素</a:t>
            </a:r>
            <a:endParaRPr lang="zh-CN" altLang="en-US" sz="2400" b="1" dirty="0" smtClean="0">
              <a:latin typeface="+mj-ea"/>
              <a:ea typeface="+mj-ea"/>
            </a:endParaRPr>
          </a:p>
          <a:p>
            <a:pPr marL="342900" indent="-342900">
              <a:spcBef>
                <a:spcPts val="400"/>
              </a:spcBef>
              <a:buFont typeface="Arial" panose="020B0604020202020204" pitchFamily="34" charset="0"/>
              <a:buChar char="•"/>
            </a:pPr>
            <a:r>
              <a:rPr lang="zh-CN" altLang="en-US" sz="2400" b="1" dirty="0" smtClean="0">
                <a:latin typeface="+mj-ea"/>
                <a:ea typeface="+mj-ea"/>
              </a:rPr>
              <a:t>软件质量</a:t>
            </a:r>
            <a:endParaRPr lang="en-US" altLang="ko-KR" sz="2400" b="1" dirty="0">
              <a:latin typeface="+mj-ea"/>
              <a:ea typeface="+mj-ea"/>
            </a:endParaRPr>
          </a:p>
          <a:p>
            <a:pPr>
              <a:spcBef>
                <a:spcPts val="400"/>
              </a:spcBef>
              <a:spcAft>
                <a:spcPts val="600"/>
              </a:spcAft>
              <a:buFontTx/>
              <a:buNone/>
            </a:pPr>
            <a:endParaRPr lang="en-US" altLang="zh-CN" sz="2000" dirty="0" smtClean="0">
              <a:solidFill>
                <a:srgbClr val="FF0000"/>
              </a:solidFill>
              <a:latin typeface="+mj-ea"/>
              <a:ea typeface="+mj-ea"/>
            </a:endParaRPr>
          </a:p>
          <a:p>
            <a:pPr indent="0">
              <a:spcBef>
                <a:spcPts val="400"/>
              </a:spcBef>
              <a:buFont typeface="Arial" panose="020B0604020202020204" pitchFamily="34" charset="0"/>
              <a:buNone/>
            </a:pPr>
            <a:endParaRPr lang="en-US" altLang="ko-KR" sz="2000" b="1" dirty="0">
              <a:solidFill>
                <a:srgbClr val="C00000"/>
              </a:solidFill>
              <a:latin typeface="+mj-ea"/>
              <a:ea typeface="+mj-ea"/>
            </a:endParaRPr>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本课</a:t>
            </a:r>
            <a:r>
              <a:rPr lang="zh-CN" altLang="en-US" kern="100" dirty="0" smtClean="0">
                <a:latin typeface="+mn-ea"/>
                <a:cs typeface="Times New Roman" panose="02020603050405020304" pitchFamily="18" charset="0"/>
              </a:rPr>
              <a:t>小结</a:t>
            </a:r>
            <a:endParaRPr lang="zh-CN" altLang="en-US" dirty="0"/>
          </a:p>
        </p:txBody>
      </p:sp>
      <p:sp>
        <p:nvSpPr>
          <p:cNvPr id="6" name="日期占位符 5"/>
          <p:cNvSpPr>
            <a:spLocks noGrp="1"/>
          </p:cNvSpPr>
          <p:nvPr>
            <p:ph type="dt" sz="half" idx="10"/>
          </p:nvPr>
        </p:nvSpPr>
        <p:spPr/>
        <p:txBody>
          <a:bodyPr/>
          <a:lstStyle/>
          <a:p>
            <a:fld id="{1DDEE44E-7DE0-40A9-9871-6103FC3C9129}"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9" name="Group 6"/>
          <p:cNvGrpSpPr/>
          <p:nvPr/>
        </p:nvGrpSpPr>
        <p:grpSpPr>
          <a:xfrm>
            <a:off x="5220998" y="1111665"/>
            <a:ext cx="3477017" cy="3542780"/>
            <a:chOff x="3827463" y="1565275"/>
            <a:chExt cx="1195388" cy="1271588"/>
          </a:xfrm>
          <a:solidFill>
            <a:srgbClr val="92D050"/>
          </a:solidFill>
        </p:grpSpPr>
        <p:sp>
          <p:nvSpPr>
            <p:cNvPr id="10"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1"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2"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3"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4"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5"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6"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7"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8"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9"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0"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1"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2"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3"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4"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5"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6"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7"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8"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9"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0"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1"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2"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3"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4"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5"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6"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7"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gr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课后作业</a:t>
            </a:r>
            <a:endParaRPr lang="zh-CN" altLang="en-US" dirty="0"/>
          </a:p>
        </p:txBody>
      </p:sp>
      <p:sp>
        <p:nvSpPr>
          <p:cNvPr id="3" name="内容占位符 2"/>
          <p:cNvSpPr>
            <a:spLocks noGrp="1"/>
          </p:cNvSpPr>
          <p:nvPr>
            <p:ph idx="1"/>
          </p:nvPr>
        </p:nvSpPr>
        <p:spPr>
          <a:xfrm>
            <a:off x="994410" y="915025"/>
            <a:ext cx="7640810" cy="3679835"/>
          </a:xfrm>
        </p:spPr>
        <p:txBody>
          <a:bodyPr>
            <a:normAutofit lnSpcReduction="10000"/>
          </a:bodyPr>
          <a:lstStyle/>
          <a:p>
            <a:pPr>
              <a:lnSpc>
                <a:spcPct val="120000"/>
              </a:lnSpc>
              <a:spcBef>
                <a:spcPts val="1200"/>
              </a:spcBef>
              <a:spcAft>
                <a:spcPts val="0"/>
              </a:spcAft>
            </a:pPr>
            <a:r>
              <a:rPr lang="zh-CN" altLang="en-US" dirty="0" smtClean="0">
                <a:latin typeface="+mj-ea"/>
                <a:ea typeface="+mj-ea"/>
              </a:rPr>
              <a:t>完成课程项目分组和选定课题工作</a:t>
            </a:r>
            <a:endParaRPr lang="en-US" altLang="zh-CN" dirty="0" smtClean="0">
              <a:latin typeface="+mj-ea"/>
              <a:ea typeface="+mj-ea"/>
            </a:endParaRPr>
          </a:p>
          <a:p>
            <a:pPr>
              <a:lnSpc>
                <a:spcPct val="120000"/>
              </a:lnSpc>
              <a:spcBef>
                <a:spcPts val="1200"/>
              </a:spcBef>
              <a:spcAft>
                <a:spcPts val="0"/>
              </a:spcAft>
            </a:pPr>
            <a:r>
              <a:rPr lang="zh-CN" altLang="en-US" dirty="0" smtClean="0">
                <a:latin typeface="+mj-ea"/>
                <a:ea typeface="+mj-ea"/>
              </a:rPr>
              <a:t>集体讨论所选课题的功能需求</a:t>
            </a:r>
            <a:endParaRPr lang="en-US" altLang="zh-CN" dirty="0" smtClean="0">
              <a:latin typeface="+mj-ea"/>
              <a:ea typeface="+mj-ea"/>
            </a:endParaRPr>
          </a:p>
          <a:p>
            <a:pPr>
              <a:lnSpc>
                <a:spcPct val="120000"/>
              </a:lnSpc>
              <a:spcBef>
                <a:spcPts val="1200"/>
              </a:spcBef>
              <a:spcAft>
                <a:spcPts val="0"/>
              </a:spcAft>
            </a:pPr>
            <a:r>
              <a:rPr lang="zh-CN" altLang="en-US" dirty="0" smtClean="0">
                <a:latin typeface="+mj-ea"/>
                <a:ea typeface="+mj-ea"/>
              </a:rPr>
              <a:t>确定开发技术及工具</a:t>
            </a:r>
            <a:endParaRPr lang="en-US" altLang="zh-CN" dirty="0" smtClean="0">
              <a:latin typeface="+mj-ea"/>
              <a:ea typeface="+mj-ea"/>
            </a:endParaRPr>
          </a:p>
          <a:p>
            <a:pPr>
              <a:lnSpc>
                <a:spcPct val="120000"/>
              </a:lnSpc>
              <a:spcBef>
                <a:spcPts val="1200"/>
              </a:spcBef>
              <a:spcAft>
                <a:spcPts val="0"/>
              </a:spcAft>
            </a:pPr>
            <a:r>
              <a:rPr lang="zh-CN" altLang="en-US" dirty="0" smtClean="0">
                <a:latin typeface="+mj-ea"/>
                <a:ea typeface="+mj-ea"/>
              </a:rPr>
              <a:t>学习相关技术</a:t>
            </a:r>
            <a:endParaRPr lang="en-US" altLang="zh-CN" dirty="0" smtClean="0">
              <a:latin typeface="+mj-ea"/>
              <a:ea typeface="+mj-ea"/>
            </a:endParaRPr>
          </a:p>
          <a:p>
            <a:pPr>
              <a:lnSpc>
                <a:spcPct val="120000"/>
              </a:lnSpc>
              <a:spcBef>
                <a:spcPts val="1200"/>
              </a:spcBef>
              <a:spcAft>
                <a:spcPts val="0"/>
              </a:spcAft>
            </a:pPr>
            <a:r>
              <a:rPr lang="zh-CN" altLang="en-US" dirty="0" smtClean="0">
                <a:solidFill>
                  <a:srgbClr val="C00000"/>
                </a:solidFill>
                <a:latin typeface="+mj-ea"/>
                <a:ea typeface="+mj-ea"/>
              </a:rPr>
              <a:t>制定项目开发计划</a:t>
            </a:r>
            <a:endParaRPr lang="en-US" altLang="zh-CN" dirty="0" smtClean="0">
              <a:solidFill>
                <a:srgbClr val="C00000"/>
              </a:solidFill>
              <a:latin typeface="+mj-ea"/>
              <a:ea typeface="+mj-ea"/>
            </a:endParaRPr>
          </a:p>
          <a:p>
            <a:pPr>
              <a:lnSpc>
                <a:spcPct val="120000"/>
              </a:lnSpc>
              <a:spcBef>
                <a:spcPts val="1200"/>
              </a:spcBef>
              <a:spcAft>
                <a:spcPts val="0"/>
              </a:spcAft>
            </a:pPr>
            <a:r>
              <a:rPr lang="zh-CN" altLang="en-US" dirty="0" smtClean="0">
                <a:solidFill>
                  <a:srgbClr val="C00000"/>
                </a:solidFill>
                <a:latin typeface="+mj-ea"/>
                <a:ea typeface="+mj-ea"/>
              </a:rPr>
              <a:t>做课后作业题</a:t>
            </a:r>
            <a:endParaRPr lang="zh-CN" altLang="en-US" dirty="0">
              <a:solidFill>
                <a:srgbClr val="C00000"/>
              </a:solidFill>
              <a:latin typeface="+mj-ea"/>
              <a:ea typeface="+mj-ea"/>
            </a:endParaRPr>
          </a:p>
        </p:txBody>
      </p:sp>
      <p:sp>
        <p:nvSpPr>
          <p:cNvPr id="4" name="日期占位符 3"/>
          <p:cNvSpPr>
            <a:spLocks noGrp="1"/>
          </p:cNvSpPr>
          <p:nvPr>
            <p:ph type="dt" sz="half" idx="10"/>
          </p:nvPr>
        </p:nvSpPr>
        <p:spPr/>
        <p:txBody>
          <a:bodyPr/>
          <a:lstStyle/>
          <a:p>
            <a:fld id="{B0867B40-A970-4AEE-9397-B535FF2A269E}"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12" name="组合 11"/>
          <p:cNvGrpSpPr/>
          <p:nvPr/>
        </p:nvGrpSpPr>
        <p:grpSpPr>
          <a:xfrm>
            <a:off x="5263702" y="3185050"/>
            <a:ext cx="3579826" cy="1195001"/>
            <a:chOff x="5108254" y="3464363"/>
            <a:chExt cx="3579826" cy="1195001"/>
          </a:xfrm>
        </p:grpSpPr>
        <p:grpSp>
          <p:nvGrpSpPr>
            <p:cNvPr id="7" name="组合 6"/>
            <p:cNvGrpSpPr/>
            <p:nvPr/>
          </p:nvGrpSpPr>
          <p:grpSpPr>
            <a:xfrm>
              <a:off x="6397131" y="3464363"/>
              <a:ext cx="1246832" cy="1195001"/>
              <a:chOff x="6748464" y="1557338"/>
              <a:chExt cx="687388" cy="658813"/>
            </a:xfrm>
          </p:grpSpPr>
          <p:sp>
            <p:nvSpPr>
              <p:cNvPr id="8" name="Oval 80"/>
              <p:cNvSpPr>
                <a:spLocks noChangeArrowheads="1"/>
              </p:cNvSpPr>
              <p:nvPr/>
            </p:nvSpPr>
            <p:spPr bwMode="auto">
              <a:xfrm>
                <a:off x="6834189" y="1557338"/>
                <a:ext cx="112713" cy="111125"/>
              </a:xfrm>
              <a:prstGeom prst="ellipse">
                <a:avLst/>
              </a:prstGeom>
              <a:solidFill>
                <a:schemeClr val="tx1">
                  <a:lumMod val="65000"/>
                  <a:lumOff val="3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81"/>
              <p:cNvSpPr/>
              <p:nvPr/>
            </p:nvSpPr>
            <p:spPr bwMode="auto">
              <a:xfrm>
                <a:off x="6748464" y="1633538"/>
                <a:ext cx="552450" cy="582613"/>
              </a:xfrm>
              <a:custGeom>
                <a:avLst/>
                <a:gdLst>
                  <a:gd name="T0" fmla="*/ 187 w 339"/>
                  <a:gd name="T1" fmla="*/ 40 h 358"/>
                  <a:gd name="T2" fmla="*/ 93 w 339"/>
                  <a:gd name="T3" fmla="*/ 54 h 358"/>
                  <a:gd name="T4" fmla="*/ 49 w 339"/>
                  <a:gd name="T5" fmla="*/ 121 h 358"/>
                  <a:gd name="T6" fmla="*/ 68 w 339"/>
                  <a:gd name="T7" fmla="*/ 59 h 358"/>
                  <a:gd name="T8" fmla="*/ 46 w 339"/>
                  <a:gd name="T9" fmla="*/ 47 h 358"/>
                  <a:gd name="T10" fmla="*/ 16 w 339"/>
                  <a:gd name="T11" fmla="*/ 96 h 358"/>
                  <a:gd name="T12" fmla="*/ 27 w 339"/>
                  <a:gd name="T13" fmla="*/ 161 h 358"/>
                  <a:gd name="T14" fmla="*/ 87 w 339"/>
                  <a:gd name="T15" fmla="*/ 141 h 358"/>
                  <a:gd name="T16" fmla="*/ 119 w 339"/>
                  <a:gd name="T17" fmla="*/ 103 h 358"/>
                  <a:gd name="T18" fmla="*/ 164 w 339"/>
                  <a:gd name="T19" fmla="*/ 141 h 358"/>
                  <a:gd name="T20" fmla="*/ 175 w 339"/>
                  <a:gd name="T21" fmla="*/ 172 h 358"/>
                  <a:gd name="T22" fmla="*/ 76 w 339"/>
                  <a:gd name="T23" fmla="*/ 242 h 358"/>
                  <a:gd name="T24" fmla="*/ 65 w 339"/>
                  <a:gd name="T25" fmla="*/ 357 h 358"/>
                  <a:gd name="T26" fmla="*/ 95 w 339"/>
                  <a:gd name="T27" fmla="*/ 358 h 358"/>
                  <a:gd name="T28" fmla="*/ 119 w 339"/>
                  <a:gd name="T29" fmla="*/ 263 h 358"/>
                  <a:gd name="T30" fmla="*/ 201 w 339"/>
                  <a:gd name="T31" fmla="*/ 227 h 358"/>
                  <a:gd name="T32" fmla="*/ 231 w 339"/>
                  <a:gd name="T33" fmla="*/ 303 h 358"/>
                  <a:gd name="T34" fmla="*/ 321 w 339"/>
                  <a:gd name="T35" fmla="*/ 358 h 358"/>
                  <a:gd name="T36" fmla="*/ 339 w 339"/>
                  <a:gd name="T37" fmla="*/ 331 h 358"/>
                  <a:gd name="T38" fmla="*/ 271 w 339"/>
                  <a:gd name="T39" fmla="*/ 275 h 358"/>
                  <a:gd name="T40" fmla="*/ 279 w 339"/>
                  <a:gd name="T41" fmla="*/ 195 h 358"/>
                  <a:gd name="T42" fmla="*/ 187 w 339"/>
                  <a:gd name="T43" fmla="*/ 40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9" h="358">
                    <a:moveTo>
                      <a:pt x="187" y="40"/>
                    </a:moveTo>
                    <a:cubicBezTo>
                      <a:pt x="187" y="40"/>
                      <a:pt x="131" y="0"/>
                      <a:pt x="93" y="54"/>
                    </a:cubicBezTo>
                    <a:cubicBezTo>
                      <a:pt x="49" y="121"/>
                      <a:pt x="49" y="121"/>
                      <a:pt x="49" y="121"/>
                    </a:cubicBezTo>
                    <a:cubicBezTo>
                      <a:pt x="68" y="59"/>
                      <a:pt x="68" y="59"/>
                      <a:pt x="68" y="59"/>
                    </a:cubicBezTo>
                    <a:cubicBezTo>
                      <a:pt x="46" y="47"/>
                      <a:pt x="46" y="47"/>
                      <a:pt x="46" y="47"/>
                    </a:cubicBezTo>
                    <a:cubicBezTo>
                      <a:pt x="46" y="47"/>
                      <a:pt x="23" y="81"/>
                      <a:pt x="16" y="96"/>
                    </a:cubicBezTo>
                    <a:cubicBezTo>
                      <a:pt x="10" y="110"/>
                      <a:pt x="0" y="146"/>
                      <a:pt x="27" y="161"/>
                    </a:cubicBezTo>
                    <a:cubicBezTo>
                      <a:pt x="54" y="178"/>
                      <a:pt x="79" y="150"/>
                      <a:pt x="87" y="141"/>
                    </a:cubicBezTo>
                    <a:cubicBezTo>
                      <a:pt x="96" y="133"/>
                      <a:pt x="119" y="103"/>
                      <a:pt x="119" y="103"/>
                    </a:cubicBezTo>
                    <a:cubicBezTo>
                      <a:pt x="119" y="103"/>
                      <a:pt x="142" y="108"/>
                      <a:pt x="164" y="141"/>
                    </a:cubicBezTo>
                    <a:cubicBezTo>
                      <a:pt x="173" y="156"/>
                      <a:pt x="175" y="172"/>
                      <a:pt x="175" y="172"/>
                    </a:cubicBezTo>
                    <a:cubicBezTo>
                      <a:pt x="76" y="242"/>
                      <a:pt x="76" y="242"/>
                      <a:pt x="76" y="242"/>
                    </a:cubicBezTo>
                    <a:cubicBezTo>
                      <a:pt x="65" y="357"/>
                      <a:pt x="65" y="357"/>
                      <a:pt x="65" y="357"/>
                    </a:cubicBezTo>
                    <a:cubicBezTo>
                      <a:pt x="95" y="358"/>
                      <a:pt x="95" y="358"/>
                      <a:pt x="95" y="358"/>
                    </a:cubicBezTo>
                    <a:cubicBezTo>
                      <a:pt x="119" y="263"/>
                      <a:pt x="119" y="263"/>
                      <a:pt x="119" y="263"/>
                    </a:cubicBezTo>
                    <a:cubicBezTo>
                      <a:pt x="201" y="227"/>
                      <a:pt x="201" y="227"/>
                      <a:pt x="201" y="227"/>
                    </a:cubicBezTo>
                    <a:cubicBezTo>
                      <a:pt x="231" y="303"/>
                      <a:pt x="231" y="303"/>
                      <a:pt x="231" y="303"/>
                    </a:cubicBezTo>
                    <a:cubicBezTo>
                      <a:pt x="321" y="358"/>
                      <a:pt x="321" y="358"/>
                      <a:pt x="321" y="358"/>
                    </a:cubicBezTo>
                    <a:cubicBezTo>
                      <a:pt x="339" y="331"/>
                      <a:pt x="339" y="331"/>
                      <a:pt x="339" y="331"/>
                    </a:cubicBezTo>
                    <a:cubicBezTo>
                      <a:pt x="271" y="275"/>
                      <a:pt x="271" y="275"/>
                      <a:pt x="271" y="275"/>
                    </a:cubicBezTo>
                    <a:cubicBezTo>
                      <a:pt x="279" y="195"/>
                      <a:pt x="279" y="195"/>
                      <a:pt x="279" y="195"/>
                    </a:cubicBezTo>
                    <a:cubicBezTo>
                      <a:pt x="279" y="195"/>
                      <a:pt x="294" y="99"/>
                      <a:pt x="187" y="40"/>
                    </a:cubicBezTo>
                    <a:close/>
                  </a:path>
                </a:pathLst>
              </a:custGeom>
              <a:solidFill>
                <a:schemeClr val="tx2">
                  <a:lumMod val="25000"/>
                  <a:lumOff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82"/>
              <p:cNvSpPr/>
              <p:nvPr/>
            </p:nvSpPr>
            <p:spPr bwMode="auto">
              <a:xfrm>
                <a:off x="7005639" y="1585913"/>
                <a:ext cx="430213" cy="327025"/>
              </a:xfrm>
              <a:custGeom>
                <a:avLst/>
                <a:gdLst>
                  <a:gd name="T0" fmla="*/ 0 w 264"/>
                  <a:gd name="T1" fmla="*/ 35 h 201"/>
                  <a:gd name="T2" fmla="*/ 132 w 264"/>
                  <a:gd name="T3" fmla="*/ 142 h 201"/>
                  <a:gd name="T4" fmla="*/ 200 w 264"/>
                  <a:gd name="T5" fmla="*/ 201 h 201"/>
                  <a:gd name="T6" fmla="*/ 217 w 264"/>
                  <a:gd name="T7" fmla="*/ 78 h 201"/>
                  <a:gd name="T8" fmla="*/ 0 w 264"/>
                  <a:gd name="T9" fmla="*/ 35 h 201"/>
                </a:gdLst>
                <a:ahLst/>
                <a:cxnLst>
                  <a:cxn ang="0">
                    <a:pos x="T0" y="T1"/>
                  </a:cxn>
                  <a:cxn ang="0">
                    <a:pos x="T2" y="T3"/>
                  </a:cxn>
                  <a:cxn ang="0">
                    <a:pos x="T4" y="T5"/>
                  </a:cxn>
                  <a:cxn ang="0">
                    <a:pos x="T6" y="T7"/>
                  </a:cxn>
                  <a:cxn ang="0">
                    <a:pos x="T8" y="T9"/>
                  </a:cxn>
                </a:cxnLst>
                <a:rect l="0" t="0" r="r" b="b"/>
                <a:pathLst>
                  <a:path w="264" h="201">
                    <a:moveTo>
                      <a:pt x="0" y="35"/>
                    </a:moveTo>
                    <a:cubicBezTo>
                      <a:pt x="0" y="35"/>
                      <a:pt x="81" y="44"/>
                      <a:pt x="132" y="142"/>
                    </a:cubicBezTo>
                    <a:cubicBezTo>
                      <a:pt x="132" y="142"/>
                      <a:pt x="156" y="201"/>
                      <a:pt x="200" y="201"/>
                    </a:cubicBezTo>
                    <a:cubicBezTo>
                      <a:pt x="244" y="201"/>
                      <a:pt x="264" y="136"/>
                      <a:pt x="217" y="78"/>
                    </a:cubicBezTo>
                    <a:cubicBezTo>
                      <a:pt x="169" y="18"/>
                      <a:pt x="78" y="0"/>
                      <a:pt x="0" y="35"/>
                    </a:cubicBezTo>
                    <a:close/>
                  </a:path>
                </a:pathLst>
              </a:custGeom>
              <a:solidFill>
                <a:srgbClr val="E4007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1" name="文本框 10"/>
            <p:cNvSpPr txBox="1"/>
            <p:nvPr/>
          </p:nvSpPr>
          <p:spPr>
            <a:xfrm>
              <a:off x="5108254" y="3539376"/>
              <a:ext cx="3579826" cy="769441"/>
            </a:xfrm>
            <a:prstGeom prst="rect">
              <a:avLst/>
            </a:prstGeom>
            <a:noFill/>
          </p:spPr>
          <p:txBody>
            <a:bodyPr wrap="none" rtlCol="0">
              <a:spAutoFit/>
            </a:bodyPr>
            <a:lstStyle/>
            <a:p>
              <a:r>
                <a:rPr lang="zh-CN" altLang="en-US" sz="4400" b="1" dirty="0" smtClean="0">
                  <a:solidFill>
                    <a:schemeClr val="accent1"/>
                  </a:solidFill>
                </a:rPr>
                <a:t>严禁抄袭剽窃</a:t>
              </a:r>
              <a:endParaRPr lang="zh-CN" altLang="en-US" sz="4400" b="1" dirty="0">
                <a:solidFill>
                  <a:schemeClr val="accent1"/>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F3DF2C6-2EA2-4C9B-BD5F-101B8F3B5F3B}"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KSO_WPP_MARK_KEY" val="c1a56755-7a4e-4dd4-a45a-b5cf36d9aec7"/>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13159</Words>
  <Application>WPS 演示</Application>
  <PresentationFormat>全屏显示(16:9)</PresentationFormat>
  <Paragraphs>1519</Paragraphs>
  <Slides>106</Slides>
  <Notes>40</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106</vt:i4>
      </vt:variant>
    </vt:vector>
  </HeadingPairs>
  <TitlesOfParts>
    <vt:vector size="130" baseType="lpstr">
      <vt:lpstr>Arial</vt:lpstr>
      <vt:lpstr>宋体</vt:lpstr>
      <vt:lpstr>Wingdings</vt:lpstr>
      <vt:lpstr>Wingdings 3</vt:lpstr>
      <vt:lpstr>微软雅黑</vt:lpstr>
      <vt:lpstr>华康俪金黑W8(P)</vt:lpstr>
      <vt:lpstr>黑体</vt:lpstr>
      <vt:lpstr>经典繁仿黑</vt:lpstr>
      <vt:lpstr>华文中宋</vt:lpstr>
      <vt:lpstr>Arial Narrow</vt:lpstr>
      <vt:lpstr>Wingdings</vt:lpstr>
      <vt:lpstr>Wingdings</vt:lpstr>
      <vt:lpstr>Arial Black</vt:lpstr>
      <vt:lpstr>Arial Unicode MS</vt:lpstr>
      <vt:lpstr>等线</vt:lpstr>
      <vt:lpstr>Arial</vt:lpstr>
      <vt:lpstr>굴림</vt:lpstr>
      <vt:lpstr>Malgun Gothic</vt:lpstr>
      <vt:lpstr>楷体_GB2312</vt:lpstr>
      <vt:lpstr>Tahoma</vt:lpstr>
      <vt:lpstr>Times New Roman</vt:lpstr>
      <vt:lpstr>新宋体</vt:lpstr>
      <vt:lpstr>等线 Light</vt:lpstr>
      <vt:lpstr>积分</vt:lpstr>
      <vt:lpstr>软件工程 概述</vt:lpstr>
      <vt:lpstr>PowerPoint 演示文稿</vt:lpstr>
      <vt:lpstr>第1章 软件工程概述——教学目标</vt:lpstr>
      <vt:lpstr>第1章 软件工程概述</vt:lpstr>
      <vt:lpstr>1.1 软件的概念及本质特性</vt:lpstr>
      <vt:lpstr>程序 vs. 软件</vt:lpstr>
      <vt:lpstr>软件：很多细节</vt:lpstr>
      <vt:lpstr>更多需求</vt:lpstr>
      <vt:lpstr>1.软件的概念</vt:lpstr>
      <vt:lpstr>调查：</vt:lpstr>
      <vt:lpstr>PowerPoint 演示文稿</vt:lpstr>
      <vt:lpstr>软件分类</vt:lpstr>
      <vt:lpstr>PowerPoint 演示文稿</vt:lpstr>
      <vt:lpstr>PowerPoint 演示文稿</vt:lpstr>
      <vt:lpstr>2.软件分类</vt:lpstr>
      <vt:lpstr>软件分类</vt:lpstr>
      <vt:lpstr>软件分类</vt:lpstr>
      <vt:lpstr>软件分类</vt:lpstr>
      <vt:lpstr>软件分类</vt:lpstr>
      <vt:lpstr>软件分类</vt:lpstr>
      <vt:lpstr>3.软件的特点</vt:lpstr>
      <vt:lpstr>软件的本质特性：复杂性</vt:lpstr>
      <vt:lpstr>软件的本质特性：复杂性</vt:lpstr>
      <vt:lpstr>软件的本质特性：复杂性 </vt:lpstr>
      <vt:lpstr>软件的本质特性：一致性</vt:lpstr>
      <vt:lpstr>软件的本质特性：可变性</vt:lpstr>
      <vt:lpstr>软件的本质特性：可变性</vt:lpstr>
      <vt:lpstr>软件的本质特性：不可见性</vt:lpstr>
      <vt:lpstr>3软件工程的产生与发展</vt:lpstr>
      <vt:lpstr>软件工程发展的特点</vt:lpstr>
      <vt:lpstr>软件工程发展的特点</vt:lpstr>
      <vt:lpstr>1.2 软件危机的概念</vt:lpstr>
      <vt:lpstr>软件危机的典型表现</vt:lpstr>
      <vt:lpstr>美国Standish集团的调查报告</vt:lpstr>
      <vt:lpstr>1. 软件危机的定义</vt:lpstr>
      <vt:lpstr>1. 软件危机的定义</vt:lpstr>
      <vt:lpstr>1. 软件危机的定义</vt:lpstr>
      <vt:lpstr>2. 软件危机产生的原因</vt:lpstr>
      <vt:lpstr>3.软件工程(学):解决软件危机的主要措施</vt:lpstr>
      <vt:lpstr>1.3探讨软件之道</vt:lpstr>
      <vt:lpstr>1.3 软件工程的概念</vt:lpstr>
      <vt:lpstr>1.软件工程概念</vt:lpstr>
      <vt:lpstr>软件工程的特性</vt:lpstr>
      <vt:lpstr>2.软件工程的基本原则</vt:lpstr>
      <vt:lpstr>3.软件工程项目的基本目标</vt:lpstr>
      <vt:lpstr>构建软件的不同目的</vt:lpstr>
      <vt:lpstr>软件工程和软件开发流程</vt:lpstr>
      <vt:lpstr>思考题</vt:lpstr>
      <vt:lpstr>1.4 软件工程知识体系</vt:lpstr>
      <vt:lpstr>软件工程知识体系</vt:lpstr>
      <vt:lpstr>软件工程的知识体系</vt:lpstr>
      <vt:lpstr>软件工程的知识体系</vt:lpstr>
      <vt:lpstr>软件工程的知识体系</vt:lpstr>
      <vt:lpstr>软件工程的知识体系</vt:lpstr>
      <vt:lpstr>软件工程的知识体系</vt:lpstr>
      <vt:lpstr>软件工程的知识体系</vt:lpstr>
      <vt:lpstr>软件工程的知识体系</vt:lpstr>
      <vt:lpstr>软件工程的知识体系</vt:lpstr>
      <vt:lpstr>软件工程的知识体系</vt:lpstr>
      <vt:lpstr>软件工程的知识体系</vt:lpstr>
      <vt:lpstr>1.5软件工程三要素</vt:lpstr>
      <vt:lpstr>软件工程三要素</vt:lpstr>
      <vt:lpstr>软件工程过程</vt:lpstr>
      <vt:lpstr>软件工程过程</vt:lpstr>
      <vt:lpstr>PowerPoint 演示文稿</vt:lpstr>
      <vt:lpstr>软件工程方法</vt:lpstr>
      <vt:lpstr>软件工程工具</vt:lpstr>
      <vt:lpstr>CASE工具和环境</vt:lpstr>
      <vt:lpstr>软件开发的基本策略</vt:lpstr>
      <vt:lpstr>软件开发的基本策略：软件复用</vt:lpstr>
      <vt:lpstr>软件开发的基本策略：分而治之</vt:lpstr>
      <vt:lpstr>软件开发的基本策略：逐步演进</vt:lpstr>
      <vt:lpstr>软件开发的基本策略：优化折中</vt:lpstr>
      <vt:lpstr>软件开发的基本策略：优化折中</vt:lpstr>
      <vt:lpstr>1.6 软件质量实现</vt:lpstr>
      <vt:lpstr>什么是好的软件</vt:lpstr>
      <vt:lpstr>1.什么是好的软件</vt:lpstr>
      <vt:lpstr>1.什么是好的软件</vt:lpstr>
      <vt:lpstr>什么是好的软件</vt:lpstr>
      <vt:lpstr>什么是好的软件</vt:lpstr>
      <vt:lpstr>产品质量维度</vt:lpstr>
      <vt:lpstr>产品质量维度</vt:lpstr>
      <vt:lpstr>2.软件质量度量：ISO9126质量模型</vt:lpstr>
      <vt:lpstr>2.软件质量度量</vt:lpstr>
      <vt:lpstr>ISO9126质量模型</vt:lpstr>
      <vt:lpstr>ISO9126质量模型</vt:lpstr>
      <vt:lpstr>ISO9126质量模型</vt:lpstr>
      <vt:lpstr>3.软件质量的实现</vt:lpstr>
      <vt:lpstr>实现软件质量</vt:lpstr>
      <vt:lpstr>实现软件质量</vt:lpstr>
      <vt:lpstr>3.软件质量的实现</vt:lpstr>
      <vt:lpstr>商业环境下的软件质量</vt:lpstr>
      <vt:lpstr>商业环境下的软件质量</vt:lpstr>
      <vt:lpstr>商业环境下的软件质量</vt:lpstr>
      <vt:lpstr>提高软件质量的方法</vt:lpstr>
      <vt:lpstr>1.7 软件工程职业道德</vt:lpstr>
      <vt:lpstr>思政小课堂</vt:lpstr>
      <vt:lpstr>思政小课堂</vt:lpstr>
      <vt:lpstr>思政小课堂</vt:lpstr>
      <vt:lpstr>思政小课堂</vt:lpstr>
      <vt:lpstr>PowerPoint 演示文稿</vt:lpstr>
      <vt:lpstr>PowerPoint 演示文稿</vt:lpstr>
      <vt:lpstr>思政小课堂</vt:lpstr>
      <vt:lpstr>本课小结</vt:lpstr>
      <vt:lpstr>课后作业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lingdang</cp:lastModifiedBy>
  <cp:revision>801</cp:revision>
  <dcterms:created xsi:type="dcterms:W3CDTF">2020-02-07T06:58:00Z</dcterms:created>
  <dcterms:modified xsi:type="dcterms:W3CDTF">2025-02-25T14:39:41Z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D14C2E4A57AA48BA8F9A4F276B394C4E_13</vt:lpwstr>
  </property>
  <property fmtid="{D5CDD505-2E9C-101B-9397-08002B2CF9AE}" pid="3" name="KSOProductBuildVer">
    <vt:lpwstr>2052-12.1.0.19770</vt:lpwstr>
  </property>
</Properties>
</file>