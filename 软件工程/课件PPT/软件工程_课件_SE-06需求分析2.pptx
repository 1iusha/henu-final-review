
<file path=[Content_Types].xml><?xml version="1.0" encoding="utf-8"?>
<Types xmlns="http://schemas.openxmlformats.org/package/2006/content-types">
  <Default Extension="png" ContentType="image/png"/>
  <Default Extension="wdp" ContentType="image/vnd.ms-photo"/>
  <Default Extension="wmf" ContentType="image/x-wmf"/>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31"/>
  </p:handoutMasterIdLst>
  <p:sldIdLst>
    <p:sldId id="256" r:id="rId3"/>
    <p:sldId id="387" r:id="rId5"/>
    <p:sldId id="257" r:id="rId6"/>
    <p:sldId id="294" r:id="rId7"/>
    <p:sldId id="584" r:id="rId8"/>
    <p:sldId id="671" r:id="rId9"/>
    <p:sldId id="672" r:id="rId10"/>
    <p:sldId id="554" r:id="rId11"/>
    <p:sldId id="555" r:id="rId12"/>
    <p:sldId id="556" r:id="rId13"/>
    <p:sldId id="557" r:id="rId14"/>
    <p:sldId id="585" r:id="rId15"/>
    <p:sldId id="587" r:id="rId16"/>
    <p:sldId id="909" r:id="rId17"/>
    <p:sldId id="586" r:id="rId18"/>
    <p:sldId id="910" r:id="rId19"/>
    <p:sldId id="589" r:id="rId20"/>
    <p:sldId id="590" r:id="rId21"/>
    <p:sldId id="911" r:id="rId22"/>
    <p:sldId id="591" r:id="rId23"/>
    <p:sldId id="593" r:id="rId24"/>
    <p:sldId id="594" r:id="rId25"/>
    <p:sldId id="595" r:id="rId26"/>
    <p:sldId id="634" r:id="rId27"/>
    <p:sldId id="1014" r:id="rId28"/>
    <p:sldId id="596" r:id="rId29"/>
    <p:sldId id="597" r:id="rId30"/>
    <p:sldId id="636" r:id="rId31"/>
    <p:sldId id="643" r:id="rId32"/>
    <p:sldId id="598" r:id="rId33"/>
    <p:sldId id="599" r:id="rId34"/>
    <p:sldId id="600" r:id="rId35"/>
    <p:sldId id="601" r:id="rId36"/>
    <p:sldId id="637" r:id="rId37"/>
    <p:sldId id="602" r:id="rId38"/>
    <p:sldId id="639" r:id="rId39"/>
    <p:sldId id="638" r:id="rId40"/>
    <p:sldId id="912" r:id="rId41"/>
    <p:sldId id="913" r:id="rId42"/>
    <p:sldId id="914" r:id="rId43"/>
    <p:sldId id="642" r:id="rId44"/>
    <p:sldId id="603" r:id="rId45"/>
    <p:sldId id="604" r:id="rId46"/>
    <p:sldId id="605" r:id="rId47"/>
    <p:sldId id="641" r:id="rId48"/>
    <p:sldId id="644" r:id="rId49"/>
    <p:sldId id="645" r:id="rId50"/>
    <p:sldId id="646" r:id="rId51"/>
    <p:sldId id="647" r:id="rId52"/>
    <p:sldId id="648" r:id="rId53"/>
    <p:sldId id="649" r:id="rId54"/>
    <p:sldId id="650" r:id="rId55"/>
    <p:sldId id="651" r:id="rId56"/>
    <p:sldId id="652" r:id="rId57"/>
    <p:sldId id="653" r:id="rId58"/>
    <p:sldId id="654" r:id="rId59"/>
    <p:sldId id="655" r:id="rId60"/>
    <p:sldId id="656" r:id="rId61"/>
    <p:sldId id="657" r:id="rId62"/>
    <p:sldId id="1026" r:id="rId63"/>
    <p:sldId id="658" r:id="rId64"/>
    <p:sldId id="659" r:id="rId65"/>
    <p:sldId id="660" r:id="rId66"/>
    <p:sldId id="661" r:id="rId67"/>
    <p:sldId id="662" r:id="rId68"/>
    <p:sldId id="663" r:id="rId69"/>
    <p:sldId id="664" r:id="rId70"/>
    <p:sldId id="665" r:id="rId71"/>
    <p:sldId id="1027" r:id="rId72"/>
    <p:sldId id="814" r:id="rId73"/>
    <p:sldId id="667" r:id="rId74"/>
    <p:sldId id="915" r:id="rId75"/>
    <p:sldId id="916" r:id="rId76"/>
    <p:sldId id="917" r:id="rId77"/>
    <p:sldId id="918" r:id="rId78"/>
    <p:sldId id="919" r:id="rId79"/>
    <p:sldId id="920" r:id="rId80"/>
    <p:sldId id="1016" r:id="rId81"/>
    <p:sldId id="1017" r:id="rId82"/>
    <p:sldId id="1018" r:id="rId83"/>
    <p:sldId id="1019" r:id="rId84"/>
    <p:sldId id="1020" r:id="rId85"/>
    <p:sldId id="1021" r:id="rId86"/>
    <p:sldId id="1022" r:id="rId87"/>
    <p:sldId id="629" r:id="rId88"/>
    <p:sldId id="630" r:id="rId89"/>
    <p:sldId id="668" r:id="rId90"/>
    <p:sldId id="631" r:id="rId91"/>
    <p:sldId id="632" r:id="rId92"/>
    <p:sldId id="633" r:id="rId93"/>
    <p:sldId id="815" r:id="rId94"/>
    <p:sldId id="816" r:id="rId95"/>
    <p:sldId id="817" r:id="rId96"/>
    <p:sldId id="818" r:id="rId97"/>
    <p:sldId id="819" r:id="rId98"/>
    <p:sldId id="820" r:id="rId99"/>
    <p:sldId id="821" r:id="rId100"/>
    <p:sldId id="822" r:id="rId101"/>
    <p:sldId id="823" r:id="rId102"/>
    <p:sldId id="824" r:id="rId103"/>
    <p:sldId id="825" r:id="rId104"/>
    <p:sldId id="826" r:id="rId105"/>
    <p:sldId id="827" r:id="rId106"/>
    <p:sldId id="828" r:id="rId107"/>
    <p:sldId id="829" r:id="rId108"/>
    <p:sldId id="830" r:id="rId109"/>
    <p:sldId id="831" r:id="rId110"/>
    <p:sldId id="832" r:id="rId111"/>
    <p:sldId id="833" r:id="rId112"/>
    <p:sldId id="834" r:id="rId113"/>
    <p:sldId id="835" r:id="rId114"/>
    <p:sldId id="836" r:id="rId115"/>
    <p:sldId id="837" r:id="rId116"/>
    <p:sldId id="838" r:id="rId117"/>
    <p:sldId id="839" r:id="rId118"/>
    <p:sldId id="840" r:id="rId119"/>
    <p:sldId id="1025" r:id="rId120"/>
    <p:sldId id="841" r:id="rId121"/>
    <p:sldId id="842" r:id="rId122"/>
    <p:sldId id="843" r:id="rId123"/>
    <p:sldId id="844" r:id="rId124"/>
    <p:sldId id="845" r:id="rId125"/>
    <p:sldId id="846" r:id="rId126"/>
    <p:sldId id="847" r:id="rId127"/>
    <p:sldId id="848" r:id="rId128"/>
    <p:sldId id="445" r:id="rId129"/>
    <p:sldId id="446" r:id="rId130"/>
  </p:sldIdLst>
  <p:sldSz cx="9144000" cy="5143500" type="screen16x9"/>
  <p:notesSz cx="6858000" cy="9144000"/>
  <p:custDataLst>
    <p:tags r:id="rId13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75" userDrawn="1">
          <p15:clr>
            <a:srgbClr val="A4A3A4"/>
          </p15:clr>
        </p15:guide>
        <p15:guide id="2" pos="29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0938" autoAdjust="0"/>
  </p:normalViewPr>
  <p:slideViewPr>
    <p:cSldViewPr snapToGrid="0" showGuides="1">
      <p:cViewPr varScale="1">
        <p:scale>
          <a:sx n="94" d="100"/>
          <a:sy n="94" d="100"/>
        </p:scale>
        <p:origin x="1336" y="52"/>
      </p:cViewPr>
      <p:guideLst>
        <p:guide orient="horz" pos="1575"/>
        <p:guide pos="293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5" Type="http://schemas.openxmlformats.org/officeDocument/2006/relationships/tags" Target="tags/tag54.xml"/><Relationship Id="rId134" Type="http://schemas.openxmlformats.org/officeDocument/2006/relationships/tableStyles" Target="tableStyles.xml"/><Relationship Id="rId133" Type="http://schemas.openxmlformats.org/officeDocument/2006/relationships/viewProps" Target="viewProps.xml"/><Relationship Id="rId132" Type="http://schemas.openxmlformats.org/officeDocument/2006/relationships/presProps" Target="presProps.xml"/><Relationship Id="rId131" Type="http://schemas.openxmlformats.org/officeDocument/2006/relationships/handoutMaster" Target="handoutMasters/handoutMaster1.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6943DBC-DFF1-4627-8166-363E4EAF9E96}" type="doc">
      <dgm:prSet loTypeId="urn:microsoft.com/office/officeart/2005/8/layout/hProcess9#1" loCatId="process" qsTypeId="urn:microsoft.com/office/officeart/2005/8/quickstyle/simple1#1" qsCatId="simple" csTypeId="urn:microsoft.com/office/officeart/2005/8/colors/accent1_2#1" csCatId="accent1" phldr="1"/>
      <dgm:spPr/>
    </dgm:pt>
    <dgm:pt modelId="{25B2B072-C7AC-4C1C-9992-78DC7179B38C}">
      <dgm:prSet phldrT="[文本]"/>
      <dgm:spPr/>
      <dgm:t>
        <a:bodyPr/>
        <a:lstStyle/>
        <a:p>
          <a:r>
            <a:rPr lang="zh-CN" altLang="en-US" dirty="0"/>
            <a:t>用例识别</a:t>
          </a:r>
        </a:p>
      </dgm:t>
    </dgm:pt>
    <dgm:pt modelId="{6156670F-3D2F-4C49-86BA-AF86E31D7773}" cxnId="{3E0B67CC-A89B-41BC-A344-09E0A3FBC29C}" type="parTrans">
      <dgm:prSet/>
      <dgm:spPr/>
      <dgm:t>
        <a:bodyPr/>
        <a:lstStyle/>
        <a:p>
          <a:endParaRPr lang="zh-CN" altLang="en-US"/>
        </a:p>
      </dgm:t>
    </dgm:pt>
    <dgm:pt modelId="{9C3FE41D-EA2A-4BF1-84A6-223CEF0B1AE1}" cxnId="{3E0B67CC-A89B-41BC-A344-09E0A3FBC29C}" type="sibTrans">
      <dgm:prSet/>
      <dgm:spPr/>
      <dgm:t>
        <a:bodyPr/>
        <a:lstStyle/>
        <a:p>
          <a:endParaRPr lang="zh-CN" altLang="en-US"/>
        </a:p>
      </dgm:t>
    </dgm:pt>
    <dgm:pt modelId="{A548DFCD-F1DC-4950-84F7-6AAF66F5C78C}">
      <dgm:prSet phldrT="[文本]"/>
      <dgm:spPr/>
      <dgm:t>
        <a:bodyPr/>
        <a:lstStyle/>
        <a:p>
          <a:r>
            <a:rPr lang="zh-CN" altLang="en-US" dirty="0"/>
            <a:t>参与者识别</a:t>
          </a:r>
        </a:p>
      </dgm:t>
    </dgm:pt>
    <dgm:pt modelId="{51B87FD1-371E-4F3F-AD50-36D789A496D4}" cxnId="{75FF338F-1638-4222-AD1B-00915CDC18FC}" type="parTrans">
      <dgm:prSet/>
      <dgm:spPr/>
      <dgm:t>
        <a:bodyPr/>
        <a:lstStyle/>
        <a:p>
          <a:endParaRPr lang="zh-CN" altLang="en-US"/>
        </a:p>
      </dgm:t>
    </dgm:pt>
    <dgm:pt modelId="{6309775C-1F91-4F95-8453-1759E457B825}" cxnId="{75FF338F-1638-4222-AD1B-00915CDC18FC}" type="sibTrans">
      <dgm:prSet/>
      <dgm:spPr/>
      <dgm:t>
        <a:bodyPr/>
        <a:lstStyle/>
        <a:p>
          <a:endParaRPr lang="zh-CN" altLang="en-US"/>
        </a:p>
      </dgm:t>
    </dgm:pt>
    <dgm:pt modelId="{5724A7EF-758D-4F7B-9685-3081D7A3E65B}">
      <dgm:prSet phldrT="[文本]"/>
      <dgm:spPr/>
      <dgm:t>
        <a:bodyPr/>
        <a:lstStyle/>
        <a:p>
          <a:r>
            <a:rPr lang="zh-CN" altLang="en-US" dirty="0"/>
            <a:t>用例与参与者关系识别</a:t>
          </a:r>
        </a:p>
      </dgm:t>
    </dgm:pt>
    <dgm:pt modelId="{8B09FCD6-310F-4D61-93F4-5B0BDB5D767D}" cxnId="{CE31682D-A838-41CF-8C97-ED47F42F202F}" type="parTrans">
      <dgm:prSet/>
      <dgm:spPr/>
      <dgm:t>
        <a:bodyPr/>
        <a:lstStyle/>
        <a:p>
          <a:endParaRPr lang="zh-CN" altLang="en-US"/>
        </a:p>
      </dgm:t>
    </dgm:pt>
    <dgm:pt modelId="{1076A683-AE1A-4795-A3A6-97247624A9E1}" cxnId="{CE31682D-A838-41CF-8C97-ED47F42F202F}" type="sibTrans">
      <dgm:prSet/>
      <dgm:spPr/>
      <dgm:t>
        <a:bodyPr/>
        <a:lstStyle/>
        <a:p>
          <a:endParaRPr lang="zh-CN" altLang="en-US"/>
        </a:p>
      </dgm:t>
    </dgm:pt>
    <dgm:pt modelId="{7A6363D2-041E-434A-AC9D-C44F6C008C5E}">
      <dgm:prSet/>
      <dgm:spPr/>
      <dgm:t>
        <a:bodyPr/>
        <a:lstStyle/>
        <a:p>
          <a:r>
            <a:rPr lang="zh-CN" altLang="en-US" dirty="0"/>
            <a:t>用例详细规约</a:t>
          </a:r>
        </a:p>
      </dgm:t>
    </dgm:pt>
    <dgm:pt modelId="{DFA70BC8-941B-412A-88B9-3ADC9365B20B}" cxnId="{5C12B98C-AF71-4003-9DCE-F4898AA200DA}" type="parTrans">
      <dgm:prSet/>
      <dgm:spPr/>
      <dgm:t>
        <a:bodyPr/>
        <a:lstStyle/>
        <a:p>
          <a:endParaRPr lang="zh-CN" altLang="en-US"/>
        </a:p>
      </dgm:t>
    </dgm:pt>
    <dgm:pt modelId="{10DBE524-C566-497B-B585-93990157AFD1}" cxnId="{5C12B98C-AF71-4003-9DCE-F4898AA200DA}" type="sibTrans">
      <dgm:prSet/>
      <dgm:spPr/>
      <dgm:t>
        <a:bodyPr/>
        <a:lstStyle/>
        <a:p>
          <a:endParaRPr lang="zh-CN" altLang="en-US"/>
        </a:p>
      </dgm:t>
    </dgm:pt>
    <dgm:pt modelId="{21361A11-3092-4951-8B5A-0AAC339A123E}" type="pres">
      <dgm:prSet presAssocID="{96943DBC-DFF1-4627-8166-363E4EAF9E96}" presName="CompostProcess" presStyleCnt="0">
        <dgm:presLayoutVars>
          <dgm:dir/>
          <dgm:resizeHandles val="exact"/>
        </dgm:presLayoutVars>
      </dgm:prSet>
      <dgm:spPr/>
    </dgm:pt>
    <dgm:pt modelId="{9A78A7E4-092E-4976-B0B1-46679C22C9C6}" type="pres">
      <dgm:prSet presAssocID="{96943DBC-DFF1-4627-8166-363E4EAF9E96}" presName="arrow" presStyleLbl="bgShp" presStyleIdx="0" presStyleCnt="1" custLinFactNeighborX="1171" custLinFactNeighborY="11726"/>
      <dgm:spPr/>
    </dgm:pt>
    <dgm:pt modelId="{FE8F9439-A636-4278-911C-B5B7B964EDD2}" type="pres">
      <dgm:prSet presAssocID="{96943DBC-DFF1-4627-8166-363E4EAF9E96}" presName="linearProcess" presStyleCnt="0"/>
      <dgm:spPr/>
    </dgm:pt>
    <dgm:pt modelId="{5335C258-B907-4581-AAE0-23A6EF7E4471}" type="pres">
      <dgm:prSet presAssocID="{25B2B072-C7AC-4C1C-9992-78DC7179B38C}" presName="textNode" presStyleLbl="node1" presStyleIdx="0" presStyleCnt="4">
        <dgm:presLayoutVars>
          <dgm:bulletEnabled val="1"/>
        </dgm:presLayoutVars>
      </dgm:prSet>
      <dgm:spPr/>
    </dgm:pt>
    <dgm:pt modelId="{60CDAC7D-C2E5-4B95-8514-CD9D18484A1C}" type="pres">
      <dgm:prSet presAssocID="{9C3FE41D-EA2A-4BF1-84A6-223CEF0B1AE1}" presName="sibTrans" presStyleCnt="0"/>
      <dgm:spPr/>
    </dgm:pt>
    <dgm:pt modelId="{FD3FED6B-3DDA-47FA-85F3-CB7A1DF38E69}" type="pres">
      <dgm:prSet presAssocID="{A548DFCD-F1DC-4950-84F7-6AAF66F5C78C}" presName="textNode" presStyleLbl="node1" presStyleIdx="1" presStyleCnt="4">
        <dgm:presLayoutVars>
          <dgm:bulletEnabled val="1"/>
        </dgm:presLayoutVars>
      </dgm:prSet>
      <dgm:spPr/>
    </dgm:pt>
    <dgm:pt modelId="{1BBD399A-EBD5-4235-AA50-5E06B6D54CC9}" type="pres">
      <dgm:prSet presAssocID="{6309775C-1F91-4F95-8453-1759E457B825}" presName="sibTrans" presStyleCnt="0"/>
      <dgm:spPr/>
    </dgm:pt>
    <dgm:pt modelId="{81DEF290-5B65-4586-B35B-422904859FE2}" type="pres">
      <dgm:prSet presAssocID="{5724A7EF-758D-4F7B-9685-3081D7A3E65B}" presName="textNode" presStyleLbl="node1" presStyleIdx="2" presStyleCnt="4">
        <dgm:presLayoutVars>
          <dgm:bulletEnabled val="1"/>
        </dgm:presLayoutVars>
      </dgm:prSet>
      <dgm:spPr/>
    </dgm:pt>
    <dgm:pt modelId="{2921B906-E379-44A8-9BCD-06B186AFCE93}" type="pres">
      <dgm:prSet presAssocID="{1076A683-AE1A-4795-A3A6-97247624A9E1}" presName="sibTrans" presStyleCnt="0"/>
      <dgm:spPr/>
    </dgm:pt>
    <dgm:pt modelId="{5507E31C-B62D-47A0-A4F7-63DE9D805508}" type="pres">
      <dgm:prSet presAssocID="{7A6363D2-041E-434A-AC9D-C44F6C008C5E}" presName="textNode" presStyleLbl="node1" presStyleIdx="3" presStyleCnt="4">
        <dgm:presLayoutVars>
          <dgm:bulletEnabled val="1"/>
        </dgm:presLayoutVars>
      </dgm:prSet>
      <dgm:spPr/>
    </dgm:pt>
  </dgm:ptLst>
  <dgm:cxnLst>
    <dgm:cxn modelId="{CE31682D-A838-41CF-8C97-ED47F42F202F}" srcId="{96943DBC-DFF1-4627-8166-363E4EAF9E96}" destId="{5724A7EF-758D-4F7B-9685-3081D7A3E65B}" srcOrd="2" destOrd="0" parTransId="{8B09FCD6-310F-4D61-93F4-5B0BDB5D767D}" sibTransId="{1076A683-AE1A-4795-A3A6-97247624A9E1}"/>
    <dgm:cxn modelId="{BE1F4037-CA15-4183-8184-CC7C1BECDFCC}" type="presOf" srcId="{25B2B072-C7AC-4C1C-9992-78DC7179B38C}" destId="{5335C258-B907-4581-AAE0-23A6EF7E4471}" srcOrd="0" destOrd="0" presId="urn:microsoft.com/office/officeart/2005/8/layout/hProcess9#1"/>
    <dgm:cxn modelId="{6543B656-9169-4B8A-BDA2-C74EFE1BC30E}" type="presOf" srcId="{7A6363D2-041E-434A-AC9D-C44F6C008C5E}" destId="{5507E31C-B62D-47A0-A4F7-63DE9D805508}" srcOrd="0" destOrd="0" presId="urn:microsoft.com/office/officeart/2005/8/layout/hProcess9#1"/>
    <dgm:cxn modelId="{D274CA7F-0D2E-472D-9FE9-328D0F86C79B}" type="presOf" srcId="{5724A7EF-758D-4F7B-9685-3081D7A3E65B}" destId="{81DEF290-5B65-4586-B35B-422904859FE2}" srcOrd="0" destOrd="0" presId="urn:microsoft.com/office/officeart/2005/8/layout/hProcess9#1"/>
    <dgm:cxn modelId="{5C12B98C-AF71-4003-9DCE-F4898AA200DA}" srcId="{96943DBC-DFF1-4627-8166-363E4EAF9E96}" destId="{7A6363D2-041E-434A-AC9D-C44F6C008C5E}" srcOrd="3" destOrd="0" parTransId="{DFA70BC8-941B-412A-88B9-3ADC9365B20B}" sibTransId="{10DBE524-C566-497B-B585-93990157AFD1}"/>
    <dgm:cxn modelId="{75FF338F-1638-4222-AD1B-00915CDC18FC}" srcId="{96943DBC-DFF1-4627-8166-363E4EAF9E96}" destId="{A548DFCD-F1DC-4950-84F7-6AAF66F5C78C}" srcOrd="1" destOrd="0" parTransId="{51B87FD1-371E-4F3F-AD50-36D789A496D4}" sibTransId="{6309775C-1F91-4F95-8453-1759E457B825}"/>
    <dgm:cxn modelId="{23295F90-BA22-405D-9D31-ACA6EBDD8811}" type="presOf" srcId="{96943DBC-DFF1-4627-8166-363E4EAF9E96}" destId="{21361A11-3092-4951-8B5A-0AAC339A123E}" srcOrd="0" destOrd="0" presId="urn:microsoft.com/office/officeart/2005/8/layout/hProcess9#1"/>
    <dgm:cxn modelId="{3E0B67CC-A89B-41BC-A344-09E0A3FBC29C}" srcId="{96943DBC-DFF1-4627-8166-363E4EAF9E96}" destId="{25B2B072-C7AC-4C1C-9992-78DC7179B38C}" srcOrd="0" destOrd="0" parTransId="{6156670F-3D2F-4C49-86BA-AF86E31D7773}" sibTransId="{9C3FE41D-EA2A-4BF1-84A6-223CEF0B1AE1}"/>
    <dgm:cxn modelId="{980D64E5-3261-4862-B395-853A1D3CF8B3}" type="presOf" srcId="{A548DFCD-F1DC-4950-84F7-6AAF66F5C78C}" destId="{FD3FED6B-3DDA-47FA-85F3-CB7A1DF38E69}" srcOrd="0" destOrd="0" presId="urn:microsoft.com/office/officeart/2005/8/layout/hProcess9#1"/>
    <dgm:cxn modelId="{64E3E535-8896-427A-919D-F96DF2FAFAFB}" type="presParOf" srcId="{21361A11-3092-4951-8B5A-0AAC339A123E}" destId="{9A78A7E4-092E-4976-B0B1-46679C22C9C6}" srcOrd="0" destOrd="0" presId="urn:microsoft.com/office/officeart/2005/8/layout/hProcess9#1"/>
    <dgm:cxn modelId="{89EF57DF-98AE-43E7-B785-ADDC3834FB35}" type="presParOf" srcId="{21361A11-3092-4951-8B5A-0AAC339A123E}" destId="{FE8F9439-A636-4278-911C-B5B7B964EDD2}" srcOrd="1" destOrd="0" presId="urn:microsoft.com/office/officeart/2005/8/layout/hProcess9#1"/>
    <dgm:cxn modelId="{86E1750B-CE49-4D87-B346-B512E05C4C3E}" type="presParOf" srcId="{FE8F9439-A636-4278-911C-B5B7B964EDD2}" destId="{5335C258-B907-4581-AAE0-23A6EF7E4471}" srcOrd="0" destOrd="0" presId="urn:microsoft.com/office/officeart/2005/8/layout/hProcess9#1"/>
    <dgm:cxn modelId="{9A41A196-1726-4928-8181-18FFF2C4210B}" type="presParOf" srcId="{FE8F9439-A636-4278-911C-B5B7B964EDD2}" destId="{60CDAC7D-C2E5-4B95-8514-CD9D18484A1C}" srcOrd="1" destOrd="0" presId="urn:microsoft.com/office/officeart/2005/8/layout/hProcess9#1"/>
    <dgm:cxn modelId="{0BB53FFC-371A-45CA-85ED-4F7EA3A61DA4}" type="presParOf" srcId="{FE8F9439-A636-4278-911C-B5B7B964EDD2}" destId="{FD3FED6B-3DDA-47FA-85F3-CB7A1DF38E69}" srcOrd="2" destOrd="0" presId="urn:microsoft.com/office/officeart/2005/8/layout/hProcess9#1"/>
    <dgm:cxn modelId="{080D85E2-ACC6-4C5F-BA06-31754EB9B721}" type="presParOf" srcId="{FE8F9439-A636-4278-911C-B5B7B964EDD2}" destId="{1BBD399A-EBD5-4235-AA50-5E06B6D54CC9}" srcOrd="3" destOrd="0" presId="urn:microsoft.com/office/officeart/2005/8/layout/hProcess9#1"/>
    <dgm:cxn modelId="{31B7BF69-C70E-409D-8D8B-DF844B55CA0A}" type="presParOf" srcId="{FE8F9439-A636-4278-911C-B5B7B964EDD2}" destId="{81DEF290-5B65-4586-B35B-422904859FE2}" srcOrd="4" destOrd="0" presId="urn:microsoft.com/office/officeart/2005/8/layout/hProcess9#1"/>
    <dgm:cxn modelId="{6C3B809D-6E49-4509-9C5F-43F6B5949DAA}" type="presParOf" srcId="{FE8F9439-A636-4278-911C-B5B7B964EDD2}" destId="{2921B906-E379-44A8-9BCD-06B186AFCE93}" srcOrd="5" destOrd="0" presId="urn:microsoft.com/office/officeart/2005/8/layout/hProcess9#1"/>
    <dgm:cxn modelId="{9CF9B264-2AA8-45B9-9880-169CC69A96B9}" type="presParOf" srcId="{FE8F9439-A636-4278-911C-B5B7B964EDD2}" destId="{5507E31C-B62D-47A0-A4F7-63DE9D805508}" srcOrd="6" destOrd="0" presId="urn:microsoft.com/office/officeart/2005/8/layout/hProcess9#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484739" cy="2282277"/>
        <a:chOff x="0" y="0"/>
        <a:chExt cx="8484739" cy="2282277"/>
      </a:xfrm>
    </dsp:grpSpPr>
    <dsp:sp modelId="{9A78A7E4-092E-4976-B0B1-46679C22C9C6}">
      <dsp:nvSpPr>
        <dsp:cNvPr id="3" name="右箭头 2"/>
        <dsp:cNvSpPr/>
      </dsp:nvSpPr>
      <dsp:spPr bwMode="white">
        <a:xfrm>
          <a:off x="720808" y="0"/>
          <a:ext cx="7212028" cy="2282277"/>
        </a:xfrm>
        <a:prstGeom prst="rightArrow">
          <a:avLst/>
        </a:prstGeom>
      </dsp:spPr>
      <dsp:style>
        <a:lnRef idx="0">
          <a:schemeClr val="accent1"/>
        </a:lnRef>
        <a:fillRef idx="1">
          <a:schemeClr val="accent1">
            <a:tint val="40000"/>
          </a:schemeClr>
        </a:fillRef>
        <a:effectRef idx="0">
          <a:scrgbClr r="0" g="0" b="0"/>
        </a:effectRef>
        <a:fontRef idx="minor"/>
      </dsp:style>
      <dsp:txXfrm>
        <a:off x="720808" y="0"/>
        <a:ext cx="7212028" cy="2282277"/>
      </dsp:txXfrm>
    </dsp:sp>
    <dsp:sp modelId="{5335C258-B907-4581-AAE0-23A6EF7E4471}">
      <dsp:nvSpPr>
        <dsp:cNvPr id="4" name="圆角矩形 3"/>
        <dsp:cNvSpPr/>
      </dsp:nvSpPr>
      <dsp:spPr bwMode="white">
        <a:xfrm>
          <a:off x="0" y="684683"/>
          <a:ext cx="1885498" cy="912911"/>
        </a:xfrm>
        <a:prstGeom prst="roundRect">
          <a:avLst/>
        </a:prstGeom>
      </dsp:spPr>
      <dsp:style>
        <a:lnRef idx="2">
          <a:schemeClr val="lt1"/>
        </a:lnRef>
        <a:fillRef idx="1">
          <a:schemeClr val="accent1"/>
        </a:fillRef>
        <a:effectRef idx="0">
          <a:scrgbClr r="0" g="0" b="0"/>
        </a:effectRef>
        <a:fontRef idx="minor">
          <a:schemeClr val="lt1"/>
        </a:fontRef>
      </dsp:style>
      <dsp:txBody>
        <a:bodyPr lIns="80010" tIns="80010" rIns="80010" bIns="8001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zh-CN" altLang="en-US" dirty="0"/>
            <a:t>用例识别</a:t>
          </a:r>
        </a:p>
      </dsp:txBody>
      <dsp:txXfrm>
        <a:off x="0" y="684683"/>
        <a:ext cx="1885498" cy="912911"/>
      </dsp:txXfrm>
    </dsp:sp>
    <dsp:sp modelId="{FD3FED6B-3DDA-47FA-85F3-CB7A1DF38E69}">
      <dsp:nvSpPr>
        <dsp:cNvPr id="5" name="圆角矩形 4"/>
        <dsp:cNvSpPr/>
      </dsp:nvSpPr>
      <dsp:spPr bwMode="white">
        <a:xfrm>
          <a:off x="2199747" y="684683"/>
          <a:ext cx="1885498" cy="912911"/>
        </a:xfrm>
        <a:prstGeom prst="roundRect">
          <a:avLst/>
        </a:prstGeom>
      </dsp:spPr>
      <dsp:style>
        <a:lnRef idx="2">
          <a:schemeClr val="lt1"/>
        </a:lnRef>
        <a:fillRef idx="1">
          <a:schemeClr val="accent1"/>
        </a:fillRef>
        <a:effectRef idx="0">
          <a:scrgbClr r="0" g="0" b="0"/>
        </a:effectRef>
        <a:fontRef idx="minor">
          <a:schemeClr val="lt1"/>
        </a:fontRef>
      </dsp:style>
      <dsp:txBody>
        <a:bodyPr lIns="80010" tIns="80010" rIns="80010" bIns="8001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zh-CN" altLang="en-US" dirty="0"/>
            <a:t>参与者识别</a:t>
          </a:r>
        </a:p>
      </dsp:txBody>
      <dsp:txXfrm>
        <a:off x="2199747" y="684683"/>
        <a:ext cx="1885498" cy="912911"/>
      </dsp:txXfrm>
    </dsp:sp>
    <dsp:sp modelId="{81DEF290-5B65-4586-B35B-422904859FE2}">
      <dsp:nvSpPr>
        <dsp:cNvPr id="6" name="圆角矩形 5"/>
        <dsp:cNvSpPr/>
      </dsp:nvSpPr>
      <dsp:spPr bwMode="white">
        <a:xfrm>
          <a:off x="4399494" y="684683"/>
          <a:ext cx="1885498" cy="912911"/>
        </a:xfrm>
        <a:prstGeom prst="roundRect">
          <a:avLst/>
        </a:prstGeom>
      </dsp:spPr>
      <dsp:style>
        <a:lnRef idx="2">
          <a:schemeClr val="lt1"/>
        </a:lnRef>
        <a:fillRef idx="1">
          <a:schemeClr val="accent1"/>
        </a:fillRef>
        <a:effectRef idx="0">
          <a:scrgbClr r="0" g="0" b="0"/>
        </a:effectRef>
        <a:fontRef idx="minor">
          <a:schemeClr val="lt1"/>
        </a:fontRef>
      </dsp:style>
      <dsp:txBody>
        <a:bodyPr lIns="80010" tIns="80010" rIns="80010" bIns="8001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zh-CN" altLang="en-US" dirty="0"/>
            <a:t>用例与参与者关系识别</a:t>
          </a:r>
        </a:p>
      </dsp:txBody>
      <dsp:txXfrm>
        <a:off x="4399494" y="684683"/>
        <a:ext cx="1885498" cy="912911"/>
      </dsp:txXfrm>
    </dsp:sp>
    <dsp:sp modelId="{5507E31C-B62D-47A0-A4F7-63DE9D805508}">
      <dsp:nvSpPr>
        <dsp:cNvPr id="7" name="圆角矩形 6"/>
        <dsp:cNvSpPr/>
      </dsp:nvSpPr>
      <dsp:spPr bwMode="white">
        <a:xfrm>
          <a:off x="6599241" y="684683"/>
          <a:ext cx="1885498" cy="912911"/>
        </a:xfrm>
        <a:prstGeom prst="roundRect">
          <a:avLst/>
        </a:prstGeom>
      </dsp:spPr>
      <dsp:style>
        <a:lnRef idx="2">
          <a:schemeClr val="lt1"/>
        </a:lnRef>
        <a:fillRef idx="1">
          <a:schemeClr val="accent1"/>
        </a:fillRef>
        <a:effectRef idx="0">
          <a:scrgbClr r="0" g="0" b="0"/>
        </a:effectRef>
        <a:fontRef idx="minor">
          <a:schemeClr val="lt1"/>
        </a:fontRef>
      </dsp:style>
      <dsp:txBody>
        <a:bodyPr lIns="80010" tIns="80010" rIns="80010" bIns="8001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zh-CN" altLang="en-US" dirty="0"/>
            <a:t>用例详细规约</a:t>
          </a:r>
        </a:p>
      </dsp:txBody>
      <dsp:txXfrm>
        <a:off x="6599241" y="684683"/>
        <a:ext cx="1885498" cy="91291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buFont typeface="Wingdings" panose="05000000000000000000" pitchFamily="2" charset="2"/>
              <a:buAutoNum type="arabicPeriod"/>
            </a:pPr>
            <a:r>
              <a:rPr lang="zh-CN" altLang="en-US" sz="2400" b="0" dirty="0"/>
              <a:t>需求获取：</a:t>
            </a:r>
            <a:endParaRPr lang="zh-CN" altLang="en-US" sz="2400" b="0" dirty="0"/>
          </a:p>
          <a:p>
            <a:pPr marL="800100" lvl="1" indent="-342900" algn="l" eaLnBrk="1" hangingPunct="1">
              <a:buFont typeface="Arial" panose="020B0604020202020204" pitchFamily="34" charset="0"/>
              <a:buChar char="•"/>
            </a:pPr>
            <a:r>
              <a:rPr lang="zh-CN" altLang="zh-CN" sz="2400" b="0" dirty="0"/>
              <a:t>调查软件需求</a:t>
            </a:r>
            <a:r>
              <a:rPr lang="zh-CN" altLang="en-US" sz="2400" b="0" dirty="0"/>
              <a:t>，弄清</a:t>
            </a:r>
            <a:r>
              <a:rPr lang="zh-CN" altLang="zh-CN" sz="2400" b="0" dirty="0"/>
              <a:t>用户对目标软件系统在功能、性能、行为、设计约束等方面的期望。</a:t>
            </a:r>
            <a:endParaRPr lang="zh-CN" altLang="en-US" sz="2400" b="0" dirty="0"/>
          </a:p>
          <a:p>
            <a:pPr marL="800100" lvl="1" indent="-342900" algn="l" eaLnBrk="1" hangingPunct="1">
              <a:buFont typeface="Arial" panose="020B0604020202020204" pitchFamily="34" charset="0"/>
              <a:buChar char="•"/>
            </a:pPr>
            <a:r>
              <a:rPr lang="zh-CN" altLang="zh-CN" sz="2400" b="0" dirty="0"/>
              <a:t>手段：通过现场调查、核实、归纳，用自然语言描述。</a:t>
            </a:r>
            <a:endParaRPr lang="zh-CN" altLang="en-US" sz="2400" b="0" dirty="0"/>
          </a:p>
          <a:p>
            <a:pPr algn="l" eaLnBrk="1" hangingPunct="1">
              <a:buFont typeface="Wingdings" panose="05000000000000000000" pitchFamily="2" charset="2"/>
              <a:buNone/>
            </a:pPr>
            <a:r>
              <a:rPr lang="en-US" altLang="zh-CN" sz="2400" b="0" dirty="0"/>
              <a:t>2.</a:t>
            </a:r>
            <a:r>
              <a:rPr lang="zh-CN" altLang="en-US" sz="2400" b="0" dirty="0"/>
              <a:t>需求</a:t>
            </a:r>
            <a:r>
              <a:rPr lang="zh-CN" altLang="zh-CN" sz="2400" b="0" dirty="0"/>
              <a:t>建模</a:t>
            </a:r>
            <a:r>
              <a:rPr lang="zh-CN" altLang="en-US" sz="2400" b="0" dirty="0"/>
              <a:t>：</a:t>
            </a:r>
            <a:endParaRPr lang="zh-CN" altLang="en-US" sz="2400" b="0" dirty="0"/>
          </a:p>
          <a:p>
            <a:pPr marL="800100" lvl="1" indent="-342900" algn="l" eaLnBrk="1" hangingPunct="1">
              <a:buFont typeface="Arial" panose="020B0604020202020204" pitchFamily="34" charset="0"/>
              <a:buChar char="•"/>
            </a:pPr>
            <a:r>
              <a:rPr lang="zh-CN" altLang="zh-CN" sz="2400" b="0" dirty="0"/>
              <a:t>是对现实世界进行抽象的过程</a:t>
            </a:r>
            <a:r>
              <a:rPr lang="zh-CN" altLang="en-US" sz="2400" b="0" dirty="0"/>
              <a:t>。</a:t>
            </a:r>
            <a:r>
              <a:rPr lang="zh-CN" altLang="zh-CN" sz="2400" b="0" dirty="0"/>
              <a:t>通过符号和文字说明描述系统模型使用户和开发者间建立共同语言基础，消除理解上的歧义；</a:t>
            </a:r>
            <a:endParaRPr lang="zh-CN" altLang="en-US" sz="2400" b="0" dirty="0"/>
          </a:p>
          <a:p>
            <a:pPr marL="800100" lvl="1" indent="-342900" algn="l" eaLnBrk="1" hangingPunct="1">
              <a:buFont typeface="Arial" panose="020B0604020202020204" pitchFamily="34" charset="0"/>
              <a:buChar char="•"/>
            </a:pPr>
            <a:r>
              <a:rPr lang="zh-CN" altLang="zh-CN" sz="2400" b="0" dirty="0"/>
              <a:t>从原始模型分析找寻目标模型</a:t>
            </a:r>
            <a:r>
              <a:rPr lang="zh-CN" altLang="en-US" sz="2400" b="0" dirty="0"/>
              <a:t>，</a:t>
            </a:r>
            <a:r>
              <a:rPr lang="zh-CN" altLang="zh-CN" sz="2400" b="0" dirty="0"/>
              <a:t>从物理模型过渡到逻辑模型，作为设计阶段的依据；</a:t>
            </a:r>
            <a:endParaRPr lang="zh-CN" altLang="en-US" sz="2400" b="0" dirty="0"/>
          </a:p>
          <a:p>
            <a:pPr marL="800100" lvl="1" indent="-342900" algn="l" eaLnBrk="1" hangingPunct="1">
              <a:buFont typeface="Arial" panose="020B0604020202020204" pitchFamily="34" charset="0"/>
              <a:buChar char="•"/>
            </a:pPr>
            <a:r>
              <a:rPr lang="zh-CN" altLang="zh-CN" sz="2400" b="0" dirty="0"/>
              <a:t>手段：采用建模语言和工具</a:t>
            </a:r>
            <a:endParaRPr lang="zh-CN" altLang="en-US" sz="2400" b="0" dirty="0"/>
          </a:p>
          <a:p>
            <a:pPr algn="l" eaLnBrk="1" hangingPunct="1"/>
            <a:r>
              <a:rPr lang="zh-CN" altLang="en-US" sz="2400" b="0" dirty="0"/>
              <a:t>3</a:t>
            </a:r>
            <a:r>
              <a:rPr lang="en-US" altLang="zh-CN" sz="2400" b="0" dirty="0"/>
              <a:t>.</a:t>
            </a:r>
            <a:r>
              <a:rPr lang="zh-CN" altLang="zh-CN" sz="2400" b="0" dirty="0"/>
              <a:t>需求说明</a:t>
            </a:r>
            <a:r>
              <a:rPr lang="zh-CN" altLang="en-US" sz="2400" b="0" dirty="0"/>
              <a:t>：</a:t>
            </a:r>
            <a:endParaRPr lang="zh-CN" altLang="en-US" sz="2400" b="0" dirty="0"/>
          </a:p>
          <a:p>
            <a:pPr marL="800100" lvl="1" indent="-342900" algn="l" eaLnBrk="1" hangingPunct="1">
              <a:buFont typeface="Arial" panose="020B0604020202020204" pitchFamily="34" charset="0"/>
              <a:buChar char="•"/>
            </a:pPr>
            <a:r>
              <a:rPr lang="zh-CN" altLang="en-US" sz="2400" b="0" dirty="0"/>
              <a:t>需求说明</a:t>
            </a:r>
            <a:r>
              <a:rPr lang="zh-CN" altLang="zh-CN" sz="2400" b="0" dirty="0"/>
              <a:t>书是需求分析阶段的最终成果，也是需求分析阶段复审的依据；是用户领域专家、</a:t>
            </a:r>
            <a:r>
              <a:rPr lang="zh-CN" altLang="en-US" sz="2400" b="0" dirty="0"/>
              <a:t>    </a:t>
            </a:r>
            <a:r>
              <a:rPr lang="zh-CN" altLang="zh-CN" sz="2400" b="0" dirty="0"/>
              <a:t>软件分析师、软件设计师共同交流的途径和媒介；是交付给用户文档的一部份；</a:t>
            </a:r>
            <a:endParaRPr lang="zh-CN" altLang="en-US" sz="2400" b="0" dirty="0"/>
          </a:p>
          <a:p>
            <a:pPr marL="800100" lvl="1" indent="-342900" algn="l" eaLnBrk="1" hangingPunct="1">
              <a:buFont typeface="Arial" panose="020B0604020202020204" pitchFamily="34" charset="0"/>
              <a:buChar char="•"/>
            </a:pPr>
            <a:r>
              <a:rPr lang="zh-CN" altLang="zh-CN" sz="2400" b="0" dirty="0"/>
              <a:t>手段：编写文档</a:t>
            </a:r>
            <a:endParaRPr lang="zh-CN" altLang="en-US" sz="2400" b="0" dirty="0"/>
          </a:p>
          <a:p>
            <a:pPr lvl="0" algn="l" eaLnBrk="1" hangingPunct="1"/>
            <a:r>
              <a:rPr lang="zh-CN" altLang="en-US" sz="2400" b="0" dirty="0"/>
              <a:t>4</a:t>
            </a:r>
            <a:r>
              <a:rPr lang="en-US" altLang="zh-CN" sz="2400" b="0" dirty="0"/>
              <a:t>.</a:t>
            </a:r>
            <a:r>
              <a:rPr lang="zh-CN" altLang="en-US" sz="2400" b="0" dirty="0"/>
              <a:t>需求评审：</a:t>
            </a:r>
            <a:endParaRPr lang="zh-CN" altLang="en-US" sz="2400" b="0" dirty="0"/>
          </a:p>
          <a:p>
            <a:pPr marL="800100" lvl="1" indent="-342900" algn="l" eaLnBrk="1" hangingPunct="1">
              <a:buFont typeface="Arial" panose="020B0604020202020204" pitchFamily="34" charset="0"/>
              <a:buChar char="•"/>
            </a:pPr>
            <a:r>
              <a:rPr lang="zh-CN" altLang="zh-CN" sz="2400" b="0" dirty="0"/>
              <a:t>根据需求说明书，对需求的正确性、一致性、完整性、无二义行进行评审、确认。</a:t>
            </a:r>
            <a:endParaRPr lang="zh-CN" altLang="zh-CN" sz="2400" b="0" dirty="0"/>
          </a:p>
          <a:p>
            <a:pPr marL="800100" lvl="1" indent="-342900" algn="l" eaLnBrk="1" hangingPunct="1">
              <a:buFont typeface="Arial" panose="020B0604020202020204" pitchFamily="34" charset="0"/>
              <a:buChar char="•"/>
            </a:pPr>
            <a:r>
              <a:rPr lang="zh-CN" altLang="zh-CN" sz="2400" b="0" dirty="0"/>
              <a:t>手段：分析师、设计师、客户会审文档</a:t>
            </a:r>
            <a:endParaRPr lang="zh-CN" altLang="zh-CN" sz="2400" b="0" dirty="0"/>
          </a:p>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DC7E63-4282-48D5-990C-1EF5B5B8BB2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DC7E63-4282-48D5-990C-1EF5B5B8BB2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latin typeface="+mn-ea"/>
            </a:endParaRPr>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0B69B61-CB95-4824-89BB-24570E71626A}" type="slidenum">
              <a:rPr lang="en-US" altLang="zh-CN"/>
            </a:fld>
            <a:endParaRPr lang="en-US" altLang="zh-CN"/>
          </a:p>
        </p:txBody>
      </p:sp>
      <p:sp>
        <p:nvSpPr>
          <p:cNvPr id="278530" name="Rectangle 2"/>
          <p:cNvSpPr>
            <a:spLocks noGrp="1" noRot="1" noChangeAspect="1" noChangeArrowheads="1" noTextEdit="1"/>
          </p:cNvSpPr>
          <p:nvPr>
            <p:ph type="sldImg"/>
          </p:nvPr>
        </p:nvSpPr>
        <p:spPr/>
      </p:sp>
      <p:sp>
        <p:nvSpPr>
          <p:cNvPr id="27853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mn-ea"/>
              </a:rPr>
              <a:t>在</a:t>
            </a:r>
            <a:r>
              <a:rPr lang="en-US" altLang="zh-CN" sz="1200" dirty="0">
                <a:latin typeface="+mn-ea"/>
              </a:rPr>
              <a:t>UML</a:t>
            </a:r>
            <a:r>
              <a:rPr lang="zh-CN" altLang="en-US" sz="1200" dirty="0">
                <a:latin typeface="+mn-ea"/>
              </a:rPr>
              <a:t>中，一个用例模型由若干个用例图描述。</a:t>
            </a:r>
            <a:endParaRPr lang="en-US" altLang="zh-CN" sz="1200" dirty="0">
              <a:latin typeface="+mn-ea"/>
            </a:endParaRPr>
          </a:p>
          <a:p>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DC7E63-4282-48D5-990C-1EF5B5B8BB2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88989EF-1F72-4D2E-98D3-B492AC8E166D}" type="slidenum">
              <a:rPr lang="en-US" altLang="zh-CN"/>
            </a:fld>
            <a:endParaRPr lang="en-US" altLang="zh-CN"/>
          </a:p>
        </p:txBody>
      </p:sp>
      <p:sp>
        <p:nvSpPr>
          <p:cNvPr id="246786" name="Rectangle 2"/>
          <p:cNvSpPr>
            <a:spLocks noGrp="1" noRot="1" noChangeAspect="1" noChangeArrowheads="1" noTextEdit="1"/>
          </p:cNvSpPr>
          <p:nvPr>
            <p:ph type="sldImg"/>
          </p:nvPr>
        </p:nvSpPr>
        <p:spPr/>
      </p:sp>
      <p:sp>
        <p:nvSpPr>
          <p:cNvPr id="2467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BA181F6-A692-4883-9B41-EAF781825B31}" type="slidenum">
              <a:rPr lang="en-US" altLang="zh-CN"/>
            </a:fld>
            <a:endParaRPr lang="en-US" altLang="zh-CN"/>
          </a:p>
        </p:txBody>
      </p:sp>
      <p:sp>
        <p:nvSpPr>
          <p:cNvPr id="267266" name="Rectangle 2"/>
          <p:cNvSpPr>
            <a:spLocks noGrp="1" noRot="1" noChangeAspect="1" noChangeArrowheads="1" noTextEdit="1"/>
          </p:cNvSpPr>
          <p:nvPr>
            <p:ph type="sldImg"/>
          </p:nvPr>
        </p:nvSpPr>
        <p:spPr/>
      </p:sp>
      <p:sp>
        <p:nvSpPr>
          <p:cNvPr id="2672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C78C3C9-AEED-45D1-A6EE-EF2E9E09FB05}" type="slidenum">
              <a:rPr lang="en-US" altLang="zh-CN"/>
            </a:fld>
            <a:endParaRPr lang="en-US" altLang="zh-CN"/>
          </a:p>
        </p:txBody>
      </p:sp>
      <p:sp>
        <p:nvSpPr>
          <p:cNvPr id="276482" name="Rectangle 2"/>
          <p:cNvSpPr>
            <a:spLocks noGrp="1" noRot="1" noChangeAspect="1" noChangeArrowheads="1" noTextEdit="1"/>
          </p:cNvSpPr>
          <p:nvPr>
            <p:ph type="sldImg"/>
          </p:nvPr>
        </p:nvSpPr>
        <p:spPr/>
      </p:sp>
      <p:sp>
        <p:nvSpPr>
          <p:cNvPr id="276483"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latin typeface="宋体" panose="02010600030101010101" pitchFamily="2" charset="-122"/>
                <a:ea typeface="+mn-ea"/>
              </a:rPr>
              <a:t>参与者（</a:t>
            </a:r>
            <a:r>
              <a:rPr lang="en-US" altLang="zh-CN" sz="1200" b="0" dirty="0">
                <a:latin typeface="宋体" panose="02010600030101010101" pitchFamily="2" charset="-122"/>
                <a:ea typeface="+mn-ea"/>
              </a:rPr>
              <a:t>actor</a:t>
            </a:r>
            <a:r>
              <a:rPr lang="zh-CN" altLang="en-US" sz="1200" b="0" dirty="0">
                <a:latin typeface="宋体" panose="02010600030101010101" pitchFamily="2" charset="-122"/>
                <a:ea typeface="+mn-ea"/>
              </a:rPr>
              <a:t>）</a:t>
            </a:r>
            <a:r>
              <a:rPr lang="zh-CN" altLang="zh-CN" sz="1200" b="0" kern="1200" dirty="0">
                <a:solidFill>
                  <a:schemeClr val="tx1"/>
                </a:solidFill>
                <a:effectLst/>
                <a:latin typeface="+mn-lt"/>
                <a:ea typeface="+mn-ea"/>
                <a:cs typeface="+mn-cs"/>
              </a:rPr>
              <a:t>，又叫执行者</a:t>
            </a:r>
            <a:r>
              <a:rPr lang="zh-CN" altLang="en-US" sz="1200" b="0" kern="1200" dirty="0">
                <a:solidFill>
                  <a:schemeClr val="tx1"/>
                </a:solidFill>
                <a:effectLst/>
                <a:latin typeface="+mn-lt"/>
                <a:ea typeface="+mn-ea"/>
                <a:cs typeface="+mn-cs"/>
              </a:rPr>
              <a:t>，</a:t>
            </a:r>
            <a:r>
              <a:rPr lang="zh-CN" altLang="en-US" sz="1200" b="0" dirty="0">
                <a:latin typeface="宋体" panose="02010600030101010101" pitchFamily="2" charset="-122"/>
                <a:ea typeface="+mn-ea"/>
              </a:rPr>
              <a:t>是指系统外部与系统交互的人或其他系统。</a:t>
            </a:r>
            <a:endParaRPr lang="zh-CN" altLang="en-US" sz="1200" b="0" dirty="0">
              <a:latin typeface="宋体" panose="02010600030101010101" pitchFamily="2" charset="-122"/>
              <a:ea typeface="+mn-ea"/>
            </a:endParaRPr>
          </a:p>
          <a:p>
            <a:endParaRPr lang="en-US" altLang="zh-CN" b="0" dirty="0"/>
          </a:p>
          <a:p>
            <a:r>
              <a:rPr lang="zh-CN" altLang="en-US" sz="1200" b="0" dirty="0">
                <a:latin typeface="宋体" panose="02010600030101010101" pitchFamily="2" charset="-122"/>
                <a:ea typeface="+mn-ea"/>
              </a:rPr>
              <a:t>用例（</a:t>
            </a:r>
            <a:r>
              <a:rPr lang="en-US" altLang="zh-CN" sz="1200" b="0" dirty="0">
                <a:latin typeface="宋体" panose="02010600030101010101" pitchFamily="2" charset="-122"/>
                <a:ea typeface="+mn-ea"/>
              </a:rPr>
              <a:t>use case</a:t>
            </a:r>
            <a:r>
              <a:rPr lang="zh-CN" altLang="en-US" sz="1200" b="0" dirty="0">
                <a:latin typeface="宋体" panose="02010600030101010101" pitchFamily="2" charset="-122"/>
                <a:ea typeface="+mn-ea"/>
              </a:rPr>
              <a:t>）是系统所提供的一个功能（或某一特定用法）的描述，是执行者和系统交互的一个完整过程。</a:t>
            </a:r>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50B1D04-F47A-4CA2-9176-597611F06089}" type="slidenum">
              <a:rPr lang="en-US" altLang="zh-CN"/>
            </a:fld>
            <a:endParaRPr lang="en-US" altLang="zh-CN"/>
          </a:p>
        </p:txBody>
      </p:sp>
      <p:sp>
        <p:nvSpPr>
          <p:cNvPr id="387074" name="Rectangle 2"/>
          <p:cNvSpPr>
            <a:spLocks noGrp="1" noRot="1" noChangeAspect="1" noChangeArrowheads="1" noTextEdit="1"/>
          </p:cNvSpPr>
          <p:nvPr>
            <p:ph type="sldImg"/>
          </p:nvPr>
        </p:nvSpPr>
        <p:spPr/>
      </p:sp>
      <p:sp>
        <p:nvSpPr>
          <p:cNvPr id="387075" name="Rectangle 3"/>
          <p:cNvSpPr>
            <a:spLocks noGrp="1" noChangeArrowheads="1"/>
          </p:cNvSpPr>
          <p:nvPr>
            <p:ph type="body" idx="1"/>
          </p:nvPr>
        </p:nvSpPr>
        <p:spPr/>
        <p:txBody>
          <a:bodyPr/>
          <a:lstStyle/>
          <a:p>
            <a:pPr lvl="0" eaLnBrk="1" hangingPunct="1">
              <a:lnSpc>
                <a:spcPct val="90000"/>
              </a:lnSpc>
            </a:pPr>
            <a:r>
              <a:rPr lang="zh-CN" altLang="zh-CN" dirty="0">
                <a:ea typeface="+mn-ea"/>
              </a:rPr>
              <a:t>主要参与者</a:t>
            </a:r>
            <a:endParaRPr lang="zh-CN" altLang="zh-CN" dirty="0">
              <a:ea typeface="+mn-ea"/>
            </a:endParaRPr>
          </a:p>
          <a:p>
            <a:pPr lvl="1" eaLnBrk="1" hangingPunct="1">
              <a:lnSpc>
                <a:spcPct val="90000"/>
              </a:lnSpc>
            </a:pPr>
            <a:r>
              <a:rPr lang="zh-CN" altLang="zh-CN" dirty="0">
                <a:ea typeface="+mn-ea"/>
              </a:rPr>
              <a:t>具有用户目标，并通过使用当前系统的服务完成。例如，收银员。他们是发现驱动用例的用户目标。</a:t>
            </a:r>
            <a:endParaRPr lang="zh-CN" altLang="zh-CN" dirty="0">
              <a:ea typeface="+mn-ea"/>
            </a:endParaRPr>
          </a:p>
          <a:p>
            <a:pPr lvl="0" eaLnBrk="1" hangingPunct="1">
              <a:lnSpc>
                <a:spcPct val="90000"/>
              </a:lnSpc>
            </a:pPr>
            <a:r>
              <a:rPr lang="zh-CN" altLang="zh-CN" dirty="0">
                <a:ea typeface="+mn-ea"/>
              </a:rPr>
              <a:t>协助参与者</a:t>
            </a:r>
            <a:endParaRPr lang="zh-CN" altLang="zh-CN" dirty="0">
              <a:ea typeface="+mn-ea"/>
            </a:endParaRPr>
          </a:p>
          <a:p>
            <a:pPr lvl="1" eaLnBrk="1" hangingPunct="1">
              <a:lnSpc>
                <a:spcPct val="90000"/>
              </a:lnSpc>
            </a:pPr>
            <a:r>
              <a:rPr lang="zh-CN" altLang="zh-CN" dirty="0">
                <a:ea typeface="+mn-ea"/>
              </a:rPr>
              <a:t>为当前系统提供服务。例如，自动付费授权服务。协助参与者通常是计算机系统，但也可以是组织或人。通过协助参与者可以明确外部接口和协议。</a:t>
            </a:r>
            <a:endParaRPr lang="zh-CN" altLang="zh-CN" dirty="0">
              <a:ea typeface="+mn-ea"/>
            </a:endParaRPr>
          </a:p>
          <a:p>
            <a:pPr lvl="0" eaLnBrk="1" hangingPunct="1">
              <a:lnSpc>
                <a:spcPct val="90000"/>
              </a:lnSpc>
            </a:pPr>
            <a:r>
              <a:rPr lang="zh-CN" altLang="zh-CN" dirty="0">
                <a:ea typeface="+mn-ea"/>
              </a:rPr>
              <a:t>幕后参与者</a:t>
            </a:r>
            <a:endParaRPr lang="zh-CN" altLang="zh-CN" dirty="0">
              <a:ea typeface="+mn-ea"/>
            </a:endParaRPr>
          </a:p>
          <a:p>
            <a:pPr lvl="1" eaLnBrk="1" hangingPunct="1">
              <a:lnSpc>
                <a:spcPct val="90000"/>
              </a:lnSpc>
            </a:pPr>
            <a:r>
              <a:rPr lang="zh-CN" altLang="zh-CN" dirty="0">
                <a:ea typeface="+mn-ea"/>
              </a:rPr>
              <a:t>在用例行为中具有影响或利益，但不是主要或协助参与者。例如政府税收机关。幕后参与者的确定确保确定并满足所有必要的重要事务。如果不明确地对幕后参与者进行命名，则有时很容易忽略其影响或利益</a:t>
            </a:r>
            <a:r>
              <a:rPr lang="zh-CN" altLang="en-US" dirty="0">
                <a:ea typeface="+mn-ea"/>
              </a:rPr>
              <a:t>。</a:t>
            </a:r>
            <a:endParaRPr lang="zh-CN" altLang="zh-CN" dirty="0">
              <a:ea typeface="+mn-ea"/>
            </a:endParaRPr>
          </a:p>
          <a:p>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BA5D5CD-DC64-463C-887B-032F1E4CEE5B}" type="slidenum">
              <a:rPr lang="en-US" altLang="zh-CN"/>
            </a:fld>
            <a:endParaRPr lang="en-US" altLang="zh-CN"/>
          </a:p>
        </p:txBody>
      </p:sp>
      <p:sp>
        <p:nvSpPr>
          <p:cNvPr id="244738" name="Rectangle 2"/>
          <p:cNvSpPr>
            <a:spLocks noGrp="1" noRot="1" noChangeAspect="1" noChangeArrowheads="1" noTextEdit="1"/>
          </p:cNvSpPr>
          <p:nvPr>
            <p:ph type="sldImg"/>
          </p:nvPr>
        </p:nvSpPr>
        <p:spPr/>
      </p:sp>
      <p:sp>
        <p:nvSpPr>
          <p:cNvPr id="244739" name="Rectangle 3"/>
          <p:cNvSpPr>
            <a:spLocks noGrp="1" noChangeArrowheads="1"/>
          </p:cNvSpPr>
          <p:nvPr>
            <p:ph type="body" idx="1"/>
          </p:nvPr>
        </p:nvSpPr>
        <p:spPr/>
        <p:txBody>
          <a:bodyPr/>
          <a:lstStyle/>
          <a:p>
            <a:r>
              <a:rPr lang="zh-CN" altLang="zh-CN" sz="1200" b="0" dirty="0">
                <a:latin typeface="宋体" panose="02010600030101010101" pitchFamily="2" charset="-122"/>
                <a:ea typeface="+mn-ea"/>
              </a:rPr>
              <a:t>用例具有响应性、回执性、完整性。</a:t>
            </a:r>
            <a:r>
              <a:rPr lang="zh-CN" altLang="en-US" sz="1200" b="0" dirty="0">
                <a:latin typeface="宋体" panose="02010600030101010101" pitchFamily="2" charset="-122"/>
                <a:ea typeface="+mn-ea"/>
              </a:rPr>
              <a:t>分为业务用例和系统用例。</a:t>
            </a:r>
            <a:endParaRPr lang="zh-CN" altLang="zh-CN" sz="1200" b="0" dirty="0">
              <a:latin typeface="宋体" panose="02010600030101010101" pitchFamily="2" charset="-122"/>
              <a:ea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398E4D3-EC80-4C84-BED9-0271088FC1EF}" type="slidenum">
              <a:rPr lang="en-US" altLang="zh-CN"/>
            </a:fld>
            <a:endParaRPr lang="en-US" altLang="zh-CN"/>
          </a:p>
        </p:txBody>
      </p:sp>
      <p:sp>
        <p:nvSpPr>
          <p:cNvPr id="296962" name="Rectangle 2"/>
          <p:cNvSpPr>
            <a:spLocks noGrp="1" noRot="1" noChangeAspect="1" noChangeArrowheads="1" noTextEdit="1"/>
          </p:cNvSpPr>
          <p:nvPr>
            <p:ph type="sldImg"/>
          </p:nvPr>
        </p:nvSpPr>
        <p:spPr/>
      </p:sp>
      <p:sp>
        <p:nvSpPr>
          <p:cNvPr id="296963"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084BF1C-F6A9-49EA-8648-6001EF3A6DCF}" type="slidenum">
              <a:rPr lang="en-US" altLang="zh-CN"/>
            </a:fld>
            <a:endParaRPr lang="en-US" altLang="zh-CN"/>
          </a:p>
        </p:txBody>
      </p:sp>
      <p:sp>
        <p:nvSpPr>
          <p:cNvPr id="301058" name="Rectangle 2"/>
          <p:cNvSpPr>
            <a:spLocks noGrp="1" noRot="1" noChangeAspect="1" noChangeArrowheads="1" noTextEdit="1"/>
          </p:cNvSpPr>
          <p:nvPr>
            <p:ph type="sldImg"/>
          </p:nvPr>
        </p:nvSpPr>
        <p:spPr/>
      </p:sp>
      <p:sp>
        <p:nvSpPr>
          <p:cNvPr id="301059"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D2DD737-9338-46EE-A345-B879D9A84E3B}" type="slidenum">
              <a:rPr lang="en-US" altLang="zh-CN"/>
            </a:fld>
            <a:endParaRPr lang="en-US" altLang="zh-CN"/>
          </a:p>
        </p:txBody>
      </p:sp>
      <p:sp>
        <p:nvSpPr>
          <p:cNvPr id="250882" name="Rectangle 2"/>
          <p:cNvSpPr>
            <a:spLocks noGrp="1" noRot="1" noChangeAspect="1" noChangeArrowheads="1" noTextEdit="1"/>
          </p:cNvSpPr>
          <p:nvPr>
            <p:ph type="sldImg"/>
          </p:nvPr>
        </p:nvSpPr>
        <p:spPr/>
      </p:sp>
      <p:sp>
        <p:nvSpPr>
          <p:cNvPr id="250883" name="Rectangle 3"/>
          <p:cNvSpPr>
            <a:spLocks noGrp="1" noChangeArrowheads="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zh-CN" sz="800" dirty="0"/>
              <a:t>这个使用场景中，图书管理员是操作者，而学生不是，因为借书事务本身是由图书管理员来完成，而不是学生本身。但如果学生可以自助借书，或者可以在网上借书，那么学生也将是操作者，因为这两种场景中学生直接与图书管理系统进行了交互。</a:t>
            </a:r>
            <a:endParaRPr lang="zh-CN" altLang="zh-CN" sz="800" dirty="0"/>
          </a:p>
          <a:p>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CC319A0-5D41-4FB1-9E2C-85208CB97377}" type="slidenum">
              <a:rPr lang="en-US" altLang="zh-CN"/>
            </a:fld>
            <a:endParaRPr lang="en-US" altLang="zh-CN"/>
          </a:p>
        </p:txBody>
      </p:sp>
      <p:sp>
        <p:nvSpPr>
          <p:cNvPr id="331778" name="Rectangle 2"/>
          <p:cNvSpPr>
            <a:spLocks noGrp="1" noRot="1" noChangeAspect="1" noChangeArrowheads="1" noTextEdit="1"/>
          </p:cNvSpPr>
          <p:nvPr>
            <p:ph type="sldImg"/>
          </p:nvPr>
        </p:nvSpPr>
        <p:spPr/>
      </p:sp>
      <p:sp>
        <p:nvSpPr>
          <p:cNvPr id="331779"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51435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zh-CN" dirty="0"/>
              <a:t>如果系统用例较多，不同的用例之间存在共同行为，可以将这些共同行为提取出来，单独组成一个用例。当其他用例使用这个用例之时，它们就构成了包含关系。</a:t>
            </a:r>
            <a:endParaRPr lang="zh-CN" altLang="en-US" dirty="0"/>
          </a:p>
          <a:p>
            <a:pPr marL="171450" marR="0" lvl="0" indent="-171450" algn="l" defTabSz="51435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zh-CN" dirty="0"/>
              <a:t>在用例的执行过程中，可能出现一些异常行为，也可能会在不同的分支行为中选择执行，这时可将异常行为与可选分支抽象成一个单独的扩展用例，这样扩展用例与主用例之间就构成了扩展关系。一个用例常常有多个扩展用例。</a:t>
            </a:r>
            <a:endParaRPr lang="zh-CN" altLang="en-US" dirty="0"/>
          </a:p>
          <a:p>
            <a:pPr marL="171450" lvl="0" indent="-171450">
              <a:buFont typeface="Arial" panose="020B0604020202020204" pitchFamily="34" charset="0"/>
              <a:buChar char="•"/>
            </a:pPr>
            <a:r>
              <a:rPr lang="zh-CN" altLang="zh-CN" dirty="0"/>
              <a:t>用例之间的泛化关系描述用例的一般与特殊关系，不同的子用例代表了父用例的不同实现。</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D734866-A02D-4D92-9403-CD55F2CF0039}"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000000"/>
                </a:solidFill>
                <a:latin typeface="宋体" panose="02010600030101010101" pitchFamily="2" charset="-122"/>
              </a:rPr>
              <a:t>有时当某一个用例的事件流过于复杂时，为了简化用例的描述，我们也可以把某一段事件流抽象成为一个被包含的用例。这种情况类似于在过程设计语言中，将程序的某一段算法封装成一个子过程，然后再从主程序中调用这一子过程。</a:t>
            </a:r>
            <a:r>
              <a:rPr lang="zh-CN" altLang="en-US" dirty="0"/>
              <a:t>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如果两个以上用例有大量一致的功能，则可以将这个功能分解到另一个用例中，其他用例可以和这个用例建立包含关系。</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一个用例的功能太多时，可以用包含关系建模多个小用例。</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E7714C0-24F2-4809-B782-8D7A95AD96F2}" type="slidenum">
              <a:rPr lang="en-US" altLang="zh-CN"/>
            </a:fld>
            <a:endParaRPr lang="en-US" altLang="zh-CN"/>
          </a:p>
        </p:txBody>
      </p:sp>
      <p:sp>
        <p:nvSpPr>
          <p:cNvPr id="119810" name="Rectangle 2"/>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ln>
        </p:spPr>
      </p:sp>
      <p:sp>
        <p:nvSpPr>
          <p:cNvPr id="119811" name="Rectangle 3"/>
          <p:cNvSpPr>
            <a:spLocks noGrp="1" noChangeArrowheads="1"/>
          </p:cNvSpPr>
          <p:nvPr>
            <p:ph type="body" idx="1"/>
          </p:nvPr>
        </p:nvSpPr>
        <p:spPr bwMode="auto">
          <a:xfrm>
            <a:off x="685637" y="4342883"/>
            <a:ext cx="5486727" cy="4115243"/>
          </a:xfrm>
          <a:prstGeom prst="rect">
            <a:avLst/>
          </a:prstGeom>
          <a:solidFill>
            <a:srgbClr val="FFFFFF"/>
          </a:solidFill>
          <a:ln>
            <a:solidFill>
              <a:srgbClr val="000000"/>
            </a:solidFill>
            <a:miter lim="800000"/>
          </a:ln>
        </p:spPr>
        <p:txBody>
          <a:bodyPr/>
          <a:lstStyle/>
          <a:p>
            <a:endParaRPr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E7714C0-24F2-4809-B782-8D7A95AD96F2}" type="slidenum">
              <a:rPr lang="en-US" altLang="zh-CN"/>
            </a:fld>
            <a:endParaRPr lang="en-US" altLang="zh-CN"/>
          </a:p>
        </p:txBody>
      </p:sp>
      <p:sp>
        <p:nvSpPr>
          <p:cNvPr id="119810" name="Rectangle 2"/>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ln>
        </p:spPr>
      </p:sp>
      <p:sp>
        <p:nvSpPr>
          <p:cNvPr id="119811" name="Rectangle 3"/>
          <p:cNvSpPr>
            <a:spLocks noGrp="1" noChangeArrowheads="1"/>
          </p:cNvSpPr>
          <p:nvPr>
            <p:ph type="body" idx="1"/>
          </p:nvPr>
        </p:nvSpPr>
        <p:spPr bwMode="auto">
          <a:xfrm>
            <a:off x="685637" y="4342883"/>
            <a:ext cx="5486727" cy="4115243"/>
          </a:xfrm>
          <a:prstGeom prst="rect">
            <a:avLst/>
          </a:prstGeom>
          <a:solidFill>
            <a:srgbClr val="FFFFFF"/>
          </a:solidFill>
          <a:ln>
            <a:solidFill>
              <a:srgbClr val="000000"/>
            </a:solidFill>
            <a:miter lim="800000"/>
          </a:ln>
        </p:spPr>
        <p:txBody>
          <a:bodyPr/>
          <a:lstStyle/>
          <a:p>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D734866-A02D-4D92-9403-CD55F2CF0039}"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D734866-A02D-4D92-9403-CD55F2CF0039}"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CEFCBA8-8CC0-49A4-9ED8-5EF237B6D85C}" type="slidenum">
              <a:rPr lang="en-US" altLang="zh-CN"/>
            </a:fld>
            <a:endParaRPr lang="en-US" altLang="zh-CN"/>
          </a:p>
        </p:txBody>
      </p:sp>
      <p:sp>
        <p:nvSpPr>
          <p:cNvPr id="122882" name="Rectangle 2"/>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ln>
        </p:spPr>
      </p:sp>
      <p:sp>
        <p:nvSpPr>
          <p:cNvPr id="122883" name="Rectangle 3"/>
          <p:cNvSpPr>
            <a:spLocks noGrp="1" noChangeArrowheads="1"/>
          </p:cNvSpPr>
          <p:nvPr>
            <p:ph type="body" idx="1"/>
          </p:nvPr>
        </p:nvSpPr>
        <p:spPr bwMode="auto">
          <a:xfrm>
            <a:off x="685637" y="4342883"/>
            <a:ext cx="5486727" cy="4115243"/>
          </a:xfrm>
          <a:prstGeom prst="rect">
            <a:avLst/>
          </a:prstGeom>
          <a:solidFill>
            <a:srgbClr val="FFFFFF"/>
          </a:solidFill>
          <a:ln>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solidFill>
                <a:srgbClr val="000000"/>
              </a:solidFill>
              <a:latin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扩展用例是可选项，将基础用例中一段相对独立并且可选的动作，用扩展用例加以封装，再让它从基础用例中声明的扩展点上进行扩展，可使基础用例行为更简练和目标更集中。</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7292D87-9DFC-4C68-8619-263719584A50}" type="slidenum">
              <a:rPr lang="en-US" altLang="zh-CN"/>
            </a:fld>
            <a:endParaRPr lang="en-US" altLang="zh-CN"/>
          </a:p>
        </p:txBody>
      </p:sp>
      <p:sp>
        <p:nvSpPr>
          <p:cNvPr id="126978" name="Rectangle 2"/>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ln>
        </p:spPr>
      </p:sp>
      <p:sp>
        <p:nvSpPr>
          <p:cNvPr id="126979" name="Rectangle 3"/>
          <p:cNvSpPr>
            <a:spLocks noGrp="1" noChangeArrowheads="1"/>
          </p:cNvSpPr>
          <p:nvPr>
            <p:ph type="body" idx="1"/>
          </p:nvPr>
        </p:nvSpPr>
        <p:spPr bwMode="auto">
          <a:xfrm>
            <a:off x="685637" y="4342883"/>
            <a:ext cx="5486727" cy="4115243"/>
          </a:xfrm>
          <a:prstGeom prst="rect">
            <a:avLst/>
          </a:prstGeom>
          <a:solidFill>
            <a:srgbClr val="FFFFFF"/>
          </a:solidFill>
          <a:ln>
            <a:solidFill>
              <a:srgbClr val="000000"/>
            </a:solidFill>
            <a:miter lim="800000"/>
          </a:ln>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D734866-A02D-4D92-9403-CD55F2CF0039}"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4F826BE-DED6-4E2D-839A-8746987520BE}" type="slidenum">
              <a:rPr lang="en-US" altLang="zh-CN"/>
            </a:fld>
            <a:endParaRPr lang="en-US" altLang="zh-CN"/>
          </a:p>
        </p:txBody>
      </p:sp>
      <p:sp>
        <p:nvSpPr>
          <p:cNvPr id="115714" name="Rectangle 2"/>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ln>
        </p:spPr>
      </p:sp>
      <p:sp>
        <p:nvSpPr>
          <p:cNvPr id="115715" name="Rectangle 3"/>
          <p:cNvSpPr>
            <a:spLocks noGrp="1" noChangeArrowheads="1"/>
          </p:cNvSpPr>
          <p:nvPr>
            <p:ph type="body" idx="1"/>
          </p:nvPr>
        </p:nvSpPr>
        <p:spPr bwMode="auto">
          <a:xfrm>
            <a:off x="685637" y="4342883"/>
            <a:ext cx="5486727" cy="4115243"/>
          </a:xfrm>
          <a:prstGeom prst="rect">
            <a:avLst/>
          </a:prstGeom>
          <a:solidFill>
            <a:srgbClr val="FFFFFF"/>
          </a:solidFill>
          <a:ln>
            <a:solidFill>
              <a:srgbClr val="000000"/>
            </a:solidFill>
            <a:miter lim="800000"/>
          </a:ln>
        </p:spPr>
        <p:txBody>
          <a:bodyPr/>
          <a:lstStyle/>
          <a:p>
            <a:endParaRPr lang="en-US" altLang="zh-CN" sz="18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BC081CA-563E-4318-B39D-B0D7838453F2}" type="slidenum">
              <a:rPr lang="en-US" altLang="zh-CN"/>
            </a:fld>
            <a:endParaRPr lang="en-US" altLang="zh-CN"/>
          </a:p>
        </p:txBody>
      </p:sp>
      <p:sp>
        <p:nvSpPr>
          <p:cNvPr id="288770" name="Rectangle 2"/>
          <p:cNvSpPr>
            <a:spLocks noGrp="1" noRot="1" noChangeAspect="1" noChangeArrowheads="1" noTextEdit="1"/>
          </p:cNvSpPr>
          <p:nvPr>
            <p:ph type="sldImg"/>
          </p:nvPr>
        </p:nvSpPr>
        <p:spPr/>
      </p:sp>
      <p:sp>
        <p:nvSpPr>
          <p:cNvPr id="2887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51B79952-33DF-4A19-AAF3-E3468DAE4B4C}"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B349E028-0205-4E9B-845E-5E306C030144}"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AC0813BC-A778-4DBF-AC5F-E6D62827F1F8}"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176CFD28-25B9-484D-BD6D-769F442FB494}"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8CE9B229-E0D3-4CDA-9E39-F0C557B47BDC}"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A040B1D1-7038-41A2-A83F-6258EE97D7AD}"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A51DC90F-AE30-4AF7-8C2A-BA367D19C20D}"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9A6C80C3-CF99-4FC0-B2BF-4B650BA3FF0B}"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0981BBC8-5992-4C3F-BC5E-0D0AA70F3BCA}"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E431B15C-E7AF-4CFA-9D5D-EB757E7BF5D4}"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727032" y="4805958"/>
            <a:ext cx="1920240" cy="274320"/>
          </a:xfrm>
          <a:prstGeom prst="rect">
            <a:avLst/>
          </a:prstGeom>
        </p:spPr>
        <p:txBody>
          <a:bodyPr/>
          <a:lstStyle>
            <a:lvl1pPr>
              <a:defRPr sz="1050"/>
            </a:lvl1pPr>
          </a:lstStyle>
          <a:p>
            <a:fld id="{136FF661-31E6-4F8B-970B-9591685EBF07}" type="datetime1">
              <a:rPr lang="zh-CN" altLang="en-US" smtClean="0"/>
            </a:fld>
            <a:endParaRPr lang="zh-CN" altLang="en-US" dirty="0"/>
          </a:p>
        </p:txBody>
      </p:sp>
      <p:sp>
        <p:nvSpPr>
          <p:cNvPr id="5" name="页脚占位符 4"/>
          <p:cNvSpPr>
            <a:spLocks noGrp="1"/>
          </p:cNvSpPr>
          <p:nvPr>
            <p:ph type="ftr" sz="quarter" idx="11"/>
          </p:nvPr>
        </p:nvSpPr>
        <p:spPr>
          <a:xfrm>
            <a:off x="4380074" y="4805960"/>
            <a:ext cx="2350681" cy="273844"/>
          </a:xfrm>
          <a:prstGeom prst="rect">
            <a:avLst/>
          </a:prstGeom>
        </p:spPr>
        <p:txBody>
          <a:bodyPr/>
          <a:lstStyle>
            <a:lvl1pPr>
              <a:defRPr sz="1050"/>
            </a:lvl1pPr>
          </a:lstStyle>
          <a:p>
            <a:r>
              <a:rPr lang="zh-CN" altLang="en-US"/>
              <a:t>软件工程</a:t>
            </a:r>
            <a:endParaRPr lang="zh-CN" altLang="en-US" dirty="0"/>
          </a:p>
        </p:txBody>
      </p:sp>
      <p:sp>
        <p:nvSpPr>
          <p:cNvPr id="6"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
        <p:nvSpPr>
          <p:cNvPr id="7" name="标题占位符"/>
          <p:cNvSpPr>
            <a:spLocks noGrp="1"/>
          </p:cNvSpPr>
          <p:nvPr>
            <p:ph type="body" sz="quarter" idx="13" hasCustomPrompt="1"/>
          </p:nvPr>
        </p:nvSpPr>
        <p:spPr>
          <a:xfrm>
            <a:off x="1052622" y="159755"/>
            <a:ext cx="6275277" cy="415498"/>
          </a:xfrm>
          <a:prstGeom prst="rect">
            <a:avLst/>
          </a:prstGeom>
        </p:spPr>
        <p:txBody>
          <a:bodyPr wrap="square" anchor="ctr">
            <a:spAutoFit/>
          </a:bodyPr>
          <a:lstStyle>
            <a:lvl1pPr marL="0" indent="0" algn="l">
              <a:lnSpc>
                <a:spcPct val="100000"/>
              </a:lnSpc>
              <a:buFontTx/>
              <a:buNone/>
              <a:defRPr lang="zh-CN" altLang="en-US" sz="2100" b="1" spc="169"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tmplLst>
          <p:tmpl lvl="0">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750"/>
                        <p:tgtEl>
                          <p:spTgt spid="7"/>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fld id="{B71349F3-8557-44AA-95BE-0CF3BDF387C6}" type="datetime1">
              <a:rPr lang="zh-CN" altLang="en-US" smtClean="0"/>
            </a:fld>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内容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
        <p:nvSpPr>
          <p:cNvPr id="3" name="标题占位符"/>
          <p:cNvSpPr>
            <a:spLocks noGrp="1"/>
          </p:cNvSpPr>
          <p:nvPr>
            <p:ph type="body" sz="quarter" idx="10" hasCustomPrompt="1"/>
          </p:nvPr>
        </p:nvSpPr>
        <p:spPr>
          <a:xfrm>
            <a:off x="429992" y="234450"/>
            <a:ext cx="6897908" cy="415498"/>
          </a:xfrm>
          <a:prstGeom prst="rect">
            <a:avLst/>
          </a:prstGeom>
        </p:spPr>
        <p:txBody>
          <a:bodyPr wrap="square" anchor="ctr">
            <a:spAutoFit/>
          </a:bodyPr>
          <a:lstStyle>
            <a:lvl1pPr marL="0" indent="0" algn="l">
              <a:lnSpc>
                <a:spcPct val="100000"/>
              </a:lnSpc>
              <a:buFontTx/>
              <a:buNone/>
              <a:defRPr lang="zh-CN" altLang="en-US" sz="2100" b="1" spc="169"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7" name="日期占位符 3"/>
          <p:cNvSpPr>
            <a:spLocks noGrp="1"/>
          </p:cNvSpPr>
          <p:nvPr>
            <p:ph type="dt" sz="half" idx="11"/>
          </p:nvPr>
        </p:nvSpPr>
        <p:spPr>
          <a:xfrm>
            <a:off x="6727032" y="4805958"/>
            <a:ext cx="1920240" cy="274320"/>
          </a:xfrm>
          <a:prstGeom prst="rect">
            <a:avLst/>
          </a:prstGeom>
        </p:spPr>
        <p:txBody>
          <a:bodyPr/>
          <a:lstStyle>
            <a:lvl1pPr>
              <a:defRPr sz="1200"/>
            </a:lvl1pPr>
          </a:lstStyle>
          <a:p>
            <a:fld id="{EFB0337F-40F4-4EE2-9D65-B66192D9492B}" type="datetime1">
              <a:rPr lang="zh-CN" altLang="en-US" smtClean="0"/>
            </a:fld>
            <a:endParaRPr lang="zh-CN" altLang="en-US"/>
          </a:p>
        </p:txBody>
      </p:sp>
      <p:sp>
        <p:nvSpPr>
          <p:cNvPr id="10" name="页脚占位符 4"/>
          <p:cNvSpPr>
            <a:spLocks noGrp="1"/>
          </p:cNvSpPr>
          <p:nvPr>
            <p:ph type="ftr" sz="quarter" idx="12"/>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11" name="灯片编号占位符 5"/>
          <p:cNvSpPr>
            <a:spLocks noGrp="1"/>
          </p:cNvSpPr>
          <p:nvPr>
            <p:ph type="sldNum" sz="quarter" idx="13"/>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02D0E37C-B833-4E1D-874D-338F48CCE487}"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9" Type="http://schemas.openxmlformats.org/officeDocument/2006/relationships/slideLayout" Target="../slideLayouts/slideLayout9.xml"/><Relationship Id="rId18" Type="http://schemas.openxmlformats.org/officeDocument/2006/relationships/tags" Target="../tags/tag19.xml"/><Relationship Id="rId17" Type="http://schemas.openxmlformats.org/officeDocument/2006/relationships/image" Target="../media/image8.png"/><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9" Type="http://schemas.openxmlformats.org/officeDocument/2006/relationships/slideLayout" Target="../slideLayouts/slideLayout9.xml"/><Relationship Id="rId18" Type="http://schemas.openxmlformats.org/officeDocument/2006/relationships/tags" Target="../tags/tag36.xml"/><Relationship Id="rId17" Type="http://schemas.openxmlformats.org/officeDocument/2006/relationships/image" Target="../media/image8.png"/><Relationship Id="rId16" Type="http://schemas.openxmlformats.org/officeDocument/2006/relationships/tags" Target="../tags/tag35.xml"/><Relationship Id="rId15" Type="http://schemas.openxmlformats.org/officeDocument/2006/relationships/tags" Target="../tags/tag34.xml"/><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microsoft.com/office/2007/relationships/hdphoto" Target="../media/image11.wdp"/><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w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1" Type="http://schemas.openxmlformats.org/officeDocument/2006/relationships/slideLayout" Target="../slideLayouts/slideLayout2.xml"/><Relationship Id="rId10" Type="http://schemas.openxmlformats.org/officeDocument/2006/relationships/image" Target="../media/image28.png"/><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wmf"/></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wm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image" Target="../media/image43.emf"/><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image" Target="../media/image40.emf"/></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wmf"/></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wm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e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48.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52.emf"/><Relationship Id="rId1" Type="http://schemas.openxmlformats.org/officeDocument/2006/relationships/image" Target="../media/image5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58.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wmf"/></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emf"/></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6.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9.xml"/><Relationship Id="rId1" Type="http://schemas.openxmlformats.org/officeDocument/2006/relationships/image" Target="../media/image67.jpe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5.xml"/><Relationship Id="rId2" Type="http://schemas.openxmlformats.org/officeDocument/2006/relationships/image" Target="../media/image70.wmf"/><Relationship Id="rId1" Type="http://schemas.openxmlformats.org/officeDocument/2006/relationships/image" Target="../media/image69.wmf"/></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image" Target="../media/image6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1.emf"/></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6.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2.e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3.em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image" Target="../media/image74.emf"/></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5.emf"/></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0" Type="http://schemas.openxmlformats.org/officeDocument/2006/relationships/notesSlide" Target="../notesSlides/notesSlide47.xml"/><Relationship Id="rId2" Type="http://schemas.openxmlformats.org/officeDocument/2006/relationships/tags" Target="../tags/tag38.xml"/><Relationship Id="rId19" Type="http://schemas.openxmlformats.org/officeDocument/2006/relationships/slideLayout" Target="../slideLayouts/slideLayout9.xml"/><Relationship Id="rId18" Type="http://schemas.openxmlformats.org/officeDocument/2006/relationships/tags" Target="../tags/tag53.xml"/><Relationship Id="rId17" Type="http://schemas.openxmlformats.org/officeDocument/2006/relationships/image" Target="../media/image8.png"/><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9.xml"/><Relationship Id="rId1" Type="http://schemas.openxmlformats.org/officeDocument/2006/relationships/image" Target="../media/image67.jpeg"/></Relationships>
</file>

<file path=ppt/slides/_rels/slide109.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4.emf"/></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5.emf"/></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rgbClr val="000000"/>
                </a:solidFill>
              </a:rPr>
              <a:t>软件工程</a:t>
            </a:r>
            <a:br>
              <a:rPr lang="en-US" altLang="zh-CN" sz="4800" dirty="0">
                <a:solidFill>
                  <a:srgbClr val="000000"/>
                </a:solidFill>
              </a:rPr>
            </a:br>
            <a:r>
              <a:rPr lang="en-US" altLang="zh-CN" sz="4800" dirty="0">
                <a:solidFill>
                  <a:srgbClr val="000000"/>
                </a:solidFill>
              </a:rPr>
              <a:t>——</a:t>
            </a:r>
            <a:r>
              <a:rPr lang="zh-CN" altLang="en-US" sz="4800" dirty="0">
                <a:solidFill>
                  <a:srgbClr val="000000"/>
                </a:solidFill>
              </a:rPr>
              <a:t>需求分析</a:t>
            </a:r>
            <a:r>
              <a:rPr lang="en-US" altLang="zh-CN" sz="4800" dirty="0">
                <a:solidFill>
                  <a:srgbClr val="000000"/>
                </a:solidFill>
              </a:rPr>
              <a:t>2</a:t>
            </a:r>
            <a:endParaRPr lang="zh-CN" altLang="en-US" sz="3200" cap="none" dirty="0">
              <a:solidFill>
                <a:srgbClr val="000000"/>
              </a:solidFill>
            </a:endParaRPr>
          </a:p>
        </p:txBody>
      </p:sp>
      <p:sp>
        <p:nvSpPr>
          <p:cNvPr id="3" name="副标题 2"/>
          <p:cNvSpPr>
            <a:spLocks noGrp="1"/>
          </p:cNvSpPr>
          <p:nvPr>
            <p:ph type="subTitle" idx="1"/>
          </p:nvPr>
        </p:nvSpPr>
        <p:spPr>
          <a:xfrm>
            <a:off x="1958907" y="3620351"/>
            <a:ext cx="6899344" cy="1380882"/>
          </a:xfrm>
        </p:spPr>
        <p:txBody>
          <a:bodyPr>
            <a:normAutofit/>
          </a:bodyPr>
          <a:lstStyle/>
          <a:p>
            <a:pPr>
              <a:spcAft>
                <a:spcPts val="0"/>
              </a:spcAft>
            </a:pPr>
            <a:r>
              <a:rPr lang="zh-CN" altLang="en-US" sz="1800" dirty="0">
                <a:latin typeface="+mj-ea"/>
                <a:ea typeface="+mj-ea"/>
              </a:rPr>
              <a:t>          河南大学软件学院                                          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clrChange>
              <a:clrFrom>
                <a:srgbClr val="F6F6F6"/>
              </a:clrFrom>
              <a:clrTo>
                <a:srgbClr val="F6F6F6">
                  <a:alpha val="0"/>
                </a:srgbClr>
              </a:clrTo>
            </a:clrChange>
          </a:blip>
          <a:stretch>
            <a:fillRect/>
          </a:stretch>
        </p:blipFill>
        <p:spPr>
          <a:xfrm>
            <a:off x="5846257" y="1599929"/>
            <a:ext cx="3098189" cy="3253099"/>
          </a:xfrm>
          <a:prstGeom prst="rect">
            <a:avLst/>
          </a:prstGeom>
          <a:noFill/>
          <a:ln>
            <a:noFill/>
          </a:ln>
        </p:spPr>
      </p:pic>
      <p:sp>
        <p:nvSpPr>
          <p:cNvPr id="2" name="标题 1"/>
          <p:cNvSpPr>
            <a:spLocks noGrp="1"/>
          </p:cNvSpPr>
          <p:nvPr>
            <p:ph type="title"/>
          </p:nvPr>
        </p:nvSpPr>
        <p:spPr/>
        <p:txBody>
          <a:bodyPr/>
          <a:lstStyle/>
          <a:p>
            <a:pPr>
              <a:spcAft>
                <a:spcPts val="0"/>
              </a:spcAft>
            </a:pPr>
            <a:r>
              <a:rPr lang="zh-CN" altLang="en-US" dirty="0"/>
              <a:t>前情回顾</a:t>
            </a:r>
            <a:endParaRPr lang="zh-CN" altLang="en-US" dirty="0"/>
          </a:p>
        </p:txBody>
      </p:sp>
      <p:sp>
        <p:nvSpPr>
          <p:cNvPr id="3" name="内容占位符 2"/>
          <p:cNvSpPr>
            <a:spLocks noGrp="1"/>
          </p:cNvSpPr>
          <p:nvPr>
            <p:ph idx="1"/>
          </p:nvPr>
        </p:nvSpPr>
        <p:spPr>
          <a:xfrm>
            <a:off x="1094321" y="1017271"/>
            <a:ext cx="7506609" cy="3520440"/>
          </a:xfrm>
        </p:spPr>
        <p:txBody>
          <a:bodyPr>
            <a:normAutofit/>
          </a:bodyPr>
          <a:lstStyle/>
          <a:p>
            <a:r>
              <a:rPr lang="zh-CN" altLang="en-US" dirty="0"/>
              <a:t>第</a:t>
            </a:r>
            <a:r>
              <a:rPr lang="en-US" altLang="zh-CN" dirty="0"/>
              <a:t>3</a:t>
            </a:r>
            <a:r>
              <a:rPr lang="zh-CN" altLang="en-US" dirty="0"/>
              <a:t>章 需求分析</a:t>
            </a:r>
            <a:endParaRPr lang="zh-CN" altLang="en-US" dirty="0"/>
          </a:p>
          <a:p>
            <a:pPr lvl="1"/>
            <a:r>
              <a:rPr lang="zh-CN" altLang="en-US" dirty="0"/>
              <a:t>需求分析的任务、需求的类型、内容来源</a:t>
            </a:r>
            <a:endParaRPr lang="zh-CN" altLang="en-US" dirty="0"/>
          </a:p>
          <a:p>
            <a:pPr lvl="1"/>
            <a:r>
              <a:rPr lang="zh-CN" altLang="en-US" dirty="0"/>
              <a:t>需求工程的过程</a:t>
            </a:r>
            <a:endParaRPr lang="zh-CN" altLang="en-US" dirty="0"/>
          </a:p>
          <a:p>
            <a:pPr lvl="1"/>
            <a:r>
              <a:rPr lang="zh-CN" altLang="en-US" dirty="0"/>
              <a:t>获取需求的方法</a:t>
            </a:r>
            <a:endParaRPr lang="zh-CN" altLang="en-US" dirty="0"/>
          </a:p>
          <a:p>
            <a:r>
              <a:rPr lang="zh-CN" altLang="en-US" dirty="0"/>
              <a:t>实验：</a:t>
            </a:r>
            <a:endParaRPr lang="en-US" altLang="zh-CN" dirty="0"/>
          </a:p>
          <a:p>
            <a:pPr lvl="1"/>
            <a:r>
              <a:rPr lang="zh-CN" altLang="en-US" dirty="0"/>
              <a:t>获取需求，做项目的业务分析</a:t>
            </a:r>
            <a:endParaRPr lang="zh-CN" altLang="en-US" dirty="0"/>
          </a:p>
        </p:txBody>
      </p:sp>
      <p:sp>
        <p:nvSpPr>
          <p:cNvPr id="4" name="日期占位符 3"/>
          <p:cNvSpPr>
            <a:spLocks noGrp="1"/>
          </p:cNvSpPr>
          <p:nvPr>
            <p:ph type="dt" sz="half" idx="10"/>
          </p:nvPr>
        </p:nvSpPr>
        <p:spPr/>
        <p:txBody>
          <a:bodyPr/>
          <a:lstStyle/>
          <a:p>
            <a:pPr>
              <a:spcAft>
                <a:spcPts val="0"/>
              </a:spcAft>
            </a:pPr>
            <a:fld id="{647751E2-8C3B-447D-A28B-3F119C0625D6}"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b="1" dirty="0"/>
              <a:t>本次</a:t>
            </a:r>
            <a:r>
              <a:rPr lang="zh-CN" altLang="en-US" dirty="0"/>
              <a:t>课程</a:t>
            </a:r>
            <a:r>
              <a:rPr lang="zh-CN" altLang="en-US" b="1" dirty="0"/>
              <a:t>速递</a:t>
            </a:r>
            <a:endParaRPr lang="zh-CN" altLang="en-US" b="1" dirty="0"/>
          </a:p>
        </p:txBody>
      </p:sp>
      <p:sp>
        <p:nvSpPr>
          <p:cNvPr id="3" name="内容占位符 2"/>
          <p:cNvSpPr>
            <a:spLocks noGrp="1"/>
          </p:cNvSpPr>
          <p:nvPr>
            <p:ph idx="1"/>
          </p:nvPr>
        </p:nvSpPr>
        <p:spPr>
          <a:xfrm>
            <a:off x="979714" y="1010654"/>
            <a:ext cx="7878536" cy="3416969"/>
          </a:xfrm>
        </p:spPr>
        <p:txBody>
          <a:bodyPr>
            <a:normAutofit/>
          </a:bodyPr>
          <a:lstStyle/>
          <a:p>
            <a:pPr marL="457200" indent="-457200">
              <a:lnSpc>
                <a:spcPct val="120000"/>
              </a:lnSpc>
            </a:pPr>
            <a:r>
              <a:rPr lang="zh-CN" altLang="en-US" dirty="0">
                <a:solidFill>
                  <a:schemeClr val="tx2">
                    <a:lumMod val="90000"/>
                    <a:lumOff val="10000"/>
                  </a:schemeClr>
                </a:solidFill>
                <a:latin typeface="+mj-ea"/>
                <a:ea typeface="+mj-ea"/>
              </a:rPr>
              <a:t>第</a:t>
            </a:r>
            <a:r>
              <a:rPr lang="en-US" altLang="zh-CN" dirty="0">
                <a:solidFill>
                  <a:schemeClr val="tx2">
                    <a:lumMod val="90000"/>
                    <a:lumOff val="10000"/>
                  </a:schemeClr>
                </a:solidFill>
                <a:latin typeface="+mj-ea"/>
                <a:ea typeface="+mj-ea"/>
              </a:rPr>
              <a:t>3</a:t>
            </a:r>
            <a:r>
              <a:rPr lang="zh-CN" altLang="en-US" dirty="0">
                <a:solidFill>
                  <a:schemeClr val="tx2">
                    <a:lumMod val="90000"/>
                    <a:lumOff val="10000"/>
                  </a:schemeClr>
                </a:solidFill>
                <a:latin typeface="+mj-ea"/>
                <a:ea typeface="+mj-ea"/>
              </a:rPr>
              <a:t>章</a:t>
            </a:r>
            <a:r>
              <a:rPr lang="en-US" altLang="zh-CN" dirty="0">
                <a:solidFill>
                  <a:schemeClr val="tx2">
                    <a:lumMod val="90000"/>
                    <a:lumOff val="10000"/>
                  </a:schemeClr>
                </a:solidFill>
                <a:latin typeface="+mj-ea"/>
                <a:ea typeface="+mj-ea"/>
              </a:rPr>
              <a:t> </a:t>
            </a:r>
            <a:r>
              <a:rPr lang="zh-CN" altLang="en-US" dirty="0">
                <a:solidFill>
                  <a:schemeClr val="tx2">
                    <a:lumMod val="90000"/>
                    <a:lumOff val="10000"/>
                  </a:schemeClr>
                </a:solidFill>
                <a:latin typeface="+mj-ea"/>
                <a:ea typeface="+mj-ea"/>
              </a:rPr>
              <a:t>需求分析</a:t>
            </a:r>
            <a:endParaRPr lang="en-US" altLang="zh-CN" sz="2400" dirty="0">
              <a:latin typeface="+mj-ea"/>
              <a:ea typeface="+mj-ea"/>
            </a:endParaRPr>
          </a:p>
          <a:p>
            <a:pPr marL="1108710" lvl="1" indent="-457200">
              <a:lnSpc>
                <a:spcPct val="120000"/>
              </a:lnSpc>
            </a:pPr>
            <a:r>
              <a:rPr lang="zh-CN" altLang="en-US" dirty="0"/>
              <a:t>需求建模的方法</a:t>
            </a:r>
            <a:endParaRPr lang="en-US" altLang="zh-CN" dirty="0"/>
          </a:p>
          <a:p>
            <a:pPr marL="1108710" lvl="1" indent="-457200">
              <a:lnSpc>
                <a:spcPct val="120000"/>
              </a:lnSpc>
            </a:pPr>
            <a:r>
              <a:rPr lang="zh-CN" altLang="en-US" dirty="0">
                <a:solidFill>
                  <a:schemeClr val="tx2">
                    <a:lumMod val="90000"/>
                    <a:lumOff val="10000"/>
                  </a:schemeClr>
                </a:solidFill>
              </a:rPr>
              <a:t>用例图的组成</a:t>
            </a:r>
            <a:endParaRPr lang="en-US" altLang="zh-CN" dirty="0">
              <a:solidFill>
                <a:schemeClr val="tx2">
                  <a:lumMod val="90000"/>
                  <a:lumOff val="10000"/>
                </a:schemeClr>
              </a:solidFill>
            </a:endParaRPr>
          </a:p>
          <a:p>
            <a:pPr marL="1108710" lvl="1" indent="-457200">
              <a:lnSpc>
                <a:spcPct val="120000"/>
              </a:lnSpc>
            </a:pPr>
            <a:r>
              <a:rPr lang="zh-CN" altLang="en-US" dirty="0"/>
              <a:t>业务用例建模</a:t>
            </a:r>
            <a:endParaRPr lang="zh-CN" altLang="en-US" dirty="0">
              <a:solidFill>
                <a:schemeClr val="tx2">
                  <a:lumMod val="90000"/>
                  <a:lumOff val="10000"/>
                </a:schemeClr>
              </a:solidFill>
            </a:endParaRPr>
          </a:p>
        </p:txBody>
      </p:sp>
      <p:sp>
        <p:nvSpPr>
          <p:cNvPr id="7" name="日期占位符 6"/>
          <p:cNvSpPr>
            <a:spLocks noGrp="1"/>
          </p:cNvSpPr>
          <p:nvPr>
            <p:ph type="dt" sz="half" idx="10"/>
          </p:nvPr>
        </p:nvSpPr>
        <p:spPr/>
        <p:txBody>
          <a:bodyPr/>
          <a:lstStyle/>
          <a:p>
            <a:pPr>
              <a:spcAft>
                <a:spcPts val="0"/>
              </a:spcAft>
            </a:pPr>
            <a:fld id="{388ACE4A-BF0E-47BD-A498-AB437BF41BE9}" type="datetime1">
              <a:rPr lang="zh-CN" altLang="en-US" smtClean="0"/>
            </a:fld>
            <a:endParaRPr lang="zh-CN" altLang="en-US"/>
          </a:p>
        </p:txBody>
      </p:sp>
      <p:sp>
        <p:nvSpPr>
          <p:cNvPr id="8" name="页脚占位符 7"/>
          <p:cNvSpPr>
            <a:spLocks noGrp="1"/>
          </p:cNvSpPr>
          <p:nvPr>
            <p:ph type="ftr" sz="quarter" idx="11"/>
          </p:nvPr>
        </p:nvSpPr>
        <p:spPr/>
        <p:txBody>
          <a:bodyPr/>
          <a:lstStyle/>
          <a:p>
            <a:pPr>
              <a:spcAft>
                <a:spcPts val="0"/>
              </a:spcAft>
            </a:pPr>
            <a:r>
              <a:rPr lang="zh-CN" altLang="en-US" dirty="0"/>
              <a:t>软件工程</a:t>
            </a:r>
            <a:endParaRPr lang="zh-CN" altLang="en-US" dirty="0"/>
          </a:p>
        </p:txBody>
      </p:sp>
      <p:sp>
        <p:nvSpPr>
          <p:cNvPr id="9" name="灯片编号占位符 8"/>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pic>
        <p:nvPicPr>
          <p:cNvPr id="4" name="图片 3"/>
          <p:cNvPicPr>
            <a:picLocks noChangeAspect="1"/>
          </p:cNvPicPr>
          <p:nvPr/>
        </p:nvPicPr>
        <p:blipFill rotWithShape="1">
          <a:blip r:embed="rId1" cstate="print">
            <a:clrChange>
              <a:clrFrom>
                <a:srgbClr val="EBCDAB"/>
              </a:clrFrom>
              <a:clrTo>
                <a:srgbClr val="EBCDAB">
                  <a:alpha val="0"/>
                </a:srgbClr>
              </a:clrTo>
            </a:clrChange>
            <a:extLst>
              <a:ext uri="{28A0092B-C50C-407E-A947-70E740481C1C}">
                <a14:useLocalDpi xmlns:a14="http://schemas.microsoft.com/office/drawing/2010/main" val="0"/>
              </a:ext>
            </a:extLst>
          </a:blip>
          <a:srcRect l="14636" t="7462" r="10393" b="11883"/>
          <a:stretch>
            <a:fillRect/>
          </a:stretch>
        </p:blipFill>
        <p:spPr>
          <a:xfrm>
            <a:off x="5775158" y="1010427"/>
            <a:ext cx="3176338" cy="34171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spcAft>
                <a:spcPts val="0"/>
              </a:spcAft>
            </a:pPr>
            <a:fld id="{F36600AA-123F-4308-AB59-FFBF4B057731}" type="datetime1">
              <a:rPr lang="zh-CN" altLang="en-US" smtClean="0"/>
            </a:fld>
            <a:endParaRPr lang="zh-CN" altLang="en-US"/>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4" name="灯片编号占位符 3"/>
          <p:cNvSpPr>
            <a:spLocks noGrp="1"/>
          </p:cNvSpPr>
          <p:nvPr>
            <p:ph type="sldNum" sz="quarter" idx="12"/>
          </p:nvPr>
        </p:nvSpPr>
        <p:spPr/>
        <p:txBody>
          <a:bodyPr/>
          <a:lstStyle/>
          <a:p>
            <a:pPr>
              <a:spcAft>
                <a:spcPts val="0"/>
              </a:spcAft>
            </a:pPr>
            <a:fld id="{233B410F-ED3A-420F-9009-9AC68EA66982}" type="slidenum">
              <a:rPr lang="zh-CN" altLang="en-US" smtClean="0"/>
            </a:fld>
            <a:endParaRPr lang="zh-CN" altLang="en-US"/>
          </a:p>
        </p:txBody>
      </p:sp>
      <p:sp>
        <p:nvSpPr>
          <p:cNvPr id="5" name="椭圆 4"/>
          <p:cNvSpPr/>
          <p:nvPr/>
        </p:nvSpPr>
        <p:spPr>
          <a:xfrm>
            <a:off x="4141082" y="1638634"/>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文本框 25"/>
          <p:cNvSpPr txBox="1">
            <a:spLocks noChangeArrowheads="1"/>
          </p:cNvSpPr>
          <p:nvPr/>
        </p:nvSpPr>
        <p:spPr bwMode="auto">
          <a:xfrm>
            <a:off x="3474221" y="1568573"/>
            <a:ext cx="542729"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spcAft>
                <a:spcPts val="0"/>
              </a:spcAft>
            </a:pPr>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01</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p:nvSpPr>
        <p:spPr>
          <a:xfrm>
            <a:off x="4432830" y="1568573"/>
            <a:ext cx="3083937" cy="368935"/>
          </a:xfrm>
          <a:prstGeom prst="rect">
            <a:avLst/>
          </a:prstGeom>
          <a:noFill/>
        </p:spPr>
        <p:txBody>
          <a:bodyPr wrap="square" lIns="0" tIns="0" rIns="0" bIns="0">
            <a:spAutoFit/>
          </a:bodyPr>
          <a:lstStyle/>
          <a:p>
            <a:pPr>
              <a:spcAft>
                <a:spcPts val="0"/>
              </a:spcAft>
              <a:defRPr/>
            </a:pPr>
            <a:r>
              <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需求分析的任务</a:t>
            </a:r>
            <a:endParaRPr lang="zh-CN" altLang="en-US" sz="2400" dirty="0">
              <a:solidFill>
                <a:schemeClr val="accent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椭圆 7"/>
          <p:cNvSpPr/>
          <p:nvPr/>
        </p:nvSpPr>
        <p:spPr>
          <a:xfrm>
            <a:off x="4141082" y="2122367"/>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9" name="文本框 28"/>
          <p:cNvSpPr txBox="1">
            <a:spLocks noChangeArrowheads="1"/>
          </p:cNvSpPr>
          <p:nvPr/>
        </p:nvSpPr>
        <p:spPr bwMode="auto">
          <a:xfrm>
            <a:off x="3474221" y="2052306"/>
            <a:ext cx="542729"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spcAft>
                <a:spcPts val="0"/>
              </a:spcAft>
            </a:pPr>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02</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0" name="文本框 9"/>
          <p:cNvSpPr txBox="1"/>
          <p:nvPr/>
        </p:nvSpPr>
        <p:spPr>
          <a:xfrm>
            <a:off x="4432830" y="2052306"/>
            <a:ext cx="3083937" cy="368935"/>
          </a:xfrm>
          <a:prstGeom prst="rect">
            <a:avLst/>
          </a:prstGeom>
          <a:noFill/>
        </p:spPr>
        <p:txBody>
          <a:bodyPr wrap="square" lIns="0" tIns="0" rIns="0" bIns="0">
            <a:spAutoFit/>
          </a:bodyPr>
          <a:lstStyle/>
          <a:p>
            <a:pPr>
              <a:spcAft>
                <a:spcPts val="0"/>
              </a:spcAft>
              <a:defRPr/>
            </a:pPr>
            <a:r>
              <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rPr>
              <a:t>需求的类型</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椭圆 10"/>
          <p:cNvSpPr/>
          <p:nvPr/>
        </p:nvSpPr>
        <p:spPr>
          <a:xfrm>
            <a:off x="4141082" y="2606100"/>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2" name="文本框 30"/>
          <p:cNvSpPr txBox="1">
            <a:spLocks noChangeArrowheads="1"/>
          </p:cNvSpPr>
          <p:nvPr/>
        </p:nvSpPr>
        <p:spPr bwMode="auto">
          <a:xfrm>
            <a:off x="3474221" y="2536039"/>
            <a:ext cx="542729"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spcAft>
                <a:spcPts val="0"/>
              </a:spcAft>
            </a:pPr>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03</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3" name="文本框 12"/>
          <p:cNvSpPr txBox="1"/>
          <p:nvPr/>
        </p:nvSpPr>
        <p:spPr>
          <a:xfrm>
            <a:off x="4432830" y="2536039"/>
            <a:ext cx="3083937" cy="368935"/>
          </a:xfrm>
          <a:prstGeom prst="rect">
            <a:avLst/>
          </a:prstGeom>
          <a:noFill/>
        </p:spPr>
        <p:txBody>
          <a:bodyPr wrap="square" lIns="0" tIns="0" rIns="0" bIns="0">
            <a:spAutoFit/>
          </a:bodyPr>
          <a:lstStyle/>
          <a:p>
            <a:pPr>
              <a:spcAft>
                <a:spcPts val="0"/>
              </a:spcAft>
              <a:defRPr/>
            </a:pPr>
            <a:r>
              <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需求工程过程</a:t>
            </a:r>
            <a:endPar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4" name="椭圆 13"/>
          <p:cNvSpPr/>
          <p:nvPr/>
        </p:nvSpPr>
        <p:spPr>
          <a:xfrm>
            <a:off x="4141082" y="3089833"/>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5" name="文本框 32"/>
          <p:cNvSpPr txBox="1">
            <a:spLocks noChangeArrowheads="1"/>
          </p:cNvSpPr>
          <p:nvPr/>
        </p:nvSpPr>
        <p:spPr bwMode="auto">
          <a:xfrm>
            <a:off x="3474221" y="3019772"/>
            <a:ext cx="542729"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spcAft>
                <a:spcPts val="0"/>
              </a:spcAft>
            </a:pPr>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04</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6" name="文本框 15"/>
          <p:cNvSpPr txBox="1"/>
          <p:nvPr/>
        </p:nvSpPr>
        <p:spPr>
          <a:xfrm>
            <a:off x="4432830" y="3019772"/>
            <a:ext cx="3663271" cy="368935"/>
          </a:xfrm>
          <a:prstGeom prst="rect">
            <a:avLst/>
          </a:prstGeom>
          <a:noFill/>
        </p:spPr>
        <p:txBody>
          <a:bodyPr wrap="square" lIns="0" tIns="0" rIns="0" bIns="0">
            <a:spAutoFit/>
          </a:bodyPr>
          <a:lstStyle/>
          <a:p>
            <a:pPr>
              <a:spcAft>
                <a:spcPts val="0"/>
              </a:spcAft>
              <a:defRPr/>
            </a:pPr>
            <a:r>
              <a:rPr lang="zh-CN" altLang="en-US" sz="2400"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获取需求的方法</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Title 1"/>
          <p:cNvSpPr txBox="1"/>
          <p:nvPr/>
        </p:nvSpPr>
        <p:spPr>
          <a:xfrm>
            <a:off x="1143000" y="83636"/>
            <a:ext cx="7552030" cy="656340"/>
          </a:xfrm>
          <a:prstGeom prst="rect">
            <a:avLst/>
          </a:prstGeom>
        </p:spPr>
        <p:txBody>
          <a:bodyPr vert="horz" lIns="91440" tIns="45720" rIns="91440" bIns="45720" rtlCol="0" anchor="ctr">
            <a:normAutofit/>
          </a:bodyPr>
          <a:lstStyle>
            <a:lvl1pPr algn="r" defTabSz="685800" rtl="0" eaLnBrk="1" latinLnBrk="0" hangingPunct="1">
              <a:lnSpc>
                <a:spcPct val="80000"/>
              </a:lnSpc>
              <a:spcBef>
                <a:spcPct val="0"/>
              </a:spcBef>
              <a:buNone/>
              <a:defRPr sz="3750" b="1" kern="1200" cap="all" spc="150" baseline="0">
                <a:solidFill>
                  <a:schemeClr val="bg1"/>
                </a:solidFill>
                <a:latin typeface="+mj-lt"/>
                <a:ea typeface="+mj-ea"/>
                <a:cs typeface="+mj-cs"/>
              </a:defRPr>
            </a:lvl1pPr>
          </a:lstStyle>
          <a:p>
            <a:pPr algn="l">
              <a:spcAft>
                <a:spcPts val="0"/>
              </a:spcAft>
            </a:pPr>
            <a:r>
              <a:rPr lang="zh-CN" altLang="en-US" sz="2800" dirty="0"/>
              <a:t>第</a:t>
            </a:r>
            <a:r>
              <a:rPr lang="en-US" altLang="zh-CN" sz="2800" dirty="0"/>
              <a:t>3</a:t>
            </a:r>
            <a:r>
              <a:rPr lang="zh-CN" altLang="en-US" sz="2800" dirty="0"/>
              <a:t>章 需求分析</a:t>
            </a:r>
            <a:endParaRPr lang="en-US" sz="2800" dirty="0"/>
          </a:p>
        </p:txBody>
      </p:sp>
      <p:sp>
        <p:nvSpPr>
          <p:cNvPr id="20" name="椭圆 19"/>
          <p:cNvSpPr/>
          <p:nvPr/>
        </p:nvSpPr>
        <p:spPr>
          <a:xfrm>
            <a:off x="4141082" y="3574210"/>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1" name="文本框 30"/>
          <p:cNvSpPr txBox="1">
            <a:spLocks noChangeArrowheads="1"/>
          </p:cNvSpPr>
          <p:nvPr/>
        </p:nvSpPr>
        <p:spPr bwMode="auto">
          <a:xfrm>
            <a:off x="3474221" y="3504149"/>
            <a:ext cx="542729"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spcAft>
                <a:spcPts val="0"/>
              </a:spcAft>
            </a:pPr>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05</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22" name="文本框 21"/>
          <p:cNvSpPr txBox="1"/>
          <p:nvPr/>
        </p:nvSpPr>
        <p:spPr>
          <a:xfrm>
            <a:off x="4432830" y="3504149"/>
            <a:ext cx="3083937" cy="368935"/>
          </a:xfrm>
          <a:prstGeom prst="rect">
            <a:avLst/>
          </a:prstGeom>
          <a:noFill/>
        </p:spPr>
        <p:txBody>
          <a:bodyPr wrap="square" lIns="0" tIns="0" rIns="0" bIns="0">
            <a:spAutoFit/>
          </a:bodyPr>
          <a:lstStyle/>
          <a:p>
            <a:pPr>
              <a:spcAft>
                <a:spcPts val="0"/>
              </a:spcAft>
              <a:defRPr/>
            </a:pPr>
            <a:r>
              <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需求分析建模技术</a:t>
            </a:r>
            <a:endPar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92747" y="966623"/>
            <a:ext cx="5811306" cy="534035"/>
          </a:xfrm>
          <a:prstGeom prst="rect">
            <a:avLst/>
          </a:prstGeom>
          <a:noFill/>
        </p:spPr>
        <p:txBody>
          <a:bodyPr wrap="square" rtlCol="0">
            <a:spAutoFit/>
          </a:bodyPr>
          <a:lstStyle/>
          <a:p>
            <a:pPr>
              <a:lnSpc>
                <a:spcPct val="120000"/>
              </a:lnSpc>
              <a:spcAft>
                <a:spcPts val="0"/>
              </a:spcAft>
            </a:pPr>
            <a:r>
              <a:rPr lang="zh-CN" altLang="en-US" sz="2400" dirty="0">
                <a:solidFill>
                  <a:srgbClr val="686868"/>
                </a:solidFill>
                <a:latin typeface="+mj-ea"/>
                <a:ea typeface="+mj-ea"/>
              </a:rPr>
              <a:t>软件需求工程主要分为以下过程：</a:t>
            </a:r>
            <a:endParaRPr lang="zh-CN" altLang="en-US" sz="2400" dirty="0">
              <a:solidFill>
                <a:srgbClr val="686868"/>
              </a:solidFill>
              <a:latin typeface="+mj-ea"/>
              <a:ea typeface="+mj-ea"/>
            </a:endParaRPr>
          </a:p>
        </p:txBody>
      </p:sp>
      <p:sp>
        <p:nvSpPr>
          <p:cNvPr id="21" name="曲线"/>
          <p:cNvSpPr/>
          <p:nvPr/>
        </p:nvSpPr>
        <p:spPr bwMode="auto">
          <a:xfrm flipH="1">
            <a:off x="0" y="2363826"/>
            <a:ext cx="9144000" cy="986489"/>
          </a:xfrm>
          <a:custGeom>
            <a:avLst/>
            <a:gdLst>
              <a:gd name="T0" fmla="*/ 0 w 2601"/>
              <a:gd name="T1" fmla="*/ 139 h 306"/>
              <a:gd name="T2" fmla="*/ 647 w 2601"/>
              <a:gd name="T3" fmla="*/ 304 h 306"/>
              <a:gd name="T4" fmla="*/ 1863 w 2601"/>
              <a:gd name="T5" fmla="*/ 11 h 306"/>
              <a:gd name="T6" fmla="*/ 2601 w 2601"/>
              <a:gd name="T7" fmla="*/ 259 h 306"/>
            </a:gdLst>
            <a:ahLst/>
            <a:cxnLst>
              <a:cxn ang="0">
                <a:pos x="T0" y="T1"/>
              </a:cxn>
              <a:cxn ang="0">
                <a:pos x="T2" y="T3"/>
              </a:cxn>
              <a:cxn ang="0">
                <a:pos x="T4" y="T5"/>
              </a:cxn>
              <a:cxn ang="0">
                <a:pos x="T6" y="T7"/>
              </a:cxn>
            </a:cxnLst>
            <a:rect l="0" t="0" r="r" b="b"/>
            <a:pathLst>
              <a:path w="2601" h="306">
                <a:moveTo>
                  <a:pt x="0" y="139"/>
                </a:moveTo>
                <a:cubicBezTo>
                  <a:pt x="0" y="139"/>
                  <a:pt x="179" y="301"/>
                  <a:pt x="647" y="304"/>
                </a:cubicBezTo>
                <a:cubicBezTo>
                  <a:pt x="1090" y="306"/>
                  <a:pt x="1474" y="0"/>
                  <a:pt x="1863" y="11"/>
                </a:cubicBezTo>
                <a:cubicBezTo>
                  <a:pt x="2253" y="21"/>
                  <a:pt x="2601" y="259"/>
                  <a:pt x="2601" y="259"/>
                </a:cubicBezTo>
              </a:path>
            </a:pathLst>
          </a:custGeom>
          <a:noFill/>
          <a:ln w="9525" cap="flat">
            <a:solidFill>
              <a:schemeClr val="accent2"/>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pPr defTabSz="342265"/>
            <a:endParaRPr lang="zh-CN" altLang="en-US">
              <a:solidFill>
                <a:prstClr val="black"/>
              </a:solidFill>
              <a:latin typeface="+mj-ea"/>
              <a:ea typeface="+mj-ea"/>
            </a:endParaRPr>
          </a:p>
        </p:txBody>
      </p:sp>
      <p:sp>
        <p:nvSpPr>
          <p:cNvPr id="22" name="圆"/>
          <p:cNvSpPr/>
          <p:nvPr/>
        </p:nvSpPr>
        <p:spPr>
          <a:xfrm>
            <a:off x="745974" y="2434085"/>
            <a:ext cx="546773" cy="546773"/>
          </a:xfrm>
          <a:prstGeom prst="ellipse">
            <a:avLst/>
          </a:prstGeom>
          <a:solidFill>
            <a:schemeClr val="accent2">
              <a:lumMod val="75000"/>
            </a:schemeClr>
          </a:solidFill>
          <a:ln w="76200">
            <a:solidFill>
              <a:schemeClr val="bg1"/>
            </a:solidFill>
          </a:ln>
          <a:scene3d>
            <a:camera prst="orthographicFront"/>
            <a:lightRig rig="threePt" dir="t"/>
          </a:scene3d>
          <a:sp3d contourW="12700">
            <a:contourClr>
              <a:schemeClr val="tx1">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en-US" altLang="zh-CN" b="1">
                <a:solidFill>
                  <a:prstClr val="white"/>
                </a:solidFill>
                <a:latin typeface="微软雅黑" panose="020B0503020204020204" pitchFamily="34" charset="-122"/>
                <a:ea typeface="微软雅黑" panose="020B0503020204020204" pitchFamily="34" charset="-122"/>
              </a:rPr>
              <a:t>1</a:t>
            </a: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23" name="圆"/>
          <p:cNvSpPr/>
          <p:nvPr/>
        </p:nvSpPr>
        <p:spPr>
          <a:xfrm>
            <a:off x="2544570" y="2081766"/>
            <a:ext cx="546773" cy="546773"/>
          </a:xfrm>
          <a:prstGeom prst="ellipse">
            <a:avLst/>
          </a:prstGeom>
          <a:solidFill>
            <a:schemeClr val="accent2">
              <a:lumMod val="75000"/>
            </a:schemeClr>
          </a:solidFill>
          <a:ln w="76200">
            <a:solidFill>
              <a:schemeClr val="bg1"/>
            </a:solidFill>
          </a:ln>
          <a:scene3d>
            <a:camera prst="orthographicFront"/>
            <a:lightRig rig="threePt" dir="t"/>
          </a:scene3d>
          <a:sp3d contourW="12700">
            <a:contourClr>
              <a:schemeClr val="tx1">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en-US" altLang="zh-CN" b="1">
                <a:solidFill>
                  <a:prstClr val="white"/>
                </a:solidFill>
                <a:latin typeface="微软雅黑" panose="020B0503020204020204" pitchFamily="34" charset="-122"/>
                <a:ea typeface="微软雅黑" panose="020B0503020204020204" pitchFamily="34" charset="-122"/>
              </a:rPr>
              <a:t>2</a:t>
            </a: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24" name="圆"/>
          <p:cNvSpPr/>
          <p:nvPr/>
        </p:nvSpPr>
        <p:spPr>
          <a:xfrm>
            <a:off x="4343167" y="2568501"/>
            <a:ext cx="546773" cy="546773"/>
          </a:xfrm>
          <a:prstGeom prst="ellipse">
            <a:avLst/>
          </a:prstGeom>
          <a:solidFill>
            <a:schemeClr val="accent2">
              <a:lumMod val="75000"/>
            </a:schemeClr>
          </a:solidFill>
          <a:ln w="76200">
            <a:solidFill>
              <a:schemeClr val="bg1"/>
            </a:solidFill>
          </a:ln>
          <a:scene3d>
            <a:camera prst="orthographicFront"/>
            <a:lightRig rig="threePt" dir="t"/>
          </a:scene3d>
          <a:sp3d contourW="12700">
            <a:contourClr>
              <a:schemeClr val="tx1">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en-US" altLang="zh-CN" b="1">
                <a:solidFill>
                  <a:prstClr val="white"/>
                </a:solidFill>
                <a:latin typeface="微软雅黑" panose="020B0503020204020204" pitchFamily="34" charset="-122"/>
                <a:ea typeface="微软雅黑" panose="020B0503020204020204" pitchFamily="34" charset="-122"/>
              </a:rPr>
              <a:t>3</a:t>
            </a: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25" name="圆"/>
          <p:cNvSpPr/>
          <p:nvPr/>
        </p:nvSpPr>
        <p:spPr>
          <a:xfrm>
            <a:off x="6190939" y="3032540"/>
            <a:ext cx="546773" cy="546773"/>
          </a:xfrm>
          <a:prstGeom prst="ellipse">
            <a:avLst/>
          </a:prstGeom>
          <a:solidFill>
            <a:schemeClr val="accent2">
              <a:lumMod val="75000"/>
            </a:schemeClr>
          </a:solidFill>
          <a:ln w="76200">
            <a:solidFill>
              <a:schemeClr val="bg1"/>
            </a:solidFill>
          </a:ln>
          <a:scene3d>
            <a:camera prst="orthographicFront"/>
            <a:lightRig rig="threePt" dir="t"/>
          </a:scene3d>
          <a:sp3d contourW="12700">
            <a:contourClr>
              <a:schemeClr val="tx1">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en-US" altLang="zh-CN" b="1">
                <a:solidFill>
                  <a:prstClr val="white"/>
                </a:solidFill>
                <a:latin typeface="微软雅黑" panose="020B0503020204020204" pitchFamily="34" charset="-122"/>
                <a:ea typeface="微软雅黑" panose="020B0503020204020204" pitchFamily="34" charset="-122"/>
              </a:rPr>
              <a:t>4</a:t>
            </a: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26" name="圆"/>
          <p:cNvSpPr/>
          <p:nvPr/>
        </p:nvSpPr>
        <p:spPr>
          <a:xfrm>
            <a:off x="7940359" y="2946513"/>
            <a:ext cx="546773" cy="546773"/>
          </a:xfrm>
          <a:prstGeom prst="ellipse">
            <a:avLst/>
          </a:prstGeom>
          <a:solidFill>
            <a:schemeClr val="accent2">
              <a:lumMod val="75000"/>
            </a:schemeClr>
          </a:solidFill>
          <a:ln w="76200">
            <a:solidFill>
              <a:schemeClr val="bg1"/>
            </a:solidFill>
          </a:ln>
          <a:scene3d>
            <a:camera prst="orthographicFront"/>
            <a:lightRig rig="threePt" dir="t"/>
          </a:scene3d>
          <a:sp3d contourW="12700">
            <a:contourClr>
              <a:schemeClr val="tx1">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en-US" altLang="zh-CN" b="1">
                <a:solidFill>
                  <a:prstClr val="white"/>
                </a:solidFill>
                <a:latin typeface="微软雅黑" panose="020B0503020204020204" pitchFamily="34" charset="-122"/>
                <a:ea typeface="微软雅黑" panose="020B0503020204020204" pitchFamily="34" charset="-122"/>
              </a:rPr>
              <a:t>5</a:t>
            </a: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27" name="文本"/>
          <p:cNvSpPr/>
          <p:nvPr/>
        </p:nvSpPr>
        <p:spPr>
          <a:xfrm>
            <a:off x="396095" y="3118568"/>
            <a:ext cx="1283646" cy="506730"/>
          </a:xfrm>
          <a:prstGeom prst="rect">
            <a:avLst/>
          </a:prstGeom>
          <a:noFill/>
        </p:spPr>
        <p:txBody>
          <a:bodyPr wrap="square" rtlCol="0" anchor="t">
            <a:spAutoFit/>
          </a:bodyPr>
          <a:lstStyle/>
          <a:p>
            <a:pPr algn="ctr">
              <a:lnSpc>
                <a:spcPct val="150000"/>
              </a:lnSpc>
              <a:spcAft>
                <a:spcPts val="0"/>
              </a:spcAft>
            </a:pPr>
            <a:r>
              <a:rPr lang="zh-CN" altLang="en-US" b="1" spc="113" dirty="0">
                <a:solidFill>
                  <a:schemeClr val="tx1">
                    <a:lumMod val="95000"/>
                    <a:lumOff val="5000"/>
                  </a:schemeClr>
                </a:solidFill>
                <a:latin typeface="+mj-ea"/>
                <a:ea typeface="+mj-ea"/>
              </a:rPr>
              <a:t>需求获取</a:t>
            </a:r>
            <a:endParaRPr lang="zh-CN" altLang="en-US" b="1" spc="113" dirty="0">
              <a:solidFill>
                <a:schemeClr val="tx1">
                  <a:lumMod val="95000"/>
                  <a:lumOff val="5000"/>
                </a:schemeClr>
              </a:solidFill>
              <a:latin typeface="+mj-ea"/>
              <a:ea typeface="+mj-ea"/>
            </a:endParaRPr>
          </a:p>
        </p:txBody>
      </p:sp>
      <p:sp>
        <p:nvSpPr>
          <p:cNvPr id="28" name="文本"/>
          <p:cNvSpPr/>
          <p:nvPr/>
        </p:nvSpPr>
        <p:spPr>
          <a:xfrm>
            <a:off x="2176133" y="1434006"/>
            <a:ext cx="1283646" cy="506730"/>
          </a:xfrm>
          <a:prstGeom prst="rect">
            <a:avLst/>
          </a:prstGeom>
          <a:noFill/>
        </p:spPr>
        <p:txBody>
          <a:bodyPr wrap="square" rtlCol="0" anchor="b">
            <a:spAutoFit/>
          </a:bodyPr>
          <a:lstStyle/>
          <a:p>
            <a:pPr algn="ctr">
              <a:lnSpc>
                <a:spcPct val="150000"/>
              </a:lnSpc>
              <a:spcAft>
                <a:spcPts val="0"/>
              </a:spcAft>
            </a:pPr>
            <a:r>
              <a:rPr lang="zh-CN" altLang="en-US" b="1" spc="113" dirty="0">
                <a:solidFill>
                  <a:schemeClr val="tx1">
                    <a:lumMod val="95000"/>
                    <a:lumOff val="5000"/>
                  </a:schemeClr>
                </a:solidFill>
                <a:latin typeface="+mj-ea"/>
                <a:ea typeface="+mj-ea"/>
              </a:rPr>
              <a:t>分析建模</a:t>
            </a:r>
            <a:endParaRPr lang="zh-CN" altLang="en-US" b="1" spc="113" dirty="0">
              <a:solidFill>
                <a:schemeClr val="tx1">
                  <a:lumMod val="95000"/>
                  <a:lumOff val="5000"/>
                </a:schemeClr>
              </a:solidFill>
              <a:latin typeface="+mj-ea"/>
              <a:ea typeface="+mj-ea"/>
            </a:endParaRPr>
          </a:p>
        </p:txBody>
      </p:sp>
      <p:sp>
        <p:nvSpPr>
          <p:cNvPr id="29" name="文本"/>
          <p:cNvSpPr/>
          <p:nvPr/>
        </p:nvSpPr>
        <p:spPr>
          <a:xfrm>
            <a:off x="4025970" y="3244975"/>
            <a:ext cx="1283646" cy="506730"/>
          </a:xfrm>
          <a:prstGeom prst="rect">
            <a:avLst/>
          </a:prstGeom>
          <a:noFill/>
        </p:spPr>
        <p:txBody>
          <a:bodyPr wrap="square" rtlCol="0" anchor="t">
            <a:spAutoFit/>
          </a:bodyPr>
          <a:lstStyle/>
          <a:p>
            <a:pPr algn="ctr">
              <a:lnSpc>
                <a:spcPct val="150000"/>
              </a:lnSpc>
              <a:spcAft>
                <a:spcPts val="0"/>
              </a:spcAft>
            </a:pPr>
            <a:r>
              <a:rPr lang="zh-CN" altLang="en-US" b="1" spc="113" dirty="0">
                <a:solidFill>
                  <a:schemeClr val="tx1">
                    <a:lumMod val="95000"/>
                    <a:lumOff val="5000"/>
                  </a:schemeClr>
                </a:solidFill>
                <a:latin typeface="+mj-ea"/>
                <a:ea typeface="+mj-ea"/>
              </a:rPr>
              <a:t>文档编写</a:t>
            </a:r>
            <a:endParaRPr lang="zh-CN" altLang="en-US" b="1" spc="113" dirty="0">
              <a:solidFill>
                <a:schemeClr val="tx1">
                  <a:lumMod val="95000"/>
                  <a:lumOff val="5000"/>
                </a:schemeClr>
              </a:solidFill>
              <a:latin typeface="+mj-ea"/>
              <a:ea typeface="+mj-ea"/>
            </a:endParaRPr>
          </a:p>
        </p:txBody>
      </p:sp>
      <p:sp>
        <p:nvSpPr>
          <p:cNvPr id="30" name="文本"/>
          <p:cNvSpPr/>
          <p:nvPr/>
        </p:nvSpPr>
        <p:spPr>
          <a:xfrm>
            <a:off x="5822501" y="2314265"/>
            <a:ext cx="1283646" cy="506730"/>
          </a:xfrm>
          <a:prstGeom prst="rect">
            <a:avLst/>
          </a:prstGeom>
          <a:noFill/>
        </p:spPr>
        <p:txBody>
          <a:bodyPr wrap="square" rtlCol="0" anchor="b">
            <a:spAutoFit/>
          </a:bodyPr>
          <a:lstStyle/>
          <a:p>
            <a:pPr algn="ctr">
              <a:lnSpc>
                <a:spcPct val="150000"/>
              </a:lnSpc>
              <a:spcAft>
                <a:spcPts val="0"/>
              </a:spcAft>
            </a:pPr>
            <a:r>
              <a:rPr lang="zh-CN" altLang="en-US" b="1" spc="113" dirty="0">
                <a:solidFill>
                  <a:schemeClr val="tx1">
                    <a:lumMod val="95000"/>
                    <a:lumOff val="5000"/>
                  </a:schemeClr>
                </a:solidFill>
                <a:latin typeface="+mj-ea"/>
                <a:ea typeface="+mj-ea"/>
              </a:rPr>
              <a:t>需求验证</a:t>
            </a:r>
            <a:endParaRPr lang="zh-CN" altLang="en-US" b="1" spc="113" dirty="0">
              <a:solidFill>
                <a:schemeClr val="tx1">
                  <a:lumMod val="95000"/>
                  <a:lumOff val="5000"/>
                </a:schemeClr>
              </a:solidFill>
              <a:latin typeface="+mj-ea"/>
              <a:ea typeface="+mj-ea"/>
            </a:endParaRPr>
          </a:p>
        </p:txBody>
      </p:sp>
      <p:sp>
        <p:nvSpPr>
          <p:cNvPr id="31" name="文本"/>
          <p:cNvSpPr/>
          <p:nvPr/>
        </p:nvSpPr>
        <p:spPr>
          <a:xfrm>
            <a:off x="7571922" y="3579313"/>
            <a:ext cx="1283646" cy="506730"/>
          </a:xfrm>
          <a:prstGeom prst="rect">
            <a:avLst/>
          </a:prstGeom>
          <a:noFill/>
        </p:spPr>
        <p:txBody>
          <a:bodyPr wrap="square" rtlCol="0" anchor="t">
            <a:spAutoFit/>
          </a:bodyPr>
          <a:lstStyle/>
          <a:p>
            <a:pPr algn="ctr">
              <a:lnSpc>
                <a:spcPct val="150000"/>
              </a:lnSpc>
              <a:spcAft>
                <a:spcPts val="0"/>
              </a:spcAft>
            </a:pPr>
            <a:r>
              <a:rPr lang="zh-CN" altLang="en-US" b="1" spc="113" dirty="0">
                <a:solidFill>
                  <a:schemeClr val="tx1">
                    <a:lumMod val="95000"/>
                    <a:lumOff val="5000"/>
                  </a:schemeClr>
                </a:solidFill>
                <a:latin typeface="+mj-ea"/>
                <a:ea typeface="+mj-ea"/>
              </a:rPr>
              <a:t>需求变更</a:t>
            </a:r>
            <a:endParaRPr lang="zh-CN" altLang="en-US" b="1" spc="113" dirty="0">
              <a:solidFill>
                <a:schemeClr val="tx1">
                  <a:lumMod val="95000"/>
                  <a:lumOff val="5000"/>
                </a:schemeClr>
              </a:solidFill>
              <a:latin typeface="+mj-ea"/>
              <a:ea typeface="+mj-ea"/>
            </a:endParaRPr>
          </a:p>
        </p:txBody>
      </p:sp>
      <p:sp>
        <p:nvSpPr>
          <p:cNvPr id="32" name="文本框 31"/>
          <p:cNvSpPr txBox="1"/>
          <p:nvPr/>
        </p:nvSpPr>
        <p:spPr>
          <a:xfrm>
            <a:off x="203799" y="3912555"/>
            <a:ext cx="7368123" cy="70675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spcAft>
                <a:spcPts val="0"/>
              </a:spcAft>
            </a:pPr>
            <a:r>
              <a:rPr lang="zh-CN" altLang="zh-CN" sz="2000" b="1" dirty="0"/>
              <a:t>需求分析</a:t>
            </a:r>
            <a:r>
              <a:rPr lang="zh-CN" altLang="en-US" sz="2000" b="1" dirty="0"/>
              <a:t>的</a:t>
            </a:r>
            <a:r>
              <a:rPr lang="zh-CN" altLang="zh-CN" sz="2000" b="1" dirty="0"/>
              <a:t>过程是一个从模糊概念出发，经过分析、综合评价，到概念逐步清晰的过程。</a:t>
            </a:r>
            <a:endParaRPr lang="zh-CN" altLang="zh-CN" sz="2000" b="1" dirty="0"/>
          </a:p>
        </p:txBody>
      </p:sp>
      <p:sp>
        <p:nvSpPr>
          <p:cNvPr id="4" name="标题 3"/>
          <p:cNvSpPr>
            <a:spLocks noGrp="1"/>
          </p:cNvSpPr>
          <p:nvPr>
            <p:ph type="title"/>
          </p:nvPr>
        </p:nvSpPr>
        <p:spPr/>
        <p:txBody>
          <a:bodyPr/>
          <a:lstStyle/>
          <a:p>
            <a:pPr>
              <a:spcAft>
                <a:spcPts val="0"/>
              </a:spcAft>
            </a:pPr>
            <a:r>
              <a:rPr lang="zh-CN" altLang="en-US" kern="100" dirty="0">
                <a:latin typeface="+mn-ea"/>
                <a:cs typeface="Times New Roman" panose="02020603050405020304" pitchFamily="18" charset="0"/>
              </a:rPr>
              <a:t>需求工程过程</a:t>
            </a:r>
            <a:endParaRPr lang="zh-CN" altLang="en-US" dirty="0"/>
          </a:p>
        </p:txBody>
      </p:sp>
      <p:sp>
        <p:nvSpPr>
          <p:cNvPr id="5" name="日期占位符 4"/>
          <p:cNvSpPr>
            <a:spLocks noGrp="1"/>
          </p:cNvSpPr>
          <p:nvPr>
            <p:ph type="dt" sz="half" idx="10"/>
          </p:nvPr>
        </p:nvSpPr>
        <p:spPr/>
        <p:txBody>
          <a:bodyPr/>
          <a:lstStyle/>
          <a:p>
            <a:pPr>
              <a:spcAft>
                <a:spcPts val="0"/>
              </a:spcAft>
            </a:pPr>
            <a:fld id="{14DF3105-329D-442D-B13E-86F131DEA6BF}"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a:p>
        </p:txBody>
      </p:sp>
      <p:sp>
        <p:nvSpPr>
          <p:cNvPr id="7" name="灯片编号占位符 6"/>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3" presetClass="entr" presetSubtype="272"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p:cTn id="11" dur="500" fill="hold"/>
                                        <p:tgtEl>
                                          <p:spTgt spid="22"/>
                                        </p:tgtEl>
                                        <p:attrNameLst>
                                          <p:attrName>ppt_w</p:attrName>
                                        </p:attrNameLst>
                                      </p:cBhvr>
                                      <p:tavLst>
                                        <p:tav tm="0">
                                          <p:val>
                                            <p:strVal val="2/3*#ppt_w"/>
                                          </p:val>
                                        </p:tav>
                                        <p:tav tm="100000">
                                          <p:val>
                                            <p:strVal val="#ppt_w"/>
                                          </p:val>
                                        </p:tav>
                                      </p:tavLst>
                                    </p:anim>
                                    <p:anim calcmode="lin" valueType="num">
                                      <p:cBhvr>
                                        <p:cTn id="12" dur="500" fill="hold"/>
                                        <p:tgtEl>
                                          <p:spTgt spid="22"/>
                                        </p:tgtEl>
                                        <p:attrNameLst>
                                          <p:attrName>ppt_h</p:attrName>
                                        </p:attrNameLst>
                                      </p:cBhvr>
                                      <p:tavLst>
                                        <p:tav tm="0">
                                          <p:val>
                                            <p:strVal val="2/3*#ppt_h"/>
                                          </p:val>
                                        </p:tav>
                                        <p:tav tm="100000">
                                          <p:val>
                                            <p:strVal val="#ppt_h"/>
                                          </p:val>
                                        </p:tav>
                                      </p:tavLst>
                                    </p:anim>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anim calcmode="lin" valueType="num">
                                      <p:cBhvr>
                                        <p:cTn id="17" dur="500" fill="hold"/>
                                        <p:tgtEl>
                                          <p:spTgt spid="27"/>
                                        </p:tgtEl>
                                        <p:attrNameLst>
                                          <p:attrName>ppt_x</p:attrName>
                                        </p:attrNameLst>
                                      </p:cBhvr>
                                      <p:tavLst>
                                        <p:tav tm="0">
                                          <p:val>
                                            <p:strVal val="#ppt_x"/>
                                          </p:val>
                                        </p:tav>
                                        <p:tav tm="100000">
                                          <p:val>
                                            <p:strVal val="#ppt_x"/>
                                          </p:val>
                                        </p:tav>
                                      </p:tavLst>
                                    </p:anim>
                                    <p:anim calcmode="lin" valueType="num">
                                      <p:cBhvr>
                                        <p:cTn id="18" dur="500" fill="hold"/>
                                        <p:tgtEl>
                                          <p:spTgt spid="27"/>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23" presetClass="entr" presetSubtype="272" fill="hold" grpId="0" nodeType="after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p:cTn id="22" dur="500" fill="hold"/>
                                        <p:tgtEl>
                                          <p:spTgt spid="23"/>
                                        </p:tgtEl>
                                        <p:attrNameLst>
                                          <p:attrName>ppt_w</p:attrName>
                                        </p:attrNameLst>
                                      </p:cBhvr>
                                      <p:tavLst>
                                        <p:tav tm="0">
                                          <p:val>
                                            <p:strVal val="2/3*#ppt_w"/>
                                          </p:val>
                                        </p:tav>
                                        <p:tav tm="100000">
                                          <p:val>
                                            <p:strVal val="#ppt_w"/>
                                          </p:val>
                                        </p:tav>
                                      </p:tavLst>
                                    </p:anim>
                                    <p:anim calcmode="lin" valueType="num">
                                      <p:cBhvr>
                                        <p:cTn id="23" dur="500" fill="hold"/>
                                        <p:tgtEl>
                                          <p:spTgt spid="23"/>
                                        </p:tgtEl>
                                        <p:attrNameLst>
                                          <p:attrName>ppt_h</p:attrName>
                                        </p:attrNameLst>
                                      </p:cBhvr>
                                      <p:tavLst>
                                        <p:tav tm="0">
                                          <p:val>
                                            <p:strVal val="2/3*#ppt_h"/>
                                          </p:val>
                                        </p:tav>
                                        <p:tav tm="100000">
                                          <p:val>
                                            <p:strVal val="#ppt_h"/>
                                          </p:val>
                                        </p:tav>
                                      </p:tavLst>
                                    </p:anim>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anim calcmode="lin" valueType="num">
                                      <p:cBhvr>
                                        <p:cTn id="28" dur="500" fill="hold"/>
                                        <p:tgtEl>
                                          <p:spTgt spid="28"/>
                                        </p:tgtEl>
                                        <p:attrNameLst>
                                          <p:attrName>ppt_x</p:attrName>
                                        </p:attrNameLst>
                                      </p:cBhvr>
                                      <p:tavLst>
                                        <p:tav tm="0">
                                          <p:val>
                                            <p:strVal val="#ppt_x"/>
                                          </p:val>
                                        </p:tav>
                                        <p:tav tm="100000">
                                          <p:val>
                                            <p:strVal val="#ppt_x"/>
                                          </p:val>
                                        </p:tav>
                                      </p:tavLst>
                                    </p:anim>
                                    <p:anim calcmode="lin" valueType="num">
                                      <p:cBhvr>
                                        <p:cTn id="29" dur="500" fill="hold"/>
                                        <p:tgtEl>
                                          <p:spTgt spid="28"/>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23" presetClass="entr" presetSubtype="272"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p:cTn id="33" dur="500" fill="hold"/>
                                        <p:tgtEl>
                                          <p:spTgt spid="24"/>
                                        </p:tgtEl>
                                        <p:attrNameLst>
                                          <p:attrName>ppt_w</p:attrName>
                                        </p:attrNameLst>
                                      </p:cBhvr>
                                      <p:tavLst>
                                        <p:tav tm="0">
                                          <p:val>
                                            <p:strVal val="2/3*#ppt_w"/>
                                          </p:val>
                                        </p:tav>
                                        <p:tav tm="100000">
                                          <p:val>
                                            <p:strVal val="#ppt_w"/>
                                          </p:val>
                                        </p:tav>
                                      </p:tavLst>
                                    </p:anim>
                                    <p:anim calcmode="lin" valueType="num">
                                      <p:cBhvr>
                                        <p:cTn id="34" dur="500" fill="hold"/>
                                        <p:tgtEl>
                                          <p:spTgt spid="24"/>
                                        </p:tgtEl>
                                        <p:attrNameLst>
                                          <p:attrName>ppt_h</p:attrName>
                                        </p:attrNameLst>
                                      </p:cBhvr>
                                      <p:tavLst>
                                        <p:tav tm="0">
                                          <p:val>
                                            <p:strVal val="2/3*#ppt_h"/>
                                          </p:val>
                                        </p:tav>
                                        <p:tav tm="100000">
                                          <p:val>
                                            <p:strVal val="#ppt_h"/>
                                          </p:val>
                                        </p:tav>
                                      </p:tavLst>
                                    </p:anim>
                                  </p:childTnLst>
                                </p:cTn>
                              </p:par>
                            </p:childTnLst>
                          </p:cTn>
                        </p:par>
                        <p:par>
                          <p:cTn id="35" fill="hold">
                            <p:stCondLst>
                              <p:cond delay="3000"/>
                            </p:stCondLst>
                            <p:childTnLst>
                              <p:par>
                                <p:cTn id="36" presetID="42" presetClass="entr" presetSubtype="0" fill="hold" grpId="0"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anim calcmode="lin" valueType="num">
                                      <p:cBhvr>
                                        <p:cTn id="39" dur="500" fill="hold"/>
                                        <p:tgtEl>
                                          <p:spTgt spid="29"/>
                                        </p:tgtEl>
                                        <p:attrNameLst>
                                          <p:attrName>ppt_x</p:attrName>
                                        </p:attrNameLst>
                                      </p:cBhvr>
                                      <p:tavLst>
                                        <p:tav tm="0">
                                          <p:val>
                                            <p:strVal val="#ppt_x"/>
                                          </p:val>
                                        </p:tav>
                                        <p:tav tm="100000">
                                          <p:val>
                                            <p:strVal val="#ppt_x"/>
                                          </p:val>
                                        </p:tav>
                                      </p:tavLst>
                                    </p:anim>
                                    <p:anim calcmode="lin" valueType="num">
                                      <p:cBhvr>
                                        <p:cTn id="40" dur="500" fill="hold"/>
                                        <p:tgtEl>
                                          <p:spTgt spid="29"/>
                                        </p:tgtEl>
                                        <p:attrNameLst>
                                          <p:attrName>ppt_y</p:attrName>
                                        </p:attrNameLst>
                                      </p:cBhvr>
                                      <p:tavLst>
                                        <p:tav tm="0">
                                          <p:val>
                                            <p:strVal val="#ppt_y+.1"/>
                                          </p:val>
                                        </p:tav>
                                        <p:tav tm="100000">
                                          <p:val>
                                            <p:strVal val="#ppt_y"/>
                                          </p:val>
                                        </p:tav>
                                      </p:tavLst>
                                    </p:anim>
                                  </p:childTnLst>
                                </p:cTn>
                              </p:par>
                            </p:childTnLst>
                          </p:cTn>
                        </p:par>
                        <p:par>
                          <p:cTn id="41" fill="hold">
                            <p:stCondLst>
                              <p:cond delay="3500"/>
                            </p:stCondLst>
                            <p:childTnLst>
                              <p:par>
                                <p:cTn id="42" presetID="23" presetClass="entr" presetSubtype="272" fill="hold" grpId="0" nodeType="afterEffect">
                                  <p:stCondLst>
                                    <p:cond delay="0"/>
                                  </p:stCondLst>
                                  <p:childTnLst>
                                    <p:set>
                                      <p:cBhvr>
                                        <p:cTn id="43" dur="1" fill="hold">
                                          <p:stCondLst>
                                            <p:cond delay="0"/>
                                          </p:stCondLst>
                                        </p:cTn>
                                        <p:tgtEl>
                                          <p:spTgt spid="25"/>
                                        </p:tgtEl>
                                        <p:attrNameLst>
                                          <p:attrName>style.visibility</p:attrName>
                                        </p:attrNameLst>
                                      </p:cBhvr>
                                      <p:to>
                                        <p:strVal val="visible"/>
                                      </p:to>
                                    </p:set>
                                    <p:anim calcmode="lin" valueType="num">
                                      <p:cBhvr>
                                        <p:cTn id="44" dur="500" fill="hold"/>
                                        <p:tgtEl>
                                          <p:spTgt spid="25"/>
                                        </p:tgtEl>
                                        <p:attrNameLst>
                                          <p:attrName>ppt_w</p:attrName>
                                        </p:attrNameLst>
                                      </p:cBhvr>
                                      <p:tavLst>
                                        <p:tav tm="0">
                                          <p:val>
                                            <p:strVal val="2/3*#ppt_w"/>
                                          </p:val>
                                        </p:tav>
                                        <p:tav tm="100000">
                                          <p:val>
                                            <p:strVal val="#ppt_w"/>
                                          </p:val>
                                        </p:tav>
                                      </p:tavLst>
                                    </p:anim>
                                    <p:anim calcmode="lin" valueType="num">
                                      <p:cBhvr>
                                        <p:cTn id="45" dur="500" fill="hold"/>
                                        <p:tgtEl>
                                          <p:spTgt spid="25"/>
                                        </p:tgtEl>
                                        <p:attrNameLst>
                                          <p:attrName>ppt_h</p:attrName>
                                        </p:attrNameLst>
                                      </p:cBhvr>
                                      <p:tavLst>
                                        <p:tav tm="0">
                                          <p:val>
                                            <p:strVal val="2/3*#ppt_h"/>
                                          </p:val>
                                        </p:tav>
                                        <p:tav tm="100000">
                                          <p:val>
                                            <p:strVal val="#ppt_h"/>
                                          </p:val>
                                        </p:tav>
                                      </p:tavLst>
                                    </p:anim>
                                  </p:childTnLst>
                                </p:cTn>
                              </p:par>
                            </p:childTnLst>
                          </p:cTn>
                        </p:par>
                        <p:par>
                          <p:cTn id="46" fill="hold">
                            <p:stCondLst>
                              <p:cond delay="4000"/>
                            </p:stCondLst>
                            <p:childTnLst>
                              <p:par>
                                <p:cTn id="47" presetID="47" presetClass="entr" presetSubtype="0" fill="hold" grpId="0" nodeType="after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anim calcmode="lin" valueType="num">
                                      <p:cBhvr>
                                        <p:cTn id="50" dur="500" fill="hold"/>
                                        <p:tgtEl>
                                          <p:spTgt spid="30"/>
                                        </p:tgtEl>
                                        <p:attrNameLst>
                                          <p:attrName>ppt_x</p:attrName>
                                        </p:attrNameLst>
                                      </p:cBhvr>
                                      <p:tavLst>
                                        <p:tav tm="0">
                                          <p:val>
                                            <p:strVal val="#ppt_x"/>
                                          </p:val>
                                        </p:tav>
                                        <p:tav tm="100000">
                                          <p:val>
                                            <p:strVal val="#ppt_x"/>
                                          </p:val>
                                        </p:tav>
                                      </p:tavLst>
                                    </p:anim>
                                    <p:anim calcmode="lin" valueType="num">
                                      <p:cBhvr>
                                        <p:cTn id="51" dur="500" fill="hold"/>
                                        <p:tgtEl>
                                          <p:spTgt spid="30"/>
                                        </p:tgtEl>
                                        <p:attrNameLst>
                                          <p:attrName>ppt_y</p:attrName>
                                        </p:attrNameLst>
                                      </p:cBhvr>
                                      <p:tavLst>
                                        <p:tav tm="0">
                                          <p:val>
                                            <p:strVal val="#ppt_y-.1"/>
                                          </p:val>
                                        </p:tav>
                                        <p:tav tm="100000">
                                          <p:val>
                                            <p:strVal val="#ppt_y"/>
                                          </p:val>
                                        </p:tav>
                                      </p:tavLst>
                                    </p:anim>
                                  </p:childTnLst>
                                </p:cTn>
                              </p:par>
                            </p:childTnLst>
                          </p:cTn>
                        </p:par>
                        <p:par>
                          <p:cTn id="52" fill="hold">
                            <p:stCondLst>
                              <p:cond delay="4500"/>
                            </p:stCondLst>
                            <p:childTnLst>
                              <p:par>
                                <p:cTn id="53" presetID="23" presetClass="entr" presetSubtype="272" fill="hold" grpId="0" nodeType="after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p:cTn id="55" dur="500" fill="hold"/>
                                        <p:tgtEl>
                                          <p:spTgt spid="26"/>
                                        </p:tgtEl>
                                        <p:attrNameLst>
                                          <p:attrName>ppt_w</p:attrName>
                                        </p:attrNameLst>
                                      </p:cBhvr>
                                      <p:tavLst>
                                        <p:tav tm="0">
                                          <p:val>
                                            <p:strVal val="2/3*#ppt_w"/>
                                          </p:val>
                                        </p:tav>
                                        <p:tav tm="100000">
                                          <p:val>
                                            <p:strVal val="#ppt_w"/>
                                          </p:val>
                                        </p:tav>
                                      </p:tavLst>
                                    </p:anim>
                                    <p:anim calcmode="lin" valueType="num">
                                      <p:cBhvr>
                                        <p:cTn id="56" dur="500" fill="hold"/>
                                        <p:tgtEl>
                                          <p:spTgt spid="26"/>
                                        </p:tgtEl>
                                        <p:attrNameLst>
                                          <p:attrName>ppt_h</p:attrName>
                                        </p:attrNameLst>
                                      </p:cBhvr>
                                      <p:tavLst>
                                        <p:tav tm="0">
                                          <p:val>
                                            <p:strVal val="2/3*#ppt_h"/>
                                          </p:val>
                                        </p:tav>
                                        <p:tav tm="100000">
                                          <p:val>
                                            <p:strVal val="#ppt_h"/>
                                          </p:val>
                                        </p:tav>
                                      </p:tavLst>
                                    </p:anim>
                                  </p:childTnLst>
                                </p:cTn>
                              </p:par>
                            </p:childTnLst>
                          </p:cTn>
                        </p:par>
                        <p:par>
                          <p:cTn id="57" fill="hold">
                            <p:stCondLst>
                              <p:cond delay="5000"/>
                            </p:stCondLst>
                            <p:childTnLst>
                              <p:par>
                                <p:cTn id="58" presetID="42" presetClass="entr" presetSubtype="0" fill="hold" grpId="0" nodeType="after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anim calcmode="lin" valueType="num">
                                      <p:cBhvr>
                                        <p:cTn id="61" dur="500" fill="hold"/>
                                        <p:tgtEl>
                                          <p:spTgt spid="31"/>
                                        </p:tgtEl>
                                        <p:attrNameLst>
                                          <p:attrName>ppt_x</p:attrName>
                                        </p:attrNameLst>
                                      </p:cBhvr>
                                      <p:tavLst>
                                        <p:tav tm="0">
                                          <p:val>
                                            <p:strVal val="#ppt_x"/>
                                          </p:val>
                                        </p:tav>
                                        <p:tav tm="100000">
                                          <p:val>
                                            <p:strVal val="#ppt_x"/>
                                          </p:val>
                                        </p:tav>
                                      </p:tavLst>
                                    </p:anim>
                                    <p:anim calcmode="lin" valueType="num">
                                      <p:cBhvr>
                                        <p:cTn id="62"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1" nodeType="clickEffect">
                                  <p:stCondLst>
                                    <p:cond delay="0"/>
                                  </p:stCondLst>
                                  <p:childTnLst>
                                    <p:animEffect transition="out" filter="fade">
                                      <p:cBhvr>
                                        <p:cTn id="66" dur="500" tmFilter="0, 0; .2, .5; .8, .5; 1, 0"/>
                                        <p:tgtEl>
                                          <p:spTgt spid="27"/>
                                        </p:tgtEl>
                                      </p:cBhvr>
                                    </p:animEffect>
                                    <p:animScale>
                                      <p:cBhvr>
                                        <p:cTn id="67" dur="250" autoRev="1" fill="hold"/>
                                        <p:tgtEl>
                                          <p:spTgt spid="27"/>
                                        </p:tgtEl>
                                      </p:cBhvr>
                                      <p:by x="105000" y="105000"/>
                                    </p:animScale>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p:bldP spid="27" grpId="1"/>
      <p:bldP spid="28" grpId="0"/>
      <p:bldP spid="29" grpId="0"/>
      <p:bldP spid="30" grpId="0"/>
      <p:bldP spid="31" grpId="0"/>
      <p:bldP spid="32"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CE9B229-E0D3-4CDA-9E39-F0C557B47BDC}"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文本框 7"/>
          <p:cNvSpPr txBox="1"/>
          <p:nvPr>
            <p:custDataLst>
              <p:tags r:id="rId1"/>
            </p:custDataLst>
          </p:nvPr>
        </p:nvSpPr>
        <p:spPr>
          <a:xfrm>
            <a:off x="914400" y="635000"/>
            <a:ext cx="7315200" cy="1607344"/>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需求分析阶段的任务是确定（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软件开发方法</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软件开发工具</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软件开发费用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11"/>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软件系统的功能</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6"/>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7"/>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8"/>
            </p:custDataLst>
          </p:nvPr>
        </p:nvSpPr>
        <p:spPr>
          <a:xfrm>
            <a:off x="1178719" y="3423642"/>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椭圆 15"/>
          <p:cNvSpPr>
            <a:spLocks noChangeAspect="1"/>
          </p:cNvSpPr>
          <p:nvPr>
            <p:custDataLst>
              <p:tags r:id="rId9"/>
            </p:custDataLst>
          </p:nvPr>
        </p:nvSpPr>
        <p:spPr>
          <a:xfrm>
            <a:off x="1178719" y="4066580"/>
            <a:ext cx="385762" cy="385762"/>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矩形: 圆角 16"/>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2" name="组合 21"/>
          <p:cNvGrpSpPr/>
          <p:nvPr>
            <p:custDataLst>
              <p:tags r:id="rId11"/>
            </p:custDataLst>
          </p:nvPr>
        </p:nvGrpSpPr>
        <p:grpSpPr>
          <a:xfrm>
            <a:off x="0" y="0"/>
            <a:ext cx="9144000" cy="635000"/>
            <a:chOff x="0" y="0"/>
            <a:chExt cx="9144000" cy="635000"/>
          </a:xfrm>
        </p:grpSpPr>
        <p:sp>
          <p:nvSpPr>
            <p:cNvPr id="18" name="TitleBackground"/>
            <p:cNvSpPr/>
            <p:nvPr>
              <p:custDataLst>
                <p:tags r:id="rId12"/>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p:cNvSpPr/>
            <p:nvPr>
              <p:custDataLst>
                <p:tags r:id="rId13"/>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7" name="图片 6"/>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981BBC8-5992-4C3F-BC5E-0D0AA70F3BCA}"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custDataLst>
              <p:tags r:id="rId1"/>
            </p:custDataLst>
          </p:nvPr>
        </p:nvSpPr>
        <p:spPr>
          <a:xfrm>
            <a:off x="914400" y="635000"/>
            <a:ext cx="7315200" cy="1607344"/>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软件生产过程中，需求信息由（        ）给出</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程序员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项目管理者</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软件分析设计人员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软件用户</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6"/>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7"/>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8"/>
            </p:custDataLst>
          </p:nvPr>
        </p:nvSpPr>
        <p:spPr>
          <a:xfrm>
            <a:off x="1178719" y="3423642"/>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9"/>
            </p:custDataLst>
          </p:nvPr>
        </p:nvSpPr>
        <p:spPr>
          <a:xfrm>
            <a:off x="1178719" y="4066580"/>
            <a:ext cx="385762" cy="385762"/>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圆角 15"/>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1" name="组合 20"/>
          <p:cNvGrpSpPr/>
          <p:nvPr>
            <p:custDataLst>
              <p:tags r:id="rId11"/>
            </p:custDataLst>
          </p:nvPr>
        </p:nvGrpSpPr>
        <p:grpSpPr>
          <a:xfrm>
            <a:off x="0" y="0"/>
            <a:ext cx="9144000" cy="635000"/>
            <a:chOff x="0" y="0"/>
            <a:chExt cx="9144000" cy="635000"/>
          </a:xfrm>
        </p:grpSpPr>
        <p:sp>
          <p:nvSpPr>
            <p:cNvPr id="17" name="TitleBackground"/>
            <p:cNvSpPr/>
            <p:nvPr>
              <p:custDataLst>
                <p:tags r:id="rId12"/>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3"/>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4723" y="1732474"/>
            <a:ext cx="8034318" cy="2917825"/>
          </a:xfrm>
          <a:prstGeom prst="rect">
            <a:avLst/>
          </a:prstGeom>
          <a:noFill/>
        </p:spPr>
        <p:txBody>
          <a:bodyPr wrap="square" rtlCol="0">
            <a:spAutoFit/>
          </a:bodyPr>
          <a:lstStyle/>
          <a:p>
            <a:pPr marL="342900" indent="-342900" algn="just">
              <a:lnSpc>
                <a:spcPct val="120000"/>
              </a:lnSpc>
              <a:spcBef>
                <a:spcPts val="900"/>
              </a:spcBef>
              <a:spcAft>
                <a:spcPts val="0"/>
              </a:spcAft>
              <a:buClr>
                <a:srgbClr val="0091EA"/>
              </a:buClr>
              <a:buSzPct val="80000"/>
              <a:buFont typeface="Arial" panose="020B0604020202020204" pitchFamily="34" charset="0"/>
              <a:buChar char="►"/>
              <a:defRPr/>
            </a:pPr>
            <a:r>
              <a:rPr lang="zh-CN" altLang="en-US" sz="2100" dirty="0">
                <a:solidFill>
                  <a:srgbClr val="686868"/>
                </a:solidFill>
                <a:latin typeface="+mj-ea"/>
                <a:ea typeface="+mj-ea"/>
              </a:rPr>
              <a:t>项目背景：一直没有一款网上报名系统，全依赖人工管理，各省队参赛报名以</a:t>
            </a:r>
            <a:r>
              <a:rPr lang="en-US" altLang="zh-CN" sz="2100" dirty="0">
                <a:solidFill>
                  <a:srgbClr val="686868"/>
                </a:solidFill>
                <a:latin typeface="+mj-ea"/>
                <a:ea typeface="+mj-ea"/>
              </a:rPr>
              <a:t>excel</a:t>
            </a:r>
            <a:r>
              <a:rPr lang="zh-CN" altLang="en-US" sz="2100" dirty="0">
                <a:solidFill>
                  <a:srgbClr val="686868"/>
                </a:solidFill>
                <a:latin typeface="+mj-ea"/>
                <a:ea typeface="+mj-ea"/>
              </a:rPr>
              <a:t>文件提交给赛艇协会，由工作人员整理报名信息。</a:t>
            </a:r>
            <a:endParaRPr lang="zh-CN" altLang="en-US" sz="2100" dirty="0">
              <a:solidFill>
                <a:srgbClr val="686868"/>
              </a:solidFill>
              <a:latin typeface="+mj-ea"/>
              <a:ea typeface="+mj-ea"/>
            </a:endParaRPr>
          </a:p>
          <a:p>
            <a:pPr marL="342900" indent="-342900" algn="just">
              <a:lnSpc>
                <a:spcPct val="120000"/>
              </a:lnSpc>
              <a:spcBef>
                <a:spcPts val="900"/>
              </a:spcBef>
              <a:buClr>
                <a:srgbClr val="0091EA"/>
              </a:buClr>
              <a:buSzPct val="80000"/>
              <a:buFont typeface="Arial" panose="020B0604020202020204" pitchFamily="34" charset="0"/>
              <a:buChar char="►"/>
              <a:defRPr/>
            </a:pPr>
            <a:r>
              <a:rPr lang="zh-CN" altLang="en-US" sz="2100" dirty="0">
                <a:solidFill>
                  <a:srgbClr val="686868"/>
                </a:solidFill>
                <a:latin typeface="+mj-ea"/>
                <a:ea typeface="+mj-ea"/>
              </a:rPr>
              <a:t>用户基本需求概述：开发一个网上报名系统，用于各省对运动员参赛报名，以及中国赛艇协会发布赛事信息和统计整理报名信息。该系统可以用来代替目前中国赛艇协会人工管理的日常工作，提高办公自动化水平，减少人力成本，提高办公效率。</a:t>
            </a:r>
            <a:endParaRPr lang="zh-CN" altLang="en-US" sz="2100" dirty="0">
              <a:solidFill>
                <a:srgbClr val="686868"/>
              </a:solidFill>
              <a:latin typeface="+mj-ea"/>
              <a:ea typeface="+mj-ea"/>
            </a:endParaRPr>
          </a:p>
        </p:txBody>
      </p:sp>
      <p:sp>
        <p:nvSpPr>
          <p:cNvPr id="4" name="标题 3"/>
          <p:cNvSpPr>
            <a:spLocks noGrp="1"/>
          </p:cNvSpPr>
          <p:nvPr>
            <p:ph type="title"/>
          </p:nvPr>
        </p:nvSpPr>
        <p:spPr/>
        <p:txBody>
          <a:bodyPr/>
          <a:lstStyle/>
          <a:p>
            <a:pPr>
              <a:spcAft>
                <a:spcPts val="0"/>
              </a:spcAft>
            </a:pPr>
            <a:r>
              <a:rPr lang="zh-CN" altLang="en-US" kern="100" dirty="0">
                <a:latin typeface="+mn-ea"/>
                <a:cs typeface="Times New Roman" panose="02020603050405020304" pitchFamily="18" charset="0"/>
              </a:rPr>
              <a:t>需求分析案例</a:t>
            </a:r>
            <a:endParaRPr lang="zh-CN" altLang="en-US" dirty="0"/>
          </a:p>
        </p:txBody>
      </p:sp>
      <p:sp>
        <p:nvSpPr>
          <p:cNvPr id="5" name="日期占位符 4"/>
          <p:cNvSpPr>
            <a:spLocks noGrp="1"/>
          </p:cNvSpPr>
          <p:nvPr>
            <p:ph type="dt" sz="half" idx="10"/>
          </p:nvPr>
        </p:nvSpPr>
        <p:spPr/>
        <p:txBody>
          <a:bodyPr/>
          <a:lstStyle/>
          <a:p>
            <a:pPr>
              <a:spcAft>
                <a:spcPts val="0"/>
              </a:spcAft>
            </a:pPr>
            <a:fld id="{871E592B-1A63-4A05-A82C-FC4C9F74316A}"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a:p>
        </p:txBody>
      </p:sp>
      <p:sp>
        <p:nvSpPr>
          <p:cNvPr id="7" name="灯片编号占位符 6"/>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grpSp>
        <p:nvGrpSpPr>
          <p:cNvPr id="18" name="组合 17"/>
          <p:cNvGrpSpPr/>
          <p:nvPr/>
        </p:nvGrpSpPr>
        <p:grpSpPr>
          <a:xfrm>
            <a:off x="768096" y="786149"/>
            <a:ext cx="7646540" cy="1034558"/>
            <a:chOff x="931155" y="3687565"/>
            <a:chExt cx="7646540" cy="1034558"/>
          </a:xfrm>
        </p:grpSpPr>
        <p:sp>
          <p:nvSpPr>
            <p:cNvPr id="14" name="圆"/>
            <p:cNvSpPr/>
            <p:nvPr/>
          </p:nvSpPr>
          <p:spPr>
            <a:xfrm>
              <a:off x="931155" y="3722894"/>
              <a:ext cx="963905" cy="963905"/>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2"/>
                </a:solidFill>
              </a:endParaRPr>
            </a:p>
          </p:txBody>
        </p:sp>
        <p:sp>
          <p:nvSpPr>
            <p:cNvPr id="15" name="文本"/>
            <p:cNvSpPr txBox="1"/>
            <p:nvPr/>
          </p:nvSpPr>
          <p:spPr>
            <a:xfrm>
              <a:off x="1895058" y="3789871"/>
              <a:ext cx="6039766" cy="829945"/>
            </a:xfrm>
            <a:prstGeom prst="rect">
              <a:avLst/>
            </a:prstGeom>
            <a:noFill/>
          </p:spPr>
          <p:txBody>
            <a:bodyPr wrap="square" rtlCol="0" anchor="ctr">
              <a:spAutoFit/>
            </a:bodyPr>
            <a:lstStyle/>
            <a:p>
              <a:pPr indent="351155">
                <a:lnSpc>
                  <a:spcPct val="150000"/>
                </a:lnSpc>
                <a:spcAft>
                  <a:spcPts val="0"/>
                </a:spcAft>
              </a:pPr>
              <a:r>
                <a:rPr lang="zh-CN" altLang="en-US" sz="3200" dirty="0">
                  <a:solidFill>
                    <a:srgbClr val="0070C0"/>
                  </a:solidFill>
                </a:rPr>
                <a:t>中国赛艇协会网上报名系统</a:t>
              </a:r>
              <a:endParaRPr lang="zh-CN" altLang="en-US" sz="3200" spc="113" dirty="0">
                <a:solidFill>
                  <a:srgbClr val="0070C0"/>
                </a:solidFill>
                <a:latin typeface="+mn-ea"/>
              </a:endParaRPr>
            </a:p>
          </p:txBody>
        </p:sp>
        <p:sp>
          <p:nvSpPr>
            <p:cNvPr id="16" name="图标"/>
            <p:cNvSpPr>
              <a:spLocks noEditPoints="1"/>
            </p:cNvSpPr>
            <p:nvPr/>
          </p:nvSpPr>
          <p:spPr bwMode="auto">
            <a:xfrm>
              <a:off x="1110263" y="3921111"/>
              <a:ext cx="605687" cy="567472"/>
            </a:xfrm>
            <a:custGeom>
              <a:avLst/>
              <a:gdLst>
                <a:gd name="T0" fmla="*/ 339915 w 154"/>
                <a:gd name="T1" fmla="*/ 225712 h 144"/>
                <a:gd name="T2" fmla="*/ 375868 w 154"/>
                <a:gd name="T3" fmla="*/ 215899 h 144"/>
                <a:gd name="T4" fmla="*/ 486994 w 154"/>
                <a:gd name="T5" fmla="*/ 19627 h 144"/>
                <a:gd name="T6" fmla="*/ 421626 w 154"/>
                <a:gd name="T7" fmla="*/ 19627 h 144"/>
                <a:gd name="T8" fmla="*/ 388941 w 154"/>
                <a:gd name="T9" fmla="*/ 19627 h 144"/>
                <a:gd name="T10" fmla="*/ 388941 w 154"/>
                <a:gd name="T11" fmla="*/ 0 h 144"/>
                <a:gd name="T12" fmla="*/ 114395 w 154"/>
                <a:gd name="T13" fmla="*/ 0 h 144"/>
                <a:gd name="T14" fmla="*/ 114395 w 154"/>
                <a:gd name="T15" fmla="*/ 19627 h 144"/>
                <a:gd name="T16" fmla="*/ 81710 w 154"/>
                <a:gd name="T17" fmla="*/ 19627 h 144"/>
                <a:gd name="T18" fmla="*/ 16342 w 154"/>
                <a:gd name="T19" fmla="*/ 19627 h 144"/>
                <a:gd name="T20" fmla="*/ 127468 w 154"/>
                <a:gd name="T21" fmla="*/ 215899 h 144"/>
                <a:gd name="T22" fmla="*/ 163421 w 154"/>
                <a:gd name="T23" fmla="*/ 225712 h 144"/>
                <a:gd name="T24" fmla="*/ 232058 w 154"/>
                <a:gd name="T25" fmla="*/ 271509 h 144"/>
                <a:gd name="T26" fmla="*/ 232058 w 154"/>
                <a:gd name="T27" fmla="*/ 412171 h 144"/>
                <a:gd name="T28" fmla="*/ 114395 w 154"/>
                <a:gd name="T29" fmla="*/ 471052 h 144"/>
                <a:gd name="T30" fmla="*/ 388941 w 154"/>
                <a:gd name="T31" fmla="*/ 471052 h 144"/>
                <a:gd name="T32" fmla="*/ 271278 w 154"/>
                <a:gd name="T33" fmla="*/ 412171 h 144"/>
                <a:gd name="T34" fmla="*/ 271278 w 154"/>
                <a:gd name="T35" fmla="*/ 271509 h 144"/>
                <a:gd name="T36" fmla="*/ 339915 w 154"/>
                <a:gd name="T37" fmla="*/ 225712 h 144"/>
                <a:gd name="T38" fmla="*/ 388941 w 154"/>
                <a:gd name="T39" fmla="*/ 85051 h 144"/>
                <a:gd name="T40" fmla="*/ 388941 w 154"/>
                <a:gd name="T41" fmla="*/ 39254 h 144"/>
                <a:gd name="T42" fmla="*/ 421626 w 154"/>
                <a:gd name="T43" fmla="*/ 39254 h 144"/>
                <a:gd name="T44" fmla="*/ 467383 w 154"/>
                <a:gd name="T45" fmla="*/ 39254 h 144"/>
                <a:gd name="T46" fmla="*/ 369331 w 154"/>
                <a:gd name="T47" fmla="*/ 196272 h 144"/>
                <a:gd name="T48" fmla="*/ 356257 w 154"/>
                <a:gd name="T49" fmla="*/ 202814 h 144"/>
                <a:gd name="T50" fmla="*/ 388941 w 154"/>
                <a:gd name="T51" fmla="*/ 85051 h 144"/>
                <a:gd name="T52" fmla="*/ 134005 w 154"/>
                <a:gd name="T53" fmla="*/ 196272 h 144"/>
                <a:gd name="T54" fmla="*/ 35953 w 154"/>
                <a:gd name="T55" fmla="*/ 39254 h 144"/>
                <a:gd name="T56" fmla="*/ 81710 w 154"/>
                <a:gd name="T57" fmla="*/ 39254 h 144"/>
                <a:gd name="T58" fmla="*/ 114395 w 154"/>
                <a:gd name="T59" fmla="*/ 39254 h 144"/>
                <a:gd name="T60" fmla="*/ 114395 w 154"/>
                <a:gd name="T61" fmla="*/ 85051 h 144"/>
                <a:gd name="T62" fmla="*/ 147079 w 154"/>
                <a:gd name="T63" fmla="*/ 202814 h 144"/>
                <a:gd name="T64" fmla="*/ 134005 w 154"/>
                <a:gd name="T65" fmla="*/ 196272 h 144"/>
                <a:gd name="T66" fmla="*/ 251668 w 154"/>
                <a:gd name="T67" fmla="*/ 173373 h 144"/>
                <a:gd name="T68" fmla="*/ 189568 w 154"/>
                <a:gd name="T69" fmla="*/ 215899 h 144"/>
                <a:gd name="T70" fmla="*/ 212447 w 154"/>
                <a:gd name="T71" fmla="*/ 143933 h 144"/>
                <a:gd name="T72" fmla="*/ 153616 w 154"/>
                <a:gd name="T73" fmla="*/ 101407 h 144"/>
                <a:gd name="T74" fmla="*/ 228789 w 154"/>
                <a:gd name="T75" fmla="*/ 98136 h 144"/>
                <a:gd name="T76" fmla="*/ 251668 w 154"/>
                <a:gd name="T77" fmla="*/ 29441 h 144"/>
                <a:gd name="T78" fmla="*/ 274547 w 154"/>
                <a:gd name="T79" fmla="*/ 98136 h 144"/>
                <a:gd name="T80" fmla="*/ 349720 w 154"/>
                <a:gd name="T81" fmla="*/ 101407 h 144"/>
                <a:gd name="T82" fmla="*/ 290889 w 154"/>
                <a:gd name="T83" fmla="*/ 143933 h 144"/>
                <a:gd name="T84" fmla="*/ 313768 w 154"/>
                <a:gd name="T85" fmla="*/ 215899 h 144"/>
                <a:gd name="T86" fmla="*/ 251668 w 154"/>
                <a:gd name="T87" fmla="*/ 173373 h 14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4" h="144">
                  <a:moveTo>
                    <a:pt x="104" y="69"/>
                  </a:moveTo>
                  <a:cubicBezTo>
                    <a:pt x="107" y="69"/>
                    <a:pt x="110" y="68"/>
                    <a:pt x="115" y="66"/>
                  </a:cubicBezTo>
                  <a:cubicBezTo>
                    <a:pt x="154" y="54"/>
                    <a:pt x="149" y="6"/>
                    <a:pt x="149" y="6"/>
                  </a:cubicBezTo>
                  <a:cubicBezTo>
                    <a:pt x="129" y="6"/>
                    <a:pt x="129" y="6"/>
                    <a:pt x="129" y="6"/>
                  </a:cubicBezTo>
                  <a:cubicBezTo>
                    <a:pt x="119" y="6"/>
                    <a:pt x="119" y="6"/>
                    <a:pt x="119" y="6"/>
                  </a:cubicBezTo>
                  <a:cubicBezTo>
                    <a:pt x="119" y="0"/>
                    <a:pt x="119" y="0"/>
                    <a:pt x="119" y="0"/>
                  </a:cubicBezTo>
                  <a:cubicBezTo>
                    <a:pt x="35" y="0"/>
                    <a:pt x="35" y="0"/>
                    <a:pt x="35" y="0"/>
                  </a:cubicBezTo>
                  <a:cubicBezTo>
                    <a:pt x="35" y="6"/>
                    <a:pt x="35" y="6"/>
                    <a:pt x="35" y="6"/>
                  </a:cubicBezTo>
                  <a:cubicBezTo>
                    <a:pt x="25" y="6"/>
                    <a:pt x="25" y="6"/>
                    <a:pt x="25" y="6"/>
                  </a:cubicBezTo>
                  <a:cubicBezTo>
                    <a:pt x="5" y="6"/>
                    <a:pt x="5" y="6"/>
                    <a:pt x="5" y="6"/>
                  </a:cubicBezTo>
                  <a:cubicBezTo>
                    <a:pt x="5" y="6"/>
                    <a:pt x="0" y="54"/>
                    <a:pt x="39" y="66"/>
                  </a:cubicBezTo>
                  <a:cubicBezTo>
                    <a:pt x="43" y="67"/>
                    <a:pt x="47" y="69"/>
                    <a:pt x="50" y="69"/>
                  </a:cubicBezTo>
                  <a:cubicBezTo>
                    <a:pt x="56" y="76"/>
                    <a:pt x="63" y="82"/>
                    <a:pt x="71" y="83"/>
                  </a:cubicBezTo>
                  <a:cubicBezTo>
                    <a:pt x="71" y="126"/>
                    <a:pt x="71" y="126"/>
                    <a:pt x="71" y="126"/>
                  </a:cubicBezTo>
                  <a:cubicBezTo>
                    <a:pt x="51" y="127"/>
                    <a:pt x="35" y="135"/>
                    <a:pt x="35" y="144"/>
                  </a:cubicBezTo>
                  <a:cubicBezTo>
                    <a:pt x="119" y="144"/>
                    <a:pt x="119" y="144"/>
                    <a:pt x="119" y="144"/>
                  </a:cubicBezTo>
                  <a:cubicBezTo>
                    <a:pt x="119" y="135"/>
                    <a:pt x="103" y="127"/>
                    <a:pt x="83" y="126"/>
                  </a:cubicBezTo>
                  <a:cubicBezTo>
                    <a:pt x="83" y="83"/>
                    <a:pt x="83" y="83"/>
                    <a:pt x="83" y="83"/>
                  </a:cubicBezTo>
                  <a:cubicBezTo>
                    <a:pt x="91" y="82"/>
                    <a:pt x="98" y="77"/>
                    <a:pt x="104" y="69"/>
                  </a:cubicBezTo>
                  <a:moveTo>
                    <a:pt x="119" y="26"/>
                  </a:moveTo>
                  <a:cubicBezTo>
                    <a:pt x="119" y="12"/>
                    <a:pt x="119" y="12"/>
                    <a:pt x="119" y="12"/>
                  </a:cubicBezTo>
                  <a:cubicBezTo>
                    <a:pt x="129" y="12"/>
                    <a:pt x="129" y="12"/>
                    <a:pt x="129" y="12"/>
                  </a:cubicBezTo>
                  <a:cubicBezTo>
                    <a:pt x="143" y="12"/>
                    <a:pt x="143" y="12"/>
                    <a:pt x="143" y="12"/>
                  </a:cubicBezTo>
                  <a:cubicBezTo>
                    <a:pt x="143" y="24"/>
                    <a:pt x="140" y="52"/>
                    <a:pt x="113" y="60"/>
                  </a:cubicBezTo>
                  <a:cubicBezTo>
                    <a:pt x="112" y="61"/>
                    <a:pt x="111" y="61"/>
                    <a:pt x="109" y="62"/>
                  </a:cubicBezTo>
                  <a:cubicBezTo>
                    <a:pt x="115" y="51"/>
                    <a:pt x="119" y="38"/>
                    <a:pt x="119" y="26"/>
                  </a:cubicBezTo>
                  <a:close/>
                  <a:moveTo>
                    <a:pt x="41" y="60"/>
                  </a:moveTo>
                  <a:cubicBezTo>
                    <a:pt x="14" y="52"/>
                    <a:pt x="11" y="24"/>
                    <a:pt x="11" y="12"/>
                  </a:cubicBezTo>
                  <a:cubicBezTo>
                    <a:pt x="25" y="12"/>
                    <a:pt x="25" y="12"/>
                    <a:pt x="25" y="12"/>
                  </a:cubicBezTo>
                  <a:cubicBezTo>
                    <a:pt x="35" y="12"/>
                    <a:pt x="35" y="12"/>
                    <a:pt x="35" y="12"/>
                  </a:cubicBezTo>
                  <a:cubicBezTo>
                    <a:pt x="35" y="26"/>
                    <a:pt x="35" y="26"/>
                    <a:pt x="35" y="26"/>
                  </a:cubicBezTo>
                  <a:cubicBezTo>
                    <a:pt x="35" y="38"/>
                    <a:pt x="39" y="51"/>
                    <a:pt x="45" y="62"/>
                  </a:cubicBezTo>
                  <a:cubicBezTo>
                    <a:pt x="43" y="61"/>
                    <a:pt x="42" y="61"/>
                    <a:pt x="41" y="60"/>
                  </a:cubicBezTo>
                  <a:moveTo>
                    <a:pt x="77" y="53"/>
                  </a:moveTo>
                  <a:cubicBezTo>
                    <a:pt x="58" y="66"/>
                    <a:pt x="58" y="66"/>
                    <a:pt x="58" y="66"/>
                  </a:cubicBezTo>
                  <a:cubicBezTo>
                    <a:pt x="65" y="44"/>
                    <a:pt x="65" y="44"/>
                    <a:pt x="65" y="44"/>
                  </a:cubicBezTo>
                  <a:cubicBezTo>
                    <a:pt x="47" y="31"/>
                    <a:pt x="47" y="31"/>
                    <a:pt x="47" y="31"/>
                  </a:cubicBezTo>
                  <a:cubicBezTo>
                    <a:pt x="70" y="30"/>
                    <a:pt x="70" y="30"/>
                    <a:pt x="70" y="30"/>
                  </a:cubicBezTo>
                  <a:cubicBezTo>
                    <a:pt x="77" y="9"/>
                    <a:pt x="77" y="9"/>
                    <a:pt x="77" y="9"/>
                  </a:cubicBezTo>
                  <a:cubicBezTo>
                    <a:pt x="84" y="30"/>
                    <a:pt x="84" y="30"/>
                    <a:pt x="84" y="30"/>
                  </a:cubicBezTo>
                  <a:cubicBezTo>
                    <a:pt x="107" y="31"/>
                    <a:pt x="107" y="31"/>
                    <a:pt x="107" y="31"/>
                  </a:cubicBezTo>
                  <a:cubicBezTo>
                    <a:pt x="89" y="44"/>
                    <a:pt x="89" y="44"/>
                    <a:pt x="89" y="44"/>
                  </a:cubicBezTo>
                  <a:cubicBezTo>
                    <a:pt x="96" y="66"/>
                    <a:pt x="96" y="66"/>
                    <a:pt x="96" y="66"/>
                  </a:cubicBezTo>
                  <a:lnTo>
                    <a:pt x="77" y="53"/>
                  </a:lnTo>
                  <a:close/>
                </a:path>
              </a:pathLst>
            </a:custGeom>
            <a:solidFill>
              <a:schemeClr val="bg1"/>
            </a:solidFill>
            <a:ln>
              <a:noFill/>
            </a:ln>
          </p:spPr>
          <p:txBody>
            <a:bodyPr/>
            <a:lstStyle/>
            <a:p>
              <a:pPr>
                <a:defRPr/>
              </a:pPr>
              <a:endParaRPr lang="zh-CN" altLang="en-US" sz="1350">
                <a:solidFill>
                  <a:schemeClr val="bg1"/>
                </a:solidFill>
              </a:endParaRPr>
            </a:p>
          </p:txBody>
        </p:sp>
        <p:pic>
          <p:nvPicPr>
            <p:cNvPr id="17" name="图片 16"/>
            <p:cNvPicPr>
              <a:picLocks noChangeAspect="1"/>
            </p:cNvPicPr>
            <p:nvPr/>
          </p:nvPicPr>
          <p:blipFill>
            <a:blip r:embed="rId1" cstate="print">
              <a:clrChange>
                <a:clrFrom>
                  <a:srgbClr val="FFFFFF"/>
                </a:clrFrom>
                <a:clrTo>
                  <a:srgbClr val="FFFFFF">
                    <a:alpha val="0"/>
                  </a:srgbClr>
                </a:clrTo>
              </a:clrChange>
            </a:blip>
            <a:stretch>
              <a:fillRect/>
            </a:stretch>
          </p:blipFill>
          <p:spPr>
            <a:xfrm>
              <a:off x="7537325" y="3687565"/>
              <a:ext cx="1040370" cy="1034558"/>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 uri="{28A0092B-C50C-407E-A947-70E740481C1C}">
                <a14:useLocalDpi xmlns:a14="http://schemas.microsoft.com/office/drawing/2010/main" val="0"/>
              </a:ext>
            </a:extLst>
          </a:blip>
          <a:srcRect l="11227"/>
          <a:stretch>
            <a:fillRect/>
          </a:stretch>
        </p:blipFill>
        <p:spPr>
          <a:xfrm>
            <a:off x="0" y="1475506"/>
            <a:ext cx="3916659" cy="2597620"/>
          </a:xfrm>
          <a:prstGeom prst="rect">
            <a:avLst/>
          </a:prstGeom>
        </p:spPr>
      </p:pic>
      <p:sp>
        <p:nvSpPr>
          <p:cNvPr id="2" name="文本框 1"/>
          <p:cNvSpPr txBox="1"/>
          <p:nvPr/>
        </p:nvSpPr>
        <p:spPr>
          <a:xfrm>
            <a:off x="3865912" y="789157"/>
            <a:ext cx="4992338" cy="3861435"/>
          </a:xfrm>
          <a:prstGeom prst="rect">
            <a:avLst/>
          </a:prstGeom>
          <a:noFill/>
        </p:spPr>
        <p:txBody>
          <a:bodyPr wrap="square" rtlCol="0">
            <a:spAutoFit/>
          </a:bodyPr>
          <a:lstStyle/>
          <a:p>
            <a:pPr marL="386080" indent="-386080">
              <a:spcBef>
                <a:spcPts val="900"/>
              </a:spcBef>
              <a:spcAft>
                <a:spcPts val="0"/>
              </a:spcAft>
              <a:buFont typeface="+mj-lt"/>
              <a:buAutoNum type="arabicPeriod"/>
              <a:defRPr/>
            </a:pPr>
            <a:r>
              <a:rPr lang="zh-CN" altLang="en-US" sz="2100" dirty="0">
                <a:solidFill>
                  <a:srgbClr val="686868"/>
                </a:solidFill>
                <a:latin typeface="+mj-ea"/>
                <a:ea typeface="+mj-ea"/>
              </a:rPr>
              <a:t>业务访谈</a:t>
            </a:r>
            <a:endParaRPr lang="en-US" altLang="zh-CN" sz="2100" dirty="0">
              <a:solidFill>
                <a:srgbClr val="686868"/>
              </a:solidFill>
              <a:latin typeface="+mj-ea"/>
              <a:ea typeface="+mj-ea"/>
            </a:endParaRPr>
          </a:p>
          <a:p>
            <a:pPr marL="728980" lvl="1" indent="-386080">
              <a:spcBef>
                <a:spcPts val="900"/>
              </a:spcBef>
              <a:spcAft>
                <a:spcPts val="0"/>
              </a:spcAft>
              <a:buClr>
                <a:srgbClr val="0091EA"/>
              </a:buClr>
              <a:buSzPct val="80000"/>
              <a:buFont typeface="Arial" panose="020B0604020202020204" pitchFamily="34" charset="0"/>
              <a:buChar char="►"/>
              <a:defRPr/>
            </a:pPr>
            <a:r>
              <a:rPr lang="zh-CN" altLang="en-US" sz="2000" dirty="0">
                <a:solidFill>
                  <a:srgbClr val="686868"/>
                </a:solidFill>
                <a:latin typeface="+mj-ea"/>
                <a:ea typeface="+mj-ea"/>
              </a:rPr>
              <a:t>列出访谈提纲、做好访谈记录</a:t>
            </a:r>
            <a:endParaRPr lang="en-US" altLang="zh-CN" sz="2000" dirty="0">
              <a:solidFill>
                <a:srgbClr val="686868"/>
              </a:solidFill>
              <a:latin typeface="+mj-ea"/>
              <a:ea typeface="+mj-ea"/>
            </a:endParaRPr>
          </a:p>
          <a:p>
            <a:pPr marL="728980" lvl="1" indent="-386080">
              <a:spcBef>
                <a:spcPts val="900"/>
              </a:spcBef>
              <a:spcAft>
                <a:spcPts val="0"/>
              </a:spcAft>
              <a:buClr>
                <a:srgbClr val="0091EA"/>
              </a:buClr>
              <a:buSzPct val="80000"/>
              <a:buFont typeface="Arial" panose="020B0604020202020204" pitchFamily="34" charset="0"/>
              <a:buChar char="►"/>
              <a:defRPr/>
            </a:pPr>
            <a:r>
              <a:rPr lang="zh-CN" altLang="en-US" sz="2000" dirty="0">
                <a:solidFill>
                  <a:srgbClr val="686868"/>
                </a:solidFill>
                <a:latin typeface="+mj-ea"/>
                <a:ea typeface="+mj-ea"/>
              </a:rPr>
              <a:t>总结业务分析报告</a:t>
            </a:r>
            <a:endParaRPr lang="en-US" altLang="zh-CN" sz="2000" dirty="0">
              <a:solidFill>
                <a:srgbClr val="686868"/>
              </a:solidFill>
              <a:latin typeface="+mj-ea"/>
              <a:ea typeface="+mj-ea"/>
            </a:endParaRPr>
          </a:p>
          <a:p>
            <a:pPr marL="386080" indent="-386080">
              <a:spcBef>
                <a:spcPts val="900"/>
              </a:spcBef>
              <a:spcAft>
                <a:spcPts val="0"/>
              </a:spcAft>
              <a:buFont typeface="+mj-lt"/>
              <a:buAutoNum type="arabicPeriod"/>
              <a:defRPr/>
            </a:pPr>
            <a:r>
              <a:rPr lang="zh-CN" altLang="en-US" sz="2100" dirty="0">
                <a:solidFill>
                  <a:srgbClr val="686868"/>
                </a:solidFill>
                <a:latin typeface="+mj-ea"/>
                <a:ea typeface="+mj-ea"/>
              </a:rPr>
              <a:t>业务需求建模</a:t>
            </a:r>
            <a:endParaRPr lang="en-US" altLang="zh-CN" sz="2100" dirty="0">
              <a:solidFill>
                <a:srgbClr val="686868"/>
              </a:solidFill>
              <a:latin typeface="+mj-ea"/>
              <a:ea typeface="+mj-ea"/>
            </a:endParaRPr>
          </a:p>
          <a:p>
            <a:pPr marL="685800" lvl="1" indent="-342900">
              <a:spcBef>
                <a:spcPts val="900"/>
              </a:spcBef>
              <a:spcAft>
                <a:spcPts val="0"/>
              </a:spcAft>
              <a:buClr>
                <a:srgbClr val="0091EA"/>
              </a:buClr>
              <a:buSzPct val="80000"/>
              <a:buFont typeface="Arial" panose="020B0604020202020204" pitchFamily="34" charset="0"/>
              <a:buChar char="►"/>
              <a:defRPr/>
            </a:pPr>
            <a:r>
              <a:rPr lang="zh-CN" altLang="en-US" sz="2000" dirty="0">
                <a:solidFill>
                  <a:srgbClr val="686868"/>
                </a:solidFill>
                <a:latin typeface="+mj-ea"/>
                <a:ea typeface="+mj-ea"/>
              </a:rPr>
              <a:t>使用</a:t>
            </a:r>
            <a:r>
              <a:rPr lang="en-US" altLang="zh-CN" sz="2000" dirty="0">
                <a:solidFill>
                  <a:srgbClr val="686868"/>
                </a:solidFill>
                <a:latin typeface="+mj-ea"/>
                <a:ea typeface="+mj-ea"/>
              </a:rPr>
              <a:t>UML</a:t>
            </a:r>
            <a:r>
              <a:rPr lang="zh-CN" altLang="en-US" sz="2000" dirty="0">
                <a:solidFill>
                  <a:srgbClr val="686868"/>
                </a:solidFill>
                <a:latin typeface="+mj-ea"/>
                <a:ea typeface="+mj-ea"/>
              </a:rPr>
              <a:t>用例图建立业务用例模型</a:t>
            </a:r>
            <a:endParaRPr lang="en-US" altLang="zh-CN" sz="2000" dirty="0">
              <a:solidFill>
                <a:srgbClr val="686868"/>
              </a:solidFill>
              <a:latin typeface="+mj-ea"/>
              <a:ea typeface="+mj-ea"/>
            </a:endParaRPr>
          </a:p>
          <a:p>
            <a:pPr marL="386080" indent="-386080">
              <a:spcBef>
                <a:spcPts val="900"/>
              </a:spcBef>
              <a:spcAft>
                <a:spcPts val="0"/>
              </a:spcAft>
              <a:buFont typeface="+mj-lt"/>
              <a:buAutoNum type="arabicPeriod"/>
              <a:defRPr/>
            </a:pPr>
            <a:r>
              <a:rPr lang="zh-CN" altLang="en-US" sz="2100" dirty="0">
                <a:solidFill>
                  <a:srgbClr val="686868"/>
                </a:solidFill>
                <a:latin typeface="+mj-ea"/>
                <a:ea typeface="+mj-ea"/>
              </a:rPr>
              <a:t>业务流程建模</a:t>
            </a:r>
            <a:endParaRPr lang="en-US" altLang="zh-CN" sz="2100" dirty="0">
              <a:solidFill>
                <a:srgbClr val="686868"/>
              </a:solidFill>
              <a:latin typeface="+mj-ea"/>
              <a:ea typeface="+mj-ea"/>
            </a:endParaRPr>
          </a:p>
          <a:p>
            <a:pPr marL="728980" lvl="1" indent="-386080">
              <a:spcBef>
                <a:spcPts val="900"/>
              </a:spcBef>
              <a:spcAft>
                <a:spcPts val="0"/>
              </a:spcAft>
              <a:buClr>
                <a:srgbClr val="0091EA"/>
              </a:buClr>
              <a:buSzPct val="80000"/>
              <a:buFont typeface="Arial" panose="020B0604020202020204" pitchFamily="34" charset="0"/>
              <a:buChar char="►"/>
              <a:defRPr/>
            </a:pPr>
            <a:r>
              <a:rPr lang="zh-CN" altLang="en-US" sz="2000" dirty="0">
                <a:solidFill>
                  <a:srgbClr val="686868"/>
                </a:solidFill>
                <a:latin typeface="+mj-ea"/>
                <a:ea typeface="+mj-ea"/>
              </a:rPr>
              <a:t>使用</a:t>
            </a:r>
            <a:r>
              <a:rPr lang="en-US" altLang="zh-CN" sz="2000" dirty="0">
                <a:solidFill>
                  <a:srgbClr val="686868"/>
                </a:solidFill>
                <a:latin typeface="+mj-ea"/>
                <a:ea typeface="+mj-ea"/>
              </a:rPr>
              <a:t>UML</a:t>
            </a:r>
            <a:r>
              <a:rPr lang="zh-CN" altLang="zh-CN" sz="2000" dirty="0">
                <a:solidFill>
                  <a:srgbClr val="686868"/>
                </a:solidFill>
                <a:latin typeface="+mj-ea"/>
                <a:ea typeface="+mj-ea"/>
              </a:rPr>
              <a:t>活动图</a:t>
            </a:r>
            <a:r>
              <a:rPr lang="zh-CN" altLang="en-US" sz="2000" dirty="0">
                <a:solidFill>
                  <a:srgbClr val="686868"/>
                </a:solidFill>
                <a:latin typeface="+mj-ea"/>
                <a:ea typeface="+mj-ea"/>
              </a:rPr>
              <a:t>建立业务流程模型</a:t>
            </a:r>
            <a:endParaRPr lang="en-US" altLang="zh-CN" sz="2000" dirty="0">
              <a:solidFill>
                <a:srgbClr val="686868"/>
              </a:solidFill>
              <a:latin typeface="+mj-ea"/>
              <a:ea typeface="+mj-ea"/>
            </a:endParaRPr>
          </a:p>
          <a:p>
            <a:pPr marL="386080" indent="-386080">
              <a:spcBef>
                <a:spcPts val="900"/>
              </a:spcBef>
              <a:spcAft>
                <a:spcPts val="0"/>
              </a:spcAft>
              <a:buFont typeface="+mj-lt"/>
              <a:buAutoNum type="arabicPeriod"/>
              <a:defRPr/>
            </a:pPr>
            <a:r>
              <a:rPr lang="zh-CN" altLang="en-US" sz="2100" dirty="0">
                <a:solidFill>
                  <a:srgbClr val="686868"/>
                </a:solidFill>
                <a:latin typeface="+mj-ea"/>
                <a:ea typeface="+mj-ea"/>
              </a:rPr>
              <a:t>针对模型与用户进行沟通确认</a:t>
            </a:r>
            <a:endParaRPr lang="en-US" altLang="zh-CN" sz="2100" dirty="0">
              <a:solidFill>
                <a:srgbClr val="686868"/>
              </a:solidFill>
              <a:latin typeface="+mj-ea"/>
              <a:ea typeface="+mj-ea"/>
            </a:endParaRPr>
          </a:p>
          <a:p>
            <a:pPr marL="386080" indent="-386080">
              <a:spcBef>
                <a:spcPts val="900"/>
              </a:spcBef>
              <a:buFont typeface="+mj-lt"/>
              <a:buAutoNum type="arabicPeriod"/>
              <a:defRPr/>
            </a:pPr>
            <a:r>
              <a:rPr lang="zh-CN" altLang="en-US" sz="2100" dirty="0">
                <a:solidFill>
                  <a:srgbClr val="686868"/>
                </a:solidFill>
                <a:latin typeface="+mj-ea"/>
                <a:ea typeface="+mj-ea"/>
              </a:rPr>
              <a:t>数据建模</a:t>
            </a:r>
            <a:endParaRPr lang="zh-CN" altLang="en-US" sz="2100" dirty="0">
              <a:solidFill>
                <a:srgbClr val="686868"/>
              </a:solidFill>
              <a:latin typeface="+mj-ea"/>
              <a:ea typeface="+mj-ea"/>
            </a:endParaRPr>
          </a:p>
        </p:txBody>
      </p:sp>
      <p:sp>
        <p:nvSpPr>
          <p:cNvPr id="4" name="标题 3"/>
          <p:cNvSpPr>
            <a:spLocks noGrp="1"/>
          </p:cNvSpPr>
          <p:nvPr>
            <p:ph type="title"/>
          </p:nvPr>
        </p:nvSpPr>
        <p:spPr/>
        <p:txBody>
          <a:bodyPr/>
          <a:lstStyle/>
          <a:p>
            <a:pPr>
              <a:spcAft>
                <a:spcPts val="0"/>
              </a:spcAft>
            </a:pPr>
            <a:r>
              <a:rPr lang="zh-CN" altLang="en-US" kern="100" dirty="0">
                <a:latin typeface="+mn-ea"/>
                <a:cs typeface="Times New Roman" panose="02020603050405020304" pitchFamily="18" charset="0"/>
              </a:rPr>
              <a:t>需求分析步骤</a:t>
            </a:r>
            <a:endParaRPr lang="zh-CN" altLang="en-US" dirty="0"/>
          </a:p>
        </p:txBody>
      </p:sp>
      <p:sp>
        <p:nvSpPr>
          <p:cNvPr id="5" name="日期占位符 4"/>
          <p:cNvSpPr>
            <a:spLocks noGrp="1"/>
          </p:cNvSpPr>
          <p:nvPr>
            <p:ph type="dt" sz="half" idx="10"/>
          </p:nvPr>
        </p:nvSpPr>
        <p:spPr/>
        <p:txBody>
          <a:bodyPr/>
          <a:lstStyle/>
          <a:p>
            <a:pPr>
              <a:spcAft>
                <a:spcPts val="0"/>
              </a:spcAft>
            </a:pPr>
            <a:fld id="{7DB8B8F6-90BB-4A36-B555-1AED23F4A86A}"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a:p>
        </p:txBody>
      </p:sp>
      <p:sp>
        <p:nvSpPr>
          <p:cNvPr id="7" name="灯片编号占位符 6"/>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wipe(up)">
                                      <p:cBhvr>
                                        <p:cTn id="18" dur="500"/>
                                        <p:tgtEl>
                                          <p:spTgt spid="2">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wipe(up)">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wipe(up)">
                                      <p:cBhvr>
                                        <p:cTn id="26" dur="500"/>
                                        <p:tgtEl>
                                          <p:spTgt spid="2">
                                            <p:txEl>
                                              <p:pRg st="5" end="5"/>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wipe(up)">
                                      <p:cBhvr>
                                        <p:cTn id="29" dur="500"/>
                                        <p:tgtEl>
                                          <p:spTgt spid="2">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
                                            <p:txEl>
                                              <p:pRg st="7" end="7"/>
                                            </p:txEl>
                                          </p:spTgt>
                                        </p:tgtEl>
                                        <p:attrNameLst>
                                          <p:attrName>style.visibility</p:attrName>
                                        </p:attrNameLst>
                                      </p:cBhvr>
                                      <p:to>
                                        <p:strVal val="visible"/>
                                      </p:to>
                                    </p:set>
                                    <p:animEffect transition="in" filter="wipe(up)">
                                      <p:cBhvr>
                                        <p:cTn id="34" dur="500"/>
                                        <p:tgtEl>
                                          <p:spTgt spid="2">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wipe(up)">
                                      <p:cBhvr>
                                        <p:cTn id="39"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9361" y="1007876"/>
            <a:ext cx="6831623" cy="460375"/>
          </a:xfrm>
          <a:prstGeom prst="rect">
            <a:avLst/>
          </a:prstGeom>
          <a:noFill/>
        </p:spPr>
        <p:txBody>
          <a:bodyPr wrap="square" rtlCol="0">
            <a:spAutoFit/>
          </a:bodyPr>
          <a:lstStyle/>
          <a:p>
            <a:pPr marL="386080" indent="-386080">
              <a:spcBef>
                <a:spcPts val="900"/>
              </a:spcBef>
              <a:spcAft>
                <a:spcPts val="0"/>
              </a:spcAft>
              <a:buFont typeface="+mj-lt"/>
              <a:buAutoNum type="arabicPeriod"/>
              <a:defRPr/>
            </a:pPr>
            <a:r>
              <a:rPr lang="zh-CN" altLang="en-US" sz="2400" dirty="0">
                <a:solidFill>
                  <a:schemeClr val="accent2"/>
                </a:solidFill>
                <a:latin typeface="+mj-ea"/>
                <a:ea typeface="+mj-ea"/>
              </a:rPr>
              <a:t>业务访谈</a:t>
            </a:r>
            <a:endParaRPr lang="en-US" altLang="zh-CN" sz="2400" dirty="0">
              <a:solidFill>
                <a:schemeClr val="accent2"/>
              </a:solidFill>
              <a:latin typeface="+mj-ea"/>
              <a:ea typeface="+mj-ea"/>
            </a:endParaRPr>
          </a:p>
        </p:txBody>
      </p:sp>
      <p:sp>
        <p:nvSpPr>
          <p:cNvPr id="6" name="文本框 5"/>
          <p:cNvSpPr txBox="1"/>
          <p:nvPr/>
        </p:nvSpPr>
        <p:spPr>
          <a:xfrm>
            <a:off x="610904" y="1648504"/>
            <a:ext cx="4365381" cy="2874010"/>
          </a:xfrm>
          <a:prstGeom prst="rect">
            <a:avLst/>
          </a:prstGeom>
          <a:noFill/>
        </p:spPr>
        <p:txBody>
          <a:bodyPr wrap="square" rtlCol="0">
            <a:spAutoFit/>
          </a:bodyPr>
          <a:lstStyle/>
          <a:p>
            <a:pPr>
              <a:lnSpc>
                <a:spcPct val="110000"/>
              </a:lnSpc>
              <a:spcBef>
                <a:spcPts val="450"/>
              </a:spcBef>
              <a:spcAft>
                <a:spcPts val="0"/>
              </a:spcAft>
            </a:pPr>
            <a:r>
              <a:rPr lang="zh-CN" altLang="en-US" dirty="0">
                <a:latin typeface="+mj-ea"/>
                <a:ea typeface="+mj-ea"/>
              </a:rPr>
              <a:t>网上报名系统的访谈记录如下：</a:t>
            </a:r>
            <a:endParaRPr lang="zh-CN" altLang="en-US" dirty="0">
              <a:latin typeface="+mj-ea"/>
              <a:ea typeface="+mj-ea"/>
            </a:endParaRPr>
          </a:p>
          <a:p>
            <a:pPr>
              <a:lnSpc>
                <a:spcPct val="110000"/>
              </a:lnSpc>
              <a:spcBef>
                <a:spcPts val="450"/>
              </a:spcBef>
              <a:spcAft>
                <a:spcPts val="0"/>
              </a:spcAft>
            </a:pPr>
            <a:r>
              <a:rPr lang="en-US" altLang="zh-CN" dirty="0">
                <a:latin typeface="+mj-ea"/>
                <a:ea typeface="+mj-ea"/>
              </a:rPr>
              <a:t>1. </a:t>
            </a:r>
            <a:r>
              <a:rPr lang="zh-CN" altLang="en-US" dirty="0">
                <a:latin typeface="+mj-ea"/>
                <a:ea typeface="+mj-ea"/>
              </a:rPr>
              <a:t>用户：各省队参赛报名负责人和中国皮划艇协会管理人员。</a:t>
            </a:r>
            <a:endParaRPr lang="en-US" altLang="zh-CN" dirty="0">
              <a:latin typeface="+mj-ea"/>
              <a:ea typeface="+mj-ea"/>
            </a:endParaRPr>
          </a:p>
          <a:p>
            <a:pPr>
              <a:lnSpc>
                <a:spcPct val="110000"/>
              </a:lnSpc>
              <a:spcBef>
                <a:spcPts val="450"/>
              </a:spcBef>
              <a:spcAft>
                <a:spcPts val="0"/>
              </a:spcAft>
            </a:pPr>
            <a:r>
              <a:rPr lang="en-US" altLang="zh-CN" dirty="0">
                <a:latin typeface="+mj-ea"/>
                <a:ea typeface="+mj-ea"/>
              </a:rPr>
              <a:t>2. </a:t>
            </a:r>
            <a:r>
              <a:rPr lang="zh-CN" altLang="en-US" dirty="0">
                <a:latin typeface="+mj-ea"/>
                <a:ea typeface="+mj-ea"/>
              </a:rPr>
              <a:t>各省队参赛报名负责人的主要业务：</a:t>
            </a:r>
            <a:endParaRPr lang="en-US" altLang="zh-CN" dirty="0">
              <a:latin typeface="+mj-ea"/>
              <a:ea typeface="+mj-ea"/>
            </a:endParaRPr>
          </a:p>
          <a:p>
            <a:pPr>
              <a:lnSpc>
                <a:spcPct val="110000"/>
              </a:lnSpc>
              <a:spcBef>
                <a:spcPts val="450"/>
              </a:spcBef>
              <a:spcAft>
                <a:spcPts val="0"/>
              </a:spcAft>
            </a:pPr>
            <a:r>
              <a:rPr lang="zh-CN" altLang="zh-CN" dirty="0">
                <a:latin typeface="+mj-ea"/>
                <a:ea typeface="+mj-ea"/>
              </a:rPr>
              <a:t>（</a:t>
            </a:r>
            <a:r>
              <a:rPr lang="en-US" altLang="zh-CN" dirty="0">
                <a:latin typeface="+mj-ea"/>
                <a:ea typeface="+mj-ea"/>
              </a:rPr>
              <a:t>1</a:t>
            </a:r>
            <a:r>
              <a:rPr lang="zh-CN" altLang="zh-CN" dirty="0">
                <a:latin typeface="+mj-ea"/>
                <a:ea typeface="+mj-ea"/>
              </a:rPr>
              <a:t>）</a:t>
            </a:r>
            <a:r>
              <a:rPr lang="zh-CN" altLang="en-US" dirty="0">
                <a:latin typeface="+mj-ea"/>
                <a:ea typeface="+mj-ea"/>
              </a:rPr>
              <a:t>查看赛事信息</a:t>
            </a:r>
            <a:endParaRPr lang="en-US" altLang="zh-CN" dirty="0">
              <a:latin typeface="+mj-ea"/>
              <a:ea typeface="+mj-ea"/>
            </a:endParaRPr>
          </a:p>
          <a:p>
            <a:pPr>
              <a:lnSpc>
                <a:spcPct val="110000"/>
              </a:lnSpc>
              <a:spcBef>
                <a:spcPts val="450"/>
              </a:spcBef>
              <a:spcAft>
                <a:spcPts val="0"/>
              </a:spcAft>
            </a:pPr>
            <a:r>
              <a:rPr lang="zh-CN" altLang="zh-CN" dirty="0">
                <a:latin typeface="+mj-ea"/>
                <a:ea typeface="+mj-ea"/>
              </a:rPr>
              <a:t>（</a:t>
            </a:r>
            <a:r>
              <a:rPr lang="en-US" altLang="zh-CN" dirty="0">
                <a:latin typeface="+mj-ea"/>
                <a:ea typeface="+mj-ea"/>
              </a:rPr>
              <a:t>2</a:t>
            </a:r>
            <a:r>
              <a:rPr lang="zh-CN" altLang="zh-CN" dirty="0">
                <a:latin typeface="+mj-ea"/>
                <a:ea typeface="+mj-ea"/>
              </a:rPr>
              <a:t>）</a:t>
            </a:r>
            <a:r>
              <a:rPr lang="zh-CN" altLang="en-US" dirty="0">
                <a:latin typeface="+mj-ea"/>
                <a:ea typeface="+mj-ea"/>
              </a:rPr>
              <a:t>报名</a:t>
            </a:r>
            <a:r>
              <a:rPr lang="zh-CN" altLang="zh-CN" dirty="0">
                <a:latin typeface="+mj-ea"/>
                <a:ea typeface="+mj-ea"/>
              </a:rPr>
              <a:t>：</a:t>
            </a:r>
            <a:endParaRPr lang="en-US" altLang="zh-CN" dirty="0">
              <a:latin typeface="+mj-ea"/>
              <a:ea typeface="+mj-ea"/>
            </a:endParaRPr>
          </a:p>
          <a:p>
            <a:pPr marL="82550">
              <a:lnSpc>
                <a:spcPct val="110000"/>
              </a:lnSpc>
              <a:spcBef>
                <a:spcPts val="450"/>
              </a:spcBef>
              <a:spcAft>
                <a:spcPts val="0"/>
              </a:spcAft>
            </a:pPr>
            <a:r>
              <a:rPr lang="en-US" altLang="zh-CN" dirty="0">
                <a:latin typeface="+mj-ea"/>
                <a:ea typeface="+mj-ea"/>
              </a:rPr>
              <a:t>          </a:t>
            </a:r>
            <a:r>
              <a:rPr lang="en-US" altLang="zh-CN" dirty="0" err="1">
                <a:latin typeface="+mj-ea"/>
                <a:ea typeface="+mj-ea"/>
              </a:rPr>
              <a:t>i</a:t>
            </a:r>
            <a:r>
              <a:rPr lang="zh-CN" altLang="en-US" dirty="0">
                <a:latin typeface="+mj-ea"/>
                <a:ea typeface="+mj-ea"/>
              </a:rPr>
              <a:t>）参赛单位信息填报和修改</a:t>
            </a:r>
            <a:endParaRPr lang="en-US" altLang="zh-CN" dirty="0">
              <a:latin typeface="+mj-ea"/>
              <a:ea typeface="+mj-ea"/>
            </a:endParaRPr>
          </a:p>
          <a:p>
            <a:pPr marL="82550">
              <a:lnSpc>
                <a:spcPct val="110000"/>
              </a:lnSpc>
              <a:spcBef>
                <a:spcPts val="450"/>
              </a:spcBef>
            </a:pPr>
            <a:r>
              <a:rPr lang="en-US" altLang="zh-CN" dirty="0">
                <a:latin typeface="+mj-ea"/>
                <a:ea typeface="+mj-ea"/>
              </a:rPr>
              <a:t>          ii</a:t>
            </a:r>
            <a:r>
              <a:rPr lang="zh-CN" altLang="en-US" dirty="0">
                <a:latin typeface="+mj-ea"/>
                <a:ea typeface="+mj-ea"/>
              </a:rPr>
              <a:t>）参赛运动员信息填报和修改</a:t>
            </a:r>
            <a:endParaRPr lang="en-US" altLang="zh-CN" dirty="0">
              <a:latin typeface="+mj-ea"/>
              <a:ea typeface="+mj-ea"/>
            </a:endParaRPr>
          </a:p>
        </p:txBody>
      </p:sp>
      <p:sp>
        <p:nvSpPr>
          <p:cNvPr id="7" name="文本框 6"/>
          <p:cNvSpPr txBox="1"/>
          <p:nvPr/>
        </p:nvSpPr>
        <p:spPr>
          <a:xfrm>
            <a:off x="4976285" y="1147721"/>
            <a:ext cx="3683977" cy="3236595"/>
          </a:xfrm>
          <a:prstGeom prst="rect">
            <a:avLst/>
          </a:prstGeom>
          <a:noFill/>
        </p:spPr>
        <p:txBody>
          <a:bodyPr wrap="square" rtlCol="0">
            <a:spAutoFit/>
          </a:bodyPr>
          <a:lstStyle/>
          <a:p>
            <a:pPr>
              <a:lnSpc>
                <a:spcPct val="110000"/>
              </a:lnSpc>
              <a:spcBef>
                <a:spcPts val="450"/>
              </a:spcBef>
              <a:spcAft>
                <a:spcPts val="0"/>
              </a:spcAft>
            </a:pPr>
            <a:r>
              <a:rPr lang="en-US" altLang="zh-CN" dirty="0">
                <a:latin typeface="+mj-ea"/>
                <a:ea typeface="+mj-ea"/>
              </a:rPr>
              <a:t>3. </a:t>
            </a:r>
            <a:r>
              <a:rPr lang="zh-CN" altLang="en-US" dirty="0">
                <a:latin typeface="+mj-ea"/>
                <a:ea typeface="+mj-ea"/>
              </a:rPr>
              <a:t>中国皮划艇协会管理人员的主要业务：</a:t>
            </a:r>
            <a:endParaRPr lang="zh-CN" altLang="en-US" dirty="0">
              <a:latin typeface="+mj-ea"/>
              <a:ea typeface="+mj-ea"/>
            </a:endParaRPr>
          </a:p>
          <a:p>
            <a:pPr>
              <a:lnSpc>
                <a:spcPct val="110000"/>
              </a:lnSpc>
              <a:spcBef>
                <a:spcPts val="450"/>
              </a:spcBef>
              <a:spcAft>
                <a:spcPts val="0"/>
              </a:spcAft>
            </a:pPr>
            <a:r>
              <a:rPr lang="zh-CN" altLang="en-US" dirty="0">
                <a:latin typeface="+mj-ea"/>
                <a:ea typeface="+mj-ea"/>
              </a:rPr>
              <a:t>（</a:t>
            </a:r>
            <a:r>
              <a:rPr lang="en-US" altLang="zh-CN" dirty="0">
                <a:latin typeface="+mj-ea"/>
                <a:ea typeface="+mj-ea"/>
              </a:rPr>
              <a:t>1</a:t>
            </a:r>
            <a:r>
              <a:rPr lang="zh-CN" altLang="en-US" dirty="0">
                <a:latin typeface="+mj-ea"/>
                <a:ea typeface="+mj-ea"/>
              </a:rPr>
              <a:t>）各省队用户管理</a:t>
            </a:r>
            <a:endParaRPr lang="zh-CN" altLang="en-US" dirty="0">
              <a:latin typeface="+mj-ea"/>
              <a:ea typeface="+mj-ea"/>
            </a:endParaRPr>
          </a:p>
          <a:p>
            <a:pPr>
              <a:lnSpc>
                <a:spcPct val="110000"/>
              </a:lnSpc>
              <a:spcBef>
                <a:spcPts val="450"/>
              </a:spcBef>
              <a:spcAft>
                <a:spcPts val="0"/>
              </a:spcAft>
            </a:pPr>
            <a:r>
              <a:rPr lang="zh-CN" altLang="en-US" dirty="0">
                <a:latin typeface="+mj-ea"/>
                <a:ea typeface="+mj-ea"/>
              </a:rPr>
              <a:t>（</a:t>
            </a:r>
            <a:r>
              <a:rPr lang="en-US" altLang="zh-CN" dirty="0">
                <a:latin typeface="+mj-ea"/>
                <a:ea typeface="+mj-ea"/>
              </a:rPr>
              <a:t>2</a:t>
            </a:r>
            <a:r>
              <a:rPr lang="zh-CN" altLang="en-US" dirty="0">
                <a:latin typeface="+mj-ea"/>
                <a:ea typeface="+mj-ea"/>
              </a:rPr>
              <a:t>）运动员管理</a:t>
            </a:r>
            <a:endParaRPr lang="zh-CN" altLang="en-US" dirty="0">
              <a:latin typeface="+mj-ea"/>
              <a:ea typeface="+mj-ea"/>
            </a:endParaRPr>
          </a:p>
          <a:p>
            <a:pPr>
              <a:lnSpc>
                <a:spcPct val="110000"/>
              </a:lnSpc>
              <a:spcBef>
                <a:spcPts val="450"/>
              </a:spcBef>
              <a:spcAft>
                <a:spcPts val="0"/>
              </a:spcAft>
            </a:pPr>
            <a:r>
              <a:rPr lang="zh-CN" altLang="en-US" dirty="0">
                <a:latin typeface="+mj-ea"/>
                <a:ea typeface="+mj-ea"/>
              </a:rPr>
              <a:t>（</a:t>
            </a:r>
            <a:r>
              <a:rPr lang="en-US" altLang="zh-CN" dirty="0">
                <a:latin typeface="+mj-ea"/>
                <a:ea typeface="+mj-ea"/>
              </a:rPr>
              <a:t>3</a:t>
            </a:r>
            <a:r>
              <a:rPr lang="zh-CN" altLang="en-US" dirty="0">
                <a:latin typeface="+mj-ea"/>
                <a:ea typeface="+mj-ea"/>
              </a:rPr>
              <a:t>）报名管理</a:t>
            </a:r>
            <a:endParaRPr lang="zh-CN" altLang="en-US" dirty="0">
              <a:latin typeface="+mj-ea"/>
              <a:ea typeface="+mj-ea"/>
            </a:endParaRPr>
          </a:p>
          <a:p>
            <a:pPr>
              <a:lnSpc>
                <a:spcPct val="110000"/>
              </a:lnSpc>
              <a:spcBef>
                <a:spcPts val="450"/>
              </a:spcBef>
              <a:spcAft>
                <a:spcPts val="0"/>
              </a:spcAft>
            </a:pPr>
            <a:r>
              <a:rPr lang="zh-CN" altLang="en-US" dirty="0">
                <a:latin typeface="+mj-ea"/>
                <a:ea typeface="+mj-ea"/>
              </a:rPr>
              <a:t>          </a:t>
            </a:r>
            <a:r>
              <a:rPr lang="en-US" altLang="zh-CN" dirty="0" err="1">
                <a:latin typeface="+mj-ea"/>
                <a:ea typeface="+mj-ea"/>
              </a:rPr>
              <a:t>i</a:t>
            </a:r>
            <a:r>
              <a:rPr lang="zh-CN" altLang="en-US" dirty="0">
                <a:latin typeface="+mj-ea"/>
                <a:ea typeface="+mj-ea"/>
              </a:rPr>
              <a:t>）报名单位信息</a:t>
            </a:r>
            <a:endParaRPr lang="zh-CN" altLang="en-US" dirty="0">
              <a:latin typeface="+mj-ea"/>
              <a:ea typeface="+mj-ea"/>
            </a:endParaRPr>
          </a:p>
          <a:p>
            <a:pPr>
              <a:lnSpc>
                <a:spcPct val="110000"/>
              </a:lnSpc>
              <a:spcBef>
                <a:spcPts val="450"/>
              </a:spcBef>
              <a:spcAft>
                <a:spcPts val="0"/>
              </a:spcAft>
            </a:pPr>
            <a:r>
              <a:rPr lang="zh-CN" altLang="en-US" dirty="0">
                <a:latin typeface="+mj-ea"/>
                <a:ea typeface="+mj-ea"/>
              </a:rPr>
              <a:t>          </a:t>
            </a:r>
            <a:r>
              <a:rPr lang="en-US" altLang="zh-CN" dirty="0">
                <a:latin typeface="+mj-ea"/>
                <a:ea typeface="+mj-ea"/>
              </a:rPr>
              <a:t>ii</a:t>
            </a:r>
            <a:r>
              <a:rPr lang="zh-CN" altLang="en-US" dirty="0">
                <a:latin typeface="+mj-ea"/>
                <a:ea typeface="+mj-ea"/>
              </a:rPr>
              <a:t>）报名运动员信息</a:t>
            </a:r>
            <a:endParaRPr lang="zh-CN" altLang="en-US" dirty="0">
              <a:latin typeface="+mj-ea"/>
              <a:ea typeface="+mj-ea"/>
            </a:endParaRPr>
          </a:p>
          <a:p>
            <a:pPr>
              <a:lnSpc>
                <a:spcPct val="110000"/>
              </a:lnSpc>
              <a:spcBef>
                <a:spcPts val="450"/>
              </a:spcBef>
              <a:spcAft>
                <a:spcPts val="0"/>
              </a:spcAft>
            </a:pPr>
            <a:r>
              <a:rPr lang="zh-CN" altLang="en-US" dirty="0">
                <a:latin typeface="+mj-ea"/>
                <a:ea typeface="+mj-ea"/>
              </a:rPr>
              <a:t>（</a:t>
            </a:r>
            <a:r>
              <a:rPr lang="en-US" altLang="zh-CN" dirty="0">
                <a:latin typeface="+mj-ea"/>
                <a:ea typeface="+mj-ea"/>
              </a:rPr>
              <a:t>4</a:t>
            </a:r>
            <a:r>
              <a:rPr lang="zh-CN" altLang="en-US" dirty="0">
                <a:latin typeface="+mj-ea"/>
                <a:ea typeface="+mj-ea"/>
              </a:rPr>
              <a:t>）赛事管理</a:t>
            </a:r>
            <a:endParaRPr lang="zh-CN" altLang="en-US" dirty="0">
              <a:latin typeface="+mj-ea"/>
              <a:ea typeface="+mj-ea"/>
            </a:endParaRPr>
          </a:p>
          <a:p>
            <a:pPr>
              <a:lnSpc>
                <a:spcPct val="110000"/>
              </a:lnSpc>
              <a:spcBef>
                <a:spcPts val="450"/>
              </a:spcBef>
            </a:pPr>
            <a:r>
              <a:rPr lang="zh-CN" altLang="en-US" dirty="0">
                <a:latin typeface="+mj-ea"/>
                <a:ea typeface="+mj-ea"/>
              </a:rPr>
              <a:t>          </a:t>
            </a:r>
            <a:r>
              <a:rPr lang="en-US" altLang="zh-CN" dirty="0" err="1">
                <a:latin typeface="+mj-ea"/>
                <a:ea typeface="+mj-ea"/>
              </a:rPr>
              <a:t>i</a:t>
            </a:r>
            <a:r>
              <a:rPr lang="zh-CN" altLang="en-US" dirty="0">
                <a:latin typeface="+mj-ea"/>
                <a:ea typeface="+mj-ea"/>
              </a:rPr>
              <a:t>）赛事基本信息</a:t>
            </a:r>
            <a:endParaRPr lang="zh-CN" altLang="en-US" dirty="0">
              <a:latin typeface="+mj-ea"/>
              <a:ea typeface="+mj-ea"/>
            </a:endParaRPr>
          </a:p>
        </p:txBody>
      </p:sp>
      <p:sp>
        <p:nvSpPr>
          <p:cNvPr id="4" name="标题 3"/>
          <p:cNvSpPr>
            <a:spLocks noGrp="1"/>
          </p:cNvSpPr>
          <p:nvPr>
            <p:ph type="title"/>
          </p:nvPr>
        </p:nvSpPr>
        <p:spPr/>
        <p:txBody>
          <a:bodyPr/>
          <a:lstStyle/>
          <a:p>
            <a:pPr>
              <a:spcAft>
                <a:spcPts val="0"/>
              </a:spcAft>
            </a:pPr>
            <a:r>
              <a:rPr lang="zh-CN" altLang="en-US" kern="100" dirty="0">
                <a:latin typeface="+mn-ea"/>
                <a:cs typeface="Times New Roman" panose="02020603050405020304" pitchFamily="18" charset="0"/>
              </a:rPr>
              <a:t>网上报名系统的第一次访谈记录（节选）</a:t>
            </a:r>
            <a:endParaRPr lang="zh-CN" altLang="en-US" dirty="0"/>
          </a:p>
        </p:txBody>
      </p:sp>
      <p:sp>
        <p:nvSpPr>
          <p:cNvPr id="5" name="日期占位符 4"/>
          <p:cNvSpPr>
            <a:spLocks noGrp="1"/>
          </p:cNvSpPr>
          <p:nvPr>
            <p:ph type="dt" sz="half" idx="10"/>
          </p:nvPr>
        </p:nvSpPr>
        <p:spPr/>
        <p:txBody>
          <a:bodyPr/>
          <a:lstStyle/>
          <a:p>
            <a:pPr>
              <a:spcAft>
                <a:spcPts val="0"/>
              </a:spcAft>
            </a:pPr>
            <a:fld id="{E181D683-5A31-4BE4-A7D9-90DD6246839E}" type="datetime1">
              <a:rPr lang="zh-CN" altLang="en-US" smtClean="0"/>
            </a:fld>
            <a:endParaRPr lang="zh-CN" altLang="en-US"/>
          </a:p>
        </p:txBody>
      </p:sp>
      <p:sp>
        <p:nvSpPr>
          <p:cNvPr id="8" name="页脚占位符 7"/>
          <p:cNvSpPr>
            <a:spLocks noGrp="1"/>
          </p:cNvSpPr>
          <p:nvPr>
            <p:ph type="ftr" sz="quarter" idx="11"/>
          </p:nvPr>
        </p:nvSpPr>
        <p:spPr/>
        <p:txBody>
          <a:bodyPr/>
          <a:lstStyle/>
          <a:p>
            <a:pPr>
              <a:spcAft>
                <a:spcPts val="0"/>
              </a:spcAft>
            </a:pPr>
            <a:r>
              <a:rPr lang="zh-CN" altLang="en-US"/>
              <a:t>软件工程</a:t>
            </a:r>
            <a:endParaRPr lang="zh-CN" altLang="en-US"/>
          </a:p>
        </p:txBody>
      </p:sp>
      <p:sp>
        <p:nvSpPr>
          <p:cNvPr id="9" name="灯片编号占位符 8"/>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9364" y="1010859"/>
            <a:ext cx="6831623" cy="460375"/>
          </a:xfrm>
          <a:prstGeom prst="rect">
            <a:avLst/>
          </a:prstGeom>
          <a:noFill/>
        </p:spPr>
        <p:txBody>
          <a:bodyPr wrap="square" rtlCol="0">
            <a:spAutoFit/>
          </a:bodyPr>
          <a:lstStyle/>
          <a:p>
            <a:pPr marL="386080" indent="-386080">
              <a:spcBef>
                <a:spcPts val="900"/>
              </a:spcBef>
              <a:spcAft>
                <a:spcPts val="0"/>
              </a:spcAft>
              <a:buFont typeface="+mj-lt"/>
              <a:buAutoNum type="arabicPeriod"/>
              <a:defRPr/>
            </a:pPr>
            <a:r>
              <a:rPr lang="zh-CN" altLang="en-US" sz="2400" dirty="0">
                <a:solidFill>
                  <a:schemeClr val="accent2"/>
                </a:solidFill>
                <a:latin typeface="+mj-ea"/>
                <a:ea typeface="+mj-ea"/>
              </a:rPr>
              <a:t>业务访谈</a:t>
            </a:r>
            <a:endParaRPr lang="en-US" altLang="zh-CN" sz="2400" dirty="0">
              <a:solidFill>
                <a:schemeClr val="accent2"/>
              </a:solidFill>
              <a:latin typeface="+mj-ea"/>
              <a:ea typeface="+mj-ea"/>
            </a:endParaRPr>
          </a:p>
        </p:txBody>
      </p:sp>
      <p:pic>
        <p:nvPicPr>
          <p:cNvPr id="6" name="图片 5"/>
          <p:cNvPicPr>
            <a:picLocks noChangeAspect="1"/>
          </p:cNvPicPr>
          <p:nvPr/>
        </p:nvPicPr>
        <p:blipFill>
          <a:blip r:embed="rId1">
            <a:clrChange>
              <a:clrFrom>
                <a:srgbClr val="FFFFFF"/>
              </a:clrFrom>
              <a:clrTo>
                <a:srgbClr val="FFFFFF">
                  <a:alpha val="0"/>
                </a:srgbClr>
              </a:clrTo>
            </a:clrChange>
          </a:blip>
          <a:stretch>
            <a:fillRect/>
          </a:stretch>
        </p:blipFill>
        <p:spPr>
          <a:xfrm>
            <a:off x="174557" y="1608303"/>
            <a:ext cx="5502900" cy="2903539"/>
          </a:xfrm>
          <a:prstGeom prst="rect">
            <a:avLst/>
          </a:prstGeom>
        </p:spPr>
      </p:pic>
      <p:pic>
        <p:nvPicPr>
          <p:cNvPr id="8" name="图片 7"/>
          <p:cNvPicPr>
            <a:picLocks noChangeAspect="1"/>
          </p:cNvPicPr>
          <p:nvPr/>
        </p:nvPicPr>
        <p:blipFill>
          <a:blip r:embed="rId2">
            <a:clrChange>
              <a:clrFrom>
                <a:srgbClr val="FFFFFF"/>
              </a:clrFrom>
              <a:clrTo>
                <a:srgbClr val="FFFFFF">
                  <a:alpha val="0"/>
                </a:srgbClr>
              </a:clrTo>
            </a:clrChange>
          </a:blip>
          <a:stretch>
            <a:fillRect/>
          </a:stretch>
        </p:blipFill>
        <p:spPr>
          <a:xfrm>
            <a:off x="5569173" y="1218608"/>
            <a:ext cx="3466543" cy="1944199"/>
          </a:xfrm>
          <a:prstGeom prst="rect">
            <a:avLst/>
          </a:prstGeom>
        </p:spPr>
      </p:pic>
      <p:sp>
        <p:nvSpPr>
          <p:cNvPr id="4" name="标题 3"/>
          <p:cNvSpPr>
            <a:spLocks noGrp="1"/>
          </p:cNvSpPr>
          <p:nvPr>
            <p:ph type="title"/>
          </p:nvPr>
        </p:nvSpPr>
        <p:spPr/>
        <p:txBody>
          <a:bodyPr/>
          <a:lstStyle/>
          <a:p>
            <a:pPr>
              <a:spcAft>
                <a:spcPts val="0"/>
              </a:spcAft>
            </a:pPr>
            <a:r>
              <a:rPr lang="zh-CN" altLang="en-US" kern="100" dirty="0">
                <a:latin typeface="+mn-ea"/>
                <a:cs typeface="Times New Roman" panose="02020603050405020304" pitchFamily="18" charset="0"/>
              </a:rPr>
              <a:t>网上报名系统的第一次访谈记录（节选）</a:t>
            </a:r>
            <a:endParaRPr lang="zh-CN" altLang="en-US" dirty="0"/>
          </a:p>
        </p:txBody>
      </p:sp>
      <p:sp>
        <p:nvSpPr>
          <p:cNvPr id="5" name="日期占位符 4"/>
          <p:cNvSpPr>
            <a:spLocks noGrp="1"/>
          </p:cNvSpPr>
          <p:nvPr>
            <p:ph type="dt" sz="half" idx="10"/>
          </p:nvPr>
        </p:nvSpPr>
        <p:spPr/>
        <p:txBody>
          <a:bodyPr/>
          <a:lstStyle/>
          <a:p>
            <a:pPr>
              <a:spcAft>
                <a:spcPts val="0"/>
              </a:spcAft>
            </a:pPr>
            <a:fld id="{74A522A9-4615-4B63-9B3D-B7349C5AFBA4}" type="datetime1">
              <a:rPr lang="zh-CN" altLang="en-US" smtClean="0"/>
            </a:fld>
            <a:endParaRPr lang="zh-CN" altLang="en-US"/>
          </a:p>
        </p:txBody>
      </p:sp>
      <p:sp>
        <p:nvSpPr>
          <p:cNvPr id="7" name="页脚占位符 6"/>
          <p:cNvSpPr>
            <a:spLocks noGrp="1"/>
          </p:cNvSpPr>
          <p:nvPr>
            <p:ph type="ftr" sz="quarter" idx="11"/>
          </p:nvPr>
        </p:nvSpPr>
        <p:spPr/>
        <p:txBody>
          <a:bodyPr/>
          <a:lstStyle/>
          <a:p>
            <a:pPr>
              <a:spcAft>
                <a:spcPts val="0"/>
              </a:spcAft>
            </a:pPr>
            <a:r>
              <a:rPr lang="zh-CN" altLang="en-US"/>
              <a:t>软件工程</a:t>
            </a:r>
            <a:endParaRPr lang="zh-CN" altLang="en-US"/>
          </a:p>
        </p:txBody>
      </p:sp>
      <p:sp>
        <p:nvSpPr>
          <p:cNvPr id="9" name="灯片编号占位符 8"/>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接连接符"/>
          <p:cNvCxnSpPr/>
          <p:nvPr/>
        </p:nvCxnSpPr>
        <p:spPr>
          <a:xfrm>
            <a:off x="4572000" y="729049"/>
            <a:ext cx="0" cy="39170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三角形"/>
          <p:cNvSpPr/>
          <p:nvPr/>
        </p:nvSpPr>
        <p:spPr>
          <a:xfrm rot="16200000" flipH="1">
            <a:off x="4391768" y="2350242"/>
            <a:ext cx="117935" cy="148412"/>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prstClr val="white"/>
              </a:solidFill>
              <a:latin typeface="+mn-ea"/>
            </a:endParaRPr>
          </a:p>
        </p:txBody>
      </p:sp>
      <p:sp>
        <p:nvSpPr>
          <p:cNvPr id="22" name="三角形"/>
          <p:cNvSpPr/>
          <p:nvPr/>
        </p:nvSpPr>
        <p:spPr>
          <a:xfrm rot="5400000">
            <a:off x="4616068" y="3481788"/>
            <a:ext cx="117935" cy="148412"/>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prstClr val="white"/>
              </a:solidFill>
              <a:latin typeface="+mn-ea"/>
            </a:endParaRPr>
          </a:p>
        </p:txBody>
      </p:sp>
      <p:sp>
        <p:nvSpPr>
          <p:cNvPr id="9" name="圆角矩形"/>
          <p:cNvSpPr/>
          <p:nvPr/>
        </p:nvSpPr>
        <p:spPr>
          <a:xfrm>
            <a:off x="805330" y="1608923"/>
            <a:ext cx="3547365" cy="1947071"/>
          </a:xfrm>
          <a:prstGeom prst="roundRect">
            <a:avLst>
              <a:gd name="adj" fmla="val 10006"/>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solidFill>
                <a:prstClr val="white"/>
              </a:solidFill>
            </a:endParaRPr>
          </a:p>
        </p:txBody>
      </p:sp>
      <p:sp>
        <p:nvSpPr>
          <p:cNvPr id="12" name="圆角矩形"/>
          <p:cNvSpPr/>
          <p:nvPr/>
        </p:nvSpPr>
        <p:spPr>
          <a:xfrm>
            <a:off x="4785102" y="2173132"/>
            <a:ext cx="3710204" cy="1953491"/>
          </a:xfrm>
          <a:prstGeom prst="roundRect">
            <a:avLst>
              <a:gd name="adj" fmla="val 10006"/>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sz="1350">
              <a:solidFill>
                <a:prstClr val="white"/>
              </a:solidFill>
            </a:endParaRPr>
          </a:p>
        </p:txBody>
      </p:sp>
      <p:grpSp>
        <p:nvGrpSpPr>
          <p:cNvPr id="19" name="组合 1"/>
          <p:cNvGrpSpPr/>
          <p:nvPr/>
        </p:nvGrpSpPr>
        <p:grpSpPr>
          <a:xfrm>
            <a:off x="1081964" y="1174525"/>
            <a:ext cx="615846" cy="613079"/>
            <a:chOff x="1880626" y="1897764"/>
            <a:chExt cx="851649" cy="851649"/>
          </a:xfrm>
        </p:grpSpPr>
        <p:sp>
          <p:nvSpPr>
            <p:cNvPr id="20" name="圆"/>
            <p:cNvSpPr/>
            <p:nvPr/>
          </p:nvSpPr>
          <p:spPr>
            <a:xfrm>
              <a:off x="1880626" y="1897764"/>
              <a:ext cx="851649" cy="851649"/>
            </a:xfrm>
            <a:prstGeom prst="ellipse">
              <a:avLst/>
            </a:prstGeom>
            <a:solidFill>
              <a:schemeClr val="bg1"/>
            </a:solidFill>
            <a:ln w="730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prstClr val="white"/>
                </a:solidFill>
                <a:latin typeface="+mn-ea"/>
              </a:endParaRPr>
            </a:p>
          </p:txBody>
        </p:sp>
        <p:sp>
          <p:nvSpPr>
            <p:cNvPr id="21" name="图标"/>
            <p:cNvSpPr>
              <a:spLocks noEditPoints="1"/>
            </p:cNvSpPr>
            <p:nvPr/>
          </p:nvSpPr>
          <p:spPr bwMode="auto">
            <a:xfrm>
              <a:off x="2073983" y="2144014"/>
              <a:ext cx="446088" cy="328612"/>
            </a:xfrm>
            <a:custGeom>
              <a:avLst/>
              <a:gdLst>
                <a:gd name="T0" fmla="*/ 2147483647 w 145"/>
                <a:gd name="T1" fmla="*/ 2147483647 h 107"/>
                <a:gd name="T2" fmla="*/ 2147483647 w 145"/>
                <a:gd name="T3" fmla="*/ 2147483647 h 107"/>
                <a:gd name="T4" fmla="*/ 2147483647 w 145"/>
                <a:gd name="T5" fmla="*/ 2147483647 h 107"/>
                <a:gd name="T6" fmla="*/ 2147483647 w 145"/>
                <a:gd name="T7" fmla="*/ 2147483647 h 107"/>
                <a:gd name="T8" fmla="*/ 2147483647 w 145"/>
                <a:gd name="T9" fmla="*/ 2147483647 h 107"/>
                <a:gd name="T10" fmla="*/ 2147483647 w 145"/>
                <a:gd name="T11" fmla="*/ 2147483647 h 107"/>
                <a:gd name="T12" fmla="*/ 2147483647 w 145"/>
                <a:gd name="T13" fmla="*/ 2147483647 h 107"/>
                <a:gd name="T14" fmla="*/ 2147483647 w 145"/>
                <a:gd name="T15" fmla="*/ 2147483647 h 107"/>
                <a:gd name="T16" fmla="*/ 2147483647 w 145"/>
                <a:gd name="T17" fmla="*/ 2147483647 h 107"/>
                <a:gd name="T18" fmla="*/ 2147483647 w 145"/>
                <a:gd name="T19" fmla="*/ 2147483647 h 107"/>
                <a:gd name="T20" fmla="*/ 2147483647 w 145"/>
                <a:gd name="T21" fmla="*/ 2147483647 h 107"/>
                <a:gd name="T22" fmla="*/ 2147483647 w 145"/>
                <a:gd name="T23" fmla="*/ 2147483647 h 107"/>
                <a:gd name="T24" fmla="*/ 2147483647 w 145"/>
                <a:gd name="T25" fmla="*/ 2147483647 h 107"/>
                <a:gd name="T26" fmla="*/ 2147483647 w 145"/>
                <a:gd name="T27" fmla="*/ 2147483647 h 107"/>
                <a:gd name="T28" fmla="*/ 2147483647 w 145"/>
                <a:gd name="T29" fmla="*/ 2147483647 h 107"/>
                <a:gd name="T30" fmla="*/ 2147483647 w 145"/>
                <a:gd name="T31" fmla="*/ 2147483647 h 107"/>
                <a:gd name="T32" fmla="*/ 2147483647 w 145"/>
                <a:gd name="T33" fmla="*/ 2147483647 h 107"/>
                <a:gd name="T34" fmla="*/ 2147483647 w 145"/>
                <a:gd name="T35" fmla="*/ 2147483647 h 107"/>
                <a:gd name="T36" fmla="*/ 2147483647 w 145"/>
                <a:gd name="T37" fmla="*/ 0 h 107"/>
                <a:gd name="T38" fmla="*/ 2147483647 w 145"/>
                <a:gd name="T39" fmla="*/ 2147483647 h 107"/>
                <a:gd name="T40" fmla="*/ 2147483647 w 145"/>
                <a:gd name="T41" fmla="*/ 2147483647 h 107"/>
                <a:gd name="T42" fmla="*/ 2147483647 w 145"/>
                <a:gd name="T43" fmla="*/ 2147483647 h 107"/>
                <a:gd name="T44" fmla="*/ 2147483647 w 145"/>
                <a:gd name="T45" fmla="*/ 2147483647 h 107"/>
                <a:gd name="T46" fmla="*/ 2147483647 w 145"/>
                <a:gd name="T47" fmla="*/ 2147483647 h 107"/>
                <a:gd name="T48" fmla="*/ 2147483647 w 145"/>
                <a:gd name="T49" fmla="*/ 2147483647 h 107"/>
                <a:gd name="T50" fmla="*/ 2147483647 w 145"/>
                <a:gd name="T51" fmla="*/ 2147483647 h 107"/>
                <a:gd name="T52" fmla="*/ 2147483647 w 145"/>
                <a:gd name="T53" fmla="*/ 2147483647 h 107"/>
                <a:gd name="T54" fmla="*/ 2147483647 w 145"/>
                <a:gd name="T55" fmla="*/ 2147483647 h 107"/>
                <a:gd name="T56" fmla="*/ 2147483647 w 145"/>
                <a:gd name="T57" fmla="*/ 2147483647 h 107"/>
                <a:gd name="T58" fmla="*/ 2147483647 w 145"/>
                <a:gd name="T59" fmla="*/ 2147483647 h 107"/>
                <a:gd name="T60" fmla="*/ 2147483647 w 145"/>
                <a:gd name="T61" fmla="*/ 2147483647 h 107"/>
                <a:gd name="T62" fmla="*/ 2147483647 w 145"/>
                <a:gd name="T63" fmla="*/ 0 h 10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45" h="107">
                  <a:moveTo>
                    <a:pt x="29" y="72"/>
                  </a:moveTo>
                  <a:cubicBezTo>
                    <a:pt x="13" y="72"/>
                    <a:pt x="13" y="72"/>
                    <a:pt x="13" y="72"/>
                  </a:cubicBezTo>
                  <a:cubicBezTo>
                    <a:pt x="12" y="72"/>
                    <a:pt x="11" y="73"/>
                    <a:pt x="11" y="75"/>
                  </a:cubicBezTo>
                  <a:cubicBezTo>
                    <a:pt x="11" y="105"/>
                    <a:pt x="11" y="105"/>
                    <a:pt x="11" y="105"/>
                  </a:cubicBezTo>
                  <a:cubicBezTo>
                    <a:pt x="11" y="106"/>
                    <a:pt x="12" y="107"/>
                    <a:pt x="13" y="107"/>
                  </a:cubicBezTo>
                  <a:cubicBezTo>
                    <a:pt x="29" y="107"/>
                    <a:pt x="29" y="107"/>
                    <a:pt x="29" y="107"/>
                  </a:cubicBezTo>
                  <a:cubicBezTo>
                    <a:pt x="30" y="107"/>
                    <a:pt x="31" y="106"/>
                    <a:pt x="31" y="105"/>
                  </a:cubicBezTo>
                  <a:cubicBezTo>
                    <a:pt x="31" y="75"/>
                    <a:pt x="31" y="75"/>
                    <a:pt x="31" y="75"/>
                  </a:cubicBezTo>
                  <a:cubicBezTo>
                    <a:pt x="31" y="73"/>
                    <a:pt x="30" y="72"/>
                    <a:pt x="29" y="72"/>
                  </a:cubicBezTo>
                  <a:moveTo>
                    <a:pt x="93" y="67"/>
                  </a:moveTo>
                  <a:cubicBezTo>
                    <a:pt x="78" y="67"/>
                    <a:pt x="78" y="67"/>
                    <a:pt x="78" y="67"/>
                  </a:cubicBezTo>
                  <a:cubicBezTo>
                    <a:pt x="76" y="67"/>
                    <a:pt x="75" y="68"/>
                    <a:pt x="75" y="69"/>
                  </a:cubicBezTo>
                  <a:cubicBezTo>
                    <a:pt x="75" y="105"/>
                    <a:pt x="75" y="105"/>
                    <a:pt x="75" y="105"/>
                  </a:cubicBezTo>
                  <a:cubicBezTo>
                    <a:pt x="75" y="106"/>
                    <a:pt x="76" y="107"/>
                    <a:pt x="78" y="107"/>
                  </a:cubicBezTo>
                  <a:cubicBezTo>
                    <a:pt x="93" y="107"/>
                    <a:pt x="93" y="107"/>
                    <a:pt x="93" y="107"/>
                  </a:cubicBezTo>
                  <a:cubicBezTo>
                    <a:pt x="94" y="107"/>
                    <a:pt x="96" y="106"/>
                    <a:pt x="96" y="105"/>
                  </a:cubicBezTo>
                  <a:cubicBezTo>
                    <a:pt x="96" y="69"/>
                    <a:pt x="96" y="69"/>
                    <a:pt x="96" y="69"/>
                  </a:cubicBezTo>
                  <a:cubicBezTo>
                    <a:pt x="96" y="68"/>
                    <a:pt x="94" y="67"/>
                    <a:pt x="93" y="67"/>
                  </a:cubicBezTo>
                  <a:moveTo>
                    <a:pt x="125" y="56"/>
                  </a:moveTo>
                  <a:cubicBezTo>
                    <a:pt x="110" y="56"/>
                    <a:pt x="110" y="56"/>
                    <a:pt x="110" y="56"/>
                  </a:cubicBezTo>
                  <a:cubicBezTo>
                    <a:pt x="108" y="56"/>
                    <a:pt x="107" y="57"/>
                    <a:pt x="107" y="59"/>
                  </a:cubicBezTo>
                  <a:cubicBezTo>
                    <a:pt x="107" y="105"/>
                    <a:pt x="107" y="105"/>
                    <a:pt x="107" y="105"/>
                  </a:cubicBezTo>
                  <a:cubicBezTo>
                    <a:pt x="107" y="106"/>
                    <a:pt x="108" y="107"/>
                    <a:pt x="110" y="107"/>
                  </a:cubicBezTo>
                  <a:cubicBezTo>
                    <a:pt x="125" y="107"/>
                    <a:pt x="125" y="107"/>
                    <a:pt x="125" y="107"/>
                  </a:cubicBezTo>
                  <a:cubicBezTo>
                    <a:pt x="127" y="107"/>
                    <a:pt x="128" y="106"/>
                    <a:pt x="128" y="105"/>
                  </a:cubicBezTo>
                  <a:cubicBezTo>
                    <a:pt x="128" y="59"/>
                    <a:pt x="128" y="59"/>
                    <a:pt x="128" y="59"/>
                  </a:cubicBezTo>
                  <a:cubicBezTo>
                    <a:pt x="128" y="57"/>
                    <a:pt x="127" y="56"/>
                    <a:pt x="125" y="56"/>
                  </a:cubicBezTo>
                  <a:moveTo>
                    <a:pt x="61" y="53"/>
                  </a:moveTo>
                  <a:cubicBezTo>
                    <a:pt x="46" y="53"/>
                    <a:pt x="46" y="53"/>
                    <a:pt x="46" y="53"/>
                  </a:cubicBezTo>
                  <a:cubicBezTo>
                    <a:pt x="44" y="53"/>
                    <a:pt x="43" y="54"/>
                    <a:pt x="43" y="55"/>
                  </a:cubicBezTo>
                  <a:cubicBezTo>
                    <a:pt x="43" y="105"/>
                    <a:pt x="43" y="105"/>
                    <a:pt x="43" y="105"/>
                  </a:cubicBezTo>
                  <a:cubicBezTo>
                    <a:pt x="43" y="106"/>
                    <a:pt x="44" y="107"/>
                    <a:pt x="46" y="107"/>
                  </a:cubicBezTo>
                  <a:cubicBezTo>
                    <a:pt x="61" y="107"/>
                    <a:pt x="61" y="107"/>
                    <a:pt x="61" y="107"/>
                  </a:cubicBezTo>
                  <a:cubicBezTo>
                    <a:pt x="62" y="107"/>
                    <a:pt x="63" y="106"/>
                    <a:pt x="63" y="105"/>
                  </a:cubicBezTo>
                  <a:cubicBezTo>
                    <a:pt x="63" y="55"/>
                    <a:pt x="63" y="55"/>
                    <a:pt x="63" y="55"/>
                  </a:cubicBezTo>
                  <a:cubicBezTo>
                    <a:pt x="63" y="54"/>
                    <a:pt x="62" y="53"/>
                    <a:pt x="61" y="53"/>
                  </a:cubicBezTo>
                  <a:moveTo>
                    <a:pt x="143" y="0"/>
                  </a:moveTo>
                  <a:cubicBezTo>
                    <a:pt x="143" y="0"/>
                    <a:pt x="142" y="0"/>
                    <a:pt x="142" y="0"/>
                  </a:cubicBezTo>
                  <a:cubicBezTo>
                    <a:pt x="118" y="5"/>
                    <a:pt x="118" y="5"/>
                    <a:pt x="118" y="5"/>
                  </a:cubicBezTo>
                  <a:cubicBezTo>
                    <a:pt x="117" y="5"/>
                    <a:pt x="117" y="5"/>
                    <a:pt x="116" y="6"/>
                  </a:cubicBezTo>
                  <a:cubicBezTo>
                    <a:pt x="116" y="6"/>
                    <a:pt x="115" y="7"/>
                    <a:pt x="115" y="7"/>
                  </a:cubicBezTo>
                  <a:cubicBezTo>
                    <a:pt x="115" y="8"/>
                    <a:pt x="115" y="9"/>
                    <a:pt x="115" y="10"/>
                  </a:cubicBezTo>
                  <a:cubicBezTo>
                    <a:pt x="121" y="15"/>
                    <a:pt x="121" y="15"/>
                    <a:pt x="121" y="15"/>
                  </a:cubicBezTo>
                  <a:cubicBezTo>
                    <a:pt x="90" y="44"/>
                    <a:pt x="90" y="44"/>
                    <a:pt x="90" y="44"/>
                  </a:cubicBezTo>
                  <a:cubicBezTo>
                    <a:pt x="59" y="15"/>
                    <a:pt x="59" y="15"/>
                    <a:pt x="59" y="15"/>
                  </a:cubicBezTo>
                  <a:cubicBezTo>
                    <a:pt x="58" y="15"/>
                    <a:pt x="57" y="14"/>
                    <a:pt x="55" y="14"/>
                  </a:cubicBezTo>
                  <a:cubicBezTo>
                    <a:pt x="54" y="14"/>
                    <a:pt x="53" y="14"/>
                    <a:pt x="52" y="15"/>
                  </a:cubicBezTo>
                  <a:cubicBezTo>
                    <a:pt x="3" y="60"/>
                    <a:pt x="3" y="60"/>
                    <a:pt x="3" y="60"/>
                  </a:cubicBezTo>
                  <a:cubicBezTo>
                    <a:pt x="1" y="62"/>
                    <a:pt x="0" y="65"/>
                    <a:pt x="2" y="67"/>
                  </a:cubicBezTo>
                  <a:cubicBezTo>
                    <a:pt x="3" y="68"/>
                    <a:pt x="5" y="68"/>
                    <a:pt x="6" y="68"/>
                  </a:cubicBezTo>
                  <a:cubicBezTo>
                    <a:pt x="7" y="68"/>
                    <a:pt x="8" y="68"/>
                    <a:pt x="9" y="67"/>
                  </a:cubicBezTo>
                  <a:cubicBezTo>
                    <a:pt x="55" y="26"/>
                    <a:pt x="55" y="26"/>
                    <a:pt x="55" y="26"/>
                  </a:cubicBezTo>
                  <a:cubicBezTo>
                    <a:pt x="87" y="54"/>
                    <a:pt x="87" y="54"/>
                    <a:pt x="87" y="54"/>
                  </a:cubicBezTo>
                  <a:cubicBezTo>
                    <a:pt x="88" y="55"/>
                    <a:pt x="89" y="56"/>
                    <a:pt x="90" y="56"/>
                  </a:cubicBezTo>
                  <a:cubicBezTo>
                    <a:pt x="91" y="56"/>
                    <a:pt x="93" y="55"/>
                    <a:pt x="94" y="54"/>
                  </a:cubicBezTo>
                  <a:cubicBezTo>
                    <a:pt x="127" y="22"/>
                    <a:pt x="127" y="22"/>
                    <a:pt x="127" y="22"/>
                  </a:cubicBezTo>
                  <a:cubicBezTo>
                    <a:pt x="134" y="29"/>
                    <a:pt x="134" y="29"/>
                    <a:pt x="134" y="29"/>
                  </a:cubicBezTo>
                  <a:cubicBezTo>
                    <a:pt x="134" y="30"/>
                    <a:pt x="135" y="30"/>
                    <a:pt x="136" y="30"/>
                  </a:cubicBezTo>
                  <a:cubicBezTo>
                    <a:pt x="136" y="30"/>
                    <a:pt x="136" y="30"/>
                    <a:pt x="137" y="30"/>
                  </a:cubicBezTo>
                  <a:cubicBezTo>
                    <a:pt x="137" y="29"/>
                    <a:pt x="138" y="29"/>
                    <a:pt x="138" y="29"/>
                  </a:cubicBezTo>
                  <a:cubicBezTo>
                    <a:pt x="139" y="28"/>
                    <a:pt x="139" y="28"/>
                    <a:pt x="139" y="27"/>
                  </a:cubicBezTo>
                  <a:cubicBezTo>
                    <a:pt x="145" y="3"/>
                    <a:pt x="145" y="3"/>
                    <a:pt x="145" y="3"/>
                  </a:cubicBezTo>
                  <a:cubicBezTo>
                    <a:pt x="145" y="2"/>
                    <a:pt x="145" y="1"/>
                    <a:pt x="145" y="0"/>
                  </a:cubicBezTo>
                  <a:cubicBezTo>
                    <a:pt x="144" y="0"/>
                    <a:pt x="144" y="0"/>
                    <a:pt x="143" y="0"/>
                  </a:cubicBezTo>
                </a:path>
              </a:pathLst>
            </a:custGeom>
            <a:solidFill>
              <a:schemeClr val="accent5"/>
            </a:solidFill>
            <a:ln>
              <a:solidFill>
                <a:schemeClr val="accent5"/>
              </a:solidFill>
            </a:ln>
          </p:spPr>
          <p:txBody>
            <a:bodyPr/>
            <a:lstStyle/>
            <a:p>
              <a:pPr eaLnBrk="0" fontAlgn="base" hangingPunct="0">
                <a:spcBef>
                  <a:spcPct val="0"/>
                </a:spcBef>
                <a:spcAft>
                  <a:spcPct val="0"/>
                </a:spcAft>
                <a:buFont typeface="Arial" panose="020B0604020202020204" pitchFamily="34" charset="0"/>
                <a:buNone/>
              </a:pPr>
              <a:endParaRPr lang="zh-CN" altLang="en-US" sz="1350">
                <a:solidFill>
                  <a:srgbClr val="000000"/>
                </a:solidFill>
              </a:endParaRPr>
            </a:p>
          </p:txBody>
        </p:sp>
      </p:grpSp>
      <p:grpSp>
        <p:nvGrpSpPr>
          <p:cNvPr id="42" name="组合 2"/>
          <p:cNvGrpSpPr/>
          <p:nvPr/>
        </p:nvGrpSpPr>
        <p:grpSpPr>
          <a:xfrm>
            <a:off x="7544667" y="1689555"/>
            <a:ext cx="615846" cy="626942"/>
            <a:chOff x="9406563" y="2749413"/>
            <a:chExt cx="1094837" cy="1094837"/>
          </a:xfrm>
        </p:grpSpPr>
        <p:sp>
          <p:nvSpPr>
            <p:cNvPr id="15" name="圆"/>
            <p:cNvSpPr/>
            <p:nvPr/>
          </p:nvSpPr>
          <p:spPr>
            <a:xfrm>
              <a:off x="9406563" y="2749413"/>
              <a:ext cx="1094837" cy="1094837"/>
            </a:xfrm>
            <a:prstGeom prst="ellipse">
              <a:avLst/>
            </a:prstGeom>
            <a:solidFill>
              <a:schemeClr val="bg1"/>
            </a:solidFill>
            <a:ln w="730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prstClr val="white"/>
                </a:solidFill>
                <a:latin typeface="+mn-ea"/>
              </a:endParaRPr>
            </a:p>
          </p:txBody>
        </p:sp>
        <p:sp>
          <p:nvSpPr>
            <p:cNvPr id="41" name="图标"/>
            <p:cNvSpPr>
              <a:spLocks noEditPoints="1"/>
            </p:cNvSpPr>
            <p:nvPr/>
          </p:nvSpPr>
          <p:spPr bwMode="auto">
            <a:xfrm>
              <a:off x="9670642" y="2944147"/>
              <a:ext cx="631597" cy="693116"/>
            </a:xfrm>
            <a:custGeom>
              <a:avLst/>
              <a:gdLst>
                <a:gd name="T0" fmla="*/ 375935 w 835"/>
                <a:gd name="T1" fmla="*/ 512026 h 918"/>
                <a:gd name="T2" fmla="*/ 124141 w 835"/>
                <a:gd name="T3" fmla="*/ 512026 h 918"/>
                <a:gd name="T4" fmla="*/ 112429 w 835"/>
                <a:gd name="T5" fmla="*/ 524300 h 918"/>
                <a:gd name="T6" fmla="*/ 124141 w 835"/>
                <a:gd name="T7" fmla="*/ 536575 h 918"/>
                <a:gd name="T8" fmla="*/ 375935 w 835"/>
                <a:gd name="T9" fmla="*/ 536575 h 918"/>
                <a:gd name="T10" fmla="*/ 388232 w 835"/>
                <a:gd name="T11" fmla="*/ 524300 h 918"/>
                <a:gd name="T12" fmla="*/ 375935 w 835"/>
                <a:gd name="T13" fmla="*/ 512026 h 918"/>
                <a:gd name="T14" fmla="*/ 99547 w 835"/>
                <a:gd name="T15" fmla="*/ 227372 h 918"/>
                <a:gd name="T16" fmla="*/ 265848 w 835"/>
                <a:gd name="T17" fmla="*/ 149049 h 918"/>
                <a:gd name="T18" fmla="*/ 169815 w 835"/>
                <a:gd name="T19" fmla="*/ 341935 h 918"/>
                <a:gd name="T20" fmla="*/ 99547 w 835"/>
                <a:gd name="T21" fmla="*/ 227372 h 918"/>
                <a:gd name="T22" fmla="*/ 417511 w 835"/>
                <a:gd name="T23" fmla="*/ 0 h 918"/>
                <a:gd name="T24" fmla="*/ 0 w 835"/>
                <a:gd name="T25" fmla="*/ 197562 h 918"/>
                <a:gd name="T26" fmla="*/ 176256 w 835"/>
                <a:gd name="T27" fmla="*/ 485723 h 918"/>
                <a:gd name="T28" fmla="*/ 417511 w 835"/>
                <a:gd name="T29" fmla="*/ 0 h 918"/>
                <a:gd name="T30" fmla="*/ 478995 w 835"/>
                <a:gd name="T31" fmla="*/ 291668 h 918"/>
                <a:gd name="T32" fmla="*/ 435078 w 835"/>
                <a:gd name="T33" fmla="*/ 247830 h 918"/>
                <a:gd name="T34" fmla="*/ 421024 w 835"/>
                <a:gd name="T35" fmla="*/ 240816 h 918"/>
                <a:gd name="T36" fmla="*/ 404628 w 835"/>
                <a:gd name="T37" fmla="*/ 245492 h 918"/>
                <a:gd name="T38" fmla="*/ 381205 w 835"/>
                <a:gd name="T39" fmla="*/ 268872 h 918"/>
                <a:gd name="T40" fmla="*/ 457915 w 835"/>
                <a:gd name="T41" fmla="*/ 345442 h 918"/>
                <a:gd name="T42" fmla="*/ 481338 w 835"/>
                <a:gd name="T43" fmla="*/ 322062 h 918"/>
                <a:gd name="T44" fmla="*/ 478995 w 835"/>
                <a:gd name="T45" fmla="*/ 291668 h 918"/>
                <a:gd name="T46" fmla="*/ 261164 w 835"/>
                <a:gd name="T47" fmla="*/ 460005 h 918"/>
                <a:gd name="T48" fmla="*/ 266434 w 835"/>
                <a:gd name="T49" fmla="*/ 444808 h 918"/>
                <a:gd name="T50" fmla="*/ 274046 w 835"/>
                <a:gd name="T51" fmla="*/ 421428 h 918"/>
                <a:gd name="T52" fmla="*/ 289857 w 835"/>
                <a:gd name="T53" fmla="*/ 436625 h 918"/>
                <a:gd name="T54" fmla="*/ 305667 w 835"/>
                <a:gd name="T55" fmla="*/ 452406 h 918"/>
                <a:gd name="T56" fmla="*/ 282244 w 835"/>
                <a:gd name="T57" fmla="*/ 460589 h 918"/>
                <a:gd name="T58" fmla="*/ 267019 w 835"/>
                <a:gd name="T59" fmla="*/ 465265 h 918"/>
                <a:gd name="T60" fmla="*/ 261164 w 835"/>
                <a:gd name="T61" fmla="*/ 465850 h 918"/>
                <a:gd name="T62" fmla="*/ 261164 w 835"/>
                <a:gd name="T63" fmla="*/ 460005 h 918"/>
                <a:gd name="T64" fmla="*/ 242426 w 835"/>
                <a:gd name="T65" fmla="*/ 452991 h 918"/>
                <a:gd name="T66" fmla="*/ 247110 w 835"/>
                <a:gd name="T67" fmla="*/ 479294 h 918"/>
                <a:gd name="T68" fmla="*/ 274046 w 835"/>
                <a:gd name="T69" fmla="*/ 483970 h 918"/>
                <a:gd name="T70" fmla="*/ 288100 w 835"/>
                <a:gd name="T71" fmla="*/ 479294 h 918"/>
                <a:gd name="T72" fmla="*/ 312108 w 835"/>
                <a:gd name="T73" fmla="*/ 471695 h 918"/>
                <a:gd name="T74" fmla="*/ 341972 w 835"/>
                <a:gd name="T75" fmla="*/ 461174 h 918"/>
                <a:gd name="T76" fmla="*/ 319721 w 835"/>
                <a:gd name="T77" fmla="*/ 438963 h 918"/>
                <a:gd name="T78" fmla="*/ 303910 w 835"/>
                <a:gd name="T79" fmla="*/ 423181 h 918"/>
                <a:gd name="T80" fmla="*/ 288100 w 835"/>
                <a:gd name="T81" fmla="*/ 407400 h 918"/>
                <a:gd name="T82" fmla="*/ 265263 w 835"/>
                <a:gd name="T83" fmla="*/ 384604 h 918"/>
                <a:gd name="T84" fmla="*/ 255308 w 835"/>
                <a:gd name="T85" fmla="*/ 414998 h 918"/>
                <a:gd name="T86" fmla="*/ 247696 w 835"/>
                <a:gd name="T87" fmla="*/ 438378 h 918"/>
                <a:gd name="T88" fmla="*/ 242426 w 835"/>
                <a:gd name="T89" fmla="*/ 452991 h 918"/>
                <a:gd name="T90" fmla="*/ 389403 w 835"/>
                <a:gd name="T91" fmla="*/ 288161 h 918"/>
                <a:gd name="T92" fmla="*/ 375935 w 835"/>
                <a:gd name="T93" fmla="*/ 274133 h 918"/>
                <a:gd name="T94" fmla="*/ 361882 w 835"/>
                <a:gd name="T95" fmla="*/ 288161 h 918"/>
                <a:gd name="T96" fmla="*/ 285172 w 835"/>
                <a:gd name="T97" fmla="*/ 364731 h 918"/>
                <a:gd name="T98" fmla="*/ 271704 w 835"/>
                <a:gd name="T99" fmla="*/ 378174 h 918"/>
                <a:gd name="T100" fmla="*/ 285172 w 835"/>
                <a:gd name="T101" fmla="*/ 392202 h 918"/>
                <a:gd name="T102" fmla="*/ 334360 w 835"/>
                <a:gd name="T103" fmla="*/ 441301 h 918"/>
                <a:gd name="T104" fmla="*/ 348413 w 835"/>
                <a:gd name="T105" fmla="*/ 455329 h 918"/>
                <a:gd name="T106" fmla="*/ 362467 w 835"/>
                <a:gd name="T107" fmla="*/ 441301 h 918"/>
                <a:gd name="T108" fmla="*/ 438591 w 835"/>
                <a:gd name="T109" fmla="*/ 364731 h 918"/>
                <a:gd name="T110" fmla="*/ 452645 w 835"/>
                <a:gd name="T111" fmla="*/ 351287 h 918"/>
                <a:gd name="T112" fmla="*/ 438591 w 835"/>
                <a:gd name="T113" fmla="*/ 337259 h 918"/>
                <a:gd name="T114" fmla="*/ 389403 w 835"/>
                <a:gd name="T115" fmla="*/ 288161 h 9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835" h="918">
                  <a:moveTo>
                    <a:pt x="642" y="876"/>
                  </a:moveTo>
                  <a:lnTo>
                    <a:pt x="212" y="876"/>
                  </a:lnTo>
                  <a:cubicBezTo>
                    <a:pt x="201" y="876"/>
                    <a:pt x="192" y="886"/>
                    <a:pt x="192" y="897"/>
                  </a:cubicBezTo>
                  <a:cubicBezTo>
                    <a:pt x="192" y="909"/>
                    <a:pt x="201" y="918"/>
                    <a:pt x="212" y="918"/>
                  </a:cubicBezTo>
                  <a:lnTo>
                    <a:pt x="642" y="918"/>
                  </a:lnTo>
                  <a:cubicBezTo>
                    <a:pt x="653" y="918"/>
                    <a:pt x="663" y="909"/>
                    <a:pt x="663" y="897"/>
                  </a:cubicBezTo>
                  <a:cubicBezTo>
                    <a:pt x="663" y="886"/>
                    <a:pt x="653" y="876"/>
                    <a:pt x="642" y="876"/>
                  </a:cubicBezTo>
                  <a:close/>
                  <a:moveTo>
                    <a:pt x="170" y="389"/>
                  </a:moveTo>
                  <a:lnTo>
                    <a:pt x="454" y="255"/>
                  </a:lnTo>
                  <a:lnTo>
                    <a:pt x="290" y="585"/>
                  </a:lnTo>
                  <a:lnTo>
                    <a:pt x="170" y="389"/>
                  </a:lnTo>
                  <a:close/>
                  <a:moveTo>
                    <a:pt x="713" y="0"/>
                  </a:moveTo>
                  <a:lnTo>
                    <a:pt x="0" y="338"/>
                  </a:lnTo>
                  <a:lnTo>
                    <a:pt x="301" y="831"/>
                  </a:lnTo>
                  <a:lnTo>
                    <a:pt x="713" y="0"/>
                  </a:lnTo>
                  <a:close/>
                  <a:moveTo>
                    <a:pt x="818" y="499"/>
                  </a:moveTo>
                  <a:lnTo>
                    <a:pt x="743" y="424"/>
                  </a:lnTo>
                  <a:cubicBezTo>
                    <a:pt x="736" y="417"/>
                    <a:pt x="727" y="413"/>
                    <a:pt x="719" y="412"/>
                  </a:cubicBezTo>
                  <a:cubicBezTo>
                    <a:pt x="708" y="410"/>
                    <a:pt x="698" y="413"/>
                    <a:pt x="691" y="420"/>
                  </a:cubicBezTo>
                  <a:lnTo>
                    <a:pt x="651" y="460"/>
                  </a:lnTo>
                  <a:lnTo>
                    <a:pt x="782" y="591"/>
                  </a:lnTo>
                  <a:lnTo>
                    <a:pt x="822" y="551"/>
                  </a:lnTo>
                  <a:cubicBezTo>
                    <a:pt x="835" y="538"/>
                    <a:pt x="834" y="515"/>
                    <a:pt x="818" y="499"/>
                  </a:cubicBezTo>
                  <a:close/>
                  <a:moveTo>
                    <a:pt x="446" y="787"/>
                  </a:moveTo>
                  <a:lnTo>
                    <a:pt x="455" y="761"/>
                  </a:lnTo>
                  <a:lnTo>
                    <a:pt x="468" y="721"/>
                  </a:lnTo>
                  <a:lnTo>
                    <a:pt x="495" y="747"/>
                  </a:lnTo>
                  <a:lnTo>
                    <a:pt x="522" y="774"/>
                  </a:lnTo>
                  <a:lnTo>
                    <a:pt x="482" y="788"/>
                  </a:lnTo>
                  <a:lnTo>
                    <a:pt x="456" y="796"/>
                  </a:lnTo>
                  <a:cubicBezTo>
                    <a:pt x="451" y="798"/>
                    <a:pt x="448" y="799"/>
                    <a:pt x="446" y="797"/>
                  </a:cubicBezTo>
                  <a:cubicBezTo>
                    <a:pt x="444" y="795"/>
                    <a:pt x="444" y="791"/>
                    <a:pt x="446" y="787"/>
                  </a:cubicBezTo>
                  <a:close/>
                  <a:moveTo>
                    <a:pt x="414" y="775"/>
                  </a:moveTo>
                  <a:cubicBezTo>
                    <a:pt x="408" y="792"/>
                    <a:pt x="411" y="809"/>
                    <a:pt x="422" y="820"/>
                  </a:cubicBezTo>
                  <a:cubicBezTo>
                    <a:pt x="434" y="832"/>
                    <a:pt x="451" y="835"/>
                    <a:pt x="468" y="828"/>
                  </a:cubicBezTo>
                  <a:lnTo>
                    <a:pt x="492" y="820"/>
                  </a:lnTo>
                  <a:lnTo>
                    <a:pt x="533" y="807"/>
                  </a:lnTo>
                  <a:lnTo>
                    <a:pt x="584" y="789"/>
                  </a:lnTo>
                  <a:lnTo>
                    <a:pt x="546" y="751"/>
                  </a:lnTo>
                  <a:lnTo>
                    <a:pt x="519" y="724"/>
                  </a:lnTo>
                  <a:lnTo>
                    <a:pt x="492" y="697"/>
                  </a:lnTo>
                  <a:lnTo>
                    <a:pt x="453" y="658"/>
                  </a:lnTo>
                  <a:lnTo>
                    <a:pt x="436" y="710"/>
                  </a:lnTo>
                  <a:lnTo>
                    <a:pt x="423" y="750"/>
                  </a:lnTo>
                  <a:lnTo>
                    <a:pt x="414" y="775"/>
                  </a:lnTo>
                  <a:close/>
                  <a:moveTo>
                    <a:pt x="665" y="493"/>
                  </a:moveTo>
                  <a:lnTo>
                    <a:pt x="642" y="469"/>
                  </a:lnTo>
                  <a:lnTo>
                    <a:pt x="618" y="493"/>
                  </a:lnTo>
                  <a:lnTo>
                    <a:pt x="487" y="624"/>
                  </a:lnTo>
                  <a:lnTo>
                    <a:pt x="464" y="647"/>
                  </a:lnTo>
                  <a:lnTo>
                    <a:pt x="487" y="671"/>
                  </a:lnTo>
                  <a:lnTo>
                    <a:pt x="571" y="755"/>
                  </a:lnTo>
                  <a:lnTo>
                    <a:pt x="595" y="779"/>
                  </a:lnTo>
                  <a:lnTo>
                    <a:pt x="619" y="755"/>
                  </a:lnTo>
                  <a:lnTo>
                    <a:pt x="749" y="624"/>
                  </a:lnTo>
                  <a:lnTo>
                    <a:pt x="773" y="601"/>
                  </a:lnTo>
                  <a:lnTo>
                    <a:pt x="749" y="577"/>
                  </a:lnTo>
                  <a:lnTo>
                    <a:pt x="665" y="493"/>
                  </a:lnTo>
                  <a:close/>
                </a:path>
              </a:pathLst>
            </a:custGeom>
            <a:solidFill>
              <a:schemeClr val="accent2"/>
            </a:solidFill>
            <a:ln>
              <a:noFill/>
            </a:ln>
          </p:spPr>
          <p:txBody>
            <a:bodyPr/>
            <a:lstStyle/>
            <a:p>
              <a:pPr eaLnBrk="0" fontAlgn="base" hangingPunct="0">
                <a:spcBef>
                  <a:spcPct val="0"/>
                </a:spcBef>
                <a:spcAft>
                  <a:spcPct val="0"/>
                </a:spcAft>
              </a:pPr>
              <a:endParaRPr lang="zh-CN" altLang="en-US" sz="1350">
                <a:solidFill>
                  <a:prstClr val="black"/>
                </a:solidFill>
              </a:endParaRPr>
            </a:p>
          </p:txBody>
        </p:sp>
      </p:grpSp>
      <p:grpSp>
        <p:nvGrpSpPr>
          <p:cNvPr id="23" name="组合"/>
          <p:cNvGrpSpPr/>
          <p:nvPr/>
        </p:nvGrpSpPr>
        <p:grpSpPr>
          <a:xfrm>
            <a:off x="4503993" y="1126389"/>
            <a:ext cx="144409" cy="192545"/>
            <a:chOff x="8133225" y="3546407"/>
            <a:chExt cx="360000" cy="360000"/>
          </a:xfrm>
        </p:grpSpPr>
        <p:sp>
          <p:nvSpPr>
            <p:cNvPr id="24" name="圆"/>
            <p:cNvSpPr/>
            <p:nvPr/>
          </p:nvSpPr>
          <p:spPr>
            <a:xfrm>
              <a:off x="8133225" y="3546407"/>
              <a:ext cx="360000" cy="360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5" name="圆"/>
            <p:cNvSpPr/>
            <p:nvPr/>
          </p:nvSpPr>
          <p:spPr>
            <a:xfrm>
              <a:off x="8223225" y="3636407"/>
              <a:ext cx="180000" cy="1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grpSp>
        <p:nvGrpSpPr>
          <p:cNvPr id="26" name="组合"/>
          <p:cNvGrpSpPr/>
          <p:nvPr/>
        </p:nvGrpSpPr>
        <p:grpSpPr>
          <a:xfrm>
            <a:off x="4493199" y="2328176"/>
            <a:ext cx="144409" cy="192545"/>
            <a:chOff x="8133225" y="3546407"/>
            <a:chExt cx="360000" cy="360000"/>
          </a:xfrm>
        </p:grpSpPr>
        <p:sp>
          <p:nvSpPr>
            <p:cNvPr id="27" name="圆"/>
            <p:cNvSpPr/>
            <p:nvPr/>
          </p:nvSpPr>
          <p:spPr>
            <a:xfrm>
              <a:off x="8133225" y="3546407"/>
              <a:ext cx="360000" cy="360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8" name="圆"/>
            <p:cNvSpPr/>
            <p:nvPr/>
          </p:nvSpPr>
          <p:spPr>
            <a:xfrm>
              <a:off x="8223225" y="3636407"/>
              <a:ext cx="180000" cy="1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grpSp>
        <p:nvGrpSpPr>
          <p:cNvPr id="29" name="组合"/>
          <p:cNvGrpSpPr/>
          <p:nvPr/>
        </p:nvGrpSpPr>
        <p:grpSpPr>
          <a:xfrm>
            <a:off x="4479483" y="3459723"/>
            <a:ext cx="144409" cy="192545"/>
            <a:chOff x="8133225" y="3546407"/>
            <a:chExt cx="360000" cy="360000"/>
          </a:xfrm>
        </p:grpSpPr>
        <p:sp>
          <p:nvSpPr>
            <p:cNvPr id="30" name="圆"/>
            <p:cNvSpPr/>
            <p:nvPr/>
          </p:nvSpPr>
          <p:spPr>
            <a:xfrm>
              <a:off x="8133225" y="3546407"/>
              <a:ext cx="360000" cy="360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1" name="圆"/>
            <p:cNvSpPr/>
            <p:nvPr/>
          </p:nvSpPr>
          <p:spPr>
            <a:xfrm>
              <a:off x="8223225" y="3636407"/>
              <a:ext cx="180000" cy="1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33" name="文本"/>
          <p:cNvSpPr txBox="1"/>
          <p:nvPr/>
        </p:nvSpPr>
        <p:spPr>
          <a:xfrm>
            <a:off x="5537549" y="3230860"/>
            <a:ext cx="2458934" cy="553085"/>
          </a:xfrm>
          <a:prstGeom prst="rect">
            <a:avLst/>
          </a:prstGeom>
          <a:noFill/>
        </p:spPr>
        <p:txBody>
          <a:bodyPr wrap="square" rtlCol="0">
            <a:spAutoFit/>
          </a:bodyPr>
          <a:lstStyle>
            <a:defPPr>
              <a:defRPr lang="zh-CN"/>
            </a:defPPr>
            <a:lvl1pPr indent="467995">
              <a:lnSpc>
                <a:spcPct val="150000"/>
              </a:lnSpc>
              <a:defRPr sz="1600" spc="150">
                <a:solidFill>
                  <a:schemeClr val="tx1">
                    <a:lumMod val="95000"/>
                    <a:lumOff val="5000"/>
                  </a:schemeClr>
                </a:solidFill>
                <a:latin typeface="微软雅黑" panose="020B0503020204020204" pitchFamily="34" charset="-122"/>
                <a:ea typeface="微软雅黑" panose="020B0503020204020204" pitchFamily="34" charset="-122"/>
              </a:defRPr>
            </a:lvl1pPr>
          </a:lstStyle>
          <a:p>
            <a:pPr indent="0" algn="ctr">
              <a:spcAft>
                <a:spcPts val="0"/>
              </a:spcAft>
            </a:pPr>
            <a:r>
              <a:rPr lang="zh-CN" altLang="en-US" sz="2000" dirty="0">
                <a:solidFill>
                  <a:schemeClr val="bg1"/>
                </a:solidFill>
                <a:latin typeface="+mj-ea"/>
                <a:ea typeface="+mj-ea"/>
              </a:rPr>
              <a:t>提交系统用例图</a:t>
            </a:r>
            <a:endParaRPr lang="zh-CN" altLang="en-US" sz="2000" dirty="0">
              <a:solidFill>
                <a:schemeClr val="bg1"/>
              </a:solidFill>
              <a:latin typeface="+mj-ea"/>
              <a:ea typeface="+mj-ea"/>
            </a:endParaRPr>
          </a:p>
        </p:txBody>
      </p:sp>
      <p:sp>
        <p:nvSpPr>
          <p:cNvPr id="34" name="文本"/>
          <p:cNvSpPr/>
          <p:nvPr/>
        </p:nvSpPr>
        <p:spPr>
          <a:xfrm>
            <a:off x="4961112" y="2658262"/>
            <a:ext cx="3534194" cy="460375"/>
          </a:xfrm>
          <a:prstGeom prst="rect">
            <a:avLst/>
          </a:prstGeom>
        </p:spPr>
        <p:txBody>
          <a:bodyPr wrap="square">
            <a:spAutoFit/>
          </a:bodyPr>
          <a:lstStyle/>
          <a:p>
            <a:pPr algn="ctr">
              <a:spcAft>
                <a:spcPts val="0"/>
              </a:spcAft>
            </a:pPr>
            <a:r>
              <a:rPr lang="en-US" altLang="zh-CN" sz="2400" b="1" spc="188" dirty="0">
                <a:solidFill>
                  <a:schemeClr val="bg1"/>
                </a:solidFill>
                <a:latin typeface="+mj-ea"/>
                <a:ea typeface="+mj-ea"/>
              </a:rPr>
              <a:t>2. </a:t>
            </a:r>
            <a:r>
              <a:rPr lang="zh-CN" altLang="en-US" sz="2400" b="1" spc="188" dirty="0">
                <a:solidFill>
                  <a:schemeClr val="bg1"/>
                </a:solidFill>
                <a:latin typeface="+mj-ea"/>
                <a:ea typeface="+mj-ea"/>
              </a:rPr>
              <a:t>完成系统用例建模</a:t>
            </a:r>
            <a:endParaRPr lang="zh-CN" altLang="en-US" sz="2400" b="1" spc="188" dirty="0">
              <a:solidFill>
                <a:schemeClr val="bg1"/>
              </a:solidFill>
              <a:latin typeface="+mj-ea"/>
              <a:ea typeface="+mj-ea"/>
            </a:endParaRPr>
          </a:p>
        </p:txBody>
      </p:sp>
      <p:sp>
        <p:nvSpPr>
          <p:cNvPr id="35" name="文本"/>
          <p:cNvSpPr txBox="1"/>
          <p:nvPr/>
        </p:nvSpPr>
        <p:spPr>
          <a:xfrm>
            <a:off x="1330378" y="2812546"/>
            <a:ext cx="2523641" cy="553085"/>
          </a:xfrm>
          <a:prstGeom prst="rect">
            <a:avLst/>
          </a:prstGeom>
          <a:noFill/>
        </p:spPr>
        <p:txBody>
          <a:bodyPr wrap="square" rtlCol="0">
            <a:spAutoFit/>
          </a:bodyPr>
          <a:lstStyle>
            <a:defPPr>
              <a:defRPr lang="zh-CN"/>
            </a:defPPr>
            <a:lvl1pPr indent="467995">
              <a:lnSpc>
                <a:spcPct val="150000"/>
              </a:lnSpc>
              <a:defRPr sz="1600" spc="150">
                <a:solidFill>
                  <a:schemeClr val="tx1">
                    <a:lumMod val="95000"/>
                    <a:lumOff val="5000"/>
                  </a:schemeClr>
                </a:solidFill>
                <a:latin typeface="微软雅黑" panose="020B0503020204020204" pitchFamily="34" charset="-122"/>
                <a:ea typeface="微软雅黑" panose="020B0503020204020204" pitchFamily="34" charset="-122"/>
              </a:defRPr>
            </a:lvl1pPr>
          </a:lstStyle>
          <a:p>
            <a:pPr indent="0" algn="ctr">
              <a:spcAft>
                <a:spcPts val="0"/>
              </a:spcAft>
            </a:pPr>
            <a:r>
              <a:rPr lang="zh-CN" altLang="en-US" sz="2000" dirty="0">
                <a:solidFill>
                  <a:schemeClr val="bg1"/>
                </a:solidFill>
                <a:latin typeface="+mj-ea"/>
                <a:ea typeface="+mj-ea"/>
              </a:rPr>
              <a:t>提交业务用例图</a:t>
            </a:r>
            <a:endParaRPr lang="zh-CN" altLang="en-US" sz="2000" dirty="0">
              <a:solidFill>
                <a:schemeClr val="bg1"/>
              </a:solidFill>
              <a:latin typeface="+mj-ea"/>
              <a:ea typeface="+mj-ea"/>
            </a:endParaRPr>
          </a:p>
        </p:txBody>
      </p:sp>
      <p:sp>
        <p:nvSpPr>
          <p:cNvPr id="37" name="文本"/>
          <p:cNvSpPr/>
          <p:nvPr/>
        </p:nvSpPr>
        <p:spPr>
          <a:xfrm>
            <a:off x="906826" y="1965886"/>
            <a:ext cx="3175198" cy="829945"/>
          </a:xfrm>
          <a:prstGeom prst="rect">
            <a:avLst/>
          </a:prstGeom>
        </p:spPr>
        <p:txBody>
          <a:bodyPr wrap="square">
            <a:spAutoFit/>
          </a:bodyPr>
          <a:lstStyle/>
          <a:p>
            <a:pPr algn="ctr">
              <a:spcAft>
                <a:spcPts val="0"/>
              </a:spcAft>
            </a:pPr>
            <a:r>
              <a:rPr lang="en-US" altLang="zh-CN" sz="2400" b="1" dirty="0">
                <a:solidFill>
                  <a:schemeClr val="bg1"/>
                </a:solidFill>
                <a:latin typeface="+mj-ea"/>
                <a:ea typeface="+mj-ea"/>
              </a:rPr>
              <a:t>1.  </a:t>
            </a:r>
            <a:r>
              <a:rPr lang="zh-CN" altLang="en-US" sz="2400" b="1" dirty="0">
                <a:solidFill>
                  <a:schemeClr val="bg1"/>
                </a:solidFill>
                <a:latin typeface="+mj-ea"/>
                <a:ea typeface="+mj-ea"/>
              </a:rPr>
              <a:t>根据访谈内容进行业务用例建模</a:t>
            </a:r>
            <a:endParaRPr lang="en-US" altLang="zh-CN" sz="2400" b="1" dirty="0">
              <a:solidFill>
                <a:schemeClr val="bg1"/>
              </a:solidFill>
              <a:latin typeface="+mj-ea"/>
              <a:ea typeface="+mj-ea"/>
            </a:endParaRPr>
          </a:p>
        </p:txBody>
      </p:sp>
      <p:sp>
        <p:nvSpPr>
          <p:cNvPr id="3" name="标题 2"/>
          <p:cNvSpPr>
            <a:spLocks noGrp="1"/>
          </p:cNvSpPr>
          <p:nvPr>
            <p:ph type="title"/>
          </p:nvPr>
        </p:nvSpPr>
        <p:spPr/>
        <p:txBody>
          <a:bodyPr/>
          <a:lstStyle/>
          <a:p>
            <a:pPr>
              <a:spcAft>
                <a:spcPts val="0"/>
              </a:spcAft>
            </a:pPr>
            <a:r>
              <a:rPr lang="zh-CN" altLang="en-US" dirty="0"/>
              <a:t>需求建模的工作任务</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10" name="日期占位符 9"/>
          <p:cNvSpPr>
            <a:spLocks noGrp="1"/>
          </p:cNvSpPr>
          <p:nvPr>
            <p:ph type="dt" sz="half" idx="10"/>
          </p:nvPr>
        </p:nvSpPr>
        <p:spPr/>
        <p:txBody>
          <a:bodyPr/>
          <a:lstStyle/>
          <a:p>
            <a:pPr>
              <a:spcAft>
                <a:spcPts val="0"/>
              </a:spcAft>
            </a:pPr>
            <a:fld id="{9B2EE075-8834-4779-A895-FB162E67EC97}" type="datetime1">
              <a:rPr lang="zh-CN" altLang="en-US" smtClean="0"/>
            </a:fld>
            <a:endParaRPr lang="zh-CN" altLang="en-US" dirty="0"/>
          </a:p>
        </p:txBody>
      </p:sp>
      <p:sp>
        <p:nvSpPr>
          <p:cNvPr id="11" name="页脚占位符 10"/>
          <p:cNvSpPr>
            <a:spLocks noGrp="1"/>
          </p:cNvSpPr>
          <p:nvPr>
            <p:ph type="ftr" sz="quarter" idx="11"/>
          </p:nvPr>
        </p:nvSpPr>
        <p:spPr/>
        <p:txBody>
          <a:bodyPr/>
          <a:lstStyle/>
          <a:p>
            <a:pPr>
              <a:spcAft>
                <a:spcPts val="0"/>
              </a:spcAft>
            </a:pPr>
            <a:r>
              <a:rPr lang="zh-CN" altLang="en-US"/>
              <a:t>软件工程</a:t>
            </a:r>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down)">
                                      <p:cBhvr>
                                        <p:cTn id="7" dur="500"/>
                                        <p:tgtEl>
                                          <p:spTgt spid="36"/>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p:cTn id="11" dur="500" fill="hold"/>
                                        <p:tgtEl>
                                          <p:spTgt spid="23"/>
                                        </p:tgtEl>
                                        <p:attrNameLst>
                                          <p:attrName>ppt_w</p:attrName>
                                        </p:attrNameLst>
                                      </p:cBhvr>
                                      <p:tavLst>
                                        <p:tav tm="0">
                                          <p:val>
                                            <p:fltVal val="0"/>
                                          </p:val>
                                        </p:tav>
                                        <p:tav tm="100000">
                                          <p:val>
                                            <p:strVal val="#ppt_w"/>
                                          </p:val>
                                        </p:tav>
                                      </p:tavLst>
                                    </p:anim>
                                    <p:anim calcmode="lin" valueType="num">
                                      <p:cBhvr>
                                        <p:cTn id="12" dur="500" fill="hold"/>
                                        <p:tgtEl>
                                          <p:spTgt spid="23"/>
                                        </p:tgtEl>
                                        <p:attrNameLst>
                                          <p:attrName>ppt_h</p:attrName>
                                        </p:attrNameLst>
                                      </p:cBhvr>
                                      <p:tavLst>
                                        <p:tav tm="0">
                                          <p:val>
                                            <p:flt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p:cTn id="15" dur="500" fill="hold"/>
                                        <p:tgtEl>
                                          <p:spTgt spid="26"/>
                                        </p:tgtEl>
                                        <p:attrNameLst>
                                          <p:attrName>ppt_w</p:attrName>
                                        </p:attrNameLst>
                                      </p:cBhvr>
                                      <p:tavLst>
                                        <p:tav tm="0">
                                          <p:val>
                                            <p:fltVal val="0"/>
                                          </p:val>
                                        </p:tav>
                                        <p:tav tm="100000">
                                          <p:val>
                                            <p:strVal val="#ppt_w"/>
                                          </p:val>
                                        </p:tav>
                                      </p:tavLst>
                                    </p:anim>
                                    <p:anim calcmode="lin" valueType="num">
                                      <p:cBhvr>
                                        <p:cTn id="16" dur="500" fill="hold"/>
                                        <p:tgtEl>
                                          <p:spTgt spid="26"/>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p:cTn id="19" dur="500" fill="hold"/>
                                        <p:tgtEl>
                                          <p:spTgt spid="29"/>
                                        </p:tgtEl>
                                        <p:attrNameLst>
                                          <p:attrName>ppt_w</p:attrName>
                                        </p:attrNameLst>
                                      </p:cBhvr>
                                      <p:tavLst>
                                        <p:tav tm="0">
                                          <p:val>
                                            <p:fltVal val="0"/>
                                          </p:val>
                                        </p:tav>
                                        <p:tav tm="100000">
                                          <p:val>
                                            <p:strVal val="#ppt_w"/>
                                          </p:val>
                                        </p:tav>
                                      </p:tavLst>
                                    </p:anim>
                                    <p:anim calcmode="lin" valueType="num">
                                      <p:cBhvr>
                                        <p:cTn id="20" dur="500" fill="hold"/>
                                        <p:tgtEl>
                                          <p:spTgt spid="29"/>
                                        </p:tgtEl>
                                        <p:attrNameLst>
                                          <p:attrName>ppt_h</p:attrName>
                                        </p:attrNameLst>
                                      </p:cBhvr>
                                      <p:tavLst>
                                        <p:tav tm="0">
                                          <p:val>
                                            <p:fltVal val="0"/>
                                          </p:val>
                                        </p:tav>
                                        <p:tav tm="100000">
                                          <p:val>
                                            <p:strVal val="#ppt_h"/>
                                          </p:val>
                                        </p:tav>
                                      </p:tavLst>
                                    </p:anim>
                                  </p:childTnLst>
                                </p:cTn>
                              </p:par>
                            </p:childTnLst>
                          </p:cTn>
                        </p:par>
                        <p:par>
                          <p:cTn id="21" fill="hold">
                            <p:stCondLst>
                              <p:cond delay="1000"/>
                            </p:stCondLst>
                            <p:childTnLst>
                              <p:par>
                                <p:cTn id="22" presetID="22" presetClass="entr" presetSubtype="2"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right)">
                                      <p:cBhvr>
                                        <p:cTn id="24" dur="500"/>
                                        <p:tgtEl>
                                          <p:spTgt spid="6"/>
                                        </p:tgtEl>
                                      </p:cBhvr>
                                    </p:animEffect>
                                  </p:childTnLst>
                                </p:cTn>
                              </p:par>
                            </p:childTnLst>
                          </p:cTn>
                        </p:par>
                        <p:par>
                          <p:cTn id="25" fill="hold">
                            <p:stCondLst>
                              <p:cond delay="1500"/>
                            </p:stCondLst>
                            <p:childTnLst>
                              <p:par>
                                <p:cTn id="26" presetID="22" presetClass="entr" presetSubtype="2"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right)">
                                      <p:cBhvr>
                                        <p:cTn id="28" dur="500"/>
                                        <p:tgtEl>
                                          <p:spTgt spid="9"/>
                                        </p:tgtEl>
                                      </p:cBhvr>
                                    </p:animEffect>
                                  </p:childTnLst>
                                </p:cTn>
                              </p:par>
                            </p:childTnLst>
                          </p:cTn>
                        </p:par>
                        <p:par>
                          <p:cTn id="29" fill="hold">
                            <p:stCondLst>
                              <p:cond delay="2000"/>
                            </p:stCondLst>
                            <p:childTnLst>
                              <p:par>
                                <p:cTn id="30" presetID="20" presetClass="entr" presetSubtype="0" fill="hold"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edge">
                                      <p:cBhvr>
                                        <p:cTn id="32" dur="500"/>
                                        <p:tgtEl>
                                          <p:spTgt spid="19"/>
                                        </p:tgtEl>
                                      </p:cBhvr>
                                    </p:animEffect>
                                  </p:childTnLst>
                                </p:cTn>
                              </p:par>
                            </p:childTnLst>
                          </p:cTn>
                        </p:par>
                        <p:par>
                          <p:cTn id="33" fill="hold">
                            <p:stCondLst>
                              <p:cond delay="25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37"/>
                                        </p:tgtEl>
                                        <p:attrNameLst>
                                          <p:attrName>style.visibility</p:attrName>
                                        </p:attrNameLst>
                                      </p:cBhvr>
                                      <p:to>
                                        <p:strVal val="visible"/>
                                      </p:to>
                                    </p:set>
                                    <p:anim calcmode="lin" valueType="num">
                                      <p:cBhvr>
                                        <p:cTn id="36" dur="500" fill="hold"/>
                                        <p:tgtEl>
                                          <p:spTgt spid="37"/>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37"/>
                                        </p:tgtEl>
                                        <p:attrNameLst>
                                          <p:attrName>ppt_y</p:attrName>
                                        </p:attrNameLst>
                                      </p:cBhvr>
                                      <p:tavLst>
                                        <p:tav tm="0">
                                          <p:val>
                                            <p:strVal val="#ppt_y"/>
                                          </p:val>
                                        </p:tav>
                                        <p:tav tm="100000">
                                          <p:val>
                                            <p:strVal val="#ppt_y"/>
                                          </p:val>
                                        </p:tav>
                                      </p:tavLst>
                                    </p:anim>
                                    <p:anim calcmode="lin" valueType="num">
                                      <p:cBhvr>
                                        <p:cTn id="38" dur="500" fill="hold"/>
                                        <p:tgtEl>
                                          <p:spTgt spid="37"/>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37"/>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37"/>
                                        </p:tgtEl>
                                      </p:cBhvr>
                                    </p:animEffect>
                                  </p:childTnLst>
                                </p:cTn>
                              </p:par>
                            </p:childTnLst>
                          </p:cTn>
                        </p:par>
                        <p:par>
                          <p:cTn id="41" fill="hold">
                            <p:stCondLst>
                              <p:cond delay="3849"/>
                            </p:stCondLst>
                            <p:childTnLst>
                              <p:par>
                                <p:cTn id="42" presetID="42" presetClass="entr" presetSubtype="0" fill="hold" grpId="0" nodeType="after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fade">
                                      <p:cBhvr>
                                        <p:cTn id="44" dur="500"/>
                                        <p:tgtEl>
                                          <p:spTgt spid="35"/>
                                        </p:tgtEl>
                                      </p:cBhvr>
                                    </p:animEffect>
                                    <p:anim calcmode="lin" valueType="num">
                                      <p:cBhvr>
                                        <p:cTn id="45" dur="500" fill="hold"/>
                                        <p:tgtEl>
                                          <p:spTgt spid="35"/>
                                        </p:tgtEl>
                                        <p:attrNameLst>
                                          <p:attrName>ppt_x</p:attrName>
                                        </p:attrNameLst>
                                      </p:cBhvr>
                                      <p:tavLst>
                                        <p:tav tm="0">
                                          <p:val>
                                            <p:strVal val="#ppt_x"/>
                                          </p:val>
                                        </p:tav>
                                        <p:tav tm="100000">
                                          <p:val>
                                            <p:strVal val="#ppt_x"/>
                                          </p:val>
                                        </p:tav>
                                      </p:tavLst>
                                    </p:anim>
                                    <p:anim calcmode="lin" valueType="num">
                                      <p:cBhvr>
                                        <p:cTn id="46" dur="500" fill="hold"/>
                                        <p:tgtEl>
                                          <p:spTgt spid="35"/>
                                        </p:tgtEl>
                                        <p:attrNameLst>
                                          <p:attrName>ppt_y</p:attrName>
                                        </p:attrNameLst>
                                      </p:cBhvr>
                                      <p:tavLst>
                                        <p:tav tm="0">
                                          <p:val>
                                            <p:strVal val="#ppt_y+.1"/>
                                          </p:val>
                                        </p:tav>
                                        <p:tav tm="100000">
                                          <p:val>
                                            <p:strVal val="#ppt_y"/>
                                          </p:val>
                                        </p:tav>
                                      </p:tavLst>
                                    </p:anim>
                                  </p:childTnLst>
                                </p:cTn>
                              </p:par>
                            </p:childTnLst>
                          </p:cTn>
                        </p:par>
                        <p:par>
                          <p:cTn id="47" fill="hold">
                            <p:stCondLst>
                              <p:cond delay="4349"/>
                            </p:stCondLst>
                            <p:childTnLst>
                              <p:par>
                                <p:cTn id="48" presetID="22" presetClass="entr" presetSubtype="8" fill="hold" grpId="0" nodeType="after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left)">
                                      <p:cBhvr>
                                        <p:cTn id="50" dur="500"/>
                                        <p:tgtEl>
                                          <p:spTgt spid="22"/>
                                        </p:tgtEl>
                                      </p:cBhvr>
                                    </p:animEffect>
                                  </p:childTnLst>
                                </p:cTn>
                              </p:par>
                            </p:childTnLst>
                          </p:cTn>
                        </p:par>
                        <p:par>
                          <p:cTn id="51" fill="hold">
                            <p:stCondLst>
                              <p:cond delay="4849"/>
                            </p:stCondLst>
                            <p:childTnLst>
                              <p:par>
                                <p:cTn id="52" presetID="22" presetClass="entr" presetSubtype="8"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wipe(left)">
                                      <p:cBhvr>
                                        <p:cTn id="54" dur="500"/>
                                        <p:tgtEl>
                                          <p:spTgt spid="12"/>
                                        </p:tgtEl>
                                      </p:cBhvr>
                                    </p:animEffect>
                                  </p:childTnLst>
                                </p:cTn>
                              </p:par>
                            </p:childTnLst>
                          </p:cTn>
                        </p:par>
                        <p:par>
                          <p:cTn id="55" fill="hold">
                            <p:stCondLst>
                              <p:cond delay="5349"/>
                            </p:stCondLst>
                            <p:childTnLst>
                              <p:par>
                                <p:cTn id="56" presetID="20" presetClass="entr" presetSubtype="0" fill="hold" nodeType="after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wedge">
                                      <p:cBhvr>
                                        <p:cTn id="58" dur="500"/>
                                        <p:tgtEl>
                                          <p:spTgt spid="42"/>
                                        </p:tgtEl>
                                      </p:cBhvr>
                                    </p:animEffect>
                                  </p:childTnLst>
                                </p:cTn>
                              </p:par>
                            </p:childTnLst>
                          </p:cTn>
                        </p:par>
                        <p:par>
                          <p:cTn id="59" fill="hold">
                            <p:stCondLst>
                              <p:cond delay="5849"/>
                            </p:stCondLst>
                            <p:childTnLst>
                              <p:par>
                                <p:cTn id="60" presetID="41" presetClass="entr" presetSubtype="0" fill="hold" grpId="0" nodeType="afterEffect">
                                  <p:stCondLst>
                                    <p:cond delay="0"/>
                                  </p:stCondLst>
                                  <p:iterate type="lt">
                                    <p:tmPct val="10000"/>
                                  </p:iterate>
                                  <p:childTnLst>
                                    <p:set>
                                      <p:cBhvr>
                                        <p:cTn id="61" dur="1" fill="hold">
                                          <p:stCondLst>
                                            <p:cond delay="0"/>
                                          </p:stCondLst>
                                        </p:cTn>
                                        <p:tgtEl>
                                          <p:spTgt spid="34"/>
                                        </p:tgtEl>
                                        <p:attrNameLst>
                                          <p:attrName>style.visibility</p:attrName>
                                        </p:attrNameLst>
                                      </p:cBhvr>
                                      <p:to>
                                        <p:strVal val="visible"/>
                                      </p:to>
                                    </p:set>
                                    <p:anim calcmode="lin" valueType="num">
                                      <p:cBhvr>
                                        <p:cTn id="62"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63" dur="500" fill="hold"/>
                                        <p:tgtEl>
                                          <p:spTgt spid="34"/>
                                        </p:tgtEl>
                                        <p:attrNameLst>
                                          <p:attrName>ppt_y</p:attrName>
                                        </p:attrNameLst>
                                      </p:cBhvr>
                                      <p:tavLst>
                                        <p:tav tm="0">
                                          <p:val>
                                            <p:strVal val="#ppt_y"/>
                                          </p:val>
                                        </p:tav>
                                        <p:tav tm="100000">
                                          <p:val>
                                            <p:strVal val="#ppt_y"/>
                                          </p:val>
                                        </p:tav>
                                      </p:tavLst>
                                    </p:anim>
                                    <p:anim calcmode="lin" valueType="num">
                                      <p:cBhvr>
                                        <p:cTn id="64"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65"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66" dur="500" tmFilter="0,0; .5, 1; 1, 1"/>
                                        <p:tgtEl>
                                          <p:spTgt spid="34"/>
                                        </p:tgtEl>
                                      </p:cBhvr>
                                    </p:animEffect>
                                  </p:childTnLst>
                                </p:cTn>
                              </p:par>
                            </p:childTnLst>
                          </p:cTn>
                        </p:par>
                        <p:par>
                          <p:cTn id="67" fill="hold">
                            <p:stCondLst>
                              <p:cond delay="6849"/>
                            </p:stCondLst>
                            <p:childTnLst>
                              <p:par>
                                <p:cTn id="68" presetID="42" presetClass="entr" presetSubtype="0" fill="hold" grpId="0" nodeType="after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anim calcmode="lin" valueType="num">
                                      <p:cBhvr>
                                        <p:cTn id="71" dur="500" fill="hold"/>
                                        <p:tgtEl>
                                          <p:spTgt spid="33"/>
                                        </p:tgtEl>
                                        <p:attrNameLst>
                                          <p:attrName>ppt_x</p:attrName>
                                        </p:attrNameLst>
                                      </p:cBhvr>
                                      <p:tavLst>
                                        <p:tav tm="0">
                                          <p:val>
                                            <p:strVal val="#ppt_x"/>
                                          </p:val>
                                        </p:tav>
                                        <p:tav tm="100000">
                                          <p:val>
                                            <p:strVal val="#ppt_x"/>
                                          </p:val>
                                        </p:tav>
                                      </p:tavLst>
                                    </p:anim>
                                    <p:anim calcmode="lin" valueType="num">
                                      <p:cBhvr>
                                        <p:cTn id="72"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2" grpId="0" animBg="1"/>
      <p:bldP spid="9" grpId="0" animBg="1"/>
      <p:bldP spid="12" grpId="0" animBg="1"/>
      <p:bldP spid="33" grpId="0"/>
      <p:bldP spid="34" grpId="0"/>
      <p:bldP spid="35" grpId="0"/>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虚尾箭头"/>
          <p:cNvSpPr/>
          <p:nvPr/>
        </p:nvSpPr>
        <p:spPr>
          <a:xfrm>
            <a:off x="1094322" y="1098919"/>
            <a:ext cx="2159108" cy="1001629"/>
          </a:xfrm>
          <a:prstGeom prst="strip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zh-CN" altLang="en-US" sz="2000" b="1" spc="188">
                <a:solidFill>
                  <a:prstClr val="white"/>
                </a:solidFill>
                <a:latin typeface="黑体" panose="02010609060101010101" charset="-122"/>
              </a:rPr>
              <a:t>工作任务</a:t>
            </a:r>
            <a:r>
              <a:rPr lang="en-US" altLang="zh-CN" sz="2000" b="1" spc="188">
                <a:solidFill>
                  <a:prstClr val="white"/>
                </a:solidFill>
                <a:latin typeface="黑体" panose="02010609060101010101" charset="-122"/>
              </a:rPr>
              <a:t>1</a:t>
            </a:r>
            <a:endParaRPr lang="zh-CN" altLang="en-US" sz="2000" b="1" spc="188" dirty="0">
              <a:solidFill>
                <a:prstClr val="white"/>
              </a:solidFill>
              <a:latin typeface="黑体" panose="02010609060101010101" charset="-122"/>
            </a:endParaRPr>
          </a:p>
        </p:txBody>
      </p:sp>
      <p:sp>
        <p:nvSpPr>
          <p:cNvPr id="4" name="虚尾箭头"/>
          <p:cNvSpPr/>
          <p:nvPr/>
        </p:nvSpPr>
        <p:spPr>
          <a:xfrm flipH="1">
            <a:off x="5657310" y="3562818"/>
            <a:ext cx="2263372" cy="1001629"/>
          </a:xfrm>
          <a:prstGeom prst="strip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zh-CN" altLang="en-US" sz="2000" b="1" spc="188">
                <a:solidFill>
                  <a:prstClr val="white"/>
                </a:solidFill>
                <a:latin typeface="黑体" panose="02010609060101010101" charset="-122"/>
              </a:rPr>
              <a:t>知识要点</a:t>
            </a:r>
            <a:endParaRPr lang="zh-CN" altLang="en-US" sz="2000" b="1" spc="188" dirty="0">
              <a:solidFill>
                <a:prstClr val="white"/>
              </a:solidFill>
              <a:latin typeface="黑体" panose="02010609060101010101" charset="-122"/>
            </a:endParaRPr>
          </a:p>
        </p:txBody>
      </p:sp>
      <p:sp>
        <p:nvSpPr>
          <p:cNvPr id="9" name="空心弧"/>
          <p:cNvSpPr/>
          <p:nvPr/>
        </p:nvSpPr>
        <p:spPr>
          <a:xfrm rot="5400000">
            <a:off x="3572305" y="1571058"/>
            <a:ext cx="1449800" cy="1991594"/>
          </a:xfrm>
          <a:prstGeom prst="blockArc">
            <a:avLst>
              <a:gd name="adj1" fmla="val 12263738"/>
              <a:gd name="adj2" fmla="val 28146"/>
              <a:gd name="adj3" fmla="val 11382"/>
            </a:avLst>
          </a:prstGeom>
          <a:solidFill>
            <a:schemeClr val="accent1"/>
          </a:solidFill>
          <a:ln>
            <a:noFill/>
          </a:ln>
          <a:scene3d>
            <a:camera prst="perspectiveContrasting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tx1"/>
              </a:solidFill>
              <a:latin typeface="+mn-ea"/>
            </a:endParaRPr>
          </a:p>
        </p:txBody>
      </p:sp>
      <p:sp>
        <p:nvSpPr>
          <p:cNvPr id="10" name="空心弧"/>
          <p:cNvSpPr/>
          <p:nvPr/>
        </p:nvSpPr>
        <p:spPr>
          <a:xfrm rot="16200000">
            <a:off x="3551549" y="1570001"/>
            <a:ext cx="1449798" cy="1822191"/>
          </a:xfrm>
          <a:prstGeom prst="blockArc">
            <a:avLst>
              <a:gd name="adj1" fmla="val 12119309"/>
              <a:gd name="adj2" fmla="val 572906"/>
              <a:gd name="adj3" fmla="val 12408"/>
            </a:avLst>
          </a:prstGeom>
          <a:solidFill>
            <a:schemeClr val="accent2"/>
          </a:solidFill>
          <a:ln>
            <a:noFill/>
          </a:ln>
          <a:scene3d>
            <a:camera prst="perspectiveContrasting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tx1"/>
              </a:solidFill>
              <a:latin typeface="+mn-ea"/>
            </a:endParaRPr>
          </a:p>
        </p:txBody>
      </p:sp>
      <p:sp>
        <p:nvSpPr>
          <p:cNvPr id="11" name="图标"/>
          <p:cNvSpPr/>
          <p:nvPr/>
        </p:nvSpPr>
        <p:spPr bwMode="auto">
          <a:xfrm>
            <a:off x="3940963" y="2258598"/>
            <a:ext cx="712483" cy="533984"/>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accent1"/>
          </a:solidFill>
          <a:ln>
            <a:noFill/>
          </a:ln>
        </p:spPr>
        <p:txBody>
          <a:bodyPr anchor="ctr">
            <a:scene3d>
              <a:camera prst="orthographicFront"/>
              <a:lightRig rig="threePt" dir="t"/>
            </a:scene3d>
            <a:sp3d contourW="12700">
              <a:contourClr>
                <a:srgbClr val="FFFFFF"/>
              </a:contourClr>
            </a:sp3d>
          </a:bodyPr>
          <a:lstStyle/>
          <a:p>
            <a:pPr algn="ctr" fontAlgn="base">
              <a:spcBef>
                <a:spcPct val="0"/>
              </a:spcBef>
              <a:spcAft>
                <a:spcPct val="0"/>
              </a:spcAft>
              <a:defRPr/>
            </a:pPr>
            <a:endParaRPr lang="zh-CN" altLang="en-US">
              <a:solidFill>
                <a:srgbClr val="FFFFFF"/>
              </a:solidFill>
              <a:latin typeface="+mn-ea"/>
            </a:endParaRPr>
          </a:p>
        </p:txBody>
      </p:sp>
      <p:sp>
        <p:nvSpPr>
          <p:cNvPr id="13" name="文本"/>
          <p:cNvSpPr/>
          <p:nvPr/>
        </p:nvSpPr>
        <p:spPr>
          <a:xfrm>
            <a:off x="723370" y="2133400"/>
            <a:ext cx="2641982" cy="1938020"/>
          </a:xfrm>
          <a:prstGeom prst="rect">
            <a:avLst/>
          </a:prstGeom>
          <a:noFill/>
        </p:spPr>
        <p:txBody>
          <a:bodyPr wrap="square" rtlCol="0">
            <a:spAutoFit/>
          </a:bodyPr>
          <a:lstStyle/>
          <a:p>
            <a:pPr>
              <a:lnSpc>
                <a:spcPct val="150000"/>
              </a:lnSpc>
              <a:spcAft>
                <a:spcPts val="0"/>
              </a:spcAft>
            </a:pPr>
            <a:r>
              <a:rPr lang="zh-CN" altLang="en-US" sz="2000" b="1" spc="113" dirty="0">
                <a:solidFill>
                  <a:schemeClr val="tx1">
                    <a:lumMod val="95000"/>
                    <a:lumOff val="5000"/>
                  </a:schemeClr>
                </a:solidFill>
                <a:latin typeface="+mj-ea"/>
                <a:ea typeface="+mj-ea"/>
              </a:rPr>
              <a:t>对应知识点：</a:t>
            </a:r>
            <a:endParaRPr lang="en-US" altLang="zh-CN" sz="2000" b="1" spc="113" dirty="0">
              <a:solidFill>
                <a:schemeClr val="tx1">
                  <a:lumMod val="95000"/>
                  <a:lumOff val="5000"/>
                </a:schemeClr>
              </a:solidFill>
              <a:latin typeface="+mj-ea"/>
              <a:ea typeface="+mj-ea"/>
            </a:endParaRPr>
          </a:p>
          <a:p>
            <a:pPr lvl="1">
              <a:lnSpc>
                <a:spcPct val="150000"/>
              </a:lnSpc>
              <a:spcBef>
                <a:spcPts val="0"/>
              </a:spcBef>
              <a:spcAft>
                <a:spcPts val="0"/>
              </a:spcAft>
            </a:pPr>
            <a:r>
              <a:rPr lang="zh-CN" altLang="en-US" sz="2000" spc="113" dirty="0">
                <a:solidFill>
                  <a:schemeClr val="tx1">
                    <a:lumMod val="95000"/>
                    <a:lumOff val="5000"/>
                  </a:schemeClr>
                </a:solidFill>
                <a:latin typeface="+mj-ea"/>
                <a:ea typeface="+mj-ea"/>
              </a:rPr>
              <a:t>业务用例建模</a:t>
            </a:r>
            <a:endParaRPr lang="en-US" altLang="zh-CN" sz="2000" spc="113" dirty="0">
              <a:solidFill>
                <a:schemeClr val="tx1">
                  <a:lumMod val="95000"/>
                  <a:lumOff val="5000"/>
                </a:schemeClr>
              </a:solidFill>
              <a:latin typeface="+mj-ea"/>
              <a:ea typeface="+mj-ea"/>
            </a:endParaRPr>
          </a:p>
          <a:p>
            <a:pPr>
              <a:lnSpc>
                <a:spcPct val="150000"/>
              </a:lnSpc>
              <a:spcBef>
                <a:spcPts val="0"/>
              </a:spcBef>
              <a:spcAft>
                <a:spcPts val="0"/>
              </a:spcAft>
            </a:pPr>
            <a:r>
              <a:rPr lang="zh-CN" altLang="en-US" sz="2000" b="1" dirty="0">
                <a:latin typeface="+mj-ea"/>
                <a:ea typeface="+mj-ea"/>
              </a:rPr>
              <a:t>交付的工作产品：</a:t>
            </a:r>
            <a:endParaRPr lang="en-US" altLang="zh-CN" sz="2000" b="1" dirty="0">
              <a:latin typeface="+mj-ea"/>
              <a:ea typeface="+mj-ea"/>
            </a:endParaRPr>
          </a:p>
          <a:p>
            <a:pPr lvl="1">
              <a:lnSpc>
                <a:spcPct val="150000"/>
              </a:lnSpc>
              <a:spcBef>
                <a:spcPts val="0"/>
              </a:spcBef>
            </a:pPr>
            <a:r>
              <a:rPr lang="zh-CN" altLang="en-US" sz="2000" dirty="0">
                <a:latin typeface="+mj-ea"/>
                <a:ea typeface="+mj-ea"/>
              </a:rPr>
              <a:t>业务用例图</a:t>
            </a:r>
            <a:endParaRPr lang="zh-CN" altLang="en-US" sz="2000" spc="113" dirty="0">
              <a:solidFill>
                <a:schemeClr val="tx1">
                  <a:lumMod val="95000"/>
                  <a:lumOff val="5000"/>
                </a:schemeClr>
              </a:solidFill>
              <a:latin typeface="+mj-ea"/>
              <a:ea typeface="+mj-ea"/>
            </a:endParaRPr>
          </a:p>
        </p:txBody>
      </p:sp>
      <p:sp>
        <p:nvSpPr>
          <p:cNvPr id="5" name="标题 4"/>
          <p:cNvSpPr>
            <a:spLocks noGrp="1"/>
          </p:cNvSpPr>
          <p:nvPr>
            <p:ph type="title"/>
          </p:nvPr>
        </p:nvSpPr>
        <p:spPr/>
        <p:txBody>
          <a:bodyPr/>
          <a:lstStyle/>
          <a:p>
            <a:pPr>
              <a:spcAft>
                <a:spcPts val="0"/>
              </a:spcAft>
            </a:pPr>
            <a:r>
              <a:rPr lang="zh-CN" altLang="en-US" sz="2700" spc="113" dirty="0"/>
              <a:t>网上报名系统的需求建模</a:t>
            </a:r>
            <a:endParaRPr lang="zh-CN" altLang="en-US" dirty="0"/>
          </a:p>
        </p:txBody>
      </p:sp>
      <p:sp>
        <p:nvSpPr>
          <p:cNvPr id="14" name="文本"/>
          <p:cNvSpPr/>
          <p:nvPr/>
        </p:nvSpPr>
        <p:spPr>
          <a:xfrm>
            <a:off x="5533046" y="1048739"/>
            <a:ext cx="3424057" cy="2399665"/>
          </a:xfrm>
          <a:prstGeom prst="rect">
            <a:avLst/>
          </a:prstGeom>
          <a:noFill/>
        </p:spPr>
        <p:txBody>
          <a:bodyPr wrap="square" rtlCol="0">
            <a:spAutoFit/>
          </a:bodyPr>
          <a:lstStyle/>
          <a:p>
            <a:pPr marL="135255" indent="-135255">
              <a:spcBef>
                <a:spcPts val="900"/>
              </a:spcBef>
              <a:spcAft>
                <a:spcPts val="0"/>
              </a:spcAft>
              <a:buFont typeface="Arial" panose="020B0604020202020204" pitchFamily="34" charset="0"/>
              <a:buChar char="•"/>
            </a:pPr>
            <a:r>
              <a:rPr lang="zh-CN" altLang="en-US" sz="2000" spc="113" dirty="0">
                <a:solidFill>
                  <a:schemeClr val="tx1">
                    <a:lumMod val="95000"/>
                    <a:lumOff val="5000"/>
                  </a:schemeClr>
                </a:solidFill>
                <a:latin typeface="+mj-ea"/>
                <a:ea typeface="+mj-ea"/>
              </a:rPr>
              <a:t>什么是用例图（</a:t>
            </a:r>
            <a:r>
              <a:rPr lang="en-US" altLang="zh-CN" sz="2000" spc="113" dirty="0">
                <a:solidFill>
                  <a:schemeClr val="tx1">
                    <a:lumMod val="95000"/>
                    <a:lumOff val="5000"/>
                  </a:schemeClr>
                </a:solidFill>
                <a:latin typeface="+mj-ea"/>
                <a:ea typeface="+mj-ea"/>
              </a:rPr>
              <a:t>Use Case Diagram</a:t>
            </a:r>
            <a:r>
              <a:rPr lang="zh-CN" altLang="en-US" sz="2000" spc="113" dirty="0">
                <a:solidFill>
                  <a:schemeClr val="tx1">
                    <a:lumMod val="95000"/>
                    <a:lumOff val="5000"/>
                  </a:schemeClr>
                </a:solidFill>
                <a:latin typeface="+mj-ea"/>
                <a:ea typeface="+mj-ea"/>
              </a:rPr>
              <a:t>）</a:t>
            </a:r>
            <a:endParaRPr lang="zh-CN" altLang="en-US" sz="2000" spc="113" dirty="0">
              <a:solidFill>
                <a:schemeClr val="tx1">
                  <a:lumMod val="95000"/>
                  <a:lumOff val="5000"/>
                </a:schemeClr>
              </a:solidFill>
              <a:latin typeface="+mj-ea"/>
              <a:ea typeface="+mj-ea"/>
            </a:endParaRPr>
          </a:p>
          <a:p>
            <a:pPr marL="135255" indent="-135255">
              <a:spcBef>
                <a:spcPts val="900"/>
              </a:spcBef>
              <a:spcAft>
                <a:spcPts val="0"/>
              </a:spcAft>
              <a:buFont typeface="Arial" panose="020B0604020202020204" pitchFamily="34" charset="0"/>
              <a:buChar char="•"/>
            </a:pPr>
            <a:r>
              <a:rPr lang="zh-CN" altLang="en-US" sz="2000" spc="113" dirty="0">
                <a:solidFill>
                  <a:schemeClr val="tx1">
                    <a:lumMod val="95000"/>
                    <a:lumOff val="5000"/>
                  </a:schemeClr>
                </a:solidFill>
                <a:latin typeface="+mj-ea"/>
                <a:ea typeface="+mj-ea"/>
              </a:rPr>
              <a:t>用例图的作用</a:t>
            </a:r>
            <a:endParaRPr lang="zh-CN" altLang="en-US" sz="2000" spc="113" dirty="0">
              <a:solidFill>
                <a:schemeClr val="tx1">
                  <a:lumMod val="95000"/>
                  <a:lumOff val="5000"/>
                </a:schemeClr>
              </a:solidFill>
              <a:latin typeface="+mj-ea"/>
              <a:ea typeface="+mj-ea"/>
            </a:endParaRPr>
          </a:p>
          <a:p>
            <a:pPr marL="135255" indent="-135255">
              <a:spcBef>
                <a:spcPts val="900"/>
              </a:spcBef>
              <a:spcAft>
                <a:spcPts val="0"/>
              </a:spcAft>
              <a:buFont typeface="Arial" panose="020B0604020202020204" pitchFamily="34" charset="0"/>
              <a:buChar char="•"/>
            </a:pPr>
            <a:r>
              <a:rPr lang="zh-CN" altLang="en-US" sz="2000" spc="113" dirty="0">
                <a:solidFill>
                  <a:schemeClr val="tx1">
                    <a:lumMod val="95000"/>
                    <a:lumOff val="5000"/>
                  </a:schemeClr>
                </a:solidFill>
                <a:latin typeface="+mj-ea"/>
                <a:ea typeface="+mj-ea"/>
              </a:rPr>
              <a:t>用例图的组成</a:t>
            </a:r>
            <a:endParaRPr lang="zh-CN" altLang="en-US" sz="2000" spc="113" dirty="0">
              <a:solidFill>
                <a:schemeClr val="tx1">
                  <a:lumMod val="95000"/>
                  <a:lumOff val="5000"/>
                </a:schemeClr>
              </a:solidFill>
              <a:latin typeface="+mj-ea"/>
              <a:ea typeface="+mj-ea"/>
            </a:endParaRPr>
          </a:p>
          <a:p>
            <a:pPr marL="135255" indent="-135255">
              <a:spcBef>
                <a:spcPts val="900"/>
              </a:spcBef>
              <a:spcAft>
                <a:spcPts val="0"/>
              </a:spcAft>
              <a:buFont typeface="Arial" panose="020B0604020202020204" pitchFamily="34" charset="0"/>
              <a:buChar char="•"/>
            </a:pPr>
            <a:r>
              <a:rPr lang="zh-CN" altLang="en-US" sz="2000" spc="113" dirty="0">
                <a:solidFill>
                  <a:schemeClr val="tx1">
                    <a:lumMod val="95000"/>
                    <a:lumOff val="5000"/>
                  </a:schemeClr>
                </a:solidFill>
                <a:latin typeface="+mj-ea"/>
                <a:ea typeface="+mj-ea"/>
              </a:rPr>
              <a:t>参与者、用例的识别</a:t>
            </a:r>
            <a:endParaRPr lang="zh-CN" altLang="en-US" sz="2000" spc="113" dirty="0">
              <a:solidFill>
                <a:schemeClr val="tx1">
                  <a:lumMod val="95000"/>
                  <a:lumOff val="5000"/>
                </a:schemeClr>
              </a:solidFill>
              <a:latin typeface="+mj-ea"/>
              <a:ea typeface="+mj-ea"/>
            </a:endParaRPr>
          </a:p>
          <a:p>
            <a:pPr marL="135255" indent="-135255">
              <a:spcBef>
                <a:spcPts val="900"/>
              </a:spcBef>
              <a:buFont typeface="Arial" panose="020B0604020202020204" pitchFamily="34" charset="0"/>
              <a:buChar char="•"/>
            </a:pPr>
            <a:r>
              <a:rPr lang="zh-CN" altLang="en-US" sz="2000" spc="113" dirty="0">
                <a:solidFill>
                  <a:schemeClr val="tx1">
                    <a:lumMod val="95000"/>
                    <a:lumOff val="5000"/>
                  </a:schemeClr>
                </a:solidFill>
                <a:latin typeface="+mj-ea"/>
                <a:ea typeface="+mj-ea"/>
              </a:rPr>
              <a:t>用例建模技术</a:t>
            </a:r>
            <a:endParaRPr lang="zh-CN" altLang="en-US" sz="2000" spc="113" dirty="0">
              <a:solidFill>
                <a:schemeClr val="tx1">
                  <a:lumMod val="95000"/>
                  <a:lumOff val="5000"/>
                </a:schemeClr>
              </a:solidFill>
              <a:latin typeface="+mj-ea"/>
              <a:ea typeface="+mj-ea"/>
            </a:endParaRPr>
          </a:p>
        </p:txBody>
      </p:sp>
      <p:sp>
        <p:nvSpPr>
          <p:cNvPr id="6" name="灯片编号占位符 5"/>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pPr>
              <a:spcAft>
                <a:spcPts val="0"/>
              </a:spcAft>
            </a:pPr>
            <a:fld id="{1E7E08C1-54BA-4A08-9E95-5FA838D50E02}" type="datetime1">
              <a:rPr lang="zh-CN" altLang="en-US" smtClean="0"/>
            </a:fld>
            <a:endParaRPr lang="zh-CN" altLang="en-US" dirty="0"/>
          </a:p>
        </p:txBody>
      </p:sp>
      <p:sp>
        <p:nvSpPr>
          <p:cNvPr id="7" name="页脚占位符 6"/>
          <p:cNvSpPr>
            <a:spLocks noGrp="1"/>
          </p:cNvSpPr>
          <p:nvPr>
            <p:ph type="ftr" sz="quarter" idx="11"/>
          </p:nvPr>
        </p:nvSpPr>
        <p:spPr/>
        <p:txBody>
          <a:bodyPr/>
          <a:lstStyle/>
          <a:p>
            <a:pPr>
              <a:spcAft>
                <a:spcPts val="0"/>
              </a:spcAft>
            </a:pPr>
            <a:r>
              <a:rPr lang="zh-CN" altLang="en-US"/>
              <a:t>软件工程</a:t>
            </a:r>
            <a:endParaRPr lang="zh-CN" altLang="en-US" dirty="0"/>
          </a:p>
        </p:txBody>
      </p:sp>
    </p:spTree>
  </p:cSld>
  <p:clrMapOvr>
    <a:masterClrMapping/>
  </p:clrMapOvr>
  <p:transition spd="med" advTm="3000">
    <p:pull/>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anim calcmode="lin" valueType="num">
                                          <p:cBhvr>
                                            <p:cTn id="10" dur="500" fill="hold"/>
                                            <p:tgtEl>
                                              <p:spTgt spid="11"/>
                                            </p:tgtEl>
                                            <p:attrNameLst>
                                              <p:attrName>ppt_x</p:attrName>
                                            </p:attrNameLst>
                                          </p:cBhvr>
                                          <p:tavLst>
                                            <p:tav tm="0">
                                              <p:val>
                                                <p:fltVal val="0.5"/>
                                              </p:val>
                                            </p:tav>
                                            <p:tav tm="100000">
                                              <p:val>
                                                <p:strVal val="#ppt_x"/>
                                              </p:val>
                                            </p:tav>
                                          </p:tavLst>
                                        </p:anim>
                                        <p:anim calcmode="lin" valueType="num">
                                          <p:cBhvr>
                                            <p:cTn id="11" dur="500" fill="hold"/>
                                            <p:tgtEl>
                                              <p:spTgt spid="11"/>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22" presetClass="entr" presetSubtype="4"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par>
                              <p:cTn id="16" fill="hold">
                                <p:stCondLst>
                                  <p:cond delay="1000"/>
                                </p:stCondLst>
                                <p:childTnLst>
                                  <p:par>
                                    <p:cTn id="17" presetID="22" presetClass="entr" presetSubtype="4"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par>
                              <p:cTn id="20" fill="hold">
                                <p:stCondLst>
                                  <p:cond delay="1500"/>
                                </p:stCondLst>
                                <p:childTnLst>
                                  <p:par>
                                    <p:cTn id="21" presetID="2" presetClass="entr" presetSubtype="8" fill="hold" grpId="0" nodeType="afterEffect" p14:presetBounceEnd="40000">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14:bounceEnd="40000">
                                          <p:cBhvr additive="base">
                                            <p:cTn id="23" dur="500" fill="hold"/>
                                            <p:tgtEl>
                                              <p:spTgt spid="3"/>
                                            </p:tgtEl>
                                            <p:attrNameLst>
                                              <p:attrName>ppt_x</p:attrName>
                                            </p:attrNameLst>
                                          </p:cBhvr>
                                          <p:tavLst>
                                            <p:tav tm="0">
                                              <p:val>
                                                <p:strVal val="0-#ppt_w/2"/>
                                              </p:val>
                                            </p:tav>
                                            <p:tav tm="100000">
                                              <p:val>
                                                <p:strVal val="#ppt_x"/>
                                              </p:val>
                                            </p:tav>
                                          </p:tavLst>
                                        </p:anim>
                                        <p:anim calcmode="lin" valueType="num" p14:bounceEnd="40000">
                                          <p:cBhvr additive="base">
                                            <p:cTn id="24" dur="500" fill="hold"/>
                                            <p:tgtEl>
                                              <p:spTgt spid="3"/>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anim calcmode="lin" valueType="num">
                                          <p:cBhvr>
                                            <p:cTn id="29" dur="500" fill="hold"/>
                                            <p:tgtEl>
                                              <p:spTgt spid="13"/>
                                            </p:tgtEl>
                                            <p:attrNameLst>
                                              <p:attrName>ppt_x</p:attrName>
                                            </p:attrNameLst>
                                          </p:cBhvr>
                                          <p:tavLst>
                                            <p:tav tm="0">
                                              <p:val>
                                                <p:strVal val="#ppt_x"/>
                                              </p:val>
                                            </p:tav>
                                            <p:tav tm="100000">
                                              <p:val>
                                                <p:strVal val="#ppt_x"/>
                                              </p:val>
                                            </p:tav>
                                          </p:tavLst>
                                        </p:anim>
                                        <p:anim calcmode="lin" valueType="num">
                                          <p:cBhvr>
                                            <p:cTn id="30" dur="500" fill="hold"/>
                                            <p:tgtEl>
                                              <p:spTgt spid="13"/>
                                            </p:tgtEl>
                                            <p:attrNameLst>
                                              <p:attrName>ppt_y</p:attrName>
                                            </p:attrNameLst>
                                          </p:cBhvr>
                                          <p:tavLst>
                                            <p:tav tm="0">
                                              <p:val>
                                                <p:strVal val="#ppt_y+.1"/>
                                              </p:val>
                                            </p:tav>
                                            <p:tav tm="100000">
                                              <p:val>
                                                <p:strVal val="#ppt_y"/>
                                              </p:val>
                                            </p:tav>
                                          </p:tavLst>
                                        </p:anim>
                                      </p:childTnLst>
                                    </p:cTn>
                                  </p:par>
                                </p:childTnLst>
                              </p:cTn>
                            </p:par>
                            <p:par>
                              <p:cTn id="31" fill="hold">
                                <p:stCondLst>
                                  <p:cond delay="2500"/>
                                </p:stCondLst>
                                <p:childTnLst>
                                  <p:par>
                                    <p:cTn id="32" presetID="2" presetClass="entr" presetSubtype="2" fill="hold" grpId="0" nodeType="afterEffect" p14:presetBounceEnd="40000">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14:bounceEnd="40000">
                                          <p:cBhvr additive="base">
                                            <p:cTn id="34" dur="500" fill="hold"/>
                                            <p:tgtEl>
                                              <p:spTgt spid="4"/>
                                            </p:tgtEl>
                                            <p:attrNameLst>
                                              <p:attrName>ppt_x</p:attrName>
                                            </p:attrNameLst>
                                          </p:cBhvr>
                                          <p:tavLst>
                                            <p:tav tm="0">
                                              <p:val>
                                                <p:strVal val="1+#ppt_w/2"/>
                                              </p:val>
                                            </p:tav>
                                            <p:tav tm="100000">
                                              <p:val>
                                                <p:strVal val="#ppt_x"/>
                                              </p:val>
                                            </p:tav>
                                          </p:tavLst>
                                        </p:anim>
                                        <p:anim calcmode="lin" valueType="num" p14:bounceEnd="40000">
                                          <p:cBhvr additive="base">
                                            <p:cTn id="35" dur="500" fill="hold"/>
                                            <p:tgtEl>
                                              <p:spTgt spid="4"/>
                                            </p:tgtEl>
                                            <p:attrNameLst>
                                              <p:attrName>ppt_y</p:attrName>
                                            </p:attrNameLst>
                                          </p:cBhvr>
                                          <p:tavLst>
                                            <p:tav tm="0">
                                              <p:val>
                                                <p:strVal val="#ppt_y"/>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9" grpId="0" animBg="1"/>
          <p:bldP spid="10" grpId="0" animBg="1"/>
          <p:bldP spid="11" grpId="0" animBg="1"/>
          <p:bldP spid="13" grpId="0"/>
          <p:bldP spid="1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anim calcmode="lin" valueType="num">
                                          <p:cBhvr>
                                            <p:cTn id="10" dur="500" fill="hold"/>
                                            <p:tgtEl>
                                              <p:spTgt spid="11"/>
                                            </p:tgtEl>
                                            <p:attrNameLst>
                                              <p:attrName>ppt_x</p:attrName>
                                            </p:attrNameLst>
                                          </p:cBhvr>
                                          <p:tavLst>
                                            <p:tav tm="0">
                                              <p:val>
                                                <p:fltVal val="0.5"/>
                                              </p:val>
                                            </p:tav>
                                            <p:tav tm="100000">
                                              <p:val>
                                                <p:strVal val="#ppt_x"/>
                                              </p:val>
                                            </p:tav>
                                          </p:tavLst>
                                        </p:anim>
                                        <p:anim calcmode="lin" valueType="num">
                                          <p:cBhvr>
                                            <p:cTn id="11" dur="500" fill="hold"/>
                                            <p:tgtEl>
                                              <p:spTgt spid="11"/>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22" presetClass="entr" presetSubtype="4"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par>
                              <p:cTn id="16" fill="hold">
                                <p:stCondLst>
                                  <p:cond delay="1000"/>
                                </p:stCondLst>
                                <p:childTnLst>
                                  <p:par>
                                    <p:cTn id="17" presetID="22" presetClass="entr" presetSubtype="4"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0-#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anim calcmode="lin" valueType="num">
                                          <p:cBhvr>
                                            <p:cTn id="29" dur="500" fill="hold"/>
                                            <p:tgtEl>
                                              <p:spTgt spid="13"/>
                                            </p:tgtEl>
                                            <p:attrNameLst>
                                              <p:attrName>ppt_x</p:attrName>
                                            </p:attrNameLst>
                                          </p:cBhvr>
                                          <p:tavLst>
                                            <p:tav tm="0">
                                              <p:val>
                                                <p:strVal val="#ppt_x"/>
                                              </p:val>
                                            </p:tav>
                                            <p:tav tm="100000">
                                              <p:val>
                                                <p:strVal val="#ppt_x"/>
                                              </p:val>
                                            </p:tav>
                                          </p:tavLst>
                                        </p:anim>
                                        <p:anim calcmode="lin" valueType="num">
                                          <p:cBhvr>
                                            <p:cTn id="30" dur="500" fill="hold"/>
                                            <p:tgtEl>
                                              <p:spTgt spid="13"/>
                                            </p:tgtEl>
                                            <p:attrNameLst>
                                              <p:attrName>ppt_y</p:attrName>
                                            </p:attrNameLst>
                                          </p:cBhvr>
                                          <p:tavLst>
                                            <p:tav tm="0">
                                              <p:val>
                                                <p:strVal val="#ppt_y+.1"/>
                                              </p:val>
                                            </p:tav>
                                            <p:tav tm="100000">
                                              <p:val>
                                                <p:strVal val="#ppt_y"/>
                                              </p:val>
                                            </p:tav>
                                          </p:tavLst>
                                        </p:anim>
                                      </p:childTnLst>
                                    </p:cTn>
                                  </p:par>
                                </p:childTnLst>
                              </p:cTn>
                            </p:par>
                            <p:par>
                              <p:cTn id="31" fill="hold">
                                <p:stCondLst>
                                  <p:cond delay="2500"/>
                                </p:stCondLst>
                                <p:childTnLst>
                                  <p:par>
                                    <p:cTn id="32" presetID="2" presetClass="entr" presetSubtype="2"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1+#ppt_w/2"/>
                                              </p:val>
                                            </p:tav>
                                            <p:tav tm="100000">
                                              <p:val>
                                                <p:strVal val="#ppt_x"/>
                                              </p:val>
                                            </p:tav>
                                          </p:tavLst>
                                        </p:anim>
                                        <p:anim calcmode="lin" valueType="num">
                                          <p:cBhvr additive="base">
                                            <p:cTn id="35" dur="500" fill="hold"/>
                                            <p:tgtEl>
                                              <p:spTgt spid="4"/>
                                            </p:tgtEl>
                                            <p:attrNameLst>
                                              <p:attrName>ppt_y</p:attrName>
                                            </p:attrNameLst>
                                          </p:cBhvr>
                                          <p:tavLst>
                                            <p:tav tm="0">
                                              <p:val>
                                                <p:strVal val="#ppt_y"/>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9" grpId="0" animBg="1"/>
          <p:bldP spid="10" grpId="0" animBg="1"/>
          <p:bldP spid="11" grpId="0" animBg="1"/>
          <p:bldP spid="13" grpId="0"/>
          <p:bldP spid="14"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spc="113" dirty="0"/>
              <a:t>需求建模</a:t>
            </a:r>
            <a:endParaRPr lang="zh-CN" altLang="en-US" dirty="0"/>
          </a:p>
        </p:txBody>
      </p:sp>
      <p:sp>
        <p:nvSpPr>
          <p:cNvPr id="3" name="内容占位符 2"/>
          <p:cNvSpPr>
            <a:spLocks noGrp="1"/>
          </p:cNvSpPr>
          <p:nvPr>
            <p:ph idx="1"/>
          </p:nvPr>
        </p:nvSpPr>
        <p:spPr/>
        <p:txBody>
          <a:bodyPr/>
          <a:lstStyle/>
          <a:p>
            <a:r>
              <a:rPr lang="en-US" altLang="zh-CN" dirty="0" smtClean="0"/>
              <a:t>Brooks</a:t>
            </a:r>
            <a:r>
              <a:rPr lang="zh-CN" altLang="en-US" dirty="0" smtClean="0"/>
              <a:t>曾在书中写过</a:t>
            </a:r>
            <a:endParaRPr lang="en-US" altLang="zh-CN" dirty="0" smtClean="0"/>
          </a:p>
          <a:p>
            <a:r>
              <a:rPr lang="zh-CN" altLang="en-US" dirty="0" smtClean="0"/>
              <a:t>构建一个软件系统最困难的部分是正确的确定要构建什么。其他任何工作都不如建立详细的技术需求困难，这包括给人、机器和其他软件系统的界面和接口。如果做错了，没有任何工作会如此扭曲最终的系统，也没有任何一部分更难以在日后更正。</a:t>
            </a:r>
            <a:endParaRPr lang="en-US" altLang="zh-CN" dirty="0" smtClean="0"/>
          </a:p>
          <a:p>
            <a:endParaRPr lang="zh-CN" altLang="en-US" dirty="0"/>
          </a:p>
        </p:txBody>
      </p:sp>
      <p:sp>
        <p:nvSpPr>
          <p:cNvPr id="4" name="日期占位符 3"/>
          <p:cNvSpPr>
            <a:spLocks noGrp="1"/>
          </p:cNvSpPr>
          <p:nvPr>
            <p:ph type="dt" sz="half" idx="10"/>
          </p:nvPr>
        </p:nvSpPr>
        <p:spPr/>
        <p:txBody>
          <a:bodyPr/>
          <a:lstStyle/>
          <a:p>
            <a:pPr>
              <a:spcAft>
                <a:spcPts val="0"/>
              </a:spcAft>
            </a:pPr>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spcAft>
                <a:spcPts val="0"/>
              </a:spcAft>
            </a:pPr>
            <a:r>
              <a:rPr lang="zh-CN" altLang="en-US" dirty="0"/>
              <a:t>什么是业务用例建模</a:t>
            </a:r>
            <a:endParaRPr lang="zh-CN" altLang="en-US" dirty="0"/>
          </a:p>
        </p:txBody>
      </p:sp>
      <p:sp>
        <p:nvSpPr>
          <p:cNvPr id="7" name="灯片编号占位符 6"/>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6" name="文本占位符 5"/>
          <p:cNvSpPr>
            <a:spLocks noGrp="1"/>
          </p:cNvSpPr>
          <p:nvPr>
            <p:ph type="body" sz="quarter" idx="4294967295"/>
          </p:nvPr>
        </p:nvSpPr>
        <p:spPr>
          <a:xfrm>
            <a:off x="798316" y="947867"/>
            <a:ext cx="8059934" cy="3546475"/>
          </a:xfrm>
        </p:spPr>
        <p:txBody>
          <a:bodyPr>
            <a:noAutofit/>
          </a:bodyPr>
          <a:lstStyle/>
          <a:p>
            <a:pPr>
              <a:lnSpc>
                <a:spcPct val="130000"/>
              </a:lnSpc>
              <a:spcBef>
                <a:spcPts val="900"/>
              </a:spcBef>
            </a:pPr>
            <a:r>
              <a:rPr lang="zh-CN" altLang="en-US" sz="2400" b="1" dirty="0">
                <a:solidFill>
                  <a:srgbClr val="FF0000"/>
                </a:solidFill>
              </a:rPr>
              <a:t>业务需求</a:t>
            </a:r>
            <a:r>
              <a:rPr lang="zh-CN" altLang="en-US" sz="2400" dirty="0"/>
              <a:t>是从客户角度提出的对系统的要求，一般也称为初始需求。</a:t>
            </a:r>
            <a:endParaRPr lang="en-US" altLang="zh-CN" sz="2400" dirty="0"/>
          </a:p>
          <a:p>
            <a:pPr>
              <a:lnSpc>
                <a:spcPct val="130000"/>
              </a:lnSpc>
              <a:spcBef>
                <a:spcPts val="900"/>
              </a:spcBef>
            </a:pPr>
            <a:r>
              <a:rPr lang="zh-CN" altLang="en-US" sz="2400" b="1" dirty="0">
                <a:solidFill>
                  <a:srgbClr val="FF0000"/>
                </a:solidFill>
              </a:rPr>
              <a:t>业务用例建模</a:t>
            </a:r>
            <a:r>
              <a:rPr lang="zh-CN" altLang="en-US" sz="2400" dirty="0"/>
              <a:t>在创建模型的初始阶段，用来勾画系统的大致轮廓。</a:t>
            </a:r>
            <a:endParaRPr lang="en-US" altLang="zh-CN" sz="2400" dirty="0"/>
          </a:p>
          <a:p>
            <a:pPr>
              <a:lnSpc>
                <a:spcPct val="130000"/>
              </a:lnSpc>
              <a:spcBef>
                <a:spcPts val="900"/>
              </a:spcBef>
            </a:pPr>
            <a:r>
              <a:rPr lang="zh-CN" altLang="en-US" sz="2400" dirty="0"/>
              <a:t>随着对需求的深入理解及与用户不断的沟通交流，进一步对用例进行细化，并根据实际需要，加入一些前期没有被标识出来的用例，转化为系统用例模型。</a:t>
            </a:r>
            <a:endParaRPr lang="en-US" altLang="zh-CN" sz="2400" dirty="0"/>
          </a:p>
        </p:txBody>
      </p:sp>
      <p:sp>
        <p:nvSpPr>
          <p:cNvPr id="9" name="日期占位符 8"/>
          <p:cNvSpPr>
            <a:spLocks noGrp="1"/>
          </p:cNvSpPr>
          <p:nvPr>
            <p:ph type="dt" sz="half" idx="10"/>
          </p:nvPr>
        </p:nvSpPr>
        <p:spPr/>
        <p:txBody>
          <a:bodyPr/>
          <a:lstStyle/>
          <a:p>
            <a:pPr>
              <a:spcAft>
                <a:spcPts val="0"/>
              </a:spcAft>
            </a:pPr>
            <a:fld id="{6F8636AF-8009-4ABB-8ED8-1DA980E7C70F}" type="datetime1">
              <a:rPr lang="zh-CN" altLang="en-US" smtClean="0"/>
            </a:fld>
            <a:endParaRPr lang="zh-CN" altLang="en-US"/>
          </a:p>
        </p:txBody>
      </p:sp>
      <p:sp>
        <p:nvSpPr>
          <p:cNvPr id="10" name="页脚占位符 9"/>
          <p:cNvSpPr>
            <a:spLocks noGrp="1"/>
          </p:cNvSpPr>
          <p:nvPr>
            <p:ph type="ftr" sz="quarter" idx="11"/>
          </p:nvPr>
        </p:nvSpPr>
        <p:spPr/>
        <p:txBody>
          <a:bodyPr/>
          <a:lstStyle/>
          <a:p>
            <a:pPr>
              <a:spcAft>
                <a:spcPts val="0"/>
              </a:spcAft>
            </a:pPr>
            <a:r>
              <a:rPr lang="zh-CN" altLang="en-US"/>
              <a:t>软件工程</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up)">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spcAft>
                <a:spcPts val="0"/>
              </a:spcAft>
            </a:pPr>
            <a:r>
              <a:rPr lang="zh-CN" altLang="en-US" dirty="0" smtClean="0">
                <a:latin typeface="+mj-ea"/>
              </a:rPr>
              <a:t>什么是用例图</a:t>
            </a:r>
            <a:endParaRPr lang="zh-CN" altLang="en-US" dirty="0"/>
          </a:p>
        </p:txBody>
      </p:sp>
      <p:sp>
        <p:nvSpPr>
          <p:cNvPr id="2" name="文本占位符 1"/>
          <p:cNvSpPr>
            <a:spLocks noGrp="1"/>
          </p:cNvSpPr>
          <p:nvPr>
            <p:ph idx="1"/>
          </p:nvPr>
        </p:nvSpPr>
        <p:spPr>
          <a:xfrm>
            <a:off x="768096" y="853965"/>
            <a:ext cx="8090153" cy="3806854"/>
          </a:xfrm>
        </p:spPr>
        <p:txBody>
          <a:bodyPr>
            <a:noAutofit/>
          </a:bodyPr>
          <a:lstStyle/>
          <a:p>
            <a:pPr>
              <a:lnSpc>
                <a:spcPct val="120000"/>
              </a:lnSpc>
              <a:spcBef>
                <a:spcPts val="900"/>
              </a:spcBef>
            </a:pPr>
            <a:r>
              <a:rPr lang="zh-CN" altLang="en-US" sz="2000" b="1" dirty="0">
                <a:solidFill>
                  <a:srgbClr val="FF0000"/>
                </a:solidFill>
              </a:rPr>
              <a:t>用例图</a:t>
            </a:r>
            <a:r>
              <a:rPr lang="en-US" altLang="zh-CN" sz="2000" b="1" dirty="0">
                <a:solidFill>
                  <a:srgbClr val="FF0000"/>
                </a:solidFill>
              </a:rPr>
              <a:t>(Use Case Diagram)</a:t>
            </a:r>
            <a:r>
              <a:rPr lang="zh-CN" altLang="en-US" sz="2000" dirty="0"/>
              <a:t>是显示一组用例、参与者以及它们之间关系的图。把客户的想法用更加容易理解的图形化样式展现给用户，它描述的是参与者从</a:t>
            </a:r>
            <a:r>
              <a:rPr lang="zh-CN" altLang="en-US" sz="2000" b="1" dirty="0">
                <a:solidFill>
                  <a:srgbClr val="FF0000"/>
                </a:solidFill>
              </a:rPr>
              <a:t>系统外部</a:t>
            </a:r>
            <a:r>
              <a:rPr lang="zh-CN" altLang="en-US" sz="2000" dirty="0"/>
              <a:t>来看系统该有的功能</a:t>
            </a:r>
            <a:r>
              <a:rPr lang="zh-CN" altLang="en-US" sz="2000" dirty="0" smtClean="0"/>
              <a:t>。</a:t>
            </a:r>
            <a:endParaRPr lang="en-US" altLang="zh-CN" sz="2000" dirty="0"/>
          </a:p>
          <a:p>
            <a:pPr>
              <a:lnSpc>
                <a:spcPct val="120000"/>
              </a:lnSpc>
              <a:spcBef>
                <a:spcPts val="900"/>
              </a:spcBef>
            </a:pPr>
            <a:r>
              <a:rPr lang="zh-CN" altLang="en-US" sz="2000" dirty="0" smtClean="0"/>
              <a:t>用</a:t>
            </a:r>
            <a:r>
              <a:rPr lang="zh-CN" altLang="en-US" sz="2000" dirty="0"/>
              <a:t>例图中描述的是</a:t>
            </a:r>
            <a:r>
              <a:rPr lang="zh-CN" altLang="en-US" sz="2000" b="1" dirty="0">
                <a:solidFill>
                  <a:srgbClr val="FF0000"/>
                </a:solidFill>
              </a:rPr>
              <a:t>系统该有哪些功能</a:t>
            </a:r>
            <a:r>
              <a:rPr lang="zh-CN" altLang="en-US" sz="2000" dirty="0"/>
              <a:t>，而不是怎么实现</a:t>
            </a:r>
            <a:r>
              <a:rPr lang="zh-CN" altLang="en-US" sz="2000" dirty="0" smtClean="0"/>
              <a:t>。</a:t>
            </a:r>
            <a:endParaRPr lang="en-US" altLang="zh-CN" sz="2000" dirty="0" smtClean="0"/>
          </a:p>
          <a:p>
            <a:pPr>
              <a:lnSpc>
                <a:spcPct val="120000"/>
              </a:lnSpc>
              <a:spcBef>
                <a:spcPts val="900"/>
              </a:spcBef>
            </a:pPr>
            <a:r>
              <a:rPr lang="zh-CN" altLang="en-US" sz="2000" dirty="0"/>
              <a:t>用例建模是一种促进以使用为中心的开发方法。</a:t>
            </a:r>
            <a:endParaRPr lang="en-US" altLang="zh-CN" sz="2000" dirty="0"/>
          </a:p>
          <a:p>
            <a:pPr>
              <a:lnSpc>
                <a:spcPct val="120000"/>
              </a:lnSpc>
              <a:spcBef>
                <a:spcPts val="900"/>
              </a:spcBef>
            </a:pPr>
            <a:r>
              <a:rPr lang="zh-CN" altLang="en-US" sz="2000" dirty="0"/>
              <a:t>在软件项目开发中，用例图是业务调研后，最先用来和用户交流讨论的重要的</a:t>
            </a:r>
            <a:r>
              <a:rPr lang="en-US" altLang="zh-CN" sz="2000" dirty="0"/>
              <a:t>UML</a:t>
            </a:r>
            <a:r>
              <a:rPr lang="zh-CN" altLang="en-US" sz="2000" dirty="0" smtClean="0"/>
              <a:t>图，同时，也开始了一个重要的过程</a:t>
            </a:r>
            <a:r>
              <a:rPr lang="en-US" altLang="zh-CN" sz="2000" dirty="0" smtClean="0"/>
              <a:t>——</a:t>
            </a:r>
            <a:r>
              <a:rPr lang="zh-CN" altLang="en-US" sz="2000" dirty="0" smtClean="0"/>
              <a:t>功能分解。</a:t>
            </a:r>
            <a:endParaRPr lang="en-US" altLang="zh-CN" sz="2000" dirty="0" smtClean="0"/>
          </a:p>
          <a:p>
            <a:pPr>
              <a:lnSpc>
                <a:spcPct val="120000"/>
              </a:lnSpc>
              <a:spcBef>
                <a:spcPts val="900"/>
              </a:spcBef>
            </a:pPr>
            <a:r>
              <a:rPr lang="zh-CN" altLang="en-US" sz="2000" dirty="0">
                <a:latin typeface="+mn-ea"/>
              </a:rPr>
              <a:t>使用</a:t>
            </a:r>
            <a:r>
              <a:rPr lang="zh-CN" altLang="en-US" sz="2000" b="1" dirty="0">
                <a:solidFill>
                  <a:srgbClr val="FF0000"/>
                </a:solidFill>
                <a:latin typeface="+mn-ea"/>
              </a:rPr>
              <a:t>用例模型</a:t>
            </a:r>
            <a:r>
              <a:rPr lang="zh-CN" altLang="en-US" sz="2000" dirty="0">
                <a:latin typeface="+mn-ea"/>
              </a:rPr>
              <a:t>代替</a:t>
            </a:r>
            <a:r>
              <a:rPr lang="zh-CN" altLang="en-US" sz="2000" b="1" dirty="0">
                <a:latin typeface="+mn-ea"/>
              </a:rPr>
              <a:t>传统的功能说明</a:t>
            </a:r>
            <a:r>
              <a:rPr lang="zh-CN" altLang="en-US" sz="2000" dirty="0">
                <a:latin typeface="+mn-ea"/>
              </a:rPr>
              <a:t>，往往能够更好地获取用户需求，它所回答的问题是“系统应该为每个（或每类）用户做什么”</a:t>
            </a:r>
            <a:r>
              <a:rPr lang="zh-CN" altLang="en-US" sz="2000" dirty="0" smtClean="0">
                <a:latin typeface="+mn-ea"/>
              </a:rPr>
              <a:t>。</a:t>
            </a:r>
            <a:endParaRPr lang="en-US" altLang="zh-CN" sz="2000" dirty="0"/>
          </a:p>
        </p:txBody>
      </p:sp>
      <p:sp>
        <p:nvSpPr>
          <p:cNvPr id="4" name="日期占位符 3"/>
          <p:cNvSpPr>
            <a:spLocks noGrp="1"/>
          </p:cNvSpPr>
          <p:nvPr>
            <p:ph type="dt" sz="half" idx="10"/>
          </p:nvPr>
        </p:nvSpPr>
        <p:spPr/>
        <p:txBody>
          <a:bodyPr/>
          <a:lstStyle/>
          <a:p>
            <a:pPr>
              <a:spcAft>
                <a:spcPts val="0"/>
              </a:spcAft>
            </a:pPr>
            <a:fld id="{346BA382-4B60-47E8-82EE-24AC84CD9397}"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up)">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p:cNvCxnSpPr/>
          <p:nvPr/>
        </p:nvCxnSpPr>
        <p:spPr>
          <a:xfrm>
            <a:off x="2637094" y="1712881"/>
            <a:ext cx="810000" cy="0"/>
          </a:xfrm>
          <a:prstGeom prst="line">
            <a:avLst/>
          </a:prstGeom>
          <a:ln w="12700">
            <a:solidFill>
              <a:schemeClr val="tx1">
                <a:lumMod val="85000"/>
                <a:lumOff val="15000"/>
              </a:schemeClr>
            </a:solidFill>
            <a:prstDash val="dash"/>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 name="直接连接符"/>
          <p:cNvCxnSpPr/>
          <p:nvPr/>
        </p:nvCxnSpPr>
        <p:spPr>
          <a:xfrm>
            <a:off x="3009077" y="2872406"/>
            <a:ext cx="607500" cy="0"/>
          </a:xfrm>
          <a:prstGeom prst="line">
            <a:avLst/>
          </a:prstGeom>
          <a:ln w="12700">
            <a:solidFill>
              <a:schemeClr val="tx1">
                <a:lumMod val="85000"/>
                <a:lumOff val="15000"/>
              </a:schemeClr>
            </a:solidFill>
            <a:prstDash val="dash"/>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连接符"/>
          <p:cNvCxnSpPr/>
          <p:nvPr/>
        </p:nvCxnSpPr>
        <p:spPr>
          <a:xfrm>
            <a:off x="2621695" y="3956309"/>
            <a:ext cx="810000" cy="0"/>
          </a:xfrm>
          <a:prstGeom prst="line">
            <a:avLst/>
          </a:prstGeom>
          <a:ln w="12700">
            <a:solidFill>
              <a:schemeClr val="tx1">
                <a:lumMod val="85000"/>
                <a:lumOff val="15000"/>
              </a:schemeClr>
            </a:solidFill>
            <a:prstDash val="dash"/>
            <a:headEnd type="none" w="lg" len="lg"/>
            <a:tailEnd type="triangle" w="lg" len="lg"/>
          </a:ln>
        </p:spPr>
        <p:style>
          <a:lnRef idx="1">
            <a:schemeClr val="accent1"/>
          </a:lnRef>
          <a:fillRef idx="0">
            <a:schemeClr val="accent1"/>
          </a:fillRef>
          <a:effectRef idx="0">
            <a:schemeClr val="accent1"/>
          </a:effectRef>
          <a:fontRef idx="minor">
            <a:schemeClr val="tx1"/>
          </a:fontRef>
        </p:style>
      </p:cxnSp>
      <p:grpSp>
        <p:nvGrpSpPr>
          <p:cNvPr id="16" name="组合 3"/>
          <p:cNvGrpSpPr/>
          <p:nvPr/>
        </p:nvGrpSpPr>
        <p:grpSpPr>
          <a:xfrm>
            <a:off x="1795240" y="3293942"/>
            <a:ext cx="1029245" cy="1033440"/>
            <a:chOff x="2329192" y="4434639"/>
            <a:chExt cx="1829769" cy="1837227"/>
          </a:xfrm>
          <a:solidFill>
            <a:schemeClr val="bg2"/>
          </a:solidFill>
        </p:grpSpPr>
        <p:sp>
          <p:nvSpPr>
            <p:cNvPr id="17" name="图形"/>
            <p:cNvSpPr/>
            <p:nvPr/>
          </p:nvSpPr>
          <p:spPr bwMode="auto">
            <a:xfrm>
              <a:off x="2329192" y="4434639"/>
              <a:ext cx="1829769" cy="1837227"/>
            </a:xfrm>
            <a:custGeom>
              <a:avLst/>
              <a:gdLst>
                <a:gd name="T0" fmla="*/ 3898 w 3898"/>
                <a:gd name="T1" fmla="*/ 944 h 3904"/>
                <a:gd name="T2" fmla="*/ 934 w 3898"/>
                <a:gd name="T3" fmla="*/ 3904 h 3904"/>
                <a:gd name="T4" fmla="*/ 0 w 3898"/>
                <a:gd name="T5" fmla="*/ 1642 h 3904"/>
                <a:gd name="T6" fmla="*/ 1624 w 3898"/>
                <a:gd name="T7" fmla="*/ 0 h 3904"/>
                <a:gd name="T8" fmla="*/ 3898 w 3898"/>
                <a:gd name="T9" fmla="*/ 944 h 3904"/>
              </a:gdLst>
              <a:ahLst/>
              <a:cxnLst>
                <a:cxn ang="0">
                  <a:pos x="T0" y="T1"/>
                </a:cxn>
                <a:cxn ang="0">
                  <a:pos x="T2" y="T3"/>
                </a:cxn>
                <a:cxn ang="0">
                  <a:pos x="T4" y="T5"/>
                </a:cxn>
                <a:cxn ang="0">
                  <a:pos x="T6" y="T7"/>
                </a:cxn>
                <a:cxn ang="0">
                  <a:pos x="T8" y="T9"/>
                </a:cxn>
              </a:cxnLst>
              <a:rect l="0" t="0" r="r" b="b"/>
              <a:pathLst>
                <a:path w="3898" h="3904">
                  <a:moveTo>
                    <a:pt x="3898" y="944"/>
                  </a:moveTo>
                  <a:cubicBezTo>
                    <a:pt x="3316" y="2213"/>
                    <a:pt x="2294" y="3284"/>
                    <a:pt x="934" y="3904"/>
                  </a:cubicBezTo>
                  <a:lnTo>
                    <a:pt x="0" y="1642"/>
                  </a:lnTo>
                  <a:cubicBezTo>
                    <a:pt x="734" y="1284"/>
                    <a:pt x="1292" y="696"/>
                    <a:pt x="1624" y="0"/>
                  </a:cubicBezTo>
                  <a:lnTo>
                    <a:pt x="3898" y="944"/>
                  </a:lnTo>
                  <a:close/>
                </a:path>
              </a:pathLst>
            </a:custGeom>
            <a:solidFill>
              <a:schemeClr val="accent1"/>
            </a:solidFill>
            <a:ln w="4" cap="flat">
              <a:noFill/>
              <a:prstDash val="solid"/>
              <a:miter lim="800000"/>
            </a:ln>
          </p:spPr>
          <p:txBody>
            <a:bodyPr vert="horz" wrap="square" lIns="68580" tIns="34290" rIns="68580" bIns="34290" numCol="1" anchor="t" anchorCtr="0" compatLnSpc="1"/>
            <a:lstStyle/>
            <a:p>
              <a:pPr fontAlgn="base">
                <a:spcBef>
                  <a:spcPct val="0"/>
                </a:spcBef>
                <a:spcAft>
                  <a:spcPct val="0"/>
                </a:spcAft>
              </a:pPr>
              <a:endParaRPr lang="zh-CN" altLang="en-US" sz="2400">
                <a:solidFill>
                  <a:schemeClr val="bg1"/>
                </a:solidFill>
              </a:endParaRPr>
            </a:p>
          </p:txBody>
        </p:sp>
        <p:sp>
          <p:nvSpPr>
            <p:cNvPr id="18" name="文本"/>
            <p:cNvSpPr txBox="1"/>
            <p:nvPr/>
          </p:nvSpPr>
          <p:spPr>
            <a:xfrm rot="18846788">
              <a:off x="2550269" y="4869706"/>
              <a:ext cx="1247860" cy="845538"/>
            </a:xfrm>
            <a:prstGeom prst="rect">
              <a:avLst/>
            </a:prstGeom>
            <a:noFill/>
          </p:spPr>
          <p:txBody>
            <a:bodyPr wrap="square">
              <a:spAutoFit/>
            </a:bodyPr>
            <a:lstStyle>
              <a:defPPr>
                <a:defRPr lang="zh-CN"/>
              </a:defPPr>
              <a:lvl1pPr algn="ctr">
                <a:lnSpc>
                  <a:spcPts val="3000"/>
                </a:lnSpc>
                <a:defRPr sz="2300" b="1" spc="200">
                  <a:solidFill>
                    <a:schemeClr val="bg1"/>
                  </a:solidFill>
                  <a:latin typeface="+mn-ea"/>
                </a:defRPr>
              </a:lvl1pPr>
            </a:lstStyle>
            <a:p>
              <a:pPr>
                <a:spcAft>
                  <a:spcPts val="0"/>
                </a:spcAft>
              </a:pPr>
              <a:r>
                <a:rPr lang="en-US" altLang="zh-CN" sz="2400" dirty="0"/>
                <a:t>3</a:t>
              </a:r>
              <a:endParaRPr lang="zh-CN" altLang="en-US" sz="2400" dirty="0"/>
            </a:p>
          </p:txBody>
        </p:sp>
      </p:grpSp>
      <p:grpSp>
        <p:nvGrpSpPr>
          <p:cNvPr id="10" name="组合 2"/>
          <p:cNvGrpSpPr/>
          <p:nvPr/>
        </p:nvGrpSpPr>
        <p:grpSpPr>
          <a:xfrm>
            <a:off x="2265111" y="2327626"/>
            <a:ext cx="743966" cy="1108955"/>
            <a:chOff x="3164521" y="2716745"/>
            <a:chExt cx="1322605" cy="1971476"/>
          </a:xfrm>
          <a:solidFill>
            <a:schemeClr val="bg2"/>
          </a:solidFill>
        </p:grpSpPr>
        <p:sp>
          <p:nvSpPr>
            <p:cNvPr id="11" name="图形"/>
            <p:cNvSpPr/>
            <p:nvPr/>
          </p:nvSpPr>
          <p:spPr bwMode="auto">
            <a:xfrm>
              <a:off x="3164521" y="2716745"/>
              <a:ext cx="1322605" cy="1971476"/>
            </a:xfrm>
            <a:custGeom>
              <a:avLst/>
              <a:gdLst>
                <a:gd name="T0" fmla="*/ 2294 w 2814"/>
                <a:gd name="T1" fmla="*/ 0 h 4189"/>
                <a:gd name="T2" fmla="*/ 2290 w 2814"/>
                <a:gd name="T3" fmla="*/ 4189 h 4189"/>
                <a:gd name="T4" fmla="*/ 12 w 2814"/>
                <a:gd name="T5" fmla="*/ 3244 h 4189"/>
                <a:gd name="T6" fmla="*/ 0 w 2814"/>
                <a:gd name="T7" fmla="*/ 948 h 4189"/>
                <a:gd name="T8" fmla="*/ 2294 w 2814"/>
                <a:gd name="T9" fmla="*/ 0 h 4189"/>
              </a:gdLst>
              <a:ahLst/>
              <a:cxnLst>
                <a:cxn ang="0">
                  <a:pos x="T0" y="T1"/>
                </a:cxn>
                <a:cxn ang="0">
                  <a:pos x="T2" y="T3"/>
                </a:cxn>
                <a:cxn ang="0">
                  <a:pos x="T4" y="T5"/>
                </a:cxn>
                <a:cxn ang="0">
                  <a:pos x="T6" y="T7"/>
                </a:cxn>
                <a:cxn ang="0">
                  <a:pos x="T8" y="T9"/>
                </a:cxn>
              </a:cxnLst>
              <a:rect l="0" t="0" r="r" b="b"/>
              <a:pathLst>
                <a:path w="2814" h="4189">
                  <a:moveTo>
                    <a:pt x="2294" y="0"/>
                  </a:moveTo>
                  <a:cubicBezTo>
                    <a:pt x="2814" y="1401"/>
                    <a:pt x="2778" y="2881"/>
                    <a:pt x="2290" y="4189"/>
                  </a:cubicBezTo>
                  <a:lnTo>
                    <a:pt x="12" y="3244"/>
                  </a:lnTo>
                  <a:cubicBezTo>
                    <a:pt x="253" y="2522"/>
                    <a:pt x="265" y="1717"/>
                    <a:pt x="0" y="948"/>
                  </a:cubicBezTo>
                  <a:lnTo>
                    <a:pt x="2294" y="0"/>
                  </a:lnTo>
                  <a:close/>
                </a:path>
              </a:pathLst>
            </a:custGeom>
            <a:solidFill>
              <a:schemeClr val="accent1"/>
            </a:solidFill>
            <a:ln w="4" cap="flat">
              <a:noFill/>
              <a:prstDash val="solid"/>
              <a:miter lim="800000"/>
            </a:ln>
          </p:spPr>
          <p:txBody>
            <a:bodyPr vert="horz" wrap="square" lIns="68580" tIns="34290" rIns="68580" bIns="34290" numCol="1" anchor="t" anchorCtr="0" compatLnSpc="1"/>
            <a:lstStyle/>
            <a:p>
              <a:pPr fontAlgn="base">
                <a:spcBef>
                  <a:spcPct val="0"/>
                </a:spcBef>
                <a:spcAft>
                  <a:spcPct val="0"/>
                </a:spcAft>
              </a:pPr>
              <a:endParaRPr lang="zh-CN" altLang="en-US" sz="2400">
                <a:solidFill>
                  <a:schemeClr val="bg1"/>
                </a:solidFill>
              </a:endParaRPr>
            </a:p>
          </p:txBody>
        </p:sp>
        <p:sp>
          <p:nvSpPr>
            <p:cNvPr id="12" name="文本"/>
            <p:cNvSpPr txBox="1"/>
            <p:nvPr/>
          </p:nvSpPr>
          <p:spPr>
            <a:xfrm>
              <a:off x="3379596" y="3367846"/>
              <a:ext cx="953030" cy="845538"/>
            </a:xfrm>
            <a:prstGeom prst="rect">
              <a:avLst/>
            </a:prstGeom>
            <a:noFill/>
          </p:spPr>
          <p:txBody>
            <a:bodyPr wrap="square">
              <a:spAutoFit/>
            </a:bodyPr>
            <a:lstStyle>
              <a:defPPr>
                <a:defRPr lang="zh-CN"/>
              </a:defPPr>
              <a:lvl1pPr>
                <a:lnSpc>
                  <a:spcPts val="3000"/>
                </a:lnSpc>
                <a:defRPr sz="2500" b="1" spc="200">
                  <a:solidFill>
                    <a:schemeClr val="bg1"/>
                  </a:solidFill>
                  <a:latin typeface="微软雅黑" panose="020B0503020204020204" pitchFamily="34" charset="-122"/>
                  <a:ea typeface="微软雅黑" panose="020B0503020204020204" pitchFamily="34" charset="-122"/>
                </a:defRPr>
              </a:lvl1pPr>
            </a:lstStyle>
            <a:p>
              <a:pPr algn="ctr">
                <a:spcAft>
                  <a:spcPts val="0"/>
                </a:spcAft>
              </a:pPr>
              <a:r>
                <a:rPr lang="en-US" altLang="zh-CN" sz="2400" dirty="0">
                  <a:latin typeface="+mn-ea"/>
                  <a:ea typeface="+mn-ea"/>
                </a:rPr>
                <a:t>2</a:t>
              </a:r>
              <a:endParaRPr lang="zh-CN" altLang="en-US" sz="2400" dirty="0">
                <a:latin typeface="+mn-ea"/>
                <a:ea typeface="+mn-ea"/>
              </a:endParaRPr>
            </a:p>
          </p:txBody>
        </p:sp>
      </p:grpSp>
      <p:grpSp>
        <p:nvGrpSpPr>
          <p:cNvPr id="19" name="组合 1"/>
          <p:cNvGrpSpPr/>
          <p:nvPr/>
        </p:nvGrpSpPr>
        <p:grpSpPr>
          <a:xfrm>
            <a:off x="1795240" y="1434028"/>
            <a:ext cx="1030643" cy="1036238"/>
            <a:chOff x="2329192" y="1128127"/>
            <a:chExt cx="1832255" cy="1842200"/>
          </a:xfrm>
          <a:solidFill>
            <a:schemeClr val="bg2"/>
          </a:solidFill>
        </p:grpSpPr>
        <p:sp>
          <p:nvSpPr>
            <p:cNvPr id="20" name="图形"/>
            <p:cNvSpPr/>
            <p:nvPr/>
          </p:nvSpPr>
          <p:spPr bwMode="auto">
            <a:xfrm>
              <a:off x="2329192" y="1128127"/>
              <a:ext cx="1832255" cy="1842200"/>
            </a:xfrm>
            <a:custGeom>
              <a:avLst/>
              <a:gdLst>
                <a:gd name="T0" fmla="*/ 946 w 3906"/>
                <a:gd name="T1" fmla="*/ 0 h 3912"/>
                <a:gd name="T2" fmla="*/ 3906 w 3906"/>
                <a:gd name="T3" fmla="*/ 2964 h 3912"/>
                <a:gd name="T4" fmla="*/ 1613 w 3906"/>
                <a:gd name="T5" fmla="*/ 3912 h 3912"/>
                <a:gd name="T6" fmla="*/ 0 w 3906"/>
                <a:gd name="T7" fmla="*/ 2278 h 3912"/>
                <a:gd name="T8" fmla="*/ 946 w 3906"/>
                <a:gd name="T9" fmla="*/ 0 h 3912"/>
              </a:gdLst>
              <a:ahLst/>
              <a:cxnLst>
                <a:cxn ang="0">
                  <a:pos x="T0" y="T1"/>
                </a:cxn>
                <a:cxn ang="0">
                  <a:pos x="T2" y="T3"/>
                </a:cxn>
                <a:cxn ang="0">
                  <a:pos x="T4" y="T5"/>
                </a:cxn>
                <a:cxn ang="0">
                  <a:pos x="T6" y="T7"/>
                </a:cxn>
                <a:cxn ang="0">
                  <a:pos x="T8" y="T9"/>
                </a:cxn>
              </a:cxnLst>
              <a:rect l="0" t="0" r="r" b="b"/>
              <a:pathLst>
                <a:path w="3906" h="3912">
                  <a:moveTo>
                    <a:pt x="946" y="0"/>
                  </a:moveTo>
                  <a:cubicBezTo>
                    <a:pt x="2215" y="582"/>
                    <a:pt x="3286" y="1605"/>
                    <a:pt x="3906" y="2964"/>
                  </a:cubicBezTo>
                  <a:lnTo>
                    <a:pt x="1613" y="3912"/>
                  </a:lnTo>
                  <a:cubicBezTo>
                    <a:pt x="1257" y="3181"/>
                    <a:pt x="681" y="2620"/>
                    <a:pt x="0" y="2278"/>
                  </a:cubicBezTo>
                  <a:lnTo>
                    <a:pt x="946" y="0"/>
                  </a:lnTo>
                  <a:close/>
                </a:path>
              </a:pathLst>
            </a:custGeom>
            <a:solidFill>
              <a:schemeClr val="accent1"/>
            </a:solidFill>
            <a:ln w="4" cap="flat">
              <a:noFill/>
              <a:prstDash val="solid"/>
              <a:miter lim="800000"/>
            </a:ln>
          </p:spPr>
          <p:txBody>
            <a:bodyPr vert="horz" wrap="square" lIns="68580" tIns="34290" rIns="68580" bIns="34290" numCol="1" anchor="t" anchorCtr="0" compatLnSpc="1"/>
            <a:lstStyle/>
            <a:p>
              <a:pPr fontAlgn="base">
                <a:spcBef>
                  <a:spcPct val="0"/>
                </a:spcBef>
                <a:spcAft>
                  <a:spcPct val="0"/>
                </a:spcAft>
              </a:pPr>
              <a:endParaRPr lang="zh-CN" altLang="en-US" sz="2400">
                <a:solidFill>
                  <a:schemeClr val="bg1"/>
                </a:solidFill>
              </a:endParaRPr>
            </a:p>
          </p:txBody>
        </p:sp>
        <p:sp>
          <p:nvSpPr>
            <p:cNvPr id="21" name="文本"/>
            <p:cNvSpPr txBox="1"/>
            <p:nvPr/>
          </p:nvSpPr>
          <p:spPr>
            <a:xfrm rot="2685335">
              <a:off x="2441935" y="1698075"/>
              <a:ext cx="1464527" cy="845537"/>
            </a:xfrm>
            <a:prstGeom prst="rect">
              <a:avLst/>
            </a:prstGeom>
            <a:noFill/>
          </p:spPr>
          <p:txBody>
            <a:bodyPr wrap="square">
              <a:spAutoFit/>
            </a:bodyPr>
            <a:lstStyle>
              <a:defPPr>
                <a:defRPr lang="zh-CN"/>
              </a:defPPr>
              <a:lvl1pPr algn="ctr">
                <a:lnSpc>
                  <a:spcPts val="3000"/>
                </a:lnSpc>
                <a:defRPr sz="2300" b="1" spc="200">
                  <a:solidFill>
                    <a:schemeClr val="bg1"/>
                  </a:solidFill>
                  <a:latin typeface="+mn-ea"/>
                </a:defRPr>
              </a:lvl1pPr>
            </a:lstStyle>
            <a:p>
              <a:pPr>
                <a:spcAft>
                  <a:spcPts val="0"/>
                </a:spcAft>
              </a:pPr>
              <a:r>
                <a:rPr lang="en-US" altLang="zh-CN" sz="2400" dirty="0"/>
                <a:t>1</a:t>
              </a:r>
              <a:endParaRPr lang="en-US" altLang="zh-CN" sz="2400" dirty="0"/>
            </a:p>
          </p:txBody>
        </p:sp>
      </p:grpSp>
      <p:sp>
        <p:nvSpPr>
          <p:cNvPr id="14" name="圆"/>
          <p:cNvSpPr>
            <a:spLocks noChangeArrowheads="1"/>
          </p:cNvSpPr>
          <p:nvPr/>
        </p:nvSpPr>
        <p:spPr bwMode="auto">
          <a:xfrm>
            <a:off x="575808" y="2071712"/>
            <a:ext cx="1620000" cy="1620000"/>
          </a:xfrm>
          <a:prstGeom prst="ellipse">
            <a:avLst/>
          </a:prstGeom>
          <a:solidFill>
            <a:schemeClr val="accent2"/>
          </a:solidFill>
          <a:ln w="4" cap="flat">
            <a:noFill/>
            <a:prstDash val="solid"/>
            <a:miter lim="800000"/>
          </a:ln>
        </p:spPr>
        <p:txBody>
          <a:bodyPr vert="horz" wrap="square" lIns="68580" tIns="34290" rIns="68580" bIns="34290" numCol="1" anchor="t" anchorCtr="0" compatLnSpc="1"/>
          <a:lstStyle/>
          <a:p>
            <a:pPr fontAlgn="base">
              <a:spcBef>
                <a:spcPct val="0"/>
              </a:spcBef>
              <a:spcAft>
                <a:spcPct val="0"/>
              </a:spcAft>
            </a:pPr>
            <a:endParaRPr lang="zh-CN" altLang="en-US" sz="1600">
              <a:solidFill>
                <a:prstClr val="black"/>
              </a:solidFill>
            </a:endParaRPr>
          </a:p>
        </p:txBody>
      </p:sp>
      <p:sp>
        <p:nvSpPr>
          <p:cNvPr id="23" name="圆环"/>
          <p:cNvSpPr>
            <a:spLocks noChangeArrowheads="1"/>
          </p:cNvSpPr>
          <p:nvPr/>
        </p:nvSpPr>
        <p:spPr bwMode="auto">
          <a:xfrm>
            <a:off x="659846" y="2155426"/>
            <a:ext cx="1451925" cy="1452573"/>
          </a:xfrm>
          <a:prstGeom prst="ellipse">
            <a:avLst/>
          </a:prstGeom>
          <a:noFill/>
          <a:ln>
            <a:solidFill>
              <a:srgbClr val="F8F8F8"/>
            </a:solidFill>
            <a:prstDash val="dash"/>
          </a:ln>
        </p:spPr>
        <p:txBody>
          <a:bodyPr vert="horz" wrap="square" lIns="51415" tIns="25708" rIns="51415" bIns="25708" numCol="1" anchor="t" anchorCtr="0" compatLnSpc="1"/>
          <a:lstStyle/>
          <a:p>
            <a:pPr fontAlgn="base">
              <a:spcBef>
                <a:spcPct val="0"/>
              </a:spcBef>
              <a:spcAft>
                <a:spcPct val="0"/>
              </a:spcAft>
              <a:buFont typeface="Arial" panose="020B0604020202020204" pitchFamily="34" charset="0"/>
              <a:buNone/>
            </a:pPr>
            <a:endParaRPr lang="zh-CN" altLang="en-US" sz="1015" dirty="0">
              <a:solidFill>
                <a:schemeClr val="bg1"/>
              </a:solidFill>
            </a:endParaRPr>
          </a:p>
        </p:txBody>
      </p:sp>
      <p:sp>
        <p:nvSpPr>
          <p:cNvPr id="22" name="图标"/>
          <p:cNvSpPr>
            <a:spLocks noEditPoints="1"/>
          </p:cNvSpPr>
          <p:nvPr/>
        </p:nvSpPr>
        <p:spPr bwMode="auto">
          <a:xfrm>
            <a:off x="1134764" y="2363093"/>
            <a:ext cx="495877" cy="544176"/>
          </a:xfrm>
          <a:custGeom>
            <a:avLst/>
            <a:gdLst>
              <a:gd name="T0" fmla="*/ 375935 w 835"/>
              <a:gd name="T1" fmla="*/ 512026 h 918"/>
              <a:gd name="T2" fmla="*/ 124141 w 835"/>
              <a:gd name="T3" fmla="*/ 512026 h 918"/>
              <a:gd name="T4" fmla="*/ 112429 w 835"/>
              <a:gd name="T5" fmla="*/ 524300 h 918"/>
              <a:gd name="T6" fmla="*/ 124141 w 835"/>
              <a:gd name="T7" fmla="*/ 536575 h 918"/>
              <a:gd name="T8" fmla="*/ 375935 w 835"/>
              <a:gd name="T9" fmla="*/ 536575 h 918"/>
              <a:gd name="T10" fmla="*/ 388232 w 835"/>
              <a:gd name="T11" fmla="*/ 524300 h 918"/>
              <a:gd name="T12" fmla="*/ 375935 w 835"/>
              <a:gd name="T13" fmla="*/ 512026 h 918"/>
              <a:gd name="T14" fmla="*/ 99547 w 835"/>
              <a:gd name="T15" fmla="*/ 227372 h 918"/>
              <a:gd name="T16" fmla="*/ 265848 w 835"/>
              <a:gd name="T17" fmla="*/ 149049 h 918"/>
              <a:gd name="T18" fmla="*/ 169815 w 835"/>
              <a:gd name="T19" fmla="*/ 341935 h 918"/>
              <a:gd name="T20" fmla="*/ 99547 w 835"/>
              <a:gd name="T21" fmla="*/ 227372 h 918"/>
              <a:gd name="T22" fmla="*/ 417511 w 835"/>
              <a:gd name="T23" fmla="*/ 0 h 918"/>
              <a:gd name="T24" fmla="*/ 0 w 835"/>
              <a:gd name="T25" fmla="*/ 197562 h 918"/>
              <a:gd name="T26" fmla="*/ 176256 w 835"/>
              <a:gd name="T27" fmla="*/ 485723 h 918"/>
              <a:gd name="T28" fmla="*/ 417511 w 835"/>
              <a:gd name="T29" fmla="*/ 0 h 918"/>
              <a:gd name="T30" fmla="*/ 478995 w 835"/>
              <a:gd name="T31" fmla="*/ 291668 h 918"/>
              <a:gd name="T32" fmla="*/ 435078 w 835"/>
              <a:gd name="T33" fmla="*/ 247830 h 918"/>
              <a:gd name="T34" fmla="*/ 421024 w 835"/>
              <a:gd name="T35" fmla="*/ 240816 h 918"/>
              <a:gd name="T36" fmla="*/ 404628 w 835"/>
              <a:gd name="T37" fmla="*/ 245492 h 918"/>
              <a:gd name="T38" fmla="*/ 381205 w 835"/>
              <a:gd name="T39" fmla="*/ 268872 h 918"/>
              <a:gd name="T40" fmla="*/ 457915 w 835"/>
              <a:gd name="T41" fmla="*/ 345442 h 918"/>
              <a:gd name="T42" fmla="*/ 481338 w 835"/>
              <a:gd name="T43" fmla="*/ 322062 h 918"/>
              <a:gd name="T44" fmla="*/ 478995 w 835"/>
              <a:gd name="T45" fmla="*/ 291668 h 918"/>
              <a:gd name="T46" fmla="*/ 261164 w 835"/>
              <a:gd name="T47" fmla="*/ 460005 h 918"/>
              <a:gd name="T48" fmla="*/ 266434 w 835"/>
              <a:gd name="T49" fmla="*/ 444808 h 918"/>
              <a:gd name="T50" fmla="*/ 274046 w 835"/>
              <a:gd name="T51" fmla="*/ 421428 h 918"/>
              <a:gd name="T52" fmla="*/ 289857 w 835"/>
              <a:gd name="T53" fmla="*/ 436625 h 918"/>
              <a:gd name="T54" fmla="*/ 305667 w 835"/>
              <a:gd name="T55" fmla="*/ 452406 h 918"/>
              <a:gd name="T56" fmla="*/ 282244 w 835"/>
              <a:gd name="T57" fmla="*/ 460589 h 918"/>
              <a:gd name="T58" fmla="*/ 267019 w 835"/>
              <a:gd name="T59" fmla="*/ 465265 h 918"/>
              <a:gd name="T60" fmla="*/ 261164 w 835"/>
              <a:gd name="T61" fmla="*/ 465850 h 918"/>
              <a:gd name="T62" fmla="*/ 261164 w 835"/>
              <a:gd name="T63" fmla="*/ 460005 h 918"/>
              <a:gd name="T64" fmla="*/ 242426 w 835"/>
              <a:gd name="T65" fmla="*/ 452991 h 918"/>
              <a:gd name="T66" fmla="*/ 247110 w 835"/>
              <a:gd name="T67" fmla="*/ 479294 h 918"/>
              <a:gd name="T68" fmla="*/ 274046 w 835"/>
              <a:gd name="T69" fmla="*/ 483970 h 918"/>
              <a:gd name="T70" fmla="*/ 288100 w 835"/>
              <a:gd name="T71" fmla="*/ 479294 h 918"/>
              <a:gd name="T72" fmla="*/ 312108 w 835"/>
              <a:gd name="T73" fmla="*/ 471695 h 918"/>
              <a:gd name="T74" fmla="*/ 341972 w 835"/>
              <a:gd name="T75" fmla="*/ 461174 h 918"/>
              <a:gd name="T76" fmla="*/ 319721 w 835"/>
              <a:gd name="T77" fmla="*/ 438963 h 918"/>
              <a:gd name="T78" fmla="*/ 303910 w 835"/>
              <a:gd name="T79" fmla="*/ 423181 h 918"/>
              <a:gd name="T80" fmla="*/ 288100 w 835"/>
              <a:gd name="T81" fmla="*/ 407400 h 918"/>
              <a:gd name="T82" fmla="*/ 265263 w 835"/>
              <a:gd name="T83" fmla="*/ 384604 h 918"/>
              <a:gd name="T84" fmla="*/ 255308 w 835"/>
              <a:gd name="T85" fmla="*/ 414998 h 918"/>
              <a:gd name="T86" fmla="*/ 247696 w 835"/>
              <a:gd name="T87" fmla="*/ 438378 h 918"/>
              <a:gd name="T88" fmla="*/ 242426 w 835"/>
              <a:gd name="T89" fmla="*/ 452991 h 918"/>
              <a:gd name="T90" fmla="*/ 389403 w 835"/>
              <a:gd name="T91" fmla="*/ 288161 h 918"/>
              <a:gd name="T92" fmla="*/ 375935 w 835"/>
              <a:gd name="T93" fmla="*/ 274133 h 918"/>
              <a:gd name="T94" fmla="*/ 361882 w 835"/>
              <a:gd name="T95" fmla="*/ 288161 h 918"/>
              <a:gd name="T96" fmla="*/ 285172 w 835"/>
              <a:gd name="T97" fmla="*/ 364731 h 918"/>
              <a:gd name="T98" fmla="*/ 271704 w 835"/>
              <a:gd name="T99" fmla="*/ 378174 h 918"/>
              <a:gd name="T100" fmla="*/ 285172 w 835"/>
              <a:gd name="T101" fmla="*/ 392202 h 918"/>
              <a:gd name="T102" fmla="*/ 334360 w 835"/>
              <a:gd name="T103" fmla="*/ 441301 h 918"/>
              <a:gd name="T104" fmla="*/ 348413 w 835"/>
              <a:gd name="T105" fmla="*/ 455329 h 918"/>
              <a:gd name="T106" fmla="*/ 362467 w 835"/>
              <a:gd name="T107" fmla="*/ 441301 h 918"/>
              <a:gd name="T108" fmla="*/ 438591 w 835"/>
              <a:gd name="T109" fmla="*/ 364731 h 918"/>
              <a:gd name="T110" fmla="*/ 452645 w 835"/>
              <a:gd name="T111" fmla="*/ 351287 h 918"/>
              <a:gd name="T112" fmla="*/ 438591 w 835"/>
              <a:gd name="T113" fmla="*/ 337259 h 918"/>
              <a:gd name="T114" fmla="*/ 389403 w 835"/>
              <a:gd name="T115" fmla="*/ 288161 h 9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835" h="918">
                <a:moveTo>
                  <a:pt x="642" y="876"/>
                </a:moveTo>
                <a:lnTo>
                  <a:pt x="212" y="876"/>
                </a:lnTo>
                <a:cubicBezTo>
                  <a:pt x="201" y="876"/>
                  <a:pt x="192" y="886"/>
                  <a:pt x="192" y="897"/>
                </a:cubicBezTo>
                <a:cubicBezTo>
                  <a:pt x="192" y="909"/>
                  <a:pt x="201" y="918"/>
                  <a:pt x="212" y="918"/>
                </a:cubicBezTo>
                <a:lnTo>
                  <a:pt x="642" y="918"/>
                </a:lnTo>
                <a:cubicBezTo>
                  <a:pt x="653" y="918"/>
                  <a:pt x="663" y="909"/>
                  <a:pt x="663" y="897"/>
                </a:cubicBezTo>
                <a:cubicBezTo>
                  <a:pt x="663" y="886"/>
                  <a:pt x="653" y="876"/>
                  <a:pt x="642" y="876"/>
                </a:cubicBezTo>
                <a:close/>
                <a:moveTo>
                  <a:pt x="170" y="389"/>
                </a:moveTo>
                <a:lnTo>
                  <a:pt x="454" y="255"/>
                </a:lnTo>
                <a:lnTo>
                  <a:pt x="290" y="585"/>
                </a:lnTo>
                <a:lnTo>
                  <a:pt x="170" y="389"/>
                </a:lnTo>
                <a:close/>
                <a:moveTo>
                  <a:pt x="713" y="0"/>
                </a:moveTo>
                <a:lnTo>
                  <a:pt x="0" y="338"/>
                </a:lnTo>
                <a:lnTo>
                  <a:pt x="301" y="831"/>
                </a:lnTo>
                <a:lnTo>
                  <a:pt x="713" y="0"/>
                </a:lnTo>
                <a:close/>
                <a:moveTo>
                  <a:pt x="818" y="499"/>
                </a:moveTo>
                <a:lnTo>
                  <a:pt x="743" y="424"/>
                </a:lnTo>
                <a:cubicBezTo>
                  <a:pt x="736" y="417"/>
                  <a:pt x="727" y="413"/>
                  <a:pt x="719" y="412"/>
                </a:cubicBezTo>
                <a:cubicBezTo>
                  <a:pt x="708" y="410"/>
                  <a:pt x="698" y="413"/>
                  <a:pt x="691" y="420"/>
                </a:cubicBezTo>
                <a:lnTo>
                  <a:pt x="651" y="460"/>
                </a:lnTo>
                <a:lnTo>
                  <a:pt x="782" y="591"/>
                </a:lnTo>
                <a:lnTo>
                  <a:pt x="822" y="551"/>
                </a:lnTo>
                <a:cubicBezTo>
                  <a:pt x="835" y="538"/>
                  <a:pt x="834" y="515"/>
                  <a:pt x="818" y="499"/>
                </a:cubicBezTo>
                <a:close/>
                <a:moveTo>
                  <a:pt x="446" y="787"/>
                </a:moveTo>
                <a:lnTo>
                  <a:pt x="455" y="761"/>
                </a:lnTo>
                <a:lnTo>
                  <a:pt x="468" y="721"/>
                </a:lnTo>
                <a:lnTo>
                  <a:pt x="495" y="747"/>
                </a:lnTo>
                <a:lnTo>
                  <a:pt x="522" y="774"/>
                </a:lnTo>
                <a:lnTo>
                  <a:pt x="482" y="788"/>
                </a:lnTo>
                <a:lnTo>
                  <a:pt x="456" y="796"/>
                </a:lnTo>
                <a:cubicBezTo>
                  <a:pt x="451" y="798"/>
                  <a:pt x="448" y="799"/>
                  <a:pt x="446" y="797"/>
                </a:cubicBezTo>
                <a:cubicBezTo>
                  <a:pt x="444" y="795"/>
                  <a:pt x="444" y="791"/>
                  <a:pt x="446" y="787"/>
                </a:cubicBezTo>
                <a:close/>
                <a:moveTo>
                  <a:pt x="414" y="775"/>
                </a:moveTo>
                <a:cubicBezTo>
                  <a:pt x="408" y="792"/>
                  <a:pt x="411" y="809"/>
                  <a:pt x="422" y="820"/>
                </a:cubicBezTo>
                <a:cubicBezTo>
                  <a:pt x="434" y="832"/>
                  <a:pt x="451" y="835"/>
                  <a:pt x="468" y="828"/>
                </a:cubicBezTo>
                <a:lnTo>
                  <a:pt x="492" y="820"/>
                </a:lnTo>
                <a:lnTo>
                  <a:pt x="533" y="807"/>
                </a:lnTo>
                <a:lnTo>
                  <a:pt x="584" y="789"/>
                </a:lnTo>
                <a:lnTo>
                  <a:pt x="546" y="751"/>
                </a:lnTo>
                <a:lnTo>
                  <a:pt x="519" y="724"/>
                </a:lnTo>
                <a:lnTo>
                  <a:pt x="492" y="697"/>
                </a:lnTo>
                <a:lnTo>
                  <a:pt x="453" y="658"/>
                </a:lnTo>
                <a:lnTo>
                  <a:pt x="436" y="710"/>
                </a:lnTo>
                <a:lnTo>
                  <a:pt x="423" y="750"/>
                </a:lnTo>
                <a:lnTo>
                  <a:pt x="414" y="775"/>
                </a:lnTo>
                <a:close/>
                <a:moveTo>
                  <a:pt x="665" y="493"/>
                </a:moveTo>
                <a:lnTo>
                  <a:pt x="642" y="469"/>
                </a:lnTo>
                <a:lnTo>
                  <a:pt x="618" y="493"/>
                </a:lnTo>
                <a:lnTo>
                  <a:pt x="487" y="624"/>
                </a:lnTo>
                <a:lnTo>
                  <a:pt x="464" y="647"/>
                </a:lnTo>
                <a:lnTo>
                  <a:pt x="487" y="671"/>
                </a:lnTo>
                <a:lnTo>
                  <a:pt x="571" y="755"/>
                </a:lnTo>
                <a:lnTo>
                  <a:pt x="595" y="779"/>
                </a:lnTo>
                <a:lnTo>
                  <a:pt x="619" y="755"/>
                </a:lnTo>
                <a:lnTo>
                  <a:pt x="749" y="624"/>
                </a:lnTo>
                <a:lnTo>
                  <a:pt x="773" y="601"/>
                </a:lnTo>
                <a:lnTo>
                  <a:pt x="749" y="577"/>
                </a:lnTo>
                <a:lnTo>
                  <a:pt x="665" y="493"/>
                </a:lnTo>
                <a:close/>
              </a:path>
            </a:pathLst>
          </a:custGeom>
          <a:solidFill>
            <a:schemeClr val="bg1"/>
          </a:solidFill>
          <a:ln>
            <a:noFill/>
          </a:ln>
        </p:spPr>
        <p:txBody>
          <a:bodyPr/>
          <a:lstStyle/>
          <a:p>
            <a:pPr eaLnBrk="0" fontAlgn="base" hangingPunct="0">
              <a:spcBef>
                <a:spcPct val="0"/>
              </a:spcBef>
              <a:spcAft>
                <a:spcPct val="0"/>
              </a:spcAft>
            </a:pPr>
            <a:endParaRPr lang="zh-CN" altLang="en-US" sz="1015">
              <a:solidFill>
                <a:prstClr val="black"/>
              </a:solidFill>
            </a:endParaRPr>
          </a:p>
        </p:txBody>
      </p:sp>
      <p:sp>
        <p:nvSpPr>
          <p:cNvPr id="24" name="文本"/>
          <p:cNvSpPr/>
          <p:nvPr/>
        </p:nvSpPr>
        <p:spPr>
          <a:xfrm>
            <a:off x="915027" y="3028747"/>
            <a:ext cx="935355" cy="368300"/>
          </a:xfrm>
          <a:prstGeom prst="rect">
            <a:avLst/>
          </a:prstGeom>
        </p:spPr>
        <p:txBody>
          <a:bodyPr wrap="none">
            <a:spAutoFit/>
          </a:bodyPr>
          <a:lstStyle/>
          <a:p>
            <a:pPr algn="ctr">
              <a:spcAft>
                <a:spcPts val="0"/>
              </a:spcAft>
            </a:pPr>
            <a:r>
              <a:rPr lang="zh-CN" altLang="en-US" b="1" spc="169" dirty="0">
                <a:solidFill>
                  <a:schemeClr val="bg1"/>
                </a:solidFill>
              </a:rPr>
              <a:t>用例图</a:t>
            </a:r>
            <a:endParaRPr lang="zh-CN" altLang="en-US" spc="169" dirty="0">
              <a:solidFill>
                <a:schemeClr val="bg1"/>
              </a:solidFill>
            </a:endParaRPr>
          </a:p>
        </p:txBody>
      </p:sp>
      <p:sp>
        <p:nvSpPr>
          <p:cNvPr id="25" name="文本"/>
          <p:cNvSpPr/>
          <p:nvPr/>
        </p:nvSpPr>
        <p:spPr>
          <a:xfrm>
            <a:off x="3582674" y="1016022"/>
            <a:ext cx="5275576" cy="1476375"/>
          </a:xfrm>
          <a:prstGeom prst="rect">
            <a:avLst/>
          </a:prstGeom>
          <a:noFill/>
        </p:spPr>
        <p:txBody>
          <a:bodyPr wrap="square" rtlCol="0">
            <a:spAutoFit/>
          </a:bodyPr>
          <a:lstStyle/>
          <a:p>
            <a:pPr>
              <a:lnSpc>
                <a:spcPct val="150000"/>
              </a:lnSpc>
              <a:spcAft>
                <a:spcPts val="0"/>
              </a:spcAft>
            </a:pPr>
            <a:r>
              <a:rPr lang="zh-CN" altLang="en-US" sz="2000" spc="85" dirty="0">
                <a:solidFill>
                  <a:schemeClr val="tx1">
                    <a:lumMod val="95000"/>
                    <a:lumOff val="5000"/>
                  </a:schemeClr>
                </a:solidFill>
                <a:latin typeface="+mj-ea"/>
                <a:ea typeface="+mj-ea"/>
              </a:rPr>
              <a:t>用例图是从用户的角度来描述对软件产品的需求，分析产品的功能和行为。因此，对整个软件开发过程而言，用例图是至关重要的。</a:t>
            </a:r>
            <a:endParaRPr lang="zh-CN" altLang="en-US" sz="2000" spc="85" dirty="0">
              <a:solidFill>
                <a:schemeClr val="tx1">
                  <a:lumMod val="95000"/>
                  <a:lumOff val="5000"/>
                </a:schemeClr>
              </a:solidFill>
              <a:latin typeface="+mj-ea"/>
              <a:ea typeface="+mj-ea"/>
            </a:endParaRPr>
          </a:p>
        </p:txBody>
      </p:sp>
      <p:sp>
        <p:nvSpPr>
          <p:cNvPr id="26" name="文本"/>
          <p:cNvSpPr/>
          <p:nvPr/>
        </p:nvSpPr>
        <p:spPr>
          <a:xfrm>
            <a:off x="3582674" y="2546148"/>
            <a:ext cx="5275576" cy="1014730"/>
          </a:xfrm>
          <a:prstGeom prst="rect">
            <a:avLst/>
          </a:prstGeom>
          <a:noFill/>
        </p:spPr>
        <p:txBody>
          <a:bodyPr wrap="square" rtlCol="0">
            <a:spAutoFit/>
          </a:bodyPr>
          <a:lstStyle/>
          <a:p>
            <a:pPr>
              <a:lnSpc>
                <a:spcPct val="150000"/>
              </a:lnSpc>
              <a:spcAft>
                <a:spcPts val="0"/>
              </a:spcAft>
            </a:pPr>
            <a:r>
              <a:rPr lang="zh-CN" altLang="en-US" sz="2000" spc="85" dirty="0">
                <a:solidFill>
                  <a:schemeClr val="tx1">
                    <a:lumMod val="95000"/>
                    <a:lumOff val="5000"/>
                  </a:schemeClr>
                </a:solidFill>
                <a:latin typeface="+mj-ea"/>
                <a:ea typeface="+mj-ea"/>
              </a:rPr>
              <a:t>用例图定义和描述了系统的外部可见行为，是分析、设计直至组装测试的重要依据。</a:t>
            </a:r>
            <a:endParaRPr lang="zh-CN" altLang="en-US" sz="2000" spc="85" dirty="0">
              <a:solidFill>
                <a:schemeClr val="tx1">
                  <a:lumMod val="95000"/>
                  <a:lumOff val="5000"/>
                </a:schemeClr>
              </a:solidFill>
              <a:latin typeface="+mj-ea"/>
              <a:ea typeface="+mj-ea"/>
            </a:endParaRPr>
          </a:p>
        </p:txBody>
      </p:sp>
      <p:sp>
        <p:nvSpPr>
          <p:cNvPr id="27" name="文本"/>
          <p:cNvSpPr/>
          <p:nvPr/>
        </p:nvSpPr>
        <p:spPr>
          <a:xfrm>
            <a:off x="3582675" y="3726833"/>
            <a:ext cx="5275575" cy="553085"/>
          </a:xfrm>
          <a:prstGeom prst="rect">
            <a:avLst/>
          </a:prstGeom>
          <a:noFill/>
        </p:spPr>
        <p:txBody>
          <a:bodyPr wrap="square" rtlCol="0">
            <a:spAutoFit/>
          </a:bodyPr>
          <a:lstStyle/>
          <a:p>
            <a:pPr>
              <a:lnSpc>
                <a:spcPct val="150000"/>
              </a:lnSpc>
              <a:spcAft>
                <a:spcPts val="0"/>
              </a:spcAft>
            </a:pPr>
            <a:r>
              <a:rPr lang="zh-CN" altLang="en-US" sz="2000" spc="85" dirty="0">
                <a:solidFill>
                  <a:schemeClr val="tx1">
                    <a:lumMod val="95000"/>
                    <a:lumOff val="5000"/>
                  </a:schemeClr>
                </a:solidFill>
                <a:latin typeface="+mj-ea"/>
                <a:ea typeface="+mj-ea"/>
              </a:rPr>
              <a:t>让用户参与前期的系统分析与设计。</a:t>
            </a:r>
            <a:endParaRPr lang="zh-CN" altLang="en-US" sz="2000" spc="85" dirty="0">
              <a:solidFill>
                <a:schemeClr val="tx1">
                  <a:lumMod val="95000"/>
                  <a:lumOff val="5000"/>
                </a:schemeClr>
              </a:solidFill>
              <a:latin typeface="+mj-ea"/>
              <a:ea typeface="+mj-ea"/>
            </a:endParaRPr>
          </a:p>
        </p:txBody>
      </p:sp>
      <p:sp>
        <p:nvSpPr>
          <p:cNvPr id="28" name="标题 27"/>
          <p:cNvSpPr>
            <a:spLocks noGrp="1"/>
          </p:cNvSpPr>
          <p:nvPr>
            <p:ph type="title"/>
          </p:nvPr>
        </p:nvSpPr>
        <p:spPr/>
        <p:txBody>
          <a:bodyPr/>
          <a:lstStyle/>
          <a:p>
            <a:pPr>
              <a:spcAft>
                <a:spcPts val="0"/>
              </a:spcAft>
            </a:pPr>
            <a:r>
              <a:rPr lang="zh-CN" altLang="en-US" dirty="0">
                <a:latin typeface="+mj-ea"/>
              </a:rPr>
              <a:t>用例图的作用</a:t>
            </a:r>
            <a:endParaRPr lang="zh-CN" altLang="en-US" dirty="0"/>
          </a:p>
        </p:txBody>
      </p:sp>
      <p:sp>
        <p:nvSpPr>
          <p:cNvPr id="4" name="日期占位符 3"/>
          <p:cNvSpPr>
            <a:spLocks noGrp="1"/>
          </p:cNvSpPr>
          <p:nvPr>
            <p:ph type="dt" sz="half" idx="10"/>
          </p:nvPr>
        </p:nvSpPr>
        <p:spPr/>
        <p:txBody>
          <a:bodyPr/>
          <a:lstStyle/>
          <a:p>
            <a:pPr>
              <a:spcAft>
                <a:spcPts val="0"/>
              </a:spcAft>
            </a:pPr>
            <a:fld id="{6605A130-FFDB-4496-824B-4C499F6B39EF}"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par>
                          <p:cTn id="10" fill="hold">
                            <p:stCondLst>
                              <p:cond delay="500"/>
                            </p:stCondLst>
                            <p:childTnLst>
                              <p:par>
                                <p:cTn id="11" presetID="31" presetClass="entr" presetSubtype="0" fill="hold" grpId="0"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p:cTn id="13" dur="500" fill="hold"/>
                                        <p:tgtEl>
                                          <p:spTgt spid="23"/>
                                        </p:tgtEl>
                                        <p:attrNameLst>
                                          <p:attrName>ppt_w</p:attrName>
                                        </p:attrNameLst>
                                      </p:cBhvr>
                                      <p:tavLst>
                                        <p:tav tm="0">
                                          <p:val>
                                            <p:fltVal val="0"/>
                                          </p:val>
                                        </p:tav>
                                        <p:tav tm="100000">
                                          <p:val>
                                            <p:strVal val="#ppt_w"/>
                                          </p:val>
                                        </p:tav>
                                      </p:tavLst>
                                    </p:anim>
                                    <p:anim calcmode="lin" valueType="num">
                                      <p:cBhvr>
                                        <p:cTn id="14" dur="500" fill="hold"/>
                                        <p:tgtEl>
                                          <p:spTgt spid="23"/>
                                        </p:tgtEl>
                                        <p:attrNameLst>
                                          <p:attrName>ppt_h</p:attrName>
                                        </p:attrNameLst>
                                      </p:cBhvr>
                                      <p:tavLst>
                                        <p:tav tm="0">
                                          <p:val>
                                            <p:fltVal val="0"/>
                                          </p:val>
                                        </p:tav>
                                        <p:tav tm="100000">
                                          <p:val>
                                            <p:strVal val="#ppt_h"/>
                                          </p:val>
                                        </p:tav>
                                      </p:tavLst>
                                    </p:anim>
                                    <p:anim calcmode="lin" valueType="num">
                                      <p:cBhvr>
                                        <p:cTn id="15" dur="500" fill="hold"/>
                                        <p:tgtEl>
                                          <p:spTgt spid="23"/>
                                        </p:tgtEl>
                                        <p:attrNameLst>
                                          <p:attrName>style.rotation</p:attrName>
                                        </p:attrNameLst>
                                      </p:cBhvr>
                                      <p:tavLst>
                                        <p:tav tm="0">
                                          <p:val>
                                            <p:fltVal val="90"/>
                                          </p:val>
                                        </p:tav>
                                        <p:tav tm="100000">
                                          <p:val>
                                            <p:fltVal val="0"/>
                                          </p:val>
                                        </p:tav>
                                      </p:tavLst>
                                    </p:anim>
                                    <p:animEffect transition="in" filter="fade">
                                      <p:cBhvr>
                                        <p:cTn id="16" dur="500"/>
                                        <p:tgtEl>
                                          <p:spTgt spid="23"/>
                                        </p:tgtEl>
                                      </p:cBhvr>
                                    </p:animEffect>
                                  </p:childTnLst>
                                </p:cTn>
                              </p:par>
                            </p:childTnLst>
                          </p:cTn>
                        </p:par>
                        <p:par>
                          <p:cTn id="17" fill="hold">
                            <p:stCondLst>
                              <p:cond delay="1000"/>
                            </p:stCondLst>
                            <p:childTnLst>
                              <p:par>
                                <p:cTn id="18" presetID="42" presetClass="entr" presetSubtype="0" fill="hold" grpId="0"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anim calcmode="lin" valueType="num">
                                      <p:cBhvr>
                                        <p:cTn id="21" dur="500" fill="hold"/>
                                        <p:tgtEl>
                                          <p:spTgt spid="22"/>
                                        </p:tgtEl>
                                        <p:attrNameLst>
                                          <p:attrName>ppt_x</p:attrName>
                                        </p:attrNameLst>
                                      </p:cBhvr>
                                      <p:tavLst>
                                        <p:tav tm="0">
                                          <p:val>
                                            <p:strVal val="#ppt_x"/>
                                          </p:val>
                                        </p:tav>
                                        <p:tav tm="100000">
                                          <p:val>
                                            <p:strVal val="#ppt_x"/>
                                          </p:val>
                                        </p:tav>
                                      </p:tavLst>
                                    </p:anim>
                                    <p:anim calcmode="lin" valueType="num">
                                      <p:cBhvr>
                                        <p:cTn id="22" dur="500" fill="hold"/>
                                        <p:tgtEl>
                                          <p:spTgt spid="22"/>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16" presetClass="entr" presetSubtype="37" fill="hold" grpId="0"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barn(outVertical)">
                                      <p:cBhvr>
                                        <p:cTn id="26" dur="500"/>
                                        <p:tgtEl>
                                          <p:spTgt spid="24"/>
                                        </p:tgtEl>
                                      </p:cBhvr>
                                    </p:animEffect>
                                  </p:childTnLst>
                                </p:cTn>
                              </p:par>
                            </p:childTnLst>
                          </p:cTn>
                        </p:par>
                        <p:par>
                          <p:cTn id="27" fill="hold">
                            <p:stCondLst>
                              <p:cond delay="2000"/>
                            </p:stCondLst>
                            <p:childTnLst>
                              <p:par>
                                <p:cTn id="28" presetID="23" presetClass="entr" presetSubtype="16" fill="hold" nodeType="after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p:cTn id="30" dur="500" fill="hold"/>
                                        <p:tgtEl>
                                          <p:spTgt spid="19"/>
                                        </p:tgtEl>
                                        <p:attrNameLst>
                                          <p:attrName>ppt_w</p:attrName>
                                        </p:attrNameLst>
                                      </p:cBhvr>
                                      <p:tavLst>
                                        <p:tav tm="0">
                                          <p:val>
                                            <p:fltVal val="0"/>
                                          </p:val>
                                        </p:tav>
                                        <p:tav tm="100000">
                                          <p:val>
                                            <p:strVal val="#ppt_w"/>
                                          </p:val>
                                        </p:tav>
                                      </p:tavLst>
                                    </p:anim>
                                    <p:anim calcmode="lin" valueType="num">
                                      <p:cBhvr>
                                        <p:cTn id="31" dur="500" fill="hold"/>
                                        <p:tgtEl>
                                          <p:spTgt spid="19"/>
                                        </p:tgtEl>
                                        <p:attrNameLst>
                                          <p:attrName>ppt_h</p:attrName>
                                        </p:attrNameLst>
                                      </p:cBhvr>
                                      <p:tavLst>
                                        <p:tav tm="0">
                                          <p:val>
                                            <p:fltVal val="0"/>
                                          </p:val>
                                        </p:tav>
                                        <p:tav tm="100000">
                                          <p:val>
                                            <p:strVal val="#ppt_h"/>
                                          </p:val>
                                        </p:tav>
                                      </p:tavLst>
                                    </p:anim>
                                  </p:childTnLst>
                                </p:cTn>
                              </p:par>
                            </p:childTnLst>
                          </p:cTn>
                        </p:par>
                        <p:par>
                          <p:cTn id="32" fill="hold">
                            <p:stCondLst>
                              <p:cond delay="2500"/>
                            </p:stCondLst>
                            <p:childTnLst>
                              <p:par>
                                <p:cTn id="33" presetID="22" presetClass="entr" presetSubtype="8"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par>
                          <p:cTn id="36" fill="hold">
                            <p:stCondLst>
                              <p:cond delay="3000"/>
                            </p:stCondLst>
                            <p:childTnLst>
                              <p:par>
                                <p:cTn id="37" presetID="22" presetClass="entr" presetSubtype="8"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left)">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16"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left)">
                                      <p:cBhvr>
                                        <p:cTn id="49" dur="500"/>
                                        <p:tgtEl>
                                          <p:spTgt spid="8"/>
                                        </p:tgtEl>
                                      </p:cBhvr>
                                    </p:animEffect>
                                  </p:childTnLst>
                                </p:cTn>
                              </p:par>
                            </p:childTnLst>
                          </p:cTn>
                        </p:par>
                        <p:par>
                          <p:cTn id="50" fill="hold">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left)">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23" presetClass="entr" presetSubtype="16"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p:cTn id="58" dur="500" fill="hold"/>
                                        <p:tgtEl>
                                          <p:spTgt spid="16"/>
                                        </p:tgtEl>
                                        <p:attrNameLst>
                                          <p:attrName>ppt_w</p:attrName>
                                        </p:attrNameLst>
                                      </p:cBhvr>
                                      <p:tavLst>
                                        <p:tav tm="0">
                                          <p:val>
                                            <p:fltVal val="0"/>
                                          </p:val>
                                        </p:tav>
                                        <p:tav tm="100000">
                                          <p:val>
                                            <p:strVal val="#ppt_w"/>
                                          </p:val>
                                        </p:tav>
                                      </p:tavLst>
                                    </p:anim>
                                    <p:anim calcmode="lin" valueType="num">
                                      <p:cBhvr>
                                        <p:cTn id="59" dur="500" fill="hold"/>
                                        <p:tgtEl>
                                          <p:spTgt spid="16"/>
                                        </p:tgtEl>
                                        <p:attrNameLst>
                                          <p:attrName>ppt_h</p:attrName>
                                        </p:attrNameLst>
                                      </p:cBhvr>
                                      <p:tavLst>
                                        <p:tav tm="0">
                                          <p:val>
                                            <p:fltVal val="0"/>
                                          </p:val>
                                        </p:tav>
                                        <p:tav tm="100000">
                                          <p:val>
                                            <p:strVal val="#ppt_h"/>
                                          </p:val>
                                        </p:tav>
                                      </p:tavLst>
                                    </p:anim>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wipe(left)">
                                      <p:cBhvr>
                                        <p:cTn id="63" dur="500"/>
                                        <p:tgtEl>
                                          <p:spTgt spid="9"/>
                                        </p:tgtEl>
                                      </p:cBhvr>
                                    </p:animEffect>
                                  </p:childTnLst>
                                </p:cTn>
                              </p:par>
                            </p:childTnLst>
                          </p:cTn>
                        </p:par>
                        <p:par>
                          <p:cTn id="64" fill="hold">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left)">
                                      <p:cBhvr>
                                        <p:cTn id="6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3" grpId="0" animBg="1"/>
      <p:bldP spid="22" grpId="0" animBg="1"/>
      <p:bldP spid="24" grpId="0"/>
      <p:bldP spid="25" grpId="0"/>
      <p:bldP spid="26" grpId="0"/>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468782" y="1220733"/>
            <a:ext cx="6245194" cy="1674019"/>
            <a:chOff x="1517650" y="1959724"/>
            <a:chExt cx="5932488" cy="2232026"/>
          </a:xfrm>
        </p:grpSpPr>
        <p:grpSp>
          <p:nvGrpSpPr>
            <p:cNvPr id="3" name="Group 7"/>
            <p:cNvGrpSpPr/>
            <p:nvPr/>
          </p:nvGrpSpPr>
          <p:grpSpPr bwMode="auto">
            <a:xfrm>
              <a:off x="4381500" y="1959724"/>
              <a:ext cx="3068638" cy="2232025"/>
              <a:chOff x="3168" y="1424"/>
              <a:chExt cx="1933" cy="1406"/>
            </a:xfrm>
          </p:grpSpPr>
          <p:sp>
            <p:nvSpPr>
              <p:cNvPr id="67592" name="Rectangle 8"/>
              <p:cNvSpPr>
                <a:spLocks noChangeArrowheads="1"/>
              </p:cNvSpPr>
              <p:nvPr/>
            </p:nvSpPr>
            <p:spPr bwMode="auto">
              <a:xfrm>
                <a:off x="3330" y="1424"/>
                <a:ext cx="815" cy="1399"/>
              </a:xfrm>
              <a:prstGeom prst="rect">
                <a:avLst/>
              </a:prstGeom>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none" anchor="ctr"/>
              <a:lstStyle/>
              <a:p>
                <a:pPr algn="ctr" defTabSz="646430">
                  <a:buClr>
                    <a:schemeClr val="bg2"/>
                  </a:buClr>
                  <a:buSzPct val="75000"/>
                  <a:buFont typeface="Wingdings" panose="05000000000000000000" pitchFamily="2" charset="2"/>
                  <a:buChar char="n"/>
                </a:pPr>
                <a:endParaRPr lang="zh-CN" altLang="zh-CN" sz="2400">
                  <a:solidFill>
                    <a:schemeClr val="tx1"/>
                  </a:solidFill>
                  <a:latin typeface="+mj-ea"/>
                  <a:ea typeface="+mj-ea"/>
                </a:endParaRPr>
              </a:p>
            </p:txBody>
          </p:sp>
          <p:sp>
            <p:nvSpPr>
              <p:cNvPr id="67593" name="Rectangle 9"/>
              <p:cNvSpPr>
                <a:spLocks noChangeArrowheads="1"/>
              </p:cNvSpPr>
              <p:nvPr/>
            </p:nvSpPr>
            <p:spPr bwMode="auto">
              <a:xfrm>
                <a:off x="4241" y="1431"/>
                <a:ext cx="815" cy="1399"/>
              </a:xfrm>
              <a:prstGeom prst="rect">
                <a:avLst/>
              </a:prstGeom>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none" anchor="ctr"/>
              <a:lstStyle/>
              <a:p>
                <a:pPr algn="ctr" defTabSz="646430">
                  <a:buClr>
                    <a:schemeClr val="bg2"/>
                  </a:buClr>
                  <a:buSzPct val="75000"/>
                  <a:buFont typeface="Wingdings" panose="05000000000000000000" pitchFamily="2" charset="2"/>
                  <a:buChar char="n"/>
                </a:pPr>
                <a:endParaRPr lang="zh-CN" altLang="zh-CN" sz="2400">
                  <a:solidFill>
                    <a:schemeClr val="tx1"/>
                  </a:solidFill>
                  <a:latin typeface="+mj-ea"/>
                  <a:ea typeface="+mj-ea"/>
                </a:endParaRPr>
              </a:p>
            </p:txBody>
          </p:sp>
          <p:sp>
            <p:nvSpPr>
              <p:cNvPr id="67594" name="Rectangle 10"/>
              <p:cNvSpPr>
                <a:spLocks noChangeArrowheads="1"/>
              </p:cNvSpPr>
              <p:nvPr/>
            </p:nvSpPr>
            <p:spPr bwMode="auto">
              <a:xfrm>
                <a:off x="3168" y="1514"/>
                <a:ext cx="1121" cy="287"/>
              </a:xfrm>
              <a:prstGeom prst="rect">
                <a:avLst/>
              </a:prstGeom>
              <a:noFill/>
              <a:ln w="9525">
                <a:noFill/>
                <a:miter lim="800000"/>
              </a:ln>
              <a:effectLst/>
            </p:spPr>
            <p:txBody>
              <a:bodyPr lIns="65078" tIns="32540" rIns="65078" bIns="32540">
                <a:spAutoFit/>
              </a:bodyPr>
              <a:lstStyle/>
              <a:p>
                <a:pPr algn="ctr" defTabSz="646430" eaLnBrk="0" hangingPunct="0">
                  <a:spcAft>
                    <a:spcPts val="0"/>
                  </a:spcAft>
                </a:pPr>
                <a:r>
                  <a:rPr lang="zh-CN" altLang="en-US" b="1">
                    <a:solidFill>
                      <a:schemeClr val="bg1"/>
                    </a:solidFill>
                    <a:latin typeface="+mj-ea"/>
                    <a:ea typeface="+mj-ea"/>
                  </a:rPr>
                  <a:t>实现</a:t>
                </a:r>
                <a:endParaRPr lang="zh-CN" altLang="en-US" b="1">
                  <a:solidFill>
                    <a:schemeClr val="bg1"/>
                  </a:solidFill>
                  <a:latin typeface="+mj-ea"/>
                  <a:ea typeface="+mj-ea"/>
                </a:endParaRPr>
              </a:p>
            </p:txBody>
          </p:sp>
          <p:sp>
            <p:nvSpPr>
              <p:cNvPr id="67595" name="Rectangle 11"/>
              <p:cNvSpPr>
                <a:spLocks noChangeArrowheads="1"/>
              </p:cNvSpPr>
              <p:nvPr/>
            </p:nvSpPr>
            <p:spPr bwMode="auto">
              <a:xfrm>
                <a:off x="4145" y="1514"/>
                <a:ext cx="956" cy="287"/>
              </a:xfrm>
              <a:prstGeom prst="rect">
                <a:avLst/>
              </a:prstGeom>
              <a:noFill/>
              <a:ln w="9525">
                <a:noFill/>
                <a:miter lim="800000"/>
              </a:ln>
              <a:effectLst/>
            </p:spPr>
            <p:txBody>
              <a:bodyPr lIns="65078" tIns="32540" rIns="65078" bIns="32540">
                <a:spAutoFit/>
              </a:bodyPr>
              <a:lstStyle/>
              <a:p>
                <a:pPr algn="ctr" defTabSz="646430" eaLnBrk="0" hangingPunct="0">
                  <a:spcAft>
                    <a:spcPts val="0"/>
                  </a:spcAft>
                </a:pPr>
                <a:r>
                  <a:rPr lang="zh-CN" altLang="en-US" b="1">
                    <a:solidFill>
                      <a:schemeClr val="bg1"/>
                    </a:solidFill>
                    <a:latin typeface="+mj-ea"/>
                    <a:ea typeface="+mj-ea"/>
                  </a:rPr>
                  <a:t>测试</a:t>
                </a:r>
                <a:endParaRPr lang="zh-CN" altLang="en-US" b="1">
                  <a:solidFill>
                    <a:schemeClr val="bg1"/>
                  </a:solidFill>
                  <a:latin typeface="+mj-ea"/>
                  <a:ea typeface="+mj-ea"/>
                </a:endParaRPr>
              </a:p>
            </p:txBody>
          </p:sp>
        </p:grpSp>
        <p:sp>
          <p:nvSpPr>
            <p:cNvPr id="67596" name="Rectangle 12"/>
            <p:cNvSpPr>
              <a:spLocks noChangeArrowheads="1"/>
            </p:cNvSpPr>
            <p:nvPr/>
          </p:nvSpPr>
          <p:spPr bwMode="auto">
            <a:xfrm>
              <a:off x="3170238" y="1970837"/>
              <a:ext cx="1293813" cy="2220913"/>
            </a:xfrm>
            <a:prstGeom prst="rect">
              <a:avLst/>
            </a:prstGeom>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none" anchor="ctr"/>
            <a:lstStyle/>
            <a:p>
              <a:pPr algn="ctr" defTabSz="646430">
                <a:buClr>
                  <a:schemeClr val="bg2"/>
                </a:buClr>
                <a:buSzPct val="75000"/>
                <a:buFont typeface="Wingdings" panose="05000000000000000000" pitchFamily="2" charset="2"/>
                <a:buChar char="n"/>
              </a:pPr>
              <a:endParaRPr lang="zh-CN" altLang="zh-CN" sz="2400">
                <a:solidFill>
                  <a:schemeClr val="tx1"/>
                </a:solidFill>
                <a:latin typeface="+mj-ea"/>
                <a:ea typeface="+mj-ea"/>
              </a:endParaRPr>
            </a:p>
          </p:txBody>
        </p:sp>
        <p:sp>
          <p:nvSpPr>
            <p:cNvPr id="67597" name="Rectangle 13"/>
            <p:cNvSpPr>
              <a:spLocks noChangeArrowheads="1"/>
            </p:cNvSpPr>
            <p:nvPr/>
          </p:nvSpPr>
          <p:spPr bwMode="auto">
            <a:xfrm>
              <a:off x="1724025" y="1970837"/>
              <a:ext cx="1293813" cy="2220913"/>
            </a:xfrm>
            <a:prstGeom prst="rect">
              <a:avLst/>
            </a:prstGeom>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none" anchor="ctr"/>
            <a:lstStyle/>
            <a:p>
              <a:pPr algn="ctr" defTabSz="646430">
                <a:buClr>
                  <a:schemeClr val="bg2"/>
                </a:buClr>
                <a:buSzPct val="75000"/>
                <a:buFont typeface="Wingdings" panose="05000000000000000000" pitchFamily="2" charset="2"/>
                <a:buChar char="n"/>
              </a:pPr>
              <a:endParaRPr lang="zh-CN" altLang="zh-CN" sz="2400">
                <a:solidFill>
                  <a:schemeClr val="tx1"/>
                </a:solidFill>
                <a:latin typeface="+mj-ea"/>
                <a:ea typeface="+mj-ea"/>
              </a:endParaRPr>
            </a:p>
          </p:txBody>
        </p:sp>
        <p:sp>
          <p:nvSpPr>
            <p:cNvPr id="67598" name="Rectangle 14"/>
            <p:cNvSpPr>
              <a:spLocks noChangeArrowheads="1"/>
            </p:cNvSpPr>
            <p:nvPr/>
          </p:nvSpPr>
          <p:spPr bwMode="auto">
            <a:xfrm>
              <a:off x="1517650" y="2135936"/>
              <a:ext cx="1654175" cy="455507"/>
            </a:xfrm>
            <a:prstGeom prst="rect">
              <a:avLst/>
            </a:prstGeom>
            <a:noFill/>
            <a:ln w="9525">
              <a:noFill/>
              <a:miter lim="800000"/>
            </a:ln>
            <a:effectLst/>
          </p:spPr>
          <p:txBody>
            <a:bodyPr lIns="65078" tIns="32540" rIns="65078" bIns="32540">
              <a:spAutoFit/>
            </a:bodyPr>
            <a:lstStyle/>
            <a:p>
              <a:pPr algn="ctr" defTabSz="646430" eaLnBrk="0" hangingPunct="0">
                <a:spcAft>
                  <a:spcPts val="0"/>
                </a:spcAft>
              </a:pPr>
              <a:r>
                <a:rPr lang="zh-CN" altLang="en-US" b="1" dirty="0">
                  <a:solidFill>
                    <a:schemeClr val="bg1"/>
                  </a:solidFill>
                  <a:latin typeface="+mj-ea"/>
                  <a:ea typeface="+mj-ea"/>
                </a:rPr>
                <a:t>需求</a:t>
              </a:r>
              <a:endParaRPr lang="zh-CN" altLang="zh-CN" b="1" dirty="0">
                <a:solidFill>
                  <a:schemeClr val="bg1"/>
                </a:solidFill>
                <a:latin typeface="+mj-ea"/>
                <a:ea typeface="+mj-ea"/>
              </a:endParaRPr>
            </a:p>
          </p:txBody>
        </p:sp>
        <p:sp>
          <p:nvSpPr>
            <p:cNvPr id="67599" name="Rectangle 15"/>
            <p:cNvSpPr>
              <a:spLocks noChangeArrowheads="1"/>
            </p:cNvSpPr>
            <p:nvPr/>
          </p:nvSpPr>
          <p:spPr bwMode="auto">
            <a:xfrm>
              <a:off x="3065463" y="2113712"/>
              <a:ext cx="1517651" cy="455507"/>
            </a:xfrm>
            <a:prstGeom prst="rect">
              <a:avLst/>
            </a:prstGeom>
            <a:noFill/>
            <a:ln w="9525">
              <a:noFill/>
              <a:miter lim="800000"/>
            </a:ln>
            <a:effectLst/>
          </p:spPr>
          <p:txBody>
            <a:bodyPr lIns="65078" tIns="32540" rIns="65078" bIns="32540">
              <a:spAutoFit/>
            </a:bodyPr>
            <a:lstStyle/>
            <a:p>
              <a:pPr algn="ctr" defTabSz="646430" eaLnBrk="0" hangingPunct="0">
                <a:spcAft>
                  <a:spcPts val="0"/>
                </a:spcAft>
              </a:pPr>
              <a:r>
                <a:rPr lang="zh-CN" altLang="en-US" b="1" dirty="0">
                  <a:solidFill>
                    <a:schemeClr val="bg1"/>
                  </a:solidFill>
                  <a:latin typeface="+mj-ea"/>
                  <a:ea typeface="+mj-ea"/>
                </a:rPr>
                <a:t>分析和设计</a:t>
              </a:r>
              <a:endParaRPr lang="zh-CN" altLang="en-US" b="1" dirty="0">
                <a:solidFill>
                  <a:schemeClr val="bg1"/>
                </a:solidFill>
                <a:latin typeface="+mj-ea"/>
                <a:ea typeface="+mj-ea"/>
              </a:endParaRPr>
            </a:p>
          </p:txBody>
        </p:sp>
      </p:grpSp>
      <p:grpSp>
        <p:nvGrpSpPr>
          <p:cNvPr id="8" name="组合 7"/>
          <p:cNvGrpSpPr/>
          <p:nvPr/>
        </p:nvGrpSpPr>
        <p:grpSpPr>
          <a:xfrm>
            <a:off x="1366841" y="2003360"/>
            <a:ext cx="6657975" cy="628650"/>
            <a:chOff x="1409700" y="2816974"/>
            <a:chExt cx="6324600" cy="838200"/>
          </a:xfrm>
          <a:solidFill>
            <a:schemeClr val="bg1">
              <a:lumMod val="95000"/>
            </a:schemeClr>
          </a:solidFill>
        </p:grpSpPr>
        <p:sp>
          <p:nvSpPr>
            <p:cNvPr id="67600" name="Freeform 16"/>
            <p:cNvSpPr/>
            <p:nvPr/>
          </p:nvSpPr>
          <p:spPr bwMode="auto">
            <a:xfrm>
              <a:off x="1409700" y="2816974"/>
              <a:ext cx="6324600" cy="838200"/>
            </a:xfrm>
            <a:custGeom>
              <a:avLst/>
              <a:gdLst/>
              <a:ahLst/>
              <a:cxnLst>
                <a:cxn ang="0">
                  <a:pos x="2486" y="0"/>
                </a:cxn>
                <a:cxn ang="0">
                  <a:pos x="3026" y="19"/>
                </a:cxn>
                <a:cxn ang="0">
                  <a:pos x="3471" y="32"/>
                </a:cxn>
                <a:cxn ang="0">
                  <a:pos x="3894" y="63"/>
                </a:cxn>
                <a:cxn ang="0">
                  <a:pos x="4292" y="88"/>
                </a:cxn>
                <a:cxn ang="0">
                  <a:pos x="4550" y="132"/>
                </a:cxn>
                <a:cxn ang="0">
                  <a:pos x="4832" y="176"/>
                </a:cxn>
                <a:cxn ang="0">
                  <a:pos x="4926" y="221"/>
                </a:cxn>
                <a:cxn ang="0">
                  <a:pos x="4996" y="284"/>
                </a:cxn>
                <a:cxn ang="0">
                  <a:pos x="4926" y="340"/>
                </a:cxn>
                <a:cxn ang="0">
                  <a:pos x="4832" y="397"/>
                </a:cxn>
                <a:cxn ang="0">
                  <a:pos x="4550" y="441"/>
                </a:cxn>
                <a:cxn ang="0">
                  <a:pos x="4292" y="485"/>
                </a:cxn>
                <a:cxn ang="0">
                  <a:pos x="3894" y="517"/>
                </a:cxn>
                <a:cxn ang="0">
                  <a:pos x="3471" y="542"/>
                </a:cxn>
                <a:cxn ang="0">
                  <a:pos x="3026" y="561"/>
                </a:cxn>
                <a:cxn ang="0">
                  <a:pos x="2486" y="561"/>
                </a:cxn>
                <a:cxn ang="0">
                  <a:pos x="1994" y="561"/>
                </a:cxn>
                <a:cxn ang="0">
                  <a:pos x="1525" y="542"/>
                </a:cxn>
                <a:cxn ang="0">
                  <a:pos x="1126" y="517"/>
                </a:cxn>
                <a:cxn ang="0">
                  <a:pos x="751" y="485"/>
                </a:cxn>
                <a:cxn ang="0">
                  <a:pos x="422" y="441"/>
                </a:cxn>
                <a:cxn ang="0">
                  <a:pos x="211" y="397"/>
                </a:cxn>
                <a:cxn ang="0">
                  <a:pos x="47" y="340"/>
                </a:cxn>
                <a:cxn ang="0">
                  <a:pos x="0" y="284"/>
                </a:cxn>
                <a:cxn ang="0">
                  <a:pos x="47" y="221"/>
                </a:cxn>
                <a:cxn ang="0">
                  <a:pos x="211" y="176"/>
                </a:cxn>
                <a:cxn ang="0">
                  <a:pos x="422" y="132"/>
                </a:cxn>
                <a:cxn ang="0">
                  <a:pos x="751" y="88"/>
                </a:cxn>
                <a:cxn ang="0">
                  <a:pos x="1126" y="63"/>
                </a:cxn>
                <a:cxn ang="0">
                  <a:pos x="1525" y="32"/>
                </a:cxn>
                <a:cxn ang="0">
                  <a:pos x="1994" y="19"/>
                </a:cxn>
                <a:cxn ang="0">
                  <a:pos x="2486" y="0"/>
                </a:cxn>
              </a:cxnLst>
              <a:rect l="0" t="0" r="r" b="b"/>
              <a:pathLst>
                <a:path w="4997" h="562">
                  <a:moveTo>
                    <a:pt x="2486" y="0"/>
                  </a:moveTo>
                  <a:lnTo>
                    <a:pt x="3026" y="19"/>
                  </a:lnTo>
                  <a:lnTo>
                    <a:pt x="3471" y="32"/>
                  </a:lnTo>
                  <a:lnTo>
                    <a:pt x="3894" y="63"/>
                  </a:lnTo>
                  <a:lnTo>
                    <a:pt x="4292" y="88"/>
                  </a:lnTo>
                  <a:lnTo>
                    <a:pt x="4550" y="132"/>
                  </a:lnTo>
                  <a:lnTo>
                    <a:pt x="4832" y="176"/>
                  </a:lnTo>
                  <a:lnTo>
                    <a:pt x="4926" y="221"/>
                  </a:lnTo>
                  <a:lnTo>
                    <a:pt x="4996" y="284"/>
                  </a:lnTo>
                  <a:lnTo>
                    <a:pt x="4926" y="340"/>
                  </a:lnTo>
                  <a:lnTo>
                    <a:pt x="4832" y="397"/>
                  </a:lnTo>
                  <a:lnTo>
                    <a:pt x="4550" y="441"/>
                  </a:lnTo>
                  <a:lnTo>
                    <a:pt x="4292" y="485"/>
                  </a:lnTo>
                  <a:lnTo>
                    <a:pt x="3894" y="517"/>
                  </a:lnTo>
                  <a:lnTo>
                    <a:pt x="3471" y="542"/>
                  </a:lnTo>
                  <a:lnTo>
                    <a:pt x="3026" y="561"/>
                  </a:lnTo>
                  <a:lnTo>
                    <a:pt x="2486" y="561"/>
                  </a:lnTo>
                  <a:lnTo>
                    <a:pt x="1994" y="561"/>
                  </a:lnTo>
                  <a:lnTo>
                    <a:pt x="1525" y="542"/>
                  </a:lnTo>
                  <a:lnTo>
                    <a:pt x="1126" y="517"/>
                  </a:lnTo>
                  <a:lnTo>
                    <a:pt x="751" y="485"/>
                  </a:lnTo>
                  <a:lnTo>
                    <a:pt x="422" y="441"/>
                  </a:lnTo>
                  <a:lnTo>
                    <a:pt x="211" y="397"/>
                  </a:lnTo>
                  <a:lnTo>
                    <a:pt x="47" y="340"/>
                  </a:lnTo>
                  <a:lnTo>
                    <a:pt x="0" y="284"/>
                  </a:lnTo>
                  <a:lnTo>
                    <a:pt x="47" y="221"/>
                  </a:lnTo>
                  <a:lnTo>
                    <a:pt x="211" y="176"/>
                  </a:lnTo>
                  <a:lnTo>
                    <a:pt x="422" y="132"/>
                  </a:lnTo>
                  <a:lnTo>
                    <a:pt x="751" y="88"/>
                  </a:lnTo>
                  <a:lnTo>
                    <a:pt x="1126" y="63"/>
                  </a:lnTo>
                  <a:lnTo>
                    <a:pt x="1525" y="32"/>
                  </a:lnTo>
                  <a:lnTo>
                    <a:pt x="1994" y="19"/>
                  </a:lnTo>
                  <a:lnTo>
                    <a:pt x="2486" y="0"/>
                  </a:lnTo>
                </a:path>
              </a:pathLst>
            </a:custGeom>
            <a:grpFill/>
            <a:ln w="19050" cap="flat" cmpd="sng">
              <a:solidFill>
                <a:schemeClr val="tx1"/>
              </a:solidFill>
              <a:prstDash val="dash"/>
              <a:round/>
              <a:headEnd type="none" w="sm" len="sm"/>
              <a:tailEnd type="none" w="sm" len="sm"/>
            </a:ln>
            <a:effectLst/>
          </p:spPr>
          <p:txBody>
            <a:bodyPr lIns="65078" tIns="32540" rIns="65078" bIns="32540"/>
            <a:lstStyle/>
            <a:p>
              <a:endParaRPr lang="zh-CN" altLang="en-US" dirty="0">
                <a:latin typeface="+mj-ea"/>
                <a:ea typeface="+mj-ea"/>
              </a:endParaRPr>
            </a:p>
          </p:txBody>
        </p:sp>
        <p:sp>
          <p:nvSpPr>
            <p:cNvPr id="67601" name="Rectangle 17"/>
            <p:cNvSpPr>
              <a:spLocks noChangeArrowheads="1"/>
            </p:cNvSpPr>
            <p:nvPr/>
          </p:nvSpPr>
          <p:spPr bwMode="auto">
            <a:xfrm>
              <a:off x="2191657" y="3009062"/>
              <a:ext cx="4862287" cy="496147"/>
            </a:xfrm>
            <a:prstGeom prst="rect">
              <a:avLst/>
            </a:prstGeom>
            <a:noFill/>
            <a:ln w="9525">
              <a:noFill/>
              <a:miter lim="800000"/>
            </a:ln>
            <a:effectLst/>
          </p:spPr>
          <p:txBody>
            <a:bodyPr wrap="square" lIns="65078" tIns="32540" rIns="65078" bIns="32540">
              <a:spAutoFit/>
            </a:bodyPr>
            <a:lstStyle/>
            <a:p>
              <a:pPr algn="ctr" defTabSz="646430" eaLnBrk="0" hangingPunct="0">
                <a:spcAft>
                  <a:spcPts val="0"/>
                </a:spcAft>
              </a:pPr>
              <a:r>
                <a:rPr lang="en-US" altLang="zh-CN" sz="2000" dirty="0">
                  <a:latin typeface="+mj-ea"/>
                  <a:ea typeface="+mj-ea"/>
                </a:rPr>
                <a:t>Use Cases </a:t>
              </a:r>
              <a:r>
                <a:rPr lang="zh-CN" altLang="en-US" sz="2000" dirty="0">
                  <a:latin typeface="+mj-ea"/>
                  <a:ea typeface="+mj-ea"/>
                </a:rPr>
                <a:t>把所有这些过程绑到一起</a:t>
              </a:r>
              <a:endParaRPr lang="zh-CN" altLang="en-US" dirty="0">
                <a:latin typeface="+mj-ea"/>
                <a:ea typeface="+mj-ea"/>
              </a:endParaRPr>
            </a:p>
          </p:txBody>
        </p:sp>
      </p:grpSp>
      <p:sp>
        <p:nvSpPr>
          <p:cNvPr id="4" name="文本框 3"/>
          <p:cNvSpPr txBox="1"/>
          <p:nvPr/>
        </p:nvSpPr>
        <p:spPr>
          <a:xfrm>
            <a:off x="464665" y="3286573"/>
            <a:ext cx="8462328" cy="1198880"/>
          </a:xfrm>
          <a:prstGeom prst="rect">
            <a:avLst/>
          </a:prstGeom>
          <a:solidFill>
            <a:schemeClr val="bg1">
              <a:lumMod val="95000"/>
            </a:schemeClr>
          </a:solidFill>
          <a:ln w="19050">
            <a:solidFill>
              <a:schemeClr val="tx1"/>
            </a:solidFill>
            <a:prstDash val="dash"/>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spcAft>
                <a:spcPts val="0"/>
              </a:spcAft>
            </a:pPr>
            <a:r>
              <a:rPr lang="zh-CN" altLang="en-US" sz="2400" dirty="0">
                <a:solidFill>
                  <a:schemeClr val="tx1"/>
                </a:solidFill>
                <a:latin typeface="+mj-ea"/>
                <a:ea typeface="+mj-ea"/>
              </a:rPr>
              <a:t>用例图是从需求分析报告到软件系统设计的第一步，也是系统整个分析过程中最重要的图，它的改变将影响到其它图，用例建模贯穿整个软件开发的过程。</a:t>
            </a:r>
            <a:endParaRPr lang="zh-CN" altLang="en-US" sz="2400" dirty="0">
              <a:solidFill>
                <a:schemeClr val="tx1"/>
              </a:solidFill>
              <a:latin typeface="+mj-ea"/>
              <a:ea typeface="+mj-ea"/>
            </a:endParaRPr>
          </a:p>
        </p:txBody>
      </p:sp>
      <p:sp>
        <p:nvSpPr>
          <p:cNvPr id="11" name="标题 10"/>
          <p:cNvSpPr>
            <a:spLocks noGrp="1"/>
          </p:cNvSpPr>
          <p:nvPr>
            <p:ph type="title"/>
          </p:nvPr>
        </p:nvSpPr>
        <p:spPr/>
        <p:txBody>
          <a:bodyPr/>
          <a:lstStyle/>
          <a:p>
            <a:pPr>
              <a:spcAft>
                <a:spcPts val="0"/>
              </a:spcAft>
            </a:pPr>
            <a:r>
              <a:rPr lang="zh-CN" altLang="en-US" dirty="0"/>
              <a:t>用例图对开发的意义</a:t>
            </a:r>
            <a:endParaRPr lang="zh-CN" altLang="en-US" dirty="0"/>
          </a:p>
        </p:txBody>
      </p:sp>
      <p:sp>
        <p:nvSpPr>
          <p:cNvPr id="6" name="日期占位符 5"/>
          <p:cNvSpPr>
            <a:spLocks noGrp="1"/>
          </p:cNvSpPr>
          <p:nvPr>
            <p:ph type="dt" sz="half" idx="10"/>
          </p:nvPr>
        </p:nvSpPr>
        <p:spPr/>
        <p:txBody>
          <a:bodyPr/>
          <a:lstStyle/>
          <a:p>
            <a:pPr>
              <a:spcAft>
                <a:spcPts val="0"/>
              </a:spcAft>
            </a:pPr>
            <a:fld id="{81615BFA-0D69-428D-AA81-20C01B0F322B}" type="datetime1">
              <a:rPr lang="zh-CN" altLang="en-US" smtClean="0"/>
            </a:fld>
            <a:endParaRPr lang="zh-CN" altLang="en-US"/>
          </a:p>
        </p:txBody>
      </p:sp>
      <p:sp>
        <p:nvSpPr>
          <p:cNvPr id="9" name="页脚占位符 8"/>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outVertical)">
                                      <p:cBhvr>
                                        <p:cTn id="11" dur="500"/>
                                        <p:tgtEl>
                                          <p:spTgt spid="8"/>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randombar(horizont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用例图的优势</a:t>
            </a:r>
            <a:endParaRPr lang="zh-CN" altLang="en-US" dirty="0"/>
          </a:p>
        </p:txBody>
      </p:sp>
      <p:sp>
        <p:nvSpPr>
          <p:cNvPr id="3" name="内容占位符 2"/>
          <p:cNvSpPr>
            <a:spLocks noGrp="1"/>
          </p:cNvSpPr>
          <p:nvPr>
            <p:ph idx="1"/>
          </p:nvPr>
        </p:nvSpPr>
        <p:spPr>
          <a:xfrm>
            <a:off x="768097" y="814192"/>
            <a:ext cx="7832833" cy="4030563"/>
          </a:xfrm>
        </p:spPr>
        <p:txBody>
          <a:bodyPr>
            <a:normAutofit/>
          </a:bodyPr>
          <a:lstStyle/>
          <a:p>
            <a:r>
              <a:rPr lang="zh-CN" altLang="en-US" dirty="0" smtClean="0"/>
              <a:t>提供了捕捉功能需求的工具。</a:t>
            </a:r>
            <a:endParaRPr lang="en-US" altLang="zh-CN" dirty="0" smtClean="0"/>
          </a:p>
          <a:p>
            <a:r>
              <a:rPr lang="zh-CN" altLang="en-US" dirty="0" smtClean="0"/>
              <a:t>有助于将系统范围分解成更易于管理的小块。</a:t>
            </a:r>
            <a:endParaRPr lang="en-US" altLang="zh-CN" dirty="0" smtClean="0"/>
          </a:p>
          <a:p>
            <a:r>
              <a:rPr lang="zh-CN" altLang="en-US" dirty="0" smtClean="0"/>
              <a:t>提供了与用户交流的工具。</a:t>
            </a:r>
            <a:endParaRPr lang="en-US" altLang="zh-CN" dirty="0" smtClean="0"/>
          </a:p>
          <a:p>
            <a:r>
              <a:rPr lang="zh-CN" altLang="en-US" dirty="0" smtClean="0"/>
              <a:t>辅助估计项目范围、投入和进度。</a:t>
            </a:r>
            <a:endParaRPr lang="en-US" altLang="zh-CN" dirty="0" smtClean="0"/>
          </a:p>
          <a:p>
            <a:r>
              <a:rPr lang="zh-CN" altLang="en-US" dirty="0"/>
              <a:t>为</a:t>
            </a:r>
            <a:r>
              <a:rPr lang="zh-CN" altLang="en-US" dirty="0" smtClean="0"/>
              <a:t>定义测试计划和测试用例提供了一个标准。</a:t>
            </a:r>
            <a:endParaRPr lang="en-US" altLang="zh-CN" dirty="0" smtClean="0"/>
          </a:p>
          <a:p>
            <a:r>
              <a:rPr lang="zh-CN" altLang="en-US" dirty="0" smtClean="0"/>
              <a:t>为用户手册提供了一个基准。</a:t>
            </a:r>
            <a:endParaRPr lang="en-US" altLang="zh-CN" dirty="0" smtClean="0"/>
          </a:p>
          <a:p>
            <a:r>
              <a:rPr lang="zh-CN" altLang="en-US" dirty="0" smtClean="0"/>
              <a:t>提供了确定数据对象或实体的起点。</a:t>
            </a:r>
            <a:endParaRPr lang="en-US" altLang="zh-CN" dirty="0" smtClean="0"/>
          </a:p>
          <a:p>
            <a:endParaRPr lang="zh-CN" altLang="en-US" dirty="0"/>
          </a:p>
        </p:txBody>
      </p:sp>
      <p:sp>
        <p:nvSpPr>
          <p:cNvPr id="4" name="日期占位符 3"/>
          <p:cNvSpPr>
            <a:spLocks noGrp="1"/>
          </p:cNvSpPr>
          <p:nvPr>
            <p:ph type="dt" sz="half" idx="10"/>
          </p:nvPr>
        </p:nvSpPr>
        <p:spPr/>
        <p:txBody>
          <a:bodyPr/>
          <a:lstStyle/>
          <a:p>
            <a:pPr>
              <a:spcAft>
                <a:spcPts val="0"/>
              </a:spcAft>
            </a:pPr>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3" name="Rectangle 5"/>
          <p:cNvSpPr>
            <a:spLocks noChangeArrowheads="1"/>
          </p:cNvSpPr>
          <p:nvPr/>
        </p:nvSpPr>
        <p:spPr bwMode="auto">
          <a:xfrm>
            <a:off x="2943225" y="1375172"/>
            <a:ext cx="6858000" cy="300082"/>
          </a:xfrm>
          <a:prstGeom prst="rect">
            <a:avLst/>
          </a:prstGeom>
          <a:noFill/>
          <a:ln w="9525">
            <a:noFill/>
            <a:miter lim="800000"/>
          </a:ln>
          <a:effectLst/>
        </p:spPr>
        <p:txBody>
          <a:bodyPr>
            <a:spAutoFit/>
          </a:bodyPr>
          <a:lstStyle/>
          <a:p>
            <a:endParaRPr lang="zh-CN" altLang="en-US" sz="1350"/>
          </a:p>
        </p:txBody>
      </p:sp>
      <p:pic>
        <p:nvPicPr>
          <p:cNvPr id="237572" name="Picture 4" descr="3T8"/>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1699586" y="697831"/>
            <a:ext cx="5833878" cy="4286280"/>
          </a:xfrm>
          <a:prstGeom prst="rect">
            <a:avLst/>
          </a:prstGeom>
        </p:spPr>
        <p:style>
          <a:lnRef idx="2">
            <a:schemeClr val="accent1"/>
          </a:lnRef>
          <a:fillRef idx="1">
            <a:schemeClr val="lt1"/>
          </a:fillRef>
          <a:effectRef idx="0">
            <a:schemeClr val="accent1"/>
          </a:effectRef>
          <a:fontRef idx="minor">
            <a:schemeClr val="dk1"/>
          </a:fontRef>
        </p:style>
      </p:pic>
      <p:sp>
        <p:nvSpPr>
          <p:cNvPr id="9" name="标题 8"/>
          <p:cNvSpPr>
            <a:spLocks noGrp="1"/>
          </p:cNvSpPr>
          <p:nvPr>
            <p:ph type="title"/>
          </p:nvPr>
        </p:nvSpPr>
        <p:spPr/>
        <p:txBody>
          <a:bodyPr/>
          <a:lstStyle/>
          <a:p>
            <a:pPr>
              <a:spcAft>
                <a:spcPts val="0"/>
              </a:spcAft>
            </a:pPr>
            <a:r>
              <a:rPr lang="zh-CN" altLang="en-US" dirty="0"/>
              <a:t>大学信息系统的一个用例图</a:t>
            </a:r>
            <a:endParaRPr lang="zh-CN" altLang="en-US" dirty="0"/>
          </a:p>
        </p:txBody>
      </p:sp>
      <p:sp>
        <p:nvSpPr>
          <p:cNvPr id="4" name="日期占位符 3"/>
          <p:cNvSpPr>
            <a:spLocks noGrp="1"/>
          </p:cNvSpPr>
          <p:nvPr>
            <p:ph type="dt" sz="half" idx="10"/>
          </p:nvPr>
        </p:nvSpPr>
        <p:spPr/>
        <p:txBody>
          <a:bodyPr/>
          <a:lstStyle/>
          <a:p>
            <a:pPr>
              <a:spcAft>
                <a:spcPts val="0"/>
              </a:spcAft>
            </a:pPr>
            <a:fld id="{CC481988-6163-47A3-B364-0A2801DC36B6}"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37572"/>
                                        </p:tgtEl>
                                        <p:attrNameLst>
                                          <p:attrName>style.visibility</p:attrName>
                                        </p:attrNameLst>
                                      </p:cBhvr>
                                      <p:to>
                                        <p:strVal val="visible"/>
                                      </p:to>
                                    </p:set>
                                    <p:animEffect transition="in" filter="randombar(horizontal)">
                                      <p:cBhvr>
                                        <p:cTn id="7" dur="500"/>
                                        <p:tgtEl>
                                          <p:spTgt spid="237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pPr>
              <a:spcAft>
                <a:spcPts val="0"/>
              </a:spcAft>
            </a:pPr>
            <a:r>
              <a:rPr lang="zh-CN" altLang="en-US" dirty="0"/>
              <a:t>用例图的组成</a:t>
            </a:r>
            <a:endParaRPr lang="zh-CN" altLang="en-US" dirty="0"/>
          </a:p>
        </p:txBody>
      </p:sp>
      <p:sp>
        <p:nvSpPr>
          <p:cNvPr id="2" name="文本占位符 1"/>
          <p:cNvSpPr>
            <a:spLocks noGrp="1"/>
          </p:cNvSpPr>
          <p:nvPr>
            <p:ph idx="1"/>
          </p:nvPr>
        </p:nvSpPr>
        <p:spPr>
          <a:xfrm>
            <a:off x="1544595" y="925167"/>
            <a:ext cx="7056335" cy="3806854"/>
          </a:xfrm>
        </p:spPr>
        <p:txBody>
          <a:bodyPr>
            <a:noAutofit/>
          </a:bodyPr>
          <a:lstStyle/>
          <a:p>
            <a:pPr marL="342900" indent="-342900">
              <a:lnSpc>
                <a:spcPct val="200000"/>
              </a:lnSpc>
              <a:spcBef>
                <a:spcPts val="3600"/>
              </a:spcBef>
              <a:buFont typeface="+mj-lt"/>
              <a:buAutoNum type="arabicPeriod"/>
            </a:pPr>
            <a:r>
              <a:rPr lang="zh-CN" altLang="en-US" sz="2400" dirty="0"/>
              <a:t>参与者（</a:t>
            </a:r>
            <a:r>
              <a:rPr lang="en-US" altLang="zh-CN" sz="2400" dirty="0"/>
              <a:t>Actor</a:t>
            </a:r>
            <a:r>
              <a:rPr lang="zh-CN" altLang="en-US" sz="2400" dirty="0"/>
              <a:t>）</a:t>
            </a:r>
            <a:endParaRPr lang="en-US" altLang="zh-CN" sz="2400" dirty="0"/>
          </a:p>
          <a:p>
            <a:pPr marL="342900" indent="-342900">
              <a:lnSpc>
                <a:spcPct val="200000"/>
              </a:lnSpc>
              <a:spcBef>
                <a:spcPts val="3600"/>
              </a:spcBef>
              <a:buFont typeface="+mj-lt"/>
              <a:buAutoNum type="arabicPeriod"/>
            </a:pPr>
            <a:r>
              <a:rPr lang="zh-CN" altLang="en-US" sz="2400" dirty="0"/>
              <a:t>用例（</a:t>
            </a:r>
            <a:r>
              <a:rPr lang="en-US" altLang="zh-CN" sz="2400" dirty="0"/>
              <a:t>Use Case</a:t>
            </a:r>
            <a:r>
              <a:rPr lang="zh-CN" altLang="en-US" sz="2400" dirty="0"/>
              <a:t>）</a:t>
            </a:r>
            <a:endParaRPr lang="en-US" altLang="zh-CN" sz="2400" dirty="0"/>
          </a:p>
          <a:p>
            <a:pPr marL="342900" indent="-342900">
              <a:lnSpc>
                <a:spcPct val="200000"/>
              </a:lnSpc>
              <a:spcBef>
                <a:spcPts val="3600"/>
              </a:spcBef>
              <a:buFont typeface="+mj-lt"/>
              <a:buAutoNum type="arabicPeriod"/>
            </a:pPr>
            <a:r>
              <a:rPr lang="zh-CN" altLang="en-US" sz="2400" dirty="0">
                <a:solidFill>
                  <a:srgbClr val="FF0000"/>
                </a:solidFill>
              </a:rPr>
              <a:t>关系</a:t>
            </a:r>
            <a:r>
              <a:rPr lang="en-US" altLang="zh-CN" sz="2400" dirty="0">
                <a:solidFill>
                  <a:srgbClr val="FF0000"/>
                </a:solidFill>
              </a:rPr>
              <a:t>(Relationship)</a:t>
            </a:r>
            <a:endParaRPr lang="zh-CN" altLang="en-US" sz="2400" dirty="0">
              <a:solidFill>
                <a:srgbClr val="FF0000"/>
              </a:solidFill>
            </a:endParaRPr>
          </a:p>
        </p:txBody>
      </p:sp>
      <p:sp>
        <p:nvSpPr>
          <p:cNvPr id="4" name="日期占位符 3"/>
          <p:cNvSpPr>
            <a:spLocks noGrp="1"/>
          </p:cNvSpPr>
          <p:nvPr>
            <p:ph type="dt" sz="half" idx="10"/>
          </p:nvPr>
        </p:nvSpPr>
        <p:spPr/>
        <p:txBody>
          <a:bodyPr/>
          <a:lstStyle/>
          <a:p>
            <a:pPr>
              <a:spcAft>
                <a:spcPts val="0"/>
              </a:spcAft>
            </a:pPr>
            <a:fld id="{C54D50D3-296D-4FD3-8544-C718E3A037AB}" type="datetime1">
              <a:rPr lang="zh-CN" altLang="en-US" smtClean="0"/>
            </a:fld>
            <a:endParaRPr lang="zh-CN" altLang="en-US"/>
          </a:p>
        </p:txBody>
      </p:sp>
      <p:sp>
        <p:nvSpPr>
          <p:cNvPr id="8" name="页脚占位符 7"/>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5" name="Picture 9"/>
          <p:cNvPicPr>
            <a:picLocks noChangeAspect="1" noChangeArrowheads="1"/>
          </p:cNvPicPr>
          <p:nvPr/>
        </p:nvPicPr>
        <p:blipFill>
          <a:blip r:embed="rId1" cstate="print"/>
          <a:srcRect/>
          <a:stretch>
            <a:fillRect/>
          </a:stretch>
        </p:blipFill>
        <p:spPr bwMode="auto">
          <a:xfrm>
            <a:off x="4953962" y="803153"/>
            <a:ext cx="1406129" cy="1401366"/>
          </a:xfrm>
          <a:prstGeom prst="rect">
            <a:avLst/>
          </a:prstGeom>
          <a:noFill/>
          <a:ln w="9525" algn="ctr">
            <a:noFill/>
            <a:miter lim="800000"/>
            <a:headEnd/>
            <a:tailEnd/>
          </a:ln>
          <a:effectLst/>
        </p:spPr>
      </p:pic>
      <p:pic>
        <p:nvPicPr>
          <p:cNvPr id="6" name="Picture 4"/>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953963" y="2204520"/>
            <a:ext cx="1521619" cy="1102519"/>
          </a:xfrm>
          <a:prstGeom prst="rect">
            <a:avLst/>
          </a:prstGeom>
          <a:noFill/>
          <a:ln w="9525">
            <a:noFill/>
            <a:miter lim="800000"/>
            <a:headEnd/>
            <a:tailEnd/>
          </a:ln>
          <a:effectLst/>
        </p:spPr>
      </p:pic>
      <p:cxnSp>
        <p:nvCxnSpPr>
          <p:cNvPr id="7" name="直接箭头连接符 6"/>
          <p:cNvCxnSpPr/>
          <p:nvPr/>
        </p:nvCxnSpPr>
        <p:spPr>
          <a:xfrm>
            <a:off x="5229225" y="4043920"/>
            <a:ext cx="831273"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randombar(horizontal)">
                                      <p:cBhvr>
                                        <p:cTn id="20" dur="500"/>
                                        <p:tgtEl>
                                          <p:spTgt spid="5"/>
                                        </p:tgtEl>
                                      </p:cBhvr>
                                    </p:animEffect>
                                  </p:childTnLst>
                                </p:cTn>
                              </p:par>
                            </p:childTnLst>
                          </p:cTn>
                        </p:par>
                        <p:par>
                          <p:cTn id="21" fill="hold">
                            <p:stCondLst>
                              <p:cond delay="500"/>
                            </p:stCondLst>
                            <p:childTnLst>
                              <p:par>
                                <p:cTn id="22" presetID="14" presetClass="entr" presetSubtype="1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randombar(horizontal)">
                                      <p:cBhvr>
                                        <p:cTn id="24" dur="500"/>
                                        <p:tgtEl>
                                          <p:spTgt spid="6"/>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p:cNvSpPr>
            <a:spLocks noGrp="1"/>
          </p:cNvSpPr>
          <p:nvPr>
            <p:ph type="title"/>
          </p:nvPr>
        </p:nvSpPr>
        <p:spPr/>
        <p:txBody>
          <a:bodyPr/>
          <a:lstStyle/>
          <a:p>
            <a:pPr>
              <a:spcAft>
                <a:spcPts val="0"/>
              </a:spcAft>
            </a:pPr>
            <a:r>
              <a:rPr lang="zh-CN" altLang="en-US" dirty="0"/>
              <a:t>什么是参与者</a:t>
            </a:r>
            <a:endParaRPr lang="zh-CN" altLang="en-US" dirty="0"/>
          </a:p>
        </p:txBody>
      </p:sp>
      <p:sp>
        <p:nvSpPr>
          <p:cNvPr id="2" name="文本占位符 1"/>
          <p:cNvSpPr>
            <a:spLocks noGrp="1"/>
          </p:cNvSpPr>
          <p:nvPr>
            <p:ph idx="1"/>
          </p:nvPr>
        </p:nvSpPr>
        <p:spPr/>
        <p:txBody>
          <a:bodyPr>
            <a:normAutofit/>
          </a:bodyPr>
          <a:lstStyle/>
          <a:p>
            <a:pPr>
              <a:lnSpc>
                <a:spcPct val="130000"/>
              </a:lnSpc>
              <a:spcBef>
                <a:spcPts val="900"/>
              </a:spcBef>
            </a:pPr>
            <a:r>
              <a:rPr lang="zh-CN" altLang="en-US" sz="2400" dirty="0"/>
              <a:t>参与者：又称执行者。是</a:t>
            </a:r>
            <a:r>
              <a:rPr lang="zh-CN" altLang="en-US" sz="2400" dirty="0">
                <a:solidFill>
                  <a:srgbClr val="FF0000"/>
                </a:solidFill>
              </a:rPr>
              <a:t>在系统之外</a:t>
            </a:r>
            <a:r>
              <a:rPr lang="zh-CN" altLang="en-US" sz="2400" dirty="0"/>
              <a:t>，透过</a:t>
            </a:r>
            <a:r>
              <a:rPr lang="zh-CN" altLang="en-US" sz="2400" dirty="0">
                <a:solidFill>
                  <a:srgbClr val="FF0000"/>
                </a:solidFill>
              </a:rPr>
              <a:t>系统边界</a:t>
            </a:r>
            <a:r>
              <a:rPr lang="zh-CN" altLang="en-US" sz="2400" dirty="0"/>
              <a:t>与系统进行</a:t>
            </a:r>
            <a:r>
              <a:rPr lang="zh-CN" altLang="en-US" sz="2400" dirty="0">
                <a:solidFill>
                  <a:srgbClr val="FF0000"/>
                </a:solidFill>
              </a:rPr>
              <a:t>有意义交互</a:t>
            </a:r>
            <a:r>
              <a:rPr lang="zh-CN" altLang="en-US" sz="2400" dirty="0"/>
              <a:t>的</a:t>
            </a:r>
            <a:r>
              <a:rPr lang="zh-CN" altLang="en-US" sz="2400" dirty="0">
                <a:solidFill>
                  <a:srgbClr val="FF0000"/>
                </a:solidFill>
              </a:rPr>
              <a:t>任何事物。</a:t>
            </a:r>
            <a:endParaRPr lang="en-US" altLang="zh-CN" sz="2400" dirty="0">
              <a:solidFill>
                <a:srgbClr val="FF0000"/>
              </a:solidFill>
            </a:endParaRPr>
          </a:p>
          <a:p>
            <a:pPr>
              <a:lnSpc>
                <a:spcPct val="130000"/>
              </a:lnSpc>
              <a:spcBef>
                <a:spcPts val="900"/>
              </a:spcBef>
            </a:pPr>
            <a:r>
              <a:rPr lang="zh-CN" altLang="en-US" sz="2400" dirty="0"/>
              <a:t>参与者可以是人、另外一个系统、硬件设备、其它用例等系统外部的实体。有主要参与者、协助参与者、幕后参与者之分。</a:t>
            </a:r>
            <a:endParaRPr lang="en-US" altLang="zh-CN" sz="2400" dirty="0"/>
          </a:p>
          <a:p>
            <a:pPr>
              <a:lnSpc>
                <a:spcPct val="130000"/>
              </a:lnSpc>
              <a:spcBef>
                <a:spcPts val="900"/>
              </a:spcBef>
            </a:pPr>
            <a:r>
              <a:rPr lang="zh-CN" altLang="en-US" sz="2400" dirty="0">
                <a:solidFill>
                  <a:srgbClr val="FF0000"/>
                </a:solidFill>
              </a:rPr>
              <a:t>参与者是用来执行用例的。</a:t>
            </a:r>
            <a:endParaRPr lang="zh-CN" altLang="en-US" sz="2400" dirty="0">
              <a:solidFill>
                <a:srgbClr val="FF0000"/>
              </a:solidFill>
            </a:endParaRPr>
          </a:p>
        </p:txBody>
      </p:sp>
      <p:sp>
        <p:nvSpPr>
          <p:cNvPr id="5" name="日期占位符 4"/>
          <p:cNvSpPr>
            <a:spLocks noGrp="1"/>
          </p:cNvSpPr>
          <p:nvPr>
            <p:ph type="dt" sz="half" idx="10"/>
          </p:nvPr>
        </p:nvSpPr>
        <p:spPr/>
        <p:txBody>
          <a:bodyPr/>
          <a:lstStyle/>
          <a:p>
            <a:pPr>
              <a:spcAft>
                <a:spcPts val="0"/>
              </a:spcAft>
            </a:pPr>
            <a:fld id="{166ECE4D-D1B4-4DD9-8E5D-2A24FE9F0649}"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17" name="图片 16"/>
          <p:cNvPicPr>
            <a:picLocks noChangeAspect="1"/>
          </p:cNvPicPr>
          <p:nvPr/>
        </p:nvPicPr>
        <p:blipFill>
          <a:blip r:embed="rId1">
            <a:clrChange>
              <a:clrFrom>
                <a:srgbClr val="FFFFFF"/>
              </a:clrFrom>
              <a:clrTo>
                <a:srgbClr val="FFFFFF">
                  <a:alpha val="0"/>
                </a:srgbClr>
              </a:clrTo>
            </a:clrChange>
          </a:blip>
          <a:stretch>
            <a:fillRect/>
          </a:stretch>
        </p:blipFill>
        <p:spPr>
          <a:xfrm>
            <a:off x="4646531" y="3435178"/>
            <a:ext cx="4497469" cy="10873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spcAft>
                <a:spcPts val="0"/>
              </a:spcAft>
            </a:pPr>
            <a:r>
              <a:rPr lang="zh-CN" altLang="en-US" dirty="0"/>
              <a:t>什么是用例</a:t>
            </a:r>
            <a:endParaRPr lang="zh-CN" altLang="en-US" dirty="0"/>
          </a:p>
        </p:txBody>
      </p:sp>
      <p:sp>
        <p:nvSpPr>
          <p:cNvPr id="2" name="文本占位符 1"/>
          <p:cNvSpPr>
            <a:spLocks noGrp="1"/>
          </p:cNvSpPr>
          <p:nvPr>
            <p:ph idx="1"/>
          </p:nvPr>
        </p:nvSpPr>
        <p:spPr/>
        <p:txBody>
          <a:bodyPr>
            <a:normAutofit/>
          </a:bodyPr>
          <a:lstStyle/>
          <a:p>
            <a:pPr>
              <a:lnSpc>
                <a:spcPct val="130000"/>
              </a:lnSpc>
              <a:spcBef>
                <a:spcPts val="900"/>
              </a:spcBef>
            </a:pPr>
            <a:r>
              <a:rPr lang="zh-CN" altLang="en-US" sz="2400" kern="0" dirty="0">
                <a:solidFill>
                  <a:srgbClr val="000000"/>
                </a:solidFill>
              </a:rPr>
              <a:t>一个用例是用户与计算机之间的一次典型交互。</a:t>
            </a:r>
            <a:endParaRPr lang="en-US" altLang="zh-CN" sz="2400" kern="0" dirty="0">
              <a:solidFill>
                <a:srgbClr val="000000"/>
              </a:solidFill>
            </a:endParaRPr>
          </a:p>
          <a:p>
            <a:pPr>
              <a:lnSpc>
                <a:spcPct val="130000"/>
              </a:lnSpc>
              <a:spcBef>
                <a:spcPts val="900"/>
              </a:spcBef>
            </a:pPr>
            <a:r>
              <a:rPr lang="zh-CN" altLang="en-US" sz="2400" kern="0" dirty="0">
                <a:solidFill>
                  <a:srgbClr val="000000"/>
                </a:solidFill>
              </a:rPr>
              <a:t>在</a:t>
            </a:r>
            <a:r>
              <a:rPr lang="en-US" altLang="zh-CN" sz="2400" kern="0" dirty="0">
                <a:solidFill>
                  <a:srgbClr val="000000"/>
                </a:solidFill>
              </a:rPr>
              <a:t>UML</a:t>
            </a:r>
            <a:r>
              <a:rPr lang="zh-CN" altLang="en-US" sz="2400" kern="0" dirty="0">
                <a:solidFill>
                  <a:srgbClr val="000000"/>
                </a:solidFill>
              </a:rPr>
              <a:t>中，</a:t>
            </a:r>
            <a:r>
              <a:rPr lang="zh-CN" altLang="en-US" sz="2400" b="1" kern="0" dirty="0">
                <a:solidFill>
                  <a:srgbClr val="FF0000"/>
                </a:solidFill>
              </a:rPr>
              <a:t>用例</a:t>
            </a:r>
            <a:r>
              <a:rPr lang="zh-CN" altLang="en-US" sz="2400" kern="0" dirty="0">
                <a:solidFill>
                  <a:srgbClr val="000000"/>
                </a:solidFill>
              </a:rPr>
              <a:t>被定义成系统执行的一个功能单元。</a:t>
            </a:r>
            <a:endParaRPr lang="en-US" altLang="zh-CN" sz="2400" kern="0" dirty="0">
              <a:solidFill>
                <a:srgbClr val="000000"/>
              </a:solidFill>
            </a:endParaRPr>
          </a:p>
          <a:p>
            <a:pPr>
              <a:lnSpc>
                <a:spcPct val="130000"/>
              </a:lnSpc>
              <a:spcBef>
                <a:spcPts val="900"/>
              </a:spcBef>
            </a:pPr>
            <a:r>
              <a:rPr lang="zh-CN" altLang="en-US" sz="2400" kern="0" dirty="0">
                <a:solidFill>
                  <a:srgbClr val="000000"/>
                </a:solidFill>
              </a:rPr>
              <a:t>只显示系统外部的功能表现，不考虑系统内部的实现过程。</a:t>
            </a:r>
            <a:endParaRPr lang="en-US" altLang="zh-CN" sz="2400" kern="0" dirty="0">
              <a:solidFill>
                <a:srgbClr val="000000"/>
              </a:solidFill>
            </a:endParaRPr>
          </a:p>
          <a:p>
            <a:pPr defTabSz="678815" fontAlgn="base">
              <a:lnSpc>
                <a:spcPct val="130000"/>
              </a:lnSpc>
              <a:spcBef>
                <a:spcPts val="900"/>
              </a:spcBef>
              <a:spcAft>
                <a:spcPct val="0"/>
              </a:spcAft>
              <a:buClr>
                <a:srgbClr val="003366"/>
              </a:buClr>
            </a:pPr>
            <a:r>
              <a:rPr lang="zh-CN" altLang="en-US" sz="2400" kern="0" dirty="0">
                <a:solidFill>
                  <a:srgbClr val="000000"/>
                </a:solidFill>
              </a:rPr>
              <a:t>每个用例都必须有一个惟一的名字。</a:t>
            </a:r>
            <a:endParaRPr lang="zh-CN" altLang="en-US" sz="2400" kern="0" dirty="0">
              <a:solidFill>
                <a:srgbClr val="000000"/>
              </a:solidFill>
            </a:endParaRPr>
          </a:p>
        </p:txBody>
      </p:sp>
      <p:sp>
        <p:nvSpPr>
          <p:cNvPr id="4" name="日期占位符 3"/>
          <p:cNvSpPr>
            <a:spLocks noGrp="1"/>
          </p:cNvSpPr>
          <p:nvPr>
            <p:ph type="dt" sz="half" idx="10"/>
          </p:nvPr>
        </p:nvSpPr>
        <p:spPr/>
        <p:txBody>
          <a:bodyPr/>
          <a:lstStyle/>
          <a:p>
            <a:pPr>
              <a:spcAft>
                <a:spcPts val="0"/>
              </a:spcAft>
            </a:pPr>
            <a:fld id="{11508DCB-589C-4C12-B4D6-C1BEB123D551}"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216068" name="Picture 4"/>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6208149" y="2714235"/>
            <a:ext cx="1521619" cy="1102519"/>
          </a:xfrm>
          <a:prstGeom prst="rect">
            <a:avLst/>
          </a:prstGeom>
          <a:noFill/>
          <a:ln w="9525">
            <a:noFill/>
            <a:miter lim="800000"/>
            <a:headEnd/>
            <a:tailEnd/>
          </a:ln>
          <a:effectLst/>
        </p:spPr>
      </p:pic>
      <p:sp>
        <p:nvSpPr>
          <p:cNvPr id="7" name="文本框"/>
          <p:cNvSpPr txBox="1"/>
          <p:nvPr/>
        </p:nvSpPr>
        <p:spPr>
          <a:xfrm>
            <a:off x="924980" y="3963664"/>
            <a:ext cx="7519066" cy="561554"/>
          </a:xfrm>
          <a:prstGeom prst="roundRect">
            <a:avLst/>
          </a:prstGeom>
          <a:solidFill>
            <a:schemeClr val="bg1">
              <a:lumMod val="75000"/>
              <a:alpha val="20000"/>
            </a:schemeClr>
          </a:solidFill>
          <a:ln>
            <a:solidFill>
              <a:schemeClr val="tx1">
                <a:lumMod val="75000"/>
                <a:lumOff val="25000"/>
              </a:schemeClr>
            </a:solidFill>
            <a:prstDash val="dash"/>
          </a:ln>
        </p:spPr>
        <p:txBody>
          <a:bodyPr wrap="square" rtlCol="0" anchor="ctr">
            <a:spAutoFit/>
          </a:bodyPr>
          <a:lstStyle/>
          <a:p>
            <a:pPr>
              <a:lnSpc>
                <a:spcPct val="150000"/>
              </a:lnSpc>
              <a:spcAft>
                <a:spcPts val="0"/>
              </a:spcAft>
            </a:pPr>
            <a:r>
              <a:rPr lang="zh-CN" altLang="en-US" spc="113" dirty="0">
                <a:solidFill>
                  <a:schemeClr val="tx1">
                    <a:lumMod val="95000"/>
                    <a:lumOff val="5000"/>
                  </a:schemeClr>
                </a:solidFill>
                <a:latin typeface="+mj-ea"/>
                <a:ea typeface="+mj-ea"/>
              </a:rPr>
              <a:t>参与者和用例分别描述了“谁来做？”和“做什么？”这两个问题。 </a:t>
            </a:r>
            <a:endParaRPr lang="zh-CN" altLang="en-US" spc="113" dirty="0">
              <a:solidFill>
                <a:schemeClr val="tx1">
                  <a:lumMod val="95000"/>
                  <a:lumOff val="5000"/>
                </a:schemeClr>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wipe(up)">
                                      <p:cBhvr>
                                        <p:cTn id="21" dur="500"/>
                                        <p:tgtEl>
                                          <p:spTgt spid="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1606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arn(inVertical)">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7"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spcAft>
                <a:spcPts val="0"/>
              </a:spcAft>
            </a:pPr>
            <a:r>
              <a:rPr lang="zh-CN" altLang="en-US" dirty="0"/>
              <a:t>如何建立用例模型</a:t>
            </a:r>
            <a:endParaRPr lang="zh-CN" altLang="en-US" dirty="0"/>
          </a:p>
        </p:txBody>
      </p:sp>
      <p:sp>
        <p:nvSpPr>
          <p:cNvPr id="4" name="文本占位符 3"/>
          <p:cNvSpPr>
            <a:spLocks noGrp="1"/>
          </p:cNvSpPr>
          <p:nvPr>
            <p:ph idx="1"/>
          </p:nvPr>
        </p:nvSpPr>
        <p:spPr>
          <a:xfrm>
            <a:off x="768097" y="925167"/>
            <a:ext cx="8090153" cy="3806854"/>
          </a:xfrm>
        </p:spPr>
        <p:txBody>
          <a:bodyPr>
            <a:normAutofit/>
          </a:bodyPr>
          <a:lstStyle/>
          <a:p>
            <a:r>
              <a:rPr lang="zh-CN" altLang="en-US" sz="2000" dirty="0"/>
              <a:t>在</a:t>
            </a:r>
            <a:r>
              <a:rPr lang="en-US" altLang="zh-CN" sz="2000" dirty="0"/>
              <a:t>UML</a:t>
            </a:r>
            <a:r>
              <a:rPr lang="zh-CN" altLang="en-US" sz="2000" dirty="0"/>
              <a:t>中，一个用例模型由若干个用例图描述。建立用例模型的过程就是对系统进行功能需求分析的过程。</a:t>
            </a:r>
            <a:endParaRPr lang="zh-CN" altLang="en-US" sz="2000" dirty="0"/>
          </a:p>
        </p:txBody>
      </p:sp>
      <p:sp>
        <p:nvSpPr>
          <p:cNvPr id="5" name="日期占位符 4"/>
          <p:cNvSpPr>
            <a:spLocks noGrp="1"/>
          </p:cNvSpPr>
          <p:nvPr>
            <p:ph type="dt" sz="half" idx="10"/>
          </p:nvPr>
        </p:nvSpPr>
        <p:spPr/>
        <p:txBody>
          <a:bodyPr/>
          <a:lstStyle/>
          <a:p>
            <a:pPr>
              <a:spcAft>
                <a:spcPts val="0"/>
              </a:spcAft>
            </a:pPr>
            <a:fld id="{06606A4B-60E5-4453-ABF7-CEBA09E3678D}"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23" name="矩形"/>
          <p:cNvSpPr/>
          <p:nvPr/>
        </p:nvSpPr>
        <p:spPr>
          <a:xfrm>
            <a:off x="1128059" y="2176031"/>
            <a:ext cx="6789614" cy="3428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4" name="矩形"/>
          <p:cNvSpPr/>
          <p:nvPr/>
        </p:nvSpPr>
        <p:spPr>
          <a:xfrm>
            <a:off x="768095" y="2992435"/>
            <a:ext cx="7366007" cy="342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5" name="平行四边形"/>
          <p:cNvSpPr/>
          <p:nvPr/>
        </p:nvSpPr>
        <p:spPr>
          <a:xfrm>
            <a:off x="278978" y="2286075"/>
            <a:ext cx="2093447" cy="625983"/>
          </a:xfrm>
          <a:prstGeom prst="parallelogram">
            <a:avLst>
              <a:gd name="adj" fmla="val 4551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zh-CN" altLang="en-US" b="1">
                <a:solidFill>
                  <a:prstClr val="white"/>
                </a:solidFill>
              </a:rPr>
              <a:t>定义系统</a:t>
            </a:r>
            <a:endParaRPr lang="zh-CN" altLang="en-US" b="1" dirty="0">
              <a:solidFill>
                <a:prstClr val="white"/>
              </a:solidFill>
            </a:endParaRPr>
          </a:p>
        </p:txBody>
      </p:sp>
      <p:sp>
        <p:nvSpPr>
          <p:cNvPr id="26" name="平行四边形"/>
          <p:cNvSpPr/>
          <p:nvPr/>
        </p:nvSpPr>
        <p:spPr>
          <a:xfrm>
            <a:off x="2192437" y="2286412"/>
            <a:ext cx="1941803" cy="625983"/>
          </a:xfrm>
          <a:prstGeom prst="parallelogram">
            <a:avLst>
              <a:gd name="adj" fmla="val 4551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zh-CN" altLang="en-US" b="1">
                <a:solidFill>
                  <a:prstClr val="white"/>
                </a:solidFill>
              </a:rPr>
              <a:t>确定执行者和用例</a:t>
            </a:r>
            <a:endParaRPr lang="zh-CN" altLang="en-US" b="1" dirty="0">
              <a:solidFill>
                <a:prstClr val="white"/>
              </a:solidFill>
            </a:endParaRPr>
          </a:p>
        </p:txBody>
      </p:sp>
      <p:sp>
        <p:nvSpPr>
          <p:cNvPr id="27" name="平行四边形"/>
          <p:cNvSpPr/>
          <p:nvPr/>
        </p:nvSpPr>
        <p:spPr>
          <a:xfrm>
            <a:off x="4042452" y="2272385"/>
            <a:ext cx="2094726" cy="625983"/>
          </a:xfrm>
          <a:prstGeom prst="parallelogram">
            <a:avLst>
              <a:gd name="adj" fmla="val 4551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zh-CN" altLang="en-US" b="1">
                <a:solidFill>
                  <a:prstClr val="white"/>
                </a:solidFill>
              </a:rPr>
              <a:t>描述执行者和用例关系</a:t>
            </a:r>
            <a:endParaRPr lang="zh-CN" altLang="en-US" b="1" dirty="0">
              <a:solidFill>
                <a:prstClr val="white"/>
              </a:solidFill>
            </a:endParaRPr>
          </a:p>
        </p:txBody>
      </p:sp>
      <p:grpSp>
        <p:nvGrpSpPr>
          <p:cNvPr id="28" name="组合"/>
          <p:cNvGrpSpPr/>
          <p:nvPr/>
        </p:nvGrpSpPr>
        <p:grpSpPr>
          <a:xfrm>
            <a:off x="5964846" y="1929670"/>
            <a:ext cx="3025929" cy="1046777"/>
            <a:chOff x="7482902" y="2717778"/>
            <a:chExt cx="3213139" cy="1707191"/>
          </a:xfrm>
          <a:solidFill>
            <a:schemeClr val="accent1"/>
          </a:solidFill>
        </p:grpSpPr>
        <p:sp>
          <p:nvSpPr>
            <p:cNvPr id="29" name="平行四边形"/>
            <p:cNvSpPr/>
            <p:nvPr/>
          </p:nvSpPr>
          <p:spPr>
            <a:xfrm>
              <a:off x="7482902" y="3293664"/>
              <a:ext cx="2222968" cy="1020919"/>
            </a:xfrm>
            <a:prstGeom prst="parallelogram">
              <a:avLst>
                <a:gd name="adj" fmla="val 4551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zh-CN" altLang="en-US" b="1">
                  <a:solidFill>
                    <a:prstClr val="white"/>
                  </a:solidFill>
                </a:rPr>
                <a:t>确认模型</a:t>
              </a:r>
              <a:endParaRPr lang="zh-CN" altLang="en-US" b="1" dirty="0">
                <a:solidFill>
                  <a:prstClr val="white"/>
                </a:solidFill>
              </a:endParaRPr>
            </a:p>
          </p:txBody>
        </p:sp>
        <p:sp>
          <p:nvSpPr>
            <p:cNvPr id="30" name="等腰三角形"/>
            <p:cNvSpPr/>
            <p:nvPr/>
          </p:nvSpPr>
          <p:spPr>
            <a:xfrm rot="19800000">
              <a:off x="8715699" y="2717778"/>
              <a:ext cx="1980342" cy="170719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31" name="连接线条"/>
          <p:cNvCxnSpPr/>
          <p:nvPr/>
        </p:nvCxnSpPr>
        <p:spPr>
          <a:xfrm>
            <a:off x="1757673" y="1899072"/>
            <a:ext cx="0" cy="279828"/>
          </a:xfrm>
          <a:prstGeom prst="line">
            <a:avLst/>
          </a:prstGeom>
          <a:noFill/>
          <a:ln w="12700" cap="flat">
            <a:solidFill>
              <a:schemeClr val="tx1">
                <a:lumMod val="75000"/>
                <a:lumOff val="25000"/>
              </a:schemeClr>
            </a:solidFill>
            <a:prstDash val="sysDash"/>
            <a:headEnd type="triangle" w="lg" len="lg"/>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2" name="连接线条"/>
          <p:cNvCxnSpPr/>
          <p:nvPr/>
        </p:nvCxnSpPr>
        <p:spPr>
          <a:xfrm>
            <a:off x="5187938" y="1932446"/>
            <a:ext cx="0" cy="277874"/>
          </a:xfrm>
          <a:prstGeom prst="line">
            <a:avLst/>
          </a:prstGeom>
          <a:noFill/>
          <a:ln w="12700" cap="flat">
            <a:solidFill>
              <a:schemeClr val="tx1">
                <a:lumMod val="75000"/>
                <a:lumOff val="25000"/>
              </a:schemeClr>
            </a:solidFill>
            <a:prstDash val="sysDash"/>
            <a:headEnd type="triangle" w="lg" len="lg"/>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3" name="连接线条"/>
          <p:cNvCxnSpPr/>
          <p:nvPr/>
        </p:nvCxnSpPr>
        <p:spPr>
          <a:xfrm>
            <a:off x="2577750" y="3026723"/>
            <a:ext cx="0" cy="198663"/>
          </a:xfrm>
          <a:prstGeom prst="line">
            <a:avLst/>
          </a:prstGeom>
          <a:noFill/>
          <a:ln w="12700" cap="flat">
            <a:solidFill>
              <a:schemeClr val="accent1"/>
            </a:solidFill>
            <a:prstDash val="sys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cxnSp>
      <p:cxnSp>
        <p:nvCxnSpPr>
          <p:cNvPr id="34" name="连接线条"/>
          <p:cNvCxnSpPr/>
          <p:nvPr/>
        </p:nvCxnSpPr>
        <p:spPr>
          <a:xfrm>
            <a:off x="6670748" y="3026723"/>
            <a:ext cx="0" cy="198663"/>
          </a:xfrm>
          <a:prstGeom prst="line">
            <a:avLst/>
          </a:prstGeom>
          <a:noFill/>
          <a:ln w="12700" cap="flat">
            <a:solidFill>
              <a:schemeClr val="accent1"/>
            </a:solidFill>
            <a:prstDash val="sys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cxnSp>
      <p:sp>
        <p:nvSpPr>
          <p:cNvPr id="35" name="文本"/>
          <p:cNvSpPr/>
          <p:nvPr/>
        </p:nvSpPr>
        <p:spPr>
          <a:xfrm>
            <a:off x="3698955" y="1132741"/>
            <a:ext cx="3248894" cy="755650"/>
          </a:xfrm>
          <a:prstGeom prst="rect">
            <a:avLst/>
          </a:prstGeom>
          <a:solidFill>
            <a:schemeClr val="bg1">
              <a:lumMod val="95000"/>
            </a:schemeClr>
          </a:solidFill>
          <a:ln>
            <a:solidFill>
              <a:schemeClr val="tx1"/>
            </a:solidFill>
            <a:prstDash val="dash"/>
          </a:ln>
        </p:spPr>
        <p:txBody>
          <a:bodyPr wrap="square" rtlCol="0" anchor="b">
            <a:spAutoFit/>
          </a:bodyPr>
          <a:lstStyle/>
          <a:p>
            <a:pPr>
              <a:lnSpc>
                <a:spcPct val="120000"/>
              </a:lnSpc>
              <a:spcAft>
                <a:spcPts val="0"/>
              </a:spcAft>
            </a:pPr>
            <a:r>
              <a:rPr lang="zh-CN" altLang="en-US" spc="113" dirty="0">
                <a:solidFill>
                  <a:schemeClr val="tx1">
                    <a:lumMod val="95000"/>
                    <a:lumOff val="5000"/>
                  </a:schemeClr>
                </a:solidFill>
                <a:latin typeface="+mj-ea"/>
                <a:ea typeface="+mj-ea"/>
              </a:rPr>
              <a:t>各模型元素之间有：关联、包含、扩展及泛化等关系。</a:t>
            </a:r>
            <a:endParaRPr lang="zh-CN" altLang="en-US" spc="113" dirty="0">
              <a:solidFill>
                <a:schemeClr val="tx1">
                  <a:lumMod val="95000"/>
                  <a:lumOff val="5000"/>
                </a:schemeClr>
              </a:solidFill>
              <a:latin typeface="+mj-ea"/>
              <a:ea typeface="+mj-ea"/>
            </a:endParaRPr>
          </a:p>
        </p:txBody>
      </p:sp>
      <p:sp>
        <p:nvSpPr>
          <p:cNvPr id="36" name="文本"/>
          <p:cNvSpPr/>
          <p:nvPr/>
        </p:nvSpPr>
        <p:spPr>
          <a:xfrm>
            <a:off x="695239" y="1128591"/>
            <a:ext cx="2224967" cy="755650"/>
          </a:xfrm>
          <a:prstGeom prst="rect">
            <a:avLst/>
          </a:prstGeom>
          <a:solidFill>
            <a:schemeClr val="bg1">
              <a:lumMod val="95000"/>
            </a:schemeClr>
          </a:solidFill>
          <a:ln>
            <a:solidFill>
              <a:schemeClr val="tx1"/>
            </a:solidFill>
            <a:prstDash val="dash"/>
          </a:ln>
        </p:spPr>
        <p:txBody>
          <a:bodyPr wrap="square" rtlCol="0" anchor="b">
            <a:spAutoFit/>
          </a:bodyPr>
          <a:lstStyle/>
          <a:p>
            <a:pPr marL="214630" indent="-214630">
              <a:lnSpc>
                <a:spcPct val="120000"/>
              </a:lnSpc>
              <a:spcAft>
                <a:spcPts val="0"/>
              </a:spcAft>
              <a:buFont typeface="Arial" panose="020B0604020202020204" pitchFamily="34" charset="0"/>
              <a:buChar char="•"/>
            </a:pPr>
            <a:r>
              <a:rPr lang="zh-CN" altLang="en-US" spc="113" dirty="0">
                <a:solidFill>
                  <a:schemeClr val="tx1">
                    <a:lumMod val="95000"/>
                    <a:lumOff val="5000"/>
                  </a:schemeClr>
                </a:solidFill>
                <a:latin typeface="+mj-ea"/>
                <a:ea typeface="+mj-ea"/>
              </a:rPr>
              <a:t>确定系统范围</a:t>
            </a:r>
            <a:endParaRPr lang="en-US" altLang="zh-CN" spc="113" dirty="0">
              <a:solidFill>
                <a:schemeClr val="tx1">
                  <a:lumMod val="95000"/>
                  <a:lumOff val="5000"/>
                </a:schemeClr>
              </a:solidFill>
              <a:latin typeface="+mj-ea"/>
              <a:ea typeface="+mj-ea"/>
            </a:endParaRPr>
          </a:p>
          <a:p>
            <a:pPr marL="214630" indent="-214630">
              <a:lnSpc>
                <a:spcPct val="120000"/>
              </a:lnSpc>
              <a:spcBef>
                <a:spcPts val="0"/>
              </a:spcBef>
              <a:buFont typeface="Arial" panose="020B0604020202020204" pitchFamily="34" charset="0"/>
              <a:buChar char="•"/>
            </a:pPr>
            <a:r>
              <a:rPr lang="zh-CN" altLang="en-US" spc="113" dirty="0">
                <a:solidFill>
                  <a:schemeClr val="tx1">
                    <a:lumMod val="95000"/>
                    <a:lumOff val="5000"/>
                  </a:schemeClr>
                </a:solidFill>
                <a:latin typeface="+mj-ea"/>
                <a:ea typeface="+mj-ea"/>
              </a:rPr>
              <a:t>分析系统功能</a:t>
            </a:r>
            <a:endParaRPr lang="zh-CN" altLang="en-US" spc="113" dirty="0">
              <a:solidFill>
                <a:schemeClr val="tx1">
                  <a:lumMod val="95000"/>
                  <a:lumOff val="5000"/>
                </a:schemeClr>
              </a:solidFill>
              <a:latin typeface="+mj-ea"/>
              <a:ea typeface="+mj-ea"/>
            </a:endParaRPr>
          </a:p>
        </p:txBody>
      </p:sp>
      <p:sp>
        <p:nvSpPr>
          <p:cNvPr id="37" name="文本"/>
          <p:cNvSpPr/>
          <p:nvPr/>
        </p:nvSpPr>
        <p:spPr>
          <a:xfrm>
            <a:off x="639765" y="3241478"/>
            <a:ext cx="4143635" cy="1419860"/>
          </a:xfrm>
          <a:prstGeom prst="rect">
            <a:avLst/>
          </a:prstGeom>
          <a:solidFill>
            <a:schemeClr val="bg1">
              <a:lumMod val="95000"/>
            </a:schemeClr>
          </a:solidFill>
          <a:ln>
            <a:solidFill>
              <a:schemeClr val="tx1"/>
            </a:solidFill>
            <a:prstDash val="dash"/>
          </a:ln>
        </p:spPr>
        <p:txBody>
          <a:bodyPr wrap="square" rtlCol="0" anchor="t">
            <a:spAutoFit/>
          </a:bodyPr>
          <a:lstStyle/>
          <a:p>
            <a:pPr marL="214630" indent="-214630">
              <a:lnSpc>
                <a:spcPct val="120000"/>
              </a:lnSpc>
              <a:spcAft>
                <a:spcPts val="0"/>
              </a:spcAft>
              <a:buFont typeface="Arial" panose="020B0604020202020204" pitchFamily="34" charset="0"/>
              <a:buChar char="•"/>
            </a:pPr>
            <a:r>
              <a:rPr lang="zh-CN" altLang="en-US" spc="113" dirty="0">
                <a:solidFill>
                  <a:schemeClr val="tx1">
                    <a:lumMod val="95000"/>
                    <a:lumOff val="5000"/>
                  </a:schemeClr>
                </a:solidFill>
                <a:latin typeface="+mj-ea"/>
                <a:ea typeface="+mj-ea"/>
              </a:rPr>
              <a:t>执行者通常是使用系统功能的外部用户或系统。</a:t>
            </a:r>
            <a:endParaRPr lang="zh-CN" altLang="en-US" spc="113" dirty="0">
              <a:solidFill>
                <a:schemeClr val="tx1">
                  <a:lumMod val="95000"/>
                  <a:lumOff val="5000"/>
                </a:schemeClr>
              </a:solidFill>
              <a:latin typeface="+mj-ea"/>
              <a:ea typeface="+mj-ea"/>
            </a:endParaRPr>
          </a:p>
          <a:p>
            <a:pPr marL="214630" indent="-214630">
              <a:lnSpc>
                <a:spcPct val="120000"/>
              </a:lnSpc>
              <a:spcBef>
                <a:spcPts val="0"/>
              </a:spcBef>
              <a:buFont typeface="Arial" panose="020B0604020202020204" pitchFamily="34" charset="0"/>
              <a:buChar char="•"/>
            </a:pPr>
            <a:r>
              <a:rPr lang="zh-CN" altLang="en-US" spc="113" dirty="0">
                <a:solidFill>
                  <a:schemeClr val="tx1">
                    <a:lumMod val="95000"/>
                    <a:lumOff val="5000"/>
                  </a:schemeClr>
                </a:solidFill>
                <a:latin typeface="+mj-ea"/>
                <a:ea typeface="+mj-ea"/>
              </a:rPr>
              <a:t>用例是一个子系统或系统的一个独立、完整功能。</a:t>
            </a:r>
            <a:endParaRPr lang="zh-CN" altLang="en-US" spc="113" dirty="0">
              <a:solidFill>
                <a:schemeClr val="tx1">
                  <a:lumMod val="95000"/>
                  <a:lumOff val="5000"/>
                </a:schemeClr>
              </a:solidFill>
              <a:latin typeface="+mj-ea"/>
              <a:ea typeface="+mj-ea"/>
            </a:endParaRPr>
          </a:p>
        </p:txBody>
      </p:sp>
      <p:sp>
        <p:nvSpPr>
          <p:cNvPr id="38" name="文本"/>
          <p:cNvSpPr/>
          <p:nvPr/>
        </p:nvSpPr>
        <p:spPr>
          <a:xfrm>
            <a:off x="5262546" y="3241478"/>
            <a:ext cx="3284601" cy="1087755"/>
          </a:xfrm>
          <a:prstGeom prst="rect">
            <a:avLst/>
          </a:prstGeom>
          <a:solidFill>
            <a:schemeClr val="bg1">
              <a:lumMod val="95000"/>
            </a:schemeClr>
          </a:solidFill>
          <a:ln>
            <a:solidFill>
              <a:schemeClr val="tx1"/>
            </a:solidFill>
            <a:prstDash val="dash"/>
          </a:ln>
        </p:spPr>
        <p:txBody>
          <a:bodyPr wrap="square" rtlCol="0" anchor="t">
            <a:spAutoFit/>
          </a:bodyPr>
          <a:lstStyle/>
          <a:p>
            <a:pPr>
              <a:lnSpc>
                <a:spcPct val="120000"/>
              </a:lnSpc>
              <a:spcAft>
                <a:spcPts val="0"/>
              </a:spcAft>
            </a:pPr>
            <a:r>
              <a:rPr lang="zh-CN" altLang="en-US" spc="113" dirty="0">
                <a:solidFill>
                  <a:schemeClr val="tx1">
                    <a:lumMod val="95000"/>
                    <a:lumOff val="5000"/>
                  </a:schemeClr>
                </a:solidFill>
                <a:latin typeface="+mj-ea"/>
                <a:ea typeface="+mj-ea"/>
              </a:rPr>
              <a:t>确认用例模型与用户需求的一致性，通常由用户与开发者共同完成。</a:t>
            </a:r>
            <a:endParaRPr lang="zh-CN" altLang="en-US" spc="113" dirty="0">
              <a:solidFill>
                <a:schemeClr val="tx1">
                  <a:lumMod val="95000"/>
                  <a:lumOff val="5000"/>
                </a:schemeClr>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14:presetBounceEnd="20000">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14:bounceEnd="20000">
                                          <p:cBhvr additive="base">
                                            <p:cTn id="21" dur="500" fill="hold"/>
                                            <p:tgtEl>
                                              <p:spTgt spid="25"/>
                                            </p:tgtEl>
                                            <p:attrNameLst>
                                              <p:attrName>ppt_x</p:attrName>
                                            </p:attrNameLst>
                                          </p:cBhvr>
                                          <p:tavLst>
                                            <p:tav tm="0">
                                              <p:val>
                                                <p:strVal val="0-#ppt_w/2"/>
                                              </p:val>
                                            </p:tav>
                                            <p:tav tm="100000">
                                              <p:val>
                                                <p:strVal val="#ppt_x"/>
                                              </p:val>
                                            </p:tav>
                                          </p:tavLst>
                                        </p:anim>
                                        <p:anim calcmode="lin" valueType="num" p14:bounceEnd="20000">
                                          <p:cBhvr additive="base">
                                            <p:cTn id="22" dur="500" fill="hold"/>
                                            <p:tgtEl>
                                              <p:spTgt spid="25"/>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down)">
                                          <p:cBhvr>
                                            <p:cTn id="26" dur="500"/>
                                            <p:tgtEl>
                                              <p:spTgt spid="31"/>
                                            </p:tgtEl>
                                          </p:cBhvr>
                                        </p:animEffect>
                                      </p:childTnLst>
                                    </p:cTn>
                                  </p:par>
                                </p:childTnLst>
                              </p:cTn>
                            </p:par>
                            <p:par>
                              <p:cTn id="27" fill="hold">
                                <p:stCondLst>
                                  <p:cond delay="1000"/>
                                </p:stCondLst>
                                <p:childTnLst>
                                  <p:par>
                                    <p:cTn id="28" presetID="47" presetClass="entr" presetSubtype="0" fill="hold" grpId="0" nodeType="after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anim calcmode="lin" valueType="num">
                                          <p:cBhvr>
                                            <p:cTn id="31" dur="500" fill="hold"/>
                                            <p:tgtEl>
                                              <p:spTgt spid="36"/>
                                            </p:tgtEl>
                                            <p:attrNameLst>
                                              <p:attrName>ppt_x</p:attrName>
                                            </p:attrNameLst>
                                          </p:cBhvr>
                                          <p:tavLst>
                                            <p:tav tm="0">
                                              <p:val>
                                                <p:strVal val="#ppt_x"/>
                                              </p:val>
                                            </p:tav>
                                            <p:tav tm="100000">
                                              <p:val>
                                                <p:strVal val="#ppt_x"/>
                                              </p:val>
                                            </p:tav>
                                          </p:tavLst>
                                        </p:anim>
                                        <p:anim calcmode="lin" valueType="num">
                                          <p:cBhvr>
                                            <p:cTn id="32"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14:presetBounceEnd="20000">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14:bounceEnd="20000">
                                          <p:cBhvr additive="base">
                                            <p:cTn id="37" dur="500" fill="hold"/>
                                            <p:tgtEl>
                                              <p:spTgt spid="26"/>
                                            </p:tgtEl>
                                            <p:attrNameLst>
                                              <p:attrName>ppt_x</p:attrName>
                                            </p:attrNameLst>
                                          </p:cBhvr>
                                          <p:tavLst>
                                            <p:tav tm="0">
                                              <p:val>
                                                <p:strVal val="0-#ppt_w/2"/>
                                              </p:val>
                                            </p:tav>
                                            <p:tav tm="100000">
                                              <p:val>
                                                <p:strVal val="#ppt_x"/>
                                              </p:val>
                                            </p:tav>
                                          </p:tavLst>
                                        </p:anim>
                                        <p:anim calcmode="lin" valueType="num" p14:bounceEnd="20000">
                                          <p:cBhvr additive="base">
                                            <p:cTn id="38" dur="500" fill="hold"/>
                                            <p:tgtEl>
                                              <p:spTgt spid="26"/>
                                            </p:tgtEl>
                                            <p:attrNameLst>
                                              <p:attrName>ppt_y</p:attrName>
                                            </p:attrNameLst>
                                          </p:cBhvr>
                                          <p:tavLst>
                                            <p:tav tm="0">
                                              <p:val>
                                                <p:strVal val="#ppt_y"/>
                                              </p:val>
                                            </p:tav>
                                            <p:tav tm="100000">
                                              <p:val>
                                                <p:strVal val="#ppt_y"/>
                                              </p:val>
                                            </p:tav>
                                          </p:tavLst>
                                        </p:anim>
                                      </p:childTnLst>
                                    </p:cTn>
                                  </p:par>
                                </p:childTnLst>
                              </p:cTn>
                            </p:par>
                            <p:par>
                              <p:cTn id="39" fill="hold">
                                <p:stCondLst>
                                  <p:cond delay="500"/>
                                </p:stCondLst>
                                <p:childTnLst>
                                  <p:par>
                                    <p:cTn id="40" presetID="22" presetClass="entr" presetSubtype="1" fill="hold" nodeType="after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up)">
                                          <p:cBhvr>
                                            <p:cTn id="42" dur="500"/>
                                            <p:tgtEl>
                                              <p:spTgt spid="33"/>
                                            </p:tgtEl>
                                          </p:cBhvr>
                                        </p:animEffect>
                                      </p:childTnLst>
                                    </p:cTn>
                                  </p:par>
                                </p:childTnLst>
                              </p:cTn>
                            </p:par>
                            <p:par>
                              <p:cTn id="43" fill="hold">
                                <p:stCondLst>
                                  <p:cond delay="1000"/>
                                </p:stCondLst>
                                <p:childTnLst>
                                  <p:par>
                                    <p:cTn id="44" presetID="42" presetClass="entr" presetSubtype="0" fill="hold" grpId="0" nodeType="after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anim calcmode="lin" valueType="num">
                                          <p:cBhvr>
                                            <p:cTn id="47" dur="500" fill="hold"/>
                                            <p:tgtEl>
                                              <p:spTgt spid="37"/>
                                            </p:tgtEl>
                                            <p:attrNameLst>
                                              <p:attrName>ppt_x</p:attrName>
                                            </p:attrNameLst>
                                          </p:cBhvr>
                                          <p:tavLst>
                                            <p:tav tm="0">
                                              <p:val>
                                                <p:strVal val="#ppt_x"/>
                                              </p:val>
                                            </p:tav>
                                            <p:tav tm="100000">
                                              <p:val>
                                                <p:strVal val="#ppt_x"/>
                                              </p:val>
                                            </p:tav>
                                          </p:tavLst>
                                        </p:anim>
                                        <p:anim calcmode="lin" valueType="num">
                                          <p:cBhvr>
                                            <p:cTn id="48" dur="5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14:presetBounceEnd="20000">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14:bounceEnd="20000">
                                          <p:cBhvr additive="base">
                                            <p:cTn id="53" dur="500" fill="hold"/>
                                            <p:tgtEl>
                                              <p:spTgt spid="27"/>
                                            </p:tgtEl>
                                            <p:attrNameLst>
                                              <p:attrName>ppt_x</p:attrName>
                                            </p:attrNameLst>
                                          </p:cBhvr>
                                          <p:tavLst>
                                            <p:tav tm="0">
                                              <p:val>
                                                <p:strVal val="0-#ppt_w/2"/>
                                              </p:val>
                                            </p:tav>
                                            <p:tav tm="100000">
                                              <p:val>
                                                <p:strVal val="#ppt_x"/>
                                              </p:val>
                                            </p:tav>
                                          </p:tavLst>
                                        </p:anim>
                                        <p:anim calcmode="lin" valueType="num" p14:bounceEnd="20000">
                                          <p:cBhvr additive="base">
                                            <p:cTn id="54" dur="500" fill="hold"/>
                                            <p:tgtEl>
                                              <p:spTgt spid="27"/>
                                            </p:tgtEl>
                                            <p:attrNameLst>
                                              <p:attrName>ppt_y</p:attrName>
                                            </p:attrNameLst>
                                          </p:cBhvr>
                                          <p:tavLst>
                                            <p:tav tm="0">
                                              <p:val>
                                                <p:strVal val="#ppt_y"/>
                                              </p:val>
                                            </p:tav>
                                            <p:tav tm="100000">
                                              <p:val>
                                                <p:strVal val="#ppt_y"/>
                                              </p:val>
                                            </p:tav>
                                          </p:tavLst>
                                        </p:anim>
                                      </p:childTnLst>
                                    </p:cTn>
                                  </p:par>
                                </p:childTnLst>
                              </p:cTn>
                            </p:par>
                            <p:par>
                              <p:cTn id="55" fill="hold">
                                <p:stCondLst>
                                  <p:cond delay="500"/>
                                </p:stCondLst>
                                <p:childTnLst>
                                  <p:par>
                                    <p:cTn id="56" presetID="22" presetClass="entr" presetSubtype="4" fill="hold" nodeType="after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down)">
                                          <p:cBhvr>
                                            <p:cTn id="58" dur="500"/>
                                            <p:tgtEl>
                                              <p:spTgt spid="32"/>
                                            </p:tgtEl>
                                          </p:cBhvr>
                                        </p:animEffect>
                                      </p:childTnLst>
                                    </p:cTn>
                                  </p:par>
                                </p:childTnLst>
                              </p:cTn>
                            </p:par>
                            <p:par>
                              <p:cTn id="59" fill="hold">
                                <p:stCondLst>
                                  <p:cond delay="1000"/>
                                </p:stCondLst>
                                <p:childTnLst>
                                  <p:par>
                                    <p:cTn id="60" presetID="47" presetClass="entr" presetSubtype="0" fill="hold" grpId="0" nodeType="after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fade">
                                          <p:cBhvr>
                                            <p:cTn id="62" dur="500"/>
                                            <p:tgtEl>
                                              <p:spTgt spid="35"/>
                                            </p:tgtEl>
                                          </p:cBhvr>
                                        </p:animEffect>
                                        <p:anim calcmode="lin" valueType="num">
                                          <p:cBhvr>
                                            <p:cTn id="63" dur="500" fill="hold"/>
                                            <p:tgtEl>
                                              <p:spTgt spid="35"/>
                                            </p:tgtEl>
                                            <p:attrNameLst>
                                              <p:attrName>ppt_x</p:attrName>
                                            </p:attrNameLst>
                                          </p:cBhvr>
                                          <p:tavLst>
                                            <p:tav tm="0">
                                              <p:val>
                                                <p:strVal val="#ppt_x"/>
                                              </p:val>
                                            </p:tav>
                                            <p:tav tm="100000">
                                              <p:val>
                                                <p:strVal val="#ppt_x"/>
                                              </p:val>
                                            </p:tav>
                                          </p:tavLst>
                                        </p:anim>
                                        <p:anim calcmode="lin" valueType="num">
                                          <p:cBhvr>
                                            <p:cTn id="64"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nodeType="clickEffect" p14:presetBounceEnd="20000">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14:bounceEnd="20000">
                                          <p:cBhvr additive="base">
                                            <p:cTn id="69" dur="500" fill="hold"/>
                                            <p:tgtEl>
                                              <p:spTgt spid="28"/>
                                            </p:tgtEl>
                                            <p:attrNameLst>
                                              <p:attrName>ppt_x</p:attrName>
                                            </p:attrNameLst>
                                          </p:cBhvr>
                                          <p:tavLst>
                                            <p:tav tm="0">
                                              <p:val>
                                                <p:strVal val="0-#ppt_w/2"/>
                                              </p:val>
                                            </p:tav>
                                            <p:tav tm="100000">
                                              <p:val>
                                                <p:strVal val="#ppt_x"/>
                                              </p:val>
                                            </p:tav>
                                          </p:tavLst>
                                        </p:anim>
                                        <p:anim calcmode="lin" valueType="num" p14:bounceEnd="20000">
                                          <p:cBhvr additive="base">
                                            <p:cTn id="70" dur="500" fill="hold"/>
                                            <p:tgtEl>
                                              <p:spTgt spid="28"/>
                                            </p:tgtEl>
                                            <p:attrNameLst>
                                              <p:attrName>ppt_y</p:attrName>
                                            </p:attrNameLst>
                                          </p:cBhvr>
                                          <p:tavLst>
                                            <p:tav tm="0">
                                              <p:val>
                                                <p:strVal val="#ppt_y"/>
                                              </p:val>
                                            </p:tav>
                                            <p:tav tm="100000">
                                              <p:val>
                                                <p:strVal val="#ppt_y"/>
                                              </p:val>
                                            </p:tav>
                                          </p:tavLst>
                                        </p:anim>
                                      </p:childTnLst>
                                    </p:cTn>
                                  </p:par>
                                </p:childTnLst>
                              </p:cTn>
                            </p:par>
                            <p:par>
                              <p:cTn id="71" fill="hold">
                                <p:stCondLst>
                                  <p:cond delay="500"/>
                                </p:stCondLst>
                                <p:childTnLst>
                                  <p:par>
                                    <p:cTn id="72" presetID="22" presetClass="entr" presetSubtype="1" fill="hold" nodeType="after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wipe(up)">
                                          <p:cBhvr>
                                            <p:cTn id="74" dur="500"/>
                                            <p:tgtEl>
                                              <p:spTgt spid="34"/>
                                            </p:tgtEl>
                                          </p:cBhvr>
                                        </p:animEffect>
                                      </p:childTnLst>
                                    </p:cTn>
                                  </p:par>
                                </p:childTnLst>
                              </p:cTn>
                            </p:par>
                            <p:par>
                              <p:cTn id="75" fill="hold">
                                <p:stCondLst>
                                  <p:cond delay="1000"/>
                                </p:stCondLst>
                                <p:childTnLst>
                                  <p:par>
                                    <p:cTn id="76" presetID="42" presetClass="entr" presetSubtype="0" fill="hold" grpId="0"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500"/>
                                            <p:tgtEl>
                                              <p:spTgt spid="38"/>
                                            </p:tgtEl>
                                          </p:cBhvr>
                                        </p:animEffect>
                                        <p:anim calcmode="lin" valueType="num">
                                          <p:cBhvr>
                                            <p:cTn id="79" dur="500" fill="hold"/>
                                            <p:tgtEl>
                                              <p:spTgt spid="38"/>
                                            </p:tgtEl>
                                            <p:attrNameLst>
                                              <p:attrName>ppt_x</p:attrName>
                                            </p:attrNameLst>
                                          </p:cBhvr>
                                          <p:tavLst>
                                            <p:tav tm="0">
                                              <p:val>
                                                <p:strVal val="#ppt_x"/>
                                              </p:val>
                                            </p:tav>
                                            <p:tav tm="100000">
                                              <p:val>
                                                <p:strVal val="#ppt_x"/>
                                              </p:val>
                                            </p:tav>
                                          </p:tavLst>
                                        </p:anim>
                                        <p:anim calcmode="lin" valueType="num">
                                          <p:cBhvr>
                                            <p:cTn id="80" dur="5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3" grpId="0" animBg="1"/>
          <p:bldP spid="24" grpId="0" animBg="1"/>
          <p:bldP spid="25" grpId="0" animBg="1"/>
          <p:bldP spid="26" grpId="0" animBg="1"/>
          <p:bldP spid="27" grpId="0" animBg="1"/>
          <p:bldP spid="35" grpId="0" bldLvl="0" animBg="1"/>
          <p:bldP spid="36" grpId="0" bldLvl="0" animBg="1"/>
          <p:bldP spid="37" grpId="0" bldLvl="0" animBg="1"/>
          <p:bldP spid="38" grpId="0" bldLvl="0" animBg="1"/>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0-#ppt_w/2"/>
                                              </p:val>
                                            </p:tav>
                                            <p:tav tm="100000">
                                              <p:val>
                                                <p:strVal val="#ppt_x"/>
                                              </p:val>
                                            </p:tav>
                                          </p:tavLst>
                                        </p:anim>
                                        <p:anim calcmode="lin" valueType="num">
                                          <p:cBhvr additive="base">
                                            <p:cTn id="22" dur="500" fill="hold"/>
                                            <p:tgtEl>
                                              <p:spTgt spid="25"/>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down)">
                                          <p:cBhvr>
                                            <p:cTn id="26" dur="500"/>
                                            <p:tgtEl>
                                              <p:spTgt spid="31"/>
                                            </p:tgtEl>
                                          </p:cBhvr>
                                        </p:animEffect>
                                      </p:childTnLst>
                                    </p:cTn>
                                  </p:par>
                                </p:childTnLst>
                              </p:cTn>
                            </p:par>
                            <p:par>
                              <p:cTn id="27" fill="hold">
                                <p:stCondLst>
                                  <p:cond delay="1000"/>
                                </p:stCondLst>
                                <p:childTnLst>
                                  <p:par>
                                    <p:cTn id="28" presetID="47" presetClass="entr" presetSubtype="0" fill="hold" grpId="0" nodeType="after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anim calcmode="lin" valueType="num">
                                          <p:cBhvr>
                                            <p:cTn id="31" dur="500" fill="hold"/>
                                            <p:tgtEl>
                                              <p:spTgt spid="36"/>
                                            </p:tgtEl>
                                            <p:attrNameLst>
                                              <p:attrName>ppt_x</p:attrName>
                                            </p:attrNameLst>
                                          </p:cBhvr>
                                          <p:tavLst>
                                            <p:tav tm="0">
                                              <p:val>
                                                <p:strVal val="#ppt_x"/>
                                              </p:val>
                                            </p:tav>
                                            <p:tav tm="100000">
                                              <p:val>
                                                <p:strVal val="#ppt_x"/>
                                              </p:val>
                                            </p:tav>
                                          </p:tavLst>
                                        </p:anim>
                                        <p:anim calcmode="lin" valueType="num">
                                          <p:cBhvr>
                                            <p:cTn id="32"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fill="hold"/>
                                            <p:tgtEl>
                                              <p:spTgt spid="26"/>
                                            </p:tgtEl>
                                            <p:attrNameLst>
                                              <p:attrName>ppt_x</p:attrName>
                                            </p:attrNameLst>
                                          </p:cBhvr>
                                          <p:tavLst>
                                            <p:tav tm="0">
                                              <p:val>
                                                <p:strVal val="0-#ppt_w/2"/>
                                              </p:val>
                                            </p:tav>
                                            <p:tav tm="100000">
                                              <p:val>
                                                <p:strVal val="#ppt_x"/>
                                              </p:val>
                                            </p:tav>
                                          </p:tavLst>
                                        </p:anim>
                                        <p:anim calcmode="lin" valueType="num">
                                          <p:cBhvr additive="base">
                                            <p:cTn id="38" dur="500" fill="hold"/>
                                            <p:tgtEl>
                                              <p:spTgt spid="26"/>
                                            </p:tgtEl>
                                            <p:attrNameLst>
                                              <p:attrName>ppt_y</p:attrName>
                                            </p:attrNameLst>
                                          </p:cBhvr>
                                          <p:tavLst>
                                            <p:tav tm="0">
                                              <p:val>
                                                <p:strVal val="#ppt_y"/>
                                              </p:val>
                                            </p:tav>
                                            <p:tav tm="100000">
                                              <p:val>
                                                <p:strVal val="#ppt_y"/>
                                              </p:val>
                                            </p:tav>
                                          </p:tavLst>
                                        </p:anim>
                                      </p:childTnLst>
                                    </p:cTn>
                                  </p:par>
                                </p:childTnLst>
                              </p:cTn>
                            </p:par>
                            <p:par>
                              <p:cTn id="39" fill="hold">
                                <p:stCondLst>
                                  <p:cond delay="500"/>
                                </p:stCondLst>
                                <p:childTnLst>
                                  <p:par>
                                    <p:cTn id="40" presetID="22" presetClass="entr" presetSubtype="1" fill="hold" nodeType="after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up)">
                                          <p:cBhvr>
                                            <p:cTn id="42" dur="500"/>
                                            <p:tgtEl>
                                              <p:spTgt spid="33"/>
                                            </p:tgtEl>
                                          </p:cBhvr>
                                        </p:animEffect>
                                      </p:childTnLst>
                                    </p:cTn>
                                  </p:par>
                                </p:childTnLst>
                              </p:cTn>
                            </p:par>
                            <p:par>
                              <p:cTn id="43" fill="hold">
                                <p:stCondLst>
                                  <p:cond delay="1000"/>
                                </p:stCondLst>
                                <p:childTnLst>
                                  <p:par>
                                    <p:cTn id="44" presetID="42" presetClass="entr" presetSubtype="0" fill="hold" grpId="0" nodeType="after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anim calcmode="lin" valueType="num">
                                          <p:cBhvr>
                                            <p:cTn id="47" dur="500" fill="hold"/>
                                            <p:tgtEl>
                                              <p:spTgt spid="37"/>
                                            </p:tgtEl>
                                            <p:attrNameLst>
                                              <p:attrName>ppt_x</p:attrName>
                                            </p:attrNameLst>
                                          </p:cBhvr>
                                          <p:tavLst>
                                            <p:tav tm="0">
                                              <p:val>
                                                <p:strVal val="#ppt_x"/>
                                              </p:val>
                                            </p:tav>
                                            <p:tav tm="100000">
                                              <p:val>
                                                <p:strVal val="#ppt_x"/>
                                              </p:val>
                                            </p:tav>
                                          </p:tavLst>
                                        </p:anim>
                                        <p:anim calcmode="lin" valueType="num">
                                          <p:cBhvr>
                                            <p:cTn id="48" dur="5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cBhvr additive="base">
                                            <p:cTn id="53" dur="500" fill="hold"/>
                                            <p:tgtEl>
                                              <p:spTgt spid="27"/>
                                            </p:tgtEl>
                                            <p:attrNameLst>
                                              <p:attrName>ppt_x</p:attrName>
                                            </p:attrNameLst>
                                          </p:cBhvr>
                                          <p:tavLst>
                                            <p:tav tm="0">
                                              <p:val>
                                                <p:strVal val="0-#ppt_w/2"/>
                                              </p:val>
                                            </p:tav>
                                            <p:tav tm="100000">
                                              <p:val>
                                                <p:strVal val="#ppt_x"/>
                                              </p:val>
                                            </p:tav>
                                          </p:tavLst>
                                        </p:anim>
                                        <p:anim calcmode="lin" valueType="num">
                                          <p:cBhvr additive="base">
                                            <p:cTn id="54" dur="500" fill="hold"/>
                                            <p:tgtEl>
                                              <p:spTgt spid="27"/>
                                            </p:tgtEl>
                                            <p:attrNameLst>
                                              <p:attrName>ppt_y</p:attrName>
                                            </p:attrNameLst>
                                          </p:cBhvr>
                                          <p:tavLst>
                                            <p:tav tm="0">
                                              <p:val>
                                                <p:strVal val="#ppt_y"/>
                                              </p:val>
                                            </p:tav>
                                            <p:tav tm="100000">
                                              <p:val>
                                                <p:strVal val="#ppt_y"/>
                                              </p:val>
                                            </p:tav>
                                          </p:tavLst>
                                        </p:anim>
                                      </p:childTnLst>
                                    </p:cTn>
                                  </p:par>
                                </p:childTnLst>
                              </p:cTn>
                            </p:par>
                            <p:par>
                              <p:cTn id="55" fill="hold">
                                <p:stCondLst>
                                  <p:cond delay="500"/>
                                </p:stCondLst>
                                <p:childTnLst>
                                  <p:par>
                                    <p:cTn id="56" presetID="22" presetClass="entr" presetSubtype="4" fill="hold" nodeType="after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down)">
                                          <p:cBhvr>
                                            <p:cTn id="58" dur="500"/>
                                            <p:tgtEl>
                                              <p:spTgt spid="32"/>
                                            </p:tgtEl>
                                          </p:cBhvr>
                                        </p:animEffect>
                                      </p:childTnLst>
                                    </p:cTn>
                                  </p:par>
                                </p:childTnLst>
                              </p:cTn>
                            </p:par>
                            <p:par>
                              <p:cTn id="59" fill="hold">
                                <p:stCondLst>
                                  <p:cond delay="1000"/>
                                </p:stCondLst>
                                <p:childTnLst>
                                  <p:par>
                                    <p:cTn id="60" presetID="47" presetClass="entr" presetSubtype="0" fill="hold" grpId="0" nodeType="after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fade">
                                          <p:cBhvr>
                                            <p:cTn id="62" dur="500"/>
                                            <p:tgtEl>
                                              <p:spTgt spid="35"/>
                                            </p:tgtEl>
                                          </p:cBhvr>
                                        </p:animEffect>
                                        <p:anim calcmode="lin" valueType="num">
                                          <p:cBhvr>
                                            <p:cTn id="63" dur="500" fill="hold"/>
                                            <p:tgtEl>
                                              <p:spTgt spid="35"/>
                                            </p:tgtEl>
                                            <p:attrNameLst>
                                              <p:attrName>ppt_x</p:attrName>
                                            </p:attrNameLst>
                                          </p:cBhvr>
                                          <p:tavLst>
                                            <p:tav tm="0">
                                              <p:val>
                                                <p:strVal val="#ppt_x"/>
                                              </p:val>
                                            </p:tav>
                                            <p:tav tm="100000">
                                              <p:val>
                                                <p:strVal val="#ppt_x"/>
                                              </p:val>
                                            </p:tav>
                                          </p:tavLst>
                                        </p:anim>
                                        <p:anim calcmode="lin" valueType="num">
                                          <p:cBhvr>
                                            <p:cTn id="64"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nodeType="click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additive="base">
                                            <p:cTn id="69" dur="500" fill="hold"/>
                                            <p:tgtEl>
                                              <p:spTgt spid="28"/>
                                            </p:tgtEl>
                                            <p:attrNameLst>
                                              <p:attrName>ppt_x</p:attrName>
                                            </p:attrNameLst>
                                          </p:cBhvr>
                                          <p:tavLst>
                                            <p:tav tm="0">
                                              <p:val>
                                                <p:strVal val="0-#ppt_w/2"/>
                                              </p:val>
                                            </p:tav>
                                            <p:tav tm="100000">
                                              <p:val>
                                                <p:strVal val="#ppt_x"/>
                                              </p:val>
                                            </p:tav>
                                          </p:tavLst>
                                        </p:anim>
                                        <p:anim calcmode="lin" valueType="num">
                                          <p:cBhvr additive="base">
                                            <p:cTn id="70" dur="500" fill="hold"/>
                                            <p:tgtEl>
                                              <p:spTgt spid="28"/>
                                            </p:tgtEl>
                                            <p:attrNameLst>
                                              <p:attrName>ppt_y</p:attrName>
                                            </p:attrNameLst>
                                          </p:cBhvr>
                                          <p:tavLst>
                                            <p:tav tm="0">
                                              <p:val>
                                                <p:strVal val="#ppt_y"/>
                                              </p:val>
                                            </p:tav>
                                            <p:tav tm="100000">
                                              <p:val>
                                                <p:strVal val="#ppt_y"/>
                                              </p:val>
                                            </p:tav>
                                          </p:tavLst>
                                        </p:anim>
                                      </p:childTnLst>
                                    </p:cTn>
                                  </p:par>
                                </p:childTnLst>
                              </p:cTn>
                            </p:par>
                            <p:par>
                              <p:cTn id="71" fill="hold">
                                <p:stCondLst>
                                  <p:cond delay="500"/>
                                </p:stCondLst>
                                <p:childTnLst>
                                  <p:par>
                                    <p:cTn id="72" presetID="22" presetClass="entr" presetSubtype="1" fill="hold" nodeType="after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wipe(up)">
                                          <p:cBhvr>
                                            <p:cTn id="74" dur="500"/>
                                            <p:tgtEl>
                                              <p:spTgt spid="34"/>
                                            </p:tgtEl>
                                          </p:cBhvr>
                                        </p:animEffect>
                                      </p:childTnLst>
                                    </p:cTn>
                                  </p:par>
                                </p:childTnLst>
                              </p:cTn>
                            </p:par>
                            <p:par>
                              <p:cTn id="75" fill="hold">
                                <p:stCondLst>
                                  <p:cond delay="1000"/>
                                </p:stCondLst>
                                <p:childTnLst>
                                  <p:par>
                                    <p:cTn id="76" presetID="42" presetClass="entr" presetSubtype="0" fill="hold" grpId="0"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500"/>
                                            <p:tgtEl>
                                              <p:spTgt spid="38"/>
                                            </p:tgtEl>
                                          </p:cBhvr>
                                        </p:animEffect>
                                        <p:anim calcmode="lin" valueType="num">
                                          <p:cBhvr>
                                            <p:cTn id="79" dur="500" fill="hold"/>
                                            <p:tgtEl>
                                              <p:spTgt spid="38"/>
                                            </p:tgtEl>
                                            <p:attrNameLst>
                                              <p:attrName>ppt_x</p:attrName>
                                            </p:attrNameLst>
                                          </p:cBhvr>
                                          <p:tavLst>
                                            <p:tav tm="0">
                                              <p:val>
                                                <p:strVal val="#ppt_x"/>
                                              </p:val>
                                            </p:tav>
                                            <p:tav tm="100000">
                                              <p:val>
                                                <p:strVal val="#ppt_x"/>
                                              </p:val>
                                            </p:tav>
                                          </p:tavLst>
                                        </p:anim>
                                        <p:anim calcmode="lin" valueType="num">
                                          <p:cBhvr>
                                            <p:cTn id="80" dur="5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3" grpId="0" animBg="1"/>
          <p:bldP spid="24" grpId="0" animBg="1"/>
          <p:bldP spid="25" grpId="0" animBg="1"/>
          <p:bldP spid="26" grpId="0" animBg="1"/>
          <p:bldP spid="27" grpId="0" animBg="1"/>
          <p:bldP spid="35" grpId="0" bldLvl="0" animBg="1"/>
          <p:bldP spid="36" grpId="0" bldLvl="0" animBg="1"/>
          <p:bldP spid="37" grpId="0" bldLvl="0" animBg="1"/>
          <p:bldP spid="38" grpId="0" bldLvl="0" animBg="1"/>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spcAft>
                <a:spcPts val="0"/>
              </a:spcAft>
            </a:pPr>
            <a:r>
              <a:rPr lang="zh-CN" altLang="en-US" dirty="0"/>
              <a:t>如何建立用例模型</a:t>
            </a:r>
            <a:endParaRPr lang="zh-CN" altLang="en-US" dirty="0"/>
          </a:p>
        </p:txBody>
      </p:sp>
      <p:sp>
        <p:nvSpPr>
          <p:cNvPr id="5" name="日期占位符 4"/>
          <p:cNvSpPr>
            <a:spLocks noGrp="1"/>
          </p:cNvSpPr>
          <p:nvPr>
            <p:ph type="dt" sz="half" idx="10"/>
          </p:nvPr>
        </p:nvSpPr>
        <p:spPr/>
        <p:txBody>
          <a:bodyPr/>
          <a:lstStyle/>
          <a:p>
            <a:pPr>
              <a:spcAft>
                <a:spcPts val="0"/>
              </a:spcAft>
            </a:pPr>
            <a:fld id="{06606A4B-60E5-4453-ABF7-CEBA09E3678D}"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23" name="矩形"/>
          <p:cNvSpPr/>
          <p:nvPr/>
        </p:nvSpPr>
        <p:spPr>
          <a:xfrm>
            <a:off x="1423334" y="2090306"/>
            <a:ext cx="6789614" cy="3428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4" name="矩形"/>
          <p:cNvSpPr/>
          <p:nvPr/>
        </p:nvSpPr>
        <p:spPr>
          <a:xfrm>
            <a:off x="1063625" y="2906395"/>
            <a:ext cx="6993890" cy="7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5" name="平行四边形"/>
          <p:cNvSpPr/>
          <p:nvPr/>
        </p:nvSpPr>
        <p:spPr>
          <a:xfrm>
            <a:off x="673735" y="2200275"/>
            <a:ext cx="1993900" cy="598170"/>
          </a:xfrm>
          <a:prstGeom prst="parallelogram">
            <a:avLst>
              <a:gd name="adj" fmla="val 4551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zh-CN" altLang="en-US" b="1">
                <a:solidFill>
                  <a:prstClr val="white"/>
                </a:solidFill>
              </a:rPr>
              <a:t>定义系统</a:t>
            </a:r>
            <a:endParaRPr lang="zh-CN" altLang="en-US" b="1" dirty="0">
              <a:solidFill>
                <a:prstClr val="white"/>
              </a:solidFill>
            </a:endParaRPr>
          </a:p>
        </p:txBody>
      </p:sp>
      <p:sp>
        <p:nvSpPr>
          <p:cNvPr id="26" name="平行四边形"/>
          <p:cNvSpPr/>
          <p:nvPr/>
        </p:nvSpPr>
        <p:spPr>
          <a:xfrm>
            <a:off x="2487712" y="2200687"/>
            <a:ext cx="1941803" cy="625983"/>
          </a:xfrm>
          <a:prstGeom prst="parallelogram">
            <a:avLst>
              <a:gd name="adj" fmla="val 4551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zh-CN" altLang="en-US" b="1">
                <a:solidFill>
                  <a:prstClr val="white"/>
                </a:solidFill>
              </a:rPr>
              <a:t>确定执行者和用例</a:t>
            </a:r>
            <a:endParaRPr lang="zh-CN" altLang="en-US" b="1" dirty="0">
              <a:solidFill>
                <a:prstClr val="white"/>
              </a:solidFill>
            </a:endParaRPr>
          </a:p>
        </p:txBody>
      </p:sp>
      <p:sp>
        <p:nvSpPr>
          <p:cNvPr id="27" name="平行四边形"/>
          <p:cNvSpPr/>
          <p:nvPr/>
        </p:nvSpPr>
        <p:spPr>
          <a:xfrm>
            <a:off x="4337727" y="2186660"/>
            <a:ext cx="2094726" cy="625983"/>
          </a:xfrm>
          <a:prstGeom prst="parallelogram">
            <a:avLst>
              <a:gd name="adj" fmla="val 4551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zh-CN" altLang="en-US" b="1">
                <a:solidFill>
                  <a:prstClr val="white"/>
                </a:solidFill>
              </a:rPr>
              <a:t>描述执行者和用例关系</a:t>
            </a:r>
            <a:endParaRPr lang="zh-CN" altLang="en-US" b="1" dirty="0">
              <a:solidFill>
                <a:prstClr val="white"/>
              </a:solidFill>
            </a:endParaRPr>
          </a:p>
        </p:txBody>
      </p:sp>
      <p:grpSp>
        <p:nvGrpSpPr>
          <p:cNvPr id="28" name="组合"/>
          <p:cNvGrpSpPr/>
          <p:nvPr/>
        </p:nvGrpSpPr>
        <p:grpSpPr>
          <a:xfrm>
            <a:off x="6259830" y="1908173"/>
            <a:ext cx="2734942" cy="914682"/>
            <a:chOff x="7482902" y="2822403"/>
            <a:chExt cx="3140226" cy="1492180"/>
          </a:xfrm>
          <a:solidFill>
            <a:schemeClr val="accent1"/>
          </a:solidFill>
        </p:grpSpPr>
        <p:sp>
          <p:nvSpPr>
            <p:cNvPr id="29" name="平行四边形"/>
            <p:cNvSpPr/>
            <p:nvPr/>
          </p:nvSpPr>
          <p:spPr>
            <a:xfrm>
              <a:off x="7482902" y="3293664"/>
              <a:ext cx="2222968" cy="1020919"/>
            </a:xfrm>
            <a:prstGeom prst="parallelogram">
              <a:avLst>
                <a:gd name="adj" fmla="val 4551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0"/>
                </a:spcAft>
              </a:pPr>
              <a:r>
                <a:rPr lang="zh-CN" altLang="en-US" b="1">
                  <a:solidFill>
                    <a:prstClr val="white"/>
                  </a:solidFill>
                </a:rPr>
                <a:t>确认模型</a:t>
              </a:r>
              <a:endParaRPr lang="zh-CN" altLang="en-US" b="1" dirty="0">
                <a:solidFill>
                  <a:prstClr val="white"/>
                </a:solidFill>
              </a:endParaRPr>
            </a:p>
          </p:txBody>
        </p:sp>
        <p:sp>
          <p:nvSpPr>
            <p:cNvPr id="30" name="等腰三角形"/>
            <p:cNvSpPr/>
            <p:nvPr/>
          </p:nvSpPr>
          <p:spPr>
            <a:xfrm rot="19800000">
              <a:off x="8836107" y="2822403"/>
              <a:ext cx="1787021" cy="146893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31" name="连接线条"/>
          <p:cNvCxnSpPr/>
          <p:nvPr/>
        </p:nvCxnSpPr>
        <p:spPr>
          <a:xfrm>
            <a:off x="2052948" y="1813347"/>
            <a:ext cx="0" cy="279828"/>
          </a:xfrm>
          <a:prstGeom prst="line">
            <a:avLst/>
          </a:prstGeom>
          <a:noFill/>
          <a:ln w="12700" cap="flat">
            <a:solidFill>
              <a:schemeClr val="tx1">
                <a:lumMod val="75000"/>
                <a:lumOff val="25000"/>
              </a:schemeClr>
            </a:solidFill>
            <a:prstDash val="sysDash"/>
            <a:headEnd type="triangle" w="lg" len="lg"/>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2" name="连接线条"/>
          <p:cNvCxnSpPr/>
          <p:nvPr/>
        </p:nvCxnSpPr>
        <p:spPr>
          <a:xfrm>
            <a:off x="5483213" y="1846721"/>
            <a:ext cx="0" cy="277874"/>
          </a:xfrm>
          <a:prstGeom prst="line">
            <a:avLst/>
          </a:prstGeom>
          <a:noFill/>
          <a:ln w="12700" cap="flat">
            <a:solidFill>
              <a:schemeClr val="tx1">
                <a:lumMod val="75000"/>
                <a:lumOff val="25000"/>
              </a:schemeClr>
            </a:solidFill>
            <a:prstDash val="sysDash"/>
            <a:headEnd type="triangle" w="lg" len="lg"/>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3" name="连接线条"/>
          <p:cNvCxnSpPr/>
          <p:nvPr/>
        </p:nvCxnSpPr>
        <p:spPr>
          <a:xfrm>
            <a:off x="2873025" y="2940998"/>
            <a:ext cx="0" cy="198663"/>
          </a:xfrm>
          <a:prstGeom prst="line">
            <a:avLst/>
          </a:prstGeom>
          <a:noFill/>
          <a:ln w="12700" cap="flat">
            <a:solidFill>
              <a:schemeClr val="accent1"/>
            </a:solidFill>
            <a:prstDash val="sys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cxnSp>
      <p:cxnSp>
        <p:nvCxnSpPr>
          <p:cNvPr id="34" name="连接线条"/>
          <p:cNvCxnSpPr/>
          <p:nvPr/>
        </p:nvCxnSpPr>
        <p:spPr>
          <a:xfrm>
            <a:off x="6966023" y="2940998"/>
            <a:ext cx="0" cy="198663"/>
          </a:xfrm>
          <a:prstGeom prst="line">
            <a:avLst/>
          </a:prstGeom>
          <a:noFill/>
          <a:ln w="12700" cap="flat">
            <a:solidFill>
              <a:schemeClr val="accent1"/>
            </a:solidFill>
            <a:prstDash val="sys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cxnSp>
      <p:sp>
        <p:nvSpPr>
          <p:cNvPr id="35" name="文本"/>
          <p:cNvSpPr/>
          <p:nvPr/>
        </p:nvSpPr>
        <p:spPr>
          <a:xfrm>
            <a:off x="3994230" y="1047016"/>
            <a:ext cx="3248894" cy="755650"/>
          </a:xfrm>
          <a:prstGeom prst="rect">
            <a:avLst/>
          </a:prstGeom>
          <a:solidFill>
            <a:schemeClr val="bg1">
              <a:lumMod val="95000"/>
            </a:schemeClr>
          </a:solidFill>
          <a:ln>
            <a:solidFill>
              <a:schemeClr val="tx1"/>
            </a:solidFill>
            <a:prstDash val="dash"/>
          </a:ln>
        </p:spPr>
        <p:txBody>
          <a:bodyPr wrap="square" rtlCol="0" anchor="b">
            <a:spAutoFit/>
          </a:bodyPr>
          <a:lstStyle/>
          <a:p>
            <a:pPr>
              <a:lnSpc>
                <a:spcPct val="120000"/>
              </a:lnSpc>
              <a:spcAft>
                <a:spcPts val="0"/>
              </a:spcAft>
            </a:pPr>
            <a:r>
              <a:rPr lang="zh-CN" altLang="en-US" spc="113" dirty="0">
                <a:solidFill>
                  <a:schemeClr val="tx1">
                    <a:lumMod val="95000"/>
                    <a:lumOff val="5000"/>
                  </a:schemeClr>
                </a:solidFill>
                <a:latin typeface="+mj-ea"/>
                <a:ea typeface="+mj-ea"/>
              </a:rPr>
              <a:t>各模型元素之间有：关联、包含、扩展及泛化等关系。</a:t>
            </a:r>
            <a:endParaRPr lang="zh-CN" altLang="en-US" spc="113" dirty="0">
              <a:solidFill>
                <a:schemeClr val="tx1">
                  <a:lumMod val="95000"/>
                  <a:lumOff val="5000"/>
                </a:schemeClr>
              </a:solidFill>
              <a:latin typeface="+mj-ea"/>
              <a:ea typeface="+mj-ea"/>
            </a:endParaRPr>
          </a:p>
        </p:txBody>
      </p:sp>
      <p:sp>
        <p:nvSpPr>
          <p:cNvPr id="36" name="文本"/>
          <p:cNvSpPr/>
          <p:nvPr/>
        </p:nvSpPr>
        <p:spPr>
          <a:xfrm>
            <a:off x="990514" y="1042866"/>
            <a:ext cx="2224967" cy="755650"/>
          </a:xfrm>
          <a:prstGeom prst="rect">
            <a:avLst/>
          </a:prstGeom>
          <a:solidFill>
            <a:schemeClr val="bg1">
              <a:lumMod val="95000"/>
            </a:schemeClr>
          </a:solidFill>
          <a:ln>
            <a:solidFill>
              <a:schemeClr val="tx1"/>
            </a:solidFill>
            <a:prstDash val="dash"/>
          </a:ln>
        </p:spPr>
        <p:txBody>
          <a:bodyPr wrap="square" rtlCol="0" anchor="b">
            <a:spAutoFit/>
          </a:bodyPr>
          <a:lstStyle/>
          <a:p>
            <a:pPr marL="214630" indent="-214630">
              <a:lnSpc>
                <a:spcPct val="120000"/>
              </a:lnSpc>
              <a:spcAft>
                <a:spcPts val="0"/>
              </a:spcAft>
              <a:buFont typeface="Arial" panose="020B0604020202020204" pitchFamily="34" charset="0"/>
              <a:buChar char="•"/>
            </a:pPr>
            <a:r>
              <a:rPr lang="zh-CN" altLang="en-US" spc="113" dirty="0">
                <a:solidFill>
                  <a:schemeClr val="tx1">
                    <a:lumMod val="95000"/>
                    <a:lumOff val="5000"/>
                  </a:schemeClr>
                </a:solidFill>
                <a:latin typeface="+mj-ea"/>
                <a:ea typeface="+mj-ea"/>
              </a:rPr>
              <a:t>确定系统范围</a:t>
            </a:r>
            <a:endParaRPr lang="en-US" altLang="zh-CN" spc="113" dirty="0">
              <a:solidFill>
                <a:schemeClr val="tx1">
                  <a:lumMod val="95000"/>
                  <a:lumOff val="5000"/>
                </a:schemeClr>
              </a:solidFill>
              <a:latin typeface="+mj-ea"/>
              <a:ea typeface="+mj-ea"/>
            </a:endParaRPr>
          </a:p>
          <a:p>
            <a:pPr marL="214630" indent="-214630">
              <a:lnSpc>
                <a:spcPct val="120000"/>
              </a:lnSpc>
              <a:spcBef>
                <a:spcPts val="0"/>
              </a:spcBef>
              <a:buFont typeface="Arial" panose="020B0604020202020204" pitchFamily="34" charset="0"/>
              <a:buChar char="•"/>
            </a:pPr>
            <a:r>
              <a:rPr lang="zh-CN" altLang="en-US" spc="113" dirty="0">
                <a:solidFill>
                  <a:schemeClr val="tx1">
                    <a:lumMod val="95000"/>
                    <a:lumOff val="5000"/>
                  </a:schemeClr>
                </a:solidFill>
                <a:latin typeface="+mj-ea"/>
                <a:ea typeface="+mj-ea"/>
              </a:rPr>
              <a:t>分析系统功能</a:t>
            </a:r>
            <a:endParaRPr lang="zh-CN" altLang="en-US" spc="113" dirty="0">
              <a:solidFill>
                <a:schemeClr val="tx1">
                  <a:lumMod val="95000"/>
                  <a:lumOff val="5000"/>
                </a:schemeClr>
              </a:solidFill>
              <a:latin typeface="+mj-ea"/>
              <a:ea typeface="+mj-ea"/>
            </a:endParaRPr>
          </a:p>
        </p:txBody>
      </p:sp>
      <p:sp>
        <p:nvSpPr>
          <p:cNvPr id="37" name="文本"/>
          <p:cNvSpPr/>
          <p:nvPr/>
        </p:nvSpPr>
        <p:spPr>
          <a:xfrm>
            <a:off x="839790" y="3155753"/>
            <a:ext cx="4143635" cy="1419860"/>
          </a:xfrm>
          <a:prstGeom prst="rect">
            <a:avLst/>
          </a:prstGeom>
          <a:solidFill>
            <a:schemeClr val="bg1">
              <a:lumMod val="95000"/>
            </a:schemeClr>
          </a:solidFill>
          <a:ln>
            <a:solidFill>
              <a:schemeClr val="tx1"/>
            </a:solidFill>
            <a:prstDash val="dash"/>
          </a:ln>
        </p:spPr>
        <p:txBody>
          <a:bodyPr wrap="square" rtlCol="0" anchor="t">
            <a:spAutoFit/>
          </a:bodyPr>
          <a:lstStyle/>
          <a:p>
            <a:pPr marL="214630" indent="-214630">
              <a:lnSpc>
                <a:spcPct val="120000"/>
              </a:lnSpc>
              <a:spcAft>
                <a:spcPts val="0"/>
              </a:spcAft>
              <a:buFont typeface="Arial" panose="020B0604020202020204" pitchFamily="34" charset="0"/>
              <a:buChar char="•"/>
            </a:pPr>
            <a:r>
              <a:rPr lang="zh-CN" altLang="en-US" spc="113" dirty="0">
                <a:solidFill>
                  <a:schemeClr val="tx1">
                    <a:lumMod val="95000"/>
                    <a:lumOff val="5000"/>
                  </a:schemeClr>
                </a:solidFill>
                <a:latin typeface="+mj-ea"/>
                <a:ea typeface="+mj-ea"/>
              </a:rPr>
              <a:t>执行者通常是使用系统功能的外部用户或系统。</a:t>
            </a:r>
            <a:endParaRPr lang="zh-CN" altLang="en-US" spc="113" dirty="0">
              <a:solidFill>
                <a:schemeClr val="tx1">
                  <a:lumMod val="95000"/>
                  <a:lumOff val="5000"/>
                </a:schemeClr>
              </a:solidFill>
              <a:latin typeface="+mj-ea"/>
              <a:ea typeface="+mj-ea"/>
            </a:endParaRPr>
          </a:p>
          <a:p>
            <a:pPr marL="214630" indent="-214630">
              <a:lnSpc>
                <a:spcPct val="120000"/>
              </a:lnSpc>
              <a:spcBef>
                <a:spcPts val="0"/>
              </a:spcBef>
              <a:buFont typeface="Arial" panose="020B0604020202020204" pitchFamily="34" charset="0"/>
              <a:buChar char="•"/>
            </a:pPr>
            <a:r>
              <a:rPr lang="zh-CN" altLang="en-US" spc="113" dirty="0">
                <a:solidFill>
                  <a:schemeClr val="tx1">
                    <a:lumMod val="95000"/>
                    <a:lumOff val="5000"/>
                  </a:schemeClr>
                </a:solidFill>
                <a:latin typeface="+mj-ea"/>
                <a:ea typeface="+mj-ea"/>
              </a:rPr>
              <a:t>用例是一个子系统或系统的一个独立、完整功能。</a:t>
            </a:r>
            <a:endParaRPr lang="zh-CN" altLang="en-US" spc="113" dirty="0">
              <a:solidFill>
                <a:schemeClr val="tx1">
                  <a:lumMod val="95000"/>
                  <a:lumOff val="5000"/>
                </a:schemeClr>
              </a:solidFill>
              <a:latin typeface="+mj-ea"/>
              <a:ea typeface="+mj-ea"/>
            </a:endParaRPr>
          </a:p>
        </p:txBody>
      </p:sp>
      <p:sp>
        <p:nvSpPr>
          <p:cNvPr id="38" name="文本"/>
          <p:cNvSpPr/>
          <p:nvPr/>
        </p:nvSpPr>
        <p:spPr>
          <a:xfrm>
            <a:off x="5557821" y="3155753"/>
            <a:ext cx="3284601" cy="1087755"/>
          </a:xfrm>
          <a:prstGeom prst="rect">
            <a:avLst/>
          </a:prstGeom>
          <a:solidFill>
            <a:schemeClr val="bg1">
              <a:lumMod val="95000"/>
            </a:schemeClr>
          </a:solidFill>
          <a:ln>
            <a:solidFill>
              <a:schemeClr val="tx1"/>
            </a:solidFill>
            <a:prstDash val="dash"/>
          </a:ln>
        </p:spPr>
        <p:txBody>
          <a:bodyPr wrap="square" rtlCol="0" anchor="t">
            <a:spAutoFit/>
          </a:bodyPr>
          <a:lstStyle/>
          <a:p>
            <a:pPr>
              <a:lnSpc>
                <a:spcPct val="120000"/>
              </a:lnSpc>
              <a:spcAft>
                <a:spcPts val="0"/>
              </a:spcAft>
            </a:pPr>
            <a:r>
              <a:rPr lang="zh-CN" altLang="en-US" spc="113" dirty="0">
                <a:solidFill>
                  <a:schemeClr val="tx1">
                    <a:lumMod val="95000"/>
                    <a:lumOff val="5000"/>
                  </a:schemeClr>
                </a:solidFill>
                <a:latin typeface="+mj-ea"/>
                <a:ea typeface="+mj-ea"/>
              </a:rPr>
              <a:t>确认用例模型与用户需求的一致性，通常由用户与开发者共同完成。</a:t>
            </a:r>
            <a:endParaRPr lang="zh-CN" altLang="en-US" spc="113" dirty="0">
              <a:solidFill>
                <a:schemeClr val="tx1">
                  <a:lumMod val="95000"/>
                  <a:lumOff val="5000"/>
                </a:schemeClr>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14:presetBounceEnd="20000">
                                      <p:stCondLst>
                                        <p:cond delay="0"/>
                                      </p:stCondLst>
                                      <p:childTnLst>
                                        <p:set>
                                          <p:cBhvr>
                                            <p:cTn id="15" dur="1" fill="hold">
                                              <p:stCondLst>
                                                <p:cond delay="0"/>
                                              </p:stCondLst>
                                            </p:cTn>
                                            <p:tgtEl>
                                              <p:spTgt spid="25"/>
                                            </p:tgtEl>
                                            <p:attrNameLst>
                                              <p:attrName>style.visibility</p:attrName>
                                            </p:attrNameLst>
                                          </p:cBhvr>
                                          <p:to>
                                            <p:strVal val="visible"/>
                                          </p:to>
                                        </p:set>
                                        <p:anim calcmode="lin" valueType="num" p14:bounceEnd="20000">
                                          <p:cBhvr additive="base">
                                            <p:cTn id="16" dur="500" fill="hold"/>
                                            <p:tgtEl>
                                              <p:spTgt spid="25"/>
                                            </p:tgtEl>
                                            <p:attrNameLst>
                                              <p:attrName>ppt_x</p:attrName>
                                            </p:attrNameLst>
                                          </p:cBhvr>
                                          <p:tavLst>
                                            <p:tav tm="0">
                                              <p:val>
                                                <p:strVal val="0-#ppt_w/2"/>
                                              </p:val>
                                            </p:tav>
                                            <p:tav tm="100000">
                                              <p:val>
                                                <p:strVal val="#ppt_x"/>
                                              </p:val>
                                            </p:tav>
                                          </p:tavLst>
                                        </p:anim>
                                        <p:anim calcmode="lin" valueType="num" p14:bounceEnd="20000">
                                          <p:cBhvr additive="base">
                                            <p:cTn id="17" dur="500" fill="hold"/>
                                            <p:tgtEl>
                                              <p:spTgt spid="25"/>
                                            </p:tgtEl>
                                            <p:attrNameLst>
                                              <p:attrName>ppt_y</p:attrName>
                                            </p:attrNameLst>
                                          </p:cBhvr>
                                          <p:tavLst>
                                            <p:tav tm="0">
                                              <p:val>
                                                <p:strVal val="#ppt_y"/>
                                              </p:val>
                                            </p:tav>
                                            <p:tav tm="100000">
                                              <p:val>
                                                <p:strVal val="#ppt_y"/>
                                              </p:val>
                                            </p:tav>
                                          </p:tavLst>
                                        </p:anim>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down)">
                                          <p:cBhvr>
                                            <p:cTn id="21" dur="500"/>
                                            <p:tgtEl>
                                              <p:spTgt spid="31"/>
                                            </p:tgtEl>
                                          </p:cBhvr>
                                        </p:animEffect>
                                      </p:childTnLst>
                                    </p:cTn>
                                  </p:par>
                                </p:childTnLst>
                              </p:cTn>
                            </p:par>
                            <p:par>
                              <p:cTn id="22" fill="hold">
                                <p:stCondLst>
                                  <p:cond delay="1000"/>
                                </p:stCondLst>
                                <p:childTnLst>
                                  <p:par>
                                    <p:cTn id="23" presetID="47" presetClass="entr" presetSubtype="0" fill="hold" grpId="0" nodeType="after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anim calcmode="lin" valueType="num">
                                          <p:cBhvr>
                                            <p:cTn id="26" dur="500" fill="hold"/>
                                            <p:tgtEl>
                                              <p:spTgt spid="36"/>
                                            </p:tgtEl>
                                            <p:attrNameLst>
                                              <p:attrName>ppt_x</p:attrName>
                                            </p:attrNameLst>
                                          </p:cBhvr>
                                          <p:tavLst>
                                            <p:tav tm="0">
                                              <p:val>
                                                <p:strVal val="#ppt_x"/>
                                              </p:val>
                                            </p:tav>
                                            <p:tav tm="100000">
                                              <p:val>
                                                <p:strVal val="#ppt_x"/>
                                              </p:val>
                                            </p:tav>
                                          </p:tavLst>
                                        </p:anim>
                                        <p:anim calcmode="lin" valueType="num">
                                          <p:cBhvr>
                                            <p:cTn id="27"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14:presetBounceEnd="20000">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14:bounceEnd="20000">
                                          <p:cBhvr additive="base">
                                            <p:cTn id="32" dur="500" fill="hold"/>
                                            <p:tgtEl>
                                              <p:spTgt spid="26"/>
                                            </p:tgtEl>
                                            <p:attrNameLst>
                                              <p:attrName>ppt_x</p:attrName>
                                            </p:attrNameLst>
                                          </p:cBhvr>
                                          <p:tavLst>
                                            <p:tav tm="0">
                                              <p:val>
                                                <p:strVal val="0-#ppt_w/2"/>
                                              </p:val>
                                            </p:tav>
                                            <p:tav tm="100000">
                                              <p:val>
                                                <p:strVal val="#ppt_x"/>
                                              </p:val>
                                            </p:tav>
                                          </p:tavLst>
                                        </p:anim>
                                        <p:anim calcmode="lin" valueType="num" p14:bounceEnd="20000">
                                          <p:cBhvr additive="base">
                                            <p:cTn id="33" dur="500" fill="hold"/>
                                            <p:tgtEl>
                                              <p:spTgt spid="26"/>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up)">
                                          <p:cBhvr>
                                            <p:cTn id="37" dur="500"/>
                                            <p:tgtEl>
                                              <p:spTgt spid="33"/>
                                            </p:tgtEl>
                                          </p:cBhvr>
                                        </p:animEffect>
                                      </p:childTnLst>
                                    </p:cTn>
                                  </p:par>
                                </p:childTnLst>
                              </p:cTn>
                            </p:par>
                            <p:par>
                              <p:cTn id="38" fill="hold">
                                <p:stCondLst>
                                  <p:cond delay="1000"/>
                                </p:stCondLst>
                                <p:childTnLst>
                                  <p:par>
                                    <p:cTn id="39" presetID="42" presetClass="entr" presetSubtype="0" fill="hold" grpId="0" nodeType="after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anim calcmode="lin" valueType="num">
                                          <p:cBhvr>
                                            <p:cTn id="42" dur="500" fill="hold"/>
                                            <p:tgtEl>
                                              <p:spTgt spid="37"/>
                                            </p:tgtEl>
                                            <p:attrNameLst>
                                              <p:attrName>ppt_x</p:attrName>
                                            </p:attrNameLst>
                                          </p:cBhvr>
                                          <p:tavLst>
                                            <p:tav tm="0">
                                              <p:val>
                                                <p:strVal val="#ppt_x"/>
                                              </p:val>
                                            </p:tav>
                                            <p:tav tm="100000">
                                              <p:val>
                                                <p:strVal val="#ppt_x"/>
                                              </p:val>
                                            </p:tav>
                                          </p:tavLst>
                                        </p:anim>
                                        <p:anim calcmode="lin" valueType="num">
                                          <p:cBhvr>
                                            <p:cTn id="43" dur="5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14:presetBounceEnd="20000">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14:bounceEnd="20000">
                                          <p:cBhvr additive="base">
                                            <p:cTn id="48" dur="500" fill="hold"/>
                                            <p:tgtEl>
                                              <p:spTgt spid="27"/>
                                            </p:tgtEl>
                                            <p:attrNameLst>
                                              <p:attrName>ppt_x</p:attrName>
                                            </p:attrNameLst>
                                          </p:cBhvr>
                                          <p:tavLst>
                                            <p:tav tm="0">
                                              <p:val>
                                                <p:strVal val="0-#ppt_w/2"/>
                                              </p:val>
                                            </p:tav>
                                            <p:tav tm="100000">
                                              <p:val>
                                                <p:strVal val="#ppt_x"/>
                                              </p:val>
                                            </p:tav>
                                          </p:tavLst>
                                        </p:anim>
                                        <p:anim calcmode="lin" valueType="num" p14:bounceEnd="20000">
                                          <p:cBhvr additive="base">
                                            <p:cTn id="49" dur="500" fill="hold"/>
                                            <p:tgtEl>
                                              <p:spTgt spid="27"/>
                                            </p:tgtEl>
                                            <p:attrNameLst>
                                              <p:attrName>ppt_y</p:attrName>
                                            </p:attrNameLst>
                                          </p:cBhvr>
                                          <p:tavLst>
                                            <p:tav tm="0">
                                              <p:val>
                                                <p:strVal val="#ppt_y"/>
                                              </p:val>
                                            </p:tav>
                                            <p:tav tm="100000">
                                              <p:val>
                                                <p:strVal val="#ppt_y"/>
                                              </p:val>
                                            </p:tav>
                                          </p:tavLst>
                                        </p:anim>
                                      </p:childTnLst>
                                    </p:cTn>
                                  </p:par>
                                </p:childTnLst>
                              </p:cTn>
                            </p:par>
                            <p:par>
                              <p:cTn id="50" fill="hold">
                                <p:stCondLst>
                                  <p:cond delay="500"/>
                                </p:stCondLst>
                                <p:childTnLst>
                                  <p:par>
                                    <p:cTn id="51" presetID="22" presetClass="entr" presetSubtype="4" fill="hold"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wipe(down)">
                                          <p:cBhvr>
                                            <p:cTn id="53" dur="500"/>
                                            <p:tgtEl>
                                              <p:spTgt spid="32"/>
                                            </p:tgtEl>
                                          </p:cBhvr>
                                        </p:animEffect>
                                      </p:childTnLst>
                                    </p:cTn>
                                  </p:par>
                                </p:childTnLst>
                              </p:cTn>
                            </p:par>
                            <p:par>
                              <p:cTn id="54" fill="hold">
                                <p:stCondLst>
                                  <p:cond delay="1000"/>
                                </p:stCondLst>
                                <p:childTnLst>
                                  <p:par>
                                    <p:cTn id="55" presetID="47" presetClass="entr" presetSubtype="0" fill="hold" grpId="0" nodeType="after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500"/>
                                            <p:tgtEl>
                                              <p:spTgt spid="35"/>
                                            </p:tgtEl>
                                          </p:cBhvr>
                                        </p:animEffect>
                                        <p:anim calcmode="lin" valueType="num">
                                          <p:cBhvr>
                                            <p:cTn id="58" dur="500" fill="hold"/>
                                            <p:tgtEl>
                                              <p:spTgt spid="35"/>
                                            </p:tgtEl>
                                            <p:attrNameLst>
                                              <p:attrName>ppt_x</p:attrName>
                                            </p:attrNameLst>
                                          </p:cBhvr>
                                          <p:tavLst>
                                            <p:tav tm="0">
                                              <p:val>
                                                <p:strVal val="#ppt_x"/>
                                              </p:val>
                                            </p:tav>
                                            <p:tav tm="100000">
                                              <p:val>
                                                <p:strVal val="#ppt_x"/>
                                              </p:val>
                                            </p:tav>
                                          </p:tavLst>
                                        </p:anim>
                                        <p:anim calcmode="lin" valueType="num">
                                          <p:cBhvr>
                                            <p:cTn id="59"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nodeType="clickEffect" p14:presetBounceEnd="20000">
                                      <p:stCondLst>
                                        <p:cond delay="0"/>
                                      </p:stCondLst>
                                      <p:childTnLst>
                                        <p:set>
                                          <p:cBhvr>
                                            <p:cTn id="63" dur="1" fill="hold">
                                              <p:stCondLst>
                                                <p:cond delay="0"/>
                                              </p:stCondLst>
                                            </p:cTn>
                                            <p:tgtEl>
                                              <p:spTgt spid="28"/>
                                            </p:tgtEl>
                                            <p:attrNameLst>
                                              <p:attrName>style.visibility</p:attrName>
                                            </p:attrNameLst>
                                          </p:cBhvr>
                                          <p:to>
                                            <p:strVal val="visible"/>
                                          </p:to>
                                        </p:set>
                                        <p:anim calcmode="lin" valueType="num" p14:bounceEnd="20000">
                                          <p:cBhvr additive="base">
                                            <p:cTn id="64" dur="500" fill="hold"/>
                                            <p:tgtEl>
                                              <p:spTgt spid="28"/>
                                            </p:tgtEl>
                                            <p:attrNameLst>
                                              <p:attrName>ppt_x</p:attrName>
                                            </p:attrNameLst>
                                          </p:cBhvr>
                                          <p:tavLst>
                                            <p:tav tm="0">
                                              <p:val>
                                                <p:strVal val="0-#ppt_w/2"/>
                                              </p:val>
                                            </p:tav>
                                            <p:tav tm="100000">
                                              <p:val>
                                                <p:strVal val="#ppt_x"/>
                                              </p:val>
                                            </p:tav>
                                          </p:tavLst>
                                        </p:anim>
                                        <p:anim calcmode="lin" valueType="num" p14:bounceEnd="20000">
                                          <p:cBhvr additive="base">
                                            <p:cTn id="65" dur="500" fill="hold"/>
                                            <p:tgtEl>
                                              <p:spTgt spid="28"/>
                                            </p:tgtEl>
                                            <p:attrNameLst>
                                              <p:attrName>ppt_y</p:attrName>
                                            </p:attrNameLst>
                                          </p:cBhvr>
                                          <p:tavLst>
                                            <p:tav tm="0">
                                              <p:val>
                                                <p:strVal val="#ppt_y"/>
                                              </p:val>
                                            </p:tav>
                                            <p:tav tm="100000">
                                              <p:val>
                                                <p:strVal val="#ppt_y"/>
                                              </p:val>
                                            </p:tav>
                                          </p:tavLst>
                                        </p:anim>
                                      </p:childTnLst>
                                    </p:cTn>
                                  </p:par>
                                </p:childTnLst>
                              </p:cTn>
                            </p:par>
                            <p:par>
                              <p:cTn id="66" fill="hold">
                                <p:stCondLst>
                                  <p:cond delay="500"/>
                                </p:stCondLst>
                                <p:childTnLst>
                                  <p:par>
                                    <p:cTn id="67" presetID="22" presetClass="entr" presetSubtype="1"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up)">
                                          <p:cBhvr>
                                            <p:cTn id="69" dur="500"/>
                                            <p:tgtEl>
                                              <p:spTgt spid="34"/>
                                            </p:tgtEl>
                                          </p:cBhvr>
                                        </p:animEffect>
                                      </p:childTnLst>
                                    </p:cTn>
                                  </p:par>
                                </p:childTnLst>
                              </p:cTn>
                            </p:par>
                            <p:par>
                              <p:cTn id="70" fill="hold">
                                <p:stCondLst>
                                  <p:cond delay="1000"/>
                                </p:stCondLst>
                                <p:childTnLst>
                                  <p:par>
                                    <p:cTn id="71" presetID="42" presetClass="entr" presetSubtype="0" fill="hold" grpId="0" nodeType="after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500"/>
                                            <p:tgtEl>
                                              <p:spTgt spid="38"/>
                                            </p:tgtEl>
                                          </p:cBhvr>
                                        </p:animEffect>
                                        <p:anim calcmode="lin" valueType="num">
                                          <p:cBhvr>
                                            <p:cTn id="74" dur="500" fill="hold"/>
                                            <p:tgtEl>
                                              <p:spTgt spid="38"/>
                                            </p:tgtEl>
                                            <p:attrNameLst>
                                              <p:attrName>ppt_x</p:attrName>
                                            </p:attrNameLst>
                                          </p:cBhvr>
                                          <p:tavLst>
                                            <p:tav tm="0">
                                              <p:val>
                                                <p:strVal val="#ppt_x"/>
                                              </p:val>
                                            </p:tav>
                                            <p:tav tm="100000">
                                              <p:val>
                                                <p:strVal val="#ppt_x"/>
                                              </p:val>
                                            </p:tav>
                                          </p:tavLst>
                                        </p:anim>
                                        <p:anim calcmode="lin" valueType="num">
                                          <p:cBhvr>
                                            <p:cTn id="75" dur="5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25" grpId="0" bldLvl="0" animBg="1"/>
          <p:bldP spid="26" grpId="0" bldLvl="0" animBg="1"/>
          <p:bldP spid="27" grpId="0" bldLvl="0" animBg="1"/>
          <p:bldP spid="35" grpId="0" bldLvl="0" animBg="1"/>
          <p:bldP spid="36" grpId="0" bldLvl="0" animBg="1"/>
          <p:bldP spid="37" grpId="0" bldLvl="0" animBg="1"/>
          <p:bldP spid="38" grpId="0" bldLvl="0" animBg="1"/>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25"/>
                                            </p:tgtEl>
                                            <p:attrNameLst>
                                              <p:attrName>style.visibility</p:attrName>
                                            </p:attrNameLst>
                                          </p:cBhvr>
                                          <p:to>
                                            <p:strVal val="visible"/>
                                          </p:to>
                                        </p:set>
                                        <p:anim calcmode="lin" valueType="num">
                                          <p:cBhvr additive="base">
                                            <p:cTn id="16" dur="500" fill="hold"/>
                                            <p:tgtEl>
                                              <p:spTgt spid="25"/>
                                            </p:tgtEl>
                                            <p:attrNameLst>
                                              <p:attrName>ppt_x</p:attrName>
                                            </p:attrNameLst>
                                          </p:cBhvr>
                                          <p:tavLst>
                                            <p:tav tm="0">
                                              <p:val>
                                                <p:strVal val="0-#ppt_w/2"/>
                                              </p:val>
                                            </p:tav>
                                            <p:tav tm="100000">
                                              <p:val>
                                                <p:strVal val="#ppt_x"/>
                                              </p:val>
                                            </p:tav>
                                          </p:tavLst>
                                        </p:anim>
                                        <p:anim calcmode="lin" valueType="num">
                                          <p:cBhvr additive="base">
                                            <p:cTn id="17" dur="500" fill="hold"/>
                                            <p:tgtEl>
                                              <p:spTgt spid="25"/>
                                            </p:tgtEl>
                                            <p:attrNameLst>
                                              <p:attrName>ppt_y</p:attrName>
                                            </p:attrNameLst>
                                          </p:cBhvr>
                                          <p:tavLst>
                                            <p:tav tm="0">
                                              <p:val>
                                                <p:strVal val="#ppt_y"/>
                                              </p:val>
                                            </p:tav>
                                            <p:tav tm="100000">
                                              <p:val>
                                                <p:strVal val="#ppt_y"/>
                                              </p:val>
                                            </p:tav>
                                          </p:tavLst>
                                        </p:anim>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down)">
                                          <p:cBhvr>
                                            <p:cTn id="21" dur="500"/>
                                            <p:tgtEl>
                                              <p:spTgt spid="31"/>
                                            </p:tgtEl>
                                          </p:cBhvr>
                                        </p:animEffect>
                                      </p:childTnLst>
                                    </p:cTn>
                                  </p:par>
                                </p:childTnLst>
                              </p:cTn>
                            </p:par>
                            <p:par>
                              <p:cTn id="22" fill="hold">
                                <p:stCondLst>
                                  <p:cond delay="1000"/>
                                </p:stCondLst>
                                <p:childTnLst>
                                  <p:par>
                                    <p:cTn id="23" presetID="47" presetClass="entr" presetSubtype="0" fill="hold" grpId="0" nodeType="after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anim calcmode="lin" valueType="num">
                                          <p:cBhvr>
                                            <p:cTn id="26" dur="500" fill="hold"/>
                                            <p:tgtEl>
                                              <p:spTgt spid="36"/>
                                            </p:tgtEl>
                                            <p:attrNameLst>
                                              <p:attrName>ppt_x</p:attrName>
                                            </p:attrNameLst>
                                          </p:cBhvr>
                                          <p:tavLst>
                                            <p:tav tm="0">
                                              <p:val>
                                                <p:strVal val="#ppt_x"/>
                                              </p:val>
                                            </p:tav>
                                            <p:tav tm="100000">
                                              <p:val>
                                                <p:strVal val="#ppt_x"/>
                                              </p:val>
                                            </p:tav>
                                          </p:tavLst>
                                        </p:anim>
                                        <p:anim calcmode="lin" valueType="num">
                                          <p:cBhvr>
                                            <p:cTn id="27"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500" fill="hold"/>
                                            <p:tgtEl>
                                              <p:spTgt spid="26"/>
                                            </p:tgtEl>
                                            <p:attrNameLst>
                                              <p:attrName>ppt_x</p:attrName>
                                            </p:attrNameLst>
                                          </p:cBhvr>
                                          <p:tavLst>
                                            <p:tav tm="0">
                                              <p:val>
                                                <p:strVal val="0-#ppt_w/2"/>
                                              </p:val>
                                            </p:tav>
                                            <p:tav tm="100000">
                                              <p:val>
                                                <p:strVal val="#ppt_x"/>
                                              </p:val>
                                            </p:tav>
                                          </p:tavLst>
                                        </p:anim>
                                        <p:anim calcmode="lin" valueType="num">
                                          <p:cBhvr additive="base">
                                            <p:cTn id="33" dur="500" fill="hold"/>
                                            <p:tgtEl>
                                              <p:spTgt spid="26"/>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up)">
                                          <p:cBhvr>
                                            <p:cTn id="37" dur="500"/>
                                            <p:tgtEl>
                                              <p:spTgt spid="33"/>
                                            </p:tgtEl>
                                          </p:cBhvr>
                                        </p:animEffect>
                                      </p:childTnLst>
                                    </p:cTn>
                                  </p:par>
                                </p:childTnLst>
                              </p:cTn>
                            </p:par>
                            <p:par>
                              <p:cTn id="38" fill="hold">
                                <p:stCondLst>
                                  <p:cond delay="1000"/>
                                </p:stCondLst>
                                <p:childTnLst>
                                  <p:par>
                                    <p:cTn id="39" presetID="42" presetClass="entr" presetSubtype="0" fill="hold" grpId="0" nodeType="after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anim calcmode="lin" valueType="num">
                                          <p:cBhvr>
                                            <p:cTn id="42" dur="500" fill="hold"/>
                                            <p:tgtEl>
                                              <p:spTgt spid="37"/>
                                            </p:tgtEl>
                                            <p:attrNameLst>
                                              <p:attrName>ppt_x</p:attrName>
                                            </p:attrNameLst>
                                          </p:cBhvr>
                                          <p:tavLst>
                                            <p:tav tm="0">
                                              <p:val>
                                                <p:strVal val="#ppt_x"/>
                                              </p:val>
                                            </p:tav>
                                            <p:tav tm="100000">
                                              <p:val>
                                                <p:strVal val="#ppt_x"/>
                                              </p:val>
                                            </p:tav>
                                          </p:tavLst>
                                        </p:anim>
                                        <p:anim calcmode="lin" valueType="num">
                                          <p:cBhvr>
                                            <p:cTn id="43" dur="5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cBhvr additive="base">
                                            <p:cTn id="48" dur="500" fill="hold"/>
                                            <p:tgtEl>
                                              <p:spTgt spid="27"/>
                                            </p:tgtEl>
                                            <p:attrNameLst>
                                              <p:attrName>ppt_x</p:attrName>
                                            </p:attrNameLst>
                                          </p:cBhvr>
                                          <p:tavLst>
                                            <p:tav tm="0">
                                              <p:val>
                                                <p:strVal val="0-#ppt_w/2"/>
                                              </p:val>
                                            </p:tav>
                                            <p:tav tm="100000">
                                              <p:val>
                                                <p:strVal val="#ppt_x"/>
                                              </p:val>
                                            </p:tav>
                                          </p:tavLst>
                                        </p:anim>
                                        <p:anim calcmode="lin" valueType="num">
                                          <p:cBhvr additive="base">
                                            <p:cTn id="49" dur="500" fill="hold"/>
                                            <p:tgtEl>
                                              <p:spTgt spid="27"/>
                                            </p:tgtEl>
                                            <p:attrNameLst>
                                              <p:attrName>ppt_y</p:attrName>
                                            </p:attrNameLst>
                                          </p:cBhvr>
                                          <p:tavLst>
                                            <p:tav tm="0">
                                              <p:val>
                                                <p:strVal val="#ppt_y"/>
                                              </p:val>
                                            </p:tav>
                                            <p:tav tm="100000">
                                              <p:val>
                                                <p:strVal val="#ppt_y"/>
                                              </p:val>
                                            </p:tav>
                                          </p:tavLst>
                                        </p:anim>
                                      </p:childTnLst>
                                    </p:cTn>
                                  </p:par>
                                </p:childTnLst>
                              </p:cTn>
                            </p:par>
                            <p:par>
                              <p:cTn id="50" fill="hold">
                                <p:stCondLst>
                                  <p:cond delay="500"/>
                                </p:stCondLst>
                                <p:childTnLst>
                                  <p:par>
                                    <p:cTn id="51" presetID="22" presetClass="entr" presetSubtype="4" fill="hold"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wipe(down)">
                                          <p:cBhvr>
                                            <p:cTn id="53" dur="500"/>
                                            <p:tgtEl>
                                              <p:spTgt spid="32"/>
                                            </p:tgtEl>
                                          </p:cBhvr>
                                        </p:animEffect>
                                      </p:childTnLst>
                                    </p:cTn>
                                  </p:par>
                                </p:childTnLst>
                              </p:cTn>
                            </p:par>
                            <p:par>
                              <p:cTn id="54" fill="hold">
                                <p:stCondLst>
                                  <p:cond delay="1000"/>
                                </p:stCondLst>
                                <p:childTnLst>
                                  <p:par>
                                    <p:cTn id="55" presetID="47" presetClass="entr" presetSubtype="0" fill="hold" grpId="0" nodeType="after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500"/>
                                            <p:tgtEl>
                                              <p:spTgt spid="35"/>
                                            </p:tgtEl>
                                          </p:cBhvr>
                                        </p:animEffect>
                                        <p:anim calcmode="lin" valueType="num">
                                          <p:cBhvr>
                                            <p:cTn id="58" dur="500" fill="hold"/>
                                            <p:tgtEl>
                                              <p:spTgt spid="35"/>
                                            </p:tgtEl>
                                            <p:attrNameLst>
                                              <p:attrName>ppt_x</p:attrName>
                                            </p:attrNameLst>
                                          </p:cBhvr>
                                          <p:tavLst>
                                            <p:tav tm="0">
                                              <p:val>
                                                <p:strVal val="#ppt_x"/>
                                              </p:val>
                                            </p:tav>
                                            <p:tav tm="100000">
                                              <p:val>
                                                <p:strVal val="#ppt_x"/>
                                              </p:val>
                                            </p:tav>
                                          </p:tavLst>
                                        </p:anim>
                                        <p:anim calcmode="lin" valueType="num">
                                          <p:cBhvr>
                                            <p:cTn id="59"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nodeType="clickEffect">
                                      <p:stCondLst>
                                        <p:cond delay="0"/>
                                      </p:stCondLst>
                                      <p:childTnLst>
                                        <p:set>
                                          <p:cBhvr>
                                            <p:cTn id="63" dur="1" fill="hold">
                                              <p:stCondLst>
                                                <p:cond delay="0"/>
                                              </p:stCondLst>
                                            </p:cTn>
                                            <p:tgtEl>
                                              <p:spTgt spid="28"/>
                                            </p:tgtEl>
                                            <p:attrNameLst>
                                              <p:attrName>style.visibility</p:attrName>
                                            </p:attrNameLst>
                                          </p:cBhvr>
                                          <p:to>
                                            <p:strVal val="visible"/>
                                          </p:to>
                                        </p:set>
                                        <p:anim calcmode="lin" valueType="num">
                                          <p:cBhvr additive="base">
                                            <p:cTn id="64" dur="500" fill="hold"/>
                                            <p:tgtEl>
                                              <p:spTgt spid="28"/>
                                            </p:tgtEl>
                                            <p:attrNameLst>
                                              <p:attrName>ppt_x</p:attrName>
                                            </p:attrNameLst>
                                          </p:cBhvr>
                                          <p:tavLst>
                                            <p:tav tm="0">
                                              <p:val>
                                                <p:strVal val="0-#ppt_w/2"/>
                                              </p:val>
                                            </p:tav>
                                            <p:tav tm="100000">
                                              <p:val>
                                                <p:strVal val="#ppt_x"/>
                                              </p:val>
                                            </p:tav>
                                          </p:tavLst>
                                        </p:anim>
                                        <p:anim calcmode="lin" valueType="num">
                                          <p:cBhvr additive="base">
                                            <p:cTn id="65" dur="500" fill="hold"/>
                                            <p:tgtEl>
                                              <p:spTgt spid="28"/>
                                            </p:tgtEl>
                                            <p:attrNameLst>
                                              <p:attrName>ppt_y</p:attrName>
                                            </p:attrNameLst>
                                          </p:cBhvr>
                                          <p:tavLst>
                                            <p:tav tm="0">
                                              <p:val>
                                                <p:strVal val="#ppt_y"/>
                                              </p:val>
                                            </p:tav>
                                            <p:tav tm="100000">
                                              <p:val>
                                                <p:strVal val="#ppt_y"/>
                                              </p:val>
                                            </p:tav>
                                          </p:tavLst>
                                        </p:anim>
                                      </p:childTnLst>
                                    </p:cTn>
                                  </p:par>
                                </p:childTnLst>
                              </p:cTn>
                            </p:par>
                            <p:par>
                              <p:cTn id="66" fill="hold">
                                <p:stCondLst>
                                  <p:cond delay="500"/>
                                </p:stCondLst>
                                <p:childTnLst>
                                  <p:par>
                                    <p:cTn id="67" presetID="22" presetClass="entr" presetSubtype="1"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up)">
                                          <p:cBhvr>
                                            <p:cTn id="69" dur="500"/>
                                            <p:tgtEl>
                                              <p:spTgt spid="34"/>
                                            </p:tgtEl>
                                          </p:cBhvr>
                                        </p:animEffect>
                                      </p:childTnLst>
                                    </p:cTn>
                                  </p:par>
                                </p:childTnLst>
                              </p:cTn>
                            </p:par>
                            <p:par>
                              <p:cTn id="70" fill="hold">
                                <p:stCondLst>
                                  <p:cond delay="1000"/>
                                </p:stCondLst>
                                <p:childTnLst>
                                  <p:par>
                                    <p:cTn id="71" presetID="42" presetClass="entr" presetSubtype="0" fill="hold" grpId="0" nodeType="after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500"/>
                                            <p:tgtEl>
                                              <p:spTgt spid="38"/>
                                            </p:tgtEl>
                                          </p:cBhvr>
                                        </p:animEffect>
                                        <p:anim calcmode="lin" valueType="num">
                                          <p:cBhvr>
                                            <p:cTn id="74" dur="500" fill="hold"/>
                                            <p:tgtEl>
                                              <p:spTgt spid="38"/>
                                            </p:tgtEl>
                                            <p:attrNameLst>
                                              <p:attrName>ppt_x</p:attrName>
                                            </p:attrNameLst>
                                          </p:cBhvr>
                                          <p:tavLst>
                                            <p:tav tm="0">
                                              <p:val>
                                                <p:strVal val="#ppt_x"/>
                                              </p:val>
                                            </p:tav>
                                            <p:tav tm="100000">
                                              <p:val>
                                                <p:strVal val="#ppt_x"/>
                                              </p:val>
                                            </p:tav>
                                          </p:tavLst>
                                        </p:anim>
                                        <p:anim calcmode="lin" valueType="num">
                                          <p:cBhvr>
                                            <p:cTn id="75" dur="5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25" grpId="0" bldLvl="0" animBg="1"/>
          <p:bldP spid="26" grpId="0" bldLvl="0" animBg="1"/>
          <p:bldP spid="27" grpId="0" bldLvl="0" animBg="1"/>
          <p:bldP spid="35" grpId="0" bldLvl="0" animBg="1"/>
          <p:bldP spid="36" grpId="0" bldLvl="0" animBg="1"/>
          <p:bldP spid="37" grpId="0" bldLvl="0" animBg="1"/>
          <p:bldP spid="38" grpId="0" bldLvl="0" animBg="1"/>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pPr>
              <a:spcAft>
                <a:spcPts val="0"/>
              </a:spcAft>
            </a:pPr>
            <a:r>
              <a:rPr lang="zh-CN" altLang="en-US" dirty="0"/>
              <a:t>用例建模技术</a:t>
            </a:r>
            <a:endParaRPr lang="en-US" altLang="zh-CN" dirty="0"/>
          </a:p>
        </p:txBody>
      </p:sp>
      <p:sp>
        <p:nvSpPr>
          <p:cNvPr id="2" name="文本占位符 1"/>
          <p:cNvSpPr>
            <a:spLocks noGrp="1"/>
          </p:cNvSpPr>
          <p:nvPr>
            <p:ph idx="1"/>
          </p:nvPr>
        </p:nvSpPr>
        <p:spPr/>
        <p:txBody>
          <a:bodyPr>
            <a:noAutofit/>
          </a:bodyPr>
          <a:lstStyle/>
          <a:p>
            <a:pPr marL="342900" indent="-342900">
              <a:lnSpc>
                <a:spcPct val="120000"/>
              </a:lnSpc>
              <a:buFont typeface="+mj-lt"/>
              <a:buAutoNum type="arabicPeriod"/>
            </a:pPr>
            <a:r>
              <a:rPr lang="zh-CN" altLang="en-US" sz="2400" dirty="0"/>
              <a:t>确定系统的范围和边界</a:t>
            </a:r>
            <a:endParaRPr lang="en-US" altLang="zh-CN" sz="2400" dirty="0"/>
          </a:p>
          <a:p>
            <a:pPr marL="342900" indent="-342900">
              <a:lnSpc>
                <a:spcPct val="120000"/>
              </a:lnSpc>
              <a:buFont typeface="+mj-lt"/>
              <a:buAutoNum type="arabicPeriod"/>
            </a:pPr>
            <a:r>
              <a:rPr lang="zh-CN" altLang="en-US" sz="2400" dirty="0"/>
              <a:t>识别参与者</a:t>
            </a:r>
            <a:endParaRPr lang="zh-CN" altLang="en-US" sz="2400" dirty="0"/>
          </a:p>
          <a:p>
            <a:pPr marL="342900" indent="-342900">
              <a:lnSpc>
                <a:spcPct val="120000"/>
              </a:lnSpc>
              <a:buFont typeface="+mj-lt"/>
              <a:buAutoNum type="arabicPeriod"/>
            </a:pPr>
            <a:r>
              <a:rPr lang="zh-CN" altLang="en-US" sz="2400" dirty="0"/>
              <a:t>识别用例</a:t>
            </a:r>
            <a:endParaRPr lang="zh-CN" altLang="en-US" sz="2400" dirty="0"/>
          </a:p>
          <a:p>
            <a:pPr marL="342900" indent="-342900">
              <a:lnSpc>
                <a:spcPct val="120000"/>
              </a:lnSpc>
              <a:buFont typeface="+mj-lt"/>
              <a:buAutoNum type="arabicPeriod"/>
            </a:pPr>
            <a:r>
              <a:rPr lang="zh-CN" altLang="en-US" sz="2400" dirty="0"/>
              <a:t>识别用例间的关系</a:t>
            </a:r>
            <a:endParaRPr lang="zh-CN" altLang="en-US" sz="2400" dirty="0"/>
          </a:p>
          <a:p>
            <a:pPr marL="342900" indent="-342900">
              <a:lnSpc>
                <a:spcPct val="120000"/>
              </a:lnSpc>
              <a:buFont typeface="+mj-lt"/>
              <a:buAutoNum type="arabicPeriod"/>
            </a:pPr>
            <a:r>
              <a:rPr lang="zh-CN" altLang="en-US" sz="2400" dirty="0"/>
              <a:t>用例描述</a:t>
            </a:r>
            <a:endParaRPr lang="zh-CN" altLang="en-US" sz="2400" dirty="0"/>
          </a:p>
          <a:p>
            <a:pPr marL="342900" indent="-342900">
              <a:lnSpc>
                <a:spcPct val="120000"/>
              </a:lnSpc>
              <a:buFont typeface="+mj-lt"/>
              <a:buAutoNum type="arabicPeriod"/>
            </a:pPr>
            <a:r>
              <a:rPr lang="zh-CN" altLang="en-US" sz="2400" dirty="0"/>
              <a:t>审核用例模型</a:t>
            </a:r>
            <a:endParaRPr lang="en-US" altLang="zh-CN" sz="2400" dirty="0"/>
          </a:p>
        </p:txBody>
      </p:sp>
      <p:sp>
        <p:nvSpPr>
          <p:cNvPr id="6" name="日期占位符 5"/>
          <p:cNvSpPr>
            <a:spLocks noGrp="1"/>
          </p:cNvSpPr>
          <p:nvPr>
            <p:ph type="dt" sz="half" idx="10"/>
          </p:nvPr>
        </p:nvSpPr>
        <p:spPr/>
        <p:txBody>
          <a:bodyPr/>
          <a:lstStyle/>
          <a:p>
            <a:pPr>
              <a:spcAft>
                <a:spcPts val="0"/>
              </a:spcAft>
            </a:pPr>
            <a:fld id="{EBE4734C-F476-4322-A6A5-79587D617F1A}" type="datetime1">
              <a:rPr lang="zh-CN" altLang="en-US" smtClean="0"/>
            </a:fld>
            <a:endParaRPr lang="zh-CN" altLang="en-US"/>
          </a:p>
        </p:txBody>
      </p:sp>
      <p:sp>
        <p:nvSpPr>
          <p:cNvPr id="7" name="页脚占位符 6"/>
          <p:cNvSpPr>
            <a:spLocks noGrp="1"/>
          </p:cNvSpPr>
          <p:nvPr>
            <p:ph type="ftr" sz="quarter" idx="11"/>
          </p:nvPr>
        </p:nvSpPr>
        <p:spPr/>
        <p:txBody>
          <a:bodyPr/>
          <a:lstStyle/>
          <a:p>
            <a:pPr>
              <a:spcAft>
                <a:spcPts val="0"/>
              </a:spcAft>
            </a:pPr>
            <a:r>
              <a:rPr lang="zh-CN" altLang="en-US" dirty="0"/>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5" name="矩形标注 4"/>
          <p:cNvSpPr/>
          <p:nvPr/>
        </p:nvSpPr>
        <p:spPr>
          <a:xfrm>
            <a:off x="4466671" y="901686"/>
            <a:ext cx="4391579" cy="2467545"/>
          </a:xfrm>
          <a:prstGeom prst="wedgeRectCallout">
            <a:avLst>
              <a:gd name="adj1" fmla="val -60262"/>
              <a:gd name="adj2" fmla="val -32620"/>
            </a:avLst>
          </a:prstGeom>
          <a:solidFill>
            <a:schemeClr val="bg2">
              <a:alpha val="51000"/>
            </a:schemeClr>
          </a:solidFill>
          <a:ln>
            <a:solidFill>
              <a:schemeClr val="tx1"/>
            </a:solidFill>
            <a:prstDash val="dash"/>
          </a:ln>
        </p:spPr>
        <p:style>
          <a:lnRef idx="1">
            <a:schemeClr val="accent1"/>
          </a:lnRef>
          <a:fillRef idx="2">
            <a:schemeClr val="accent1"/>
          </a:fillRef>
          <a:effectRef idx="1">
            <a:schemeClr val="accent1"/>
          </a:effectRef>
          <a:fontRef idx="minor">
            <a:schemeClr val="dk1"/>
          </a:fontRef>
        </p:style>
        <p:txBody>
          <a:bodyPr rtlCol="0" anchor="ctr"/>
          <a:lstStyle/>
          <a:p>
            <a:pPr lvl="0">
              <a:spcBef>
                <a:spcPts val="900"/>
              </a:spcBef>
              <a:spcAft>
                <a:spcPts val="0"/>
              </a:spcAft>
            </a:pPr>
            <a:r>
              <a:rPr lang="zh-CN" altLang="en-US">
                <a:solidFill>
                  <a:prstClr val="black"/>
                </a:solidFill>
                <a:latin typeface="微软雅黑" panose="020B0503020204020204" pitchFamily="34" charset="-122"/>
                <a:ea typeface="微软雅黑" panose="020B0503020204020204" pitchFamily="34" charset="-122"/>
              </a:rPr>
              <a:t>系统的范围是指系统问题域的目标、任务、规模和系统提供的功能和服务。</a:t>
            </a:r>
            <a:endParaRPr lang="en-US" altLang="zh-CN">
              <a:solidFill>
                <a:prstClr val="black"/>
              </a:solidFill>
              <a:latin typeface="微软雅黑" panose="020B0503020204020204" pitchFamily="34" charset="-122"/>
              <a:ea typeface="微软雅黑" panose="020B0503020204020204" pitchFamily="34" charset="-122"/>
            </a:endParaRPr>
          </a:p>
          <a:p>
            <a:pPr lvl="0">
              <a:spcBef>
                <a:spcPts val="900"/>
              </a:spcBef>
              <a:spcAft>
                <a:spcPts val="0"/>
              </a:spcAft>
            </a:pPr>
            <a:r>
              <a:rPr lang="zh-CN" altLang="en-US">
                <a:solidFill>
                  <a:prstClr val="black"/>
                </a:solidFill>
                <a:latin typeface="微软雅黑" panose="020B0503020204020204" pitchFamily="34" charset="-122"/>
                <a:ea typeface="微软雅黑" panose="020B0503020204020204" pitchFamily="34" charset="-122"/>
              </a:rPr>
              <a:t>系统的边界就是系统内外的分界线，用一个实线方框表示。</a:t>
            </a:r>
            <a:endParaRPr lang="zh-CN" altLang="zh-CN">
              <a:solidFill>
                <a:prstClr val="black"/>
              </a:solidFill>
              <a:latin typeface="微软雅黑" panose="020B0503020204020204" pitchFamily="34" charset="-122"/>
              <a:ea typeface="微软雅黑" panose="020B0503020204020204" pitchFamily="34" charset="-122"/>
            </a:endParaRPr>
          </a:p>
          <a:p>
            <a:pPr lvl="0">
              <a:spcBef>
                <a:spcPts val="900"/>
              </a:spcBef>
            </a:pPr>
            <a:r>
              <a:rPr lang="zh-CN" altLang="en-US">
                <a:solidFill>
                  <a:prstClr val="black"/>
                </a:solidFill>
                <a:latin typeface="微软雅黑" panose="020B0503020204020204" pitchFamily="34" charset="-122"/>
                <a:ea typeface="微软雅黑" panose="020B0503020204020204" pitchFamily="34" charset="-122"/>
              </a:rPr>
              <a:t>系统开发的主要任务是对系统边界内的元素进行分析、设计和实现，系统边界外部的事物统称为执行者。</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4" name="矩形标注 3"/>
          <p:cNvSpPr/>
          <p:nvPr/>
        </p:nvSpPr>
        <p:spPr>
          <a:xfrm>
            <a:off x="3498210" y="3639689"/>
            <a:ext cx="4024819" cy="799756"/>
          </a:xfrm>
          <a:prstGeom prst="wedgeRectCallout">
            <a:avLst>
              <a:gd name="adj1" fmla="val -46475"/>
              <a:gd name="adj2" fmla="val -111267"/>
            </a:avLst>
          </a:prstGeom>
          <a:solidFill>
            <a:schemeClr val="bg1">
              <a:lumMod val="95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Aft>
                <a:spcPts val="0"/>
              </a:spcAft>
            </a:pPr>
            <a:r>
              <a:rPr lang="zh-CN" altLang="en-US">
                <a:solidFill>
                  <a:prstClr val="black"/>
                </a:solidFill>
                <a:latin typeface="微软雅黑" panose="020B0503020204020204" pitchFamily="34" charset="-122"/>
                <a:ea typeface="微软雅黑" panose="020B0503020204020204" pitchFamily="34" charset="-122"/>
              </a:rPr>
              <a:t>用例关系的识别必须通过业务调研报告和用例描述得到。</a:t>
            </a:r>
            <a:endParaRPr lang="en-US" altLang="zh-CN"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up)">
                                      <p:cBhvr>
                                        <p:cTn id="19" dur="500"/>
                                        <p:tgtEl>
                                          <p:spTgt spid="2">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up)">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up)">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animBg="1"/>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识别参与者的方法</a:t>
            </a:r>
            <a:endParaRPr lang="zh-CN" altLang="en-US" dirty="0"/>
          </a:p>
        </p:txBody>
      </p:sp>
      <p:sp>
        <p:nvSpPr>
          <p:cNvPr id="2" name="文本占位符 1"/>
          <p:cNvSpPr>
            <a:spLocks noGrp="1"/>
          </p:cNvSpPr>
          <p:nvPr>
            <p:ph idx="1"/>
          </p:nvPr>
        </p:nvSpPr>
        <p:spPr>
          <a:xfrm>
            <a:off x="768097" y="902042"/>
            <a:ext cx="7832833" cy="3743480"/>
          </a:xfrm>
        </p:spPr>
        <p:txBody>
          <a:bodyPr>
            <a:normAutofit/>
          </a:bodyPr>
          <a:lstStyle/>
          <a:p>
            <a:pPr>
              <a:lnSpc>
                <a:spcPct val="100000"/>
              </a:lnSpc>
              <a:spcBef>
                <a:spcPts val="800"/>
              </a:spcBef>
            </a:pPr>
            <a:r>
              <a:rPr lang="zh-CN" altLang="en-US" sz="2000" dirty="0"/>
              <a:t>谁使用系统的主要功能？</a:t>
            </a:r>
            <a:endParaRPr lang="zh-CN" altLang="en-US" sz="2000" dirty="0"/>
          </a:p>
          <a:p>
            <a:pPr>
              <a:lnSpc>
                <a:spcPct val="100000"/>
              </a:lnSpc>
              <a:spcBef>
                <a:spcPts val="800"/>
              </a:spcBef>
            </a:pPr>
            <a:r>
              <a:rPr lang="zh-CN" altLang="en-US" sz="2000" dirty="0"/>
              <a:t>谁改变系统的数据？</a:t>
            </a:r>
            <a:endParaRPr lang="zh-CN" altLang="en-US" sz="2000" dirty="0">
              <a:solidFill>
                <a:srgbClr val="FF3300"/>
              </a:solidFill>
            </a:endParaRPr>
          </a:p>
          <a:p>
            <a:pPr>
              <a:lnSpc>
                <a:spcPct val="100000"/>
              </a:lnSpc>
              <a:spcBef>
                <a:spcPts val="800"/>
              </a:spcBef>
            </a:pPr>
            <a:r>
              <a:rPr lang="zh-CN" altLang="en-US" sz="2000" dirty="0"/>
              <a:t>谁从系统获取信息？</a:t>
            </a:r>
            <a:endParaRPr lang="zh-CN" altLang="en-US" sz="2000" dirty="0">
              <a:solidFill>
                <a:srgbClr val="FF3300"/>
              </a:solidFill>
            </a:endParaRPr>
          </a:p>
          <a:p>
            <a:pPr>
              <a:lnSpc>
                <a:spcPct val="100000"/>
              </a:lnSpc>
              <a:spcBef>
                <a:spcPts val="800"/>
              </a:spcBef>
            </a:pPr>
            <a:r>
              <a:rPr lang="zh-CN" altLang="en-US" sz="2000" dirty="0"/>
              <a:t>谁需要系统的支持以完成日常工作任务？</a:t>
            </a:r>
            <a:endParaRPr lang="zh-CN" altLang="en-US" sz="2000" dirty="0">
              <a:solidFill>
                <a:srgbClr val="FF3300"/>
              </a:solidFill>
            </a:endParaRPr>
          </a:p>
          <a:p>
            <a:pPr>
              <a:lnSpc>
                <a:spcPct val="100000"/>
              </a:lnSpc>
              <a:spcBef>
                <a:spcPts val="800"/>
              </a:spcBef>
            </a:pPr>
            <a:r>
              <a:rPr lang="zh-CN" altLang="en-US" sz="2000" dirty="0"/>
              <a:t>谁负责日常维护、管理并保证系统正常运行？</a:t>
            </a:r>
            <a:endParaRPr lang="zh-CN" altLang="en-US" sz="2000" dirty="0">
              <a:solidFill>
                <a:srgbClr val="FF3300"/>
              </a:solidFill>
            </a:endParaRPr>
          </a:p>
          <a:p>
            <a:pPr>
              <a:lnSpc>
                <a:spcPct val="100000"/>
              </a:lnSpc>
              <a:spcBef>
                <a:spcPts val="800"/>
              </a:spcBef>
            </a:pPr>
            <a:r>
              <a:rPr lang="zh-CN" altLang="en-US" sz="2000" dirty="0"/>
              <a:t>系统需要应付（处理）哪些硬件设备？</a:t>
            </a:r>
            <a:endParaRPr lang="zh-CN" altLang="en-US" sz="2000" dirty="0">
              <a:solidFill>
                <a:srgbClr val="FF3300"/>
              </a:solidFill>
            </a:endParaRPr>
          </a:p>
          <a:p>
            <a:pPr>
              <a:lnSpc>
                <a:spcPct val="100000"/>
              </a:lnSpc>
              <a:spcBef>
                <a:spcPts val="800"/>
              </a:spcBef>
            </a:pPr>
            <a:r>
              <a:rPr lang="zh-CN" altLang="en-US" sz="2000" dirty="0"/>
              <a:t>系统需要和哪些外部系统交互？</a:t>
            </a:r>
            <a:endParaRPr lang="zh-CN" altLang="en-US" sz="2000" dirty="0">
              <a:solidFill>
                <a:srgbClr val="FF3300"/>
              </a:solidFill>
            </a:endParaRPr>
          </a:p>
          <a:p>
            <a:pPr>
              <a:lnSpc>
                <a:spcPct val="100000"/>
              </a:lnSpc>
              <a:spcBef>
                <a:spcPts val="800"/>
              </a:spcBef>
            </a:pPr>
            <a:r>
              <a:rPr lang="zh-CN" altLang="en-US" sz="2000" dirty="0"/>
              <a:t>谁（或什么）对系统运行产生的结果（值）感兴趣？</a:t>
            </a:r>
            <a:endParaRPr lang="zh-CN" altLang="en-US" sz="2000" dirty="0">
              <a:solidFill>
                <a:srgbClr val="FF3300"/>
              </a:solidFill>
            </a:endParaRPr>
          </a:p>
          <a:p>
            <a:pPr>
              <a:lnSpc>
                <a:spcPct val="100000"/>
              </a:lnSpc>
              <a:spcBef>
                <a:spcPts val="800"/>
              </a:spcBef>
            </a:pPr>
            <a:r>
              <a:rPr lang="zh-CN" altLang="en-US" sz="2000" dirty="0"/>
              <a:t>有哪些时间、气温等内部或外部条件？</a:t>
            </a:r>
            <a:endParaRPr lang="en-US" altLang="zh-CN" sz="2000" dirty="0"/>
          </a:p>
        </p:txBody>
      </p:sp>
      <p:sp>
        <p:nvSpPr>
          <p:cNvPr id="4" name="日期占位符 3"/>
          <p:cNvSpPr>
            <a:spLocks noGrp="1"/>
          </p:cNvSpPr>
          <p:nvPr>
            <p:ph type="dt" sz="half" idx="10"/>
          </p:nvPr>
        </p:nvSpPr>
        <p:spPr/>
        <p:txBody>
          <a:bodyPr/>
          <a:lstStyle/>
          <a:p>
            <a:pPr>
              <a:spcAft>
                <a:spcPts val="0"/>
              </a:spcAft>
            </a:pPr>
            <a:fld id="{052165B1-909C-4CE9-8A41-57DDA830C0EB}"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8" name="图片 7"/>
          <p:cNvPicPr>
            <a:picLocks noChangeAspect="1"/>
          </p:cNvPicPr>
          <p:nvPr/>
        </p:nvPicPr>
        <p:blipFill>
          <a:blip r:embed="rId1"/>
          <a:stretch>
            <a:fillRect/>
          </a:stretch>
        </p:blipFill>
        <p:spPr>
          <a:xfrm>
            <a:off x="6084702" y="1522251"/>
            <a:ext cx="2872402" cy="20982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up)">
                                      <p:cBhvr>
                                        <p:cTn id="19" dur="500"/>
                                        <p:tgtEl>
                                          <p:spTgt spid="2">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up)">
                                      <p:cBhvr>
                                        <p:cTn id="27" dur="500"/>
                                        <p:tgtEl>
                                          <p:spTgt spid="2">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wipe(up)">
                                      <p:cBhvr>
                                        <p:cTn id="31" dur="500"/>
                                        <p:tgtEl>
                                          <p:spTgt spid="2">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Effect transition="in" filter="wipe(up)">
                                      <p:cBhvr>
                                        <p:cTn id="35" dur="500"/>
                                        <p:tgtEl>
                                          <p:spTgt spid="2">
                                            <p:txEl>
                                              <p:pRg st="7" end="7"/>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wipe(up)">
                                      <p:cBhvr>
                                        <p:cTn id="39"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参与者建模的检查项 </a:t>
            </a:r>
            <a:endParaRPr lang="zh-CN" altLang="en-US" dirty="0"/>
          </a:p>
        </p:txBody>
      </p:sp>
      <p:sp>
        <p:nvSpPr>
          <p:cNvPr id="3" name="内容占位符 2"/>
          <p:cNvSpPr>
            <a:spLocks noGrp="1"/>
          </p:cNvSpPr>
          <p:nvPr>
            <p:ph idx="1"/>
          </p:nvPr>
        </p:nvSpPr>
        <p:spPr>
          <a:xfrm>
            <a:off x="768097" y="925167"/>
            <a:ext cx="7832833" cy="3510909"/>
          </a:xfrm>
        </p:spPr>
        <p:txBody>
          <a:bodyPr>
            <a:normAutofit/>
          </a:bodyPr>
          <a:lstStyle/>
          <a:p>
            <a:pPr marL="342900" indent="-342900"/>
            <a:r>
              <a:rPr lang="zh-CN" altLang="en-US" sz="2400" dirty="0"/>
              <a:t>是否找全所有的参与者？是否对系统环境中所有的角色进行了描述和建模？</a:t>
            </a:r>
            <a:endParaRPr lang="en-US" altLang="zh-CN" sz="2400" dirty="0"/>
          </a:p>
          <a:p>
            <a:pPr marL="342900" indent="-342900"/>
            <a:r>
              <a:rPr lang="zh-CN" altLang="en-US" sz="2400" dirty="0"/>
              <a:t>每个参与者是否至少与一个用例发生了交互？ </a:t>
            </a:r>
            <a:endParaRPr lang="en-US" altLang="zh-CN" sz="2400" dirty="0"/>
          </a:p>
          <a:p>
            <a:pPr marL="342900" indent="-342900"/>
            <a:r>
              <a:rPr lang="zh-CN" altLang="en-US" sz="2400" dirty="0"/>
              <a:t>是否可以为每一个角色找到至少两个实例？</a:t>
            </a:r>
            <a:endParaRPr lang="en-US" altLang="zh-CN" sz="2400" dirty="0"/>
          </a:p>
          <a:p>
            <a:pPr marL="342900" indent="-342900"/>
            <a:r>
              <a:rPr lang="zh-CN" altLang="en-US" sz="2400" dirty="0"/>
              <a:t>不同参与者与系统的交互是否一致，扮演的角色是否相似？如果有，则应该要合并这些参与者作为同一种角色 。</a:t>
            </a:r>
            <a:endParaRPr lang="zh-CN" altLang="en-US" sz="2400" dirty="0"/>
          </a:p>
        </p:txBody>
      </p:sp>
      <p:sp>
        <p:nvSpPr>
          <p:cNvPr id="4" name="日期占位符 3"/>
          <p:cNvSpPr>
            <a:spLocks noGrp="1"/>
          </p:cNvSpPr>
          <p:nvPr>
            <p:ph type="dt" sz="half" idx="10"/>
          </p:nvPr>
        </p:nvSpPr>
        <p:spPr/>
        <p:txBody>
          <a:bodyPr/>
          <a:lstStyle/>
          <a:p>
            <a:pPr>
              <a:spcAft>
                <a:spcPts val="0"/>
              </a:spcAft>
            </a:pPr>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识别参与者的误区</a:t>
            </a:r>
            <a:endParaRPr lang="zh-CN" altLang="en-US" dirty="0"/>
          </a:p>
        </p:txBody>
      </p:sp>
      <p:sp>
        <p:nvSpPr>
          <p:cNvPr id="3" name="内容占位符 2"/>
          <p:cNvSpPr>
            <a:spLocks noGrp="1"/>
          </p:cNvSpPr>
          <p:nvPr>
            <p:ph idx="1"/>
          </p:nvPr>
        </p:nvSpPr>
        <p:spPr>
          <a:xfrm>
            <a:off x="768097" y="925167"/>
            <a:ext cx="7832833" cy="3720974"/>
          </a:xfrm>
        </p:spPr>
        <p:txBody>
          <a:bodyPr>
            <a:noAutofit/>
          </a:bodyPr>
          <a:lstStyle/>
          <a:p>
            <a:pPr marL="342900" indent="-342900">
              <a:lnSpc>
                <a:spcPct val="120000"/>
              </a:lnSpc>
            </a:pPr>
            <a:r>
              <a:rPr lang="zh-CN" altLang="zh-CN" sz="2000" dirty="0"/>
              <a:t>在分析系统的</a:t>
            </a:r>
            <a:r>
              <a:rPr lang="zh-CN" altLang="en-US" sz="2000" dirty="0"/>
              <a:t>参与者</a:t>
            </a:r>
            <a:r>
              <a:rPr lang="zh-CN" altLang="zh-CN" sz="2000" dirty="0"/>
              <a:t>时，除了考虑操作者是否与系统交互之外，还要考虑操作者是否在系统的</a:t>
            </a:r>
            <a:r>
              <a:rPr lang="zh-CN" altLang="zh-CN" sz="2000" dirty="0">
                <a:solidFill>
                  <a:srgbClr val="FF0000"/>
                </a:solidFill>
              </a:rPr>
              <a:t>边界之外</a:t>
            </a:r>
            <a:r>
              <a:rPr lang="zh-CN" altLang="zh-CN" sz="2000" dirty="0"/>
              <a:t>，只有在系统边界之外的操作者才能称为</a:t>
            </a:r>
            <a:r>
              <a:rPr lang="zh-CN" altLang="en-US" sz="2000" dirty="0"/>
              <a:t>参与者</a:t>
            </a:r>
            <a:r>
              <a:rPr lang="zh-CN" altLang="zh-CN" sz="2000" dirty="0"/>
              <a:t>，否则只能是系统的一部分。</a:t>
            </a:r>
            <a:endParaRPr lang="en-US" altLang="zh-CN" sz="2000" dirty="0"/>
          </a:p>
          <a:p>
            <a:pPr marL="342900" indent="-342900">
              <a:lnSpc>
                <a:spcPct val="120000"/>
              </a:lnSpc>
            </a:pPr>
            <a:r>
              <a:rPr lang="zh-CN" altLang="zh-CN" sz="2000" dirty="0"/>
              <a:t>初学者常常把系统中的数据库识别为系统的</a:t>
            </a:r>
            <a:r>
              <a:rPr lang="zh-CN" altLang="en-US" sz="2000" dirty="0"/>
              <a:t>参与者</a:t>
            </a:r>
            <a:r>
              <a:rPr lang="zh-CN" altLang="zh-CN" sz="2000" dirty="0"/>
              <a:t>，对于多数系统来说，数据库是用来存储系统数据的，是系统的一部分，不应该被识别为</a:t>
            </a:r>
            <a:r>
              <a:rPr lang="zh-CN" altLang="en-US" sz="2000" dirty="0"/>
              <a:t>参与者</a:t>
            </a:r>
            <a:r>
              <a:rPr lang="zh-CN" altLang="zh-CN" sz="2000" dirty="0"/>
              <a:t>。</a:t>
            </a:r>
            <a:endParaRPr lang="en-US" altLang="zh-CN" sz="2000" dirty="0"/>
          </a:p>
          <a:p>
            <a:pPr marL="342900" indent="-342900">
              <a:lnSpc>
                <a:spcPct val="120000"/>
              </a:lnSpc>
            </a:pPr>
            <a:r>
              <a:rPr lang="zh-CN" altLang="zh-CN" sz="2000" dirty="0"/>
              <a:t>例外</a:t>
            </a:r>
            <a:r>
              <a:rPr lang="zh-CN" altLang="en-US" sz="2000" dirty="0"/>
              <a:t>的情况</a:t>
            </a:r>
            <a:r>
              <a:rPr lang="zh-CN" altLang="zh-CN" sz="2000" dirty="0"/>
              <a:t>是，一些遗留系统的数据库存储着新系统需要导入或者处理的历史数据，或者系统产生的数据导出到外部数据库中以供其它系统使用，这时的数据库应该视为系统的参与者。</a:t>
            </a:r>
            <a:endParaRPr lang="zh-CN" altLang="zh-CN" sz="2000" dirty="0"/>
          </a:p>
          <a:p>
            <a:pPr marL="342900" indent="-342900">
              <a:lnSpc>
                <a:spcPct val="120000"/>
              </a:lnSpc>
            </a:pPr>
            <a:endParaRPr lang="zh-CN" altLang="en-US" sz="2000" dirty="0"/>
          </a:p>
        </p:txBody>
      </p:sp>
      <p:sp>
        <p:nvSpPr>
          <p:cNvPr id="4" name="日期占位符 3"/>
          <p:cNvSpPr>
            <a:spLocks noGrp="1"/>
          </p:cNvSpPr>
          <p:nvPr>
            <p:ph type="dt" sz="half" idx="10"/>
          </p:nvPr>
        </p:nvSpPr>
        <p:spPr/>
        <p:txBody>
          <a:bodyPr/>
          <a:lstStyle/>
          <a:p>
            <a:pPr>
              <a:spcAft>
                <a:spcPts val="0"/>
              </a:spcAft>
            </a:pPr>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a:spcAft>
                <a:spcPts val="0"/>
              </a:spcAft>
            </a:pPr>
            <a:r>
              <a:rPr lang="zh-CN" altLang="en-US" dirty="0"/>
              <a:t>识别参与者的方法</a:t>
            </a:r>
            <a:endParaRPr lang="zh-CN" altLang="en-US" dirty="0"/>
          </a:p>
        </p:txBody>
      </p:sp>
      <p:sp>
        <p:nvSpPr>
          <p:cNvPr id="2" name="文本占位符 1"/>
          <p:cNvSpPr>
            <a:spLocks noGrp="1"/>
          </p:cNvSpPr>
          <p:nvPr>
            <p:ph idx="1"/>
          </p:nvPr>
        </p:nvSpPr>
        <p:spPr/>
        <p:txBody>
          <a:bodyPr>
            <a:normAutofit/>
          </a:bodyPr>
          <a:lstStyle/>
          <a:p>
            <a:r>
              <a:rPr lang="zh-CN" altLang="en-US" dirty="0">
                <a:latin typeface="+mn-ea"/>
              </a:rPr>
              <a:t>例如，以</a:t>
            </a:r>
            <a:r>
              <a:rPr lang="zh-CN" altLang="zh-CN" dirty="0"/>
              <a:t>图书管理系统中学生借书事务为例，学生将书带到总借还台，由图书管理员录入图书信息，完成学生的借书事务。</a:t>
            </a:r>
            <a:endParaRPr lang="en-US" altLang="zh-CN" dirty="0"/>
          </a:p>
          <a:p>
            <a:r>
              <a:rPr lang="zh-CN" altLang="en-US" dirty="0">
                <a:latin typeface="+mn-ea"/>
              </a:rPr>
              <a:t>图书管理系统的参与者：</a:t>
            </a:r>
            <a:endParaRPr lang="zh-CN" altLang="en-US" dirty="0">
              <a:latin typeface="+mn-ea"/>
            </a:endParaRPr>
          </a:p>
          <a:p>
            <a:pPr lvl="1">
              <a:spcBef>
                <a:spcPct val="60000"/>
              </a:spcBef>
              <a:buClr>
                <a:schemeClr val="hlink"/>
              </a:buClr>
            </a:pPr>
            <a:r>
              <a:rPr lang="zh-CN" altLang="en-US" dirty="0">
                <a:latin typeface="+mn-ea"/>
              </a:rPr>
              <a:t>图书管理员（</a:t>
            </a:r>
            <a:r>
              <a:rPr lang="en-US" altLang="zh-CN" dirty="0">
                <a:latin typeface="+mn-ea"/>
              </a:rPr>
              <a:t>Librarian</a:t>
            </a:r>
            <a:r>
              <a:rPr lang="zh-CN" altLang="en-US" dirty="0">
                <a:latin typeface="+mn-ea"/>
              </a:rPr>
              <a:t>）</a:t>
            </a:r>
            <a:endParaRPr lang="zh-CN" altLang="en-US" dirty="0">
              <a:latin typeface="+mn-ea"/>
            </a:endParaRPr>
          </a:p>
          <a:p>
            <a:pPr lvl="1">
              <a:spcBef>
                <a:spcPct val="60000"/>
              </a:spcBef>
              <a:buClr>
                <a:schemeClr val="hlink"/>
              </a:buClr>
            </a:pPr>
            <a:r>
              <a:rPr lang="zh-CN" altLang="en-US" dirty="0">
                <a:latin typeface="+mn-ea"/>
              </a:rPr>
              <a:t>借阅者（</a:t>
            </a:r>
            <a:r>
              <a:rPr lang="en-US" altLang="zh-CN" dirty="0">
                <a:latin typeface="+mn-ea"/>
              </a:rPr>
              <a:t>Borrower</a:t>
            </a:r>
            <a:r>
              <a:rPr lang="zh-CN" altLang="en-US" dirty="0">
                <a:latin typeface="+mn-ea"/>
              </a:rPr>
              <a:t>）？</a:t>
            </a:r>
            <a:endParaRPr lang="zh-CN" altLang="en-US" dirty="0">
              <a:latin typeface="+mn-ea"/>
            </a:endParaRPr>
          </a:p>
          <a:p>
            <a:endParaRPr lang="zh-CN" altLang="en-US" sz="3600" dirty="0">
              <a:latin typeface="+mn-ea"/>
            </a:endParaRPr>
          </a:p>
        </p:txBody>
      </p:sp>
      <p:sp>
        <p:nvSpPr>
          <p:cNvPr id="5" name="日期占位符 4"/>
          <p:cNvSpPr>
            <a:spLocks noGrp="1"/>
          </p:cNvSpPr>
          <p:nvPr>
            <p:ph type="dt" sz="half" idx="10"/>
          </p:nvPr>
        </p:nvSpPr>
        <p:spPr/>
        <p:txBody>
          <a:bodyPr/>
          <a:lstStyle/>
          <a:p>
            <a:pPr>
              <a:spcAft>
                <a:spcPts val="0"/>
              </a:spcAft>
            </a:pPr>
            <a:fld id="{36B2EE74-3E54-4405-B3B2-C02D71122F92}"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wipe(up)">
                                      <p:cBhvr>
                                        <p:cTn id="14" dur="500"/>
                                        <p:tgtEl>
                                          <p:spTgt spid="2">
                                            <p:txEl>
                                              <p:pRg st="2" end="2"/>
                                            </p:txEl>
                                          </p:spTgt>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up)">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识别参与者练习</a:t>
            </a:r>
            <a:r>
              <a:rPr lang="en-US" altLang="zh-CN" dirty="0"/>
              <a:t>1</a:t>
            </a:r>
            <a:endParaRPr lang="zh-CN" altLang="en-US" dirty="0"/>
          </a:p>
        </p:txBody>
      </p:sp>
      <p:sp>
        <p:nvSpPr>
          <p:cNvPr id="2" name="文本占位符 1"/>
          <p:cNvSpPr>
            <a:spLocks noGrp="1"/>
          </p:cNvSpPr>
          <p:nvPr>
            <p:ph idx="1"/>
          </p:nvPr>
        </p:nvSpPr>
        <p:spPr/>
        <p:txBody>
          <a:bodyPr>
            <a:normAutofit/>
          </a:bodyPr>
          <a:lstStyle/>
          <a:p>
            <a:pPr>
              <a:lnSpc>
                <a:spcPct val="150000"/>
              </a:lnSpc>
            </a:pPr>
            <a:r>
              <a:rPr lang="zh-CN" altLang="en-US" sz="2400" dirty="0"/>
              <a:t>客户给销售员发来传真订货， 销售员下班前将当日订货单汇总输入系统。</a:t>
            </a:r>
            <a:endParaRPr lang="zh-CN" altLang="en-US" sz="2400" dirty="0"/>
          </a:p>
          <a:p>
            <a:pPr>
              <a:lnSpc>
                <a:spcPct val="150000"/>
              </a:lnSpc>
            </a:pPr>
            <a:r>
              <a:rPr lang="zh-CN" altLang="en-US" sz="2400" dirty="0"/>
              <a:t>谁是系统的</a:t>
            </a:r>
            <a:r>
              <a:rPr lang="en-US" altLang="zh-CN" sz="2400" dirty="0"/>
              <a:t>Actor</a:t>
            </a:r>
            <a:r>
              <a:rPr lang="zh-CN" altLang="en-US" sz="2400" dirty="0"/>
              <a:t>？</a:t>
            </a:r>
            <a:endParaRPr lang="zh-CN" altLang="en-US" sz="2400" dirty="0"/>
          </a:p>
          <a:p>
            <a:pPr marL="0" indent="0">
              <a:lnSpc>
                <a:spcPct val="150000"/>
              </a:lnSpc>
              <a:spcBef>
                <a:spcPts val="3000"/>
              </a:spcBef>
              <a:buNone/>
            </a:pPr>
            <a:r>
              <a:rPr lang="zh-CN" altLang="en-US" sz="2400" dirty="0">
                <a:solidFill>
                  <a:schemeClr val="tx1">
                    <a:lumMod val="65000"/>
                    <a:lumOff val="35000"/>
                  </a:schemeClr>
                </a:solidFill>
              </a:rPr>
              <a:t>答案：  销售员</a:t>
            </a:r>
            <a:endParaRPr lang="zh-CN" altLang="en-US" sz="2400" dirty="0">
              <a:solidFill>
                <a:schemeClr val="tx1">
                  <a:lumMod val="65000"/>
                  <a:lumOff val="35000"/>
                </a:schemeClr>
              </a:solidFill>
            </a:endParaRPr>
          </a:p>
        </p:txBody>
      </p:sp>
      <p:sp>
        <p:nvSpPr>
          <p:cNvPr id="4" name="日期占位符 3"/>
          <p:cNvSpPr>
            <a:spLocks noGrp="1"/>
          </p:cNvSpPr>
          <p:nvPr>
            <p:ph type="dt" sz="half" idx="10"/>
          </p:nvPr>
        </p:nvSpPr>
        <p:spPr/>
        <p:txBody>
          <a:bodyPr/>
          <a:lstStyle/>
          <a:p>
            <a:pPr>
              <a:spcAft>
                <a:spcPts val="0"/>
              </a:spcAft>
            </a:pPr>
            <a:fld id="{43184F68-DFB7-4170-A5BE-FE4B53AAC3BB}"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up)">
                                      <p:cBhvr>
                                        <p:cTn id="16"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spcAft>
                <a:spcPts val="0"/>
              </a:spcAft>
            </a:pPr>
            <a:r>
              <a:rPr lang="zh-CN" altLang="en-US" dirty="0"/>
              <a:t>识别参与者练习</a:t>
            </a:r>
            <a:r>
              <a:rPr lang="en-US" altLang="zh-CN" dirty="0"/>
              <a:t>2</a:t>
            </a:r>
            <a:endParaRPr lang="zh-CN" altLang="en-US" dirty="0"/>
          </a:p>
        </p:txBody>
      </p:sp>
      <p:sp>
        <p:nvSpPr>
          <p:cNvPr id="2" name="文本占位符 1"/>
          <p:cNvSpPr>
            <a:spLocks noGrp="1"/>
          </p:cNvSpPr>
          <p:nvPr>
            <p:ph idx="1"/>
          </p:nvPr>
        </p:nvSpPr>
        <p:spPr/>
        <p:txBody>
          <a:bodyPr>
            <a:normAutofit/>
          </a:bodyPr>
          <a:lstStyle/>
          <a:p>
            <a:pPr>
              <a:lnSpc>
                <a:spcPct val="150000"/>
              </a:lnSpc>
            </a:pPr>
            <a:r>
              <a:rPr lang="zh-CN" altLang="en-US" sz="2400" dirty="0"/>
              <a:t>商品销售系统：顾客通过网络下单之后，系统计算出总计金额，税金，运费，并将数目传递给一个外挂的会计系统，该系统是另外购买的。</a:t>
            </a:r>
            <a:endParaRPr lang="zh-CN" altLang="en-US" sz="2400" dirty="0"/>
          </a:p>
          <a:p>
            <a:pPr>
              <a:lnSpc>
                <a:spcPct val="150000"/>
              </a:lnSpc>
            </a:pPr>
            <a:r>
              <a:rPr lang="zh-CN" altLang="en-US" sz="2400" dirty="0"/>
              <a:t>有几个</a:t>
            </a:r>
            <a:r>
              <a:rPr lang="en-US" altLang="zh-CN" sz="2400" dirty="0"/>
              <a:t>Actor</a:t>
            </a:r>
            <a:r>
              <a:rPr lang="zh-CN" altLang="en-US" sz="2400" dirty="0"/>
              <a:t>？</a:t>
            </a:r>
            <a:endParaRPr lang="zh-CN" altLang="en-US" sz="2400" dirty="0"/>
          </a:p>
        </p:txBody>
      </p:sp>
      <p:sp>
        <p:nvSpPr>
          <p:cNvPr id="4" name="日期占位符 3"/>
          <p:cNvSpPr>
            <a:spLocks noGrp="1"/>
          </p:cNvSpPr>
          <p:nvPr>
            <p:ph type="dt" sz="half" idx="10"/>
          </p:nvPr>
        </p:nvSpPr>
        <p:spPr/>
        <p:txBody>
          <a:bodyPr/>
          <a:lstStyle/>
          <a:p>
            <a:pPr>
              <a:spcAft>
                <a:spcPts val="0"/>
              </a:spcAft>
            </a:pPr>
            <a:fld id="{E0FB5F28-9C24-4594-9EF7-E70DF17CFF52}"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76804" name="Text Box 4"/>
          <p:cNvSpPr txBox="1">
            <a:spLocks noChangeArrowheads="1"/>
          </p:cNvSpPr>
          <p:nvPr/>
        </p:nvSpPr>
        <p:spPr bwMode="auto">
          <a:xfrm>
            <a:off x="1751828" y="3437688"/>
            <a:ext cx="5486400" cy="791210"/>
          </a:xfrm>
          <a:prstGeom prst="rect">
            <a:avLst/>
          </a:prstGeom>
          <a:noFill/>
          <a:ln w="9525">
            <a:noFill/>
            <a:miter lim="800000"/>
          </a:ln>
          <a:effectLst/>
        </p:spPr>
        <p:txBody>
          <a:bodyPr>
            <a:spAutoFit/>
          </a:bodyPr>
          <a:lstStyle/>
          <a:p>
            <a:pPr algn="l">
              <a:spcBef>
                <a:spcPct val="60000"/>
              </a:spcBef>
              <a:spcAft>
                <a:spcPts val="0"/>
              </a:spcAft>
              <a:buClr>
                <a:schemeClr val="tx1"/>
              </a:buClr>
              <a:buFontTx/>
              <a:buNone/>
            </a:pPr>
            <a:r>
              <a:rPr lang="zh-CN" altLang="en-US" sz="2250" dirty="0">
                <a:solidFill>
                  <a:schemeClr val="tx1">
                    <a:lumMod val="65000"/>
                    <a:lumOff val="35000"/>
                  </a:schemeClr>
                </a:solidFill>
              </a:rPr>
              <a:t>答案：  顾客</a:t>
            </a:r>
            <a:r>
              <a:rPr lang="en-US" altLang="zh-CN" sz="2250" dirty="0">
                <a:solidFill>
                  <a:schemeClr val="tx1">
                    <a:lumMod val="65000"/>
                    <a:lumOff val="35000"/>
                  </a:schemeClr>
                </a:solidFill>
              </a:rPr>
              <a:t>(</a:t>
            </a:r>
            <a:r>
              <a:rPr lang="zh-CN" altLang="en-US" sz="2250" dirty="0">
                <a:solidFill>
                  <a:schemeClr val="tx1">
                    <a:lumMod val="65000"/>
                    <a:lumOff val="35000"/>
                  </a:schemeClr>
                </a:solidFill>
              </a:rPr>
              <a:t>商品销售系统</a:t>
            </a:r>
            <a:r>
              <a:rPr lang="en-US" altLang="zh-CN" sz="2250" dirty="0">
                <a:solidFill>
                  <a:schemeClr val="tx1">
                    <a:lumMod val="65000"/>
                    <a:lumOff val="35000"/>
                  </a:schemeClr>
                </a:solidFill>
              </a:rPr>
              <a:t>)</a:t>
            </a:r>
            <a:r>
              <a:rPr lang="zh-CN" altLang="en-US" sz="2250" dirty="0">
                <a:solidFill>
                  <a:schemeClr val="tx1">
                    <a:lumMod val="65000"/>
                    <a:lumOff val="35000"/>
                  </a:schemeClr>
                </a:solidFill>
              </a:rPr>
              <a:t>，</a:t>
            </a:r>
            <a:endParaRPr lang="zh-CN" altLang="en-US" sz="2250" dirty="0">
              <a:solidFill>
                <a:schemeClr val="tx1">
                  <a:lumMod val="65000"/>
                  <a:lumOff val="35000"/>
                </a:schemeClr>
              </a:solidFill>
            </a:endParaRPr>
          </a:p>
          <a:p>
            <a:pPr algn="l">
              <a:spcBef>
                <a:spcPts val="60"/>
              </a:spcBef>
              <a:buClr>
                <a:schemeClr val="tx1"/>
              </a:buClr>
              <a:buFontTx/>
              <a:buNone/>
            </a:pPr>
            <a:r>
              <a:rPr lang="zh-CN" altLang="en-US" sz="2250" dirty="0">
                <a:solidFill>
                  <a:schemeClr val="tx1">
                    <a:lumMod val="65000"/>
                    <a:lumOff val="35000"/>
                  </a:schemeClr>
                </a:solidFill>
              </a:rPr>
              <a:t>             会计系统</a:t>
            </a:r>
            <a:endParaRPr lang="en-US" altLang="zh-CN" sz="2250" dirty="0">
              <a:solidFill>
                <a:schemeClr val="tx1">
                  <a:lumMod val="65000"/>
                  <a:lumOff val="3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76804"/>
                                        </p:tgtEl>
                                        <p:attrNameLst>
                                          <p:attrName>style.visibility</p:attrName>
                                        </p:attrNameLst>
                                      </p:cBhvr>
                                      <p:to>
                                        <p:strVal val="visible"/>
                                      </p:to>
                                    </p:set>
                                    <p:animEffect transition="in" filter="randombar(horizontal)">
                                      <p:cBhvr>
                                        <p:cTn id="16" dur="500"/>
                                        <p:tgtEl>
                                          <p:spTgt spid="76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76804"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spcAft>
                <a:spcPts val="0"/>
              </a:spcAft>
            </a:pPr>
            <a:r>
              <a:rPr lang="zh-CN" altLang="en-US" dirty="0"/>
              <a:t>识别用例的方法（难点）</a:t>
            </a:r>
            <a:endParaRPr lang="zh-CN" altLang="en-US" dirty="0"/>
          </a:p>
        </p:txBody>
      </p:sp>
      <p:sp>
        <p:nvSpPr>
          <p:cNvPr id="2" name="文本占位符 1"/>
          <p:cNvSpPr>
            <a:spLocks noGrp="1"/>
          </p:cNvSpPr>
          <p:nvPr>
            <p:ph idx="1"/>
          </p:nvPr>
        </p:nvSpPr>
        <p:spPr>
          <a:xfrm>
            <a:off x="768096" y="976185"/>
            <a:ext cx="8090153" cy="3583458"/>
          </a:xfrm>
        </p:spPr>
        <p:txBody>
          <a:bodyPr>
            <a:noAutofit/>
          </a:bodyPr>
          <a:lstStyle/>
          <a:p>
            <a:pPr marL="342900" indent="-342900">
              <a:lnSpc>
                <a:spcPct val="100000"/>
              </a:lnSpc>
              <a:spcBef>
                <a:spcPts val="800"/>
              </a:spcBef>
            </a:pPr>
            <a:r>
              <a:rPr lang="zh-CN" altLang="en-US" sz="2000" dirty="0"/>
              <a:t>每个参与者的目标是什么？为什么参与者要使用这个系统？</a:t>
            </a:r>
            <a:endParaRPr lang="en-US" altLang="zh-CN" sz="2000" dirty="0"/>
          </a:p>
          <a:p>
            <a:pPr marL="342900" indent="-342900">
              <a:lnSpc>
                <a:spcPct val="100000"/>
              </a:lnSpc>
              <a:spcBef>
                <a:spcPts val="800"/>
              </a:spcBef>
            </a:pPr>
            <a:r>
              <a:rPr lang="zh-CN" altLang="en-US" sz="2000" dirty="0"/>
              <a:t>参与者希望系统提供什么功能？</a:t>
            </a:r>
            <a:endParaRPr lang="en-US" altLang="zh-CN" sz="2000" dirty="0"/>
          </a:p>
          <a:p>
            <a:pPr marL="342900" indent="-342900">
              <a:lnSpc>
                <a:spcPct val="100000"/>
              </a:lnSpc>
              <a:spcBef>
                <a:spcPts val="800"/>
              </a:spcBef>
            </a:pPr>
            <a:r>
              <a:rPr lang="zh-CN" altLang="en-US" sz="2000" dirty="0"/>
              <a:t>系统是否存储和检索信息，如读取、创建、删除、修改、存储等；如果是，这个行为由哪个参与者触发？</a:t>
            </a:r>
            <a:endParaRPr lang="en-US" altLang="zh-CN" sz="2000" dirty="0"/>
          </a:p>
          <a:p>
            <a:pPr marL="342900" indent="-342900">
              <a:lnSpc>
                <a:spcPct val="100000"/>
              </a:lnSpc>
              <a:spcBef>
                <a:spcPts val="800"/>
              </a:spcBef>
            </a:pPr>
            <a:r>
              <a:rPr lang="zh-CN" altLang="en-US" sz="2000" dirty="0"/>
              <a:t>当系统改变状态时，是否通知参与者？</a:t>
            </a:r>
            <a:endParaRPr lang="en-US" altLang="zh-CN" sz="2000" dirty="0"/>
          </a:p>
          <a:p>
            <a:pPr marL="342900" indent="-342900">
              <a:lnSpc>
                <a:spcPct val="100000"/>
              </a:lnSpc>
              <a:spcBef>
                <a:spcPts val="800"/>
              </a:spcBef>
            </a:pPr>
            <a:r>
              <a:rPr lang="zh-CN" altLang="en-US" sz="2000" dirty="0"/>
              <a:t>是否存在影响系统的外部事件，是哪个参与者通知系统这些外部事件？ </a:t>
            </a:r>
            <a:endParaRPr lang="en-US" altLang="zh-CN" sz="2000" dirty="0"/>
          </a:p>
          <a:p>
            <a:pPr marL="342900" indent="-342900">
              <a:lnSpc>
                <a:spcPct val="100000"/>
              </a:lnSpc>
              <a:spcBef>
                <a:spcPts val="800"/>
              </a:spcBef>
            </a:pPr>
            <a:r>
              <a:rPr lang="zh-CN" altLang="en-US" sz="2000" dirty="0"/>
              <a:t>系统需要哪些输入输出？谁从系统获取信息？</a:t>
            </a:r>
            <a:endParaRPr lang="en-US" altLang="zh-CN" sz="2000" dirty="0"/>
          </a:p>
          <a:p>
            <a:pPr marL="342900" indent="-342900">
              <a:lnSpc>
                <a:spcPct val="100000"/>
              </a:lnSpc>
              <a:spcBef>
                <a:spcPts val="800"/>
              </a:spcBef>
            </a:pPr>
            <a:r>
              <a:rPr lang="zh-CN" altLang="en-US" sz="2000" dirty="0"/>
              <a:t>参与者是否需要知道系统内部发生的事件或改变？</a:t>
            </a:r>
            <a:endParaRPr lang="en-US" altLang="zh-CN" sz="2000" dirty="0"/>
          </a:p>
          <a:p>
            <a:pPr marL="342900" indent="-342900">
              <a:lnSpc>
                <a:spcPct val="100000"/>
              </a:lnSpc>
              <a:spcBef>
                <a:spcPts val="800"/>
              </a:spcBef>
            </a:pPr>
            <a:r>
              <a:rPr lang="zh-CN" altLang="en-US" sz="2000" dirty="0"/>
              <a:t>系统是否能够应对业务中所有的正确行为与操作？ </a:t>
            </a:r>
            <a:endParaRPr lang="zh-CN" altLang="en-US" sz="2000" dirty="0"/>
          </a:p>
        </p:txBody>
      </p:sp>
      <p:sp>
        <p:nvSpPr>
          <p:cNvPr id="4" name="日期占位符 3"/>
          <p:cNvSpPr>
            <a:spLocks noGrp="1"/>
          </p:cNvSpPr>
          <p:nvPr>
            <p:ph type="dt" sz="half" idx="10"/>
          </p:nvPr>
        </p:nvSpPr>
        <p:spPr/>
        <p:txBody>
          <a:bodyPr/>
          <a:lstStyle/>
          <a:p>
            <a:pPr>
              <a:spcAft>
                <a:spcPts val="0"/>
              </a:spcAft>
            </a:pPr>
            <a:fld id="{6E4D9EB1-E56B-4AAB-98B5-27A5CD9661D4}"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识别用例的方法</a:t>
            </a:r>
            <a:endParaRPr lang="zh-CN" altLang="en-US" dirty="0"/>
          </a:p>
        </p:txBody>
      </p:sp>
      <p:sp>
        <p:nvSpPr>
          <p:cNvPr id="3" name="内容占位符 2"/>
          <p:cNvSpPr>
            <a:spLocks noGrp="1"/>
          </p:cNvSpPr>
          <p:nvPr>
            <p:ph idx="1"/>
          </p:nvPr>
        </p:nvSpPr>
        <p:spPr>
          <a:xfrm>
            <a:off x="768097" y="949921"/>
            <a:ext cx="7832833" cy="2817009"/>
          </a:xfrm>
        </p:spPr>
        <p:txBody>
          <a:bodyPr>
            <a:normAutofit/>
          </a:bodyPr>
          <a:lstStyle/>
          <a:p>
            <a:pPr marL="660400" indent="-386080">
              <a:lnSpc>
                <a:spcPct val="150000"/>
              </a:lnSpc>
              <a:spcBef>
                <a:spcPts val="600"/>
              </a:spcBef>
            </a:pPr>
            <a:r>
              <a:rPr lang="zh-CN" altLang="en-US" sz="2400" dirty="0"/>
              <a:t>识别用例时一般是抽取业务调研报告中的</a:t>
            </a:r>
            <a:r>
              <a:rPr lang="zh-CN" altLang="en-US" sz="2400" dirty="0">
                <a:solidFill>
                  <a:srgbClr val="FF0000"/>
                </a:solidFill>
              </a:rPr>
              <a:t>动词</a:t>
            </a:r>
            <a:r>
              <a:rPr lang="zh-CN" altLang="en-US" sz="2400" dirty="0"/>
              <a:t>或</a:t>
            </a:r>
            <a:r>
              <a:rPr lang="zh-CN" altLang="en-US" sz="2400" dirty="0">
                <a:solidFill>
                  <a:srgbClr val="FF0000"/>
                </a:solidFill>
              </a:rPr>
              <a:t>动词词组</a:t>
            </a:r>
            <a:r>
              <a:rPr lang="zh-CN" altLang="en-US" sz="2400" dirty="0"/>
              <a:t>。</a:t>
            </a:r>
            <a:endParaRPr lang="en-US" altLang="zh-CN" sz="2400" dirty="0"/>
          </a:p>
          <a:p>
            <a:pPr marL="660400" indent="-386080">
              <a:lnSpc>
                <a:spcPct val="150000"/>
              </a:lnSpc>
              <a:spcBef>
                <a:spcPts val="600"/>
              </a:spcBef>
            </a:pPr>
            <a:r>
              <a:rPr lang="zh-CN" altLang="en-US" sz="2400" dirty="0"/>
              <a:t>用例的命名：使用主动语态</a:t>
            </a:r>
            <a:r>
              <a:rPr lang="en-US" altLang="zh-CN" sz="2400" dirty="0"/>
              <a:t>——</a:t>
            </a:r>
            <a:r>
              <a:rPr lang="zh-CN" altLang="en-US" sz="2400" dirty="0"/>
              <a:t>用动词起始</a:t>
            </a:r>
            <a:endParaRPr lang="en-US" altLang="zh-CN" sz="2400" dirty="0"/>
          </a:p>
          <a:p>
            <a:pPr marL="660400" indent="-386080">
              <a:lnSpc>
                <a:spcPct val="150000"/>
              </a:lnSpc>
              <a:spcBef>
                <a:spcPts val="600"/>
              </a:spcBef>
            </a:pPr>
            <a:r>
              <a:rPr lang="zh-CN" altLang="zh-CN" sz="2400" dirty="0"/>
              <a:t>在分析用例名称是否合适，一个简单有效的方法是将操作者和其用例连在一起读，看是否构成一个完整场景或句子。比如“游客浏览图书”，“游客登录注册”，都是一个完整的场景。而“游客图书”就不是一个完整场景或句子。</a:t>
            </a:r>
            <a:endParaRPr lang="zh-CN" altLang="zh-CN" sz="2400" dirty="0"/>
          </a:p>
        </p:txBody>
      </p:sp>
      <p:sp>
        <p:nvSpPr>
          <p:cNvPr id="4" name="日期占位符 3"/>
          <p:cNvSpPr>
            <a:spLocks noGrp="1"/>
          </p:cNvSpPr>
          <p:nvPr>
            <p:ph type="dt" sz="half" idx="10"/>
          </p:nvPr>
        </p:nvSpPr>
        <p:spPr/>
        <p:txBody>
          <a:bodyPr/>
          <a:lstStyle/>
          <a:p>
            <a:pPr>
              <a:spcAft>
                <a:spcPts val="0"/>
              </a:spcAft>
            </a:pPr>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
        <p:nvSpPr>
          <p:cNvPr id="7" name="圆角矩形 6"/>
          <p:cNvSpPr/>
          <p:nvPr/>
        </p:nvSpPr>
        <p:spPr>
          <a:xfrm>
            <a:off x="808571" y="3582843"/>
            <a:ext cx="8049679" cy="1149178"/>
          </a:xfrm>
          <a:prstGeom prst="roundRect">
            <a:avLst/>
          </a:prstGeom>
          <a:solidFill>
            <a:schemeClr val="bg2"/>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10000"/>
              </a:lnSpc>
              <a:spcBef>
                <a:spcPts val="450"/>
              </a:spcBef>
              <a:spcAft>
                <a:spcPts val="0"/>
              </a:spcAft>
            </a:pPr>
            <a:r>
              <a:rPr lang="zh-CN" altLang="en-US">
                <a:solidFill>
                  <a:prstClr val="black"/>
                </a:solidFill>
                <a:latin typeface="微软雅黑" panose="020B0503020204020204" pitchFamily="34" charset="-122"/>
                <a:ea typeface="微软雅黑" panose="020B0503020204020204" pitchFamily="34" charset="-122"/>
              </a:rPr>
              <a:t>需要注意的是：用例必须是由某一个参与者触发而产生的活动，如果存在跟参与者不进行交互的用例，则可以考虑并入其它用例，或者检查是否缺少参与者。反之，每个参与者也必须至少涉及一个用例。</a:t>
            </a:r>
            <a:endParaRPr lang="zh-CN" altLang="en-US"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a:spcAft>
                <a:spcPts val="0"/>
              </a:spcAft>
            </a:pPr>
            <a:r>
              <a:rPr lang="zh-CN" altLang="en-US" dirty="0"/>
              <a:t>识别用例的方法</a:t>
            </a:r>
            <a:endParaRPr lang="zh-CN" altLang="en-US" dirty="0"/>
          </a:p>
        </p:txBody>
      </p:sp>
      <p:sp>
        <p:nvSpPr>
          <p:cNvPr id="3" name="文本占位符 2"/>
          <p:cNvSpPr>
            <a:spLocks noGrp="1"/>
          </p:cNvSpPr>
          <p:nvPr>
            <p:ph idx="1"/>
          </p:nvPr>
        </p:nvSpPr>
        <p:spPr>
          <a:xfrm>
            <a:off x="768096" y="828913"/>
            <a:ext cx="7992845" cy="3763033"/>
          </a:xfrm>
        </p:spPr>
        <p:txBody>
          <a:bodyPr>
            <a:noAutofit/>
          </a:bodyPr>
          <a:lstStyle/>
          <a:p>
            <a:pPr marL="342900" indent="-342900">
              <a:lnSpc>
                <a:spcPct val="120000"/>
              </a:lnSpc>
              <a:spcBef>
                <a:spcPts val="1000"/>
              </a:spcBef>
            </a:pPr>
            <a:r>
              <a:rPr lang="zh-CN" altLang="en-US" sz="2000" dirty="0"/>
              <a:t>在具体的需求分析过程中，先从用户角度识别出系统的大致功能（大用例），就像一个黑盒一样，不涉及其内部的任何信息。</a:t>
            </a:r>
            <a:endParaRPr lang="en-US" altLang="zh-CN" sz="2000" dirty="0"/>
          </a:p>
          <a:p>
            <a:pPr marL="342900" indent="-342900">
              <a:lnSpc>
                <a:spcPct val="120000"/>
              </a:lnSpc>
              <a:spcBef>
                <a:spcPts val="1000"/>
              </a:spcBef>
            </a:pPr>
            <a:r>
              <a:rPr lang="zh-CN" altLang="en-US" sz="2000" dirty="0"/>
              <a:t>如果该用例不足以表达足够的信息来支持系统的开发，就有必要把用例黑盒打开，审视其内部结构，找出黑盒内部的参与者和用例（小用例）。</a:t>
            </a:r>
            <a:endParaRPr lang="en-US" altLang="zh-CN" sz="2000" dirty="0"/>
          </a:p>
          <a:p>
            <a:pPr marL="342900" indent="-342900">
              <a:lnSpc>
                <a:spcPct val="120000"/>
              </a:lnSpc>
              <a:spcBef>
                <a:spcPts val="1000"/>
              </a:spcBef>
            </a:pPr>
            <a:r>
              <a:rPr lang="zh-CN" altLang="en-US" sz="2000" dirty="0"/>
              <a:t>就这样不断的打开黑盒，分析黑盒，再打开新的黑盒，直到整个系统可以被清晰的了解为止。</a:t>
            </a:r>
            <a:endParaRPr lang="en-US" altLang="zh-CN" sz="2000" dirty="0"/>
          </a:p>
          <a:p>
            <a:pPr marL="342900" indent="-342900">
              <a:lnSpc>
                <a:spcPct val="120000"/>
              </a:lnSpc>
              <a:spcBef>
                <a:spcPts val="1000"/>
              </a:spcBef>
            </a:pPr>
            <a:r>
              <a:rPr lang="zh-CN" altLang="en-US" sz="2000" dirty="0"/>
              <a:t>通过解读业务分析报告，对用例进行归纳、拆分、补充、汇总，以及对用例关系进行分析和确认。</a:t>
            </a:r>
            <a:endParaRPr lang="zh-CN" altLang="en-US" sz="2000" dirty="0"/>
          </a:p>
        </p:txBody>
      </p:sp>
      <p:sp>
        <p:nvSpPr>
          <p:cNvPr id="5" name="日期占位符 4"/>
          <p:cNvSpPr>
            <a:spLocks noGrp="1"/>
          </p:cNvSpPr>
          <p:nvPr>
            <p:ph type="dt" sz="half" idx="10"/>
          </p:nvPr>
        </p:nvSpPr>
        <p:spPr/>
        <p:txBody>
          <a:bodyPr/>
          <a:lstStyle/>
          <a:p>
            <a:pPr>
              <a:spcAft>
                <a:spcPts val="0"/>
              </a:spcAft>
            </a:pPr>
            <a:fld id="{11815670-C67D-41FD-B992-E9EEB7A6A702}"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up)">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up)">
                                      <p:cBhvr>
                                        <p:cTn id="2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识别用例的方法</a:t>
            </a:r>
            <a:endParaRPr lang="zh-CN" altLang="en-US" dirty="0"/>
          </a:p>
        </p:txBody>
      </p:sp>
      <p:sp>
        <p:nvSpPr>
          <p:cNvPr id="3" name="内容占位符 2"/>
          <p:cNvSpPr>
            <a:spLocks noGrp="1"/>
          </p:cNvSpPr>
          <p:nvPr>
            <p:ph idx="1"/>
          </p:nvPr>
        </p:nvSpPr>
        <p:spPr/>
        <p:txBody>
          <a:bodyPr>
            <a:normAutofit/>
          </a:bodyPr>
          <a:lstStyle/>
          <a:p>
            <a:pPr marL="514350" indent="-514350">
              <a:buFont typeface="+mj-lt"/>
              <a:buAutoNum type="arabicPeriod"/>
            </a:pPr>
            <a:r>
              <a:rPr lang="zh-CN" altLang="en-US" sz="2400" dirty="0"/>
              <a:t>和用户交互；</a:t>
            </a:r>
            <a:endParaRPr lang="en-US" altLang="zh-CN" sz="2400" dirty="0"/>
          </a:p>
          <a:p>
            <a:pPr marL="514350" indent="-514350">
              <a:buFont typeface="+mj-lt"/>
              <a:buAutoNum type="arabicPeriod"/>
            </a:pPr>
            <a:r>
              <a:rPr lang="zh-CN" altLang="en-US" sz="2400" dirty="0"/>
              <a:t>把自己当作</a:t>
            </a:r>
            <a:r>
              <a:rPr lang="en-US" altLang="zh-CN" sz="2400" dirty="0"/>
              <a:t>actor</a:t>
            </a:r>
            <a:r>
              <a:rPr lang="zh-CN" altLang="en-US" sz="2400" dirty="0"/>
              <a:t>，与设想中的系统进行交互。 </a:t>
            </a:r>
            <a:endParaRPr lang="zh-CN" altLang="en-US" sz="2400" dirty="0"/>
          </a:p>
          <a:p>
            <a:pPr marL="457200" indent="-457200"/>
            <a:r>
              <a:rPr lang="zh-CN" altLang="en-US" sz="2400" dirty="0"/>
              <a:t>考虑：</a:t>
            </a:r>
            <a:endParaRPr lang="en-US" altLang="zh-CN" sz="2400" dirty="0"/>
          </a:p>
          <a:p>
            <a:pPr lvl="1"/>
            <a:r>
              <a:rPr lang="zh-CN" altLang="en-US" sz="2000" dirty="0"/>
              <a:t>系统交互的目的是什么？</a:t>
            </a:r>
            <a:endParaRPr lang="en-US" altLang="zh-CN" sz="2000" dirty="0"/>
          </a:p>
          <a:p>
            <a:pPr lvl="1"/>
            <a:r>
              <a:rPr lang="zh-CN" altLang="en-US" sz="2000" dirty="0"/>
              <a:t>需要向系统输入什么信息？</a:t>
            </a:r>
            <a:endParaRPr lang="en-US" altLang="zh-CN" sz="2000" dirty="0"/>
          </a:p>
          <a:p>
            <a:pPr lvl="1"/>
            <a:r>
              <a:rPr lang="zh-CN" altLang="en-US" sz="2000" dirty="0"/>
              <a:t>希望由系统进行什么处理并从它得到何种结果？ </a:t>
            </a:r>
            <a:endParaRPr lang="zh-CN" altLang="en-US" sz="2000" dirty="0"/>
          </a:p>
          <a:p>
            <a:pPr marL="457200" indent="-457200"/>
            <a:r>
              <a:rPr lang="zh-CN" altLang="en-US" sz="2400" dirty="0"/>
              <a:t>注意：确定</a:t>
            </a:r>
            <a:r>
              <a:rPr lang="en-US" altLang="zh-CN" sz="2400" dirty="0"/>
              <a:t>Use Case</a:t>
            </a:r>
            <a:r>
              <a:rPr lang="zh-CN" altLang="en-US" sz="2400" dirty="0"/>
              <a:t>和确定</a:t>
            </a:r>
            <a:r>
              <a:rPr lang="en-US" altLang="zh-CN" sz="2400" dirty="0"/>
              <a:t>actor</a:t>
            </a:r>
            <a:r>
              <a:rPr lang="zh-CN" altLang="en-US" sz="2400" dirty="0"/>
              <a:t>不能截然分开 </a:t>
            </a:r>
            <a:endParaRPr lang="zh-CN" altLang="en-US" sz="2400" dirty="0"/>
          </a:p>
        </p:txBody>
      </p:sp>
      <p:sp>
        <p:nvSpPr>
          <p:cNvPr id="4" name="日期占位符 3"/>
          <p:cNvSpPr>
            <a:spLocks noGrp="1"/>
          </p:cNvSpPr>
          <p:nvPr>
            <p:ph type="dt" sz="half" idx="10"/>
          </p:nvPr>
        </p:nvSpPr>
        <p:spPr/>
        <p:txBody>
          <a:bodyPr/>
          <a:lstStyle/>
          <a:p>
            <a:pPr>
              <a:spcAft>
                <a:spcPts val="0"/>
              </a:spcAft>
            </a:pPr>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识别用例的注意事项</a:t>
            </a:r>
            <a:endParaRPr lang="zh-CN" altLang="en-US" dirty="0"/>
          </a:p>
        </p:txBody>
      </p:sp>
      <p:sp>
        <p:nvSpPr>
          <p:cNvPr id="3" name="内容占位符 2"/>
          <p:cNvSpPr>
            <a:spLocks noGrp="1"/>
          </p:cNvSpPr>
          <p:nvPr>
            <p:ph idx="1"/>
          </p:nvPr>
        </p:nvSpPr>
        <p:spPr>
          <a:xfrm>
            <a:off x="768097" y="926757"/>
            <a:ext cx="8090153" cy="3681694"/>
          </a:xfrm>
        </p:spPr>
        <p:txBody>
          <a:bodyPr>
            <a:noAutofit/>
          </a:bodyPr>
          <a:lstStyle/>
          <a:p>
            <a:pPr marL="457200" indent="-457200">
              <a:spcBef>
                <a:spcPts val="600"/>
              </a:spcBef>
            </a:pPr>
            <a:r>
              <a:rPr lang="zh-CN" altLang="en-US" sz="2400" dirty="0"/>
              <a:t>用例建模是为了表示系统的行为，通过模型可以很容易理解系统进行的操作。</a:t>
            </a:r>
            <a:endParaRPr lang="en-US" altLang="zh-CN" sz="2400" dirty="0"/>
          </a:p>
          <a:p>
            <a:pPr marL="457200" indent="-457200">
              <a:spcBef>
                <a:spcPts val="600"/>
              </a:spcBef>
            </a:pPr>
            <a:r>
              <a:rPr lang="zh-CN" altLang="en-US" sz="2400" dirty="0"/>
              <a:t>应该识别出所有的用例，用来表达所有的需求。 </a:t>
            </a:r>
            <a:endParaRPr lang="en-US" altLang="zh-CN" sz="2400" dirty="0"/>
          </a:p>
          <a:p>
            <a:pPr marL="457200" indent="-457200">
              <a:spcBef>
                <a:spcPts val="600"/>
              </a:spcBef>
            </a:pPr>
            <a:r>
              <a:rPr lang="zh-CN" altLang="en-US" sz="2400" dirty="0"/>
              <a:t>系统的任何一个特性都可以找到对应的用例。 </a:t>
            </a:r>
            <a:endParaRPr lang="en-US" altLang="zh-CN" sz="2400" dirty="0"/>
          </a:p>
          <a:p>
            <a:pPr marL="457200" indent="-457200">
              <a:spcBef>
                <a:spcPts val="600"/>
              </a:spcBef>
            </a:pPr>
            <a:r>
              <a:rPr lang="zh-CN" altLang="en-US" sz="2400" dirty="0"/>
              <a:t>用例模型并不包含多余的行为；所有的用例可以追溯到系统的功能性需求作为验证。</a:t>
            </a:r>
            <a:endParaRPr lang="en-US" altLang="zh-CN" sz="2400" dirty="0"/>
          </a:p>
          <a:p>
            <a:pPr marL="457200" indent="-457200">
              <a:spcBef>
                <a:spcPts val="600"/>
              </a:spcBef>
            </a:pPr>
            <a:r>
              <a:rPr lang="zh-CN" altLang="en-US" sz="2400" dirty="0"/>
              <a:t>去掉所有的</a:t>
            </a:r>
            <a:r>
              <a:rPr lang="en-US" altLang="zh-CN" sz="2400" dirty="0"/>
              <a:t>CRUD</a:t>
            </a:r>
            <a:r>
              <a:rPr lang="zh-CN" altLang="en-US" sz="2400" dirty="0"/>
              <a:t>类的用例：</a:t>
            </a:r>
            <a:endParaRPr lang="en-US" altLang="zh-CN" sz="2400" dirty="0"/>
          </a:p>
          <a:p>
            <a:pPr lvl="1">
              <a:spcBef>
                <a:spcPts val="600"/>
              </a:spcBef>
            </a:pPr>
            <a:r>
              <a:rPr lang="zh-CN" altLang="en-US" sz="2000" dirty="0"/>
              <a:t>创建</a:t>
            </a:r>
            <a:r>
              <a:rPr lang="en-US" altLang="zh-CN" sz="2000" dirty="0"/>
              <a:t>(Create), </a:t>
            </a:r>
            <a:r>
              <a:rPr lang="zh-CN" altLang="en-US" sz="2000" dirty="0"/>
              <a:t>查找</a:t>
            </a:r>
            <a:r>
              <a:rPr lang="en-US" altLang="zh-CN" sz="2000" dirty="0"/>
              <a:t>(Retrieve), </a:t>
            </a:r>
            <a:r>
              <a:rPr lang="zh-CN" altLang="en-US" sz="2000" dirty="0"/>
              <a:t>更新</a:t>
            </a:r>
            <a:r>
              <a:rPr lang="en-US" altLang="zh-CN" sz="2000" dirty="0"/>
              <a:t>(Update), </a:t>
            </a:r>
            <a:r>
              <a:rPr lang="zh-CN" altLang="en-US" sz="2000" dirty="0"/>
              <a:t>删除</a:t>
            </a:r>
            <a:r>
              <a:rPr lang="en-US" altLang="zh-CN" sz="2000" dirty="0"/>
              <a:t>(Delete) </a:t>
            </a:r>
            <a:endParaRPr lang="zh-CN" altLang="en-US" sz="2000" dirty="0"/>
          </a:p>
        </p:txBody>
      </p:sp>
      <p:sp>
        <p:nvSpPr>
          <p:cNvPr id="4" name="日期占位符 3"/>
          <p:cNvSpPr>
            <a:spLocks noGrp="1"/>
          </p:cNvSpPr>
          <p:nvPr>
            <p:ph type="dt" sz="half" idx="10"/>
          </p:nvPr>
        </p:nvSpPr>
        <p:spPr/>
        <p:txBody>
          <a:bodyPr/>
          <a:lstStyle/>
          <a:p>
            <a:pPr>
              <a:spcAft>
                <a:spcPts val="0"/>
              </a:spcAft>
            </a:pPr>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latin typeface="Microsoft JhengHei" panose="020B0604030504040204" charset="-120"/>
                <a:cs typeface="Microsoft JhengHei" panose="020B0604030504040204" charset="-120"/>
              </a:rPr>
              <a:t>用例定义不是功能分解</a:t>
            </a:r>
            <a:endParaRPr lang="zh-CN" altLang="en-US" dirty="0"/>
          </a:p>
        </p:txBody>
      </p:sp>
      <p:sp>
        <p:nvSpPr>
          <p:cNvPr id="3" name="内容占位符 2"/>
          <p:cNvSpPr>
            <a:spLocks noGrp="1"/>
          </p:cNvSpPr>
          <p:nvPr>
            <p:ph idx="1"/>
          </p:nvPr>
        </p:nvSpPr>
        <p:spPr/>
        <p:txBody>
          <a:bodyPr/>
          <a:lstStyle/>
          <a:p>
            <a:pPr marL="180975" indent="-171450">
              <a:spcBef>
                <a:spcPts val="1335"/>
              </a:spcBef>
              <a:buFont typeface="Arial" panose="020B0604020202020204"/>
              <a:buChar char="•"/>
              <a:tabLst>
                <a:tab pos="180975" algn="l"/>
              </a:tabLst>
            </a:pPr>
            <a:r>
              <a:rPr lang="zh-CN" altLang="en-US" sz="2000" dirty="0">
                <a:solidFill>
                  <a:srgbClr val="990000"/>
                </a:solidFill>
                <a:uFill>
                  <a:solidFill>
                    <a:srgbClr val="AB1500"/>
                  </a:solidFill>
                </a:uFill>
                <a:latin typeface="宋体" panose="02010600030101010101" pitchFamily="2" charset="-122"/>
                <a:cs typeface="宋体" panose="02010600030101010101" pitchFamily="2" charset="-122"/>
              </a:rPr>
              <a:t>功能分解</a:t>
            </a:r>
            <a:r>
              <a:rPr lang="zh-CN" altLang="en-US" sz="2000" dirty="0">
                <a:latin typeface="宋体" panose="02010600030101010101" pitchFamily="2" charset="-122"/>
                <a:cs typeface="宋体" panose="02010600030101010101" pitchFamily="2" charset="-122"/>
              </a:rPr>
              <a:t>：将问题分解为粒度小，独立的部分。</a:t>
            </a:r>
            <a:endParaRPr lang="zh-CN" altLang="en-US" sz="2000" dirty="0">
              <a:latin typeface="宋体" panose="02010600030101010101" pitchFamily="2" charset="-122"/>
              <a:cs typeface="宋体" panose="02010600030101010101" pitchFamily="2" charset="-122"/>
            </a:endParaRPr>
          </a:p>
          <a:p>
            <a:pPr marL="523875" lvl="1" indent="-171450">
              <a:spcBef>
                <a:spcPts val="1260"/>
              </a:spcBef>
              <a:buFont typeface="Arial" panose="020B0604020202020204"/>
              <a:buChar char="•"/>
              <a:tabLst>
                <a:tab pos="523875" algn="l"/>
              </a:tabLst>
            </a:pPr>
            <a:r>
              <a:rPr lang="zh-CN" altLang="en-US" sz="2000" dirty="0">
                <a:latin typeface="宋体" panose="02010600030101010101" pitchFamily="2" charset="-122"/>
                <a:cs typeface="宋体" panose="02010600030101010101" pitchFamily="2" charset="-122"/>
              </a:rPr>
              <a:t>不同的模块协同工作，体现系统的功能。</a:t>
            </a:r>
            <a:endParaRPr lang="zh-CN" altLang="en-US" sz="2000" dirty="0">
              <a:latin typeface="宋体" panose="02010600030101010101" pitchFamily="2" charset="-122"/>
              <a:cs typeface="宋体" panose="02010600030101010101" pitchFamily="2" charset="-122"/>
            </a:endParaRPr>
          </a:p>
          <a:p>
            <a:pPr marL="506730" marR="3810" lvl="1" indent="-171450">
              <a:lnSpc>
                <a:spcPct val="141000"/>
              </a:lnSpc>
              <a:spcBef>
                <a:spcPts val="375"/>
              </a:spcBef>
              <a:buFont typeface="Arial" panose="020B0604020202020204"/>
              <a:buChar char="•"/>
              <a:tabLst>
                <a:tab pos="866775" algn="l"/>
              </a:tabLst>
            </a:pPr>
            <a:r>
              <a:rPr lang="zh-CN" altLang="en-US" sz="2000" dirty="0">
                <a:latin typeface="宋体" panose="02010600030101010101" pitchFamily="2" charset="-122"/>
                <a:cs typeface="宋体" panose="02010600030101010101" pitchFamily="2" charset="-122"/>
              </a:rPr>
              <a:t>通常，</a:t>
            </a:r>
            <a:r>
              <a:rPr lang="zh-CN" altLang="en-US" sz="2000" dirty="0">
                <a:solidFill>
                  <a:srgbClr val="FF0000"/>
                </a:solidFill>
                <a:latin typeface="宋体" panose="02010600030101010101" pitchFamily="2" charset="-122"/>
                <a:cs typeface="宋体" panose="02010600030101010101" pitchFamily="2" charset="-122"/>
              </a:rPr>
              <a:t>一些功能分解并没有实际的意义</a:t>
            </a:r>
            <a:r>
              <a:rPr lang="zh-CN" altLang="en-US" dirty="0" smtClean="0">
                <a:latin typeface="宋体" panose="02010600030101010101" pitchFamily="2" charset="-122"/>
                <a:cs typeface="宋体" panose="02010600030101010101" pitchFamily="2" charset="-122"/>
              </a:rPr>
              <a:t>。</a:t>
            </a:r>
            <a:endParaRPr lang="en-US" altLang="zh-CN" dirty="0" smtClean="0">
              <a:latin typeface="宋体" panose="02010600030101010101" pitchFamily="2" charset="-122"/>
              <a:cs typeface="宋体" panose="02010600030101010101" pitchFamily="2" charset="-122"/>
            </a:endParaRPr>
          </a:p>
          <a:p>
            <a:pPr marL="180975" indent="-171450">
              <a:spcBef>
                <a:spcPts val="1635"/>
              </a:spcBef>
              <a:buFont typeface="Arial" panose="020B0604020202020204"/>
              <a:buChar char="•"/>
              <a:tabLst>
                <a:tab pos="180975" algn="l"/>
              </a:tabLst>
            </a:pPr>
            <a:r>
              <a:rPr lang="zh-CN" altLang="en-US" sz="2000" dirty="0">
                <a:solidFill>
                  <a:srgbClr val="990000"/>
                </a:solidFill>
                <a:uFill>
                  <a:solidFill>
                    <a:srgbClr val="AB1500"/>
                  </a:solidFill>
                </a:uFill>
                <a:latin typeface="宋体" panose="02010600030101010101" pitchFamily="2" charset="-122"/>
                <a:cs typeface="宋体" panose="02010600030101010101" pitchFamily="2" charset="-122"/>
              </a:rPr>
              <a:t>用例</a:t>
            </a:r>
            <a:r>
              <a:rPr lang="en-US" altLang="zh-CN" sz="2000" dirty="0">
                <a:latin typeface="Arial" panose="020B0604020202020204"/>
                <a:cs typeface="Arial" panose="020B0604020202020204"/>
              </a:rPr>
              <a:t>:</a:t>
            </a:r>
            <a:endParaRPr lang="en-US" altLang="zh-CN" sz="2000" dirty="0">
              <a:latin typeface="Arial" panose="020B0604020202020204"/>
              <a:cs typeface="Arial" panose="020B0604020202020204"/>
            </a:endParaRPr>
          </a:p>
          <a:p>
            <a:pPr marL="523875" lvl="1" indent="-171450">
              <a:spcBef>
                <a:spcPts val="1335"/>
              </a:spcBef>
              <a:buClr>
                <a:srgbClr val="FF0000"/>
              </a:buClr>
              <a:buFont typeface="Arial" panose="020B0604020202020204"/>
              <a:buChar char="•"/>
              <a:tabLst>
                <a:tab pos="523875" algn="l"/>
              </a:tabLst>
            </a:pPr>
            <a:r>
              <a:rPr lang="zh-CN" altLang="en-US" sz="2000" b="1" dirty="0">
                <a:solidFill>
                  <a:srgbClr val="FF2600"/>
                </a:solidFill>
                <a:latin typeface="Microsoft JhengHei" panose="020B0604030504040204" charset="-120"/>
                <a:cs typeface="Microsoft JhengHei" panose="020B0604030504040204" charset="-120"/>
              </a:rPr>
              <a:t>不是</a:t>
            </a:r>
            <a:r>
              <a:rPr lang="zh-CN" altLang="en-US" sz="2000" dirty="0">
                <a:latin typeface="宋体" panose="02010600030101010101" pitchFamily="2" charset="-122"/>
                <a:cs typeface="宋体" panose="02010600030101010101" pitchFamily="2" charset="-122"/>
              </a:rPr>
              <a:t>功能分解的过程！</a:t>
            </a:r>
            <a:endParaRPr lang="zh-CN" altLang="en-US" sz="2000" dirty="0">
              <a:latin typeface="宋体" panose="02010600030101010101" pitchFamily="2" charset="-122"/>
              <a:cs typeface="宋体" panose="02010600030101010101" pitchFamily="2" charset="-122"/>
            </a:endParaRPr>
          </a:p>
          <a:p>
            <a:pPr marL="523875" lvl="1" indent="-171450">
              <a:spcBef>
                <a:spcPts val="1335"/>
              </a:spcBef>
              <a:buFont typeface="Arial" panose="020B0604020202020204"/>
              <a:buChar char="•"/>
              <a:tabLst>
                <a:tab pos="523875" algn="l"/>
              </a:tabLst>
            </a:pPr>
            <a:r>
              <a:rPr lang="zh-CN" altLang="en-US" sz="2000" dirty="0">
                <a:latin typeface="宋体" panose="02010600030101010101" pitchFamily="2" charset="-122"/>
                <a:cs typeface="宋体" panose="02010600030101010101" pitchFamily="2" charset="-122"/>
              </a:rPr>
              <a:t>综合所有功能一起描述系统如何使用。</a:t>
            </a:r>
            <a:endParaRPr lang="zh-CN" altLang="en-US" sz="2000" dirty="0">
              <a:latin typeface="宋体" panose="02010600030101010101" pitchFamily="2" charset="-122"/>
              <a:cs typeface="宋体" panose="02010600030101010101" pitchFamily="2" charset="-122"/>
            </a:endParaRPr>
          </a:p>
          <a:p>
            <a:pPr marL="523875" lvl="1" indent="-171450">
              <a:spcBef>
                <a:spcPts val="1260"/>
              </a:spcBef>
              <a:buFont typeface="Arial" panose="020B0604020202020204"/>
              <a:buChar char="•"/>
              <a:tabLst>
                <a:tab pos="523875" algn="l"/>
              </a:tabLst>
            </a:pPr>
            <a:r>
              <a:rPr lang="zh-CN" altLang="en-US" sz="2000" dirty="0">
                <a:latin typeface="宋体" panose="02010600030101010101" pitchFamily="2" charset="-122"/>
                <a:cs typeface="宋体" panose="02010600030101010101" pitchFamily="2" charset="-122"/>
              </a:rPr>
              <a:t>需要包含语境信息</a:t>
            </a:r>
            <a:endParaRPr lang="zh-CN" altLang="en-US" sz="2000" dirty="0">
              <a:latin typeface="宋体" panose="02010600030101010101" pitchFamily="2" charset="-122"/>
              <a:cs typeface="宋体" panose="02010600030101010101" pitchFamily="2" charset="-122"/>
            </a:endParaRPr>
          </a:p>
          <a:p>
            <a:pPr marL="866775" marR="3810" lvl="2" indent="-171450">
              <a:lnSpc>
                <a:spcPct val="141000"/>
              </a:lnSpc>
              <a:spcBef>
                <a:spcPts val="375"/>
              </a:spcBef>
              <a:buFont typeface="Arial" panose="020B0604020202020204"/>
              <a:buChar char="•"/>
              <a:tabLst>
                <a:tab pos="866775" algn="l"/>
              </a:tabLst>
            </a:pPr>
            <a:endParaRPr lang="zh-CN" altLang="en-US" dirty="0"/>
          </a:p>
        </p:txBody>
      </p:sp>
      <p:sp>
        <p:nvSpPr>
          <p:cNvPr id="4" name="日期占位符 3"/>
          <p:cNvSpPr>
            <a:spLocks noGrp="1"/>
          </p:cNvSpPr>
          <p:nvPr>
            <p:ph type="dt" sz="half" idx="10"/>
          </p:nvPr>
        </p:nvSpPr>
        <p:spPr/>
        <p:txBody>
          <a:bodyPr/>
          <a:lstStyle/>
          <a:p>
            <a:pPr>
              <a:spcAft>
                <a:spcPts val="0"/>
              </a:spcAft>
            </a:pPr>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功能分解</a:t>
            </a:r>
            <a:endParaRPr lang="zh-CN" altLang="en-US" dirty="0"/>
          </a:p>
        </p:txBody>
      </p:sp>
      <p:sp>
        <p:nvSpPr>
          <p:cNvPr id="4" name="日期占位符 3"/>
          <p:cNvSpPr>
            <a:spLocks noGrp="1"/>
          </p:cNvSpPr>
          <p:nvPr>
            <p:ph type="dt" sz="half" idx="10"/>
          </p:nvPr>
        </p:nvSpPr>
        <p:spPr/>
        <p:txBody>
          <a:bodyPr/>
          <a:lstStyle/>
          <a:p>
            <a:pPr>
              <a:spcAft>
                <a:spcPts val="0"/>
              </a:spcAft>
            </a:pPr>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
        <p:nvSpPr>
          <p:cNvPr id="7" name="object 3"/>
          <p:cNvSpPr/>
          <p:nvPr/>
        </p:nvSpPr>
        <p:spPr>
          <a:xfrm>
            <a:off x="723899" y="1734741"/>
            <a:ext cx="1606868" cy="442913"/>
          </a:xfrm>
          <a:custGeom>
            <a:avLst/>
            <a:gdLst/>
            <a:ahLst/>
            <a:cxnLst/>
            <a:rect l="l" t="t" r="r" b="b"/>
            <a:pathLst>
              <a:path w="2142490" h="590550">
                <a:moveTo>
                  <a:pt x="1071034" y="0"/>
                </a:moveTo>
                <a:lnTo>
                  <a:pt x="1000613" y="628"/>
                </a:lnTo>
                <a:lnTo>
                  <a:pt x="931408" y="2486"/>
                </a:lnTo>
                <a:lnTo>
                  <a:pt x="863561" y="5535"/>
                </a:lnTo>
                <a:lnTo>
                  <a:pt x="797213" y="9737"/>
                </a:lnTo>
                <a:lnTo>
                  <a:pt x="732504" y="15053"/>
                </a:lnTo>
                <a:lnTo>
                  <a:pt x="669576" y="21443"/>
                </a:lnTo>
                <a:lnTo>
                  <a:pt x="608570" y="28869"/>
                </a:lnTo>
                <a:lnTo>
                  <a:pt x="549627" y="37291"/>
                </a:lnTo>
                <a:lnTo>
                  <a:pt x="492888" y="46671"/>
                </a:lnTo>
                <a:lnTo>
                  <a:pt x="438495" y="56971"/>
                </a:lnTo>
                <a:lnTo>
                  <a:pt x="386588" y="68150"/>
                </a:lnTo>
                <a:lnTo>
                  <a:pt x="337308" y="80170"/>
                </a:lnTo>
                <a:lnTo>
                  <a:pt x="290798" y="92993"/>
                </a:lnTo>
                <a:lnTo>
                  <a:pt x="247197" y="106579"/>
                </a:lnTo>
                <a:lnTo>
                  <a:pt x="206647" y="120889"/>
                </a:lnTo>
                <a:lnTo>
                  <a:pt x="169289" y="135885"/>
                </a:lnTo>
                <a:lnTo>
                  <a:pt x="104714" y="167777"/>
                </a:lnTo>
                <a:lnTo>
                  <a:pt x="54601" y="201945"/>
                </a:lnTo>
                <a:lnTo>
                  <a:pt x="20080" y="238076"/>
                </a:lnTo>
                <a:lnTo>
                  <a:pt x="2278" y="275860"/>
                </a:lnTo>
                <a:lnTo>
                  <a:pt x="0" y="295275"/>
                </a:lnTo>
                <a:lnTo>
                  <a:pt x="2278" y="314689"/>
                </a:lnTo>
                <a:lnTo>
                  <a:pt x="20080" y="352473"/>
                </a:lnTo>
                <a:lnTo>
                  <a:pt x="54601" y="388604"/>
                </a:lnTo>
                <a:lnTo>
                  <a:pt x="104714" y="422772"/>
                </a:lnTo>
                <a:lnTo>
                  <a:pt x="169289" y="454664"/>
                </a:lnTo>
                <a:lnTo>
                  <a:pt x="206647" y="469660"/>
                </a:lnTo>
                <a:lnTo>
                  <a:pt x="247197" y="483970"/>
                </a:lnTo>
                <a:lnTo>
                  <a:pt x="290798" y="497556"/>
                </a:lnTo>
                <a:lnTo>
                  <a:pt x="337308" y="510379"/>
                </a:lnTo>
                <a:lnTo>
                  <a:pt x="386588" y="522399"/>
                </a:lnTo>
                <a:lnTo>
                  <a:pt x="438495" y="533578"/>
                </a:lnTo>
                <a:lnTo>
                  <a:pt x="492888" y="543878"/>
                </a:lnTo>
                <a:lnTo>
                  <a:pt x="549627" y="553258"/>
                </a:lnTo>
                <a:lnTo>
                  <a:pt x="608570" y="561680"/>
                </a:lnTo>
                <a:lnTo>
                  <a:pt x="669576" y="569106"/>
                </a:lnTo>
                <a:lnTo>
                  <a:pt x="732504" y="575496"/>
                </a:lnTo>
                <a:lnTo>
                  <a:pt x="797213" y="580812"/>
                </a:lnTo>
                <a:lnTo>
                  <a:pt x="863561" y="585014"/>
                </a:lnTo>
                <a:lnTo>
                  <a:pt x="931408" y="588063"/>
                </a:lnTo>
                <a:lnTo>
                  <a:pt x="1000613" y="589921"/>
                </a:lnTo>
                <a:lnTo>
                  <a:pt x="1071034" y="590550"/>
                </a:lnTo>
                <a:lnTo>
                  <a:pt x="1141455" y="589921"/>
                </a:lnTo>
                <a:lnTo>
                  <a:pt x="1210659" y="588063"/>
                </a:lnTo>
                <a:lnTo>
                  <a:pt x="1278506" y="585014"/>
                </a:lnTo>
                <a:lnTo>
                  <a:pt x="1344854" y="580812"/>
                </a:lnTo>
                <a:lnTo>
                  <a:pt x="1409563" y="575496"/>
                </a:lnTo>
                <a:lnTo>
                  <a:pt x="1472491" y="569106"/>
                </a:lnTo>
                <a:lnTo>
                  <a:pt x="1533497" y="561680"/>
                </a:lnTo>
                <a:lnTo>
                  <a:pt x="1592440" y="553258"/>
                </a:lnTo>
                <a:lnTo>
                  <a:pt x="1649179" y="543878"/>
                </a:lnTo>
                <a:lnTo>
                  <a:pt x="1703572" y="533578"/>
                </a:lnTo>
                <a:lnTo>
                  <a:pt x="1755479" y="522399"/>
                </a:lnTo>
                <a:lnTo>
                  <a:pt x="1804758" y="510379"/>
                </a:lnTo>
                <a:lnTo>
                  <a:pt x="1851269" y="497556"/>
                </a:lnTo>
                <a:lnTo>
                  <a:pt x="1894870" y="483970"/>
                </a:lnTo>
                <a:lnTo>
                  <a:pt x="1935420" y="469660"/>
                </a:lnTo>
                <a:lnTo>
                  <a:pt x="1972777" y="454664"/>
                </a:lnTo>
                <a:lnTo>
                  <a:pt x="2037352" y="422772"/>
                </a:lnTo>
                <a:lnTo>
                  <a:pt x="2087465" y="388604"/>
                </a:lnTo>
                <a:lnTo>
                  <a:pt x="2121987" y="352473"/>
                </a:lnTo>
                <a:lnTo>
                  <a:pt x="2139789" y="314689"/>
                </a:lnTo>
                <a:lnTo>
                  <a:pt x="2142067" y="295275"/>
                </a:lnTo>
                <a:lnTo>
                  <a:pt x="2139789" y="275860"/>
                </a:lnTo>
                <a:lnTo>
                  <a:pt x="2121987" y="238076"/>
                </a:lnTo>
                <a:lnTo>
                  <a:pt x="2087465" y="201945"/>
                </a:lnTo>
                <a:lnTo>
                  <a:pt x="2037352" y="167777"/>
                </a:lnTo>
                <a:lnTo>
                  <a:pt x="1972777" y="135885"/>
                </a:lnTo>
                <a:lnTo>
                  <a:pt x="1935420" y="120889"/>
                </a:lnTo>
                <a:lnTo>
                  <a:pt x="1894870" y="106579"/>
                </a:lnTo>
                <a:lnTo>
                  <a:pt x="1851269" y="92993"/>
                </a:lnTo>
                <a:lnTo>
                  <a:pt x="1804758" y="80170"/>
                </a:lnTo>
                <a:lnTo>
                  <a:pt x="1755479" y="68150"/>
                </a:lnTo>
                <a:lnTo>
                  <a:pt x="1703572" y="56971"/>
                </a:lnTo>
                <a:lnTo>
                  <a:pt x="1649179" y="46671"/>
                </a:lnTo>
                <a:lnTo>
                  <a:pt x="1592440" y="37291"/>
                </a:lnTo>
                <a:lnTo>
                  <a:pt x="1533497" y="28869"/>
                </a:lnTo>
                <a:lnTo>
                  <a:pt x="1472491" y="21443"/>
                </a:lnTo>
                <a:lnTo>
                  <a:pt x="1409563" y="15053"/>
                </a:lnTo>
                <a:lnTo>
                  <a:pt x="1344854" y="9737"/>
                </a:lnTo>
                <a:lnTo>
                  <a:pt x="1278506" y="5535"/>
                </a:lnTo>
                <a:lnTo>
                  <a:pt x="1210659" y="2486"/>
                </a:lnTo>
                <a:lnTo>
                  <a:pt x="1141455" y="628"/>
                </a:lnTo>
                <a:lnTo>
                  <a:pt x="1071034" y="0"/>
                </a:lnTo>
                <a:close/>
              </a:path>
            </a:pathLst>
          </a:custGeom>
          <a:solidFill>
            <a:srgbClr val="7A4779"/>
          </a:solidFill>
        </p:spPr>
        <p:txBody>
          <a:bodyPr wrap="square" lIns="0" tIns="0" rIns="0" bIns="0" rtlCol="0"/>
          <a:lstStyle/>
          <a:p/>
        </p:txBody>
      </p:sp>
      <p:sp>
        <p:nvSpPr>
          <p:cNvPr id="8" name="object 4"/>
          <p:cNvSpPr/>
          <p:nvPr/>
        </p:nvSpPr>
        <p:spPr>
          <a:xfrm>
            <a:off x="723899" y="1734741"/>
            <a:ext cx="1606868" cy="442913"/>
          </a:xfrm>
          <a:custGeom>
            <a:avLst/>
            <a:gdLst/>
            <a:ahLst/>
            <a:cxnLst/>
            <a:rect l="l" t="t" r="r" b="b"/>
            <a:pathLst>
              <a:path w="2142490" h="590550">
                <a:moveTo>
                  <a:pt x="0" y="295274"/>
                </a:moveTo>
                <a:lnTo>
                  <a:pt x="9018" y="256781"/>
                </a:lnTo>
                <a:lnTo>
                  <a:pt x="35321" y="219784"/>
                </a:lnTo>
                <a:lnTo>
                  <a:pt x="77780" y="184596"/>
                </a:lnTo>
                <a:lnTo>
                  <a:pt x="135265" y="151527"/>
                </a:lnTo>
                <a:lnTo>
                  <a:pt x="206647" y="120889"/>
                </a:lnTo>
                <a:lnTo>
                  <a:pt x="247197" y="106579"/>
                </a:lnTo>
                <a:lnTo>
                  <a:pt x="290798" y="92993"/>
                </a:lnTo>
                <a:lnTo>
                  <a:pt x="337308" y="80170"/>
                </a:lnTo>
                <a:lnTo>
                  <a:pt x="386588" y="68150"/>
                </a:lnTo>
                <a:lnTo>
                  <a:pt x="438495" y="56970"/>
                </a:lnTo>
                <a:lnTo>
                  <a:pt x="492888" y="46671"/>
                </a:lnTo>
                <a:lnTo>
                  <a:pt x="549627" y="37291"/>
                </a:lnTo>
                <a:lnTo>
                  <a:pt x="608570" y="28869"/>
                </a:lnTo>
                <a:lnTo>
                  <a:pt x="669576" y="21443"/>
                </a:lnTo>
                <a:lnTo>
                  <a:pt x="732504" y="15053"/>
                </a:lnTo>
                <a:lnTo>
                  <a:pt x="797213" y="9737"/>
                </a:lnTo>
                <a:lnTo>
                  <a:pt x="863561" y="5535"/>
                </a:lnTo>
                <a:lnTo>
                  <a:pt x="931408" y="2486"/>
                </a:lnTo>
                <a:lnTo>
                  <a:pt x="1000612" y="628"/>
                </a:lnTo>
                <a:lnTo>
                  <a:pt x="1071033" y="0"/>
                </a:lnTo>
                <a:lnTo>
                  <a:pt x="1141454" y="628"/>
                </a:lnTo>
                <a:lnTo>
                  <a:pt x="1210659" y="2486"/>
                </a:lnTo>
                <a:lnTo>
                  <a:pt x="1278506" y="5535"/>
                </a:lnTo>
                <a:lnTo>
                  <a:pt x="1344854" y="9737"/>
                </a:lnTo>
                <a:lnTo>
                  <a:pt x="1409563" y="15053"/>
                </a:lnTo>
                <a:lnTo>
                  <a:pt x="1472491" y="21443"/>
                </a:lnTo>
                <a:lnTo>
                  <a:pt x="1533497" y="28869"/>
                </a:lnTo>
                <a:lnTo>
                  <a:pt x="1592440" y="37291"/>
                </a:lnTo>
                <a:lnTo>
                  <a:pt x="1649179" y="46671"/>
                </a:lnTo>
                <a:lnTo>
                  <a:pt x="1703572" y="56970"/>
                </a:lnTo>
                <a:lnTo>
                  <a:pt x="1755479" y="68150"/>
                </a:lnTo>
                <a:lnTo>
                  <a:pt x="1804758" y="80170"/>
                </a:lnTo>
                <a:lnTo>
                  <a:pt x="1851269" y="92993"/>
                </a:lnTo>
                <a:lnTo>
                  <a:pt x="1894870" y="106579"/>
                </a:lnTo>
                <a:lnTo>
                  <a:pt x="1935420" y="120889"/>
                </a:lnTo>
                <a:lnTo>
                  <a:pt x="1972777" y="135885"/>
                </a:lnTo>
                <a:lnTo>
                  <a:pt x="2037352" y="167777"/>
                </a:lnTo>
                <a:lnTo>
                  <a:pt x="2087465" y="201945"/>
                </a:lnTo>
                <a:lnTo>
                  <a:pt x="2121987" y="238076"/>
                </a:lnTo>
                <a:lnTo>
                  <a:pt x="2139789" y="275860"/>
                </a:lnTo>
                <a:lnTo>
                  <a:pt x="2142067" y="295274"/>
                </a:lnTo>
                <a:lnTo>
                  <a:pt x="2139789" y="314689"/>
                </a:lnTo>
                <a:lnTo>
                  <a:pt x="2121987" y="352473"/>
                </a:lnTo>
                <a:lnTo>
                  <a:pt x="2087465" y="388604"/>
                </a:lnTo>
                <a:lnTo>
                  <a:pt x="2037352" y="422772"/>
                </a:lnTo>
                <a:lnTo>
                  <a:pt x="1972777" y="454664"/>
                </a:lnTo>
                <a:lnTo>
                  <a:pt x="1935420" y="469660"/>
                </a:lnTo>
                <a:lnTo>
                  <a:pt x="1894870" y="483970"/>
                </a:lnTo>
                <a:lnTo>
                  <a:pt x="1851269" y="497556"/>
                </a:lnTo>
                <a:lnTo>
                  <a:pt x="1804758" y="510379"/>
                </a:lnTo>
                <a:lnTo>
                  <a:pt x="1755479" y="522399"/>
                </a:lnTo>
                <a:lnTo>
                  <a:pt x="1703572" y="533578"/>
                </a:lnTo>
                <a:lnTo>
                  <a:pt x="1649179" y="543878"/>
                </a:lnTo>
                <a:lnTo>
                  <a:pt x="1592440" y="553258"/>
                </a:lnTo>
                <a:lnTo>
                  <a:pt x="1533497" y="561680"/>
                </a:lnTo>
                <a:lnTo>
                  <a:pt x="1472491" y="569106"/>
                </a:lnTo>
                <a:lnTo>
                  <a:pt x="1409563" y="575496"/>
                </a:lnTo>
                <a:lnTo>
                  <a:pt x="1344854" y="580812"/>
                </a:lnTo>
                <a:lnTo>
                  <a:pt x="1278506" y="585014"/>
                </a:lnTo>
                <a:lnTo>
                  <a:pt x="1210659" y="588063"/>
                </a:lnTo>
                <a:lnTo>
                  <a:pt x="1141454" y="589921"/>
                </a:lnTo>
                <a:lnTo>
                  <a:pt x="1071033" y="590549"/>
                </a:lnTo>
                <a:lnTo>
                  <a:pt x="1000612" y="589921"/>
                </a:lnTo>
                <a:lnTo>
                  <a:pt x="931408" y="588063"/>
                </a:lnTo>
                <a:lnTo>
                  <a:pt x="863561" y="585014"/>
                </a:lnTo>
                <a:lnTo>
                  <a:pt x="797213" y="580812"/>
                </a:lnTo>
                <a:lnTo>
                  <a:pt x="732504" y="575496"/>
                </a:lnTo>
                <a:lnTo>
                  <a:pt x="669576" y="569106"/>
                </a:lnTo>
                <a:lnTo>
                  <a:pt x="608570" y="561680"/>
                </a:lnTo>
                <a:lnTo>
                  <a:pt x="549627" y="553258"/>
                </a:lnTo>
                <a:lnTo>
                  <a:pt x="492888" y="543878"/>
                </a:lnTo>
                <a:lnTo>
                  <a:pt x="438495" y="533578"/>
                </a:lnTo>
                <a:lnTo>
                  <a:pt x="386588" y="522399"/>
                </a:lnTo>
                <a:lnTo>
                  <a:pt x="337308" y="510379"/>
                </a:lnTo>
                <a:lnTo>
                  <a:pt x="290798" y="497556"/>
                </a:lnTo>
                <a:lnTo>
                  <a:pt x="247197" y="483970"/>
                </a:lnTo>
                <a:lnTo>
                  <a:pt x="206647" y="469660"/>
                </a:lnTo>
                <a:lnTo>
                  <a:pt x="169289" y="454664"/>
                </a:lnTo>
                <a:lnTo>
                  <a:pt x="104714" y="422772"/>
                </a:lnTo>
                <a:lnTo>
                  <a:pt x="54602" y="388604"/>
                </a:lnTo>
                <a:lnTo>
                  <a:pt x="20080" y="352473"/>
                </a:lnTo>
                <a:lnTo>
                  <a:pt x="2278" y="314689"/>
                </a:lnTo>
                <a:lnTo>
                  <a:pt x="0" y="295274"/>
                </a:lnTo>
                <a:close/>
              </a:path>
            </a:pathLst>
          </a:custGeom>
          <a:ln w="28574">
            <a:solidFill>
              <a:srgbClr val="000000"/>
            </a:solidFill>
          </a:ln>
        </p:spPr>
        <p:txBody>
          <a:bodyPr wrap="square" lIns="0" tIns="0" rIns="0" bIns="0" rtlCol="0"/>
          <a:lstStyle/>
          <a:p/>
        </p:txBody>
      </p:sp>
      <p:sp>
        <p:nvSpPr>
          <p:cNvPr id="9" name="object 5"/>
          <p:cNvSpPr txBox="1"/>
          <p:nvPr/>
        </p:nvSpPr>
        <p:spPr>
          <a:xfrm>
            <a:off x="980604" y="1752482"/>
            <a:ext cx="1085850" cy="332105"/>
          </a:xfrm>
          <a:prstGeom prst="rect">
            <a:avLst/>
          </a:prstGeom>
        </p:spPr>
        <p:txBody>
          <a:bodyPr vert="horz" wrap="square" lIns="0" tIns="9525" rIns="0" bIns="0" rtlCol="0">
            <a:spAutoFit/>
          </a:bodyPr>
          <a:lstStyle/>
          <a:p>
            <a:pPr marL="9525">
              <a:spcBef>
                <a:spcPts val="75"/>
              </a:spcBef>
              <a:spcAft>
                <a:spcPts val="0"/>
              </a:spcAft>
            </a:pPr>
            <a:r>
              <a:rPr sz="2100" b="1" dirty="0">
                <a:solidFill>
                  <a:srgbClr val="FFFFFF"/>
                </a:solidFill>
                <a:latin typeface="Microsoft JhengHei" panose="020B0604030504040204" charset="-120"/>
                <a:cs typeface="Microsoft JhengHei" panose="020B0604030504040204" charset="-120"/>
              </a:rPr>
              <a:t>输入密码</a:t>
            </a:r>
            <a:endParaRPr sz="2100">
              <a:latin typeface="Microsoft JhengHei" panose="020B0604030504040204" charset="-120"/>
              <a:cs typeface="Microsoft JhengHei" panose="020B0604030504040204" charset="-120"/>
            </a:endParaRPr>
          </a:p>
        </p:txBody>
      </p:sp>
      <p:sp>
        <p:nvSpPr>
          <p:cNvPr id="10" name="object 6"/>
          <p:cNvSpPr/>
          <p:nvPr/>
        </p:nvSpPr>
        <p:spPr>
          <a:xfrm>
            <a:off x="718344" y="1015780"/>
            <a:ext cx="1803559" cy="442913"/>
          </a:xfrm>
          <a:custGeom>
            <a:avLst/>
            <a:gdLst/>
            <a:ahLst/>
            <a:cxnLst/>
            <a:rect l="l" t="t" r="r" b="b"/>
            <a:pathLst>
              <a:path w="2404745" h="590550">
                <a:moveTo>
                  <a:pt x="1202267" y="0"/>
                </a:moveTo>
                <a:lnTo>
                  <a:pt x="1129028" y="538"/>
                </a:lnTo>
                <a:lnTo>
                  <a:pt x="1056950" y="2134"/>
                </a:lnTo>
                <a:lnTo>
                  <a:pt x="986158" y="4757"/>
                </a:lnTo>
                <a:lnTo>
                  <a:pt x="916778" y="8375"/>
                </a:lnTo>
                <a:lnTo>
                  <a:pt x="848935" y="12957"/>
                </a:lnTo>
                <a:lnTo>
                  <a:pt x="782757" y="18473"/>
                </a:lnTo>
                <a:lnTo>
                  <a:pt x="718367" y="24891"/>
                </a:lnTo>
                <a:lnTo>
                  <a:pt x="655893" y="32182"/>
                </a:lnTo>
                <a:lnTo>
                  <a:pt x="595459" y="40313"/>
                </a:lnTo>
                <a:lnTo>
                  <a:pt x="537192" y="49255"/>
                </a:lnTo>
                <a:lnTo>
                  <a:pt x="481218" y="58976"/>
                </a:lnTo>
                <a:lnTo>
                  <a:pt x="427661" y="69445"/>
                </a:lnTo>
                <a:lnTo>
                  <a:pt x="376649" y="80631"/>
                </a:lnTo>
                <a:lnTo>
                  <a:pt x="328305" y="92504"/>
                </a:lnTo>
                <a:lnTo>
                  <a:pt x="282758" y="105033"/>
                </a:lnTo>
                <a:lnTo>
                  <a:pt x="240131" y="118186"/>
                </a:lnTo>
                <a:lnTo>
                  <a:pt x="200551" y="131933"/>
                </a:lnTo>
                <a:lnTo>
                  <a:pt x="164144" y="146244"/>
                </a:lnTo>
                <a:lnTo>
                  <a:pt x="101351" y="176430"/>
                </a:lnTo>
                <a:lnTo>
                  <a:pt x="52757" y="208497"/>
                </a:lnTo>
                <a:lnTo>
                  <a:pt x="19370" y="242199"/>
                </a:lnTo>
                <a:lnTo>
                  <a:pt x="2194" y="277287"/>
                </a:lnTo>
                <a:lnTo>
                  <a:pt x="0" y="295275"/>
                </a:lnTo>
                <a:lnTo>
                  <a:pt x="2194" y="313262"/>
                </a:lnTo>
                <a:lnTo>
                  <a:pt x="19370" y="348350"/>
                </a:lnTo>
                <a:lnTo>
                  <a:pt x="52757" y="382052"/>
                </a:lnTo>
                <a:lnTo>
                  <a:pt x="101351" y="414119"/>
                </a:lnTo>
                <a:lnTo>
                  <a:pt x="164144" y="444305"/>
                </a:lnTo>
                <a:lnTo>
                  <a:pt x="200551" y="458616"/>
                </a:lnTo>
                <a:lnTo>
                  <a:pt x="240131" y="472363"/>
                </a:lnTo>
                <a:lnTo>
                  <a:pt x="282758" y="485516"/>
                </a:lnTo>
                <a:lnTo>
                  <a:pt x="328305" y="498045"/>
                </a:lnTo>
                <a:lnTo>
                  <a:pt x="376649" y="509918"/>
                </a:lnTo>
                <a:lnTo>
                  <a:pt x="427661" y="521104"/>
                </a:lnTo>
                <a:lnTo>
                  <a:pt x="481218" y="531573"/>
                </a:lnTo>
                <a:lnTo>
                  <a:pt x="537192" y="541294"/>
                </a:lnTo>
                <a:lnTo>
                  <a:pt x="595459" y="550236"/>
                </a:lnTo>
                <a:lnTo>
                  <a:pt x="655893" y="558367"/>
                </a:lnTo>
                <a:lnTo>
                  <a:pt x="718367" y="565658"/>
                </a:lnTo>
                <a:lnTo>
                  <a:pt x="782757" y="572076"/>
                </a:lnTo>
                <a:lnTo>
                  <a:pt x="848935" y="577592"/>
                </a:lnTo>
                <a:lnTo>
                  <a:pt x="916778" y="582174"/>
                </a:lnTo>
                <a:lnTo>
                  <a:pt x="986158" y="585792"/>
                </a:lnTo>
                <a:lnTo>
                  <a:pt x="1056950" y="588415"/>
                </a:lnTo>
                <a:lnTo>
                  <a:pt x="1129028" y="590011"/>
                </a:lnTo>
                <a:lnTo>
                  <a:pt x="1202267" y="590550"/>
                </a:lnTo>
                <a:lnTo>
                  <a:pt x="1275505" y="590011"/>
                </a:lnTo>
                <a:lnTo>
                  <a:pt x="1347584" y="588415"/>
                </a:lnTo>
                <a:lnTo>
                  <a:pt x="1418376" y="585792"/>
                </a:lnTo>
                <a:lnTo>
                  <a:pt x="1487755" y="582174"/>
                </a:lnTo>
                <a:lnTo>
                  <a:pt x="1555598" y="577592"/>
                </a:lnTo>
                <a:lnTo>
                  <a:pt x="1621776" y="572076"/>
                </a:lnTo>
                <a:lnTo>
                  <a:pt x="1686166" y="565658"/>
                </a:lnTo>
                <a:lnTo>
                  <a:pt x="1748640" y="558367"/>
                </a:lnTo>
                <a:lnTo>
                  <a:pt x="1809073" y="550236"/>
                </a:lnTo>
                <a:lnTo>
                  <a:pt x="1867340" y="541294"/>
                </a:lnTo>
                <a:lnTo>
                  <a:pt x="1923315" y="531573"/>
                </a:lnTo>
                <a:lnTo>
                  <a:pt x="1976871" y="521104"/>
                </a:lnTo>
                <a:lnTo>
                  <a:pt x="2027884" y="509918"/>
                </a:lnTo>
                <a:lnTo>
                  <a:pt x="2076227" y="498045"/>
                </a:lnTo>
                <a:lnTo>
                  <a:pt x="2121775" y="485516"/>
                </a:lnTo>
                <a:lnTo>
                  <a:pt x="2164401" y="472363"/>
                </a:lnTo>
                <a:lnTo>
                  <a:pt x="2203981" y="458616"/>
                </a:lnTo>
                <a:lnTo>
                  <a:pt x="2240388" y="444305"/>
                </a:lnTo>
                <a:lnTo>
                  <a:pt x="2303181" y="414119"/>
                </a:lnTo>
                <a:lnTo>
                  <a:pt x="2351775" y="382052"/>
                </a:lnTo>
                <a:lnTo>
                  <a:pt x="2385163" y="348350"/>
                </a:lnTo>
                <a:lnTo>
                  <a:pt x="2402339" y="313262"/>
                </a:lnTo>
                <a:lnTo>
                  <a:pt x="2404533" y="295275"/>
                </a:lnTo>
                <a:lnTo>
                  <a:pt x="2402339" y="277287"/>
                </a:lnTo>
                <a:lnTo>
                  <a:pt x="2385163" y="242199"/>
                </a:lnTo>
                <a:lnTo>
                  <a:pt x="2351775" y="208497"/>
                </a:lnTo>
                <a:lnTo>
                  <a:pt x="2303181" y="176430"/>
                </a:lnTo>
                <a:lnTo>
                  <a:pt x="2240388" y="146244"/>
                </a:lnTo>
                <a:lnTo>
                  <a:pt x="2203981" y="131933"/>
                </a:lnTo>
                <a:lnTo>
                  <a:pt x="2164401" y="118186"/>
                </a:lnTo>
                <a:lnTo>
                  <a:pt x="2121775" y="105033"/>
                </a:lnTo>
                <a:lnTo>
                  <a:pt x="2076227" y="92504"/>
                </a:lnTo>
                <a:lnTo>
                  <a:pt x="2027884" y="80631"/>
                </a:lnTo>
                <a:lnTo>
                  <a:pt x="1976871" y="69445"/>
                </a:lnTo>
                <a:lnTo>
                  <a:pt x="1923315" y="58976"/>
                </a:lnTo>
                <a:lnTo>
                  <a:pt x="1867340" y="49255"/>
                </a:lnTo>
                <a:lnTo>
                  <a:pt x="1809073" y="40313"/>
                </a:lnTo>
                <a:lnTo>
                  <a:pt x="1748640" y="32182"/>
                </a:lnTo>
                <a:lnTo>
                  <a:pt x="1686166" y="24891"/>
                </a:lnTo>
                <a:lnTo>
                  <a:pt x="1621776" y="18473"/>
                </a:lnTo>
                <a:lnTo>
                  <a:pt x="1555598" y="12957"/>
                </a:lnTo>
                <a:lnTo>
                  <a:pt x="1487755" y="8375"/>
                </a:lnTo>
                <a:lnTo>
                  <a:pt x="1418376" y="4757"/>
                </a:lnTo>
                <a:lnTo>
                  <a:pt x="1347584" y="2134"/>
                </a:lnTo>
                <a:lnTo>
                  <a:pt x="1275505" y="538"/>
                </a:lnTo>
                <a:lnTo>
                  <a:pt x="1202267" y="0"/>
                </a:lnTo>
                <a:close/>
              </a:path>
            </a:pathLst>
          </a:custGeom>
          <a:solidFill>
            <a:srgbClr val="7A4779"/>
          </a:solidFill>
        </p:spPr>
        <p:txBody>
          <a:bodyPr wrap="square" lIns="0" tIns="0" rIns="0" bIns="0" rtlCol="0"/>
          <a:lstStyle/>
          <a:p/>
        </p:txBody>
      </p:sp>
      <p:sp>
        <p:nvSpPr>
          <p:cNvPr id="11" name="object 7"/>
          <p:cNvSpPr/>
          <p:nvPr/>
        </p:nvSpPr>
        <p:spPr>
          <a:xfrm>
            <a:off x="718344" y="1015780"/>
            <a:ext cx="1803559" cy="442913"/>
          </a:xfrm>
          <a:custGeom>
            <a:avLst/>
            <a:gdLst/>
            <a:ahLst/>
            <a:cxnLst/>
            <a:rect l="l" t="t" r="r" b="b"/>
            <a:pathLst>
              <a:path w="2404745" h="590550">
                <a:moveTo>
                  <a:pt x="0" y="295274"/>
                </a:moveTo>
                <a:lnTo>
                  <a:pt x="19370" y="242198"/>
                </a:lnTo>
                <a:lnTo>
                  <a:pt x="52757" y="208497"/>
                </a:lnTo>
                <a:lnTo>
                  <a:pt x="101351" y="176430"/>
                </a:lnTo>
                <a:lnTo>
                  <a:pt x="164144" y="146244"/>
                </a:lnTo>
                <a:lnTo>
                  <a:pt x="200551" y="131933"/>
                </a:lnTo>
                <a:lnTo>
                  <a:pt x="240131" y="118186"/>
                </a:lnTo>
                <a:lnTo>
                  <a:pt x="282758" y="105033"/>
                </a:lnTo>
                <a:lnTo>
                  <a:pt x="328305" y="92504"/>
                </a:lnTo>
                <a:lnTo>
                  <a:pt x="376648" y="80631"/>
                </a:lnTo>
                <a:lnTo>
                  <a:pt x="427661" y="69445"/>
                </a:lnTo>
                <a:lnTo>
                  <a:pt x="481218" y="58976"/>
                </a:lnTo>
                <a:lnTo>
                  <a:pt x="537192" y="49255"/>
                </a:lnTo>
                <a:lnTo>
                  <a:pt x="595459" y="40313"/>
                </a:lnTo>
                <a:lnTo>
                  <a:pt x="655893" y="32182"/>
                </a:lnTo>
                <a:lnTo>
                  <a:pt x="718367" y="24891"/>
                </a:lnTo>
                <a:lnTo>
                  <a:pt x="782756" y="18473"/>
                </a:lnTo>
                <a:lnTo>
                  <a:pt x="848935" y="12957"/>
                </a:lnTo>
                <a:lnTo>
                  <a:pt x="916777" y="8375"/>
                </a:lnTo>
                <a:lnTo>
                  <a:pt x="986157" y="4757"/>
                </a:lnTo>
                <a:lnTo>
                  <a:pt x="1056949" y="2134"/>
                </a:lnTo>
                <a:lnTo>
                  <a:pt x="1129027" y="538"/>
                </a:lnTo>
                <a:lnTo>
                  <a:pt x="1202266" y="0"/>
                </a:lnTo>
                <a:lnTo>
                  <a:pt x="1275505" y="538"/>
                </a:lnTo>
                <a:lnTo>
                  <a:pt x="1347583" y="2134"/>
                </a:lnTo>
                <a:lnTo>
                  <a:pt x="1418375" y="4757"/>
                </a:lnTo>
                <a:lnTo>
                  <a:pt x="1487755" y="8375"/>
                </a:lnTo>
                <a:lnTo>
                  <a:pt x="1555597" y="12957"/>
                </a:lnTo>
                <a:lnTo>
                  <a:pt x="1621776" y="18473"/>
                </a:lnTo>
                <a:lnTo>
                  <a:pt x="1686165" y="24891"/>
                </a:lnTo>
                <a:lnTo>
                  <a:pt x="1748640" y="32182"/>
                </a:lnTo>
                <a:lnTo>
                  <a:pt x="1809073" y="40313"/>
                </a:lnTo>
                <a:lnTo>
                  <a:pt x="1867340" y="49255"/>
                </a:lnTo>
                <a:lnTo>
                  <a:pt x="1923315" y="58976"/>
                </a:lnTo>
                <a:lnTo>
                  <a:pt x="1976871" y="69445"/>
                </a:lnTo>
                <a:lnTo>
                  <a:pt x="2027884" y="80631"/>
                </a:lnTo>
                <a:lnTo>
                  <a:pt x="2076227" y="92504"/>
                </a:lnTo>
                <a:lnTo>
                  <a:pt x="2121775" y="105033"/>
                </a:lnTo>
                <a:lnTo>
                  <a:pt x="2164402" y="118186"/>
                </a:lnTo>
                <a:lnTo>
                  <a:pt x="2203981" y="131933"/>
                </a:lnTo>
                <a:lnTo>
                  <a:pt x="2240388" y="146244"/>
                </a:lnTo>
                <a:lnTo>
                  <a:pt x="2303181" y="176430"/>
                </a:lnTo>
                <a:lnTo>
                  <a:pt x="2351775" y="208497"/>
                </a:lnTo>
                <a:lnTo>
                  <a:pt x="2385163" y="242198"/>
                </a:lnTo>
                <a:lnTo>
                  <a:pt x="2402339" y="277287"/>
                </a:lnTo>
                <a:lnTo>
                  <a:pt x="2404533" y="295274"/>
                </a:lnTo>
                <a:lnTo>
                  <a:pt x="2402339" y="313262"/>
                </a:lnTo>
                <a:lnTo>
                  <a:pt x="2385163" y="348350"/>
                </a:lnTo>
                <a:lnTo>
                  <a:pt x="2351775" y="382052"/>
                </a:lnTo>
                <a:lnTo>
                  <a:pt x="2303181" y="414119"/>
                </a:lnTo>
                <a:lnTo>
                  <a:pt x="2240388" y="444305"/>
                </a:lnTo>
                <a:lnTo>
                  <a:pt x="2203981" y="458616"/>
                </a:lnTo>
                <a:lnTo>
                  <a:pt x="2164402" y="472363"/>
                </a:lnTo>
                <a:lnTo>
                  <a:pt x="2121775" y="485516"/>
                </a:lnTo>
                <a:lnTo>
                  <a:pt x="2076227" y="498045"/>
                </a:lnTo>
                <a:lnTo>
                  <a:pt x="2027884" y="509918"/>
                </a:lnTo>
                <a:lnTo>
                  <a:pt x="1976871" y="521104"/>
                </a:lnTo>
                <a:lnTo>
                  <a:pt x="1923315" y="531573"/>
                </a:lnTo>
                <a:lnTo>
                  <a:pt x="1867340" y="541294"/>
                </a:lnTo>
                <a:lnTo>
                  <a:pt x="1809073" y="550236"/>
                </a:lnTo>
                <a:lnTo>
                  <a:pt x="1748640" y="558367"/>
                </a:lnTo>
                <a:lnTo>
                  <a:pt x="1686165" y="565658"/>
                </a:lnTo>
                <a:lnTo>
                  <a:pt x="1621776" y="572076"/>
                </a:lnTo>
                <a:lnTo>
                  <a:pt x="1555597" y="577592"/>
                </a:lnTo>
                <a:lnTo>
                  <a:pt x="1487755" y="582174"/>
                </a:lnTo>
                <a:lnTo>
                  <a:pt x="1418375" y="585792"/>
                </a:lnTo>
                <a:lnTo>
                  <a:pt x="1347583" y="588414"/>
                </a:lnTo>
                <a:lnTo>
                  <a:pt x="1275505" y="590011"/>
                </a:lnTo>
                <a:lnTo>
                  <a:pt x="1202266" y="590549"/>
                </a:lnTo>
                <a:lnTo>
                  <a:pt x="1129027" y="590011"/>
                </a:lnTo>
                <a:lnTo>
                  <a:pt x="1056949" y="588414"/>
                </a:lnTo>
                <a:lnTo>
                  <a:pt x="986157" y="585792"/>
                </a:lnTo>
                <a:lnTo>
                  <a:pt x="916777" y="582174"/>
                </a:lnTo>
                <a:lnTo>
                  <a:pt x="848935" y="577592"/>
                </a:lnTo>
                <a:lnTo>
                  <a:pt x="782756" y="572076"/>
                </a:lnTo>
                <a:lnTo>
                  <a:pt x="718367" y="565658"/>
                </a:lnTo>
                <a:lnTo>
                  <a:pt x="655893" y="558367"/>
                </a:lnTo>
                <a:lnTo>
                  <a:pt x="595459" y="550236"/>
                </a:lnTo>
                <a:lnTo>
                  <a:pt x="537192" y="541294"/>
                </a:lnTo>
                <a:lnTo>
                  <a:pt x="481218" y="531573"/>
                </a:lnTo>
                <a:lnTo>
                  <a:pt x="427661" y="521104"/>
                </a:lnTo>
                <a:lnTo>
                  <a:pt x="376648" y="509918"/>
                </a:lnTo>
                <a:lnTo>
                  <a:pt x="328305" y="498045"/>
                </a:lnTo>
                <a:lnTo>
                  <a:pt x="282758" y="485516"/>
                </a:lnTo>
                <a:lnTo>
                  <a:pt x="240131" y="472363"/>
                </a:lnTo>
                <a:lnTo>
                  <a:pt x="200551" y="458616"/>
                </a:lnTo>
                <a:lnTo>
                  <a:pt x="164144" y="444305"/>
                </a:lnTo>
                <a:lnTo>
                  <a:pt x="101351" y="414119"/>
                </a:lnTo>
                <a:lnTo>
                  <a:pt x="52757" y="382052"/>
                </a:lnTo>
                <a:lnTo>
                  <a:pt x="19370" y="348350"/>
                </a:lnTo>
                <a:lnTo>
                  <a:pt x="2194" y="313262"/>
                </a:lnTo>
                <a:lnTo>
                  <a:pt x="0" y="295274"/>
                </a:lnTo>
                <a:close/>
              </a:path>
            </a:pathLst>
          </a:custGeom>
          <a:ln w="28574">
            <a:solidFill>
              <a:srgbClr val="000000"/>
            </a:solidFill>
          </a:ln>
        </p:spPr>
        <p:txBody>
          <a:bodyPr wrap="square" lIns="0" tIns="0" rIns="0" bIns="0" rtlCol="0"/>
          <a:lstStyle/>
          <a:p/>
        </p:txBody>
      </p:sp>
      <p:sp>
        <p:nvSpPr>
          <p:cNvPr id="12" name="object 8"/>
          <p:cNvSpPr txBox="1"/>
          <p:nvPr/>
        </p:nvSpPr>
        <p:spPr>
          <a:xfrm>
            <a:off x="1346776" y="1033521"/>
            <a:ext cx="552450" cy="332105"/>
          </a:xfrm>
          <a:prstGeom prst="rect">
            <a:avLst/>
          </a:prstGeom>
        </p:spPr>
        <p:txBody>
          <a:bodyPr vert="horz" wrap="square" lIns="0" tIns="9525" rIns="0" bIns="0" rtlCol="0">
            <a:spAutoFit/>
          </a:bodyPr>
          <a:lstStyle/>
          <a:p>
            <a:pPr marL="9525">
              <a:spcBef>
                <a:spcPts val="75"/>
              </a:spcBef>
              <a:spcAft>
                <a:spcPts val="0"/>
              </a:spcAft>
            </a:pPr>
            <a:r>
              <a:rPr sz="2100" b="1" dirty="0">
                <a:solidFill>
                  <a:srgbClr val="FFFFFF"/>
                </a:solidFill>
                <a:latin typeface="Microsoft JhengHei" panose="020B0604030504040204" charset="-120"/>
                <a:cs typeface="Microsoft JhengHei" panose="020B0604030504040204" charset="-120"/>
              </a:rPr>
              <a:t>插卡</a:t>
            </a:r>
            <a:endParaRPr sz="2100">
              <a:latin typeface="Microsoft JhengHei" panose="020B0604030504040204" charset="-120"/>
              <a:cs typeface="Microsoft JhengHei" panose="020B0604030504040204" charset="-120"/>
            </a:endParaRPr>
          </a:p>
        </p:txBody>
      </p:sp>
      <p:sp>
        <p:nvSpPr>
          <p:cNvPr id="13" name="object 9"/>
          <p:cNvSpPr/>
          <p:nvPr/>
        </p:nvSpPr>
        <p:spPr>
          <a:xfrm>
            <a:off x="5895974" y="3243264"/>
            <a:ext cx="2933700" cy="559594"/>
          </a:xfrm>
          <a:custGeom>
            <a:avLst/>
            <a:gdLst/>
            <a:ahLst/>
            <a:cxnLst/>
            <a:rect l="l" t="t" r="r" b="b"/>
            <a:pathLst>
              <a:path w="3911600" h="746125">
                <a:moveTo>
                  <a:pt x="1955800" y="0"/>
                </a:moveTo>
                <a:lnTo>
                  <a:pt x="1880780" y="269"/>
                </a:lnTo>
                <a:lnTo>
                  <a:pt x="1806475" y="1071"/>
                </a:lnTo>
                <a:lnTo>
                  <a:pt x="1732934" y="2395"/>
                </a:lnTo>
                <a:lnTo>
                  <a:pt x="1660210" y="4232"/>
                </a:lnTo>
                <a:lnTo>
                  <a:pt x="1588351" y="6573"/>
                </a:lnTo>
                <a:lnTo>
                  <a:pt x="1517409" y="9408"/>
                </a:lnTo>
                <a:lnTo>
                  <a:pt x="1447435" y="12726"/>
                </a:lnTo>
                <a:lnTo>
                  <a:pt x="1378479" y="16519"/>
                </a:lnTo>
                <a:lnTo>
                  <a:pt x="1310592" y="20777"/>
                </a:lnTo>
                <a:lnTo>
                  <a:pt x="1243825" y="25489"/>
                </a:lnTo>
                <a:lnTo>
                  <a:pt x="1178227" y="30647"/>
                </a:lnTo>
                <a:lnTo>
                  <a:pt x="1113851" y="36241"/>
                </a:lnTo>
                <a:lnTo>
                  <a:pt x="1050745" y="42261"/>
                </a:lnTo>
                <a:lnTo>
                  <a:pt x="988962" y="48697"/>
                </a:lnTo>
                <a:lnTo>
                  <a:pt x="928551" y="55540"/>
                </a:lnTo>
                <a:lnTo>
                  <a:pt x="869564" y="62780"/>
                </a:lnTo>
                <a:lnTo>
                  <a:pt x="812051" y="70408"/>
                </a:lnTo>
                <a:lnTo>
                  <a:pt x="756062" y="78413"/>
                </a:lnTo>
                <a:lnTo>
                  <a:pt x="701649" y="86786"/>
                </a:lnTo>
                <a:lnTo>
                  <a:pt x="648862" y="95518"/>
                </a:lnTo>
                <a:lnTo>
                  <a:pt x="597751" y="104599"/>
                </a:lnTo>
                <a:lnTo>
                  <a:pt x="548368" y="114018"/>
                </a:lnTo>
                <a:lnTo>
                  <a:pt x="500762" y="123768"/>
                </a:lnTo>
                <a:lnTo>
                  <a:pt x="454985" y="133837"/>
                </a:lnTo>
                <a:lnTo>
                  <a:pt x="411087" y="144216"/>
                </a:lnTo>
                <a:lnTo>
                  <a:pt x="369119" y="154895"/>
                </a:lnTo>
                <a:lnTo>
                  <a:pt x="329131" y="165866"/>
                </a:lnTo>
                <a:lnTo>
                  <a:pt x="291175" y="177118"/>
                </a:lnTo>
                <a:lnTo>
                  <a:pt x="221557" y="200426"/>
                </a:lnTo>
                <a:lnTo>
                  <a:pt x="160673" y="224742"/>
                </a:lnTo>
                <a:lnTo>
                  <a:pt x="108925" y="249991"/>
                </a:lnTo>
                <a:lnTo>
                  <a:pt x="66720" y="276093"/>
                </a:lnTo>
                <a:lnTo>
                  <a:pt x="34463" y="302972"/>
                </a:lnTo>
                <a:lnTo>
                  <a:pt x="5615" y="344579"/>
                </a:lnTo>
                <a:lnTo>
                  <a:pt x="0" y="373062"/>
                </a:lnTo>
                <a:lnTo>
                  <a:pt x="1412" y="387372"/>
                </a:lnTo>
                <a:lnTo>
                  <a:pt x="22191" y="429445"/>
                </a:lnTo>
                <a:lnTo>
                  <a:pt x="49322" y="456684"/>
                </a:lnTo>
                <a:lnTo>
                  <a:pt x="86604" y="483184"/>
                </a:lnTo>
                <a:lnTo>
                  <a:pt x="133631" y="508869"/>
                </a:lnTo>
                <a:lnTo>
                  <a:pt x="189998" y="533662"/>
                </a:lnTo>
                <a:lnTo>
                  <a:pt x="255300" y="557484"/>
                </a:lnTo>
                <a:lnTo>
                  <a:pt x="329131" y="580259"/>
                </a:lnTo>
                <a:lnTo>
                  <a:pt x="369119" y="591229"/>
                </a:lnTo>
                <a:lnTo>
                  <a:pt x="411087" y="601909"/>
                </a:lnTo>
                <a:lnTo>
                  <a:pt x="454985" y="612288"/>
                </a:lnTo>
                <a:lnTo>
                  <a:pt x="500762" y="622357"/>
                </a:lnTo>
                <a:lnTo>
                  <a:pt x="548368" y="632106"/>
                </a:lnTo>
                <a:lnTo>
                  <a:pt x="597751" y="641526"/>
                </a:lnTo>
                <a:lnTo>
                  <a:pt x="648862" y="650607"/>
                </a:lnTo>
                <a:lnTo>
                  <a:pt x="701649" y="659338"/>
                </a:lnTo>
                <a:lnTo>
                  <a:pt x="756062" y="667712"/>
                </a:lnTo>
                <a:lnTo>
                  <a:pt x="812051" y="675717"/>
                </a:lnTo>
                <a:lnTo>
                  <a:pt x="869564" y="683345"/>
                </a:lnTo>
                <a:lnTo>
                  <a:pt x="928551" y="690585"/>
                </a:lnTo>
                <a:lnTo>
                  <a:pt x="988962" y="697428"/>
                </a:lnTo>
                <a:lnTo>
                  <a:pt x="1050745" y="703864"/>
                </a:lnTo>
                <a:lnTo>
                  <a:pt x="1113851" y="709884"/>
                </a:lnTo>
                <a:lnTo>
                  <a:pt x="1178227" y="715478"/>
                </a:lnTo>
                <a:lnTo>
                  <a:pt x="1243825" y="720636"/>
                </a:lnTo>
                <a:lnTo>
                  <a:pt x="1310592" y="725349"/>
                </a:lnTo>
                <a:lnTo>
                  <a:pt x="1378479" y="729606"/>
                </a:lnTo>
                <a:lnTo>
                  <a:pt x="1447435" y="733399"/>
                </a:lnTo>
                <a:lnTo>
                  <a:pt x="1517409" y="736718"/>
                </a:lnTo>
                <a:lnTo>
                  <a:pt x="1588351" y="739552"/>
                </a:lnTo>
                <a:lnTo>
                  <a:pt x="1660210" y="741893"/>
                </a:lnTo>
                <a:lnTo>
                  <a:pt x="1732934" y="743730"/>
                </a:lnTo>
                <a:lnTo>
                  <a:pt x="1806475" y="745055"/>
                </a:lnTo>
                <a:lnTo>
                  <a:pt x="1880780" y="745856"/>
                </a:lnTo>
                <a:lnTo>
                  <a:pt x="1955800" y="746126"/>
                </a:lnTo>
                <a:lnTo>
                  <a:pt x="2030819" y="745856"/>
                </a:lnTo>
                <a:lnTo>
                  <a:pt x="2105125" y="745055"/>
                </a:lnTo>
                <a:lnTo>
                  <a:pt x="2178665" y="743730"/>
                </a:lnTo>
                <a:lnTo>
                  <a:pt x="2251390" y="741893"/>
                </a:lnTo>
                <a:lnTo>
                  <a:pt x="2323248" y="739552"/>
                </a:lnTo>
                <a:lnTo>
                  <a:pt x="2394190" y="736718"/>
                </a:lnTo>
                <a:lnTo>
                  <a:pt x="2464164" y="733399"/>
                </a:lnTo>
                <a:lnTo>
                  <a:pt x="2533120" y="729606"/>
                </a:lnTo>
                <a:lnTo>
                  <a:pt x="2601007" y="725349"/>
                </a:lnTo>
                <a:lnTo>
                  <a:pt x="2667775" y="720636"/>
                </a:lnTo>
                <a:lnTo>
                  <a:pt x="2733372" y="715478"/>
                </a:lnTo>
                <a:lnTo>
                  <a:pt x="2797749" y="709884"/>
                </a:lnTo>
                <a:lnTo>
                  <a:pt x="2860854" y="703864"/>
                </a:lnTo>
                <a:lnTo>
                  <a:pt x="2922638" y="697428"/>
                </a:lnTo>
                <a:lnTo>
                  <a:pt x="2983048" y="690585"/>
                </a:lnTo>
                <a:lnTo>
                  <a:pt x="3042035" y="683345"/>
                </a:lnTo>
                <a:lnTo>
                  <a:pt x="3099549" y="675717"/>
                </a:lnTo>
                <a:lnTo>
                  <a:pt x="3155537" y="667712"/>
                </a:lnTo>
                <a:lnTo>
                  <a:pt x="3209950" y="659338"/>
                </a:lnTo>
                <a:lnTo>
                  <a:pt x="3262738" y="650607"/>
                </a:lnTo>
                <a:lnTo>
                  <a:pt x="3313848" y="641526"/>
                </a:lnTo>
                <a:lnTo>
                  <a:pt x="3363232" y="632106"/>
                </a:lnTo>
                <a:lnTo>
                  <a:pt x="3410837" y="622357"/>
                </a:lnTo>
                <a:lnTo>
                  <a:pt x="3456615" y="612288"/>
                </a:lnTo>
                <a:lnTo>
                  <a:pt x="3500512" y="601909"/>
                </a:lnTo>
                <a:lnTo>
                  <a:pt x="3542481" y="591229"/>
                </a:lnTo>
                <a:lnTo>
                  <a:pt x="3582468" y="580259"/>
                </a:lnTo>
                <a:lnTo>
                  <a:pt x="3620425" y="569007"/>
                </a:lnTo>
                <a:lnTo>
                  <a:pt x="3690042" y="545699"/>
                </a:lnTo>
                <a:lnTo>
                  <a:pt x="3750927" y="521382"/>
                </a:lnTo>
                <a:lnTo>
                  <a:pt x="3802674" y="496134"/>
                </a:lnTo>
                <a:lnTo>
                  <a:pt x="3844879" y="470031"/>
                </a:lnTo>
                <a:lnTo>
                  <a:pt x="3877136" y="443152"/>
                </a:lnTo>
                <a:lnTo>
                  <a:pt x="3905984" y="401545"/>
                </a:lnTo>
                <a:lnTo>
                  <a:pt x="3911600" y="373062"/>
                </a:lnTo>
                <a:lnTo>
                  <a:pt x="3910187" y="358752"/>
                </a:lnTo>
                <a:lnTo>
                  <a:pt x="3889408" y="316679"/>
                </a:lnTo>
                <a:lnTo>
                  <a:pt x="3862277" y="289440"/>
                </a:lnTo>
                <a:lnTo>
                  <a:pt x="3824995" y="262940"/>
                </a:lnTo>
                <a:lnTo>
                  <a:pt x="3777968" y="237255"/>
                </a:lnTo>
                <a:lnTo>
                  <a:pt x="3721601" y="212463"/>
                </a:lnTo>
                <a:lnTo>
                  <a:pt x="3656299" y="188641"/>
                </a:lnTo>
                <a:lnTo>
                  <a:pt x="3582468" y="165866"/>
                </a:lnTo>
                <a:lnTo>
                  <a:pt x="3542481" y="154895"/>
                </a:lnTo>
                <a:lnTo>
                  <a:pt x="3500512" y="144216"/>
                </a:lnTo>
                <a:lnTo>
                  <a:pt x="3456615" y="133837"/>
                </a:lnTo>
                <a:lnTo>
                  <a:pt x="3410837" y="123768"/>
                </a:lnTo>
                <a:lnTo>
                  <a:pt x="3363232" y="114018"/>
                </a:lnTo>
                <a:lnTo>
                  <a:pt x="3313848" y="104599"/>
                </a:lnTo>
                <a:lnTo>
                  <a:pt x="3262738" y="95518"/>
                </a:lnTo>
                <a:lnTo>
                  <a:pt x="3209950" y="86786"/>
                </a:lnTo>
                <a:lnTo>
                  <a:pt x="3155537" y="78413"/>
                </a:lnTo>
                <a:lnTo>
                  <a:pt x="3099549" y="70408"/>
                </a:lnTo>
                <a:lnTo>
                  <a:pt x="3042035" y="62780"/>
                </a:lnTo>
                <a:lnTo>
                  <a:pt x="2983048" y="55540"/>
                </a:lnTo>
                <a:lnTo>
                  <a:pt x="2922638" y="48697"/>
                </a:lnTo>
                <a:lnTo>
                  <a:pt x="2860854" y="42261"/>
                </a:lnTo>
                <a:lnTo>
                  <a:pt x="2797749" y="36241"/>
                </a:lnTo>
                <a:lnTo>
                  <a:pt x="2733372" y="30647"/>
                </a:lnTo>
                <a:lnTo>
                  <a:pt x="2667775" y="25489"/>
                </a:lnTo>
                <a:lnTo>
                  <a:pt x="2601007" y="20777"/>
                </a:lnTo>
                <a:lnTo>
                  <a:pt x="2533120" y="16519"/>
                </a:lnTo>
                <a:lnTo>
                  <a:pt x="2464164" y="12726"/>
                </a:lnTo>
                <a:lnTo>
                  <a:pt x="2394190" y="9408"/>
                </a:lnTo>
                <a:lnTo>
                  <a:pt x="2323248" y="6573"/>
                </a:lnTo>
                <a:lnTo>
                  <a:pt x="2251390" y="4232"/>
                </a:lnTo>
                <a:lnTo>
                  <a:pt x="2178665" y="2395"/>
                </a:lnTo>
                <a:lnTo>
                  <a:pt x="2105125" y="1071"/>
                </a:lnTo>
                <a:lnTo>
                  <a:pt x="2030819" y="269"/>
                </a:lnTo>
                <a:lnTo>
                  <a:pt x="1955800" y="0"/>
                </a:lnTo>
                <a:close/>
              </a:path>
            </a:pathLst>
          </a:custGeom>
          <a:solidFill>
            <a:srgbClr val="7A4779"/>
          </a:solidFill>
        </p:spPr>
        <p:txBody>
          <a:bodyPr wrap="square" lIns="0" tIns="0" rIns="0" bIns="0" rtlCol="0"/>
          <a:lstStyle/>
          <a:p/>
        </p:txBody>
      </p:sp>
      <p:sp>
        <p:nvSpPr>
          <p:cNvPr id="14" name="object 10"/>
          <p:cNvSpPr/>
          <p:nvPr/>
        </p:nvSpPr>
        <p:spPr>
          <a:xfrm>
            <a:off x="5895974" y="3243264"/>
            <a:ext cx="2933700" cy="559594"/>
          </a:xfrm>
          <a:custGeom>
            <a:avLst/>
            <a:gdLst/>
            <a:ahLst/>
            <a:cxnLst/>
            <a:rect l="l" t="t" r="r" b="b"/>
            <a:pathLst>
              <a:path w="3911600" h="746125">
                <a:moveTo>
                  <a:pt x="0" y="373062"/>
                </a:moveTo>
                <a:lnTo>
                  <a:pt x="12558" y="330551"/>
                </a:lnTo>
                <a:lnTo>
                  <a:pt x="49322" y="289441"/>
                </a:lnTo>
                <a:lnTo>
                  <a:pt x="86604" y="262940"/>
                </a:lnTo>
                <a:lnTo>
                  <a:pt x="133631" y="237255"/>
                </a:lnTo>
                <a:lnTo>
                  <a:pt x="189998" y="212463"/>
                </a:lnTo>
                <a:lnTo>
                  <a:pt x="255300" y="188641"/>
                </a:lnTo>
                <a:lnTo>
                  <a:pt x="329131" y="165866"/>
                </a:lnTo>
                <a:lnTo>
                  <a:pt x="369118" y="154896"/>
                </a:lnTo>
                <a:lnTo>
                  <a:pt x="411087" y="144216"/>
                </a:lnTo>
                <a:lnTo>
                  <a:pt x="454984" y="133837"/>
                </a:lnTo>
                <a:lnTo>
                  <a:pt x="500762" y="123768"/>
                </a:lnTo>
                <a:lnTo>
                  <a:pt x="548367" y="114019"/>
                </a:lnTo>
                <a:lnTo>
                  <a:pt x="597751" y="104599"/>
                </a:lnTo>
                <a:lnTo>
                  <a:pt x="648861" y="95518"/>
                </a:lnTo>
                <a:lnTo>
                  <a:pt x="701649" y="86787"/>
                </a:lnTo>
                <a:lnTo>
                  <a:pt x="756062" y="78413"/>
                </a:lnTo>
                <a:lnTo>
                  <a:pt x="812050" y="70408"/>
                </a:lnTo>
                <a:lnTo>
                  <a:pt x="869564" y="62780"/>
                </a:lnTo>
                <a:lnTo>
                  <a:pt x="928551" y="55540"/>
                </a:lnTo>
                <a:lnTo>
                  <a:pt x="988961" y="48697"/>
                </a:lnTo>
                <a:lnTo>
                  <a:pt x="1050745" y="42261"/>
                </a:lnTo>
                <a:lnTo>
                  <a:pt x="1113850" y="36241"/>
                </a:lnTo>
                <a:lnTo>
                  <a:pt x="1178227" y="30647"/>
                </a:lnTo>
                <a:lnTo>
                  <a:pt x="1243824" y="25489"/>
                </a:lnTo>
                <a:lnTo>
                  <a:pt x="1310592" y="20777"/>
                </a:lnTo>
                <a:lnTo>
                  <a:pt x="1378479" y="16519"/>
                </a:lnTo>
                <a:lnTo>
                  <a:pt x="1447435" y="12726"/>
                </a:lnTo>
                <a:lnTo>
                  <a:pt x="1517409" y="9408"/>
                </a:lnTo>
                <a:lnTo>
                  <a:pt x="1588350" y="6573"/>
                </a:lnTo>
                <a:lnTo>
                  <a:pt x="1660209" y="4232"/>
                </a:lnTo>
                <a:lnTo>
                  <a:pt x="1732934" y="2395"/>
                </a:lnTo>
                <a:lnTo>
                  <a:pt x="1806474" y="1071"/>
                </a:lnTo>
                <a:lnTo>
                  <a:pt x="1880779" y="269"/>
                </a:lnTo>
                <a:lnTo>
                  <a:pt x="1955799" y="0"/>
                </a:lnTo>
                <a:lnTo>
                  <a:pt x="2030819" y="269"/>
                </a:lnTo>
                <a:lnTo>
                  <a:pt x="2105124" y="1071"/>
                </a:lnTo>
                <a:lnTo>
                  <a:pt x="2178664" y="2395"/>
                </a:lnTo>
                <a:lnTo>
                  <a:pt x="2251389" y="4232"/>
                </a:lnTo>
                <a:lnTo>
                  <a:pt x="2323247" y="6573"/>
                </a:lnTo>
                <a:lnTo>
                  <a:pt x="2394189" y="9408"/>
                </a:lnTo>
                <a:lnTo>
                  <a:pt x="2464163" y="12726"/>
                </a:lnTo>
                <a:lnTo>
                  <a:pt x="2533119" y="16519"/>
                </a:lnTo>
                <a:lnTo>
                  <a:pt x="2601006" y="20777"/>
                </a:lnTo>
                <a:lnTo>
                  <a:pt x="2667774" y="25489"/>
                </a:lnTo>
                <a:lnTo>
                  <a:pt x="2733371" y="30647"/>
                </a:lnTo>
                <a:lnTo>
                  <a:pt x="2797748" y="36241"/>
                </a:lnTo>
                <a:lnTo>
                  <a:pt x="2860853" y="42261"/>
                </a:lnTo>
                <a:lnTo>
                  <a:pt x="2922636" y="48697"/>
                </a:lnTo>
                <a:lnTo>
                  <a:pt x="2983047" y="55540"/>
                </a:lnTo>
                <a:lnTo>
                  <a:pt x="3042034" y="62780"/>
                </a:lnTo>
                <a:lnTo>
                  <a:pt x="3099547" y="70408"/>
                </a:lnTo>
                <a:lnTo>
                  <a:pt x="3155536" y="78413"/>
                </a:lnTo>
                <a:lnTo>
                  <a:pt x="3209949" y="86787"/>
                </a:lnTo>
                <a:lnTo>
                  <a:pt x="3262736" y="95518"/>
                </a:lnTo>
                <a:lnTo>
                  <a:pt x="3313847" y="104599"/>
                </a:lnTo>
                <a:lnTo>
                  <a:pt x="3363231" y="114019"/>
                </a:lnTo>
                <a:lnTo>
                  <a:pt x="3410836" y="123768"/>
                </a:lnTo>
                <a:lnTo>
                  <a:pt x="3456613" y="133837"/>
                </a:lnTo>
                <a:lnTo>
                  <a:pt x="3500511" y="144216"/>
                </a:lnTo>
                <a:lnTo>
                  <a:pt x="3542479" y="154896"/>
                </a:lnTo>
                <a:lnTo>
                  <a:pt x="3582467" y="165866"/>
                </a:lnTo>
                <a:lnTo>
                  <a:pt x="3620424" y="177118"/>
                </a:lnTo>
                <a:lnTo>
                  <a:pt x="3690041" y="200426"/>
                </a:lnTo>
                <a:lnTo>
                  <a:pt x="3750926" y="224743"/>
                </a:lnTo>
                <a:lnTo>
                  <a:pt x="3802673" y="249991"/>
                </a:lnTo>
                <a:lnTo>
                  <a:pt x="3844878" y="276093"/>
                </a:lnTo>
                <a:lnTo>
                  <a:pt x="3877135" y="302973"/>
                </a:lnTo>
                <a:lnTo>
                  <a:pt x="3905983" y="344579"/>
                </a:lnTo>
                <a:lnTo>
                  <a:pt x="3911599" y="373062"/>
                </a:lnTo>
                <a:lnTo>
                  <a:pt x="3910186" y="387372"/>
                </a:lnTo>
                <a:lnTo>
                  <a:pt x="3889407" y="429445"/>
                </a:lnTo>
                <a:lnTo>
                  <a:pt x="3862276" y="456684"/>
                </a:lnTo>
                <a:lnTo>
                  <a:pt x="3824994" y="483184"/>
                </a:lnTo>
                <a:lnTo>
                  <a:pt x="3777967" y="508869"/>
                </a:lnTo>
                <a:lnTo>
                  <a:pt x="3721600" y="533662"/>
                </a:lnTo>
                <a:lnTo>
                  <a:pt x="3656298" y="557484"/>
                </a:lnTo>
                <a:lnTo>
                  <a:pt x="3582467" y="580259"/>
                </a:lnTo>
                <a:lnTo>
                  <a:pt x="3542479" y="591229"/>
                </a:lnTo>
                <a:lnTo>
                  <a:pt x="3500511" y="601909"/>
                </a:lnTo>
                <a:lnTo>
                  <a:pt x="3456613" y="612288"/>
                </a:lnTo>
                <a:lnTo>
                  <a:pt x="3410836" y="622357"/>
                </a:lnTo>
                <a:lnTo>
                  <a:pt x="3363231" y="632106"/>
                </a:lnTo>
                <a:lnTo>
                  <a:pt x="3313847" y="641526"/>
                </a:lnTo>
                <a:lnTo>
                  <a:pt x="3262736" y="650606"/>
                </a:lnTo>
                <a:lnTo>
                  <a:pt x="3209949" y="659338"/>
                </a:lnTo>
                <a:lnTo>
                  <a:pt x="3155536" y="667712"/>
                </a:lnTo>
                <a:lnTo>
                  <a:pt x="3099547" y="675717"/>
                </a:lnTo>
                <a:lnTo>
                  <a:pt x="3042034" y="683345"/>
                </a:lnTo>
                <a:lnTo>
                  <a:pt x="2983047" y="690585"/>
                </a:lnTo>
                <a:lnTo>
                  <a:pt x="2922636" y="697428"/>
                </a:lnTo>
                <a:lnTo>
                  <a:pt x="2860853" y="703864"/>
                </a:lnTo>
                <a:lnTo>
                  <a:pt x="2797748" y="709884"/>
                </a:lnTo>
                <a:lnTo>
                  <a:pt x="2733371" y="715478"/>
                </a:lnTo>
                <a:lnTo>
                  <a:pt x="2667774" y="720636"/>
                </a:lnTo>
                <a:lnTo>
                  <a:pt x="2601006" y="725348"/>
                </a:lnTo>
                <a:lnTo>
                  <a:pt x="2533119" y="729606"/>
                </a:lnTo>
                <a:lnTo>
                  <a:pt x="2464163" y="733399"/>
                </a:lnTo>
                <a:lnTo>
                  <a:pt x="2394189" y="736717"/>
                </a:lnTo>
                <a:lnTo>
                  <a:pt x="2323247" y="739552"/>
                </a:lnTo>
                <a:lnTo>
                  <a:pt x="2251389" y="741892"/>
                </a:lnTo>
                <a:lnTo>
                  <a:pt x="2178664" y="743730"/>
                </a:lnTo>
                <a:lnTo>
                  <a:pt x="2105124" y="745054"/>
                </a:lnTo>
                <a:lnTo>
                  <a:pt x="2030819" y="745856"/>
                </a:lnTo>
                <a:lnTo>
                  <a:pt x="1955799" y="746125"/>
                </a:lnTo>
                <a:lnTo>
                  <a:pt x="1880779" y="745856"/>
                </a:lnTo>
                <a:lnTo>
                  <a:pt x="1806474" y="745054"/>
                </a:lnTo>
                <a:lnTo>
                  <a:pt x="1732934" y="743730"/>
                </a:lnTo>
                <a:lnTo>
                  <a:pt x="1660209" y="741892"/>
                </a:lnTo>
                <a:lnTo>
                  <a:pt x="1588350" y="739552"/>
                </a:lnTo>
                <a:lnTo>
                  <a:pt x="1517409" y="736717"/>
                </a:lnTo>
                <a:lnTo>
                  <a:pt x="1447435" y="733399"/>
                </a:lnTo>
                <a:lnTo>
                  <a:pt x="1378479" y="729606"/>
                </a:lnTo>
                <a:lnTo>
                  <a:pt x="1310592" y="725348"/>
                </a:lnTo>
                <a:lnTo>
                  <a:pt x="1243824" y="720636"/>
                </a:lnTo>
                <a:lnTo>
                  <a:pt x="1178227" y="715478"/>
                </a:lnTo>
                <a:lnTo>
                  <a:pt x="1113850" y="709884"/>
                </a:lnTo>
                <a:lnTo>
                  <a:pt x="1050745" y="703864"/>
                </a:lnTo>
                <a:lnTo>
                  <a:pt x="988961" y="697428"/>
                </a:lnTo>
                <a:lnTo>
                  <a:pt x="928551" y="690585"/>
                </a:lnTo>
                <a:lnTo>
                  <a:pt x="869564" y="683345"/>
                </a:lnTo>
                <a:lnTo>
                  <a:pt x="812050" y="675717"/>
                </a:lnTo>
                <a:lnTo>
                  <a:pt x="756062" y="667712"/>
                </a:lnTo>
                <a:lnTo>
                  <a:pt x="701649" y="659338"/>
                </a:lnTo>
                <a:lnTo>
                  <a:pt x="648861" y="650606"/>
                </a:lnTo>
                <a:lnTo>
                  <a:pt x="597751" y="641526"/>
                </a:lnTo>
                <a:lnTo>
                  <a:pt x="548367" y="632106"/>
                </a:lnTo>
                <a:lnTo>
                  <a:pt x="500762" y="622357"/>
                </a:lnTo>
                <a:lnTo>
                  <a:pt x="454984" y="612288"/>
                </a:lnTo>
                <a:lnTo>
                  <a:pt x="411087" y="601909"/>
                </a:lnTo>
                <a:lnTo>
                  <a:pt x="369118" y="591229"/>
                </a:lnTo>
                <a:lnTo>
                  <a:pt x="329131" y="580259"/>
                </a:lnTo>
                <a:lnTo>
                  <a:pt x="291174" y="569007"/>
                </a:lnTo>
                <a:lnTo>
                  <a:pt x="221557" y="545699"/>
                </a:lnTo>
                <a:lnTo>
                  <a:pt x="160672" y="521382"/>
                </a:lnTo>
                <a:lnTo>
                  <a:pt x="108925" y="496134"/>
                </a:lnTo>
                <a:lnTo>
                  <a:pt x="66720" y="470031"/>
                </a:lnTo>
                <a:lnTo>
                  <a:pt x="34463" y="443152"/>
                </a:lnTo>
                <a:lnTo>
                  <a:pt x="5615" y="401546"/>
                </a:lnTo>
                <a:lnTo>
                  <a:pt x="0" y="373062"/>
                </a:lnTo>
                <a:close/>
              </a:path>
            </a:pathLst>
          </a:custGeom>
          <a:ln w="28574">
            <a:solidFill>
              <a:srgbClr val="000000"/>
            </a:solidFill>
          </a:ln>
        </p:spPr>
        <p:txBody>
          <a:bodyPr wrap="square" lIns="0" tIns="0" rIns="0" bIns="0" rtlCol="0"/>
          <a:lstStyle/>
          <a:p/>
        </p:txBody>
      </p:sp>
      <p:sp>
        <p:nvSpPr>
          <p:cNvPr id="15" name="object 11"/>
          <p:cNvSpPr txBox="1"/>
          <p:nvPr/>
        </p:nvSpPr>
        <p:spPr>
          <a:xfrm>
            <a:off x="6556586" y="3319344"/>
            <a:ext cx="1619250" cy="332105"/>
          </a:xfrm>
          <a:prstGeom prst="rect">
            <a:avLst/>
          </a:prstGeom>
        </p:spPr>
        <p:txBody>
          <a:bodyPr vert="horz" wrap="square" lIns="0" tIns="9525" rIns="0" bIns="0" rtlCol="0">
            <a:spAutoFit/>
          </a:bodyPr>
          <a:lstStyle/>
          <a:p>
            <a:pPr marL="9525">
              <a:spcBef>
                <a:spcPts val="75"/>
              </a:spcBef>
              <a:spcAft>
                <a:spcPts val="0"/>
              </a:spcAft>
            </a:pPr>
            <a:r>
              <a:rPr sz="2100" b="1" dirty="0">
                <a:solidFill>
                  <a:srgbClr val="FFFFFF"/>
                </a:solidFill>
                <a:latin typeface="Microsoft JhengHei" panose="020B0604030504040204" charset="-120"/>
                <a:cs typeface="Microsoft JhengHei" panose="020B0604030504040204" charset="-120"/>
              </a:rPr>
              <a:t>选择转入账号</a:t>
            </a:r>
            <a:endParaRPr sz="2100">
              <a:latin typeface="Microsoft JhengHei" panose="020B0604030504040204" charset="-120"/>
              <a:cs typeface="Microsoft JhengHei" panose="020B0604030504040204" charset="-120"/>
            </a:endParaRPr>
          </a:p>
        </p:txBody>
      </p:sp>
      <p:sp>
        <p:nvSpPr>
          <p:cNvPr id="16" name="object 12"/>
          <p:cNvSpPr/>
          <p:nvPr/>
        </p:nvSpPr>
        <p:spPr>
          <a:xfrm>
            <a:off x="6484937" y="2584847"/>
            <a:ext cx="2181225" cy="442913"/>
          </a:xfrm>
          <a:custGeom>
            <a:avLst/>
            <a:gdLst/>
            <a:ahLst/>
            <a:cxnLst/>
            <a:rect l="l" t="t" r="r" b="b"/>
            <a:pathLst>
              <a:path w="2908300" h="590550">
                <a:moveTo>
                  <a:pt x="1454150" y="0"/>
                </a:moveTo>
                <a:lnTo>
                  <a:pt x="1379319" y="384"/>
                </a:lnTo>
                <a:lnTo>
                  <a:pt x="1305471" y="1524"/>
                </a:lnTo>
                <a:lnTo>
                  <a:pt x="1232697" y="3402"/>
                </a:lnTo>
                <a:lnTo>
                  <a:pt x="1161087" y="5998"/>
                </a:lnTo>
                <a:lnTo>
                  <a:pt x="1090734" y="9296"/>
                </a:lnTo>
                <a:lnTo>
                  <a:pt x="1021729" y="13275"/>
                </a:lnTo>
                <a:lnTo>
                  <a:pt x="954163" y="17917"/>
                </a:lnTo>
                <a:lnTo>
                  <a:pt x="888128" y="23204"/>
                </a:lnTo>
                <a:lnTo>
                  <a:pt x="823715" y="29117"/>
                </a:lnTo>
                <a:lnTo>
                  <a:pt x="761015" y="35638"/>
                </a:lnTo>
                <a:lnTo>
                  <a:pt x="700119" y="42748"/>
                </a:lnTo>
                <a:lnTo>
                  <a:pt x="641120" y="50428"/>
                </a:lnTo>
                <a:lnTo>
                  <a:pt x="584108" y="58660"/>
                </a:lnTo>
                <a:lnTo>
                  <a:pt x="529175" y="67426"/>
                </a:lnTo>
                <a:lnTo>
                  <a:pt x="476411" y="76707"/>
                </a:lnTo>
                <a:lnTo>
                  <a:pt x="425910" y="86484"/>
                </a:lnTo>
                <a:lnTo>
                  <a:pt x="377761" y="96738"/>
                </a:lnTo>
                <a:lnTo>
                  <a:pt x="332056" y="107452"/>
                </a:lnTo>
                <a:lnTo>
                  <a:pt x="288887" y="118607"/>
                </a:lnTo>
                <a:lnTo>
                  <a:pt x="248345" y="130184"/>
                </a:lnTo>
                <a:lnTo>
                  <a:pt x="210521" y="142164"/>
                </a:lnTo>
                <a:lnTo>
                  <a:pt x="143394" y="167261"/>
                </a:lnTo>
                <a:lnTo>
                  <a:pt x="88237" y="193749"/>
                </a:lnTo>
                <a:lnTo>
                  <a:pt x="45780" y="221481"/>
                </a:lnTo>
                <a:lnTo>
                  <a:pt x="16755" y="250307"/>
                </a:lnTo>
                <a:lnTo>
                  <a:pt x="0" y="295275"/>
                </a:lnTo>
                <a:lnTo>
                  <a:pt x="1892" y="310469"/>
                </a:lnTo>
                <a:lnTo>
                  <a:pt x="29543" y="354783"/>
                </a:lnTo>
                <a:lnTo>
                  <a:pt x="65375" y="383080"/>
                </a:lnTo>
                <a:lnTo>
                  <a:pt x="114274" y="410209"/>
                </a:lnTo>
                <a:lnTo>
                  <a:pt x="175507" y="436020"/>
                </a:lnTo>
                <a:lnTo>
                  <a:pt x="248345" y="460365"/>
                </a:lnTo>
                <a:lnTo>
                  <a:pt x="288887" y="471942"/>
                </a:lnTo>
                <a:lnTo>
                  <a:pt x="332056" y="483096"/>
                </a:lnTo>
                <a:lnTo>
                  <a:pt x="377761" y="493810"/>
                </a:lnTo>
                <a:lnTo>
                  <a:pt x="425910" y="504065"/>
                </a:lnTo>
                <a:lnTo>
                  <a:pt x="476411" y="513842"/>
                </a:lnTo>
                <a:lnTo>
                  <a:pt x="529175" y="523122"/>
                </a:lnTo>
                <a:lnTo>
                  <a:pt x="584108" y="531888"/>
                </a:lnTo>
                <a:lnTo>
                  <a:pt x="641120" y="540120"/>
                </a:lnTo>
                <a:lnTo>
                  <a:pt x="700119" y="547801"/>
                </a:lnTo>
                <a:lnTo>
                  <a:pt x="761015" y="554910"/>
                </a:lnTo>
                <a:lnTo>
                  <a:pt x="823715" y="561431"/>
                </a:lnTo>
                <a:lnTo>
                  <a:pt x="888128" y="567344"/>
                </a:lnTo>
                <a:lnTo>
                  <a:pt x="954163" y="572631"/>
                </a:lnTo>
                <a:lnTo>
                  <a:pt x="1021729" y="577273"/>
                </a:lnTo>
                <a:lnTo>
                  <a:pt x="1090734" y="581252"/>
                </a:lnTo>
                <a:lnTo>
                  <a:pt x="1161087" y="584549"/>
                </a:lnTo>
                <a:lnTo>
                  <a:pt x="1232697" y="587146"/>
                </a:lnTo>
                <a:lnTo>
                  <a:pt x="1305471" y="589024"/>
                </a:lnTo>
                <a:lnTo>
                  <a:pt x="1379319" y="590164"/>
                </a:lnTo>
                <a:lnTo>
                  <a:pt x="1454150" y="590548"/>
                </a:lnTo>
                <a:lnTo>
                  <a:pt x="1528980" y="590164"/>
                </a:lnTo>
                <a:lnTo>
                  <a:pt x="1602828" y="589024"/>
                </a:lnTo>
                <a:lnTo>
                  <a:pt x="1675602" y="587146"/>
                </a:lnTo>
                <a:lnTo>
                  <a:pt x="1747211" y="584549"/>
                </a:lnTo>
                <a:lnTo>
                  <a:pt x="1817564" y="581252"/>
                </a:lnTo>
                <a:lnTo>
                  <a:pt x="1886569" y="577273"/>
                </a:lnTo>
                <a:lnTo>
                  <a:pt x="1954134" y="572631"/>
                </a:lnTo>
                <a:lnTo>
                  <a:pt x="2020170" y="567344"/>
                </a:lnTo>
                <a:lnTo>
                  <a:pt x="2084583" y="561431"/>
                </a:lnTo>
                <a:lnTo>
                  <a:pt x="2147283" y="554910"/>
                </a:lnTo>
                <a:lnTo>
                  <a:pt x="2208178" y="547801"/>
                </a:lnTo>
                <a:lnTo>
                  <a:pt x="2267178" y="540120"/>
                </a:lnTo>
                <a:lnTo>
                  <a:pt x="2324190" y="531888"/>
                </a:lnTo>
                <a:lnTo>
                  <a:pt x="2379123" y="523122"/>
                </a:lnTo>
                <a:lnTo>
                  <a:pt x="2431886" y="513842"/>
                </a:lnTo>
                <a:lnTo>
                  <a:pt x="2482388" y="504065"/>
                </a:lnTo>
                <a:lnTo>
                  <a:pt x="2530537" y="493810"/>
                </a:lnTo>
                <a:lnTo>
                  <a:pt x="2576241" y="483096"/>
                </a:lnTo>
                <a:lnTo>
                  <a:pt x="2619410" y="471942"/>
                </a:lnTo>
                <a:lnTo>
                  <a:pt x="2659952" y="460365"/>
                </a:lnTo>
                <a:lnTo>
                  <a:pt x="2697776" y="448385"/>
                </a:lnTo>
                <a:lnTo>
                  <a:pt x="2764903" y="423288"/>
                </a:lnTo>
                <a:lnTo>
                  <a:pt x="2820061" y="396800"/>
                </a:lnTo>
                <a:lnTo>
                  <a:pt x="2862518" y="369068"/>
                </a:lnTo>
                <a:lnTo>
                  <a:pt x="2891543" y="340242"/>
                </a:lnTo>
                <a:lnTo>
                  <a:pt x="2908298" y="295275"/>
                </a:lnTo>
                <a:lnTo>
                  <a:pt x="2906406" y="280080"/>
                </a:lnTo>
                <a:lnTo>
                  <a:pt x="2878755" y="235766"/>
                </a:lnTo>
                <a:lnTo>
                  <a:pt x="2842923" y="207469"/>
                </a:lnTo>
                <a:lnTo>
                  <a:pt x="2794024" y="180340"/>
                </a:lnTo>
                <a:lnTo>
                  <a:pt x="2732790" y="154529"/>
                </a:lnTo>
                <a:lnTo>
                  <a:pt x="2659952" y="130184"/>
                </a:lnTo>
                <a:lnTo>
                  <a:pt x="2619410" y="118607"/>
                </a:lnTo>
                <a:lnTo>
                  <a:pt x="2576241" y="107452"/>
                </a:lnTo>
                <a:lnTo>
                  <a:pt x="2530537" y="96738"/>
                </a:lnTo>
                <a:lnTo>
                  <a:pt x="2482388" y="86484"/>
                </a:lnTo>
                <a:lnTo>
                  <a:pt x="2431886" y="76707"/>
                </a:lnTo>
                <a:lnTo>
                  <a:pt x="2379123" y="67426"/>
                </a:lnTo>
                <a:lnTo>
                  <a:pt x="2324190" y="58660"/>
                </a:lnTo>
                <a:lnTo>
                  <a:pt x="2267178" y="50428"/>
                </a:lnTo>
                <a:lnTo>
                  <a:pt x="2208178" y="42748"/>
                </a:lnTo>
                <a:lnTo>
                  <a:pt x="2147283" y="35638"/>
                </a:lnTo>
                <a:lnTo>
                  <a:pt x="2084583" y="29117"/>
                </a:lnTo>
                <a:lnTo>
                  <a:pt x="2020170" y="23204"/>
                </a:lnTo>
                <a:lnTo>
                  <a:pt x="1954134" y="17917"/>
                </a:lnTo>
                <a:lnTo>
                  <a:pt x="1886569" y="13275"/>
                </a:lnTo>
                <a:lnTo>
                  <a:pt x="1817564" y="9296"/>
                </a:lnTo>
                <a:lnTo>
                  <a:pt x="1747211" y="5998"/>
                </a:lnTo>
                <a:lnTo>
                  <a:pt x="1675602" y="3402"/>
                </a:lnTo>
                <a:lnTo>
                  <a:pt x="1602828" y="1524"/>
                </a:lnTo>
                <a:lnTo>
                  <a:pt x="1528980" y="384"/>
                </a:lnTo>
                <a:lnTo>
                  <a:pt x="1454150" y="0"/>
                </a:lnTo>
                <a:close/>
              </a:path>
            </a:pathLst>
          </a:custGeom>
          <a:solidFill>
            <a:srgbClr val="7A4779"/>
          </a:solidFill>
        </p:spPr>
        <p:txBody>
          <a:bodyPr wrap="square" lIns="0" tIns="0" rIns="0" bIns="0" rtlCol="0"/>
          <a:lstStyle/>
          <a:p/>
        </p:txBody>
      </p:sp>
      <p:sp>
        <p:nvSpPr>
          <p:cNvPr id="17" name="object 13"/>
          <p:cNvSpPr/>
          <p:nvPr/>
        </p:nvSpPr>
        <p:spPr>
          <a:xfrm>
            <a:off x="6484938" y="2584847"/>
            <a:ext cx="2181225" cy="442913"/>
          </a:xfrm>
          <a:custGeom>
            <a:avLst/>
            <a:gdLst/>
            <a:ahLst/>
            <a:cxnLst/>
            <a:rect l="l" t="t" r="r" b="b"/>
            <a:pathLst>
              <a:path w="2908300" h="590550">
                <a:moveTo>
                  <a:pt x="0" y="295274"/>
                </a:moveTo>
                <a:lnTo>
                  <a:pt x="16755" y="250307"/>
                </a:lnTo>
                <a:lnTo>
                  <a:pt x="45780" y="221481"/>
                </a:lnTo>
                <a:lnTo>
                  <a:pt x="88237" y="193749"/>
                </a:lnTo>
                <a:lnTo>
                  <a:pt x="143394" y="167261"/>
                </a:lnTo>
                <a:lnTo>
                  <a:pt x="210522" y="142164"/>
                </a:lnTo>
                <a:lnTo>
                  <a:pt x="248345" y="130183"/>
                </a:lnTo>
                <a:lnTo>
                  <a:pt x="288887" y="118607"/>
                </a:lnTo>
                <a:lnTo>
                  <a:pt x="332056" y="107452"/>
                </a:lnTo>
                <a:lnTo>
                  <a:pt x="377761" y="96738"/>
                </a:lnTo>
                <a:lnTo>
                  <a:pt x="425910" y="86484"/>
                </a:lnTo>
                <a:lnTo>
                  <a:pt x="476412" y="76707"/>
                </a:lnTo>
                <a:lnTo>
                  <a:pt x="529175" y="67426"/>
                </a:lnTo>
                <a:lnTo>
                  <a:pt x="584108" y="58660"/>
                </a:lnTo>
                <a:lnTo>
                  <a:pt x="641120" y="50428"/>
                </a:lnTo>
                <a:lnTo>
                  <a:pt x="700120" y="42747"/>
                </a:lnTo>
                <a:lnTo>
                  <a:pt x="761015" y="35638"/>
                </a:lnTo>
                <a:lnTo>
                  <a:pt x="823715" y="29117"/>
                </a:lnTo>
                <a:lnTo>
                  <a:pt x="888128" y="23204"/>
                </a:lnTo>
                <a:lnTo>
                  <a:pt x="954164" y="17917"/>
                </a:lnTo>
                <a:lnTo>
                  <a:pt x="1021729" y="13274"/>
                </a:lnTo>
                <a:lnTo>
                  <a:pt x="1090734" y="9296"/>
                </a:lnTo>
                <a:lnTo>
                  <a:pt x="1161087" y="5998"/>
                </a:lnTo>
                <a:lnTo>
                  <a:pt x="1232696" y="3402"/>
                </a:lnTo>
                <a:lnTo>
                  <a:pt x="1305471" y="1524"/>
                </a:lnTo>
                <a:lnTo>
                  <a:pt x="1379319" y="384"/>
                </a:lnTo>
                <a:lnTo>
                  <a:pt x="1454149" y="0"/>
                </a:lnTo>
                <a:lnTo>
                  <a:pt x="1528979" y="384"/>
                </a:lnTo>
                <a:lnTo>
                  <a:pt x="1602827" y="1524"/>
                </a:lnTo>
                <a:lnTo>
                  <a:pt x="1675602" y="3402"/>
                </a:lnTo>
                <a:lnTo>
                  <a:pt x="1747211" y="5998"/>
                </a:lnTo>
                <a:lnTo>
                  <a:pt x="1817564" y="9296"/>
                </a:lnTo>
                <a:lnTo>
                  <a:pt x="1886569" y="13274"/>
                </a:lnTo>
                <a:lnTo>
                  <a:pt x="1954134" y="17917"/>
                </a:lnTo>
                <a:lnTo>
                  <a:pt x="2020170" y="23204"/>
                </a:lnTo>
                <a:lnTo>
                  <a:pt x="2084583" y="29117"/>
                </a:lnTo>
                <a:lnTo>
                  <a:pt x="2147283" y="35638"/>
                </a:lnTo>
                <a:lnTo>
                  <a:pt x="2208178" y="42747"/>
                </a:lnTo>
                <a:lnTo>
                  <a:pt x="2267178" y="50428"/>
                </a:lnTo>
                <a:lnTo>
                  <a:pt x="2324190" y="58660"/>
                </a:lnTo>
                <a:lnTo>
                  <a:pt x="2379123" y="67426"/>
                </a:lnTo>
                <a:lnTo>
                  <a:pt x="2431886" y="76707"/>
                </a:lnTo>
                <a:lnTo>
                  <a:pt x="2482388" y="86484"/>
                </a:lnTo>
                <a:lnTo>
                  <a:pt x="2530537" y="96738"/>
                </a:lnTo>
                <a:lnTo>
                  <a:pt x="2576242" y="107452"/>
                </a:lnTo>
                <a:lnTo>
                  <a:pt x="2619411" y="118607"/>
                </a:lnTo>
                <a:lnTo>
                  <a:pt x="2659953" y="130183"/>
                </a:lnTo>
                <a:lnTo>
                  <a:pt x="2697776" y="142164"/>
                </a:lnTo>
                <a:lnTo>
                  <a:pt x="2764904" y="167261"/>
                </a:lnTo>
                <a:lnTo>
                  <a:pt x="2820061" y="193749"/>
                </a:lnTo>
                <a:lnTo>
                  <a:pt x="2862518" y="221481"/>
                </a:lnTo>
                <a:lnTo>
                  <a:pt x="2891543" y="250307"/>
                </a:lnTo>
                <a:lnTo>
                  <a:pt x="2908299" y="295274"/>
                </a:lnTo>
                <a:lnTo>
                  <a:pt x="2906406" y="310469"/>
                </a:lnTo>
                <a:lnTo>
                  <a:pt x="2878755" y="354783"/>
                </a:lnTo>
                <a:lnTo>
                  <a:pt x="2842923" y="383080"/>
                </a:lnTo>
                <a:lnTo>
                  <a:pt x="2794024" y="410209"/>
                </a:lnTo>
                <a:lnTo>
                  <a:pt x="2732791" y="436020"/>
                </a:lnTo>
                <a:lnTo>
                  <a:pt x="2659953" y="460365"/>
                </a:lnTo>
                <a:lnTo>
                  <a:pt x="2619411" y="471942"/>
                </a:lnTo>
                <a:lnTo>
                  <a:pt x="2576242" y="483097"/>
                </a:lnTo>
                <a:lnTo>
                  <a:pt x="2530537" y="493811"/>
                </a:lnTo>
                <a:lnTo>
                  <a:pt x="2482388" y="504065"/>
                </a:lnTo>
                <a:lnTo>
                  <a:pt x="2431886" y="513842"/>
                </a:lnTo>
                <a:lnTo>
                  <a:pt x="2379123" y="523123"/>
                </a:lnTo>
                <a:lnTo>
                  <a:pt x="2324190" y="531889"/>
                </a:lnTo>
                <a:lnTo>
                  <a:pt x="2267178" y="540121"/>
                </a:lnTo>
                <a:lnTo>
                  <a:pt x="2208178" y="547801"/>
                </a:lnTo>
                <a:lnTo>
                  <a:pt x="2147283" y="554911"/>
                </a:lnTo>
                <a:lnTo>
                  <a:pt x="2084583" y="561432"/>
                </a:lnTo>
                <a:lnTo>
                  <a:pt x="2020170" y="567345"/>
                </a:lnTo>
                <a:lnTo>
                  <a:pt x="1954134" y="572632"/>
                </a:lnTo>
                <a:lnTo>
                  <a:pt x="1886569" y="577274"/>
                </a:lnTo>
                <a:lnTo>
                  <a:pt x="1817564" y="581253"/>
                </a:lnTo>
                <a:lnTo>
                  <a:pt x="1747211" y="584550"/>
                </a:lnTo>
                <a:lnTo>
                  <a:pt x="1675602" y="587147"/>
                </a:lnTo>
                <a:lnTo>
                  <a:pt x="1602827" y="589025"/>
                </a:lnTo>
                <a:lnTo>
                  <a:pt x="1528979" y="590165"/>
                </a:lnTo>
                <a:lnTo>
                  <a:pt x="1454149" y="590549"/>
                </a:lnTo>
                <a:lnTo>
                  <a:pt x="1379319" y="590165"/>
                </a:lnTo>
                <a:lnTo>
                  <a:pt x="1305471" y="589025"/>
                </a:lnTo>
                <a:lnTo>
                  <a:pt x="1232696" y="587147"/>
                </a:lnTo>
                <a:lnTo>
                  <a:pt x="1161087" y="584550"/>
                </a:lnTo>
                <a:lnTo>
                  <a:pt x="1090734" y="581253"/>
                </a:lnTo>
                <a:lnTo>
                  <a:pt x="1021729" y="577274"/>
                </a:lnTo>
                <a:lnTo>
                  <a:pt x="954164" y="572632"/>
                </a:lnTo>
                <a:lnTo>
                  <a:pt x="888128" y="567345"/>
                </a:lnTo>
                <a:lnTo>
                  <a:pt x="823715" y="561432"/>
                </a:lnTo>
                <a:lnTo>
                  <a:pt x="761015" y="554911"/>
                </a:lnTo>
                <a:lnTo>
                  <a:pt x="700120" y="547801"/>
                </a:lnTo>
                <a:lnTo>
                  <a:pt x="641120" y="540121"/>
                </a:lnTo>
                <a:lnTo>
                  <a:pt x="584108" y="531889"/>
                </a:lnTo>
                <a:lnTo>
                  <a:pt x="529175" y="523123"/>
                </a:lnTo>
                <a:lnTo>
                  <a:pt x="476412" y="513842"/>
                </a:lnTo>
                <a:lnTo>
                  <a:pt x="425910" y="504065"/>
                </a:lnTo>
                <a:lnTo>
                  <a:pt x="377761" y="493811"/>
                </a:lnTo>
                <a:lnTo>
                  <a:pt x="332056" y="483097"/>
                </a:lnTo>
                <a:lnTo>
                  <a:pt x="288887" y="471942"/>
                </a:lnTo>
                <a:lnTo>
                  <a:pt x="248345" y="460365"/>
                </a:lnTo>
                <a:lnTo>
                  <a:pt x="210522" y="448385"/>
                </a:lnTo>
                <a:lnTo>
                  <a:pt x="143394" y="423288"/>
                </a:lnTo>
                <a:lnTo>
                  <a:pt x="88237" y="396800"/>
                </a:lnTo>
                <a:lnTo>
                  <a:pt x="45780" y="369068"/>
                </a:lnTo>
                <a:lnTo>
                  <a:pt x="16755" y="340242"/>
                </a:lnTo>
                <a:lnTo>
                  <a:pt x="0" y="295274"/>
                </a:lnTo>
                <a:close/>
              </a:path>
            </a:pathLst>
          </a:custGeom>
          <a:ln w="28574">
            <a:solidFill>
              <a:srgbClr val="000000"/>
            </a:solidFill>
          </a:ln>
        </p:spPr>
        <p:txBody>
          <a:bodyPr wrap="square" lIns="0" tIns="0" rIns="0" bIns="0" rtlCol="0"/>
          <a:lstStyle/>
          <a:p/>
        </p:txBody>
      </p:sp>
      <p:sp>
        <p:nvSpPr>
          <p:cNvPr id="18" name="object 14"/>
          <p:cNvSpPr txBox="1"/>
          <p:nvPr/>
        </p:nvSpPr>
        <p:spPr>
          <a:xfrm>
            <a:off x="7035352" y="2602588"/>
            <a:ext cx="1085850" cy="332105"/>
          </a:xfrm>
          <a:prstGeom prst="rect">
            <a:avLst/>
          </a:prstGeom>
        </p:spPr>
        <p:txBody>
          <a:bodyPr vert="horz" wrap="square" lIns="0" tIns="9525" rIns="0" bIns="0" rtlCol="0">
            <a:spAutoFit/>
          </a:bodyPr>
          <a:lstStyle/>
          <a:p>
            <a:pPr marL="9525">
              <a:spcBef>
                <a:spcPts val="75"/>
              </a:spcBef>
              <a:spcAft>
                <a:spcPts val="0"/>
              </a:spcAft>
            </a:pPr>
            <a:r>
              <a:rPr sz="2100" b="1" dirty="0">
                <a:solidFill>
                  <a:srgbClr val="FFFFFF"/>
                </a:solidFill>
                <a:latin typeface="Microsoft JhengHei" panose="020B0604030504040204" charset="-120"/>
                <a:cs typeface="Microsoft JhengHei" panose="020B0604030504040204" charset="-120"/>
              </a:rPr>
              <a:t>输入金额</a:t>
            </a:r>
            <a:endParaRPr sz="2100">
              <a:latin typeface="Microsoft JhengHei" panose="020B0604030504040204" charset="-120"/>
              <a:cs typeface="Microsoft JhengHei" panose="020B0604030504040204" charset="-120"/>
            </a:endParaRPr>
          </a:p>
        </p:txBody>
      </p:sp>
      <p:sp>
        <p:nvSpPr>
          <p:cNvPr id="19" name="object 15"/>
          <p:cNvSpPr/>
          <p:nvPr/>
        </p:nvSpPr>
        <p:spPr>
          <a:xfrm>
            <a:off x="660400" y="3618310"/>
            <a:ext cx="2973705" cy="488156"/>
          </a:xfrm>
          <a:custGeom>
            <a:avLst/>
            <a:gdLst/>
            <a:ahLst/>
            <a:cxnLst/>
            <a:rect l="l" t="t" r="r" b="b"/>
            <a:pathLst>
              <a:path w="3964940" h="650875">
                <a:moveTo>
                  <a:pt x="1982258" y="0"/>
                </a:moveTo>
                <a:lnTo>
                  <a:pt x="1906223" y="234"/>
                </a:lnTo>
                <a:lnTo>
                  <a:pt x="1830913" y="934"/>
                </a:lnTo>
                <a:lnTo>
                  <a:pt x="1756378" y="2089"/>
                </a:lnTo>
                <a:lnTo>
                  <a:pt x="1682669" y="3692"/>
                </a:lnTo>
                <a:lnTo>
                  <a:pt x="1609838" y="5734"/>
                </a:lnTo>
                <a:lnTo>
                  <a:pt x="1537937" y="8207"/>
                </a:lnTo>
                <a:lnTo>
                  <a:pt x="1467016" y="11102"/>
                </a:lnTo>
                <a:lnTo>
                  <a:pt x="1397128" y="14410"/>
                </a:lnTo>
                <a:lnTo>
                  <a:pt x="1328322" y="18124"/>
                </a:lnTo>
                <a:lnTo>
                  <a:pt x="1260651" y="22235"/>
                </a:lnTo>
                <a:lnTo>
                  <a:pt x="1194166" y="26735"/>
                </a:lnTo>
                <a:lnTo>
                  <a:pt x="1128919" y="31615"/>
                </a:lnTo>
                <a:lnTo>
                  <a:pt x="1064960" y="36866"/>
                </a:lnTo>
                <a:lnTo>
                  <a:pt x="1002341" y="42480"/>
                </a:lnTo>
                <a:lnTo>
                  <a:pt x="941113" y="48450"/>
                </a:lnTo>
                <a:lnTo>
                  <a:pt x="881328" y="54766"/>
                </a:lnTo>
                <a:lnTo>
                  <a:pt x="823036" y="61420"/>
                </a:lnTo>
                <a:lnTo>
                  <a:pt x="766291" y="68403"/>
                </a:lnTo>
                <a:lnTo>
                  <a:pt x="711141" y="75707"/>
                </a:lnTo>
                <a:lnTo>
                  <a:pt x="657640" y="83325"/>
                </a:lnTo>
                <a:lnTo>
                  <a:pt x="605838" y="91246"/>
                </a:lnTo>
                <a:lnTo>
                  <a:pt x="555786" y="99463"/>
                </a:lnTo>
                <a:lnTo>
                  <a:pt x="507536" y="107968"/>
                </a:lnTo>
                <a:lnTo>
                  <a:pt x="461140" y="116751"/>
                </a:lnTo>
                <a:lnTo>
                  <a:pt x="416648" y="125806"/>
                </a:lnTo>
                <a:lnTo>
                  <a:pt x="374112" y="135122"/>
                </a:lnTo>
                <a:lnTo>
                  <a:pt x="333584" y="144692"/>
                </a:lnTo>
                <a:lnTo>
                  <a:pt x="295114" y="154507"/>
                </a:lnTo>
                <a:lnTo>
                  <a:pt x="224555" y="174840"/>
                </a:lnTo>
                <a:lnTo>
                  <a:pt x="162846" y="196052"/>
                </a:lnTo>
                <a:lnTo>
                  <a:pt x="110398" y="218078"/>
                </a:lnTo>
                <a:lnTo>
                  <a:pt x="67622" y="240848"/>
                </a:lnTo>
                <a:lnTo>
                  <a:pt x="34929" y="264296"/>
                </a:lnTo>
                <a:lnTo>
                  <a:pt x="5691" y="300591"/>
                </a:lnTo>
                <a:lnTo>
                  <a:pt x="0" y="325438"/>
                </a:lnTo>
                <a:lnTo>
                  <a:pt x="1431" y="337921"/>
                </a:lnTo>
                <a:lnTo>
                  <a:pt x="22491" y="374623"/>
                </a:lnTo>
                <a:lnTo>
                  <a:pt x="67622" y="410028"/>
                </a:lnTo>
                <a:lnTo>
                  <a:pt x="110398" y="432798"/>
                </a:lnTo>
                <a:lnTo>
                  <a:pt x="162846" y="454823"/>
                </a:lnTo>
                <a:lnTo>
                  <a:pt x="224555" y="476036"/>
                </a:lnTo>
                <a:lnTo>
                  <a:pt x="295114" y="496368"/>
                </a:lnTo>
                <a:lnTo>
                  <a:pt x="333584" y="506184"/>
                </a:lnTo>
                <a:lnTo>
                  <a:pt x="374112" y="515754"/>
                </a:lnTo>
                <a:lnTo>
                  <a:pt x="416648" y="525070"/>
                </a:lnTo>
                <a:lnTo>
                  <a:pt x="461140" y="534124"/>
                </a:lnTo>
                <a:lnTo>
                  <a:pt x="507536" y="542908"/>
                </a:lnTo>
                <a:lnTo>
                  <a:pt x="555786" y="551412"/>
                </a:lnTo>
                <a:lnTo>
                  <a:pt x="605838" y="559630"/>
                </a:lnTo>
                <a:lnTo>
                  <a:pt x="657640" y="567551"/>
                </a:lnTo>
                <a:lnTo>
                  <a:pt x="711141" y="575168"/>
                </a:lnTo>
                <a:lnTo>
                  <a:pt x="766291" y="582472"/>
                </a:lnTo>
                <a:lnTo>
                  <a:pt x="823036" y="589456"/>
                </a:lnTo>
                <a:lnTo>
                  <a:pt x="881328" y="596110"/>
                </a:lnTo>
                <a:lnTo>
                  <a:pt x="941113" y="602425"/>
                </a:lnTo>
                <a:lnTo>
                  <a:pt x="1002341" y="608395"/>
                </a:lnTo>
                <a:lnTo>
                  <a:pt x="1064960" y="614009"/>
                </a:lnTo>
                <a:lnTo>
                  <a:pt x="1128919" y="619261"/>
                </a:lnTo>
                <a:lnTo>
                  <a:pt x="1194166" y="624140"/>
                </a:lnTo>
                <a:lnTo>
                  <a:pt x="1260651" y="628640"/>
                </a:lnTo>
                <a:lnTo>
                  <a:pt x="1328322" y="632751"/>
                </a:lnTo>
                <a:lnTo>
                  <a:pt x="1397128" y="636465"/>
                </a:lnTo>
                <a:lnTo>
                  <a:pt x="1467016" y="639774"/>
                </a:lnTo>
                <a:lnTo>
                  <a:pt x="1537937" y="642669"/>
                </a:lnTo>
                <a:lnTo>
                  <a:pt x="1609838" y="645141"/>
                </a:lnTo>
                <a:lnTo>
                  <a:pt x="1682669" y="647183"/>
                </a:lnTo>
                <a:lnTo>
                  <a:pt x="1756378" y="648786"/>
                </a:lnTo>
                <a:lnTo>
                  <a:pt x="1830913" y="649941"/>
                </a:lnTo>
                <a:lnTo>
                  <a:pt x="1906223" y="650641"/>
                </a:lnTo>
                <a:lnTo>
                  <a:pt x="1982258" y="650876"/>
                </a:lnTo>
                <a:lnTo>
                  <a:pt x="2058292" y="650641"/>
                </a:lnTo>
                <a:lnTo>
                  <a:pt x="2133603" y="649941"/>
                </a:lnTo>
                <a:lnTo>
                  <a:pt x="2208138" y="648786"/>
                </a:lnTo>
                <a:lnTo>
                  <a:pt x="2281847" y="647183"/>
                </a:lnTo>
                <a:lnTo>
                  <a:pt x="2354678" y="645141"/>
                </a:lnTo>
                <a:lnTo>
                  <a:pt x="2426579" y="642669"/>
                </a:lnTo>
                <a:lnTo>
                  <a:pt x="2497500" y="639774"/>
                </a:lnTo>
                <a:lnTo>
                  <a:pt x="2567389" y="636465"/>
                </a:lnTo>
                <a:lnTo>
                  <a:pt x="2636194" y="632751"/>
                </a:lnTo>
                <a:lnTo>
                  <a:pt x="2703865" y="628640"/>
                </a:lnTo>
                <a:lnTo>
                  <a:pt x="2770350" y="624140"/>
                </a:lnTo>
                <a:lnTo>
                  <a:pt x="2835598" y="619261"/>
                </a:lnTo>
                <a:lnTo>
                  <a:pt x="2899557" y="614009"/>
                </a:lnTo>
                <a:lnTo>
                  <a:pt x="2962176" y="608395"/>
                </a:lnTo>
                <a:lnTo>
                  <a:pt x="3023403" y="602425"/>
                </a:lnTo>
                <a:lnTo>
                  <a:pt x="3083189" y="596110"/>
                </a:lnTo>
                <a:lnTo>
                  <a:pt x="3141480" y="589456"/>
                </a:lnTo>
                <a:lnTo>
                  <a:pt x="3198226" y="582472"/>
                </a:lnTo>
                <a:lnTo>
                  <a:pt x="3253375" y="575168"/>
                </a:lnTo>
                <a:lnTo>
                  <a:pt x="3306877" y="567551"/>
                </a:lnTo>
                <a:lnTo>
                  <a:pt x="3358679" y="559630"/>
                </a:lnTo>
                <a:lnTo>
                  <a:pt x="3408731" y="551412"/>
                </a:lnTo>
                <a:lnTo>
                  <a:pt x="3456980" y="542908"/>
                </a:lnTo>
                <a:lnTo>
                  <a:pt x="3503377" y="534124"/>
                </a:lnTo>
                <a:lnTo>
                  <a:pt x="3547868" y="525070"/>
                </a:lnTo>
                <a:lnTo>
                  <a:pt x="3590404" y="515754"/>
                </a:lnTo>
                <a:lnTo>
                  <a:pt x="3630933" y="506184"/>
                </a:lnTo>
                <a:lnTo>
                  <a:pt x="3669403" y="496368"/>
                </a:lnTo>
                <a:lnTo>
                  <a:pt x="3739962" y="476036"/>
                </a:lnTo>
                <a:lnTo>
                  <a:pt x="3801670" y="454823"/>
                </a:lnTo>
                <a:lnTo>
                  <a:pt x="3854118" y="432798"/>
                </a:lnTo>
                <a:lnTo>
                  <a:pt x="3896894" y="410028"/>
                </a:lnTo>
                <a:lnTo>
                  <a:pt x="3929588" y="386580"/>
                </a:lnTo>
                <a:lnTo>
                  <a:pt x="3958826" y="350285"/>
                </a:lnTo>
                <a:lnTo>
                  <a:pt x="3964517" y="325438"/>
                </a:lnTo>
                <a:lnTo>
                  <a:pt x="3963086" y="312955"/>
                </a:lnTo>
                <a:lnTo>
                  <a:pt x="3942025" y="276253"/>
                </a:lnTo>
                <a:lnTo>
                  <a:pt x="3896894" y="240848"/>
                </a:lnTo>
                <a:lnTo>
                  <a:pt x="3854118" y="218078"/>
                </a:lnTo>
                <a:lnTo>
                  <a:pt x="3801670" y="196052"/>
                </a:lnTo>
                <a:lnTo>
                  <a:pt x="3739962" y="174840"/>
                </a:lnTo>
                <a:lnTo>
                  <a:pt x="3669403" y="154507"/>
                </a:lnTo>
                <a:lnTo>
                  <a:pt x="3630933" y="144692"/>
                </a:lnTo>
                <a:lnTo>
                  <a:pt x="3590404" y="135122"/>
                </a:lnTo>
                <a:lnTo>
                  <a:pt x="3547868" y="125806"/>
                </a:lnTo>
                <a:lnTo>
                  <a:pt x="3503377" y="116751"/>
                </a:lnTo>
                <a:lnTo>
                  <a:pt x="3456980" y="107968"/>
                </a:lnTo>
                <a:lnTo>
                  <a:pt x="3408731" y="99463"/>
                </a:lnTo>
                <a:lnTo>
                  <a:pt x="3358679" y="91246"/>
                </a:lnTo>
                <a:lnTo>
                  <a:pt x="3306877" y="83325"/>
                </a:lnTo>
                <a:lnTo>
                  <a:pt x="3253375" y="75707"/>
                </a:lnTo>
                <a:lnTo>
                  <a:pt x="3198226" y="68403"/>
                </a:lnTo>
                <a:lnTo>
                  <a:pt x="3141480" y="61420"/>
                </a:lnTo>
                <a:lnTo>
                  <a:pt x="3083189" y="54766"/>
                </a:lnTo>
                <a:lnTo>
                  <a:pt x="3023403" y="48450"/>
                </a:lnTo>
                <a:lnTo>
                  <a:pt x="2962176" y="42480"/>
                </a:lnTo>
                <a:lnTo>
                  <a:pt x="2899557" y="36866"/>
                </a:lnTo>
                <a:lnTo>
                  <a:pt x="2835598" y="31615"/>
                </a:lnTo>
                <a:lnTo>
                  <a:pt x="2770350" y="26735"/>
                </a:lnTo>
                <a:lnTo>
                  <a:pt x="2703865" y="22235"/>
                </a:lnTo>
                <a:lnTo>
                  <a:pt x="2636194" y="18124"/>
                </a:lnTo>
                <a:lnTo>
                  <a:pt x="2567389" y="14410"/>
                </a:lnTo>
                <a:lnTo>
                  <a:pt x="2497500" y="11102"/>
                </a:lnTo>
                <a:lnTo>
                  <a:pt x="2426579" y="8207"/>
                </a:lnTo>
                <a:lnTo>
                  <a:pt x="2354678" y="5734"/>
                </a:lnTo>
                <a:lnTo>
                  <a:pt x="2281847" y="3692"/>
                </a:lnTo>
                <a:lnTo>
                  <a:pt x="2208138" y="2089"/>
                </a:lnTo>
                <a:lnTo>
                  <a:pt x="2133603" y="934"/>
                </a:lnTo>
                <a:lnTo>
                  <a:pt x="2058292" y="234"/>
                </a:lnTo>
                <a:lnTo>
                  <a:pt x="1982258" y="0"/>
                </a:lnTo>
                <a:close/>
              </a:path>
            </a:pathLst>
          </a:custGeom>
          <a:solidFill>
            <a:srgbClr val="7A4779"/>
          </a:solidFill>
        </p:spPr>
        <p:txBody>
          <a:bodyPr wrap="square" lIns="0" tIns="0" rIns="0" bIns="0" rtlCol="0"/>
          <a:lstStyle/>
          <a:p/>
        </p:txBody>
      </p:sp>
      <p:sp>
        <p:nvSpPr>
          <p:cNvPr id="20" name="object 16"/>
          <p:cNvSpPr/>
          <p:nvPr/>
        </p:nvSpPr>
        <p:spPr>
          <a:xfrm>
            <a:off x="660400" y="3618310"/>
            <a:ext cx="2973705" cy="488156"/>
          </a:xfrm>
          <a:custGeom>
            <a:avLst/>
            <a:gdLst/>
            <a:ahLst/>
            <a:cxnLst/>
            <a:rect l="l" t="t" r="r" b="b"/>
            <a:pathLst>
              <a:path w="3964940" h="650875">
                <a:moveTo>
                  <a:pt x="0" y="325437"/>
                </a:moveTo>
                <a:lnTo>
                  <a:pt x="12728" y="288353"/>
                </a:lnTo>
                <a:lnTo>
                  <a:pt x="49990" y="252491"/>
                </a:lnTo>
                <a:lnTo>
                  <a:pt x="87776" y="229373"/>
                </a:lnTo>
                <a:lnTo>
                  <a:pt x="135439" y="206967"/>
                </a:lnTo>
                <a:lnTo>
                  <a:pt x="192568" y="185340"/>
                </a:lnTo>
                <a:lnTo>
                  <a:pt x="258753" y="164559"/>
                </a:lnTo>
                <a:lnTo>
                  <a:pt x="333584" y="144692"/>
                </a:lnTo>
                <a:lnTo>
                  <a:pt x="374112" y="135122"/>
                </a:lnTo>
                <a:lnTo>
                  <a:pt x="416648" y="125806"/>
                </a:lnTo>
                <a:lnTo>
                  <a:pt x="461140" y="116751"/>
                </a:lnTo>
                <a:lnTo>
                  <a:pt x="507536" y="107968"/>
                </a:lnTo>
                <a:lnTo>
                  <a:pt x="555786" y="99463"/>
                </a:lnTo>
                <a:lnTo>
                  <a:pt x="605837" y="91246"/>
                </a:lnTo>
                <a:lnTo>
                  <a:pt x="657640" y="83324"/>
                </a:lnTo>
                <a:lnTo>
                  <a:pt x="711141" y="75707"/>
                </a:lnTo>
                <a:lnTo>
                  <a:pt x="766290" y="68403"/>
                </a:lnTo>
                <a:lnTo>
                  <a:pt x="823036" y="61420"/>
                </a:lnTo>
                <a:lnTo>
                  <a:pt x="881328" y="54766"/>
                </a:lnTo>
                <a:lnTo>
                  <a:pt x="941113" y="48450"/>
                </a:lnTo>
                <a:lnTo>
                  <a:pt x="1002341" y="42481"/>
                </a:lnTo>
                <a:lnTo>
                  <a:pt x="1064960" y="36866"/>
                </a:lnTo>
                <a:lnTo>
                  <a:pt x="1128919" y="31615"/>
                </a:lnTo>
                <a:lnTo>
                  <a:pt x="1194166" y="26735"/>
                </a:lnTo>
                <a:lnTo>
                  <a:pt x="1260651" y="22235"/>
                </a:lnTo>
                <a:lnTo>
                  <a:pt x="1328322" y="18124"/>
                </a:lnTo>
                <a:lnTo>
                  <a:pt x="1397128" y="14410"/>
                </a:lnTo>
                <a:lnTo>
                  <a:pt x="1467016" y="11102"/>
                </a:lnTo>
                <a:lnTo>
                  <a:pt x="1537937" y="8207"/>
                </a:lnTo>
                <a:lnTo>
                  <a:pt x="1609838" y="5734"/>
                </a:lnTo>
                <a:lnTo>
                  <a:pt x="1682669" y="3692"/>
                </a:lnTo>
                <a:lnTo>
                  <a:pt x="1756378" y="2089"/>
                </a:lnTo>
                <a:lnTo>
                  <a:pt x="1830913" y="934"/>
                </a:lnTo>
                <a:lnTo>
                  <a:pt x="1906223" y="234"/>
                </a:lnTo>
                <a:lnTo>
                  <a:pt x="1982258" y="0"/>
                </a:lnTo>
                <a:lnTo>
                  <a:pt x="2058292" y="234"/>
                </a:lnTo>
                <a:lnTo>
                  <a:pt x="2133603" y="934"/>
                </a:lnTo>
                <a:lnTo>
                  <a:pt x="2208138" y="2089"/>
                </a:lnTo>
                <a:lnTo>
                  <a:pt x="2281847" y="3692"/>
                </a:lnTo>
                <a:lnTo>
                  <a:pt x="2354677" y="5734"/>
                </a:lnTo>
                <a:lnTo>
                  <a:pt x="2426579" y="8207"/>
                </a:lnTo>
                <a:lnTo>
                  <a:pt x="2497499" y="11102"/>
                </a:lnTo>
                <a:lnTo>
                  <a:pt x="2567388" y="14410"/>
                </a:lnTo>
                <a:lnTo>
                  <a:pt x="2636194" y="18124"/>
                </a:lnTo>
                <a:lnTo>
                  <a:pt x="2703865" y="22235"/>
                </a:lnTo>
                <a:lnTo>
                  <a:pt x="2770350" y="26735"/>
                </a:lnTo>
                <a:lnTo>
                  <a:pt x="2835597" y="31615"/>
                </a:lnTo>
                <a:lnTo>
                  <a:pt x="2899556" y="36866"/>
                </a:lnTo>
                <a:lnTo>
                  <a:pt x="2962175" y="42481"/>
                </a:lnTo>
                <a:lnTo>
                  <a:pt x="3023403" y="48450"/>
                </a:lnTo>
                <a:lnTo>
                  <a:pt x="3083188" y="54766"/>
                </a:lnTo>
                <a:lnTo>
                  <a:pt x="3141479" y="61420"/>
                </a:lnTo>
                <a:lnTo>
                  <a:pt x="3198225" y="68403"/>
                </a:lnTo>
                <a:lnTo>
                  <a:pt x="3253375" y="75707"/>
                </a:lnTo>
                <a:lnTo>
                  <a:pt x="3306876" y="83324"/>
                </a:lnTo>
                <a:lnTo>
                  <a:pt x="3358678" y="91246"/>
                </a:lnTo>
                <a:lnTo>
                  <a:pt x="3408730" y="99463"/>
                </a:lnTo>
                <a:lnTo>
                  <a:pt x="3456980" y="107968"/>
                </a:lnTo>
                <a:lnTo>
                  <a:pt x="3503376" y="116751"/>
                </a:lnTo>
                <a:lnTo>
                  <a:pt x="3547868" y="125806"/>
                </a:lnTo>
                <a:lnTo>
                  <a:pt x="3590404" y="135122"/>
                </a:lnTo>
                <a:lnTo>
                  <a:pt x="3630932" y="144692"/>
                </a:lnTo>
                <a:lnTo>
                  <a:pt x="3669402" y="154507"/>
                </a:lnTo>
                <a:lnTo>
                  <a:pt x="3739961" y="174840"/>
                </a:lnTo>
                <a:lnTo>
                  <a:pt x="3801670" y="196052"/>
                </a:lnTo>
                <a:lnTo>
                  <a:pt x="3854118" y="218077"/>
                </a:lnTo>
                <a:lnTo>
                  <a:pt x="3896893" y="240847"/>
                </a:lnTo>
                <a:lnTo>
                  <a:pt x="3929587" y="264295"/>
                </a:lnTo>
                <a:lnTo>
                  <a:pt x="3958825" y="300590"/>
                </a:lnTo>
                <a:lnTo>
                  <a:pt x="3964516" y="325437"/>
                </a:lnTo>
                <a:lnTo>
                  <a:pt x="3963085" y="337920"/>
                </a:lnTo>
                <a:lnTo>
                  <a:pt x="3942025" y="374622"/>
                </a:lnTo>
                <a:lnTo>
                  <a:pt x="3896893" y="410027"/>
                </a:lnTo>
                <a:lnTo>
                  <a:pt x="3854118" y="432797"/>
                </a:lnTo>
                <a:lnTo>
                  <a:pt x="3801670" y="454823"/>
                </a:lnTo>
                <a:lnTo>
                  <a:pt x="3739961" y="476035"/>
                </a:lnTo>
                <a:lnTo>
                  <a:pt x="3669402" y="496368"/>
                </a:lnTo>
                <a:lnTo>
                  <a:pt x="3630932" y="506183"/>
                </a:lnTo>
                <a:lnTo>
                  <a:pt x="3590404" y="515753"/>
                </a:lnTo>
                <a:lnTo>
                  <a:pt x="3547868" y="525069"/>
                </a:lnTo>
                <a:lnTo>
                  <a:pt x="3503376" y="534123"/>
                </a:lnTo>
                <a:lnTo>
                  <a:pt x="3456980" y="542907"/>
                </a:lnTo>
                <a:lnTo>
                  <a:pt x="3408730" y="551412"/>
                </a:lnTo>
                <a:lnTo>
                  <a:pt x="3358678" y="559629"/>
                </a:lnTo>
                <a:lnTo>
                  <a:pt x="3306876" y="567550"/>
                </a:lnTo>
                <a:lnTo>
                  <a:pt x="3253375" y="575167"/>
                </a:lnTo>
                <a:lnTo>
                  <a:pt x="3198225" y="582472"/>
                </a:lnTo>
                <a:lnTo>
                  <a:pt x="3141479" y="589455"/>
                </a:lnTo>
                <a:lnTo>
                  <a:pt x="3083188" y="596109"/>
                </a:lnTo>
                <a:lnTo>
                  <a:pt x="3023403" y="602425"/>
                </a:lnTo>
                <a:lnTo>
                  <a:pt x="2962175" y="608394"/>
                </a:lnTo>
                <a:lnTo>
                  <a:pt x="2899556" y="614009"/>
                </a:lnTo>
                <a:lnTo>
                  <a:pt x="2835597" y="619260"/>
                </a:lnTo>
                <a:lnTo>
                  <a:pt x="2770350" y="624140"/>
                </a:lnTo>
                <a:lnTo>
                  <a:pt x="2703865" y="628639"/>
                </a:lnTo>
                <a:lnTo>
                  <a:pt x="2636194" y="632750"/>
                </a:lnTo>
                <a:lnTo>
                  <a:pt x="2567388" y="636465"/>
                </a:lnTo>
                <a:lnTo>
                  <a:pt x="2497499" y="639773"/>
                </a:lnTo>
                <a:lnTo>
                  <a:pt x="2426579" y="642668"/>
                </a:lnTo>
                <a:lnTo>
                  <a:pt x="2354677" y="645141"/>
                </a:lnTo>
                <a:lnTo>
                  <a:pt x="2281847" y="647183"/>
                </a:lnTo>
                <a:lnTo>
                  <a:pt x="2208138" y="648786"/>
                </a:lnTo>
                <a:lnTo>
                  <a:pt x="2133603" y="649941"/>
                </a:lnTo>
                <a:lnTo>
                  <a:pt x="2058292" y="650640"/>
                </a:lnTo>
                <a:lnTo>
                  <a:pt x="1982258" y="650875"/>
                </a:lnTo>
                <a:lnTo>
                  <a:pt x="1906223" y="650640"/>
                </a:lnTo>
                <a:lnTo>
                  <a:pt x="1830913" y="649941"/>
                </a:lnTo>
                <a:lnTo>
                  <a:pt x="1756378" y="648786"/>
                </a:lnTo>
                <a:lnTo>
                  <a:pt x="1682669" y="647183"/>
                </a:lnTo>
                <a:lnTo>
                  <a:pt x="1609838" y="645141"/>
                </a:lnTo>
                <a:lnTo>
                  <a:pt x="1537937" y="642668"/>
                </a:lnTo>
                <a:lnTo>
                  <a:pt x="1467016" y="639773"/>
                </a:lnTo>
                <a:lnTo>
                  <a:pt x="1397128" y="636465"/>
                </a:lnTo>
                <a:lnTo>
                  <a:pt x="1328322" y="632750"/>
                </a:lnTo>
                <a:lnTo>
                  <a:pt x="1260651" y="628639"/>
                </a:lnTo>
                <a:lnTo>
                  <a:pt x="1194166" y="624140"/>
                </a:lnTo>
                <a:lnTo>
                  <a:pt x="1128919" y="619260"/>
                </a:lnTo>
                <a:lnTo>
                  <a:pt x="1064960" y="614009"/>
                </a:lnTo>
                <a:lnTo>
                  <a:pt x="1002341" y="608394"/>
                </a:lnTo>
                <a:lnTo>
                  <a:pt x="941113" y="602425"/>
                </a:lnTo>
                <a:lnTo>
                  <a:pt x="881328" y="596109"/>
                </a:lnTo>
                <a:lnTo>
                  <a:pt x="823036" y="589455"/>
                </a:lnTo>
                <a:lnTo>
                  <a:pt x="766290" y="582472"/>
                </a:lnTo>
                <a:lnTo>
                  <a:pt x="711141" y="575167"/>
                </a:lnTo>
                <a:lnTo>
                  <a:pt x="657640" y="567550"/>
                </a:lnTo>
                <a:lnTo>
                  <a:pt x="605837" y="559629"/>
                </a:lnTo>
                <a:lnTo>
                  <a:pt x="555786" y="551412"/>
                </a:lnTo>
                <a:lnTo>
                  <a:pt x="507536" y="542907"/>
                </a:lnTo>
                <a:lnTo>
                  <a:pt x="461140" y="534123"/>
                </a:lnTo>
                <a:lnTo>
                  <a:pt x="416648" y="525069"/>
                </a:lnTo>
                <a:lnTo>
                  <a:pt x="374112" y="515753"/>
                </a:lnTo>
                <a:lnTo>
                  <a:pt x="333584" y="506183"/>
                </a:lnTo>
                <a:lnTo>
                  <a:pt x="295114" y="496368"/>
                </a:lnTo>
                <a:lnTo>
                  <a:pt x="224555" y="476035"/>
                </a:lnTo>
                <a:lnTo>
                  <a:pt x="162846" y="454823"/>
                </a:lnTo>
                <a:lnTo>
                  <a:pt x="110398" y="432797"/>
                </a:lnTo>
                <a:lnTo>
                  <a:pt x="67622" y="410027"/>
                </a:lnTo>
                <a:lnTo>
                  <a:pt x="34929" y="386579"/>
                </a:lnTo>
                <a:lnTo>
                  <a:pt x="5691" y="350284"/>
                </a:lnTo>
                <a:lnTo>
                  <a:pt x="0" y="325437"/>
                </a:lnTo>
                <a:close/>
              </a:path>
            </a:pathLst>
          </a:custGeom>
          <a:ln w="28574">
            <a:solidFill>
              <a:srgbClr val="000000"/>
            </a:solidFill>
          </a:ln>
        </p:spPr>
        <p:txBody>
          <a:bodyPr wrap="square" lIns="0" tIns="0" rIns="0" bIns="0" rtlCol="0"/>
          <a:lstStyle/>
          <a:p/>
        </p:txBody>
      </p:sp>
      <p:sp>
        <p:nvSpPr>
          <p:cNvPr id="21" name="object 17"/>
          <p:cNvSpPr/>
          <p:nvPr/>
        </p:nvSpPr>
        <p:spPr>
          <a:xfrm>
            <a:off x="4308252" y="2114550"/>
            <a:ext cx="220504" cy="170974"/>
          </a:xfrm>
          <a:custGeom>
            <a:avLst/>
            <a:gdLst/>
            <a:ahLst/>
            <a:cxnLst/>
            <a:rect l="l" t="t" r="r" b="b"/>
            <a:pathLst>
              <a:path w="294004" h="227964">
                <a:moveTo>
                  <a:pt x="0" y="113829"/>
                </a:moveTo>
                <a:lnTo>
                  <a:pt x="11546" y="69521"/>
                </a:lnTo>
                <a:lnTo>
                  <a:pt x="43034" y="33339"/>
                </a:lnTo>
                <a:lnTo>
                  <a:pt x="89737" y="8945"/>
                </a:lnTo>
                <a:lnTo>
                  <a:pt x="146928" y="0"/>
                </a:lnTo>
                <a:lnTo>
                  <a:pt x="204120" y="8945"/>
                </a:lnTo>
                <a:lnTo>
                  <a:pt x="250823" y="33339"/>
                </a:lnTo>
                <a:lnTo>
                  <a:pt x="282311" y="69521"/>
                </a:lnTo>
                <a:lnTo>
                  <a:pt x="293858" y="113829"/>
                </a:lnTo>
                <a:lnTo>
                  <a:pt x="282311" y="158136"/>
                </a:lnTo>
                <a:lnTo>
                  <a:pt x="250823" y="194318"/>
                </a:lnTo>
                <a:lnTo>
                  <a:pt x="204120" y="218712"/>
                </a:lnTo>
                <a:lnTo>
                  <a:pt x="146928" y="227657"/>
                </a:lnTo>
                <a:lnTo>
                  <a:pt x="89737" y="218712"/>
                </a:lnTo>
                <a:lnTo>
                  <a:pt x="43034" y="194318"/>
                </a:lnTo>
                <a:lnTo>
                  <a:pt x="11546" y="158136"/>
                </a:lnTo>
                <a:lnTo>
                  <a:pt x="0" y="113829"/>
                </a:lnTo>
                <a:close/>
              </a:path>
            </a:pathLst>
          </a:custGeom>
          <a:ln w="28574">
            <a:solidFill>
              <a:srgbClr val="000000"/>
            </a:solidFill>
          </a:ln>
        </p:spPr>
        <p:txBody>
          <a:bodyPr wrap="square" lIns="0" tIns="0" rIns="0" bIns="0" rtlCol="0"/>
          <a:lstStyle/>
          <a:p/>
        </p:txBody>
      </p:sp>
      <p:sp>
        <p:nvSpPr>
          <p:cNvPr id="22" name="object 18"/>
          <p:cNvSpPr/>
          <p:nvPr/>
        </p:nvSpPr>
        <p:spPr>
          <a:xfrm>
            <a:off x="4418447" y="2286669"/>
            <a:ext cx="0" cy="160020"/>
          </a:xfrm>
          <a:custGeom>
            <a:avLst/>
            <a:gdLst/>
            <a:ahLst/>
            <a:cxnLst/>
            <a:rect l="l" t="t" r="r" b="b"/>
            <a:pathLst>
              <a:path h="213360">
                <a:moveTo>
                  <a:pt x="0" y="0"/>
                </a:moveTo>
                <a:lnTo>
                  <a:pt x="0" y="212968"/>
                </a:lnTo>
              </a:path>
            </a:pathLst>
          </a:custGeom>
          <a:ln w="3175">
            <a:solidFill>
              <a:srgbClr val="FFFFFF"/>
            </a:solidFill>
          </a:ln>
        </p:spPr>
        <p:txBody>
          <a:bodyPr wrap="square" lIns="0" tIns="0" rIns="0" bIns="0" rtlCol="0"/>
          <a:lstStyle/>
          <a:p/>
        </p:txBody>
      </p:sp>
      <p:sp>
        <p:nvSpPr>
          <p:cNvPr id="23" name="object 19"/>
          <p:cNvSpPr/>
          <p:nvPr/>
        </p:nvSpPr>
        <p:spPr>
          <a:xfrm>
            <a:off x="4418012" y="2286669"/>
            <a:ext cx="953" cy="160020"/>
          </a:xfrm>
          <a:custGeom>
            <a:avLst/>
            <a:gdLst/>
            <a:ahLst/>
            <a:cxnLst/>
            <a:rect l="l" t="t" r="r" b="b"/>
            <a:pathLst>
              <a:path w="1270" h="213360">
                <a:moveTo>
                  <a:pt x="580" y="-14287"/>
                </a:moveTo>
                <a:lnTo>
                  <a:pt x="580" y="227256"/>
                </a:lnTo>
              </a:path>
            </a:pathLst>
          </a:custGeom>
          <a:ln w="29736">
            <a:solidFill>
              <a:srgbClr val="000000"/>
            </a:solidFill>
          </a:ln>
        </p:spPr>
        <p:txBody>
          <a:bodyPr wrap="square" lIns="0" tIns="0" rIns="0" bIns="0" rtlCol="0"/>
          <a:lstStyle/>
          <a:p/>
        </p:txBody>
      </p:sp>
      <p:sp>
        <p:nvSpPr>
          <p:cNvPr id="24" name="object 20"/>
          <p:cNvSpPr/>
          <p:nvPr/>
        </p:nvSpPr>
        <p:spPr>
          <a:xfrm>
            <a:off x="4243788" y="2331765"/>
            <a:ext cx="349568" cy="0"/>
          </a:xfrm>
          <a:custGeom>
            <a:avLst/>
            <a:gdLst/>
            <a:ahLst/>
            <a:cxnLst/>
            <a:rect l="l" t="t" r="r" b="b"/>
            <a:pathLst>
              <a:path w="466089">
                <a:moveTo>
                  <a:pt x="0" y="0"/>
                </a:moveTo>
                <a:lnTo>
                  <a:pt x="465758" y="0"/>
                </a:lnTo>
              </a:path>
            </a:pathLst>
          </a:custGeom>
          <a:ln w="3175">
            <a:solidFill>
              <a:srgbClr val="FFFFFF"/>
            </a:solidFill>
          </a:ln>
        </p:spPr>
        <p:txBody>
          <a:bodyPr wrap="square" lIns="0" tIns="0" rIns="0" bIns="0" rtlCol="0"/>
          <a:lstStyle/>
          <a:p/>
        </p:txBody>
      </p:sp>
      <p:sp>
        <p:nvSpPr>
          <p:cNvPr id="25" name="object 21"/>
          <p:cNvSpPr/>
          <p:nvPr/>
        </p:nvSpPr>
        <p:spPr>
          <a:xfrm>
            <a:off x="4243788" y="2331421"/>
            <a:ext cx="349568" cy="953"/>
          </a:xfrm>
          <a:custGeom>
            <a:avLst/>
            <a:gdLst/>
            <a:ahLst/>
            <a:cxnLst/>
            <a:rect l="l" t="t" r="r" b="b"/>
            <a:pathLst>
              <a:path w="466089" h="1269">
                <a:moveTo>
                  <a:pt x="0" y="0"/>
                </a:moveTo>
                <a:lnTo>
                  <a:pt x="465758" y="918"/>
                </a:lnTo>
              </a:path>
            </a:pathLst>
          </a:custGeom>
          <a:ln w="28574">
            <a:solidFill>
              <a:srgbClr val="000000"/>
            </a:solidFill>
          </a:ln>
        </p:spPr>
        <p:txBody>
          <a:bodyPr wrap="square" lIns="0" tIns="0" rIns="0" bIns="0" rtlCol="0"/>
          <a:lstStyle/>
          <a:p/>
        </p:txBody>
      </p:sp>
      <p:sp>
        <p:nvSpPr>
          <p:cNvPr id="26" name="object 22"/>
          <p:cNvSpPr/>
          <p:nvPr/>
        </p:nvSpPr>
        <p:spPr>
          <a:xfrm>
            <a:off x="4176712" y="2446396"/>
            <a:ext cx="482918" cy="187643"/>
          </a:xfrm>
          <a:custGeom>
            <a:avLst/>
            <a:gdLst/>
            <a:ahLst/>
            <a:cxnLst/>
            <a:rect l="l" t="t" r="r" b="b"/>
            <a:pathLst>
              <a:path w="643889" h="250189">
                <a:moveTo>
                  <a:pt x="321732" y="0"/>
                </a:moveTo>
                <a:lnTo>
                  <a:pt x="0" y="249687"/>
                </a:lnTo>
                <a:lnTo>
                  <a:pt x="643467" y="249687"/>
                </a:lnTo>
                <a:lnTo>
                  <a:pt x="321732" y="0"/>
                </a:lnTo>
                <a:close/>
              </a:path>
            </a:pathLst>
          </a:custGeom>
          <a:solidFill>
            <a:srgbClr val="FFFFFF"/>
          </a:solidFill>
        </p:spPr>
        <p:txBody>
          <a:bodyPr wrap="square" lIns="0" tIns="0" rIns="0" bIns="0" rtlCol="0"/>
          <a:lstStyle/>
          <a:p/>
        </p:txBody>
      </p:sp>
      <p:sp>
        <p:nvSpPr>
          <p:cNvPr id="27" name="object 23"/>
          <p:cNvSpPr/>
          <p:nvPr/>
        </p:nvSpPr>
        <p:spPr>
          <a:xfrm>
            <a:off x="4176712" y="2446396"/>
            <a:ext cx="482918" cy="187643"/>
          </a:xfrm>
          <a:custGeom>
            <a:avLst/>
            <a:gdLst/>
            <a:ahLst/>
            <a:cxnLst/>
            <a:rect l="l" t="t" r="r" b="b"/>
            <a:pathLst>
              <a:path w="643889" h="250189">
                <a:moveTo>
                  <a:pt x="0" y="249687"/>
                </a:moveTo>
                <a:lnTo>
                  <a:pt x="321733" y="0"/>
                </a:lnTo>
                <a:lnTo>
                  <a:pt x="643466" y="249687"/>
                </a:lnTo>
              </a:path>
            </a:pathLst>
          </a:custGeom>
          <a:ln w="28574">
            <a:solidFill>
              <a:srgbClr val="000000"/>
            </a:solidFill>
          </a:ln>
        </p:spPr>
        <p:txBody>
          <a:bodyPr wrap="square" lIns="0" tIns="0" rIns="0" bIns="0" rtlCol="0"/>
          <a:lstStyle/>
          <a:p/>
        </p:txBody>
      </p:sp>
      <p:sp>
        <p:nvSpPr>
          <p:cNvPr id="28" name="object 24"/>
          <p:cNvSpPr/>
          <p:nvPr/>
        </p:nvSpPr>
        <p:spPr>
          <a:xfrm>
            <a:off x="4032030" y="2570238"/>
            <a:ext cx="702469" cy="405289"/>
          </a:xfrm>
          <a:custGeom>
            <a:avLst/>
            <a:gdLst/>
            <a:ahLst/>
            <a:cxnLst/>
            <a:rect l="l" t="t" r="r" b="b"/>
            <a:pathLst>
              <a:path w="936625" h="540385">
                <a:moveTo>
                  <a:pt x="936155" y="0"/>
                </a:moveTo>
                <a:lnTo>
                  <a:pt x="0" y="0"/>
                </a:lnTo>
                <a:lnTo>
                  <a:pt x="0" y="539890"/>
                </a:lnTo>
                <a:lnTo>
                  <a:pt x="936155" y="539890"/>
                </a:lnTo>
                <a:lnTo>
                  <a:pt x="936155" y="0"/>
                </a:lnTo>
                <a:close/>
              </a:path>
            </a:pathLst>
          </a:custGeom>
          <a:solidFill>
            <a:srgbClr val="FFFFFF"/>
          </a:solidFill>
        </p:spPr>
        <p:txBody>
          <a:bodyPr wrap="square" lIns="0" tIns="0" rIns="0" bIns="0" rtlCol="0"/>
          <a:lstStyle/>
          <a:p/>
        </p:txBody>
      </p:sp>
      <p:sp>
        <p:nvSpPr>
          <p:cNvPr id="29" name="object 25"/>
          <p:cNvSpPr txBox="1"/>
          <p:nvPr/>
        </p:nvSpPr>
        <p:spPr>
          <a:xfrm>
            <a:off x="4103467" y="2601194"/>
            <a:ext cx="552450" cy="332105"/>
          </a:xfrm>
          <a:prstGeom prst="rect">
            <a:avLst/>
          </a:prstGeom>
        </p:spPr>
        <p:txBody>
          <a:bodyPr vert="horz" wrap="square" lIns="0" tIns="9525" rIns="0" bIns="0" rtlCol="0">
            <a:spAutoFit/>
          </a:bodyPr>
          <a:lstStyle/>
          <a:p>
            <a:pPr marL="9525">
              <a:spcBef>
                <a:spcPts val="75"/>
              </a:spcBef>
              <a:spcAft>
                <a:spcPts val="0"/>
              </a:spcAft>
            </a:pPr>
            <a:r>
              <a:rPr sz="2100" dirty="0">
                <a:latin typeface="宋体" panose="02010600030101010101" pitchFamily="2" charset="-122"/>
                <a:cs typeface="宋体" panose="02010600030101010101" pitchFamily="2" charset="-122"/>
              </a:rPr>
              <a:t>顾客</a:t>
            </a:r>
            <a:endParaRPr sz="2100">
              <a:latin typeface="宋体" panose="02010600030101010101" pitchFamily="2" charset="-122"/>
              <a:cs typeface="宋体" panose="02010600030101010101" pitchFamily="2" charset="-122"/>
            </a:endParaRPr>
          </a:p>
        </p:txBody>
      </p:sp>
      <p:sp>
        <p:nvSpPr>
          <p:cNvPr id="30" name="object 26"/>
          <p:cNvSpPr/>
          <p:nvPr/>
        </p:nvSpPr>
        <p:spPr>
          <a:xfrm>
            <a:off x="4011612" y="4062412"/>
            <a:ext cx="3148013" cy="509588"/>
          </a:xfrm>
          <a:custGeom>
            <a:avLst/>
            <a:gdLst/>
            <a:ahLst/>
            <a:cxnLst/>
            <a:rect l="l" t="t" r="r" b="b"/>
            <a:pathLst>
              <a:path w="4197350" h="679450">
                <a:moveTo>
                  <a:pt x="2098675" y="0"/>
                </a:moveTo>
                <a:lnTo>
                  <a:pt x="2021736" y="224"/>
                </a:lnTo>
                <a:lnTo>
                  <a:pt x="1945496" y="891"/>
                </a:lnTo>
                <a:lnTo>
                  <a:pt x="1870001" y="1993"/>
                </a:lnTo>
                <a:lnTo>
                  <a:pt x="1795298" y="3523"/>
                </a:lnTo>
                <a:lnTo>
                  <a:pt x="1721435" y="5473"/>
                </a:lnTo>
                <a:lnTo>
                  <a:pt x="1648459" y="7835"/>
                </a:lnTo>
                <a:lnTo>
                  <a:pt x="1576418" y="10602"/>
                </a:lnTo>
                <a:lnTo>
                  <a:pt x="1505360" y="13766"/>
                </a:lnTo>
                <a:lnTo>
                  <a:pt x="1435331" y="17319"/>
                </a:lnTo>
                <a:lnTo>
                  <a:pt x="1366379" y="21254"/>
                </a:lnTo>
                <a:lnTo>
                  <a:pt x="1298551" y="25562"/>
                </a:lnTo>
                <a:lnTo>
                  <a:pt x="1231895" y="30237"/>
                </a:lnTo>
                <a:lnTo>
                  <a:pt x="1166459" y="35270"/>
                </a:lnTo>
                <a:lnTo>
                  <a:pt x="1102289" y="40655"/>
                </a:lnTo>
                <a:lnTo>
                  <a:pt x="1039433" y="46382"/>
                </a:lnTo>
                <a:lnTo>
                  <a:pt x="977938" y="52445"/>
                </a:lnTo>
                <a:lnTo>
                  <a:pt x="917853" y="58836"/>
                </a:lnTo>
                <a:lnTo>
                  <a:pt x="859224" y="65547"/>
                </a:lnTo>
                <a:lnTo>
                  <a:pt x="802099" y="72570"/>
                </a:lnTo>
                <a:lnTo>
                  <a:pt x="746525" y="79899"/>
                </a:lnTo>
                <a:lnTo>
                  <a:pt x="692549" y="87524"/>
                </a:lnTo>
                <a:lnTo>
                  <a:pt x="640220" y="95439"/>
                </a:lnTo>
                <a:lnTo>
                  <a:pt x="589584" y="103636"/>
                </a:lnTo>
                <a:lnTo>
                  <a:pt x="540688" y="112107"/>
                </a:lnTo>
                <a:lnTo>
                  <a:pt x="493581" y="120844"/>
                </a:lnTo>
                <a:lnTo>
                  <a:pt x="448310" y="129840"/>
                </a:lnTo>
                <a:lnTo>
                  <a:pt x="404922" y="139087"/>
                </a:lnTo>
                <a:lnTo>
                  <a:pt x="363464" y="148578"/>
                </a:lnTo>
                <a:lnTo>
                  <a:pt x="323984" y="158304"/>
                </a:lnTo>
                <a:lnTo>
                  <a:pt x="286530" y="168259"/>
                </a:lnTo>
                <a:lnTo>
                  <a:pt x="217887" y="188821"/>
                </a:lnTo>
                <a:lnTo>
                  <a:pt x="157914" y="210204"/>
                </a:lnTo>
                <a:lnTo>
                  <a:pt x="106991" y="232345"/>
                </a:lnTo>
                <a:lnTo>
                  <a:pt x="65497" y="255184"/>
                </a:lnTo>
                <a:lnTo>
                  <a:pt x="33812" y="278659"/>
                </a:lnTo>
                <a:lnTo>
                  <a:pt x="5504" y="314929"/>
                </a:lnTo>
                <a:lnTo>
                  <a:pt x="0" y="339725"/>
                </a:lnTo>
                <a:lnTo>
                  <a:pt x="1384" y="352179"/>
                </a:lnTo>
                <a:lnTo>
                  <a:pt x="21766" y="388834"/>
                </a:lnTo>
                <a:lnTo>
                  <a:pt x="65497" y="424265"/>
                </a:lnTo>
                <a:lnTo>
                  <a:pt x="106991" y="447104"/>
                </a:lnTo>
                <a:lnTo>
                  <a:pt x="157914" y="469245"/>
                </a:lnTo>
                <a:lnTo>
                  <a:pt x="217887" y="490628"/>
                </a:lnTo>
                <a:lnTo>
                  <a:pt x="286530" y="511190"/>
                </a:lnTo>
                <a:lnTo>
                  <a:pt x="323984" y="521145"/>
                </a:lnTo>
                <a:lnTo>
                  <a:pt x="363464" y="530871"/>
                </a:lnTo>
                <a:lnTo>
                  <a:pt x="404922" y="540362"/>
                </a:lnTo>
                <a:lnTo>
                  <a:pt x="448310" y="549609"/>
                </a:lnTo>
                <a:lnTo>
                  <a:pt x="493581" y="558605"/>
                </a:lnTo>
                <a:lnTo>
                  <a:pt x="540688" y="567342"/>
                </a:lnTo>
                <a:lnTo>
                  <a:pt x="589584" y="575813"/>
                </a:lnTo>
                <a:lnTo>
                  <a:pt x="640220" y="584010"/>
                </a:lnTo>
                <a:lnTo>
                  <a:pt x="692549" y="591925"/>
                </a:lnTo>
                <a:lnTo>
                  <a:pt x="746525" y="599550"/>
                </a:lnTo>
                <a:lnTo>
                  <a:pt x="802099" y="606879"/>
                </a:lnTo>
                <a:lnTo>
                  <a:pt x="859224" y="613902"/>
                </a:lnTo>
                <a:lnTo>
                  <a:pt x="917853" y="620613"/>
                </a:lnTo>
                <a:lnTo>
                  <a:pt x="977938" y="627004"/>
                </a:lnTo>
                <a:lnTo>
                  <a:pt x="1039433" y="633067"/>
                </a:lnTo>
                <a:lnTo>
                  <a:pt x="1102289" y="638795"/>
                </a:lnTo>
                <a:lnTo>
                  <a:pt x="1166459" y="644179"/>
                </a:lnTo>
                <a:lnTo>
                  <a:pt x="1231895" y="649212"/>
                </a:lnTo>
                <a:lnTo>
                  <a:pt x="1298551" y="653887"/>
                </a:lnTo>
                <a:lnTo>
                  <a:pt x="1366379" y="658195"/>
                </a:lnTo>
                <a:lnTo>
                  <a:pt x="1435331" y="662130"/>
                </a:lnTo>
                <a:lnTo>
                  <a:pt x="1505360" y="665683"/>
                </a:lnTo>
                <a:lnTo>
                  <a:pt x="1576418" y="668847"/>
                </a:lnTo>
                <a:lnTo>
                  <a:pt x="1648459" y="671614"/>
                </a:lnTo>
                <a:lnTo>
                  <a:pt x="1721435" y="673976"/>
                </a:lnTo>
                <a:lnTo>
                  <a:pt x="1795298" y="675926"/>
                </a:lnTo>
                <a:lnTo>
                  <a:pt x="1870001" y="677456"/>
                </a:lnTo>
                <a:lnTo>
                  <a:pt x="1945496" y="678558"/>
                </a:lnTo>
                <a:lnTo>
                  <a:pt x="2021736" y="679225"/>
                </a:lnTo>
                <a:lnTo>
                  <a:pt x="2098675" y="679450"/>
                </a:lnTo>
                <a:lnTo>
                  <a:pt x="2175613" y="679225"/>
                </a:lnTo>
                <a:lnTo>
                  <a:pt x="2251853" y="678558"/>
                </a:lnTo>
                <a:lnTo>
                  <a:pt x="2327348" y="677456"/>
                </a:lnTo>
                <a:lnTo>
                  <a:pt x="2402051" y="675926"/>
                </a:lnTo>
                <a:lnTo>
                  <a:pt x="2475914" y="673976"/>
                </a:lnTo>
                <a:lnTo>
                  <a:pt x="2548890" y="671614"/>
                </a:lnTo>
                <a:lnTo>
                  <a:pt x="2620931" y="668847"/>
                </a:lnTo>
                <a:lnTo>
                  <a:pt x="2691989" y="665683"/>
                </a:lnTo>
                <a:lnTo>
                  <a:pt x="2762018" y="662130"/>
                </a:lnTo>
                <a:lnTo>
                  <a:pt x="2830970" y="658195"/>
                </a:lnTo>
                <a:lnTo>
                  <a:pt x="2898798" y="653887"/>
                </a:lnTo>
                <a:lnTo>
                  <a:pt x="2965454" y="649212"/>
                </a:lnTo>
                <a:lnTo>
                  <a:pt x="3030890" y="644179"/>
                </a:lnTo>
                <a:lnTo>
                  <a:pt x="3095060" y="638795"/>
                </a:lnTo>
                <a:lnTo>
                  <a:pt x="3157916" y="633067"/>
                </a:lnTo>
                <a:lnTo>
                  <a:pt x="3219411" y="627004"/>
                </a:lnTo>
                <a:lnTo>
                  <a:pt x="3279496" y="620613"/>
                </a:lnTo>
                <a:lnTo>
                  <a:pt x="3338125" y="613902"/>
                </a:lnTo>
                <a:lnTo>
                  <a:pt x="3395250" y="606879"/>
                </a:lnTo>
                <a:lnTo>
                  <a:pt x="3450824" y="599550"/>
                </a:lnTo>
                <a:lnTo>
                  <a:pt x="3504800" y="591925"/>
                </a:lnTo>
                <a:lnTo>
                  <a:pt x="3557129" y="584010"/>
                </a:lnTo>
                <a:lnTo>
                  <a:pt x="3607765" y="575813"/>
                </a:lnTo>
                <a:lnTo>
                  <a:pt x="3656661" y="567342"/>
                </a:lnTo>
                <a:lnTo>
                  <a:pt x="3703768" y="558605"/>
                </a:lnTo>
                <a:lnTo>
                  <a:pt x="3749039" y="549609"/>
                </a:lnTo>
                <a:lnTo>
                  <a:pt x="3792427" y="540362"/>
                </a:lnTo>
                <a:lnTo>
                  <a:pt x="3833885" y="530871"/>
                </a:lnTo>
                <a:lnTo>
                  <a:pt x="3873365" y="521145"/>
                </a:lnTo>
                <a:lnTo>
                  <a:pt x="3910819" y="511190"/>
                </a:lnTo>
                <a:lnTo>
                  <a:pt x="3979462" y="490628"/>
                </a:lnTo>
                <a:lnTo>
                  <a:pt x="4039435" y="469245"/>
                </a:lnTo>
                <a:lnTo>
                  <a:pt x="4090358" y="447104"/>
                </a:lnTo>
                <a:lnTo>
                  <a:pt x="4131852" y="424265"/>
                </a:lnTo>
                <a:lnTo>
                  <a:pt x="4163537" y="400791"/>
                </a:lnTo>
                <a:lnTo>
                  <a:pt x="4191845" y="364520"/>
                </a:lnTo>
                <a:lnTo>
                  <a:pt x="4197350" y="339725"/>
                </a:lnTo>
                <a:lnTo>
                  <a:pt x="4195965" y="327270"/>
                </a:lnTo>
                <a:lnTo>
                  <a:pt x="4175583" y="290615"/>
                </a:lnTo>
                <a:lnTo>
                  <a:pt x="4131852" y="255184"/>
                </a:lnTo>
                <a:lnTo>
                  <a:pt x="4090358" y="232345"/>
                </a:lnTo>
                <a:lnTo>
                  <a:pt x="4039435" y="210204"/>
                </a:lnTo>
                <a:lnTo>
                  <a:pt x="3979462" y="188821"/>
                </a:lnTo>
                <a:lnTo>
                  <a:pt x="3910819" y="168259"/>
                </a:lnTo>
                <a:lnTo>
                  <a:pt x="3873365" y="158304"/>
                </a:lnTo>
                <a:lnTo>
                  <a:pt x="3833885" y="148578"/>
                </a:lnTo>
                <a:lnTo>
                  <a:pt x="3792427" y="139087"/>
                </a:lnTo>
                <a:lnTo>
                  <a:pt x="3749039" y="129840"/>
                </a:lnTo>
                <a:lnTo>
                  <a:pt x="3703768" y="120844"/>
                </a:lnTo>
                <a:lnTo>
                  <a:pt x="3656661" y="112107"/>
                </a:lnTo>
                <a:lnTo>
                  <a:pt x="3607765" y="103636"/>
                </a:lnTo>
                <a:lnTo>
                  <a:pt x="3557129" y="95439"/>
                </a:lnTo>
                <a:lnTo>
                  <a:pt x="3504800" y="87524"/>
                </a:lnTo>
                <a:lnTo>
                  <a:pt x="3450824" y="79899"/>
                </a:lnTo>
                <a:lnTo>
                  <a:pt x="3395250" y="72570"/>
                </a:lnTo>
                <a:lnTo>
                  <a:pt x="3338125" y="65547"/>
                </a:lnTo>
                <a:lnTo>
                  <a:pt x="3279496" y="58836"/>
                </a:lnTo>
                <a:lnTo>
                  <a:pt x="3219411" y="52445"/>
                </a:lnTo>
                <a:lnTo>
                  <a:pt x="3157916" y="46382"/>
                </a:lnTo>
                <a:lnTo>
                  <a:pt x="3095060" y="40655"/>
                </a:lnTo>
                <a:lnTo>
                  <a:pt x="3030890" y="35270"/>
                </a:lnTo>
                <a:lnTo>
                  <a:pt x="2965454" y="30237"/>
                </a:lnTo>
                <a:lnTo>
                  <a:pt x="2898798" y="25562"/>
                </a:lnTo>
                <a:lnTo>
                  <a:pt x="2830970" y="21254"/>
                </a:lnTo>
                <a:lnTo>
                  <a:pt x="2762018" y="17319"/>
                </a:lnTo>
                <a:lnTo>
                  <a:pt x="2691989" y="13766"/>
                </a:lnTo>
                <a:lnTo>
                  <a:pt x="2620931" y="10602"/>
                </a:lnTo>
                <a:lnTo>
                  <a:pt x="2548890" y="7835"/>
                </a:lnTo>
                <a:lnTo>
                  <a:pt x="2475914" y="5473"/>
                </a:lnTo>
                <a:lnTo>
                  <a:pt x="2402051" y="3523"/>
                </a:lnTo>
                <a:lnTo>
                  <a:pt x="2327348" y="1993"/>
                </a:lnTo>
                <a:lnTo>
                  <a:pt x="2251853" y="891"/>
                </a:lnTo>
                <a:lnTo>
                  <a:pt x="2175613" y="224"/>
                </a:lnTo>
                <a:lnTo>
                  <a:pt x="2098675" y="0"/>
                </a:lnTo>
                <a:close/>
              </a:path>
            </a:pathLst>
          </a:custGeom>
          <a:solidFill>
            <a:srgbClr val="7A4779"/>
          </a:solidFill>
        </p:spPr>
        <p:txBody>
          <a:bodyPr wrap="square" lIns="0" tIns="0" rIns="0" bIns="0" rtlCol="0"/>
          <a:lstStyle/>
          <a:p/>
        </p:txBody>
      </p:sp>
      <p:sp>
        <p:nvSpPr>
          <p:cNvPr id="31" name="object 27"/>
          <p:cNvSpPr/>
          <p:nvPr/>
        </p:nvSpPr>
        <p:spPr>
          <a:xfrm>
            <a:off x="4011613" y="4062412"/>
            <a:ext cx="3148013" cy="509588"/>
          </a:xfrm>
          <a:custGeom>
            <a:avLst/>
            <a:gdLst/>
            <a:ahLst/>
            <a:cxnLst/>
            <a:rect l="l" t="t" r="r" b="b"/>
            <a:pathLst>
              <a:path w="4197350" h="679450">
                <a:moveTo>
                  <a:pt x="0" y="339724"/>
                </a:moveTo>
                <a:lnTo>
                  <a:pt x="12314" y="302708"/>
                </a:lnTo>
                <a:lnTo>
                  <a:pt x="48405" y="266845"/>
                </a:lnTo>
                <a:lnTo>
                  <a:pt x="85042" y="243681"/>
                </a:lnTo>
                <a:lnTo>
                  <a:pt x="131298" y="221183"/>
                </a:lnTo>
                <a:lnTo>
                  <a:pt x="186793" y="199414"/>
                </a:lnTo>
                <a:lnTo>
                  <a:pt x="251148" y="178434"/>
                </a:lnTo>
                <a:lnTo>
                  <a:pt x="323984" y="158304"/>
                </a:lnTo>
                <a:lnTo>
                  <a:pt x="363464" y="148578"/>
                </a:lnTo>
                <a:lnTo>
                  <a:pt x="404922" y="139087"/>
                </a:lnTo>
                <a:lnTo>
                  <a:pt x="448310" y="129840"/>
                </a:lnTo>
                <a:lnTo>
                  <a:pt x="493581" y="120844"/>
                </a:lnTo>
                <a:lnTo>
                  <a:pt x="540688" y="112107"/>
                </a:lnTo>
                <a:lnTo>
                  <a:pt x="589584" y="103636"/>
                </a:lnTo>
                <a:lnTo>
                  <a:pt x="640220" y="95439"/>
                </a:lnTo>
                <a:lnTo>
                  <a:pt x="692549" y="87524"/>
                </a:lnTo>
                <a:lnTo>
                  <a:pt x="746525" y="79899"/>
                </a:lnTo>
                <a:lnTo>
                  <a:pt x="802099" y="72570"/>
                </a:lnTo>
                <a:lnTo>
                  <a:pt x="859224" y="65547"/>
                </a:lnTo>
                <a:lnTo>
                  <a:pt x="917853" y="58836"/>
                </a:lnTo>
                <a:lnTo>
                  <a:pt x="977938" y="52445"/>
                </a:lnTo>
                <a:lnTo>
                  <a:pt x="1039433" y="46382"/>
                </a:lnTo>
                <a:lnTo>
                  <a:pt x="1102288" y="40654"/>
                </a:lnTo>
                <a:lnTo>
                  <a:pt x="1166458" y="35270"/>
                </a:lnTo>
                <a:lnTo>
                  <a:pt x="1231895" y="30237"/>
                </a:lnTo>
                <a:lnTo>
                  <a:pt x="1298551" y="25562"/>
                </a:lnTo>
                <a:lnTo>
                  <a:pt x="1366378" y="21254"/>
                </a:lnTo>
                <a:lnTo>
                  <a:pt x="1435330" y="17319"/>
                </a:lnTo>
                <a:lnTo>
                  <a:pt x="1505359" y="13766"/>
                </a:lnTo>
                <a:lnTo>
                  <a:pt x="1576418" y="10602"/>
                </a:lnTo>
                <a:lnTo>
                  <a:pt x="1648459" y="7835"/>
                </a:lnTo>
                <a:lnTo>
                  <a:pt x="1721434" y="5473"/>
                </a:lnTo>
                <a:lnTo>
                  <a:pt x="1795297" y="3523"/>
                </a:lnTo>
                <a:lnTo>
                  <a:pt x="1870000" y="1993"/>
                </a:lnTo>
                <a:lnTo>
                  <a:pt x="1945495" y="891"/>
                </a:lnTo>
                <a:lnTo>
                  <a:pt x="2021736" y="224"/>
                </a:lnTo>
                <a:lnTo>
                  <a:pt x="2098674" y="0"/>
                </a:lnTo>
                <a:lnTo>
                  <a:pt x="2175612" y="224"/>
                </a:lnTo>
                <a:lnTo>
                  <a:pt x="2251852" y="891"/>
                </a:lnTo>
                <a:lnTo>
                  <a:pt x="2327348" y="1993"/>
                </a:lnTo>
                <a:lnTo>
                  <a:pt x="2402050" y="3523"/>
                </a:lnTo>
                <a:lnTo>
                  <a:pt x="2475913" y="5473"/>
                </a:lnTo>
                <a:lnTo>
                  <a:pt x="2548889" y="7835"/>
                </a:lnTo>
                <a:lnTo>
                  <a:pt x="2620930" y="10602"/>
                </a:lnTo>
                <a:lnTo>
                  <a:pt x="2691988" y="13766"/>
                </a:lnTo>
                <a:lnTo>
                  <a:pt x="2762018" y="17319"/>
                </a:lnTo>
                <a:lnTo>
                  <a:pt x="2830970" y="21254"/>
                </a:lnTo>
                <a:lnTo>
                  <a:pt x="2898797" y="25562"/>
                </a:lnTo>
                <a:lnTo>
                  <a:pt x="2965453" y="30237"/>
                </a:lnTo>
                <a:lnTo>
                  <a:pt x="3030890" y="35270"/>
                </a:lnTo>
                <a:lnTo>
                  <a:pt x="3095060" y="40654"/>
                </a:lnTo>
                <a:lnTo>
                  <a:pt x="3157915" y="46382"/>
                </a:lnTo>
                <a:lnTo>
                  <a:pt x="3219410" y="52445"/>
                </a:lnTo>
                <a:lnTo>
                  <a:pt x="3279495" y="58836"/>
                </a:lnTo>
                <a:lnTo>
                  <a:pt x="3338124" y="65547"/>
                </a:lnTo>
                <a:lnTo>
                  <a:pt x="3395249" y="72570"/>
                </a:lnTo>
                <a:lnTo>
                  <a:pt x="3450823" y="79899"/>
                </a:lnTo>
                <a:lnTo>
                  <a:pt x="3504799" y="87524"/>
                </a:lnTo>
                <a:lnTo>
                  <a:pt x="3557128" y="95439"/>
                </a:lnTo>
                <a:lnTo>
                  <a:pt x="3607764" y="103636"/>
                </a:lnTo>
                <a:lnTo>
                  <a:pt x="3656660" y="112107"/>
                </a:lnTo>
                <a:lnTo>
                  <a:pt x="3703767" y="120844"/>
                </a:lnTo>
                <a:lnTo>
                  <a:pt x="3749038" y="129840"/>
                </a:lnTo>
                <a:lnTo>
                  <a:pt x="3792426" y="139087"/>
                </a:lnTo>
                <a:lnTo>
                  <a:pt x="3833884" y="148578"/>
                </a:lnTo>
                <a:lnTo>
                  <a:pt x="3873363" y="158304"/>
                </a:lnTo>
                <a:lnTo>
                  <a:pt x="3910818" y="168259"/>
                </a:lnTo>
                <a:lnTo>
                  <a:pt x="3979461" y="188821"/>
                </a:lnTo>
                <a:lnTo>
                  <a:pt x="4039434" y="210204"/>
                </a:lnTo>
                <a:lnTo>
                  <a:pt x="4090357" y="232345"/>
                </a:lnTo>
                <a:lnTo>
                  <a:pt x="4131850" y="255184"/>
                </a:lnTo>
                <a:lnTo>
                  <a:pt x="4163536" y="278658"/>
                </a:lnTo>
                <a:lnTo>
                  <a:pt x="4191843" y="314929"/>
                </a:lnTo>
                <a:lnTo>
                  <a:pt x="4197348" y="339724"/>
                </a:lnTo>
                <a:lnTo>
                  <a:pt x="4195964" y="352179"/>
                </a:lnTo>
                <a:lnTo>
                  <a:pt x="4175582" y="388834"/>
                </a:lnTo>
                <a:lnTo>
                  <a:pt x="4131850" y="424265"/>
                </a:lnTo>
                <a:lnTo>
                  <a:pt x="4090357" y="447104"/>
                </a:lnTo>
                <a:lnTo>
                  <a:pt x="4039434" y="469245"/>
                </a:lnTo>
                <a:lnTo>
                  <a:pt x="3979461" y="490628"/>
                </a:lnTo>
                <a:lnTo>
                  <a:pt x="3910818" y="511190"/>
                </a:lnTo>
                <a:lnTo>
                  <a:pt x="3873363" y="521145"/>
                </a:lnTo>
                <a:lnTo>
                  <a:pt x="3833884" y="530871"/>
                </a:lnTo>
                <a:lnTo>
                  <a:pt x="3792426" y="540362"/>
                </a:lnTo>
                <a:lnTo>
                  <a:pt x="3749038" y="549609"/>
                </a:lnTo>
                <a:lnTo>
                  <a:pt x="3703767" y="558605"/>
                </a:lnTo>
                <a:lnTo>
                  <a:pt x="3656660" y="567342"/>
                </a:lnTo>
                <a:lnTo>
                  <a:pt x="3607764" y="575813"/>
                </a:lnTo>
                <a:lnTo>
                  <a:pt x="3557128" y="584010"/>
                </a:lnTo>
                <a:lnTo>
                  <a:pt x="3504799" y="591925"/>
                </a:lnTo>
                <a:lnTo>
                  <a:pt x="3450823" y="599550"/>
                </a:lnTo>
                <a:lnTo>
                  <a:pt x="3395249" y="606879"/>
                </a:lnTo>
                <a:lnTo>
                  <a:pt x="3338124" y="613902"/>
                </a:lnTo>
                <a:lnTo>
                  <a:pt x="3279495" y="620613"/>
                </a:lnTo>
                <a:lnTo>
                  <a:pt x="3219410" y="627004"/>
                </a:lnTo>
                <a:lnTo>
                  <a:pt x="3157915" y="633067"/>
                </a:lnTo>
                <a:lnTo>
                  <a:pt x="3095060" y="638794"/>
                </a:lnTo>
                <a:lnTo>
                  <a:pt x="3030890" y="644179"/>
                </a:lnTo>
                <a:lnTo>
                  <a:pt x="2965453" y="649212"/>
                </a:lnTo>
                <a:lnTo>
                  <a:pt x="2898797" y="653887"/>
                </a:lnTo>
                <a:lnTo>
                  <a:pt x="2830970" y="658195"/>
                </a:lnTo>
                <a:lnTo>
                  <a:pt x="2762018" y="662130"/>
                </a:lnTo>
                <a:lnTo>
                  <a:pt x="2691988" y="665683"/>
                </a:lnTo>
                <a:lnTo>
                  <a:pt x="2620930" y="668847"/>
                </a:lnTo>
                <a:lnTo>
                  <a:pt x="2548889" y="671614"/>
                </a:lnTo>
                <a:lnTo>
                  <a:pt x="2475913" y="673976"/>
                </a:lnTo>
                <a:lnTo>
                  <a:pt x="2402050" y="675926"/>
                </a:lnTo>
                <a:lnTo>
                  <a:pt x="2327348" y="677456"/>
                </a:lnTo>
                <a:lnTo>
                  <a:pt x="2251852" y="678558"/>
                </a:lnTo>
                <a:lnTo>
                  <a:pt x="2175612" y="679225"/>
                </a:lnTo>
                <a:lnTo>
                  <a:pt x="2098674" y="679449"/>
                </a:lnTo>
                <a:lnTo>
                  <a:pt x="2021736" y="679225"/>
                </a:lnTo>
                <a:lnTo>
                  <a:pt x="1945495" y="678558"/>
                </a:lnTo>
                <a:lnTo>
                  <a:pt x="1870000" y="677456"/>
                </a:lnTo>
                <a:lnTo>
                  <a:pt x="1795297" y="675926"/>
                </a:lnTo>
                <a:lnTo>
                  <a:pt x="1721434" y="673976"/>
                </a:lnTo>
                <a:lnTo>
                  <a:pt x="1648459" y="671614"/>
                </a:lnTo>
                <a:lnTo>
                  <a:pt x="1576418" y="668847"/>
                </a:lnTo>
                <a:lnTo>
                  <a:pt x="1505359" y="665683"/>
                </a:lnTo>
                <a:lnTo>
                  <a:pt x="1435330" y="662130"/>
                </a:lnTo>
                <a:lnTo>
                  <a:pt x="1366378" y="658195"/>
                </a:lnTo>
                <a:lnTo>
                  <a:pt x="1298551" y="653887"/>
                </a:lnTo>
                <a:lnTo>
                  <a:pt x="1231895" y="649212"/>
                </a:lnTo>
                <a:lnTo>
                  <a:pt x="1166458" y="644179"/>
                </a:lnTo>
                <a:lnTo>
                  <a:pt x="1102288" y="638794"/>
                </a:lnTo>
                <a:lnTo>
                  <a:pt x="1039433" y="633067"/>
                </a:lnTo>
                <a:lnTo>
                  <a:pt x="977938" y="627004"/>
                </a:lnTo>
                <a:lnTo>
                  <a:pt x="917853" y="620613"/>
                </a:lnTo>
                <a:lnTo>
                  <a:pt x="859224" y="613902"/>
                </a:lnTo>
                <a:lnTo>
                  <a:pt x="802099" y="606879"/>
                </a:lnTo>
                <a:lnTo>
                  <a:pt x="746525" y="599550"/>
                </a:lnTo>
                <a:lnTo>
                  <a:pt x="692549" y="591925"/>
                </a:lnTo>
                <a:lnTo>
                  <a:pt x="640220" y="584010"/>
                </a:lnTo>
                <a:lnTo>
                  <a:pt x="589584" y="575813"/>
                </a:lnTo>
                <a:lnTo>
                  <a:pt x="540688" y="567342"/>
                </a:lnTo>
                <a:lnTo>
                  <a:pt x="493581" y="558605"/>
                </a:lnTo>
                <a:lnTo>
                  <a:pt x="448310" y="549609"/>
                </a:lnTo>
                <a:lnTo>
                  <a:pt x="404922" y="540362"/>
                </a:lnTo>
                <a:lnTo>
                  <a:pt x="363464" y="530871"/>
                </a:lnTo>
                <a:lnTo>
                  <a:pt x="323984" y="521145"/>
                </a:lnTo>
                <a:lnTo>
                  <a:pt x="286530" y="511190"/>
                </a:lnTo>
                <a:lnTo>
                  <a:pt x="217887" y="490628"/>
                </a:lnTo>
                <a:lnTo>
                  <a:pt x="157914" y="469245"/>
                </a:lnTo>
                <a:lnTo>
                  <a:pt x="106991" y="447104"/>
                </a:lnTo>
                <a:lnTo>
                  <a:pt x="65497" y="424265"/>
                </a:lnTo>
                <a:lnTo>
                  <a:pt x="33812" y="400790"/>
                </a:lnTo>
                <a:lnTo>
                  <a:pt x="5504" y="364520"/>
                </a:lnTo>
                <a:lnTo>
                  <a:pt x="0" y="339724"/>
                </a:lnTo>
                <a:close/>
              </a:path>
            </a:pathLst>
          </a:custGeom>
          <a:ln w="28574">
            <a:solidFill>
              <a:srgbClr val="000000"/>
            </a:solidFill>
          </a:ln>
        </p:spPr>
        <p:txBody>
          <a:bodyPr wrap="square" lIns="0" tIns="0" rIns="0" bIns="0" rtlCol="0"/>
          <a:lstStyle/>
          <a:p/>
        </p:txBody>
      </p:sp>
      <p:sp>
        <p:nvSpPr>
          <p:cNvPr id="32" name="object 28"/>
          <p:cNvSpPr txBox="1"/>
          <p:nvPr/>
        </p:nvSpPr>
        <p:spPr>
          <a:xfrm>
            <a:off x="1336348" y="3523894"/>
            <a:ext cx="5329713" cy="925830"/>
          </a:xfrm>
          <a:prstGeom prst="rect">
            <a:avLst/>
          </a:prstGeom>
        </p:spPr>
        <p:txBody>
          <a:bodyPr vert="horz" wrap="square" lIns="0" tIns="144304" rIns="0" bIns="0" rtlCol="0">
            <a:spAutoFit/>
          </a:bodyPr>
          <a:lstStyle/>
          <a:p>
            <a:pPr marL="9525">
              <a:spcBef>
                <a:spcPts val="1135"/>
              </a:spcBef>
              <a:spcAft>
                <a:spcPts val="0"/>
              </a:spcAft>
            </a:pPr>
            <a:r>
              <a:rPr sz="2100" b="1" dirty="0">
                <a:solidFill>
                  <a:srgbClr val="FFFFFF"/>
                </a:solidFill>
                <a:latin typeface="Microsoft JhengHei" panose="020B0604030504040204" charset="-120"/>
                <a:cs typeface="Microsoft JhengHei" panose="020B0604030504040204" charset="-120"/>
              </a:rPr>
              <a:t>选择“取款”</a:t>
            </a:r>
            <a:endParaRPr sz="2100">
              <a:latin typeface="Microsoft JhengHei" panose="020B0604030504040204" charset="-120"/>
              <a:cs typeface="Microsoft JhengHei" panose="020B0604030504040204" charset="-120"/>
            </a:endParaRPr>
          </a:p>
          <a:p>
            <a:pPr marL="3186430">
              <a:spcBef>
                <a:spcPts val="1060"/>
              </a:spcBef>
            </a:pPr>
            <a:r>
              <a:rPr sz="2100" b="1" dirty="0">
                <a:solidFill>
                  <a:srgbClr val="FFFFFF"/>
                </a:solidFill>
                <a:latin typeface="Microsoft JhengHei" panose="020B0604030504040204" charset="-120"/>
                <a:cs typeface="Microsoft JhengHei" panose="020B0604030504040204" charset="-120"/>
              </a:rPr>
              <a:t>选择“查询余额”</a:t>
            </a:r>
            <a:endParaRPr sz="2100">
              <a:latin typeface="Microsoft JhengHei" panose="020B0604030504040204" charset="-120"/>
              <a:cs typeface="Microsoft JhengHei" panose="020B0604030504040204" charset="-120"/>
            </a:endParaRPr>
          </a:p>
        </p:txBody>
      </p:sp>
      <p:sp>
        <p:nvSpPr>
          <p:cNvPr id="33" name="object 29"/>
          <p:cNvSpPr/>
          <p:nvPr/>
        </p:nvSpPr>
        <p:spPr>
          <a:xfrm>
            <a:off x="660399" y="2453878"/>
            <a:ext cx="2306955" cy="509588"/>
          </a:xfrm>
          <a:custGeom>
            <a:avLst/>
            <a:gdLst/>
            <a:ahLst/>
            <a:cxnLst/>
            <a:rect l="l" t="t" r="r" b="b"/>
            <a:pathLst>
              <a:path w="3075940" h="679450">
                <a:moveTo>
                  <a:pt x="1537759" y="0"/>
                </a:moveTo>
                <a:lnTo>
                  <a:pt x="1463253" y="391"/>
                </a:lnTo>
                <a:lnTo>
                  <a:pt x="1389662" y="1555"/>
                </a:lnTo>
                <a:lnTo>
                  <a:pt x="1317067" y="3472"/>
                </a:lnTo>
                <a:lnTo>
                  <a:pt x="1245549" y="6125"/>
                </a:lnTo>
                <a:lnTo>
                  <a:pt x="1175187" y="9497"/>
                </a:lnTo>
                <a:lnTo>
                  <a:pt x="1106062" y="13569"/>
                </a:lnTo>
                <a:lnTo>
                  <a:pt x="1038256" y="18324"/>
                </a:lnTo>
                <a:lnTo>
                  <a:pt x="971848" y="23743"/>
                </a:lnTo>
                <a:lnTo>
                  <a:pt x="906919" y="29810"/>
                </a:lnTo>
                <a:lnTo>
                  <a:pt x="843550" y="36506"/>
                </a:lnTo>
                <a:lnTo>
                  <a:pt x="781820" y="43813"/>
                </a:lnTo>
                <a:lnTo>
                  <a:pt x="721812" y="51714"/>
                </a:lnTo>
                <a:lnTo>
                  <a:pt x="663604" y="60191"/>
                </a:lnTo>
                <a:lnTo>
                  <a:pt x="607279" y="69226"/>
                </a:lnTo>
                <a:lnTo>
                  <a:pt x="552916" y="78802"/>
                </a:lnTo>
                <a:lnTo>
                  <a:pt x="500596" y="88900"/>
                </a:lnTo>
                <a:lnTo>
                  <a:pt x="450399" y="99502"/>
                </a:lnTo>
                <a:lnTo>
                  <a:pt x="402406" y="110592"/>
                </a:lnTo>
                <a:lnTo>
                  <a:pt x="356698" y="122150"/>
                </a:lnTo>
                <a:lnTo>
                  <a:pt x="313355" y="134160"/>
                </a:lnTo>
                <a:lnTo>
                  <a:pt x="272457" y="146604"/>
                </a:lnTo>
                <a:lnTo>
                  <a:pt x="234086" y="159463"/>
                </a:lnTo>
                <a:lnTo>
                  <a:pt x="198322" y="172721"/>
                </a:lnTo>
                <a:lnTo>
                  <a:pt x="134936" y="200358"/>
                </a:lnTo>
                <a:lnTo>
                  <a:pt x="82943" y="229373"/>
                </a:lnTo>
                <a:lnTo>
                  <a:pt x="42989" y="259624"/>
                </a:lnTo>
                <a:lnTo>
                  <a:pt x="15717" y="290969"/>
                </a:lnTo>
                <a:lnTo>
                  <a:pt x="0" y="339725"/>
                </a:lnTo>
                <a:lnTo>
                  <a:pt x="1773" y="356184"/>
                </a:lnTo>
                <a:lnTo>
                  <a:pt x="27728" y="404280"/>
                </a:lnTo>
                <a:lnTo>
                  <a:pt x="61421" y="435096"/>
                </a:lnTo>
                <a:lnTo>
                  <a:pt x="107475" y="464746"/>
                </a:lnTo>
                <a:lnTo>
                  <a:pt x="165245" y="493090"/>
                </a:lnTo>
                <a:lnTo>
                  <a:pt x="234086" y="519985"/>
                </a:lnTo>
                <a:lnTo>
                  <a:pt x="272457" y="532844"/>
                </a:lnTo>
                <a:lnTo>
                  <a:pt x="313355" y="545288"/>
                </a:lnTo>
                <a:lnTo>
                  <a:pt x="356698" y="557297"/>
                </a:lnTo>
                <a:lnTo>
                  <a:pt x="402406" y="568856"/>
                </a:lnTo>
                <a:lnTo>
                  <a:pt x="450399" y="579946"/>
                </a:lnTo>
                <a:lnTo>
                  <a:pt x="500596" y="590548"/>
                </a:lnTo>
                <a:lnTo>
                  <a:pt x="552916" y="600646"/>
                </a:lnTo>
                <a:lnTo>
                  <a:pt x="607279" y="610222"/>
                </a:lnTo>
                <a:lnTo>
                  <a:pt x="663604" y="619257"/>
                </a:lnTo>
                <a:lnTo>
                  <a:pt x="721812" y="627734"/>
                </a:lnTo>
                <a:lnTo>
                  <a:pt x="781820" y="635635"/>
                </a:lnTo>
                <a:lnTo>
                  <a:pt x="843550" y="642942"/>
                </a:lnTo>
                <a:lnTo>
                  <a:pt x="906919" y="649638"/>
                </a:lnTo>
                <a:lnTo>
                  <a:pt x="971848" y="655705"/>
                </a:lnTo>
                <a:lnTo>
                  <a:pt x="1038256" y="661124"/>
                </a:lnTo>
                <a:lnTo>
                  <a:pt x="1106062" y="665879"/>
                </a:lnTo>
                <a:lnTo>
                  <a:pt x="1175187" y="669951"/>
                </a:lnTo>
                <a:lnTo>
                  <a:pt x="1245549" y="673323"/>
                </a:lnTo>
                <a:lnTo>
                  <a:pt x="1317067" y="675976"/>
                </a:lnTo>
                <a:lnTo>
                  <a:pt x="1389662" y="677893"/>
                </a:lnTo>
                <a:lnTo>
                  <a:pt x="1463253" y="679056"/>
                </a:lnTo>
                <a:lnTo>
                  <a:pt x="1537759" y="679448"/>
                </a:lnTo>
                <a:lnTo>
                  <a:pt x="1612264" y="679056"/>
                </a:lnTo>
                <a:lnTo>
                  <a:pt x="1685855" y="677893"/>
                </a:lnTo>
                <a:lnTo>
                  <a:pt x="1758450" y="675976"/>
                </a:lnTo>
                <a:lnTo>
                  <a:pt x="1829969" y="673323"/>
                </a:lnTo>
                <a:lnTo>
                  <a:pt x="1900330" y="669951"/>
                </a:lnTo>
                <a:lnTo>
                  <a:pt x="1969455" y="665879"/>
                </a:lnTo>
                <a:lnTo>
                  <a:pt x="2037261" y="661124"/>
                </a:lnTo>
                <a:lnTo>
                  <a:pt x="2103669" y="655705"/>
                </a:lnTo>
                <a:lnTo>
                  <a:pt x="2168598" y="649638"/>
                </a:lnTo>
                <a:lnTo>
                  <a:pt x="2231968" y="642942"/>
                </a:lnTo>
                <a:lnTo>
                  <a:pt x="2293697" y="635635"/>
                </a:lnTo>
                <a:lnTo>
                  <a:pt x="2353705" y="627734"/>
                </a:lnTo>
                <a:lnTo>
                  <a:pt x="2411913" y="619257"/>
                </a:lnTo>
                <a:lnTo>
                  <a:pt x="2468238" y="610222"/>
                </a:lnTo>
                <a:lnTo>
                  <a:pt x="2522601" y="600646"/>
                </a:lnTo>
                <a:lnTo>
                  <a:pt x="2574921" y="590548"/>
                </a:lnTo>
                <a:lnTo>
                  <a:pt x="2625118" y="579946"/>
                </a:lnTo>
                <a:lnTo>
                  <a:pt x="2673111" y="568856"/>
                </a:lnTo>
                <a:lnTo>
                  <a:pt x="2718819" y="557297"/>
                </a:lnTo>
                <a:lnTo>
                  <a:pt x="2762162" y="545288"/>
                </a:lnTo>
                <a:lnTo>
                  <a:pt x="2803059" y="532844"/>
                </a:lnTo>
                <a:lnTo>
                  <a:pt x="2841430" y="519985"/>
                </a:lnTo>
                <a:lnTo>
                  <a:pt x="2877194" y="506728"/>
                </a:lnTo>
                <a:lnTo>
                  <a:pt x="2940581" y="479091"/>
                </a:lnTo>
                <a:lnTo>
                  <a:pt x="2992573" y="450075"/>
                </a:lnTo>
                <a:lnTo>
                  <a:pt x="3032527" y="419825"/>
                </a:lnTo>
                <a:lnTo>
                  <a:pt x="3059799" y="388480"/>
                </a:lnTo>
                <a:lnTo>
                  <a:pt x="3075517" y="339725"/>
                </a:lnTo>
                <a:lnTo>
                  <a:pt x="3073743" y="323264"/>
                </a:lnTo>
                <a:lnTo>
                  <a:pt x="3047789" y="275169"/>
                </a:lnTo>
                <a:lnTo>
                  <a:pt x="3014095" y="244353"/>
                </a:lnTo>
                <a:lnTo>
                  <a:pt x="2968041" y="214702"/>
                </a:lnTo>
                <a:lnTo>
                  <a:pt x="2910271" y="186358"/>
                </a:lnTo>
                <a:lnTo>
                  <a:pt x="2841430" y="159463"/>
                </a:lnTo>
                <a:lnTo>
                  <a:pt x="2803059" y="146604"/>
                </a:lnTo>
                <a:lnTo>
                  <a:pt x="2762162" y="134160"/>
                </a:lnTo>
                <a:lnTo>
                  <a:pt x="2718819" y="122150"/>
                </a:lnTo>
                <a:lnTo>
                  <a:pt x="2673111" y="110592"/>
                </a:lnTo>
                <a:lnTo>
                  <a:pt x="2625118" y="99502"/>
                </a:lnTo>
                <a:lnTo>
                  <a:pt x="2574921" y="88900"/>
                </a:lnTo>
                <a:lnTo>
                  <a:pt x="2522601" y="78802"/>
                </a:lnTo>
                <a:lnTo>
                  <a:pt x="2468238" y="69226"/>
                </a:lnTo>
                <a:lnTo>
                  <a:pt x="2411913" y="60191"/>
                </a:lnTo>
                <a:lnTo>
                  <a:pt x="2353705" y="51714"/>
                </a:lnTo>
                <a:lnTo>
                  <a:pt x="2293697" y="43813"/>
                </a:lnTo>
                <a:lnTo>
                  <a:pt x="2231968" y="36506"/>
                </a:lnTo>
                <a:lnTo>
                  <a:pt x="2168598" y="29810"/>
                </a:lnTo>
                <a:lnTo>
                  <a:pt x="2103669" y="23743"/>
                </a:lnTo>
                <a:lnTo>
                  <a:pt x="2037261" y="18324"/>
                </a:lnTo>
                <a:lnTo>
                  <a:pt x="1969455" y="13569"/>
                </a:lnTo>
                <a:lnTo>
                  <a:pt x="1900330" y="9497"/>
                </a:lnTo>
                <a:lnTo>
                  <a:pt x="1829969" y="6125"/>
                </a:lnTo>
                <a:lnTo>
                  <a:pt x="1758450" y="3472"/>
                </a:lnTo>
                <a:lnTo>
                  <a:pt x="1685855" y="1555"/>
                </a:lnTo>
                <a:lnTo>
                  <a:pt x="1612264" y="391"/>
                </a:lnTo>
                <a:lnTo>
                  <a:pt x="1537759" y="0"/>
                </a:lnTo>
                <a:close/>
              </a:path>
            </a:pathLst>
          </a:custGeom>
          <a:solidFill>
            <a:srgbClr val="7A4779"/>
          </a:solidFill>
        </p:spPr>
        <p:txBody>
          <a:bodyPr wrap="square" lIns="0" tIns="0" rIns="0" bIns="0" rtlCol="0"/>
          <a:lstStyle/>
          <a:p/>
        </p:txBody>
      </p:sp>
      <p:sp>
        <p:nvSpPr>
          <p:cNvPr id="34" name="object 30"/>
          <p:cNvSpPr/>
          <p:nvPr/>
        </p:nvSpPr>
        <p:spPr>
          <a:xfrm>
            <a:off x="660399" y="2453878"/>
            <a:ext cx="2306955" cy="509588"/>
          </a:xfrm>
          <a:custGeom>
            <a:avLst/>
            <a:gdLst/>
            <a:ahLst/>
            <a:cxnLst/>
            <a:rect l="l" t="t" r="r" b="b"/>
            <a:pathLst>
              <a:path w="3075940" h="679450">
                <a:moveTo>
                  <a:pt x="0" y="339724"/>
                </a:moveTo>
                <a:lnTo>
                  <a:pt x="15717" y="290969"/>
                </a:lnTo>
                <a:lnTo>
                  <a:pt x="42989" y="259624"/>
                </a:lnTo>
                <a:lnTo>
                  <a:pt x="82943" y="229373"/>
                </a:lnTo>
                <a:lnTo>
                  <a:pt x="134936" y="200358"/>
                </a:lnTo>
                <a:lnTo>
                  <a:pt x="198322" y="172721"/>
                </a:lnTo>
                <a:lnTo>
                  <a:pt x="234086" y="159464"/>
                </a:lnTo>
                <a:lnTo>
                  <a:pt x="272457" y="146604"/>
                </a:lnTo>
                <a:lnTo>
                  <a:pt x="313355" y="134161"/>
                </a:lnTo>
                <a:lnTo>
                  <a:pt x="356698" y="122151"/>
                </a:lnTo>
                <a:lnTo>
                  <a:pt x="402406" y="110592"/>
                </a:lnTo>
                <a:lnTo>
                  <a:pt x="450399" y="99503"/>
                </a:lnTo>
                <a:lnTo>
                  <a:pt x="500595" y="88900"/>
                </a:lnTo>
                <a:lnTo>
                  <a:pt x="552916" y="78802"/>
                </a:lnTo>
                <a:lnTo>
                  <a:pt x="607279" y="69227"/>
                </a:lnTo>
                <a:lnTo>
                  <a:pt x="663604" y="60191"/>
                </a:lnTo>
                <a:lnTo>
                  <a:pt x="721811" y="51714"/>
                </a:lnTo>
                <a:lnTo>
                  <a:pt x="781820" y="43813"/>
                </a:lnTo>
                <a:lnTo>
                  <a:pt x="843549" y="36506"/>
                </a:lnTo>
                <a:lnTo>
                  <a:pt x="906918" y="29810"/>
                </a:lnTo>
                <a:lnTo>
                  <a:pt x="971847" y="23743"/>
                </a:lnTo>
                <a:lnTo>
                  <a:pt x="1038255" y="18324"/>
                </a:lnTo>
                <a:lnTo>
                  <a:pt x="1106062" y="13569"/>
                </a:lnTo>
                <a:lnTo>
                  <a:pt x="1175186" y="9497"/>
                </a:lnTo>
                <a:lnTo>
                  <a:pt x="1245548" y="6125"/>
                </a:lnTo>
                <a:lnTo>
                  <a:pt x="1317067" y="3472"/>
                </a:lnTo>
                <a:lnTo>
                  <a:pt x="1389662" y="1555"/>
                </a:lnTo>
                <a:lnTo>
                  <a:pt x="1463252" y="391"/>
                </a:lnTo>
                <a:lnTo>
                  <a:pt x="1537758" y="0"/>
                </a:lnTo>
                <a:lnTo>
                  <a:pt x="1612264" y="391"/>
                </a:lnTo>
                <a:lnTo>
                  <a:pt x="1685855" y="1555"/>
                </a:lnTo>
                <a:lnTo>
                  <a:pt x="1758449" y="3472"/>
                </a:lnTo>
                <a:lnTo>
                  <a:pt x="1829968" y="6125"/>
                </a:lnTo>
                <a:lnTo>
                  <a:pt x="1900330" y="9497"/>
                </a:lnTo>
                <a:lnTo>
                  <a:pt x="1969454" y="13569"/>
                </a:lnTo>
                <a:lnTo>
                  <a:pt x="2037261" y="18324"/>
                </a:lnTo>
                <a:lnTo>
                  <a:pt x="2103669" y="23743"/>
                </a:lnTo>
                <a:lnTo>
                  <a:pt x="2168598" y="29810"/>
                </a:lnTo>
                <a:lnTo>
                  <a:pt x="2231967" y="36506"/>
                </a:lnTo>
                <a:lnTo>
                  <a:pt x="2293696" y="43813"/>
                </a:lnTo>
                <a:lnTo>
                  <a:pt x="2353705" y="51714"/>
                </a:lnTo>
                <a:lnTo>
                  <a:pt x="2411912" y="60191"/>
                </a:lnTo>
                <a:lnTo>
                  <a:pt x="2468238" y="69227"/>
                </a:lnTo>
                <a:lnTo>
                  <a:pt x="2522601" y="78802"/>
                </a:lnTo>
                <a:lnTo>
                  <a:pt x="2574921" y="88900"/>
                </a:lnTo>
                <a:lnTo>
                  <a:pt x="2625118" y="99503"/>
                </a:lnTo>
                <a:lnTo>
                  <a:pt x="2673110" y="110592"/>
                </a:lnTo>
                <a:lnTo>
                  <a:pt x="2718819" y="122151"/>
                </a:lnTo>
                <a:lnTo>
                  <a:pt x="2762162" y="134161"/>
                </a:lnTo>
                <a:lnTo>
                  <a:pt x="2803059" y="146604"/>
                </a:lnTo>
                <a:lnTo>
                  <a:pt x="2841430" y="159464"/>
                </a:lnTo>
                <a:lnTo>
                  <a:pt x="2877194" y="172721"/>
                </a:lnTo>
                <a:lnTo>
                  <a:pt x="2940581" y="200358"/>
                </a:lnTo>
                <a:lnTo>
                  <a:pt x="2992573" y="229373"/>
                </a:lnTo>
                <a:lnTo>
                  <a:pt x="3032527" y="259624"/>
                </a:lnTo>
                <a:lnTo>
                  <a:pt x="3059799" y="290969"/>
                </a:lnTo>
                <a:lnTo>
                  <a:pt x="3075517" y="339724"/>
                </a:lnTo>
                <a:lnTo>
                  <a:pt x="3073743" y="356184"/>
                </a:lnTo>
                <a:lnTo>
                  <a:pt x="3047789" y="404280"/>
                </a:lnTo>
                <a:lnTo>
                  <a:pt x="3014095" y="435096"/>
                </a:lnTo>
                <a:lnTo>
                  <a:pt x="2968041" y="464747"/>
                </a:lnTo>
                <a:lnTo>
                  <a:pt x="2910271" y="493090"/>
                </a:lnTo>
                <a:lnTo>
                  <a:pt x="2841430" y="519985"/>
                </a:lnTo>
                <a:lnTo>
                  <a:pt x="2803059" y="532844"/>
                </a:lnTo>
                <a:lnTo>
                  <a:pt x="2762162" y="545288"/>
                </a:lnTo>
                <a:lnTo>
                  <a:pt x="2718819" y="557298"/>
                </a:lnTo>
                <a:lnTo>
                  <a:pt x="2673110" y="568857"/>
                </a:lnTo>
                <a:lnTo>
                  <a:pt x="2625118" y="579946"/>
                </a:lnTo>
                <a:lnTo>
                  <a:pt x="2574921" y="590549"/>
                </a:lnTo>
                <a:lnTo>
                  <a:pt x="2522601" y="600647"/>
                </a:lnTo>
                <a:lnTo>
                  <a:pt x="2468238" y="610222"/>
                </a:lnTo>
                <a:lnTo>
                  <a:pt x="2411912" y="619257"/>
                </a:lnTo>
                <a:lnTo>
                  <a:pt x="2353705" y="627734"/>
                </a:lnTo>
                <a:lnTo>
                  <a:pt x="2293696" y="635635"/>
                </a:lnTo>
                <a:lnTo>
                  <a:pt x="2231967" y="642943"/>
                </a:lnTo>
                <a:lnTo>
                  <a:pt x="2168598" y="649639"/>
                </a:lnTo>
                <a:lnTo>
                  <a:pt x="2103669" y="655706"/>
                </a:lnTo>
                <a:lnTo>
                  <a:pt x="2037261" y="661125"/>
                </a:lnTo>
                <a:lnTo>
                  <a:pt x="1969454" y="665880"/>
                </a:lnTo>
                <a:lnTo>
                  <a:pt x="1900330" y="669952"/>
                </a:lnTo>
                <a:lnTo>
                  <a:pt x="1829968" y="673323"/>
                </a:lnTo>
                <a:lnTo>
                  <a:pt x="1758449" y="675977"/>
                </a:lnTo>
                <a:lnTo>
                  <a:pt x="1685855" y="677894"/>
                </a:lnTo>
                <a:lnTo>
                  <a:pt x="1612264" y="679057"/>
                </a:lnTo>
                <a:lnTo>
                  <a:pt x="1537758" y="679449"/>
                </a:lnTo>
                <a:lnTo>
                  <a:pt x="1463252" y="679057"/>
                </a:lnTo>
                <a:lnTo>
                  <a:pt x="1389662" y="677894"/>
                </a:lnTo>
                <a:lnTo>
                  <a:pt x="1317067" y="675977"/>
                </a:lnTo>
                <a:lnTo>
                  <a:pt x="1245548" y="673323"/>
                </a:lnTo>
                <a:lnTo>
                  <a:pt x="1175186" y="669952"/>
                </a:lnTo>
                <a:lnTo>
                  <a:pt x="1106062" y="665880"/>
                </a:lnTo>
                <a:lnTo>
                  <a:pt x="1038255" y="661125"/>
                </a:lnTo>
                <a:lnTo>
                  <a:pt x="971847" y="655706"/>
                </a:lnTo>
                <a:lnTo>
                  <a:pt x="906918" y="649639"/>
                </a:lnTo>
                <a:lnTo>
                  <a:pt x="843549" y="642943"/>
                </a:lnTo>
                <a:lnTo>
                  <a:pt x="781820" y="635635"/>
                </a:lnTo>
                <a:lnTo>
                  <a:pt x="721811" y="627734"/>
                </a:lnTo>
                <a:lnTo>
                  <a:pt x="663604" y="619257"/>
                </a:lnTo>
                <a:lnTo>
                  <a:pt x="607279" y="610222"/>
                </a:lnTo>
                <a:lnTo>
                  <a:pt x="552916" y="600647"/>
                </a:lnTo>
                <a:lnTo>
                  <a:pt x="500595" y="590549"/>
                </a:lnTo>
                <a:lnTo>
                  <a:pt x="450399" y="579946"/>
                </a:lnTo>
                <a:lnTo>
                  <a:pt x="402406" y="568857"/>
                </a:lnTo>
                <a:lnTo>
                  <a:pt x="356698" y="557298"/>
                </a:lnTo>
                <a:lnTo>
                  <a:pt x="313355" y="545288"/>
                </a:lnTo>
                <a:lnTo>
                  <a:pt x="272457" y="532844"/>
                </a:lnTo>
                <a:lnTo>
                  <a:pt x="234086" y="519985"/>
                </a:lnTo>
                <a:lnTo>
                  <a:pt x="198322" y="506728"/>
                </a:lnTo>
                <a:lnTo>
                  <a:pt x="134936" y="479091"/>
                </a:lnTo>
                <a:lnTo>
                  <a:pt x="82943" y="450076"/>
                </a:lnTo>
                <a:lnTo>
                  <a:pt x="42989" y="419825"/>
                </a:lnTo>
                <a:lnTo>
                  <a:pt x="15717" y="388480"/>
                </a:lnTo>
                <a:lnTo>
                  <a:pt x="0" y="339724"/>
                </a:lnTo>
                <a:close/>
              </a:path>
            </a:pathLst>
          </a:custGeom>
          <a:ln w="28574">
            <a:solidFill>
              <a:srgbClr val="000000"/>
            </a:solidFill>
          </a:ln>
        </p:spPr>
        <p:txBody>
          <a:bodyPr wrap="square" lIns="0" tIns="0" rIns="0" bIns="0" rtlCol="0"/>
          <a:lstStyle/>
          <a:p/>
        </p:txBody>
      </p:sp>
      <p:sp>
        <p:nvSpPr>
          <p:cNvPr id="35" name="object 31"/>
          <p:cNvSpPr txBox="1"/>
          <p:nvPr/>
        </p:nvSpPr>
        <p:spPr>
          <a:xfrm>
            <a:off x="1000580" y="2504957"/>
            <a:ext cx="1619250" cy="332105"/>
          </a:xfrm>
          <a:prstGeom prst="rect">
            <a:avLst/>
          </a:prstGeom>
        </p:spPr>
        <p:txBody>
          <a:bodyPr vert="horz" wrap="square" lIns="0" tIns="9525" rIns="0" bIns="0" rtlCol="0">
            <a:spAutoFit/>
          </a:bodyPr>
          <a:lstStyle/>
          <a:p>
            <a:pPr marL="9525">
              <a:spcBef>
                <a:spcPts val="75"/>
              </a:spcBef>
              <a:spcAft>
                <a:spcPts val="0"/>
              </a:spcAft>
            </a:pPr>
            <a:r>
              <a:rPr sz="2100" b="1" dirty="0">
                <a:solidFill>
                  <a:srgbClr val="FFFFFF"/>
                </a:solidFill>
                <a:latin typeface="Microsoft JhengHei" panose="020B0604030504040204" charset="-120"/>
                <a:cs typeface="Microsoft JhengHei" panose="020B0604030504040204" charset="-120"/>
              </a:rPr>
              <a:t>选择“转账”</a:t>
            </a:r>
            <a:endParaRPr sz="2100">
              <a:latin typeface="Microsoft JhengHei" panose="020B0604030504040204" charset="-120"/>
              <a:cs typeface="Microsoft JhengHei" panose="020B0604030504040204" charset="-120"/>
            </a:endParaRPr>
          </a:p>
        </p:txBody>
      </p:sp>
      <p:sp>
        <p:nvSpPr>
          <p:cNvPr id="36" name="object 32"/>
          <p:cNvSpPr/>
          <p:nvPr/>
        </p:nvSpPr>
        <p:spPr>
          <a:xfrm>
            <a:off x="5797550" y="1714500"/>
            <a:ext cx="3041809" cy="563404"/>
          </a:xfrm>
          <a:custGeom>
            <a:avLst/>
            <a:gdLst/>
            <a:ahLst/>
            <a:cxnLst/>
            <a:rect l="l" t="t" r="r" b="b"/>
            <a:pathLst>
              <a:path w="4055745" h="751205">
                <a:moveTo>
                  <a:pt x="2027767" y="0"/>
                </a:moveTo>
                <a:lnTo>
                  <a:pt x="1951746" y="258"/>
                </a:lnTo>
                <a:lnTo>
                  <a:pt x="1876432" y="1029"/>
                </a:lnTo>
                <a:lnTo>
                  <a:pt x="1801873" y="2303"/>
                </a:lnTo>
                <a:lnTo>
                  <a:pt x="1728118" y="4070"/>
                </a:lnTo>
                <a:lnTo>
                  <a:pt x="1655217" y="6322"/>
                </a:lnTo>
                <a:lnTo>
                  <a:pt x="1583217" y="9050"/>
                </a:lnTo>
                <a:lnTo>
                  <a:pt x="1512169" y="12244"/>
                </a:lnTo>
                <a:lnTo>
                  <a:pt x="1442121" y="15895"/>
                </a:lnTo>
                <a:lnTo>
                  <a:pt x="1373122" y="19995"/>
                </a:lnTo>
                <a:lnTo>
                  <a:pt x="1305222" y="24534"/>
                </a:lnTo>
                <a:lnTo>
                  <a:pt x="1238469" y="29504"/>
                </a:lnTo>
                <a:lnTo>
                  <a:pt x="1172912" y="34894"/>
                </a:lnTo>
                <a:lnTo>
                  <a:pt x="1108600" y="40697"/>
                </a:lnTo>
                <a:lnTo>
                  <a:pt x="1045583" y="46902"/>
                </a:lnTo>
                <a:lnTo>
                  <a:pt x="983908" y="53502"/>
                </a:lnTo>
                <a:lnTo>
                  <a:pt x="923627" y="60486"/>
                </a:lnTo>
                <a:lnTo>
                  <a:pt x="864786" y="67846"/>
                </a:lnTo>
                <a:lnTo>
                  <a:pt x="807436" y="75573"/>
                </a:lnTo>
                <a:lnTo>
                  <a:pt x="751625" y="83657"/>
                </a:lnTo>
                <a:lnTo>
                  <a:pt x="697403" y="92090"/>
                </a:lnTo>
                <a:lnTo>
                  <a:pt x="644818" y="100862"/>
                </a:lnTo>
                <a:lnTo>
                  <a:pt x="593919" y="109965"/>
                </a:lnTo>
                <a:lnTo>
                  <a:pt x="544756" y="119388"/>
                </a:lnTo>
                <a:lnTo>
                  <a:pt x="497377" y="129125"/>
                </a:lnTo>
                <a:lnTo>
                  <a:pt x="451831" y="139164"/>
                </a:lnTo>
                <a:lnTo>
                  <a:pt x="408168" y="149497"/>
                </a:lnTo>
                <a:lnTo>
                  <a:pt x="366437" y="160116"/>
                </a:lnTo>
                <a:lnTo>
                  <a:pt x="326686" y="171010"/>
                </a:lnTo>
                <a:lnTo>
                  <a:pt x="288964" y="182172"/>
                </a:lnTo>
                <a:lnTo>
                  <a:pt x="219805" y="205258"/>
                </a:lnTo>
                <a:lnTo>
                  <a:pt x="159352" y="229304"/>
                </a:lnTo>
                <a:lnTo>
                  <a:pt x="107997" y="254235"/>
                </a:lnTo>
                <a:lnTo>
                  <a:pt x="66132" y="279980"/>
                </a:lnTo>
                <a:lnTo>
                  <a:pt x="34149" y="306465"/>
                </a:lnTo>
                <a:lnTo>
                  <a:pt x="5561" y="347423"/>
                </a:lnTo>
                <a:lnTo>
                  <a:pt x="0" y="375443"/>
                </a:lnTo>
                <a:lnTo>
                  <a:pt x="1398" y="389519"/>
                </a:lnTo>
                <a:lnTo>
                  <a:pt x="21986" y="430924"/>
                </a:lnTo>
                <a:lnTo>
                  <a:pt x="66132" y="470907"/>
                </a:lnTo>
                <a:lnTo>
                  <a:pt x="107997" y="496652"/>
                </a:lnTo>
                <a:lnTo>
                  <a:pt x="159352" y="521584"/>
                </a:lnTo>
                <a:lnTo>
                  <a:pt x="219805" y="545629"/>
                </a:lnTo>
                <a:lnTo>
                  <a:pt x="288964" y="568716"/>
                </a:lnTo>
                <a:lnTo>
                  <a:pt x="326686" y="579877"/>
                </a:lnTo>
                <a:lnTo>
                  <a:pt x="366437" y="590772"/>
                </a:lnTo>
                <a:lnTo>
                  <a:pt x="408168" y="601390"/>
                </a:lnTo>
                <a:lnTo>
                  <a:pt x="451831" y="611724"/>
                </a:lnTo>
                <a:lnTo>
                  <a:pt x="497377" y="621763"/>
                </a:lnTo>
                <a:lnTo>
                  <a:pt x="544756" y="631499"/>
                </a:lnTo>
                <a:lnTo>
                  <a:pt x="593919" y="640923"/>
                </a:lnTo>
                <a:lnTo>
                  <a:pt x="644818" y="650026"/>
                </a:lnTo>
                <a:lnTo>
                  <a:pt x="697403" y="658798"/>
                </a:lnTo>
                <a:lnTo>
                  <a:pt x="751625" y="667231"/>
                </a:lnTo>
                <a:lnTo>
                  <a:pt x="807436" y="675315"/>
                </a:lnTo>
                <a:lnTo>
                  <a:pt x="864786" y="683042"/>
                </a:lnTo>
                <a:lnTo>
                  <a:pt x="923627" y="690402"/>
                </a:lnTo>
                <a:lnTo>
                  <a:pt x="983908" y="697386"/>
                </a:lnTo>
                <a:lnTo>
                  <a:pt x="1045583" y="703985"/>
                </a:lnTo>
                <a:lnTo>
                  <a:pt x="1108600" y="710191"/>
                </a:lnTo>
                <a:lnTo>
                  <a:pt x="1172912" y="715994"/>
                </a:lnTo>
                <a:lnTo>
                  <a:pt x="1238469" y="721384"/>
                </a:lnTo>
                <a:lnTo>
                  <a:pt x="1305222" y="726353"/>
                </a:lnTo>
                <a:lnTo>
                  <a:pt x="1373122" y="730892"/>
                </a:lnTo>
                <a:lnTo>
                  <a:pt x="1442121" y="734992"/>
                </a:lnTo>
                <a:lnTo>
                  <a:pt x="1512169" y="738644"/>
                </a:lnTo>
                <a:lnTo>
                  <a:pt x="1583217" y="741838"/>
                </a:lnTo>
                <a:lnTo>
                  <a:pt x="1655217" y="744565"/>
                </a:lnTo>
                <a:lnTo>
                  <a:pt x="1728118" y="746817"/>
                </a:lnTo>
                <a:lnTo>
                  <a:pt x="1801873" y="748585"/>
                </a:lnTo>
                <a:lnTo>
                  <a:pt x="1876432" y="749858"/>
                </a:lnTo>
                <a:lnTo>
                  <a:pt x="1951746" y="750629"/>
                </a:lnTo>
                <a:lnTo>
                  <a:pt x="2027767" y="750888"/>
                </a:lnTo>
                <a:lnTo>
                  <a:pt x="2103787" y="750629"/>
                </a:lnTo>
                <a:lnTo>
                  <a:pt x="2179101" y="749858"/>
                </a:lnTo>
                <a:lnTo>
                  <a:pt x="2253660" y="748585"/>
                </a:lnTo>
                <a:lnTo>
                  <a:pt x="2327415" y="746817"/>
                </a:lnTo>
                <a:lnTo>
                  <a:pt x="2400317" y="744565"/>
                </a:lnTo>
                <a:lnTo>
                  <a:pt x="2472316" y="741838"/>
                </a:lnTo>
                <a:lnTo>
                  <a:pt x="2543364" y="738644"/>
                </a:lnTo>
                <a:lnTo>
                  <a:pt x="2613412" y="734992"/>
                </a:lnTo>
                <a:lnTo>
                  <a:pt x="2682411" y="730892"/>
                </a:lnTo>
                <a:lnTo>
                  <a:pt x="2750312" y="726353"/>
                </a:lnTo>
                <a:lnTo>
                  <a:pt x="2817065" y="721384"/>
                </a:lnTo>
                <a:lnTo>
                  <a:pt x="2882622" y="715994"/>
                </a:lnTo>
                <a:lnTo>
                  <a:pt x="2946934" y="710191"/>
                </a:lnTo>
                <a:lnTo>
                  <a:pt x="3009951" y="703985"/>
                </a:lnTo>
                <a:lnTo>
                  <a:pt x="3071625" y="697386"/>
                </a:lnTo>
                <a:lnTo>
                  <a:pt x="3131907" y="690402"/>
                </a:lnTo>
                <a:lnTo>
                  <a:pt x="3190747" y="683042"/>
                </a:lnTo>
                <a:lnTo>
                  <a:pt x="3248097" y="675315"/>
                </a:lnTo>
                <a:lnTo>
                  <a:pt x="3303908" y="667231"/>
                </a:lnTo>
                <a:lnTo>
                  <a:pt x="3358130" y="658798"/>
                </a:lnTo>
                <a:lnTo>
                  <a:pt x="3410715" y="650026"/>
                </a:lnTo>
                <a:lnTo>
                  <a:pt x="3461614" y="640923"/>
                </a:lnTo>
                <a:lnTo>
                  <a:pt x="3510777" y="631499"/>
                </a:lnTo>
                <a:lnTo>
                  <a:pt x="3558156" y="621763"/>
                </a:lnTo>
                <a:lnTo>
                  <a:pt x="3603701" y="611724"/>
                </a:lnTo>
                <a:lnTo>
                  <a:pt x="3647364" y="601390"/>
                </a:lnTo>
                <a:lnTo>
                  <a:pt x="3689096" y="590772"/>
                </a:lnTo>
                <a:lnTo>
                  <a:pt x="3728847" y="579877"/>
                </a:lnTo>
                <a:lnTo>
                  <a:pt x="3766569" y="568716"/>
                </a:lnTo>
                <a:lnTo>
                  <a:pt x="3835728" y="545629"/>
                </a:lnTo>
                <a:lnTo>
                  <a:pt x="3896181" y="521584"/>
                </a:lnTo>
                <a:lnTo>
                  <a:pt x="3947536" y="496652"/>
                </a:lnTo>
                <a:lnTo>
                  <a:pt x="3989401" y="470907"/>
                </a:lnTo>
                <a:lnTo>
                  <a:pt x="4021383" y="444422"/>
                </a:lnTo>
                <a:lnTo>
                  <a:pt x="4049971" y="403463"/>
                </a:lnTo>
                <a:lnTo>
                  <a:pt x="4055532" y="375443"/>
                </a:lnTo>
                <a:lnTo>
                  <a:pt x="4054134" y="361368"/>
                </a:lnTo>
                <a:lnTo>
                  <a:pt x="4033546" y="319963"/>
                </a:lnTo>
                <a:lnTo>
                  <a:pt x="3989401" y="279980"/>
                </a:lnTo>
                <a:lnTo>
                  <a:pt x="3947536" y="254235"/>
                </a:lnTo>
                <a:lnTo>
                  <a:pt x="3896181" y="229304"/>
                </a:lnTo>
                <a:lnTo>
                  <a:pt x="3835728" y="205258"/>
                </a:lnTo>
                <a:lnTo>
                  <a:pt x="3766569" y="182172"/>
                </a:lnTo>
                <a:lnTo>
                  <a:pt x="3728847" y="171010"/>
                </a:lnTo>
                <a:lnTo>
                  <a:pt x="3689096" y="160116"/>
                </a:lnTo>
                <a:lnTo>
                  <a:pt x="3647364" y="149497"/>
                </a:lnTo>
                <a:lnTo>
                  <a:pt x="3603701" y="139164"/>
                </a:lnTo>
                <a:lnTo>
                  <a:pt x="3558156" y="129125"/>
                </a:lnTo>
                <a:lnTo>
                  <a:pt x="3510777" y="119388"/>
                </a:lnTo>
                <a:lnTo>
                  <a:pt x="3461614" y="109965"/>
                </a:lnTo>
                <a:lnTo>
                  <a:pt x="3410715" y="100862"/>
                </a:lnTo>
                <a:lnTo>
                  <a:pt x="3358130" y="92090"/>
                </a:lnTo>
                <a:lnTo>
                  <a:pt x="3303908" y="83657"/>
                </a:lnTo>
                <a:lnTo>
                  <a:pt x="3248097" y="75573"/>
                </a:lnTo>
                <a:lnTo>
                  <a:pt x="3190747" y="67846"/>
                </a:lnTo>
                <a:lnTo>
                  <a:pt x="3131907" y="60486"/>
                </a:lnTo>
                <a:lnTo>
                  <a:pt x="3071625" y="53502"/>
                </a:lnTo>
                <a:lnTo>
                  <a:pt x="3009951" y="46902"/>
                </a:lnTo>
                <a:lnTo>
                  <a:pt x="2946934" y="40697"/>
                </a:lnTo>
                <a:lnTo>
                  <a:pt x="2882622" y="34894"/>
                </a:lnTo>
                <a:lnTo>
                  <a:pt x="2817065" y="29504"/>
                </a:lnTo>
                <a:lnTo>
                  <a:pt x="2750312" y="24534"/>
                </a:lnTo>
                <a:lnTo>
                  <a:pt x="2682411" y="19995"/>
                </a:lnTo>
                <a:lnTo>
                  <a:pt x="2613412" y="15895"/>
                </a:lnTo>
                <a:lnTo>
                  <a:pt x="2543364" y="12244"/>
                </a:lnTo>
                <a:lnTo>
                  <a:pt x="2472316" y="9050"/>
                </a:lnTo>
                <a:lnTo>
                  <a:pt x="2400317" y="6322"/>
                </a:lnTo>
                <a:lnTo>
                  <a:pt x="2327415" y="4070"/>
                </a:lnTo>
                <a:lnTo>
                  <a:pt x="2253660" y="2303"/>
                </a:lnTo>
                <a:lnTo>
                  <a:pt x="2179101" y="1029"/>
                </a:lnTo>
                <a:lnTo>
                  <a:pt x="2103787" y="258"/>
                </a:lnTo>
                <a:lnTo>
                  <a:pt x="2027767" y="0"/>
                </a:lnTo>
                <a:close/>
              </a:path>
            </a:pathLst>
          </a:custGeom>
          <a:solidFill>
            <a:srgbClr val="7A4779"/>
          </a:solidFill>
        </p:spPr>
        <p:txBody>
          <a:bodyPr wrap="square" lIns="0" tIns="0" rIns="0" bIns="0" rtlCol="0"/>
          <a:lstStyle/>
          <a:p/>
        </p:txBody>
      </p:sp>
      <p:sp>
        <p:nvSpPr>
          <p:cNvPr id="37" name="object 33"/>
          <p:cNvSpPr/>
          <p:nvPr/>
        </p:nvSpPr>
        <p:spPr>
          <a:xfrm>
            <a:off x="5797549" y="1714500"/>
            <a:ext cx="3041809" cy="563404"/>
          </a:xfrm>
          <a:custGeom>
            <a:avLst/>
            <a:gdLst/>
            <a:ahLst/>
            <a:cxnLst/>
            <a:rect l="l" t="t" r="r" b="b"/>
            <a:pathLst>
              <a:path w="4055745" h="751205">
                <a:moveTo>
                  <a:pt x="0" y="375443"/>
                </a:moveTo>
                <a:lnTo>
                  <a:pt x="12440" y="333619"/>
                </a:lnTo>
                <a:lnTo>
                  <a:pt x="48880" y="293134"/>
                </a:lnTo>
                <a:lnTo>
                  <a:pt x="85853" y="267010"/>
                </a:lnTo>
                <a:lnTo>
                  <a:pt x="132512" y="241663"/>
                </a:lnTo>
                <a:lnTo>
                  <a:pt x="188465" y="217166"/>
                </a:lnTo>
                <a:lnTo>
                  <a:pt x="253320" y="193591"/>
                </a:lnTo>
                <a:lnTo>
                  <a:pt x="326685" y="171010"/>
                </a:lnTo>
                <a:lnTo>
                  <a:pt x="366436" y="160116"/>
                </a:lnTo>
                <a:lnTo>
                  <a:pt x="408168" y="149497"/>
                </a:lnTo>
                <a:lnTo>
                  <a:pt x="451831" y="139164"/>
                </a:lnTo>
                <a:lnTo>
                  <a:pt x="497377" y="129125"/>
                </a:lnTo>
                <a:lnTo>
                  <a:pt x="544755" y="119388"/>
                </a:lnTo>
                <a:lnTo>
                  <a:pt x="593919" y="109964"/>
                </a:lnTo>
                <a:lnTo>
                  <a:pt x="644817" y="100862"/>
                </a:lnTo>
                <a:lnTo>
                  <a:pt x="697402" y="92090"/>
                </a:lnTo>
                <a:lnTo>
                  <a:pt x="751625" y="83657"/>
                </a:lnTo>
                <a:lnTo>
                  <a:pt x="807436" y="75573"/>
                </a:lnTo>
                <a:lnTo>
                  <a:pt x="864786" y="67846"/>
                </a:lnTo>
                <a:lnTo>
                  <a:pt x="923626" y="60486"/>
                </a:lnTo>
                <a:lnTo>
                  <a:pt x="983908" y="53502"/>
                </a:lnTo>
                <a:lnTo>
                  <a:pt x="1045582" y="46902"/>
                </a:lnTo>
                <a:lnTo>
                  <a:pt x="1108599" y="40697"/>
                </a:lnTo>
                <a:lnTo>
                  <a:pt x="1172911" y="34894"/>
                </a:lnTo>
                <a:lnTo>
                  <a:pt x="1238468" y="29504"/>
                </a:lnTo>
                <a:lnTo>
                  <a:pt x="1305221" y="24534"/>
                </a:lnTo>
                <a:lnTo>
                  <a:pt x="1373122" y="19995"/>
                </a:lnTo>
                <a:lnTo>
                  <a:pt x="1442120" y="15895"/>
                </a:lnTo>
                <a:lnTo>
                  <a:pt x="1512168" y="12244"/>
                </a:lnTo>
                <a:lnTo>
                  <a:pt x="1583217" y="9050"/>
                </a:lnTo>
                <a:lnTo>
                  <a:pt x="1655216" y="6322"/>
                </a:lnTo>
                <a:lnTo>
                  <a:pt x="1728118" y="4070"/>
                </a:lnTo>
                <a:lnTo>
                  <a:pt x="1801873" y="2303"/>
                </a:lnTo>
                <a:lnTo>
                  <a:pt x="1876432" y="1029"/>
                </a:lnTo>
                <a:lnTo>
                  <a:pt x="1951746" y="258"/>
                </a:lnTo>
                <a:lnTo>
                  <a:pt x="2027766" y="0"/>
                </a:lnTo>
                <a:lnTo>
                  <a:pt x="2103787" y="258"/>
                </a:lnTo>
                <a:lnTo>
                  <a:pt x="2179101" y="1029"/>
                </a:lnTo>
                <a:lnTo>
                  <a:pt x="2253660" y="2303"/>
                </a:lnTo>
                <a:lnTo>
                  <a:pt x="2327415" y="4070"/>
                </a:lnTo>
                <a:lnTo>
                  <a:pt x="2400316" y="6322"/>
                </a:lnTo>
                <a:lnTo>
                  <a:pt x="2472316" y="9050"/>
                </a:lnTo>
                <a:lnTo>
                  <a:pt x="2543364" y="12244"/>
                </a:lnTo>
                <a:lnTo>
                  <a:pt x="2613412" y="15895"/>
                </a:lnTo>
                <a:lnTo>
                  <a:pt x="2682411" y="19995"/>
                </a:lnTo>
                <a:lnTo>
                  <a:pt x="2750311" y="24534"/>
                </a:lnTo>
                <a:lnTo>
                  <a:pt x="2817064" y="29504"/>
                </a:lnTo>
                <a:lnTo>
                  <a:pt x="2882621" y="34894"/>
                </a:lnTo>
                <a:lnTo>
                  <a:pt x="2946933" y="40697"/>
                </a:lnTo>
                <a:lnTo>
                  <a:pt x="3009950" y="46902"/>
                </a:lnTo>
                <a:lnTo>
                  <a:pt x="3071625" y="53502"/>
                </a:lnTo>
                <a:lnTo>
                  <a:pt x="3131906" y="60486"/>
                </a:lnTo>
                <a:lnTo>
                  <a:pt x="3190747" y="67846"/>
                </a:lnTo>
                <a:lnTo>
                  <a:pt x="3248097" y="75573"/>
                </a:lnTo>
                <a:lnTo>
                  <a:pt x="3303908" y="83657"/>
                </a:lnTo>
                <a:lnTo>
                  <a:pt x="3358130" y="92090"/>
                </a:lnTo>
                <a:lnTo>
                  <a:pt x="3410715" y="100862"/>
                </a:lnTo>
                <a:lnTo>
                  <a:pt x="3461614" y="109964"/>
                </a:lnTo>
                <a:lnTo>
                  <a:pt x="3510777" y="119388"/>
                </a:lnTo>
                <a:lnTo>
                  <a:pt x="3558156" y="129125"/>
                </a:lnTo>
                <a:lnTo>
                  <a:pt x="3603701" y="139164"/>
                </a:lnTo>
                <a:lnTo>
                  <a:pt x="3647364" y="149497"/>
                </a:lnTo>
                <a:lnTo>
                  <a:pt x="3689096" y="160116"/>
                </a:lnTo>
                <a:lnTo>
                  <a:pt x="3728847" y="171010"/>
                </a:lnTo>
                <a:lnTo>
                  <a:pt x="3766569" y="182172"/>
                </a:lnTo>
                <a:lnTo>
                  <a:pt x="3835728" y="205258"/>
                </a:lnTo>
                <a:lnTo>
                  <a:pt x="3896181" y="229304"/>
                </a:lnTo>
                <a:lnTo>
                  <a:pt x="3947536" y="254235"/>
                </a:lnTo>
                <a:lnTo>
                  <a:pt x="3989401" y="279980"/>
                </a:lnTo>
                <a:lnTo>
                  <a:pt x="4021383" y="306465"/>
                </a:lnTo>
                <a:lnTo>
                  <a:pt x="4049971" y="347423"/>
                </a:lnTo>
                <a:lnTo>
                  <a:pt x="4055533" y="375443"/>
                </a:lnTo>
                <a:lnTo>
                  <a:pt x="4054134" y="389519"/>
                </a:lnTo>
                <a:lnTo>
                  <a:pt x="4033546" y="430924"/>
                </a:lnTo>
                <a:lnTo>
                  <a:pt x="3989401" y="470907"/>
                </a:lnTo>
                <a:lnTo>
                  <a:pt x="3947536" y="496652"/>
                </a:lnTo>
                <a:lnTo>
                  <a:pt x="3896181" y="521583"/>
                </a:lnTo>
                <a:lnTo>
                  <a:pt x="3835728" y="545628"/>
                </a:lnTo>
                <a:lnTo>
                  <a:pt x="3766569" y="568715"/>
                </a:lnTo>
                <a:lnTo>
                  <a:pt x="3728847" y="579876"/>
                </a:lnTo>
                <a:lnTo>
                  <a:pt x="3689096" y="590771"/>
                </a:lnTo>
                <a:lnTo>
                  <a:pt x="3647364" y="601389"/>
                </a:lnTo>
                <a:lnTo>
                  <a:pt x="3603701" y="611723"/>
                </a:lnTo>
                <a:lnTo>
                  <a:pt x="3558156" y="621762"/>
                </a:lnTo>
                <a:lnTo>
                  <a:pt x="3510777" y="631498"/>
                </a:lnTo>
                <a:lnTo>
                  <a:pt x="3461614" y="640922"/>
                </a:lnTo>
                <a:lnTo>
                  <a:pt x="3410715" y="650025"/>
                </a:lnTo>
                <a:lnTo>
                  <a:pt x="3358130" y="658797"/>
                </a:lnTo>
                <a:lnTo>
                  <a:pt x="3303908" y="667230"/>
                </a:lnTo>
                <a:lnTo>
                  <a:pt x="3248097" y="675314"/>
                </a:lnTo>
                <a:lnTo>
                  <a:pt x="3190747" y="683041"/>
                </a:lnTo>
                <a:lnTo>
                  <a:pt x="3131906" y="690401"/>
                </a:lnTo>
                <a:lnTo>
                  <a:pt x="3071625" y="697385"/>
                </a:lnTo>
                <a:lnTo>
                  <a:pt x="3009950" y="703985"/>
                </a:lnTo>
                <a:lnTo>
                  <a:pt x="2946933" y="710190"/>
                </a:lnTo>
                <a:lnTo>
                  <a:pt x="2882621" y="715993"/>
                </a:lnTo>
                <a:lnTo>
                  <a:pt x="2817064" y="721383"/>
                </a:lnTo>
                <a:lnTo>
                  <a:pt x="2750311" y="726352"/>
                </a:lnTo>
                <a:lnTo>
                  <a:pt x="2682411" y="730892"/>
                </a:lnTo>
                <a:lnTo>
                  <a:pt x="2613412" y="734991"/>
                </a:lnTo>
                <a:lnTo>
                  <a:pt x="2543364" y="738643"/>
                </a:lnTo>
                <a:lnTo>
                  <a:pt x="2472316" y="741837"/>
                </a:lnTo>
                <a:lnTo>
                  <a:pt x="2400316" y="744565"/>
                </a:lnTo>
                <a:lnTo>
                  <a:pt x="2327415" y="746817"/>
                </a:lnTo>
                <a:lnTo>
                  <a:pt x="2253660" y="748584"/>
                </a:lnTo>
                <a:lnTo>
                  <a:pt x="2179101" y="749858"/>
                </a:lnTo>
                <a:lnTo>
                  <a:pt x="2103787" y="750628"/>
                </a:lnTo>
                <a:lnTo>
                  <a:pt x="2027766" y="750887"/>
                </a:lnTo>
                <a:lnTo>
                  <a:pt x="1951746" y="750628"/>
                </a:lnTo>
                <a:lnTo>
                  <a:pt x="1876432" y="749858"/>
                </a:lnTo>
                <a:lnTo>
                  <a:pt x="1801873" y="748584"/>
                </a:lnTo>
                <a:lnTo>
                  <a:pt x="1728118" y="746817"/>
                </a:lnTo>
                <a:lnTo>
                  <a:pt x="1655216" y="744565"/>
                </a:lnTo>
                <a:lnTo>
                  <a:pt x="1583217" y="741837"/>
                </a:lnTo>
                <a:lnTo>
                  <a:pt x="1512168" y="738643"/>
                </a:lnTo>
                <a:lnTo>
                  <a:pt x="1442120" y="734991"/>
                </a:lnTo>
                <a:lnTo>
                  <a:pt x="1373122" y="730892"/>
                </a:lnTo>
                <a:lnTo>
                  <a:pt x="1305221" y="726352"/>
                </a:lnTo>
                <a:lnTo>
                  <a:pt x="1238468" y="721383"/>
                </a:lnTo>
                <a:lnTo>
                  <a:pt x="1172911" y="715993"/>
                </a:lnTo>
                <a:lnTo>
                  <a:pt x="1108599" y="710190"/>
                </a:lnTo>
                <a:lnTo>
                  <a:pt x="1045582" y="703985"/>
                </a:lnTo>
                <a:lnTo>
                  <a:pt x="983908" y="697385"/>
                </a:lnTo>
                <a:lnTo>
                  <a:pt x="923626" y="690401"/>
                </a:lnTo>
                <a:lnTo>
                  <a:pt x="864786" y="683041"/>
                </a:lnTo>
                <a:lnTo>
                  <a:pt x="807436" y="675314"/>
                </a:lnTo>
                <a:lnTo>
                  <a:pt x="751625" y="667230"/>
                </a:lnTo>
                <a:lnTo>
                  <a:pt x="697402" y="658797"/>
                </a:lnTo>
                <a:lnTo>
                  <a:pt x="644817" y="650025"/>
                </a:lnTo>
                <a:lnTo>
                  <a:pt x="593919" y="640922"/>
                </a:lnTo>
                <a:lnTo>
                  <a:pt x="544755" y="631498"/>
                </a:lnTo>
                <a:lnTo>
                  <a:pt x="497377" y="621762"/>
                </a:lnTo>
                <a:lnTo>
                  <a:pt x="451831" y="611723"/>
                </a:lnTo>
                <a:lnTo>
                  <a:pt x="408168" y="601389"/>
                </a:lnTo>
                <a:lnTo>
                  <a:pt x="366436" y="590771"/>
                </a:lnTo>
                <a:lnTo>
                  <a:pt x="326685" y="579876"/>
                </a:lnTo>
                <a:lnTo>
                  <a:pt x="288964" y="568715"/>
                </a:lnTo>
                <a:lnTo>
                  <a:pt x="219805" y="545628"/>
                </a:lnTo>
                <a:lnTo>
                  <a:pt x="159351" y="521583"/>
                </a:lnTo>
                <a:lnTo>
                  <a:pt x="107996" y="496652"/>
                </a:lnTo>
                <a:lnTo>
                  <a:pt x="66131" y="470907"/>
                </a:lnTo>
                <a:lnTo>
                  <a:pt x="34149" y="444421"/>
                </a:lnTo>
                <a:lnTo>
                  <a:pt x="5561" y="403463"/>
                </a:lnTo>
                <a:lnTo>
                  <a:pt x="0" y="375443"/>
                </a:lnTo>
                <a:close/>
              </a:path>
            </a:pathLst>
          </a:custGeom>
          <a:ln w="28574">
            <a:solidFill>
              <a:srgbClr val="000000"/>
            </a:solidFill>
          </a:ln>
        </p:spPr>
        <p:txBody>
          <a:bodyPr wrap="square" lIns="0" tIns="0" rIns="0" bIns="0" rtlCol="0"/>
          <a:lstStyle/>
          <a:p/>
        </p:txBody>
      </p:sp>
      <p:sp>
        <p:nvSpPr>
          <p:cNvPr id="38" name="object 34"/>
          <p:cNvSpPr/>
          <p:nvPr/>
        </p:nvSpPr>
        <p:spPr>
          <a:xfrm>
            <a:off x="2447698" y="1152899"/>
            <a:ext cx="1734026" cy="912019"/>
          </a:xfrm>
          <a:custGeom>
            <a:avLst/>
            <a:gdLst/>
            <a:ahLst/>
            <a:cxnLst/>
            <a:rect l="l" t="t" r="r" b="b"/>
            <a:pathLst>
              <a:path w="2312035" h="1216025">
                <a:moveTo>
                  <a:pt x="2311701" y="1215527"/>
                </a:moveTo>
                <a:lnTo>
                  <a:pt x="0" y="0"/>
                </a:lnTo>
              </a:path>
            </a:pathLst>
          </a:custGeom>
          <a:ln w="28574">
            <a:solidFill>
              <a:srgbClr val="000000"/>
            </a:solidFill>
          </a:ln>
        </p:spPr>
        <p:txBody>
          <a:bodyPr wrap="square" lIns="0" tIns="0" rIns="0" bIns="0" rtlCol="0"/>
          <a:lstStyle/>
          <a:p/>
        </p:txBody>
      </p:sp>
      <p:sp>
        <p:nvSpPr>
          <p:cNvPr id="39" name="object 35"/>
          <p:cNvSpPr/>
          <p:nvPr/>
        </p:nvSpPr>
        <p:spPr>
          <a:xfrm>
            <a:off x="2428875" y="1138660"/>
            <a:ext cx="104149" cy="89579"/>
          </a:xfrm>
          <a:prstGeom prst="rect">
            <a:avLst/>
          </a:prstGeom>
          <a:blipFill>
            <a:blip r:embed="rId1" cstate="print"/>
            <a:stretch>
              <a:fillRect/>
            </a:stretch>
          </a:blipFill>
        </p:spPr>
        <p:txBody>
          <a:bodyPr wrap="square" lIns="0" tIns="0" rIns="0" bIns="0" rtlCol="0"/>
          <a:lstStyle/>
          <a:p/>
        </p:txBody>
      </p:sp>
      <p:sp>
        <p:nvSpPr>
          <p:cNvPr id="40" name="object 36"/>
          <p:cNvSpPr/>
          <p:nvPr/>
        </p:nvSpPr>
        <p:spPr>
          <a:xfrm>
            <a:off x="2449871" y="2010775"/>
            <a:ext cx="1664970" cy="268129"/>
          </a:xfrm>
          <a:custGeom>
            <a:avLst/>
            <a:gdLst/>
            <a:ahLst/>
            <a:cxnLst/>
            <a:rect l="l" t="t" r="r" b="b"/>
            <a:pathLst>
              <a:path w="2219960" h="357505">
                <a:moveTo>
                  <a:pt x="2219905" y="357442"/>
                </a:moveTo>
                <a:lnTo>
                  <a:pt x="0" y="0"/>
                </a:lnTo>
              </a:path>
            </a:pathLst>
          </a:custGeom>
          <a:ln w="28574">
            <a:solidFill>
              <a:srgbClr val="000000"/>
            </a:solidFill>
          </a:ln>
        </p:spPr>
        <p:txBody>
          <a:bodyPr wrap="square" lIns="0" tIns="0" rIns="0" bIns="0" rtlCol="0"/>
          <a:lstStyle/>
          <a:p/>
        </p:txBody>
      </p:sp>
      <p:sp>
        <p:nvSpPr>
          <p:cNvPr id="41" name="object 37"/>
          <p:cNvSpPr/>
          <p:nvPr/>
        </p:nvSpPr>
        <p:spPr>
          <a:xfrm>
            <a:off x="2428876" y="1971840"/>
            <a:ext cx="102562" cy="98219"/>
          </a:xfrm>
          <a:prstGeom prst="rect">
            <a:avLst/>
          </a:prstGeom>
          <a:blipFill>
            <a:blip r:embed="rId2" cstate="print"/>
            <a:stretch>
              <a:fillRect/>
            </a:stretch>
          </a:blipFill>
        </p:spPr>
        <p:txBody>
          <a:bodyPr wrap="square" lIns="0" tIns="0" rIns="0" bIns="0" rtlCol="0"/>
          <a:lstStyle/>
          <a:p/>
        </p:txBody>
      </p:sp>
      <p:sp>
        <p:nvSpPr>
          <p:cNvPr id="42" name="object 38"/>
          <p:cNvSpPr/>
          <p:nvPr/>
        </p:nvSpPr>
        <p:spPr>
          <a:xfrm>
            <a:off x="3049371" y="2478882"/>
            <a:ext cx="1037273" cy="301466"/>
          </a:xfrm>
          <a:custGeom>
            <a:avLst/>
            <a:gdLst/>
            <a:ahLst/>
            <a:cxnLst/>
            <a:rect l="l" t="t" r="r" b="b"/>
            <a:pathLst>
              <a:path w="1383029" h="401954">
                <a:moveTo>
                  <a:pt x="1382470" y="0"/>
                </a:moveTo>
                <a:lnTo>
                  <a:pt x="0" y="401663"/>
                </a:lnTo>
              </a:path>
            </a:pathLst>
          </a:custGeom>
          <a:ln w="28574">
            <a:solidFill>
              <a:srgbClr val="000000"/>
            </a:solidFill>
          </a:ln>
        </p:spPr>
        <p:txBody>
          <a:bodyPr wrap="square" lIns="0" tIns="0" rIns="0" bIns="0" rtlCol="0"/>
          <a:lstStyle/>
          <a:p/>
        </p:txBody>
      </p:sp>
      <p:sp>
        <p:nvSpPr>
          <p:cNvPr id="43" name="object 39"/>
          <p:cNvSpPr/>
          <p:nvPr/>
        </p:nvSpPr>
        <p:spPr>
          <a:xfrm>
            <a:off x="3028951" y="2714331"/>
            <a:ext cx="104459" cy="95707"/>
          </a:xfrm>
          <a:prstGeom prst="rect">
            <a:avLst/>
          </a:prstGeom>
          <a:blipFill>
            <a:blip r:embed="rId3" cstate="print"/>
            <a:stretch>
              <a:fillRect/>
            </a:stretch>
          </a:blipFill>
        </p:spPr>
        <p:txBody>
          <a:bodyPr wrap="square" lIns="0" tIns="0" rIns="0" bIns="0" rtlCol="0"/>
          <a:lstStyle/>
          <a:p/>
        </p:txBody>
      </p:sp>
      <p:sp>
        <p:nvSpPr>
          <p:cNvPr id="44" name="object 40"/>
          <p:cNvSpPr/>
          <p:nvPr/>
        </p:nvSpPr>
        <p:spPr>
          <a:xfrm>
            <a:off x="3162726" y="2878931"/>
            <a:ext cx="962025" cy="805815"/>
          </a:xfrm>
          <a:custGeom>
            <a:avLst/>
            <a:gdLst/>
            <a:ahLst/>
            <a:cxnLst/>
            <a:rect l="l" t="t" r="r" b="b"/>
            <a:pathLst>
              <a:path w="1282700" h="1074420">
                <a:moveTo>
                  <a:pt x="1282129" y="0"/>
                </a:moveTo>
                <a:lnTo>
                  <a:pt x="0" y="1073991"/>
                </a:lnTo>
              </a:path>
            </a:pathLst>
          </a:custGeom>
          <a:ln w="28574">
            <a:solidFill>
              <a:srgbClr val="000000"/>
            </a:solidFill>
          </a:ln>
        </p:spPr>
        <p:txBody>
          <a:bodyPr wrap="square" lIns="0" tIns="0" rIns="0" bIns="0" rtlCol="0"/>
          <a:lstStyle/>
          <a:p/>
        </p:txBody>
      </p:sp>
      <p:sp>
        <p:nvSpPr>
          <p:cNvPr id="45" name="object 41"/>
          <p:cNvSpPr/>
          <p:nvPr/>
        </p:nvSpPr>
        <p:spPr>
          <a:xfrm>
            <a:off x="3146425" y="3602303"/>
            <a:ext cx="101231" cy="95778"/>
          </a:xfrm>
          <a:prstGeom prst="rect">
            <a:avLst/>
          </a:prstGeom>
          <a:blipFill>
            <a:blip r:embed="rId4" cstate="print"/>
            <a:stretch>
              <a:fillRect/>
            </a:stretch>
          </a:blipFill>
        </p:spPr>
        <p:txBody>
          <a:bodyPr wrap="square" lIns="0" tIns="0" rIns="0" bIns="0" rtlCol="0"/>
          <a:lstStyle/>
          <a:p/>
        </p:txBody>
      </p:sp>
      <p:sp>
        <p:nvSpPr>
          <p:cNvPr id="46" name="object 42"/>
          <p:cNvSpPr/>
          <p:nvPr/>
        </p:nvSpPr>
        <p:spPr>
          <a:xfrm>
            <a:off x="4514850" y="2893220"/>
            <a:ext cx="628174" cy="1117759"/>
          </a:xfrm>
          <a:custGeom>
            <a:avLst/>
            <a:gdLst/>
            <a:ahLst/>
            <a:cxnLst/>
            <a:rect l="l" t="t" r="r" b="b"/>
            <a:pathLst>
              <a:path w="837565" h="1490345">
                <a:moveTo>
                  <a:pt x="0" y="0"/>
                </a:moveTo>
                <a:lnTo>
                  <a:pt x="837010" y="1489753"/>
                </a:lnTo>
              </a:path>
            </a:pathLst>
          </a:custGeom>
          <a:ln w="28574">
            <a:solidFill>
              <a:srgbClr val="000000"/>
            </a:solidFill>
          </a:ln>
        </p:spPr>
        <p:txBody>
          <a:bodyPr wrap="square" lIns="0" tIns="0" rIns="0" bIns="0" rtlCol="0"/>
          <a:lstStyle/>
          <a:p/>
        </p:txBody>
      </p:sp>
      <p:sp>
        <p:nvSpPr>
          <p:cNvPr id="47" name="object 43"/>
          <p:cNvSpPr/>
          <p:nvPr/>
        </p:nvSpPr>
        <p:spPr>
          <a:xfrm>
            <a:off x="5066180" y="3925302"/>
            <a:ext cx="88442" cy="103774"/>
          </a:xfrm>
          <a:prstGeom prst="rect">
            <a:avLst/>
          </a:prstGeom>
          <a:blipFill>
            <a:blip r:embed="rId5" cstate="print"/>
            <a:stretch>
              <a:fillRect/>
            </a:stretch>
          </a:blipFill>
        </p:spPr>
        <p:txBody>
          <a:bodyPr wrap="square" lIns="0" tIns="0" rIns="0" bIns="0" rtlCol="0"/>
          <a:lstStyle/>
          <a:p/>
        </p:txBody>
      </p:sp>
      <p:sp>
        <p:nvSpPr>
          <p:cNvPr id="48" name="object 44"/>
          <p:cNvSpPr/>
          <p:nvPr/>
        </p:nvSpPr>
        <p:spPr>
          <a:xfrm>
            <a:off x="4962526" y="2836070"/>
            <a:ext cx="926306" cy="694849"/>
          </a:xfrm>
          <a:custGeom>
            <a:avLst/>
            <a:gdLst/>
            <a:ahLst/>
            <a:cxnLst/>
            <a:rect l="l" t="t" r="r" b="b"/>
            <a:pathLst>
              <a:path w="1235075" h="926464">
                <a:moveTo>
                  <a:pt x="0" y="0"/>
                </a:moveTo>
                <a:lnTo>
                  <a:pt x="1234615" y="925961"/>
                </a:lnTo>
              </a:path>
            </a:pathLst>
          </a:custGeom>
          <a:ln w="28574">
            <a:solidFill>
              <a:srgbClr val="000000"/>
            </a:solidFill>
          </a:ln>
        </p:spPr>
        <p:txBody>
          <a:bodyPr wrap="square" lIns="0" tIns="0" rIns="0" bIns="0" rtlCol="0"/>
          <a:lstStyle/>
          <a:p/>
        </p:txBody>
      </p:sp>
      <p:sp>
        <p:nvSpPr>
          <p:cNvPr id="49" name="object 45"/>
          <p:cNvSpPr/>
          <p:nvPr/>
        </p:nvSpPr>
        <p:spPr>
          <a:xfrm>
            <a:off x="5803222" y="3449787"/>
            <a:ext cx="102278" cy="93513"/>
          </a:xfrm>
          <a:prstGeom prst="rect">
            <a:avLst/>
          </a:prstGeom>
          <a:blipFill>
            <a:blip r:embed="rId6" cstate="print"/>
            <a:stretch>
              <a:fillRect/>
            </a:stretch>
          </a:blipFill>
        </p:spPr>
        <p:txBody>
          <a:bodyPr wrap="square" lIns="0" tIns="0" rIns="0" bIns="0" rtlCol="0"/>
          <a:lstStyle/>
          <a:p/>
        </p:txBody>
      </p:sp>
      <p:sp>
        <p:nvSpPr>
          <p:cNvPr id="50" name="object 46"/>
          <p:cNvSpPr/>
          <p:nvPr/>
        </p:nvSpPr>
        <p:spPr>
          <a:xfrm>
            <a:off x="4724399" y="2428876"/>
            <a:ext cx="1694021" cy="331946"/>
          </a:xfrm>
          <a:custGeom>
            <a:avLst/>
            <a:gdLst/>
            <a:ahLst/>
            <a:cxnLst/>
            <a:rect l="l" t="t" r="r" b="b"/>
            <a:pathLst>
              <a:path w="2258695" h="442595">
                <a:moveTo>
                  <a:pt x="0" y="0"/>
                </a:moveTo>
                <a:lnTo>
                  <a:pt x="2258172" y="442225"/>
                </a:lnTo>
              </a:path>
            </a:pathLst>
          </a:custGeom>
          <a:ln w="28574">
            <a:solidFill>
              <a:srgbClr val="000000"/>
            </a:solidFill>
          </a:ln>
        </p:spPr>
        <p:txBody>
          <a:bodyPr wrap="square" lIns="0" tIns="0" rIns="0" bIns="0" rtlCol="0"/>
          <a:lstStyle/>
          <a:p/>
        </p:txBody>
      </p:sp>
      <p:sp>
        <p:nvSpPr>
          <p:cNvPr id="51" name="object 47"/>
          <p:cNvSpPr/>
          <p:nvPr/>
        </p:nvSpPr>
        <p:spPr>
          <a:xfrm>
            <a:off x="6335661" y="2699428"/>
            <a:ext cx="103238" cy="97631"/>
          </a:xfrm>
          <a:prstGeom prst="rect">
            <a:avLst/>
          </a:prstGeom>
          <a:blipFill>
            <a:blip r:embed="rId7" cstate="print"/>
            <a:stretch>
              <a:fillRect/>
            </a:stretch>
          </a:blipFill>
        </p:spPr>
        <p:txBody>
          <a:bodyPr wrap="square" lIns="0" tIns="0" rIns="0" bIns="0" rtlCol="0"/>
          <a:lstStyle/>
          <a:p/>
        </p:txBody>
      </p:sp>
      <p:sp>
        <p:nvSpPr>
          <p:cNvPr id="52" name="object 48"/>
          <p:cNvSpPr/>
          <p:nvPr/>
        </p:nvSpPr>
        <p:spPr>
          <a:xfrm>
            <a:off x="4724399" y="2054382"/>
            <a:ext cx="1027271" cy="203359"/>
          </a:xfrm>
          <a:custGeom>
            <a:avLst/>
            <a:gdLst/>
            <a:ahLst/>
            <a:cxnLst/>
            <a:rect l="l" t="t" r="r" b="b"/>
            <a:pathLst>
              <a:path w="1369695" h="271144">
                <a:moveTo>
                  <a:pt x="0" y="270724"/>
                </a:moveTo>
                <a:lnTo>
                  <a:pt x="1369182" y="0"/>
                </a:lnTo>
              </a:path>
            </a:pathLst>
          </a:custGeom>
          <a:ln w="28574">
            <a:solidFill>
              <a:srgbClr val="000000"/>
            </a:solidFill>
          </a:ln>
        </p:spPr>
        <p:txBody>
          <a:bodyPr wrap="square" lIns="0" tIns="0" rIns="0" bIns="0" rtlCol="0"/>
          <a:lstStyle/>
          <a:p/>
        </p:txBody>
      </p:sp>
      <p:sp>
        <p:nvSpPr>
          <p:cNvPr id="53" name="object 49"/>
          <p:cNvSpPr/>
          <p:nvPr/>
        </p:nvSpPr>
        <p:spPr>
          <a:xfrm>
            <a:off x="5668877" y="2017999"/>
            <a:ext cx="103271" cy="97596"/>
          </a:xfrm>
          <a:prstGeom prst="rect">
            <a:avLst/>
          </a:prstGeom>
          <a:blipFill>
            <a:blip r:embed="rId8" cstate="print"/>
            <a:stretch>
              <a:fillRect/>
            </a:stretch>
          </a:blipFill>
        </p:spPr>
        <p:txBody>
          <a:bodyPr wrap="square" lIns="0" tIns="0" rIns="0" bIns="0" rtlCol="0"/>
          <a:lstStyle/>
          <a:p/>
        </p:txBody>
      </p:sp>
      <p:sp>
        <p:nvSpPr>
          <p:cNvPr id="54" name="object 51"/>
          <p:cNvSpPr/>
          <p:nvPr/>
        </p:nvSpPr>
        <p:spPr>
          <a:xfrm>
            <a:off x="7941108" y="971030"/>
            <a:ext cx="0" cy="160020"/>
          </a:xfrm>
          <a:custGeom>
            <a:avLst/>
            <a:gdLst/>
            <a:ahLst/>
            <a:cxnLst/>
            <a:rect l="l" t="t" r="r" b="b"/>
            <a:pathLst>
              <a:path h="213359">
                <a:moveTo>
                  <a:pt x="0" y="0"/>
                </a:moveTo>
                <a:lnTo>
                  <a:pt x="0" y="212968"/>
                </a:lnTo>
              </a:path>
            </a:pathLst>
          </a:custGeom>
          <a:ln w="3175">
            <a:solidFill>
              <a:srgbClr val="FFFFFF"/>
            </a:solidFill>
          </a:ln>
        </p:spPr>
        <p:txBody>
          <a:bodyPr wrap="square" lIns="0" tIns="0" rIns="0" bIns="0" rtlCol="0"/>
          <a:lstStyle/>
          <a:p/>
        </p:txBody>
      </p:sp>
      <p:sp>
        <p:nvSpPr>
          <p:cNvPr id="55" name="object 52"/>
          <p:cNvSpPr/>
          <p:nvPr/>
        </p:nvSpPr>
        <p:spPr>
          <a:xfrm>
            <a:off x="7940672" y="971030"/>
            <a:ext cx="953" cy="160020"/>
          </a:xfrm>
          <a:custGeom>
            <a:avLst/>
            <a:gdLst/>
            <a:ahLst/>
            <a:cxnLst/>
            <a:rect l="l" t="t" r="r" b="b"/>
            <a:pathLst>
              <a:path w="1270" h="213359">
                <a:moveTo>
                  <a:pt x="580" y="-14287"/>
                </a:moveTo>
                <a:lnTo>
                  <a:pt x="580" y="227256"/>
                </a:lnTo>
              </a:path>
            </a:pathLst>
          </a:custGeom>
          <a:ln w="29736">
            <a:solidFill>
              <a:srgbClr val="000000"/>
            </a:solidFill>
          </a:ln>
        </p:spPr>
        <p:txBody>
          <a:bodyPr wrap="square" lIns="0" tIns="0" rIns="0" bIns="0" rtlCol="0"/>
          <a:lstStyle/>
          <a:p/>
        </p:txBody>
      </p:sp>
      <p:sp>
        <p:nvSpPr>
          <p:cNvPr id="56" name="object 53"/>
          <p:cNvSpPr/>
          <p:nvPr/>
        </p:nvSpPr>
        <p:spPr>
          <a:xfrm>
            <a:off x="7766449" y="1016126"/>
            <a:ext cx="349568" cy="0"/>
          </a:xfrm>
          <a:custGeom>
            <a:avLst/>
            <a:gdLst/>
            <a:ahLst/>
            <a:cxnLst/>
            <a:rect l="l" t="t" r="r" b="b"/>
            <a:pathLst>
              <a:path w="466090">
                <a:moveTo>
                  <a:pt x="0" y="0"/>
                </a:moveTo>
                <a:lnTo>
                  <a:pt x="465759" y="0"/>
                </a:lnTo>
              </a:path>
            </a:pathLst>
          </a:custGeom>
          <a:ln w="3175">
            <a:solidFill>
              <a:srgbClr val="FFFFFF"/>
            </a:solidFill>
          </a:ln>
        </p:spPr>
        <p:txBody>
          <a:bodyPr wrap="square" lIns="0" tIns="0" rIns="0" bIns="0" rtlCol="0"/>
          <a:lstStyle/>
          <a:p/>
        </p:txBody>
      </p:sp>
      <p:sp>
        <p:nvSpPr>
          <p:cNvPr id="57" name="object 54"/>
          <p:cNvSpPr/>
          <p:nvPr/>
        </p:nvSpPr>
        <p:spPr>
          <a:xfrm>
            <a:off x="7766449" y="1015780"/>
            <a:ext cx="349568" cy="953"/>
          </a:xfrm>
          <a:custGeom>
            <a:avLst/>
            <a:gdLst/>
            <a:ahLst/>
            <a:cxnLst/>
            <a:rect l="l" t="t" r="r" b="b"/>
            <a:pathLst>
              <a:path w="466090" h="1269">
                <a:moveTo>
                  <a:pt x="0" y="0"/>
                </a:moveTo>
                <a:lnTo>
                  <a:pt x="465759" y="918"/>
                </a:lnTo>
              </a:path>
            </a:pathLst>
          </a:custGeom>
          <a:ln w="28574">
            <a:solidFill>
              <a:srgbClr val="000000"/>
            </a:solidFill>
          </a:ln>
        </p:spPr>
        <p:txBody>
          <a:bodyPr wrap="square" lIns="0" tIns="0" rIns="0" bIns="0" rtlCol="0"/>
          <a:lstStyle/>
          <a:p/>
        </p:txBody>
      </p:sp>
      <p:sp>
        <p:nvSpPr>
          <p:cNvPr id="58" name="object 55"/>
          <p:cNvSpPr/>
          <p:nvPr/>
        </p:nvSpPr>
        <p:spPr>
          <a:xfrm>
            <a:off x="7699372" y="1130756"/>
            <a:ext cx="482918" cy="187643"/>
          </a:xfrm>
          <a:custGeom>
            <a:avLst/>
            <a:gdLst/>
            <a:ahLst/>
            <a:cxnLst/>
            <a:rect l="l" t="t" r="r" b="b"/>
            <a:pathLst>
              <a:path w="643890" h="250189">
                <a:moveTo>
                  <a:pt x="321732" y="0"/>
                </a:moveTo>
                <a:lnTo>
                  <a:pt x="0" y="249688"/>
                </a:lnTo>
                <a:lnTo>
                  <a:pt x="643467" y="249688"/>
                </a:lnTo>
                <a:lnTo>
                  <a:pt x="321732" y="0"/>
                </a:lnTo>
                <a:close/>
              </a:path>
            </a:pathLst>
          </a:custGeom>
          <a:solidFill>
            <a:srgbClr val="FFFFFF"/>
          </a:solidFill>
        </p:spPr>
        <p:txBody>
          <a:bodyPr wrap="square" lIns="0" tIns="0" rIns="0" bIns="0" rtlCol="0"/>
          <a:lstStyle/>
          <a:p/>
        </p:txBody>
      </p:sp>
      <p:sp>
        <p:nvSpPr>
          <p:cNvPr id="59" name="object 56"/>
          <p:cNvSpPr/>
          <p:nvPr/>
        </p:nvSpPr>
        <p:spPr>
          <a:xfrm>
            <a:off x="7699372" y="1130756"/>
            <a:ext cx="482918" cy="187643"/>
          </a:xfrm>
          <a:custGeom>
            <a:avLst/>
            <a:gdLst/>
            <a:ahLst/>
            <a:cxnLst/>
            <a:rect l="l" t="t" r="r" b="b"/>
            <a:pathLst>
              <a:path w="643890" h="250189">
                <a:moveTo>
                  <a:pt x="0" y="249687"/>
                </a:moveTo>
                <a:lnTo>
                  <a:pt x="321733" y="0"/>
                </a:lnTo>
                <a:lnTo>
                  <a:pt x="643466" y="249687"/>
                </a:lnTo>
              </a:path>
            </a:pathLst>
          </a:custGeom>
          <a:ln w="28574">
            <a:solidFill>
              <a:srgbClr val="000000"/>
            </a:solidFill>
          </a:ln>
        </p:spPr>
        <p:txBody>
          <a:bodyPr wrap="square" lIns="0" tIns="0" rIns="0" bIns="0" rtlCol="0"/>
          <a:lstStyle/>
          <a:p/>
        </p:txBody>
      </p:sp>
      <p:sp>
        <p:nvSpPr>
          <p:cNvPr id="60" name="object 57"/>
          <p:cNvSpPr txBox="1"/>
          <p:nvPr/>
        </p:nvSpPr>
        <p:spPr>
          <a:xfrm>
            <a:off x="6512070" y="1307139"/>
            <a:ext cx="1747361" cy="823595"/>
          </a:xfrm>
          <a:prstGeom prst="rect">
            <a:avLst/>
          </a:prstGeom>
        </p:spPr>
        <p:txBody>
          <a:bodyPr vert="horz" wrap="square" lIns="0" tIns="9525" rIns="0" bIns="0" rtlCol="0">
            <a:spAutoFit/>
          </a:bodyPr>
          <a:lstStyle/>
          <a:p>
            <a:pPr marL="9525" marR="3810" indent="1194435">
              <a:lnSpc>
                <a:spcPct val="126000"/>
              </a:lnSpc>
              <a:spcBef>
                <a:spcPts val="75"/>
              </a:spcBef>
              <a:spcAft>
                <a:spcPts val="0"/>
              </a:spcAft>
            </a:pPr>
            <a:r>
              <a:rPr sz="2100" dirty="0">
                <a:latin typeface="宋体" panose="02010600030101010101" pitchFamily="2" charset="-122"/>
                <a:cs typeface="宋体" panose="02010600030101010101" pitchFamily="2" charset="-122"/>
              </a:rPr>
              <a:t>银联 </a:t>
            </a:r>
            <a:r>
              <a:rPr sz="2100" b="1" dirty="0">
                <a:solidFill>
                  <a:srgbClr val="FFFFFF"/>
                </a:solidFill>
                <a:latin typeface="Microsoft JhengHei" panose="020B0604030504040204" charset="-120"/>
                <a:cs typeface="Microsoft JhengHei" panose="020B0604030504040204" charset="-120"/>
              </a:rPr>
              <a:t>选择转出账号</a:t>
            </a:r>
            <a:endParaRPr sz="2100">
              <a:latin typeface="Microsoft JhengHei" panose="020B0604030504040204" charset="-120"/>
              <a:cs typeface="Microsoft JhengHei" panose="020B0604030504040204" charset="-120"/>
            </a:endParaRPr>
          </a:p>
        </p:txBody>
      </p:sp>
      <p:sp>
        <p:nvSpPr>
          <p:cNvPr id="61" name="object 58"/>
          <p:cNvSpPr/>
          <p:nvPr/>
        </p:nvSpPr>
        <p:spPr>
          <a:xfrm>
            <a:off x="3244304" y="889397"/>
            <a:ext cx="2536984" cy="496729"/>
          </a:xfrm>
          <a:custGeom>
            <a:avLst/>
            <a:gdLst/>
            <a:ahLst/>
            <a:cxnLst/>
            <a:rect l="l" t="t" r="r" b="b"/>
            <a:pathLst>
              <a:path w="3382645" h="662305">
                <a:moveTo>
                  <a:pt x="1691217" y="0"/>
                </a:moveTo>
                <a:lnTo>
                  <a:pt x="1615883" y="322"/>
                </a:lnTo>
                <a:lnTo>
                  <a:pt x="1541394" y="1281"/>
                </a:lnTo>
                <a:lnTo>
                  <a:pt x="1467817" y="2862"/>
                </a:lnTo>
                <a:lnTo>
                  <a:pt x="1395221" y="5052"/>
                </a:lnTo>
                <a:lnTo>
                  <a:pt x="1323675" y="7838"/>
                </a:lnTo>
                <a:lnTo>
                  <a:pt x="1253248" y="11206"/>
                </a:lnTo>
                <a:lnTo>
                  <a:pt x="1184009" y="15143"/>
                </a:lnTo>
                <a:lnTo>
                  <a:pt x="1116026" y="19635"/>
                </a:lnTo>
                <a:lnTo>
                  <a:pt x="1049368" y="24669"/>
                </a:lnTo>
                <a:lnTo>
                  <a:pt x="984104" y="30232"/>
                </a:lnTo>
                <a:lnTo>
                  <a:pt x="920302" y="36309"/>
                </a:lnTo>
                <a:lnTo>
                  <a:pt x="858032" y="42888"/>
                </a:lnTo>
                <a:lnTo>
                  <a:pt x="797361" y="49955"/>
                </a:lnTo>
                <a:lnTo>
                  <a:pt x="738360" y="57496"/>
                </a:lnTo>
                <a:lnTo>
                  <a:pt x="681095" y="65499"/>
                </a:lnTo>
                <a:lnTo>
                  <a:pt x="625637" y="73949"/>
                </a:lnTo>
                <a:lnTo>
                  <a:pt x="572054" y="82834"/>
                </a:lnTo>
                <a:lnTo>
                  <a:pt x="520415" y="92139"/>
                </a:lnTo>
                <a:lnTo>
                  <a:pt x="470788" y="101852"/>
                </a:lnTo>
                <a:lnTo>
                  <a:pt x="423242" y="111958"/>
                </a:lnTo>
                <a:lnTo>
                  <a:pt x="377847" y="122445"/>
                </a:lnTo>
                <a:lnTo>
                  <a:pt x="334670" y="133299"/>
                </a:lnTo>
                <a:lnTo>
                  <a:pt x="293780" y="144507"/>
                </a:lnTo>
                <a:lnTo>
                  <a:pt x="255246" y="156054"/>
                </a:lnTo>
                <a:lnTo>
                  <a:pt x="185523" y="180115"/>
                </a:lnTo>
                <a:lnTo>
                  <a:pt x="126049" y="205375"/>
                </a:lnTo>
                <a:lnTo>
                  <a:pt x="77374" y="231726"/>
                </a:lnTo>
                <a:lnTo>
                  <a:pt x="40049" y="259061"/>
                </a:lnTo>
                <a:lnTo>
                  <a:pt x="6545" y="301671"/>
                </a:lnTo>
                <a:lnTo>
                  <a:pt x="0" y="330993"/>
                </a:lnTo>
                <a:lnTo>
                  <a:pt x="1647" y="345737"/>
                </a:lnTo>
                <a:lnTo>
                  <a:pt x="25815" y="388924"/>
                </a:lnTo>
                <a:lnTo>
                  <a:pt x="57259" y="416710"/>
                </a:lnTo>
                <a:lnTo>
                  <a:pt x="100327" y="443566"/>
                </a:lnTo>
                <a:lnTo>
                  <a:pt x="154470" y="469385"/>
                </a:lnTo>
                <a:lnTo>
                  <a:pt x="219138" y="494059"/>
                </a:lnTo>
                <a:lnTo>
                  <a:pt x="293780" y="517481"/>
                </a:lnTo>
                <a:lnTo>
                  <a:pt x="334670" y="528688"/>
                </a:lnTo>
                <a:lnTo>
                  <a:pt x="377847" y="539542"/>
                </a:lnTo>
                <a:lnTo>
                  <a:pt x="423242" y="550029"/>
                </a:lnTo>
                <a:lnTo>
                  <a:pt x="470788" y="560135"/>
                </a:lnTo>
                <a:lnTo>
                  <a:pt x="520415" y="569848"/>
                </a:lnTo>
                <a:lnTo>
                  <a:pt x="572054" y="579153"/>
                </a:lnTo>
                <a:lnTo>
                  <a:pt x="625637" y="588038"/>
                </a:lnTo>
                <a:lnTo>
                  <a:pt x="681095" y="596488"/>
                </a:lnTo>
                <a:lnTo>
                  <a:pt x="738360" y="604491"/>
                </a:lnTo>
                <a:lnTo>
                  <a:pt x="797361" y="612032"/>
                </a:lnTo>
                <a:lnTo>
                  <a:pt x="858032" y="619099"/>
                </a:lnTo>
                <a:lnTo>
                  <a:pt x="920302" y="625678"/>
                </a:lnTo>
                <a:lnTo>
                  <a:pt x="984104" y="631755"/>
                </a:lnTo>
                <a:lnTo>
                  <a:pt x="1049368" y="637318"/>
                </a:lnTo>
                <a:lnTo>
                  <a:pt x="1116026" y="642352"/>
                </a:lnTo>
                <a:lnTo>
                  <a:pt x="1184009" y="646844"/>
                </a:lnTo>
                <a:lnTo>
                  <a:pt x="1253248" y="650781"/>
                </a:lnTo>
                <a:lnTo>
                  <a:pt x="1323675" y="654149"/>
                </a:lnTo>
                <a:lnTo>
                  <a:pt x="1395221" y="656935"/>
                </a:lnTo>
                <a:lnTo>
                  <a:pt x="1467817" y="659125"/>
                </a:lnTo>
                <a:lnTo>
                  <a:pt x="1541394" y="660706"/>
                </a:lnTo>
                <a:lnTo>
                  <a:pt x="1615883" y="661665"/>
                </a:lnTo>
                <a:lnTo>
                  <a:pt x="1691217" y="661987"/>
                </a:lnTo>
                <a:lnTo>
                  <a:pt x="1766550" y="661665"/>
                </a:lnTo>
                <a:lnTo>
                  <a:pt x="1841040" y="660706"/>
                </a:lnTo>
                <a:lnTo>
                  <a:pt x="1914617" y="659125"/>
                </a:lnTo>
                <a:lnTo>
                  <a:pt x="1987212" y="656935"/>
                </a:lnTo>
                <a:lnTo>
                  <a:pt x="2058758" y="654149"/>
                </a:lnTo>
                <a:lnTo>
                  <a:pt x="2129185" y="650781"/>
                </a:lnTo>
                <a:lnTo>
                  <a:pt x="2198424" y="646844"/>
                </a:lnTo>
                <a:lnTo>
                  <a:pt x="2266407" y="642352"/>
                </a:lnTo>
                <a:lnTo>
                  <a:pt x="2333065" y="637318"/>
                </a:lnTo>
                <a:lnTo>
                  <a:pt x="2398329" y="631755"/>
                </a:lnTo>
                <a:lnTo>
                  <a:pt x="2462131" y="625678"/>
                </a:lnTo>
                <a:lnTo>
                  <a:pt x="2524401" y="619099"/>
                </a:lnTo>
                <a:lnTo>
                  <a:pt x="2585071" y="612032"/>
                </a:lnTo>
                <a:lnTo>
                  <a:pt x="2644073" y="604491"/>
                </a:lnTo>
                <a:lnTo>
                  <a:pt x="2701337" y="596488"/>
                </a:lnTo>
                <a:lnTo>
                  <a:pt x="2756795" y="588038"/>
                </a:lnTo>
                <a:lnTo>
                  <a:pt x="2810378" y="579153"/>
                </a:lnTo>
                <a:lnTo>
                  <a:pt x="2862018" y="569848"/>
                </a:lnTo>
                <a:lnTo>
                  <a:pt x="2911644" y="560135"/>
                </a:lnTo>
                <a:lnTo>
                  <a:pt x="2959190" y="550029"/>
                </a:lnTo>
                <a:lnTo>
                  <a:pt x="3004586" y="539542"/>
                </a:lnTo>
                <a:lnTo>
                  <a:pt x="3047763" y="528688"/>
                </a:lnTo>
                <a:lnTo>
                  <a:pt x="3088652" y="517481"/>
                </a:lnTo>
                <a:lnTo>
                  <a:pt x="3127186" y="505933"/>
                </a:lnTo>
                <a:lnTo>
                  <a:pt x="3196909" y="481872"/>
                </a:lnTo>
                <a:lnTo>
                  <a:pt x="3256383" y="456612"/>
                </a:lnTo>
                <a:lnTo>
                  <a:pt x="3305058" y="430261"/>
                </a:lnTo>
                <a:lnTo>
                  <a:pt x="3342383" y="402926"/>
                </a:lnTo>
                <a:lnTo>
                  <a:pt x="3375887" y="360316"/>
                </a:lnTo>
                <a:lnTo>
                  <a:pt x="3382432" y="330993"/>
                </a:lnTo>
                <a:lnTo>
                  <a:pt x="3380785" y="316250"/>
                </a:lnTo>
                <a:lnTo>
                  <a:pt x="3356617" y="273063"/>
                </a:lnTo>
                <a:lnTo>
                  <a:pt x="3325173" y="245277"/>
                </a:lnTo>
                <a:lnTo>
                  <a:pt x="3282105" y="218421"/>
                </a:lnTo>
                <a:lnTo>
                  <a:pt x="3227962" y="192602"/>
                </a:lnTo>
                <a:lnTo>
                  <a:pt x="3163294" y="167928"/>
                </a:lnTo>
                <a:lnTo>
                  <a:pt x="3088652" y="144507"/>
                </a:lnTo>
                <a:lnTo>
                  <a:pt x="3047763" y="133299"/>
                </a:lnTo>
                <a:lnTo>
                  <a:pt x="3004586" y="122445"/>
                </a:lnTo>
                <a:lnTo>
                  <a:pt x="2959190" y="111958"/>
                </a:lnTo>
                <a:lnTo>
                  <a:pt x="2911644" y="101852"/>
                </a:lnTo>
                <a:lnTo>
                  <a:pt x="2862018" y="92139"/>
                </a:lnTo>
                <a:lnTo>
                  <a:pt x="2810378" y="82834"/>
                </a:lnTo>
                <a:lnTo>
                  <a:pt x="2756795" y="73949"/>
                </a:lnTo>
                <a:lnTo>
                  <a:pt x="2701337" y="65499"/>
                </a:lnTo>
                <a:lnTo>
                  <a:pt x="2644073" y="57496"/>
                </a:lnTo>
                <a:lnTo>
                  <a:pt x="2585071" y="49955"/>
                </a:lnTo>
                <a:lnTo>
                  <a:pt x="2524401" y="42888"/>
                </a:lnTo>
                <a:lnTo>
                  <a:pt x="2462131" y="36309"/>
                </a:lnTo>
                <a:lnTo>
                  <a:pt x="2398329" y="30232"/>
                </a:lnTo>
                <a:lnTo>
                  <a:pt x="2333065" y="24669"/>
                </a:lnTo>
                <a:lnTo>
                  <a:pt x="2266407" y="19635"/>
                </a:lnTo>
                <a:lnTo>
                  <a:pt x="2198424" y="15143"/>
                </a:lnTo>
                <a:lnTo>
                  <a:pt x="2129185" y="11206"/>
                </a:lnTo>
                <a:lnTo>
                  <a:pt x="2058758" y="7838"/>
                </a:lnTo>
                <a:lnTo>
                  <a:pt x="1987212" y="5052"/>
                </a:lnTo>
                <a:lnTo>
                  <a:pt x="1914617" y="2862"/>
                </a:lnTo>
                <a:lnTo>
                  <a:pt x="1841040" y="1281"/>
                </a:lnTo>
                <a:lnTo>
                  <a:pt x="1766550" y="322"/>
                </a:lnTo>
                <a:lnTo>
                  <a:pt x="1691217" y="0"/>
                </a:lnTo>
                <a:close/>
              </a:path>
            </a:pathLst>
          </a:custGeom>
          <a:solidFill>
            <a:srgbClr val="7A4779"/>
          </a:solidFill>
        </p:spPr>
        <p:txBody>
          <a:bodyPr wrap="square" lIns="0" tIns="0" rIns="0" bIns="0" rtlCol="0"/>
          <a:lstStyle/>
          <a:p/>
        </p:txBody>
      </p:sp>
      <p:sp>
        <p:nvSpPr>
          <p:cNvPr id="62" name="object 59"/>
          <p:cNvSpPr/>
          <p:nvPr/>
        </p:nvSpPr>
        <p:spPr>
          <a:xfrm>
            <a:off x="3244303" y="889397"/>
            <a:ext cx="2536984" cy="496729"/>
          </a:xfrm>
          <a:custGeom>
            <a:avLst/>
            <a:gdLst/>
            <a:ahLst/>
            <a:cxnLst/>
            <a:rect l="l" t="t" r="r" b="b"/>
            <a:pathLst>
              <a:path w="3382645" h="662305">
                <a:moveTo>
                  <a:pt x="0" y="330993"/>
                </a:moveTo>
                <a:lnTo>
                  <a:pt x="14624" y="287271"/>
                </a:lnTo>
                <a:lnTo>
                  <a:pt x="57259" y="245277"/>
                </a:lnTo>
                <a:lnTo>
                  <a:pt x="100327" y="218421"/>
                </a:lnTo>
                <a:lnTo>
                  <a:pt x="154470" y="192602"/>
                </a:lnTo>
                <a:lnTo>
                  <a:pt x="219138" y="167928"/>
                </a:lnTo>
                <a:lnTo>
                  <a:pt x="293780" y="144506"/>
                </a:lnTo>
                <a:lnTo>
                  <a:pt x="334669" y="133299"/>
                </a:lnTo>
                <a:lnTo>
                  <a:pt x="377846" y="122445"/>
                </a:lnTo>
                <a:lnTo>
                  <a:pt x="423242" y="111958"/>
                </a:lnTo>
                <a:lnTo>
                  <a:pt x="470788" y="101852"/>
                </a:lnTo>
                <a:lnTo>
                  <a:pt x="520415" y="92139"/>
                </a:lnTo>
                <a:lnTo>
                  <a:pt x="572054" y="82834"/>
                </a:lnTo>
                <a:lnTo>
                  <a:pt x="625637" y="73949"/>
                </a:lnTo>
                <a:lnTo>
                  <a:pt x="681095" y="65499"/>
                </a:lnTo>
                <a:lnTo>
                  <a:pt x="738359" y="57496"/>
                </a:lnTo>
                <a:lnTo>
                  <a:pt x="797361" y="49955"/>
                </a:lnTo>
                <a:lnTo>
                  <a:pt x="858031" y="42888"/>
                </a:lnTo>
                <a:lnTo>
                  <a:pt x="920302" y="36309"/>
                </a:lnTo>
                <a:lnTo>
                  <a:pt x="984104" y="30231"/>
                </a:lnTo>
                <a:lnTo>
                  <a:pt x="1049368" y="24669"/>
                </a:lnTo>
                <a:lnTo>
                  <a:pt x="1116026" y="19635"/>
                </a:lnTo>
                <a:lnTo>
                  <a:pt x="1184009" y="15143"/>
                </a:lnTo>
                <a:lnTo>
                  <a:pt x="1253248" y="11206"/>
                </a:lnTo>
                <a:lnTo>
                  <a:pt x="1323675" y="7838"/>
                </a:lnTo>
                <a:lnTo>
                  <a:pt x="1395220" y="5052"/>
                </a:lnTo>
                <a:lnTo>
                  <a:pt x="1467816" y="2862"/>
                </a:lnTo>
                <a:lnTo>
                  <a:pt x="1541393" y="1281"/>
                </a:lnTo>
                <a:lnTo>
                  <a:pt x="1615883" y="322"/>
                </a:lnTo>
                <a:lnTo>
                  <a:pt x="1691216" y="0"/>
                </a:lnTo>
                <a:lnTo>
                  <a:pt x="1766549" y="322"/>
                </a:lnTo>
                <a:lnTo>
                  <a:pt x="1841039" y="1281"/>
                </a:lnTo>
                <a:lnTo>
                  <a:pt x="1914616" y="2862"/>
                </a:lnTo>
                <a:lnTo>
                  <a:pt x="1987212" y="5052"/>
                </a:lnTo>
                <a:lnTo>
                  <a:pt x="2058757" y="7838"/>
                </a:lnTo>
                <a:lnTo>
                  <a:pt x="2129184" y="11206"/>
                </a:lnTo>
                <a:lnTo>
                  <a:pt x="2198423" y="15143"/>
                </a:lnTo>
                <a:lnTo>
                  <a:pt x="2266406" y="19635"/>
                </a:lnTo>
                <a:lnTo>
                  <a:pt x="2333064" y="24669"/>
                </a:lnTo>
                <a:lnTo>
                  <a:pt x="2398329" y="30231"/>
                </a:lnTo>
                <a:lnTo>
                  <a:pt x="2462130" y="36309"/>
                </a:lnTo>
                <a:lnTo>
                  <a:pt x="2524401" y="42888"/>
                </a:lnTo>
                <a:lnTo>
                  <a:pt x="2585071" y="49955"/>
                </a:lnTo>
                <a:lnTo>
                  <a:pt x="2644073" y="57496"/>
                </a:lnTo>
                <a:lnTo>
                  <a:pt x="2701337" y="65499"/>
                </a:lnTo>
                <a:lnTo>
                  <a:pt x="2756795" y="73949"/>
                </a:lnTo>
                <a:lnTo>
                  <a:pt x="2810378" y="82834"/>
                </a:lnTo>
                <a:lnTo>
                  <a:pt x="2862017" y="92139"/>
                </a:lnTo>
                <a:lnTo>
                  <a:pt x="2911644" y="101852"/>
                </a:lnTo>
                <a:lnTo>
                  <a:pt x="2959190" y="111958"/>
                </a:lnTo>
                <a:lnTo>
                  <a:pt x="3004586" y="122445"/>
                </a:lnTo>
                <a:lnTo>
                  <a:pt x="3047763" y="133299"/>
                </a:lnTo>
                <a:lnTo>
                  <a:pt x="3088652" y="144506"/>
                </a:lnTo>
                <a:lnTo>
                  <a:pt x="3127186" y="156054"/>
                </a:lnTo>
                <a:lnTo>
                  <a:pt x="3196909" y="180115"/>
                </a:lnTo>
                <a:lnTo>
                  <a:pt x="3256383" y="205375"/>
                </a:lnTo>
                <a:lnTo>
                  <a:pt x="3305058" y="231726"/>
                </a:lnTo>
                <a:lnTo>
                  <a:pt x="3342383" y="259060"/>
                </a:lnTo>
                <a:lnTo>
                  <a:pt x="3375887" y="301671"/>
                </a:lnTo>
                <a:lnTo>
                  <a:pt x="3382433" y="330993"/>
                </a:lnTo>
                <a:lnTo>
                  <a:pt x="3380785" y="345737"/>
                </a:lnTo>
                <a:lnTo>
                  <a:pt x="3356617" y="388924"/>
                </a:lnTo>
                <a:lnTo>
                  <a:pt x="3325173" y="416710"/>
                </a:lnTo>
                <a:lnTo>
                  <a:pt x="3282105" y="443566"/>
                </a:lnTo>
                <a:lnTo>
                  <a:pt x="3227962" y="469385"/>
                </a:lnTo>
                <a:lnTo>
                  <a:pt x="3163294" y="494059"/>
                </a:lnTo>
                <a:lnTo>
                  <a:pt x="3088652" y="517480"/>
                </a:lnTo>
                <a:lnTo>
                  <a:pt x="3047763" y="528688"/>
                </a:lnTo>
                <a:lnTo>
                  <a:pt x="3004586" y="539542"/>
                </a:lnTo>
                <a:lnTo>
                  <a:pt x="2959190" y="550029"/>
                </a:lnTo>
                <a:lnTo>
                  <a:pt x="2911644" y="560135"/>
                </a:lnTo>
                <a:lnTo>
                  <a:pt x="2862017" y="569848"/>
                </a:lnTo>
                <a:lnTo>
                  <a:pt x="2810378" y="579153"/>
                </a:lnTo>
                <a:lnTo>
                  <a:pt x="2756795" y="588038"/>
                </a:lnTo>
                <a:lnTo>
                  <a:pt x="2701337" y="596488"/>
                </a:lnTo>
                <a:lnTo>
                  <a:pt x="2644073" y="604491"/>
                </a:lnTo>
                <a:lnTo>
                  <a:pt x="2585071" y="612032"/>
                </a:lnTo>
                <a:lnTo>
                  <a:pt x="2524401" y="619099"/>
                </a:lnTo>
                <a:lnTo>
                  <a:pt x="2462130" y="625678"/>
                </a:lnTo>
                <a:lnTo>
                  <a:pt x="2398329" y="631755"/>
                </a:lnTo>
                <a:lnTo>
                  <a:pt x="2333064" y="637318"/>
                </a:lnTo>
                <a:lnTo>
                  <a:pt x="2266406" y="642352"/>
                </a:lnTo>
                <a:lnTo>
                  <a:pt x="2198423" y="646844"/>
                </a:lnTo>
                <a:lnTo>
                  <a:pt x="2129184" y="650781"/>
                </a:lnTo>
                <a:lnTo>
                  <a:pt x="2058757" y="654149"/>
                </a:lnTo>
                <a:lnTo>
                  <a:pt x="1987212" y="656935"/>
                </a:lnTo>
                <a:lnTo>
                  <a:pt x="1914616" y="659125"/>
                </a:lnTo>
                <a:lnTo>
                  <a:pt x="1841039" y="660706"/>
                </a:lnTo>
                <a:lnTo>
                  <a:pt x="1766549" y="661665"/>
                </a:lnTo>
                <a:lnTo>
                  <a:pt x="1691216" y="661987"/>
                </a:lnTo>
                <a:lnTo>
                  <a:pt x="1615883" y="661665"/>
                </a:lnTo>
                <a:lnTo>
                  <a:pt x="1541393" y="660706"/>
                </a:lnTo>
                <a:lnTo>
                  <a:pt x="1467816" y="659125"/>
                </a:lnTo>
                <a:lnTo>
                  <a:pt x="1395220" y="656935"/>
                </a:lnTo>
                <a:lnTo>
                  <a:pt x="1323675" y="654149"/>
                </a:lnTo>
                <a:lnTo>
                  <a:pt x="1253248" y="650781"/>
                </a:lnTo>
                <a:lnTo>
                  <a:pt x="1184009" y="646844"/>
                </a:lnTo>
                <a:lnTo>
                  <a:pt x="1116026" y="642352"/>
                </a:lnTo>
                <a:lnTo>
                  <a:pt x="1049368" y="637318"/>
                </a:lnTo>
                <a:lnTo>
                  <a:pt x="984104" y="631755"/>
                </a:lnTo>
                <a:lnTo>
                  <a:pt x="920302" y="625678"/>
                </a:lnTo>
                <a:lnTo>
                  <a:pt x="858031" y="619099"/>
                </a:lnTo>
                <a:lnTo>
                  <a:pt x="797361" y="612032"/>
                </a:lnTo>
                <a:lnTo>
                  <a:pt x="738359" y="604491"/>
                </a:lnTo>
                <a:lnTo>
                  <a:pt x="681095" y="596488"/>
                </a:lnTo>
                <a:lnTo>
                  <a:pt x="625637" y="588038"/>
                </a:lnTo>
                <a:lnTo>
                  <a:pt x="572054" y="579153"/>
                </a:lnTo>
                <a:lnTo>
                  <a:pt x="520415" y="569848"/>
                </a:lnTo>
                <a:lnTo>
                  <a:pt x="470788" y="560135"/>
                </a:lnTo>
                <a:lnTo>
                  <a:pt x="423242" y="550029"/>
                </a:lnTo>
                <a:lnTo>
                  <a:pt x="377846" y="539542"/>
                </a:lnTo>
                <a:lnTo>
                  <a:pt x="334669" y="528688"/>
                </a:lnTo>
                <a:lnTo>
                  <a:pt x="293780" y="517480"/>
                </a:lnTo>
                <a:lnTo>
                  <a:pt x="255246" y="505933"/>
                </a:lnTo>
                <a:lnTo>
                  <a:pt x="185523" y="481872"/>
                </a:lnTo>
                <a:lnTo>
                  <a:pt x="126049" y="456612"/>
                </a:lnTo>
                <a:lnTo>
                  <a:pt x="77374" y="430261"/>
                </a:lnTo>
                <a:lnTo>
                  <a:pt x="40049" y="402926"/>
                </a:lnTo>
                <a:lnTo>
                  <a:pt x="6545" y="360316"/>
                </a:lnTo>
                <a:lnTo>
                  <a:pt x="0" y="330993"/>
                </a:lnTo>
                <a:close/>
              </a:path>
            </a:pathLst>
          </a:custGeom>
          <a:ln w="28574">
            <a:solidFill>
              <a:srgbClr val="000000"/>
            </a:solidFill>
          </a:ln>
        </p:spPr>
        <p:txBody>
          <a:bodyPr wrap="square" lIns="0" tIns="0" rIns="0" bIns="0" rtlCol="0"/>
          <a:lstStyle/>
          <a:p/>
        </p:txBody>
      </p:sp>
      <p:sp>
        <p:nvSpPr>
          <p:cNvPr id="63" name="object 60"/>
          <p:cNvSpPr txBox="1"/>
          <p:nvPr/>
        </p:nvSpPr>
        <p:spPr>
          <a:xfrm>
            <a:off x="3970619" y="933926"/>
            <a:ext cx="1085850" cy="332105"/>
          </a:xfrm>
          <a:prstGeom prst="rect">
            <a:avLst/>
          </a:prstGeom>
        </p:spPr>
        <p:txBody>
          <a:bodyPr vert="horz" wrap="square" lIns="0" tIns="9525" rIns="0" bIns="0" rtlCol="0">
            <a:spAutoFit/>
          </a:bodyPr>
          <a:lstStyle/>
          <a:p>
            <a:pPr marL="9525">
              <a:spcBef>
                <a:spcPts val="75"/>
              </a:spcBef>
              <a:spcAft>
                <a:spcPts val="0"/>
              </a:spcAft>
            </a:pPr>
            <a:r>
              <a:rPr sz="2100" b="1" dirty="0">
                <a:solidFill>
                  <a:srgbClr val="FFFFFF"/>
                </a:solidFill>
                <a:latin typeface="Microsoft JhengHei" panose="020B0604030504040204" charset="-120"/>
                <a:cs typeface="Microsoft JhengHei" panose="020B0604030504040204" charset="-120"/>
              </a:rPr>
              <a:t>处理交易</a:t>
            </a:r>
            <a:endParaRPr sz="2100">
              <a:latin typeface="Microsoft JhengHei" panose="020B0604030504040204" charset="-120"/>
              <a:cs typeface="Microsoft JhengHei" panose="020B0604030504040204" charset="-120"/>
            </a:endParaRPr>
          </a:p>
        </p:txBody>
      </p:sp>
      <p:sp>
        <p:nvSpPr>
          <p:cNvPr id="64" name="object 61"/>
          <p:cNvSpPr/>
          <p:nvPr/>
        </p:nvSpPr>
        <p:spPr>
          <a:xfrm>
            <a:off x="4486274" y="1404885"/>
            <a:ext cx="0" cy="693420"/>
          </a:xfrm>
          <a:custGeom>
            <a:avLst/>
            <a:gdLst/>
            <a:ahLst/>
            <a:cxnLst/>
            <a:rect l="l" t="t" r="r" b="b"/>
            <a:pathLst>
              <a:path h="924560">
                <a:moveTo>
                  <a:pt x="0" y="924144"/>
                </a:moveTo>
                <a:lnTo>
                  <a:pt x="0" y="0"/>
                </a:lnTo>
              </a:path>
            </a:pathLst>
          </a:custGeom>
          <a:ln w="28574">
            <a:solidFill>
              <a:srgbClr val="000000"/>
            </a:solidFill>
          </a:ln>
        </p:spPr>
        <p:txBody>
          <a:bodyPr wrap="square" lIns="0" tIns="0" rIns="0" bIns="0" rtlCol="0"/>
          <a:lstStyle/>
          <a:p/>
        </p:txBody>
      </p:sp>
      <p:sp>
        <p:nvSpPr>
          <p:cNvPr id="65" name="object 62"/>
          <p:cNvSpPr/>
          <p:nvPr/>
        </p:nvSpPr>
        <p:spPr>
          <a:xfrm>
            <a:off x="4436531" y="1383618"/>
            <a:ext cx="99485" cy="97798"/>
          </a:xfrm>
          <a:prstGeom prst="rect">
            <a:avLst/>
          </a:prstGeom>
          <a:blipFill>
            <a:blip r:embed="rId9" cstate="print"/>
            <a:stretch>
              <a:fillRect/>
            </a:stretch>
          </a:blipFill>
        </p:spPr>
        <p:txBody>
          <a:bodyPr wrap="square" lIns="0" tIns="0" rIns="0" bIns="0" rtlCol="0"/>
          <a:lstStyle/>
          <a:p/>
        </p:txBody>
      </p:sp>
      <p:sp>
        <p:nvSpPr>
          <p:cNvPr id="66" name="object 63"/>
          <p:cNvSpPr/>
          <p:nvPr/>
        </p:nvSpPr>
        <p:spPr>
          <a:xfrm>
            <a:off x="6105524" y="942976"/>
            <a:ext cx="1598295" cy="0"/>
          </a:xfrm>
          <a:custGeom>
            <a:avLst/>
            <a:gdLst/>
            <a:ahLst/>
            <a:cxnLst/>
            <a:rect l="l" t="t" r="r" b="b"/>
            <a:pathLst>
              <a:path w="2131059">
                <a:moveTo>
                  <a:pt x="0" y="0"/>
                </a:moveTo>
                <a:lnTo>
                  <a:pt x="2130643" y="0"/>
                </a:lnTo>
              </a:path>
            </a:pathLst>
          </a:custGeom>
          <a:ln w="28574">
            <a:solidFill>
              <a:srgbClr val="000000"/>
            </a:solidFill>
          </a:ln>
        </p:spPr>
        <p:txBody>
          <a:bodyPr wrap="square" lIns="0" tIns="0" rIns="0" bIns="0" rtlCol="0"/>
          <a:lstStyle/>
          <a:p/>
        </p:txBody>
      </p:sp>
      <p:sp>
        <p:nvSpPr>
          <p:cNvPr id="67" name="object 64"/>
          <p:cNvSpPr/>
          <p:nvPr/>
        </p:nvSpPr>
        <p:spPr>
          <a:xfrm>
            <a:off x="7626976" y="893232"/>
            <a:ext cx="97798" cy="99485"/>
          </a:xfrm>
          <a:prstGeom prst="rect">
            <a:avLst/>
          </a:prstGeom>
          <a:blipFill>
            <a:blip r:embed="rId10" cstate="print"/>
            <a:stretch>
              <a:fillRect/>
            </a:stretch>
          </a:blipFill>
        </p:spPr>
        <p:txBody>
          <a:bodyPr wrap="square" lIns="0" tIns="0" rIns="0" bIns="0" rtlCol="0"/>
          <a:lstStyle/>
          <a:p/>
        </p:txBody>
      </p:sp>
      <p:sp>
        <p:nvSpPr>
          <p:cNvPr id="68" name="object 50"/>
          <p:cNvSpPr/>
          <p:nvPr/>
        </p:nvSpPr>
        <p:spPr>
          <a:xfrm>
            <a:off x="7830911" y="798911"/>
            <a:ext cx="220504" cy="170974"/>
          </a:xfrm>
          <a:custGeom>
            <a:avLst/>
            <a:gdLst/>
            <a:ahLst/>
            <a:cxnLst/>
            <a:rect l="l" t="t" r="r" b="b"/>
            <a:pathLst>
              <a:path w="294004" h="227965">
                <a:moveTo>
                  <a:pt x="0" y="113829"/>
                </a:moveTo>
                <a:lnTo>
                  <a:pt x="11546" y="69521"/>
                </a:lnTo>
                <a:lnTo>
                  <a:pt x="43034" y="33339"/>
                </a:lnTo>
                <a:lnTo>
                  <a:pt x="89737" y="8945"/>
                </a:lnTo>
                <a:lnTo>
                  <a:pt x="146928" y="0"/>
                </a:lnTo>
                <a:lnTo>
                  <a:pt x="204120" y="8945"/>
                </a:lnTo>
                <a:lnTo>
                  <a:pt x="250823" y="33339"/>
                </a:lnTo>
                <a:lnTo>
                  <a:pt x="282311" y="69521"/>
                </a:lnTo>
                <a:lnTo>
                  <a:pt x="293858" y="113829"/>
                </a:lnTo>
                <a:lnTo>
                  <a:pt x="282311" y="158136"/>
                </a:lnTo>
                <a:lnTo>
                  <a:pt x="250823" y="194318"/>
                </a:lnTo>
                <a:lnTo>
                  <a:pt x="204120" y="218712"/>
                </a:lnTo>
                <a:lnTo>
                  <a:pt x="146928" y="227657"/>
                </a:lnTo>
                <a:lnTo>
                  <a:pt x="89737" y="218712"/>
                </a:lnTo>
                <a:lnTo>
                  <a:pt x="43034" y="194318"/>
                </a:lnTo>
                <a:lnTo>
                  <a:pt x="11546" y="158136"/>
                </a:lnTo>
                <a:lnTo>
                  <a:pt x="0" y="113829"/>
                </a:lnTo>
                <a:close/>
              </a:path>
            </a:pathLst>
          </a:custGeom>
          <a:ln w="28574">
            <a:solidFill>
              <a:srgbClr val="000000"/>
            </a:solidFill>
          </a:ln>
        </p:spPr>
        <p:txBody>
          <a:bodyPr wrap="square" lIns="0" tIns="0" rIns="0" bIns="0" rtlCol="0"/>
          <a:lstStyl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latin typeface="Microsoft JhengHei" panose="020B0604030504040204" charset="-120"/>
                <a:cs typeface="Microsoft JhengHei" panose="020B0604030504040204" charset="-120"/>
              </a:rPr>
              <a:t>正确的用例建模</a:t>
            </a:r>
            <a:endParaRPr lang="zh-CN" altLang="en-US" dirty="0"/>
          </a:p>
        </p:txBody>
      </p:sp>
      <p:sp>
        <p:nvSpPr>
          <p:cNvPr id="4" name="日期占位符 3"/>
          <p:cNvSpPr>
            <a:spLocks noGrp="1"/>
          </p:cNvSpPr>
          <p:nvPr>
            <p:ph type="dt" sz="half" idx="10"/>
          </p:nvPr>
        </p:nvSpPr>
        <p:spPr/>
        <p:txBody>
          <a:bodyPr/>
          <a:lstStyle/>
          <a:p>
            <a:pPr>
              <a:spcAft>
                <a:spcPts val="0"/>
              </a:spcAft>
            </a:pPr>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
        <p:nvSpPr>
          <p:cNvPr id="7" name="object 2"/>
          <p:cNvSpPr/>
          <p:nvPr/>
        </p:nvSpPr>
        <p:spPr>
          <a:xfrm>
            <a:off x="2717800" y="2331830"/>
            <a:ext cx="3365659" cy="346710"/>
          </a:xfrm>
          <a:custGeom>
            <a:avLst/>
            <a:gdLst/>
            <a:ahLst/>
            <a:cxnLst/>
            <a:rect l="l" t="t" r="r" b="b"/>
            <a:pathLst>
              <a:path w="4487545" h="462279">
                <a:moveTo>
                  <a:pt x="0" y="0"/>
                </a:moveTo>
                <a:lnTo>
                  <a:pt x="4487330" y="0"/>
                </a:lnTo>
                <a:lnTo>
                  <a:pt x="4487330" y="461985"/>
                </a:lnTo>
                <a:lnTo>
                  <a:pt x="0" y="461985"/>
                </a:lnTo>
                <a:lnTo>
                  <a:pt x="0" y="0"/>
                </a:lnTo>
                <a:close/>
              </a:path>
            </a:pathLst>
          </a:custGeom>
          <a:ln w="9524">
            <a:solidFill>
              <a:srgbClr val="ECEBEB"/>
            </a:solidFill>
          </a:ln>
        </p:spPr>
        <p:txBody>
          <a:bodyPr wrap="square" lIns="0" tIns="0" rIns="0" bIns="0" rtlCol="0"/>
          <a:lstStyle/>
          <a:p/>
        </p:txBody>
      </p:sp>
      <p:sp>
        <p:nvSpPr>
          <p:cNvPr id="8" name="object 4"/>
          <p:cNvSpPr/>
          <p:nvPr/>
        </p:nvSpPr>
        <p:spPr>
          <a:xfrm>
            <a:off x="3375025" y="1106091"/>
            <a:ext cx="2071688" cy="631031"/>
          </a:xfrm>
          <a:custGeom>
            <a:avLst/>
            <a:gdLst/>
            <a:ahLst/>
            <a:cxnLst/>
            <a:rect l="l" t="t" r="r" b="b"/>
            <a:pathLst>
              <a:path w="2762250" h="841375">
                <a:moveTo>
                  <a:pt x="1381125" y="0"/>
                </a:moveTo>
                <a:lnTo>
                  <a:pt x="1310052" y="547"/>
                </a:lnTo>
                <a:lnTo>
                  <a:pt x="1239912" y="2171"/>
                </a:lnTo>
                <a:lnTo>
                  <a:pt x="1170793" y="4847"/>
                </a:lnTo>
                <a:lnTo>
                  <a:pt x="1102780" y="8546"/>
                </a:lnTo>
                <a:lnTo>
                  <a:pt x="1035960" y="13244"/>
                </a:lnTo>
                <a:lnTo>
                  <a:pt x="970420" y="18913"/>
                </a:lnTo>
                <a:lnTo>
                  <a:pt x="906247" y="25527"/>
                </a:lnTo>
                <a:lnTo>
                  <a:pt x="843528" y="33059"/>
                </a:lnTo>
                <a:lnTo>
                  <a:pt x="782350" y="41484"/>
                </a:lnTo>
                <a:lnTo>
                  <a:pt x="722798" y="50774"/>
                </a:lnTo>
                <a:lnTo>
                  <a:pt x="664961" y="60904"/>
                </a:lnTo>
                <a:lnTo>
                  <a:pt x="608924" y="71846"/>
                </a:lnTo>
                <a:lnTo>
                  <a:pt x="554775" y="83575"/>
                </a:lnTo>
                <a:lnTo>
                  <a:pt x="502601" y="96064"/>
                </a:lnTo>
                <a:lnTo>
                  <a:pt x="452487" y="109287"/>
                </a:lnTo>
                <a:lnTo>
                  <a:pt x="404521" y="123216"/>
                </a:lnTo>
                <a:lnTo>
                  <a:pt x="358791" y="137827"/>
                </a:lnTo>
                <a:lnTo>
                  <a:pt x="315381" y="153091"/>
                </a:lnTo>
                <a:lnTo>
                  <a:pt x="274380" y="168983"/>
                </a:lnTo>
                <a:lnTo>
                  <a:pt x="235874" y="185477"/>
                </a:lnTo>
                <a:lnTo>
                  <a:pt x="199950" y="202546"/>
                </a:lnTo>
                <a:lnTo>
                  <a:pt x="136193" y="238302"/>
                </a:lnTo>
                <a:lnTo>
                  <a:pt x="83806" y="276041"/>
                </a:lnTo>
                <a:lnTo>
                  <a:pt x="43481" y="315552"/>
                </a:lnTo>
                <a:lnTo>
                  <a:pt x="15913" y="356621"/>
                </a:lnTo>
                <a:lnTo>
                  <a:pt x="1797" y="399040"/>
                </a:lnTo>
                <a:lnTo>
                  <a:pt x="0" y="420688"/>
                </a:lnTo>
                <a:lnTo>
                  <a:pt x="1797" y="442337"/>
                </a:lnTo>
                <a:lnTo>
                  <a:pt x="15913" y="484755"/>
                </a:lnTo>
                <a:lnTo>
                  <a:pt x="43481" y="525825"/>
                </a:lnTo>
                <a:lnTo>
                  <a:pt x="83806" y="565335"/>
                </a:lnTo>
                <a:lnTo>
                  <a:pt x="136193" y="603074"/>
                </a:lnTo>
                <a:lnTo>
                  <a:pt x="199950" y="638831"/>
                </a:lnTo>
                <a:lnTo>
                  <a:pt x="235874" y="655899"/>
                </a:lnTo>
                <a:lnTo>
                  <a:pt x="274380" y="672393"/>
                </a:lnTo>
                <a:lnTo>
                  <a:pt x="315381" y="688285"/>
                </a:lnTo>
                <a:lnTo>
                  <a:pt x="358791" y="703550"/>
                </a:lnTo>
                <a:lnTo>
                  <a:pt x="404521" y="718160"/>
                </a:lnTo>
                <a:lnTo>
                  <a:pt x="452487" y="732090"/>
                </a:lnTo>
                <a:lnTo>
                  <a:pt x="502601" y="745312"/>
                </a:lnTo>
                <a:lnTo>
                  <a:pt x="554775" y="757801"/>
                </a:lnTo>
                <a:lnTo>
                  <a:pt x="608924" y="769530"/>
                </a:lnTo>
                <a:lnTo>
                  <a:pt x="664961" y="780473"/>
                </a:lnTo>
                <a:lnTo>
                  <a:pt x="722798" y="790602"/>
                </a:lnTo>
                <a:lnTo>
                  <a:pt x="782350" y="799893"/>
                </a:lnTo>
                <a:lnTo>
                  <a:pt x="843528" y="808317"/>
                </a:lnTo>
                <a:lnTo>
                  <a:pt x="906247" y="815850"/>
                </a:lnTo>
                <a:lnTo>
                  <a:pt x="970420" y="822464"/>
                </a:lnTo>
                <a:lnTo>
                  <a:pt x="1035960" y="828133"/>
                </a:lnTo>
                <a:lnTo>
                  <a:pt x="1102780" y="832830"/>
                </a:lnTo>
                <a:lnTo>
                  <a:pt x="1170793" y="836530"/>
                </a:lnTo>
                <a:lnTo>
                  <a:pt x="1239912" y="839205"/>
                </a:lnTo>
                <a:lnTo>
                  <a:pt x="1310052" y="840830"/>
                </a:lnTo>
                <a:lnTo>
                  <a:pt x="1381125" y="841377"/>
                </a:lnTo>
                <a:lnTo>
                  <a:pt x="1452197" y="840830"/>
                </a:lnTo>
                <a:lnTo>
                  <a:pt x="1522337" y="839205"/>
                </a:lnTo>
                <a:lnTo>
                  <a:pt x="1591456" y="836530"/>
                </a:lnTo>
                <a:lnTo>
                  <a:pt x="1659470" y="832830"/>
                </a:lnTo>
                <a:lnTo>
                  <a:pt x="1726289" y="828133"/>
                </a:lnTo>
                <a:lnTo>
                  <a:pt x="1791829" y="822464"/>
                </a:lnTo>
                <a:lnTo>
                  <a:pt x="1856002" y="815850"/>
                </a:lnTo>
                <a:lnTo>
                  <a:pt x="1918721" y="808317"/>
                </a:lnTo>
                <a:lnTo>
                  <a:pt x="1979900" y="799893"/>
                </a:lnTo>
                <a:lnTo>
                  <a:pt x="2039451" y="790602"/>
                </a:lnTo>
                <a:lnTo>
                  <a:pt x="2097289" y="780473"/>
                </a:lnTo>
                <a:lnTo>
                  <a:pt x="2153325" y="769530"/>
                </a:lnTo>
                <a:lnTo>
                  <a:pt x="2207474" y="757801"/>
                </a:lnTo>
                <a:lnTo>
                  <a:pt x="2259649" y="745312"/>
                </a:lnTo>
                <a:lnTo>
                  <a:pt x="2309763" y="732090"/>
                </a:lnTo>
                <a:lnTo>
                  <a:pt x="2357728" y="718160"/>
                </a:lnTo>
                <a:lnTo>
                  <a:pt x="2403459" y="703550"/>
                </a:lnTo>
                <a:lnTo>
                  <a:pt x="2446869" y="688285"/>
                </a:lnTo>
                <a:lnTo>
                  <a:pt x="2487870" y="672393"/>
                </a:lnTo>
                <a:lnTo>
                  <a:pt x="2526376" y="655899"/>
                </a:lnTo>
                <a:lnTo>
                  <a:pt x="2562300" y="638831"/>
                </a:lnTo>
                <a:lnTo>
                  <a:pt x="2626057" y="603074"/>
                </a:lnTo>
                <a:lnTo>
                  <a:pt x="2678444" y="565335"/>
                </a:lnTo>
                <a:lnTo>
                  <a:pt x="2718769" y="525825"/>
                </a:lnTo>
                <a:lnTo>
                  <a:pt x="2746337" y="484755"/>
                </a:lnTo>
                <a:lnTo>
                  <a:pt x="2760454" y="442337"/>
                </a:lnTo>
                <a:lnTo>
                  <a:pt x="2762251" y="420688"/>
                </a:lnTo>
                <a:lnTo>
                  <a:pt x="2760454" y="399040"/>
                </a:lnTo>
                <a:lnTo>
                  <a:pt x="2746337" y="356621"/>
                </a:lnTo>
                <a:lnTo>
                  <a:pt x="2718769" y="315552"/>
                </a:lnTo>
                <a:lnTo>
                  <a:pt x="2678444" y="276041"/>
                </a:lnTo>
                <a:lnTo>
                  <a:pt x="2626057" y="238302"/>
                </a:lnTo>
                <a:lnTo>
                  <a:pt x="2562300" y="202546"/>
                </a:lnTo>
                <a:lnTo>
                  <a:pt x="2526376" y="185477"/>
                </a:lnTo>
                <a:lnTo>
                  <a:pt x="2487870" y="168983"/>
                </a:lnTo>
                <a:lnTo>
                  <a:pt x="2446869" y="153091"/>
                </a:lnTo>
                <a:lnTo>
                  <a:pt x="2403459" y="137827"/>
                </a:lnTo>
                <a:lnTo>
                  <a:pt x="2357728" y="123216"/>
                </a:lnTo>
                <a:lnTo>
                  <a:pt x="2309763" y="109287"/>
                </a:lnTo>
                <a:lnTo>
                  <a:pt x="2259649" y="96064"/>
                </a:lnTo>
                <a:lnTo>
                  <a:pt x="2207474" y="83575"/>
                </a:lnTo>
                <a:lnTo>
                  <a:pt x="2153325" y="71846"/>
                </a:lnTo>
                <a:lnTo>
                  <a:pt x="2097289" y="60904"/>
                </a:lnTo>
                <a:lnTo>
                  <a:pt x="2039451" y="50774"/>
                </a:lnTo>
                <a:lnTo>
                  <a:pt x="1979900" y="41484"/>
                </a:lnTo>
                <a:lnTo>
                  <a:pt x="1918721" y="33059"/>
                </a:lnTo>
                <a:lnTo>
                  <a:pt x="1856002" y="25527"/>
                </a:lnTo>
                <a:lnTo>
                  <a:pt x="1791829" y="18913"/>
                </a:lnTo>
                <a:lnTo>
                  <a:pt x="1726289" y="13244"/>
                </a:lnTo>
                <a:lnTo>
                  <a:pt x="1659470" y="8546"/>
                </a:lnTo>
                <a:lnTo>
                  <a:pt x="1591456" y="4847"/>
                </a:lnTo>
                <a:lnTo>
                  <a:pt x="1522337" y="2171"/>
                </a:lnTo>
                <a:lnTo>
                  <a:pt x="1452197" y="547"/>
                </a:lnTo>
                <a:lnTo>
                  <a:pt x="1381125" y="0"/>
                </a:lnTo>
                <a:close/>
              </a:path>
            </a:pathLst>
          </a:custGeom>
          <a:solidFill>
            <a:srgbClr val="7A4779"/>
          </a:solidFill>
        </p:spPr>
        <p:txBody>
          <a:bodyPr wrap="square" lIns="0" tIns="0" rIns="0" bIns="0" rtlCol="0"/>
          <a:lstStyle/>
          <a:p/>
        </p:txBody>
      </p:sp>
      <p:sp>
        <p:nvSpPr>
          <p:cNvPr id="9" name="object 5"/>
          <p:cNvSpPr/>
          <p:nvPr/>
        </p:nvSpPr>
        <p:spPr>
          <a:xfrm>
            <a:off x="3375025" y="1106091"/>
            <a:ext cx="2071688" cy="631031"/>
          </a:xfrm>
          <a:custGeom>
            <a:avLst/>
            <a:gdLst/>
            <a:ahLst/>
            <a:cxnLst/>
            <a:rect l="l" t="t" r="r" b="b"/>
            <a:pathLst>
              <a:path w="2762250" h="841375">
                <a:moveTo>
                  <a:pt x="0" y="420689"/>
                </a:moveTo>
                <a:lnTo>
                  <a:pt x="7130" y="377676"/>
                </a:lnTo>
                <a:lnTo>
                  <a:pt x="28059" y="335905"/>
                </a:lnTo>
                <a:lnTo>
                  <a:pt x="62092" y="295589"/>
                </a:lnTo>
                <a:lnTo>
                  <a:pt x="108535" y="256937"/>
                </a:lnTo>
                <a:lnTo>
                  <a:pt x="166694" y="220163"/>
                </a:lnTo>
                <a:lnTo>
                  <a:pt x="235874" y="185477"/>
                </a:lnTo>
                <a:lnTo>
                  <a:pt x="274380" y="168984"/>
                </a:lnTo>
                <a:lnTo>
                  <a:pt x="315381" y="153091"/>
                </a:lnTo>
                <a:lnTo>
                  <a:pt x="358791" y="137827"/>
                </a:lnTo>
                <a:lnTo>
                  <a:pt x="404522" y="123216"/>
                </a:lnTo>
                <a:lnTo>
                  <a:pt x="452487" y="109287"/>
                </a:lnTo>
                <a:lnTo>
                  <a:pt x="502601" y="96064"/>
                </a:lnTo>
                <a:lnTo>
                  <a:pt x="554776" y="83576"/>
                </a:lnTo>
                <a:lnTo>
                  <a:pt x="608925" y="71847"/>
                </a:lnTo>
                <a:lnTo>
                  <a:pt x="664961" y="60904"/>
                </a:lnTo>
                <a:lnTo>
                  <a:pt x="722799" y="50774"/>
                </a:lnTo>
                <a:lnTo>
                  <a:pt x="782350" y="41484"/>
                </a:lnTo>
                <a:lnTo>
                  <a:pt x="843529" y="33059"/>
                </a:lnTo>
                <a:lnTo>
                  <a:pt x="906248" y="25527"/>
                </a:lnTo>
                <a:lnTo>
                  <a:pt x="970421" y="18913"/>
                </a:lnTo>
                <a:lnTo>
                  <a:pt x="1035960" y="13244"/>
                </a:lnTo>
                <a:lnTo>
                  <a:pt x="1102780" y="8546"/>
                </a:lnTo>
                <a:lnTo>
                  <a:pt x="1170793" y="4847"/>
                </a:lnTo>
                <a:lnTo>
                  <a:pt x="1239913" y="2171"/>
                </a:lnTo>
                <a:lnTo>
                  <a:pt x="1310053" y="547"/>
                </a:lnTo>
                <a:lnTo>
                  <a:pt x="1381125" y="0"/>
                </a:lnTo>
                <a:lnTo>
                  <a:pt x="1452198" y="547"/>
                </a:lnTo>
                <a:lnTo>
                  <a:pt x="1522337" y="2171"/>
                </a:lnTo>
                <a:lnTo>
                  <a:pt x="1591457" y="4847"/>
                </a:lnTo>
                <a:lnTo>
                  <a:pt x="1659470" y="8546"/>
                </a:lnTo>
                <a:lnTo>
                  <a:pt x="1726290" y="13244"/>
                </a:lnTo>
                <a:lnTo>
                  <a:pt x="1791829" y="18913"/>
                </a:lnTo>
                <a:lnTo>
                  <a:pt x="1856002" y="25527"/>
                </a:lnTo>
                <a:lnTo>
                  <a:pt x="1918721" y="33059"/>
                </a:lnTo>
                <a:lnTo>
                  <a:pt x="1979900" y="41484"/>
                </a:lnTo>
                <a:lnTo>
                  <a:pt x="2039451" y="50774"/>
                </a:lnTo>
                <a:lnTo>
                  <a:pt x="2097289" y="60904"/>
                </a:lnTo>
                <a:lnTo>
                  <a:pt x="2153325" y="71847"/>
                </a:lnTo>
                <a:lnTo>
                  <a:pt x="2207474" y="83576"/>
                </a:lnTo>
                <a:lnTo>
                  <a:pt x="2259649" y="96064"/>
                </a:lnTo>
                <a:lnTo>
                  <a:pt x="2309763" y="109287"/>
                </a:lnTo>
                <a:lnTo>
                  <a:pt x="2357728" y="123216"/>
                </a:lnTo>
                <a:lnTo>
                  <a:pt x="2403459" y="137827"/>
                </a:lnTo>
                <a:lnTo>
                  <a:pt x="2446869" y="153091"/>
                </a:lnTo>
                <a:lnTo>
                  <a:pt x="2487870" y="168984"/>
                </a:lnTo>
                <a:lnTo>
                  <a:pt x="2526376" y="185477"/>
                </a:lnTo>
                <a:lnTo>
                  <a:pt x="2562300" y="202546"/>
                </a:lnTo>
                <a:lnTo>
                  <a:pt x="2626057" y="238302"/>
                </a:lnTo>
                <a:lnTo>
                  <a:pt x="2678444" y="276042"/>
                </a:lnTo>
                <a:lnTo>
                  <a:pt x="2718769" y="315552"/>
                </a:lnTo>
                <a:lnTo>
                  <a:pt x="2746337" y="356622"/>
                </a:lnTo>
                <a:lnTo>
                  <a:pt x="2760454" y="399040"/>
                </a:lnTo>
                <a:lnTo>
                  <a:pt x="2762251" y="420689"/>
                </a:lnTo>
                <a:lnTo>
                  <a:pt x="2760454" y="442337"/>
                </a:lnTo>
                <a:lnTo>
                  <a:pt x="2746337" y="484755"/>
                </a:lnTo>
                <a:lnTo>
                  <a:pt x="2718769" y="525825"/>
                </a:lnTo>
                <a:lnTo>
                  <a:pt x="2678444" y="565335"/>
                </a:lnTo>
                <a:lnTo>
                  <a:pt x="2626057" y="603074"/>
                </a:lnTo>
                <a:lnTo>
                  <a:pt x="2562300" y="638831"/>
                </a:lnTo>
                <a:lnTo>
                  <a:pt x="2526376" y="655900"/>
                </a:lnTo>
                <a:lnTo>
                  <a:pt x="2487870" y="672393"/>
                </a:lnTo>
                <a:lnTo>
                  <a:pt x="2446869" y="688286"/>
                </a:lnTo>
                <a:lnTo>
                  <a:pt x="2403459" y="703550"/>
                </a:lnTo>
                <a:lnTo>
                  <a:pt x="2357728" y="718160"/>
                </a:lnTo>
                <a:lnTo>
                  <a:pt x="2309763" y="732090"/>
                </a:lnTo>
                <a:lnTo>
                  <a:pt x="2259649" y="745312"/>
                </a:lnTo>
                <a:lnTo>
                  <a:pt x="2207474" y="757801"/>
                </a:lnTo>
                <a:lnTo>
                  <a:pt x="2153325" y="769530"/>
                </a:lnTo>
                <a:lnTo>
                  <a:pt x="2097289" y="780473"/>
                </a:lnTo>
                <a:lnTo>
                  <a:pt x="2039451" y="790602"/>
                </a:lnTo>
                <a:lnTo>
                  <a:pt x="1979900" y="799893"/>
                </a:lnTo>
                <a:lnTo>
                  <a:pt x="1918721" y="808317"/>
                </a:lnTo>
                <a:lnTo>
                  <a:pt x="1856002" y="815850"/>
                </a:lnTo>
                <a:lnTo>
                  <a:pt x="1791829" y="822464"/>
                </a:lnTo>
                <a:lnTo>
                  <a:pt x="1726290" y="828133"/>
                </a:lnTo>
                <a:lnTo>
                  <a:pt x="1659470" y="832830"/>
                </a:lnTo>
                <a:lnTo>
                  <a:pt x="1591457" y="836530"/>
                </a:lnTo>
                <a:lnTo>
                  <a:pt x="1522337" y="839205"/>
                </a:lnTo>
                <a:lnTo>
                  <a:pt x="1452198" y="840830"/>
                </a:lnTo>
                <a:lnTo>
                  <a:pt x="1381125" y="841377"/>
                </a:lnTo>
                <a:lnTo>
                  <a:pt x="1310053" y="840830"/>
                </a:lnTo>
                <a:lnTo>
                  <a:pt x="1239913" y="839205"/>
                </a:lnTo>
                <a:lnTo>
                  <a:pt x="1170793" y="836530"/>
                </a:lnTo>
                <a:lnTo>
                  <a:pt x="1102780" y="832830"/>
                </a:lnTo>
                <a:lnTo>
                  <a:pt x="1035960" y="828133"/>
                </a:lnTo>
                <a:lnTo>
                  <a:pt x="970421" y="822464"/>
                </a:lnTo>
                <a:lnTo>
                  <a:pt x="906248" y="815850"/>
                </a:lnTo>
                <a:lnTo>
                  <a:pt x="843529" y="808317"/>
                </a:lnTo>
                <a:lnTo>
                  <a:pt x="782350" y="799893"/>
                </a:lnTo>
                <a:lnTo>
                  <a:pt x="722799" y="790602"/>
                </a:lnTo>
                <a:lnTo>
                  <a:pt x="664961" y="780473"/>
                </a:lnTo>
                <a:lnTo>
                  <a:pt x="608925" y="769530"/>
                </a:lnTo>
                <a:lnTo>
                  <a:pt x="554776" y="757801"/>
                </a:lnTo>
                <a:lnTo>
                  <a:pt x="502601" y="745312"/>
                </a:lnTo>
                <a:lnTo>
                  <a:pt x="452487" y="732090"/>
                </a:lnTo>
                <a:lnTo>
                  <a:pt x="404522" y="718160"/>
                </a:lnTo>
                <a:lnTo>
                  <a:pt x="358791" y="703550"/>
                </a:lnTo>
                <a:lnTo>
                  <a:pt x="315381" y="688286"/>
                </a:lnTo>
                <a:lnTo>
                  <a:pt x="274380" y="672393"/>
                </a:lnTo>
                <a:lnTo>
                  <a:pt x="235874" y="655900"/>
                </a:lnTo>
                <a:lnTo>
                  <a:pt x="199950" y="638831"/>
                </a:lnTo>
                <a:lnTo>
                  <a:pt x="136193" y="603074"/>
                </a:lnTo>
                <a:lnTo>
                  <a:pt x="83806" y="565335"/>
                </a:lnTo>
                <a:lnTo>
                  <a:pt x="43481" y="525825"/>
                </a:lnTo>
                <a:lnTo>
                  <a:pt x="15913" y="484755"/>
                </a:lnTo>
                <a:lnTo>
                  <a:pt x="1797" y="442337"/>
                </a:lnTo>
                <a:lnTo>
                  <a:pt x="0" y="420689"/>
                </a:lnTo>
                <a:close/>
              </a:path>
            </a:pathLst>
          </a:custGeom>
          <a:ln w="28574">
            <a:solidFill>
              <a:srgbClr val="ECEBEB"/>
            </a:solidFill>
          </a:ln>
        </p:spPr>
        <p:txBody>
          <a:bodyPr wrap="square" lIns="0" tIns="0" rIns="0" bIns="0" rtlCol="0"/>
          <a:lstStyle/>
          <a:p/>
        </p:txBody>
      </p:sp>
      <p:sp>
        <p:nvSpPr>
          <p:cNvPr id="10" name="object 6"/>
          <p:cNvSpPr/>
          <p:nvPr/>
        </p:nvSpPr>
        <p:spPr>
          <a:xfrm>
            <a:off x="3391508" y="2078356"/>
            <a:ext cx="2119313" cy="568166"/>
          </a:xfrm>
          <a:custGeom>
            <a:avLst/>
            <a:gdLst/>
            <a:ahLst/>
            <a:cxnLst/>
            <a:rect l="l" t="t" r="r" b="b"/>
            <a:pathLst>
              <a:path w="2825750" h="757554">
                <a:moveTo>
                  <a:pt x="1412875" y="0"/>
                </a:moveTo>
                <a:lnTo>
                  <a:pt x="1340168" y="492"/>
                </a:lnTo>
                <a:lnTo>
                  <a:pt x="1268416" y="1954"/>
                </a:lnTo>
                <a:lnTo>
                  <a:pt x="1197708" y="4362"/>
                </a:lnTo>
                <a:lnTo>
                  <a:pt x="1128131" y="7692"/>
                </a:lnTo>
                <a:lnTo>
                  <a:pt x="1059775" y="11919"/>
                </a:lnTo>
                <a:lnTo>
                  <a:pt x="992729" y="17022"/>
                </a:lnTo>
                <a:lnTo>
                  <a:pt x="927081" y="22974"/>
                </a:lnTo>
                <a:lnTo>
                  <a:pt x="862920" y="29753"/>
                </a:lnTo>
                <a:lnTo>
                  <a:pt x="800335" y="37336"/>
                </a:lnTo>
                <a:lnTo>
                  <a:pt x="739415" y="45697"/>
                </a:lnTo>
                <a:lnTo>
                  <a:pt x="680248" y="54814"/>
                </a:lnTo>
                <a:lnTo>
                  <a:pt x="622923" y="64662"/>
                </a:lnTo>
                <a:lnTo>
                  <a:pt x="567529" y="75218"/>
                </a:lnTo>
                <a:lnTo>
                  <a:pt x="514155" y="86458"/>
                </a:lnTo>
                <a:lnTo>
                  <a:pt x="462890" y="98358"/>
                </a:lnTo>
                <a:lnTo>
                  <a:pt x="413821" y="110895"/>
                </a:lnTo>
                <a:lnTo>
                  <a:pt x="367039" y="124044"/>
                </a:lnTo>
                <a:lnTo>
                  <a:pt x="322632" y="137782"/>
                </a:lnTo>
                <a:lnTo>
                  <a:pt x="280688" y="152085"/>
                </a:lnTo>
                <a:lnTo>
                  <a:pt x="241297" y="166930"/>
                </a:lnTo>
                <a:lnTo>
                  <a:pt x="204546" y="182292"/>
                </a:lnTo>
                <a:lnTo>
                  <a:pt x="139324" y="214472"/>
                </a:lnTo>
                <a:lnTo>
                  <a:pt x="85732" y="248437"/>
                </a:lnTo>
                <a:lnTo>
                  <a:pt x="44481" y="283997"/>
                </a:lnTo>
                <a:lnTo>
                  <a:pt x="16279" y="320960"/>
                </a:lnTo>
                <a:lnTo>
                  <a:pt x="1838" y="359136"/>
                </a:lnTo>
                <a:lnTo>
                  <a:pt x="0" y="378620"/>
                </a:lnTo>
                <a:lnTo>
                  <a:pt x="1838" y="398103"/>
                </a:lnTo>
                <a:lnTo>
                  <a:pt x="16279" y="436280"/>
                </a:lnTo>
                <a:lnTo>
                  <a:pt x="44481" y="473243"/>
                </a:lnTo>
                <a:lnTo>
                  <a:pt x="85732" y="508802"/>
                </a:lnTo>
                <a:lnTo>
                  <a:pt x="139324" y="542767"/>
                </a:lnTo>
                <a:lnTo>
                  <a:pt x="204546" y="574948"/>
                </a:lnTo>
                <a:lnTo>
                  <a:pt x="241297" y="590310"/>
                </a:lnTo>
                <a:lnTo>
                  <a:pt x="280688" y="605154"/>
                </a:lnTo>
                <a:lnTo>
                  <a:pt x="322632" y="619457"/>
                </a:lnTo>
                <a:lnTo>
                  <a:pt x="367039" y="633195"/>
                </a:lnTo>
                <a:lnTo>
                  <a:pt x="413821" y="646345"/>
                </a:lnTo>
                <a:lnTo>
                  <a:pt x="462890" y="658881"/>
                </a:lnTo>
                <a:lnTo>
                  <a:pt x="514155" y="670781"/>
                </a:lnTo>
                <a:lnTo>
                  <a:pt x="567529" y="682021"/>
                </a:lnTo>
                <a:lnTo>
                  <a:pt x="622923" y="692577"/>
                </a:lnTo>
                <a:lnTo>
                  <a:pt x="680248" y="702426"/>
                </a:lnTo>
                <a:lnTo>
                  <a:pt x="739415" y="711542"/>
                </a:lnTo>
                <a:lnTo>
                  <a:pt x="800335" y="719904"/>
                </a:lnTo>
                <a:lnTo>
                  <a:pt x="862920" y="727486"/>
                </a:lnTo>
                <a:lnTo>
                  <a:pt x="927081" y="734265"/>
                </a:lnTo>
                <a:lnTo>
                  <a:pt x="992729" y="740218"/>
                </a:lnTo>
                <a:lnTo>
                  <a:pt x="1059775" y="745320"/>
                </a:lnTo>
                <a:lnTo>
                  <a:pt x="1128131" y="749547"/>
                </a:lnTo>
                <a:lnTo>
                  <a:pt x="1197708" y="752877"/>
                </a:lnTo>
                <a:lnTo>
                  <a:pt x="1268416" y="755285"/>
                </a:lnTo>
                <a:lnTo>
                  <a:pt x="1340168" y="756747"/>
                </a:lnTo>
                <a:lnTo>
                  <a:pt x="1412875" y="757240"/>
                </a:lnTo>
                <a:lnTo>
                  <a:pt x="1485581" y="756747"/>
                </a:lnTo>
                <a:lnTo>
                  <a:pt x="1557333" y="755285"/>
                </a:lnTo>
                <a:lnTo>
                  <a:pt x="1628041" y="752877"/>
                </a:lnTo>
                <a:lnTo>
                  <a:pt x="1697618" y="749547"/>
                </a:lnTo>
                <a:lnTo>
                  <a:pt x="1765974" y="745320"/>
                </a:lnTo>
                <a:lnTo>
                  <a:pt x="1833020" y="740218"/>
                </a:lnTo>
                <a:lnTo>
                  <a:pt x="1898668" y="734265"/>
                </a:lnTo>
                <a:lnTo>
                  <a:pt x="1962829" y="727486"/>
                </a:lnTo>
                <a:lnTo>
                  <a:pt x="2025414" y="719904"/>
                </a:lnTo>
                <a:lnTo>
                  <a:pt x="2086335" y="711542"/>
                </a:lnTo>
                <a:lnTo>
                  <a:pt x="2145502" y="702426"/>
                </a:lnTo>
                <a:lnTo>
                  <a:pt x="2202826" y="692577"/>
                </a:lnTo>
                <a:lnTo>
                  <a:pt x="2258220" y="682021"/>
                </a:lnTo>
                <a:lnTo>
                  <a:pt x="2311594" y="670781"/>
                </a:lnTo>
                <a:lnTo>
                  <a:pt x="2362860" y="658881"/>
                </a:lnTo>
                <a:lnTo>
                  <a:pt x="2411928" y="646345"/>
                </a:lnTo>
                <a:lnTo>
                  <a:pt x="2458710" y="633195"/>
                </a:lnTo>
                <a:lnTo>
                  <a:pt x="2503118" y="619457"/>
                </a:lnTo>
                <a:lnTo>
                  <a:pt x="2545061" y="605154"/>
                </a:lnTo>
                <a:lnTo>
                  <a:pt x="2584453" y="590310"/>
                </a:lnTo>
                <a:lnTo>
                  <a:pt x="2621203" y="574948"/>
                </a:lnTo>
                <a:lnTo>
                  <a:pt x="2686425" y="542767"/>
                </a:lnTo>
                <a:lnTo>
                  <a:pt x="2740017" y="508802"/>
                </a:lnTo>
                <a:lnTo>
                  <a:pt x="2781268" y="473243"/>
                </a:lnTo>
                <a:lnTo>
                  <a:pt x="2809470" y="436280"/>
                </a:lnTo>
                <a:lnTo>
                  <a:pt x="2823911" y="398103"/>
                </a:lnTo>
                <a:lnTo>
                  <a:pt x="2825750" y="378620"/>
                </a:lnTo>
                <a:lnTo>
                  <a:pt x="2823911" y="359136"/>
                </a:lnTo>
                <a:lnTo>
                  <a:pt x="2809470" y="320960"/>
                </a:lnTo>
                <a:lnTo>
                  <a:pt x="2781268" y="283997"/>
                </a:lnTo>
                <a:lnTo>
                  <a:pt x="2740017" y="248437"/>
                </a:lnTo>
                <a:lnTo>
                  <a:pt x="2686425" y="214472"/>
                </a:lnTo>
                <a:lnTo>
                  <a:pt x="2621203" y="182292"/>
                </a:lnTo>
                <a:lnTo>
                  <a:pt x="2584453" y="166930"/>
                </a:lnTo>
                <a:lnTo>
                  <a:pt x="2545061" y="152085"/>
                </a:lnTo>
                <a:lnTo>
                  <a:pt x="2503118" y="137782"/>
                </a:lnTo>
                <a:lnTo>
                  <a:pt x="2458710" y="124044"/>
                </a:lnTo>
                <a:lnTo>
                  <a:pt x="2411928" y="110895"/>
                </a:lnTo>
                <a:lnTo>
                  <a:pt x="2362860" y="98358"/>
                </a:lnTo>
                <a:lnTo>
                  <a:pt x="2311594" y="86458"/>
                </a:lnTo>
                <a:lnTo>
                  <a:pt x="2258220" y="75218"/>
                </a:lnTo>
                <a:lnTo>
                  <a:pt x="2202826" y="64662"/>
                </a:lnTo>
                <a:lnTo>
                  <a:pt x="2145502" y="54814"/>
                </a:lnTo>
                <a:lnTo>
                  <a:pt x="2086335" y="45697"/>
                </a:lnTo>
                <a:lnTo>
                  <a:pt x="2025414" y="37336"/>
                </a:lnTo>
                <a:lnTo>
                  <a:pt x="1962829" y="29753"/>
                </a:lnTo>
                <a:lnTo>
                  <a:pt x="1898668" y="22974"/>
                </a:lnTo>
                <a:lnTo>
                  <a:pt x="1833020" y="17022"/>
                </a:lnTo>
                <a:lnTo>
                  <a:pt x="1765974" y="11919"/>
                </a:lnTo>
                <a:lnTo>
                  <a:pt x="1697618" y="7692"/>
                </a:lnTo>
                <a:lnTo>
                  <a:pt x="1628041" y="4362"/>
                </a:lnTo>
                <a:lnTo>
                  <a:pt x="1557333" y="1954"/>
                </a:lnTo>
                <a:lnTo>
                  <a:pt x="1485581" y="492"/>
                </a:lnTo>
                <a:lnTo>
                  <a:pt x="1412875" y="0"/>
                </a:lnTo>
                <a:close/>
              </a:path>
            </a:pathLst>
          </a:custGeom>
          <a:solidFill>
            <a:srgbClr val="7A4779"/>
          </a:solidFill>
        </p:spPr>
        <p:txBody>
          <a:bodyPr wrap="square" lIns="0" tIns="0" rIns="0" bIns="0" rtlCol="0"/>
          <a:lstStyle/>
          <a:p/>
        </p:txBody>
      </p:sp>
      <p:sp>
        <p:nvSpPr>
          <p:cNvPr id="11" name="object 7"/>
          <p:cNvSpPr/>
          <p:nvPr/>
        </p:nvSpPr>
        <p:spPr>
          <a:xfrm>
            <a:off x="3351212" y="2085976"/>
            <a:ext cx="2119313" cy="568166"/>
          </a:xfrm>
          <a:custGeom>
            <a:avLst/>
            <a:gdLst/>
            <a:ahLst/>
            <a:cxnLst/>
            <a:rect l="l" t="t" r="r" b="b"/>
            <a:pathLst>
              <a:path w="2825750" h="757554">
                <a:moveTo>
                  <a:pt x="0" y="378619"/>
                </a:moveTo>
                <a:lnTo>
                  <a:pt x="7294" y="339908"/>
                </a:lnTo>
                <a:lnTo>
                  <a:pt x="28704" y="302314"/>
                </a:lnTo>
                <a:lnTo>
                  <a:pt x="63520" y="266029"/>
                </a:lnTo>
                <a:lnTo>
                  <a:pt x="111030" y="231244"/>
                </a:lnTo>
                <a:lnTo>
                  <a:pt x="170526" y="198147"/>
                </a:lnTo>
                <a:lnTo>
                  <a:pt x="241296" y="166929"/>
                </a:lnTo>
                <a:lnTo>
                  <a:pt x="280688" y="152085"/>
                </a:lnTo>
                <a:lnTo>
                  <a:pt x="322631" y="137782"/>
                </a:lnTo>
                <a:lnTo>
                  <a:pt x="367039" y="124044"/>
                </a:lnTo>
                <a:lnTo>
                  <a:pt x="413821" y="110895"/>
                </a:lnTo>
                <a:lnTo>
                  <a:pt x="462889" y="98358"/>
                </a:lnTo>
                <a:lnTo>
                  <a:pt x="514155" y="86458"/>
                </a:lnTo>
                <a:lnTo>
                  <a:pt x="567529" y="75218"/>
                </a:lnTo>
                <a:lnTo>
                  <a:pt x="622922" y="64662"/>
                </a:lnTo>
                <a:lnTo>
                  <a:pt x="680247" y="54814"/>
                </a:lnTo>
                <a:lnTo>
                  <a:pt x="739414" y="45697"/>
                </a:lnTo>
                <a:lnTo>
                  <a:pt x="800335" y="37336"/>
                </a:lnTo>
                <a:lnTo>
                  <a:pt x="862920" y="29753"/>
                </a:lnTo>
                <a:lnTo>
                  <a:pt x="927080" y="22974"/>
                </a:lnTo>
                <a:lnTo>
                  <a:pt x="992728" y="17022"/>
                </a:lnTo>
                <a:lnTo>
                  <a:pt x="1059775" y="11919"/>
                </a:lnTo>
                <a:lnTo>
                  <a:pt x="1128131" y="7692"/>
                </a:lnTo>
                <a:lnTo>
                  <a:pt x="1197707" y="4362"/>
                </a:lnTo>
                <a:lnTo>
                  <a:pt x="1268416" y="1954"/>
                </a:lnTo>
                <a:lnTo>
                  <a:pt x="1340168" y="492"/>
                </a:lnTo>
                <a:lnTo>
                  <a:pt x="1412874" y="0"/>
                </a:lnTo>
                <a:lnTo>
                  <a:pt x="1485580" y="492"/>
                </a:lnTo>
                <a:lnTo>
                  <a:pt x="1557332" y="1954"/>
                </a:lnTo>
                <a:lnTo>
                  <a:pt x="1628041" y="4362"/>
                </a:lnTo>
                <a:lnTo>
                  <a:pt x="1697617" y="7692"/>
                </a:lnTo>
                <a:lnTo>
                  <a:pt x="1765973" y="11919"/>
                </a:lnTo>
                <a:lnTo>
                  <a:pt x="1833020" y="17022"/>
                </a:lnTo>
                <a:lnTo>
                  <a:pt x="1898668" y="22974"/>
                </a:lnTo>
                <a:lnTo>
                  <a:pt x="1962828" y="29753"/>
                </a:lnTo>
                <a:lnTo>
                  <a:pt x="2025413" y="37336"/>
                </a:lnTo>
                <a:lnTo>
                  <a:pt x="2086334" y="45697"/>
                </a:lnTo>
                <a:lnTo>
                  <a:pt x="2145501" y="54814"/>
                </a:lnTo>
                <a:lnTo>
                  <a:pt x="2202825" y="64662"/>
                </a:lnTo>
                <a:lnTo>
                  <a:pt x="2258219" y="75218"/>
                </a:lnTo>
                <a:lnTo>
                  <a:pt x="2311593" y="86458"/>
                </a:lnTo>
                <a:lnTo>
                  <a:pt x="2362859" y="98358"/>
                </a:lnTo>
                <a:lnTo>
                  <a:pt x="2411927" y="110895"/>
                </a:lnTo>
                <a:lnTo>
                  <a:pt x="2458709" y="124044"/>
                </a:lnTo>
                <a:lnTo>
                  <a:pt x="2503117" y="137782"/>
                </a:lnTo>
                <a:lnTo>
                  <a:pt x="2545060" y="152085"/>
                </a:lnTo>
                <a:lnTo>
                  <a:pt x="2584452" y="166929"/>
                </a:lnTo>
                <a:lnTo>
                  <a:pt x="2621202" y="182291"/>
                </a:lnTo>
                <a:lnTo>
                  <a:pt x="2686424" y="214472"/>
                </a:lnTo>
                <a:lnTo>
                  <a:pt x="2740016" y="248437"/>
                </a:lnTo>
                <a:lnTo>
                  <a:pt x="2781268" y="283996"/>
                </a:lnTo>
                <a:lnTo>
                  <a:pt x="2809469" y="320959"/>
                </a:lnTo>
                <a:lnTo>
                  <a:pt x="2823910" y="359136"/>
                </a:lnTo>
                <a:lnTo>
                  <a:pt x="2825749" y="378619"/>
                </a:lnTo>
                <a:lnTo>
                  <a:pt x="2823910" y="398103"/>
                </a:lnTo>
                <a:lnTo>
                  <a:pt x="2809469" y="436279"/>
                </a:lnTo>
                <a:lnTo>
                  <a:pt x="2781268" y="473242"/>
                </a:lnTo>
                <a:lnTo>
                  <a:pt x="2740016" y="508802"/>
                </a:lnTo>
                <a:lnTo>
                  <a:pt x="2686424" y="542767"/>
                </a:lnTo>
                <a:lnTo>
                  <a:pt x="2621202" y="574948"/>
                </a:lnTo>
                <a:lnTo>
                  <a:pt x="2584452" y="590309"/>
                </a:lnTo>
                <a:lnTo>
                  <a:pt x="2545060" y="605154"/>
                </a:lnTo>
                <a:lnTo>
                  <a:pt x="2503117" y="619457"/>
                </a:lnTo>
                <a:lnTo>
                  <a:pt x="2458709" y="633195"/>
                </a:lnTo>
                <a:lnTo>
                  <a:pt x="2411927" y="646344"/>
                </a:lnTo>
                <a:lnTo>
                  <a:pt x="2362859" y="658881"/>
                </a:lnTo>
                <a:lnTo>
                  <a:pt x="2311593" y="670781"/>
                </a:lnTo>
                <a:lnTo>
                  <a:pt x="2258219" y="682021"/>
                </a:lnTo>
                <a:lnTo>
                  <a:pt x="2202825" y="692577"/>
                </a:lnTo>
                <a:lnTo>
                  <a:pt x="2145501" y="702425"/>
                </a:lnTo>
                <a:lnTo>
                  <a:pt x="2086334" y="711542"/>
                </a:lnTo>
                <a:lnTo>
                  <a:pt x="2025413" y="719903"/>
                </a:lnTo>
                <a:lnTo>
                  <a:pt x="1962828" y="727485"/>
                </a:lnTo>
                <a:lnTo>
                  <a:pt x="1898668" y="734265"/>
                </a:lnTo>
                <a:lnTo>
                  <a:pt x="1833020" y="740217"/>
                </a:lnTo>
                <a:lnTo>
                  <a:pt x="1765973" y="745319"/>
                </a:lnTo>
                <a:lnTo>
                  <a:pt x="1697617" y="749547"/>
                </a:lnTo>
                <a:lnTo>
                  <a:pt x="1628041" y="752877"/>
                </a:lnTo>
                <a:lnTo>
                  <a:pt x="1557332" y="755284"/>
                </a:lnTo>
                <a:lnTo>
                  <a:pt x="1485580" y="756747"/>
                </a:lnTo>
                <a:lnTo>
                  <a:pt x="1412874" y="757239"/>
                </a:lnTo>
                <a:lnTo>
                  <a:pt x="1340168" y="756747"/>
                </a:lnTo>
                <a:lnTo>
                  <a:pt x="1268416" y="755284"/>
                </a:lnTo>
                <a:lnTo>
                  <a:pt x="1197707" y="752877"/>
                </a:lnTo>
                <a:lnTo>
                  <a:pt x="1128131" y="749547"/>
                </a:lnTo>
                <a:lnTo>
                  <a:pt x="1059775" y="745319"/>
                </a:lnTo>
                <a:lnTo>
                  <a:pt x="992728" y="740217"/>
                </a:lnTo>
                <a:lnTo>
                  <a:pt x="927080" y="734265"/>
                </a:lnTo>
                <a:lnTo>
                  <a:pt x="862920" y="727485"/>
                </a:lnTo>
                <a:lnTo>
                  <a:pt x="800335" y="719903"/>
                </a:lnTo>
                <a:lnTo>
                  <a:pt x="739414" y="711542"/>
                </a:lnTo>
                <a:lnTo>
                  <a:pt x="680247" y="702425"/>
                </a:lnTo>
                <a:lnTo>
                  <a:pt x="622922" y="692577"/>
                </a:lnTo>
                <a:lnTo>
                  <a:pt x="567529" y="682021"/>
                </a:lnTo>
                <a:lnTo>
                  <a:pt x="514155" y="670781"/>
                </a:lnTo>
                <a:lnTo>
                  <a:pt x="462889" y="658881"/>
                </a:lnTo>
                <a:lnTo>
                  <a:pt x="413821" y="646344"/>
                </a:lnTo>
                <a:lnTo>
                  <a:pt x="367039" y="633195"/>
                </a:lnTo>
                <a:lnTo>
                  <a:pt x="322631" y="619457"/>
                </a:lnTo>
                <a:lnTo>
                  <a:pt x="280688" y="605154"/>
                </a:lnTo>
                <a:lnTo>
                  <a:pt x="241296" y="590309"/>
                </a:lnTo>
                <a:lnTo>
                  <a:pt x="204546" y="574948"/>
                </a:lnTo>
                <a:lnTo>
                  <a:pt x="139324" y="542767"/>
                </a:lnTo>
                <a:lnTo>
                  <a:pt x="85732" y="508802"/>
                </a:lnTo>
                <a:lnTo>
                  <a:pt x="44481" y="473242"/>
                </a:lnTo>
                <a:lnTo>
                  <a:pt x="16279" y="436279"/>
                </a:lnTo>
                <a:lnTo>
                  <a:pt x="1838" y="398103"/>
                </a:lnTo>
                <a:lnTo>
                  <a:pt x="0" y="378619"/>
                </a:lnTo>
                <a:close/>
              </a:path>
            </a:pathLst>
          </a:custGeom>
          <a:ln w="28574">
            <a:solidFill>
              <a:srgbClr val="ECEBEB"/>
            </a:solidFill>
          </a:ln>
        </p:spPr>
        <p:txBody>
          <a:bodyPr wrap="square" lIns="0" tIns="0" rIns="0" bIns="0" rtlCol="0"/>
          <a:lstStyle/>
          <a:p/>
        </p:txBody>
      </p:sp>
      <p:sp>
        <p:nvSpPr>
          <p:cNvPr id="12" name="object 8"/>
          <p:cNvSpPr txBox="1"/>
          <p:nvPr/>
        </p:nvSpPr>
        <p:spPr>
          <a:xfrm>
            <a:off x="3623171" y="1137762"/>
            <a:ext cx="1575911" cy="1501775"/>
          </a:xfrm>
          <a:prstGeom prst="rect">
            <a:avLst/>
          </a:prstGeom>
        </p:spPr>
        <p:txBody>
          <a:bodyPr vert="horz" wrap="square" lIns="0" tIns="9525" rIns="0" bIns="0" rtlCol="0">
            <a:spAutoFit/>
          </a:bodyPr>
          <a:lstStyle/>
          <a:p>
            <a:pPr marL="5080" algn="ctr">
              <a:lnSpc>
                <a:spcPts val="2130"/>
              </a:lnSpc>
              <a:spcBef>
                <a:spcPts val="75"/>
              </a:spcBef>
              <a:spcAft>
                <a:spcPts val="0"/>
              </a:spcAft>
            </a:pPr>
            <a:r>
              <a:rPr dirty="0">
                <a:solidFill>
                  <a:srgbClr val="FFFFFF"/>
                </a:solidFill>
                <a:latin typeface="宋体" panose="02010600030101010101" pitchFamily="2" charset="-122"/>
                <a:cs typeface="宋体" panose="02010600030101010101" pitchFamily="2" charset="-122"/>
              </a:rPr>
              <a:t>取款</a:t>
            </a:r>
            <a:endParaRPr dirty="0">
              <a:latin typeface="宋体" panose="02010600030101010101" pitchFamily="2" charset="-122"/>
              <a:cs typeface="宋体" panose="02010600030101010101" pitchFamily="2" charset="-122"/>
            </a:endParaRPr>
          </a:p>
          <a:p>
            <a:pPr algn="ctr">
              <a:lnSpc>
                <a:spcPts val="2130"/>
              </a:lnSpc>
              <a:spcBef>
                <a:spcPts val="0"/>
              </a:spcBef>
              <a:spcAft>
                <a:spcPts val="0"/>
              </a:spcAft>
            </a:pPr>
            <a:r>
              <a:rPr spc="-4" dirty="0">
                <a:solidFill>
                  <a:srgbClr val="FFFFFF"/>
                </a:solidFill>
                <a:latin typeface="Calibri" panose="020F0502020204030204"/>
                <a:cs typeface="Calibri" panose="020F0502020204030204"/>
              </a:rPr>
              <a:t>(Withdraw</a:t>
            </a:r>
            <a:r>
              <a:rPr spc="-49" dirty="0">
                <a:solidFill>
                  <a:srgbClr val="FFFFFF"/>
                </a:solidFill>
                <a:latin typeface="Calibri" panose="020F0502020204030204"/>
                <a:cs typeface="Calibri" panose="020F0502020204030204"/>
              </a:rPr>
              <a:t> </a:t>
            </a:r>
            <a:r>
              <a:rPr dirty="0">
                <a:solidFill>
                  <a:srgbClr val="FFFFFF"/>
                </a:solidFill>
                <a:latin typeface="Calibri" panose="020F0502020204030204"/>
                <a:cs typeface="Calibri" panose="020F0502020204030204"/>
              </a:rPr>
              <a:t>Cash)</a:t>
            </a:r>
            <a:endParaRPr dirty="0">
              <a:latin typeface="Calibri" panose="020F0502020204030204"/>
              <a:cs typeface="Calibri" panose="020F0502020204030204"/>
            </a:endParaRPr>
          </a:p>
          <a:p>
            <a:pPr>
              <a:lnSpc>
                <a:spcPct val="100000"/>
              </a:lnSpc>
            </a:pPr>
            <a:endParaRPr sz="2600" dirty="0">
              <a:latin typeface="Calibri" panose="020F0502020204030204"/>
              <a:cs typeface="Calibri" panose="020F0502020204030204"/>
            </a:endParaRPr>
          </a:p>
          <a:p>
            <a:pPr marR="3175" algn="ctr">
              <a:lnSpc>
                <a:spcPts val="2130"/>
              </a:lnSpc>
              <a:spcBef>
                <a:spcPts val="0"/>
              </a:spcBef>
              <a:spcAft>
                <a:spcPts val="0"/>
              </a:spcAft>
            </a:pPr>
            <a:r>
              <a:rPr dirty="0">
                <a:solidFill>
                  <a:srgbClr val="FFFFFF"/>
                </a:solidFill>
                <a:latin typeface="宋体" panose="02010600030101010101" pitchFamily="2" charset="-122"/>
                <a:cs typeface="宋体" panose="02010600030101010101" pitchFamily="2" charset="-122"/>
              </a:rPr>
              <a:t>转账</a:t>
            </a:r>
            <a:endParaRPr dirty="0">
              <a:latin typeface="宋体" panose="02010600030101010101" pitchFamily="2" charset="-122"/>
              <a:cs typeface="宋体" panose="02010600030101010101" pitchFamily="2" charset="-122"/>
            </a:endParaRPr>
          </a:p>
          <a:p>
            <a:pPr marL="4445" algn="ctr">
              <a:lnSpc>
                <a:spcPts val="2130"/>
              </a:lnSpc>
              <a:spcBef>
                <a:spcPts val="0"/>
              </a:spcBef>
            </a:pPr>
            <a:r>
              <a:rPr spc="-4" dirty="0">
                <a:solidFill>
                  <a:srgbClr val="FFFFFF"/>
                </a:solidFill>
                <a:latin typeface="Calibri" panose="020F0502020204030204"/>
                <a:cs typeface="Calibri" panose="020F0502020204030204"/>
              </a:rPr>
              <a:t>(Transfer</a:t>
            </a:r>
            <a:r>
              <a:rPr spc="-34" dirty="0">
                <a:solidFill>
                  <a:srgbClr val="FFFFFF"/>
                </a:solidFill>
                <a:latin typeface="Calibri" panose="020F0502020204030204"/>
                <a:cs typeface="Calibri" panose="020F0502020204030204"/>
              </a:rPr>
              <a:t> </a:t>
            </a:r>
            <a:r>
              <a:rPr dirty="0">
                <a:solidFill>
                  <a:srgbClr val="FFFFFF"/>
                </a:solidFill>
                <a:latin typeface="Calibri" panose="020F0502020204030204"/>
                <a:cs typeface="Calibri" panose="020F0502020204030204"/>
              </a:rPr>
              <a:t>Funds)</a:t>
            </a:r>
            <a:endParaRPr dirty="0">
              <a:latin typeface="Calibri" panose="020F0502020204030204"/>
              <a:cs typeface="Calibri" panose="020F0502020204030204"/>
            </a:endParaRPr>
          </a:p>
        </p:txBody>
      </p:sp>
      <p:sp>
        <p:nvSpPr>
          <p:cNvPr id="13" name="object 9"/>
          <p:cNvSpPr/>
          <p:nvPr/>
        </p:nvSpPr>
        <p:spPr>
          <a:xfrm>
            <a:off x="3260725" y="3002756"/>
            <a:ext cx="2300288" cy="561975"/>
          </a:xfrm>
          <a:custGeom>
            <a:avLst/>
            <a:gdLst/>
            <a:ahLst/>
            <a:cxnLst/>
            <a:rect l="l" t="t" r="r" b="b"/>
            <a:pathLst>
              <a:path w="3067050" h="749300">
                <a:moveTo>
                  <a:pt x="1533525" y="0"/>
                </a:moveTo>
                <a:lnTo>
                  <a:pt x="1461334" y="407"/>
                </a:lnTo>
                <a:lnTo>
                  <a:pt x="1390003" y="1619"/>
                </a:lnTo>
                <a:lnTo>
                  <a:pt x="1319605" y="3616"/>
                </a:lnTo>
                <a:lnTo>
                  <a:pt x="1250213" y="6380"/>
                </a:lnTo>
                <a:lnTo>
                  <a:pt x="1181901" y="9894"/>
                </a:lnTo>
                <a:lnTo>
                  <a:pt x="1114743" y="14140"/>
                </a:lnTo>
                <a:lnTo>
                  <a:pt x="1048812" y="19100"/>
                </a:lnTo>
                <a:lnTo>
                  <a:pt x="984182" y="24755"/>
                </a:lnTo>
                <a:lnTo>
                  <a:pt x="920926" y="31087"/>
                </a:lnTo>
                <a:lnTo>
                  <a:pt x="859119" y="38080"/>
                </a:lnTo>
                <a:lnTo>
                  <a:pt x="798833" y="45714"/>
                </a:lnTo>
                <a:lnTo>
                  <a:pt x="740143" y="53971"/>
                </a:lnTo>
                <a:lnTo>
                  <a:pt x="683123" y="62835"/>
                </a:lnTo>
                <a:lnTo>
                  <a:pt x="627844" y="72286"/>
                </a:lnTo>
                <a:lnTo>
                  <a:pt x="574383" y="82306"/>
                </a:lnTo>
                <a:lnTo>
                  <a:pt x="522811" y="92879"/>
                </a:lnTo>
                <a:lnTo>
                  <a:pt x="473203" y="103985"/>
                </a:lnTo>
                <a:lnTo>
                  <a:pt x="425632" y="115607"/>
                </a:lnTo>
                <a:lnTo>
                  <a:pt x="380173" y="127726"/>
                </a:lnTo>
                <a:lnTo>
                  <a:pt x="336898" y="140326"/>
                </a:lnTo>
                <a:lnTo>
                  <a:pt x="295881" y="153387"/>
                </a:lnTo>
                <a:lnTo>
                  <a:pt x="257196" y="166892"/>
                </a:lnTo>
                <a:lnTo>
                  <a:pt x="220916" y="180822"/>
                </a:lnTo>
                <a:lnTo>
                  <a:pt x="155869" y="209889"/>
                </a:lnTo>
                <a:lnTo>
                  <a:pt x="101327" y="240443"/>
                </a:lnTo>
                <a:lnTo>
                  <a:pt x="57880" y="272340"/>
                </a:lnTo>
                <a:lnTo>
                  <a:pt x="26117" y="305436"/>
                </a:lnTo>
                <a:lnTo>
                  <a:pt x="6627" y="339588"/>
                </a:lnTo>
                <a:lnTo>
                  <a:pt x="0" y="374651"/>
                </a:lnTo>
                <a:lnTo>
                  <a:pt x="1669" y="392287"/>
                </a:lnTo>
                <a:lnTo>
                  <a:pt x="26117" y="443866"/>
                </a:lnTo>
                <a:lnTo>
                  <a:pt x="57880" y="476962"/>
                </a:lnTo>
                <a:lnTo>
                  <a:pt x="101327" y="508859"/>
                </a:lnTo>
                <a:lnTo>
                  <a:pt x="155869" y="539413"/>
                </a:lnTo>
                <a:lnTo>
                  <a:pt x="220916" y="568479"/>
                </a:lnTo>
                <a:lnTo>
                  <a:pt x="257196" y="582410"/>
                </a:lnTo>
                <a:lnTo>
                  <a:pt x="295881" y="595915"/>
                </a:lnTo>
                <a:lnTo>
                  <a:pt x="336898" y="608976"/>
                </a:lnTo>
                <a:lnTo>
                  <a:pt x="380173" y="621575"/>
                </a:lnTo>
                <a:lnTo>
                  <a:pt x="425632" y="633695"/>
                </a:lnTo>
                <a:lnTo>
                  <a:pt x="473203" y="645317"/>
                </a:lnTo>
                <a:lnTo>
                  <a:pt x="522811" y="656423"/>
                </a:lnTo>
                <a:lnTo>
                  <a:pt x="574383" y="666995"/>
                </a:lnTo>
                <a:lnTo>
                  <a:pt x="627844" y="677016"/>
                </a:lnTo>
                <a:lnTo>
                  <a:pt x="683123" y="686467"/>
                </a:lnTo>
                <a:lnTo>
                  <a:pt x="740143" y="695330"/>
                </a:lnTo>
                <a:lnTo>
                  <a:pt x="798833" y="703588"/>
                </a:lnTo>
                <a:lnTo>
                  <a:pt x="859119" y="711222"/>
                </a:lnTo>
                <a:lnTo>
                  <a:pt x="920926" y="718214"/>
                </a:lnTo>
                <a:lnTo>
                  <a:pt x="984182" y="724547"/>
                </a:lnTo>
                <a:lnTo>
                  <a:pt x="1048812" y="730202"/>
                </a:lnTo>
                <a:lnTo>
                  <a:pt x="1114743" y="735161"/>
                </a:lnTo>
                <a:lnTo>
                  <a:pt x="1181901" y="739407"/>
                </a:lnTo>
                <a:lnTo>
                  <a:pt x="1250213" y="742921"/>
                </a:lnTo>
                <a:lnTo>
                  <a:pt x="1319605" y="745686"/>
                </a:lnTo>
                <a:lnTo>
                  <a:pt x="1390003" y="747683"/>
                </a:lnTo>
                <a:lnTo>
                  <a:pt x="1461334" y="748894"/>
                </a:lnTo>
                <a:lnTo>
                  <a:pt x="1533525" y="749302"/>
                </a:lnTo>
                <a:lnTo>
                  <a:pt x="1605715" y="748894"/>
                </a:lnTo>
                <a:lnTo>
                  <a:pt x="1677046" y="747683"/>
                </a:lnTo>
                <a:lnTo>
                  <a:pt x="1747444" y="745686"/>
                </a:lnTo>
                <a:lnTo>
                  <a:pt x="1816836" y="742921"/>
                </a:lnTo>
                <a:lnTo>
                  <a:pt x="1885148" y="739407"/>
                </a:lnTo>
                <a:lnTo>
                  <a:pt x="1952306" y="735161"/>
                </a:lnTo>
                <a:lnTo>
                  <a:pt x="2018237" y="730202"/>
                </a:lnTo>
                <a:lnTo>
                  <a:pt x="2082867" y="724547"/>
                </a:lnTo>
                <a:lnTo>
                  <a:pt x="2146123" y="718214"/>
                </a:lnTo>
                <a:lnTo>
                  <a:pt x="2207930" y="711222"/>
                </a:lnTo>
                <a:lnTo>
                  <a:pt x="2268216" y="703588"/>
                </a:lnTo>
                <a:lnTo>
                  <a:pt x="2326906" y="695330"/>
                </a:lnTo>
                <a:lnTo>
                  <a:pt x="2383927" y="686467"/>
                </a:lnTo>
                <a:lnTo>
                  <a:pt x="2439205" y="677016"/>
                </a:lnTo>
                <a:lnTo>
                  <a:pt x="2492667" y="666995"/>
                </a:lnTo>
                <a:lnTo>
                  <a:pt x="2544238" y="656423"/>
                </a:lnTo>
                <a:lnTo>
                  <a:pt x="2593847" y="645317"/>
                </a:lnTo>
                <a:lnTo>
                  <a:pt x="2641417" y="633695"/>
                </a:lnTo>
                <a:lnTo>
                  <a:pt x="2686877" y="621575"/>
                </a:lnTo>
                <a:lnTo>
                  <a:pt x="2730152" y="608976"/>
                </a:lnTo>
                <a:lnTo>
                  <a:pt x="2771169" y="595915"/>
                </a:lnTo>
                <a:lnTo>
                  <a:pt x="2809854" y="582410"/>
                </a:lnTo>
                <a:lnTo>
                  <a:pt x="2846134" y="568479"/>
                </a:lnTo>
                <a:lnTo>
                  <a:pt x="2911181" y="539413"/>
                </a:lnTo>
                <a:lnTo>
                  <a:pt x="2965723" y="508859"/>
                </a:lnTo>
                <a:lnTo>
                  <a:pt x="3009170" y="476962"/>
                </a:lnTo>
                <a:lnTo>
                  <a:pt x="3040933" y="443866"/>
                </a:lnTo>
                <a:lnTo>
                  <a:pt x="3060423" y="409714"/>
                </a:lnTo>
                <a:lnTo>
                  <a:pt x="3067051" y="374651"/>
                </a:lnTo>
                <a:lnTo>
                  <a:pt x="3065382" y="357014"/>
                </a:lnTo>
                <a:lnTo>
                  <a:pt x="3040933" y="305436"/>
                </a:lnTo>
                <a:lnTo>
                  <a:pt x="3009170" y="272340"/>
                </a:lnTo>
                <a:lnTo>
                  <a:pt x="2965723" y="240443"/>
                </a:lnTo>
                <a:lnTo>
                  <a:pt x="2911181" y="209889"/>
                </a:lnTo>
                <a:lnTo>
                  <a:pt x="2846134" y="180822"/>
                </a:lnTo>
                <a:lnTo>
                  <a:pt x="2809854" y="166892"/>
                </a:lnTo>
                <a:lnTo>
                  <a:pt x="2771169" y="153387"/>
                </a:lnTo>
                <a:lnTo>
                  <a:pt x="2730152" y="140326"/>
                </a:lnTo>
                <a:lnTo>
                  <a:pt x="2686877" y="127726"/>
                </a:lnTo>
                <a:lnTo>
                  <a:pt x="2641417" y="115607"/>
                </a:lnTo>
                <a:lnTo>
                  <a:pt x="2593847" y="103985"/>
                </a:lnTo>
                <a:lnTo>
                  <a:pt x="2544238" y="92879"/>
                </a:lnTo>
                <a:lnTo>
                  <a:pt x="2492667" y="82306"/>
                </a:lnTo>
                <a:lnTo>
                  <a:pt x="2439205" y="72286"/>
                </a:lnTo>
                <a:lnTo>
                  <a:pt x="2383927" y="62835"/>
                </a:lnTo>
                <a:lnTo>
                  <a:pt x="2326906" y="53971"/>
                </a:lnTo>
                <a:lnTo>
                  <a:pt x="2268216" y="45714"/>
                </a:lnTo>
                <a:lnTo>
                  <a:pt x="2207930" y="38080"/>
                </a:lnTo>
                <a:lnTo>
                  <a:pt x="2146123" y="31087"/>
                </a:lnTo>
                <a:lnTo>
                  <a:pt x="2082867" y="24755"/>
                </a:lnTo>
                <a:lnTo>
                  <a:pt x="2018237" y="19100"/>
                </a:lnTo>
                <a:lnTo>
                  <a:pt x="1952306" y="14140"/>
                </a:lnTo>
                <a:lnTo>
                  <a:pt x="1885148" y="9894"/>
                </a:lnTo>
                <a:lnTo>
                  <a:pt x="1816836" y="6380"/>
                </a:lnTo>
                <a:lnTo>
                  <a:pt x="1747444" y="3616"/>
                </a:lnTo>
                <a:lnTo>
                  <a:pt x="1677046" y="1619"/>
                </a:lnTo>
                <a:lnTo>
                  <a:pt x="1605715" y="407"/>
                </a:lnTo>
                <a:lnTo>
                  <a:pt x="1533525" y="0"/>
                </a:lnTo>
                <a:close/>
              </a:path>
            </a:pathLst>
          </a:custGeom>
          <a:solidFill>
            <a:srgbClr val="7A4779"/>
          </a:solidFill>
        </p:spPr>
        <p:txBody>
          <a:bodyPr wrap="square" lIns="0" tIns="0" rIns="0" bIns="0" rtlCol="0"/>
          <a:lstStyle/>
          <a:p/>
        </p:txBody>
      </p:sp>
      <p:sp>
        <p:nvSpPr>
          <p:cNvPr id="14" name="object 10"/>
          <p:cNvSpPr/>
          <p:nvPr/>
        </p:nvSpPr>
        <p:spPr>
          <a:xfrm>
            <a:off x="3260724" y="3002756"/>
            <a:ext cx="2300288" cy="561975"/>
          </a:xfrm>
          <a:custGeom>
            <a:avLst/>
            <a:gdLst/>
            <a:ahLst/>
            <a:cxnLst/>
            <a:rect l="l" t="t" r="r" b="b"/>
            <a:pathLst>
              <a:path w="3067050" h="749300">
                <a:moveTo>
                  <a:pt x="0" y="374650"/>
                </a:moveTo>
                <a:lnTo>
                  <a:pt x="14801" y="322388"/>
                </a:lnTo>
                <a:lnTo>
                  <a:pt x="40501" y="288746"/>
                </a:lnTo>
                <a:lnTo>
                  <a:pt x="78180" y="256232"/>
                </a:lnTo>
                <a:lnTo>
                  <a:pt x="127248" y="224988"/>
                </a:lnTo>
                <a:lnTo>
                  <a:pt x="187116" y="195160"/>
                </a:lnTo>
                <a:lnTo>
                  <a:pt x="257196" y="166891"/>
                </a:lnTo>
                <a:lnTo>
                  <a:pt x="295881" y="153386"/>
                </a:lnTo>
                <a:lnTo>
                  <a:pt x="336898" y="140325"/>
                </a:lnTo>
                <a:lnTo>
                  <a:pt x="380173" y="127726"/>
                </a:lnTo>
                <a:lnTo>
                  <a:pt x="425633" y="115606"/>
                </a:lnTo>
                <a:lnTo>
                  <a:pt x="473203" y="103985"/>
                </a:lnTo>
                <a:lnTo>
                  <a:pt x="522811" y="92878"/>
                </a:lnTo>
                <a:lnTo>
                  <a:pt x="574383" y="82306"/>
                </a:lnTo>
                <a:lnTo>
                  <a:pt x="627845" y="72285"/>
                </a:lnTo>
                <a:lnTo>
                  <a:pt x="683123" y="62834"/>
                </a:lnTo>
                <a:lnTo>
                  <a:pt x="740144" y="53971"/>
                </a:lnTo>
                <a:lnTo>
                  <a:pt x="798834" y="45713"/>
                </a:lnTo>
                <a:lnTo>
                  <a:pt x="859119" y="38079"/>
                </a:lnTo>
                <a:lnTo>
                  <a:pt x="920927" y="31087"/>
                </a:lnTo>
                <a:lnTo>
                  <a:pt x="984182" y="24754"/>
                </a:lnTo>
                <a:lnTo>
                  <a:pt x="1048812" y="19099"/>
                </a:lnTo>
                <a:lnTo>
                  <a:pt x="1114743" y="14140"/>
                </a:lnTo>
                <a:lnTo>
                  <a:pt x="1181902" y="9894"/>
                </a:lnTo>
                <a:lnTo>
                  <a:pt x="1250214" y="6380"/>
                </a:lnTo>
                <a:lnTo>
                  <a:pt x="1319606" y="3616"/>
                </a:lnTo>
                <a:lnTo>
                  <a:pt x="1390004" y="1619"/>
                </a:lnTo>
                <a:lnTo>
                  <a:pt x="1461335" y="407"/>
                </a:lnTo>
                <a:lnTo>
                  <a:pt x="1533525" y="0"/>
                </a:lnTo>
                <a:lnTo>
                  <a:pt x="1605715" y="407"/>
                </a:lnTo>
                <a:lnTo>
                  <a:pt x="1677046" y="1619"/>
                </a:lnTo>
                <a:lnTo>
                  <a:pt x="1747445" y="3616"/>
                </a:lnTo>
                <a:lnTo>
                  <a:pt x="1816837" y="6380"/>
                </a:lnTo>
                <a:lnTo>
                  <a:pt x="1885148" y="9894"/>
                </a:lnTo>
                <a:lnTo>
                  <a:pt x="1952307" y="14140"/>
                </a:lnTo>
                <a:lnTo>
                  <a:pt x="2018238" y="19099"/>
                </a:lnTo>
                <a:lnTo>
                  <a:pt x="2082868" y="24754"/>
                </a:lnTo>
                <a:lnTo>
                  <a:pt x="2146123" y="31087"/>
                </a:lnTo>
                <a:lnTo>
                  <a:pt x="2207931" y="38079"/>
                </a:lnTo>
                <a:lnTo>
                  <a:pt x="2268216" y="45713"/>
                </a:lnTo>
                <a:lnTo>
                  <a:pt x="2326906" y="53971"/>
                </a:lnTo>
                <a:lnTo>
                  <a:pt x="2383927" y="62834"/>
                </a:lnTo>
                <a:lnTo>
                  <a:pt x="2439205" y="72285"/>
                </a:lnTo>
                <a:lnTo>
                  <a:pt x="2492667" y="82306"/>
                </a:lnTo>
                <a:lnTo>
                  <a:pt x="2544239" y="92878"/>
                </a:lnTo>
                <a:lnTo>
                  <a:pt x="2593847" y="103985"/>
                </a:lnTo>
                <a:lnTo>
                  <a:pt x="2641418" y="115606"/>
                </a:lnTo>
                <a:lnTo>
                  <a:pt x="2686877" y="127726"/>
                </a:lnTo>
                <a:lnTo>
                  <a:pt x="2730152" y="140325"/>
                </a:lnTo>
                <a:lnTo>
                  <a:pt x="2771169" y="153386"/>
                </a:lnTo>
                <a:lnTo>
                  <a:pt x="2809854" y="166891"/>
                </a:lnTo>
                <a:lnTo>
                  <a:pt x="2846134" y="180822"/>
                </a:lnTo>
                <a:lnTo>
                  <a:pt x="2911181" y="209888"/>
                </a:lnTo>
                <a:lnTo>
                  <a:pt x="2965723" y="240442"/>
                </a:lnTo>
                <a:lnTo>
                  <a:pt x="3009170" y="272339"/>
                </a:lnTo>
                <a:lnTo>
                  <a:pt x="3040933" y="305435"/>
                </a:lnTo>
                <a:lnTo>
                  <a:pt x="3060423" y="339587"/>
                </a:lnTo>
                <a:lnTo>
                  <a:pt x="3067051" y="374650"/>
                </a:lnTo>
                <a:lnTo>
                  <a:pt x="3065382" y="392287"/>
                </a:lnTo>
                <a:lnTo>
                  <a:pt x="3040933" y="443865"/>
                </a:lnTo>
                <a:lnTo>
                  <a:pt x="3009170" y="476962"/>
                </a:lnTo>
                <a:lnTo>
                  <a:pt x="2965723" y="508859"/>
                </a:lnTo>
                <a:lnTo>
                  <a:pt x="2911181" y="539412"/>
                </a:lnTo>
                <a:lnTo>
                  <a:pt x="2846134" y="568479"/>
                </a:lnTo>
                <a:lnTo>
                  <a:pt x="2809854" y="582410"/>
                </a:lnTo>
                <a:lnTo>
                  <a:pt x="2771169" y="595914"/>
                </a:lnTo>
                <a:lnTo>
                  <a:pt x="2730152" y="608975"/>
                </a:lnTo>
                <a:lnTo>
                  <a:pt x="2686877" y="621575"/>
                </a:lnTo>
                <a:lnTo>
                  <a:pt x="2641418" y="633694"/>
                </a:lnTo>
                <a:lnTo>
                  <a:pt x="2593847" y="645316"/>
                </a:lnTo>
                <a:lnTo>
                  <a:pt x="2544239" y="656422"/>
                </a:lnTo>
                <a:lnTo>
                  <a:pt x="2492667" y="666995"/>
                </a:lnTo>
                <a:lnTo>
                  <a:pt x="2439205" y="677015"/>
                </a:lnTo>
                <a:lnTo>
                  <a:pt x="2383927" y="686466"/>
                </a:lnTo>
                <a:lnTo>
                  <a:pt x="2326906" y="695330"/>
                </a:lnTo>
                <a:lnTo>
                  <a:pt x="2268216" y="703587"/>
                </a:lnTo>
                <a:lnTo>
                  <a:pt x="2207931" y="711221"/>
                </a:lnTo>
                <a:lnTo>
                  <a:pt x="2146123" y="718214"/>
                </a:lnTo>
                <a:lnTo>
                  <a:pt x="2082868" y="724546"/>
                </a:lnTo>
                <a:lnTo>
                  <a:pt x="2018238" y="730201"/>
                </a:lnTo>
                <a:lnTo>
                  <a:pt x="1952307" y="735161"/>
                </a:lnTo>
                <a:lnTo>
                  <a:pt x="1885148" y="739407"/>
                </a:lnTo>
                <a:lnTo>
                  <a:pt x="1816837" y="742921"/>
                </a:lnTo>
                <a:lnTo>
                  <a:pt x="1747445" y="745685"/>
                </a:lnTo>
                <a:lnTo>
                  <a:pt x="1677046" y="747682"/>
                </a:lnTo>
                <a:lnTo>
                  <a:pt x="1605715" y="748894"/>
                </a:lnTo>
                <a:lnTo>
                  <a:pt x="1533525" y="749301"/>
                </a:lnTo>
                <a:lnTo>
                  <a:pt x="1461335" y="748894"/>
                </a:lnTo>
                <a:lnTo>
                  <a:pt x="1390004" y="747682"/>
                </a:lnTo>
                <a:lnTo>
                  <a:pt x="1319606" y="745685"/>
                </a:lnTo>
                <a:lnTo>
                  <a:pt x="1250214" y="742921"/>
                </a:lnTo>
                <a:lnTo>
                  <a:pt x="1181902" y="739407"/>
                </a:lnTo>
                <a:lnTo>
                  <a:pt x="1114743" y="735161"/>
                </a:lnTo>
                <a:lnTo>
                  <a:pt x="1048812" y="730201"/>
                </a:lnTo>
                <a:lnTo>
                  <a:pt x="984182" y="724546"/>
                </a:lnTo>
                <a:lnTo>
                  <a:pt x="920927" y="718214"/>
                </a:lnTo>
                <a:lnTo>
                  <a:pt x="859119" y="711221"/>
                </a:lnTo>
                <a:lnTo>
                  <a:pt x="798834" y="703587"/>
                </a:lnTo>
                <a:lnTo>
                  <a:pt x="740144" y="695330"/>
                </a:lnTo>
                <a:lnTo>
                  <a:pt x="683123" y="686466"/>
                </a:lnTo>
                <a:lnTo>
                  <a:pt x="627845" y="677015"/>
                </a:lnTo>
                <a:lnTo>
                  <a:pt x="574383" y="666995"/>
                </a:lnTo>
                <a:lnTo>
                  <a:pt x="522811" y="656422"/>
                </a:lnTo>
                <a:lnTo>
                  <a:pt x="473203" y="645316"/>
                </a:lnTo>
                <a:lnTo>
                  <a:pt x="425633" y="633694"/>
                </a:lnTo>
                <a:lnTo>
                  <a:pt x="380173" y="621575"/>
                </a:lnTo>
                <a:lnTo>
                  <a:pt x="336898" y="608975"/>
                </a:lnTo>
                <a:lnTo>
                  <a:pt x="295881" y="595914"/>
                </a:lnTo>
                <a:lnTo>
                  <a:pt x="257196" y="582410"/>
                </a:lnTo>
                <a:lnTo>
                  <a:pt x="220917" y="568479"/>
                </a:lnTo>
                <a:lnTo>
                  <a:pt x="155869" y="539412"/>
                </a:lnTo>
                <a:lnTo>
                  <a:pt x="101327" y="508859"/>
                </a:lnTo>
                <a:lnTo>
                  <a:pt x="57880" y="476962"/>
                </a:lnTo>
                <a:lnTo>
                  <a:pt x="26117" y="443865"/>
                </a:lnTo>
                <a:lnTo>
                  <a:pt x="6627" y="409714"/>
                </a:lnTo>
                <a:lnTo>
                  <a:pt x="0" y="374650"/>
                </a:lnTo>
                <a:close/>
              </a:path>
            </a:pathLst>
          </a:custGeom>
          <a:ln w="28574">
            <a:solidFill>
              <a:srgbClr val="ECEBEB"/>
            </a:solidFill>
          </a:ln>
        </p:spPr>
        <p:txBody>
          <a:bodyPr wrap="square" lIns="0" tIns="0" rIns="0" bIns="0" rtlCol="0"/>
          <a:lstStyle/>
          <a:p/>
        </p:txBody>
      </p:sp>
      <p:sp>
        <p:nvSpPr>
          <p:cNvPr id="15" name="object 11"/>
          <p:cNvSpPr txBox="1"/>
          <p:nvPr/>
        </p:nvSpPr>
        <p:spPr>
          <a:xfrm>
            <a:off x="3675699" y="2999900"/>
            <a:ext cx="1477804" cy="555625"/>
          </a:xfrm>
          <a:prstGeom prst="rect">
            <a:avLst/>
          </a:prstGeom>
        </p:spPr>
        <p:txBody>
          <a:bodyPr vert="horz" wrap="square" lIns="0" tIns="9525" rIns="0" bIns="0" rtlCol="0">
            <a:spAutoFit/>
          </a:bodyPr>
          <a:lstStyle/>
          <a:p>
            <a:pPr marR="5080" algn="ctr">
              <a:lnSpc>
                <a:spcPts val="2130"/>
              </a:lnSpc>
              <a:spcBef>
                <a:spcPts val="75"/>
              </a:spcBef>
              <a:spcAft>
                <a:spcPts val="0"/>
              </a:spcAft>
            </a:pPr>
            <a:r>
              <a:rPr dirty="0">
                <a:solidFill>
                  <a:srgbClr val="FFFFFF"/>
                </a:solidFill>
                <a:latin typeface="宋体" panose="02010600030101010101" pitchFamily="2" charset="-122"/>
                <a:cs typeface="宋体" panose="02010600030101010101" pitchFamily="2" charset="-122"/>
              </a:rPr>
              <a:t>存钱</a:t>
            </a:r>
            <a:endParaRPr dirty="0">
              <a:latin typeface="宋体" panose="02010600030101010101" pitchFamily="2" charset="-122"/>
              <a:cs typeface="宋体" panose="02010600030101010101" pitchFamily="2" charset="-122"/>
            </a:endParaRPr>
          </a:p>
          <a:p>
            <a:pPr algn="ctr">
              <a:lnSpc>
                <a:spcPts val="2130"/>
              </a:lnSpc>
              <a:spcBef>
                <a:spcPts val="0"/>
              </a:spcBef>
            </a:pPr>
            <a:r>
              <a:rPr spc="-4" dirty="0">
                <a:solidFill>
                  <a:srgbClr val="FFFFFF"/>
                </a:solidFill>
                <a:latin typeface="Calibri" panose="020F0502020204030204"/>
                <a:cs typeface="Calibri" panose="020F0502020204030204"/>
              </a:rPr>
              <a:t>(Deposit</a:t>
            </a:r>
            <a:r>
              <a:rPr spc="-49" dirty="0">
                <a:solidFill>
                  <a:srgbClr val="FFFFFF"/>
                </a:solidFill>
                <a:latin typeface="Calibri" panose="020F0502020204030204"/>
                <a:cs typeface="Calibri" panose="020F0502020204030204"/>
              </a:rPr>
              <a:t> </a:t>
            </a:r>
            <a:r>
              <a:rPr dirty="0">
                <a:solidFill>
                  <a:srgbClr val="FFFFFF"/>
                </a:solidFill>
                <a:latin typeface="Calibri" panose="020F0502020204030204"/>
                <a:cs typeface="Calibri" panose="020F0502020204030204"/>
              </a:rPr>
              <a:t>Funds)</a:t>
            </a:r>
            <a:endParaRPr dirty="0">
              <a:latin typeface="Calibri" panose="020F0502020204030204"/>
              <a:cs typeface="Calibri" panose="020F0502020204030204"/>
            </a:endParaRPr>
          </a:p>
        </p:txBody>
      </p:sp>
      <p:sp>
        <p:nvSpPr>
          <p:cNvPr id="16" name="object 12"/>
          <p:cNvSpPr/>
          <p:nvPr/>
        </p:nvSpPr>
        <p:spPr>
          <a:xfrm>
            <a:off x="1240093" y="2245398"/>
            <a:ext cx="295751" cy="219551"/>
          </a:xfrm>
          <a:custGeom>
            <a:avLst/>
            <a:gdLst/>
            <a:ahLst/>
            <a:cxnLst/>
            <a:rect l="l" t="t" r="r" b="b"/>
            <a:pathLst>
              <a:path w="394335" h="292735">
                <a:moveTo>
                  <a:pt x="0" y="146366"/>
                </a:moveTo>
                <a:lnTo>
                  <a:pt x="7034" y="107456"/>
                </a:lnTo>
                <a:lnTo>
                  <a:pt x="26886" y="72492"/>
                </a:lnTo>
                <a:lnTo>
                  <a:pt x="57677" y="42869"/>
                </a:lnTo>
                <a:lnTo>
                  <a:pt x="97533" y="19983"/>
                </a:lnTo>
                <a:lnTo>
                  <a:pt x="144574" y="5228"/>
                </a:lnTo>
                <a:lnTo>
                  <a:pt x="196924" y="0"/>
                </a:lnTo>
                <a:lnTo>
                  <a:pt x="249275" y="5228"/>
                </a:lnTo>
                <a:lnTo>
                  <a:pt x="296316" y="19983"/>
                </a:lnTo>
                <a:lnTo>
                  <a:pt x="336171" y="42869"/>
                </a:lnTo>
                <a:lnTo>
                  <a:pt x="366963" y="72492"/>
                </a:lnTo>
                <a:lnTo>
                  <a:pt x="386815" y="107456"/>
                </a:lnTo>
                <a:lnTo>
                  <a:pt x="393849" y="146366"/>
                </a:lnTo>
                <a:lnTo>
                  <a:pt x="386815" y="185277"/>
                </a:lnTo>
                <a:lnTo>
                  <a:pt x="366963" y="220241"/>
                </a:lnTo>
                <a:lnTo>
                  <a:pt x="336171" y="249864"/>
                </a:lnTo>
                <a:lnTo>
                  <a:pt x="296316" y="272750"/>
                </a:lnTo>
                <a:lnTo>
                  <a:pt x="249275" y="287505"/>
                </a:lnTo>
                <a:lnTo>
                  <a:pt x="196924" y="292734"/>
                </a:lnTo>
                <a:lnTo>
                  <a:pt x="144574" y="287505"/>
                </a:lnTo>
                <a:lnTo>
                  <a:pt x="97533" y="272750"/>
                </a:lnTo>
                <a:lnTo>
                  <a:pt x="57677" y="249864"/>
                </a:lnTo>
                <a:lnTo>
                  <a:pt x="26886" y="220241"/>
                </a:lnTo>
                <a:lnTo>
                  <a:pt x="7034" y="185277"/>
                </a:lnTo>
                <a:lnTo>
                  <a:pt x="0" y="146366"/>
                </a:lnTo>
                <a:close/>
              </a:path>
            </a:pathLst>
          </a:custGeom>
          <a:ln w="28574">
            <a:solidFill>
              <a:srgbClr val="000000"/>
            </a:solidFill>
          </a:ln>
        </p:spPr>
        <p:txBody>
          <a:bodyPr wrap="square" lIns="0" tIns="0" rIns="0" bIns="0" rtlCol="0"/>
          <a:lstStyle/>
          <a:p/>
        </p:txBody>
      </p:sp>
      <p:sp>
        <p:nvSpPr>
          <p:cNvPr id="17" name="object 13"/>
          <p:cNvSpPr/>
          <p:nvPr/>
        </p:nvSpPr>
        <p:spPr>
          <a:xfrm>
            <a:off x="1387787" y="2468020"/>
            <a:ext cx="0" cy="205740"/>
          </a:xfrm>
          <a:custGeom>
            <a:avLst/>
            <a:gdLst/>
            <a:ahLst/>
            <a:cxnLst/>
            <a:rect l="l" t="t" r="r" b="b"/>
            <a:pathLst>
              <a:path h="274320">
                <a:moveTo>
                  <a:pt x="0" y="0"/>
                </a:moveTo>
                <a:lnTo>
                  <a:pt x="0" y="274311"/>
                </a:lnTo>
              </a:path>
            </a:pathLst>
          </a:custGeom>
          <a:ln w="3175">
            <a:solidFill>
              <a:srgbClr val="FFFFFF"/>
            </a:solidFill>
          </a:ln>
        </p:spPr>
        <p:txBody>
          <a:bodyPr wrap="square" lIns="0" tIns="0" rIns="0" bIns="0" rtlCol="0"/>
          <a:lstStyle/>
          <a:p/>
        </p:txBody>
      </p:sp>
      <p:sp>
        <p:nvSpPr>
          <p:cNvPr id="18" name="object 14"/>
          <p:cNvSpPr/>
          <p:nvPr/>
        </p:nvSpPr>
        <p:spPr>
          <a:xfrm>
            <a:off x="1386725" y="2468020"/>
            <a:ext cx="2381" cy="205740"/>
          </a:xfrm>
          <a:custGeom>
            <a:avLst/>
            <a:gdLst/>
            <a:ahLst/>
            <a:cxnLst/>
            <a:rect l="l" t="t" r="r" b="b"/>
            <a:pathLst>
              <a:path w="3175" h="274320">
                <a:moveTo>
                  <a:pt x="1416" y="-14287"/>
                </a:moveTo>
                <a:lnTo>
                  <a:pt x="1416" y="288598"/>
                </a:lnTo>
              </a:path>
            </a:pathLst>
          </a:custGeom>
          <a:ln w="31407">
            <a:solidFill>
              <a:srgbClr val="000000"/>
            </a:solidFill>
          </a:ln>
        </p:spPr>
        <p:txBody>
          <a:bodyPr wrap="square" lIns="0" tIns="0" rIns="0" bIns="0" rtlCol="0"/>
          <a:lstStyle/>
          <a:p/>
        </p:txBody>
      </p:sp>
      <p:sp>
        <p:nvSpPr>
          <p:cNvPr id="19" name="object 15"/>
          <p:cNvSpPr/>
          <p:nvPr/>
        </p:nvSpPr>
        <p:spPr>
          <a:xfrm>
            <a:off x="1152964" y="2525594"/>
            <a:ext cx="467678" cy="0"/>
          </a:xfrm>
          <a:custGeom>
            <a:avLst/>
            <a:gdLst/>
            <a:ahLst/>
            <a:cxnLst/>
            <a:rect l="l" t="t" r="r" b="b"/>
            <a:pathLst>
              <a:path w="623569">
                <a:moveTo>
                  <a:pt x="0" y="0"/>
                </a:moveTo>
                <a:lnTo>
                  <a:pt x="623359" y="0"/>
                </a:lnTo>
              </a:path>
            </a:pathLst>
          </a:custGeom>
          <a:ln w="3175">
            <a:solidFill>
              <a:srgbClr val="FFFFFF"/>
            </a:solidFill>
          </a:ln>
        </p:spPr>
        <p:txBody>
          <a:bodyPr wrap="square" lIns="0" tIns="0" rIns="0" bIns="0" rtlCol="0"/>
          <a:lstStyle/>
          <a:p/>
        </p:txBody>
      </p:sp>
      <p:sp>
        <p:nvSpPr>
          <p:cNvPr id="20" name="object 16"/>
          <p:cNvSpPr/>
          <p:nvPr/>
        </p:nvSpPr>
        <p:spPr>
          <a:xfrm>
            <a:off x="1152964" y="2524826"/>
            <a:ext cx="467678" cy="1905"/>
          </a:xfrm>
          <a:custGeom>
            <a:avLst/>
            <a:gdLst/>
            <a:ahLst/>
            <a:cxnLst/>
            <a:rect l="l" t="t" r="r" b="b"/>
            <a:pathLst>
              <a:path w="623569" h="2539">
                <a:moveTo>
                  <a:pt x="0" y="0"/>
                </a:moveTo>
                <a:lnTo>
                  <a:pt x="623358" y="2047"/>
                </a:lnTo>
              </a:path>
            </a:pathLst>
          </a:custGeom>
          <a:ln w="28574">
            <a:solidFill>
              <a:srgbClr val="000000"/>
            </a:solidFill>
          </a:ln>
        </p:spPr>
        <p:txBody>
          <a:bodyPr wrap="square" lIns="0" tIns="0" rIns="0" bIns="0" rtlCol="0"/>
          <a:lstStyle/>
          <a:p/>
        </p:txBody>
      </p:sp>
      <p:sp>
        <p:nvSpPr>
          <p:cNvPr id="21" name="object 17"/>
          <p:cNvSpPr/>
          <p:nvPr/>
        </p:nvSpPr>
        <p:spPr>
          <a:xfrm>
            <a:off x="1063711" y="2673752"/>
            <a:ext cx="646271" cy="241459"/>
          </a:xfrm>
          <a:custGeom>
            <a:avLst/>
            <a:gdLst/>
            <a:ahLst/>
            <a:cxnLst/>
            <a:rect l="l" t="t" r="r" b="b"/>
            <a:pathLst>
              <a:path w="861694" h="321945">
                <a:moveTo>
                  <a:pt x="430683" y="0"/>
                </a:moveTo>
                <a:lnTo>
                  <a:pt x="0" y="321393"/>
                </a:lnTo>
                <a:lnTo>
                  <a:pt x="861368" y="321393"/>
                </a:lnTo>
                <a:lnTo>
                  <a:pt x="430683" y="0"/>
                </a:lnTo>
                <a:close/>
              </a:path>
            </a:pathLst>
          </a:custGeom>
          <a:solidFill>
            <a:srgbClr val="FFFFFF"/>
          </a:solidFill>
        </p:spPr>
        <p:txBody>
          <a:bodyPr wrap="square" lIns="0" tIns="0" rIns="0" bIns="0" rtlCol="0"/>
          <a:lstStyle/>
          <a:p/>
        </p:txBody>
      </p:sp>
      <p:sp>
        <p:nvSpPr>
          <p:cNvPr id="22" name="object 18"/>
          <p:cNvSpPr/>
          <p:nvPr/>
        </p:nvSpPr>
        <p:spPr>
          <a:xfrm>
            <a:off x="1063711" y="2673752"/>
            <a:ext cx="646271" cy="241459"/>
          </a:xfrm>
          <a:custGeom>
            <a:avLst/>
            <a:gdLst/>
            <a:ahLst/>
            <a:cxnLst/>
            <a:rect l="l" t="t" r="r" b="b"/>
            <a:pathLst>
              <a:path w="861694" h="321945">
                <a:moveTo>
                  <a:pt x="0" y="321393"/>
                </a:moveTo>
                <a:lnTo>
                  <a:pt x="430684" y="0"/>
                </a:lnTo>
                <a:lnTo>
                  <a:pt x="861368" y="321393"/>
                </a:lnTo>
              </a:path>
            </a:pathLst>
          </a:custGeom>
          <a:ln w="28574">
            <a:solidFill>
              <a:srgbClr val="000000"/>
            </a:solidFill>
          </a:ln>
        </p:spPr>
        <p:txBody>
          <a:bodyPr wrap="square" lIns="0" tIns="0" rIns="0" bIns="0" rtlCol="0"/>
          <a:lstStyle/>
          <a:p/>
        </p:txBody>
      </p:sp>
      <p:sp>
        <p:nvSpPr>
          <p:cNvPr id="23" name="object 19"/>
          <p:cNvSpPr/>
          <p:nvPr/>
        </p:nvSpPr>
        <p:spPr>
          <a:xfrm>
            <a:off x="825701" y="2790436"/>
            <a:ext cx="884396" cy="939641"/>
          </a:xfrm>
          <a:custGeom>
            <a:avLst/>
            <a:gdLst/>
            <a:ahLst/>
            <a:cxnLst/>
            <a:rect l="l" t="t" r="r" b="b"/>
            <a:pathLst>
              <a:path w="1179195" h="1252854">
                <a:moveTo>
                  <a:pt x="1178715" y="0"/>
                </a:moveTo>
                <a:lnTo>
                  <a:pt x="0" y="0"/>
                </a:lnTo>
                <a:lnTo>
                  <a:pt x="0" y="1252820"/>
                </a:lnTo>
                <a:lnTo>
                  <a:pt x="1178715" y="1252820"/>
                </a:lnTo>
                <a:lnTo>
                  <a:pt x="1178715" y="0"/>
                </a:lnTo>
                <a:close/>
              </a:path>
            </a:pathLst>
          </a:custGeom>
          <a:solidFill>
            <a:srgbClr val="FFFFFF"/>
          </a:solidFill>
        </p:spPr>
        <p:txBody>
          <a:bodyPr wrap="square" lIns="0" tIns="0" rIns="0" bIns="0" rtlCol="0"/>
          <a:lstStyle/>
          <a:p/>
        </p:txBody>
      </p:sp>
      <p:sp>
        <p:nvSpPr>
          <p:cNvPr id="24" name="object 20"/>
          <p:cNvSpPr txBox="1"/>
          <p:nvPr/>
        </p:nvSpPr>
        <p:spPr>
          <a:xfrm>
            <a:off x="993579" y="2821392"/>
            <a:ext cx="552450" cy="332105"/>
          </a:xfrm>
          <a:prstGeom prst="rect">
            <a:avLst/>
          </a:prstGeom>
        </p:spPr>
        <p:txBody>
          <a:bodyPr vert="horz" wrap="square" lIns="0" tIns="9525" rIns="0" bIns="0" rtlCol="0">
            <a:spAutoFit/>
          </a:bodyPr>
          <a:lstStyle/>
          <a:p>
            <a:pPr marL="9525">
              <a:spcBef>
                <a:spcPts val="75"/>
              </a:spcBef>
              <a:spcAft>
                <a:spcPts val="0"/>
              </a:spcAft>
            </a:pPr>
            <a:r>
              <a:rPr sz="2100" dirty="0">
                <a:latin typeface="宋体" panose="02010600030101010101" pitchFamily="2" charset="-122"/>
                <a:cs typeface="宋体" panose="02010600030101010101" pitchFamily="2" charset="-122"/>
              </a:rPr>
              <a:t>顾客</a:t>
            </a:r>
            <a:endParaRPr sz="2100">
              <a:latin typeface="宋体" panose="02010600030101010101" pitchFamily="2" charset="-122"/>
              <a:cs typeface="宋体" panose="02010600030101010101" pitchFamily="2" charset="-122"/>
            </a:endParaRPr>
          </a:p>
        </p:txBody>
      </p:sp>
      <p:sp>
        <p:nvSpPr>
          <p:cNvPr id="25" name="object 21"/>
          <p:cNvSpPr/>
          <p:nvPr/>
        </p:nvSpPr>
        <p:spPr>
          <a:xfrm>
            <a:off x="1685925" y="1689020"/>
            <a:ext cx="1561623" cy="621030"/>
          </a:xfrm>
          <a:custGeom>
            <a:avLst/>
            <a:gdLst/>
            <a:ahLst/>
            <a:cxnLst/>
            <a:rect l="l" t="t" r="r" b="b"/>
            <a:pathLst>
              <a:path w="2082164" h="828039">
                <a:moveTo>
                  <a:pt x="0" y="827723"/>
                </a:moveTo>
                <a:lnTo>
                  <a:pt x="2081850" y="0"/>
                </a:lnTo>
              </a:path>
            </a:pathLst>
          </a:custGeom>
          <a:ln w="28574">
            <a:solidFill>
              <a:srgbClr val="A76585"/>
            </a:solidFill>
          </a:ln>
        </p:spPr>
        <p:txBody>
          <a:bodyPr wrap="square" lIns="0" tIns="0" rIns="0" bIns="0" rtlCol="0"/>
          <a:lstStyle/>
          <a:p/>
        </p:txBody>
      </p:sp>
      <p:sp>
        <p:nvSpPr>
          <p:cNvPr id="26" name="object 22"/>
          <p:cNvSpPr/>
          <p:nvPr/>
        </p:nvSpPr>
        <p:spPr>
          <a:xfrm>
            <a:off x="3162233" y="1666444"/>
            <a:ext cx="104841" cy="93266"/>
          </a:xfrm>
          <a:prstGeom prst="rect">
            <a:avLst/>
          </a:prstGeom>
          <a:blipFill>
            <a:blip r:embed="rId1" cstate="print"/>
            <a:stretch>
              <a:fillRect/>
            </a:stretch>
          </a:blipFill>
        </p:spPr>
        <p:txBody>
          <a:bodyPr wrap="square" lIns="0" tIns="0" rIns="0" bIns="0" rtlCol="0"/>
          <a:lstStyle/>
          <a:p/>
        </p:txBody>
      </p:sp>
      <p:sp>
        <p:nvSpPr>
          <p:cNvPr id="27" name="object 23"/>
          <p:cNvSpPr/>
          <p:nvPr/>
        </p:nvSpPr>
        <p:spPr>
          <a:xfrm>
            <a:off x="1641121" y="2534020"/>
            <a:ext cx="1557338" cy="27146"/>
          </a:xfrm>
          <a:custGeom>
            <a:avLst/>
            <a:gdLst/>
            <a:ahLst/>
            <a:cxnLst/>
            <a:rect l="l" t="t" r="r" b="b"/>
            <a:pathLst>
              <a:path w="2076450" h="36195">
                <a:moveTo>
                  <a:pt x="0" y="36020"/>
                </a:moveTo>
                <a:lnTo>
                  <a:pt x="2075879" y="0"/>
                </a:lnTo>
              </a:path>
            </a:pathLst>
          </a:custGeom>
          <a:ln w="28574">
            <a:solidFill>
              <a:srgbClr val="A76585"/>
            </a:solidFill>
          </a:ln>
        </p:spPr>
        <p:txBody>
          <a:bodyPr wrap="square" lIns="0" tIns="0" rIns="0" bIns="0" rtlCol="0"/>
          <a:lstStyle/>
          <a:p/>
        </p:txBody>
      </p:sp>
      <p:sp>
        <p:nvSpPr>
          <p:cNvPr id="28" name="object 24"/>
          <p:cNvSpPr/>
          <p:nvPr/>
        </p:nvSpPr>
        <p:spPr>
          <a:xfrm>
            <a:off x="3120856" y="2485395"/>
            <a:ext cx="98438" cy="99470"/>
          </a:xfrm>
          <a:prstGeom prst="rect">
            <a:avLst/>
          </a:prstGeom>
          <a:blipFill>
            <a:blip r:embed="rId2" cstate="print"/>
            <a:stretch>
              <a:fillRect/>
            </a:stretch>
          </a:blipFill>
        </p:spPr>
        <p:txBody>
          <a:bodyPr wrap="square" lIns="0" tIns="0" rIns="0" bIns="0" rtlCol="0"/>
          <a:lstStyle/>
          <a:p/>
        </p:txBody>
      </p:sp>
      <p:sp>
        <p:nvSpPr>
          <p:cNvPr id="29" name="object 25"/>
          <p:cNvSpPr/>
          <p:nvPr/>
        </p:nvSpPr>
        <p:spPr>
          <a:xfrm>
            <a:off x="1730375" y="2905126"/>
            <a:ext cx="1414939" cy="425291"/>
          </a:xfrm>
          <a:custGeom>
            <a:avLst/>
            <a:gdLst/>
            <a:ahLst/>
            <a:cxnLst/>
            <a:rect l="l" t="t" r="r" b="b"/>
            <a:pathLst>
              <a:path w="1886585" h="567054">
                <a:moveTo>
                  <a:pt x="0" y="0"/>
                </a:moveTo>
                <a:lnTo>
                  <a:pt x="1886573" y="566519"/>
                </a:lnTo>
              </a:path>
            </a:pathLst>
          </a:custGeom>
          <a:ln w="28574">
            <a:solidFill>
              <a:srgbClr val="A76585"/>
            </a:solidFill>
          </a:ln>
        </p:spPr>
        <p:txBody>
          <a:bodyPr wrap="square" lIns="0" tIns="0" rIns="0" bIns="0" rtlCol="0"/>
          <a:lstStyle/>
          <a:p/>
        </p:txBody>
      </p:sp>
      <p:sp>
        <p:nvSpPr>
          <p:cNvPr id="30" name="object 26"/>
          <p:cNvSpPr/>
          <p:nvPr/>
        </p:nvSpPr>
        <p:spPr>
          <a:xfrm>
            <a:off x="3061138" y="3263733"/>
            <a:ext cx="104534" cy="95515"/>
          </a:xfrm>
          <a:prstGeom prst="rect">
            <a:avLst/>
          </a:prstGeom>
          <a:blipFill>
            <a:blip r:embed="rId3" cstate="print"/>
            <a:stretch>
              <a:fillRect/>
            </a:stretch>
          </a:blipFill>
        </p:spPr>
        <p:txBody>
          <a:bodyPr wrap="square" lIns="0" tIns="0" rIns="0" bIns="0" rtlCol="0"/>
          <a:lstStyle/>
          <a:p/>
        </p:txBody>
      </p:sp>
      <p:sp>
        <p:nvSpPr>
          <p:cNvPr id="31" name="object 27"/>
          <p:cNvSpPr/>
          <p:nvPr/>
        </p:nvSpPr>
        <p:spPr>
          <a:xfrm>
            <a:off x="7505474" y="2233816"/>
            <a:ext cx="220504" cy="170974"/>
          </a:xfrm>
          <a:custGeom>
            <a:avLst/>
            <a:gdLst/>
            <a:ahLst/>
            <a:cxnLst/>
            <a:rect l="l" t="t" r="r" b="b"/>
            <a:pathLst>
              <a:path w="294004" h="227964">
                <a:moveTo>
                  <a:pt x="0" y="113829"/>
                </a:moveTo>
                <a:lnTo>
                  <a:pt x="11546" y="69521"/>
                </a:lnTo>
                <a:lnTo>
                  <a:pt x="43034" y="33339"/>
                </a:lnTo>
                <a:lnTo>
                  <a:pt x="89737" y="8945"/>
                </a:lnTo>
                <a:lnTo>
                  <a:pt x="146928" y="0"/>
                </a:lnTo>
                <a:lnTo>
                  <a:pt x="204120" y="8945"/>
                </a:lnTo>
                <a:lnTo>
                  <a:pt x="250823" y="33339"/>
                </a:lnTo>
                <a:lnTo>
                  <a:pt x="282311" y="69521"/>
                </a:lnTo>
                <a:lnTo>
                  <a:pt x="293858" y="113829"/>
                </a:lnTo>
                <a:lnTo>
                  <a:pt x="282311" y="158136"/>
                </a:lnTo>
                <a:lnTo>
                  <a:pt x="250823" y="194318"/>
                </a:lnTo>
                <a:lnTo>
                  <a:pt x="204120" y="218712"/>
                </a:lnTo>
                <a:lnTo>
                  <a:pt x="146928" y="227657"/>
                </a:lnTo>
                <a:lnTo>
                  <a:pt x="89737" y="218712"/>
                </a:lnTo>
                <a:lnTo>
                  <a:pt x="43034" y="194318"/>
                </a:lnTo>
                <a:lnTo>
                  <a:pt x="11546" y="158136"/>
                </a:lnTo>
                <a:lnTo>
                  <a:pt x="0" y="113829"/>
                </a:lnTo>
                <a:close/>
              </a:path>
            </a:pathLst>
          </a:custGeom>
          <a:ln w="28574">
            <a:solidFill>
              <a:srgbClr val="000000"/>
            </a:solidFill>
          </a:ln>
        </p:spPr>
        <p:txBody>
          <a:bodyPr wrap="square" lIns="0" tIns="0" rIns="0" bIns="0" rtlCol="0"/>
          <a:lstStyle/>
          <a:p/>
        </p:txBody>
      </p:sp>
      <p:sp>
        <p:nvSpPr>
          <p:cNvPr id="32" name="object 28"/>
          <p:cNvSpPr/>
          <p:nvPr/>
        </p:nvSpPr>
        <p:spPr>
          <a:xfrm>
            <a:off x="7615670" y="2405936"/>
            <a:ext cx="0" cy="160020"/>
          </a:xfrm>
          <a:custGeom>
            <a:avLst/>
            <a:gdLst/>
            <a:ahLst/>
            <a:cxnLst/>
            <a:rect l="l" t="t" r="r" b="b"/>
            <a:pathLst>
              <a:path h="213360">
                <a:moveTo>
                  <a:pt x="0" y="0"/>
                </a:moveTo>
                <a:lnTo>
                  <a:pt x="0" y="212968"/>
                </a:lnTo>
              </a:path>
            </a:pathLst>
          </a:custGeom>
          <a:ln w="3175">
            <a:solidFill>
              <a:srgbClr val="FFFFFF"/>
            </a:solidFill>
          </a:ln>
        </p:spPr>
        <p:txBody>
          <a:bodyPr wrap="square" lIns="0" tIns="0" rIns="0" bIns="0" rtlCol="0"/>
          <a:lstStyle/>
          <a:p/>
        </p:txBody>
      </p:sp>
      <p:sp>
        <p:nvSpPr>
          <p:cNvPr id="33" name="object 29"/>
          <p:cNvSpPr/>
          <p:nvPr/>
        </p:nvSpPr>
        <p:spPr>
          <a:xfrm>
            <a:off x="7615235" y="2405936"/>
            <a:ext cx="953" cy="160020"/>
          </a:xfrm>
          <a:custGeom>
            <a:avLst/>
            <a:gdLst/>
            <a:ahLst/>
            <a:cxnLst/>
            <a:rect l="l" t="t" r="r" b="b"/>
            <a:pathLst>
              <a:path w="1270" h="213360">
                <a:moveTo>
                  <a:pt x="580" y="-14287"/>
                </a:moveTo>
                <a:lnTo>
                  <a:pt x="580" y="227256"/>
                </a:lnTo>
              </a:path>
            </a:pathLst>
          </a:custGeom>
          <a:ln w="29736">
            <a:solidFill>
              <a:srgbClr val="000000"/>
            </a:solidFill>
          </a:ln>
        </p:spPr>
        <p:txBody>
          <a:bodyPr wrap="square" lIns="0" tIns="0" rIns="0" bIns="0" rtlCol="0"/>
          <a:lstStyle/>
          <a:p/>
        </p:txBody>
      </p:sp>
      <p:sp>
        <p:nvSpPr>
          <p:cNvPr id="34" name="object 30"/>
          <p:cNvSpPr/>
          <p:nvPr/>
        </p:nvSpPr>
        <p:spPr>
          <a:xfrm>
            <a:off x="7441012" y="2451030"/>
            <a:ext cx="349568" cy="0"/>
          </a:xfrm>
          <a:custGeom>
            <a:avLst/>
            <a:gdLst/>
            <a:ahLst/>
            <a:cxnLst/>
            <a:rect l="l" t="t" r="r" b="b"/>
            <a:pathLst>
              <a:path w="466090">
                <a:moveTo>
                  <a:pt x="0" y="0"/>
                </a:moveTo>
                <a:lnTo>
                  <a:pt x="465759" y="0"/>
                </a:lnTo>
              </a:path>
            </a:pathLst>
          </a:custGeom>
          <a:ln w="3175">
            <a:solidFill>
              <a:srgbClr val="FFFFFF"/>
            </a:solidFill>
          </a:ln>
        </p:spPr>
        <p:txBody>
          <a:bodyPr wrap="square" lIns="0" tIns="0" rIns="0" bIns="0" rtlCol="0"/>
          <a:lstStyle/>
          <a:p/>
        </p:txBody>
      </p:sp>
      <p:sp>
        <p:nvSpPr>
          <p:cNvPr id="35" name="object 31"/>
          <p:cNvSpPr/>
          <p:nvPr/>
        </p:nvSpPr>
        <p:spPr>
          <a:xfrm>
            <a:off x="7441012" y="2450686"/>
            <a:ext cx="349568" cy="953"/>
          </a:xfrm>
          <a:custGeom>
            <a:avLst/>
            <a:gdLst/>
            <a:ahLst/>
            <a:cxnLst/>
            <a:rect l="l" t="t" r="r" b="b"/>
            <a:pathLst>
              <a:path w="466090" h="1270">
                <a:moveTo>
                  <a:pt x="0" y="0"/>
                </a:moveTo>
                <a:lnTo>
                  <a:pt x="465759" y="918"/>
                </a:lnTo>
              </a:path>
            </a:pathLst>
          </a:custGeom>
          <a:ln w="28574">
            <a:solidFill>
              <a:srgbClr val="000000"/>
            </a:solidFill>
          </a:ln>
        </p:spPr>
        <p:txBody>
          <a:bodyPr wrap="square" lIns="0" tIns="0" rIns="0" bIns="0" rtlCol="0"/>
          <a:lstStyle/>
          <a:p/>
        </p:txBody>
      </p:sp>
      <p:sp>
        <p:nvSpPr>
          <p:cNvPr id="36" name="object 32"/>
          <p:cNvSpPr/>
          <p:nvPr/>
        </p:nvSpPr>
        <p:spPr>
          <a:xfrm>
            <a:off x="7373935" y="2565662"/>
            <a:ext cx="482918" cy="187643"/>
          </a:xfrm>
          <a:custGeom>
            <a:avLst/>
            <a:gdLst/>
            <a:ahLst/>
            <a:cxnLst/>
            <a:rect l="l" t="t" r="r" b="b"/>
            <a:pathLst>
              <a:path w="643890" h="250189">
                <a:moveTo>
                  <a:pt x="321732" y="0"/>
                </a:moveTo>
                <a:lnTo>
                  <a:pt x="0" y="249688"/>
                </a:lnTo>
                <a:lnTo>
                  <a:pt x="643467" y="249688"/>
                </a:lnTo>
                <a:lnTo>
                  <a:pt x="321732" y="0"/>
                </a:lnTo>
                <a:close/>
              </a:path>
            </a:pathLst>
          </a:custGeom>
          <a:solidFill>
            <a:srgbClr val="FFFFFF"/>
          </a:solidFill>
        </p:spPr>
        <p:txBody>
          <a:bodyPr wrap="square" lIns="0" tIns="0" rIns="0" bIns="0" rtlCol="0"/>
          <a:lstStyle/>
          <a:p/>
        </p:txBody>
      </p:sp>
      <p:sp>
        <p:nvSpPr>
          <p:cNvPr id="37" name="object 33"/>
          <p:cNvSpPr/>
          <p:nvPr/>
        </p:nvSpPr>
        <p:spPr>
          <a:xfrm>
            <a:off x="7373935" y="2565662"/>
            <a:ext cx="482918" cy="187643"/>
          </a:xfrm>
          <a:custGeom>
            <a:avLst/>
            <a:gdLst/>
            <a:ahLst/>
            <a:cxnLst/>
            <a:rect l="l" t="t" r="r" b="b"/>
            <a:pathLst>
              <a:path w="643890" h="250189">
                <a:moveTo>
                  <a:pt x="0" y="249687"/>
                </a:moveTo>
                <a:lnTo>
                  <a:pt x="321733" y="0"/>
                </a:lnTo>
                <a:lnTo>
                  <a:pt x="643466" y="249687"/>
                </a:lnTo>
              </a:path>
            </a:pathLst>
          </a:custGeom>
          <a:ln w="28574">
            <a:solidFill>
              <a:srgbClr val="000000"/>
            </a:solidFill>
          </a:ln>
        </p:spPr>
        <p:txBody>
          <a:bodyPr wrap="square" lIns="0" tIns="0" rIns="0" bIns="0" rtlCol="0"/>
          <a:lstStyle/>
          <a:p/>
        </p:txBody>
      </p:sp>
      <p:sp>
        <p:nvSpPr>
          <p:cNvPr id="38" name="object 34"/>
          <p:cNvSpPr/>
          <p:nvPr/>
        </p:nvSpPr>
        <p:spPr>
          <a:xfrm>
            <a:off x="6764337" y="2708875"/>
            <a:ext cx="1740218" cy="404813"/>
          </a:xfrm>
          <a:custGeom>
            <a:avLst/>
            <a:gdLst/>
            <a:ahLst/>
            <a:cxnLst/>
            <a:rect l="l" t="t" r="r" b="b"/>
            <a:pathLst>
              <a:path w="2320290" h="539750">
                <a:moveTo>
                  <a:pt x="2319867" y="0"/>
                </a:moveTo>
                <a:lnTo>
                  <a:pt x="0" y="0"/>
                </a:lnTo>
                <a:lnTo>
                  <a:pt x="0" y="539750"/>
                </a:lnTo>
                <a:lnTo>
                  <a:pt x="2319867" y="539750"/>
                </a:lnTo>
                <a:lnTo>
                  <a:pt x="2319867" y="0"/>
                </a:lnTo>
                <a:close/>
              </a:path>
            </a:pathLst>
          </a:custGeom>
          <a:solidFill>
            <a:srgbClr val="FFFFFF"/>
          </a:solidFill>
        </p:spPr>
        <p:txBody>
          <a:bodyPr wrap="square" lIns="0" tIns="0" rIns="0" bIns="0" rtlCol="0"/>
          <a:lstStyle/>
          <a:p/>
        </p:txBody>
      </p:sp>
      <p:sp>
        <p:nvSpPr>
          <p:cNvPr id="39" name="object 35"/>
          <p:cNvSpPr txBox="1"/>
          <p:nvPr/>
        </p:nvSpPr>
        <p:spPr>
          <a:xfrm>
            <a:off x="7360244" y="2739832"/>
            <a:ext cx="552450" cy="332105"/>
          </a:xfrm>
          <a:prstGeom prst="rect">
            <a:avLst/>
          </a:prstGeom>
        </p:spPr>
        <p:txBody>
          <a:bodyPr vert="horz" wrap="square" lIns="0" tIns="9525" rIns="0" bIns="0" rtlCol="0">
            <a:spAutoFit/>
          </a:bodyPr>
          <a:lstStyle/>
          <a:p>
            <a:pPr marL="9525">
              <a:spcBef>
                <a:spcPts val="75"/>
              </a:spcBef>
              <a:spcAft>
                <a:spcPts val="0"/>
              </a:spcAft>
            </a:pPr>
            <a:r>
              <a:rPr sz="2100" dirty="0">
                <a:latin typeface="宋体" panose="02010600030101010101" pitchFamily="2" charset="-122"/>
                <a:cs typeface="宋体" panose="02010600030101010101" pitchFamily="2" charset="-122"/>
              </a:rPr>
              <a:t>银联</a:t>
            </a:r>
            <a:endParaRPr sz="2100">
              <a:latin typeface="宋体" panose="02010600030101010101" pitchFamily="2" charset="-122"/>
              <a:cs typeface="宋体" panose="02010600030101010101" pitchFamily="2" charset="-122"/>
            </a:endParaRPr>
          </a:p>
        </p:txBody>
      </p:sp>
      <p:sp>
        <p:nvSpPr>
          <p:cNvPr id="40" name="object 36"/>
          <p:cNvSpPr/>
          <p:nvPr/>
        </p:nvSpPr>
        <p:spPr>
          <a:xfrm>
            <a:off x="5559424" y="1628776"/>
            <a:ext cx="1745456" cy="640556"/>
          </a:xfrm>
          <a:custGeom>
            <a:avLst/>
            <a:gdLst/>
            <a:ahLst/>
            <a:cxnLst/>
            <a:rect l="l" t="t" r="r" b="b"/>
            <a:pathLst>
              <a:path w="2327275" h="854075">
                <a:moveTo>
                  <a:pt x="0" y="0"/>
                </a:moveTo>
                <a:lnTo>
                  <a:pt x="2326848" y="853831"/>
                </a:lnTo>
              </a:path>
            </a:pathLst>
          </a:custGeom>
          <a:ln w="28574">
            <a:solidFill>
              <a:srgbClr val="A76585"/>
            </a:solidFill>
          </a:ln>
        </p:spPr>
        <p:txBody>
          <a:bodyPr wrap="square" lIns="0" tIns="0" rIns="0" bIns="0" rtlCol="0"/>
          <a:lstStyle/>
          <a:p/>
        </p:txBody>
      </p:sp>
      <p:sp>
        <p:nvSpPr>
          <p:cNvPr id="41" name="object 37"/>
          <p:cNvSpPr/>
          <p:nvPr/>
        </p:nvSpPr>
        <p:spPr>
          <a:xfrm>
            <a:off x="7219694" y="2199762"/>
            <a:ext cx="104831" cy="94035"/>
          </a:xfrm>
          <a:prstGeom prst="rect">
            <a:avLst/>
          </a:prstGeom>
          <a:blipFill>
            <a:blip r:embed="rId4" cstate="print"/>
            <a:stretch>
              <a:fillRect/>
            </a:stretch>
          </a:blipFill>
        </p:spPr>
        <p:txBody>
          <a:bodyPr wrap="square" lIns="0" tIns="0" rIns="0" bIns="0" rtlCol="0"/>
          <a:lstStyle/>
          <a:p/>
        </p:txBody>
      </p:sp>
      <p:sp>
        <p:nvSpPr>
          <p:cNvPr id="42" name="object 38"/>
          <p:cNvSpPr/>
          <p:nvPr/>
        </p:nvSpPr>
        <p:spPr>
          <a:xfrm>
            <a:off x="5727699" y="2533650"/>
            <a:ext cx="1531620" cy="0"/>
          </a:xfrm>
          <a:custGeom>
            <a:avLst/>
            <a:gdLst/>
            <a:ahLst/>
            <a:cxnLst/>
            <a:rect l="l" t="t" r="r" b="b"/>
            <a:pathLst>
              <a:path w="2042159">
                <a:moveTo>
                  <a:pt x="0" y="0"/>
                </a:moveTo>
                <a:lnTo>
                  <a:pt x="2041743" y="0"/>
                </a:lnTo>
              </a:path>
            </a:pathLst>
          </a:custGeom>
          <a:ln w="28574">
            <a:solidFill>
              <a:srgbClr val="A76585"/>
            </a:solidFill>
          </a:ln>
        </p:spPr>
        <p:txBody>
          <a:bodyPr wrap="square" lIns="0" tIns="0" rIns="0" bIns="0" rtlCol="0"/>
          <a:lstStyle/>
          <a:p/>
        </p:txBody>
      </p:sp>
      <p:sp>
        <p:nvSpPr>
          <p:cNvPr id="43" name="object 39"/>
          <p:cNvSpPr/>
          <p:nvPr/>
        </p:nvSpPr>
        <p:spPr>
          <a:xfrm>
            <a:off x="7182477" y="2483908"/>
            <a:ext cx="97798" cy="99485"/>
          </a:xfrm>
          <a:prstGeom prst="rect">
            <a:avLst/>
          </a:prstGeom>
          <a:blipFill>
            <a:blip r:embed="rId5" cstate="print"/>
            <a:stretch>
              <a:fillRect/>
            </a:stretch>
          </a:blipFill>
        </p:spPr>
        <p:txBody>
          <a:bodyPr wrap="square" lIns="0" tIns="0" rIns="0" bIns="0" rtlCol="0"/>
          <a:lstStyle/>
          <a:p/>
        </p:txBody>
      </p:sp>
      <p:sp>
        <p:nvSpPr>
          <p:cNvPr id="44" name="object 40"/>
          <p:cNvSpPr/>
          <p:nvPr/>
        </p:nvSpPr>
        <p:spPr>
          <a:xfrm>
            <a:off x="5695950" y="2842797"/>
            <a:ext cx="1443990" cy="481489"/>
          </a:xfrm>
          <a:custGeom>
            <a:avLst/>
            <a:gdLst/>
            <a:ahLst/>
            <a:cxnLst/>
            <a:rect l="l" t="t" r="r" b="b"/>
            <a:pathLst>
              <a:path w="1925320" h="641985">
                <a:moveTo>
                  <a:pt x="0" y="641904"/>
                </a:moveTo>
                <a:lnTo>
                  <a:pt x="1924931" y="0"/>
                </a:lnTo>
              </a:path>
            </a:pathLst>
          </a:custGeom>
          <a:ln w="28574">
            <a:solidFill>
              <a:srgbClr val="A76585"/>
            </a:solidFill>
          </a:ln>
        </p:spPr>
        <p:txBody>
          <a:bodyPr wrap="square" lIns="0" tIns="0" rIns="0" bIns="0" rtlCol="0"/>
          <a:lstStyle/>
          <a:p/>
        </p:txBody>
      </p:sp>
      <p:sp>
        <p:nvSpPr>
          <p:cNvPr id="45" name="object 41"/>
          <p:cNvSpPr/>
          <p:nvPr/>
        </p:nvSpPr>
        <p:spPr>
          <a:xfrm>
            <a:off x="7055092" y="2815858"/>
            <a:ext cx="104731" cy="94813"/>
          </a:xfrm>
          <a:prstGeom prst="rect">
            <a:avLst/>
          </a:prstGeom>
          <a:blipFill>
            <a:blip r:embed="rId6" cstate="print"/>
            <a:stretch>
              <a:fillRect/>
            </a:stretch>
          </a:blipFill>
        </p:spPr>
        <p:txBody>
          <a:bodyPr wrap="square" lIns="0" tIns="0" rIns="0" bIns="0" rtlCol="0"/>
          <a:lstStyl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如何避免功能性分解</a:t>
            </a:r>
            <a:endParaRPr lang="zh-CN" altLang="en-US" dirty="0"/>
          </a:p>
        </p:txBody>
      </p:sp>
      <p:sp>
        <p:nvSpPr>
          <p:cNvPr id="4" name="日期占位符 3"/>
          <p:cNvSpPr>
            <a:spLocks noGrp="1"/>
          </p:cNvSpPr>
          <p:nvPr>
            <p:ph type="dt" sz="half" idx="10"/>
          </p:nvPr>
        </p:nvSpPr>
        <p:spPr/>
        <p:txBody>
          <a:bodyPr/>
          <a:lstStyle/>
          <a:p>
            <a:pPr>
              <a:spcAft>
                <a:spcPts val="0"/>
              </a:spcAft>
            </a:pPr>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883345" y="841270"/>
            <a:ext cx="3000715" cy="3818074"/>
          </a:xfrm>
          <a:prstGeom prst="rect">
            <a:avLst/>
          </a:prstGeom>
        </p:spPr>
      </p:pic>
      <p:pic>
        <p:nvPicPr>
          <p:cNvPr id="8" name="图片 7"/>
          <p:cNvPicPr>
            <a:picLocks noChangeAspect="1"/>
          </p:cNvPicPr>
          <p:nvPr/>
        </p:nvPicPr>
        <p:blipFill>
          <a:blip r:embed="rId2"/>
          <a:stretch>
            <a:fillRect/>
          </a:stretch>
        </p:blipFill>
        <p:spPr>
          <a:xfrm>
            <a:off x="4127429" y="884941"/>
            <a:ext cx="4774538" cy="368130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spcAft>
                <a:spcPts val="0"/>
              </a:spcAft>
            </a:pPr>
            <a:r>
              <a:rPr lang="zh-CN" altLang="en-US" dirty="0"/>
              <a:t>识别用例案例</a:t>
            </a:r>
            <a:endParaRPr lang="zh-CN" altLang="en-US" dirty="0"/>
          </a:p>
        </p:txBody>
      </p:sp>
      <p:sp>
        <p:nvSpPr>
          <p:cNvPr id="2" name="文本占位符 1"/>
          <p:cNvSpPr>
            <a:spLocks noGrp="1"/>
          </p:cNvSpPr>
          <p:nvPr>
            <p:ph idx="1"/>
          </p:nvPr>
        </p:nvSpPr>
        <p:spPr>
          <a:xfrm>
            <a:off x="768096" y="1309816"/>
            <a:ext cx="4594735" cy="2835278"/>
          </a:xfrm>
        </p:spPr>
        <p:txBody>
          <a:bodyPr>
            <a:normAutofit/>
          </a:bodyPr>
          <a:lstStyle/>
          <a:p>
            <a:pPr marL="0" indent="0">
              <a:lnSpc>
                <a:spcPct val="130000"/>
              </a:lnSpc>
              <a:buNone/>
            </a:pPr>
            <a:r>
              <a:rPr lang="zh-CN" altLang="en-US" sz="2400" dirty="0"/>
              <a:t>例如，</a:t>
            </a:r>
            <a:r>
              <a:rPr lang="en-US" altLang="zh-CN" sz="2400" dirty="0"/>
              <a:t>Email</a:t>
            </a:r>
            <a:r>
              <a:rPr lang="zh-CN" altLang="en-US" sz="2400" dirty="0"/>
              <a:t>客户端（如</a:t>
            </a:r>
            <a:r>
              <a:rPr lang="en-US" altLang="zh-CN" sz="2400" dirty="0"/>
              <a:t>Outlook Express</a:t>
            </a:r>
            <a:r>
              <a:rPr lang="zh-CN" altLang="en-US" sz="2400" dirty="0"/>
              <a:t>）：</a:t>
            </a:r>
            <a:endParaRPr lang="en-US" altLang="zh-CN" sz="2400" dirty="0"/>
          </a:p>
          <a:p>
            <a:pPr marL="0" indent="0">
              <a:lnSpc>
                <a:spcPct val="130000"/>
              </a:lnSpc>
              <a:buNone/>
            </a:pPr>
            <a:r>
              <a:rPr lang="zh-CN" altLang="en-US" sz="2400" dirty="0"/>
              <a:t>用户</a:t>
            </a:r>
            <a:r>
              <a:rPr lang="en-US" altLang="zh-CN" sz="2400" dirty="0"/>
              <a:t>A</a:t>
            </a:r>
            <a:r>
              <a:rPr lang="zh-CN" altLang="en-US" sz="2400" dirty="0"/>
              <a:t>在北京发邮件给深圳的</a:t>
            </a:r>
            <a:r>
              <a:rPr lang="en-US" altLang="zh-CN" sz="2400" dirty="0"/>
              <a:t>B</a:t>
            </a:r>
            <a:r>
              <a:rPr lang="zh-CN" altLang="en-US" sz="2400" dirty="0"/>
              <a:t>，系统提醒</a:t>
            </a:r>
            <a:r>
              <a:rPr lang="en-US" altLang="zh-CN" sz="2400" dirty="0"/>
              <a:t>B”</a:t>
            </a:r>
            <a:r>
              <a:rPr lang="zh-CN" altLang="en-US" sz="2400" dirty="0"/>
              <a:t>你有新邮件”，用户</a:t>
            </a:r>
            <a:r>
              <a:rPr lang="en-US" altLang="zh-CN" sz="2400" dirty="0"/>
              <a:t>B</a:t>
            </a:r>
            <a:r>
              <a:rPr lang="zh-CN" altLang="en-US" sz="2400" dirty="0"/>
              <a:t>收邮件。</a:t>
            </a:r>
            <a:endParaRPr lang="zh-CN" altLang="en-US" sz="2400" dirty="0"/>
          </a:p>
        </p:txBody>
      </p:sp>
      <p:sp>
        <p:nvSpPr>
          <p:cNvPr id="4" name="日期占位符 3"/>
          <p:cNvSpPr>
            <a:spLocks noGrp="1"/>
          </p:cNvSpPr>
          <p:nvPr>
            <p:ph type="dt" sz="half" idx="10"/>
          </p:nvPr>
        </p:nvSpPr>
        <p:spPr/>
        <p:txBody>
          <a:bodyPr/>
          <a:lstStyle/>
          <a:p>
            <a:pPr>
              <a:spcAft>
                <a:spcPts val="0"/>
              </a:spcAft>
            </a:pPr>
            <a:fld id="{AD79901A-0DE8-4B77-A821-48CC00FF83C1}"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78852" name="Picture 4"/>
          <p:cNvPicPr>
            <a:picLocks noChangeAspect="1" noChangeArrowheads="1"/>
          </p:cNvPicPr>
          <p:nvPr/>
        </p:nvPicPr>
        <p:blipFill>
          <a:blip r:embed="rId1" cstate="print">
            <a:clrChange>
              <a:clrFrom>
                <a:srgbClr val="FEFEFE"/>
              </a:clrFrom>
              <a:clrTo>
                <a:srgbClr val="FEFEFE">
                  <a:alpha val="0"/>
                </a:srgbClr>
              </a:clrTo>
            </a:clrChange>
          </a:blip>
          <a:srcRect/>
          <a:stretch>
            <a:fillRect/>
          </a:stretch>
        </p:blipFill>
        <p:spPr bwMode="auto">
          <a:xfrm>
            <a:off x="5938906" y="1121071"/>
            <a:ext cx="2189094" cy="294091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78852"/>
                                        </p:tgtEl>
                                        <p:attrNameLst>
                                          <p:attrName>style.visibility</p:attrName>
                                        </p:attrNameLst>
                                      </p:cBhvr>
                                      <p:to>
                                        <p:strVal val="visible"/>
                                      </p:to>
                                    </p:set>
                                    <p:animEffect transition="in" filter="randombar(horizontal)">
                                      <p:cBhvr>
                                        <p:cTn id="16" dur="500"/>
                                        <p:tgtEl>
                                          <p:spTgt spid="78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spcAft>
                <a:spcPts val="0"/>
              </a:spcAft>
            </a:pPr>
            <a:r>
              <a:rPr lang="zh-CN" altLang="en-US" dirty="0"/>
              <a:t>识别用例案例</a:t>
            </a:r>
            <a:endParaRPr lang="zh-CN" altLang="en-US" dirty="0"/>
          </a:p>
        </p:txBody>
      </p:sp>
      <p:sp>
        <p:nvSpPr>
          <p:cNvPr id="4" name="文本占位符 3"/>
          <p:cNvSpPr>
            <a:spLocks noGrp="1"/>
          </p:cNvSpPr>
          <p:nvPr>
            <p:ph idx="1"/>
          </p:nvPr>
        </p:nvSpPr>
        <p:spPr>
          <a:xfrm>
            <a:off x="768097" y="1037967"/>
            <a:ext cx="5106329" cy="3694053"/>
          </a:xfrm>
        </p:spPr>
        <p:txBody>
          <a:bodyPr>
            <a:normAutofit/>
          </a:bodyPr>
          <a:lstStyle/>
          <a:p>
            <a:pPr marL="0" indent="0">
              <a:lnSpc>
                <a:spcPct val="130000"/>
              </a:lnSpc>
              <a:spcBef>
                <a:spcPts val="900"/>
              </a:spcBef>
              <a:buNone/>
            </a:pPr>
            <a:r>
              <a:rPr lang="zh-CN" altLang="en-US" sz="2400" dirty="0"/>
              <a:t>一个论坛类的应用，用户可以提问，别人来回答，如果有自己问题被解答的话，就给发问者发一份邮件通知。</a:t>
            </a:r>
            <a:endParaRPr lang="zh-CN" altLang="en-US" sz="2400" dirty="0"/>
          </a:p>
          <a:p>
            <a:pPr marL="0" indent="0">
              <a:lnSpc>
                <a:spcPct val="130000"/>
              </a:lnSpc>
              <a:spcBef>
                <a:spcPts val="900"/>
              </a:spcBef>
              <a:buNone/>
            </a:pPr>
            <a:r>
              <a:rPr lang="zh-CN" altLang="en-US" sz="2400" dirty="0"/>
              <a:t>注意：发邮件这个用例可以是单独的用例，也可以是由回答用例扩展出来的用例。</a:t>
            </a:r>
            <a:endParaRPr lang="zh-CN" altLang="en-US" sz="2400" dirty="0"/>
          </a:p>
        </p:txBody>
      </p:sp>
      <p:sp>
        <p:nvSpPr>
          <p:cNvPr id="3" name="日期占位符 2"/>
          <p:cNvSpPr>
            <a:spLocks noGrp="1"/>
          </p:cNvSpPr>
          <p:nvPr>
            <p:ph type="dt" sz="half" idx="10"/>
          </p:nvPr>
        </p:nvSpPr>
        <p:spPr/>
        <p:txBody>
          <a:bodyPr/>
          <a:lstStyle/>
          <a:p>
            <a:pPr>
              <a:spcAft>
                <a:spcPts val="0"/>
              </a:spcAft>
            </a:pPr>
            <a:fld id="{CAEA0539-434C-4E9D-AC8F-1F11C957A617}"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77828" name="Picture 4"/>
          <p:cNvPicPr>
            <a:picLocks noChangeAspect="1" noChangeArrowheads="1"/>
          </p:cNvPicPr>
          <p:nvPr/>
        </p:nvPicPr>
        <p:blipFill>
          <a:blip r:embed="rId1" cstate="print">
            <a:clrChange>
              <a:clrFrom>
                <a:srgbClr val="FEFEFE"/>
              </a:clrFrom>
              <a:clrTo>
                <a:srgbClr val="FEFEFE">
                  <a:alpha val="0"/>
                </a:srgbClr>
              </a:clrTo>
            </a:clrChange>
          </a:blip>
          <a:srcRect b="26280"/>
          <a:stretch>
            <a:fillRect/>
          </a:stretch>
        </p:blipFill>
        <p:spPr bwMode="auto">
          <a:xfrm>
            <a:off x="6257486" y="1146644"/>
            <a:ext cx="2363985" cy="307156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7828"/>
                                        </p:tgtEl>
                                        <p:attrNameLst>
                                          <p:attrName>style.visibility</p:attrName>
                                        </p:attrNameLst>
                                      </p:cBhvr>
                                      <p:to>
                                        <p:strVal val="visible"/>
                                      </p:to>
                                    </p:set>
                                    <p:animEffect transition="in" filter="randombar(horizontal)">
                                      <p:cBhvr>
                                        <p:cTn id="12" dur="500"/>
                                        <p:tgtEl>
                                          <p:spTgt spid="778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up)">
                                      <p:cBhvr>
                                        <p:cTn id="1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pPr>
              <a:spcAft>
                <a:spcPts val="0"/>
              </a:spcAft>
            </a:pPr>
            <a:r>
              <a:rPr lang="zh-CN" altLang="en-US" dirty="0"/>
              <a:t>识别用例练习</a:t>
            </a:r>
            <a:endParaRPr lang="zh-CN" altLang="en-US" dirty="0"/>
          </a:p>
        </p:txBody>
      </p:sp>
      <p:sp>
        <p:nvSpPr>
          <p:cNvPr id="3" name="文本占位符 2"/>
          <p:cNvSpPr>
            <a:spLocks noGrp="1"/>
          </p:cNvSpPr>
          <p:nvPr>
            <p:ph idx="1"/>
          </p:nvPr>
        </p:nvSpPr>
        <p:spPr>
          <a:xfrm>
            <a:off x="768097" y="1050324"/>
            <a:ext cx="3922578" cy="3015050"/>
          </a:xfrm>
        </p:spPr>
        <p:txBody>
          <a:bodyPr>
            <a:normAutofit/>
          </a:bodyPr>
          <a:lstStyle/>
          <a:p>
            <a:pPr algn="just">
              <a:lnSpc>
                <a:spcPct val="130000"/>
              </a:lnSpc>
            </a:pPr>
            <a:r>
              <a:rPr lang="zh-CN" altLang="en-US" sz="2400" dirty="0"/>
              <a:t>在图书管理系统中，工作人员的日常业务有：图书管理、借书证管理、图书的借阅和归还等。</a:t>
            </a:r>
            <a:endParaRPr lang="en-US" altLang="zh-CN" sz="2400" dirty="0"/>
          </a:p>
          <a:p>
            <a:pPr algn="just">
              <a:lnSpc>
                <a:spcPct val="130000"/>
              </a:lnSpc>
            </a:pPr>
            <a:r>
              <a:rPr lang="zh-CN" altLang="en-US" sz="2400" dirty="0"/>
              <a:t>请画出该系统的用例图。</a:t>
            </a:r>
            <a:endParaRPr lang="zh-CN" altLang="en-US" sz="2400" dirty="0"/>
          </a:p>
        </p:txBody>
      </p:sp>
      <p:sp>
        <p:nvSpPr>
          <p:cNvPr id="6" name="日期占位符 5"/>
          <p:cNvSpPr>
            <a:spLocks noGrp="1"/>
          </p:cNvSpPr>
          <p:nvPr>
            <p:ph type="dt" sz="half" idx="10"/>
          </p:nvPr>
        </p:nvSpPr>
        <p:spPr/>
        <p:txBody>
          <a:bodyPr/>
          <a:lstStyle/>
          <a:p>
            <a:pPr>
              <a:spcAft>
                <a:spcPts val="0"/>
              </a:spcAft>
            </a:pPr>
            <a:fld id="{FCCE74F7-E027-4448-AAF7-2C5B43F97260}" type="datetime1">
              <a:rPr lang="zh-CN" altLang="en-US" smtClean="0"/>
            </a:fld>
            <a:endParaRPr lang="zh-CN" altLang="en-US"/>
          </a:p>
        </p:txBody>
      </p:sp>
      <p:sp>
        <p:nvSpPr>
          <p:cNvPr id="7" name="页脚占位符 6"/>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4976425" y="683088"/>
            <a:ext cx="4167575" cy="4061290"/>
          </a:xfrm>
          <a:prstGeom prst="rect">
            <a:avLst/>
          </a:prstGeom>
          <a:noFill/>
          <a:ln w="9525" algn="ctr">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识别用例练习</a:t>
            </a:r>
            <a:endParaRPr lang="zh-CN" altLang="en-US" dirty="0"/>
          </a:p>
        </p:txBody>
      </p:sp>
      <p:sp>
        <p:nvSpPr>
          <p:cNvPr id="3" name="内容占位符 2"/>
          <p:cNvSpPr>
            <a:spLocks noGrp="1"/>
          </p:cNvSpPr>
          <p:nvPr>
            <p:ph idx="1"/>
          </p:nvPr>
        </p:nvSpPr>
        <p:spPr>
          <a:xfrm>
            <a:off x="768097" y="1123121"/>
            <a:ext cx="7832833" cy="3608899"/>
          </a:xfrm>
        </p:spPr>
        <p:txBody>
          <a:bodyPr/>
          <a:lstStyle/>
          <a:p>
            <a:r>
              <a:rPr lang="en-US" altLang="zh-CN" dirty="0"/>
              <a:t>ATM</a:t>
            </a:r>
            <a:r>
              <a:rPr lang="zh-CN" altLang="en-US" dirty="0"/>
              <a:t>自动取款机的主要功能有：存款、取款、转账、查询账户信息、修改密码、登录等。</a:t>
            </a:r>
            <a:endParaRPr lang="en-US" altLang="zh-CN" dirty="0"/>
          </a:p>
          <a:p>
            <a:r>
              <a:rPr lang="zh-CN" altLang="en-US" dirty="0"/>
              <a:t>请画出</a:t>
            </a:r>
            <a:r>
              <a:rPr lang="en-US" altLang="zh-CN" dirty="0"/>
              <a:t>ATM</a:t>
            </a:r>
            <a:r>
              <a:rPr lang="zh-CN" altLang="en-US" dirty="0"/>
              <a:t>机的用例图。</a:t>
            </a:r>
            <a:endParaRPr lang="zh-CN" altLang="en-US" dirty="0"/>
          </a:p>
        </p:txBody>
      </p:sp>
      <p:sp>
        <p:nvSpPr>
          <p:cNvPr id="4" name="日期占位符 3"/>
          <p:cNvSpPr>
            <a:spLocks noGrp="1"/>
          </p:cNvSpPr>
          <p:nvPr>
            <p:ph type="dt" sz="half" idx="10"/>
          </p:nvPr>
        </p:nvSpPr>
        <p:spPr/>
        <p:txBody>
          <a:bodyPr/>
          <a:lstStyle/>
          <a:p>
            <a:pPr>
              <a:spcAft>
                <a:spcPts val="0"/>
              </a:spcAft>
            </a:pPr>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用例图中的关系（难点）</a:t>
            </a:r>
            <a:endParaRPr lang="zh-CN" altLang="en-US" dirty="0"/>
          </a:p>
        </p:txBody>
      </p:sp>
      <p:sp>
        <p:nvSpPr>
          <p:cNvPr id="2" name="文本占位符 1"/>
          <p:cNvSpPr>
            <a:spLocks noGrp="1"/>
          </p:cNvSpPr>
          <p:nvPr>
            <p:ph idx="1"/>
          </p:nvPr>
        </p:nvSpPr>
        <p:spPr/>
        <p:txBody>
          <a:bodyPr>
            <a:noAutofit/>
          </a:bodyPr>
          <a:lstStyle/>
          <a:p>
            <a:pPr marL="467995" indent="-386080">
              <a:lnSpc>
                <a:spcPct val="130000"/>
              </a:lnSpc>
              <a:spcBef>
                <a:spcPts val="900"/>
              </a:spcBef>
            </a:pPr>
            <a:r>
              <a:rPr lang="zh-CN" altLang="en-US" sz="2000" dirty="0"/>
              <a:t>用例图中有以下几种关系：</a:t>
            </a:r>
            <a:endParaRPr lang="zh-CN" altLang="en-US" sz="2000" dirty="0"/>
          </a:p>
          <a:p>
            <a:pPr marL="467995" indent="-386080">
              <a:lnSpc>
                <a:spcPct val="130000"/>
              </a:lnSpc>
              <a:spcBef>
                <a:spcPts val="2400"/>
              </a:spcBef>
              <a:buFont typeface="+mj-lt"/>
              <a:buAutoNum type="arabicPeriod"/>
            </a:pPr>
            <a:endParaRPr lang="en-US" altLang="zh-CN" sz="2000" dirty="0">
              <a:solidFill>
                <a:srgbClr val="FF0000"/>
              </a:solidFill>
            </a:endParaRPr>
          </a:p>
          <a:p>
            <a:pPr marL="82550" indent="0">
              <a:lnSpc>
                <a:spcPct val="130000"/>
              </a:lnSpc>
              <a:spcBef>
                <a:spcPts val="3600"/>
              </a:spcBef>
              <a:buNone/>
            </a:pPr>
            <a:r>
              <a:rPr lang="zh-CN" altLang="en-US" sz="2000" dirty="0">
                <a:solidFill>
                  <a:schemeClr val="tx2"/>
                </a:solidFill>
              </a:rPr>
              <a:t>               </a:t>
            </a:r>
            <a:r>
              <a:rPr lang="en-US" altLang="zh-CN" sz="2000" dirty="0">
                <a:solidFill>
                  <a:schemeClr val="tx2"/>
                </a:solidFill>
              </a:rPr>
              <a:t>1.  </a:t>
            </a:r>
            <a:r>
              <a:rPr lang="zh-CN" altLang="en-US" sz="2000" dirty="0">
                <a:solidFill>
                  <a:schemeClr val="tx2"/>
                </a:solidFill>
              </a:rPr>
              <a:t>关联                                       </a:t>
            </a:r>
            <a:r>
              <a:rPr lang="en-US" altLang="zh-CN" sz="2000" dirty="0">
                <a:solidFill>
                  <a:schemeClr val="tx2"/>
                </a:solidFill>
              </a:rPr>
              <a:t>2. </a:t>
            </a:r>
            <a:r>
              <a:rPr lang="zh-CN" altLang="en-US" sz="2000" dirty="0">
                <a:solidFill>
                  <a:schemeClr val="tx2"/>
                </a:solidFill>
              </a:rPr>
              <a:t>泛化</a:t>
            </a:r>
            <a:endParaRPr lang="zh-CN" altLang="en-US" sz="2000" dirty="0">
              <a:solidFill>
                <a:schemeClr val="tx2"/>
              </a:solidFill>
            </a:endParaRPr>
          </a:p>
          <a:p>
            <a:pPr marL="467995" indent="-386080">
              <a:lnSpc>
                <a:spcPct val="130000"/>
              </a:lnSpc>
              <a:spcBef>
                <a:spcPts val="2400"/>
              </a:spcBef>
              <a:buFont typeface="+mj-lt"/>
              <a:buAutoNum type="arabicPeriod"/>
            </a:pPr>
            <a:endParaRPr lang="en-US" altLang="zh-CN" sz="2000" dirty="0"/>
          </a:p>
          <a:p>
            <a:pPr marL="82550" indent="0">
              <a:lnSpc>
                <a:spcPct val="130000"/>
              </a:lnSpc>
              <a:spcBef>
                <a:spcPts val="3600"/>
              </a:spcBef>
              <a:buNone/>
            </a:pPr>
            <a:r>
              <a:rPr lang="zh-CN" altLang="en-US" sz="2000" dirty="0"/>
              <a:t>                </a:t>
            </a:r>
            <a:r>
              <a:rPr lang="en-US" altLang="zh-CN" sz="2000" dirty="0"/>
              <a:t>3.  </a:t>
            </a:r>
            <a:r>
              <a:rPr lang="zh-CN" altLang="en-US" sz="2000" dirty="0"/>
              <a:t>包含                                      </a:t>
            </a:r>
            <a:r>
              <a:rPr lang="en-US" altLang="zh-CN" sz="2000" dirty="0"/>
              <a:t>4.</a:t>
            </a:r>
            <a:r>
              <a:rPr lang="zh-CN" altLang="en-US" sz="2000" dirty="0"/>
              <a:t> 扩展</a:t>
            </a:r>
            <a:endParaRPr lang="zh-CN" altLang="en-US" sz="2000" dirty="0"/>
          </a:p>
        </p:txBody>
      </p:sp>
      <p:sp>
        <p:nvSpPr>
          <p:cNvPr id="4" name="日期占位符 3"/>
          <p:cNvSpPr>
            <a:spLocks noGrp="1"/>
          </p:cNvSpPr>
          <p:nvPr>
            <p:ph type="dt" sz="half" idx="10"/>
          </p:nvPr>
        </p:nvSpPr>
        <p:spPr/>
        <p:txBody>
          <a:bodyPr/>
          <a:lstStyle/>
          <a:p>
            <a:pPr>
              <a:spcAft>
                <a:spcPts val="0"/>
              </a:spcAft>
            </a:pPr>
            <a:fld id="{A5B2C7E6-D4F0-4BEB-A6AE-4EF4DB38D709}"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68096" y="1514069"/>
            <a:ext cx="3916417" cy="13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11706" y="1606924"/>
            <a:ext cx="5327000" cy="1191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864" y="3284097"/>
            <a:ext cx="4596780" cy="1151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13301" y="3348313"/>
            <a:ext cx="4923810" cy="10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Effect transition="in" filter="wipe(up)">
                                      <p:cBhvr>
                                        <p:cTn id="11" dur="500"/>
                                        <p:tgtEl>
                                          <p:spTgt spid="2">
                                            <p:txEl>
                                              <p:pRg st="2" end="2"/>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wipe(up)">
                                      <p:cBhvr>
                                        <p:cTn id="15" dur="500"/>
                                        <p:tgtEl>
                                          <p:spTgt spid="2">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randombar(horizontal)">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randombar(horizontal)">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randombar(horizontal)">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randombar(horizontal)">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p:txBody>
          <a:bodyPr/>
          <a:lstStyle/>
          <a:p>
            <a:pPr>
              <a:spcAft>
                <a:spcPts val="0"/>
              </a:spcAft>
            </a:pPr>
            <a:r>
              <a:rPr lang="zh-CN" altLang="en-US" dirty="0"/>
              <a:t>用例图中的关系</a:t>
            </a:r>
            <a:endParaRPr lang="zh-CN" altLang="en-US" dirty="0"/>
          </a:p>
        </p:txBody>
      </p:sp>
      <p:sp>
        <p:nvSpPr>
          <p:cNvPr id="4" name="文本占位符 3"/>
          <p:cNvSpPr>
            <a:spLocks noGrp="1"/>
          </p:cNvSpPr>
          <p:nvPr>
            <p:ph idx="1"/>
          </p:nvPr>
        </p:nvSpPr>
        <p:spPr/>
        <p:txBody>
          <a:bodyPr>
            <a:normAutofit/>
          </a:bodyPr>
          <a:lstStyle/>
          <a:p>
            <a:pPr marL="467995" indent="-386080">
              <a:lnSpc>
                <a:spcPct val="130000"/>
              </a:lnSpc>
              <a:spcBef>
                <a:spcPts val="600"/>
              </a:spcBef>
              <a:buFont typeface="+mj-lt"/>
              <a:buAutoNum type="alphaUcPeriod"/>
            </a:pPr>
            <a:r>
              <a:rPr lang="zh-CN" altLang="en-US" sz="2400" dirty="0"/>
              <a:t>用例与参与者之间：</a:t>
            </a:r>
            <a:endParaRPr lang="en-US" altLang="zh-CN" sz="2400" dirty="0"/>
          </a:p>
          <a:p>
            <a:pPr lvl="1">
              <a:lnSpc>
                <a:spcPct val="130000"/>
              </a:lnSpc>
              <a:spcBef>
                <a:spcPts val="600"/>
              </a:spcBef>
            </a:pPr>
            <a:r>
              <a:rPr lang="zh-CN" altLang="en-US" sz="2000" dirty="0">
                <a:solidFill>
                  <a:srgbClr val="FF0000"/>
                </a:solidFill>
              </a:rPr>
              <a:t>关联关系</a:t>
            </a:r>
            <a:endParaRPr lang="en-US" altLang="zh-CN" sz="2000" dirty="0">
              <a:solidFill>
                <a:srgbClr val="FF0000"/>
              </a:solidFill>
            </a:endParaRPr>
          </a:p>
          <a:p>
            <a:pPr marL="257175" lvl="1" indent="0">
              <a:lnSpc>
                <a:spcPct val="130000"/>
              </a:lnSpc>
              <a:spcBef>
                <a:spcPts val="600"/>
              </a:spcBef>
              <a:buNone/>
            </a:pPr>
            <a:r>
              <a:rPr lang="zh-CN" altLang="en-US" sz="2000" dirty="0"/>
              <a:t>表示参与者与用例之间的通信。用实线加箭头表示。</a:t>
            </a:r>
            <a:endParaRPr lang="zh-CN" altLang="en-US" sz="2000" dirty="0"/>
          </a:p>
        </p:txBody>
      </p:sp>
      <p:sp>
        <p:nvSpPr>
          <p:cNvPr id="8" name="日期占位符 7"/>
          <p:cNvSpPr>
            <a:spLocks noGrp="1"/>
          </p:cNvSpPr>
          <p:nvPr>
            <p:ph type="dt" sz="half" idx="10"/>
          </p:nvPr>
        </p:nvSpPr>
        <p:spPr/>
        <p:txBody>
          <a:bodyPr/>
          <a:lstStyle/>
          <a:p>
            <a:pPr>
              <a:spcAft>
                <a:spcPts val="0"/>
              </a:spcAft>
            </a:pPr>
            <a:fld id="{892CF000-952E-4ADC-82B1-7604CE6DDE65}" type="datetime1">
              <a:rPr lang="zh-CN" altLang="en-US" smtClean="0"/>
            </a:fld>
            <a:endParaRPr lang="zh-CN" altLang="en-US"/>
          </a:p>
        </p:txBody>
      </p:sp>
      <p:sp>
        <p:nvSpPr>
          <p:cNvPr id="9" name="页脚占位符 8"/>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grpSp>
        <p:nvGrpSpPr>
          <p:cNvPr id="7" name="组合 6"/>
          <p:cNvGrpSpPr/>
          <p:nvPr/>
        </p:nvGrpSpPr>
        <p:grpSpPr>
          <a:xfrm>
            <a:off x="598789" y="2960457"/>
            <a:ext cx="4844631" cy="1368773"/>
            <a:chOff x="1291792" y="3661251"/>
            <a:chExt cx="6459508" cy="1825029"/>
          </a:xfrm>
        </p:grpSpPr>
        <p:pic>
          <p:nvPicPr>
            <p:cNvPr id="5" name="Picture 7"/>
            <p:cNvPicPr>
              <a:picLocks noChangeAspect="1" noChangeArrowheads="1"/>
            </p:cNvPicPr>
            <p:nvPr/>
          </p:nvPicPr>
          <p:blipFill>
            <a:blip r:embed="rId1" cstate="print"/>
            <a:srcRect/>
            <a:stretch>
              <a:fillRect/>
            </a:stretch>
          </p:blipFill>
          <p:spPr bwMode="auto">
            <a:xfrm>
              <a:off x="1291792" y="3661251"/>
              <a:ext cx="6459508" cy="1633901"/>
            </a:xfrm>
            <a:prstGeom prst="rect">
              <a:avLst/>
            </a:prstGeom>
            <a:noFill/>
            <a:ln w="9525" algn="ctr">
              <a:noFill/>
              <a:miter lim="800000"/>
              <a:headEnd/>
              <a:tailEnd/>
            </a:ln>
            <a:effectLst/>
          </p:spPr>
        </p:pic>
        <p:sp>
          <p:nvSpPr>
            <p:cNvPr id="6" name="Text Box 11"/>
            <p:cNvSpPr txBox="1">
              <a:spLocks noChangeArrowheads="1"/>
            </p:cNvSpPr>
            <p:nvPr/>
          </p:nvSpPr>
          <p:spPr bwMode="auto">
            <a:xfrm>
              <a:off x="3397569" y="5051940"/>
              <a:ext cx="1298787" cy="434340"/>
            </a:xfrm>
            <a:prstGeom prst="rect">
              <a:avLst/>
            </a:prstGeom>
            <a:noFill/>
            <a:ln w="9525" algn="ctr">
              <a:noFill/>
              <a:miter lim="800000"/>
            </a:ln>
            <a:effectLst/>
          </p:spPr>
          <p:txBody>
            <a:bodyPr wrap="none" lIns="80963" tIns="40481" rIns="80963" bIns="40481">
              <a:spAutoFit/>
            </a:bodyPr>
            <a:lstStyle/>
            <a:p>
              <a:pPr>
                <a:spcAft>
                  <a:spcPts val="0"/>
                </a:spcAft>
              </a:pPr>
              <a:r>
                <a:rPr lang="zh-CN" altLang="en-US" sz="1600" dirty="0">
                  <a:latin typeface="+mj-ea"/>
                  <a:ea typeface="+mj-ea"/>
                </a:rPr>
                <a:t>关联关系</a:t>
              </a:r>
              <a:endParaRPr lang="zh-CN" altLang="en-US" sz="1600" dirty="0">
                <a:latin typeface="+mj-ea"/>
                <a:ea typeface="+mj-ea"/>
              </a:endParaRPr>
            </a:p>
          </p:txBody>
        </p:sp>
      </p:grpSp>
      <p:grpSp>
        <p:nvGrpSpPr>
          <p:cNvPr id="12" name="组合 11"/>
          <p:cNvGrpSpPr/>
          <p:nvPr/>
        </p:nvGrpSpPr>
        <p:grpSpPr>
          <a:xfrm>
            <a:off x="5035005" y="2615462"/>
            <a:ext cx="3538282" cy="1470195"/>
            <a:chOff x="3966589" y="4510490"/>
            <a:chExt cx="4717709" cy="1960260"/>
          </a:xfrm>
        </p:grpSpPr>
        <p:pic>
          <p:nvPicPr>
            <p:cNvPr id="10" name="图片 9"/>
            <p:cNvPicPr>
              <a:picLocks noChangeAspect="1"/>
            </p:cNvPicPr>
            <p:nvPr/>
          </p:nvPicPr>
          <p:blipFill>
            <a:blip r:embed="rId2" cstate="print">
              <a:clrChange>
                <a:clrFrom>
                  <a:srgbClr val="FFFFFF"/>
                </a:clrFrom>
                <a:clrTo>
                  <a:srgbClr val="FFFFFF">
                    <a:alpha val="0"/>
                  </a:srgbClr>
                </a:clrTo>
              </a:clrChange>
            </a:blip>
            <a:stretch>
              <a:fillRect/>
            </a:stretch>
          </p:blipFill>
          <p:spPr>
            <a:xfrm>
              <a:off x="3966589" y="4510490"/>
              <a:ext cx="4717709" cy="1880917"/>
            </a:xfrm>
            <a:prstGeom prst="rect">
              <a:avLst/>
            </a:prstGeom>
          </p:spPr>
        </p:pic>
        <p:sp>
          <p:nvSpPr>
            <p:cNvPr id="11" name="文本框 10"/>
            <p:cNvSpPr txBox="1"/>
            <p:nvPr/>
          </p:nvSpPr>
          <p:spPr>
            <a:xfrm>
              <a:off x="3966589" y="6071970"/>
              <a:ext cx="701040" cy="398780"/>
            </a:xfrm>
            <a:prstGeom prst="rect">
              <a:avLst/>
            </a:prstGeom>
            <a:solidFill>
              <a:schemeClr val="bg1"/>
            </a:solidFill>
          </p:spPr>
          <p:txBody>
            <a:bodyPr wrap="none" rtlCol="0">
              <a:spAutoFit/>
            </a:bodyPr>
            <a:lstStyle/>
            <a:p>
              <a:pPr>
                <a:spcAft>
                  <a:spcPts val="0"/>
                </a:spcAft>
              </a:pPr>
              <a:r>
                <a:rPr lang="zh-CN" altLang="en-US" sz="1350" dirty="0"/>
                <a:t>顾客</a:t>
              </a:r>
              <a:endParaRPr lang="zh-CN" altLang="en-US" sz="13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up)">
                                      <p:cBhvr>
                                        <p:cTn id="10" dur="500"/>
                                        <p:tgtEl>
                                          <p:spTgt spid="4">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wipe(up)">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randombar(horizont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randombar(horizontal)">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pPr>
              <a:spcAft>
                <a:spcPts val="0"/>
              </a:spcAft>
            </a:pPr>
            <a:r>
              <a:rPr lang="zh-CN" altLang="en-US" dirty="0"/>
              <a:t>用例图中的关系</a:t>
            </a:r>
            <a:endParaRPr lang="zh-CN" altLang="en-US" dirty="0"/>
          </a:p>
        </p:txBody>
      </p:sp>
      <p:sp>
        <p:nvSpPr>
          <p:cNvPr id="4" name="文本占位符 3"/>
          <p:cNvSpPr>
            <a:spLocks noGrp="1"/>
          </p:cNvSpPr>
          <p:nvPr>
            <p:ph idx="1"/>
          </p:nvPr>
        </p:nvSpPr>
        <p:spPr>
          <a:xfrm>
            <a:off x="768098" y="925167"/>
            <a:ext cx="5139786" cy="3806854"/>
          </a:xfrm>
        </p:spPr>
        <p:txBody>
          <a:bodyPr>
            <a:normAutofit/>
          </a:bodyPr>
          <a:lstStyle/>
          <a:p>
            <a:pPr marL="467995" indent="-386080">
              <a:lnSpc>
                <a:spcPct val="120000"/>
              </a:lnSpc>
              <a:spcBef>
                <a:spcPts val="900"/>
              </a:spcBef>
              <a:buFont typeface="+mj-lt"/>
              <a:buAutoNum type="alphaUcPeriod" startAt="2"/>
            </a:pPr>
            <a:r>
              <a:rPr lang="zh-CN" altLang="en-US" sz="2400" dirty="0"/>
              <a:t>参与者之间：</a:t>
            </a:r>
            <a:endParaRPr lang="en-US" altLang="zh-CN" sz="2400" dirty="0"/>
          </a:p>
          <a:p>
            <a:pPr>
              <a:lnSpc>
                <a:spcPct val="120000"/>
              </a:lnSpc>
              <a:spcBef>
                <a:spcPts val="900"/>
              </a:spcBef>
            </a:pPr>
            <a:r>
              <a:rPr lang="zh-CN" altLang="en-US" sz="2000" dirty="0"/>
              <a:t>参与者是类，可以象类一样存在泛化或者依赖关系。</a:t>
            </a:r>
            <a:endParaRPr lang="zh-CN" altLang="en-US" sz="2000" dirty="0"/>
          </a:p>
          <a:p>
            <a:pPr marL="386080" indent="-386080">
              <a:lnSpc>
                <a:spcPct val="120000"/>
              </a:lnSpc>
              <a:spcBef>
                <a:spcPts val="900"/>
              </a:spcBef>
              <a:buFont typeface="+mj-lt"/>
              <a:buAutoNum type="romanUcPeriod"/>
            </a:pPr>
            <a:r>
              <a:rPr lang="zh-CN" altLang="en-US" sz="2000" dirty="0">
                <a:solidFill>
                  <a:srgbClr val="FF0000"/>
                </a:solidFill>
              </a:rPr>
              <a:t>泛化关系：</a:t>
            </a:r>
            <a:endParaRPr lang="en-US" altLang="zh-CN" sz="2000" dirty="0">
              <a:solidFill>
                <a:srgbClr val="FF0000"/>
              </a:solidFill>
            </a:endParaRPr>
          </a:p>
          <a:p>
            <a:pPr marL="0" indent="0">
              <a:lnSpc>
                <a:spcPct val="120000"/>
              </a:lnSpc>
              <a:spcBef>
                <a:spcPts val="900"/>
              </a:spcBef>
              <a:buNone/>
            </a:pPr>
            <a:r>
              <a:rPr lang="zh-CN" altLang="en-US" sz="2000" dirty="0"/>
              <a:t>参与者之间可以有共同的属性和行为，因此可使用泛化关系来描述多个参与者之间的公共行为。它们之间有特殊和一般的关系。</a:t>
            </a:r>
            <a:endParaRPr lang="zh-CN" altLang="en-US" sz="2000" dirty="0"/>
          </a:p>
          <a:p>
            <a:pPr>
              <a:lnSpc>
                <a:spcPct val="120000"/>
              </a:lnSpc>
              <a:spcBef>
                <a:spcPts val="900"/>
              </a:spcBef>
            </a:pPr>
            <a:r>
              <a:rPr lang="zh-CN" altLang="en-US" sz="2000" dirty="0"/>
              <a:t>注意：箭头指向一般个体。</a:t>
            </a:r>
            <a:endParaRPr lang="en-US" altLang="zh-CN" sz="2000" dirty="0"/>
          </a:p>
        </p:txBody>
      </p:sp>
      <p:sp>
        <p:nvSpPr>
          <p:cNvPr id="7" name="日期占位符 6"/>
          <p:cNvSpPr>
            <a:spLocks noGrp="1"/>
          </p:cNvSpPr>
          <p:nvPr>
            <p:ph type="dt" sz="half" idx="10"/>
          </p:nvPr>
        </p:nvSpPr>
        <p:spPr/>
        <p:txBody>
          <a:bodyPr/>
          <a:lstStyle/>
          <a:p>
            <a:pPr>
              <a:spcAft>
                <a:spcPts val="0"/>
              </a:spcAft>
            </a:pPr>
            <a:fld id="{4984F025-E3B2-40F0-86A0-B1B86F67FE61}" type="datetime1">
              <a:rPr lang="zh-CN" altLang="en-US" smtClean="0"/>
            </a:fld>
            <a:endParaRPr lang="zh-CN" altLang="en-US"/>
          </a:p>
        </p:txBody>
      </p:sp>
      <p:sp>
        <p:nvSpPr>
          <p:cNvPr id="8" name="页脚占位符 7"/>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5" name="Picture 4"/>
          <p:cNvPicPr>
            <a:picLocks noChangeAspect="1" noChangeArrowheads="1"/>
          </p:cNvPicPr>
          <p:nvPr/>
        </p:nvPicPr>
        <p:blipFill>
          <a:blip r:embed="rId1" cstate="print"/>
          <a:srcRect/>
          <a:stretch>
            <a:fillRect/>
          </a:stretch>
        </p:blipFill>
        <p:spPr>
          <a:xfrm>
            <a:off x="5945288" y="828913"/>
            <a:ext cx="3175686" cy="3182151"/>
          </a:xfrm>
          <a:prstGeom prst="rect">
            <a:avLst/>
          </a:prstGeom>
          <a:noFill/>
        </p:spPr>
      </p:pic>
      <p:sp>
        <p:nvSpPr>
          <p:cNvPr id="6" name="Rectangle 5"/>
          <p:cNvSpPr>
            <a:spLocks noChangeArrowheads="1"/>
          </p:cNvSpPr>
          <p:nvPr/>
        </p:nvSpPr>
        <p:spPr bwMode="auto">
          <a:xfrm>
            <a:off x="6103746" y="3823028"/>
            <a:ext cx="2754504" cy="645160"/>
          </a:xfrm>
          <a:prstGeom prst="rect">
            <a:avLst/>
          </a:prstGeom>
          <a:solidFill>
            <a:schemeClr val="bg1">
              <a:lumMod val="95000"/>
            </a:schemeClr>
          </a:solidFill>
          <a:ln w="9525">
            <a:solidFill>
              <a:schemeClr val="tx1"/>
            </a:solidFill>
            <a:prstDash val="dash"/>
            <a:miter lim="800000"/>
          </a:ln>
          <a:effectLst/>
        </p:spPr>
        <p:txBody>
          <a:bodyPr wrap="square">
            <a:spAutoFit/>
          </a:bodyPr>
          <a:lstStyle/>
          <a:p>
            <a:pPr algn="ctr">
              <a:spcBef>
                <a:spcPct val="20000"/>
              </a:spcBef>
              <a:spcAft>
                <a:spcPts val="0"/>
              </a:spcAft>
              <a:buClr>
                <a:schemeClr val="folHlink"/>
              </a:buClr>
              <a:buSzPct val="60000"/>
              <a:buFont typeface="Wingdings" panose="05000000000000000000" pitchFamily="2" charset="2"/>
              <a:buNone/>
            </a:pPr>
            <a:r>
              <a:rPr lang="zh-CN" altLang="en-US" dirty="0">
                <a:latin typeface="+mj-ea"/>
                <a:ea typeface="+mj-ea"/>
              </a:rPr>
              <a:t>系统中经理可以参加雇员的所有用例</a:t>
            </a:r>
            <a:endParaRPr lang="zh-CN" altLang="en-US" dirty="0">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wipe(up)">
                                      <p:cBhvr>
                                        <p:cTn id="11" dur="500"/>
                                        <p:tgtEl>
                                          <p:spTgt spid="4">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up)">
                                      <p:cBhvr>
                                        <p:cTn id="15" dur="500"/>
                                        <p:tgtEl>
                                          <p:spTgt spid="4">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wipe(up)">
                                      <p:cBhvr>
                                        <p:cTn id="19" dur="500"/>
                                        <p:tgtEl>
                                          <p:spTgt spid="4">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wipe(up)">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randombar(horizontal)">
                                      <p:cBhvr>
                                        <p:cTn id="28" dur="500"/>
                                        <p:tgtEl>
                                          <p:spTgt spid="5"/>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randombar(horizontal)">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pPr>
              <a:spcAft>
                <a:spcPts val="0"/>
              </a:spcAft>
            </a:pPr>
            <a:r>
              <a:rPr lang="zh-CN" altLang="en-US" dirty="0"/>
              <a:t>用例图中的关系</a:t>
            </a:r>
            <a:endParaRPr lang="zh-CN" altLang="en-US" dirty="0"/>
          </a:p>
        </p:txBody>
      </p:sp>
      <p:sp>
        <p:nvSpPr>
          <p:cNvPr id="4" name="文本占位符 3"/>
          <p:cNvSpPr>
            <a:spLocks noGrp="1"/>
          </p:cNvSpPr>
          <p:nvPr>
            <p:ph idx="1"/>
          </p:nvPr>
        </p:nvSpPr>
        <p:spPr>
          <a:xfrm>
            <a:off x="768096" y="863577"/>
            <a:ext cx="7832833" cy="3806854"/>
          </a:xfrm>
        </p:spPr>
        <p:txBody>
          <a:bodyPr>
            <a:normAutofit/>
          </a:bodyPr>
          <a:lstStyle/>
          <a:p>
            <a:pPr marL="467995" indent="-386080">
              <a:lnSpc>
                <a:spcPct val="120000"/>
              </a:lnSpc>
              <a:spcBef>
                <a:spcPts val="450"/>
              </a:spcBef>
              <a:buFont typeface="+mj-lt"/>
              <a:buAutoNum type="alphaUcPeriod" startAt="2"/>
            </a:pPr>
            <a:r>
              <a:rPr lang="zh-CN" altLang="en-US" sz="2400" dirty="0"/>
              <a:t>参与者之间：</a:t>
            </a:r>
            <a:endParaRPr lang="en-US" altLang="zh-CN" sz="2400" dirty="0"/>
          </a:p>
          <a:p>
            <a:pPr marL="643255" lvl="1" indent="-386080">
              <a:lnSpc>
                <a:spcPct val="120000"/>
              </a:lnSpc>
              <a:spcBef>
                <a:spcPts val="450"/>
              </a:spcBef>
              <a:buFont typeface="+mj-lt"/>
              <a:buAutoNum type="romanUcPeriod" startAt="2"/>
            </a:pPr>
            <a:r>
              <a:rPr lang="zh-CN" altLang="en-US" sz="2000" dirty="0">
                <a:solidFill>
                  <a:srgbClr val="FF0000"/>
                </a:solidFill>
              </a:rPr>
              <a:t>依赖关系</a:t>
            </a:r>
            <a:endParaRPr lang="en-US" altLang="zh-CN" sz="2000" dirty="0">
              <a:solidFill>
                <a:srgbClr val="FF0000"/>
              </a:solidFill>
            </a:endParaRPr>
          </a:p>
          <a:p>
            <a:pPr marL="257175" lvl="1" indent="0">
              <a:lnSpc>
                <a:spcPct val="120000"/>
              </a:lnSpc>
              <a:spcBef>
                <a:spcPts val="450"/>
              </a:spcBef>
              <a:buNone/>
            </a:pPr>
            <a:r>
              <a:rPr lang="zh-CN" altLang="en-US" sz="2000" dirty="0"/>
              <a:t>是两个参与者之间的一种比较弱的联系（使用），而关联关系是一种强依赖关系。</a:t>
            </a:r>
            <a:endParaRPr lang="en-US" altLang="zh-CN" sz="2000" dirty="0"/>
          </a:p>
          <a:p>
            <a:pPr lvl="1">
              <a:lnSpc>
                <a:spcPct val="120000"/>
              </a:lnSpc>
              <a:spcBef>
                <a:spcPts val="450"/>
              </a:spcBef>
            </a:pPr>
            <a:r>
              <a:rPr lang="zh-CN" altLang="en-US" sz="2000" dirty="0"/>
              <a:t>用虚线加箭头表示，箭头指向依赖的对象。在用例图中可以不用表示这种关系。</a:t>
            </a:r>
            <a:endParaRPr lang="en-US" altLang="zh-CN" sz="2000" dirty="0"/>
          </a:p>
        </p:txBody>
      </p:sp>
      <p:sp>
        <p:nvSpPr>
          <p:cNvPr id="6" name="日期占位符 5"/>
          <p:cNvSpPr>
            <a:spLocks noGrp="1"/>
          </p:cNvSpPr>
          <p:nvPr>
            <p:ph type="dt" sz="half" idx="10"/>
          </p:nvPr>
        </p:nvSpPr>
        <p:spPr/>
        <p:txBody>
          <a:bodyPr/>
          <a:lstStyle/>
          <a:p>
            <a:pPr>
              <a:spcAft>
                <a:spcPts val="0"/>
              </a:spcAft>
            </a:pPr>
            <a:fld id="{815ABCAD-35AA-4A4D-A6A8-820CFBA2A57C}" type="datetime1">
              <a:rPr lang="zh-CN" altLang="en-US" smtClean="0"/>
            </a:fld>
            <a:endParaRPr lang="zh-CN" altLang="en-US"/>
          </a:p>
        </p:txBody>
      </p:sp>
      <p:sp>
        <p:nvSpPr>
          <p:cNvPr id="8" name="页脚占位符 7"/>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grpSp>
        <p:nvGrpSpPr>
          <p:cNvPr id="7" name="组合 6"/>
          <p:cNvGrpSpPr/>
          <p:nvPr/>
        </p:nvGrpSpPr>
        <p:grpSpPr>
          <a:xfrm>
            <a:off x="2313996" y="3450306"/>
            <a:ext cx="4427337" cy="1463888"/>
            <a:chOff x="1132114" y="3822577"/>
            <a:chExt cx="5903115" cy="1951851"/>
          </a:xfrm>
        </p:grpSpPr>
        <p:sp>
          <p:nvSpPr>
            <p:cNvPr id="5" name="TextBox 4"/>
            <p:cNvSpPr txBox="1"/>
            <p:nvPr/>
          </p:nvSpPr>
          <p:spPr>
            <a:xfrm>
              <a:off x="5572189" y="4283810"/>
              <a:ext cx="1463040" cy="491067"/>
            </a:xfrm>
            <a:prstGeom prst="rect">
              <a:avLst/>
            </a:prstGeom>
            <a:noFill/>
          </p:spPr>
          <p:txBody>
            <a:bodyPr wrap="none" rtlCol="0">
              <a:spAutoFit/>
            </a:bodyPr>
            <a:lstStyle/>
            <a:p>
              <a:pPr>
                <a:spcAft>
                  <a:spcPts val="0"/>
                </a:spcAft>
              </a:pPr>
              <a:r>
                <a:rPr lang="zh-CN" altLang="en-US" dirty="0">
                  <a:latin typeface="+mj-ea"/>
                  <a:ea typeface="+mj-ea"/>
                </a:rPr>
                <a:t>依赖关系</a:t>
              </a:r>
              <a:endParaRPr lang="zh-CN" altLang="en-US" dirty="0">
                <a:latin typeface="+mj-ea"/>
                <a:ea typeface="+mj-ea"/>
              </a:endParaRPr>
            </a:p>
          </p:txBody>
        </p:sp>
        <p:pic>
          <p:nvPicPr>
            <p:cNvPr id="57347"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2114" y="3822577"/>
              <a:ext cx="4564149" cy="195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up)">
                                      <p:cBhvr>
                                        <p:cTn id="10" dur="500"/>
                                        <p:tgtEl>
                                          <p:spTgt spid="4">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wipe(up)">
                                      <p:cBhvr>
                                        <p:cTn id="13" dur="500"/>
                                        <p:tgtEl>
                                          <p:spTgt spid="4">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wipe(up)">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randombar(horizontal)">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pPr>
              <a:spcAft>
                <a:spcPts val="0"/>
              </a:spcAft>
            </a:pPr>
            <a:r>
              <a:rPr lang="zh-CN" altLang="en-US" dirty="0"/>
              <a:t>用例图中的关系</a:t>
            </a:r>
            <a:endParaRPr lang="zh-CN" altLang="en-US" dirty="0"/>
          </a:p>
        </p:txBody>
      </p:sp>
      <p:sp>
        <p:nvSpPr>
          <p:cNvPr id="2" name="文本占位符 1"/>
          <p:cNvSpPr>
            <a:spLocks noGrp="1"/>
          </p:cNvSpPr>
          <p:nvPr>
            <p:ph idx="1"/>
          </p:nvPr>
        </p:nvSpPr>
        <p:spPr/>
        <p:txBody>
          <a:bodyPr>
            <a:normAutofit/>
          </a:bodyPr>
          <a:lstStyle/>
          <a:p>
            <a:pPr marL="467995" indent="-386080">
              <a:spcBef>
                <a:spcPts val="900"/>
              </a:spcBef>
              <a:buFont typeface="+mj-lt"/>
              <a:buAutoNum type="alphaUcPeriod" startAt="3"/>
            </a:pPr>
            <a:r>
              <a:rPr lang="zh-CN" altLang="en-US" sz="2400" dirty="0"/>
              <a:t>用例之间：</a:t>
            </a:r>
            <a:endParaRPr lang="en-US" altLang="zh-CN" sz="2400" dirty="0"/>
          </a:p>
          <a:p>
            <a:pPr marL="660400" lvl="1" indent="-386080">
              <a:lnSpc>
                <a:spcPct val="120000"/>
              </a:lnSpc>
              <a:spcBef>
                <a:spcPts val="900"/>
              </a:spcBef>
              <a:buFont typeface="+mj-lt"/>
              <a:buAutoNum type="romanUcPeriod"/>
            </a:pPr>
            <a:r>
              <a:rPr lang="zh-CN" altLang="zh-CN" sz="2000" dirty="0">
                <a:solidFill>
                  <a:srgbClr val="FF0000"/>
                </a:solidFill>
              </a:rPr>
              <a:t>包含关系（Include）</a:t>
            </a:r>
            <a:r>
              <a:rPr lang="zh-CN" altLang="en-US" sz="2000" dirty="0">
                <a:solidFill>
                  <a:srgbClr val="FF0000"/>
                </a:solidFill>
              </a:rPr>
              <a:t>：</a:t>
            </a:r>
            <a:endParaRPr lang="en-US" altLang="zh-CN" sz="2000" dirty="0"/>
          </a:p>
          <a:p>
            <a:pPr marL="274320" lvl="1" indent="0">
              <a:lnSpc>
                <a:spcPct val="120000"/>
              </a:lnSpc>
              <a:spcBef>
                <a:spcPts val="900"/>
              </a:spcBef>
              <a:buNone/>
            </a:pPr>
            <a:r>
              <a:rPr lang="zh-CN" altLang="en-US" sz="2000" dirty="0"/>
              <a:t>指一个用例作为另一个用例必需的部分被使用，是依赖关系的一种。被包含的叫</a:t>
            </a:r>
            <a:r>
              <a:rPr lang="zh-CN" altLang="en-US" sz="2000" dirty="0">
                <a:solidFill>
                  <a:srgbClr val="FF0000"/>
                </a:solidFill>
              </a:rPr>
              <a:t>包含用例</a:t>
            </a:r>
            <a:r>
              <a:rPr lang="zh-CN" altLang="en-US" sz="2000" dirty="0"/>
              <a:t>，它是</a:t>
            </a:r>
            <a:r>
              <a:rPr lang="zh-CN" altLang="en-US" sz="2000" dirty="0">
                <a:solidFill>
                  <a:srgbClr val="FF0000"/>
                </a:solidFill>
              </a:rPr>
              <a:t>基础用例</a:t>
            </a:r>
            <a:r>
              <a:rPr lang="en-US" altLang="zh-CN" sz="2000" dirty="0">
                <a:solidFill>
                  <a:srgbClr val="FF0000"/>
                </a:solidFill>
              </a:rPr>
              <a:t>(base use case)</a:t>
            </a:r>
            <a:r>
              <a:rPr lang="zh-CN" altLang="en-US" sz="2000" dirty="0"/>
              <a:t>中一个不得不执行的用例部分。</a:t>
            </a:r>
            <a:endParaRPr lang="zh-CN" altLang="en-US" sz="2000" dirty="0"/>
          </a:p>
          <a:p>
            <a:pPr marL="660400" lvl="1" indent="-386080">
              <a:lnSpc>
                <a:spcPct val="120000"/>
              </a:lnSpc>
              <a:spcBef>
                <a:spcPts val="900"/>
              </a:spcBef>
              <a:buFont typeface="+mj-lt"/>
              <a:buAutoNum type="romanUcPeriod"/>
            </a:pPr>
            <a:endParaRPr lang="zh-CN" altLang="en-US" sz="2800" dirty="0"/>
          </a:p>
        </p:txBody>
      </p:sp>
      <p:sp>
        <p:nvSpPr>
          <p:cNvPr id="4" name="日期占位符 3"/>
          <p:cNvSpPr>
            <a:spLocks noGrp="1"/>
          </p:cNvSpPr>
          <p:nvPr>
            <p:ph type="dt" sz="half" idx="10"/>
          </p:nvPr>
        </p:nvSpPr>
        <p:spPr/>
        <p:txBody>
          <a:bodyPr/>
          <a:lstStyle/>
          <a:p>
            <a:pPr>
              <a:spcAft>
                <a:spcPts val="0"/>
              </a:spcAft>
            </a:pPr>
            <a:fld id="{C0EEEFBD-3CAB-42AF-9834-40E1C13CDC9A}" type="datetime1">
              <a:rPr lang="zh-CN" altLang="en-US" smtClean="0"/>
            </a:fld>
            <a:endParaRPr lang="zh-CN" altLang="en-US"/>
          </a:p>
        </p:txBody>
      </p:sp>
      <p:sp>
        <p:nvSpPr>
          <p:cNvPr id="8" name="页脚占位符 7"/>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grpSp>
        <p:nvGrpSpPr>
          <p:cNvPr id="5" name="组合 4"/>
          <p:cNvGrpSpPr/>
          <p:nvPr/>
        </p:nvGrpSpPr>
        <p:grpSpPr>
          <a:xfrm>
            <a:off x="1575899" y="3249010"/>
            <a:ext cx="6095436" cy="1125795"/>
            <a:chOff x="436381" y="1884897"/>
            <a:chExt cx="5638800" cy="1057275"/>
          </a:xfrm>
        </p:grpSpPr>
        <p:pic>
          <p:nvPicPr>
            <p:cNvPr id="6" name="Picture 4"/>
            <p:cNvPicPr>
              <a:picLocks noChangeAspect="1" noChangeArrowheads="1"/>
            </p:cNvPicPr>
            <p:nvPr/>
          </p:nvPicPr>
          <p:blipFill>
            <a:blip r:embed="rId1" cstate="print"/>
            <a:srcRect/>
            <a:stretch>
              <a:fillRect/>
            </a:stretch>
          </p:blipFill>
          <p:spPr bwMode="auto">
            <a:xfrm>
              <a:off x="436381" y="1884897"/>
              <a:ext cx="5638800" cy="1057275"/>
            </a:xfrm>
            <a:prstGeom prst="rect">
              <a:avLst/>
            </a:prstGeom>
            <a:noFill/>
            <a:ln w="9525" algn="ctr">
              <a:noFill/>
              <a:miter lim="800000"/>
              <a:headEnd/>
              <a:tailEnd/>
            </a:ln>
            <a:effectLst/>
          </p:spPr>
        </p:pic>
        <p:sp>
          <p:nvSpPr>
            <p:cNvPr id="7" name="Text Box 8"/>
            <p:cNvSpPr txBox="1">
              <a:spLocks noChangeArrowheads="1"/>
            </p:cNvSpPr>
            <p:nvPr/>
          </p:nvSpPr>
          <p:spPr bwMode="auto">
            <a:xfrm>
              <a:off x="2753073" y="2605255"/>
              <a:ext cx="995105" cy="335150"/>
            </a:xfrm>
            <a:prstGeom prst="rect">
              <a:avLst/>
            </a:prstGeom>
            <a:noFill/>
            <a:ln w="9525" algn="ctr">
              <a:noFill/>
              <a:miter lim="800000"/>
            </a:ln>
            <a:effectLst/>
          </p:spPr>
          <p:txBody>
            <a:bodyPr wrap="none" lIns="80963" tIns="40481" rIns="80963" bIns="40481">
              <a:spAutoFit/>
            </a:bodyPr>
            <a:lstStyle/>
            <a:p>
              <a:pPr>
                <a:spcAft>
                  <a:spcPts val="0"/>
                </a:spcAft>
              </a:pPr>
              <a:r>
                <a:rPr lang="zh-CN" altLang="en-US" dirty="0">
                  <a:latin typeface="+mj-ea"/>
                  <a:ea typeface="+mj-ea"/>
                </a:rPr>
                <a:t>包含关系</a:t>
              </a:r>
              <a:endParaRPr lang="zh-CN" altLang="en-US" dirty="0">
                <a:latin typeface="+mj-ea"/>
                <a:ea typeface="+mj-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randombar(horizontal)">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详解：包含</a:t>
            </a:r>
            <a:r>
              <a:rPr lang="en-US" altLang="zh-CN" dirty="0"/>
              <a:t>(</a:t>
            </a:r>
            <a:r>
              <a:rPr lang="en-US" altLang="zh-CN" cap="none" dirty="0"/>
              <a:t>Include</a:t>
            </a:r>
            <a:r>
              <a:rPr lang="en-US" altLang="zh-CN" dirty="0"/>
              <a:t>)</a:t>
            </a:r>
            <a:r>
              <a:rPr lang="zh-CN" altLang="en-US" dirty="0"/>
              <a:t>关系</a:t>
            </a:r>
            <a:endParaRPr lang="zh-CN" altLang="en-US" dirty="0"/>
          </a:p>
        </p:txBody>
      </p:sp>
      <p:sp>
        <p:nvSpPr>
          <p:cNvPr id="2" name="文本占位符 1"/>
          <p:cNvSpPr>
            <a:spLocks noGrp="1"/>
          </p:cNvSpPr>
          <p:nvPr>
            <p:ph idx="1"/>
          </p:nvPr>
        </p:nvSpPr>
        <p:spPr>
          <a:xfrm>
            <a:off x="768096" y="1061091"/>
            <a:ext cx="7832833" cy="3436768"/>
          </a:xfrm>
        </p:spPr>
        <p:txBody>
          <a:bodyPr>
            <a:noAutofit/>
          </a:bodyPr>
          <a:lstStyle/>
          <a:p>
            <a:pPr marL="342900" indent="-342900">
              <a:lnSpc>
                <a:spcPct val="120000"/>
              </a:lnSpc>
              <a:spcBef>
                <a:spcPts val="1350"/>
              </a:spcBef>
              <a:buFont typeface="+mj-lt"/>
              <a:buAutoNum type="arabicPeriod"/>
            </a:pPr>
            <a:r>
              <a:rPr lang="zh-CN" altLang="en-US" sz="2000" dirty="0"/>
              <a:t>包含关系中的</a:t>
            </a:r>
            <a:r>
              <a:rPr lang="zh-CN" altLang="en-US" sz="2000" dirty="0">
                <a:solidFill>
                  <a:srgbClr val="FF0000"/>
                </a:solidFill>
              </a:rPr>
              <a:t>基本用例的执行依赖于包含用例的执行</a:t>
            </a:r>
            <a:r>
              <a:rPr lang="zh-CN" altLang="en-US" sz="2000" dirty="0"/>
              <a:t>，如果没有包含用例，则基本用例的执行是</a:t>
            </a:r>
            <a:r>
              <a:rPr lang="zh-CN" altLang="en-US" sz="2000" dirty="0">
                <a:solidFill>
                  <a:srgbClr val="FF0000"/>
                </a:solidFill>
              </a:rPr>
              <a:t>不完整的。</a:t>
            </a:r>
            <a:endParaRPr lang="en-US" altLang="zh-CN" sz="2000" dirty="0">
              <a:solidFill>
                <a:srgbClr val="FF0000"/>
              </a:solidFill>
            </a:endParaRPr>
          </a:p>
          <a:p>
            <a:pPr marL="342900" indent="-342900">
              <a:lnSpc>
                <a:spcPct val="120000"/>
              </a:lnSpc>
              <a:spcBef>
                <a:spcPts val="1350"/>
              </a:spcBef>
              <a:buFont typeface="+mj-lt"/>
              <a:buAutoNum type="arabicPeriod"/>
            </a:pPr>
            <a:r>
              <a:rPr lang="zh-CN" altLang="en-US" sz="2000" dirty="0"/>
              <a:t>包含用例是可重用的用例──多个用例的</a:t>
            </a:r>
            <a:r>
              <a:rPr lang="zh-CN" altLang="en-US" sz="2000" dirty="0">
                <a:solidFill>
                  <a:srgbClr val="FF0000"/>
                </a:solidFill>
              </a:rPr>
              <a:t>公共用例（公共行为）</a:t>
            </a:r>
            <a:r>
              <a:rPr lang="zh-CN" altLang="en-US" sz="2000" dirty="0"/>
              <a:t>。 </a:t>
            </a:r>
            <a:endParaRPr lang="en-US" altLang="zh-CN" sz="2000" dirty="0"/>
          </a:p>
          <a:p>
            <a:pPr marL="342900" indent="-342900">
              <a:lnSpc>
                <a:spcPct val="120000"/>
              </a:lnSpc>
              <a:spcBef>
                <a:spcPts val="1350"/>
              </a:spcBef>
              <a:buFont typeface="+mj-lt"/>
              <a:buAutoNum type="arabicPeriod"/>
            </a:pPr>
            <a:r>
              <a:rPr lang="zh-CN" altLang="en-US" sz="2000" dirty="0"/>
              <a:t>若一个用例本身具有独立的业务逻辑，同时也可能被其它用例所引用，则这个用例需要独立封装为包含用例。</a:t>
            </a:r>
            <a:endParaRPr lang="en-US" altLang="zh-CN" sz="2000" dirty="0"/>
          </a:p>
          <a:p>
            <a:pPr marL="342900" indent="-342900">
              <a:lnSpc>
                <a:spcPct val="120000"/>
              </a:lnSpc>
              <a:spcBef>
                <a:spcPts val="1350"/>
              </a:spcBef>
              <a:buFont typeface="+mj-lt"/>
              <a:buAutoNum type="arabicPeriod"/>
            </a:pPr>
            <a:r>
              <a:rPr lang="zh-CN" altLang="en-US" sz="2000" dirty="0"/>
              <a:t>要使用包含关系，必须在子用例中说明基础用例行为包含的详细位置，类似于功能调用。</a:t>
            </a:r>
            <a:endParaRPr lang="zh-CN" altLang="en-US" sz="2000" dirty="0"/>
          </a:p>
        </p:txBody>
      </p:sp>
      <p:sp>
        <p:nvSpPr>
          <p:cNvPr id="4" name="日期占位符 3"/>
          <p:cNvSpPr>
            <a:spLocks noGrp="1"/>
          </p:cNvSpPr>
          <p:nvPr>
            <p:ph type="dt" sz="half" idx="10"/>
          </p:nvPr>
        </p:nvSpPr>
        <p:spPr/>
        <p:txBody>
          <a:bodyPr/>
          <a:lstStyle/>
          <a:p>
            <a:pPr>
              <a:spcAft>
                <a:spcPts val="0"/>
              </a:spcAft>
            </a:pPr>
            <a:fld id="{3E5E33BD-4AF7-47F4-BECA-55E4A23F3FC3}"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包含举例</a:t>
            </a:r>
            <a:endParaRPr lang="zh-CN" altLang="en-US" dirty="0"/>
          </a:p>
        </p:txBody>
      </p:sp>
      <p:sp>
        <p:nvSpPr>
          <p:cNvPr id="3" name="文本占位符 2"/>
          <p:cNvSpPr>
            <a:spLocks noGrp="1"/>
          </p:cNvSpPr>
          <p:nvPr>
            <p:ph idx="1"/>
          </p:nvPr>
        </p:nvSpPr>
        <p:spPr/>
        <p:txBody>
          <a:bodyPr>
            <a:noAutofit/>
          </a:bodyPr>
          <a:lstStyle/>
          <a:p>
            <a:pPr marL="342900" indent="-342900">
              <a:lnSpc>
                <a:spcPct val="130000"/>
              </a:lnSpc>
            </a:pPr>
            <a:r>
              <a:rPr lang="zh-CN" altLang="en-US" sz="2400" dirty="0"/>
              <a:t>在购物系统中，“下订单”用例包含“提供客户信息”用例。</a:t>
            </a:r>
            <a:endParaRPr lang="en-US" altLang="zh-CN" sz="2400" dirty="0"/>
          </a:p>
          <a:p>
            <a:pPr>
              <a:lnSpc>
                <a:spcPct val="130000"/>
              </a:lnSpc>
            </a:pPr>
            <a:endParaRPr lang="en-US" altLang="zh-CN" sz="2400" dirty="0"/>
          </a:p>
          <a:p>
            <a:pPr marL="0" indent="0">
              <a:lnSpc>
                <a:spcPct val="130000"/>
              </a:lnSpc>
              <a:buNone/>
            </a:pPr>
            <a:endParaRPr lang="en-US" altLang="zh-CN" sz="2400" dirty="0"/>
          </a:p>
          <a:p>
            <a:pPr marL="342900" indent="-342900">
              <a:lnSpc>
                <a:spcPct val="130000"/>
              </a:lnSpc>
            </a:pPr>
            <a:r>
              <a:rPr lang="zh-CN" altLang="en-US" sz="2400" dirty="0"/>
              <a:t>注意箭头指向：由包含者指向被包含者，即由“父”指向“子”。</a:t>
            </a:r>
            <a:endParaRPr lang="en-US" altLang="zh-CN" sz="2400" dirty="0"/>
          </a:p>
        </p:txBody>
      </p:sp>
      <p:sp>
        <p:nvSpPr>
          <p:cNvPr id="4" name="日期占位符 3"/>
          <p:cNvSpPr>
            <a:spLocks noGrp="1"/>
          </p:cNvSpPr>
          <p:nvPr>
            <p:ph type="dt" sz="half" idx="10"/>
          </p:nvPr>
        </p:nvSpPr>
        <p:spPr/>
        <p:txBody>
          <a:bodyPr/>
          <a:lstStyle/>
          <a:p>
            <a:pPr>
              <a:spcAft>
                <a:spcPts val="0"/>
              </a:spcAft>
            </a:pPr>
            <a:fld id="{824B2162-C28D-40BE-8D64-4CDB3C903229}"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118788" name="Rectangle 4"/>
          <p:cNvSpPr>
            <a:spLocks noChangeArrowheads="1"/>
          </p:cNvSpPr>
          <p:nvPr/>
        </p:nvSpPr>
        <p:spPr bwMode="auto">
          <a:xfrm>
            <a:off x="1143001" y="1907359"/>
            <a:ext cx="184731" cy="300082"/>
          </a:xfrm>
          <a:prstGeom prst="rect">
            <a:avLst/>
          </a:prstGeom>
          <a:noFill/>
          <a:ln w="9525">
            <a:noFill/>
            <a:miter lim="800000"/>
          </a:ln>
          <a:effectLst/>
        </p:spPr>
        <p:txBody>
          <a:bodyPr wrap="none" anchor="ctr">
            <a:spAutoFit/>
          </a:bodyPr>
          <a:lstStyle/>
          <a:p>
            <a:endParaRPr lang="zh-CN" altLang="en-US" sz="1350"/>
          </a:p>
        </p:txBody>
      </p:sp>
      <p:pic>
        <p:nvPicPr>
          <p:cNvPr id="118789" name="Picture 5" descr="包含举例"/>
          <p:cNvPicPr>
            <a:picLocks noChangeAspect="1" noChangeArrowheads="1"/>
          </p:cNvPicPr>
          <p:nvPr/>
        </p:nvPicPr>
        <p:blipFill>
          <a:blip r:embed="rId1" cstate="print">
            <a:clrChange>
              <a:clrFrom>
                <a:srgbClr val="FEFEFE"/>
              </a:clrFrom>
              <a:clrTo>
                <a:srgbClr val="FEFEFE">
                  <a:alpha val="0"/>
                </a:srgbClr>
              </a:clrTo>
            </a:clrChange>
          </a:blip>
          <a:srcRect/>
          <a:stretch>
            <a:fillRect/>
          </a:stretch>
        </p:blipFill>
        <p:spPr bwMode="auto">
          <a:xfrm>
            <a:off x="2771461" y="1907359"/>
            <a:ext cx="3826103" cy="123871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18789"/>
                                        </p:tgtEl>
                                        <p:attrNameLst>
                                          <p:attrName>style.visibility</p:attrName>
                                        </p:attrNameLst>
                                      </p:cBhvr>
                                      <p:to>
                                        <p:strVal val="visible"/>
                                      </p:to>
                                    </p:set>
                                    <p:animEffect transition="in" filter="randombar(horizontal)">
                                      <p:cBhvr>
                                        <p:cTn id="12" dur="500"/>
                                        <p:tgtEl>
                                          <p:spTgt spid="118789"/>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pPr>
              <a:spcAft>
                <a:spcPts val="0"/>
              </a:spcAft>
            </a:pPr>
            <a:r>
              <a:rPr lang="zh-CN" altLang="en-US" dirty="0"/>
              <a:t>包含举例</a:t>
            </a:r>
            <a:endParaRPr lang="zh-CN" altLang="en-US" dirty="0"/>
          </a:p>
        </p:txBody>
      </p:sp>
      <p:sp>
        <p:nvSpPr>
          <p:cNvPr id="3" name="文本占位符 2"/>
          <p:cNvSpPr>
            <a:spLocks noGrp="1"/>
          </p:cNvSpPr>
          <p:nvPr>
            <p:ph idx="1"/>
          </p:nvPr>
        </p:nvSpPr>
        <p:spPr/>
        <p:txBody>
          <a:bodyPr>
            <a:normAutofit/>
          </a:bodyPr>
          <a:lstStyle/>
          <a:p>
            <a:pPr algn="just">
              <a:lnSpc>
                <a:spcPct val="130000"/>
              </a:lnSpc>
            </a:pPr>
            <a:r>
              <a:rPr lang="zh-CN" altLang="en-US" sz="2400" dirty="0"/>
              <a:t>在购物系统中，“查看收藏夹”用例包含“身份验证”用例，在查看收藏夹之前必须进行身份验证。</a:t>
            </a:r>
            <a:endParaRPr lang="en-US" altLang="zh-CN" sz="2400" dirty="0"/>
          </a:p>
          <a:p>
            <a:pPr algn="just">
              <a:lnSpc>
                <a:spcPct val="130000"/>
              </a:lnSpc>
            </a:pPr>
            <a:endParaRPr lang="en-US" altLang="zh-CN" sz="2400" b="1" dirty="0"/>
          </a:p>
        </p:txBody>
      </p:sp>
      <p:sp>
        <p:nvSpPr>
          <p:cNvPr id="4" name="日期占位符 3"/>
          <p:cNvSpPr>
            <a:spLocks noGrp="1"/>
          </p:cNvSpPr>
          <p:nvPr>
            <p:ph type="dt" sz="half" idx="10"/>
          </p:nvPr>
        </p:nvSpPr>
        <p:spPr/>
        <p:txBody>
          <a:bodyPr/>
          <a:lstStyle/>
          <a:p>
            <a:pPr>
              <a:spcAft>
                <a:spcPts val="0"/>
              </a:spcAft>
            </a:pPr>
            <a:fld id="{26E626D1-8730-40F8-95F6-58E978728E51}"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118788" name="Rectangle 4"/>
          <p:cNvSpPr>
            <a:spLocks noChangeArrowheads="1"/>
          </p:cNvSpPr>
          <p:nvPr/>
        </p:nvSpPr>
        <p:spPr bwMode="auto">
          <a:xfrm>
            <a:off x="1143001" y="1907359"/>
            <a:ext cx="184731" cy="300082"/>
          </a:xfrm>
          <a:prstGeom prst="rect">
            <a:avLst/>
          </a:prstGeom>
          <a:noFill/>
          <a:ln w="9525">
            <a:noFill/>
            <a:miter lim="800000"/>
          </a:ln>
          <a:effectLst/>
        </p:spPr>
        <p:txBody>
          <a:bodyPr wrap="none" anchor="ctr">
            <a:spAutoFit/>
          </a:bodyPr>
          <a:lstStyle/>
          <a:p>
            <a:endParaRPr lang="zh-CN" altLang="en-US" sz="1350"/>
          </a:p>
        </p:txBody>
      </p:sp>
      <p:pic>
        <p:nvPicPr>
          <p:cNvPr id="5" name="图片 4"/>
          <p:cNvPicPr>
            <a:picLocks noChangeAspect="1"/>
          </p:cNvPicPr>
          <p:nvPr/>
        </p:nvPicPr>
        <p:blipFill>
          <a:blip r:embed="rId1" cstate="print">
            <a:clrChange>
              <a:clrFrom>
                <a:srgbClr val="FFFFFF"/>
              </a:clrFrom>
              <a:clrTo>
                <a:srgbClr val="FFFFFF">
                  <a:alpha val="0"/>
                </a:srgbClr>
              </a:clrTo>
            </a:clrChange>
          </a:blip>
          <a:stretch>
            <a:fillRect/>
          </a:stretch>
        </p:blipFill>
        <p:spPr>
          <a:xfrm>
            <a:off x="2383703" y="2057400"/>
            <a:ext cx="4013609" cy="24938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a:spcAft>
                <a:spcPts val="0"/>
              </a:spcAft>
            </a:pPr>
            <a:r>
              <a:rPr lang="zh-CN" altLang="en-US" dirty="0"/>
              <a:t>包含练习</a:t>
            </a:r>
            <a:endParaRPr lang="zh-CN" altLang="en-US" dirty="0"/>
          </a:p>
        </p:txBody>
      </p:sp>
      <p:sp>
        <p:nvSpPr>
          <p:cNvPr id="3" name="文本占位符 2"/>
          <p:cNvSpPr>
            <a:spLocks noGrp="1"/>
          </p:cNvSpPr>
          <p:nvPr>
            <p:ph idx="1"/>
          </p:nvPr>
        </p:nvSpPr>
        <p:spPr/>
        <p:txBody>
          <a:bodyPr>
            <a:normAutofit/>
          </a:bodyPr>
          <a:lstStyle/>
          <a:p>
            <a:pPr marL="0" indent="0">
              <a:lnSpc>
                <a:spcPct val="100000"/>
              </a:lnSpc>
              <a:spcBef>
                <a:spcPts val="0"/>
              </a:spcBef>
              <a:buNone/>
              <a:defRPr/>
            </a:pPr>
            <a:r>
              <a:rPr lang="zh-CN" altLang="en-US" sz="2000" dirty="0"/>
              <a:t>在图书管理系统中，有“删除书籍”，“修改书籍信息”，“图书查询”用例，它们之间有包含关系。不管是删除书籍还是修改书籍信息，都必须先进行该书籍的查询工作。请画出该用例图，并标明关系。</a:t>
            </a:r>
            <a:endParaRPr lang="en-US" altLang="zh-CN" sz="2000" dirty="0"/>
          </a:p>
        </p:txBody>
      </p:sp>
      <p:sp>
        <p:nvSpPr>
          <p:cNvPr id="4" name="日期占位符 3"/>
          <p:cNvSpPr>
            <a:spLocks noGrp="1"/>
          </p:cNvSpPr>
          <p:nvPr>
            <p:ph type="dt" sz="half" idx="10"/>
          </p:nvPr>
        </p:nvSpPr>
        <p:spPr/>
        <p:txBody>
          <a:bodyPr/>
          <a:lstStyle/>
          <a:p>
            <a:pPr>
              <a:spcAft>
                <a:spcPts val="0"/>
              </a:spcAft>
            </a:pPr>
            <a:fld id="{9DF43F64-64EC-4C38-BF94-31EC7C164BFB}"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120836" name="Picture 4"/>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568975" y="2133229"/>
            <a:ext cx="4747650" cy="1772864"/>
          </a:xfrm>
          <a:prstGeom prst="rect">
            <a:avLst/>
          </a:prstGeom>
          <a:noFill/>
        </p:spPr>
      </p:pic>
      <p:pic>
        <p:nvPicPr>
          <p:cNvPr id="573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7840" y="1878227"/>
            <a:ext cx="3914390" cy="3077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20836"/>
                                        </p:tgtEl>
                                        <p:attrNameLst>
                                          <p:attrName>style.visibility</p:attrName>
                                        </p:attrNameLst>
                                      </p:cBhvr>
                                      <p:to>
                                        <p:strVal val="visible"/>
                                      </p:to>
                                    </p:set>
                                    <p:animEffect transition="in" filter="randombar(horizontal)">
                                      <p:cBhvr>
                                        <p:cTn id="12" dur="500"/>
                                        <p:tgtEl>
                                          <p:spTgt spid="12083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7346"/>
                                        </p:tgtEl>
                                        <p:attrNameLst>
                                          <p:attrName>style.visibility</p:attrName>
                                        </p:attrNameLst>
                                      </p:cBhvr>
                                      <p:to>
                                        <p:strVal val="visible"/>
                                      </p:to>
                                    </p:set>
                                    <p:animEffect transition="in" filter="randombar(horizontal)">
                                      <p:cBhvr>
                                        <p:cTn id="17" dur="500"/>
                                        <p:tgtEl>
                                          <p:spTgt spid="57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spcAft>
                <a:spcPts val="0"/>
              </a:spcAft>
            </a:pPr>
            <a:r>
              <a:rPr lang="zh-CN" altLang="en-US" dirty="0"/>
              <a:t>用例图中的关系</a:t>
            </a:r>
            <a:endParaRPr lang="zh-CN" altLang="en-US" dirty="0"/>
          </a:p>
        </p:txBody>
      </p:sp>
      <p:sp>
        <p:nvSpPr>
          <p:cNvPr id="2" name="文本占位符 1"/>
          <p:cNvSpPr>
            <a:spLocks noGrp="1"/>
          </p:cNvSpPr>
          <p:nvPr>
            <p:ph idx="1"/>
          </p:nvPr>
        </p:nvSpPr>
        <p:spPr/>
        <p:txBody>
          <a:bodyPr>
            <a:normAutofit/>
          </a:bodyPr>
          <a:lstStyle/>
          <a:p>
            <a:pPr marL="467995" indent="-386080">
              <a:spcBef>
                <a:spcPts val="900"/>
              </a:spcBef>
              <a:buFont typeface="+mj-lt"/>
              <a:buAutoNum type="alphaUcPeriod" startAt="3"/>
            </a:pPr>
            <a:r>
              <a:rPr lang="zh-CN" altLang="en-US" sz="2400" dirty="0"/>
              <a:t>用例之间：</a:t>
            </a:r>
            <a:endParaRPr lang="en-US" altLang="zh-CN" sz="2400" dirty="0"/>
          </a:p>
          <a:p>
            <a:pPr marL="660400" lvl="1" indent="-386080">
              <a:lnSpc>
                <a:spcPct val="120000"/>
              </a:lnSpc>
              <a:spcBef>
                <a:spcPts val="900"/>
              </a:spcBef>
              <a:buFont typeface="+mj-lt"/>
              <a:buAutoNum type="romanUcPeriod" startAt="2"/>
            </a:pPr>
            <a:r>
              <a:rPr lang="zh-CN" altLang="zh-CN" sz="2000" dirty="0">
                <a:solidFill>
                  <a:srgbClr val="FF0000"/>
                </a:solidFill>
              </a:rPr>
              <a:t>扩展关系（Extend）</a:t>
            </a:r>
            <a:endParaRPr lang="en-US" altLang="zh-CN" sz="2000" dirty="0">
              <a:solidFill>
                <a:srgbClr val="FF0000"/>
              </a:solidFill>
            </a:endParaRPr>
          </a:p>
          <a:p>
            <a:pPr marL="274320" lvl="1" indent="0">
              <a:lnSpc>
                <a:spcPct val="120000"/>
              </a:lnSpc>
              <a:spcBef>
                <a:spcPts val="900"/>
              </a:spcBef>
              <a:buNone/>
            </a:pPr>
            <a:r>
              <a:rPr lang="zh-CN" altLang="zh-CN" sz="2000" dirty="0"/>
              <a:t>一个用例也可以被定义为基础用例的增量扩展，这称作扩展关系，</a:t>
            </a:r>
            <a:r>
              <a:rPr lang="zh-CN" altLang="en-US" sz="2000" dirty="0"/>
              <a:t>也是依赖关系的一种。即可以将一个功能完整的基础用例进行扩展，使其能够完成一个新的功能。</a:t>
            </a:r>
            <a:endParaRPr lang="en-US" altLang="zh-CN" sz="2000" dirty="0"/>
          </a:p>
        </p:txBody>
      </p:sp>
      <p:sp>
        <p:nvSpPr>
          <p:cNvPr id="4" name="日期占位符 3"/>
          <p:cNvSpPr>
            <a:spLocks noGrp="1"/>
          </p:cNvSpPr>
          <p:nvPr>
            <p:ph type="dt" sz="half" idx="10"/>
          </p:nvPr>
        </p:nvSpPr>
        <p:spPr/>
        <p:txBody>
          <a:bodyPr/>
          <a:lstStyle/>
          <a:p>
            <a:pPr>
              <a:spcAft>
                <a:spcPts val="0"/>
              </a:spcAft>
            </a:pPr>
            <a:fld id="{E4BD4223-B070-4725-9920-105CFA8F67B6}"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grpSp>
        <p:nvGrpSpPr>
          <p:cNvPr id="10" name="组合 9"/>
          <p:cNvGrpSpPr/>
          <p:nvPr/>
        </p:nvGrpSpPr>
        <p:grpSpPr>
          <a:xfrm>
            <a:off x="2383703" y="3261772"/>
            <a:ext cx="4397639" cy="1268925"/>
            <a:chOff x="1049095" y="2540319"/>
            <a:chExt cx="4276053" cy="1224837"/>
          </a:xfrm>
        </p:grpSpPr>
        <p:sp>
          <p:nvSpPr>
            <p:cNvPr id="12" name="Text Box 9"/>
            <p:cNvSpPr txBox="1">
              <a:spLocks noChangeArrowheads="1"/>
            </p:cNvSpPr>
            <p:nvPr/>
          </p:nvSpPr>
          <p:spPr bwMode="auto">
            <a:xfrm>
              <a:off x="2746981" y="3487495"/>
              <a:ext cx="823670" cy="277661"/>
            </a:xfrm>
            <a:prstGeom prst="rect">
              <a:avLst/>
            </a:prstGeom>
            <a:noFill/>
            <a:ln w="9525" algn="ctr">
              <a:noFill/>
              <a:miter lim="800000"/>
            </a:ln>
            <a:effectLst/>
          </p:spPr>
          <p:txBody>
            <a:bodyPr wrap="none" lIns="80963" tIns="40481" rIns="80963" bIns="40481">
              <a:spAutoFit/>
            </a:bodyPr>
            <a:lstStyle/>
            <a:p>
              <a:pPr>
                <a:spcAft>
                  <a:spcPts val="0"/>
                </a:spcAft>
              </a:pPr>
              <a:r>
                <a:rPr lang="zh-CN" altLang="en-US" sz="1350" dirty="0"/>
                <a:t>扩展关系</a:t>
              </a:r>
              <a:endParaRPr lang="zh-CN" altLang="en-US" sz="1350" dirty="0"/>
            </a:p>
          </p:txBody>
        </p:sp>
        <p:pic>
          <p:nvPicPr>
            <p:cNvPr id="13" name="图片 12"/>
            <p:cNvPicPr>
              <a:picLocks noChangeAspect="1"/>
            </p:cNvPicPr>
            <p:nvPr/>
          </p:nvPicPr>
          <p:blipFill rotWithShape="1">
            <a:blip r:embed="rId1" cstate="print">
              <a:clrChange>
                <a:clrFrom>
                  <a:srgbClr val="FFFFFF"/>
                </a:clrFrom>
                <a:clrTo>
                  <a:srgbClr val="FFFFFF">
                    <a:alpha val="0"/>
                  </a:srgbClr>
                </a:clrTo>
              </a:clrChange>
            </a:blip>
            <a:srcRect r="8393" b="24125"/>
            <a:stretch>
              <a:fillRect/>
            </a:stretch>
          </p:blipFill>
          <p:spPr>
            <a:xfrm>
              <a:off x="1049095" y="2540319"/>
              <a:ext cx="4276053" cy="108868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randombar(horizont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详解：扩展</a:t>
            </a:r>
            <a:r>
              <a:rPr lang="en-US" altLang="zh-CN" dirty="0"/>
              <a:t>(</a:t>
            </a:r>
            <a:r>
              <a:rPr lang="en-US" altLang="zh-CN" cap="none" dirty="0"/>
              <a:t>Extend</a:t>
            </a:r>
            <a:r>
              <a:rPr lang="en-US" altLang="zh-CN" dirty="0"/>
              <a:t>)</a:t>
            </a:r>
            <a:r>
              <a:rPr lang="zh-CN" altLang="en-US" dirty="0"/>
              <a:t>关系</a:t>
            </a:r>
            <a:endParaRPr lang="zh-CN" altLang="en-US" dirty="0"/>
          </a:p>
        </p:txBody>
      </p:sp>
      <p:sp>
        <p:nvSpPr>
          <p:cNvPr id="2" name="文本占位符 1"/>
          <p:cNvSpPr>
            <a:spLocks noGrp="1"/>
          </p:cNvSpPr>
          <p:nvPr>
            <p:ph idx="1"/>
          </p:nvPr>
        </p:nvSpPr>
        <p:spPr/>
        <p:txBody>
          <a:bodyPr>
            <a:noAutofit/>
          </a:bodyPr>
          <a:lstStyle/>
          <a:p>
            <a:pPr marL="342900" indent="-342900">
              <a:lnSpc>
                <a:spcPct val="120000"/>
              </a:lnSpc>
              <a:spcBef>
                <a:spcPts val="900"/>
              </a:spcBef>
              <a:buFont typeface="+mj-lt"/>
              <a:buAutoNum type="arabicPeriod"/>
            </a:pPr>
            <a:r>
              <a:rPr lang="zh-CN" altLang="en-US" sz="2000" dirty="0">
                <a:solidFill>
                  <a:srgbClr val="FF0000"/>
                </a:solidFill>
              </a:rPr>
              <a:t>扩展关系</a:t>
            </a:r>
            <a:r>
              <a:rPr lang="zh-CN" altLang="en-US" sz="2000" dirty="0"/>
              <a:t>表示一个业务用例的执行有时需要对用例的功能进行扩展。将扩展用例的事件流</a:t>
            </a:r>
            <a:r>
              <a:rPr lang="zh-CN" altLang="en-US" sz="2000" dirty="0">
                <a:solidFill>
                  <a:srgbClr val="FF0000"/>
                </a:solidFill>
              </a:rPr>
              <a:t>在一定的条件下</a:t>
            </a:r>
            <a:r>
              <a:rPr lang="zh-CN" altLang="en-US" sz="2000" dirty="0"/>
              <a:t>按照相应的扩展点插入到基础用例中。</a:t>
            </a:r>
            <a:endParaRPr lang="en-US" altLang="zh-CN" sz="2000" dirty="0"/>
          </a:p>
          <a:p>
            <a:pPr marL="342900" indent="-342900">
              <a:lnSpc>
                <a:spcPct val="120000"/>
              </a:lnSpc>
              <a:spcBef>
                <a:spcPts val="900"/>
              </a:spcBef>
              <a:buFont typeface="+mj-lt"/>
              <a:buAutoNum type="arabicPeriod"/>
            </a:pPr>
            <a:r>
              <a:rPr lang="zh-CN" altLang="en-US" sz="2000" dirty="0"/>
              <a:t>基础用例不必知道扩展用例的任何细节，它仅为其提供扩展点。基础用例没有扩展用例也是完整的。</a:t>
            </a:r>
            <a:endParaRPr lang="en-US" altLang="zh-CN" sz="2000" dirty="0"/>
          </a:p>
          <a:p>
            <a:pPr marL="342900" indent="-342900">
              <a:lnSpc>
                <a:spcPct val="120000"/>
              </a:lnSpc>
              <a:spcBef>
                <a:spcPts val="900"/>
              </a:spcBef>
              <a:buFont typeface="+mj-lt"/>
              <a:buAutoNum type="arabicPeriod"/>
            </a:pPr>
            <a:r>
              <a:rPr lang="zh-CN" altLang="en-US" sz="2000" dirty="0"/>
              <a:t>扩展用例的行为是否被执行要取决于主事件流中的判定点。</a:t>
            </a:r>
            <a:r>
              <a:rPr lang="zh-CN" altLang="en-US" sz="2000" dirty="0">
                <a:solidFill>
                  <a:srgbClr val="FF0000"/>
                </a:solidFill>
                <a:latin typeface="宋体" panose="02010600030101010101" pitchFamily="2" charset="-122"/>
              </a:rPr>
              <a:t>如果特定条件发生，扩展用例的行为才被执行。</a:t>
            </a:r>
            <a:endParaRPr lang="en-US" altLang="zh-CN" sz="2000" dirty="0">
              <a:solidFill>
                <a:srgbClr val="FF0000"/>
              </a:solidFill>
              <a:latin typeface="宋体" panose="02010600030101010101" pitchFamily="2" charset="-122"/>
            </a:endParaRPr>
          </a:p>
          <a:p>
            <a:pPr marL="342900" indent="-342900">
              <a:lnSpc>
                <a:spcPct val="120000"/>
              </a:lnSpc>
              <a:spcBef>
                <a:spcPts val="900"/>
              </a:spcBef>
              <a:buFont typeface="+mj-lt"/>
              <a:buAutoNum type="arabicPeriod"/>
            </a:pPr>
            <a:r>
              <a:rPr lang="zh-CN" altLang="en-US" sz="2000" dirty="0">
                <a:solidFill>
                  <a:srgbClr val="000000"/>
                </a:solidFill>
                <a:latin typeface="宋体" panose="02010600030101010101" pitchFamily="2" charset="-122"/>
              </a:rPr>
              <a:t>值得注意的是扩展用例的事件流往往可以抽象为基础用例的备选流。扩展用例会改变基础用例的事件流。</a:t>
            </a:r>
            <a:endParaRPr lang="en-US" altLang="zh-CN" sz="2000" dirty="0">
              <a:solidFill>
                <a:srgbClr val="000000"/>
              </a:solidFill>
              <a:latin typeface="宋体" panose="02010600030101010101" pitchFamily="2" charset="-122"/>
            </a:endParaRPr>
          </a:p>
        </p:txBody>
      </p:sp>
      <p:sp>
        <p:nvSpPr>
          <p:cNvPr id="4" name="日期占位符 3"/>
          <p:cNvSpPr>
            <a:spLocks noGrp="1"/>
          </p:cNvSpPr>
          <p:nvPr>
            <p:ph type="dt" sz="half" idx="10"/>
          </p:nvPr>
        </p:nvSpPr>
        <p:spPr/>
        <p:txBody>
          <a:bodyPr/>
          <a:lstStyle/>
          <a:p>
            <a:pPr>
              <a:spcAft>
                <a:spcPts val="0"/>
              </a:spcAft>
            </a:pPr>
            <a:fld id="{D8F39313-09AD-42F9-8C7C-5F567E2C7C30}"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up)">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wipe(up)">
                                      <p:cBhvr>
                                        <p:cTn id="21"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1081795" y="0"/>
            <a:ext cx="7763929" cy="828913"/>
          </a:xfrm>
        </p:spPr>
        <p:txBody>
          <a:bodyPr/>
          <a:lstStyle/>
          <a:p>
            <a:pPr>
              <a:spcAft>
                <a:spcPts val="0"/>
              </a:spcAft>
            </a:pPr>
            <a:r>
              <a:rPr lang="zh-CN" altLang="en-US" dirty="0"/>
              <a:t>详解：扩展关系</a:t>
            </a:r>
            <a:endParaRPr lang="zh-CN" altLang="en-US" dirty="0"/>
          </a:p>
        </p:txBody>
      </p:sp>
      <p:sp>
        <p:nvSpPr>
          <p:cNvPr id="2" name="文本占位符 1"/>
          <p:cNvSpPr>
            <a:spLocks noGrp="1"/>
          </p:cNvSpPr>
          <p:nvPr>
            <p:ph idx="1"/>
          </p:nvPr>
        </p:nvSpPr>
        <p:spPr/>
        <p:txBody>
          <a:bodyPr>
            <a:normAutofit/>
          </a:bodyPr>
          <a:lstStyle/>
          <a:p>
            <a:pPr algn="just">
              <a:spcBef>
                <a:spcPts val="600"/>
              </a:spcBef>
            </a:pPr>
            <a:r>
              <a:rPr lang="zh-CN" altLang="en-US" sz="2400" dirty="0"/>
              <a:t>扩展关系是从扩展用例到基本用例的关系，它说明为扩展用例定义的行为如何插入到为基本用例定义的行为中。它是以隐含形式插入的，也就是说，扩展用例并不在基本用例中显示。</a:t>
            </a:r>
            <a:endParaRPr lang="en-US" altLang="zh-CN" sz="2400" dirty="0"/>
          </a:p>
          <a:p>
            <a:pPr algn="just">
              <a:spcBef>
                <a:spcPts val="600"/>
              </a:spcBef>
            </a:pPr>
            <a:r>
              <a:rPr lang="zh-CN" altLang="en-US" sz="2400" dirty="0"/>
              <a:t>在以下情况下，可使用扩展用例：</a:t>
            </a:r>
            <a:endParaRPr lang="zh-CN" altLang="en-US" sz="2400" dirty="0"/>
          </a:p>
          <a:p>
            <a:pPr marL="425450" indent="-342900">
              <a:spcBef>
                <a:spcPts val="600"/>
              </a:spcBef>
              <a:buFont typeface="+mj-lt"/>
              <a:buAutoNum type="arabicPeriod"/>
            </a:pPr>
            <a:r>
              <a:rPr lang="zh-CN" altLang="en-US" sz="2400" dirty="0"/>
              <a:t>表明用例的某一部分是可选的系统行为（这样就可以将模型中的可选行为和必选行为分开）。</a:t>
            </a:r>
            <a:endParaRPr lang="zh-CN" altLang="en-US" sz="2400" dirty="0"/>
          </a:p>
          <a:p>
            <a:pPr marL="425450" indent="-342900">
              <a:spcBef>
                <a:spcPts val="600"/>
              </a:spcBef>
              <a:buFont typeface="+mj-lt"/>
              <a:buAutoNum type="arabicPeriod"/>
            </a:pPr>
            <a:r>
              <a:rPr lang="zh-CN" altLang="en-US" sz="2400" dirty="0"/>
              <a:t>表明只在</a:t>
            </a:r>
            <a:r>
              <a:rPr lang="zh-CN" altLang="en-US" sz="2400" b="1" dirty="0">
                <a:solidFill>
                  <a:srgbClr val="FF3300"/>
                </a:solidFill>
              </a:rPr>
              <a:t>特定条件</a:t>
            </a:r>
            <a:r>
              <a:rPr lang="zh-CN" altLang="en-US" sz="2400" dirty="0"/>
              <a:t>下才执行的分支流。</a:t>
            </a:r>
            <a:endParaRPr lang="en-US" altLang="zh-CN" sz="2400" dirty="0"/>
          </a:p>
        </p:txBody>
      </p:sp>
      <p:sp>
        <p:nvSpPr>
          <p:cNvPr id="4" name="日期占位符 3"/>
          <p:cNvSpPr>
            <a:spLocks noGrp="1"/>
          </p:cNvSpPr>
          <p:nvPr>
            <p:ph type="dt" sz="half" idx="10"/>
          </p:nvPr>
        </p:nvSpPr>
        <p:spPr/>
        <p:txBody>
          <a:bodyPr/>
          <a:lstStyle/>
          <a:p>
            <a:pPr>
              <a:spcAft>
                <a:spcPts val="0"/>
              </a:spcAft>
            </a:pPr>
            <a:fld id="{FF5EE33C-FBAC-449D-8863-77A705D540CE}"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up)">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wipe(up)">
                                      <p:cBhvr>
                                        <p:cTn id="21"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扩展举例</a:t>
            </a:r>
            <a:endParaRPr lang="zh-CN" altLang="en-US" dirty="0"/>
          </a:p>
        </p:txBody>
      </p:sp>
      <p:sp>
        <p:nvSpPr>
          <p:cNvPr id="3" name="文本占位符 2"/>
          <p:cNvSpPr>
            <a:spLocks noGrp="1"/>
          </p:cNvSpPr>
          <p:nvPr>
            <p:ph idx="1"/>
          </p:nvPr>
        </p:nvSpPr>
        <p:spPr>
          <a:xfrm>
            <a:off x="768097" y="900453"/>
            <a:ext cx="7832833" cy="3806854"/>
          </a:xfrm>
        </p:spPr>
        <p:txBody>
          <a:bodyPr>
            <a:noAutofit/>
          </a:bodyPr>
          <a:lstStyle/>
          <a:p>
            <a:pPr algn="just">
              <a:lnSpc>
                <a:spcPct val="130000"/>
              </a:lnSpc>
            </a:pPr>
            <a:r>
              <a:rPr lang="zh-CN" altLang="en-US" sz="2400" dirty="0"/>
              <a:t>在网上购物系统中，“取消订单”用例是“检查订单状态”用例的扩展。</a:t>
            </a:r>
            <a:endParaRPr lang="en-US" altLang="zh-CN" sz="2400" dirty="0"/>
          </a:p>
          <a:p>
            <a:pPr algn="just">
              <a:lnSpc>
                <a:spcPct val="130000"/>
              </a:lnSpc>
            </a:pPr>
            <a:endParaRPr lang="en-US" altLang="zh-CN" sz="2400" dirty="0"/>
          </a:p>
          <a:p>
            <a:pPr marL="0" indent="0" algn="just">
              <a:lnSpc>
                <a:spcPct val="130000"/>
              </a:lnSpc>
              <a:buNone/>
            </a:pPr>
            <a:endParaRPr lang="en-US" altLang="zh-CN" sz="2400" dirty="0"/>
          </a:p>
          <a:p>
            <a:pPr marL="0" indent="0" algn="just">
              <a:lnSpc>
                <a:spcPct val="130000"/>
              </a:lnSpc>
              <a:buNone/>
            </a:pPr>
            <a:endParaRPr lang="en-US" altLang="zh-CN" sz="2400" dirty="0"/>
          </a:p>
          <a:p>
            <a:pPr algn="just">
              <a:lnSpc>
                <a:spcPct val="130000"/>
              </a:lnSpc>
            </a:pPr>
            <a:r>
              <a:rPr lang="zh-CN" altLang="en-US" sz="2400" dirty="0">
                <a:solidFill>
                  <a:srgbClr val="FF0000"/>
                </a:solidFill>
              </a:rPr>
              <a:t>注意箭头指向：</a:t>
            </a:r>
            <a:r>
              <a:rPr lang="zh-CN" altLang="en-US" sz="2400" dirty="0"/>
              <a:t>由“扩展”出来的“子”指向“父”。</a:t>
            </a:r>
            <a:endParaRPr lang="zh-CN" altLang="en-US" sz="2400" dirty="0"/>
          </a:p>
        </p:txBody>
      </p:sp>
      <p:sp>
        <p:nvSpPr>
          <p:cNvPr id="4" name="日期占位符 3"/>
          <p:cNvSpPr>
            <a:spLocks noGrp="1"/>
          </p:cNvSpPr>
          <p:nvPr>
            <p:ph type="dt" sz="half" idx="10"/>
          </p:nvPr>
        </p:nvSpPr>
        <p:spPr/>
        <p:txBody>
          <a:bodyPr/>
          <a:lstStyle/>
          <a:p>
            <a:pPr>
              <a:spcAft>
                <a:spcPts val="0"/>
              </a:spcAft>
            </a:pPr>
            <a:fld id="{0F894DBE-4CC1-4748-A739-624BBDA0254C}"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124932" name="Picture 4" descr="扩展举例"/>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570048" y="2498443"/>
            <a:ext cx="3766337" cy="1056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24932"/>
                                        </p:tgtEl>
                                        <p:attrNameLst>
                                          <p:attrName>style.visibility</p:attrName>
                                        </p:attrNameLst>
                                      </p:cBhvr>
                                      <p:to>
                                        <p:strVal val="visible"/>
                                      </p:to>
                                    </p:set>
                                    <p:animEffect transition="in" filter="randombar(horizontal)">
                                      <p:cBhvr>
                                        <p:cTn id="12" dur="500"/>
                                        <p:tgtEl>
                                          <p:spTgt spid="124932"/>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up)">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a:spcAft>
                <a:spcPts val="0"/>
              </a:spcAft>
            </a:pPr>
            <a:r>
              <a:rPr lang="zh-CN" altLang="en-US" dirty="0"/>
              <a:t>扩展举例</a:t>
            </a:r>
            <a:endParaRPr lang="zh-CN" altLang="en-US" dirty="0"/>
          </a:p>
        </p:txBody>
      </p:sp>
      <p:sp>
        <p:nvSpPr>
          <p:cNvPr id="3" name="文本占位符 2"/>
          <p:cNvSpPr>
            <a:spLocks noGrp="1"/>
          </p:cNvSpPr>
          <p:nvPr>
            <p:ph idx="1"/>
          </p:nvPr>
        </p:nvSpPr>
        <p:spPr/>
        <p:txBody>
          <a:bodyPr>
            <a:normAutofit/>
          </a:bodyPr>
          <a:lstStyle/>
          <a:p>
            <a:pPr algn="just">
              <a:lnSpc>
                <a:spcPct val="130000"/>
              </a:lnSpc>
            </a:pPr>
            <a:r>
              <a:rPr lang="zh-CN" altLang="en-US" sz="2400" dirty="0"/>
              <a:t>在网上购物系统中，有“商品结算”用例，但是系统中对不同的商品或顾客购买一定金额的商品会有优惠政策，因此系统中还有一个“商品优惠”用例，作为“商品结算”用例的扩展。</a:t>
            </a:r>
            <a:endParaRPr lang="zh-CN" altLang="en-US" sz="2400" dirty="0"/>
          </a:p>
        </p:txBody>
      </p:sp>
      <p:sp>
        <p:nvSpPr>
          <p:cNvPr id="5" name="日期占位符 4"/>
          <p:cNvSpPr>
            <a:spLocks noGrp="1"/>
          </p:cNvSpPr>
          <p:nvPr>
            <p:ph type="dt" sz="half" idx="10"/>
          </p:nvPr>
        </p:nvSpPr>
        <p:spPr/>
        <p:txBody>
          <a:bodyPr/>
          <a:lstStyle/>
          <a:p>
            <a:pPr>
              <a:spcAft>
                <a:spcPts val="0"/>
              </a:spcAft>
            </a:pPr>
            <a:fld id="{1E81C425-6875-4FA2-A497-F789F9FE517B}"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4" name="图片 3"/>
          <p:cNvPicPr>
            <a:picLocks noChangeAspect="1"/>
          </p:cNvPicPr>
          <p:nvPr/>
        </p:nvPicPr>
        <p:blipFill>
          <a:blip r:embed="rId1" cstate="print">
            <a:clrChange>
              <a:clrFrom>
                <a:srgbClr val="FFFFFF"/>
              </a:clrFrom>
              <a:clrTo>
                <a:srgbClr val="FFFFFF">
                  <a:alpha val="0"/>
                </a:srgbClr>
              </a:clrTo>
            </a:clrChange>
          </a:blip>
          <a:stretch>
            <a:fillRect/>
          </a:stretch>
        </p:blipFill>
        <p:spPr>
          <a:xfrm>
            <a:off x="3657379" y="2417259"/>
            <a:ext cx="3414032" cy="2538639"/>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a:spcAft>
                <a:spcPts val="0"/>
              </a:spcAft>
            </a:pPr>
            <a:r>
              <a:rPr lang="zh-CN" altLang="en-US" dirty="0"/>
              <a:t>例</a:t>
            </a:r>
            <a:r>
              <a:rPr lang="en-US" altLang="zh-CN" dirty="0"/>
              <a:t>1</a:t>
            </a:r>
            <a:endParaRPr lang="en-US" altLang="zh-CN" dirty="0"/>
          </a:p>
        </p:txBody>
      </p:sp>
      <p:sp>
        <p:nvSpPr>
          <p:cNvPr id="3" name="文本占位符 2"/>
          <p:cNvSpPr>
            <a:spLocks noGrp="1"/>
          </p:cNvSpPr>
          <p:nvPr>
            <p:ph idx="1"/>
          </p:nvPr>
        </p:nvSpPr>
        <p:spPr/>
        <p:txBody>
          <a:bodyPr>
            <a:normAutofit/>
          </a:bodyPr>
          <a:lstStyle/>
          <a:p>
            <a:pPr algn="just">
              <a:lnSpc>
                <a:spcPct val="130000"/>
              </a:lnSpc>
            </a:pPr>
            <a:r>
              <a:rPr lang="zh-CN" altLang="en-US" sz="2000" dirty="0"/>
              <a:t>在某网上购物系统中，当顾客</a:t>
            </a:r>
            <a:r>
              <a:rPr lang="en-US" altLang="zh-CN" sz="2000" dirty="0"/>
              <a:t>“</a:t>
            </a:r>
            <a:r>
              <a:rPr lang="zh-CN" altLang="en-US" sz="2000" dirty="0"/>
              <a:t>下单</a:t>
            </a:r>
            <a:r>
              <a:rPr lang="en-US" altLang="zh-CN" sz="2000" dirty="0"/>
              <a:t>”</a:t>
            </a:r>
            <a:r>
              <a:rPr lang="zh-CN" altLang="en-US" sz="2000" dirty="0"/>
              <a:t>时，系统必须先确认用户的身份，因此</a:t>
            </a:r>
            <a:r>
              <a:rPr lang="en-US" altLang="zh-CN" sz="2000" dirty="0"/>
              <a:t>“</a:t>
            </a:r>
            <a:r>
              <a:rPr lang="zh-CN" altLang="en-US" sz="2000" dirty="0"/>
              <a:t>下单</a:t>
            </a:r>
            <a:r>
              <a:rPr lang="en-US" altLang="zh-CN" sz="2000" dirty="0"/>
              <a:t>”</a:t>
            </a:r>
            <a:r>
              <a:rPr lang="zh-CN" altLang="en-US" sz="2000" dirty="0"/>
              <a:t>这个基础用例必须包含</a:t>
            </a:r>
            <a:r>
              <a:rPr lang="en-US" altLang="zh-CN" sz="2000" dirty="0"/>
              <a:t>“</a:t>
            </a:r>
            <a:r>
              <a:rPr lang="zh-CN" altLang="en-US" sz="2000" dirty="0"/>
              <a:t>登录</a:t>
            </a:r>
            <a:r>
              <a:rPr lang="en-US" altLang="zh-CN" sz="2000" dirty="0"/>
              <a:t>”</a:t>
            </a:r>
            <a:r>
              <a:rPr lang="zh-CN" altLang="en-US" sz="2000" dirty="0"/>
              <a:t>这个包含用例；系统对不同的商品或顾客会发放优惠券，因此系统中还有一个</a:t>
            </a:r>
            <a:r>
              <a:rPr lang="en-US" altLang="zh-CN" sz="2000" dirty="0"/>
              <a:t>“</a:t>
            </a:r>
            <a:r>
              <a:rPr lang="zh-CN" altLang="en-US" sz="2000" dirty="0"/>
              <a:t>使用优惠券</a:t>
            </a:r>
            <a:r>
              <a:rPr lang="en-US" altLang="zh-CN" sz="2000" dirty="0"/>
              <a:t>”</a:t>
            </a:r>
            <a:r>
              <a:rPr lang="zh-CN" altLang="en-US" sz="2000" dirty="0"/>
              <a:t>用例，作为</a:t>
            </a:r>
            <a:r>
              <a:rPr lang="en-US" altLang="zh-CN" sz="2000" dirty="0"/>
              <a:t>“</a:t>
            </a:r>
            <a:r>
              <a:rPr lang="zh-CN" altLang="en-US" sz="2000" dirty="0"/>
              <a:t>下单</a:t>
            </a:r>
            <a:r>
              <a:rPr lang="en-US" altLang="zh-CN" sz="2000" dirty="0"/>
              <a:t>”</a:t>
            </a:r>
            <a:r>
              <a:rPr lang="zh-CN" altLang="en-US" sz="2000" dirty="0"/>
              <a:t>这个基础用例的扩展。</a:t>
            </a:r>
            <a:endParaRPr lang="zh-CN" altLang="en-US" sz="2000" dirty="0"/>
          </a:p>
        </p:txBody>
      </p:sp>
      <p:sp>
        <p:nvSpPr>
          <p:cNvPr id="5" name="日期占位符 4"/>
          <p:cNvSpPr>
            <a:spLocks noGrp="1"/>
          </p:cNvSpPr>
          <p:nvPr>
            <p:ph type="dt" sz="half" idx="10"/>
          </p:nvPr>
        </p:nvSpPr>
        <p:spPr/>
        <p:txBody>
          <a:bodyPr/>
          <a:lstStyle/>
          <a:p>
            <a:pPr>
              <a:spcAft>
                <a:spcPts val="0"/>
              </a:spcAft>
            </a:pPr>
            <a:fld id="{1E81C425-6875-4FA2-A497-F789F9FE517B}"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39" name="图片 17"/>
          <p:cNvPicPr>
            <a:picLocks noChangeAspect="1"/>
          </p:cNvPicPr>
          <p:nvPr/>
        </p:nvPicPr>
        <p:blipFill>
          <a:blip r:embed="rId1"/>
          <a:stretch>
            <a:fillRect/>
          </a:stretch>
        </p:blipFill>
        <p:spPr>
          <a:xfrm>
            <a:off x="2788285" y="2872740"/>
            <a:ext cx="4420235" cy="159829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p:cNvSpPr>
            <a:spLocks noChangeArrowheads="1"/>
          </p:cNvSpPr>
          <p:nvPr/>
        </p:nvSpPr>
        <p:spPr bwMode="auto">
          <a:xfrm>
            <a:off x="1143001" y="-150041"/>
            <a:ext cx="184731" cy="300082"/>
          </a:xfrm>
          <a:prstGeom prst="rect">
            <a:avLst/>
          </a:prstGeom>
          <a:noFill/>
          <a:ln w="9525">
            <a:noFill/>
            <a:miter lim="800000"/>
          </a:ln>
          <a:effectLst/>
        </p:spPr>
        <p:txBody>
          <a:bodyPr wrap="none" anchor="ctr">
            <a:spAutoFit/>
          </a:bodyPr>
          <a:lstStyle/>
          <a:p>
            <a:endParaRPr lang="zh-CN" altLang="en-US" sz="1350"/>
          </a:p>
        </p:txBody>
      </p:sp>
      <p:sp>
        <p:nvSpPr>
          <p:cNvPr id="9" name="标题 8"/>
          <p:cNvSpPr>
            <a:spLocks noGrp="1"/>
          </p:cNvSpPr>
          <p:nvPr>
            <p:ph type="title"/>
          </p:nvPr>
        </p:nvSpPr>
        <p:spPr/>
        <p:txBody>
          <a:bodyPr/>
          <a:lstStyle/>
          <a:p>
            <a:pPr>
              <a:spcAft>
                <a:spcPts val="0"/>
              </a:spcAft>
            </a:pPr>
            <a:r>
              <a:rPr lang="zh-CN" altLang="en-US" dirty="0"/>
              <a:t>例</a:t>
            </a:r>
            <a:r>
              <a:rPr lang="en-US" altLang="zh-CN" dirty="0"/>
              <a:t>2</a:t>
            </a:r>
            <a:endParaRPr lang="en-US" altLang="zh-CN" dirty="0"/>
          </a:p>
        </p:txBody>
      </p:sp>
      <p:sp>
        <p:nvSpPr>
          <p:cNvPr id="3" name="文本占位符 2"/>
          <p:cNvSpPr>
            <a:spLocks noGrp="1"/>
          </p:cNvSpPr>
          <p:nvPr>
            <p:ph idx="1"/>
          </p:nvPr>
        </p:nvSpPr>
        <p:spPr>
          <a:xfrm>
            <a:off x="768097" y="925167"/>
            <a:ext cx="8090153" cy="3806854"/>
          </a:xfrm>
          <a:noFill/>
          <a:ln>
            <a:noFill/>
            <a:prstDash val="dash"/>
          </a:ln>
        </p:spPr>
        <p:txBody>
          <a:bodyPr>
            <a:normAutofit/>
          </a:bodyPr>
          <a:lstStyle/>
          <a:p>
            <a:pPr algn="just">
              <a:lnSpc>
                <a:spcPct val="120000"/>
              </a:lnSpc>
            </a:pPr>
            <a:r>
              <a:rPr lang="zh-CN" altLang="en-US" sz="2000" dirty="0">
                <a:solidFill>
                  <a:schemeClr val="tx2"/>
                </a:solidFill>
              </a:rPr>
              <a:t>在图书管理系统中，有一个基础用例</a:t>
            </a:r>
            <a:r>
              <a:rPr lang="en-US" altLang="zh-CN" sz="2000" dirty="0">
                <a:solidFill>
                  <a:schemeClr val="tx2"/>
                </a:solidFill>
              </a:rPr>
              <a:t>“</a:t>
            </a:r>
            <a:r>
              <a:rPr lang="zh-CN" altLang="en-US" sz="2000" dirty="0">
                <a:solidFill>
                  <a:schemeClr val="tx2"/>
                </a:solidFill>
              </a:rPr>
              <a:t>归还书籍</a:t>
            </a:r>
            <a:r>
              <a:rPr lang="en-US" altLang="zh-CN" sz="2000" dirty="0">
                <a:solidFill>
                  <a:schemeClr val="tx2"/>
                </a:solidFill>
              </a:rPr>
              <a:t>”</a:t>
            </a:r>
            <a:r>
              <a:rPr lang="zh-CN" altLang="en-US" sz="2000" dirty="0">
                <a:solidFill>
                  <a:schemeClr val="tx2"/>
                </a:solidFill>
              </a:rPr>
              <a:t>，规定了一般情况下的还书流程。</a:t>
            </a:r>
            <a:r>
              <a:rPr lang="en-US" altLang="zh-CN" sz="2000" dirty="0">
                <a:solidFill>
                  <a:schemeClr val="tx2"/>
                </a:solidFill>
              </a:rPr>
              <a:t>“</a:t>
            </a:r>
            <a:r>
              <a:rPr lang="zh-CN" altLang="en-US" sz="2000" dirty="0">
                <a:solidFill>
                  <a:schemeClr val="tx2"/>
                </a:solidFill>
              </a:rPr>
              <a:t>归还书籍</a:t>
            </a:r>
            <a:r>
              <a:rPr lang="en-US" altLang="zh-CN" sz="2000" dirty="0">
                <a:solidFill>
                  <a:schemeClr val="tx2"/>
                </a:solidFill>
              </a:rPr>
              <a:t>”</a:t>
            </a:r>
            <a:r>
              <a:rPr lang="zh-CN" altLang="en-US" sz="2000" dirty="0">
                <a:solidFill>
                  <a:schemeClr val="tx2"/>
                </a:solidFill>
              </a:rPr>
              <a:t>时必须先</a:t>
            </a:r>
            <a:r>
              <a:rPr lang="en-US" altLang="zh-CN" sz="2000" dirty="0">
                <a:solidFill>
                  <a:schemeClr val="tx2"/>
                </a:solidFill>
              </a:rPr>
              <a:t>“</a:t>
            </a:r>
            <a:r>
              <a:rPr lang="zh-CN" altLang="en-US" sz="2000" dirty="0">
                <a:solidFill>
                  <a:schemeClr val="tx2"/>
                </a:solidFill>
              </a:rPr>
              <a:t>查询图书</a:t>
            </a:r>
            <a:r>
              <a:rPr lang="en-US" altLang="zh-CN" sz="2000" dirty="0">
                <a:solidFill>
                  <a:schemeClr val="tx2"/>
                </a:solidFill>
              </a:rPr>
              <a:t>”</a:t>
            </a:r>
            <a:r>
              <a:rPr lang="zh-CN" altLang="en-US" sz="2000" dirty="0">
                <a:solidFill>
                  <a:schemeClr val="tx2"/>
                </a:solidFill>
              </a:rPr>
              <a:t>，查询后如果读者所借书籍超期，在还书的时候是要交纳罚金的，因此在基础用例中添加扩展点，特定条件是超期，如果满足特定条件，将执行</a:t>
            </a:r>
            <a:r>
              <a:rPr lang="en-US" altLang="zh-CN" sz="2000" dirty="0">
                <a:solidFill>
                  <a:schemeClr val="tx2"/>
                </a:solidFill>
              </a:rPr>
              <a:t>“</a:t>
            </a:r>
            <a:r>
              <a:rPr lang="zh-CN" altLang="en-US" sz="2000" dirty="0">
                <a:solidFill>
                  <a:schemeClr val="tx2"/>
                </a:solidFill>
              </a:rPr>
              <a:t>交纳罚金</a:t>
            </a:r>
            <a:r>
              <a:rPr lang="en-US" altLang="zh-CN" sz="2000" dirty="0">
                <a:solidFill>
                  <a:schemeClr val="tx2"/>
                </a:solidFill>
              </a:rPr>
              <a:t>”</a:t>
            </a:r>
            <a:r>
              <a:rPr lang="zh-CN" altLang="en-US" sz="2000" dirty="0">
                <a:solidFill>
                  <a:schemeClr val="tx2"/>
                </a:solidFill>
              </a:rPr>
              <a:t>这个扩展用例。</a:t>
            </a:r>
            <a:endParaRPr lang="zh-CN" altLang="en-US" sz="2000" dirty="0">
              <a:solidFill>
                <a:schemeClr val="tx2"/>
              </a:solidFill>
            </a:endParaRPr>
          </a:p>
        </p:txBody>
      </p:sp>
      <p:sp>
        <p:nvSpPr>
          <p:cNvPr id="5" name="日期占位符 4"/>
          <p:cNvSpPr>
            <a:spLocks noGrp="1"/>
          </p:cNvSpPr>
          <p:nvPr>
            <p:ph type="dt" sz="half" idx="10"/>
          </p:nvPr>
        </p:nvSpPr>
        <p:spPr/>
        <p:txBody>
          <a:bodyPr/>
          <a:lstStyle/>
          <a:p>
            <a:pPr>
              <a:spcAft>
                <a:spcPts val="0"/>
              </a:spcAft>
            </a:pPr>
            <a:fld id="{E87ADEC5-42A1-4372-B2F3-555914619B17}"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40" name="图片 18"/>
          <p:cNvPicPr>
            <a:picLocks noChangeAspect="1"/>
          </p:cNvPicPr>
          <p:nvPr/>
        </p:nvPicPr>
        <p:blipFill>
          <a:blip r:embed="rId1"/>
          <a:stretch>
            <a:fillRect/>
          </a:stretch>
        </p:blipFill>
        <p:spPr>
          <a:xfrm>
            <a:off x="2383790" y="2951480"/>
            <a:ext cx="4655185" cy="165163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详解：包含用例与扩展用例的区别</a:t>
            </a:r>
            <a:endParaRPr lang="zh-CN" altLang="en-US" dirty="0"/>
          </a:p>
        </p:txBody>
      </p:sp>
      <p:sp>
        <p:nvSpPr>
          <p:cNvPr id="2" name="文本占位符 1"/>
          <p:cNvSpPr>
            <a:spLocks noGrp="1"/>
          </p:cNvSpPr>
          <p:nvPr>
            <p:ph idx="1"/>
          </p:nvPr>
        </p:nvSpPr>
        <p:spPr/>
        <p:txBody>
          <a:bodyPr>
            <a:normAutofit/>
          </a:bodyPr>
          <a:lstStyle/>
          <a:p>
            <a:pPr marL="380365" indent="-342900">
              <a:lnSpc>
                <a:spcPct val="120000"/>
              </a:lnSpc>
              <a:spcBef>
                <a:spcPts val="900"/>
              </a:spcBef>
              <a:buFont typeface="+mj-lt"/>
              <a:buAutoNum type="arabicPeriod"/>
            </a:pPr>
            <a:r>
              <a:rPr lang="zh-CN" altLang="en-US" sz="2400" dirty="0"/>
              <a:t>相对于基础用例，扩展用例是可选的，而包含用例则不是。</a:t>
            </a:r>
            <a:endParaRPr lang="zh-CN" altLang="en-US" sz="2400" dirty="0"/>
          </a:p>
          <a:p>
            <a:pPr marL="380365" indent="-342900">
              <a:lnSpc>
                <a:spcPct val="120000"/>
              </a:lnSpc>
              <a:spcBef>
                <a:spcPts val="900"/>
              </a:spcBef>
              <a:buFont typeface="+mj-lt"/>
              <a:buAutoNum type="arabicPeriod"/>
            </a:pPr>
            <a:r>
              <a:rPr lang="zh-CN" altLang="en-US" sz="2400" dirty="0"/>
              <a:t>如果缺少扩展用例，基础用例还是完整的，而缺少包含用例，则基础用例就不完整了。</a:t>
            </a:r>
            <a:endParaRPr lang="zh-CN" altLang="en-US" sz="2400" dirty="0"/>
          </a:p>
          <a:p>
            <a:pPr marL="380365" indent="-342900">
              <a:lnSpc>
                <a:spcPct val="120000"/>
              </a:lnSpc>
              <a:spcBef>
                <a:spcPts val="900"/>
              </a:spcBef>
              <a:buFont typeface="+mj-lt"/>
              <a:buAutoNum type="arabicPeriod"/>
            </a:pPr>
            <a:r>
              <a:rPr lang="zh-CN" altLang="en-US" sz="2400" dirty="0"/>
              <a:t>扩展用例的执行需要满足某种条件，而包含用例不需要。</a:t>
            </a:r>
            <a:endParaRPr lang="zh-CN" altLang="en-US" sz="2400" dirty="0"/>
          </a:p>
          <a:p>
            <a:pPr marL="380365" indent="-342900">
              <a:lnSpc>
                <a:spcPct val="120000"/>
              </a:lnSpc>
              <a:spcBef>
                <a:spcPts val="900"/>
              </a:spcBef>
              <a:buFont typeface="+mj-lt"/>
              <a:buAutoNum type="arabicPeriod"/>
            </a:pPr>
            <a:r>
              <a:rPr lang="zh-CN" altLang="en-US" sz="2400" dirty="0"/>
              <a:t>扩展用例的执行会改变基础用例的行为，而包含用例不会。</a:t>
            </a:r>
            <a:endParaRPr lang="zh-CN" altLang="en-US" sz="2400" dirty="0"/>
          </a:p>
        </p:txBody>
      </p:sp>
      <p:sp>
        <p:nvSpPr>
          <p:cNvPr id="4" name="日期占位符 3"/>
          <p:cNvSpPr>
            <a:spLocks noGrp="1"/>
          </p:cNvSpPr>
          <p:nvPr>
            <p:ph type="dt" sz="half" idx="10"/>
          </p:nvPr>
        </p:nvSpPr>
        <p:spPr/>
        <p:txBody>
          <a:bodyPr/>
          <a:lstStyle/>
          <a:p>
            <a:pPr>
              <a:spcAft>
                <a:spcPts val="0"/>
              </a:spcAft>
            </a:pPr>
            <a:fld id="{40AD7919-2626-4D7D-B013-592A268380B2}"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pPr>
              <a:spcAft>
                <a:spcPts val="0"/>
              </a:spcAft>
            </a:pPr>
            <a:r>
              <a:rPr lang="zh-CN" altLang="en-US" dirty="0"/>
              <a:t>用例图中的关系</a:t>
            </a:r>
            <a:endParaRPr lang="zh-CN" altLang="en-US" dirty="0"/>
          </a:p>
        </p:txBody>
      </p:sp>
      <p:sp>
        <p:nvSpPr>
          <p:cNvPr id="2" name="文本占位符 1"/>
          <p:cNvSpPr>
            <a:spLocks noGrp="1"/>
          </p:cNvSpPr>
          <p:nvPr>
            <p:ph idx="1"/>
          </p:nvPr>
        </p:nvSpPr>
        <p:spPr/>
        <p:txBody>
          <a:bodyPr>
            <a:normAutofit/>
          </a:bodyPr>
          <a:lstStyle/>
          <a:p>
            <a:pPr marL="467995" indent="-386080">
              <a:spcBef>
                <a:spcPts val="900"/>
              </a:spcBef>
              <a:buFont typeface="+mj-lt"/>
              <a:buAutoNum type="alphaUcPeriod" startAt="3"/>
            </a:pPr>
            <a:r>
              <a:rPr lang="zh-CN" altLang="en-US" sz="2400" dirty="0"/>
              <a:t>用例之间：</a:t>
            </a:r>
            <a:endParaRPr lang="en-US" altLang="zh-CN" sz="2400" dirty="0"/>
          </a:p>
          <a:p>
            <a:pPr marL="660400" lvl="1" indent="-386080">
              <a:lnSpc>
                <a:spcPct val="120000"/>
              </a:lnSpc>
              <a:spcBef>
                <a:spcPts val="900"/>
              </a:spcBef>
              <a:buFont typeface="+mj-lt"/>
              <a:buAutoNum type="romanUcPeriod" startAt="3"/>
            </a:pPr>
            <a:r>
              <a:rPr lang="zh-CN" altLang="zh-CN" dirty="0">
                <a:solidFill>
                  <a:srgbClr val="FF0000"/>
                </a:solidFill>
              </a:rPr>
              <a:t>泛化关系（Generalization）</a:t>
            </a:r>
            <a:endParaRPr lang="en-US" altLang="zh-CN" dirty="0">
              <a:solidFill>
                <a:srgbClr val="FF0000"/>
              </a:solidFill>
            </a:endParaRPr>
          </a:p>
          <a:p>
            <a:pPr marL="274320" lvl="1" indent="0">
              <a:lnSpc>
                <a:spcPct val="120000"/>
              </a:lnSpc>
              <a:spcBef>
                <a:spcPts val="900"/>
              </a:spcBef>
              <a:buNone/>
            </a:pPr>
            <a:r>
              <a:rPr lang="zh-CN" altLang="zh-CN" sz="2000" dirty="0"/>
              <a:t>一个用例可以被特别列举为一个或多个子用例，这被称为用例泛化</a:t>
            </a:r>
            <a:r>
              <a:rPr lang="zh-CN" altLang="en-US" sz="2000" dirty="0"/>
              <a:t>。</a:t>
            </a:r>
            <a:endParaRPr lang="zh-CN" altLang="zh-CN" sz="2000" dirty="0"/>
          </a:p>
        </p:txBody>
      </p:sp>
      <p:sp>
        <p:nvSpPr>
          <p:cNvPr id="4" name="日期占位符 3"/>
          <p:cNvSpPr>
            <a:spLocks noGrp="1"/>
          </p:cNvSpPr>
          <p:nvPr>
            <p:ph type="dt" sz="half" idx="10"/>
          </p:nvPr>
        </p:nvSpPr>
        <p:spPr/>
        <p:txBody>
          <a:bodyPr/>
          <a:lstStyle/>
          <a:p>
            <a:pPr>
              <a:spcAft>
                <a:spcPts val="0"/>
              </a:spcAft>
            </a:pPr>
            <a:fld id="{BD09F617-5B35-4F20-98D7-AEA36BF84405}" type="datetime1">
              <a:rPr lang="zh-CN" altLang="en-US" smtClean="0"/>
            </a:fld>
            <a:endParaRPr lang="zh-CN" altLang="en-US"/>
          </a:p>
        </p:txBody>
      </p:sp>
      <p:sp>
        <p:nvSpPr>
          <p:cNvPr id="8" name="页脚占位符 7"/>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grpSp>
        <p:nvGrpSpPr>
          <p:cNvPr id="5" name="组合 4"/>
          <p:cNvGrpSpPr/>
          <p:nvPr/>
        </p:nvGrpSpPr>
        <p:grpSpPr>
          <a:xfrm>
            <a:off x="1420524" y="2795217"/>
            <a:ext cx="5867142" cy="1298904"/>
            <a:chOff x="252186" y="4020434"/>
            <a:chExt cx="5867400" cy="1204073"/>
          </a:xfrm>
        </p:grpSpPr>
        <p:pic>
          <p:nvPicPr>
            <p:cNvPr id="6" name="Picture 6"/>
            <p:cNvPicPr>
              <a:picLocks noChangeAspect="1" noChangeArrowheads="1"/>
            </p:cNvPicPr>
            <p:nvPr/>
          </p:nvPicPr>
          <p:blipFill>
            <a:blip r:embed="rId1" cstate="print"/>
            <a:srcRect/>
            <a:stretch>
              <a:fillRect/>
            </a:stretch>
          </p:blipFill>
          <p:spPr bwMode="auto">
            <a:xfrm>
              <a:off x="252186" y="4020434"/>
              <a:ext cx="5867400" cy="1062038"/>
            </a:xfrm>
            <a:prstGeom prst="rect">
              <a:avLst/>
            </a:prstGeom>
            <a:noFill/>
            <a:ln w="9525" algn="ctr">
              <a:noFill/>
              <a:miter lim="800000"/>
              <a:headEnd/>
              <a:tailEnd/>
            </a:ln>
            <a:effectLst/>
          </p:spPr>
        </p:pic>
        <p:sp>
          <p:nvSpPr>
            <p:cNvPr id="7" name="Text Box 10"/>
            <p:cNvSpPr txBox="1">
              <a:spLocks noChangeArrowheads="1"/>
            </p:cNvSpPr>
            <p:nvPr/>
          </p:nvSpPr>
          <p:spPr bwMode="auto">
            <a:xfrm>
              <a:off x="2667000" y="4957853"/>
              <a:ext cx="847127" cy="266654"/>
            </a:xfrm>
            <a:prstGeom prst="rect">
              <a:avLst/>
            </a:prstGeom>
            <a:noFill/>
            <a:ln w="9525" algn="ctr">
              <a:noFill/>
              <a:miter lim="800000"/>
            </a:ln>
            <a:effectLst/>
          </p:spPr>
          <p:txBody>
            <a:bodyPr wrap="none" lIns="80963" tIns="40481" rIns="80963" bIns="40481">
              <a:spAutoFit/>
            </a:bodyPr>
            <a:lstStyle/>
            <a:p>
              <a:pPr>
                <a:spcAft>
                  <a:spcPts val="0"/>
                </a:spcAft>
              </a:pPr>
              <a:r>
                <a:rPr lang="zh-CN" altLang="en-US" sz="1350" dirty="0"/>
                <a:t>泛化关系</a:t>
              </a:r>
              <a:endParaRPr lang="zh-CN" altLang="en-US" sz="13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randombar(horizontal)">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详解：泛化</a:t>
            </a:r>
            <a:r>
              <a:rPr lang="en-US" altLang="zh-CN" dirty="0"/>
              <a:t>(</a:t>
            </a:r>
            <a:r>
              <a:rPr lang="en-US" altLang="zh-CN" cap="none" dirty="0"/>
              <a:t>Generalization</a:t>
            </a:r>
            <a:r>
              <a:rPr lang="en-US" altLang="zh-CN" dirty="0"/>
              <a:t>)</a:t>
            </a:r>
            <a:r>
              <a:rPr lang="zh-CN" altLang="en-US" dirty="0"/>
              <a:t>关系</a:t>
            </a:r>
            <a:endParaRPr lang="zh-CN" altLang="en-US" dirty="0"/>
          </a:p>
        </p:txBody>
      </p:sp>
      <p:sp>
        <p:nvSpPr>
          <p:cNvPr id="2" name="文本占位符 1"/>
          <p:cNvSpPr>
            <a:spLocks noGrp="1"/>
          </p:cNvSpPr>
          <p:nvPr>
            <p:ph idx="1"/>
          </p:nvPr>
        </p:nvSpPr>
        <p:spPr/>
        <p:txBody>
          <a:bodyPr>
            <a:normAutofit/>
          </a:bodyPr>
          <a:lstStyle/>
          <a:p>
            <a:pPr>
              <a:lnSpc>
                <a:spcPct val="130000"/>
              </a:lnSpc>
              <a:spcBef>
                <a:spcPts val="1800"/>
              </a:spcBef>
            </a:pPr>
            <a:r>
              <a:rPr lang="zh-CN" altLang="en-US" sz="2400" dirty="0"/>
              <a:t>当多个用例</a:t>
            </a:r>
            <a:r>
              <a:rPr lang="zh-CN" altLang="en-US" sz="2400" dirty="0">
                <a:solidFill>
                  <a:srgbClr val="FF0000"/>
                </a:solidFill>
              </a:rPr>
              <a:t>共同拥有一种类似的结构和行为</a:t>
            </a:r>
            <a:r>
              <a:rPr lang="zh-CN" altLang="en-US" sz="2400" dirty="0"/>
              <a:t>的时候，我们可以将它们的共性</a:t>
            </a:r>
            <a:r>
              <a:rPr lang="zh-CN" altLang="en-US" sz="2400" dirty="0">
                <a:solidFill>
                  <a:srgbClr val="FF0000"/>
                </a:solidFill>
              </a:rPr>
              <a:t>抽象成为父用例</a:t>
            </a:r>
            <a:r>
              <a:rPr lang="zh-CN" altLang="en-US" sz="2400" dirty="0"/>
              <a:t>，其他的用例作为泛化关系中的子用例。</a:t>
            </a:r>
            <a:endParaRPr lang="en-US" altLang="zh-CN" sz="2400" dirty="0"/>
          </a:p>
          <a:p>
            <a:pPr>
              <a:lnSpc>
                <a:spcPct val="130000"/>
              </a:lnSpc>
              <a:spcBef>
                <a:spcPts val="1800"/>
              </a:spcBef>
            </a:pPr>
            <a:r>
              <a:rPr lang="zh-CN" altLang="en-US" sz="2400" dirty="0"/>
              <a:t>泛化关系是对父用例具有一定的</a:t>
            </a:r>
            <a:r>
              <a:rPr lang="zh-CN" altLang="en-US" sz="2400" dirty="0">
                <a:solidFill>
                  <a:srgbClr val="FF0000"/>
                </a:solidFill>
              </a:rPr>
              <a:t>强依赖关系</a:t>
            </a:r>
            <a:r>
              <a:rPr lang="zh-CN" altLang="en-US" sz="2400" dirty="0"/>
              <a:t>，子用例表示父用例的特殊形式，可以继承父用例的行为和属性，还可以添加自己的行为和属性。</a:t>
            </a:r>
            <a:endParaRPr lang="en-US" altLang="zh-CN" sz="2400" dirty="0"/>
          </a:p>
        </p:txBody>
      </p:sp>
      <p:sp>
        <p:nvSpPr>
          <p:cNvPr id="4" name="日期占位符 3"/>
          <p:cNvSpPr>
            <a:spLocks noGrp="1"/>
          </p:cNvSpPr>
          <p:nvPr>
            <p:ph type="dt" sz="half" idx="10"/>
          </p:nvPr>
        </p:nvSpPr>
        <p:spPr/>
        <p:txBody>
          <a:bodyPr/>
          <a:lstStyle/>
          <a:p>
            <a:pPr>
              <a:spcAft>
                <a:spcPts val="0"/>
              </a:spcAft>
            </a:pPr>
            <a:fld id="{15EC43FF-1CB8-4BD3-AD43-1CF1AF2D4D65}"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泛化举例</a:t>
            </a:r>
            <a:endParaRPr lang="zh-CN" altLang="en-US" dirty="0"/>
          </a:p>
        </p:txBody>
      </p:sp>
      <p:sp>
        <p:nvSpPr>
          <p:cNvPr id="2" name="文本占位符 1"/>
          <p:cNvSpPr>
            <a:spLocks noGrp="1"/>
          </p:cNvSpPr>
          <p:nvPr>
            <p:ph idx="1"/>
          </p:nvPr>
        </p:nvSpPr>
        <p:spPr/>
        <p:txBody>
          <a:bodyPr>
            <a:noAutofit/>
          </a:bodyPr>
          <a:lstStyle/>
          <a:p>
            <a:pPr marL="342900" indent="-342900">
              <a:lnSpc>
                <a:spcPct val="130000"/>
              </a:lnSpc>
            </a:pPr>
            <a:r>
              <a:rPr lang="zh-CN" altLang="en-US" sz="2400" dirty="0"/>
              <a:t>在订票系统中，“订票” 是“电话订票” 和“网上订票” 的抽象。</a:t>
            </a:r>
            <a:endParaRPr lang="en-US" altLang="zh-CN" sz="2400" dirty="0"/>
          </a:p>
          <a:p>
            <a:pPr marL="342900" indent="-342900">
              <a:lnSpc>
                <a:spcPct val="130000"/>
              </a:lnSpc>
            </a:pPr>
            <a:endParaRPr lang="en-US" altLang="zh-CN" sz="2400" dirty="0"/>
          </a:p>
          <a:p>
            <a:pPr marL="342900" indent="-342900">
              <a:lnSpc>
                <a:spcPct val="130000"/>
              </a:lnSpc>
            </a:pPr>
            <a:endParaRPr lang="en-US" altLang="zh-CN" sz="2400" dirty="0"/>
          </a:p>
          <a:p>
            <a:pPr marL="342900" indent="-342900">
              <a:lnSpc>
                <a:spcPct val="130000"/>
              </a:lnSpc>
            </a:pPr>
            <a:endParaRPr lang="en-US" altLang="zh-CN" sz="2400" dirty="0"/>
          </a:p>
          <a:p>
            <a:pPr marL="342900" indent="-342900">
              <a:lnSpc>
                <a:spcPct val="130000"/>
              </a:lnSpc>
            </a:pPr>
            <a:r>
              <a:rPr lang="zh-CN" altLang="en-US" sz="2400" dirty="0">
                <a:solidFill>
                  <a:srgbClr val="FF0000"/>
                </a:solidFill>
              </a:rPr>
              <a:t>注意箭头指向：</a:t>
            </a:r>
            <a:r>
              <a:rPr lang="zh-CN" altLang="en-US" sz="2400" dirty="0"/>
              <a:t>由“子”指向“父”。 </a:t>
            </a:r>
            <a:endParaRPr lang="zh-CN" altLang="en-US" sz="2400" dirty="0"/>
          </a:p>
        </p:txBody>
      </p:sp>
      <p:sp>
        <p:nvSpPr>
          <p:cNvPr id="4" name="日期占位符 3"/>
          <p:cNvSpPr>
            <a:spLocks noGrp="1"/>
          </p:cNvSpPr>
          <p:nvPr>
            <p:ph type="dt" sz="half" idx="10"/>
          </p:nvPr>
        </p:nvSpPr>
        <p:spPr/>
        <p:txBody>
          <a:bodyPr/>
          <a:lstStyle/>
          <a:p>
            <a:pPr>
              <a:spcAft>
                <a:spcPts val="0"/>
              </a:spcAft>
            </a:pPr>
            <a:fld id="{CA07957C-BAC2-4512-A334-338D28DBD6BC}"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214020" name="Picture 4"/>
          <p:cNvPicPr>
            <a:picLocks noChangeAspect="1" noChangeArrowheads="1"/>
          </p:cNvPicPr>
          <p:nvPr/>
        </p:nvPicPr>
        <p:blipFill>
          <a:blip r:embed="rId1" cstate="print"/>
          <a:srcRect/>
          <a:stretch>
            <a:fillRect/>
          </a:stretch>
        </p:blipFill>
        <p:spPr bwMode="auto">
          <a:xfrm>
            <a:off x="2383703" y="1508387"/>
            <a:ext cx="5792043" cy="2640413"/>
          </a:xfrm>
          <a:prstGeom prst="rect">
            <a:avLst/>
          </a:prstGeom>
          <a:noFill/>
          <a:ln w="9525" algn="ctr">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14020"/>
                                        </p:tgtEl>
                                        <p:attrNameLst>
                                          <p:attrName>style.visibility</p:attrName>
                                        </p:attrNameLst>
                                      </p:cBhvr>
                                      <p:to>
                                        <p:strVal val="visible"/>
                                      </p:to>
                                    </p:set>
                                    <p:animEffect transition="in" filter="randombar(horizontal)">
                                      <p:cBhvr>
                                        <p:cTn id="12" dur="500"/>
                                        <p:tgtEl>
                                          <p:spTgt spid="214020"/>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wipe(up)">
                                      <p:cBhvr>
                                        <p:cTn id="16"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a:spcAft>
                <a:spcPts val="0"/>
              </a:spcAft>
            </a:pPr>
            <a:r>
              <a:rPr lang="zh-CN" altLang="en-US" dirty="0"/>
              <a:t>泛化举例</a:t>
            </a:r>
            <a:endParaRPr lang="zh-CN" altLang="en-US" dirty="0"/>
          </a:p>
        </p:txBody>
      </p:sp>
      <p:sp>
        <p:nvSpPr>
          <p:cNvPr id="2" name="文本占位符 1"/>
          <p:cNvSpPr>
            <a:spLocks noGrp="1"/>
          </p:cNvSpPr>
          <p:nvPr>
            <p:ph idx="1"/>
          </p:nvPr>
        </p:nvSpPr>
        <p:spPr/>
        <p:txBody>
          <a:bodyPr>
            <a:normAutofit/>
          </a:bodyPr>
          <a:lstStyle/>
          <a:p>
            <a:pPr marL="342900" indent="-342900">
              <a:lnSpc>
                <a:spcPct val="130000"/>
              </a:lnSpc>
            </a:pPr>
            <a:r>
              <a:rPr lang="zh-CN" altLang="en-US" sz="2400" dirty="0"/>
              <a:t>在投核保系统中，“核保”用例是“自动核保”和“人工核保”的抽象。 </a:t>
            </a:r>
            <a:endParaRPr lang="zh-CN" altLang="en-US" sz="2400" dirty="0"/>
          </a:p>
          <a:p>
            <a:pPr marL="342900" indent="-342900">
              <a:lnSpc>
                <a:spcPct val="130000"/>
              </a:lnSpc>
            </a:pPr>
            <a:endParaRPr lang="zh-CN" altLang="en-US" sz="2400" dirty="0"/>
          </a:p>
        </p:txBody>
      </p:sp>
      <p:sp>
        <p:nvSpPr>
          <p:cNvPr id="4" name="日期占位符 3"/>
          <p:cNvSpPr>
            <a:spLocks noGrp="1"/>
          </p:cNvSpPr>
          <p:nvPr>
            <p:ph type="dt" sz="half" idx="10"/>
          </p:nvPr>
        </p:nvSpPr>
        <p:spPr/>
        <p:txBody>
          <a:bodyPr/>
          <a:lstStyle/>
          <a:p>
            <a:pPr>
              <a:spcAft>
                <a:spcPts val="0"/>
              </a:spcAft>
            </a:pPr>
            <a:fld id="{CD7D3DF0-E1FF-4D11-9D91-7450C8BF8589}"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7"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65494" y="2043670"/>
            <a:ext cx="5683827"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a:spcAft>
                <a:spcPts val="0"/>
              </a:spcAft>
            </a:pPr>
            <a:r>
              <a:rPr lang="zh-CN" altLang="en-US" dirty="0"/>
              <a:t>泛化举例</a:t>
            </a:r>
            <a:endParaRPr lang="zh-CN" altLang="en-US" dirty="0"/>
          </a:p>
        </p:txBody>
      </p:sp>
      <p:sp>
        <p:nvSpPr>
          <p:cNvPr id="2" name="文本占位符 1"/>
          <p:cNvSpPr>
            <a:spLocks noGrp="1"/>
          </p:cNvSpPr>
          <p:nvPr>
            <p:ph idx="1"/>
          </p:nvPr>
        </p:nvSpPr>
        <p:spPr>
          <a:xfrm>
            <a:off x="768096" y="937543"/>
            <a:ext cx="7832833" cy="3806854"/>
          </a:xfrm>
        </p:spPr>
        <p:txBody>
          <a:bodyPr>
            <a:normAutofit/>
          </a:bodyPr>
          <a:lstStyle/>
          <a:p>
            <a:pPr marL="342900" indent="-342900">
              <a:lnSpc>
                <a:spcPct val="120000"/>
              </a:lnSpc>
            </a:pPr>
            <a:r>
              <a:rPr lang="zh-CN" altLang="en-US" sz="2400" dirty="0"/>
              <a:t>在系统验证模块中，识别用户用例有两个子用例“验证口令”和“视网膜扫描”。</a:t>
            </a:r>
            <a:endParaRPr lang="zh-CN" altLang="en-US" sz="3600" dirty="0"/>
          </a:p>
        </p:txBody>
      </p:sp>
      <p:sp>
        <p:nvSpPr>
          <p:cNvPr id="4" name="日期占位符 3"/>
          <p:cNvSpPr>
            <a:spLocks noGrp="1"/>
          </p:cNvSpPr>
          <p:nvPr>
            <p:ph type="dt" sz="half" idx="10"/>
          </p:nvPr>
        </p:nvSpPr>
        <p:spPr/>
        <p:txBody>
          <a:bodyPr/>
          <a:lstStyle/>
          <a:p>
            <a:pPr>
              <a:spcAft>
                <a:spcPts val="0"/>
              </a:spcAft>
            </a:pPr>
            <a:fld id="{854A9DD0-4A1C-4C23-BF96-7C2A80442734}"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113668" name="Picture 4" descr="huanfa"/>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120665" y="1825004"/>
            <a:ext cx="4698206" cy="270033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13668"/>
                                        </p:tgtEl>
                                        <p:attrNameLst>
                                          <p:attrName>style.visibility</p:attrName>
                                        </p:attrNameLst>
                                      </p:cBhvr>
                                      <p:to>
                                        <p:strVal val="visible"/>
                                      </p:to>
                                    </p:set>
                                    <p:animEffect transition="in" filter="randombar(horizontal)">
                                      <p:cBhvr>
                                        <p:cTn id="12" dur="500"/>
                                        <p:tgtEl>
                                          <p:spTgt spid="113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spcAft>
                <a:spcPts val="0"/>
              </a:spcAft>
            </a:pPr>
            <a:r>
              <a:rPr lang="zh-CN" altLang="en-US" dirty="0"/>
              <a:t>泛化练习</a:t>
            </a:r>
            <a:endParaRPr lang="zh-CN" altLang="en-US" dirty="0"/>
          </a:p>
        </p:txBody>
      </p:sp>
      <p:sp>
        <p:nvSpPr>
          <p:cNvPr id="5" name="文本占位符 4"/>
          <p:cNvSpPr>
            <a:spLocks noGrp="1"/>
          </p:cNvSpPr>
          <p:nvPr>
            <p:ph idx="1"/>
          </p:nvPr>
        </p:nvSpPr>
        <p:spPr/>
        <p:txBody>
          <a:bodyPr>
            <a:normAutofit/>
          </a:bodyPr>
          <a:lstStyle/>
          <a:p>
            <a:pPr marL="342900" indent="-342900">
              <a:lnSpc>
                <a:spcPct val="120000"/>
              </a:lnSpc>
            </a:pPr>
            <a:r>
              <a:rPr lang="zh-CN" altLang="en-US" sz="2400" dirty="0"/>
              <a:t>在图书管理系统中，用例“查找书籍”负责在图书馆的数据库中查找符合输入信息的书籍。该用例有两个子用例“精确查找”和“模糊查找”。 画出该用例图。</a:t>
            </a:r>
            <a:endParaRPr lang="zh-CN" altLang="en-US" sz="2400" dirty="0"/>
          </a:p>
        </p:txBody>
      </p:sp>
      <p:sp>
        <p:nvSpPr>
          <p:cNvPr id="4" name="日期占位符 3"/>
          <p:cNvSpPr>
            <a:spLocks noGrp="1"/>
          </p:cNvSpPr>
          <p:nvPr>
            <p:ph type="dt" sz="half" idx="10"/>
          </p:nvPr>
        </p:nvSpPr>
        <p:spPr/>
        <p:txBody>
          <a:bodyPr/>
          <a:lstStyle/>
          <a:p>
            <a:pPr>
              <a:spcAft>
                <a:spcPts val="0"/>
              </a:spcAft>
            </a:pPr>
            <a:fld id="{9C928B17-0D7B-4005-BCE5-0DB6DC38DF70}"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114692" name="Rectangle 4"/>
          <p:cNvSpPr>
            <a:spLocks noChangeArrowheads="1"/>
          </p:cNvSpPr>
          <p:nvPr/>
        </p:nvSpPr>
        <p:spPr bwMode="auto">
          <a:xfrm>
            <a:off x="1143001" y="-150041"/>
            <a:ext cx="184731" cy="300082"/>
          </a:xfrm>
          <a:prstGeom prst="rect">
            <a:avLst/>
          </a:prstGeom>
          <a:noFill/>
          <a:ln w="9525">
            <a:noFill/>
            <a:miter lim="800000"/>
          </a:ln>
          <a:effectLst/>
        </p:spPr>
        <p:txBody>
          <a:bodyPr wrap="none" anchor="ctr">
            <a:spAutoFit/>
          </a:bodyPr>
          <a:lstStyle/>
          <a:p>
            <a:endParaRPr lang="zh-CN" altLang="en-US" sz="1350"/>
          </a:p>
        </p:txBody>
      </p:sp>
      <p:pic>
        <p:nvPicPr>
          <p:cNvPr id="3" name="图片 2"/>
          <p:cNvPicPr>
            <a:picLocks noChangeAspect="1"/>
          </p:cNvPicPr>
          <p:nvPr/>
        </p:nvPicPr>
        <p:blipFill>
          <a:blip r:embed="rId1" cstate="print">
            <a:clrChange>
              <a:clrFrom>
                <a:srgbClr val="FFFFFF"/>
              </a:clrFrom>
              <a:clrTo>
                <a:srgbClr val="FFFFFF">
                  <a:alpha val="0"/>
                </a:srgbClr>
              </a:clrTo>
            </a:clrChange>
          </a:blip>
          <a:stretch>
            <a:fillRect/>
          </a:stretch>
        </p:blipFill>
        <p:spPr>
          <a:xfrm>
            <a:off x="2383703" y="2417571"/>
            <a:ext cx="4275758" cy="21020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例子</a:t>
            </a:r>
            <a:endParaRPr lang="zh-CN" altLang="en-US"/>
          </a:p>
        </p:txBody>
      </p:sp>
      <p:sp>
        <p:nvSpPr>
          <p:cNvPr id="3" name="内容占位符 2"/>
          <p:cNvSpPr>
            <a:spLocks noGrp="1"/>
          </p:cNvSpPr>
          <p:nvPr>
            <p:ph idx="1"/>
          </p:nvPr>
        </p:nvSpPr>
        <p:spPr/>
        <p:txBody>
          <a:bodyPr/>
          <a:p>
            <a:r>
              <a:rPr lang="zh-CN" altLang="en-US" sz="2400"/>
              <a:t>在某网上购物系统中，当顾客</a:t>
            </a:r>
            <a:r>
              <a:rPr lang="en-US" altLang="zh-CN" sz="2400"/>
              <a:t>“</a:t>
            </a:r>
            <a:r>
              <a:rPr lang="zh-CN" altLang="en-US" sz="2400"/>
              <a:t>支付订单</a:t>
            </a:r>
            <a:r>
              <a:rPr lang="en-US" altLang="zh-CN" sz="2400"/>
              <a:t>”</a:t>
            </a:r>
            <a:r>
              <a:rPr lang="zh-CN" altLang="en-US" sz="2400"/>
              <a:t>时，可以用支付宝支付</a:t>
            </a:r>
            <a:r>
              <a:rPr lang="en-US" altLang="zh-CN" sz="2400"/>
              <a:t> </a:t>
            </a:r>
            <a:r>
              <a:rPr lang="zh-CN" altLang="en-US" sz="2400"/>
              <a:t>、微信支付，也可以用银行卡支付，</a:t>
            </a:r>
            <a:r>
              <a:rPr lang="en-US" altLang="zh-CN" sz="2400"/>
              <a:t>“</a:t>
            </a:r>
            <a:r>
              <a:rPr lang="zh-CN" altLang="en-US" sz="2400"/>
              <a:t>支付宝支付</a:t>
            </a:r>
            <a:r>
              <a:rPr lang="en-US" altLang="zh-CN" sz="2400"/>
              <a:t>”</a:t>
            </a:r>
            <a:r>
              <a:rPr lang="zh-CN" altLang="en-US" sz="2400"/>
              <a:t>、</a:t>
            </a:r>
            <a:r>
              <a:rPr lang="en-US" altLang="zh-CN" sz="2400"/>
              <a:t>“</a:t>
            </a:r>
            <a:r>
              <a:rPr lang="zh-CN" altLang="en-US" sz="2400"/>
              <a:t>微信支付</a:t>
            </a:r>
            <a:r>
              <a:rPr lang="en-US" altLang="zh-CN" sz="2400"/>
              <a:t>”</a:t>
            </a:r>
            <a:r>
              <a:rPr lang="zh-CN" altLang="en-US" sz="2400"/>
              <a:t>、</a:t>
            </a:r>
            <a:r>
              <a:rPr lang="en-US" altLang="zh-CN" sz="2400"/>
              <a:t>“</a:t>
            </a:r>
            <a:r>
              <a:rPr lang="zh-CN" altLang="en-US" sz="2400"/>
              <a:t>银行卡支付</a:t>
            </a:r>
            <a:r>
              <a:rPr lang="en-US" altLang="zh-CN" sz="2400"/>
              <a:t>”</a:t>
            </a:r>
            <a:r>
              <a:rPr lang="zh-CN" altLang="en-US" sz="2400"/>
              <a:t>都是</a:t>
            </a:r>
            <a:r>
              <a:rPr lang="en-US" altLang="zh-CN" sz="2400"/>
              <a:t>“</a:t>
            </a:r>
            <a:r>
              <a:rPr lang="zh-CN" altLang="en-US" sz="2400"/>
              <a:t>支付</a:t>
            </a:r>
            <a:r>
              <a:rPr lang="en-US" altLang="zh-CN" sz="2400"/>
              <a:t>”</a:t>
            </a:r>
            <a:r>
              <a:rPr lang="zh-CN" altLang="en-US" sz="2400"/>
              <a:t>的一种具体方式。</a:t>
            </a:r>
            <a:endParaRPr lang="zh-CN" altLang="en-US" sz="2400"/>
          </a:p>
        </p:txBody>
      </p:sp>
      <p:sp>
        <p:nvSpPr>
          <p:cNvPr id="4" name="日期占位符 3"/>
          <p:cNvSpPr>
            <a:spLocks noGrp="1"/>
          </p:cNvSpPr>
          <p:nvPr>
            <p:ph type="dt" sz="half" idx="10"/>
          </p:nvPr>
        </p:nvSpPr>
        <p:spPr/>
        <p:txBody>
          <a:bodyPr/>
          <a:p>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41" name="图片 19"/>
          <p:cNvPicPr>
            <a:picLocks noChangeAspect="1"/>
          </p:cNvPicPr>
          <p:nvPr/>
        </p:nvPicPr>
        <p:blipFill>
          <a:blip r:embed="rId1"/>
          <a:stretch>
            <a:fillRect/>
          </a:stretch>
        </p:blipFill>
        <p:spPr>
          <a:xfrm>
            <a:off x="2557780" y="2803525"/>
            <a:ext cx="4253865" cy="146875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用例图、参与者、用例、关系小结</a:t>
            </a:r>
            <a:endParaRPr lang="zh-CN" altLang="en-US" dirty="0"/>
          </a:p>
        </p:txBody>
      </p:sp>
      <p:sp>
        <p:nvSpPr>
          <p:cNvPr id="3" name="文本占位符 2"/>
          <p:cNvSpPr>
            <a:spLocks noGrp="1"/>
          </p:cNvSpPr>
          <p:nvPr>
            <p:ph idx="1"/>
          </p:nvPr>
        </p:nvSpPr>
        <p:spPr/>
        <p:txBody>
          <a:bodyPr>
            <a:noAutofit/>
          </a:bodyPr>
          <a:lstStyle/>
          <a:p>
            <a:pPr marL="82550" indent="0">
              <a:spcBef>
                <a:spcPts val="1800"/>
              </a:spcBef>
              <a:buNone/>
            </a:pPr>
            <a:r>
              <a:rPr lang="zh-CN" altLang="en-US" sz="1400" b="1" dirty="0"/>
              <a:t>参与者和用例间的关系：</a:t>
            </a:r>
            <a:endParaRPr lang="zh-CN" altLang="en-US" sz="1400" b="1" dirty="0"/>
          </a:p>
          <a:p>
            <a:pPr>
              <a:spcBef>
                <a:spcPts val="1800"/>
              </a:spcBef>
            </a:pPr>
            <a:r>
              <a:rPr lang="zh-CN" altLang="en-US" sz="1400" dirty="0"/>
              <a:t>关联关系</a:t>
            </a:r>
            <a:endParaRPr lang="en-US" altLang="zh-CN" sz="1400" b="1" dirty="0"/>
          </a:p>
          <a:p>
            <a:pPr marL="82550" indent="0">
              <a:spcBef>
                <a:spcPts val="1800"/>
              </a:spcBef>
              <a:buNone/>
            </a:pPr>
            <a:r>
              <a:rPr lang="zh-CN" altLang="en-US" sz="1400" b="1" dirty="0"/>
              <a:t>参与者之间的关系：</a:t>
            </a:r>
            <a:endParaRPr lang="en-US" altLang="zh-CN" sz="1400" b="1" dirty="0"/>
          </a:p>
          <a:p>
            <a:pPr>
              <a:spcBef>
                <a:spcPts val="1800"/>
              </a:spcBef>
            </a:pPr>
            <a:r>
              <a:rPr lang="zh-CN" altLang="en-US" sz="1400" dirty="0"/>
              <a:t>泛化关系</a:t>
            </a:r>
            <a:endParaRPr lang="en-US" altLang="zh-CN" sz="1400" dirty="0"/>
          </a:p>
          <a:p>
            <a:pPr>
              <a:spcBef>
                <a:spcPts val="1800"/>
              </a:spcBef>
            </a:pPr>
            <a:r>
              <a:rPr lang="zh-CN" altLang="en-US" sz="1400" dirty="0"/>
              <a:t>依赖关系</a:t>
            </a:r>
            <a:endParaRPr lang="en-US" altLang="zh-CN" sz="1400" dirty="0"/>
          </a:p>
          <a:p>
            <a:pPr marL="82550" indent="0">
              <a:spcBef>
                <a:spcPts val="1800"/>
              </a:spcBef>
              <a:buNone/>
            </a:pPr>
            <a:r>
              <a:rPr lang="zh-CN" altLang="en-US" sz="1400" b="1" dirty="0"/>
              <a:t>用例之间的三种关系：</a:t>
            </a:r>
            <a:endParaRPr lang="en-US" altLang="zh-CN" sz="1400" b="1" dirty="0"/>
          </a:p>
          <a:p>
            <a:pPr>
              <a:spcBef>
                <a:spcPts val="1800"/>
              </a:spcBef>
            </a:pPr>
            <a:r>
              <a:rPr lang="zh-CN" altLang="zh-CN" sz="1400" dirty="0"/>
              <a:t>包含关系（Include）</a:t>
            </a:r>
            <a:endParaRPr lang="zh-CN" altLang="zh-CN" sz="1400" dirty="0"/>
          </a:p>
          <a:p>
            <a:pPr>
              <a:spcBef>
                <a:spcPts val="450"/>
              </a:spcBef>
            </a:pPr>
            <a:r>
              <a:rPr lang="zh-CN" altLang="zh-CN" sz="1400" dirty="0"/>
              <a:t>扩展关系（Extend）</a:t>
            </a:r>
            <a:endParaRPr lang="en-US" altLang="zh-CN" sz="1400" dirty="0"/>
          </a:p>
          <a:p>
            <a:pPr>
              <a:spcBef>
                <a:spcPts val="450"/>
              </a:spcBef>
            </a:pPr>
            <a:r>
              <a:rPr lang="zh-CN" altLang="zh-CN" sz="1400" dirty="0"/>
              <a:t>泛化关系（Generalization）</a:t>
            </a:r>
            <a:endParaRPr lang="zh-CN" altLang="zh-CN" sz="1400" dirty="0"/>
          </a:p>
        </p:txBody>
      </p:sp>
      <p:sp>
        <p:nvSpPr>
          <p:cNvPr id="4" name="日期占位符 3"/>
          <p:cNvSpPr>
            <a:spLocks noGrp="1"/>
          </p:cNvSpPr>
          <p:nvPr>
            <p:ph type="dt" sz="half" idx="10"/>
          </p:nvPr>
        </p:nvSpPr>
        <p:spPr/>
        <p:txBody>
          <a:bodyPr/>
          <a:lstStyle/>
          <a:p>
            <a:pPr>
              <a:spcAft>
                <a:spcPts val="0"/>
              </a:spcAft>
            </a:pPr>
            <a:fld id="{083FEBA8-2D65-47B1-8333-9E2AE44E5D65}"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spcAft>
                <a:spcPts val="0"/>
              </a:spcAft>
            </a:pPr>
            <a:r>
              <a:rPr lang="zh-CN" altLang="en-US" dirty="0">
                <a:latin typeface="+mj-ea"/>
              </a:rPr>
              <a:t>案例</a:t>
            </a:r>
            <a:r>
              <a:rPr lang="en-US" altLang="zh-CN" dirty="0">
                <a:latin typeface="+mj-ea"/>
              </a:rPr>
              <a:t>——</a:t>
            </a:r>
            <a:r>
              <a:rPr lang="zh-CN" altLang="en-US" dirty="0">
                <a:latin typeface="+mj-ea"/>
              </a:rPr>
              <a:t>图书销售系统用例图</a:t>
            </a:r>
            <a:endParaRPr lang="en-US" dirty="0">
              <a:latin typeface="+mj-ea"/>
            </a:endParaRPr>
          </a:p>
        </p:txBody>
      </p:sp>
      <p:sp>
        <p:nvSpPr>
          <p:cNvPr id="11" name="内容占位符 10"/>
          <p:cNvSpPr>
            <a:spLocks noGrp="1"/>
          </p:cNvSpPr>
          <p:nvPr>
            <p:ph idx="1"/>
          </p:nvPr>
        </p:nvSpPr>
        <p:spPr>
          <a:xfrm>
            <a:off x="755572" y="1083959"/>
            <a:ext cx="3215180" cy="3479329"/>
          </a:xfrm>
        </p:spPr>
        <p:txBody>
          <a:bodyPr>
            <a:noAutofit/>
          </a:bodyPr>
          <a:lstStyle/>
          <a:p>
            <a:pPr marL="0" indent="0">
              <a:buNone/>
            </a:pPr>
            <a:r>
              <a:rPr lang="zh-CN" altLang="zh-CN" sz="2200" dirty="0"/>
              <a:t>操作者之间可以存在泛化关系，类似的参与者可以组成一个层级结构。在网上书店的例子中，会员是游客的泛化，游客有浏览图书的用例，而会员不仅包含游客的全部用例，还具有自己特有的购买图书用例，参见</a:t>
            </a:r>
            <a:r>
              <a:rPr lang="zh-CN" altLang="en-US" sz="2200" dirty="0"/>
              <a:t>右</a:t>
            </a:r>
            <a:r>
              <a:rPr lang="zh-CN" altLang="zh-CN" sz="2200" dirty="0"/>
              <a:t>图。</a:t>
            </a:r>
            <a:endParaRPr lang="zh-CN" altLang="zh-CN" sz="2200" dirty="0"/>
          </a:p>
        </p:txBody>
      </p:sp>
      <p:sp>
        <p:nvSpPr>
          <p:cNvPr id="5"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4" name="Rectangle 4"/>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6"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9" name="Rectangle 4"/>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7"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10"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8"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12"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3"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pic>
        <p:nvPicPr>
          <p:cNvPr id="245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70126" y="960579"/>
            <a:ext cx="5974915" cy="3760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日期占位符 12"/>
          <p:cNvSpPr>
            <a:spLocks noGrp="1"/>
          </p:cNvSpPr>
          <p:nvPr>
            <p:ph type="dt" sz="half" idx="10"/>
          </p:nvPr>
        </p:nvSpPr>
        <p:spPr/>
        <p:txBody>
          <a:bodyPr/>
          <a:lstStyle/>
          <a:p>
            <a:pPr>
              <a:spcAft>
                <a:spcPts val="0"/>
              </a:spcAft>
            </a:pPr>
            <a:fld id="{233A3D5F-94DA-4E1D-9C53-583B50C97A88}" type="datetime1">
              <a:rPr lang="zh-CN" altLang="en-US" smtClean="0"/>
            </a:fld>
            <a:endParaRPr lang="zh-CN" altLang="en-US" dirty="0"/>
          </a:p>
        </p:txBody>
      </p:sp>
      <p:sp>
        <p:nvSpPr>
          <p:cNvPr id="14" name="页脚占位符 13"/>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15" name="灯片编号占位符 14"/>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案例</a:t>
            </a:r>
            <a:r>
              <a:rPr lang="en-US" altLang="zh-CN" dirty="0"/>
              <a:t>——</a:t>
            </a:r>
            <a:r>
              <a:rPr lang="zh-CN" altLang="en-US" dirty="0"/>
              <a:t>网上购物系统用</a:t>
            </a:r>
            <a:r>
              <a:rPr lang="zh-CN" altLang="en-US" dirty="0" smtClean="0"/>
              <a:t>例图</a:t>
            </a:r>
            <a:endParaRPr lang="zh-CN" altLang="en-US" dirty="0"/>
          </a:p>
        </p:txBody>
      </p:sp>
      <p:sp>
        <p:nvSpPr>
          <p:cNvPr id="4" name="文本占位符 3"/>
          <p:cNvSpPr>
            <a:spLocks noGrp="1"/>
          </p:cNvSpPr>
          <p:nvPr>
            <p:ph idx="1"/>
          </p:nvPr>
        </p:nvSpPr>
        <p:spPr>
          <a:xfrm>
            <a:off x="439387" y="828912"/>
            <a:ext cx="8442614" cy="3867483"/>
          </a:xfrm>
        </p:spPr>
        <p:txBody>
          <a:bodyPr>
            <a:noAutofit/>
          </a:bodyPr>
          <a:lstStyle/>
          <a:p>
            <a:pPr marL="342900" indent="-342900">
              <a:lnSpc>
                <a:spcPct val="100000"/>
              </a:lnSpc>
              <a:spcBef>
                <a:spcPts val="600"/>
              </a:spcBef>
            </a:pPr>
            <a:r>
              <a:rPr lang="zh-CN" altLang="en-US" sz="1900" dirty="0"/>
              <a:t>案例分析：（联系自己淘宝的过程）</a:t>
            </a:r>
            <a:endParaRPr lang="en-US" altLang="zh-CN" sz="1900" dirty="0"/>
          </a:p>
          <a:p>
            <a:pPr marL="342900" indent="-342900">
              <a:lnSpc>
                <a:spcPct val="100000"/>
              </a:lnSpc>
              <a:spcBef>
                <a:spcPts val="600"/>
              </a:spcBef>
            </a:pPr>
            <a:r>
              <a:rPr lang="zh-CN" altLang="en-US" sz="1900" dirty="0"/>
              <a:t>用户通过网址访问网上购物系统，进入系统后，用户根据分类目录浏览商品名称、规格、单价、图片等信息，直至浏览某个商品的详细技术指标。浏览过程中，用户可以随时将商品放入购物车，系统可显示购物车内已选购的商品、单价、数量及价格，用户还可以随时删去购物车内尚未结账的商品。</a:t>
            </a:r>
            <a:endParaRPr lang="en-US" altLang="zh-CN" sz="1900" dirty="0"/>
          </a:p>
          <a:p>
            <a:pPr marL="342900" indent="-342900">
              <a:lnSpc>
                <a:spcPct val="100000"/>
              </a:lnSpc>
              <a:spcBef>
                <a:spcPts val="600"/>
              </a:spcBef>
            </a:pPr>
            <a:r>
              <a:rPr lang="zh-CN" altLang="en-US" sz="1900" dirty="0"/>
              <a:t>当客户选好商品后，可以结账，此时系统首先要求用户注册</a:t>
            </a:r>
            <a:r>
              <a:rPr lang="en-US" altLang="zh-CN" sz="1900" dirty="0"/>
              <a:t>/</a:t>
            </a:r>
            <a:r>
              <a:rPr lang="zh-CN" altLang="en-US" sz="1900" dirty="0"/>
              <a:t>登录，然后根据购物车中的商品生成订单，同时选择支付方式，填写派送信息，如送货地址、送货时间段等，此时可提交订单，系统返回用户一个订单号。系统提供网上在线支付和货到付款两种支付方式。在线支付由专门的网上支付系统实现，需填写相关账户的账号、密码等，并扣款，显示付款成功或失败。货到付款由送货员收取。用户还可以通过订单号查询订单的当前状态，如已提交未付款、已发货、已付款等，并允许取消尚未发货的订单。</a:t>
            </a:r>
            <a:endParaRPr lang="en-US" altLang="zh-CN" sz="1900"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8" name="日期占位符 7"/>
          <p:cNvSpPr>
            <a:spLocks noGrp="1"/>
          </p:cNvSpPr>
          <p:nvPr>
            <p:ph type="dt" sz="half" idx="10"/>
          </p:nvPr>
        </p:nvSpPr>
        <p:spPr/>
        <p:txBody>
          <a:bodyPr/>
          <a:lstStyle/>
          <a:p>
            <a:pPr>
              <a:spcAft>
                <a:spcPts val="0"/>
              </a:spcAft>
            </a:pPr>
            <a:fld id="{2AD437FD-52A0-4905-AA88-C184C8093EB8}" type="datetime1">
              <a:rPr lang="zh-CN" altLang="en-US" smtClean="0"/>
            </a:fld>
            <a:endParaRPr lang="zh-CN" altLang="en-US" dirty="0"/>
          </a:p>
        </p:txBody>
      </p:sp>
      <p:sp>
        <p:nvSpPr>
          <p:cNvPr id="9" name="页脚占位符 8"/>
          <p:cNvSpPr>
            <a:spLocks noGrp="1"/>
          </p:cNvSpPr>
          <p:nvPr>
            <p:ph type="ftr" sz="quarter" idx="11"/>
          </p:nvPr>
        </p:nvSpPr>
        <p:spPr/>
        <p:txBody>
          <a:bodyPr/>
          <a:lstStyle/>
          <a:p>
            <a:pPr>
              <a:spcAft>
                <a:spcPts val="0"/>
              </a:spcAft>
            </a:pPr>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zh-CN" altLang="en-US" dirty="0"/>
              <a:t>案例</a:t>
            </a:r>
            <a:r>
              <a:rPr lang="en-US" altLang="zh-CN" dirty="0"/>
              <a:t>——</a:t>
            </a:r>
            <a:r>
              <a:rPr lang="zh-CN" altLang="en-US" dirty="0"/>
              <a:t>网上购物系统用</a:t>
            </a:r>
            <a:r>
              <a:rPr lang="zh-CN" altLang="en-US" dirty="0" smtClean="0"/>
              <a:t>例图</a:t>
            </a:r>
            <a:endParaRPr lang="zh-CN" altLang="en-US" dirty="0"/>
          </a:p>
        </p:txBody>
      </p:sp>
      <p:sp>
        <p:nvSpPr>
          <p:cNvPr id="4" name="文本占位符 3"/>
          <p:cNvSpPr>
            <a:spLocks noGrp="1"/>
          </p:cNvSpPr>
          <p:nvPr>
            <p:ph idx="1"/>
          </p:nvPr>
        </p:nvSpPr>
        <p:spPr/>
        <p:txBody>
          <a:bodyPr>
            <a:normAutofit/>
          </a:bodyPr>
          <a:lstStyle/>
          <a:p>
            <a:pPr marL="285750" indent="-285750">
              <a:lnSpc>
                <a:spcPct val="120000"/>
              </a:lnSpc>
              <a:spcBef>
                <a:spcPts val="900"/>
              </a:spcBef>
            </a:pPr>
            <a:r>
              <a:rPr lang="zh-CN" altLang="en-US" sz="2400" dirty="0"/>
              <a:t>案例分析：（联系自己淘宝的过程）</a:t>
            </a:r>
            <a:endParaRPr lang="en-US" altLang="zh-CN" sz="2400" dirty="0"/>
          </a:p>
          <a:p>
            <a:pPr marL="285750" indent="-285750">
              <a:lnSpc>
                <a:spcPct val="120000"/>
              </a:lnSpc>
              <a:spcBef>
                <a:spcPts val="900"/>
              </a:spcBef>
            </a:pPr>
            <a:r>
              <a:rPr lang="zh-CN" altLang="en-US" sz="2400" dirty="0"/>
              <a:t>系统业务员将用户提交的订单交由物流系统或快递公司，向用户发货，物流系统或快递公司送达商品后对未付款的客户收款，并将用户签收单返回给系统业务员，系统业务员负责更新订单的状态，以便跟踪和了解订单的执行情况。</a:t>
            </a:r>
            <a:endParaRPr lang="zh-CN" altLang="en-US" sz="2400" dirty="0"/>
          </a:p>
          <a:p>
            <a:pPr marL="285750" indent="-285750">
              <a:lnSpc>
                <a:spcPct val="120000"/>
              </a:lnSpc>
              <a:spcBef>
                <a:spcPts val="900"/>
              </a:spcBef>
            </a:pPr>
            <a:endParaRPr lang="zh-CN" altLang="en-US" sz="2400"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8" name="日期占位符 7"/>
          <p:cNvSpPr>
            <a:spLocks noGrp="1"/>
          </p:cNvSpPr>
          <p:nvPr>
            <p:ph type="dt" sz="half" idx="10"/>
          </p:nvPr>
        </p:nvSpPr>
        <p:spPr/>
        <p:txBody>
          <a:bodyPr/>
          <a:lstStyle/>
          <a:p>
            <a:pPr>
              <a:spcAft>
                <a:spcPts val="0"/>
              </a:spcAft>
            </a:pPr>
            <a:fld id="{1F84FA1A-14E1-4582-B331-C9CEE056E1BB}" type="datetime1">
              <a:rPr lang="zh-CN" altLang="en-US" smtClean="0"/>
            </a:fld>
            <a:endParaRPr lang="zh-CN" altLang="en-US" dirty="0"/>
          </a:p>
        </p:txBody>
      </p:sp>
      <p:sp>
        <p:nvSpPr>
          <p:cNvPr id="9" name="页脚占位符 8"/>
          <p:cNvSpPr>
            <a:spLocks noGrp="1"/>
          </p:cNvSpPr>
          <p:nvPr>
            <p:ph type="ftr" sz="quarter" idx="11"/>
          </p:nvPr>
        </p:nvSpPr>
        <p:spPr/>
        <p:txBody>
          <a:bodyPr/>
          <a:lstStyle/>
          <a:p>
            <a:pPr>
              <a:spcAft>
                <a:spcPts val="0"/>
              </a:spcAft>
            </a:pPr>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spcAft>
                <a:spcPts val="0"/>
              </a:spcAft>
            </a:pPr>
            <a:r>
              <a:rPr lang="zh-CN" altLang="en-US" dirty="0" smtClean="0"/>
              <a:t>约定</a:t>
            </a:r>
            <a:endParaRPr lang="zh-CN" altLang="en-US" dirty="0"/>
          </a:p>
        </p:txBody>
      </p:sp>
      <p:sp>
        <p:nvSpPr>
          <p:cNvPr id="4" name="文本占位符 3"/>
          <p:cNvSpPr>
            <a:spLocks noGrp="1"/>
          </p:cNvSpPr>
          <p:nvPr>
            <p:ph idx="1"/>
          </p:nvPr>
        </p:nvSpPr>
        <p:spPr>
          <a:xfrm>
            <a:off x="768097" y="865792"/>
            <a:ext cx="7960267" cy="3806854"/>
          </a:xfrm>
        </p:spPr>
        <p:txBody>
          <a:bodyPr>
            <a:noAutofit/>
          </a:bodyPr>
          <a:lstStyle/>
          <a:p>
            <a:pPr marL="342900" indent="-342900">
              <a:lnSpc>
                <a:spcPct val="100000"/>
              </a:lnSpc>
              <a:spcBef>
                <a:spcPts val="900"/>
              </a:spcBef>
            </a:pPr>
            <a:r>
              <a:rPr lang="zh-CN" altLang="en-US" sz="2200" dirty="0"/>
              <a:t>用户所订商品不存在缺货的情况；</a:t>
            </a:r>
            <a:endParaRPr lang="en-US" altLang="zh-CN" sz="2200" dirty="0"/>
          </a:p>
          <a:p>
            <a:pPr marL="342900" indent="-342900">
              <a:lnSpc>
                <a:spcPct val="100000"/>
              </a:lnSpc>
              <a:spcBef>
                <a:spcPts val="900"/>
              </a:spcBef>
            </a:pPr>
            <a:r>
              <a:rPr lang="zh-CN" altLang="en-US" sz="2200" dirty="0"/>
              <a:t>物流系统或快递公司向用户送货、收款，向系统业务员返回客户签收单不属于本案例的功能；</a:t>
            </a:r>
            <a:endParaRPr lang="en-US" altLang="zh-CN" sz="2200" dirty="0"/>
          </a:p>
          <a:p>
            <a:pPr marL="342900" indent="-342900">
              <a:lnSpc>
                <a:spcPct val="100000"/>
              </a:lnSpc>
              <a:spcBef>
                <a:spcPts val="900"/>
              </a:spcBef>
            </a:pPr>
            <a:r>
              <a:rPr lang="zh-CN" altLang="en-US" sz="2200" dirty="0"/>
              <a:t>不能取消已发货的订单；</a:t>
            </a:r>
            <a:endParaRPr lang="en-US" altLang="zh-CN" sz="2200" dirty="0"/>
          </a:p>
          <a:p>
            <a:pPr marL="342900" indent="-342900">
              <a:lnSpc>
                <a:spcPct val="100000"/>
              </a:lnSpc>
              <a:spcBef>
                <a:spcPts val="900"/>
              </a:spcBef>
            </a:pPr>
            <a:r>
              <a:rPr lang="zh-CN" altLang="en-US" sz="2200" dirty="0"/>
              <a:t>不包括对商品信息和客户信息的创建和维护；</a:t>
            </a:r>
            <a:endParaRPr lang="en-US" altLang="zh-CN" sz="2200" dirty="0"/>
          </a:p>
          <a:p>
            <a:pPr marL="342900" indent="-342900">
              <a:lnSpc>
                <a:spcPct val="100000"/>
              </a:lnSpc>
              <a:spcBef>
                <a:spcPts val="900"/>
              </a:spcBef>
            </a:pPr>
            <a:r>
              <a:rPr lang="zh-CN" altLang="en-US" sz="2200" dirty="0"/>
              <a:t>不考虑用户拒收的情况；</a:t>
            </a:r>
            <a:endParaRPr lang="en-US" altLang="zh-CN" sz="2200" dirty="0"/>
          </a:p>
          <a:p>
            <a:pPr marL="342900" indent="-342900">
              <a:lnSpc>
                <a:spcPct val="100000"/>
              </a:lnSpc>
              <a:spcBef>
                <a:spcPts val="900"/>
              </a:spcBef>
            </a:pPr>
            <a:r>
              <a:rPr lang="zh-CN" altLang="en-US" sz="2200" dirty="0"/>
              <a:t>系统业务员不能取消客户的订单；</a:t>
            </a:r>
            <a:endParaRPr lang="en-US" altLang="zh-CN" sz="2200" dirty="0"/>
          </a:p>
          <a:p>
            <a:pPr marL="342900" indent="-342900">
              <a:lnSpc>
                <a:spcPct val="100000"/>
              </a:lnSpc>
              <a:spcBef>
                <a:spcPts val="900"/>
              </a:spcBef>
            </a:pPr>
            <a:r>
              <a:rPr lang="zh-CN" altLang="en-US" sz="2200" dirty="0"/>
              <a:t>当用户提交订单后，选择网上支付操作时才由系统链接相关的网上支付系统实现真正的支付。</a:t>
            </a:r>
            <a:endParaRPr lang="zh-CN" altLang="en-US" sz="2200"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7" name="日期占位符 6"/>
          <p:cNvSpPr>
            <a:spLocks noGrp="1"/>
          </p:cNvSpPr>
          <p:nvPr>
            <p:ph type="dt" sz="half" idx="10"/>
          </p:nvPr>
        </p:nvSpPr>
        <p:spPr/>
        <p:txBody>
          <a:bodyPr/>
          <a:lstStyle/>
          <a:p>
            <a:pPr>
              <a:spcAft>
                <a:spcPts val="0"/>
              </a:spcAft>
            </a:pPr>
            <a:fld id="{13FB3ECA-E9DA-4F64-8EF0-A490E82FDC33}" type="datetime1">
              <a:rPr lang="zh-CN" altLang="en-US" smtClean="0"/>
            </a:fld>
            <a:endParaRPr lang="zh-CN" altLang="en-US" dirty="0"/>
          </a:p>
        </p:txBody>
      </p:sp>
      <p:sp>
        <p:nvSpPr>
          <p:cNvPr id="8" name="页脚占位符 7"/>
          <p:cNvSpPr>
            <a:spLocks noGrp="1"/>
          </p:cNvSpPr>
          <p:nvPr>
            <p:ph type="ftr" sz="quarter" idx="11"/>
          </p:nvPr>
        </p:nvSpPr>
        <p:spPr/>
        <p:txBody>
          <a:bodyPr/>
          <a:lstStyle/>
          <a:p>
            <a:pPr>
              <a:spcAft>
                <a:spcPts val="0"/>
              </a:spcAft>
            </a:pPr>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up)">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up)">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up)">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up)">
                                      <p:cBhvr>
                                        <p:cTn id="3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spcAft>
                <a:spcPts val="0"/>
              </a:spcAft>
            </a:pPr>
            <a:r>
              <a:rPr lang="zh-CN" altLang="en-US" dirty="0"/>
              <a:t>识别</a:t>
            </a:r>
            <a:r>
              <a:rPr lang="zh-CN" altLang="en-US" dirty="0" smtClean="0"/>
              <a:t>执行者</a:t>
            </a:r>
            <a:endParaRPr lang="zh-CN" altLang="en-US" dirty="0"/>
          </a:p>
        </p:txBody>
      </p:sp>
      <p:sp>
        <p:nvSpPr>
          <p:cNvPr id="4" name="文本占位符 3"/>
          <p:cNvSpPr>
            <a:spLocks noGrp="1"/>
          </p:cNvSpPr>
          <p:nvPr>
            <p:ph idx="1"/>
          </p:nvPr>
        </p:nvSpPr>
        <p:spPr>
          <a:xfrm>
            <a:off x="768097" y="1068779"/>
            <a:ext cx="7832833" cy="3051959"/>
          </a:xfrm>
        </p:spPr>
        <p:txBody>
          <a:bodyPr>
            <a:normAutofit/>
          </a:bodyPr>
          <a:lstStyle/>
          <a:p>
            <a:pPr marL="342900" indent="-342900">
              <a:lnSpc>
                <a:spcPct val="100000"/>
              </a:lnSpc>
              <a:spcBef>
                <a:spcPts val="1350"/>
              </a:spcBef>
              <a:buFont typeface="+mj-lt"/>
              <a:buAutoNum type="arabicPeriod"/>
            </a:pPr>
            <a:r>
              <a:rPr lang="zh-CN" altLang="en-US" sz="2400" dirty="0"/>
              <a:t>用户：使用该系统购物的人。</a:t>
            </a:r>
            <a:endParaRPr lang="en-US" altLang="zh-CN" sz="2400" dirty="0"/>
          </a:p>
          <a:p>
            <a:pPr marL="342900" indent="-342900">
              <a:lnSpc>
                <a:spcPct val="100000"/>
              </a:lnSpc>
              <a:spcBef>
                <a:spcPts val="1350"/>
              </a:spcBef>
              <a:buFont typeface="+mj-lt"/>
              <a:buAutoNum type="arabicPeriod"/>
            </a:pPr>
            <a:r>
              <a:rPr lang="zh-CN" altLang="en-US" sz="2400" dirty="0"/>
              <a:t>系统业务员：完成订单状态更新的人。</a:t>
            </a:r>
            <a:endParaRPr lang="en-US" altLang="zh-CN" sz="2400" dirty="0"/>
          </a:p>
          <a:p>
            <a:pPr marL="342900" indent="-342900">
              <a:lnSpc>
                <a:spcPct val="100000"/>
              </a:lnSpc>
              <a:spcBef>
                <a:spcPts val="1350"/>
              </a:spcBef>
              <a:buFont typeface="+mj-lt"/>
              <a:buAutoNum type="arabicPeriod"/>
            </a:pPr>
            <a:r>
              <a:rPr lang="zh-CN" altLang="en-US" sz="2400" dirty="0"/>
              <a:t>网上支付系统：实现网上在线支付的软件系统。</a:t>
            </a:r>
            <a:endParaRPr lang="en-US" altLang="zh-CN" sz="2400" dirty="0"/>
          </a:p>
          <a:p>
            <a:pPr marL="342900" indent="-342900">
              <a:lnSpc>
                <a:spcPct val="100000"/>
              </a:lnSpc>
              <a:spcBef>
                <a:spcPts val="1350"/>
              </a:spcBef>
              <a:buFont typeface="+mj-lt"/>
              <a:buAutoNum type="arabicPeriod"/>
            </a:pPr>
            <a:r>
              <a:rPr lang="zh-CN" altLang="en-US" sz="2400" dirty="0"/>
              <a:t>用户信息管理系统：创建和维护用户信息的软件系统。</a:t>
            </a:r>
            <a:endParaRPr lang="en-US" altLang="zh-CN" sz="2400" dirty="0"/>
          </a:p>
          <a:p>
            <a:pPr marL="342900" indent="-342900">
              <a:lnSpc>
                <a:spcPct val="100000"/>
              </a:lnSpc>
              <a:spcBef>
                <a:spcPts val="1350"/>
              </a:spcBef>
              <a:buFont typeface="+mj-lt"/>
              <a:buAutoNum type="arabicPeriod"/>
            </a:pPr>
            <a:r>
              <a:rPr lang="zh-CN" altLang="en-US" sz="2400" dirty="0"/>
              <a:t>商品信息管理系统：创建和维护商品信息的软件系统。</a:t>
            </a:r>
            <a:endParaRPr lang="zh-CN" altLang="en-US" sz="2400"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7" name="日期占位符 6"/>
          <p:cNvSpPr>
            <a:spLocks noGrp="1"/>
          </p:cNvSpPr>
          <p:nvPr>
            <p:ph type="dt" sz="half" idx="10"/>
          </p:nvPr>
        </p:nvSpPr>
        <p:spPr/>
        <p:txBody>
          <a:bodyPr/>
          <a:lstStyle/>
          <a:p>
            <a:pPr>
              <a:spcAft>
                <a:spcPts val="0"/>
              </a:spcAft>
            </a:pPr>
            <a:fld id="{4266B5D7-9F32-43D0-9D64-0F9C5712FADF}" type="datetime1">
              <a:rPr lang="zh-CN" altLang="en-US" smtClean="0"/>
            </a:fld>
            <a:endParaRPr lang="zh-CN" altLang="en-US" dirty="0"/>
          </a:p>
        </p:txBody>
      </p:sp>
      <p:sp>
        <p:nvSpPr>
          <p:cNvPr id="8" name="页脚占位符 7"/>
          <p:cNvSpPr>
            <a:spLocks noGrp="1"/>
          </p:cNvSpPr>
          <p:nvPr>
            <p:ph type="ftr" sz="quarter" idx="11"/>
          </p:nvPr>
        </p:nvSpPr>
        <p:spPr/>
        <p:txBody>
          <a:bodyPr/>
          <a:lstStyle/>
          <a:p>
            <a:pPr>
              <a:spcAft>
                <a:spcPts val="0"/>
              </a:spcAft>
            </a:pPr>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up)">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up)">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spcAft>
                <a:spcPts val="0"/>
              </a:spcAft>
            </a:pPr>
            <a:r>
              <a:rPr lang="zh-CN" altLang="en-US" dirty="0"/>
              <a:t>识别</a:t>
            </a:r>
            <a:r>
              <a:rPr lang="zh-CN" altLang="en-US" dirty="0" smtClean="0"/>
              <a:t>用例</a:t>
            </a:r>
            <a:r>
              <a:rPr lang="zh-CN" altLang="en-US" dirty="0"/>
              <a:t>一</a:t>
            </a:r>
            <a:endParaRPr lang="zh-CN" altLang="en-US" dirty="0"/>
          </a:p>
        </p:txBody>
      </p:sp>
      <p:sp>
        <p:nvSpPr>
          <p:cNvPr id="4" name="文本占位符 3"/>
          <p:cNvSpPr>
            <a:spLocks noGrp="1"/>
          </p:cNvSpPr>
          <p:nvPr>
            <p:ph idx="1"/>
          </p:nvPr>
        </p:nvSpPr>
        <p:spPr>
          <a:xfrm>
            <a:off x="791847" y="971417"/>
            <a:ext cx="7832833" cy="3458079"/>
          </a:xfrm>
        </p:spPr>
        <p:txBody>
          <a:bodyPr>
            <a:noAutofit/>
          </a:bodyPr>
          <a:lstStyle/>
          <a:p>
            <a:pPr marL="457200" indent="-457200">
              <a:lnSpc>
                <a:spcPct val="120000"/>
              </a:lnSpc>
              <a:spcBef>
                <a:spcPts val="600"/>
              </a:spcBef>
            </a:pPr>
            <a:r>
              <a:rPr lang="zh-CN" altLang="en-US" sz="2400" dirty="0"/>
              <a:t>用户的操作包括在购物车中添加商品、删除商品、显示购物车内的商品，合并为一个</a:t>
            </a:r>
            <a:r>
              <a:rPr lang="zh-CN" altLang="en-US" sz="2400" dirty="0">
                <a:solidFill>
                  <a:srgbClr val="FF0000"/>
                </a:solidFill>
              </a:rPr>
              <a:t>购物车管理用例</a:t>
            </a:r>
            <a:r>
              <a:rPr lang="zh-CN" altLang="en-US" sz="2400" dirty="0"/>
              <a:t>。</a:t>
            </a:r>
            <a:endParaRPr lang="en-US" altLang="zh-CN" sz="2400" dirty="0"/>
          </a:p>
          <a:p>
            <a:pPr marL="457200" indent="-457200">
              <a:lnSpc>
                <a:spcPct val="120000"/>
              </a:lnSpc>
              <a:spcBef>
                <a:spcPts val="600"/>
              </a:spcBef>
            </a:pPr>
            <a:r>
              <a:rPr lang="zh-CN" altLang="en-US" sz="2400" dirty="0"/>
              <a:t>商品信息浏览分为不同的详细程度和分级分类目录，将整个商品信息浏览作为一个</a:t>
            </a:r>
            <a:r>
              <a:rPr lang="zh-CN" altLang="en-US" sz="2400" dirty="0">
                <a:solidFill>
                  <a:srgbClr val="FF0000"/>
                </a:solidFill>
              </a:rPr>
              <a:t>商品信息浏览用例</a:t>
            </a:r>
            <a:r>
              <a:rPr lang="zh-CN" altLang="en-US" sz="2400" dirty="0"/>
              <a:t>。</a:t>
            </a:r>
            <a:endParaRPr lang="en-US" altLang="zh-CN" sz="2400" dirty="0"/>
          </a:p>
          <a:p>
            <a:pPr marL="457200" indent="-457200">
              <a:lnSpc>
                <a:spcPct val="120000"/>
              </a:lnSpc>
              <a:spcBef>
                <a:spcPts val="600"/>
              </a:spcBef>
            </a:pPr>
            <a:r>
              <a:rPr lang="zh-CN" altLang="en-US" sz="2400" dirty="0"/>
              <a:t>网上在线订购是网上购物系统的一个主要功能，在选购商品时需要浏览商品信息和购物车管理，因此</a:t>
            </a:r>
            <a:r>
              <a:rPr lang="zh-CN" altLang="en-US" sz="2400" dirty="0">
                <a:solidFill>
                  <a:srgbClr val="FF0000"/>
                </a:solidFill>
              </a:rPr>
              <a:t>网上在线订购用例包含前面两个用例</a:t>
            </a:r>
            <a:r>
              <a:rPr lang="zh-CN" altLang="en-US" sz="2400" dirty="0" smtClean="0"/>
              <a:t>。</a:t>
            </a:r>
            <a:endParaRPr lang="en-US" altLang="zh-CN" sz="2400"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7" name="日期占位符 6"/>
          <p:cNvSpPr>
            <a:spLocks noGrp="1"/>
          </p:cNvSpPr>
          <p:nvPr>
            <p:ph type="dt" sz="half" idx="10"/>
          </p:nvPr>
        </p:nvSpPr>
        <p:spPr/>
        <p:txBody>
          <a:bodyPr/>
          <a:lstStyle/>
          <a:p>
            <a:pPr>
              <a:spcAft>
                <a:spcPts val="0"/>
              </a:spcAft>
            </a:pPr>
            <a:fld id="{6A4E23F2-C0D6-4CD7-8112-F77173B3B9CA}" type="datetime1">
              <a:rPr lang="zh-CN" altLang="en-US" smtClean="0"/>
            </a:fld>
            <a:endParaRPr lang="zh-CN" altLang="en-US" dirty="0"/>
          </a:p>
        </p:txBody>
      </p:sp>
      <p:sp>
        <p:nvSpPr>
          <p:cNvPr id="8" name="页脚占位符 7"/>
          <p:cNvSpPr>
            <a:spLocks noGrp="1"/>
          </p:cNvSpPr>
          <p:nvPr>
            <p:ph type="ftr" sz="quarter" idx="11"/>
          </p:nvPr>
        </p:nvSpPr>
        <p:spPr/>
        <p:txBody>
          <a:bodyPr/>
          <a:lstStyle/>
          <a:p>
            <a:pPr>
              <a:spcAft>
                <a:spcPts val="0"/>
              </a:spcAft>
            </a:pPr>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spcAft>
                <a:spcPts val="0"/>
              </a:spcAft>
            </a:pPr>
            <a:r>
              <a:rPr lang="zh-CN" altLang="en-US" dirty="0"/>
              <a:t>识别</a:t>
            </a:r>
            <a:r>
              <a:rPr lang="zh-CN" altLang="en-US" dirty="0" smtClean="0"/>
              <a:t>用例二</a:t>
            </a:r>
            <a:endParaRPr lang="zh-CN" altLang="en-US" dirty="0"/>
          </a:p>
        </p:txBody>
      </p:sp>
      <p:sp>
        <p:nvSpPr>
          <p:cNvPr id="4" name="文本占位符 3"/>
          <p:cNvSpPr>
            <a:spLocks noGrp="1"/>
          </p:cNvSpPr>
          <p:nvPr>
            <p:ph idx="1"/>
          </p:nvPr>
        </p:nvSpPr>
        <p:spPr>
          <a:xfrm>
            <a:off x="827473" y="1092530"/>
            <a:ext cx="7832833" cy="2897580"/>
          </a:xfrm>
        </p:spPr>
        <p:txBody>
          <a:bodyPr>
            <a:noAutofit/>
          </a:bodyPr>
          <a:lstStyle/>
          <a:p>
            <a:pPr marL="457200" indent="-457200">
              <a:lnSpc>
                <a:spcPct val="120000"/>
              </a:lnSpc>
              <a:spcBef>
                <a:spcPts val="600"/>
              </a:spcBef>
            </a:pPr>
            <a:r>
              <a:rPr lang="zh-CN" altLang="en-US" sz="2400" dirty="0" smtClean="0"/>
              <a:t>支付</a:t>
            </a:r>
            <a:r>
              <a:rPr lang="zh-CN" altLang="en-US" sz="2400" dirty="0"/>
              <a:t>用例包含在线支付和货到付款两个用例，而货到付款用例不用实现，因此只有一个</a:t>
            </a:r>
            <a:r>
              <a:rPr lang="zh-CN" altLang="en-US" sz="2400" dirty="0">
                <a:solidFill>
                  <a:srgbClr val="FF0000"/>
                </a:solidFill>
              </a:rPr>
              <a:t>在线支付用例</a:t>
            </a:r>
            <a:r>
              <a:rPr lang="zh-CN" altLang="en-US" sz="2400" dirty="0"/>
              <a:t>。</a:t>
            </a:r>
            <a:endParaRPr lang="en-US" altLang="zh-CN" sz="2400" dirty="0"/>
          </a:p>
          <a:p>
            <a:pPr marL="457200" indent="-457200">
              <a:lnSpc>
                <a:spcPct val="120000"/>
              </a:lnSpc>
              <a:spcBef>
                <a:spcPts val="600"/>
              </a:spcBef>
            </a:pPr>
            <a:r>
              <a:rPr lang="zh-CN" altLang="en-US" sz="2400" dirty="0"/>
              <a:t>订单管理包括订单查询、订单状态更新、取消订单功能，合并为一个</a:t>
            </a:r>
            <a:r>
              <a:rPr lang="zh-CN" altLang="en-US" sz="2400" dirty="0">
                <a:solidFill>
                  <a:srgbClr val="FF0000"/>
                </a:solidFill>
              </a:rPr>
              <a:t>订单管理用例</a:t>
            </a:r>
            <a:r>
              <a:rPr lang="zh-CN" altLang="en-US" sz="2400" dirty="0"/>
              <a:t>。</a:t>
            </a:r>
            <a:endParaRPr lang="en-US" altLang="zh-CN" sz="2400" dirty="0"/>
          </a:p>
          <a:p>
            <a:pPr marL="457200" indent="-457200">
              <a:lnSpc>
                <a:spcPct val="120000"/>
              </a:lnSpc>
              <a:spcBef>
                <a:spcPts val="600"/>
              </a:spcBef>
            </a:pPr>
            <a:r>
              <a:rPr lang="zh-CN" altLang="en-US" sz="2400" dirty="0">
                <a:solidFill>
                  <a:srgbClr val="FF0000"/>
                </a:solidFill>
              </a:rPr>
              <a:t>注册、登录</a:t>
            </a:r>
            <a:r>
              <a:rPr lang="zh-CN" altLang="en-US" sz="2400" dirty="0"/>
              <a:t>被多个用例引用，将其作为独立用例。</a:t>
            </a:r>
            <a:endParaRPr lang="zh-CN" altLang="en-US" sz="2400"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pPr>
              <a:spcAft>
                <a:spcPts val="0"/>
              </a:spcAft>
            </a:pPr>
            <a:fld id="{4138D8B4-3E62-4296-A392-5BB20389FFAC}"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买家功能</a:t>
            </a:r>
            <a:endParaRPr lang="zh-CN" altLang="en-US"/>
          </a:p>
        </p:txBody>
      </p:sp>
      <p:sp>
        <p:nvSpPr>
          <p:cNvPr id="3" name="内容占位符 2"/>
          <p:cNvSpPr>
            <a:spLocks noGrp="1"/>
          </p:cNvSpPr>
          <p:nvPr>
            <p:ph idx="1"/>
          </p:nvPr>
        </p:nvSpPr>
        <p:spPr/>
        <p:txBody>
          <a:bodyPr>
            <a:noAutofit/>
          </a:bodyPr>
          <a:p>
            <a:pPr marL="0" indent="0" fontAlgn="auto">
              <a:lnSpc>
                <a:spcPct val="100000"/>
              </a:lnSpc>
              <a:spcBef>
                <a:spcPts val="0"/>
              </a:spcBef>
              <a:buNone/>
            </a:pPr>
            <a:r>
              <a:rPr lang="en-US" altLang="zh-CN" sz="1800"/>
              <a:t>1.</a:t>
            </a:r>
            <a:r>
              <a:rPr lang="zh-CN" altLang="en-US" sz="1800"/>
              <a:t>浏览商品</a:t>
            </a:r>
            <a:endParaRPr lang="zh-CN" altLang="en-US" sz="1800"/>
          </a:p>
          <a:p>
            <a:pPr marL="0" indent="0" fontAlgn="auto">
              <a:lnSpc>
                <a:spcPct val="100000"/>
              </a:lnSpc>
              <a:spcBef>
                <a:spcPts val="0"/>
              </a:spcBef>
              <a:buNone/>
            </a:pPr>
            <a:r>
              <a:rPr lang="zh-CN" altLang="en-US" sz="1800"/>
              <a:t>按分类浏览，快速定位感兴趣商品类别，如服装、数码等，满足不同需求。</a:t>
            </a:r>
            <a:endParaRPr lang="zh-CN" altLang="en-US" sz="1800"/>
          </a:p>
          <a:p>
            <a:pPr marL="0" indent="0" fontAlgn="auto">
              <a:lnSpc>
                <a:spcPct val="100000"/>
              </a:lnSpc>
              <a:spcBef>
                <a:spcPts val="0"/>
              </a:spcBef>
              <a:buNone/>
            </a:pPr>
            <a:r>
              <a:rPr lang="zh-CN" altLang="en-US" sz="1800"/>
              <a:t>查看推荐商品，平台依据浏览历史和偏好精准推送，发现潜在心仪好物。</a:t>
            </a:r>
            <a:endParaRPr lang="zh-CN" altLang="en-US" sz="1800"/>
          </a:p>
          <a:p>
            <a:pPr marL="0" indent="0" fontAlgn="auto">
              <a:lnSpc>
                <a:spcPct val="100000"/>
              </a:lnSpc>
              <a:spcBef>
                <a:spcPts val="0"/>
              </a:spcBef>
              <a:buNone/>
            </a:pPr>
            <a:r>
              <a:rPr lang="zh-CN" altLang="en-US" sz="1800"/>
              <a:t>探索热门商品，紧跟潮流趋势，了解当下爆款，参与热门商品讨论与选购。</a:t>
            </a:r>
            <a:endParaRPr lang="zh-CN" altLang="en-US" sz="1800"/>
          </a:p>
          <a:p>
            <a:pPr marL="0" indent="0" fontAlgn="auto">
              <a:lnSpc>
                <a:spcPct val="100000"/>
              </a:lnSpc>
              <a:spcBef>
                <a:spcPts val="0"/>
              </a:spcBef>
              <a:buNone/>
            </a:pPr>
            <a:r>
              <a:rPr lang="en-US" altLang="zh-CN" sz="1800"/>
              <a:t>2.</a:t>
            </a:r>
            <a:r>
              <a:rPr lang="zh-CN" altLang="en-US" sz="1800"/>
              <a:t>搜索商品</a:t>
            </a:r>
            <a:endParaRPr lang="zh-CN" altLang="en-US" sz="1800"/>
          </a:p>
          <a:p>
            <a:pPr marL="0" indent="0" fontAlgn="auto">
              <a:lnSpc>
                <a:spcPct val="100000"/>
              </a:lnSpc>
              <a:spcBef>
                <a:spcPts val="0"/>
              </a:spcBef>
              <a:buNone/>
            </a:pPr>
            <a:r>
              <a:rPr lang="zh-CN" altLang="en-US" sz="1800"/>
              <a:t>关键词搜索，输入简单词汇精准查找商品，如</a:t>
            </a:r>
            <a:r>
              <a:rPr lang="en-US" altLang="zh-CN" sz="1800"/>
              <a:t>“</a:t>
            </a:r>
            <a:r>
              <a:rPr lang="zh-CN" altLang="en-US" sz="1800"/>
              <a:t>运动鞋</a:t>
            </a:r>
            <a:r>
              <a:rPr lang="en-US" altLang="zh-CN" sz="1800"/>
              <a:t>”</a:t>
            </a:r>
            <a:r>
              <a:rPr lang="zh-CN" altLang="en-US" sz="1800"/>
              <a:t>，快速呈现相关结果。</a:t>
            </a:r>
            <a:endParaRPr lang="zh-CN" altLang="en-US" sz="1800"/>
          </a:p>
          <a:p>
            <a:pPr marL="0" indent="0" fontAlgn="auto">
              <a:lnSpc>
                <a:spcPct val="100000"/>
              </a:lnSpc>
              <a:spcBef>
                <a:spcPts val="0"/>
              </a:spcBef>
              <a:buNone/>
            </a:pPr>
            <a:r>
              <a:rPr lang="zh-CN" altLang="en-US" sz="1800"/>
              <a:t>高级筛选功能强大，按价格、品牌、评价等多维度筛选，缩小范围精准选购。</a:t>
            </a:r>
            <a:endParaRPr lang="zh-CN" altLang="en-US" sz="1800"/>
          </a:p>
          <a:p>
            <a:pPr marL="0" indent="0" fontAlgn="auto">
              <a:lnSpc>
                <a:spcPct val="100000"/>
              </a:lnSpc>
              <a:spcBef>
                <a:spcPts val="0"/>
              </a:spcBef>
              <a:buNone/>
            </a:pPr>
            <a:r>
              <a:rPr lang="zh-CN" altLang="en-US" sz="1800"/>
              <a:t>查看搜索历史记录，方便回顾过往搜索，快速回到感兴趣商品页面。</a:t>
            </a:r>
            <a:endParaRPr lang="zh-CN" altLang="en-US" sz="1800"/>
          </a:p>
          <a:p>
            <a:pPr marL="0" indent="0" fontAlgn="auto">
              <a:lnSpc>
                <a:spcPct val="100000"/>
              </a:lnSpc>
              <a:spcBef>
                <a:spcPts val="0"/>
              </a:spcBef>
              <a:buNone/>
            </a:pPr>
            <a:r>
              <a:rPr lang="en-US" altLang="zh-CN" sz="1800"/>
              <a:t>3.</a:t>
            </a:r>
            <a:r>
              <a:rPr lang="zh-CN" altLang="en-US" sz="1800"/>
              <a:t>查看商品详情</a:t>
            </a:r>
            <a:endParaRPr lang="zh-CN" altLang="en-US" sz="1800"/>
          </a:p>
          <a:p>
            <a:pPr marL="0" indent="0" fontAlgn="auto">
              <a:lnSpc>
                <a:spcPct val="100000"/>
              </a:lnSpc>
              <a:spcBef>
                <a:spcPts val="0"/>
              </a:spcBef>
              <a:buNone/>
            </a:pPr>
            <a:r>
              <a:rPr lang="zh-CN" altLang="en-US" sz="1800"/>
              <a:t>商品图片展示清晰，多角度呈现细节，帮助买家全面了解商品外观。</a:t>
            </a:r>
            <a:endParaRPr lang="zh-CN" altLang="en-US" sz="1800"/>
          </a:p>
          <a:p>
            <a:pPr marL="0" indent="0" fontAlgn="auto">
              <a:lnSpc>
                <a:spcPct val="100000"/>
              </a:lnSpc>
              <a:spcBef>
                <a:spcPts val="0"/>
              </a:spcBef>
              <a:buNone/>
            </a:pPr>
            <a:r>
              <a:rPr lang="zh-CN" altLang="en-US" sz="1800"/>
              <a:t>商品描述详细，涵盖材质、功能、尺寸等信息，让买家知晓商品特性。</a:t>
            </a:r>
            <a:endParaRPr lang="zh-CN" altLang="en-US" sz="1800"/>
          </a:p>
          <a:p>
            <a:pPr marL="0" indent="0" fontAlgn="auto">
              <a:lnSpc>
                <a:spcPct val="100000"/>
              </a:lnSpc>
              <a:spcBef>
                <a:spcPts val="0"/>
              </a:spcBef>
              <a:buNone/>
            </a:pPr>
            <a:r>
              <a:rPr lang="zh-CN" altLang="en-US" sz="1800"/>
              <a:t>用户评价与评分直观，参考他人使用经验，辅助判断商品质量与满意度。</a:t>
            </a:r>
            <a:endParaRPr lang="zh-CN" altLang="en-US" sz="1800"/>
          </a:p>
        </p:txBody>
      </p:sp>
      <p:sp>
        <p:nvSpPr>
          <p:cNvPr id="4" name="日期占位符 3"/>
          <p:cNvSpPr>
            <a:spLocks noGrp="1"/>
          </p:cNvSpPr>
          <p:nvPr>
            <p:ph type="dt" sz="half" idx="10"/>
          </p:nvPr>
        </p:nvSpPr>
        <p:spPr/>
        <p:txBody>
          <a:bodyPr/>
          <a:p>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pPr marL="0" indent="0" fontAlgn="auto">
              <a:lnSpc>
                <a:spcPct val="100000"/>
              </a:lnSpc>
              <a:spcBef>
                <a:spcPts val="0"/>
              </a:spcBef>
              <a:buNone/>
            </a:pPr>
            <a:r>
              <a:rPr lang="en-US" altLang="zh-CN"/>
              <a:t>4.</a:t>
            </a:r>
            <a:r>
              <a:rPr lang="zh-CN" altLang="en-US"/>
              <a:t>加入购物车</a:t>
            </a:r>
            <a:endParaRPr lang="zh-CN" altLang="en-US"/>
          </a:p>
          <a:p>
            <a:pPr marL="0" indent="0" fontAlgn="auto">
              <a:lnSpc>
                <a:spcPct val="100000"/>
              </a:lnSpc>
              <a:spcBef>
                <a:spcPts val="0"/>
              </a:spcBef>
              <a:buNone/>
            </a:pPr>
            <a:r>
              <a:rPr lang="zh-CN" altLang="en-US"/>
              <a:t>选择规格灵活，颜色、尺寸等多样选项，满足个性化需求。</a:t>
            </a:r>
            <a:endParaRPr lang="zh-CN" altLang="en-US"/>
          </a:p>
          <a:p>
            <a:pPr marL="0" indent="0" fontAlgn="auto">
              <a:lnSpc>
                <a:spcPct val="100000"/>
              </a:lnSpc>
              <a:spcBef>
                <a:spcPts val="0"/>
              </a:spcBef>
              <a:buNone/>
            </a:pPr>
            <a:r>
              <a:rPr lang="zh-CN" altLang="en-US"/>
              <a:t>输入购买数量便捷，支持批量购买，满足不同购物场景。</a:t>
            </a:r>
            <a:endParaRPr lang="zh-CN" altLang="en-US"/>
          </a:p>
          <a:p>
            <a:pPr marL="0" indent="0" fontAlgn="auto">
              <a:lnSpc>
                <a:spcPct val="100000"/>
              </a:lnSpc>
              <a:spcBef>
                <a:spcPts val="0"/>
              </a:spcBef>
              <a:buNone/>
            </a:pPr>
            <a:r>
              <a:rPr lang="zh-CN" altLang="en-US"/>
              <a:t>收藏商品功能实用，方便日后查看，不错过心仪商品。</a:t>
            </a:r>
            <a:endParaRPr lang="zh-CN" altLang="en-US"/>
          </a:p>
          <a:p>
            <a:pPr marL="0" indent="0" fontAlgn="auto">
              <a:lnSpc>
                <a:spcPct val="100000"/>
              </a:lnSpc>
              <a:spcBef>
                <a:spcPts val="0"/>
              </a:spcBef>
              <a:buNone/>
            </a:pPr>
            <a:r>
              <a:rPr lang="en-US" altLang="zh-CN"/>
              <a:t>5.</a:t>
            </a:r>
            <a:r>
              <a:rPr lang="zh-CN" altLang="en-US"/>
              <a:t>管理购物车</a:t>
            </a:r>
            <a:endParaRPr lang="zh-CN" altLang="en-US"/>
          </a:p>
          <a:p>
            <a:pPr marL="0" indent="0" fontAlgn="auto">
              <a:lnSpc>
                <a:spcPct val="100000"/>
              </a:lnSpc>
              <a:spcBef>
                <a:spcPts val="0"/>
              </a:spcBef>
              <a:buNone/>
            </a:pPr>
            <a:r>
              <a:rPr lang="zh-CN" altLang="en-US"/>
              <a:t>调整商品数量轻松，随时修改购买数量，灵活控制购物预算。</a:t>
            </a:r>
            <a:endParaRPr lang="zh-CN" altLang="en-US"/>
          </a:p>
          <a:p>
            <a:pPr marL="0" indent="0" fontAlgn="auto">
              <a:lnSpc>
                <a:spcPct val="100000"/>
              </a:lnSpc>
              <a:spcBef>
                <a:spcPts val="0"/>
              </a:spcBef>
              <a:buNone/>
            </a:pPr>
            <a:r>
              <a:rPr lang="zh-CN" altLang="en-US"/>
              <a:t>删除商品操作简便，快速清理不需商品，保持购物车整洁。</a:t>
            </a:r>
            <a:endParaRPr lang="zh-CN" altLang="en-US"/>
          </a:p>
          <a:p>
            <a:pPr marL="0" indent="0" fontAlgn="auto">
              <a:lnSpc>
                <a:spcPct val="100000"/>
              </a:lnSpc>
              <a:spcBef>
                <a:spcPts val="0"/>
              </a:spcBef>
              <a:buNone/>
            </a:pPr>
            <a:r>
              <a:rPr lang="zh-CN" altLang="en-US"/>
              <a:t>批量操作高效，全选或取消全选，批量修改或删除商品。</a:t>
            </a:r>
            <a:endParaRPr lang="zh-CN" altLang="en-US"/>
          </a:p>
          <a:p>
            <a:pPr marL="0" indent="0" fontAlgn="auto">
              <a:lnSpc>
                <a:spcPct val="100000"/>
              </a:lnSpc>
              <a:spcBef>
                <a:spcPts val="0"/>
              </a:spcBef>
              <a:buNone/>
            </a:pPr>
            <a:r>
              <a:rPr lang="en-US" altLang="zh-CN"/>
              <a:t>6.</a:t>
            </a:r>
            <a:r>
              <a:rPr lang="zh-CN" altLang="en-US"/>
              <a:t>下单购买</a:t>
            </a:r>
            <a:endParaRPr lang="zh-CN" altLang="en-US"/>
          </a:p>
          <a:p>
            <a:pPr marL="0" indent="0" fontAlgn="auto">
              <a:lnSpc>
                <a:spcPct val="100000"/>
              </a:lnSpc>
              <a:spcBef>
                <a:spcPts val="0"/>
              </a:spcBef>
              <a:buNone/>
            </a:pPr>
            <a:r>
              <a:rPr lang="zh-CN" altLang="en-US"/>
              <a:t>确认收货地址准确，确保商品顺利送达，避免地址错误带来麻烦。</a:t>
            </a:r>
            <a:endParaRPr lang="zh-CN" altLang="en-US"/>
          </a:p>
          <a:p>
            <a:pPr marL="0" indent="0" fontAlgn="auto">
              <a:lnSpc>
                <a:spcPct val="100000"/>
              </a:lnSpc>
              <a:spcBef>
                <a:spcPts val="0"/>
              </a:spcBef>
              <a:buNone/>
            </a:pPr>
            <a:r>
              <a:rPr lang="zh-CN" altLang="en-US"/>
              <a:t>选择支付方式多样，信用卡、第三方支付等，满足不同支付习惯。</a:t>
            </a:r>
            <a:endParaRPr lang="zh-CN" altLang="en-US"/>
          </a:p>
          <a:p>
            <a:pPr marL="0" indent="0" fontAlgn="auto">
              <a:lnSpc>
                <a:spcPct val="100000"/>
              </a:lnSpc>
              <a:spcBef>
                <a:spcPts val="0"/>
              </a:spcBef>
              <a:buNone/>
            </a:pPr>
            <a:r>
              <a:rPr lang="zh-CN" altLang="en-US"/>
              <a:t>订单确认与提交严谨，核对订单信息无误后提交，保障交易准确性。</a:t>
            </a:r>
            <a:endParaRPr lang="zh-CN" altLang="en-US"/>
          </a:p>
        </p:txBody>
      </p:sp>
      <p:sp>
        <p:nvSpPr>
          <p:cNvPr id="4" name="日期占位符 3"/>
          <p:cNvSpPr>
            <a:spLocks noGrp="1"/>
          </p:cNvSpPr>
          <p:nvPr>
            <p:ph type="dt" sz="half" idx="10"/>
          </p:nvPr>
        </p:nvSpPr>
        <p:spPr/>
        <p:txBody>
          <a:bodyPr/>
          <a:p>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Autofit/>
          </a:bodyPr>
          <a:p>
            <a:pPr marL="0" indent="0" fontAlgn="auto">
              <a:lnSpc>
                <a:spcPct val="100000"/>
              </a:lnSpc>
              <a:spcBef>
                <a:spcPts val="0"/>
              </a:spcBef>
              <a:buNone/>
            </a:pPr>
            <a:r>
              <a:rPr lang="en-US" altLang="zh-CN" sz="2000"/>
              <a:t>7.</a:t>
            </a:r>
            <a:r>
              <a:rPr lang="zh-CN" altLang="en-US" sz="2000"/>
              <a:t>在线支付</a:t>
            </a:r>
            <a:endParaRPr lang="zh-CN" altLang="en-US" sz="2000"/>
          </a:p>
          <a:p>
            <a:pPr marL="0" indent="0" fontAlgn="auto">
              <a:lnSpc>
                <a:spcPct val="100000"/>
              </a:lnSpc>
              <a:spcBef>
                <a:spcPts val="0"/>
              </a:spcBef>
              <a:buNone/>
            </a:pPr>
            <a:r>
              <a:rPr lang="zh-CN" altLang="en-US" sz="2000"/>
              <a:t>支持多种支付方式，涵盖主流支付渠道，满足不同用户需求。</a:t>
            </a:r>
            <a:endParaRPr lang="zh-CN" altLang="en-US" sz="2000"/>
          </a:p>
          <a:p>
            <a:pPr marL="0" indent="0" fontAlgn="auto">
              <a:lnSpc>
                <a:spcPct val="100000"/>
              </a:lnSpc>
              <a:spcBef>
                <a:spcPts val="0"/>
              </a:spcBef>
              <a:buNone/>
            </a:pPr>
            <a:r>
              <a:rPr lang="zh-CN" altLang="en-US" sz="2000"/>
              <a:t>支付安全验证严格，多重加密保护，确保交易资金安全无忧。</a:t>
            </a:r>
            <a:endParaRPr lang="zh-CN" altLang="en-US" sz="2000"/>
          </a:p>
          <a:p>
            <a:pPr marL="0" indent="0" fontAlgn="auto">
              <a:lnSpc>
                <a:spcPct val="100000"/>
              </a:lnSpc>
              <a:spcBef>
                <a:spcPts val="0"/>
              </a:spcBef>
              <a:buNone/>
            </a:pPr>
            <a:r>
              <a:rPr lang="zh-CN" altLang="en-US" sz="2000"/>
              <a:t>支付结果通知及时，成功或失败均有提示，让用户知晓交易状态。</a:t>
            </a:r>
            <a:endParaRPr lang="zh-CN" altLang="en-US" sz="2000"/>
          </a:p>
          <a:p>
            <a:pPr marL="0" indent="0" fontAlgn="auto">
              <a:lnSpc>
                <a:spcPct val="100000"/>
              </a:lnSpc>
              <a:spcBef>
                <a:spcPts val="0"/>
              </a:spcBef>
              <a:buNone/>
            </a:pPr>
            <a:r>
              <a:rPr lang="en-US" altLang="zh-CN" sz="2000"/>
              <a:t>8.</a:t>
            </a:r>
            <a:r>
              <a:rPr lang="zh-CN" altLang="en-US" sz="2000"/>
              <a:t>查看订单状态</a:t>
            </a:r>
            <a:endParaRPr lang="zh-CN" altLang="en-US" sz="2000"/>
          </a:p>
          <a:p>
            <a:pPr marL="0" indent="0" fontAlgn="auto">
              <a:lnSpc>
                <a:spcPct val="100000"/>
              </a:lnSpc>
              <a:spcBef>
                <a:spcPts val="0"/>
              </a:spcBef>
              <a:buNone/>
            </a:pPr>
            <a:r>
              <a:rPr lang="zh-CN" altLang="en-US" sz="2000"/>
              <a:t>订单追踪详细，发货、运输中、已送达等状态实时更新。</a:t>
            </a:r>
            <a:endParaRPr lang="zh-CN" altLang="en-US" sz="2000"/>
          </a:p>
          <a:p>
            <a:pPr marL="0" indent="0" fontAlgn="auto">
              <a:lnSpc>
                <a:spcPct val="100000"/>
              </a:lnSpc>
              <a:spcBef>
                <a:spcPts val="0"/>
              </a:spcBef>
              <a:buNone/>
            </a:pPr>
            <a:r>
              <a:rPr lang="zh-CN" altLang="en-US" sz="2000"/>
              <a:t>物流信息更新及时，查看物流动态，了解商品运输进度。</a:t>
            </a:r>
            <a:endParaRPr lang="zh-CN" altLang="en-US" sz="2000"/>
          </a:p>
          <a:p>
            <a:pPr marL="0" indent="0" fontAlgn="auto">
              <a:lnSpc>
                <a:spcPct val="100000"/>
              </a:lnSpc>
              <a:spcBef>
                <a:spcPts val="0"/>
              </a:spcBef>
              <a:buNone/>
            </a:pPr>
            <a:r>
              <a:rPr lang="en-US" altLang="zh-CN" sz="2000"/>
              <a:t>9.</a:t>
            </a:r>
            <a:r>
              <a:rPr lang="zh-CN" altLang="en-US" sz="2000"/>
              <a:t>取消订单</a:t>
            </a:r>
            <a:endParaRPr lang="zh-CN" altLang="en-US" sz="2000"/>
          </a:p>
          <a:p>
            <a:pPr marL="0" indent="0" fontAlgn="auto">
              <a:lnSpc>
                <a:spcPct val="100000"/>
              </a:lnSpc>
              <a:spcBef>
                <a:spcPts val="0"/>
              </a:spcBef>
              <a:buNone/>
            </a:pPr>
            <a:r>
              <a:rPr lang="zh-CN" altLang="en-US" sz="2000"/>
              <a:t>未发货前可申请取消，及时止损，避免不必要损失。</a:t>
            </a:r>
            <a:endParaRPr lang="zh-CN" altLang="en-US" sz="2000"/>
          </a:p>
          <a:p>
            <a:pPr marL="0" indent="0" fontAlgn="auto">
              <a:lnSpc>
                <a:spcPct val="100000"/>
              </a:lnSpc>
              <a:spcBef>
                <a:spcPts val="0"/>
              </a:spcBef>
              <a:buNone/>
            </a:pPr>
            <a:r>
              <a:rPr lang="zh-CN" altLang="en-US" sz="2000"/>
              <a:t>取消原因填写明确，帮助平台和卖家了解原因，优化服务。</a:t>
            </a:r>
            <a:endParaRPr lang="zh-CN" altLang="en-US" sz="2000"/>
          </a:p>
          <a:p>
            <a:pPr marL="0" indent="0" fontAlgn="auto">
              <a:lnSpc>
                <a:spcPct val="100000"/>
              </a:lnSpc>
              <a:spcBef>
                <a:spcPts val="0"/>
              </a:spcBef>
              <a:buNone/>
            </a:pPr>
            <a:endParaRPr lang="zh-CN" altLang="en-US" sz="2000"/>
          </a:p>
        </p:txBody>
      </p:sp>
      <p:sp>
        <p:nvSpPr>
          <p:cNvPr id="4" name="日期占位符 3"/>
          <p:cNvSpPr>
            <a:spLocks noGrp="1"/>
          </p:cNvSpPr>
          <p:nvPr>
            <p:ph type="dt" sz="half" idx="10"/>
          </p:nvPr>
        </p:nvSpPr>
        <p:spPr/>
        <p:txBody>
          <a:bodyPr/>
          <a:p>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80000"/>
          </a:bodyPr>
          <a:p>
            <a:pPr marL="0" indent="0" fontAlgn="auto">
              <a:lnSpc>
                <a:spcPct val="100000"/>
              </a:lnSpc>
              <a:spcBef>
                <a:spcPts val="0"/>
              </a:spcBef>
              <a:buNone/>
            </a:pPr>
            <a:r>
              <a:rPr lang="en-US" altLang="zh-CN">
                <a:sym typeface="+mn-ea"/>
              </a:rPr>
              <a:t>10.</a:t>
            </a:r>
            <a:r>
              <a:rPr lang="zh-CN" altLang="en-US">
                <a:sym typeface="+mn-ea"/>
              </a:rPr>
              <a:t>对商品进行评价</a:t>
            </a:r>
            <a:endParaRPr lang="zh-CN" altLang="en-US"/>
          </a:p>
          <a:p>
            <a:pPr marL="0" indent="0" fontAlgn="auto">
              <a:lnSpc>
                <a:spcPct val="100000"/>
              </a:lnSpc>
              <a:spcBef>
                <a:spcPts val="0"/>
              </a:spcBef>
              <a:buNone/>
            </a:pPr>
            <a:r>
              <a:rPr lang="zh-CN" altLang="en-US">
                <a:sym typeface="+mn-ea"/>
              </a:rPr>
              <a:t>提交文字评价表达观点，分享使用体验，为他人提供参考。</a:t>
            </a:r>
            <a:endParaRPr lang="zh-CN" altLang="en-US"/>
          </a:p>
          <a:p>
            <a:pPr marL="0" indent="0" fontAlgn="auto">
              <a:lnSpc>
                <a:spcPct val="100000"/>
              </a:lnSpc>
              <a:spcBef>
                <a:spcPts val="0"/>
              </a:spcBef>
              <a:buNone/>
            </a:pPr>
            <a:r>
              <a:rPr lang="zh-CN" altLang="en-US">
                <a:sym typeface="+mn-ea"/>
              </a:rPr>
              <a:t>上传图片或视频直观，展示商品实际使用效果，增强评价可信度。</a:t>
            </a:r>
            <a:endParaRPr lang="zh-CN" altLang="en-US"/>
          </a:p>
          <a:p>
            <a:pPr marL="0" indent="0" fontAlgn="auto">
              <a:lnSpc>
                <a:spcPct val="100000"/>
              </a:lnSpc>
              <a:spcBef>
                <a:spcPts val="0"/>
              </a:spcBef>
              <a:buNone/>
            </a:pPr>
            <a:r>
              <a:rPr lang="zh-CN" altLang="en-US">
                <a:sym typeface="+mn-ea"/>
              </a:rPr>
              <a:t>给出星级评分量化，简洁明了表达满意度，影响商品口碑。</a:t>
            </a:r>
            <a:endParaRPr lang="zh-CN" altLang="en-US"/>
          </a:p>
          <a:p>
            <a:pPr marL="0" indent="0" fontAlgn="auto">
              <a:lnSpc>
                <a:spcPct val="100000"/>
              </a:lnSpc>
              <a:spcBef>
                <a:spcPts val="0"/>
              </a:spcBef>
              <a:buNone/>
            </a:pPr>
            <a:r>
              <a:rPr lang="en-US" altLang="zh-CN">
                <a:sym typeface="+mn-ea"/>
              </a:rPr>
              <a:t>11.</a:t>
            </a:r>
            <a:r>
              <a:rPr lang="zh-CN" altLang="en-US">
                <a:sym typeface="+mn-ea"/>
              </a:rPr>
              <a:t>提交售后服务请求</a:t>
            </a:r>
            <a:endParaRPr lang="zh-CN" altLang="en-US"/>
          </a:p>
          <a:p>
            <a:pPr marL="0" indent="0" fontAlgn="auto">
              <a:lnSpc>
                <a:spcPct val="100000"/>
              </a:lnSpc>
              <a:spcBef>
                <a:spcPts val="0"/>
              </a:spcBef>
              <a:buNone/>
            </a:pPr>
            <a:r>
              <a:rPr lang="zh-CN" altLang="en-US">
                <a:sym typeface="+mn-ea"/>
              </a:rPr>
              <a:t>选择退货、换货、维修等服务类型，满足不同售后需求。</a:t>
            </a:r>
            <a:endParaRPr lang="zh-CN" altLang="en-US"/>
          </a:p>
          <a:p>
            <a:pPr marL="0" indent="0" fontAlgn="auto">
              <a:lnSpc>
                <a:spcPct val="100000"/>
              </a:lnSpc>
              <a:spcBef>
                <a:spcPts val="0"/>
              </a:spcBef>
              <a:buNone/>
            </a:pPr>
            <a:r>
              <a:rPr lang="zh-CN" altLang="en-US">
                <a:sym typeface="+mn-ea"/>
              </a:rPr>
              <a:t>售后原因说明清晰，让卖家快速了解问题，高效处理售后。</a:t>
            </a:r>
            <a:endParaRPr lang="zh-CN" altLang="en-US"/>
          </a:p>
          <a:p>
            <a:pPr marL="0" indent="0" fontAlgn="auto">
              <a:lnSpc>
                <a:spcPct val="100000"/>
              </a:lnSpc>
              <a:spcBef>
                <a:spcPts val="0"/>
              </a:spcBef>
              <a:buNone/>
            </a:pPr>
            <a:r>
              <a:rPr lang="zh-CN" altLang="en-US">
                <a:sym typeface="+mn-ea"/>
              </a:rPr>
              <a:t>上传相关凭证有力，照片、视频等证明问题，加快售后审核。</a:t>
            </a:r>
            <a:endParaRPr lang="zh-CN" altLang="en-US"/>
          </a:p>
          <a:p>
            <a:pPr marL="0" indent="0">
              <a:buNone/>
            </a:pPr>
            <a:endParaRPr lang="zh-CN" altLang="en-US"/>
          </a:p>
        </p:txBody>
      </p:sp>
      <p:sp>
        <p:nvSpPr>
          <p:cNvPr id="4" name="日期占位符 3"/>
          <p:cNvSpPr>
            <a:spLocks noGrp="1"/>
          </p:cNvSpPr>
          <p:nvPr>
            <p:ph type="dt" sz="half" idx="10"/>
          </p:nvPr>
        </p:nvSpPr>
        <p:spPr/>
        <p:txBody>
          <a:bodyPr/>
          <a:p>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卖家功能</a:t>
            </a:r>
            <a:endParaRPr lang="zh-CN" altLang="en-US"/>
          </a:p>
        </p:txBody>
      </p:sp>
      <p:sp>
        <p:nvSpPr>
          <p:cNvPr id="3" name="内容占位符 2"/>
          <p:cNvSpPr>
            <a:spLocks noGrp="1"/>
          </p:cNvSpPr>
          <p:nvPr>
            <p:ph idx="1"/>
          </p:nvPr>
        </p:nvSpPr>
        <p:spPr/>
        <p:txBody>
          <a:bodyPr/>
          <a:p>
            <a:pPr marL="0" indent="0" fontAlgn="auto">
              <a:lnSpc>
                <a:spcPct val="100000"/>
              </a:lnSpc>
              <a:spcBef>
                <a:spcPts val="0"/>
              </a:spcBef>
              <a:buNone/>
            </a:pPr>
            <a:r>
              <a:rPr lang="zh-CN" altLang="en-US" sz="1600"/>
              <a:t>（一）店铺管理</a:t>
            </a:r>
            <a:endParaRPr lang="zh-CN" altLang="en-US" sz="1600"/>
          </a:p>
          <a:p>
            <a:pPr marL="0" indent="0" fontAlgn="auto">
              <a:lnSpc>
                <a:spcPct val="100000"/>
              </a:lnSpc>
              <a:spcBef>
                <a:spcPts val="0"/>
              </a:spcBef>
              <a:buNone/>
            </a:pPr>
            <a:r>
              <a:rPr lang="en-US" altLang="zh-CN" sz="1600"/>
              <a:t>1.</a:t>
            </a:r>
            <a:r>
              <a:rPr lang="zh-CN" altLang="en-US" sz="1600"/>
              <a:t>管理店铺信息</a:t>
            </a:r>
            <a:endParaRPr lang="zh-CN" altLang="en-US" sz="1600"/>
          </a:p>
          <a:p>
            <a:pPr marL="0" indent="0" fontAlgn="auto">
              <a:lnSpc>
                <a:spcPct val="100000"/>
              </a:lnSpc>
              <a:spcBef>
                <a:spcPts val="0"/>
              </a:spcBef>
              <a:buNone/>
            </a:pPr>
            <a:r>
              <a:rPr lang="zh-CN" altLang="en-US" sz="1600"/>
              <a:t>更新店铺介绍及时，展示品牌理念与特色，吸引买家关注。</a:t>
            </a:r>
            <a:endParaRPr lang="zh-CN" altLang="en-US" sz="1600"/>
          </a:p>
          <a:p>
            <a:pPr marL="0" indent="0" fontAlgn="auto">
              <a:lnSpc>
                <a:spcPct val="100000"/>
              </a:lnSpc>
              <a:spcBef>
                <a:spcPts val="0"/>
              </a:spcBef>
              <a:buNone/>
            </a:pPr>
            <a:r>
              <a:rPr lang="zh-CN" altLang="en-US" sz="1600"/>
              <a:t>设计店铺页面布局美观，提升购物体验，增强店铺吸引力。</a:t>
            </a:r>
            <a:endParaRPr lang="zh-CN" altLang="en-US" sz="1600"/>
          </a:p>
          <a:p>
            <a:pPr marL="0" indent="0" fontAlgn="auto">
              <a:lnSpc>
                <a:spcPct val="100000"/>
              </a:lnSpc>
              <a:spcBef>
                <a:spcPts val="0"/>
              </a:spcBef>
              <a:buNone/>
            </a:pPr>
            <a:r>
              <a:rPr lang="zh-CN" altLang="en-US" sz="1600"/>
              <a:t>设置营业时间合理，让买家知晓营业时段，合理安排购物。</a:t>
            </a:r>
            <a:endParaRPr lang="zh-CN" altLang="en-US" sz="1600"/>
          </a:p>
          <a:p>
            <a:pPr marL="0" indent="0" fontAlgn="auto">
              <a:lnSpc>
                <a:spcPct val="100000"/>
              </a:lnSpc>
              <a:spcBef>
                <a:spcPts val="0"/>
              </a:spcBef>
              <a:buNone/>
            </a:pPr>
            <a:r>
              <a:rPr lang="zh-CN" altLang="en-US" sz="1600"/>
              <a:t>（二）商品管理</a:t>
            </a:r>
            <a:endParaRPr lang="zh-CN" altLang="en-US" sz="1600"/>
          </a:p>
          <a:p>
            <a:pPr marL="0" indent="0" fontAlgn="auto">
              <a:lnSpc>
                <a:spcPct val="100000"/>
              </a:lnSpc>
              <a:spcBef>
                <a:spcPts val="0"/>
              </a:spcBef>
              <a:buNone/>
            </a:pPr>
            <a:r>
              <a:rPr lang="en-US" altLang="zh-CN" sz="1600"/>
              <a:t>2.</a:t>
            </a:r>
            <a:r>
              <a:rPr lang="zh-CN" altLang="en-US" sz="1600"/>
              <a:t>发布商品</a:t>
            </a:r>
            <a:endParaRPr lang="zh-CN" altLang="en-US" sz="1600"/>
          </a:p>
          <a:p>
            <a:pPr marL="0" indent="0" fontAlgn="auto">
              <a:lnSpc>
                <a:spcPct val="100000"/>
              </a:lnSpc>
              <a:spcBef>
                <a:spcPts val="0"/>
              </a:spcBef>
              <a:buNone/>
            </a:pPr>
            <a:r>
              <a:rPr lang="zh-CN" altLang="en-US" sz="1600"/>
              <a:t>编写商品标题与描述精准，突出卖点，吸引买家点击。</a:t>
            </a:r>
            <a:endParaRPr lang="zh-CN" altLang="en-US" sz="1600"/>
          </a:p>
          <a:p>
            <a:pPr marL="0" indent="0" fontAlgn="auto">
              <a:lnSpc>
                <a:spcPct val="100000"/>
              </a:lnSpc>
              <a:spcBef>
                <a:spcPts val="0"/>
              </a:spcBef>
              <a:buNone/>
            </a:pPr>
            <a:r>
              <a:rPr lang="zh-CN" altLang="en-US" sz="1600"/>
              <a:t>上传商品图片或视频生动，展示商品细节与优势，激发购买欲。</a:t>
            </a:r>
            <a:endParaRPr lang="zh-CN" altLang="en-US" sz="1600"/>
          </a:p>
          <a:p>
            <a:pPr marL="0" indent="0" fontAlgn="auto">
              <a:lnSpc>
                <a:spcPct val="100000"/>
              </a:lnSpc>
              <a:spcBef>
                <a:spcPts val="0"/>
              </a:spcBef>
              <a:buNone/>
            </a:pPr>
            <a:r>
              <a:rPr lang="zh-CN" altLang="en-US" sz="1600"/>
              <a:t>设置价格与库存合理，依据成本与市场需求，确保利润与销售。</a:t>
            </a:r>
            <a:endParaRPr lang="zh-CN" altLang="en-US" sz="1600"/>
          </a:p>
          <a:p>
            <a:pPr marL="0" indent="0" fontAlgn="auto">
              <a:lnSpc>
                <a:spcPct val="100000"/>
              </a:lnSpc>
              <a:spcBef>
                <a:spcPts val="0"/>
              </a:spcBef>
              <a:buNone/>
            </a:pPr>
            <a:r>
              <a:rPr lang="en-US" altLang="zh-CN" sz="1600"/>
              <a:t>3.</a:t>
            </a:r>
            <a:r>
              <a:rPr lang="zh-CN" altLang="en-US" sz="1600"/>
              <a:t>管理商品</a:t>
            </a:r>
            <a:endParaRPr lang="zh-CN" altLang="en-US" sz="1600"/>
          </a:p>
          <a:p>
            <a:pPr marL="0" indent="0" fontAlgn="auto">
              <a:lnSpc>
                <a:spcPct val="100000"/>
              </a:lnSpc>
              <a:spcBef>
                <a:spcPts val="0"/>
              </a:spcBef>
              <a:buNone/>
            </a:pPr>
            <a:r>
              <a:rPr lang="zh-CN" altLang="en-US" sz="1600"/>
              <a:t>编辑现有商品信息及时，更新价格、库存等，保持信息准确。</a:t>
            </a:r>
            <a:endParaRPr lang="zh-CN" altLang="en-US" sz="1600"/>
          </a:p>
          <a:p>
            <a:pPr marL="0" indent="0" fontAlgn="auto">
              <a:lnSpc>
                <a:spcPct val="100000"/>
              </a:lnSpc>
              <a:spcBef>
                <a:spcPts val="0"/>
              </a:spcBef>
              <a:buNone/>
            </a:pPr>
            <a:r>
              <a:rPr lang="zh-CN" altLang="en-US" sz="1600"/>
              <a:t>上下架商品灵活，依据销售情况与市场变化，调整商品展示。</a:t>
            </a:r>
            <a:endParaRPr lang="zh-CN" altLang="en-US" sz="1600"/>
          </a:p>
          <a:p>
            <a:pPr marL="0" indent="0" fontAlgn="auto">
              <a:lnSpc>
                <a:spcPct val="100000"/>
              </a:lnSpc>
              <a:spcBef>
                <a:spcPts val="0"/>
              </a:spcBef>
              <a:buNone/>
            </a:pPr>
            <a:r>
              <a:rPr lang="zh-CN" altLang="en-US" sz="1600"/>
              <a:t>删除不再销售商品，清理无效商品，优化店铺商品结构。</a:t>
            </a:r>
            <a:endParaRPr lang="zh-CN" altLang="en-US" sz="1600"/>
          </a:p>
        </p:txBody>
      </p:sp>
      <p:sp>
        <p:nvSpPr>
          <p:cNvPr id="4" name="日期占位符 3"/>
          <p:cNvSpPr>
            <a:spLocks noGrp="1"/>
          </p:cNvSpPr>
          <p:nvPr>
            <p:ph type="dt" sz="half" idx="10"/>
          </p:nvPr>
        </p:nvSpPr>
        <p:spPr/>
        <p:txBody>
          <a:bodyPr/>
          <a:p>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pPr marL="0" indent="0" fontAlgn="auto">
              <a:lnSpc>
                <a:spcPct val="100000"/>
              </a:lnSpc>
              <a:spcBef>
                <a:spcPts val="0"/>
              </a:spcBef>
              <a:buNone/>
            </a:pPr>
            <a:r>
              <a:rPr lang="zh-CN" altLang="en-US"/>
              <a:t>（三）订单处理与销售分析</a:t>
            </a:r>
            <a:endParaRPr lang="zh-CN" altLang="en-US"/>
          </a:p>
          <a:p>
            <a:pPr marL="0" indent="0" fontAlgn="auto">
              <a:lnSpc>
                <a:spcPct val="100000"/>
              </a:lnSpc>
              <a:spcBef>
                <a:spcPts val="0"/>
              </a:spcBef>
              <a:buNone/>
            </a:pPr>
            <a:r>
              <a:rPr lang="en-US" altLang="zh-CN"/>
              <a:t>4.</a:t>
            </a:r>
            <a:r>
              <a:rPr lang="zh-CN" altLang="en-US"/>
              <a:t>处理订单</a:t>
            </a:r>
            <a:endParaRPr lang="zh-CN" altLang="en-US"/>
          </a:p>
          <a:p>
            <a:pPr marL="0" indent="0" fontAlgn="auto">
              <a:lnSpc>
                <a:spcPct val="100000"/>
              </a:lnSpc>
              <a:spcBef>
                <a:spcPts val="0"/>
              </a:spcBef>
              <a:buNone/>
            </a:pPr>
            <a:r>
              <a:rPr lang="zh-CN" altLang="en-US"/>
              <a:t>查看新订单及时，快速响应买家需求，提升买家满意度。</a:t>
            </a:r>
            <a:endParaRPr lang="zh-CN" altLang="en-US"/>
          </a:p>
          <a:p>
            <a:pPr marL="0" indent="0" fontAlgn="auto">
              <a:lnSpc>
                <a:spcPct val="100000"/>
              </a:lnSpc>
              <a:spcBef>
                <a:spcPts val="0"/>
              </a:spcBef>
              <a:buNone/>
            </a:pPr>
            <a:r>
              <a:rPr lang="zh-CN" altLang="en-US"/>
              <a:t>打印快递单便捷，提高发货效率，确保商品及时发出。</a:t>
            </a:r>
            <a:endParaRPr lang="zh-CN" altLang="en-US"/>
          </a:p>
          <a:p>
            <a:pPr marL="0" indent="0" fontAlgn="auto">
              <a:lnSpc>
                <a:spcPct val="100000"/>
              </a:lnSpc>
              <a:spcBef>
                <a:spcPts val="0"/>
              </a:spcBef>
              <a:buNone/>
            </a:pPr>
            <a:r>
              <a:rPr lang="zh-CN" altLang="en-US"/>
              <a:t>发货并更新物流信息，让买家实时了解商品运输状态。</a:t>
            </a:r>
            <a:endParaRPr lang="zh-CN" altLang="en-US"/>
          </a:p>
          <a:p>
            <a:pPr marL="0" indent="0" fontAlgn="auto">
              <a:lnSpc>
                <a:spcPct val="100000"/>
              </a:lnSpc>
              <a:spcBef>
                <a:spcPts val="0"/>
              </a:spcBef>
              <a:buNone/>
            </a:pPr>
            <a:r>
              <a:rPr lang="en-US" altLang="zh-CN"/>
              <a:t>5.</a:t>
            </a:r>
            <a:r>
              <a:rPr lang="zh-CN" altLang="en-US"/>
              <a:t>更新库存信息</a:t>
            </a:r>
            <a:endParaRPr lang="zh-CN" altLang="en-US"/>
          </a:p>
          <a:p>
            <a:pPr marL="0" indent="0" fontAlgn="auto">
              <a:lnSpc>
                <a:spcPct val="100000"/>
              </a:lnSpc>
              <a:spcBef>
                <a:spcPts val="0"/>
              </a:spcBef>
              <a:buNone/>
            </a:pPr>
            <a:r>
              <a:rPr lang="zh-CN" altLang="en-US"/>
              <a:t>实时更新库存数量，确保库存数据准确，避免超卖或缺货。</a:t>
            </a:r>
            <a:endParaRPr lang="zh-CN" altLang="en-US"/>
          </a:p>
          <a:p>
            <a:pPr marL="0" indent="0" fontAlgn="auto">
              <a:lnSpc>
                <a:spcPct val="100000"/>
              </a:lnSpc>
              <a:spcBef>
                <a:spcPts val="0"/>
              </a:spcBef>
              <a:buNone/>
            </a:pPr>
            <a:r>
              <a:rPr lang="zh-CN" altLang="en-US"/>
              <a:t>设置库存预警值合理，提前补货，保障商品供应稳定。</a:t>
            </a:r>
            <a:endParaRPr lang="zh-CN" altLang="en-US"/>
          </a:p>
          <a:p>
            <a:pPr marL="0" indent="0" fontAlgn="auto">
              <a:lnSpc>
                <a:spcPct val="100000"/>
              </a:lnSpc>
              <a:spcBef>
                <a:spcPts val="0"/>
              </a:spcBef>
              <a:buNone/>
            </a:pPr>
            <a:r>
              <a:rPr lang="en-US" altLang="zh-CN"/>
              <a:t>6.</a:t>
            </a:r>
            <a:r>
              <a:rPr lang="zh-CN" altLang="en-US"/>
              <a:t>查看销售报告</a:t>
            </a:r>
            <a:endParaRPr lang="zh-CN" altLang="en-US"/>
          </a:p>
          <a:p>
            <a:pPr marL="0" indent="0" fontAlgn="auto">
              <a:lnSpc>
                <a:spcPct val="100000"/>
              </a:lnSpc>
              <a:spcBef>
                <a:spcPts val="0"/>
              </a:spcBef>
              <a:buNone/>
            </a:pPr>
            <a:r>
              <a:rPr lang="zh-CN" altLang="en-US"/>
              <a:t>销售趋势分析直观，了解销售波动，制定营销策略。</a:t>
            </a:r>
            <a:endParaRPr lang="zh-CN" altLang="en-US"/>
          </a:p>
          <a:p>
            <a:pPr marL="0" indent="0" fontAlgn="auto">
              <a:lnSpc>
                <a:spcPct val="100000"/>
              </a:lnSpc>
              <a:spcBef>
                <a:spcPts val="0"/>
              </a:spcBef>
              <a:buNone/>
            </a:pPr>
            <a:r>
              <a:rPr lang="zh-CN" altLang="en-US"/>
              <a:t>商品热销排行清晰，明确畅销商品，优化商品结构。</a:t>
            </a:r>
            <a:endParaRPr lang="zh-CN" altLang="en-US"/>
          </a:p>
          <a:p>
            <a:pPr marL="0" indent="0" fontAlgn="auto">
              <a:lnSpc>
                <a:spcPct val="100000"/>
              </a:lnSpc>
              <a:spcBef>
                <a:spcPts val="0"/>
              </a:spcBef>
              <a:buNone/>
            </a:pPr>
            <a:r>
              <a:rPr lang="zh-CN" altLang="en-US"/>
              <a:t>客户来源分析精准，了解买家地域与渠道，拓展市场。</a:t>
            </a:r>
            <a:endParaRPr lang="zh-CN" altLang="en-US"/>
          </a:p>
        </p:txBody>
      </p:sp>
      <p:sp>
        <p:nvSpPr>
          <p:cNvPr id="4" name="日期占位符 3"/>
          <p:cNvSpPr>
            <a:spLocks noGrp="1"/>
          </p:cNvSpPr>
          <p:nvPr>
            <p:ph type="dt" sz="half" idx="10"/>
          </p:nvPr>
        </p:nvSpPr>
        <p:spPr/>
        <p:txBody>
          <a:bodyPr/>
          <a:p>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60000"/>
          </a:bodyPr>
          <a:p>
            <a:pPr marL="0" indent="0">
              <a:buNone/>
            </a:pPr>
            <a:r>
              <a:rPr lang="zh-CN" altLang="en-US"/>
              <a:t>（四）客户服务与售后</a:t>
            </a:r>
            <a:endParaRPr lang="zh-CN" altLang="en-US"/>
          </a:p>
          <a:p>
            <a:pPr marL="0" indent="0">
              <a:buNone/>
            </a:pPr>
            <a:r>
              <a:rPr lang="en-US" altLang="zh-CN"/>
              <a:t>7.</a:t>
            </a:r>
            <a:r>
              <a:rPr lang="zh-CN" altLang="en-US"/>
              <a:t>处理客户评价</a:t>
            </a:r>
            <a:endParaRPr lang="zh-CN" altLang="en-US"/>
          </a:p>
          <a:p>
            <a:pPr marL="0" indent="0">
              <a:buNone/>
            </a:pPr>
            <a:r>
              <a:rPr lang="zh-CN" altLang="en-US"/>
              <a:t>回复用户评论及时，解答疑问，提升买家满意度与忠诚度。</a:t>
            </a:r>
            <a:endParaRPr lang="zh-CN" altLang="en-US"/>
          </a:p>
          <a:p>
            <a:pPr marL="0" indent="0">
              <a:buNone/>
            </a:pPr>
            <a:r>
              <a:rPr lang="zh-CN" altLang="en-US"/>
              <a:t>根据反馈改进商品和服务，优化产品与服务，提升竞争力。</a:t>
            </a:r>
            <a:endParaRPr lang="zh-CN" altLang="en-US"/>
          </a:p>
          <a:p>
            <a:pPr marL="0" indent="0">
              <a:buNone/>
            </a:pPr>
            <a:r>
              <a:rPr lang="en-US" altLang="zh-CN"/>
              <a:t>8.</a:t>
            </a:r>
            <a:r>
              <a:rPr lang="zh-CN" altLang="en-US"/>
              <a:t>售后服务管理</a:t>
            </a:r>
            <a:endParaRPr lang="zh-CN" altLang="en-US"/>
          </a:p>
          <a:p>
            <a:pPr marL="0" indent="0">
              <a:buNone/>
            </a:pPr>
            <a:r>
              <a:rPr lang="zh-CN" altLang="en-US"/>
              <a:t>审核退货、换货请求公正，依据平台规则与实际情况处理。</a:t>
            </a:r>
            <a:endParaRPr lang="zh-CN" altLang="en-US"/>
          </a:p>
          <a:p>
            <a:pPr marL="0" indent="0">
              <a:buNone/>
            </a:pPr>
            <a:r>
              <a:rPr lang="zh-CN" altLang="en-US"/>
              <a:t>处理维修申请高效，及时解决买家问题，维护品牌形象。</a:t>
            </a:r>
            <a:endParaRPr lang="zh-CN" altLang="en-US"/>
          </a:p>
          <a:p>
            <a:pPr marL="0" indent="0">
              <a:buNone/>
            </a:pPr>
            <a:r>
              <a:rPr lang="zh-CN" altLang="en-US"/>
              <a:t>向平台管理员报告争议情况，借助平台力量，妥善解决问题。</a:t>
            </a:r>
            <a:endParaRPr lang="zh-CN" altLang="en-US"/>
          </a:p>
        </p:txBody>
      </p:sp>
      <p:sp>
        <p:nvSpPr>
          <p:cNvPr id="4" name="日期占位符 3"/>
          <p:cNvSpPr>
            <a:spLocks noGrp="1"/>
          </p:cNvSpPr>
          <p:nvPr>
            <p:ph type="dt" sz="half" idx="10"/>
          </p:nvPr>
        </p:nvSpPr>
        <p:spPr/>
        <p:txBody>
          <a:bodyPr/>
          <a:p>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zh-CN" altLang="en-US" dirty="0"/>
              <a:t>网上报名系统的业务用例建模</a:t>
            </a:r>
            <a:endParaRPr lang="zh-CN" altLang="en-US" dirty="0"/>
          </a:p>
        </p:txBody>
      </p:sp>
      <p:sp>
        <p:nvSpPr>
          <p:cNvPr id="98307" name="Rectangle 3"/>
          <p:cNvSpPr>
            <a:spLocks noGrp="1" noChangeArrowheads="1"/>
          </p:cNvSpPr>
          <p:nvPr>
            <p:ph idx="1"/>
          </p:nvPr>
        </p:nvSpPr>
        <p:spPr>
          <a:xfrm>
            <a:off x="768097" y="851025"/>
            <a:ext cx="7832833" cy="3806854"/>
          </a:xfrm>
        </p:spPr>
        <p:txBody>
          <a:bodyPr>
            <a:noAutofit/>
          </a:bodyPr>
          <a:lstStyle/>
          <a:p>
            <a:pPr marL="400050" indent="-400050">
              <a:lnSpc>
                <a:spcPct val="120000"/>
              </a:lnSpc>
              <a:spcBef>
                <a:spcPts val="450"/>
              </a:spcBef>
            </a:pPr>
            <a:r>
              <a:rPr lang="zh-CN" altLang="en-US" sz="2000" dirty="0"/>
              <a:t>现在我们要对网上报名系统进行业务用例建模。在上次进行的访谈中，我们得知：</a:t>
            </a:r>
            <a:endParaRPr lang="zh-CN" altLang="en-US" sz="2000" dirty="0"/>
          </a:p>
          <a:p>
            <a:pPr marL="400050" indent="-400050">
              <a:lnSpc>
                <a:spcPct val="120000"/>
              </a:lnSpc>
              <a:spcBef>
                <a:spcPts val="450"/>
              </a:spcBef>
              <a:buFontTx/>
              <a:buAutoNum type="arabicPeriod"/>
            </a:pPr>
            <a:r>
              <a:rPr lang="zh-CN" altLang="en-US" sz="2000" dirty="0"/>
              <a:t>该系统的使用者：各省队参赛</a:t>
            </a:r>
            <a:r>
              <a:rPr lang="zh-CN" altLang="en-US" sz="2000" dirty="0">
                <a:solidFill>
                  <a:srgbClr val="FF0000"/>
                </a:solidFill>
              </a:rPr>
              <a:t>报名负责人</a:t>
            </a:r>
            <a:r>
              <a:rPr lang="zh-CN" altLang="en-US" sz="2000" dirty="0"/>
              <a:t>（各省队用户）和中国赛艇协会</a:t>
            </a:r>
            <a:r>
              <a:rPr lang="zh-CN" altLang="en-US" sz="2000" dirty="0">
                <a:solidFill>
                  <a:srgbClr val="FF0000"/>
                </a:solidFill>
              </a:rPr>
              <a:t>管理人员</a:t>
            </a:r>
            <a:r>
              <a:rPr lang="zh-CN" altLang="en-US" sz="2000" dirty="0"/>
              <a:t>。</a:t>
            </a:r>
            <a:endParaRPr lang="en-US" altLang="zh-CN" sz="2000" dirty="0"/>
          </a:p>
          <a:p>
            <a:pPr marL="400050" indent="-400050">
              <a:lnSpc>
                <a:spcPct val="120000"/>
              </a:lnSpc>
              <a:spcBef>
                <a:spcPts val="450"/>
              </a:spcBef>
              <a:buFontTx/>
              <a:buAutoNum type="arabicPeriod"/>
            </a:pPr>
            <a:r>
              <a:rPr lang="zh-CN" altLang="en-US" sz="2000" dirty="0"/>
              <a:t>各省队用户的主要业务：</a:t>
            </a:r>
            <a:endParaRPr lang="en-US" altLang="zh-CN" sz="2000" dirty="0"/>
          </a:p>
          <a:p>
            <a:pPr marL="370205" lvl="2" indent="0">
              <a:lnSpc>
                <a:spcPct val="120000"/>
              </a:lnSpc>
              <a:spcBef>
                <a:spcPts val="450"/>
              </a:spcBef>
              <a:buNone/>
            </a:pPr>
            <a:r>
              <a:rPr lang="zh-CN" altLang="en-US" sz="1400" dirty="0"/>
              <a:t>（</a:t>
            </a:r>
            <a:r>
              <a:rPr lang="en-US" altLang="zh-CN" sz="1400" dirty="0"/>
              <a:t>1</a:t>
            </a:r>
            <a:r>
              <a:rPr lang="zh-CN" altLang="en-US" sz="1400" dirty="0"/>
              <a:t>）</a:t>
            </a:r>
            <a:r>
              <a:rPr lang="zh-CN" altLang="en-US" sz="1800" dirty="0"/>
              <a:t>查看赛事信息</a:t>
            </a:r>
            <a:endParaRPr lang="zh-CN" altLang="en-US" sz="1800" dirty="0"/>
          </a:p>
          <a:p>
            <a:pPr marL="370205" lvl="2" indent="0">
              <a:lnSpc>
                <a:spcPct val="120000"/>
              </a:lnSpc>
              <a:spcBef>
                <a:spcPts val="450"/>
              </a:spcBef>
              <a:buNone/>
            </a:pPr>
            <a:r>
              <a:rPr lang="zh-CN" altLang="en-US" sz="1800" dirty="0"/>
              <a:t>（</a:t>
            </a:r>
            <a:r>
              <a:rPr lang="en-US" altLang="zh-CN" sz="1800" dirty="0"/>
              <a:t>2</a:t>
            </a:r>
            <a:r>
              <a:rPr lang="zh-CN" altLang="en-US" sz="1800" dirty="0"/>
              <a:t>）报名：</a:t>
            </a:r>
            <a:endParaRPr lang="zh-CN" altLang="en-US" sz="1800" dirty="0"/>
          </a:p>
          <a:p>
            <a:pPr marL="370205" lvl="2" indent="0">
              <a:lnSpc>
                <a:spcPct val="120000"/>
              </a:lnSpc>
              <a:spcBef>
                <a:spcPts val="450"/>
              </a:spcBef>
              <a:buNone/>
            </a:pPr>
            <a:r>
              <a:rPr lang="zh-CN" altLang="en-US" sz="1800" dirty="0"/>
              <a:t>          </a:t>
            </a:r>
            <a:r>
              <a:rPr lang="en-US" altLang="zh-CN" sz="1800" dirty="0" err="1"/>
              <a:t>i</a:t>
            </a:r>
            <a:r>
              <a:rPr lang="zh-CN" altLang="en-US" sz="1800" dirty="0"/>
              <a:t>）参赛单位报名</a:t>
            </a:r>
            <a:endParaRPr lang="en-US" altLang="zh-CN" sz="1800" dirty="0"/>
          </a:p>
          <a:p>
            <a:pPr marL="370205" lvl="2" indent="0">
              <a:lnSpc>
                <a:spcPct val="120000"/>
              </a:lnSpc>
              <a:spcBef>
                <a:spcPts val="450"/>
              </a:spcBef>
              <a:buNone/>
            </a:pPr>
            <a:r>
              <a:rPr lang="zh-CN" altLang="en-US" sz="1800" dirty="0"/>
              <a:t>          </a:t>
            </a:r>
            <a:r>
              <a:rPr lang="en-US" altLang="zh-CN" sz="1800" dirty="0"/>
              <a:t>ii</a:t>
            </a:r>
            <a:r>
              <a:rPr lang="zh-CN" altLang="en-US" sz="1800" dirty="0"/>
              <a:t>）参赛运动员报名</a:t>
            </a:r>
            <a:endParaRPr lang="zh-CN" altLang="en-US" sz="1800" dirty="0"/>
          </a:p>
        </p:txBody>
      </p:sp>
      <p:sp>
        <p:nvSpPr>
          <p:cNvPr id="3" name="日期占位符 2"/>
          <p:cNvSpPr>
            <a:spLocks noGrp="1"/>
          </p:cNvSpPr>
          <p:nvPr>
            <p:ph type="dt" sz="half" idx="10"/>
          </p:nvPr>
        </p:nvSpPr>
        <p:spPr/>
        <p:txBody>
          <a:bodyPr/>
          <a:lstStyle/>
          <a:p>
            <a:pPr>
              <a:spcAft>
                <a:spcPts val="0"/>
              </a:spcAft>
            </a:pPr>
            <a:fld id="{A0361AB7-29A0-47BD-9849-BDC2538FAC42}" type="datetime1">
              <a:rPr lang="zh-CN" altLang="en-US" smtClean="0"/>
            </a:fld>
            <a:endParaRPr lang="zh-CN" altLang="en-US" dirty="0"/>
          </a:p>
        </p:txBody>
      </p:sp>
      <p:sp>
        <p:nvSpPr>
          <p:cNvPr id="4" name="页脚占位符 3"/>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2" name="灯片编号占位符 1"/>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8307">
                                            <p:txEl>
                                              <p:pRg st="0" end="0"/>
                                            </p:txEl>
                                          </p:spTgt>
                                        </p:tgtEl>
                                        <p:attrNameLst>
                                          <p:attrName>style.visibility</p:attrName>
                                        </p:attrNameLst>
                                      </p:cBhvr>
                                      <p:to>
                                        <p:strVal val="visible"/>
                                      </p:to>
                                    </p:set>
                                    <p:animEffect transition="in" filter="wipe(up)">
                                      <p:cBhvr>
                                        <p:cTn id="7" dur="500"/>
                                        <p:tgtEl>
                                          <p:spTgt spid="98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8307">
                                            <p:txEl>
                                              <p:pRg st="1" end="1"/>
                                            </p:txEl>
                                          </p:spTgt>
                                        </p:tgtEl>
                                        <p:attrNameLst>
                                          <p:attrName>style.visibility</p:attrName>
                                        </p:attrNameLst>
                                      </p:cBhvr>
                                      <p:to>
                                        <p:strVal val="visible"/>
                                      </p:to>
                                    </p:set>
                                    <p:animEffect transition="in" filter="wipe(up)">
                                      <p:cBhvr>
                                        <p:cTn id="12" dur="500"/>
                                        <p:tgtEl>
                                          <p:spTgt spid="983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8307">
                                            <p:txEl>
                                              <p:pRg st="2" end="2"/>
                                            </p:txEl>
                                          </p:spTgt>
                                        </p:tgtEl>
                                        <p:attrNameLst>
                                          <p:attrName>style.visibility</p:attrName>
                                        </p:attrNameLst>
                                      </p:cBhvr>
                                      <p:to>
                                        <p:strVal val="visible"/>
                                      </p:to>
                                    </p:set>
                                    <p:animEffect transition="in" filter="wipe(up)">
                                      <p:cBhvr>
                                        <p:cTn id="17" dur="500"/>
                                        <p:tgtEl>
                                          <p:spTgt spid="98307">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98307">
                                            <p:txEl>
                                              <p:pRg st="3" end="3"/>
                                            </p:txEl>
                                          </p:spTgt>
                                        </p:tgtEl>
                                        <p:attrNameLst>
                                          <p:attrName>style.visibility</p:attrName>
                                        </p:attrNameLst>
                                      </p:cBhvr>
                                      <p:to>
                                        <p:strVal val="visible"/>
                                      </p:to>
                                    </p:set>
                                    <p:animEffect transition="in" filter="wipe(up)">
                                      <p:cBhvr>
                                        <p:cTn id="20" dur="500"/>
                                        <p:tgtEl>
                                          <p:spTgt spid="98307">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98307">
                                            <p:txEl>
                                              <p:pRg st="4" end="4"/>
                                            </p:txEl>
                                          </p:spTgt>
                                        </p:tgtEl>
                                        <p:attrNameLst>
                                          <p:attrName>style.visibility</p:attrName>
                                        </p:attrNameLst>
                                      </p:cBhvr>
                                      <p:to>
                                        <p:strVal val="visible"/>
                                      </p:to>
                                    </p:set>
                                    <p:animEffect transition="in" filter="wipe(up)">
                                      <p:cBhvr>
                                        <p:cTn id="23" dur="500"/>
                                        <p:tgtEl>
                                          <p:spTgt spid="98307">
                                            <p:txEl>
                                              <p:pRg st="4" end="4"/>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98307">
                                            <p:txEl>
                                              <p:pRg st="5" end="5"/>
                                            </p:txEl>
                                          </p:spTgt>
                                        </p:tgtEl>
                                        <p:attrNameLst>
                                          <p:attrName>style.visibility</p:attrName>
                                        </p:attrNameLst>
                                      </p:cBhvr>
                                      <p:to>
                                        <p:strVal val="visible"/>
                                      </p:to>
                                    </p:set>
                                    <p:animEffect transition="in" filter="wipe(up)">
                                      <p:cBhvr>
                                        <p:cTn id="26" dur="500"/>
                                        <p:tgtEl>
                                          <p:spTgt spid="98307">
                                            <p:txEl>
                                              <p:pRg st="5" end="5"/>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98307">
                                            <p:txEl>
                                              <p:pRg st="6" end="6"/>
                                            </p:txEl>
                                          </p:spTgt>
                                        </p:tgtEl>
                                        <p:attrNameLst>
                                          <p:attrName>style.visibility</p:attrName>
                                        </p:attrNameLst>
                                      </p:cBhvr>
                                      <p:to>
                                        <p:strVal val="visible"/>
                                      </p:to>
                                    </p:set>
                                    <p:animEffect transition="in" filter="wipe(up)">
                                      <p:cBhvr>
                                        <p:cTn id="29" dur="500"/>
                                        <p:tgtEl>
                                          <p:spTgt spid="983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7"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4"/>
          <p:cNvSpPr>
            <a:spLocks noGrp="1"/>
          </p:cNvSpPr>
          <p:nvPr>
            <p:ph type="title"/>
          </p:nvPr>
        </p:nvSpPr>
        <p:spPr/>
        <p:txBody>
          <a:bodyPr/>
          <a:lstStyle/>
          <a:p>
            <a:pPr>
              <a:spcAft>
                <a:spcPts val="0"/>
              </a:spcAft>
            </a:pPr>
            <a:r>
              <a:rPr lang="zh-CN" altLang="en-US" dirty="0"/>
              <a:t>网上报名系统的业务用例建模</a:t>
            </a:r>
            <a:endParaRPr lang="zh-CN" altLang="en-US" dirty="0"/>
          </a:p>
        </p:txBody>
      </p:sp>
      <p:sp>
        <p:nvSpPr>
          <p:cNvPr id="98307" name="Rectangle 3"/>
          <p:cNvSpPr>
            <a:spLocks noGrp="1" noChangeArrowheads="1"/>
          </p:cNvSpPr>
          <p:nvPr>
            <p:ph idx="1"/>
          </p:nvPr>
        </p:nvSpPr>
        <p:spPr>
          <a:xfrm>
            <a:off x="660292" y="1147589"/>
            <a:ext cx="7832833" cy="2178693"/>
          </a:xfrm>
        </p:spPr>
        <p:txBody>
          <a:bodyPr>
            <a:noAutofit/>
          </a:bodyPr>
          <a:lstStyle/>
          <a:p>
            <a:pPr marL="386080" indent="-386080">
              <a:buFont typeface="+mj-lt"/>
              <a:buAutoNum type="arabicPeriod" startAt="3"/>
            </a:pPr>
            <a:r>
              <a:rPr lang="zh-CN" altLang="en-US" sz="2400" dirty="0"/>
              <a:t>中国赛艇协会管理人员的主要业务：</a:t>
            </a:r>
            <a:endParaRPr lang="zh-CN" altLang="en-US" sz="2400" dirty="0"/>
          </a:p>
          <a:p>
            <a:pPr marL="370205" lvl="2" indent="0">
              <a:spcBef>
                <a:spcPts val="1200"/>
              </a:spcBef>
              <a:spcAft>
                <a:spcPts val="0"/>
              </a:spcAft>
              <a:buNone/>
            </a:pPr>
            <a:r>
              <a:rPr lang="zh-CN" altLang="en-US" sz="1800" dirty="0"/>
              <a:t>（</a:t>
            </a:r>
            <a:r>
              <a:rPr lang="en-US" altLang="zh-CN" sz="1800" dirty="0"/>
              <a:t>1</a:t>
            </a:r>
            <a:r>
              <a:rPr lang="zh-CN" altLang="en-US" sz="1800" dirty="0"/>
              <a:t>）各省队用户管理</a:t>
            </a:r>
            <a:endParaRPr lang="en-US" altLang="zh-CN" sz="1800" dirty="0"/>
          </a:p>
          <a:p>
            <a:pPr marL="370205" lvl="2" indent="0">
              <a:spcBef>
                <a:spcPts val="1200"/>
              </a:spcBef>
              <a:spcAft>
                <a:spcPts val="0"/>
              </a:spcAft>
              <a:buNone/>
            </a:pPr>
            <a:r>
              <a:rPr lang="zh-CN" altLang="en-US" sz="1800" dirty="0"/>
              <a:t>（</a:t>
            </a:r>
            <a:r>
              <a:rPr lang="en-US" altLang="zh-CN" sz="1800" dirty="0"/>
              <a:t>2</a:t>
            </a:r>
            <a:r>
              <a:rPr lang="zh-CN" altLang="en-US" sz="1800" dirty="0"/>
              <a:t>）单位管理</a:t>
            </a:r>
            <a:endParaRPr lang="zh-CN" altLang="en-US" sz="1800" dirty="0"/>
          </a:p>
          <a:p>
            <a:pPr marL="370205" lvl="2" indent="0">
              <a:spcBef>
                <a:spcPts val="1200"/>
              </a:spcBef>
              <a:spcAft>
                <a:spcPts val="0"/>
              </a:spcAft>
              <a:buNone/>
            </a:pPr>
            <a:r>
              <a:rPr lang="zh-CN" altLang="en-US" sz="1800" dirty="0"/>
              <a:t>（</a:t>
            </a:r>
            <a:r>
              <a:rPr lang="en-US" altLang="zh-CN" sz="1800" dirty="0"/>
              <a:t>3</a:t>
            </a:r>
            <a:r>
              <a:rPr lang="zh-CN" altLang="en-US" sz="1800" dirty="0"/>
              <a:t>）运动员管理</a:t>
            </a:r>
            <a:endParaRPr lang="en-US" altLang="zh-CN" sz="1800" dirty="0"/>
          </a:p>
          <a:p>
            <a:pPr marL="370205" lvl="2" indent="0">
              <a:spcBef>
                <a:spcPts val="1200"/>
              </a:spcBef>
              <a:buNone/>
            </a:pPr>
            <a:r>
              <a:rPr lang="zh-CN" altLang="en-US" sz="1800" dirty="0"/>
              <a:t>（</a:t>
            </a:r>
            <a:r>
              <a:rPr lang="en-US" altLang="zh-CN" sz="1800" dirty="0"/>
              <a:t>4</a:t>
            </a:r>
            <a:r>
              <a:rPr lang="zh-CN" altLang="en-US" sz="1800" dirty="0"/>
              <a:t>）竞赛项目管理</a:t>
            </a:r>
            <a:endParaRPr lang="zh-CN" altLang="en-US" sz="1800" dirty="0"/>
          </a:p>
        </p:txBody>
      </p:sp>
      <p:sp>
        <p:nvSpPr>
          <p:cNvPr id="5" name="日期占位符 4"/>
          <p:cNvSpPr>
            <a:spLocks noGrp="1"/>
          </p:cNvSpPr>
          <p:nvPr>
            <p:ph type="dt" sz="half" idx="10"/>
          </p:nvPr>
        </p:nvSpPr>
        <p:spPr/>
        <p:txBody>
          <a:bodyPr/>
          <a:lstStyle/>
          <a:p>
            <a:pPr>
              <a:spcAft>
                <a:spcPts val="0"/>
              </a:spcAft>
            </a:pPr>
            <a:fld id="{D978F0D1-431C-4F45-A909-050858201824}" type="datetime1">
              <a:rPr lang="zh-CN" altLang="en-US" smtClean="0"/>
            </a:fld>
            <a:endParaRPr lang="zh-CN" altLang="en-US" dirty="0"/>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7" name="矩形 6"/>
          <p:cNvSpPr/>
          <p:nvPr/>
        </p:nvSpPr>
        <p:spPr>
          <a:xfrm>
            <a:off x="4019979" y="1683167"/>
            <a:ext cx="4572000" cy="2138045"/>
          </a:xfrm>
          <a:prstGeom prst="rect">
            <a:avLst/>
          </a:prstGeom>
        </p:spPr>
        <p:txBody>
          <a:bodyPr>
            <a:spAutoFit/>
          </a:bodyPr>
          <a:lstStyle/>
          <a:p>
            <a:pPr marL="370205" lvl="2" indent="0">
              <a:spcBef>
                <a:spcPts val="600"/>
              </a:spcBef>
              <a:spcAft>
                <a:spcPts val="0"/>
              </a:spcAft>
              <a:buNone/>
            </a:pPr>
            <a:r>
              <a:rPr lang="zh-CN" altLang="en-US" dirty="0">
                <a:solidFill>
                  <a:schemeClr val="tx2"/>
                </a:solidFill>
                <a:latin typeface="+mj-ea"/>
                <a:ea typeface="+mj-ea"/>
              </a:rPr>
              <a:t>（</a:t>
            </a:r>
            <a:r>
              <a:rPr lang="en-US" altLang="zh-CN" dirty="0">
                <a:solidFill>
                  <a:schemeClr val="tx2"/>
                </a:solidFill>
                <a:latin typeface="+mj-ea"/>
                <a:ea typeface="+mj-ea"/>
              </a:rPr>
              <a:t>5</a:t>
            </a:r>
            <a:r>
              <a:rPr lang="zh-CN" altLang="en-US" dirty="0">
                <a:solidFill>
                  <a:schemeClr val="tx2"/>
                </a:solidFill>
                <a:latin typeface="+mj-ea"/>
                <a:ea typeface="+mj-ea"/>
              </a:rPr>
              <a:t>）报名管理</a:t>
            </a:r>
            <a:endParaRPr lang="zh-CN" altLang="en-US" dirty="0">
              <a:solidFill>
                <a:schemeClr val="tx2"/>
              </a:solidFill>
              <a:latin typeface="+mj-ea"/>
              <a:ea typeface="+mj-ea"/>
            </a:endParaRPr>
          </a:p>
          <a:p>
            <a:pPr marL="370205" lvl="2" indent="0">
              <a:spcBef>
                <a:spcPts val="600"/>
              </a:spcBef>
              <a:spcAft>
                <a:spcPts val="0"/>
              </a:spcAft>
              <a:buNone/>
            </a:pPr>
            <a:r>
              <a:rPr lang="zh-CN" altLang="en-US" dirty="0">
                <a:solidFill>
                  <a:schemeClr val="tx2"/>
                </a:solidFill>
                <a:latin typeface="+mj-ea"/>
                <a:ea typeface="+mj-ea"/>
              </a:rPr>
              <a:t>          </a:t>
            </a:r>
            <a:r>
              <a:rPr lang="en-US" altLang="zh-CN" dirty="0" err="1">
                <a:solidFill>
                  <a:schemeClr val="tx2"/>
                </a:solidFill>
                <a:latin typeface="+mj-ea"/>
                <a:ea typeface="+mj-ea"/>
              </a:rPr>
              <a:t>i</a:t>
            </a:r>
            <a:r>
              <a:rPr lang="zh-CN" altLang="en-US" dirty="0">
                <a:solidFill>
                  <a:schemeClr val="tx2"/>
                </a:solidFill>
                <a:latin typeface="+mj-ea"/>
                <a:ea typeface="+mj-ea"/>
              </a:rPr>
              <a:t>）报名单位</a:t>
            </a:r>
            <a:endParaRPr lang="zh-CN" altLang="en-US" dirty="0">
              <a:solidFill>
                <a:schemeClr val="tx2"/>
              </a:solidFill>
              <a:latin typeface="+mj-ea"/>
              <a:ea typeface="+mj-ea"/>
            </a:endParaRPr>
          </a:p>
          <a:p>
            <a:pPr marL="370205" lvl="2" indent="0">
              <a:spcBef>
                <a:spcPts val="600"/>
              </a:spcBef>
              <a:spcAft>
                <a:spcPts val="0"/>
              </a:spcAft>
              <a:buNone/>
            </a:pPr>
            <a:r>
              <a:rPr lang="zh-CN" altLang="en-US" dirty="0">
                <a:solidFill>
                  <a:schemeClr val="tx2"/>
                </a:solidFill>
                <a:latin typeface="+mj-ea"/>
                <a:ea typeface="+mj-ea"/>
              </a:rPr>
              <a:t>          </a:t>
            </a:r>
            <a:r>
              <a:rPr lang="en-US" altLang="zh-CN" dirty="0">
                <a:solidFill>
                  <a:schemeClr val="tx2"/>
                </a:solidFill>
                <a:latin typeface="+mj-ea"/>
                <a:ea typeface="+mj-ea"/>
              </a:rPr>
              <a:t>ii</a:t>
            </a:r>
            <a:r>
              <a:rPr lang="zh-CN" altLang="en-US" dirty="0">
                <a:solidFill>
                  <a:schemeClr val="tx2"/>
                </a:solidFill>
                <a:latin typeface="+mj-ea"/>
                <a:ea typeface="+mj-ea"/>
              </a:rPr>
              <a:t>）报名运动员</a:t>
            </a:r>
            <a:endParaRPr lang="zh-CN" altLang="en-US" dirty="0">
              <a:solidFill>
                <a:schemeClr val="tx2"/>
              </a:solidFill>
              <a:latin typeface="+mj-ea"/>
              <a:ea typeface="+mj-ea"/>
            </a:endParaRPr>
          </a:p>
          <a:p>
            <a:pPr marL="370205" lvl="2" indent="0">
              <a:spcBef>
                <a:spcPts val="600"/>
              </a:spcBef>
              <a:spcAft>
                <a:spcPts val="0"/>
              </a:spcAft>
              <a:buNone/>
            </a:pPr>
            <a:r>
              <a:rPr lang="zh-CN" altLang="en-US" dirty="0">
                <a:solidFill>
                  <a:schemeClr val="tx2"/>
                </a:solidFill>
                <a:latin typeface="+mj-ea"/>
                <a:ea typeface="+mj-ea"/>
              </a:rPr>
              <a:t>（</a:t>
            </a:r>
            <a:r>
              <a:rPr lang="en-US" altLang="zh-CN" dirty="0">
                <a:solidFill>
                  <a:schemeClr val="tx2"/>
                </a:solidFill>
                <a:latin typeface="+mj-ea"/>
                <a:ea typeface="+mj-ea"/>
              </a:rPr>
              <a:t>6</a:t>
            </a:r>
            <a:r>
              <a:rPr lang="zh-CN" altLang="en-US" dirty="0">
                <a:solidFill>
                  <a:schemeClr val="tx2"/>
                </a:solidFill>
                <a:latin typeface="+mj-ea"/>
                <a:ea typeface="+mj-ea"/>
              </a:rPr>
              <a:t>）赛事管理</a:t>
            </a:r>
            <a:endParaRPr lang="zh-CN" altLang="en-US" dirty="0">
              <a:solidFill>
                <a:schemeClr val="tx2"/>
              </a:solidFill>
              <a:latin typeface="+mj-ea"/>
              <a:ea typeface="+mj-ea"/>
            </a:endParaRPr>
          </a:p>
          <a:p>
            <a:pPr marL="370205" lvl="2" indent="0">
              <a:spcBef>
                <a:spcPts val="600"/>
              </a:spcBef>
              <a:spcAft>
                <a:spcPts val="0"/>
              </a:spcAft>
              <a:buNone/>
            </a:pPr>
            <a:r>
              <a:rPr lang="zh-CN" altLang="en-US" dirty="0">
                <a:solidFill>
                  <a:schemeClr val="tx2"/>
                </a:solidFill>
                <a:latin typeface="+mj-ea"/>
                <a:ea typeface="+mj-ea"/>
              </a:rPr>
              <a:t>          </a:t>
            </a:r>
            <a:r>
              <a:rPr lang="en-US" altLang="zh-CN" dirty="0" err="1">
                <a:solidFill>
                  <a:schemeClr val="tx2"/>
                </a:solidFill>
                <a:latin typeface="+mj-ea"/>
                <a:ea typeface="+mj-ea"/>
              </a:rPr>
              <a:t>i</a:t>
            </a:r>
            <a:r>
              <a:rPr lang="zh-CN" altLang="en-US" dirty="0">
                <a:solidFill>
                  <a:schemeClr val="tx2"/>
                </a:solidFill>
                <a:latin typeface="+mj-ea"/>
                <a:ea typeface="+mj-ea"/>
              </a:rPr>
              <a:t>）赛事基本信息</a:t>
            </a:r>
            <a:endParaRPr lang="en-US" altLang="zh-CN" dirty="0">
              <a:solidFill>
                <a:schemeClr val="tx2"/>
              </a:solidFill>
              <a:latin typeface="+mj-ea"/>
              <a:ea typeface="+mj-ea"/>
            </a:endParaRPr>
          </a:p>
          <a:p>
            <a:pPr marL="370205" lvl="2" indent="0">
              <a:spcBef>
                <a:spcPts val="600"/>
              </a:spcBef>
              <a:buNone/>
            </a:pPr>
            <a:r>
              <a:rPr lang="zh-CN" altLang="en-US" dirty="0">
                <a:solidFill>
                  <a:schemeClr val="tx2"/>
                </a:solidFill>
                <a:latin typeface="+mj-ea"/>
                <a:ea typeface="+mj-ea"/>
              </a:rPr>
              <a:t>          </a:t>
            </a:r>
            <a:r>
              <a:rPr lang="en-US" altLang="zh-CN" dirty="0">
                <a:solidFill>
                  <a:schemeClr val="tx2"/>
                </a:solidFill>
                <a:latin typeface="+mj-ea"/>
                <a:ea typeface="+mj-ea"/>
              </a:rPr>
              <a:t>ii</a:t>
            </a:r>
            <a:r>
              <a:rPr lang="zh-CN" altLang="en-US" dirty="0">
                <a:solidFill>
                  <a:schemeClr val="tx2"/>
                </a:solidFill>
                <a:latin typeface="+mj-ea"/>
                <a:ea typeface="+mj-ea"/>
              </a:rPr>
              <a:t>）主要比赛项目</a:t>
            </a:r>
            <a:endParaRPr lang="zh-CN" altLang="en-US" dirty="0">
              <a:solidFill>
                <a:schemeClr val="tx2"/>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8307">
                                            <p:txEl>
                                              <p:pRg st="0" end="0"/>
                                            </p:txEl>
                                          </p:spTgt>
                                        </p:tgtEl>
                                        <p:attrNameLst>
                                          <p:attrName>style.visibility</p:attrName>
                                        </p:attrNameLst>
                                      </p:cBhvr>
                                      <p:to>
                                        <p:strVal val="visible"/>
                                      </p:to>
                                    </p:set>
                                    <p:animEffect transition="in" filter="wipe(up)">
                                      <p:cBhvr>
                                        <p:cTn id="7" dur="500"/>
                                        <p:tgtEl>
                                          <p:spTgt spid="98307">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8307">
                                            <p:txEl>
                                              <p:pRg st="1" end="1"/>
                                            </p:txEl>
                                          </p:spTgt>
                                        </p:tgtEl>
                                        <p:attrNameLst>
                                          <p:attrName>style.visibility</p:attrName>
                                        </p:attrNameLst>
                                      </p:cBhvr>
                                      <p:to>
                                        <p:strVal val="visible"/>
                                      </p:to>
                                    </p:set>
                                    <p:animEffect transition="in" filter="wipe(up)">
                                      <p:cBhvr>
                                        <p:cTn id="10" dur="500"/>
                                        <p:tgtEl>
                                          <p:spTgt spid="98307">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8307">
                                            <p:txEl>
                                              <p:pRg st="2" end="2"/>
                                            </p:txEl>
                                          </p:spTgt>
                                        </p:tgtEl>
                                        <p:attrNameLst>
                                          <p:attrName>style.visibility</p:attrName>
                                        </p:attrNameLst>
                                      </p:cBhvr>
                                      <p:to>
                                        <p:strVal val="visible"/>
                                      </p:to>
                                    </p:set>
                                    <p:animEffect transition="in" filter="wipe(up)">
                                      <p:cBhvr>
                                        <p:cTn id="13" dur="500"/>
                                        <p:tgtEl>
                                          <p:spTgt spid="98307">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98307">
                                            <p:txEl>
                                              <p:pRg st="3" end="3"/>
                                            </p:txEl>
                                          </p:spTgt>
                                        </p:tgtEl>
                                        <p:attrNameLst>
                                          <p:attrName>style.visibility</p:attrName>
                                        </p:attrNameLst>
                                      </p:cBhvr>
                                      <p:to>
                                        <p:strVal val="visible"/>
                                      </p:to>
                                    </p:set>
                                    <p:animEffect transition="in" filter="wipe(up)">
                                      <p:cBhvr>
                                        <p:cTn id="16" dur="500"/>
                                        <p:tgtEl>
                                          <p:spTgt spid="98307">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98307">
                                            <p:txEl>
                                              <p:pRg st="4" end="4"/>
                                            </p:txEl>
                                          </p:spTgt>
                                        </p:tgtEl>
                                        <p:attrNameLst>
                                          <p:attrName>style.visibility</p:attrName>
                                        </p:attrNameLst>
                                      </p:cBhvr>
                                      <p:to>
                                        <p:strVal val="visible"/>
                                      </p:to>
                                    </p:set>
                                    <p:animEffect transition="in" filter="wipe(up)">
                                      <p:cBhvr>
                                        <p:cTn id="19" dur="500"/>
                                        <p:tgtEl>
                                          <p:spTgt spid="983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7"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en-US" altLang="zh-CN" dirty="0"/>
              <a:t>UML</a:t>
            </a:r>
            <a:r>
              <a:rPr lang="zh-CN" altLang="en-US" dirty="0"/>
              <a:t>建模工具</a:t>
            </a:r>
            <a:endParaRPr lang="zh-CN" altLang="en-US" dirty="0"/>
          </a:p>
        </p:txBody>
      </p:sp>
      <p:sp>
        <p:nvSpPr>
          <p:cNvPr id="3" name="内容占位符 2"/>
          <p:cNvSpPr>
            <a:spLocks noGrp="1"/>
          </p:cNvSpPr>
          <p:nvPr>
            <p:ph idx="1"/>
          </p:nvPr>
        </p:nvSpPr>
        <p:spPr/>
        <p:txBody>
          <a:bodyPr/>
          <a:lstStyle/>
          <a:p>
            <a:r>
              <a:rPr lang="en-US" altLang="zh-CN" sz="2000" dirty="0"/>
              <a:t>IBM Rational Rose</a:t>
            </a:r>
            <a:endParaRPr lang="en-US" altLang="zh-CN" sz="2000" dirty="0"/>
          </a:p>
          <a:p>
            <a:r>
              <a:rPr lang="en-US" altLang="zh-CN" sz="2000" dirty="0"/>
              <a:t>Enterprise Architect</a:t>
            </a:r>
            <a:r>
              <a:rPr lang="zh-CN" altLang="en-US" sz="2000" dirty="0"/>
              <a:t>（</a:t>
            </a:r>
            <a:r>
              <a:rPr lang="en-US" altLang="zh-CN" sz="2000" dirty="0"/>
              <a:t>EA</a:t>
            </a:r>
            <a:r>
              <a:rPr lang="zh-CN" altLang="en-US" sz="2000" dirty="0"/>
              <a:t>）；</a:t>
            </a:r>
            <a:endParaRPr lang="en-US" altLang="zh-CN" sz="2000" dirty="0"/>
          </a:p>
          <a:p>
            <a:r>
              <a:rPr lang="en-US" altLang="zh-CN" sz="2000" dirty="0"/>
              <a:t>JUDE</a:t>
            </a:r>
            <a:endParaRPr lang="en-US" altLang="zh-CN" sz="2000" dirty="0"/>
          </a:p>
          <a:p>
            <a:r>
              <a:rPr lang="en-US" altLang="zh-CN" sz="2000" dirty="0" err="1"/>
              <a:t>StarUML</a:t>
            </a:r>
            <a:endParaRPr lang="en-US" altLang="zh-CN" sz="2000" dirty="0"/>
          </a:p>
          <a:p>
            <a:r>
              <a:rPr lang="en-US" altLang="zh-CN" sz="2000" dirty="0"/>
              <a:t>Vision</a:t>
            </a:r>
            <a:endParaRPr lang="en-US" altLang="zh-CN" sz="2000" dirty="0"/>
          </a:p>
          <a:p>
            <a:r>
              <a:rPr lang="en-US" altLang="zh-CN" sz="2000" dirty="0"/>
              <a:t>Power </a:t>
            </a:r>
            <a:r>
              <a:rPr lang="en-US" altLang="zh-CN" sz="2000" dirty="0" err="1"/>
              <a:t>Desinger</a:t>
            </a:r>
            <a:endParaRPr lang="en-US" altLang="zh-CN" sz="2000" dirty="0"/>
          </a:p>
          <a:p>
            <a:endParaRPr lang="zh-CN" altLang="en-US" dirty="0"/>
          </a:p>
        </p:txBody>
      </p:sp>
      <p:sp>
        <p:nvSpPr>
          <p:cNvPr id="4" name="日期占位符 3"/>
          <p:cNvSpPr>
            <a:spLocks noGrp="1"/>
          </p:cNvSpPr>
          <p:nvPr>
            <p:ph type="dt" sz="half" idx="10"/>
          </p:nvPr>
        </p:nvSpPr>
        <p:spPr/>
        <p:txBody>
          <a:bodyPr/>
          <a:lstStyle/>
          <a:p>
            <a:pPr>
              <a:spcAft>
                <a:spcPts val="0"/>
              </a:spcAft>
            </a:pPr>
            <a:fld id="{B349E028-0205-4E9B-845E-5E306C03014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4"/>
          <p:cNvSpPr>
            <a:spLocks noGrp="1"/>
          </p:cNvSpPr>
          <p:nvPr>
            <p:ph type="title"/>
          </p:nvPr>
        </p:nvSpPr>
        <p:spPr/>
        <p:txBody>
          <a:bodyPr/>
          <a:lstStyle/>
          <a:p>
            <a:pPr>
              <a:spcAft>
                <a:spcPts val="0"/>
              </a:spcAft>
            </a:pPr>
            <a:r>
              <a:rPr lang="zh-CN" altLang="en-US" dirty="0"/>
              <a:t>网上报名系统的业务用例建模</a:t>
            </a:r>
            <a:endParaRPr lang="zh-CN" altLang="en-US" dirty="0"/>
          </a:p>
        </p:txBody>
      </p:sp>
      <p:sp>
        <p:nvSpPr>
          <p:cNvPr id="99331" name="Rectangle 3"/>
          <p:cNvSpPr>
            <a:spLocks noGrp="1" noChangeArrowheads="1"/>
          </p:cNvSpPr>
          <p:nvPr>
            <p:ph idx="1"/>
          </p:nvPr>
        </p:nvSpPr>
        <p:spPr/>
        <p:txBody>
          <a:bodyPr>
            <a:normAutofit/>
          </a:bodyPr>
          <a:lstStyle/>
          <a:p>
            <a:pPr marL="342900" indent="-342900">
              <a:buFont typeface="+mj-lt"/>
              <a:buAutoNum type="arabicPeriod"/>
            </a:pPr>
            <a:r>
              <a:rPr lang="zh-CN" altLang="en-US" sz="2400" dirty="0"/>
              <a:t>根据以上访谈内容，我们识别出参与者和用例。</a:t>
            </a:r>
            <a:endParaRPr lang="zh-CN" altLang="en-US" sz="2400" dirty="0"/>
          </a:p>
          <a:p>
            <a:pPr marL="342900" indent="-342900">
              <a:buFont typeface="+mj-lt"/>
              <a:buAutoNum type="arabicPeriod"/>
            </a:pPr>
            <a:r>
              <a:rPr lang="zh-CN" altLang="en-US" sz="2400" dirty="0"/>
              <a:t>在</a:t>
            </a:r>
            <a:r>
              <a:rPr lang="en-US" altLang="zh-CN" sz="2400" dirty="0" err="1"/>
              <a:t>StarUML</a:t>
            </a:r>
            <a:r>
              <a:rPr lang="zh-CN" altLang="en-US" sz="2400" dirty="0"/>
              <a:t>或者</a:t>
            </a:r>
            <a:r>
              <a:rPr lang="en-US" altLang="zh-CN" sz="2400" dirty="0" err="1"/>
              <a:t>PowerDesigner</a:t>
            </a:r>
            <a:r>
              <a:rPr lang="zh-CN" altLang="en-US" sz="2400" dirty="0"/>
              <a:t>中建模。</a:t>
            </a:r>
            <a:endParaRPr lang="zh-CN" altLang="en-US" sz="2400" dirty="0"/>
          </a:p>
          <a:p>
            <a:pPr marL="342900" indent="-342900">
              <a:buFont typeface="+mj-lt"/>
              <a:buAutoNum type="arabicPeriod"/>
            </a:pPr>
            <a:r>
              <a:rPr lang="zh-CN" altLang="en-US" sz="2400" dirty="0"/>
              <a:t>打开模型：网上报名系统。</a:t>
            </a:r>
            <a:endParaRPr lang="en-US" altLang="zh-CN" sz="2400" dirty="0"/>
          </a:p>
          <a:p>
            <a:pPr marL="342900" indent="-342900">
              <a:buFont typeface="+mj-lt"/>
              <a:buAutoNum type="arabicPeriod"/>
            </a:pPr>
            <a:r>
              <a:rPr lang="zh-CN" altLang="en-US" sz="2400" dirty="0"/>
              <a:t>在</a:t>
            </a:r>
            <a:r>
              <a:rPr lang="en-US" altLang="zh-CN" sz="2400" dirty="0"/>
              <a:t>Model</a:t>
            </a:r>
            <a:r>
              <a:rPr lang="zh-CN" altLang="en-US" sz="2400" dirty="0"/>
              <a:t>中新建一个包，命名为“领域分析”，在其中创建一个用例图（</a:t>
            </a:r>
            <a:r>
              <a:rPr lang="en-US" altLang="zh-CN" sz="2400" dirty="0" err="1"/>
              <a:t>UseCase</a:t>
            </a:r>
            <a:r>
              <a:rPr lang="en-US" altLang="zh-CN" sz="2400" dirty="0"/>
              <a:t> Diagram</a:t>
            </a:r>
            <a:r>
              <a:rPr lang="zh-CN" altLang="en-US" sz="2400" dirty="0"/>
              <a:t>，命名为：业务用例图。</a:t>
            </a:r>
            <a:endParaRPr lang="en-US" altLang="zh-CN" sz="2400" dirty="0"/>
          </a:p>
          <a:p>
            <a:pPr marL="342900" indent="-342900"/>
            <a:r>
              <a:rPr lang="zh-CN" altLang="en-US" sz="2400" dirty="0"/>
              <a:t>省队用户用例图如下页图所示。</a:t>
            </a:r>
            <a:endParaRPr lang="zh-CN" altLang="en-US" sz="2400" dirty="0"/>
          </a:p>
        </p:txBody>
      </p:sp>
      <p:sp>
        <p:nvSpPr>
          <p:cNvPr id="5" name="日期占位符 4"/>
          <p:cNvSpPr>
            <a:spLocks noGrp="1"/>
          </p:cNvSpPr>
          <p:nvPr>
            <p:ph type="dt" sz="half" idx="10"/>
          </p:nvPr>
        </p:nvSpPr>
        <p:spPr/>
        <p:txBody>
          <a:bodyPr/>
          <a:lstStyle/>
          <a:p>
            <a:pPr>
              <a:spcAft>
                <a:spcPts val="0"/>
              </a:spcAft>
            </a:pPr>
            <a:fld id="{3ACFCE23-935D-4A89-B303-B4E5081C8269}" type="datetime1">
              <a:rPr lang="zh-CN" altLang="en-US" smtClean="0"/>
            </a:fld>
            <a:endParaRPr lang="zh-CN" altLang="en-US" dirty="0"/>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up)">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up)">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up)">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up)">
                                      <p:cBhvr>
                                        <p:cTn id="22" dur="500"/>
                                        <p:tgtEl>
                                          <p:spTgt spid="99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up)">
                                      <p:cBhvr>
                                        <p:cTn id="27" dur="500"/>
                                        <p:tgtEl>
                                          <p:spTgt spid="993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00330" y="932626"/>
            <a:ext cx="5056812" cy="3816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60" name="Text Box 8"/>
          <p:cNvSpPr txBox="1">
            <a:spLocks noChangeArrowheads="1"/>
          </p:cNvSpPr>
          <p:nvPr/>
        </p:nvSpPr>
        <p:spPr bwMode="auto">
          <a:xfrm>
            <a:off x="659208" y="1542318"/>
            <a:ext cx="2862467" cy="2295525"/>
          </a:xfrm>
          <a:prstGeom prst="rect">
            <a:avLst/>
          </a:prstGeom>
          <a:noFill/>
          <a:ln w="9525" algn="ctr">
            <a:noFill/>
            <a:miter lim="800000"/>
          </a:ln>
          <a:effectLst/>
        </p:spPr>
        <p:txBody>
          <a:bodyPr wrap="square" lIns="80963" tIns="40481" rIns="80963" bIns="40481">
            <a:spAutoFit/>
          </a:bodyPr>
          <a:lstStyle/>
          <a:p>
            <a:pPr algn="just">
              <a:lnSpc>
                <a:spcPct val="120000"/>
              </a:lnSpc>
              <a:spcAft>
                <a:spcPts val="0"/>
              </a:spcAft>
            </a:pPr>
            <a:r>
              <a:rPr lang="zh-CN" altLang="en-US" sz="2000" dirty="0">
                <a:solidFill>
                  <a:schemeClr val="tx2"/>
                </a:solidFill>
                <a:latin typeface="+mj-ea"/>
                <a:ea typeface="+mj-ea"/>
              </a:rPr>
              <a:t>注意：这个用例图是从用户业务的视角出发，用来进行业务用例建模的。在今后的需求分析阶段，我们会从系统视角来进行系统用例建模。</a:t>
            </a:r>
            <a:endParaRPr lang="zh-CN" altLang="en-US" sz="2000" dirty="0">
              <a:solidFill>
                <a:schemeClr val="tx2"/>
              </a:solidFill>
              <a:latin typeface="+mj-ea"/>
              <a:ea typeface="+mj-ea"/>
            </a:endParaRPr>
          </a:p>
        </p:txBody>
      </p:sp>
      <p:sp>
        <p:nvSpPr>
          <p:cNvPr id="7" name="标题 6"/>
          <p:cNvSpPr>
            <a:spLocks noGrp="1"/>
          </p:cNvSpPr>
          <p:nvPr>
            <p:ph type="title"/>
          </p:nvPr>
        </p:nvSpPr>
        <p:spPr/>
        <p:txBody>
          <a:bodyPr>
            <a:normAutofit/>
          </a:bodyPr>
          <a:lstStyle/>
          <a:p>
            <a:pPr>
              <a:spcAft>
                <a:spcPts val="0"/>
              </a:spcAft>
            </a:pPr>
            <a:r>
              <a:rPr lang="zh-CN" altLang="en-US" dirty="0">
                <a:latin typeface="+mj-ea"/>
              </a:rPr>
              <a:t>省队用户业务用例图</a:t>
            </a:r>
            <a:endParaRPr lang="zh-CN" altLang="en-US" dirty="0"/>
          </a:p>
        </p:txBody>
      </p:sp>
      <p:sp>
        <p:nvSpPr>
          <p:cNvPr id="4" name="日期占位符 3"/>
          <p:cNvSpPr>
            <a:spLocks noGrp="1"/>
          </p:cNvSpPr>
          <p:nvPr>
            <p:ph type="dt" sz="half" idx="10"/>
          </p:nvPr>
        </p:nvSpPr>
        <p:spPr/>
        <p:txBody>
          <a:bodyPr/>
          <a:lstStyle/>
          <a:p>
            <a:pPr>
              <a:spcAft>
                <a:spcPts val="0"/>
              </a:spcAft>
            </a:pPr>
            <a:fld id="{DDBF9CB2-1DD5-4605-9422-47899408C5DD}"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11" name="动作按钮: 上一张 10">
            <a:hlinkClick r:id="" action="ppaction://noaction" highlightClick="1"/>
          </p:cNvPr>
          <p:cNvSpPr/>
          <p:nvPr/>
        </p:nvSpPr>
        <p:spPr>
          <a:xfrm>
            <a:off x="8493125" y="4185242"/>
            <a:ext cx="587574" cy="421738"/>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0360">
                                            <p:txEl>
                                              <p:pRg st="4294967295" end="4294967295"/>
                                            </p:txEl>
                                          </p:spTgt>
                                        </p:tgtEl>
                                        <p:attrNameLst>
                                          <p:attrName>style.visibility</p:attrName>
                                        </p:attrNameLst>
                                      </p:cBhvr>
                                      <p:to>
                                        <p:strVal val="visible"/>
                                      </p:to>
                                    </p:set>
                                    <p:animEffect transition="in" filter="wipe(up)">
                                      <p:cBhvr>
                                        <p:cTn id="7" dur="500"/>
                                        <p:tgtEl>
                                          <p:spTgt spid="100360">
                                            <p:txEl>
                                              <p:pRg st="4294967295" end="4294967295"/>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0360">
                                            <p:txEl>
                                              <p:pRg st="0" end="0"/>
                                            </p:txEl>
                                          </p:spTgt>
                                        </p:tgtEl>
                                        <p:attrNameLst>
                                          <p:attrName>style.visibility</p:attrName>
                                        </p:attrNameLst>
                                      </p:cBhvr>
                                      <p:to>
                                        <p:strVal val="visible"/>
                                      </p:to>
                                    </p:set>
                                    <p:animEffect transition="in" filter="wipe(up)">
                                      <p:cBhvr>
                                        <p:cTn id="11" dur="500"/>
                                        <p:tgtEl>
                                          <p:spTgt spid="10036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60"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56766" y="89944"/>
            <a:ext cx="3801527" cy="4865954"/>
          </a:xfrm>
          <a:prstGeom prst="rect">
            <a:avLst/>
          </a:prstGeom>
        </p:spPr>
        <p:style>
          <a:lnRef idx="2">
            <a:schemeClr val="accent1"/>
          </a:lnRef>
          <a:fillRef idx="1">
            <a:schemeClr val="lt1"/>
          </a:fillRef>
          <a:effectRef idx="0">
            <a:schemeClr val="accent1"/>
          </a:effectRef>
          <a:fontRef idx="minor">
            <a:schemeClr val="dk1"/>
          </a:fontRef>
        </p:style>
      </p:pic>
      <p:sp>
        <p:nvSpPr>
          <p:cNvPr id="7" name="标题 6"/>
          <p:cNvSpPr>
            <a:spLocks noGrp="1"/>
          </p:cNvSpPr>
          <p:nvPr>
            <p:ph type="title"/>
          </p:nvPr>
        </p:nvSpPr>
        <p:spPr/>
        <p:txBody>
          <a:bodyPr>
            <a:normAutofit/>
          </a:bodyPr>
          <a:lstStyle/>
          <a:p>
            <a:pPr>
              <a:spcAft>
                <a:spcPts val="0"/>
              </a:spcAft>
            </a:pPr>
            <a:r>
              <a:rPr lang="zh-CN" altLang="en-US" dirty="0">
                <a:latin typeface="+mj-ea"/>
              </a:rPr>
              <a:t>管理员业务用例图</a:t>
            </a:r>
            <a:endParaRPr lang="zh-CN" altLang="en-US" dirty="0">
              <a:latin typeface="+mj-ea"/>
            </a:endParaRPr>
          </a:p>
        </p:txBody>
      </p:sp>
      <p:sp>
        <p:nvSpPr>
          <p:cNvPr id="4" name="日期占位符 3"/>
          <p:cNvSpPr>
            <a:spLocks noGrp="1"/>
          </p:cNvSpPr>
          <p:nvPr>
            <p:ph type="dt" sz="half" idx="10"/>
          </p:nvPr>
        </p:nvSpPr>
        <p:spPr/>
        <p:txBody>
          <a:bodyPr/>
          <a:lstStyle/>
          <a:p>
            <a:pPr>
              <a:spcAft>
                <a:spcPts val="0"/>
              </a:spcAft>
            </a:pPr>
            <a:fld id="{6EB1920F-26E6-49CC-9132-AC877BFDD093}"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3876" y="2451460"/>
            <a:ext cx="5000124" cy="1526456"/>
          </a:xfrm>
          <a:prstGeom prst="rect">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9" name="文本"/>
          <p:cNvSpPr txBox="1"/>
          <p:nvPr/>
        </p:nvSpPr>
        <p:spPr>
          <a:xfrm>
            <a:off x="4453181" y="3099288"/>
            <a:ext cx="4372689" cy="553085"/>
          </a:xfrm>
          <a:prstGeom prst="rect">
            <a:avLst/>
          </a:prstGeom>
          <a:noFill/>
        </p:spPr>
        <p:txBody>
          <a:bodyPr wrap="square" rtlCol="0" anchor="t">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lgn="ctr"/>
            <a:r>
              <a:rPr lang="zh-CN" altLang="en-US" sz="2000" dirty="0">
                <a:solidFill>
                  <a:schemeClr val="bg1"/>
                </a:solidFill>
                <a:latin typeface="+mj-ea"/>
                <a:ea typeface="+mj-ea"/>
              </a:rPr>
              <a:t>交付的工作产品：系统用例图</a:t>
            </a:r>
            <a:endParaRPr lang="zh-CN" altLang="en-US" sz="2000" dirty="0">
              <a:solidFill>
                <a:schemeClr val="bg1"/>
              </a:solidFill>
              <a:latin typeface="+mj-ea"/>
              <a:ea typeface="+mj-ea"/>
            </a:endParaRPr>
          </a:p>
        </p:txBody>
      </p:sp>
      <p:sp>
        <p:nvSpPr>
          <p:cNvPr id="10" name="文本"/>
          <p:cNvSpPr/>
          <p:nvPr/>
        </p:nvSpPr>
        <p:spPr>
          <a:xfrm>
            <a:off x="4237950" y="2776089"/>
            <a:ext cx="4904027" cy="398780"/>
          </a:xfrm>
          <a:prstGeom prst="rect">
            <a:avLst/>
          </a:prstGeom>
        </p:spPr>
        <p:txBody>
          <a:bodyPr wrap="square">
            <a:spAutoFit/>
          </a:bodyPr>
          <a:lstStyle/>
          <a:p>
            <a:pPr algn="ctr">
              <a:spcAft>
                <a:spcPts val="0"/>
              </a:spcAft>
            </a:pPr>
            <a:r>
              <a:rPr lang="zh-CN" altLang="en-US" sz="2000" b="1" spc="169" dirty="0">
                <a:solidFill>
                  <a:schemeClr val="bg1"/>
                </a:solidFill>
                <a:latin typeface="+mj-ea"/>
                <a:ea typeface="+mj-ea"/>
                <a:sym typeface="+mn-ea"/>
              </a:rPr>
              <a:t>工作任务</a:t>
            </a:r>
            <a:r>
              <a:rPr lang="en-US" altLang="zh-CN" sz="2000" b="1" spc="169" dirty="0">
                <a:solidFill>
                  <a:schemeClr val="bg1"/>
                </a:solidFill>
                <a:latin typeface="+mj-ea"/>
                <a:ea typeface="+mj-ea"/>
                <a:sym typeface="+mn-ea"/>
              </a:rPr>
              <a:t>1</a:t>
            </a:r>
            <a:r>
              <a:rPr lang="zh-CN" altLang="en-US" sz="2000" b="1" spc="169" dirty="0">
                <a:solidFill>
                  <a:schemeClr val="bg1"/>
                </a:solidFill>
                <a:latin typeface="+mj-ea"/>
                <a:ea typeface="+mj-ea"/>
                <a:sym typeface="+mn-ea"/>
              </a:rPr>
              <a:t>：完成系统用例建模</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pPr>
              <a:spcAft>
                <a:spcPts val="0"/>
              </a:spcAft>
            </a:pPr>
            <a:fld id="{235AD162-A369-444D-AA12-A828B9ED782E}" type="datetime1">
              <a:rPr lang="zh-CN" altLang="en-US" smtClean="0"/>
            </a:fld>
            <a:endParaRPr lang="zh-CN" altLang="en-US"/>
          </a:p>
        </p:txBody>
      </p:sp>
      <p:sp>
        <p:nvSpPr>
          <p:cNvPr id="8" name="页脚占位符 7"/>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11" name="灯片编号占位符 10"/>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par>
                          <p:cTn id="27" fill="hold">
                            <p:stCondLst>
                              <p:cond delay="2500"/>
                            </p:stCondLst>
                            <p:childTnLst>
                              <p:par>
                                <p:cTn id="28" presetID="42"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anim calcmode="lin" valueType="num">
                                      <p:cBhvr>
                                        <p:cTn id="31" dur="1000" fill="hold"/>
                                        <p:tgtEl>
                                          <p:spTgt spid="9"/>
                                        </p:tgtEl>
                                        <p:attrNameLst>
                                          <p:attrName>ppt_x</p:attrName>
                                        </p:attrNameLst>
                                      </p:cBhvr>
                                      <p:tavLst>
                                        <p:tav tm="0">
                                          <p:val>
                                            <p:strVal val="#ppt_x"/>
                                          </p:val>
                                        </p:tav>
                                        <p:tav tm="100000">
                                          <p:val>
                                            <p:strVal val="#ppt_x"/>
                                          </p:val>
                                        </p:tav>
                                      </p:tavLst>
                                    </p:anim>
                                    <p:anim calcmode="lin" valueType="num">
                                      <p:cBhvr>
                                        <p:cTn id="3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9" grpId="0"/>
      <p:bldP spid="10"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图11"/>
          <p:cNvPicPr>
            <a:picLocks noChangeAspect="1" noChangeArrowheads="1"/>
          </p:cNvPicPr>
          <p:nvPr/>
        </p:nvPicPr>
        <p:blipFill>
          <a:blip r:embed="rId1"/>
          <a:srcRect/>
          <a:stretch>
            <a:fillRect/>
          </a:stretch>
        </p:blipFill>
        <p:spPr bwMode="auto">
          <a:xfrm>
            <a:off x="99575" y="1711237"/>
            <a:ext cx="8942614" cy="1756357"/>
          </a:xfrm>
          <a:prstGeom prst="rect">
            <a:avLst/>
          </a:prstGeom>
          <a:noFill/>
        </p:spPr>
      </p:pic>
      <p:sp>
        <p:nvSpPr>
          <p:cNvPr id="6" name="标题 5"/>
          <p:cNvSpPr>
            <a:spLocks noGrp="1"/>
          </p:cNvSpPr>
          <p:nvPr>
            <p:ph type="title"/>
          </p:nvPr>
        </p:nvSpPr>
        <p:spPr/>
        <p:txBody>
          <a:bodyPr/>
          <a:lstStyle/>
          <a:p>
            <a:pPr>
              <a:spcAft>
                <a:spcPts val="0"/>
              </a:spcAft>
            </a:pPr>
            <a:r>
              <a:rPr lang="zh-CN" altLang="en-US" dirty="0"/>
              <a:t>从业务需求到系统需求</a:t>
            </a:r>
            <a:endParaRPr lang="zh-CN" altLang="en-US" dirty="0"/>
          </a:p>
        </p:txBody>
      </p:sp>
      <p:sp>
        <p:nvSpPr>
          <p:cNvPr id="8" name="灯片编号占位符 7"/>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pPr>
              <a:spcAft>
                <a:spcPts val="0"/>
              </a:spcAft>
            </a:pPr>
            <a:fld id="{7EE7FE69-5988-465A-9701-63B48AE886C6}" type="datetime1">
              <a:rPr lang="zh-CN" altLang="en-US" smtClean="0"/>
            </a:fld>
            <a:endParaRPr lang="zh-CN" altLang="en-US" dirty="0"/>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7747" name="Picture 3"/>
          <p:cNvPicPr>
            <a:picLocks noChangeAspect="1" noChangeArrowheads="1"/>
          </p:cNvPicPr>
          <p:nvPr/>
        </p:nvPicPr>
        <p:blipFill>
          <a:blip r:embed="rId1" cstate="print"/>
          <a:srcRect/>
          <a:stretch>
            <a:fillRect/>
          </a:stretch>
        </p:blipFill>
        <p:spPr bwMode="auto">
          <a:xfrm>
            <a:off x="917369" y="1321755"/>
            <a:ext cx="3644504" cy="2351484"/>
          </a:xfrm>
          <a:prstGeom prst="rect">
            <a:avLst/>
          </a:prstGeom>
          <a:noFill/>
          <a:ln w="9525">
            <a:noFill/>
            <a:miter lim="800000"/>
            <a:headEnd/>
            <a:tailEnd/>
          </a:ln>
          <a:effectLst/>
        </p:spPr>
      </p:pic>
      <p:pic>
        <p:nvPicPr>
          <p:cNvPr id="287748" name="Picture 4"/>
          <p:cNvPicPr>
            <a:picLocks noChangeAspect="1" noChangeArrowheads="1"/>
          </p:cNvPicPr>
          <p:nvPr/>
        </p:nvPicPr>
        <p:blipFill>
          <a:blip r:embed="rId2" cstate="print"/>
          <a:srcRect/>
          <a:stretch>
            <a:fillRect/>
          </a:stretch>
        </p:blipFill>
        <p:spPr bwMode="auto">
          <a:xfrm>
            <a:off x="4299981" y="1232457"/>
            <a:ext cx="3914775" cy="2333625"/>
          </a:xfrm>
          <a:prstGeom prst="rect">
            <a:avLst/>
          </a:prstGeom>
          <a:noFill/>
          <a:ln w="9525">
            <a:noFill/>
            <a:miter lim="800000"/>
            <a:headEnd/>
            <a:tailEnd/>
          </a:ln>
          <a:effectLst/>
        </p:spPr>
      </p:pic>
      <p:sp>
        <p:nvSpPr>
          <p:cNvPr id="287749" name="Text Box 5"/>
          <p:cNvSpPr txBox="1">
            <a:spLocks noChangeArrowheads="1"/>
          </p:cNvSpPr>
          <p:nvPr/>
        </p:nvSpPr>
        <p:spPr bwMode="auto">
          <a:xfrm>
            <a:off x="2024111" y="3673239"/>
            <a:ext cx="1728788" cy="368300"/>
          </a:xfrm>
          <a:prstGeom prst="rect">
            <a:avLst/>
          </a:prstGeom>
          <a:noFill/>
          <a:ln w="9525">
            <a:noFill/>
            <a:miter lim="800000"/>
          </a:ln>
          <a:effectLst/>
        </p:spPr>
        <p:txBody>
          <a:bodyPr>
            <a:spAutoFit/>
          </a:bodyPr>
          <a:lstStyle/>
          <a:p>
            <a:pPr algn="ctr" eaLnBrk="0" hangingPunct="0">
              <a:spcBef>
                <a:spcPct val="50000"/>
              </a:spcBef>
              <a:spcAft>
                <a:spcPts val="0"/>
              </a:spcAft>
            </a:pPr>
            <a:r>
              <a:rPr lang="zh-CN" altLang="en-US" b="1" dirty="0">
                <a:latin typeface="Arial" panose="020B0604020202020204" pitchFamily="34" charset="0"/>
              </a:rPr>
              <a:t>用户观点</a:t>
            </a:r>
            <a:endParaRPr lang="zh-CN" altLang="en-US" b="1" dirty="0">
              <a:latin typeface="Arial" panose="020B0604020202020204" pitchFamily="34" charset="0"/>
            </a:endParaRPr>
          </a:p>
        </p:txBody>
      </p:sp>
      <p:sp>
        <p:nvSpPr>
          <p:cNvPr id="287750" name="Text Box 6"/>
          <p:cNvSpPr txBox="1">
            <a:spLocks noChangeArrowheads="1"/>
          </p:cNvSpPr>
          <p:nvPr/>
        </p:nvSpPr>
        <p:spPr bwMode="auto">
          <a:xfrm>
            <a:off x="5287151" y="3712628"/>
            <a:ext cx="1728788" cy="368300"/>
          </a:xfrm>
          <a:prstGeom prst="rect">
            <a:avLst/>
          </a:prstGeom>
          <a:noFill/>
          <a:ln w="9525">
            <a:noFill/>
            <a:miter lim="800000"/>
          </a:ln>
          <a:effectLst/>
        </p:spPr>
        <p:txBody>
          <a:bodyPr>
            <a:spAutoFit/>
          </a:bodyPr>
          <a:lstStyle/>
          <a:p>
            <a:pPr algn="ctr" eaLnBrk="0" hangingPunct="0">
              <a:spcBef>
                <a:spcPct val="50000"/>
              </a:spcBef>
              <a:spcAft>
                <a:spcPts val="0"/>
              </a:spcAft>
            </a:pPr>
            <a:r>
              <a:rPr lang="zh-CN" altLang="en-US" b="1" dirty="0">
                <a:latin typeface="Arial" panose="020B0604020202020204" pitchFamily="34" charset="0"/>
              </a:rPr>
              <a:t>系统观点</a:t>
            </a:r>
            <a:endParaRPr lang="zh-CN" altLang="en-US" b="1" dirty="0">
              <a:latin typeface="Arial" panose="020B0604020202020204" pitchFamily="34" charset="0"/>
            </a:endParaRPr>
          </a:p>
        </p:txBody>
      </p:sp>
      <p:sp>
        <p:nvSpPr>
          <p:cNvPr id="4" name="标题 3"/>
          <p:cNvSpPr>
            <a:spLocks noGrp="1"/>
          </p:cNvSpPr>
          <p:nvPr>
            <p:ph type="title"/>
          </p:nvPr>
        </p:nvSpPr>
        <p:spPr/>
        <p:txBody>
          <a:bodyPr/>
          <a:lstStyle/>
          <a:p>
            <a:pPr>
              <a:spcAft>
                <a:spcPts val="0"/>
              </a:spcAft>
            </a:pPr>
            <a:r>
              <a:rPr lang="zh-CN" altLang="en-US" dirty="0"/>
              <a:t>要点：用户观点而非系统观点</a:t>
            </a:r>
            <a:endParaRPr lang="zh-CN" altLang="en-US" dirty="0"/>
          </a:p>
        </p:txBody>
      </p:sp>
      <p:sp>
        <p:nvSpPr>
          <p:cNvPr id="2" name="灯片编号占位符 1"/>
          <p:cNvSpPr>
            <a:spLocks noGrp="1"/>
          </p:cNvSpPr>
          <p:nvPr>
            <p:ph type="sldNum" sz="quarter" idx="4294967295"/>
          </p:nvPr>
        </p:nvSpPr>
        <p:spPr>
          <a:xfrm>
            <a:off x="8591550" y="4805363"/>
            <a:ext cx="552450" cy="274637"/>
          </a:xfrm>
        </p:spPr>
        <p:txBody>
          <a:bodyPr/>
          <a:lstStyle/>
          <a:p>
            <a:pPr>
              <a:spcAft>
                <a:spcPts val="0"/>
              </a:spcAft>
            </a:pPr>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pPr>
              <a:spcAft>
                <a:spcPts val="0"/>
              </a:spcAft>
            </a:pPr>
            <a:fld id="{50FB7D2F-A653-4B5A-8044-D43ABE691118}"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87747"/>
                                        </p:tgtEl>
                                        <p:attrNameLst>
                                          <p:attrName>style.visibility</p:attrName>
                                        </p:attrNameLst>
                                      </p:cBhvr>
                                      <p:to>
                                        <p:strVal val="visible"/>
                                      </p:to>
                                    </p:set>
                                    <p:animEffect transition="in" filter="randombar(horizontal)">
                                      <p:cBhvr>
                                        <p:cTn id="7" dur="500"/>
                                        <p:tgtEl>
                                          <p:spTgt spid="28774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87749"/>
                                        </p:tgtEl>
                                        <p:attrNameLst>
                                          <p:attrName>style.visibility</p:attrName>
                                        </p:attrNameLst>
                                      </p:cBhvr>
                                      <p:to>
                                        <p:strVal val="visible"/>
                                      </p:to>
                                    </p:set>
                                    <p:animEffect transition="in" filter="randombar(horizontal)">
                                      <p:cBhvr>
                                        <p:cTn id="10" dur="500"/>
                                        <p:tgtEl>
                                          <p:spTgt spid="287749"/>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87748"/>
                                        </p:tgtEl>
                                        <p:attrNameLst>
                                          <p:attrName>style.visibility</p:attrName>
                                        </p:attrNameLst>
                                      </p:cBhvr>
                                      <p:to>
                                        <p:strVal val="visible"/>
                                      </p:to>
                                    </p:set>
                                    <p:animEffect transition="in" filter="randombar(horizontal)">
                                      <p:cBhvr>
                                        <p:cTn id="15" dur="500"/>
                                        <p:tgtEl>
                                          <p:spTgt spid="287748"/>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287750"/>
                                        </p:tgtEl>
                                        <p:attrNameLst>
                                          <p:attrName>style.visibility</p:attrName>
                                        </p:attrNameLst>
                                      </p:cBhvr>
                                      <p:to>
                                        <p:strVal val="visible"/>
                                      </p:to>
                                    </p:set>
                                    <p:animEffect transition="in" filter="randombar(horizontal)">
                                      <p:cBhvr>
                                        <p:cTn id="18" dur="500"/>
                                        <p:tgtEl>
                                          <p:spTgt spid="287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9" grpId="0" bldLvl="0" animBg="1"/>
      <p:bldP spid="287750" grpId="0" bldLvl="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25734" y="969431"/>
            <a:ext cx="4959285" cy="3743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60" name="Text Box 8"/>
          <p:cNvSpPr txBox="1">
            <a:spLocks noChangeArrowheads="1"/>
          </p:cNvSpPr>
          <p:nvPr/>
        </p:nvSpPr>
        <p:spPr bwMode="auto">
          <a:xfrm>
            <a:off x="630811" y="1741044"/>
            <a:ext cx="2967413" cy="1557020"/>
          </a:xfrm>
          <a:prstGeom prst="rect">
            <a:avLst/>
          </a:prstGeom>
          <a:noFill/>
          <a:ln w="9525" algn="ctr">
            <a:noFill/>
            <a:miter lim="800000"/>
          </a:ln>
          <a:effectLst/>
        </p:spPr>
        <p:txBody>
          <a:bodyPr wrap="square" lIns="80963" tIns="40481" rIns="80963" bIns="40481">
            <a:spAutoFit/>
          </a:bodyPr>
          <a:lstStyle/>
          <a:p>
            <a:pPr algn="just">
              <a:spcAft>
                <a:spcPts val="0"/>
              </a:spcAft>
            </a:pPr>
            <a:r>
              <a:rPr lang="zh-CN" altLang="en-US" sz="2400" dirty="0">
                <a:solidFill>
                  <a:schemeClr val="accent1">
                    <a:lumMod val="50000"/>
                  </a:schemeClr>
                </a:solidFill>
                <a:latin typeface="+mj-ea"/>
                <a:ea typeface="+mj-ea"/>
              </a:rPr>
              <a:t>这个用例图是从用户业务的视角出发的，用来进行业务用例建模的。</a:t>
            </a:r>
            <a:endParaRPr lang="zh-CN" altLang="en-US" sz="2400" dirty="0">
              <a:solidFill>
                <a:schemeClr val="accent1">
                  <a:lumMod val="50000"/>
                </a:schemeClr>
              </a:solidFill>
              <a:latin typeface="+mj-ea"/>
              <a:ea typeface="+mj-ea"/>
            </a:endParaRPr>
          </a:p>
        </p:txBody>
      </p:sp>
      <p:sp>
        <p:nvSpPr>
          <p:cNvPr id="4" name="标题 3"/>
          <p:cNvSpPr>
            <a:spLocks noGrp="1"/>
          </p:cNvSpPr>
          <p:nvPr>
            <p:ph type="title"/>
          </p:nvPr>
        </p:nvSpPr>
        <p:spPr/>
        <p:txBody>
          <a:bodyPr>
            <a:normAutofit/>
          </a:bodyPr>
          <a:lstStyle/>
          <a:p>
            <a:pPr>
              <a:spcAft>
                <a:spcPts val="0"/>
              </a:spcAft>
            </a:pPr>
            <a:r>
              <a:rPr lang="zh-CN" altLang="en-US" dirty="0"/>
              <a:t>网上报名系统 </a:t>
            </a:r>
            <a:r>
              <a:rPr lang="en-US" altLang="zh-CN" dirty="0"/>
              <a:t>—— </a:t>
            </a:r>
            <a:r>
              <a:rPr lang="zh-CN" altLang="en-US" dirty="0">
                <a:latin typeface="+mj-ea"/>
              </a:rPr>
              <a:t>省队用户业务用例图</a:t>
            </a:r>
            <a:endParaRPr lang="zh-CN" altLang="en-US" dirty="0"/>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6" name="日期占位符 5"/>
          <p:cNvSpPr>
            <a:spLocks noGrp="1"/>
          </p:cNvSpPr>
          <p:nvPr>
            <p:ph type="dt" sz="half" idx="10"/>
          </p:nvPr>
        </p:nvSpPr>
        <p:spPr/>
        <p:txBody>
          <a:bodyPr/>
          <a:lstStyle/>
          <a:p>
            <a:pPr>
              <a:spcAft>
                <a:spcPts val="0"/>
              </a:spcAft>
            </a:pPr>
            <a:fld id="{AC21E983-C668-4651-8988-045A22F48034}" type="datetime1">
              <a:rPr lang="zh-CN" altLang="en-US" smtClean="0"/>
            </a:fld>
            <a:endParaRPr lang="zh-CN" altLang="en-US"/>
          </a:p>
        </p:txBody>
      </p:sp>
      <p:sp>
        <p:nvSpPr>
          <p:cNvPr id="7" name="页脚占位符 6"/>
          <p:cNvSpPr>
            <a:spLocks noGrp="1"/>
          </p:cNvSpPr>
          <p:nvPr>
            <p:ph type="ftr" sz="quarter" idx="11"/>
          </p:nvPr>
        </p:nvSpPr>
        <p:spPr/>
        <p:txBody>
          <a:bodyPr/>
          <a:lstStyle/>
          <a:p>
            <a:pPr>
              <a:spcAft>
                <a:spcPts val="0"/>
              </a:spcAft>
            </a:pPr>
            <a:r>
              <a:rPr lang="zh-CN" altLang="en-US"/>
              <a:t>软件工程</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0360">
                                            <p:txEl>
                                              <p:pRg st="4294967295" end="4294967295"/>
                                            </p:txEl>
                                          </p:spTgt>
                                        </p:tgtEl>
                                        <p:attrNameLst>
                                          <p:attrName>style.visibility</p:attrName>
                                        </p:attrNameLst>
                                      </p:cBhvr>
                                      <p:to>
                                        <p:strVal val="visible"/>
                                      </p:to>
                                    </p:set>
                                    <p:animEffect transition="in" filter="wipe(up)">
                                      <p:cBhvr>
                                        <p:cTn id="7" dur="500"/>
                                        <p:tgtEl>
                                          <p:spTgt spid="100360">
                                            <p:txEl>
                                              <p:pRg st="4294967295" end="4294967295"/>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0360">
                                            <p:txEl>
                                              <p:pRg st="4294967295" end="4294967295"/>
                                            </p:txEl>
                                          </p:spTgt>
                                        </p:tgtEl>
                                        <p:attrNameLst>
                                          <p:attrName>style.visibility</p:attrName>
                                        </p:attrNameLst>
                                      </p:cBhvr>
                                      <p:to>
                                        <p:strVal val="visible"/>
                                      </p:to>
                                    </p:set>
                                    <p:animEffect transition="in" filter="wipe(up)">
                                      <p:cBhvr>
                                        <p:cTn id="11" dur="500"/>
                                        <p:tgtEl>
                                          <p:spTgt spid="100360">
                                            <p:txEl>
                                              <p:pRg st="4294967295" end="4294967295"/>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00360">
                                            <p:txEl>
                                              <p:pRg st="0" end="0"/>
                                            </p:txEl>
                                          </p:spTgt>
                                        </p:tgtEl>
                                        <p:attrNameLst>
                                          <p:attrName>style.visibility</p:attrName>
                                        </p:attrNameLst>
                                      </p:cBhvr>
                                      <p:to>
                                        <p:strVal val="visible"/>
                                      </p:to>
                                    </p:set>
                                    <p:animEffect transition="in" filter="wipe(up)">
                                      <p:cBhvr>
                                        <p:cTn id="15" dur="500"/>
                                        <p:tgtEl>
                                          <p:spTgt spid="10036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60"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zh-CN" altLang="en-US" dirty="0"/>
              <a:t>网上报名系统 </a:t>
            </a:r>
            <a:r>
              <a:rPr lang="en-US" altLang="zh-CN" dirty="0"/>
              <a:t>—— </a:t>
            </a:r>
            <a:r>
              <a:rPr lang="zh-CN" altLang="en-US" dirty="0"/>
              <a:t>省队用户系统用例</a:t>
            </a:r>
            <a:endParaRPr lang="zh-CN" altLang="en-US" dirty="0"/>
          </a:p>
        </p:txBody>
      </p:sp>
      <p:sp>
        <p:nvSpPr>
          <p:cNvPr id="145411" name="Rectangle 3"/>
          <p:cNvSpPr>
            <a:spLocks noGrp="1" noChangeArrowheads="1"/>
          </p:cNvSpPr>
          <p:nvPr>
            <p:ph idx="1"/>
          </p:nvPr>
        </p:nvSpPr>
        <p:spPr>
          <a:xfrm>
            <a:off x="756221" y="997527"/>
            <a:ext cx="8102029" cy="3479470"/>
          </a:xfrm>
        </p:spPr>
        <p:txBody>
          <a:bodyPr>
            <a:normAutofit/>
          </a:bodyPr>
          <a:lstStyle/>
          <a:p>
            <a:pPr marL="0" indent="0" algn="ctr">
              <a:lnSpc>
                <a:spcPct val="130000"/>
              </a:lnSpc>
              <a:buNone/>
            </a:pPr>
            <a:r>
              <a:rPr lang="zh-CN" altLang="en-US" sz="2400" dirty="0">
                <a:solidFill>
                  <a:schemeClr val="accent1">
                    <a:lumMod val="50000"/>
                  </a:schemeClr>
                </a:solidFill>
              </a:rPr>
              <a:t>业务用例</a:t>
            </a:r>
            <a:r>
              <a:rPr lang="en-US" altLang="zh-CN" sz="2400" dirty="0">
                <a:solidFill>
                  <a:schemeClr val="accent1">
                    <a:lumMod val="50000"/>
                  </a:schemeClr>
                </a:solidFill>
              </a:rPr>
              <a:t>1</a:t>
            </a:r>
            <a:r>
              <a:rPr lang="zh-CN" altLang="en-US" sz="2400" dirty="0">
                <a:solidFill>
                  <a:schemeClr val="accent1">
                    <a:lumMod val="50000"/>
                  </a:schemeClr>
                </a:solidFill>
              </a:rPr>
              <a:t>：查看赛事信息</a:t>
            </a:r>
            <a:r>
              <a:rPr lang="en-US" altLang="zh-CN" sz="2400" dirty="0">
                <a:solidFill>
                  <a:schemeClr val="accent1">
                    <a:lumMod val="50000"/>
                  </a:schemeClr>
                </a:solidFill>
              </a:rPr>
              <a:t>——</a:t>
            </a:r>
            <a:r>
              <a:rPr lang="zh-CN" altLang="en-US" sz="2400" dirty="0">
                <a:solidFill>
                  <a:schemeClr val="accent1">
                    <a:lumMod val="50000"/>
                  </a:schemeClr>
                </a:solidFill>
              </a:rPr>
              <a:t>系统用例：显示赛事信息</a:t>
            </a:r>
            <a:endParaRPr lang="en-US" altLang="zh-CN" sz="2400" dirty="0">
              <a:solidFill>
                <a:schemeClr val="accent1">
                  <a:lumMod val="50000"/>
                </a:schemeClr>
              </a:solidFill>
            </a:endParaRPr>
          </a:p>
          <a:p>
            <a:pPr marL="457200" indent="-457200">
              <a:lnSpc>
                <a:spcPct val="130000"/>
              </a:lnSpc>
            </a:pPr>
            <a:r>
              <a:rPr lang="zh-CN" altLang="en-US" sz="2400" dirty="0"/>
              <a:t>系统用例“</a:t>
            </a:r>
            <a:r>
              <a:rPr lang="zh-CN" altLang="en-US" sz="2400" dirty="0">
                <a:solidFill>
                  <a:srgbClr val="FF0000"/>
                </a:solidFill>
              </a:rPr>
              <a:t>显示赛事信息</a:t>
            </a:r>
            <a:r>
              <a:rPr lang="zh-CN" altLang="en-US" sz="2400" dirty="0"/>
              <a:t>”是对业务用例“</a:t>
            </a:r>
            <a:r>
              <a:rPr lang="zh-CN" altLang="en-US" sz="2400" dirty="0">
                <a:solidFill>
                  <a:srgbClr val="FF0000"/>
                </a:solidFill>
              </a:rPr>
              <a:t>查看赛事信息</a:t>
            </a:r>
            <a:r>
              <a:rPr lang="zh-CN" altLang="en-US" sz="2400" dirty="0"/>
              <a:t>”的系统实现。</a:t>
            </a:r>
            <a:endParaRPr lang="en-US" altLang="zh-CN" sz="2400" dirty="0"/>
          </a:p>
          <a:p>
            <a:pPr marL="457200" indent="-457200">
              <a:lnSpc>
                <a:spcPct val="130000"/>
              </a:lnSpc>
            </a:pPr>
            <a:r>
              <a:rPr lang="zh-CN" altLang="en-US" sz="2400" dirty="0"/>
              <a:t>系统显示赛事名称、举办地、报名时间、状态。</a:t>
            </a:r>
            <a:endParaRPr lang="zh-CN" altLang="en-US" sz="2400" dirty="0"/>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6" name="日期占位符 5"/>
          <p:cNvSpPr>
            <a:spLocks noGrp="1"/>
          </p:cNvSpPr>
          <p:nvPr>
            <p:ph type="dt" sz="half" idx="10"/>
          </p:nvPr>
        </p:nvSpPr>
        <p:spPr/>
        <p:txBody>
          <a:bodyPr/>
          <a:lstStyle/>
          <a:p>
            <a:pPr>
              <a:spcAft>
                <a:spcPts val="0"/>
              </a:spcAft>
            </a:pPr>
            <a:fld id="{F36C5585-C340-4F98-A733-7196BA41D3B5}" type="datetime1">
              <a:rPr lang="zh-CN" altLang="en-US" smtClean="0"/>
            </a:fld>
            <a:endParaRPr lang="zh-CN" altLang="en-US" dirty="0"/>
          </a:p>
        </p:txBody>
      </p:sp>
      <p:sp>
        <p:nvSpPr>
          <p:cNvPr id="7" name="页脚占位符 6"/>
          <p:cNvSpPr>
            <a:spLocks noGrp="1"/>
          </p:cNvSpPr>
          <p:nvPr>
            <p:ph type="ftr" sz="quarter" idx="11"/>
          </p:nvPr>
        </p:nvSpPr>
        <p:spPr/>
        <p:txBody>
          <a:bodyPr/>
          <a:lstStyle/>
          <a:p>
            <a:pPr>
              <a:spcAft>
                <a:spcPts val="0"/>
              </a:spcAft>
            </a:pPr>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Effect transition="in" filter="wipe(up)">
                                      <p:cBhvr>
                                        <p:cTn id="7" dur="500"/>
                                        <p:tgtEl>
                                          <p:spTgt spid="145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5411">
                                            <p:txEl>
                                              <p:pRg st="1" end="1"/>
                                            </p:txEl>
                                          </p:spTgt>
                                        </p:tgtEl>
                                        <p:attrNameLst>
                                          <p:attrName>style.visibility</p:attrName>
                                        </p:attrNameLst>
                                      </p:cBhvr>
                                      <p:to>
                                        <p:strVal val="visible"/>
                                      </p:to>
                                    </p:set>
                                    <p:animEffect transition="in" filter="wipe(up)">
                                      <p:cBhvr>
                                        <p:cTn id="12" dur="500"/>
                                        <p:tgtEl>
                                          <p:spTgt spid="145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5411">
                                            <p:txEl>
                                              <p:pRg st="2" end="2"/>
                                            </p:txEl>
                                          </p:spTgt>
                                        </p:tgtEl>
                                        <p:attrNameLst>
                                          <p:attrName>style.visibility</p:attrName>
                                        </p:attrNameLst>
                                      </p:cBhvr>
                                      <p:to>
                                        <p:strVal val="visible"/>
                                      </p:to>
                                    </p:set>
                                    <p:animEffect transition="in" filter="wipe(up)">
                                      <p:cBhvr>
                                        <p:cTn id="17" dur="500"/>
                                        <p:tgtEl>
                                          <p:spTgt spid="145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zh-CN" altLang="en-US" dirty="0"/>
              <a:t>网上报名系统 </a:t>
            </a:r>
            <a:r>
              <a:rPr lang="en-US" altLang="zh-CN" dirty="0"/>
              <a:t>—— </a:t>
            </a:r>
            <a:r>
              <a:rPr lang="zh-CN" altLang="en-US" dirty="0"/>
              <a:t>省队用户系统用例</a:t>
            </a:r>
            <a:endParaRPr lang="zh-CN" altLang="en-US" dirty="0"/>
          </a:p>
        </p:txBody>
      </p:sp>
      <p:sp>
        <p:nvSpPr>
          <p:cNvPr id="133123" name="Rectangle 3"/>
          <p:cNvSpPr>
            <a:spLocks noGrp="1" noChangeArrowheads="1"/>
          </p:cNvSpPr>
          <p:nvPr>
            <p:ph idx="1"/>
          </p:nvPr>
        </p:nvSpPr>
        <p:spPr>
          <a:xfrm>
            <a:off x="768097" y="736270"/>
            <a:ext cx="8090153" cy="3914882"/>
          </a:xfrm>
        </p:spPr>
        <p:txBody>
          <a:bodyPr>
            <a:noAutofit/>
          </a:bodyPr>
          <a:lstStyle/>
          <a:p>
            <a:pPr marL="0" indent="0" algn="ctr">
              <a:lnSpc>
                <a:spcPct val="100000"/>
              </a:lnSpc>
              <a:spcBef>
                <a:spcPts val="600"/>
              </a:spcBef>
              <a:buNone/>
            </a:pPr>
            <a:r>
              <a:rPr lang="zh-CN" altLang="en-US" sz="2200" dirty="0">
                <a:solidFill>
                  <a:schemeClr val="accent1">
                    <a:lumMod val="50000"/>
                  </a:schemeClr>
                </a:solidFill>
              </a:rPr>
              <a:t>业务用例</a:t>
            </a:r>
            <a:r>
              <a:rPr lang="en-US" altLang="zh-CN" sz="2200" dirty="0">
                <a:solidFill>
                  <a:schemeClr val="accent1">
                    <a:lumMod val="50000"/>
                  </a:schemeClr>
                </a:solidFill>
              </a:rPr>
              <a:t>2</a:t>
            </a:r>
            <a:r>
              <a:rPr lang="zh-CN" altLang="en-US" sz="2200" dirty="0">
                <a:solidFill>
                  <a:schemeClr val="accent1">
                    <a:lumMod val="50000"/>
                  </a:schemeClr>
                </a:solidFill>
              </a:rPr>
              <a:t>：报名</a:t>
            </a:r>
            <a:r>
              <a:rPr lang="en-US" altLang="zh-CN" sz="2200" dirty="0">
                <a:solidFill>
                  <a:schemeClr val="accent1">
                    <a:lumMod val="50000"/>
                  </a:schemeClr>
                </a:solidFill>
              </a:rPr>
              <a:t>——</a:t>
            </a:r>
            <a:r>
              <a:rPr lang="zh-CN" altLang="en-US" sz="2200" dirty="0">
                <a:solidFill>
                  <a:schemeClr val="accent1">
                    <a:lumMod val="50000"/>
                  </a:schemeClr>
                </a:solidFill>
              </a:rPr>
              <a:t>系统用例：报名</a:t>
            </a:r>
            <a:endParaRPr lang="en-US" altLang="zh-CN" sz="2200" dirty="0">
              <a:solidFill>
                <a:schemeClr val="accent1">
                  <a:lumMod val="50000"/>
                </a:schemeClr>
              </a:solidFill>
            </a:endParaRPr>
          </a:p>
          <a:p>
            <a:pPr marL="342900" indent="-342900">
              <a:lnSpc>
                <a:spcPct val="100000"/>
              </a:lnSpc>
              <a:spcBef>
                <a:spcPts val="600"/>
              </a:spcBef>
            </a:pPr>
            <a:r>
              <a:rPr lang="zh-CN" altLang="en-US" sz="2100" dirty="0"/>
              <a:t>在业务用例“</a:t>
            </a:r>
            <a:r>
              <a:rPr lang="zh-CN" altLang="en-US" sz="2100" dirty="0">
                <a:solidFill>
                  <a:srgbClr val="FF0000"/>
                </a:solidFill>
              </a:rPr>
              <a:t>报名</a:t>
            </a:r>
            <a:r>
              <a:rPr lang="zh-CN" altLang="en-US" sz="2100" dirty="0"/>
              <a:t>”的中，有两个泛化用例</a:t>
            </a:r>
            <a:r>
              <a:rPr lang="en-US" altLang="zh-CN" sz="2100" dirty="0"/>
              <a:t>——</a:t>
            </a:r>
            <a:r>
              <a:rPr lang="zh-CN" altLang="en-US" sz="2100" dirty="0">
                <a:solidFill>
                  <a:srgbClr val="FF0000"/>
                </a:solidFill>
              </a:rPr>
              <a:t>参赛单位报名</a:t>
            </a:r>
            <a:r>
              <a:rPr lang="zh-CN" altLang="en-US" sz="2100" dirty="0"/>
              <a:t>和</a:t>
            </a:r>
            <a:r>
              <a:rPr lang="zh-CN" altLang="en-US" sz="2100" dirty="0">
                <a:solidFill>
                  <a:srgbClr val="FF0000"/>
                </a:solidFill>
              </a:rPr>
              <a:t>参赛运动员报名</a:t>
            </a:r>
            <a:r>
              <a:rPr lang="zh-CN" altLang="en-US" sz="2100" dirty="0"/>
              <a:t>。</a:t>
            </a:r>
            <a:endParaRPr lang="zh-CN" altLang="en-US" sz="2100" dirty="0"/>
          </a:p>
          <a:p>
            <a:pPr marL="342900" indent="-342900">
              <a:lnSpc>
                <a:spcPct val="100000"/>
              </a:lnSpc>
              <a:spcBef>
                <a:spcPts val="600"/>
              </a:spcBef>
            </a:pPr>
            <a:r>
              <a:rPr lang="zh-CN" altLang="en-US" sz="2100" dirty="0"/>
              <a:t>在</a:t>
            </a:r>
            <a:r>
              <a:rPr lang="en-US" altLang="zh-CN" sz="2100" dirty="0"/>
              <a:t>”</a:t>
            </a:r>
            <a:r>
              <a:rPr lang="zh-CN" altLang="en-US" sz="2100" dirty="0">
                <a:solidFill>
                  <a:srgbClr val="FF0000"/>
                </a:solidFill>
              </a:rPr>
              <a:t>参赛单位报名</a:t>
            </a:r>
            <a:r>
              <a:rPr lang="en-US" altLang="zh-CN" sz="2100" dirty="0"/>
              <a:t>”</a:t>
            </a:r>
            <a:r>
              <a:rPr lang="zh-CN" altLang="en-US" sz="2100" dirty="0"/>
              <a:t>用例中，应该提供相应的三种操作给用户，因此，得到系统用例“新增参赛单位信息”、“删除参赛单位信息”、“修改参赛单位信息”。这三个系统用例是系统用例“参赛单位报名”的泛化用例。</a:t>
            </a:r>
            <a:endParaRPr lang="en-US" altLang="zh-CN" sz="2100" dirty="0"/>
          </a:p>
          <a:p>
            <a:pPr marL="342900" indent="-342900">
              <a:lnSpc>
                <a:spcPct val="100000"/>
              </a:lnSpc>
              <a:spcBef>
                <a:spcPts val="600"/>
              </a:spcBef>
            </a:pPr>
            <a:r>
              <a:rPr lang="zh-CN" altLang="en-US" sz="2100" dirty="0"/>
              <a:t>在</a:t>
            </a:r>
            <a:r>
              <a:rPr lang="en-US" altLang="zh-CN" sz="2100" dirty="0"/>
              <a:t>”</a:t>
            </a:r>
            <a:r>
              <a:rPr lang="zh-CN" altLang="en-US" sz="2100" dirty="0">
                <a:solidFill>
                  <a:srgbClr val="FF0000"/>
                </a:solidFill>
              </a:rPr>
              <a:t>参赛运动员报名</a:t>
            </a:r>
            <a:r>
              <a:rPr lang="en-US" altLang="zh-CN" sz="2100" dirty="0"/>
              <a:t>”</a:t>
            </a:r>
            <a:r>
              <a:rPr lang="zh-CN" altLang="en-US" sz="2100" dirty="0"/>
              <a:t>用例中，应该提供相应的三种操作给用户，因此，得到系统用例“新增参赛运动员信息”、“删除参赛运动员信息”、“修改参赛运动员信息”。这三个系统用例是系统用例“参赛运动员报名”的泛化用例。</a:t>
            </a:r>
            <a:endParaRPr lang="en-US" altLang="zh-CN" sz="2100" dirty="0"/>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6" name="日期占位符 5"/>
          <p:cNvSpPr>
            <a:spLocks noGrp="1"/>
          </p:cNvSpPr>
          <p:nvPr>
            <p:ph type="dt" sz="half" idx="10"/>
          </p:nvPr>
        </p:nvSpPr>
        <p:spPr/>
        <p:txBody>
          <a:bodyPr/>
          <a:lstStyle/>
          <a:p>
            <a:pPr>
              <a:spcAft>
                <a:spcPts val="0"/>
              </a:spcAft>
            </a:pPr>
            <a:fld id="{D2AE9DFD-3AA6-4FEB-9AFE-270A6BC44F7A}" type="datetime1">
              <a:rPr lang="zh-CN" altLang="en-US" smtClean="0"/>
            </a:fld>
            <a:endParaRPr lang="zh-CN" altLang="en-US" dirty="0"/>
          </a:p>
        </p:txBody>
      </p:sp>
      <p:sp>
        <p:nvSpPr>
          <p:cNvPr id="7" name="页脚占位符 6"/>
          <p:cNvSpPr>
            <a:spLocks noGrp="1"/>
          </p:cNvSpPr>
          <p:nvPr>
            <p:ph type="ftr" sz="quarter" idx="11"/>
          </p:nvPr>
        </p:nvSpPr>
        <p:spPr/>
        <p:txBody>
          <a:bodyPr/>
          <a:lstStyle/>
          <a:p>
            <a:pPr>
              <a:spcAft>
                <a:spcPts val="0"/>
              </a:spcAft>
            </a:pPr>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Effect transition="in" filter="wipe(up)">
                                      <p:cBhvr>
                                        <p:cTn id="7" dur="500"/>
                                        <p:tgtEl>
                                          <p:spTgt spid="133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3123">
                                            <p:txEl>
                                              <p:pRg st="1" end="1"/>
                                            </p:txEl>
                                          </p:spTgt>
                                        </p:tgtEl>
                                        <p:attrNameLst>
                                          <p:attrName>style.visibility</p:attrName>
                                        </p:attrNameLst>
                                      </p:cBhvr>
                                      <p:to>
                                        <p:strVal val="visible"/>
                                      </p:to>
                                    </p:set>
                                    <p:animEffect transition="in" filter="wipe(up)">
                                      <p:cBhvr>
                                        <p:cTn id="12" dur="500"/>
                                        <p:tgtEl>
                                          <p:spTgt spid="133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3123">
                                            <p:txEl>
                                              <p:pRg st="2" end="2"/>
                                            </p:txEl>
                                          </p:spTgt>
                                        </p:tgtEl>
                                        <p:attrNameLst>
                                          <p:attrName>style.visibility</p:attrName>
                                        </p:attrNameLst>
                                      </p:cBhvr>
                                      <p:to>
                                        <p:strVal val="visible"/>
                                      </p:to>
                                    </p:set>
                                    <p:animEffect transition="in" filter="wipe(up)">
                                      <p:cBhvr>
                                        <p:cTn id="17" dur="500"/>
                                        <p:tgtEl>
                                          <p:spTgt spid="133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3123">
                                            <p:txEl>
                                              <p:pRg st="3" end="3"/>
                                            </p:txEl>
                                          </p:spTgt>
                                        </p:tgtEl>
                                        <p:attrNameLst>
                                          <p:attrName>style.visibility</p:attrName>
                                        </p:attrNameLst>
                                      </p:cBhvr>
                                      <p:to>
                                        <p:strVal val="visible"/>
                                      </p:to>
                                    </p:set>
                                    <p:animEffect transition="in" filter="wipe(up)">
                                      <p:cBhvr>
                                        <p:cTn id="22" dur="500"/>
                                        <p:tgtEl>
                                          <p:spTgt spid="133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47113"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05818" y="0"/>
            <a:ext cx="5470434" cy="5104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标题 4"/>
          <p:cNvSpPr txBox="1"/>
          <p:nvPr/>
        </p:nvSpPr>
        <p:spPr>
          <a:xfrm>
            <a:off x="1116282" y="-83127"/>
            <a:ext cx="3693226" cy="1555668"/>
          </a:xfrm>
          <a:prstGeom prst="rect">
            <a:avLst/>
          </a:prstGeom>
        </p:spPr>
        <p:txBody>
          <a:bodyPr vert="horz" anchor="ctr"/>
          <a:lst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a:lstStyle>
          <a:p>
            <a:pPr>
              <a:lnSpc>
                <a:spcPct val="150000"/>
              </a:lnSpc>
              <a:spcAft>
                <a:spcPts val="0"/>
              </a:spcAft>
            </a:pPr>
            <a:r>
              <a:rPr lang="zh-CN" altLang="en-US" dirty="0">
                <a:solidFill>
                  <a:schemeClr val="accent1">
                    <a:lumMod val="50000"/>
                  </a:schemeClr>
                </a:solidFill>
              </a:rPr>
              <a:t>网上报名系统 </a:t>
            </a:r>
            <a:r>
              <a:rPr lang="en-US" altLang="zh-CN" dirty="0">
                <a:solidFill>
                  <a:schemeClr val="accent1">
                    <a:lumMod val="50000"/>
                  </a:schemeClr>
                </a:solidFill>
              </a:rPr>
              <a:t>—— </a:t>
            </a:r>
            <a:endParaRPr lang="en-US" altLang="zh-CN" dirty="0">
              <a:solidFill>
                <a:schemeClr val="accent1">
                  <a:lumMod val="50000"/>
                </a:schemeClr>
              </a:solidFill>
            </a:endParaRPr>
          </a:p>
          <a:p>
            <a:pPr>
              <a:lnSpc>
                <a:spcPct val="150000"/>
              </a:lnSpc>
              <a:spcBef>
                <a:spcPts val="0"/>
              </a:spcBef>
            </a:pPr>
            <a:r>
              <a:rPr lang="zh-CN" altLang="en-US" dirty="0">
                <a:solidFill>
                  <a:schemeClr val="accent1">
                    <a:lumMod val="50000"/>
                  </a:schemeClr>
                </a:solidFill>
              </a:rPr>
              <a:t>省队用户系统用例图</a:t>
            </a:r>
            <a:endParaRPr lang="zh-CN" altLang="en-US" dirty="0">
              <a:solidFill>
                <a:schemeClr val="accent1">
                  <a:lumMod val="50000"/>
                </a:schemeClr>
              </a:solidFill>
            </a:endParaRPr>
          </a:p>
        </p:txBody>
      </p:sp>
      <p:sp>
        <p:nvSpPr>
          <p:cNvPr id="5" name="日期占位符 4"/>
          <p:cNvSpPr>
            <a:spLocks noGrp="1"/>
          </p:cNvSpPr>
          <p:nvPr>
            <p:ph type="dt" sz="half" idx="10"/>
          </p:nvPr>
        </p:nvSpPr>
        <p:spPr/>
        <p:txBody>
          <a:bodyPr/>
          <a:lstStyle/>
          <a:p>
            <a:pPr>
              <a:spcAft>
                <a:spcPts val="0"/>
              </a:spcAft>
            </a:pPr>
            <a:fld id="{94BBAEB5-F1CB-4140-88B1-32B8615095FA}" type="datetime1">
              <a:rPr lang="zh-CN" altLang="en-US" smtClean="0"/>
            </a:fld>
            <a:endParaRPr lang="zh-CN" altLang="en-US" dirty="0"/>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66359" y="14205"/>
            <a:ext cx="4007262" cy="5129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4" name="标题 3"/>
          <p:cNvSpPr>
            <a:spLocks noGrp="1"/>
          </p:cNvSpPr>
          <p:nvPr>
            <p:ph type="title" idx="4294967295"/>
          </p:nvPr>
        </p:nvSpPr>
        <p:spPr>
          <a:xfrm>
            <a:off x="1093788" y="106878"/>
            <a:ext cx="7764462" cy="828675"/>
          </a:xfrm>
        </p:spPr>
        <p:txBody>
          <a:bodyPr>
            <a:normAutofit/>
          </a:bodyPr>
          <a:lstStyle/>
          <a:p>
            <a:pPr>
              <a:spcAft>
                <a:spcPts val="0"/>
              </a:spcAft>
            </a:pPr>
            <a:r>
              <a:rPr lang="zh-CN" altLang="en-US" dirty="0">
                <a:solidFill>
                  <a:schemeClr val="accent1">
                    <a:lumMod val="50000"/>
                  </a:schemeClr>
                </a:solidFill>
              </a:rPr>
              <a:t>管理员业务用例图</a:t>
            </a:r>
            <a:endParaRPr lang="zh-CN" altLang="en-US" dirty="0">
              <a:solidFill>
                <a:schemeClr val="accent1">
                  <a:lumMod val="50000"/>
                </a:schemeClr>
              </a:solidFill>
            </a:endParaRPr>
          </a:p>
        </p:txBody>
      </p:sp>
      <p:sp>
        <p:nvSpPr>
          <p:cNvPr id="6" name="日期占位符 5"/>
          <p:cNvSpPr>
            <a:spLocks noGrp="1"/>
          </p:cNvSpPr>
          <p:nvPr>
            <p:ph type="dt" sz="half" idx="10"/>
          </p:nvPr>
        </p:nvSpPr>
        <p:spPr/>
        <p:txBody>
          <a:bodyPr/>
          <a:lstStyle/>
          <a:p>
            <a:pPr>
              <a:spcAft>
                <a:spcPts val="0"/>
              </a:spcAft>
            </a:pPr>
            <a:fld id="{95794B5F-5784-4A33-A4FA-4C128C38ECF1}" type="datetime1">
              <a:rPr lang="zh-CN" altLang="en-US" smtClean="0"/>
            </a:fld>
            <a:endParaRPr lang="zh-CN" altLang="en-US" dirty="0"/>
          </a:p>
        </p:txBody>
      </p:sp>
      <p:sp>
        <p:nvSpPr>
          <p:cNvPr id="7" name="页脚占位符 6"/>
          <p:cNvSpPr>
            <a:spLocks noGrp="1"/>
          </p:cNvSpPr>
          <p:nvPr>
            <p:ph type="ftr" sz="quarter" idx="11"/>
          </p:nvPr>
        </p:nvSpPr>
        <p:spPr/>
        <p:txBody>
          <a:bodyPr/>
          <a:lstStyle/>
          <a:p>
            <a:pPr>
              <a:spcAft>
                <a:spcPts val="0"/>
              </a:spcAft>
            </a:pPr>
            <a:r>
              <a:rPr lang="zh-CN" altLang="en-US"/>
              <a:t>软件工程</a:t>
            </a:r>
            <a:endParaRPr lang="zh-CN"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normAutofit/>
          </a:bodyPr>
          <a:lstStyle/>
          <a:p>
            <a:pPr>
              <a:spcAft>
                <a:spcPts val="0"/>
              </a:spcAft>
            </a:pPr>
            <a:r>
              <a:rPr lang="zh-CN" altLang="en-US" dirty="0"/>
              <a:t>网上报名系统</a:t>
            </a:r>
            <a:r>
              <a:rPr lang="en-US" altLang="zh-CN" dirty="0"/>
              <a:t>——</a:t>
            </a:r>
            <a:r>
              <a:rPr lang="zh-CN" altLang="en-US" dirty="0"/>
              <a:t>管理员系统用例</a:t>
            </a:r>
            <a:endParaRPr lang="zh-CN" altLang="en-US" dirty="0"/>
          </a:p>
        </p:txBody>
      </p:sp>
      <p:sp>
        <p:nvSpPr>
          <p:cNvPr id="142339" name="Rectangle 3"/>
          <p:cNvSpPr>
            <a:spLocks noGrp="1" noChangeArrowheads="1"/>
          </p:cNvSpPr>
          <p:nvPr>
            <p:ph idx="1"/>
          </p:nvPr>
        </p:nvSpPr>
        <p:spPr/>
        <p:txBody>
          <a:bodyPr>
            <a:normAutofit/>
          </a:bodyPr>
          <a:lstStyle/>
          <a:p>
            <a:pPr marL="0" indent="0" algn="ctr">
              <a:lnSpc>
                <a:spcPct val="120000"/>
              </a:lnSpc>
              <a:buNone/>
            </a:pPr>
            <a:r>
              <a:rPr lang="zh-CN" altLang="en-US" sz="2400" dirty="0"/>
              <a:t>业务用例</a:t>
            </a:r>
            <a:r>
              <a:rPr lang="en-US" altLang="zh-CN" sz="2400" dirty="0"/>
              <a:t>3</a:t>
            </a:r>
            <a:r>
              <a:rPr lang="zh-CN" altLang="en-US" sz="2400" dirty="0"/>
              <a:t>：省队用户管理</a:t>
            </a:r>
            <a:r>
              <a:rPr lang="en-US" altLang="zh-CN" sz="2400" dirty="0"/>
              <a:t>——</a:t>
            </a:r>
            <a:r>
              <a:rPr lang="zh-CN" altLang="en-US" sz="2400" dirty="0"/>
              <a:t>系统用例：省队用户管理</a:t>
            </a:r>
            <a:endParaRPr lang="en-US" altLang="zh-CN" sz="2400" dirty="0"/>
          </a:p>
          <a:p>
            <a:pPr marL="342900" indent="-342900">
              <a:lnSpc>
                <a:spcPct val="120000"/>
              </a:lnSpc>
            </a:pPr>
            <a:r>
              <a:rPr lang="zh-CN" altLang="en-US" sz="2400" dirty="0"/>
              <a:t>在“省队用户管理”用例中，应该提供相应的四种操作给管理员，因此，得到系统用例“添加省队用户”、“删除省队用户”、“修改省队用户信息” 、“查询省队用户信息” 。</a:t>
            </a:r>
            <a:endParaRPr lang="en-US" altLang="zh-CN" sz="2400" dirty="0"/>
          </a:p>
          <a:p>
            <a:pPr marL="342900" indent="-342900">
              <a:lnSpc>
                <a:spcPct val="120000"/>
              </a:lnSpc>
            </a:pPr>
            <a:r>
              <a:rPr lang="zh-CN" altLang="en-US" sz="2400" dirty="0"/>
              <a:t>这四个是系统用例“省队用户管理”的泛化用例。</a:t>
            </a:r>
            <a:endParaRPr lang="zh-CN" altLang="en-US" sz="2400" dirty="0"/>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pPr>
              <a:spcAft>
                <a:spcPts val="0"/>
              </a:spcAft>
            </a:pPr>
            <a:fld id="{C6D1127F-03DD-4A69-906F-9CFB75151D95}" type="datetime1">
              <a:rPr lang="zh-CN" altLang="en-US" smtClean="0"/>
            </a:fld>
            <a:endParaRPr lang="zh-CN" altLang="en-US" dirty="0"/>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wipe(up)">
                                      <p:cBhvr>
                                        <p:cTn id="7" dur="500"/>
                                        <p:tgtEl>
                                          <p:spTgt spid="142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2339">
                                            <p:txEl>
                                              <p:pRg st="1" end="1"/>
                                            </p:txEl>
                                          </p:spTgt>
                                        </p:tgtEl>
                                        <p:attrNameLst>
                                          <p:attrName>style.visibility</p:attrName>
                                        </p:attrNameLst>
                                      </p:cBhvr>
                                      <p:to>
                                        <p:strVal val="visible"/>
                                      </p:to>
                                    </p:set>
                                    <p:animEffect transition="in" filter="wipe(up)">
                                      <p:cBhvr>
                                        <p:cTn id="12" dur="500"/>
                                        <p:tgtEl>
                                          <p:spTgt spid="142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2339">
                                            <p:txEl>
                                              <p:pRg st="2" end="2"/>
                                            </p:txEl>
                                          </p:spTgt>
                                        </p:tgtEl>
                                        <p:attrNameLst>
                                          <p:attrName>style.visibility</p:attrName>
                                        </p:attrNameLst>
                                      </p:cBhvr>
                                      <p:to>
                                        <p:strVal val="visible"/>
                                      </p:to>
                                    </p:set>
                                    <p:animEffect transition="in" filter="wipe(up)">
                                      <p:cBhvr>
                                        <p:cTn id="17" dur="500"/>
                                        <p:tgtEl>
                                          <p:spTgt spid="1423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normAutofit/>
          </a:bodyPr>
          <a:lstStyle/>
          <a:p>
            <a:pPr>
              <a:lnSpc>
                <a:spcPct val="90000"/>
              </a:lnSpc>
              <a:spcAft>
                <a:spcPts val="0"/>
              </a:spcAft>
            </a:pPr>
            <a:r>
              <a:rPr lang="zh-CN" altLang="en-US" dirty="0"/>
              <a:t>管理员省队用户管理用例图</a:t>
            </a:r>
            <a:endParaRPr lang="zh-CN" altLang="en-US" dirty="0"/>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pic>
        <p:nvPicPr>
          <p:cNvPr id="47116"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53581" y="724395"/>
            <a:ext cx="5090420" cy="4124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2"/>
          <p:cNvSpPr txBox="1">
            <a:spLocks noChangeArrowheads="1"/>
          </p:cNvSpPr>
          <p:nvPr/>
        </p:nvSpPr>
        <p:spPr>
          <a:xfrm>
            <a:off x="593552" y="1553307"/>
            <a:ext cx="3919072" cy="2145889"/>
          </a:xfrm>
          <a:prstGeom prst="rect">
            <a:avLst/>
          </a:prstGeom>
        </p:spPr>
        <p:txBody>
          <a:bodyPr vert="horz" rtlCol="0" anchor="ctr">
            <a:no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lstStyle>
          <a:p>
            <a:pPr>
              <a:spcAft>
                <a:spcPts val="0"/>
              </a:spcAft>
            </a:pPr>
            <a:r>
              <a:rPr lang="zh-CN" altLang="en-US" sz="2400" dirty="0">
                <a:solidFill>
                  <a:schemeClr val="accent1">
                    <a:lumMod val="50000"/>
                  </a:schemeClr>
                </a:solidFill>
                <a:effectLst/>
                <a:latin typeface="+mj-ea"/>
              </a:rPr>
              <a:t>请分析：</a:t>
            </a:r>
            <a:endParaRPr lang="en-US" altLang="zh-CN" sz="2400" dirty="0">
              <a:solidFill>
                <a:schemeClr val="accent1">
                  <a:lumMod val="50000"/>
                </a:schemeClr>
              </a:solidFill>
              <a:effectLst/>
              <a:latin typeface="+mj-ea"/>
            </a:endParaRPr>
          </a:p>
          <a:p>
            <a:pPr>
              <a:spcBef>
                <a:spcPts val="0"/>
              </a:spcBef>
            </a:pPr>
            <a:r>
              <a:rPr lang="zh-CN" altLang="en-US" sz="2400" dirty="0">
                <a:solidFill>
                  <a:schemeClr val="accent1">
                    <a:lumMod val="50000"/>
                  </a:schemeClr>
                </a:solidFill>
                <a:effectLst/>
                <a:latin typeface="+mj-ea"/>
              </a:rPr>
              <a:t>系统用例“单位管理”、“运动员管理” 、“竞赛项目管理”、“赛事管理”。</a:t>
            </a:r>
            <a:endParaRPr lang="zh-CN" altLang="en-US" sz="2400" dirty="0">
              <a:solidFill>
                <a:schemeClr val="accent1">
                  <a:lumMod val="50000"/>
                </a:schemeClr>
              </a:solidFill>
              <a:effectLst/>
              <a:latin typeface="+mj-ea"/>
            </a:endParaRPr>
          </a:p>
        </p:txBody>
      </p:sp>
      <p:sp>
        <p:nvSpPr>
          <p:cNvPr id="5" name="日期占位符 4"/>
          <p:cNvSpPr>
            <a:spLocks noGrp="1"/>
          </p:cNvSpPr>
          <p:nvPr>
            <p:ph type="dt" sz="half" idx="10"/>
          </p:nvPr>
        </p:nvSpPr>
        <p:spPr/>
        <p:txBody>
          <a:bodyPr/>
          <a:lstStyle/>
          <a:p>
            <a:pPr>
              <a:spcAft>
                <a:spcPts val="0"/>
              </a:spcAft>
            </a:pPr>
            <a:fld id="{D4EF125A-9199-4DB3-B5B3-786CDCC93A8B}"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47116"/>
                                        </p:tgtEl>
                                        <p:attrNameLst>
                                          <p:attrName>style.visibility</p:attrName>
                                        </p:attrNameLst>
                                      </p:cBhvr>
                                      <p:to>
                                        <p:strVal val="visible"/>
                                      </p:to>
                                    </p:set>
                                    <p:animEffect transition="in" filter="randombar(horizontal)">
                                      <p:cBhvr>
                                        <p:cTn id="7" dur="500"/>
                                        <p:tgtEl>
                                          <p:spTgt spid="471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up)">
                                      <p:cBhvr>
                                        <p:cTn id="12" dur="500"/>
                                        <p:tgtEl>
                                          <p:spTgt spid="12">
                                            <p:txEl>
                                              <p:pRg st="0" end="0"/>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animEffect transition="in" filter="wipe(up)">
                                      <p:cBhvr>
                                        <p:cTn id="15"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normAutofit/>
          </a:bodyPr>
          <a:lstStyle/>
          <a:p>
            <a:pPr>
              <a:spcAft>
                <a:spcPts val="0"/>
              </a:spcAft>
            </a:pPr>
            <a:r>
              <a:rPr lang="zh-CN" altLang="en-US" dirty="0"/>
              <a:t>网上报名系统</a:t>
            </a:r>
            <a:r>
              <a:rPr lang="en-US" altLang="zh-CN" dirty="0"/>
              <a:t>——</a:t>
            </a:r>
            <a:r>
              <a:rPr lang="zh-CN" altLang="en-US" dirty="0"/>
              <a:t>管理员系统用例</a:t>
            </a:r>
            <a:endParaRPr lang="zh-CN" altLang="en-US" dirty="0"/>
          </a:p>
        </p:txBody>
      </p:sp>
      <p:sp>
        <p:nvSpPr>
          <p:cNvPr id="133123" name="Rectangle 3"/>
          <p:cNvSpPr>
            <a:spLocks noGrp="1" noChangeArrowheads="1"/>
          </p:cNvSpPr>
          <p:nvPr>
            <p:ph idx="1"/>
          </p:nvPr>
        </p:nvSpPr>
        <p:spPr>
          <a:xfrm>
            <a:off x="815599" y="926275"/>
            <a:ext cx="8042651" cy="3800104"/>
          </a:xfrm>
        </p:spPr>
        <p:txBody>
          <a:bodyPr>
            <a:noAutofit/>
          </a:bodyPr>
          <a:lstStyle/>
          <a:p>
            <a:pPr marL="0" indent="0" algn="ctr">
              <a:lnSpc>
                <a:spcPct val="100000"/>
              </a:lnSpc>
              <a:spcBef>
                <a:spcPts val="600"/>
              </a:spcBef>
              <a:buNone/>
            </a:pPr>
            <a:r>
              <a:rPr lang="zh-CN" altLang="en-US" sz="2400" dirty="0"/>
              <a:t>业务用例</a:t>
            </a:r>
            <a:r>
              <a:rPr lang="en-US" altLang="zh-CN" sz="2400" dirty="0"/>
              <a:t>4</a:t>
            </a:r>
            <a:r>
              <a:rPr lang="zh-CN" altLang="en-US" sz="2400" dirty="0"/>
              <a:t>：报名管理</a:t>
            </a:r>
            <a:r>
              <a:rPr lang="en-US" altLang="zh-CN" sz="2400" dirty="0"/>
              <a:t>——</a:t>
            </a:r>
            <a:r>
              <a:rPr lang="zh-CN" altLang="en-US" sz="2400" dirty="0"/>
              <a:t>系统用例：报名管理</a:t>
            </a:r>
            <a:endParaRPr lang="en-US" altLang="zh-CN" sz="2400" dirty="0"/>
          </a:p>
          <a:p>
            <a:pPr marL="342900" indent="-342900">
              <a:lnSpc>
                <a:spcPct val="100000"/>
              </a:lnSpc>
              <a:spcBef>
                <a:spcPts val="600"/>
              </a:spcBef>
            </a:pPr>
            <a:r>
              <a:rPr lang="zh-CN" altLang="en-US" sz="2100" dirty="0"/>
              <a:t>在业务用例“报名管理”的中，有两个泛化用例</a:t>
            </a:r>
            <a:r>
              <a:rPr lang="en-US" altLang="zh-CN" sz="2100" dirty="0"/>
              <a:t>——</a:t>
            </a:r>
            <a:r>
              <a:rPr lang="zh-CN" altLang="en-US" sz="2100" dirty="0"/>
              <a:t>“</a:t>
            </a:r>
            <a:r>
              <a:rPr lang="zh-CN" altLang="en-US" sz="2100" dirty="0">
                <a:solidFill>
                  <a:srgbClr val="FF0000"/>
                </a:solidFill>
              </a:rPr>
              <a:t>报名单位管理</a:t>
            </a:r>
            <a:r>
              <a:rPr lang="zh-CN" altLang="en-US" sz="2100" dirty="0"/>
              <a:t>”和“</a:t>
            </a:r>
            <a:r>
              <a:rPr lang="zh-CN" altLang="en-US" sz="2100" dirty="0">
                <a:solidFill>
                  <a:srgbClr val="FF0000"/>
                </a:solidFill>
              </a:rPr>
              <a:t>报名运动员管理</a:t>
            </a:r>
            <a:r>
              <a:rPr lang="zh-CN" altLang="en-US" sz="2100" dirty="0"/>
              <a:t>”。</a:t>
            </a:r>
            <a:endParaRPr lang="zh-CN" altLang="en-US" sz="2100" dirty="0"/>
          </a:p>
          <a:p>
            <a:pPr marL="342900" indent="-342900">
              <a:lnSpc>
                <a:spcPct val="100000"/>
              </a:lnSpc>
              <a:spcBef>
                <a:spcPts val="600"/>
              </a:spcBef>
            </a:pPr>
            <a:r>
              <a:rPr lang="zh-CN" altLang="en-US" sz="2100" dirty="0"/>
              <a:t>在</a:t>
            </a:r>
            <a:r>
              <a:rPr lang="en-US" altLang="zh-CN" sz="2100" dirty="0"/>
              <a:t>”</a:t>
            </a:r>
            <a:r>
              <a:rPr lang="zh-CN" altLang="en-US" sz="2100" dirty="0">
                <a:solidFill>
                  <a:srgbClr val="FF0000"/>
                </a:solidFill>
              </a:rPr>
              <a:t>报名单位管理</a:t>
            </a:r>
            <a:r>
              <a:rPr lang="en-US" altLang="zh-CN" sz="2100" dirty="0"/>
              <a:t>”</a:t>
            </a:r>
            <a:r>
              <a:rPr lang="zh-CN" altLang="en-US" sz="2100" dirty="0"/>
              <a:t>用例中，应该提供相应的两种操作给用户，因此，得到系统用例“新增报名单位信息”、“查询报名单位信息” 。这两个系统用例是系统用例“报名单位管理”的泛化用例。</a:t>
            </a:r>
            <a:endParaRPr lang="en-US" altLang="zh-CN" sz="2100" dirty="0"/>
          </a:p>
          <a:p>
            <a:pPr marL="342900" indent="-342900">
              <a:lnSpc>
                <a:spcPct val="100000"/>
              </a:lnSpc>
              <a:spcBef>
                <a:spcPts val="600"/>
              </a:spcBef>
            </a:pPr>
            <a:r>
              <a:rPr lang="zh-CN" altLang="en-US" sz="2100" dirty="0"/>
              <a:t>在</a:t>
            </a:r>
            <a:r>
              <a:rPr lang="en-US" altLang="zh-CN" sz="2100" dirty="0"/>
              <a:t>”</a:t>
            </a:r>
            <a:r>
              <a:rPr lang="zh-CN" altLang="en-US" sz="2100" dirty="0">
                <a:solidFill>
                  <a:srgbClr val="FF0000"/>
                </a:solidFill>
              </a:rPr>
              <a:t>报名运动员管理</a:t>
            </a:r>
            <a:r>
              <a:rPr lang="en-US" altLang="zh-CN" sz="2100" dirty="0"/>
              <a:t>”</a:t>
            </a:r>
            <a:r>
              <a:rPr lang="zh-CN" altLang="en-US" sz="2100" dirty="0"/>
              <a:t>用例中，应该提供相应的两种操作给用户，因此，得到系统用例“修改报名运动员信息”、“查询报名运动员信息” 。这两个系统用例是系统用例“报名运动员管理”的泛化用例。</a:t>
            </a:r>
            <a:endParaRPr lang="en-US" altLang="zh-CN" sz="2100" dirty="0"/>
          </a:p>
          <a:p>
            <a:pPr marL="342900" indent="-342900">
              <a:lnSpc>
                <a:spcPct val="100000"/>
              </a:lnSpc>
              <a:spcBef>
                <a:spcPts val="600"/>
              </a:spcBef>
            </a:pPr>
            <a:endParaRPr lang="zh-CN" altLang="en-US" sz="2400" dirty="0"/>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pPr>
              <a:spcAft>
                <a:spcPts val="0"/>
              </a:spcAft>
            </a:pPr>
            <a:fld id="{FD4B12D0-58D6-4240-80F2-C0EF0A7BC957}" type="datetime1">
              <a:rPr lang="zh-CN" altLang="en-US" smtClean="0"/>
            </a:fld>
            <a:endParaRPr lang="zh-CN" altLang="en-US" dirty="0"/>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Effect transition="in" filter="wipe(up)">
                                      <p:cBhvr>
                                        <p:cTn id="7" dur="500"/>
                                        <p:tgtEl>
                                          <p:spTgt spid="13312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33123">
                                            <p:txEl>
                                              <p:pRg st="1" end="1"/>
                                            </p:txEl>
                                          </p:spTgt>
                                        </p:tgtEl>
                                        <p:attrNameLst>
                                          <p:attrName>style.visibility</p:attrName>
                                        </p:attrNameLst>
                                      </p:cBhvr>
                                      <p:to>
                                        <p:strVal val="visible"/>
                                      </p:to>
                                    </p:set>
                                    <p:animEffect transition="in" filter="wipe(up)">
                                      <p:cBhvr>
                                        <p:cTn id="11" dur="500"/>
                                        <p:tgtEl>
                                          <p:spTgt spid="13312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33123">
                                            <p:txEl>
                                              <p:pRg st="2" end="2"/>
                                            </p:txEl>
                                          </p:spTgt>
                                        </p:tgtEl>
                                        <p:attrNameLst>
                                          <p:attrName>style.visibility</p:attrName>
                                        </p:attrNameLst>
                                      </p:cBhvr>
                                      <p:to>
                                        <p:strVal val="visible"/>
                                      </p:to>
                                    </p:set>
                                    <p:animEffect transition="in" filter="wipe(up)">
                                      <p:cBhvr>
                                        <p:cTn id="16" dur="500"/>
                                        <p:tgtEl>
                                          <p:spTgt spid="13312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33123">
                                            <p:txEl>
                                              <p:pRg st="3" end="3"/>
                                            </p:txEl>
                                          </p:spTgt>
                                        </p:tgtEl>
                                        <p:attrNameLst>
                                          <p:attrName>style.visibility</p:attrName>
                                        </p:attrNameLst>
                                      </p:cBhvr>
                                      <p:to>
                                        <p:strVal val="visible"/>
                                      </p:to>
                                    </p:set>
                                    <p:animEffect transition="in" filter="wipe(up)">
                                      <p:cBhvr>
                                        <p:cTn id="21" dur="500"/>
                                        <p:tgtEl>
                                          <p:spTgt spid="133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70" name="Picture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954" y="511279"/>
            <a:ext cx="5441167" cy="4547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2"/>
          <p:cNvSpPr txBox="1">
            <a:spLocks noChangeArrowheads="1"/>
          </p:cNvSpPr>
          <p:nvPr/>
        </p:nvSpPr>
        <p:spPr>
          <a:xfrm>
            <a:off x="1267691" y="99799"/>
            <a:ext cx="5826919" cy="857250"/>
          </a:xfrm>
          <a:prstGeom prst="rect">
            <a:avLst/>
          </a:prstGeom>
        </p:spPr>
        <p:txBody>
          <a:bodyPr vert="horz" rtlCol="0" anchor="ctr">
            <a:norm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lstStyle>
          <a:p>
            <a:pPr>
              <a:lnSpc>
                <a:spcPct val="90000"/>
              </a:lnSpc>
              <a:spcAft>
                <a:spcPts val="0"/>
              </a:spcAft>
            </a:pPr>
            <a:r>
              <a:rPr lang="zh-CN" altLang="en-US" sz="2800" dirty="0">
                <a:solidFill>
                  <a:schemeClr val="accent1">
                    <a:lumMod val="50000"/>
                  </a:schemeClr>
                </a:solidFill>
                <a:effectLst/>
                <a:latin typeface="+mj-ea"/>
              </a:rPr>
              <a:t>管理员省队用户管理用例图</a:t>
            </a:r>
            <a:endParaRPr lang="zh-CN" altLang="en-US" sz="2400" dirty="0">
              <a:solidFill>
                <a:schemeClr val="accent1">
                  <a:lumMod val="50000"/>
                </a:schemeClr>
              </a:solidFill>
              <a:effectLst/>
              <a:latin typeface="+mj-ea"/>
            </a:endParaRPr>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pPr>
              <a:spcAft>
                <a:spcPts val="0"/>
              </a:spcAft>
            </a:pPr>
            <a:fld id="{37EE960C-B1A1-49E0-B985-A4A1095680B1}" type="datetime1">
              <a:rPr lang="zh-CN" altLang="en-US" smtClean="0"/>
            </a:fld>
            <a:endParaRPr lang="zh-CN" altLang="en-US" dirty="0"/>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5070"/>
                                        </p:tgtEl>
                                        <p:attrNameLst>
                                          <p:attrName>style.visibility</p:attrName>
                                        </p:attrNameLst>
                                      </p:cBhvr>
                                      <p:to>
                                        <p:strVal val="visible"/>
                                      </p:to>
                                    </p:set>
                                    <p:animEffect transition="in" filter="wipe(up)">
                                      <p:cBhvr>
                                        <p:cTn id="7" dur="500"/>
                                        <p:tgtEl>
                                          <p:spTgt spid="45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a:spcAft>
                <a:spcPts val="0"/>
              </a:spcAft>
            </a:pPr>
            <a:r>
              <a:rPr lang="zh-CN" altLang="en-US" dirty="0"/>
              <a:t>新增系统用例</a:t>
            </a:r>
            <a:r>
              <a:rPr lang="en-US" altLang="zh-CN" dirty="0"/>
              <a:t>——“</a:t>
            </a:r>
            <a:r>
              <a:rPr lang="zh-CN" altLang="en-US" dirty="0"/>
              <a:t>登录”和“注销”</a:t>
            </a:r>
            <a:endParaRPr lang="zh-CN" altLang="en-US" dirty="0"/>
          </a:p>
        </p:txBody>
      </p:sp>
      <p:sp>
        <p:nvSpPr>
          <p:cNvPr id="144387" name="Rectangle 3"/>
          <p:cNvSpPr>
            <a:spLocks noGrp="1" noChangeArrowheads="1"/>
          </p:cNvSpPr>
          <p:nvPr>
            <p:ph idx="1"/>
          </p:nvPr>
        </p:nvSpPr>
        <p:spPr/>
        <p:txBody>
          <a:bodyPr>
            <a:normAutofit/>
          </a:bodyPr>
          <a:lstStyle/>
          <a:p>
            <a:pPr marL="342900" indent="-342900">
              <a:spcBef>
                <a:spcPts val="900"/>
              </a:spcBef>
            </a:pPr>
            <a:r>
              <a:rPr lang="zh-CN" altLang="en-US" sz="2200" dirty="0"/>
              <a:t>为了保证该系统的使用安全，系统需要为工作人员提供两个操作“登录”和“注销”。其中，系统用例“登录”是所有其他系统用例的包含（</a:t>
            </a:r>
            <a:r>
              <a:rPr lang="en-US" altLang="zh-CN" sz="2200" dirty="0"/>
              <a:t>include</a:t>
            </a:r>
            <a:r>
              <a:rPr lang="zh-CN" altLang="en-US" sz="2200" dirty="0"/>
              <a:t>）用例，而其他系统用例是“注销”的包含（</a:t>
            </a:r>
            <a:r>
              <a:rPr lang="en-US" altLang="zh-CN" sz="2200" dirty="0"/>
              <a:t>include</a:t>
            </a:r>
            <a:r>
              <a:rPr lang="zh-CN" altLang="en-US" sz="2200" dirty="0"/>
              <a:t>）用例。</a:t>
            </a:r>
            <a:endParaRPr lang="zh-CN" altLang="en-US" sz="2200" dirty="0"/>
          </a:p>
          <a:p>
            <a:pPr marL="342900" indent="-342900">
              <a:spcBef>
                <a:spcPts val="900"/>
              </a:spcBef>
            </a:pPr>
            <a:r>
              <a:rPr lang="zh-CN" altLang="en-US" sz="2200" dirty="0"/>
              <a:t>而这两个系统用例并没有对应的业务用例。</a:t>
            </a:r>
            <a:endParaRPr lang="zh-CN" altLang="en-US" sz="2200" dirty="0"/>
          </a:p>
          <a:p>
            <a:pPr marL="342900" indent="-342900">
              <a:spcBef>
                <a:spcPts val="900"/>
              </a:spcBef>
            </a:pPr>
            <a:r>
              <a:rPr lang="zh-CN" altLang="en-US" sz="2200" dirty="0">
                <a:solidFill>
                  <a:srgbClr val="FF0000"/>
                </a:solidFill>
              </a:rPr>
              <a:t>由此可见，业务用例描述的是用户的实际业务情况。而系统用例描述的是系统为用户的操作。</a:t>
            </a:r>
            <a:endParaRPr lang="zh-CN" altLang="en-US" sz="2200" dirty="0">
              <a:solidFill>
                <a:srgbClr val="FF0000"/>
              </a:solidFill>
            </a:endParaRPr>
          </a:p>
          <a:p>
            <a:pPr marL="342900" indent="-342900">
              <a:spcBef>
                <a:spcPts val="900"/>
              </a:spcBef>
            </a:pPr>
            <a:r>
              <a:rPr lang="zh-CN" altLang="en-US" sz="2200" dirty="0"/>
              <a:t>每一个业务用例都必须在系统用例中找到对应。</a:t>
            </a:r>
            <a:endParaRPr lang="zh-CN" altLang="en-US" sz="2200" dirty="0"/>
          </a:p>
        </p:txBody>
      </p:sp>
      <p:sp>
        <p:nvSpPr>
          <p:cNvPr id="4" name="灯片编号占位符 3"/>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pPr>
              <a:spcAft>
                <a:spcPts val="0"/>
              </a:spcAft>
            </a:pPr>
            <a:fld id="{14E9AB04-00A1-40CA-A85A-C03E15220156}" type="datetime1">
              <a:rPr lang="zh-CN" altLang="en-US" smtClean="0"/>
            </a:fld>
            <a:endParaRPr lang="zh-CN" altLang="en-US" dirty="0"/>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Effect transition="in" filter="wipe(up)">
                                      <p:cBhvr>
                                        <p:cTn id="7" dur="500"/>
                                        <p:tgtEl>
                                          <p:spTgt spid="144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4387">
                                            <p:txEl>
                                              <p:pRg st="1" end="1"/>
                                            </p:txEl>
                                          </p:spTgt>
                                        </p:tgtEl>
                                        <p:attrNameLst>
                                          <p:attrName>style.visibility</p:attrName>
                                        </p:attrNameLst>
                                      </p:cBhvr>
                                      <p:to>
                                        <p:strVal val="visible"/>
                                      </p:to>
                                    </p:set>
                                    <p:animEffect transition="in" filter="wipe(up)">
                                      <p:cBhvr>
                                        <p:cTn id="12" dur="500"/>
                                        <p:tgtEl>
                                          <p:spTgt spid="144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4387">
                                            <p:txEl>
                                              <p:pRg st="2" end="2"/>
                                            </p:txEl>
                                          </p:spTgt>
                                        </p:tgtEl>
                                        <p:attrNameLst>
                                          <p:attrName>style.visibility</p:attrName>
                                        </p:attrNameLst>
                                      </p:cBhvr>
                                      <p:to>
                                        <p:strVal val="visible"/>
                                      </p:to>
                                    </p:set>
                                    <p:animEffect transition="in" filter="wipe(up)">
                                      <p:cBhvr>
                                        <p:cTn id="17" dur="500"/>
                                        <p:tgtEl>
                                          <p:spTgt spid="1443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4387">
                                            <p:txEl>
                                              <p:pRg st="3" end="3"/>
                                            </p:txEl>
                                          </p:spTgt>
                                        </p:tgtEl>
                                        <p:attrNameLst>
                                          <p:attrName>style.visibility</p:attrName>
                                        </p:attrNameLst>
                                      </p:cBhvr>
                                      <p:to>
                                        <p:strVal val="visible"/>
                                      </p:to>
                                    </p:set>
                                    <p:animEffect transition="in" filter="wipe(up)">
                                      <p:cBhvr>
                                        <p:cTn id="22" dur="500"/>
                                        <p:tgtEl>
                                          <p:spTgt spid="144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149506" name="Rectangle 2"/>
          <p:cNvSpPr>
            <a:spLocks noGrp="1" noChangeArrowheads="1"/>
          </p:cNvSpPr>
          <p:nvPr>
            <p:ph type="title" idx="4294967295"/>
          </p:nvPr>
        </p:nvSpPr>
        <p:spPr>
          <a:xfrm>
            <a:off x="111714" y="1294410"/>
            <a:ext cx="3498383" cy="1496292"/>
          </a:xfrm>
          <a:prstGeom prst="rect">
            <a:avLst/>
          </a:prstGeom>
        </p:spPr>
        <p:txBody>
          <a:bodyPr vert="horz" anchor="ctr">
            <a:noAutofit/>
          </a:bodyPr>
          <a:lstStyle/>
          <a:p>
            <a:pPr algn="just">
              <a:lnSpc>
                <a:spcPct val="150000"/>
              </a:lnSpc>
              <a:spcAft>
                <a:spcPts val="0"/>
              </a:spcAft>
            </a:pPr>
            <a:r>
              <a:rPr lang="zh-CN" altLang="en-US" dirty="0">
                <a:solidFill>
                  <a:schemeClr val="accent1">
                    <a:lumMod val="50000"/>
                  </a:schemeClr>
                </a:solidFill>
              </a:rPr>
              <a:t>省队用户</a:t>
            </a:r>
            <a:r>
              <a:rPr lang="zh-CN" altLang="en-US" b="1" dirty="0">
                <a:solidFill>
                  <a:schemeClr val="accent1">
                    <a:lumMod val="50000"/>
                  </a:schemeClr>
                </a:solidFill>
              </a:rPr>
              <a:t>系统用例图</a:t>
            </a:r>
            <a:endParaRPr lang="zh-CN" altLang="en-US" b="1" dirty="0">
              <a:solidFill>
                <a:schemeClr val="accent1">
                  <a:lumMod val="50000"/>
                </a:schemeClr>
              </a:solidFill>
            </a:endParaRPr>
          </a:p>
        </p:txBody>
      </p:sp>
      <p:pic>
        <p:nvPicPr>
          <p:cNvPr id="51217" name="Picture 17"/>
          <p:cNvPicPr>
            <a:picLocks noChangeAspect="1" noChangeArrowheads="1"/>
          </p:cNvPicPr>
          <p:nvPr/>
        </p:nvPicPr>
        <p:blipFill rotWithShape="1">
          <a:blip r:embed="rId1">
            <a:extLst>
              <a:ext uri="{28A0092B-C50C-407E-A947-70E740481C1C}">
                <a14:useLocalDpi xmlns:a14="http://schemas.microsoft.com/office/drawing/2010/main" val="0"/>
              </a:ext>
            </a:extLst>
          </a:blip>
          <a:srcRect l="11762" t="3535" r="7867" b="6332"/>
          <a:stretch>
            <a:fillRect/>
          </a:stretch>
        </p:blipFill>
        <p:spPr bwMode="auto">
          <a:xfrm>
            <a:off x="3857061" y="9650"/>
            <a:ext cx="4905780" cy="5086350"/>
          </a:xfrm>
          <a:prstGeom prst="rect">
            <a:avLst/>
          </a:prstGeom>
          <a:ln>
            <a:noFill/>
          </a:ln>
        </p:spPr>
        <p:style>
          <a:lnRef idx="2">
            <a:schemeClr val="accent1"/>
          </a:lnRef>
          <a:fillRef idx="1">
            <a:schemeClr val="lt1"/>
          </a:fillRef>
          <a:effectRef idx="0">
            <a:schemeClr val="accent1"/>
          </a:effectRef>
          <a:fontRef idx="minor">
            <a:schemeClr val="dk1"/>
          </a:fontRef>
        </p:style>
      </p:pic>
      <p:sp>
        <p:nvSpPr>
          <p:cNvPr id="6" name="日期占位符 5"/>
          <p:cNvSpPr>
            <a:spLocks noGrp="1"/>
          </p:cNvSpPr>
          <p:nvPr>
            <p:ph type="dt" sz="half" idx="10"/>
          </p:nvPr>
        </p:nvSpPr>
        <p:spPr/>
        <p:txBody>
          <a:bodyPr/>
          <a:lstStyle/>
          <a:p>
            <a:pPr>
              <a:spcAft>
                <a:spcPts val="0"/>
              </a:spcAft>
            </a:pPr>
            <a:fld id="{80501A59-0ADE-4E6A-BEA7-E80BC5928CDE}" type="datetime1">
              <a:rPr lang="zh-CN" altLang="en-US" smtClean="0"/>
            </a:fld>
            <a:endParaRPr lang="zh-CN" altLang="en-US" dirty="0"/>
          </a:p>
        </p:txBody>
      </p:sp>
      <p:sp>
        <p:nvSpPr>
          <p:cNvPr id="7" name="页脚占位符 6"/>
          <p:cNvSpPr>
            <a:spLocks noGrp="1"/>
          </p:cNvSpPr>
          <p:nvPr>
            <p:ph type="ftr" sz="quarter" idx="11"/>
          </p:nvPr>
        </p:nvSpPr>
        <p:spPr/>
        <p:txBody>
          <a:bodyPr/>
          <a:lstStyle/>
          <a:p>
            <a:pPr>
              <a:spcAft>
                <a:spcPts val="0"/>
              </a:spcAft>
            </a:pPr>
            <a:r>
              <a:rPr lang="zh-CN" altLang="en-US"/>
              <a:t>软件工程</a:t>
            </a:r>
            <a:endParaRPr lang="zh-CN"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7" name="Picture 5"/>
          <p:cNvPicPr>
            <a:picLocks noChangeAspect="1" noChangeArrowheads="1"/>
          </p:cNvPicPr>
          <p:nvPr/>
        </p:nvPicPr>
        <p:blipFill rotWithShape="1">
          <a:blip r:embed="rId1">
            <a:extLst>
              <a:ext uri="{28A0092B-C50C-407E-A947-70E740481C1C}">
                <a14:useLocalDpi xmlns:a14="http://schemas.microsoft.com/office/drawing/2010/main" val="0"/>
              </a:ext>
            </a:extLst>
          </a:blip>
          <a:srcRect l="12808" t="3858" r="8368" b="6483"/>
          <a:stretch>
            <a:fillRect/>
          </a:stretch>
        </p:blipFill>
        <p:spPr bwMode="auto">
          <a:xfrm>
            <a:off x="4433734" y="-11875"/>
            <a:ext cx="4424516" cy="5143500"/>
          </a:xfrm>
          <a:prstGeom prst="rect">
            <a:avLst/>
          </a:prstGeom>
          <a:ln>
            <a:noFill/>
          </a:ln>
        </p:spPr>
        <p:style>
          <a:lnRef idx="2">
            <a:schemeClr val="accent1"/>
          </a:lnRef>
          <a:fillRef idx="1">
            <a:schemeClr val="lt1"/>
          </a:fillRef>
          <a:effectRef idx="0">
            <a:schemeClr val="accent1"/>
          </a:effectRef>
          <a:fontRef idx="minor">
            <a:schemeClr val="dk1"/>
          </a:fontRef>
        </p:style>
      </p:pic>
      <p:sp>
        <p:nvSpPr>
          <p:cNvPr id="9" name="Rectangle 2"/>
          <p:cNvSpPr txBox="1">
            <a:spLocks noChangeArrowheads="1"/>
          </p:cNvSpPr>
          <p:nvPr/>
        </p:nvSpPr>
        <p:spPr>
          <a:xfrm>
            <a:off x="756783" y="391886"/>
            <a:ext cx="3253839" cy="3623160"/>
          </a:xfrm>
          <a:prstGeom prst="rect">
            <a:avLst/>
          </a:prstGeom>
        </p:spPr>
        <p:txBody>
          <a:bodyPr vert="horz" anchor="ct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Aft>
                <a:spcPts val="0"/>
              </a:spcAft>
            </a:pPr>
            <a:r>
              <a:rPr lang="zh-CN" altLang="en-US" sz="2800" b="1" dirty="0">
                <a:solidFill>
                  <a:schemeClr val="accent1">
                    <a:lumMod val="50000"/>
                  </a:schemeClr>
                </a:solidFill>
              </a:rPr>
              <a:t>管理员系统用例图</a:t>
            </a:r>
            <a:endParaRPr lang="zh-CN" altLang="en-US" sz="2800" b="1" dirty="0">
              <a:solidFill>
                <a:schemeClr val="accent1">
                  <a:lumMod val="50000"/>
                </a:schemeClr>
              </a:solidFill>
            </a:endParaRPr>
          </a:p>
        </p:txBody>
      </p:sp>
      <p:sp>
        <p:nvSpPr>
          <p:cNvPr id="4" name="日期占位符 3"/>
          <p:cNvSpPr>
            <a:spLocks noGrp="1"/>
          </p:cNvSpPr>
          <p:nvPr>
            <p:ph type="dt" sz="half" idx="10"/>
          </p:nvPr>
        </p:nvSpPr>
        <p:spPr/>
        <p:txBody>
          <a:bodyPr/>
          <a:lstStyle/>
          <a:p>
            <a:pPr>
              <a:spcAft>
                <a:spcPts val="0"/>
              </a:spcAft>
            </a:pPr>
            <a:fld id="{D592F701-9C6E-4A77-B8FB-D9DB67197A7B}" type="datetime1">
              <a:rPr lang="zh-CN" altLang="en-US" smtClean="0"/>
            </a:fld>
            <a:endParaRPr lang="zh-CN" altLang="en-US"/>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zh-CN" altLang="en-US" dirty="0"/>
              <a:t>微信抢票应用案例</a:t>
            </a:r>
            <a:endParaRPr lang="zh-CN" altLang="en-US" dirty="0"/>
          </a:p>
        </p:txBody>
      </p:sp>
      <p:sp>
        <p:nvSpPr>
          <p:cNvPr id="6" name="内容占位符 5"/>
          <p:cNvSpPr>
            <a:spLocks noGrp="1"/>
          </p:cNvSpPr>
          <p:nvPr>
            <p:ph idx="1"/>
          </p:nvPr>
        </p:nvSpPr>
        <p:spPr/>
        <p:txBody>
          <a:bodyPr/>
          <a:lstStyle/>
          <a:p>
            <a:r>
              <a:rPr lang="zh-CN" altLang="en-US" sz="2400" dirty="0"/>
              <a:t>见学堂云的清华大学慕课视频</a:t>
            </a:r>
            <a:endParaRPr lang="en-US" altLang="zh-CN" sz="2400" dirty="0"/>
          </a:p>
          <a:p>
            <a:pPr marL="0" indent="0" algn="ctr">
              <a:buNone/>
            </a:pPr>
            <a:r>
              <a:rPr lang="en-US" altLang="zh-CN" dirty="0"/>
              <a:t>8.5 </a:t>
            </a:r>
            <a:r>
              <a:rPr lang="zh-CN" altLang="en-US" dirty="0"/>
              <a:t>微信抢票应用案例</a:t>
            </a:r>
            <a:endParaRPr lang="en-US" altLang="zh-CN" dirty="0"/>
          </a:p>
          <a:p>
            <a:pPr marL="1108710" lvl="1" indent="-457200" algn="l"/>
            <a:r>
              <a:rPr lang="zh-CN" altLang="en-US" dirty="0"/>
              <a:t>用户故事</a:t>
            </a:r>
            <a:endParaRPr lang="en-US" altLang="zh-CN" dirty="0"/>
          </a:p>
          <a:p>
            <a:pPr marL="1108710" lvl="1" indent="-457200" algn="l"/>
            <a:r>
              <a:rPr lang="zh-CN" altLang="en-US" dirty="0"/>
              <a:t>参与者、用例及关系的识别</a:t>
            </a:r>
            <a:endParaRPr lang="en-US" altLang="zh-CN" dirty="0"/>
          </a:p>
          <a:p>
            <a:pPr marL="1108710" lvl="1" indent="-457200" algn="l"/>
            <a:r>
              <a:rPr lang="zh-CN" altLang="en-US" dirty="0"/>
              <a:t>用例图及其绘制</a:t>
            </a:r>
            <a:endParaRPr lang="zh-CN" altLang="en-US" dirty="0"/>
          </a:p>
        </p:txBody>
      </p:sp>
      <p:sp>
        <p:nvSpPr>
          <p:cNvPr id="2" name="日期占位符 1"/>
          <p:cNvSpPr>
            <a:spLocks noGrp="1"/>
          </p:cNvSpPr>
          <p:nvPr>
            <p:ph type="dt" sz="half" idx="10"/>
          </p:nvPr>
        </p:nvSpPr>
        <p:spPr/>
        <p:txBody>
          <a:bodyPr/>
          <a:lstStyle/>
          <a:p>
            <a:pPr>
              <a:spcAft>
                <a:spcPts val="0"/>
              </a:spcAft>
            </a:pPr>
            <a:fld id="{A40A8AE8-3EDD-456B-89B9-D552D4C7AC1A}" type="datetime1">
              <a:rPr lang="zh-CN" altLang="en-US" smtClean="0"/>
            </a:fld>
            <a:endParaRPr lang="zh-CN" altLang="en-US" dirty="0"/>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a:p>
        </p:txBody>
      </p:sp>
      <p:sp>
        <p:nvSpPr>
          <p:cNvPr id="4" name="灯片编号占位符 3"/>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F1D7B08-A86E-4CC1-B3E0-ABF73862384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9" name="文本框 8"/>
          <p:cNvSpPr txBox="1"/>
          <p:nvPr>
            <p:custDataLst>
              <p:tags r:id="rId1"/>
            </p:custDataLst>
          </p:nvPr>
        </p:nvSpPr>
        <p:spPr>
          <a:xfrm>
            <a:off x="914400" y="635000"/>
            <a:ext cx="7599680" cy="1607344"/>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定义了系统的功能需求，它是从系统的外部看系统功能，并不描述系统内部对功能的具体实现。</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用例图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类图</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11"/>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活动图</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文本框 12"/>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状态图</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6"/>
            </p:custDataLst>
          </p:nvPr>
        </p:nvSpPr>
        <p:spPr>
          <a:xfrm>
            <a:off x="1178719" y="2137767"/>
            <a:ext cx="385762" cy="385763"/>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7"/>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椭圆 15"/>
          <p:cNvSpPr>
            <a:spLocks noChangeAspect="1"/>
          </p:cNvSpPr>
          <p:nvPr>
            <p:custDataLst>
              <p:tags r:id="rId8"/>
            </p:custDataLst>
          </p:nvPr>
        </p:nvSpPr>
        <p:spPr>
          <a:xfrm>
            <a:off x="1178719" y="3423642"/>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a:spLocks noChangeAspect="1"/>
          </p:cNvSpPr>
          <p:nvPr>
            <p:custDataLst>
              <p:tags r:id="rId9"/>
            </p:custDataLst>
          </p:nvPr>
        </p:nvSpPr>
        <p:spPr>
          <a:xfrm>
            <a:off x="1178719" y="4066580"/>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矩形: 圆角 17"/>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3" name="组合 22"/>
          <p:cNvGrpSpPr/>
          <p:nvPr>
            <p:custDataLst>
              <p:tags r:id="rId11"/>
            </p:custDataLst>
          </p:nvPr>
        </p:nvGrpSpPr>
        <p:grpSpPr>
          <a:xfrm>
            <a:off x="0" y="0"/>
            <a:ext cx="9144000" cy="635000"/>
            <a:chOff x="0" y="0"/>
            <a:chExt cx="9144000" cy="635000"/>
          </a:xfrm>
        </p:grpSpPr>
        <p:sp>
          <p:nvSpPr>
            <p:cNvPr id="19" name="TitleBackground"/>
            <p:cNvSpPr/>
            <p:nvPr>
              <p:custDataLst>
                <p:tags r:id="rId12"/>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p:cNvSpPr/>
            <p:nvPr>
              <p:custDataLst>
                <p:tags r:id="rId13"/>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8" name="图片 7"/>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3876" y="2451460"/>
            <a:ext cx="5000124" cy="1526456"/>
          </a:xfrm>
          <a:prstGeom prst="rect">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9" name="文本"/>
          <p:cNvSpPr txBox="1"/>
          <p:nvPr/>
        </p:nvSpPr>
        <p:spPr>
          <a:xfrm>
            <a:off x="4453181" y="3099288"/>
            <a:ext cx="4372689" cy="553085"/>
          </a:xfrm>
          <a:prstGeom prst="rect">
            <a:avLst/>
          </a:prstGeom>
          <a:noFill/>
        </p:spPr>
        <p:txBody>
          <a:bodyPr wrap="square" rtlCol="0" anchor="t">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lgn="ctr"/>
            <a:r>
              <a:rPr lang="zh-CN" altLang="en-US" sz="2000" dirty="0">
                <a:solidFill>
                  <a:schemeClr val="bg1"/>
                </a:solidFill>
                <a:latin typeface="+mj-ea"/>
                <a:ea typeface="+mj-ea"/>
              </a:rPr>
              <a:t>交付的工作产品：系统用例模型</a:t>
            </a:r>
            <a:endParaRPr lang="zh-CN" altLang="en-US" sz="2000" dirty="0">
              <a:solidFill>
                <a:schemeClr val="bg1"/>
              </a:solidFill>
              <a:latin typeface="+mj-ea"/>
              <a:ea typeface="+mj-ea"/>
            </a:endParaRPr>
          </a:p>
        </p:txBody>
      </p:sp>
      <p:sp>
        <p:nvSpPr>
          <p:cNvPr id="10" name="文本"/>
          <p:cNvSpPr/>
          <p:nvPr/>
        </p:nvSpPr>
        <p:spPr>
          <a:xfrm>
            <a:off x="4237950" y="2776089"/>
            <a:ext cx="4904027" cy="398780"/>
          </a:xfrm>
          <a:prstGeom prst="rect">
            <a:avLst/>
          </a:prstGeom>
        </p:spPr>
        <p:txBody>
          <a:bodyPr wrap="square">
            <a:spAutoFit/>
          </a:bodyPr>
          <a:lstStyle/>
          <a:p>
            <a:pPr algn="ctr">
              <a:spcAft>
                <a:spcPts val="0"/>
              </a:spcAft>
            </a:pPr>
            <a:r>
              <a:rPr lang="zh-CN" altLang="en-US" sz="2000" b="1" spc="169" dirty="0">
                <a:solidFill>
                  <a:schemeClr val="bg1"/>
                </a:solidFill>
                <a:latin typeface="+mj-ea"/>
                <a:ea typeface="+mj-ea"/>
                <a:sym typeface="+mn-ea"/>
              </a:rPr>
              <a:t>工作任务</a:t>
            </a:r>
            <a:r>
              <a:rPr lang="en-US" altLang="zh-CN" sz="2000" b="1" spc="169" dirty="0">
                <a:solidFill>
                  <a:schemeClr val="bg1"/>
                </a:solidFill>
                <a:latin typeface="+mj-ea"/>
                <a:ea typeface="+mj-ea"/>
                <a:sym typeface="+mn-ea"/>
              </a:rPr>
              <a:t>2</a:t>
            </a:r>
            <a:r>
              <a:rPr lang="zh-CN" altLang="en-US" sz="2000" b="1" spc="169" dirty="0">
                <a:solidFill>
                  <a:schemeClr val="bg1"/>
                </a:solidFill>
                <a:latin typeface="+mj-ea"/>
                <a:ea typeface="+mj-ea"/>
                <a:sym typeface="+mn-ea"/>
              </a:rPr>
              <a:t>：完成用例描述</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pPr>
              <a:spcAft>
                <a:spcPts val="0"/>
              </a:spcAft>
            </a:pPr>
            <a:fld id="{3A9FB887-479E-4382-82E1-A3130CF4C1EB}" type="datetime1">
              <a:rPr lang="zh-CN" altLang="en-US" smtClean="0"/>
            </a:fld>
            <a:endParaRPr lang="zh-CN" altLang="en-US"/>
          </a:p>
        </p:txBody>
      </p:sp>
      <p:sp>
        <p:nvSpPr>
          <p:cNvPr id="8" name="页脚占位符 7"/>
          <p:cNvSpPr>
            <a:spLocks noGrp="1"/>
          </p:cNvSpPr>
          <p:nvPr>
            <p:ph type="ftr" sz="quarter" idx="11"/>
          </p:nvPr>
        </p:nvSpPr>
        <p:spPr/>
        <p:txBody>
          <a:bodyPr/>
          <a:lstStyle/>
          <a:p>
            <a:pPr>
              <a:spcAft>
                <a:spcPts val="0"/>
              </a:spcAft>
            </a:pPr>
            <a:r>
              <a:rPr lang="zh-CN" altLang="en-US" dirty="0"/>
              <a:t>软件工程</a:t>
            </a:r>
            <a:endParaRPr lang="zh-CN" altLang="en-US" dirty="0"/>
          </a:p>
        </p:txBody>
      </p:sp>
      <p:sp>
        <p:nvSpPr>
          <p:cNvPr id="11" name="灯片编号占位符 10"/>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par>
                          <p:cTn id="27" fill="hold">
                            <p:stCondLst>
                              <p:cond delay="2500"/>
                            </p:stCondLst>
                            <p:childTnLst>
                              <p:par>
                                <p:cTn id="28" presetID="42"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anim calcmode="lin" valueType="num">
                                      <p:cBhvr>
                                        <p:cTn id="31" dur="1000" fill="hold"/>
                                        <p:tgtEl>
                                          <p:spTgt spid="9"/>
                                        </p:tgtEl>
                                        <p:attrNameLst>
                                          <p:attrName>ppt_x</p:attrName>
                                        </p:attrNameLst>
                                      </p:cBhvr>
                                      <p:tavLst>
                                        <p:tav tm="0">
                                          <p:val>
                                            <p:strVal val="#ppt_x"/>
                                          </p:val>
                                        </p:tav>
                                        <p:tav tm="100000">
                                          <p:val>
                                            <p:strVal val="#ppt_x"/>
                                          </p:val>
                                        </p:tav>
                                      </p:tavLst>
                                    </p:anim>
                                    <p:anim calcmode="lin" valueType="num">
                                      <p:cBhvr>
                                        <p:cTn id="3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9" grpId="0"/>
      <p:bldP spid="10"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zh-CN" altLang="en-US" dirty="0"/>
              <a:t>建立用例模型</a:t>
            </a:r>
            <a:endParaRPr lang="zh-CN" altLang="en-US" dirty="0"/>
          </a:p>
        </p:txBody>
      </p:sp>
      <p:sp>
        <p:nvSpPr>
          <p:cNvPr id="2" name="日期占位符 1"/>
          <p:cNvSpPr>
            <a:spLocks noGrp="1"/>
          </p:cNvSpPr>
          <p:nvPr>
            <p:ph type="dt" sz="half" idx="10"/>
          </p:nvPr>
        </p:nvSpPr>
        <p:spPr/>
        <p:txBody>
          <a:bodyPr/>
          <a:lstStyle/>
          <a:p>
            <a:pPr>
              <a:spcAft>
                <a:spcPts val="0"/>
              </a:spcAft>
            </a:pPr>
            <a:fld id="{9C76A074-AEA1-42EB-BC0E-B6F8D2929690}" type="datetime1">
              <a:rPr lang="zh-CN" altLang="en-US" smtClean="0"/>
            </a:fld>
            <a:endParaRPr lang="zh-CN" altLang="en-US"/>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a:p>
        </p:txBody>
      </p:sp>
      <p:sp>
        <p:nvSpPr>
          <p:cNvPr id="4" name="灯片编号占位符 3"/>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graphicFrame>
        <p:nvGraphicFramePr>
          <p:cNvPr id="6" name="图示 5"/>
          <p:cNvGraphicFramePr/>
          <p:nvPr/>
        </p:nvGraphicFramePr>
        <p:xfrm>
          <a:off x="373511" y="1330718"/>
          <a:ext cx="8484739" cy="228227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用例模型的文本表示</a:t>
            </a:r>
            <a:r>
              <a:rPr lang="en-US" altLang="zh-CN" dirty="0"/>
              <a:t>——</a:t>
            </a:r>
            <a:r>
              <a:rPr lang="zh-CN" altLang="en-US" dirty="0"/>
              <a:t>用例描述 </a:t>
            </a:r>
            <a:endParaRPr lang="zh-CN" altLang="en-US" dirty="0"/>
          </a:p>
        </p:txBody>
      </p:sp>
      <p:sp>
        <p:nvSpPr>
          <p:cNvPr id="3" name="日期占位符 2"/>
          <p:cNvSpPr>
            <a:spLocks noGrp="1"/>
          </p:cNvSpPr>
          <p:nvPr>
            <p:ph type="dt" sz="half" idx="10"/>
          </p:nvPr>
        </p:nvSpPr>
        <p:spPr/>
        <p:txBody>
          <a:bodyPr/>
          <a:lstStyle/>
          <a:p>
            <a:pPr>
              <a:spcAft>
                <a:spcPts val="0"/>
              </a:spcAft>
            </a:pPr>
            <a:fld id="{8E0E2D15-13A9-48B6-A9F0-AB78CDBAE43F}" type="datetime1">
              <a:rPr lang="zh-CN" altLang="en-US" smtClean="0"/>
            </a:fld>
            <a:endParaRPr lang="zh-CN" altLang="en-US"/>
          </a:p>
        </p:txBody>
      </p:sp>
      <p:sp>
        <p:nvSpPr>
          <p:cNvPr id="4" name="页脚占位符 3"/>
          <p:cNvSpPr>
            <a:spLocks noGrp="1"/>
          </p:cNvSpPr>
          <p:nvPr>
            <p:ph type="ftr" sz="quarter" idx="11"/>
          </p:nvPr>
        </p:nvSpPr>
        <p:spPr/>
        <p:txBody>
          <a:bodyPr/>
          <a:lstStyle/>
          <a:p>
            <a:pPr>
              <a:spcAft>
                <a:spcPts val="0"/>
              </a:spcAft>
            </a:pPr>
            <a:r>
              <a:rPr lang="zh-CN" altLang="en-US"/>
              <a:t>软件工程</a:t>
            </a:r>
            <a:endParaRPr lang="zh-CN" altLang="en-US"/>
          </a:p>
        </p:txBody>
      </p:sp>
      <p:sp>
        <p:nvSpPr>
          <p:cNvPr id="5" name="灯片编号占位符 4"/>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8167" y="828913"/>
            <a:ext cx="7494958" cy="3702344"/>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a:spcAft>
                <a:spcPts val="0"/>
              </a:spcAft>
            </a:pPr>
            <a:r>
              <a:rPr lang="zh-CN" altLang="en-US" dirty="0"/>
              <a:t>用例描述（用例规约）</a:t>
            </a:r>
            <a:endParaRPr lang="zh-CN" altLang="en-US" dirty="0"/>
          </a:p>
        </p:txBody>
      </p:sp>
      <p:sp>
        <p:nvSpPr>
          <p:cNvPr id="192515" name="Rectangle 3"/>
          <p:cNvSpPr>
            <a:spLocks noGrp="1" noChangeArrowheads="1"/>
          </p:cNvSpPr>
          <p:nvPr>
            <p:ph idx="1"/>
          </p:nvPr>
        </p:nvSpPr>
        <p:spPr>
          <a:xfrm>
            <a:off x="768097" y="913292"/>
            <a:ext cx="7832833" cy="3806854"/>
          </a:xfrm>
        </p:spPr>
        <p:txBody>
          <a:bodyPr>
            <a:noAutofit/>
          </a:bodyPr>
          <a:lstStyle/>
          <a:p>
            <a:pPr marL="457200" indent="-457200">
              <a:lnSpc>
                <a:spcPct val="130000"/>
              </a:lnSpc>
              <a:spcBef>
                <a:spcPts val="450"/>
              </a:spcBef>
            </a:pPr>
            <a:r>
              <a:rPr lang="zh-CN" altLang="en-US" sz="2000" dirty="0"/>
              <a:t>用例图只是简单地用图描述了一下系统，但对于每个用例，我们还需要有详细的说明，可以让别人对这个系统有更详细的了解，这时就需要写用例描述。</a:t>
            </a:r>
            <a:endParaRPr lang="zh-CN" altLang="en-US" sz="2000" dirty="0"/>
          </a:p>
          <a:p>
            <a:pPr marL="457200" indent="-457200">
              <a:lnSpc>
                <a:spcPct val="130000"/>
              </a:lnSpc>
              <a:spcBef>
                <a:spcPts val="450"/>
              </a:spcBef>
            </a:pPr>
            <a:r>
              <a:rPr lang="zh-CN" altLang="en-US" sz="2000" dirty="0"/>
              <a:t>对于用例描述的内容，一般没有硬性规定的格式，但一些必须或者重要的内容还是必须要写进用例描述里面的。</a:t>
            </a:r>
            <a:endParaRPr lang="en-US" altLang="zh-CN" sz="2000" dirty="0"/>
          </a:p>
          <a:p>
            <a:pPr marL="457200" indent="-457200">
              <a:lnSpc>
                <a:spcPct val="130000"/>
              </a:lnSpc>
              <a:spcBef>
                <a:spcPts val="450"/>
              </a:spcBef>
            </a:pPr>
            <a:r>
              <a:rPr lang="zh-CN" altLang="en-US" sz="2000" dirty="0">
                <a:solidFill>
                  <a:srgbClr val="FF0000"/>
                </a:solidFill>
              </a:rPr>
              <a:t>用例描述一般包括以下内容：</a:t>
            </a:r>
            <a:endParaRPr lang="en-US" altLang="zh-CN" sz="2000" dirty="0">
              <a:solidFill>
                <a:srgbClr val="FF0000"/>
              </a:solidFill>
            </a:endParaRPr>
          </a:p>
          <a:p>
            <a:pPr lvl="1">
              <a:spcBef>
                <a:spcPts val="450"/>
              </a:spcBef>
            </a:pPr>
            <a:r>
              <a:rPr lang="zh-CN" altLang="en-US" sz="2000" dirty="0"/>
              <a:t>简要描述（说明）</a:t>
            </a:r>
            <a:endParaRPr lang="en-US" altLang="zh-CN" sz="2000" dirty="0"/>
          </a:p>
          <a:p>
            <a:pPr lvl="1">
              <a:spcBef>
                <a:spcPts val="450"/>
              </a:spcBef>
            </a:pPr>
            <a:r>
              <a:rPr lang="zh-CN" altLang="en-US" sz="2000" dirty="0"/>
              <a:t>前置（前提）条件</a:t>
            </a:r>
            <a:endParaRPr lang="en-US" altLang="zh-CN" sz="2000" dirty="0"/>
          </a:p>
          <a:p>
            <a:pPr lvl="1">
              <a:spcBef>
                <a:spcPts val="450"/>
              </a:spcBef>
            </a:pPr>
            <a:r>
              <a:rPr lang="zh-CN" altLang="en-US" sz="2000" dirty="0"/>
              <a:t>基本事件流、其他事件流</a:t>
            </a:r>
            <a:endParaRPr lang="en-US" altLang="zh-CN" sz="2000" dirty="0"/>
          </a:p>
          <a:p>
            <a:pPr lvl="1">
              <a:spcBef>
                <a:spcPts val="450"/>
              </a:spcBef>
            </a:pPr>
            <a:r>
              <a:rPr lang="zh-CN" altLang="en-US" sz="2000" dirty="0"/>
              <a:t>后置（事后）条件等 </a:t>
            </a:r>
            <a:endParaRPr lang="zh-CN" altLang="en-US" sz="2000" dirty="0"/>
          </a:p>
        </p:txBody>
      </p:sp>
      <p:sp>
        <p:nvSpPr>
          <p:cNvPr id="2" name="日期占位符 1"/>
          <p:cNvSpPr>
            <a:spLocks noGrp="1"/>
          </p:cNvSpPr>
          <p:nvPr>
            <p:ph type="dt" sz="half" idx="10"/>
          </p:nvPr>
        </p:nvSpPr>
        <p:spPr/>
        <p:txBody>
          <a:bodyPr/>
          <a:lstStyle/>
          <a:p>
            <a:pPr>
              <a:spcAft>
                <a:spcPts val="0"/>
              </a:spcAft>
            </a:pPr>
            <a:fld id="{9391431D-B558-45AD-8068-0C712A2AAB28}" type="datetime1">
              <a:rPr lang="zh-CN" altLang="en-US" smtClean="0"/>
            </a:fld>
            <a:endParaRPr lang="zh-CN" altLang="en-US" dirty="0"/>
          </a:p>
        </p:txBody>
      </p:sp>
      <p:sp>
        <p:nvSpPr>
          <p:cNvPr id="4" name="页脚占位符 3"/>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Effect transition="in" filter="wipe(up)">
                                      <p:cBhvr>
                                        <p:cTn id="7" dur="500"/>
                                        <p:tgtEl>
                                          <p:spTgt spid="192515">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92515">
                                            <p:txEl>
                                              <p:pRg st="1" end="1"/>
                                            </p:txEl>
                                          </p:spTgt>
                                        </p:tgtEl>
                                        <p:attrNameLst>
                                          <p:attrName>style.visibility</p:attrName>
                                        </p:attrNameLst>
                                      </p:cBhvr>
                                      <p:to>
                                        <p:strVal val="visible"/>
                                      </p:to>
                                    </p:set>
                                    <p:animEffect transition="in" filter="wipe(up)">
                                      <p:cBhvr>
                                        <p:cTn id="11" dur="500"/>
                                        <p:tgtEl>
                                          <p:spTgt spid="19251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92515">
                                            <p:txEl>
                                              <p:pRg st="2" end="2"/>
                                            </p:txEl>
                                          </p:spTgt>
                                        </p:tgtEl>
                                        <p:attrNameLst>
                                          <p:attrName>style.visibility</p:attrName>
                                        </p:attrNameLst>
                                      </p:cBhvr>
                                      <p:to>
                                        <p:strVal val="visible"/>
                                      </p:to>
                                    </p:set>
                                    <p:animEffect transition="in" filter="wipe(up)">
                                      <p:cBhvr>
                                        <p:cTn id="16" dur="500"/>
                                        <p:tgtEl>
                                          <p:spTgt spid="192515">
                                            <p:txEl>
                                              <p:pRg st="2" end="2"/>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92515">
                                            <p:txEl>
                                              <p:pRg st="3" end="3"/>
                                            </p:txEl>
                                          </p:spTgt>
                                        </p:tgtEl>
                                        <p:attrNameLst>
                                          <p:attrName>style.visibility</p:attrName>
                                        </p:attrNameLst>
                                      </p:cBhvr>
                                      <p:to>
                                        <p:strVal val="visible"/>
                                      </p:to>
                                    </p:set>
                                    <p:animEffect transition="in" filter="wipe(up)">
                                      <p:cBhvr>
                                        <p:cTn id="19" dur="500"/>
                                        <p:tgtEl>
                                          <p:spTgt spid="192515">
                                            <p:txEl>
                                              <p:pRg st="3" end="3"/>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92515">
                                            <p:txEl>
                                              <p:pRg st="4" end="4"/>
                                            </p:txEl>
                                          </p:spTgt>
                                        </p:tgtEl>
                                        <p:attrNameLst>
                                          <p:attrName>style.visibility</p:attrName>
                                        </p:attrNameLst>
                                      </p:cBhvr>
                                      <p:to>
                                        <p:strVal val="visible"/>
                                      </p:to>
                                    </p:set>
                                    <p:animEffect transition="in" filter="wipe(up)">
                                      <p:cBhvr>
                                        <p:cTn id="22" dur="500"/>
                                        <p:tgtEl>
                                          <p:spTgt spid="192515">
                                            <p:txEl>
                                              <p:pRg st="4" end="4"/>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92515">
                                            <p:txEl>
                                              <p:pRg st="5" end="5"/>
                                            </p:txEl>
                                          </p:spTgt>
                                        </p:tgtEl>
                                        <p:attrNameLst>
                                          <p:attrName>style.visibility</p:attrName>
                                        </p:attrNameLst>
                                      </p:cBhvr>
                                      <p:to>
                                        <p:strVal val="visible"/>
                                      </p:to>
                                    </p:set>
                                    <p:animEffect transition="in" filter="wipe(up)">
                                      <p:cBhvr>
                                        <p:cTn id="25" dur="500"/>
                                        <p:tgtEl>
                                          <p:spTgt spid="192515">
                                            <p:txEl>
                                              <p:pRg st="5" end="5"/>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192515">
                                            <p:txEl>
                                              <p:pRg st="6" end="6"/>
                                            </p:txEl>
                                          </p:spTgt>
                                        </p:tgtEl>
                                        <p:attrNameLst>
                                          <p:attrName>style.visibility</p:attrName>
                                        </p:attrNameLst>
                                      </p:cBhvr>
                                      <p:to>
                                        <p:strVal val="visible"/>
                                      </p:to>
                                    </p:set>
                                    <p:animEffect transition="in" filter="wipe(up)">
                                      <p:cBhvr>
                                        <p:cTn id="28" dur="500"/>
                                        <p:tgtEl>
                                          <p:spTgt spid="1925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pPr>
              <a:spcAft>
                <a:spcPts val="0"/>
              </a:spcAft>
            </a:pPr>
            <a:r>
              <a:rPr lang="zh-CN" altLang="en-US" dirty="0"/>
              <a:t>用例描述模板一</a:t>
            </a:r>
            <a:endParaRPr lang="zh-CN" altLang="en-US" dirty="0"/>
          </a:p>
        </p:txBody>
      </p:sp>
      <p:sp>
        <p:nvSpPr>
          <p:cNvPr id="4" name="日期占位符 3"/>
          <p:cNvSpPr>
            <a:spLocks noGrp="1"/>
          </p:cNvSpPr>
          <p:nvPr>
            <p:ph type="dt" sz="half" idx="10"/>
          </p:nvPr>
        </p:nvSpPr>
        <p:spPr/>
        <p:txBody>
          <a:bodyPr/>
          <a:lstStyle/>
          <a:p>
            <a:pPr>
              <a:spcAft>
                <a:spcPts val="0"/>
              </a:spcAft>
            </a:pPr>
            <a:fld id="{A2CEA1D5-0369-49FA-B961-FA0BE02C530F}"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2" name="文本占位符 1"/>
          <p:cNvSpPr>
            <a:spLocks noGrp="1"/>
          </p:cNvSpPr>
          <p:nvPr>
            <p:ph type="body" sz="quarter" idx="4294967295"/>
          </p:nvPr>
        </p:nvSpPr>
        <p:spPr>
          <a:xfrm>
            <a:off x="637466" y="912038"/>
            <a:ext cx="8090155" cy="3743087"/>
          </a:xfrm>
        </p:spPr>
        <p:txBody>
          <a:bodyPr>
            <a:noAutofit/>
          </a:bodyPr>
          <a:lstStyle/>
          <a:p>
            <a:pPr marL="342900" indent="-342900">
              <a:spcBef>
                <a:spcPts val="600"/>
              </a:spcBef>
            </a:pPr>
            <a:r>
              <a:rPr lang="zh-CN" altLang="en-US" sz="2000" dirty="0"/>
              <a:t>简要描述：对用例的角色、目的的简要描述；</a:t>
            </a:r>
            <a:endParaRPr lang="zh-CN" altLang="en-US" sz="2000" dirty="0"/>
          </a:p>
          <a:p>
            <a:pPr marL="342900" indent="-342900">
              <a:spcBef>
                <a:spcPts val="600"/>
              </a:spcBef>
            </a:pPr>
            <a:r>
              <a:rPr lang="zh-CN" altLang="en-US" sz="2000" dirty="0"/>
              <a:t>前置条件：执行用例之前系统必须要处于的状态，或者要满足的条件；</a:t>
            </a:r>
            <a:endParaRPr lang="zh-CN" altLang="en-US" sz="2000" dirty="0"/>
          </a:p>
          <a:p>
            <a:pPr marL="342900" indent="-342900">
              <a:spcBef>
                <a:spcPts val="600"/>
              </a:spcBef>
            </a:pPr>
            <a:r>
              <a:rPr lang="zh-CN" altLang="en-US" sz="2000" dirty="0"/>
              <a:t>基本事件流：描述该用例的基本流程，指每个流程都“正常”运作时所发生的事情，没有任何备选流和异常流，而只有最有可能发生的事件流；</a:t>
            </a:r>
            <a:endParaRPr lang="zh-CN" altLang="en-US" sz="2000" dirty="0"/>
          </a:p>
          <a:p>
            <a:pPr marL="342900" indent="-342900">
              <a:spcBef>
                <a:spcPts val="600"/>
              </a:spcBef>
            </a:pPr>
            <a:r>
              <a:rPr lang="zh-CN" altLang="en-US" sz="2000" dirty="0"/>
              <a:t>其他事件流：表示这个行为或流程是可选的或备选的，并不是总要总要执行它们；</a:t>
            </a:r>
            <a:endParaRPr lang="zh-CN" altLang="en-US" sz="2000" dirty="0"/>
          </a:p>
          <a:p>
            <a:pPr marL="342900" indent="-342900">
              <a:spcBef>
                <a:spcPts val="600"/>
              </a:spcBef>
            </a:pPr>
            <a:r>
              <a:rPr lang="zh-CN" altLang="en-US" sz="2000" dirty="0"/>
              <a:t>异常事件流：表示发生了某些非正常的事情所要执行的流程；</a:t>
            </a:r>
            <a:endParaRPr lang="zh-CN" altLang="en-US" sz="2000" dirty="0"/>
          </a:p>
          <a:p>
            <a:pPr marL="342900" indent="-342900">
              <a:spcBef>
                <a:spcPts val="600"/>
              </a:spcBef>
            </a:pPr>
            <a:r>
              <a:rPr lang="zh-CN" altLang="en-US" sz="2000" dirty="0"/>
              <a:t>后置条件：用例一旦执行后系统所处的状态。</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up)">
                                      <p:cBhvr>
                                        <p:cTn id="19" dur="500"/>
                                        <p:tgtEl>
                                          <p:spTgt spid="2">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up)">
                                      <p:cBhvr>
                                        <p:cTn id="2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65170" y="1033154"/>
            <a:ext cx="1031362" cy="2838202"/>
          </a:xfrm>
        </p:spPr>
        <p:txBody>
          <a:bodyPr vert="eaVert"/>
          <a:lstStyle/>
          <a:p>
            <a:pPr>
              <a:spcAft>
                <a:spcPts val="0"/>
              </a:spcAft>
            </a:pPr>
            <a:r>
              <a:rPr lang="zh-CN" altLang="en-US" dirty="0">
                <a:solidFill>
                  <a:schemeClr val="accent1">
                    <a:lumMod val="50000"/>
                  </a:schemeClr>
                </a:solidFill>
              </a:rPr>
              <a:t>用例描述模板二</a:t>
            </a:r>
            <a:endParaRPr lang="zh-CN" altLang="en-US" dirty="0">
              <a:solidFill>
                <a:schemeClr val="accent1">
                  <a:lumMod val="50000"/>
                </a:schemeClr>
              </a:solidFill>
            </a:endParaRPr>
          </a:p>
        </p:txBody>
      </p:sp>
      <p:sp>
        <p:nvSpPr>
          <p:cNvPr id="4" name="日期占位符 3"/>
          <p:cNvSpPr>
            <a:spLocks noGrp="1"/>
          </p:cNvSpPr>
          <p:nvPr>
            <p:ph type="dt" sz="half" idx="10"/>
          </p:nvPr>
        </p:nvSpPr>
        <p:spPr/>
        <p:txBody>
          <a:bodyPr/>
          <a:lstStyle/>
          <a:p>
            <a:pPr>
              <a:spcAft>
                <a:spcPts val="0"/>
              </a:spcAft>
            </a:pPr>
            <a:fld id="{272A2C3E-E14F-437D-B66B-59759B4C79D4}"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7" name="Text Box 3"/>
          <p:cNvSpPr txBox="1">
            <a:spLocks noChangeArrowheads="1"/>
          </p:cNvSpPr>
          <p:nvPr/>
        </p:nvSpPr>
        <p:spPr bwMode="auto">
          <a:xfrm>
            <a:off x="2383641" y="760731"/>
            <a:ext cx="4995059" cy="3621405"/>
          </a:xfrm>
          <a:prstGeom prst="rect">
            <a:avLst/>
          </a:prstGeom>
          <a:solidFill>
            <a:schemeClr val="bg1"/>
          </a:solidFill>
          <a:ln w="25400">
            <a:solidFill>
              <a:srgbClr val="FF0000"/>
            </a:solidFill>
            <a:miter lim="800000"/>
          </a:ln>
          <a:effectLst/>
        </p:spPr>
        <p:txBody>
          <a:bodyPr wrap="square">
            <a:spAutoFit/>
          </a:bodyPr>
          <a:lstStyle/>
          <a:p>
            <a:pPr algn="l" eaLnBrk="1" hangingPunct="1">
              <a:spcBef>
                <a:spcPct val="50000"/>
              </a:spcBef>
              <a:spcAft>
                <a:spcPts val="0"/>
              </a:spcAft>
              <a:buClr>
                <a:srgbClr val="FF3300"/>
              </a:buClr>
              <a:buFont typeface="Wingdings" panose="05000000000000000000" pitchFamily="2" charset="2"/>
              <a:buNone/>
            </a:pPr>
            <a:r>
              <a:rPr kumimoji="1" lang="zh-CN" altLang="en-US" sz="1600" dirty="0">
                <a:latin typeface="华文细黑" panose="02010600040101010101" pitchFamily="2" charset="-122"/>
                <a:ea typeface="华文细黑" panose="02010600040101010101" pitchFamily="2" charset="-122"/>
              </a:rPr>
              <a:t>用例编号</a:t>
            </a:r>
            <a:endParaRPr kumimoji="1" lang="zh-CN" altLang="en-US"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buClr>
                <a:srgbClr val="FF3300"/>
              </a:buClr>
              <a:buFont typeface="Wingdings" panose="05000000000000000000" pitchFamily="2" charset="2"/>
              <a:buNone/>
            </a:pPr>
            <a:r>
              <a:rPr kumimoji="1" lang="zh-CN" altLang="en-US" sz="1600" dirty="0">
                <a:latin typeface="华文细黑" panose="02010600040101010101" pitchFamily="2" charset="-122"/>
                <a:ea typeface="华文细黑" panose="02010600040101010101" pitchFamily="2" charset="-122"/>
              </a:rPr>
              <a:t>用例名</a:t>
            </a:r>
            <a:endParaRPr kumimoji="1" lang="zh-CN" altLang="en-US"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buClr>
                <a:srgbClr val="FF3300"/>
              </a:buClr>
              <a:buFont typeface="Wingdings" panose="05000000000000000000" pitchFamily="2" charset="2"/>
              <a:buNone/>
            </a:pPr>
            <a:r>
              <a:rPr kumimoji="1" lang="zh-CN" altLang="en-US" sz="1600" dirty="0">
                <a:latin typeface="华文细黑" panose="02010600040101010101" pitchFamily="2" charset="-122"/>
                <a:ea typeface="华文细黑" panose="02010600040101010101" pitchFamily="2" charset="-122"/>
              </a:rPr>
              <a:t>用例描述</a:t>
            </a:r>
            <a:endParaRPr kumimoji="1" lang="zh-CN" altLang="en-US"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buClr>
                <a:srgbClr val="FF3300"/>
              </a:buClr>
              <a:buFont typeface="Wingdings" panose="05000000000000000000" pitchFamily="2" charset="2"/>
              <a:buNone/>
            </a:pPr>
            <a:r>
              <a:rPr kumimoji="1" lang="zh-CN" altLang="en-US" sz="1600" dirty="0">
                <a:latin typeface="华文细黑" panose="02010600040101010101" pitchFamily="2" charset="-122"/>
                <a:ea typeface="华文细黑" panose="02010600040101010101" pitchFamily="2" charset="-122"/>
              </a:rPr>
              <a:t>参与者</a:t>
            </a:r>
            <a:endParaRPr kumimoji="1" lang="zh-CN" altLang="en-US"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buClr>
                <a:srgbClr val="FF3300"/>
              </a:buClr>
              <a:buFont typeface="Wingdings" panose="05000000000000000000" pitchFamily="2" charset="2"/>
              <a:buNone/>
            </a:pPr>
            <a:r>
              <a:rPr kumimoji="1" lang="zh-CN" altLang="en-US" sz="1600" dirty="0">
                <a:latin typeface="华文细黑" panose="02010600040101010101" pitchFamily="2" charset="-122"/>
                <a:ea typeface="华文细黑" panose="02010600040101010101" pitchFamily="2" charset="-122"/>
              </a:rPr>
              <a:t>前置条件</a:t>
            </a:r>
            <a:endParaRPr kumimoji="1" lang="zh-CN" altLang="en-US"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buClr>
                <a:srgbClr val="FF3300"/>
              </a:buClr>
              <a:buFont typeface="Wingdings" panose="05000000000000000000" pitchFamily="2" charset="2"/>
              <a:buNone/>
            </a:pPr>
            <a:r>
              <a:rPr kumimoji="1" lang="zh-CN" altLang="en-US" sz="1600" dirty="0">
                <a:latin typeface="华文细黑" panose="02010600040101010101" pitchFamily="2" charset="-122"/>
                <a:ea typeface="华文细黑" panose="02010600040101010101" pitchFamily="2" charset="-122"/>
              </a:rPr>
              <a:t>后置条件</a:t>
            </a:r>
            <a:endParaRPr kumimoji="1" lang="zh-CN" altLang="en-US"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buClr>
                <a:srgbClr val="FF3300"/>
              </a:buClr>
              <a:buFont typeface="Wingdings" panose="05000000000000000000" pitchFamily="2" charset="2"/>
              <a:buNone/>
            </a:pPr>
            <a:r>
              <a:rPr kumimoji="1" lang="zh-CN" altLang="en-US" sz="1600" dirty="0">
                <a:latin typeface="华文细黑" panose="02010600040101010101" pitchFamily="2" charset="-122"/>
                <a:ea typeface="华文细黑" panose="02010600040101010101" pitchFamily="2" charset="-122"/>
              </a:rPr>
              <a:t>基本路径</a:t>
            </a:r>
            <a:endParaRPr kumimoji="1" lang="zh-CN" altLang="en-US"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pPr>
            <a:r>
              <a:rPr kumimoji="1" lang="zh-CN" altLang="en-US" sz="1600" dirty="0">
                <a:latin typeface="华文细黑" panose="02010600040101010101" pitchFamily="2" charset="-122"/>
                <a:ea typeface="华文细黑" panose="02010600040101010101" pitchFamily="2" charset="-122"/>
              </a:rPr>
              <a:t>      </a:t>
            </a:r>
            <a:r>
              <a:rPr kumimoji="1" lang="en-US" altLang="zh-CN" sz="1600" dirty="0">
                <a:latin typeface="华文细黑" panose="02010600040101010101" pitchFamily="2" charset="-122"/>
                <a:ea typeface="华文细黑" panose="02010600040101010101" pitchFamily="2" charset="-122"/>
              </a:rPr>
              <a:t>1, ….X </a:t>
            </a:r>
            <a:r>
              <a:rPr kumimoji="1" lang="en-US" altLang="zh-CN" sz="1600" dirty="0" err="1">
                <a:latin typeface="华文细黑" panose="02010600040101010101" pitchFamily="2" charset="-122"/>
                <a:ea typeface="华文细黑" panose="02010600040101010101" pitchFamily="2" charset="-122"/>
              </a:rPr>
              <a:t>X</a:t>
            </a:r>
            <a:r>
              <a:rPr kumimoji="1" lang="en-US" altLang="zh-CN" sz="1600" dirty="0">
                <a:latin typeface="华文细黑" panose="02010600040101010101" pitchFamily="2" charset="-122"/>
                <a:ea typeface="华文细黑" panose="02010600040101010101" pitchFamily="2" charset="-122"/>
              </a:rPr>
              <a:t> </a:t>
            </a:r>
            <a:r>
              <a:rPr kumimoji="1" lang="en-US" altLang="zh-CN" sz="1600" dirty="0" err="1">
                <a:latin typeface="华文细黑" panose="02010600040101010101" pitchFamily="2" charset="-122"/>
                <a:ea typeface="华文细黑" panose="02010600040101010101" pitchFamily="2" charset="-122"/>
              </a:rPr>
              <a:t>X</a:t>
            </a:r>
            <a:r>
              <a:rPr kumimoji="1" lang="en-US" altLang="zh-CN" sz="1600" dirty="0">
                <a:latin typeface="华文细黑" panose="02010600040101010101" pitchFamily="2" charset="-122"/>
                <a:ea typeface="华文细黑" panose="02010600040101010101" pitchFamily="2" charset="-122"/>
              </a:rPr>
              <a:t> </a:t>
            </a:r>
            <a:r>
              <a:rPr kumimoji="1" lang="en-US" altLang="zh-CN" sz="1600" dirty="0" err="1">
                <a:latin typeface="华文细黑" panose="02010600040101010101" pitchFamily="2" charset="-122"/>
                <a:ea typeface="华文细黑" panose="02010600040101010101" pitchFamily="2" charset="-122"/>
              </a:rPr>
              <a:t>X</a:t>
            </a:r>
            <a:endParaRPr kumimoji="1" lang="en-US" altLang="zh-CN"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pPr>
            <a:r>
              <a:rPr kumimoji="1" lang="en-US" altLang="zh-CN" sz="1600" dirty="0">
                <a:latin typeface="华文细黑" panose="02010600040101010101" pitchFamily="2" charset="-122"/>
                <a:ea typeface="华文细黑" panose="02010600040101010101" pitchFamily="2" charset="-122"/>
              </a:rPr>
              <a:t>      2. ….X </a:t>
            </a:r>
            <a:r>
              <a:rPr kumimoji="1" lang="en-US" altLang="zh-CN" sz="1600" dirty="0" err="1">
                <a:latin typeface="华文细黑" panose="02010600040101010101" pitchFamily="2" charset="-122"/>
                <a:ea typeface="华文细黑" panose="02010600040101010101" pitchFamily="2" charset="-122"/>
              </a:rPr>
              <a:t>X</a:t>
            </a:r>
            <a:r>
              <a:rPr kumimoji="1" lang="en-US" altLang="zh-CN" sz="1600" dirty="0">
                <a:latin typeface="华文细黑" panose="02010600040101010101" pitchFamily="2" charset="-122"/>
                <a:ea typeface="华文细黑" panose="02010600040101010101" pitchFamily="2" charset="-122"/>
              </a:rPr>
              <a:t> </a:t>
            </a:r>
            <a:r>
              <a:rPr kumimoji="1" lang="en-US" altLang="zh-CN" sz="1600" dirty="0" err="1">
                <a:latin typeface="华文细黑" panose="02010600040101010101" pitchFamily="2" charset="-122"/>
                <a:ea typeface="华文细黑" panose="02010600040101010101" pitchFamily="2" charset="-122"/>
              </a:rPr>
              <a:t>X</a:t>
            </a:r>
            <a:r>
              <a:rPr kumimoji="1" lang="en-US" altLang="zh-CN" sz="1600" dirty="0">
                <a:latin typeface="华文细黑" panose="02010600040101010101" pitchFamily="2" charset="-122"/>
                <a:ea typeface="华文细黑" panose="02010600040101010101" pitchFamily="2" charset="-122"/>
              </a:rPr>
              <a:t> </a:t>
            </a:r>
            <a:r>
              <a:rPr kumimoji="1" lang="en-US" altLang="zh-CN" sz="1600" dirty="0" err="1">
                <a:latin typeface="华文细黑" panose="02010600040101010101" pitchFamily="2" charset="-122"/>
                <a:ea typeface="华文细黑" panose="02010600040101010101" pitchFamily="2" charset="-122"/>
              </a:rPr>
              <a:t>X</a:t>
            </a:r>
            <a:endParaRPr kumimoji="1" lang="en-US" altLang="zh-CN"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buClr>
                <a:srgbClr val="FF3300"/>
              </a:buClr>
              <a:buFont typeface="Wingdings" panose="05000000000000000000" pitchFamily="2" charset="2"/>
              <a:buNone/>
            </a:pPr>
            <a:r>
              <a:rPr kumimoji="1" lang="zh-CN" altLang="en-US" sz="1600" dirty="0">
                <a:latin typeface="华文细黑" panose="02010600040101010101" pitchFamily="2" charset="-122"/>
                <a:ea typeface="华文细黑" panose="02010600040101010101" pitchFamily="2" charset="-122"/>
              </a:rPr>
              <a:t>扩展点</a:t>
            </a:r>
            <a:endParaRPr kumimoji="1" lang="zh-CN" altLang="en-US"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pPr>
            <a:r>
              <a:rPr kumimoji="1" lang="zh-CN" altLang="en-US" sz="1600" dirty="0">
                <a:latin typeface="华文细黑" panose="02010600040101010101" pitchFamily="2" charset="-122"/>
                <a:ea typeface="华文细黑" panose="02010600040101010101" pitchFamily="2" charset="-122"/>
              </a:rPr>
              <a:t>	</a:t>
            </a:r>
            <a:r>
              <a:rPr kumimoji="1" lang="en-US" altLang="zh-CN" sz="1600" dirty="0">
                <a:latin typeface="华文细黑" panose="02010600040101010101" pitchFamily="2" charset="-122"/>
                <a:ea typeface="华文细黑" panose="02010600040101010101" pitchFamily="2" charset="-122"/>
              </a:rPr>
              <a:t>2a. ….X </a:t>
            </a:r>
            <a:r>
              <a:rPr kumimoji="1" lang="en-US" altLang="zh-CN" sz="1600" dirty="0" err="1">
                <a:latin typeface="华文细黑" panose="02010600040101010101" pitchFamily="2" charset="-122"/>
                <a:ea typeface="华文细黑" panose="02010600040101010101" pitchFamily="2" charset="-122"/>
              </a:rPr>
              <a:t>X</a:t>
            </a:r>
            <a:r>
              <a:rPr kumimoji="1" lang="en-US" altLang="zh-CN" sz="1600" dirty="0">
                <a:latin typeface="华文细黑" panose="02010600040101010101" pitchFamily="2" charset="-122"/>
                <a:ea typeface="华文细黑" panose="02010600040101010101" pitchFamily="2" charset="-122"/>
              </a:rPr>
              <a:t> </a:t>
            </a:r>
            <a:r>
              <a:rPr kumimoji="1" lang="en-US" altLang="zh-CN" sz="1600" dirty="0" err="1">
                <a:latin typeface="华文细黑" panose="02010600040101010101" pitchFamily="2" charset="-122"/>
                <a:ea typeface="华文细黑" panose="02010600040101010101" pitchFamily="2" charset="-122"/>
              </a:rPr>
              <a:t>X</a:t>
            </a:r>
            <a:r>
              <a:rPr kumimoji="1" lang="en-US" altLang="zh-CN" sz="1600" dirty="0">
                <a:latin typeface="华文细黑" panose="02010600040101010101" pitchFamily="2" charset="-122"/>
                <a:ea typeface="华文细黑" panose="02010600040101010101" pitchFamily="2" charset="-122"/>
              </a:rPr>
              <a:t> </a:t>
            </a:r>
            <a:r>
              <a:rPr kumimoji="1" lang="en-US" altLang="zh-CN" sz="1600" dirty="0" err="1">
                <a:latin typeface="华文细黑" panose="02010600040101010101" pitchFamily="2" charset="-122"/>
                <a:ea typeface="华文细黑" panose="02010600040101010101" pitchFamily="2" charset="-122"/>
              </a:rPr>
              <a:t>X</a:t>
            </a:r>
            <a:endParaRPr kumimoji="1" lang="en-US" altLang="zh-CN"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pPr>
            <a:r>
              <a:rPr kumimoji="1" lang="en-US" altLang="zh-CN" sz="1600" dirty="0">
                <a:latin typeface="华文细黑" panose="02010600040101010101" pitchFamily="2" charset="-122"/>
                <a:ea typeface="华文细黑" panose="02010600040101010101" pitchFamily="2" charset="-122"/>
              </a:rPr>
              <a:t>	2a1. ….X </a:t>
            </a:r>
            <a:r>
              <a:rPr kumimoji="1" lang="en-US" altLang="zh-CN" sz="1600" dirty="0" err="1">
                <a:latin typeface="华文细黑" panose="02010600040101010101" pitchFamily="2" charset="-122"/>
                <a:ea typeface="华文细黑" panose="02010600040101010101" pitchFamily="2" charset="-122"/>
              </a:rPr>
              <a:t>X</a:t>
            </a:r>
            <a:r>
              <a:rPr kumimoji="1" lang="en-US" altLang="zh-CN" sz="1600" dirty="0">
                <a:latin typeface="华文细黑" panose="02010600040101010101" pitchFamily="2" charset="-122"/>
                <a:ea typeface="华文细黑" panose="02010600040101010101" pitchFamily="2" charset="-122"/>
              </a:rPr>
              <a:t> </a:t>
            </a:r>
            <a:r>
              <a:rPr kumimoji="1" lang="en-US" altLang="zh-CN" sz="1600" dirty="0" err="1">
                <a:latin typeface="华文细黑" panose="02010600040101010101" pitchFamily="2" charset="-122"/>
                <a:ea typeface="华文细黑" panose="02010600040101010101" pitchFamily="2" charset="-122"/>
              </a:rPr>
              <a:t>X</a:t>
            </a:r>
            <a:r>
              <a:rPr kumimoji="1" lang="en-US" altLang="zh-CN" sz="1600" dirty="0">
                <a:latin typeface="华文细黑" panose="02010600040101010101" pitchFamily="2" charset="-122"/>
                <a:ea typeface="华文细黑" panose="02010600040101010101" pitchFamily="2" charset="-122"/>
              </a:rPr>
              <a:t> </a:t>
            </a:r>
            <a:r>
              <a:rPr kumimoji="1" lang="en-US" altLang="zh-CN" sz="1600" dirty="0" err="1">
                <a:latin typeface="华文细黑" panose="02010600040101010101" pitchFamily="2" charset="-122"/>
                <a:ea typeface="华文细黑" panose="02010600040101010101" pitchFamily="2" charset="-122"/>
              </a:rPr>
              <a:t>X</a:t>
            </a:r>
            <a:endParaRPr kumimoji="1" lang="en-US" altLang="zh-CN" sz="1600" dirty="0">
              <a:latin typeface="华文细黑" panose="02010600040101010101" pitchFamily="2" charset="-122"/>
              <a:ea typeface="华文细黑" panose="02010600040101010101" pitchFamily="2" charset="-122"/>
            </a:endParaRPr>
          </a:p>
          <a:p>
            <a:pPr algn="l" eaLnBrk="1" hangingPunct="1">
              <a:spcBef>
                <a:spcPts val="50"/>
              </a:spcBef>
              <a:spcAft>
                <a:spcPts val="0"/>
              </a:spcAft>
              <a:buClr>
                <a:srgbClr val="FF3300"/>
              </a:buClr>
              <a:buFont typeface="Wingdings" panose="05000000000000000000" pitchFamily="2" charset="2"/>
              <a:buNone/>
            </a:pPr>
            <a:r>
              <a:rPr kumimoji="1" lang="zh-CN" altLang="en-US" sz="1600" dirty="0">
                <a:latin typeface="华文细黑" panose="02010600040101010101" pitchFamily="2" charset="-122"/>
                <a:ea typeface="华文细黑" panose="02010600040101010101" pitchFamily="2" charset="-122"/>
              </a:rPr>
              <a:t>变异点</a:t>
            </a:r>
            <a:endParaRPr kumimoji="1" lang="zh-CN" altLang="en-US" sz="1600" dirty="0">
              <a:latin typeface="华文细黑" panose="02010600040101010101" pitchFamily="2" charset="-122"/>
              <a:ea typeface="华文细黑" panose="02010600040101010101" pitchFamily="2" charset="-122"/>
            </a:endParaRPr>
          </a:p>
          <a:p>
            <a:pPr algn="l" eaLnBrk="1" hangingPunct="1">
              <a:spcBef>
                <a:spcPts val="50"/>
              </a:spcBef>
              <a:buClr>
                <a:srgbClr val="FF3300"/>
              </a:buClr>
              <a:buFont typeface="Wingdings" panose="05000000000000000000" pitchFamily="2" charset="2"/>
              <a:buNone/>
            </a:pPr>
            <a:r>
              <a:rPr kumimoji="1" lang="zh-CN" altLang="en-US" sz="1600" dirty="0">
                <a:latin typeface="华文细黑" panose="02010600040101010101" pitchFamily="2" charset="-122"/>
                <a:ea typeface="华文细黑" panose="02010600040101010101" pitchFamily="2" charset="-122"/>
              </a:rPr>
              <a:t>补充说明</a:t>
            </a:r>
            <a:endParaRPr kumimoji="1" lang="zh-CN" altLang="en-US" sz="1600" dirty="0">
              <a:latin typeface="华文细黑" panose="02010600040101010101" pitchFamily="2" charset="-122"/>
              <a:ea typeface="华文细黑" panose="0201060004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用例描述怎么写？</a:t>
            </a:r>
            <a:endParaRPr lang="zh-CN" altLang="en-US" dirty="0"/>
          </a:p>
        </p:txBody>
      </p:sp>
      <p:sp>
        <p:nvSpPr>
          <p:cNvPr id="3" name="内容占位符 2"/>
          <p:cNvSpPr>
            <a:spLocks noGrp="1"/>
          </p:cNvSpPr>
          <p:nvPr>
            <p:ph idx="1"/>
          </p:nvPr>
        </p:nvSpPr>
        <p:spPr/>
        <p:txBody>
          <a:bodyPr>
            <a:normAutofit/>
          </a:bodyPr>
          <a:lstStyle/>
          <a:p>
            <a:r>
              <a:rPr lang="zh-CN" altLang="en-US" sz="2400" dirty="0"/>
              <a:t>用例简述：</a:t>
            </a:r>
            <a:endParaRPr lang="en-US" altLang="zh-CN" sz="2400" dirty="0"/>
          </a:p>
          <a:p>
            <a:pPr lvl="1"/>
            <a:r>
              <a:rPr lang="zh-CN" altLang="en-US" sz="2000" dirty="0"/>
              <a:t>处理购物交易用例：</a:t>
            </a:r>
            <a:r>
              <a:rPr lang="en-US" altLang="zh-CN" sz="2000" dirty="0"/>
              <a:t> </a:t>
            </a:r>
            <a:endParaRPr lang="en-US" altLang="zh-CN" sz="2000" dirty="0"/>
          </a:p>
          <a:p>
            <a:pPr lvl="1"/>
            <a:r>
              <a:rPr lang="zh-CN" altLang="en-US" sz="2000" dirty="0"/>
              <a:t>客户带着要购买的货物到收款处，收银员使用</a:t>
            </a:r>
            <a:r>
              <a:rPr lang="en-US" altLang="zh-CN" sz="2000" dirty="0"/>
              <a:t>POS</a:t>
            </a:r>
            <a:r>
              <a:rPr lang="zh-CN" altLang="en-US" sz="2000" dirty="0"/>
              <a:t>机扫描记录每一种预购买的货物。系统计算总价并打印清单。客户付款，系统验证并保存销售记录。系统更新库存，客户得到收条并带着货物离开。 </a:t>
            </a:r>
            <a:endParaRPr lang="zh-CN" altLang="en-US" sz="2000" dirty="0"/>
          </a:p>
        </p:txBody>
      </p:sp>
      <p:sp>
        <p:nvSpPr>
          <p:cNvPr id="4" name="日期占位符 3"/>
          <p:cNvSpPr>
            <a:spLocks noGrp="1"/>
          </p:cNvSpPr>
          <p:nvPr>
            <p:ph type="dt" sz="half" idx="10"/>
          </p:nvPr>
        </p:nvSpPr>
        <p:spPr/>
        <p:txBody>
          <a:bodyPr/>
          <a:lstStyle/>
          <a:p>
            <a:pPr>
              <a:spcAft>
                <a:spcPts val="0"/>
              </a:spcAft>
            </a:pPr>
            <a:fld id="{1F1D7B08-A86E-4CC1-B3E0-ABF738623846}"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3" name="Rectangle 3"/>
          <p:cNvSpPr>
            <a:spLocks noGrp="1" noChangeArrowheads="1"/>
          </p:cNvSpPr>
          <p:nvPr>
            <p:ph idx="1"/>
          </p:nvPr>
        </p:nvSpPr>
        <p:spPr>
          <a:xfrm>
            <a:off x="768098" y="925167"/>
            <a:ext cx="763820" cy="3806854"/>
          </a:xfrm>
        </p:spPr>
        <p:txBody>
          <a:bodyPr vert="eaVert" anchor="ctr">
            <a:normAutofit/>
          </a:bodyPr>
          <a:lstStyle/>
          <a:p>
            <a:pPr marL="0" indent="0">
              <a:lnSpc>
                <a:spcPct val="80000"/>
              </a:lnSpc>
              <a:buNone/>
            </a:pPr>
            <a:r>
              <a:rPr lang="zh-CN" altLang="en-US" sz="2800" b="1" dirty="0">
                <a:solidFill>
                  <a:schemeClr val="accent1">
                    <a:lumMod val="50000"/>
                  </a:schemeClr>
                </a:solidFill>
              </a:rPr>
              <a:t>用例描述示例二</a:t>
            </a:r>
            <a:endParaRPr lang="en-US" altLang="zh-CN" sz="2800" b="1" dirty="0">
              <a:solidFill>
                <a:schemeClr val="accent1">
                  <a:lumMod val="50000"/>
                </a:schemeClr>
              </a:solidFill>
            </a:endParaRPr>
          </a:p>
        </p:txBody>
      </p:sp>
      <p:sp>
        <p:nvSpPr>
          <p:cNvPr id="4" name="日期占位符 3"/>
          <p:cNvSpPr>
            <a:spLocks noGrp="1"/>
          </p:cNvSpPr>
          <p:nvPr>
            <p:ph type="dt" sz="half" idx="10"/>
          </p:nvPr>
        </p:nvSpPr>
        <p:spPr/>
        <p:txBody>
          <a:bodyPr/>
          <a:lstStyle/>
          <a:p>
            <a:pPr>
              <a:spcAft>
                <a:spcPts val="0"/>
              </a:spcAft>
            </a:pPr>
            <a:fld id="{04236878-0DBC-4AB7-ABD8-A9134F158524}"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2" name="文本占位符 1"/>
          <p:cNvSpPr>
            <a:spLocks noGrp="1"/>
          </p:cNvSpPr>
          <p:nvPr>
            <p:ph type="body" sz="quarter" idx="4294967295"/>
          </p:nvPr>
        </p:nvSpPr>
        <p:spPr>
          <a:xfrm>
            <a:off x="1812472" y="1"/>
            <a:ext cx="7200900" cy="4853028"/>
          </a:xfrm>
        </p:spPr>
        <p:style>
          <a:lnRef idx="2">
            <a:schemeClr val="accent2"/>
          </a:lnRef>
          <a:fillRef idx="1">
            <a:schemeClr val="lt1"/>
          </a:fillRef>
          <a:effectRef idx="0">
            <a:schemeClr val="accent2"/>
          </a:effectRef>
          <a:fontRef idx="minor">
            <a:schemeClr val="dk1"/>
          </a:fontRef>
        </p:style>
        <p:txBody>
          <a:bodyPr>
            <a:noAutofit/>
          </a:bodyPr>
          <a:lstStyle/>
          <a:p>
            <a:pPr marL="0" indent="0" fontAlgn="auto">
              <a:lnSpc>
                <a:spcPct val="100000"/>
              </a:lnSpc>
              <a:spcBef>
                <a:spcPts val="0"/>
              </a:spcBef>
              <a:buNone/>
            </a:pPr>
            <a:r>
              <a:rPr lang="zh-CN" altLang="en-US" sz="1600" b="1" dirty="0">
                <a:latin typeface="+mj-ea"/>
                <a:ea typeface="+mj-ea"/>
              </a:rPr>
              <a:t>用例名称：</a:t>
            </a:r>
            <a:r>
              <a:rPr lang="zh-CN" altLang="en-US" sz="1600" dirty="0">
                <a:latin typeface="+mj-ea"/>
                <a:ea typeface="+mj-ea"/>
              </a:rPr>
              <a:t>网上在线订购</a:t>
            </a:r>
            <a:endParaRPr lang="zh-CN" altLang="en-US" sz="1600" dirty="0">
              <a:latin typeface="+mj-ea"/>
              <a:ea typeface="+mj-ea"/>
            </a:endParaRPr>
          </a:p>
          <a:p>
            <a:pPr marL="0" indent="0" fontAlgn="auto">
              <a:lnSpc>
                <a:spcPct val="100000"/>
              </a:lnSpc>
              <a:spcBef>
                <a:spcPts val="0"/>
              </a:spcBef>
              <a:buNone/>
            </a:pPr>
            <a:r>
              <a:rPr lang="zh-CN" altLang="en-US" sz="1600" b="1" dirty="0">
                <a:latin typeface="+mj-ea"/>
                <a:ea typeface="+mj-ea"/>
                <a:sym typeface="+mn-ea"/>
              </a:rPr>
              <a:t>描述：</a:t>
            </a:r>
            <a:r>
              <a:rPr lang="zh-CN" altLang="en-US" sz="1600">
                <a:solidFill>
                  <a:srgbClr val="2C2C36"/>
                </a:solidFill>
                <a:latin typeface="-apple-system"/>
                <a:ea typeface="-apple-system"/>
                <a:sym typeface="+mn-ea"/>
              </a:rPr>
              <a:t>买家在选择好商品并将其添加到购物车后，可以通过此功能完成下单购买流程。这包括确认订单详情、选择支付方式以及最终提交订单。</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zh-CN" altLang="en-US" sz="1600" b="1" dirty="0">
                <a:latin typeface="+mj-ea"/>
                <a:ea typeface="+mj-ea"/>
                <a:sym typeface="+mn-ea"/>
              </a:rPr>
              <a:t>参与者：</a:t>
            </a:r>
            <a:r>
              <a:rPr lang="zh-CN" altLang="en-US" sz="1600">
                <a:solidFill>
                  <a:srgbClr val="2C2C36"/>
                </a:solidFill>
                <a:latin typeface="-apple-system"/>
                <a:ea typeface="-apple-system"/>
                <a:sym typeface="+mn-ea"/>
              </a:rPr>
              <a:t>买家</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zh-CN" altLang="en-US" sz="1600" b="1" dirty="0">
                <a:latin typeface="+mj-ea"/>
                <a:ea typeface="+mj-ea"/>
                <a:sym typeface="+mn-ea"/>
              </a:rPr>
              <a:t>前置条件：</a:t>
            </a:r>
            <a:endParaRPr lang="zh-CN" altLang="en-US" sz="1600" b="1" i="0" dirty="0">
              <a:latin typeface="+mj-ea"/>
              <a:ea typeface="+mj-ea"/>
            </a:endParaRPr>
          </a:p>
          <a:p>
            <a:pPr marL="0" indent="0" fontAlgn="auto">
              <a:lnSpc>
                <a:spcPct val="100000"/>
              </a:lnSpc>
              <a:spcBef>
                <a:spcPts val="0"/>
              </a:spcBef>
              <a:buNone/>
            </a:pPr>
            <a:r>
              <a:rPr lang="zh-CN" altLang="en-US" sz="1600">
                <a:solidFill>
                  <a:srgbClr val="2C2C36"/>
                </a:solidFill>
                <a:latin typeface="-apple-system"/>
                <a:ea typeface="-apple-system"/>
                <a:sym typeface="+mn-ea"/>
              </a:rPr>
              <a:t>买家已登录其账户。</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zh-CN" altLang="en-US" sz="1600">
                <a:solidFill>
                  <a:srgbClr val="2C2C36"/>
                </a:solidFill>
                <a:latin typeface="-apple-system"/>
                <a:ea typeface="-apple-system"/>
                <a:sym typeface="+mn-ea"/>
              </a:rPr>
              <a:t>购物车内有至少一件商品。</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zh-CN" altLang="en-US" sz="1600">
                <a:solidFill>
                  <a:srgbClr val="2C2C36"/>
                </a:solidFill>
                <a:latin typeface="-apple-system"/>
                <a:ea typeface="-apple-system"/>
                <a:sym typeface="+mn-ea"/>
              </a:rPr>
              <a:t>买家已填写或更新收货地址信息。</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zh-CN" altLang="en-US" sz="1600" b="1" dirty="0">
                <a:latin typeface="+mj-ea"/>
                <a:ea typeface="+mj-ea"/>
                <a:sym typeface="+mn-ea"/>
              </a:rPr>
              <a:t>后置条件：</a:t>
            </a:r>
            <a:endParaRPr lang="zh-CN" altLang="en-US" sz="1600" b="1" i="0" dirty="0">
              <a:latin typeface="+mj-ea"/>
              <a:ea typeface="+mj-ea"/>
            </a:endParaRPr>
          </a:p>
          <a:p>
            <a:pPr marL="0" indent="0" fontAlgn="auto">
              <a:lnSpc>
                <a:spcPct val="100000"/>
              </a:lnSpc>
              <a:spcBef>
                <a:spcPts val="0"/>
              </a:spcBef>
              <a:buNone/>
            </a:pPr>
            <a:r>
              <a:rPr lang="zh-CN" altLang="en-US" sz="1600">
                <a:solidFill>
                  <a:srgbClr val="2C2C36"/>
                </a:solidFill>
                <a:latin typeface="-apple-system"/>
                <a:ea typeface="-apple-system"/>
                <a:sym typeface="+mn-ea"/>
              </a:rPr>
              <a:t>订单成功创建，并进入待支付状态；或者订单因某种原因未能成功创建（如库存不足）。</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zh-CN" altLang="en-US" sz="1600" b="1" dirty="0">
                <a:latin typeface="+mj-ea"/>
                <a:ea typeface="+mj-ea"/>
                <a:sym typeface="+mn-ea"/>
              </a:rPr>
              <a:t>基本事件流：</a:t>
            </a:r>
            <a:endParaRPr lang="zh-CN" altLang="en-US" sz="1600" b="1" i="0" dirty="0">
              <a:latin typeface="+mj-ea"/>
              <a:ea typeface="+mj-ea"/>
            </a:endParaRPr>
          </a:p>
          <a:p>
            <a:pPr marL="0" indent="0" fontAlgn="auto">
              <a:lnSpc>
                <a:spcPct val="100000"/>
              </a:lnSpc>
              <a:spcBef>
                <a:spcPts val="0"/>
              </a:spcBef>
              <a:buNone/>
            </a:pPr>
            <a:r>
              <a:rPr lang="en-US" altLang="zh-CN" sz="1600">
                <a:solidFill>
                  <a:srgbClr val="2C2C36"/>
                </a:solidFill>
                <a:latin typeface="-apple-system"/>
                <a:ea typeface="-apple-system"/>
                <a:sym typeface="+mn-ea"/>
              </a:rPr>
              <a:t>1.</a:t>
            </a:r>
            <a:r>
              <a:rPr lang="zh-CN" altLang="en-US" sz="1600">
                <a:solidFill>
                  <a:srgbClr val="2C2C36"/>
                </a:solidFill>
                <a:latin typeface="-apple-system"/>
                <a:ea typeface="-apple-system"/>
                <a:sym typeface="+mn-ea"/>
              </a:rPr>
              <a:t>查看购物车：</a:t>
            </a:r>
            <a:endParaRPr lang="zh-CN" altLang="en-US" sz="1600" b="0" i="0">
              <a:solidFill>
                <a:srgbClr val="2C2C36"/>
              </a:solidFill>
              <a:latin typeface="-apple-system"/>
              <a:ea typeface="-apple-system"/>
            </a:endParaRPr>
          </a:p>
          <a:p>
            <a:pPr marL="0" lvl="1" indent="0" fontAlgn="auto">
              <a:lnSpc>
                <a:spcPct val="100000"/>
              </a:lnSpc>
              <a:spcBef>
                <a:spcPts val="0"/>
              </a:spcBef>
              <a:buNone/>
            </a:pPr>
            <a:r>
              <a:rPr lang="zh-CN" altLang="en-US" sz="1600">
                <a:solidFill>
                  <a:srgbClr val="2C2C36"/>
                </a:solidFill>
                <a:latin typeface="-apple-system"/>
                <a:ea typeface="-apple-system"/>
                <a:sym typeface="+mn-ea"/>
              </a:rPr>
              <a:t>买家访问购物车页面，查看已添加的商品列表。</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en-US" altLang="zh-CN" sz="1600">
                <a:solidFill>
                  <a:srgbClr val="2C2C36"/>
                </a:solidFill>
                <a:latin typeface="-apple-system"/>
                <a:ea typeface="-apple-system"/>
                <a:sym typeface="+mn-ea"/>
              </a:rPr>
              <a:t>2.</a:t>
            </a:r>
            <a:r>
              <a:rPr lang="zh-CN" altLang="en-US" sz="1600">
                <a:solidFill>
                  <a:srgbClr val="2C2C36"/>
                </a:solidFill>
                <a:latin typeface="-apple-system"/>
                <a:ea typeface="-apple-system"/>
                <a:sym typeface="+mn-ea"/>
              </a:rPr>
              <a:t>编辑购物车内容（可选）：</a:t>
            </a:r>
            <a:endParaRPr lang="zh-CN" altLang="en-US" sz="1600" b="0" i="0">
              <a:solidFill>
                <a:srgbClr val="2C2C36"/>
              </a:solidFill>
              <a:latin typeface="-apple-system"/>
              <a:ea typeface="-apple-system"/>
            </a:endParaRPr>
          </a:p>
          <a:p>
            <a:pPr marL="0" lvl="1" indent="0" fontAlgn="auto">
              <a:lnSpc>
                <a:spcPct val="100000"/>
              </a:lnSpc>
              <a:spcBef>
                <a:spcPts val="0"/>
              </a:spcBef>
              <a:buNone/>
            </a:pPr>
            <a:r>
              <a:rPr lang="zh-CN" altLang="en-US" sz="1600">
                <a:solidFill>
                  <a:srgbClr val="2C2C36"/>
                </a:solidFill>
                <a:latin typeface="-apple-system"/>
                <a:ea typeface="-apple-system"/>
                <a:sym typeface="+mn-ea"/>
              </a:rPr>
              <a:t>买家可以修改商品数量、删除商品或继续购物。</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en-US" altLang="zh-CN" sz="1600">
                <a:solidFill>
                  <a:srgbClr val="2C2C36"/>
                </a:solidFill>
                <a:latin typeface="-apple-system"/>
                <a:ea typeface="-apple-system"/>
                <a:sym typeface="+mn-ea"/>
              </a:rPr>
              <a:t>3.</a:t>
            </a:r>
            <a:r>
              <a:rPr lang="zh-CN" altLang="en-US" sz="1600">
                <a:solidFill>
                  <a:srgbClr val="2C2C36"/>
                </a:solidFill>
                <a:latin typeface="-apple-system"/>
                <a:ea typeface="-apple-system"/>
                <a:sym typeface="+mn-ea"/>
              </a:rPr>
              <a:t>选择结算：</a:t>
            </a:r>
            <a:endParaRPr lang="zh-CN" altLang="en-US" sz="1600" b="0" i="0">
              <a:solidFill>
                <a:srgbClr val="2C2C36"/>
              </a:solidFill>
              <a:latin typeface="-apple-system"/>
              <a:ea typeface="-apple-system"/>
            </a:endParaRPr>
          </a:p>
          <a:p>
            <a:pPr marL="0" lvl="1" indent="0" fontAlgn="auto">
              <a:lnSpc>
                <a:spcPct val="100000"/>
              </a:lnSpc>
              <a:spcBef>
                <a:spcPts val="0"/>
              </a:spcBef>
              <a:buNone/>
            </a:pPr>
            <a:r>
              <a:rPr lang="zh-CN" altLang="en-US" sz="1600">
                <a:solidFill>
                  <a:srgbClr val="2C2C36"/>
                </a:solidFill>
                <a:latin typeface="-apple-system"/>
                <a:ea typeface="-apple-system"/>
                <a:sym typeface="+mn-ea"/>
              </a:rPr>
              <a:t>买家点击“去结算”按钮，开始下单流程。</a:t>
            </a:r>
            <a:endParaRPr lang="zh-CN" altLang="en-US" sz="1600" dirty="0">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up)">
                                      <p:cBhvr>
                                        <p:cTn id="7" dur="500"/>
                                        <p:tgtEl>
                                          <p:spTgt spid="2">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up)">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up)">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wipe(up)">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wipe(up)">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wipe(up)">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wipe(up)">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wipe(up)">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wipe(up)">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
                                            <p:txEl>
                                              <p:pRg st="8" end="8"/>
                                            </p:txEl>
                                          </p:spTgt>
                                        </p:tgtEl>
                                        <p:attrNameLst>
                                          <p:attrName>style.visibility</p:attrName>
                                        </p:attrNameLst>
                                      </p:cBhvr>
                                      <p:to>
                                        <p:strVal val="visible"/>
                                      </p:to>
                                    </p:set>
                                    <p:animEffect transition="in" filter="wipe(up)">
                                      <p:cBhvr>
                                        <p:cTn id="52" dur="500"/>
                                        <p:tgtEl>
                                          <p:spTgt spid="2">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
                                            <p:txEl>
                                              <p:pRg st="9" end="9"/>
                                            </p:txEl>
                                          </p:spTgt>
                                        </p:tgtEl>
                                        <p:attrNameLst>
                                          <p:attrName>style.visibility</p:attrName>
                                        </p:attrNameLst>
                                      </p:cBhvr>
                                      <p:to>
                                        <p:strVal val="visible"/>
                                      </p:to>
                                    </p:set>
                                    <p:animEffect transition="in" filter="wipe(up)">
                                      <p:cBhvr>
                                        <p:cTn id="57" dur="500"/>
                                        <p:tgtEl>
                                          <p:spTgt spid="2">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
                                            <p:txEl>
                                              <p:pRg st="10" end="10"/>
                                            </p:txEl>
                                          </p:spTgt>
                                        </p:tgtEl>
                                        <p:attrNameLst>
                                          <p:attrName>style.visibility</p:attrName>
                                        </p:attrNameLst>
                                      </p:cBhvr>
                                      <p:to>
                                        <p:strVal val="visible"/>
                                      </p:to>
                                    </p:set>
                                    <p:animEffect transition="in" filter="wipe(up)">
                                      <p:cBhvr>
                                        <p:cTn id="62" dur="500"/>
                                        <p:tgtEl>
                                          <p:spTgt spid="2">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
                                            <p:txEl>
                                              <p:pRg st="11" end="11"/>
                                            </p:txEl>
                                          </p:spTgt>
                                        </p:tgtEl>
                                        <p:attrNameLst>
                                          <p:attrName>style.visibility</p:attrName>
                                        </p:attrNameLst>
                                      </p:cBhvr>
                                      <p:to>
                                        <p:strVal val="visible"/>
                                      </p:to>
                                    </p:set>
                                    <p:animEffect transition="in" filter="wipe(up)">
                                      <p:cBhvr>
                                        <p:cTn id="67" dur="500"/>
                                        <p:tgtEl>
                                          <p:spTgt spid="2">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2">
                                            <p:txEl>
                                              <p:pRg st="12" end="12"/>
                                            </p:txEl>
                                          </p:spTgt>
                                        </p:tgtEl>
                                        <p:attrNameLst>
                                          <p:attrName>style.visibility</p:attrName>
                                        </p:attrNameLst>
                                      </p:cBhvr>
                                      <p:to>
                                        <p:strVal val="visible"/>
                                      </p:to>
                                    </p:set>
                                    <p:animEffect transition="in" filter="wipe(up)">
                                      <p:cBhvr>
                                        <p:cTn id="72" dur="500"/>
                                        <p:tgtEl>
                                          <p:spTgt spid="2">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2">
                                            <p:txEl>
                                              <p:pRg st="13" end="13"/>
                                            </p:txEl>
                                          </p:spTgt>
                                        </p:tgtEl>
                                        <p:attrNameLst>
                                          <p:attrName>style.visibility</p:attrName>
                                        </p:attrNameLst>
                                      </p:cBhvr>
                                      <p:to>
                                        <p:strVal val="visible"/>
                                      </p:to>
                                    </p:set>
                                    <p:animEffect transition="in" filter="wipe(up)">
                                      <p:cBhvr>
                                        <p:cTn id="77" dur="500"/>
                                        <p:tgtEl>
                                          <p:spTgt spid="2">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2">
                                            <p:txEl>
                                              <p:pRg st="14" end="14"/>
                                            </p:txEl>
                                          </p:spTgt>
                                        </p:tgtEl>
                                        <p:attrNameLst>
                                          <p:attrName>style.visibility</p:attrName>
                                        </p:attrNameLst>
                                      </p:cBhvr>
                                      <p:to>
                                        <p:strVal val="visible"/>
                                      </p:to>
                                    </p:set>
                                    <p:animEffect transition="in" filter="wipe(up)">
                                      <p:cBhvr>
                                        <p:cTn id="82" dur="500"/>
                                        <p:tgtEl>
                                          <p:spTgt spid="2">
                                            <p:txEl>
                                              <p:pRg st="14" end="14"/>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2">
                                            <p:txEl>
                                              <p:pRg st="15" end="15"/>
                                            </p:txEl>
                                          </p:spTgt>
                                        </p:tgtEl>
                                        <p:attrNameLst>
                                          <p:attrName>style.visibility</p:attrName>
                                        </p:attrNameLst>
                                      </p:cBhvr>
                                      <p:to>
                                        <p:strVal val="visible"/>
                                      </p:to>
                                    </p:set>
                                    <p:animEffect transition="in" filter="wipe(up)">
                                      <p:cBhvr>
                                        <p:cTn id="87" dur="5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spcAft>
                <a:spcPts val="0"/>
              </a:spcAft>
            </a:pPr>
            <a:fld id="{04604884-1341-406B-9228-890F24CFCC7F}"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2" name="文本占位符 1"/>
          <p:cNvSpPr>
            <a:spLocks noGrp="1"/>
          </p:cNvSpPr>
          <p:nvPr>
            <p:ph type="body" sz="quarter" idx="4294967295"/>
          </p:nvPr>
        </p:nvSpPr>
        <p:spPr>
          <a:xfrm>
            <a:off x="1924545" y="34787"/>
            <a:ext cx="7029450" cy="4757738"/>
          </a:xfrm>
        </p:spPr>
        <p:style>
          <a:lnRef idx="2">
            <a:schemeClr val="accent2"/>
          </a:lnRef>
          <a:fillRef idx="1">
            <a:schemeClr val="lt1"/>
          </a:fillRef>
          <a:effectRef idx="0">
            <a:schemeClr val="accent2"/>
          </a:effectRef>
          <a:fontRef idx="minor">
            <a:schemeClr val="dk1"/>
          </a:fontRef>
        </p:style>
        <p:txBody>
          <a:bodyPr>
            <a:noAutofit/>
          </a:bodyPr>
          <a:lstStyle/>
          <a:p>
            <a:pPr marL="0" indent="0" fontAlgn="auto">
              <a:lnSpc>
                <a:spcPct val="100000"/>
              </a:lnSpc>
              <a:spcBef>
                <a:spcPts val="0"/>
              </a:spcBef>
              <a:buNone/>
            </a:pPr>
            <a:r>
              <a:rPr lang="zh-CN" altLang="en-US" sz="1600" b="1" dirty="0">
                <a:latin typeface="+mj-ea"/>
                <a:ea typeface="+mj-ea"/>
              </a:rPr>
              <a:t>基本事件流：</a:t>
            </a:r>
            <a:endParaRPr lang="en-US" altLang="zh-CN" sz="1600" dirty="0">
              <a:latin typeface="+mj-ea"/>
              <a:ea typeface="+mj-ea"/>
            </a:endParaRPr>
          </a:p>
          <a:p>
            <a:pPr marL="342900" indent="-342900" fontAlgn="auto">
              <a:lnSpc>
                <a:spcPct val="100000"/>
              </a:lnSpc>
              <a:spcBef>
                <a:spcPts val="0"/>
              </a:spcBef>
              <a:buFont typeface="+mj-lt"/>
              <a:buAutoNum type="arabicPeriod" startAt="4"/>
            </a:pPr>
            <a:r>
              <a:rPr lang="en-US" altLang="zh-CN" sz="1600" dirty="0">
                <a:latin typeface="+mj-ea"/>
                <a:ea typeface="+mj-ea"/>
              </a:rPr>
              <a:t>    </a:t>
            </a:r>
            <a:r>
              <a:rPr lang="zh-CN" altLang="en-US" sz="1600">
                <a:solidFill>
                  <a:srgbClr val="2C2C36"/>
                </a:solidFill>
                <a:latin typeface="-apple-system"/>
                <a:ea typeface="-apple-system"/>
                <a:sym typeface="+mn-ea"/>
              </a:rPr>
              <a:t>确认订单信息：</a:t>
            </a:r>
            <a:endParaRPr lang="zh-CN" altLang="en-US" sz="1600" b="0" i="0">
              <a:solidFill>
                <a:srgbClr val="2C2C36"/>
              </a:solidFill>
              <a:latin typeface="-apple-system"/>
              <a:ea typeface="-apple-system"/>
            </a:endParaRPr>
          </a:p>
          <a:p>
            <a:pPr marL="0" lvl="1" indent="0" fontAlgn="auto">
              <a:lnSpc>
                <a:spcPct val="100000"/>
              </a:lnSpc>
              <a:spcBef>
                <a:spcPts val="0"/>
              </a:spcBef>
              <a:buFont typeface="Arial" panose="020B0604020202020204"/>
              <a:buNone/>
            </a:pPr>
            <a:r>
              <a:rPr lang="zh-CN" altLang="en-US" sz="1600">
                <a:solidFill>
                  <a:srgbClr val="2C2C36"/>
                </a:solidFill>
                <a:latin typeface="-apple-system"/>
                <a:ea typeface="-apple-system"/>
                <a:sym typeface="+mn-ea"/>
              </a:rPr>
              <a:t>系统显示订单概览，包括商品清单、价格明细、收货地址、预计送达时间等。</a:t>
            </a:r>
            <a:endParaRPr lang="zh-CN" altLang="en-US" sz="1600" b="0" i="0">
              <a:solidFill>
                <a:srgbClr val="2C2C36"/>
              </a:solidFill>
              <a:latin typeface="-apple-system"/>
              <a:ea typeface="-apple-system"/>
            </a:endParaRPr>
          </a:p>
          <a:p>
            <a:pPr marL="0" indent="0" fontAlgn="auto">
              <a:lnSpc>
                <a:spcPct val="100000"/>
              </a:lnSpc>
              <a:spcBef>
                <a:spcPts val="0"/>
              </a:spcBef>
              <a:buAutoNum type="arabicPeriod" startAt="4"/>
            </a:pPr>
            <a:r>
              <a:rPr lang="zh-CN" altLang="en-US" sz="1600">
                <a:solidFill>
                  <a:srgbClr val="2C2C36"/>
                </a:solidFill>
                <a:latin typeface="-apple-system"/>
                <a:ea typeface="-apple-system"/>
                <a:sym typeface="+mn-ea"/>
              </a:rPr>
              <a:t>选择支付方式：</a:t>
            </a:r>
            <a:endParaRPr lang="zh-CN" altLang="en-US" sz="1600" b="0" i="0">
              <a:solidFill>
                <a:srgbClr val="2C2C36"/>
              </a:solidFill>
              <a:latin typeface="-apple-system"/>
              <a:ea typeface="-apple-system"/>
            </a:endParaRPr>
          </a:p>
          <a:p>
            <a:pPr marL="0" lvl="1" indent="0" fontAlgn="auto">
              <a:lnSpc>
                <a:spcPct val="100000"/>
              </a:lnSpc>
              <a:spcBef>
                <a:spcPts val="0"/>
              </a:spcBef>
              <a:buFont typeface="Arial" panose="020B0604020202020204"/>
              <a:buNone/>
            </a:pPr>
            <a:r>
              <a:rPr lang="zh-CN" altLang="en-US" sz="1600">
                <a:solidFill>
                  <a:srgbClr val="2C2C36"/>
                </a:solidFill>
                <a:latin typeface="-apple-system"/>
                <a:ea typeface="-apple-system"/>
                <a:sym typeface="+mn-ea"/>
              </a:rPr>
              <a:t>买家从可用的支付选项中选择一种支付方式（如信用卡、第三方支付平台等）。</a:t>
            </a:r>
            <a:endParaRPr lang="zh-CN" altLang="en-US" sz="1600" b="0" i="0">
              <a:solidFill>
                <a:srgbClr val="2C2C36"/>
              </a:solidFill>
              <a:latin typeface="-apple-system"/>
              <a:ea typeface="-apple-system"/>
            </a:endParaRPr>
          </a:p>
          <a:p>
            <a:pPr marL="0" indent="0" fontAlgn="auto">
              <a:lnSpc>
                <a:spcPct val="100000"/>
              </a:lnSpc>
              <a:spcBef>
                <a:spcPts val="0"/>
              </a:spcBef>
              <a:buAutoNum type="arabicPeriod" startAt="4"/>
            </a:pPr>
            <a:r>
              <a:rPr lang="zh-CN" altLang="en-US" sz="1600">
                <a:solidFill>
                  <a:srgbClr val="2C2C36"/>
                </a:solidFill>
                <a:latin typeface="-apple-system"/>
                <a:ea typeface="-apple-system"/>
                <a:sym typeface="+mn-ea"/>
              </a:rPr>
              <a:t>提交订单：</a:t>
            </a:r>
            <a:endParaRPr lang="zh-CN" altLang="en-US" sz="1600" b="0" i="0">
              <a:solidFill>
                <a:srgbClr val="2C2C36"/>
              </a:solidFill>
              <a:latin typeface="-apple-system"/>
              <a:ea typeface="-apple-system"/>
            </a:endParaRPr>
          </a:p>
          <a:p>
            <a:pPr marL="0" lvl="1" indent="0" fontAlgn="auto">
              <a:lnSpc>
                <a:spcPct val="100000"/>
              </a:lnSpc>
              <a:spcBef>
                <a:spcPts val="0"/>
              </a:spcBef>
              <a:buFont typeface="Arial" panose="020B0604020202020204"/>
              <a:buNone/>
            </a:pPr>
            <a:r>
              <a:rPr lang="zh-CN" altLang="en-US" sz="1600">
                <a:solidFill>
                  <a:srgbClr val="2C2C36"/>
                </a:solidFill>
                <a:latin typeface="-apple-system"/>
                <a:ea typeface="-apple-system"/>
                <a:sym typeface="+mn-ea"/>
              </a:rPr>
              <a:t>买家检查所有信息无误后，点击“提交订单”按钮。</a:t>
            </a:r>
            <a:endParaRPr lang="zh-CN" altLang="en-US" sz="1600" b="0" i="0">
              <a:solidFill>
                <a:srgbClr val="2C2C36"/>
              </a:solidFill>
              <a:latin typeface="-apple-system"/>
              <a:ea typeface="-apple-system"/>
            </a:endParaRPr>
          </a:p>
          <a:p>
            <a:pPr marL="0" indent="0" fontAlgn="auto">
              <a:lnSpc>
                <a:spcPct val="100000"/>
              </a:lnSpc>
              <a:spcBef>
                <a:spcPts val="0"/>
              </a:spcBef>
              <a:buAutoNum type="arabicPeriod" startAt="4"/>
            </a:pPr>
            <a:r>
              <a:rPr lang="zh-CN" altLang="en-US" sz="1600">
                <a:solidFill>
                  <a:srgbClr val="2C2C36"/>
                </a:solidFill>
                <a:latin typeface="-apple-system"/>
                <a:ea typeface="-apple-system"/>
                <a:sym typeface="+mn-ea"/>
              </a:rPr>
              <a:t>支付跳转：</a:t>
            </a:r>
            <a:endParaRPr lang="zh-CN" altLang="en-US" sz="1600" b="0" i="0">
              <a:solidFill>
                <a:srgbClr val="2C2C36"/>
              </a:solidFill>
              <a:latin typeface="-apple-system"/>
              <a:ea typeface="-apple-system"/>
            </a:endParaRPr>
          </a:p>
          <a:p>
            <a:pPr marL="0" lvl="1" indent="0" fontAlgn="auto">
              <a:lnSpc>
                <a:spcPct val="100000"/>
              </a:lnSpc>
              <a:spcBef>
                <a:spcPts val="0"/>
              </a:spcBef>
              <a:buFont typeface="Arial" panose="020B0604020202020204"/>
              <a:buNone/>
            </a:pPr>
            <a:r>
              <a:rPr lang="zh-CN" altLang="en-US" sz="1600">
                <a:solidFill>
                  <a:srgbClr val="2C2C36"/>
                </a:solidFill>
                <a:latin typeface="-apple-system"/>
                <a:ea typeface="-apple-system"/>
                <a:sym typeface="+mn-ea"/>
              </a:rPr>
              <a:t>系统根据所选支付方式，重定向至相应的支付界面。</a:t>
            </a:r>
            <a:endParaRPr lang="zh-CN" altLang="en-US" sz="1600" b="0" i="0">
              <a:solidFill>
                <a:srgbClr val="2C2C36"/>
              </a:solidFill>
              <a:latin typeface="-apple-system"/>
              <a:ea typeface="-apple-system"/>
            </a:endParaRPr>
          </a:p>
          <a:p>
            <a:pPr marL="0" indent="0" fontAlgn="auto">
              <a:lnSpc>
                <a:spcPct val="100000"/>
              </a:lnSpc>
              <a:spcBef>
                <a:spcPts val="0"/>
              </a:spcBef>
              <a:buAutoNum type="arabicPeriod" startAt="4"/>
            </a:pPr>
            <a:r>
              <a:rPr lang="zh-CN" altLang="en-US" sz="1600">
                <a:solidFill>
                  <a:srgbClr val="2C2C36"/>
                </a:solidFill>
                <a:latin typeface="-apple-system"/>
                <a:ea typeface="-apple-system"/>
                <a:sym typeface="+mn-ea"/>
              </a:rPr>
              <a:t>完成支付：</a:t>
            </a:r>
            <a:endParaRPr lang="zh-CN" altLang="en-US" sz="1600" b="0" i="0">
              <a:solidFill>
                <a:srgbClr val="2C2C36"/>
              </a:solidFill>
              <a:latin typeface="-apple-system"/>
              <a:ea typeface="-apple-system"/>
            </a:endParaRPr>
          </a:p>
          <a:p>
            <a:pPr marL="0" lvl="1" indent="0" fontAlgn="auto">
              <a:lnSpc>
                <a:spcPct val="100000"/>
              </a:lnSpc>
              <a:spcBef>
                <a:spcPts val="0"/>
              </a:spcBef>
              <a:buFont typeface="Arial" panose="020B0604020202020204"/>
              <a:buNone/>
            </a:pPr>
            <a:r>
              <a:rPr lang="zh-CN" altLang="en-US" sz="1600">
                <a:solidFill>
                  <a:srgbClr val="2C2C36"/>
                </a:solidFill>
                <a:latin typeface="-apple-system"/>
                <a:ea typeface="-apple-system"/>
                <a:sym typeface="+mn-ea"/>
              </a:rPr>
              <a:t>买家按照指引完成支付过程。</a:t>
            </a:r>
            <a:endParaRPr lang="zh-CN" altLang="en-US" sz="1600" b="0" i="0">
              <a:solidFill>
                <a:srgbClr val="2C2C36"/>
              </a:solidFill>
              <a:latin typeface="-apple-system"/>
              <a:ea typeface="-apple-system"/>
            </a:endParaRPr>
          </a:p>
          <a:p>
            <a:pPr marL="0" indent="0" fontAlgn="auto">
              <a:lnSpc>
                <a:spcPct val="100000"/>
              </a:lnSpc>
              <a:spcBef>
                <a:spcPts val="0"/>
              </a:spcBef>
              <a:buAutoNum type="arabicPeriod" startAt="4"/>
            </a:pPr>
            <a:r>
              <a:rPr lang="zh-CN" altLang="en-US" sz="1600">
                <a:solidFill>
                  <a:srgbClr val="2C2C36"/>
                </a:solidFill>
                <a:latin typeface="-apple-system"/>
                <a:ea typeface="-apple-system"/>
                <a:sym typeface="+mn-ea"/>
              </a:rPr>
              <a:t>订单确认：</a:t>
            </a:r>
            <a:endParaRPr lang="zh-CN" altLang="en-US" sz="1600" b="0" i="0">
              <a:solidFill>
                <a:srgbClr val="2C2C36"/>
              </a:solidFill>
              <a:latin typeface="-apple-system"/>
              <a:ea typeface="-apple-system"/>
            </a:endParaRPr>
          </a:p>
          <a:p>
            <a:pPr marL="0" lvl="1" indent="0" fontAlgn="auto">
              <a:lnSpc>
                <a:spcPct val="100000"/>
              </a:lnSpc>
              <a:spcBef>
                <a:spcPts val="0"/>
              </a:spcBef>
              <a:buFont typeface="Arial" panose="020B0604020202020204"/>
              <a:buNone/>
            </a:pPr>
            <a:r>
              <a:rPr lang="zh-CN" altLang="en-US" sz="1600">
                <a:solidFill>
                  <a:srgbClr val="2C2C36"/>
                </a:solidFill>
                <a:latin typeface="-apple-system"/>
                <a:ea typeface="-apple-system"/>
                <a:sym typeface="+mn-ea"/>
              </a:rPr>
              <a:t>支付成功后，系统显示订单确认信息，并发送订单确认邮件给买家。</a:t>
            </a:r>
            <a:endParaRPr lang="zh-CN" altLang="en-US" sz="1600" b="0" i="0">
              <a:solidFill>
                <a:srgbClr val="2C2C36"/>
              </a:solidFill>
              <a:latin typeface="-apple-system"/>
              <a:ea typeface="-apple-system"/>
            </a:endParaRPr>
          </a:p>
          <a:p>
            <a:pPr marL="0" indent="0" fontAlgn="auto">
              <a:lnSpc>
                <a:spcPct val="100000"/>
              </a:lnSpc>
              <a:spcBef>
                <a:spcPts val="0"/>
              </a:spcBef>
              <a:buNone/>
            </a:pPr>
            <a:endParaRPr lang="zh-CN" altLang="en-US" sz="1600" dirty="0">
              <a:latin typeface="+mj-ea"/>
              <a:ea typeface="+mj-ea"/>
            </a:endParaRPr>
          </a:p>
        </p:txBody>
      </p:sp>
      <p:sp>
        <p:nvSpPr>
          <p:cNvPr id="9" name="Rectangle 3"/>
          <p:cNvSpPr txBox="1">
            <a:spLocks noChangeArrowheads="1"/>
          </p:cNvSpPr>
          <p:nvPr/>
        </p:nvSpPr>
        <p:spPr>
          <a:xfrm>
            <a:off x="768098" y="925167"/>
            <a:ext cx="763820" cy="3806854"/>
          </a:xfrm>
          <a:prstGeom prst="rect">
            <a:avLst/>
          </a:prstGeom>
        </p:spPr>
        <p:txBody>
          <a:bodyPr vert="eaVert" anchor="ctr">
            <a:normAutofit/>
          </a:bodyPr>
          <a:lst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a:lstStyle>
          <a:p>
            <a:pPr marL="0" indent="0">
              <a:lnSpc>
                <a:spcPct val="80000"/>
              </a:lnSpc>
              <a:buFont typeface="Arial" panose="020B0604020202020204" pitchFamily="34" charset="0"/>
              <a:buNone/>
            </a:pPr>
            <a:r>
              <a:rPr lang="zh-CN" altLang="en-US" b="1" dirty="0">
                <a:solidFill>
                  <a:schemeClr val="accent1">
                    <a:lumMod val="50000"/>
                  </a:schemeClr>
                </a:solidFill>
              </a:rPr>
              <a:t>用例描述示例二</a:t>
            </a:r>
            <a:endParaRPr lang="en-US" altLang="zh-CN"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up)">
                                      <p:cBhvr>
                                        <p:cTn id="7" dur="500"/>
                                        <p:tgtEl>
                                          <p:spTgt spid="2">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up)">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up)">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wipe(up)">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wipe(up)">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wipe(up)">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wipe(up)">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wipe(up)">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wipe(up)">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
                                            <p:txEl>
                                              <p:pRg st="8" end="8"/>
                                            </p:txEl>
                                          </p:spTgt>
                                        </p:tgtEl>
                                        <p:attrNameLst>
                                          <p:attrName>style.visibility</p:attrName>
                                        </p:attrNameLst>
                                      </p:cBhvr>
                                      <p:to>
                                        <p:strVal val="visible"/>
                                      </p:to>
                                    </p:set>
                                    <p:animEffect transition="in" filter="wipe(up)">
                                      <p:cBhvr>
                                        <p:cTn id="52" dur="500"/>
                                        <p:tgtEl>
                                          <p:spTgt spid="2">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
                                            <p:txEl>
                                              <p:pRg st="9" end="9"/>
                                            </p:txEl>
                                          </p:spTgt>
                                        </p:tgtEl>
                                        <p:attrNameLst>
                                          <p:attrName>style.visibility</p:attrName>
                                        </p:attrNameLst>
                                      </p:cBhvr>
                                      <p:to>
                                        <p:strVal val="visible"/>
                                      </p:to>
                                    </p:set>
                                    <p:animEffect transition="in" filter="wipe(up)">
                                      <p:cBhvr>
                                        <p:cTn id="57" dur="500"/>
                                        <p:tgtEl>
                                          <p:spTgt spid="2">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
                                            <p:txEl>
                                              <p:pRg st="10" end="10"/>
                                            </p:txEl>
                                          </p:spTgt>
                                        </p:tgtEl>
                                        <p:attrNameLst>
                                          <p:attrName>style.visibility</p:attrName>
                                        </p:attrNameLst>
                                      </p:cBhvr>
                                      <p:to>
                                        <p:strVal val="visible"/>
                                      </p:to>
                                    </p:set>
                                    <p:animEffect transition="in" filter="wipe(up)">
                                      <p:cBhvr>
                                        <p:cTn id="62" dur="500"/>
                                        <p:tgtEl>
                                          <p:spTgt spid="2">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
                                            <p:txEl>
                                              <p:pRg st="11" end="11"/>
                                            </p:txEl>
                                          </p:spTgt>
                                        </p:tgtEl>
                                        <p:attrNameLst>
                                          <p:attrName>style.visibility</p:attrName>
                                        </p:attrNameLst>
                                      </p:cBhvr>
                                      <p:to>
                                        <p:strVal val="visible"/>
                                      </p:to>
                                    </p:set>
                                    <p:animEffect transition="in" filter="wipe(up)">
                                      <p:cBhvr>
                                        <p:cTn id="67" dur="500"/>
                                        <p:tgtEl>
                                          <p:spTgt spid="2">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2">
                                            <p:txEl>
                                              <p:pRg st="12" end="12"/>
                                            </p:txEl>
                                          </p:spTgt>
                                        </p:tgtEl>
                                        <p:attrNameLst>
                                          <p:attrName>style.visibility</p:attrName>
                                        </p:attrNameLst>
                                      </p:cBhvr>
                                      <p:to>
                                        <p:strVal val="visible"/>
                                      </p:to>
                                    </p:set>
                                    <p:animEffect transition="in" filter="wipe(up)">
                                      <p:cBhvr>
                                        <p:cTn id="7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spcAft>
                <a:spcPts val="0"/>
              </a:spcAft>
            </a:pPr>
            <a:fld id="{04604884-1341-406B-9228-890F24CFCC7F}" type="datetime1">
              <a:rPr lang="zh-CN" altLang="en-US" smtClean="0"/>
            </a:fld>
            <a:endParaRPr lang="zh-CN" altLang="en-US"/>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3" name="灯片编号占位符 2"/>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2" name="文本占位符 1"/>
          <p:cNvSpPr>
            <a:spLocks noGrp="1"/>
          </p:cNvSpPr>
          <p:nvPr>
            <p:ph type="body" sz="quarter" idx="4294967295"/>
          </p:nvPr>
        </p:nvSpPr>
        <p:spPr>
          <a:xfrm>
            <a:off x="1924545" y="34787"/>
            <a:ext cx="7029450" cy="4757738"/>
          </a:xfrm>
        </p:spPr>
        <p:style>
          <a:lnRef idx="2">
            <a:schemeClr val="accent2"/>
          </a:lnRef>
          <a:fillRef idx="1">
            <a:schemeClr val="lt1"/>
          </a:fillRef>
          <a:effectRef idx="0">
            <a:schemeClr val="accent2"/>
          </a:effectRef>
          <a:fontRef idx="minor">
            <a:schemeClr val="dk1"/>
          </a:fontRef>
        </p:style>
        <p:txBody>
          <a:bodyPr>
            <a:noAutofit/>
          </a:bodyPr>
          <a:lstStyle/>
          <a:p>
            <a:pPr marL="0" indent="0" fontAlgn="auto">
              <a:lnSpc>
                <a:spcPct val="100000"/>
              </a:lnSpc>
              <a:spcBef>
                <a:spcPts val="0"/>
              </a:spcBef>
              <a:buNone/>
            </a:pPr>
            <a:r>
              <a:rPr lang="zh-CN" altLang="en-US" sz="1600" b="1" dirty="0">
                <a:latin typeface="+mj-ea"/>
                <a:ea typeface="+mj-ea"/>
                <a:sym typeface="+mn-ea"/>
              </a:rPr>
              <a:t>可选路径</a:t>
            </a:r>
            <a:r>
              <a:rPr lang="zh-CN" altLang="en-US" sz="1600" dirty="0">
                <a:latin typeface="+mj-ea"/>
                <a:ea typeface="+mj-ea"/>
                <a:sym typeface="+mn-ea"/>
              </a:rPr>
              <a:t>：</a:t>
            </a:r>
            <a:endParaRPr lang="zh-CN" altLang="en-US" sz="1600" dirty="0">
              <a:latin typeface="+mj-ea"/>
              <a:ea typeface="+mj-ea"/>
            </a:endParaRPr>
          </a:p>
          <a:p>
            <a:pPr marL="0" indent="0" fontAlgn="auto">
              <a:lnSpc>
                <a:spcPct val="100000"/>
              </a:lnSpc>
              <a:spcBef>
                <a:spcPts val="0"/>
              </a:spcBef>
              <a:buNone/>
            </a:pPr>
            <a:r>
              <a:rPr lang="zh-CN" altLang="en-US" sz="1600">
                <a:solidFill>
                  <a:srgbClr val="2C2C36"/>
                </a:solidFill>
                <a:latin typeface="-apple-system"/>
                <a:ea typeface="-apple-system"/>
                <a:sym typeface="+mn-ea"/>
              </a:rPr>
              <a:t>库存不足：</a:t>
            </a:r>
            <a:endParaRPr lang="zh-CN" altLang="en-US" sz="1600" b="0" i="0">
              <a:solidFill>
                <a:srgbClr val="2C2C36"/>
              </a:solidFill>
              <a:latin typeface="-apple-system"/>
              <a:ea typeface="-apple-system"/>
            </a:endParaRPr>
          </a:p>
          <a:p>
            <a:pPr marL="0" lvl="1" indent="0" fontAlgn="auto">
              <a:lnSpc>
                <a:spcPct val="100000"/>
              </a:lnSpc>
              <a:spcBef>
                <a:spcPts val="0"/>
              </a:spcBef>
              <a:buNone/>
            </a:pPr>
            <a:r>
              <a:rPr lang="zh-CN" altLang="en-US" sz="1600">
                <a:solidFill>
                  <a:srgbClr val="2C2C36"/>
                </a:solidFill>
                <a:latin typeface="-apple-system"/>
                <a:ea typeface="-apple-system"/>
                <a:sym typeface="+mn-ea"/>
              </a:rPr>
              <a:t>在步骤</a:t>
            </a:r>
            <a:r>
              <a:rPr lang="en-US" altLang="zh-CN" sz="1600">
                <a:solidFill>
                  <a:srgbClr val="2C2C36"/>
                </a:solidFill>
                <a:latin typeface="-apple-system"/>
                <a:ea typeface="-apple-system"/>
                <a:sym typeface="+mn-ea"/>
              </a:rPr>
              <a:t>4</a:t>
            </a:r>
            <a:r>
              <a:rPr lang="zh-CN" altLang="en-US" sz="1600">
                <a:solidFill>
                  <a:srgbClr val="2C2C36"/>
                </a:solidFill>
                <a:latin typeface="-apple-system"/>
                <a:ea typeface="-apple-system"/>
                <a:sym typeface="+mn-ea"/>
              </a:rPr>
              <a:t>或之前，若检测到某商品库存不足，则提示买家该商品无法加入订单，并提供解决方案（如取消订单、替换商品或等待补货）。</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zh-CN" altLang="en-US" sz="1600">
                <a:solidFill>
                  <a:srgbClr val="2C2C36"/>
                </a:solidFill>
                <a:latin typeface="-apple-system"/>
                <a:ea typeface="-apple-system"/>
                <a:sym typeface="+mn-ea"/>
              </a:rPr>
              <a:t>支付失败：</a:t>
            </a:r>
            <a:endParaRPr lang="zh-CN" altLang="en-US" sz="1600" b="0" i="0">
              <a:solidFill>
                <a:srgbClr val="2C2C36"/>
              </a:solidFill>
              <a:latin typeface="-apple-system"/>
              <a:ea typeface="-apple-system"/>
            </a:endParaRPr>
          </a:p>
          <a:p>
            <a:pPr marL="0" lvl="1" indent="0" fontAlgn="auto">
              <a:lnSpc>
                <a:spcPct val="100000"/>
              </a:lnSpc>
              <a:spcBef>
                <a:spcPts val="0"/>
              </a:spcBef>
              <a:buNone/>
            </a:pPr>
            <a:r>
              <a:rPr lang="zh-CN" altLang="en-US" sz="1600">
                <a:solidFill>
                  <a:srgbClr val="2C2C36"/>
                </a:solidFill>
                <a:latin typeface="-apple-system"/>
                <a:ea typeface="-apple-system"/>
                <a:sym typeface="+mn-ea"/>
              </a:rPr>
              <a:t>若在步骤</a:t>
            </a:r>
            <a:r>
              <a:rPr lang="en-US" altLang="zh-CN" sz="1600">
                <a:solidFill>
                  <a:srgbClr val="2C2C36"/>
                </a:solidFill>
                <a:latin typeface="-apple-system"/>
                <a:ea typeface="-apple-system"/>
                <a:sym typeface="+mn-ea"/>
              </a:rPr>
              <a:t>8</a:t>
            </a:r>
            <a:r>
              <a:rPr lang="zh-CN" altLang="en-US" sz="1600">
                <a:solidFill>
                  <a:srgbClr val="2C2C36"/>
                </a:solidFill>
                <a:latin typeface="-apple-system"/>
                <a:ea typeface="-apple-system"/>
                <a:sym typeface="+mn-ea"/>
              </a:rPr>
              <a:t>支付失败，系统应提示支付错误原因，并允许买家重新尝试支付或选择其他支付方式。</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zh-CN" altLang="en-US" sz="1600">
                <a:solidFill>
                  <a:srgbClr val="2C2C36"/>
                </a:solidFill>
                <a:latin typeface="-apple-system"/>
                <a:ea typeface="-apple-system"/>
                <a:sym typeface="+mn-ea"/>
              </a:rPr>
              <a:t>地址验证失败：</a:t>
            </a:r>
            <a:endParaRPr lang="zh-CN" altLang="en-US" sz="1600" b="0" i="0">
              <a:solidFill>
                <a:srgbClr val="2C2C36"/>
              </a:solidFill>
              <a:latin typeface="-apple-system"/>
              <a:ea typeface="-apple-system"/>
            </a:endParaRPr>
          </a:p>
          <a:p>
            <a:pPr marL="0" lvl="1" indent="0" fontAlgn="auto">
              <a:lnSpc>
                <a:spcPct val="100000"/>
              </a:lnSpc>
              <a:spcBef>
                <a:spcPts val="0"/>
              </a:spcBef>
              <a:buNone/>
            </a:pPr>
            <a:r>
              <a:rPr lang="zh-CN" altLang="en-US" sz="1600">
                <a:solidFill>
                  <a:srgbClr val="2C2C36"/>
                </a:solidFill>
                <a:latin typeface="-apple-system"/>
                <a:ea typeface="-apple-system"/>
                <a:sym typeface="+mn-ea"/>
              </a:rPr>
              <a:t>如果提供的收货地址无效或存在问题，在步骤</a:t>
            </a:r>
            <a:r>
              <a:rPr lang="en-US" altLang="zh-CN" sz="1600">
                <a:solidFill>
                  <a:srgbClr val="2C2C36"/>
                </a:solidFill>
                <a:latin typeface="-apple-system"/>
                <a:ea typeface="-apple-system"/>
                <a:sym typeface="+mn-ea"/>
              </a:rPr>
              <a:t>4</a:t>
            </a:r>
            <a:r>
              <a:rPr lang="zh-CN" altLang="en-US" sz="1600">
                <a:solidFill>
                  <a:srgbClr val="2C2C36"/>
                </a:solidFill>
                <a:latin typeface="-apple-system"/>
                <a:ea typeface="-apple-system"/>
                <a:sym typeface="+mn-ea"/>
              </a:rPr>
              <a:t>时系统将提示买家修正地址信息。</a:t>
            </a:r>
            <a:endParaRPr lang="zh-CN" altLang="en-US" sz="1600" b="0" i="0">
              <a:solidFill>
                <a:srgbClr val="2C2C36"/>
              </a:solidFill>
              <a:latin typeface="-apple-system"/>
              <a:ea typeface="-apple-system"/>
            </a:endParaRPr>
          </a:p>
          <a:p>
            <a:pPr marL="0" indent="0" fontAlgn="auto">
              <a:lnSpc>
                <a:spcPct val="100000"/>
              </a:lnSpc>
              <a:spcBef>
                <a:spcPts val="0"/>
              </a:spcBef>
              <a:buNone/>
            </a:pPr>
            <a:r>
              <a:rPr lang="zh-CN" altLang="en-US" sz="1600" b="1" dirty="0">
                <a:latin typeface="+mj-ea"/>
                <a:ea typeface="+mj-ea"/>
                <a:sym typeface="+mn-ea"/>
              </a:rPr>
              <a:t>后置条件：</a:t>
            </a:r>
            <a:r>
              <a:rPr lang="zh-CN" altLang="en-US" sz="1600" dirty="0">
                <a:latin typeface="+mj-ea"/>
                <a:ea typeface="+mj-ea"/>
                <a:sym typeface="+mn-ea"/>
              </a:rPr>
              <a:t>如果订单提交成功，订单将被保存在系统中，并标记为已提交未付款状态。</a:t>
            </a:r>
            <a:endParaRPr lang="zh-CN" altLang="en-US" sz="1600" dirty="0">
              <a:latin typeface="+mj-ea"/>
              <a:ea typeface="+mj-ea"/>
              <a:sym typeface="+mn-ea"/>
            </a:endParaRPr>
          </a:p>
          <a:p>
            <a:pPr marL="0" indent="0">
              <a:spcBef>
                <a:spcPts val="500"/>
              </a:spcBef>
              <a:spcAft>
                <a:spcPts val="500"/>
              </a:spcAft>
              <a:buNone/>
            </a:pPr>
            <a:r>
              <a:rPr lang="zh-CN" altLang="en-US" sz="1600" b="1" dirty="0">
                <a:latin typeface="+mj-ea"/>
                <a:ea typeface="+mj-ea"/>
              </a:rPr>
              <a:t>其他：</a:t>
            </a:r>
            <a:endParaRPr lang="zh-CN" altLang="en-US" sz="1600" b="1" dirty="0">
              <a:latin typeface="+mj-ea"/>
              <a:ea typeface="+mj-ea"/>
            </a:endParaRPr>
          </a:p>
          <a:p>
            <a:pPr marL="0" indent="0">
              <a:spcBef>
                <a:spcPts val="500"/>
              </a:spcBef>
              <a:spcAft>
                <a:spcPts val="500"/>
              </a:spcAft>
              <a:buNone/>
            </a:pPr>
            <a:r>
              <a:rPr lang="zh-CN" altLang="en-US" sz="1600">
                <a:solidFill>
                  <a:srgbClr val="2C2C36"/>
                </a:solidFill>
                <a:latin typeface="-apple-system"/>
                <a:ea typeface="-apple-system"/>
                <a:sym typeface="+mn-ea"/>
              </a:rPr>
              <a:t>必须确保数据的安全性，特别是支付信息和用户个人信息的保护。</a:t>
            </a:r>
            <a:endParaRPr lang="zh-CN" altLang="en-US" sz="1600" b="0" i="0">
              <a:solidFill>
                <a:srgbClr val="2C2C36"/>
              </a:solidFill>
              <a:latin typeface="-apple-system"/>
              <a:ea typeface="-apple-system"/>
            </a:endParaRPr>
          </a:p>
          <a:p>
            <a:pPr marL="0" indent="0">
              <a:spcBef>
                <a:spcPts val="500"/>
              </a:spcBef>
              <a:spcAft>
                <a:spcPts val="500"/>
              </a:spcAft>
              <a:buNone/>
            </a:pPr>
            <a:r>
              <a:rPr lang="zh-CN" altLang="en-US" sz="1600">
                <a:solidFill>
                  <a:srgbClr val="2C2C36"/>
                </a:solidFill>
                <a:latin typeface="-apple-system"/>
                <a:ea typeface="-apple-system"/>
                <a:sym typeface="+mn-ea"/>
              </a:rPr>
              <a:t>提供友好的用户界面和清晰的指示，以帮助买家顺利完成购买流程。</a:t>
            </a:r>
            <a:endParaRPr lang="zh-CN" altLang="en-US" sz="1600" b="0" i="0">
              <a:solidFill>
                <a:srgbClr val="2C2C36"/>
              </a:solidFill>
              <a:latin typeface="-apple-system"/>
              <a:ea typeface="-apple-system"/>
            </a:endParaRPr>
          </a:p>
          <a:p>
            <a:pPr marL="0" indent="0" fontAlgn="auto">
              <a:lnSpc>
                <a:spcPct val="100000"/>
              </a:lnSpc>
              <a:spcBef>
                <a:spcPts val="0"/>
              </a:spcBef>
              <a:buNone/>
            </a:pPr>
            <a:endParaRPr lang="zh-CN" altLang="en-US" sz="1600" dirty="0">
              <a:latin typeface="+mj-ea"/>
              <a:ea typeface="+mj-ea"/>
            </a:endParaRPr>
          </a:p>
        </p:txBody>
      </p:sp>
      <p:sp>
        <p:nvSpPr>
          <p:cNvPr id="9" name="Rectangle 3"/>
          <p:cNvSpPr txBox="1">
            <a:spLocks noChangeArrowheads="1"/>
          </p:cNvSpPr>
          <p:nvPr/>
        </p:nvSpPr>
        <p:spPr>
          <a:xfrm>
            <a:off x="768098" y="925167"/>
            <a:ext cx="763820" cy="3806854"/>
          </a:xfrm>
          <a:prstGeom prst="rect">
            <a:avLst/>
          </a:prstGeom>
        </p:spPr>
        <p:txBody>
          <a:bodyPr vert="eaVert" anchor="ctr">
            <a:normAutofit/>
          </a:bodyPr>
          <a:lst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a:lstStyle>
          <a:p>
            <a:pPr marL="0" indent="0">
              <a:lnSpc>
                <a:spcPct val="80000"/>
              </a:lnSpc>
              <a:buFont typeface="Arial" panose="020B0604020202020204" pitchFamily="34" charset="0"/>
              <a:buNone/>
            </a:pPr>
            <a:r>
              <a:rPr lang="zh-CN" altLang="en-US" b="1" dirty="0">
                <a:solidFill>
                  <a:schemeClr val="accent1">
                    <a:lumMod val="50000"/>
                  </a:schemeClr>
                </a:solidFill>
              </a:rPr>
              <a:t>用例描述示例二</a:t>
            </a:r>
            <a:endParaRPr lang="en-US" altLang="zh-CN"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up)">
                                      <p:cBhvr>
                                        <p:cTn id="7" dur="500"/>
                                        <p:tgtEl>
                                          <p:spTgt spid="2">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up)">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up)">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wipe(up)">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wipe(up)">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wipe(up)">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wipe(up)">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wipe(up)">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wipe(up)">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
                                            <p:txEl>
                                              <p:pRg st="8" end="8"/>
                                            </p:txEl>
                                          </p:spTgt>
                                        </p:tgtEl>
                                        <p:attrNameLst>
                                          <p:attrName>style.visibility</p:attrName>
                                        </p:attrNameLst>
                                      </p:cBhvr>
                                      <p:to>
                                        <p:strVal val="visible"/>
                                      </p:to>
                                    </p:set>
                                    <p:animEffect transition="in" filter="wipe(up)">
                                      <p:cBhvr>
                                        <p:cTn id="52" dur="500"/>
                                        <p:tgtEl>
                                          <p:spTgt spid="2">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
                                            <p:txEl>
                                              <p:pRg st="9" end="9"/>
                                            </p:txEl>
                                          </p:spTgt>
                                        </p:tgtEl>
                                        <p:attrNameLst>
                                          <p:attrName>style.visibility</p:attrName>
                                        </p:attrNameLst>
                                      </p:cBhvr>
                                      <p:to>
                                        <p:strVal val="visible"/>
                                      </p:to>
                                    </p:set>
                                    <p:animEffect transition="in" filter="wipe(up)">
                                      <p:cBhvr>
                                        <p:cTn id="57" dur="500"/>
                                        <p:tgtEl>
                                          <p:spTgt spid="2">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
                                            <p:txEl>
                                              <p:pRg st="10" end="10"/>
                                            </p:txEl>
                                          </p:spTgt>
                                        </p:tgtEl>
                                        <p:attrNameLst>
                                          <p:attrName>style.visibility</p:attrName>
                                        </p:attrNameLst>
                                      </p:cBhvr>
                                      <p:to>
                                        <p:strVal val="visible"/>
                                      </p:to>
                                    </p:set>
                                    <p:animEffect transition="in" filter="wipe(up)">
                                      <p:cBhvr>
                                        <p:cTn id="6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spcAft>
                <a:spcPts val="0"/>
              </a:spcAft>
            </a:pPr>
            <a:fld id="{B40BD09E-DB5C-4196-8E65-87FBF63237D5}" type="datetime1">
              <a:rPr lang="zh-CN" altLang="en-US" smtClean="0"/>
            </a:fld>
            <a:endParaRPr lang="zh-CN" altLang="en-US"/>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4" name="文本占位符 3"/>
          <p:cNvSpPr>
            <a:spLocks noGrp="1"/>
          </p:cNvSpPr>
          <p:nvPr>
            <p:ph type="body" sz="quarter" idx="4294967295"/>
          </p:nvPr>
        </p:nvSpPr>
        <p:spPr>
          <a:xfrm>
            <a:off x="2383703" y="393227"/>
            <a:ext cx="6225907" cy="4143147"/>
          </a:xfrm>
        </p:spPr>
        <p:style>
          <a:lnRef idx="2">
            <a:schemeClr val="accent2"/>
          </a:lnRef>
          <a:fillRef idx="1">
            <a:schemeClr val="lt1"/>
          </a:fillRef>
          <a:effectRef idx="0">
            <a:schemeClr val="accent2"/>
          </a:effectRef>
          <a:fontRef idx="minor">
            <a:schemeClr val="dk1"/>
          </a:fontRef>
        </p:style>
        <p:txBody>
          <a:bodyPr>
            <a:noAutofit/>
          </a:bodyPr>
          <a:lstStyle/>
          <a:p>
            <a:pPr marL="0" indent="0">
              <a:lnSpc>
                <a:spcPct val="100000"/>
              </a:lnSpc>
              <a:spcBef>
                <a:spcPts val="600"/>
              </a:spcBef>
              <a:buNone/>
            </a:pPr>
            <a:r>
              <a:rPr lang="zh-CN" altLang="en-US" sz="1600" b="1" dirty="0">
                <a:latin typeface="+mj-ea"/>
                <a:ea typeface="+mj-ea"/>
              </a:rPr>
              <a:t>用例名称：</a:t>
            </a:r>
            <a:r>
              <a:rPr lang="zh-CN" altLang="en-US" sz="1600" dirty="0">
                <a:latin typeface="+mj-ea"/>
                <a:ea typeface="+mj-ea"/>
              </a:rPr>
              <a:t>登录</a:t>
            </a:r>
            <a:endParaRPr lang="en-US" altLang="zh-CN" sz="1600" dirty="0">
              <a:latin typeface="+mj-ea"/>
              <a:ea typeface="+mj-ea"/>
            </a:endParaRPr>
          </a:p>
          <a:p>
            <a:pPr marL="0" indent="0">
              <a:lnSpc>
                <a:spcPct val="100000"/>
              </a:lnSpc>
              <a:spcBef>
                <a:spcPts val="600"/>
              </a:spcBef>
              <a:buNone/>
            </a:pPr>
            <a:r>
              <a:rPr lang="zh-CN" altLang="en-US" sz="1600" b="1" dirty="0">
                <a:latin typeface="+mj-ea"/>
                <a:ea typeface="+mj-ea"/>
              </a:rPr>
              <a:t>用例描述：</a:t>
            </a:r>
            <a:r>
              <a:rPr lang="zh-CN" altLang="en-US" sz="1600" dirty="0">
                <a:latin typeface="+mj-ea"/>
                <a:ea typeface="+mj-ea"/>
              </a:rPr>
              <a:t>本系统需要参与者输入帐号和密码进行系统登录，该用例页面是系统起始页面。用户帐号和密码是系统默认已经分配的。</a:t>
            </a:r>
            <a:endParaRPr lang="zh-CN" altLang="en-US" sz="1600" dirty="0">
              <a:latin typeface="+mj-ea"/>
              <a:ea typeface="+mj-ea"/>
            </a:endParaRPr>
          </a:p>
          <a:p>
            <a:pPr marL="0" indent="0">
              <a:lnSpc>
                <a:spcPct val="100000"/>
              </a:lnSpc>
              <a:spcBef>
                <a:spcPts val="600"/>
              </a:spcBef>
              <a:buNone/>
            </a:pPr>
            <a:r>
              <a:rPr lang="zh-CN" altLang="en-US" sz="1600" b="1" dirty="0">
                <a:latin typeface="+mj-ea"/>
                <a:ea typeface="+mj-ea"/>
              </a:rPr>
              <a:t>参与者：</a:t>
            </a:r>
            <a:r>
              <a:rPr lang="zh-CN" altLang="en-US" sz="1600" dirty="0">
                <a:latin typeface="+mj-ea"/>
                <a:ea typeface="+mj-ea"/>
              </a:rPr>
              <a:t>图书馆工作人员。</a:t>
            </a:r>
            <a:endParaRPr lang="zh-CN" altLang="en-US" sz="1600" dirty="0">
              <a:latin typeface="+mj-ea"/>
              <a:ea typeface="+mj-ea"/>
            </a:endParaRPr>
          </a:p>
          <a:p>
            <a:pPr marL="0" indent="0">
              <a:lnSpc>
                <a:spcPct val="100000"/>
              </a:lnSpc>
              <a:spcBef>
                <a:spcPts val="600"/>
              </a:spcBef>
              <a:buNone/>
            </a:pPr>
            <a:r>
              <a:rPr lang="zh-CN" altLang="en-US" sz="1600" b="1" dirty="0">
                <a:latin typeface="+mj-ea"/>
                <a:ea typeface="+mj-ea"/>
              </a:rPr>
              <a:t>前置条件：</a:t>
            </a:r>
            <a:r>
              <a:rPr lang="zh-CN" altLang="en-US" sz="1600" dirty="0">
                <a:latin typeface="+mj-ea"/>
                <a:ea typeface="+mj-ea"/>
              </a:rPr>
              <a:t>无</a:t>
            </a:r>
            <a:endParaRPr lang="zh-CN" altLang="en-US" sz="1600" dirty="0">
              <a:latin typeface="+mj-ea"/>
              <a:ea typeface="+mj-ea"/>
            </a:endParaRPr>
          </a:p>
          <a:p>
            <a:pPr marL="0" indent="0">
              <a:lnSpc>
                <a:spcPct val="100000"/>
              </a:lnSpc>
              <a:spcBef>
                <a:spcPts val="600"/>
              </a:spcBef>
              <a:buNone/>
            </a:pPr>
            <a:r>
              <a:rPr lang="zh-CN" altLang="en-US" sz="1600" b="1" dirty="0">
                <a:latin typeface="+mj-ea"/>
                <a:ea typeface="+mj-ea"/>
              </a:rPr>
              <a:t>基本路径：</a:t>
            </a:r>
            <a:endParaRPr lang="zh-CN" altLang="en-US" sz="1600" b="1" dirty="0">
              <a:latin typeface="+mj-ea"/>
              <a:ea typeface="+mj-ea"/>
            </a:endParaRPr>
          </a:p>
          <a:p>
            <a:pPr marL="257175" lvl="1" indent="0">
              <a:lnSpc>
                <a:spcPct val="100000"/>
              </a:lnSpc>
              <a:spcBef>
                <a:spcPts val="600"/>
              </a:spcBef>
              <a:buNone/>
            </a:pPr>
            <a:r>
              <a:rPr lang="zh-CN" altLang="en-US" sz="1600" dirty="0">
                <a:latin typeface="+mj-ea"/>
                <a:ea typeface="+mj-ea"/>
              </a:rPr>
              <a:t>输入帐号，密码</a:t>
            </a:r>
            <a:endParaRPr lang="zh-CN" altLang="en-US" sz="1600" dirty="0">
              <a:latin typeface="+mj-ea"/>
              <a:ea typeface="+mj-ea"/>
            </a:endParaRPr>
          </a:p>
          <a:p>
            <a:pPr marL="257175" lvl="1" indent="0">
              <a:lnSpc>
                <a:spcPct val="100000"/>
              </a:lnSpc>
              <a:spcBef>
                <a:spcPts val="600"/>
              </a:spcBef>
              <a:buNone/>
            </a:pPr>
            <a:r>
              <a:rPr lang="zh-CN" altLang="en-US" sz="1600" dirty="0">
                <a:latin typeface="+mj-ea"/>
                <a:ea typeface="+mj-ea"/>
              </a:rPr>
              <a:t>点击“进入系统”</a:t>
            </a:r>
            <a:endParaRPr lang="zh-CN" altLang="en-US" sz="1600" dirty="0">
              <a:latin typeface="+mj-ea"/>
              <a:ea typeface="+mj-ea"/>
            </a:endParaRPr>
          </a:p>
          <a:p>
            <a:pPr marL="257175" lvl="1" indent="0">
              <a:lnSpc>
                <a:spcPct val="100000"/>
              </a:lnSpc>
              <a:spcBef>
                <a:spcPts val="600"/>
              </a:spcBef>
              <a:buNone/>
            </a:pPr>
            <a:r>
              <a:rPr lang="zh-CN" altLang="en-US" sz="1600" dirty="0">
                <a:latin typeface="+mj-ea"/>
                <a:ea typeface="+mj-ea"/>
              </a:rPr>
              <a:t>验证用户权限，进入主界面</a:t>
            </a:r>
            <a:endParaRPr lang="zh-CN" altLang="en-US" sz="1600" dirty="0">
              <a:latin typeface="+mj-ea"/>
              <a:ea typeface="+mj-ea"/>
            </a:endParaRPr>
          </a:p>
          <a:p>
            <a:pPr marL="0" indent="0">
              <a:lnSpc>
                <a:spcPct val="100000"/>
              </a:lnSpc>
              <a:spcBef>
                <a:spcPts val="600"/>
              </a:spcBef>
              <a:buNone/>
            </a:pPr>
            <a:r>
              <a:rPr lang="zh-CN" altLang="en-US" sz="1600" b="1" dirty="0">
                <a:latin typeface="+mj-ea"/>
                <a:ea typeface="+mj-ea"/>
              </a:rPr>
              <a:t>备选流程：</a:t>
            </a:r>
            <a:endParaRPr lang="zh-CN" altLang="en-US" sz="1600" b="1" dirty="0">
              <a:latin typeface="+mj-ea"/>
              <a:ea typeface="+mj-ea"/>
            </a:endParaRPr>
          </a:p>
          <a:p>
            <a:pPr marL="257175" lvl="1" indent="0">
              <a:lnSpc>
                <a:spcPct val="100000"/>
              </a:lnSpc>
              <a:spcBef>
                <a:spcPts val="600"/>
              </a:spcBef>
              <a:buNone/>
            </a:pPr>
            <a:r>
              <a:rPr lang="zh-CN" altLang="en-US" sz="1600" dirty="0">
                <a:latin typeface="+mj-ea"/>
                <a:ea typeface="+mj-ea"/>
              </a:rPr>
              <a:t>点击“重新填写”，实现重填帐号密码功能。</a:t>
            </a:r>
            <a:endParaRPr lang="zh-CN" altLang="en-US" sz="1600" dirty="0">
              <a:latin typeface="+mj-ea"/>
              <a:ea typeface="+mj-ea"/>
            </a:endParaRPr>
          </a:p>
          <a:p>
            <a:pPr marL="257175" lvl="1" indent="0">
              <a:lnSpc>
                <a:spcPct val="100000"/>
              </a:lnSpc>
              <a:spcBef>
                <a:spcPts val="600"/>
              </a:spcBef>
              <a:buNone/>
            </a:pPr>
            <a:r>
              <a:rPr lang="zh-CN" altLang="en-US" sz="1600" dirty="0">
                <a:latin typeface="+mj-ea"/>
                <a:ea typeface="+mj-ea"/>
              </a:rPr>
              <a:t>输入帐号或密码不正确，重新登录。</a:t>
            </a:r>
            <a:endParaRPr lang="zh-CN" altLang="en-US" sz="1600" dirty="0">
              <a:latin typeface="+mj-ea"/>
              <a:ea typeface="+mj-ea"/>
            </a:endParaRPr>
          </a:p>
          <a:p>
            <a:pPr marL="257175" lvl="1" indent="0">
              <a:lnSpc>
                <a:spcPct val="100000"/>
              </a:lnSpc>
              <a:spcBef>
                <a:spcPts val="600"/>
              </a:spcBef>
              <a:buNone/>
            </a:pPr>
            <a:r>
              <a:rPr lang="zh-CN" altLang="en-US" sz="1600" dirty="0">
                <a:latin typeface="+mj-ea"/>
                <a:ea typeface="+mj-ea"/>
              </a:rPr>
              <a:t>进入基本路径</a:t>
            </a:r>
            <a:r>
              <a:rPr lang="en-US" altLang="zh-CN" sz="1600" dirty="0">
                <a:latin typeface="+mj-ea"/>
                <a:ea typeface="+mj-ea"/>
              </a:rPr>
              <a:t>1</a:t>
            </a:r>
            <a:endParaRPr lang="en-US" altLang="zh-CN" sz="1600" dirty="0">
              <a:latin typeface="+mj-ea"/>
              <a:ea typeface="+mj-ea"/>
            </a:endParaRPr>
          </a:p>
          <a:p>
            <a:pPr marL="0" indent="0">
              <a:lnSpc>
                <a:spcPct val="100000"/>
              </a:lnSpc>
              <a:spcBef>
                <a:spcPts val="600"/>
              </a:spcBef>
              <a:buNone/>
            </a:pPr>
            <a:endParaRPr lang="zh-CN" altLang="en-US" sz="1600" dirty="0">
              <a:latin typeface="+mj-ea"/>
              <a:ea typeface="+mj-ea"/>
            </a:endParaRPr>
          </a:p>
        </p:txBody>
      </p:sp>
      <p:sp>
        <p:nvSpPr>
          <p:cNvPr id="11" name="Rectangle 3"/>
          <p:cNvSpPr txBox="1">
            <a:spLocks noChangeArrowheads="1"/>
          </p:cNvSpPr>
          <p:nvPr/>
        </p:nvSpPr>
        <p:spPr>
          <a:xfrm>
            <a:off x="768096" y="926393"/>
            <a:ext cx="763820" cy="2768059"/>
          </a:xfrm>
          <a:prstGeom prst="rect">
            <a:avLst/>
          </a:prstGeom>
        </p:spPr>
        <p:txBody>
          <a:bodyPr vert="eaVert" anchor="ctr">
            <a:normAutofit/>
          </a:bodyPr>
          <a:lst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a:lstStyle>
          <a:p>
            <a:pPr marL="0" indent="0">
              <a:lnSpc>
                <a:spcPct val="80000"/>
              </a:lnSpc>
              <a:buFont typeface="Arial" panose="020B0604020202020204" pitchFamily="34" charset="0"/>
              <a:buNone/>
            </a:pPr>
            <a:r>
              <a:rPr lang="zh-CN" altLang="en-US" b="1" dirty="0">
                <a:solidFill>
                  <a:schemeClr val="accent1">
                    <a:lumMod val="50000"/>
                  </a:schemeClr>
                </a:solidFill>
              </a:rPr>
              <a:t>用例描述示例三</a:t>
            </a:r>
            <a:endParaRPr lang="en-US" altLang="zh-CN"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up)">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up)">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up)">
                                      <p:cBhvr>
                                        <p:cTn id="17" dur="500"/>
                                        <p:tgtEl>
                                          <p:spTgt spid="4">
                                            <p:txEl>
                                              <p:pRg st="1" end="1"/>
                                            </p:txEl>
                                          </p:spTgt>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wipe(up)">
                                      <p:cBhvr>
                                        <p:cTn id="21" dur="500"/>
                                        <p:tgtEl>
                                          <p:spTgt spid="4">
                                            <p:txEl>
                                              <p:pRg st="2" end="2"/>
                                            </p:txEl>
                                          </p:spTgt>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wipe(up)">
                                      <p:cBhvr>
                                        <p:cTn id="25" dur="500"/>
                                        <p:tgtEl>
                                          <p:spTgt spid="4">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animEffect transition="in" filter="wipe(up)">
                                      <p:cBhvr>
                                        <p:cTn id="30" dur="500"/>
                                        <p:tgtEl>
                                          <p:spTgt spid="4">
                                            <p:txEl>
                                              <p:pRg st="4" end="4"/>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Effect transition="in" filter="wipe(up)">
                                      <p:cBhvr>
                                        <p:cTn id="33" dur="500"/>
                                        <p:tgtEl>
                                          <p:spTgt spid="4">
                                            <p:txEl>
                                              <p:pRg st="5" end="5"/>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4">
                                            <p:txEl>
                                              <p:pRg st="6" end="6"/>
                                            </p:txEl>
                                          </p:spTgt>
                                        </p:tgtEl>
                                        <p:attrNameLst>
                                          <p:attrName>style.visibility</p:attrName>
                                        </p:attrNameLst>
                                      </p:cBhvr>
                                      <p:to>
                                        <p:strVal val="visible"/>
                                      </p:to>
                                    </p:set>
                                    <p:animEffect transition="in" filter="wipe(up)">
                                      <p:cBhvr>
                                        <p:cTn id="36" dur="500"/>
                                        <p:tgtEl>
                                          <p:spTgt spid="4">
                                            <p:txEl>
                                              <p:pRg st="6" end="6"/>
                                            </p:tx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animEffect transition="in" filter="wipe(up)">
                                      <p:cBhvr>
                                        <p:cTn id="39" dur="500"/>
                                        <p:tgtEl>
                                          <p:spTgt spid="4">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4">
                                            <p:txEl>
                                              <p:pRg st="8" end="8"/>
                                            </p:txEl>
                                          </p:spTgt>
                                        </p:tgtEl>
                                        <p:attrNameLst>
                                          <p:attrName>style.visibility</p:attrName>
                                        </p:attrNameLst>
                                      </p:cBhvr>
                                      <p:to>
                                        <p:strVal val="visible"/>
                                      </p:to>
                                    </p:set>
                                    <p:animEffect transition="in" filter="wipe(up)">
                                      <p:cBhvr>
                                        <p:cTn id="44" dur="500"/>
                                        <p:tgtEl>
                                          <p:spTgt spid="4">
                                            <p:txEl>
                                              <p:pRg st="8" end="8"/>
                                            </p:txEl>
                                          </p:spTgt>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Effect transition="in" filter="wipe(up)">
                                      <p:cBhvr>
                                        <p:cTn id="47" dur="500"/>
                                        <p:tgtEl>
                                          <p:spTgt spid="4">
                                            <p:txEl>
                                              <p:pRg st="9" end="9"/>
                                            </p:txEl>
                                          </p:spTgt>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4">
                                            <p:txEl>
                                              <p:pRg st="10" end="10"/>
                                            </p:txEl>
                                          </p:spTgt>
                                        </p:tgtEl>
                                        <p:attrNameLst>
                                          <p:attrName>style.visibility</p:attrName>
                                        </p:attrNameLst>
                                      </p:cBhvr>
                                      <p:to>
                                        <p:strVal val="visible"/>
                                      </p:to>
                                    </p:set>
                                    <p:animEffect transition="in" filter="wipe(up)">
                                      <p:cBhvr>
                                        <p:cTn id="50" dur="500"/>
                                        <p:tgtEl>
                                          <p:spTgt spid="4">
                                            <p:txEl>
                                              <p:pRg st="10" end="10"/>
                                            </p:txEl>
                                          </p:spTgt>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4">
                                            <p:txEl>
                                              <p:pRg st="11" end="11"/>
                                            </p:txEl>
                                          </p:spTgt>
                                        </p:tgtEl>
                                        <p:attrNameLst>
                                          <p:attrName>style.visibility</p:attrName>
                                        </p:attrNameLst>
                                      </p:cBhvr>
                                      <p:to>
                                        <p:strVal val="visible"/>
                                      </p:to>
                                    </p:set>
                                    <p:animEffect transition="in" filter="wipe(up)">
                                      <p:cBhvr>
                                        <p:cTn id="53"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idx="1"/>
          </p:nvPr>
        </p:nvSpPr>
        <p:spPr>
          <a:xfrm>
            <a:off x="2054430" y="153271"/>
            <a:ext cx="6803820" cy="4466230"/>
          </a:xfrm>
        </p:spPr>
        <p:style>
          <a:lnRef idx="2">
            <a:schemeClr val="accent2"/>
          </a:lnRef>
          <a:fillRef idx="1">
            <a:schemeClr val="lt1"/>
          </a:fillRef>
          <a:effectRef idx="0">
            <a:schemeClr val="accent2"/>
          </a:effectRef>
          <a:fontRef idx="minor">
            <a:schemeClr val="dk1"/>
          </a:fontRef>
        </p:style>
        <p:txBody>
          <a:bodyPr>
            <a:noAutofit/>
          </a:bodyPr>
          <a:lstStyle/>
          <a:p>
            <a:pPr marL="0" indent="0">
              <a:lnSpc>
                <a:spcPct val="100000"/>
              </a:lnSpc>
              <a:buNone/>
            </a:pPr>
            <a:r>
              <a:rPr lang="zh-CN" altLang="en-US" sz="1600" b="1" dirty="0">
                <a:latin typeface="+mj-ea"/>
                <a:ea typeface="+mj-ea"/>
              </a:rPr>
              <a:t>用例名称：</a:t>
            </a:r>
            <a:r>
              <a:rPr lang="zh-CN" altLang="en-US" sz="1600" dirty="0">
                <a:latin typeface="+mj-ea"/>
                <a:ea typeface="+mj-ea"/>
              </a:rPr>
              <a:t>图书借阅</a:t>
            </a:r>
            <a:endParaRPr lang="zh-CN" altLang="en-US" sz="1600" dirty="0">
              <a:latin typeface="+mj-ea"/>
              <a:ea typeface="+mj-ea"/>
            </a:endParaRPr>
          </a:p>
          <a:p>
            <a:pPr marL="0" indent="0">
              <a:lnSpc>
                <a:spcPct val="100000"/>
              </a:lnSpc>
              <a:buNone/>
            </a:pPr>
            <a:r>
              <a:rPr lang="zh-CN" altLang="en-US" sz="1600" b="1" dirty="0">
                <a:latin typeface="+mj-ea"/>
                <a:ea typeface="+mj-ea"/>
              </a:rPr>
              <a:t>用例描述：</a:t>
            </a:r>
            <a:r>
              <a:rPr lang="zh-CN" altLang="en-US" sz="1600" dirty="0">
                <a:latin typeface="+mj-ea"/>
                <a:ea typeface="+mj-ea"/>
              </a:rPr>
              <a:t>图书馆工作人员输入借阅证编号和图书登录号来完成图书借阅。</a:t>
            </a:r>
            <a:endParaRPr lang="zh-CN" altLang="en-US" sz="1600" dirty="0">
              <a:latin typeface="+mj-ea"/>
              <a:ea typeface="+mj-ea"/>
            </a:endParaRPr>
          </a:p>
          <a:p>
            <a:pPr marL="0" indent="0">
              <a:lnSpc>
                <a:spcPct val="100000"/>
              </a:lnSpc>
              <a:buNone/>
            </a:pPr>
            <a:r>
              <a:rPr lang="zh-CN" altLang="en-US" sz="1600" b="1" dirty="0">
                <a:latin typeface="+mj-ea"/>
                <a:ea typeface="+mj-ea"/>
              </a:rPr>
              <a:t>参与者：</a:t>
            </a:r>
            <a:r>
              <a:rPr lang="zh-CN" altLang="en-US" sz="1600" dirty="0">
                <a:latin typeface="+mj-ea"/>
                <a:ea typeface="+mj-ea"/>
              </a:rPr>
              <a:t>图书馆工作人员。</a:t>
            </a:r>
            <a:endParaRPr lang="zh-CN" altLang="en-US" sz="1600" dirty="0">
              <a:latin typeface="+mj-ea"/>
              <a:ea typeface="+mj-ea"/>
            </a:endParaRPr>
          </a:p>
          <a:p>
            <a:pPr marL="0" indent="0">
              <a:lnSpc>
                <a:spcPct val="100000"/>
              </a:lnSpc>
              <a:buNone/>
            </a:pPr>
            <a:r>
              <a:rPr lang="zh-CN" altLang="en-US" sz="1600" b="1" dirty="0">
                <a:latin typeface="+mj-ea"/>
                <a:ea typeface="+mj-ea"/>
              </a:rPr>
              <a:t>前置条件：</a:t>
            </a:r>
            <a:r>
              <a:rPr lang="zh-CN" altLang="en-US" sz="1600" dirty="0">
                <a:latin typeface="+mj-ea"/>
                <a:ea typeface="+mj-ea"/>
              </a:rPr>
              <a:t>图书馆工作人员点击“图书借阅”</a:t>
            </a:r>
            <a:endParaRPr lang="zh-CN" altLang="en-US" sz="1600" dirty="0">
              <a:latin typeface="+mj-ea"/>
              <a:ea typeface="+mj-ea"/>
            </a:endParaRPr>
          </a:p>
          <a:p>
            <a:pPr marL="0" indent="0">
              <a:lnSpc>
                <a:spcPct val="100000"/>
              </a:lnSpc>
              <a:buNone/>
            </a:pPr>
            <a:r>
              <a:rPr lang="zh-CN" altLang="en-US" sz="1600" b="1" dirty="0">
                <a:latin typeface="+mj-ea"/>
                <a:ea typeface="+mj-ea"/>
              </a:rPr>
              <a:t>基本路径：</a:t>
            </a:r>
            <a:endParaRPr lang="zh-CN" altLang="en-US" sz="1600" b="1" dirty="0">
              <a:latin typeface="+mj-ea"/>
              <a:ea typeface="+mj-ea"/>
            </a:endParaRPr>
          </a:p>
          <a:p>
            <a:pPr marL="257175" lvl="1" indent="0">
              <a:lnSpc>
                <a:spcPct val="100000"/>
              </a:lnSpc>
              <a:buNone/>
            </a:pPr>
            <a:r>
              <a:rPr lang="zh-CN" altLang="en-US" sz="1600" dirty="0">
                <a:latin typeface="+mj-ea"/>
                <a:ea typeface="+mj-ea"/>
              </a:rPr>
              <a:t>输入借阅证编号。</a:t>
            </a:r>
            <a:endParaRPr lang="zh-CN" altLang="en-US" sz="1600" dirty="0">
              <a:latin typeface="+mj-ea"/>
              <a:ea typeface="+mj-ea"/>
            </a:endParaRPr>
          </a:p>
          <a:p>
            <a:pPr marL="257175" lvl="1" indent="0">
              <a:lnSpc>
                <a:spcPct val="100000"/>
              </a:lnSpc>
              <a:buNone/>
            </a:pPr>
            <a:r>
              <a:rPr lang="zh-CN" altLang="en-US" sz="1600" dirty="0">
                <a:latin typeface="+mj-ea"/>
                <a:ea typeface="+mj-ea"/>
              </a:rPr>
              <a:t>输入图书登录号。</a:t>
            </a:r>
            <a:endParaRPr lang="zh-CN" altLang="en-US" sz="1600" dirty="0">
              <a:latin typeface="+mj-ea"/>
              <a:ea typeface="+mj-ea"/>
            </a:endParaRPr>
          </a:p>
          <a:p>
            <a:pPr marL="257175" lvl="1" indent="0">
              <a:lnSpc>
                <a:spcPct val="100000"/>
              </a:lnSpc>
              <a:buNone/>
            </a:pPr>
            <a:r>
              <a:rPr lang="zh-CN" altLang="en-US" sz="1600" dirty="0">
                <a:latin typeface="+mj-ea"/>
                <a:ea typeface="+mj-ea"/>
              </a:rPr>
              <a:t>点击“借阅”</a:t>
            </a:r>
            <a:endParaRPr lang="zh-CN" altLang="en-US" sz="1600" dirty="0">
              <a:latin typeface="+mj-ea"/>
              <a:ea typeface="+mj-ea"/>
            </a:endParaRPr>
          </a:p>
          <a:p>
            <a:pPr marL="257175" lvl="1" indent="0">
              <a:lnSpc>
                <a:spcPct val="100000"/>
              </a:lnSpc>
              <a:buNone/>
            </a:pPr>
            <a:r>
              <a:rPr lang="zh-CN" altLang="en-US" sz="1600" dirty="0">
                <a:latin typeface="+mj-ea"/>
                <a:ea typeface="+mj-ea"/>
              </a:rPr>
              <a:t>显示当前借阅信息（书名</a:t>
            </a:r>
            <a:r>
              <a:rPr lang="en-US" altLang="zh-CN" sz="1600" dirty="0">
                <a:latin typeface="+mj-ea"/>
                <a:ea typeface="+mj-ea"/>
              </a:rPr>
              <a:t>,ISBN</a:t>
            </a:r>
            <a:r>
              <a:rPr lang="zh-CN" altLang="en-US" sz="1600" dirty="0">
                <a:latin typeface="+mj-ea"/>
                <a:ea typeface="+mj-ea"/>
              </a:rPr>
              <a:t>，借阅时间，应归还时间）</a:t>
            </a:r>
            <a:endParaRPr lang="zh-CN" altLang="en-US" sz="1600" dirty="0">
              <a:latin typeface="+mj-ea"/>
              <a:ea typeface="+mj-ea"/>
            </a:endParaRPr>
          </a:p>
          <a:p>
            <a:pPr marL="0" indent="0">
              <a:lnSpc>
                <a:spcPct val="100000"/>
              </a:lnSpc>
              <a:buNone/>
            </a:pPr>
            <a:r>
              <a:rPr lang="zh-CN" altLang="en-US" sz="1600" b="1" dirty="0">
                <a:latin typeface="+mj-ea"/>
                <a:ea typeface="+mj-ea"/>
              </a:rPr>
              <a:t>备选流程：</a:t>
            </a:r>
            <a:endParaRPr lang="zh-CN" altLang="en-US" sz="1600" b="1" dirty="0">
              <a:latin typeface="+mj-ea"/>
              <a:ea typeface="+mj-ea"/>
            </a:endParaRPr>
          </a:p>
          <a:p>
            <a:pPr marL="257175" lvl="1" indent="0">
              <a:lnSpc>
                <a:spcPct val="100000"/>
              </a:lnSpc>
              <a:buNone/>
            </a:pPr>
            <a:r>
              <a:rPr lang="zh-CN" altLang="en-US" sz="1600" dirty="0">
                <a:latin typeface="+mj-ea"/>
                <a:ea typeface="+mj-ea"/>
              </a:rPr>
              <a:t>点击“重填”实现借阅证和图书登录号重新填写</a:t>
            </a:r>
            <a:endParaRPr lang="zh-CN" altLang="en-US" sz="1600" dirty="0">
              <a:latin typeface="+mj-ea"/>
              <a:ea typeface="+mj-ea"/>
            </a:endParaRPr>
          </a:p>
        </p:txBody>
      </p:sp>
      <p:sp>
        <p:nvSpPr>
          <p:cNvPr id="2" name="日期占位符 1"/>
          <p:cNvSpPr>
            <a:spLocks noGrp="1"/>
          </p:cNvSpPr>
          <p:nvPr>
            <p:ph type="dt" sz="half" idx="10"/>
          </p:nvPr>
        </p:nvSpPr>
        <p:spPr/>
        <p:txBody>
          <a:bodyPr/>
          <a:lstStyle/>
          <a:p>
            <a:pPr>
              <a:spcAft>
                <a:spcPts val="0"/>
              </a:spcAft>
            </a:pPr>
            <a:fld id="{E9F3C7AB-4477-4B25-8CF5-25E36DF69D04}" type="datetime1">
              <a:rPr lang="zh-CN" altLang="en-US" smtClean="0"/>
            </a:fld>
            <a:endParaRPr lang="zh-CN" altLang="en-US"/>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11" name="Rectangle 3"/>
          <p:cNvSpPr txBox="1">
            <a:spLocks noChangeArrowheads="1"/>
          </p:cNvSpPr>
          <p:nvPr/>
        </p:nvSpPr>
        <p:spPr>
          <a:xfrm>
            <a:off x="764579" y="944385"/>
            <a:ext cx="763820" cy="3354483"/>
          </a:xfrm>
          <a:prstGeom prst="rect">
            <a:avLst/>
          </a:prstGeom>
        </p:spPr>
        <p:txBody>
          <a:bodyPr vert="eaVert" lIns="45720" tIns="45720" rIns="45720" bIns="45720" rtlCol="0" anchor="ctr">
            <a:normAutofit/>
          </a:bodyPr>
          <a:lst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125984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144018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a:lstStyle>
          <a:p>
            <a:pPr marL="0" indent="0">
              <a:lnSpc>
                <a:spcPct val="80000"/>
              </a:lnSpc>
              <a:buFont typeface="Arial" panose="020B0604020202020204" pitchFamily="34" charset="0"/>
              <a:buNone/>
            </a:pPr>
            <a:r>
              <a:rPr lang="zh-CN" altLang="en-US" b="1" dirty="0">
                <a:solidFill>
                  <a:schemeClr val="accent1">
                    <a:lumMod val="50000"/>
                  </a:schemeClr>
                </a:solidFill>
              </a:rPr>
              <a:t>用例描述示例四</a:t>
            </a:r>
            <a:endParaRPr lang="en-US" altLang="zh-CN"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up)">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up)">
                                      <p:cBhvr>
                                        <p:cTn id="12" dur="500"/>
                                        <p:tgtEl>
                                          <p:spTgt spid="4">
                                            <p:txEl>
                                              <p:pRg st="0" end="0"/>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wipe(up)">
                                      <p:cBhvr>
                                        <p:cTn id="16" dur="500"/>
                                        <p:tgtEl>
                                          <p:spTgt spid="4">
                                            <p:txEl>
                                              <p:pRg st="1" end="1"/>
                                            </p:txEl>
                                          </p:spTgt>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ipe(up)">
                                      <p:cBhvr>
                                        <p:cTn id="20" dur="500"/>
                                        <p:tgtEl>
                                          <p:spTgt spid="4">
                                            <p:txEl>
                                              <p:pRg st="2" end="2"/>
                                            </p:txEl>
                                          </p:spTgt>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wipe(up)">
                                      <p:cBhvr>
                                        <p:cTn id="24" dur="500"/>
                                        <p:tgtEl>
                                          <p:spTgt spid="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wipe(up)">
                                      <p:cBhvr>
                                        <p:cTn id="29" dur="500"/>
                                        <p:tgtEl>
                                          <p:spTgt spid="4">
                                            <p:txEl>
                                              <p:pRg st="4" end="4"/>
                                            </p:txEl>
                                          </p:spTgt>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up)">
                                      <p:cBhvr>
                                        <p:cTn id="32" dur="500"/>
                                        <p:tgtEl>
                                          <p:spTgt spid="4">
                                            <p:txEl>
                                              <p:pRg st="5" end="5"/>
                                            </p:txEl>
                                          </p:spTgt>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wipe(up)">
                                      <p:cBhvr>
                                        <p:cTn id="35" dur="500"/>
                                        <p:tgtEl>
                                          <p:spTgt spid="4">
                                            <p:txEl>
                                              <p:pRg st="6" end="6"/>
                                            </p:txEl>
                                          </p:spTgt>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4">
                                            <p:txEl>
                                              <p:pRg st="7" end="7"/>
                                            </p:txEl>
                                          </p:spTgt>
                                        </p:tgtEl>
                                        <p:attrNameLst>
                                          <p:attrName>style.visibility</p:attrName>
                                        </p:attrNameLst>
                                      </p:cBhvr>
                                      <p:to>
                                        <p:strVal val="visible"/>
                                      </p:to>
                                    </p:set>
                                    <p:animEffect transition="in" filter="wipe(up)">
                                      <p:cBhvr>
                                        <p:cTn id="38" dur="500"/>
                                        <p:tgtEl>
                                          <p:spTgt spid="4">
                                            <p:txEl>
                                              <p:pRg st="7" end="7"/>
                                            </p:txEl>
                                          </p:spTgt>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4">
                                            <p:txEl>
                                              <p:pRg st="8" end="8"/>
                                            </p:txEl>
                                          </p:spTgt>
                                        </p:tgtEl>
                                        <p:attrNameLst>
                                          <p:attrName>style.visibility</p:attrName>
                                        </p:attrNameLst>
                                      </p:cBhvr>
                                      <p:to>
                                        <p:strVal val="visible"/>
                                      </p:to>
                                    </p:set>
                                    <p:animEffect transition="in" filter="wipe(up)">
                                      <p:cBhvr>
                                        <p:cTn id="41" dur="500"/>
                                        <p:tgtEl>
                                          <p:spTgt spid="4">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4">
                                            <p:txEl>
                                              <p:pRg st="9" end="9"/>
                                            </p:txEl>
                                          </p:spTgt>
                                        </p:tgtEl>
                                        <p:attrNameLst>
                                          <p:attrName>style.visibility</p:attrName>
                                        </p:attrNameLst>
                                      </p:cBhvr>
                                      <p:to>
                                        <p:strVal val="visible"/>
                                      </p:to>
                                    </p:set>
                                    <p:animEffect transition="in" filter="wipe(up)">
                                      <p:cBhvr>
                                        <p:cTn id="46" dur="500"/>
                                        <p:tgtEl>
                                          <p:spTgt spid="4">
                                            <p:txEl>
                                              <p:pRg st="9" end="9"/>
                                            </p:txEl>
                                          </p:spTgt>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4">
                                            <p:txEl>
                                              <p:pRg st="10" end="10"/>
                                            </p:txEl>
                                          </p:spTgt>
                                        </p:tgtEl>
                                        <p:attrNameLst>
                                          <p:attrName>style.visibility</p:attrName>
                                        </p:attrNameLst>
                                      </p:cBhvr>
                                      <p:to>
                                        <p:strVal val="visible"/>
                                      </p:to>
                                    </p:set>
                                    <p:animEffect transition="in" filter="wipe(up)">
                                      <p:cBhvr>
                                        <p:cTn id="49"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idx="1"/>
          </p:nvPr>
        </p:nvSpPr>
        <p:spPr>
          <a:xfrm>
            <a:off x="1754976" y="342349"/>
            <a:ext cx="6932043" cy="4313228"/>
          </a:xfrm>
        </p:spPr>
        <p:style>
          <a:lnRef idx="2">
            <a:schemeClr val="accent2"/>
          </a:lnRef>
          <a:fillRef idx="1">
            <a:schemeClr val="lt1"/>
          </a:fillRef>
          <a:effectRef idx="0">
            <a:schemeClr val="accent2"/>
          </a:effectRef>
          <a:fontRef idx="minor">
            <a:schemeClr val="dk1"/>
          </a:fontRef>
        </p:style>
        <p:txBody>
          <a:bodyPr>
            <a:noAutofit/>
          </a:bodyPr>
          <a:lstStyle/>
          <a:p>
            <a:pPr marL="0" indent="0">
              <a:lnSpc>
                <a:spcPct val="100000"/>
              </a:lnSpc>
              <a:spcBef>
                <a:spcPts val="0"/>
              </a:spcBef>
              <a:buNone/>
            </a:pPr>
            <a:r>
              <a:rPr lang="zh-CN" altLang="en-US" sz="1600" b="1" dirty="0">
                <a:latin typeface="+mj-ea"/>
                <a:ea typeface="+mj-ea"/>
              </a:rPr>
              <a:t>用例名称：</a:t>
            </a:r>
            <a:r>
              <a:rPr lang="zh-CN" altLang="en-US" sz="1600" dirty="0">
                <a:latin typeface="+mj-ea"/>
                <a:ea typeface="+mj-ea"/>
              </a:rPr>
              <a:t>补办借阅证</a:t>
            </a:r>
            <a:endParaRPr lang="zh-CN" altLang="en-US" sz="1600" dirty="0">
              <a:latin typeface="+mj-ea"/>
              <a:ea typeface="+mj-ea"/>
            </a:endParaRPr>
          </a:p>
          <a:p>
            <a:pPr marL="0" indent="0">
              <a:lnSpc>
                <a:spcPct val="100000"/>
              </a:lnSpc>
              <a:spcBef>
                <a:spcPts val="0"/>
              </a:spcBef>
              <a:buNone/>
            </a:pPr>
            <a:r>
              <a:rPr lang="zh-CN" altLang="en-US" sz="1600" b="1" dirty="0">
                <a:latin typeface="+mj-ea"/>
                <a:ea typeface="+mj-ea"/>
              </a:rPr>
              <a:t>用例描述：</a:t>
            </a:r>
            <a:r>
              <a:rPr lang="zh-CN" altLang="en-US" sz="1600" dirty="0">
                <a:latin typeface="+mj-ea"/>
                <a:ea typeface="+mj-ea"/>
              </a:rPr>
              <a:t>图书馆工作人员输入学生信息进行借阅证补办。</a:t>
            </a:r>
            <a:endParaRPr lang="zh-CN" altLang="en-US" sz="1600" dirty="0">
              <a:latin typeface="+mj-ea"/>
              <a:ea typeface="+mj-ea"/>
            </a:endParaRPr>
          </a:p>
          <a:p>
            <a:pPr marL="0" indent="0">
              <a:lnSpc>
                <a:spcPct val="100000"/>
              </a:lnSpc>
              <a:spcBef>
                <a:spcPts val="0"/>
              </a:spcBef>
              <a:buNone/>
            </a:pPr>
            <a:r>
              <a:rPr lang="zh-CN" altLang="en-US" sz="1600" b="1" dirty="0">
                <a:latin typeface="+mj-ea"/>
                <a:ea typeface="+mj-ea"/>
              </a:rPr>
              <a:t>参与者：</a:t>
            </a:r>
            <a:r>
              <a:rPr lang="zh-CN" altLang="en-US" sz="1600" dirty="0">
                <a:latin typeface="+mj-ea"/>
                <a:ea typeface="+mj-ea"/>
              </a:rPr>
              <a:t>图书馆工作人员</a:t>
            </a:r>
            <a:endParaRPr lang="zh-CN" altLang="en-US" sz="1600" dirty="0">
              <a:latin typeface="+mj-ea"/>
              <a:ea typeface="+mj-ea"/>
            </a:endParaRPr>
          </a:p>
          <a:p>
            <a:pPr marL="0" indent="0">
              <a:lnSpc>
                <a:spcPct val="100000"/>
              </a:lnSpc>
              <a:spcBef>
                <a:spcPts val="0"/>
              </a:spcBef>
              <a:buNone/>
            </a:pPr>
            <a:r>
              <a:rPr lang="zh-CN" altLang="en-US" sz="1600" b="1" dirty="0">
                <a:latin typeface="+mj-ea"/>
                <a:ea typeface="+mj-ea"/>
              </a:rPr>
              <a:t>前置条件：</a:t>
            </a:r>
            <a:r>
              <a:rPr lang="zh-CN" altLang="en-US" sz="1600" dirty="0">
                <a:latin typeface="+mj-ea"/>
                <a:ea typeface="+mj-ea"/>
              </a:rPr>
              <a:t>图书馆工作人员点击“补办借阅证”</a:t>
            </a:r>
            <a:endParaRPr lang="zh-CN" altLang="en-US" sz="1600" dirty="0">
              <a:latin typeface="+mj-ea"/>
              <a:ea typeface="+mj-ea"/>
            </a:endParaRPr>
          </a:p>
          <a:p>
            <a:pPr marL="0" indent="0">
              <a:lnSpc>
                <a:spcPct val="100000"/>
              </a:lnSpc>
              <a:spcBef>
                <a:spcPts val="0"/>
              </a:spcBef>
              <a:buNone/>
            </a:pPr>
            <a:r>
              <a:rPr lang="zh-CN" altLang="en-US" sz="1600" b="1" dirty="0">
                <a:latin typeface="+mj-ea"/>
                <a:ea typeface="+mj-ea"/>
              </a:rPr>
              <a:t>基本路径：</a:t>
            </a:r>
            <a:endParaRPr lang="zh-CN" altLang="en-US" sz="1600" b="1" dirty="0">
              <a:latin typeface="+mj-ea"/>
              <a:ea typeface="+mj-ea"/>
            </a:endParaRPr>
          </a:p>
          <a:p>
            <a:pPr marL="257175" lvl="1" indent="0">
              <a:lnSpc>
                <a:spcPct val="100000"/>
              </a:lnSpc>
              <a:spcBef>
                <a:spcPts val="0"/>
              </a:spcBef>
              <a:buNone/>
            </a:pPr>
            <a:r>
              <a:rPr lang="zh-CN" altLang="en-US" sz="1600" dirty="0">
                <a:latin typeface="+mj-ea"/>
                <a:ea typeface="+mj-ea"/>
              </a:rPr>
              <a:t>输入学号</a:t>
            </a:r>
            <a:endParaRPr lang="zh-CN" altLang="en-US" sz="1600" dirty="0">
              <a:latin typeface="+mj-ea"/>
              <a:ea typeface="+mj-ea"/>
            </a:endParaRPr>
          </a:p>
          <a:p>
            <a:pPr marL="257175" lvl="1" indent="0">
              <a:lnSpc>
                <a:spcPct val="100000"/>
              </a:lnSpc>
              <a:spcBef>
                <a:spcPts val="0"/>
              </a:spcBef>
              <a:buNone/>
            </a:pPr>
            <a:r>
              <a:rPr lang="zh-CN" altLang="en-US" sz="1600" dirty="0">
                <a:latin typeface="+mj-ea"/>
                <a:ea typeface="+mj-ea"/>
              </a:rPr>
              <a:t>点击“查询”</a:t>
            </a:r>
            <a:endParaRPr lang="zh-CN" altLang="en-US" sz="1600" dirty="0">
              <a:latin typeface="+mj-ea"/>
              <a:ea typeface="+mj-ea"/>
            </a:endParaRPr>
          </a:p>
          <a:p>
            <a:pPr marL="257175" lvl="1" indent="0">
              <a:lnSpc>
                <a:spcPct val="100000"/>
              </a:lnSpc>
              <a:spcBef>
                <a:spcPts val="0"/>
              </a:spcBef>
              <a:buNone/>
            </a:pPr>
            <a:r>
              <a:rPr lang="zh-CN" altLang="en-US" sz="1600" dirty="0">
                <a:latin typeface="+mj-ea"/>
                <a:ea typeface="+mj-ea"/>
              </a:rPr>
              <a:t>显示该学生遗失的借阅证信息（借阅证编号，学号，姓名，专业，班级，性别）</a:t>
            </a:r>
            <a:endParaRPr lang="zh-CN" altLang="en-US" sz="1600" dirty="0">
              <a:latin typeface="+mj-ea"/>
              <a:ea typeface="+mj-ea"/>
            </a:endParaRPr>
          </a:p>
          <a:p>
            <a:pPr marL="257175" lvl="1" indent="0">
              <a:lnSpc>
                <a:spcPct val="100000"/>
              </a:lnSpc>
              <a:spcBef>
                <a:spcPts val="0"/>
              </a:spcBef>
              <a:buNone/>
            </a:pPr>
            <a:r>
              <a:rPr lang="zh-CN" altLang="en-US" sz="1600" dirty="0">
                <a:latin typeface="+mj-ea"/>
                <a:ea typeface="+mj-ea"/>
              </a:rPr>
              <a:t>点击“补办”</a:t>
            </a:r>
            <a:endParaRPr lang="zh-CN" altLang="en-US" sz="1600" dirty="0">
              <a:latin typeface="+mj-ea"/>
              <a:ea typeface="+mj-ea"/>
            </a:endParaRPr>
          </a:p>
          <a:p>
            <a:pPr marL="257175" lvl="1" indent="0">
              <a:lnSpc>
                <a:spcPct val="100000"/>
              </a:lnSpc>
              <a:spcBef>
                <a:spcPts val="0"/>
              </a:spcBef>
              <a:buNone/>
            </a:pPr>
            <a:r>
              <a:rPr lang="zh-CN" altLang="en-US" sz="1600" dirty="0">
                <a:latin typeface="+mj-ea"/>
                <a:ea typeface="+mj-ea"/>
              </a:rPr>
              <a:t>显示该学生新借阅证信息（借阅证编号，学号，姓名，专业，班级，性别）</a:t>
            </a:r>
            <a:endParaRPr lang="zh-CN" altLang="en-US" sz="1600" dirty="0">
              <a:latin typeface="+mj-ea"/>
              <a:ea typeface="+mj-ea"/>
            </a:endParaRPr>
          </a:p>
          <a:p>
            <a:pPr marL="257175" lvl="1" indent="0">
              <a:lnSpc>
                <a:spcPct val="100000"/>
              </a:lnSpc>
              <a:spcBef>
                <a:spcPts val="0"/>
              </a:spcBef>
              <a:buNone/>
            </a:pPr>
            <a:r>
              <a:rPr lang="zh-CN" altLang="en-US" sz="1600" dirty="0">
                <a:latin typeface="+mj-ea"/>
                <a:ea typeface="+mj-ea"/>
              </a:rPr>
              <a:t>进入备选流程</a:t>
            </a:r>
            <a:r>
              <a:rPr lang="en-US" altLang="zh-CN" sz="1600" dirty="0">
                <a:latin typeface="+mj-ea"/>
                <a:ea typeface="+mj-ea"/>
              </a:rPr>
              <a:t>B</a:t>
            </a:r>
            <a:endParaRPr lang="en-US" altLang="zh-CN" sz="1600" dirty="0">
              <a:latin typeface="+mj-ea"/>
              <a:ea typeface="+mj-ea"/>
            </a:endParaRPr>
          </a:p>
          <a:p>
            <a:pPr marL="0" indent="0">
              <a:lnSpc>
                <a:spcPct val="100000"/>
              </a:lnSpc>
              <a:spcBef>
                <a:spcPts val="0"/>
              </a:spcBef>
              <a:buNone/>
            </a:pPr>
            <a:r>
              <a:rPr lang="zh-CN" altLang="en-US" sz="1600" b="1" dirty="0">
                <a:latin typeface="+mj-ea"/>
                <a:ea typeface="+mj-ea"/>
              </a:rPr>
              <a:t>备选流程：</a:t>
            </a:r>
            <a:endParaRPr lang="zh-CN" altLang="en-US" sz="1600" b="1" dirty="0">
              <a:latin typeface="+mj-ea"/>
              <a:ea typeface="+mj-ea"/>
            </a:endParaRPr>
          </a:p>
          <a:p>
            <a:pPr marL="257175" lvl="1" indent="0">
              <a:lnSpc>
                <a:spcPct val="100000"/>
              </a:lnSpc>
              <a:spcBef>
                <a:spcPts val="0"/>
              </a:spcBef>
              <a:buNone/>
            </a:pPr>
            <a:r>
              <a:rPr lang="en-US" altLang="zh-CN" sz="1600" dirty="0">
                <a:latin typeface="+mj-ea"/>
                <a:ea typeface="+mj-ea"/>
              </a:rPr>
              <a:t>A</a:t>
            </a:r>
            <a:r>
              <a:rPr lang="zh-CN" altLang="en-US" sz="1600" dirty="0">
                <a:latin typeface="+mj-ea"/>
                <a:ea typeface="+mj-ea"/>
              </a:rPr>
              <a:t>：</a:t>
            </a:r>
            <a:r>
              <a:rPr lang="en-US" altLang="zh-CN" sz="1600" dirty="0">
                <a:latin typeface="+mj-ea"/>
                <a:ea typeface="+mj-ea"/>
              </a:rPr>
              <a:t>1</a:t>
            </a:r>
            <a:r>
              <a:rPr lang="zh-CN" altLang="en-US" sz="1600" dirty="0">
                <a:latin typeface="+mj-ea"/>
                <a:ea typeface="+mj-ea"/>
              </a:rPr>
              <a:t>点击“重新填写”，实现重填学号。</a:t>
            </a:r>
            <a:endParaRPr lang="zh-CN" altLang="en-US" sz="1600" dirty="0">
              <a:latin typeface="+mj-ea"/>
              <a:ea typeface="+mj-ea"/>
            </a:endParaRPr>
          </a:p>
          <a:p>
            <a:pPr marL="257175" lvl="1" indent="0">
              <a:lnSpc>
                <a:spcPct val="100000"/>
              </a:lnSpc>
              <a:spcBef>
                <a:spcPts val="0"/>
              </a:spcBef>
              <a:buNone/>
            </a:pPr>
            <a:r>
              <a:rPr lang="zh-CN" altLang="en-US" sz="1600" dirty="0">
                <a:latin typeface="+mj-ea"/>
                <a:ea typeface="+mj-ea"/>
              </a:rPr>
              <a:t>      </a:t>
            </a:r>
            <a:r>
              <a:rPr lang="en-US" altLang="zh-CN" sz="1600" dirty="0">
                <a:latin typeface="+mj-ea"/>
                <a:ea typeface="+mj-ea"/>
              </a:rPr>
              <a:t>2</a:t>
            </a:r>
            <a:r>
              <a:rPr lang="zh-CN" altLang="en-US" sz="1600" dirty="0">
                <a:latin typeface="+mj-ea"/>
                <a:ea typeface="+mj-ea"/>
              </a:rPr>
              <a:t>进入基本路径</a:t>
            </a:r>
            <a:r>
              <a:rPr lang="en-US" altLang="zh-CN" sz="1600" dirty="0">
                <a:latin typeface="+mj-ea"/>
                <a:ea typeface="+mj-ea"/>
              </a:rPr>
              <a:t>1</a:t>
            </a:r>
            <a:endParaRPr lang="en-US" altLang="zh-CN" sz="1600" dirty="0">
              <a:latin typeface="+mj-ea"/>
              <a:ea typeface="+mj-ea"/>
            </a:endParaRPr>
          </a:p>
          <a:p>
            <a:pPr marL="257175" lvl="1" indent="0">
              <a:lnSpc>
                <a:spcPct val="100000"/>
              </a:lnSpc>
              <a:spcBef>
                <a:spcPts val="0"/>
              </a:spcBef>
              <a:buNone/>
            </a:pPr>
            <a:r>
              <a:rPr lang="en-US" altLang="zh-CN" sz="1600" dirty="0">
                <a:latin typeface="+mj-ea"/>
                <a:ea typeface="+mj-ea"/>
              </a:rPr>
              <a:t>B</a:t>
            </a:r>
            <a:r>
              <a:rPr lang="zh-CN" altLang="en-US" sz="1600" dirty="0">
                <a:latin typeface="+mj-ea"/>
                <a:ea typeface="+mj-ea"/>
              </a:rPr>
              <a:t>：如果学生有借阅图书未归还，显示当前该学生借阅情况（书名</a:t>
            </a:r>
            <a:r>
              <a:rPr lang="en-US" altLang="zh-CN" sz="1600" dirty="0">
                <a:latin typeface="+mj-ea"/>
                <a:ea typeface="+mj-ea"/>
              </a:rPr>
              <a:t>,ISBN</a:t>
            </a:r>
            <a:r>
              <a:rPr lang="zh-CN" altLang="en-US" sz="1600" dirty="0">
                <a:latin typeface="+mj-ea"/>
                <a:ea typeface="+mj-ea"/>
              </a:rPr>
              <a:t>，借阅时间，应归还时间）</a:t>
            </a:r>
            <a:endParaRPr lang="zh-CN" altLang="en-US" sz="1600" dirty="0">
              <a:latin typeface="+mj-ea"/>
              <a:ea typeface="+mj-ea"/>
            </a:endParaRPr>
          </a:p>
        </p:txBody>
      </p:sp>
      <p:sp>
        <p:nvSpPr>
          <p:cNvPr id="2" name="日期占位符 1"/>
          <p:cNvSpPr>
            <a:spLocks noGrp="1"/>
          </p:cNvSpPr>
          <p:nvPr>
            <p:ph type="dt" sz="half" idx="10"/>
          </p:nvPr>
        </p:nvSpPr>
        <p:spPr/>
        <p:txBody>
          <a:bodyPr/>
          <a:lstStyle/>
          <a:p>
            <a:pPr>
              <a:spcAft>
                <a:spcPts val="0"/>
              </a:spcAft>
            </a:pPr>
            <a:fld id="{0AF757B4-0F37-4110-B5AC-DDB90EA999F5}" type="datetime1">
              <a:rPr lang="zh-CN" altLang="en-US" smtClean="0"/>
            </a:fld>
            <a:endParaRPr lang="zh-CN" altLang="en-US"/>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9" name="Rectangle 3"/>
          <p:cNvSpPr txBox="1">
            <a:spLocks noChangeArrowheads="1"/>
          </p:cNvSpPr>
          <p:nvPr/>
        </p:nvSpPr>
        <p:spPr>
          <a:xfrm>
            <a:off x="764579" y="944385"/>
            <a:ext cx="763820" cy="3354483"/>
          </a:xfrm>
          <a:prstGeom prst="rect">
            <a:avLst/>
          </a:prstGeom>
        </p:spPr>
        <p:txBody>
          <a:bodyPr vert="eaVert" lIns="45720" tIns="45720" rIns="45720" bIns="45720" rtlCol="0" anchor="ctr">
            <a:normAutofit/>
          </a:bodyPr>
          <a:lst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125984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144018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a:lstStyle>
          <a:p>
            <a:pPr marL="0" indent="0">
              <a:lnSpc>
                <a:spcPct val="80000"/>
              </a:lnSpc>
              <a:buFont typeface="Arial" panose="020B0604020202020204" pitchFamily="34" charset="0"/>
              <a:buNone/>
            </a:pPr>
            <a:r>
              <a:rPr lang="zh-CN" altLang="en-US" b="1" dirty="0">
                <a:solidFill>
                  <a:schemeClr val="accent1">
                    <a:lumMod val="50000"/>
                  </a:schemeClr>
                </a:solidFill>
              </a:rPr>
              <a:t>用例描述示例五</a:t>
            </a:r>
            <a:endParaRPr lang="en-US" altLang="zh-CN"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up)">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up)">
                                      <p:cBhvr>
                                        <p:cTn id="12" dur="500"/>
                                        <p:tgtEl>
                                          <p:spTgt spid="4">
                                            <p:txEl>
                                              <p:pRg st="0" end="0"/>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wipe(up)">
                                      <p:cBhvr>
                                        <p:cTn id="16" dur="500"/>
                                        <p:tgtEl>
                                          <p:spTgt spid="4">
                                            <p:txEl>
                                              <p:pRg st="1" end="1"/>
                                            </p:txEl>
                                          </p:spTgt>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ipe(up)">
                                      <p:cBhvr>
                                        <p:cTn id="20" dur="500"/>
                                        <p:tgtEl>
                                          <p:spTgt spid="4">
                                            <p:txEl>
                                              <p:pRg st="2" end="2"/>
                                            </p:txEl>
                                          </p:spTgt>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wipe(up)">
                                      <p:cBhvr>
                                        <p:cTn id="24" dur="500"/>
                                        <p:tgtEl>
                                          <p:spTgt spid="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wipe(up)">
                                      <p:cBhvr>
                                        <p:cTn id="29" dur="500"/>
                                        <p:tgtEl>
                                          <p:spTgt spid="4">
                                            <p:txEl>
                                              <p:pRg st="4" end="4"/>
                                            </p:txEl>
                                          </p:spTgt>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up)">
                                      <p:cBhvr>
                                        <p:cTn id="32" dur="500"/>
                                        <p:tgtEl>
                                          <p:spTgt spid="4">
                                            <p:txEl>
                                              <p:pRg st="5" end="5"/>
                                            </p:txEl>
                                          </p:spTgt>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wipe(up)">
                                      <p:cBhvr>
                                        <p:cTn id="35" dur="500"/>
                                        <p:tgtEl>
                                          <p:spTgt spid="4">
                                            <p:txEl>
                                              <p:pRg st="6" end="6"/>
                                            </p:txEl>
                                          </p:spTgt>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4">
                                            <p:txEl>
                                              <p:pRg st="7" end="7"/>
                                            </p:txEl>
                                          </p:spTgt>
                                        </p:tgtEl>
                                        <p:attrNameLst>
                                          <p:attrName>style.visibility</p:attrName>
                                        </p:attrNameLst>
                                      </p:cBhvr>
                                      <p:to>
                                        <p:strVal val="visible"/>
                                      </p:to>
                                    </p:set>
                                    <p:animEffect transition="in" filter="wipe(up)">
                                      <p:cBhvr>
                                        <p:cTn id="38" dur="500"/>
                                        <p:tgtEl>
                                          <p:spTgt spid="4">
                                            <p:txEl>
                                              <p:pRg st="7" end="7"/>
                                            </p:txEl>
                                          </p:spTgt>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4">
                                            <p:txEl>
                                              <p:pRg st="8" end="8"/>
                                            </p:txEl>
                                          </p:spTgt>
                                        </p:tgtEl>
                                        <p:attrNameLst>
                                          <p:attrName>style.visibility</p:attrName>
                                        </p:attrNameLst>
                                      </p:cBhvr>
                                      <p:to>
                                        <p:strVal val="visible"/>
                                      </p:to>
                                    </p:set>
                                    <p:animEffect transition="in" filter="wipe(up)">
                                      <p:cBhvr>
                                        <p:cTn id="41" dur="500"/>
                                        <p:tgtEl>
                                          <p:spTgt spid="4">
                                            <p:txEl>
                                              <p:pRg st="8" end="8"/>
                                            </p:txEl>
                                          </p:spTgt>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4">
                                            <p:txEl>
                                              <p:pRg st="9" end="9"/>
                                            </p:txEl>
                                          </p:spTgt>
                                        </p:tgtEl>
                                        <p:attrNameLst>
                                          <p:attrName>style.visibility</p:attrName>
                                        </p:attrNameLst>
                                      </p:cBhvr>
                                      <p:to>
                                        <p:strVal val="visible"/>
                                      </p:to>
                                    </p:set>
                                    <p:animEffect transition="in" filter="wipe(up)">
                                      <p:cBhvr>
                                        <p:cTn id="44" dur="500"/>
                                        <p:tgtEl>
                                          <p:spTgt spid="4">
                                            <p:txEl>
                                              <p:pRg st="9" end="9"/>
                                            </p:txEl>
                                          </p:spTgt>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Effect transition="in" filter="wipe(up)">
                                      <p:cBhvr>
                                        <p:cTn id="47" dur="500"/>
                                        <p:tgtEl>
                                          <p:spTgt spid="4">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11" end="11"/>
                                            </p:txEl>
                                          </p:spTgt>
                                        </p:tgtEl>
                                        <p:attrNameLst>
                                          <p:attrName>style.visibility</p:attrName>
                                        </p:attrNameLst>
                                      </p:cBhvr>
                                      <p:to>
                                        <p:strVal val="visible"/>
                                      </p:to>
                                    </p:set>
                                    <p:animEffect transition="in" filter="wipe(up)">
                                      <p:cBhvr>
                                        <p:cTn id="52" dur="500"/>
                                        <p:tgtEl>
                                          <p:spTgt spid="4">
                                            <p:txEl>
                                              <p:pRg st="11" end="11"/>
                                            </p:txEl>
                                          </p:spTgt>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animEffect transition="in" filter="wipe(up)">
                                      <p:cBhvr>
                                        <p:cTn id="55" dur="500"/>
                                        <p:tgtEl>
                                          <p:spTgt spid="4">
                                            <p:txEl>
                                              <p:pRg st="12" end="12"/>
                                            </p:txEl>
                                          </p:spTgt>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4">
                                            <p:txEl>
                                              <p:pRg st="13" end="13"/>
                                            </p:txEl>
                                          </p:spTgt>
                                        </p:tgtEl>
                                        <p:attrNameLst>
                                          <p:attrName>style.visibility</p:attrName>
                                        </p:attrNameLst>
                                      </p:cBhvr>
                                      <p:to>
                                        <p:strVal val="visible"/>
                                      </p:to>
                                    </p:set>
                                    <p:animEffect transition="in" filter="wipe(up)">
                                      <p:cBhvr>
                                        <p:cTn id="58" dur="500"/>
                                        <p:tgtEl>
                                          <p:spTgt spid="4">
                                            <p:txEl>
                                              <p:pRg st="13" end="13"/>
                                            </p:txEl>
                                          </p:spTgt>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4">
                                            <p:txEl>
                                              <p:pRg st="14" end="14"/>
                                            </p:txEl>
                                          </p:spTgt>
                                        </p:tgtEl>
                                        <p:attrNameLst>
                                          <p:attrName>style.visibility</p:attrName>
                                        </p:attrNameLst>
                                      </p:cBhvr>
                                      <p:to>
                                        <p:strVal val="visible"/>
                                      </p:to>
                                    </p:set>
                                    <p:animEffect transition="in" filter="wipe(up)">
                                      <p:cBhvr>
                                        <p:cTn id="61" dur="5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spcAft>
                <a:spcPts val="0"/>
              </a:spcAft>
            </a:pPr>
            <a:fld id="{A8515DAC-55CF-4B3F-A437-15DE0A3DEA4C}" type="datetime1">
              <a:rPr lang="zh-CN" altLang="en-US" smtClean="0"/>
            </a:fld>
            <a:endParaRPr lang="zh-CN" altLang="en-US" dirty="0"/>
          </a:p>
        </p:txBody>
      </p:sp>
      <p:sp>
        <p:nvSpPr>
          <p:cNvPr id="6" name="页脚占位符 5"/>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198659" name="Rectangle 3"/>
          <p:cNvSpPr>
            <a:spLocks noGrp="1" noChangeArrowheads="1"/>
          </p:cNvSpPr>
          <p:nvPr>
            <p:ph idx="4294967295"/>
          </p:nvPr>
        </p:nvSpPr>
        <p:spPr>
          <a:xfrm>
            <a:off x="698421" y="1634856"/>
            <a:ext cx="2695575" cy="2062644"/>
          </a:xfrm>
        </p:spPr>
        <p:txBody>
          <a:bodyPr>
            <a:normAutofit/>
          </a:bodyPr>
          <a:lstStyle/>
          <a:p>
            <a:pPr marL="0" indent="0">
              <a:buNone/>
            </a:pPr>
            <a:r>
              <a:rPr lang="zh-CN" altLang="en-US" sz="2400" dirty="0"/>
              <a:t>根据上次课绘制的系统用例图，为每一个用例写一个用例描述。</a:t>
            </a:r>
            <a:endParaRPr lang="zh-CN" altLang="en-US" sz="2400" dirty="0"/>
          </a:p>
        </p:txBody>
      </p:sp>
      <p:sp>
        <p:nvSpPr>
          <p:cNvPr id="198658" name="Rectangle 2"/>
          <p:cNvSpPr>
            <a:spLocks noGrp="1" noChangeArrowheads="1"/>
          </p:cNvSpPr>
          <p:nvPr>
            <p:ph type="title" idx="4294967295"/>
          </p:nvPr>
        </p:nvSpPr>
        <p:spPr>
          <a:xfrm>
            <a:off x="1093788" y="102276"/>
            <a:ext cx="7764462" cy="828675"/>
          </a:xfrm>
        </p:spPr>
        <p:txBody>
          <a:bodyPr>
            <a:normAutofit/>
          </a:bodyPr>
          <a:lstStyle/>
          <a:p>
            <a:pPr>
              <a:spcAft>
                <a:spcPts val="0"/>
              </a:spcAft>
            </a:pPr>
            <a:r>
              <a:rPr lang="zh-CN" altLang="en-US" dirty="0">
                <a:solidFill>
                  <a:schemeClr val="accent1">
                    <a:lumMod val="50000"/>
                  </a:schemeClr>
                </a:solidFill>
              </a:rPr>
              <a:t>网上报名系统的用例描述</a:t>
            </a:r>
            <a:endParaRPr lang="zh-CN" altLang="en-US" dirty="0">
              <a:solidFill>
                <a:schemeClr val="accent1">
                  <a:lumMod val="50000"/>
                </a:schemeClr>
              </a:solidFill>
            </a:endParaRPr>
          </a:p>
        </p:txBody>
      </p:sp>
      <p:pic>
        <p:nvPicPr>
          <p:cNvPr id="10" name="Picture 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51860" y="222079"/>
            <a:ext cx="5106390" cy="4888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5"/>
          <p:cNvPicPr>
            <a:picLocks noChangeAspect="1" noChangeArrowheads="1"/>
          </p:cNvPicPr>
          <p:nvPr/>
        </p:nvPicPr>
        <p:blipFill rotWithShape="1">
          <a:blip r:embed="rId1">
            <a:extLst>
              <a:ext uri="{28A0092B-C50C-407E-A947-70E740481C1C}">
                <a14:useLocalDpi xmlns:a14="http://schemas.microsoft.com/office/drawing/2010/main" val="0"/>
              </a:ext>
            </a:extLst>
          </a:blip>
          <a:srcRect l="12524" t="4351" r="8303" b="6400"/>
          <a:stretch>
            <a:fillRect/>
          </a:stretch>
        </p:blipFill>
        <p:spPr bwMode="auto">
          <a:xfrm>
            <a:off x="4470639" y="31027"/>
            <a:ext cx="4435111" cy="5041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日期占位符 1"/>
          <p:cNvSpPr>
            <a:spLocks noGrp="1"/>
          </p:cNvSpPr>
          <p:nvPr>
            <p:ph type="dt" sz="half" idx="10"/>
          </p:nvPr>
        </p:nvSpPr>
        <p:spPr/>
        <p:txBody>
          <a:bodyPr/>
          <a:lstStyle/>
          <a:p>
            <a:pPr>
              <a:spcAft>
                <a:spcPts val="0"/>
              </a:spcAft>
            </a:pPr>
            <a:fld id="{360376D5-E1A3-46C2-8058-06485707211A}" type="datetime1">
              <a:rPr lang="zh-CN" altLang="en-US" smtClean="0"/>
            </a:fld>
            <a:endParaRPr lang="zh-CN" altLang="en-US" dirty="0"/>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sp>
        <p:nvSpPr>
          <p:cNvPr id="15" name="Rectangle 2"/>
          <p:cNvSpPr txBox="1">
            <a:spLocks noChangeArrowheads="1"/>
          </p:cNvSpPr>
          <p:nvPr/>
        </p:nvSpPr>
        <p:spPr>
          <a:xfrm>
            <a:off x="1093788" y="102276"/>
            <a:ext cx="7764462" cy="828675"/>
          </a:xfrm>
          <a:prstGeom prst="rect">
            <a:avLst/>
          </a:prstGeom>
        </p:spPr>
        <p:txBody>
          <a:bodyPr vert="horz" lIns="91440" tIns="45720" rIns="91440" bIns="45720" rtlCol="0" anchor="ctr">
            <a:normAutofit/>
          </a:bodyPr>
          <a:lst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a:lstStyle>
          <a:p>
            <a:pPr>
              <a:spcAft>
                <a:spcPts val="0"/>
              </a:spcAft>
            </a:pPr>
            <a:r>
              <a:rPr lang="zh-CN" altLang="en-US">
                <a:solidFill>
                  <a:schemeClr val="accent1">
                    <a:lumMod val="50000"/>
                  </a:schemeClr>
                </a:solidFill>
              </a:rPr>
              <a:t>网上报名系统的用例描述</a:t>
            </a:r>
            <a:endParaRPr lang="zh-CN" altLang="en-US" dirty="0">
              <a:solidFill>
                <a:schemeClr val="accent1">
                  <a:lumMod val="50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a:t>网上报名系统的用例描述</a:t>
            </a:r>
            <a:r>
              <a:rPr lang="en-US" altLang="zh-CN" dirty="0"/>
              <a:t>--</a:t>
            </a:r>
            <a:r>
              <a:rPr lang="zh-CN" altLang="en-US" dirty="0"/>
              <a:t>新增运动员报名</a:t>
            </a:r>
            <a:endParaRPr lang="zh-CN" altLang="en-US" dirty="0"/>
          </a:p>
        </p:txBody>
      </p:sp>
      <p:sp>
        <p:nvSpPr>
          <p:cNvPr id="2" name="日期占位符 1"/>
          <p:cNvSpPr>
            <a:spLocks noGrp="1"/>
          </p:cNvSpPr>
          <p:nvPr>
            <p:ph type="dt" sz="half" idx="10"/>
          </p:nvPr>
        </p:nvSpPr>
        <p:spPr/>
        <p:txBody>
          <a:bodyPr/>
          <a:lstStyle/>
          <a:p>
            <a:pPr>
              <a:spcAft>
                <a:spcPts val="0"/>
              </a:spcAft>
            </a:pPr>
            <a:fld id="{A01DB650-4C0F-4F16-84A2-8773699B8947}" type="datetime1">
              <a:rPr lang="zh-CN" altLang="en-US" smtClean="0"/>
            </a:fld>
            <a:endParaRPr lang="zh-CN" altLang="en-US" dirty="0"/>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graphicFrame>
        <p:nvGraphicFramePr>
          <p:cNvPr id="6" name="表格 5"/>
          <p:cNvGraphicFramePr>
            <a:graphicFrameLocks noGrp="1"/>
          </p:cNvGraphicFramePr>
          <p:nvPr/>
        </p:nvGraphicFramePr>
        <p:xfrm>
          <a:off x="1362143" y="745786"/>
          <a:ext cx="6926833" cy="3886368"/>
        </p:xfrm>
        <a:graphic>
          <a:graphicData uri="http://schemas.openxmlformats.org/drawingml/2006/table">
            <a:tbl>
              <a:tblPr firstRow="1" firstCol="1" bandRow="1">
                <a:tableStyleId>{5C22544A-7EE6-4342-B048-85BDC9FD1C3A}</a:tableStyleId>
              </a:tblPr>
              <a:tblGrid>
                <a:gridCol w="1289560"/>
                <a:gridCol w="5637273"/>
              </a:tblGrid>
              <a:tr h="280056">
                <a:tc>
                  <a:txBody>
                    <a:bodyPr/>
                    <a:lstStyle/>
                    <a:p>
                      <a:pPr algn="just">
                        <a:spcAft>
                          <a:spcPts val="0"/>
                        </a:spcAft>
                      </a:pPr>
                      <a:r>
                        <a:rPr lang="zh-CN" sz="1800" kern="100" dirty="0">
                          <a:effectLst/>
                          <a:latin typeface="+mj-ea"/>
                          <a:ea typeface="+mj-ea"/>
                        </a:rPr>
                        <a:t>用例编号</a:t>
                      </a:r>
                      <a:endParaRPr lang="zh-CN" sz="1800" kern="100" dirty="0">
                        <a:effectLst/>
                        <a:latin typeface="+mj-ea"/>
                        <a:ea typeface="+mj-ea"/>
                        <a:cs typeface="Times New Roman" panose="02020603050405020304" pitchFamily="18" charset="0"/>
                      </a:endParaRPr>
                    </a:p>
                  </a:txBody>
                  <a:tcPr marL="51435" marR="51435" marT="0" marB="0" anchor="ctr"/>
                </a:tc>
                <a:tc>
                  <a:txBody>
                    <a:bodyPr/>
                    <a:lstStyle/>
                    <a:p>
                      <a:pPr algn="just">
                        <a:spcAft>
                          <a:spcPts val="0"/>
                        </a:spcAft>
                      </a:pPr>
                      <a:r>
                        <a:rPr lang="en-US" sz="1800" kern="100">
                          <a:effectLst/>
                          <a:latin typeface="+mj-ea"/>
                          <a:ea typeface="+mj-ea"/>
                        </a:rPr>
                        <a:t>ORS_003</a:t>
                      </a:r>
                      <a:endParaRPr lang="zh-CN" sz="1800" kern="100">
                        <a:effectLst/>
                        <a:latin typeface="+mj-ea"/>
                        <a:ea typeface="+mj-ea"/>
                        <a:cs typeface="Times New Roman" panose="02020603050405020304" pitchFamily="18" charset="0"/>
                      </a:endParaRPr>
                    </a:p>
                  </a:txBody>
                  <a:tcPr marL="51435" marR="51435" marT="0" marB="0" anchor="ctr"/>
                </a:tc>
              </a:tr>
              <a:tr h="280056">
                <a:tc>
                  <a:txBody>
                    <a:bodyPr/>
                    <a:lstStyle/>
                    <a:p>
                      <a:pPr algn="just">
                        <a:spcAft>
                          <a:spcPts val="0"/>
                        </a:spcAft>
                      </a:pPr>
                      <a:r>
                        <a:rPr lang="zh-CN" sz="1800" kern="100">
                          <a:effectLst/>
                          <a:latin typeface="+mj-ea"/>
                          <a:ea typeface="+mj-ea"/>
                        </a:rPr>
                        <a:t>用例名</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just">
                        <a:spcAft>
                          <a:spcPts val="0"/>
                        </a:spcAft>
                      </a:pPr>
                      <a:r>
                        <a:rPr lang="zh-CN" sz="1800" kern="100">
                          <a:effectLst/>
                          <a:latin typeface="+mj-ea"/>
                          <a:ea typeface="+mj-ea"/>
                        </a:rPr>
                        <a:t>新增运动员报名</a:t>
                      </a:r>
                      <a:endParaRPr lang="zh-CN" sz="1800" kern="100">
                        <a:effectLst/>
                        <a:latin typeface="+mj-ea"/>
                        <a:ea typeface="+mj-ea"/>
                        <a:cs typeface="Times New Roman" panose="02020603050405020304" pitchFamily="18" charset="0"/>
                      </a:endParaRPr>
                    </a:p>
                  </a:txBody>
                  <a:tcPr marL="51435" marR="51435" marT="0" marB="0" anchor="ctr"/>
                </a:tc>
              </a:tr>
              <a:tr h="280056">
                <a:tc>
                  <a:txBody>
                    <a:bodyPr/>
                    <a:lstStyle/>
                    <a:p>
                      <a:pPr algn="just">
                        <a:spcAft>
                          <a:spcPts val="0"/>
                        </a:spcAft>
                      </a:pPr>
                      <a:r>
                        <a:rPr lang="zh-CN" sz="1800" kern="100">
                          <a:effectLst/>
                          <a:latin typeface="+mj-ea"/>
                          <a:ea typeface="+mj-ea"/>
                        </a:rPr>
                        <a:t>用例描述</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just">
                        <a:spcAft>
                          <a:spcPts val="0"/>
                        </a:spcAft>
                      </a:pPr>
                      <a:r>
                        <a:rPr lang="zh-CN" sz="1800" kern="100">
                          <a:effectLst/>
                          <a:latin typeface="+mj-ea"/>
                          <a:ea typeface="+mj-ea"/>
                        </a:rPr>
                        <a:t>省队用户填写报名运动员信息提交报名信息</a:t>
                      </a:r>
                      <a:endParaRPr lang="zh-CN" sz="1800" kern="100">
                        <a:effectLst/>
                        <a:latin typeface="+mj-ea"/>
                        <a:ea typeface="+mj-ea"/>
                        <a:cs typeface="Times New Roman" panose="02020603050405020304" pitchFamily="18" charset="0"/>
                      </a:endParaRPr>
                    </a:p>
                  </a:txBody>
                  <a:tcPr marL="51435" marR="51435" marT="0" marB="0" anchor="ctr"/>
                </a:tc>
              </a:tr>
              <a:tr h="280056">
                <a:tc>
                  <a:txBody>
                    <a:bodyPr/>
                    <a:lstStyle/>
                    <a:p>
                      <a:pPr algn="just">
                        <a:spcAft>
                          <a:spcPts val="0"/>
                        </a:spcAft>
                      </a:pPr>
                      <a:r>
                        <a:rPr lang="zh-CN" sz="1800" kern="100">
                          <a:effectLst/>
                          <a:latin typeface="+mj-ea"/>
                          <a:ea typeface="+mj-ea"/>
                        </a:rPr>
                        <a:t>参与者</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just">
                        <a:spcAft>
                          <a:spcPts val="0"/>
                        </a:spcAft>
                      </a:pPr>
                      <a:r>
                        <a:rPr lang="zh-CN" sz="1800" kern="100">
                          <a:effectLst/>
                          <a:latin typeface="+mj-ea"/>
                          <a:ea typeface="+mj-ea"/>
                        </a:rPr>
                        <a:t>省队用户</a:t>
                      </a:r>
                      <a:endParaRPr lang="zh-CN" sz="1800" kern="100">
                        <a:effectLst/>
                        <a:latin typeface="+mj-ea"/>
                        <a:ea typeface="+mj-ea"/>
                        <a:cs typeface="Times New Roman" panose="02020603050405020304" pitchFamily="18" charset="0"/>
                      </a:endParaRPr>
                    </a:p>
                  </a:txBody>
                  <a:tcPr marL="51435" marR="51435" marT="0" marB="0" anchor="ctr"/>
                </a:tc>
              </a:tr>
              <a:tr h="280056">
                <a:tc>
                  <a:txBody>
                    <a:bodyPr/>
                    <a:lstStyle/>
                    <a:p>
                      <a:pPr algn="just">
                        <a:spcAft>
                          <a:spcPts val="0"/>
                        </a:spcAft>
                      </a:pPr>
                      <a:r>
                        <a:rPr lang="zh-CN" sz="1800" kern="100">
                          <a:effectLst/>
                          <a:latin typeface="+mj-ea"/>
                          <a:ea typeface="+mj-ea"/>
                        </a:rPr>
                        <a:t>前置条件</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just">
                        <a:spcAft>
                          <a:spcPts val="0"/>
                        </a:spcAft>
                      </a:pPr>
                      <a:r>
                        <a:rPr lang="zh-CN" sz="1800" kern="100">
                          <a:effectLst/>
                          <a:latin typeface="+mj-ea"/>
                          <a:ea typeface="+mj-ea"/>
                        </a:rPr>
                        <a:t>浏览赛事信息点击报名</a:t>
                      </a:r>
                      <a:endParaRPr lang="zh-CN" sz="1800" kern="100">
                        <a:effectLst/>
                        <a:latin typeface="+mj-ea"/>
                        <a:ea typeface="+mj-ea"/>
                        <a:cs typeface="Times New Roman" panose="02020603050405020304" pitchFamily="18" charset="0"/>
                      </a:endParaRPr>
                    </a:p>
                  </a:txBody>
                  <a:tcPr marL="51435" marR="51435" marT="0" marB="0" anchor="ctr"/>
                </a:tc>
              </a:tr>
              <a:tr h="1633269">
                <a:tc>
                  <a:txBody>
                    <a:bodyPr/>
                    <a:lstStyle/>
                    <a:p>
                      <a:pPr algn="just">
                        <a:spcAft>
                          <a:spcPts val="0"/>
                        </a:spcAft>
                      </a:pPr>
                      <a:r>
                        <a:rPr lang="zh-CN" sz="1800" kern="100">
                          <a:effectLst/>
                          <a:latin typeface="+mj-ea"/>
                          <a:ea typeface="+mj-ea"/>
                        </a:rPr>
                        <a:t>基本路径</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marL="342900" lvl="0" indent="-342900" algn="just">
                        <a:spcAft>
                          <a:spcPts val="0"/>
                        </a:spcAft>
                        <a:buFont typeface="+mj-lt"/>
                        <a:buAutoNum type="arabicPeriod"/>
                      </a:pPr>
                      <a:r>
                        <a:rPr lang="zh-CN" sz="1800" kern="100" dirty="0">
                          <a:effectLst/>
                          <a:latin typeface="+mj-ea"/>
                          <a:ea typeface="+mj-ea"/>
                        </a:rPr>
                        <a:t>点击“新增人员报名”</a:t>
                      </a:r>
                      <a:endParaRPr lang="en-US" altLang="zh-CN" sz="1800" kern="100" dirty="0">
                        <a:effectLst/>
                        <a:latin typeface="+mj-ea"/>
                        <a:ea typeface="+mj-ea"/>
                      </a:endParaRPr>
                    </a:p>
                    <a:p>
                      <a:pPr marL="342900" lvl="0" indent="-342900" algn="just">
                        <a:spcAft>
                          <a:spcPts val="0"/>
                        </a:spcAft>
                        <a:buFont typeface="+mj-lt"/>
                        <a:buAutoNum type="arabicPeriod"/>
                      </a:pPr>
                      <a:r>
                        <a:rPr lang="zh-CN" altLang="en-US" sz="1800" kern="100" dirty="0">
                          <a:effectLst/>
                          <a:latin typeface="+mj-ea"/>
                          <a:ea typeface="+mj-ea"/>
                        </a:rPr>
                        <a:t>显示新增人员报名界面</a:t>
                      </a:r>
                      <a:endParaRPr lang="zh-CN" sz="1800" kern="100" dirty="0">
                        <a:effectLst/>
                        <a:latin typeface="+mj-ea"/>
                        <a:ea typeface="+mj-ea"/>
                      </a:endParaRPr>
                    </a:p>
                    <a:p>
                      <a:pPr marL="342900" lvl="0" indent="-342900" algn="just">
                        <a:spcAft>
                          <a:spcPts val="0"/>
                        </a:spcAft>
                        <a:buFont typeface="+mj-lt"/>
                        <a:buAutoNum type="arabicPeriod"/>
                      </a:pPr>
                      <a:r>
                        <a:rPr lang="zh-CN" sz="1800" kern="100" dirty="0">
                          <a:effectLst/>
                          <a:latin typeface="+mj-ea"/>
                          <a:ea typeface="+mj-ea"/>
                        </a:rPr>
                        <a:t>输入参赛人员信息（姓名，性别，年龄，赛事名称，参赛单位，运动员注册号，竞赛项目名称，备注）</a:t>
                      </a:r>
                      <a:endParaRPr lang="zh-CN" sz="1800" kern="100" dirty="0">
                        <a:effectLst/>
                        <a:latin typeface="+mj-ea"/>
                        <a:ea typeface="+mj-ea"/>
                      </a:endParaRPr>
                    </a:p>
                    <a:p>
                      <a:pPr marL="342900" lvl="0" indent="-342900" algn="just">
                        <a:spcAft>
                          <a:spcPts val="0"/>
                        </a:spcAft>
                        <a:buFont typeface="+mj-lt"/>
                        <a:buAutoNum type="arabicPeriod"/>
                      </a:pPr>
                      <a:r>
                        <a:rPr lang="zh-CN" sz="1800" kern="100" dirty="0">
                          <a:effectLst/>
                          <a:latin typeface="+mj-ea"/>
                          <a:ea typeface="+mj-ea"/>
                        </a:rPr>
                        <a:t>点击“报名提交”</a:t>
                      </a:r>
                      <a:endParaRPr lang="zh-CN" sz="1800" kern="100" dirty="0">
                        <a:effectLst/>
                        <a:latin typeface="+mj-ea"/>
                        <a:ea typeface="+mj-ea"/>
                      </a:endParaRPr>
                    </a:p>
                    <a:p>
                      <a:pPr marL="342900" lvl="0" indent="-342900" algn="just">
                        <a:spcAft>
                          <a:spcPts val="0"/>
                        </a:spcAft>
                        <a:buFont typeface="+mj-lt"/>
                        <a:buAutoNum type="arabicPeriod"/>
                      </a:pPr>
                      <a:r>
                        <a:rPr lang="zh-CN" sz="1800" kern="100" dirty="0">
                          <a:effectLst/>
                          <a:latin typeface="+mj-ea"/>
                          <a:ea typeface="+mj-ea"/>
                        </a:rPr>
                        <a:t>显示已有报名人信息，报名成功。</a:t>
                      </a:r>
                      <a:endParaRPr lang="zh-CN" sz="1800" kern="100" dirty="0">
                        <a:effectLst/>
                        <a:latin typeface="+mj-ea"/>
                        <a:ea typeface="+mj-ea"/>
                        <a:cs typeface="Times New Roman" panose="02020603050405020304" pitchFamily="18" charset="0"/>
                      </a:endParaRPr>
                    </a:p>
                  </a:txBody>
                  <a:tcPr marL="51435" marR="51435" marT="0" marB="0" anchor="ctr"/>
                </a:tc>
              </a:tr>
              <a:tr h="280056">
                <a:tc>
                  <a:txBody>
                    <a:bodyPr/>
                    <a:lstStyle/>
                    <a:p>
                      <a:pPr algn="just">
                        <a:spcAft>
                          <a:spcPts val="0"/>
                        </a:spcAft>
                      </a:pPr>
                      <a:r>
                        <a:rPr lang="zh-CN" sz="1800" kern="100">
                          <a:effectLst/>
                          <a:latin typeface="+mj-ea"/>
                          <a:ea typeface="+mj-ea"/>
                        </a:rPr>
                        <a:t>其他路径</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just">
                        <a:spcAft>
                          <a:spcPts val="0"/>
                        </a:spcAft>
                      </a:pPr>
                      <a:r>
                        <a:rPr lang="zh-CN" sz="1800" kern="100">
                          <a:effectLst/>
                          <a:latin typeface="+mj-ea"/>
                          <a:ea typeface="+mj-ea"/>
                        </a:rPr>
                        <a:t>无</a:t>
                      </a:r>
                      <a:endParaRPr lang="zh-CN" sz="1800" kern="100">
                        <a:effectLst/>
                        <a:latin typeface="+mj-ea"/>
                        <a:ea typeface="+mj-ea"/>
                        <a:cs typeface="Times New Roman" panose="02020603050405020304" pitchFamily="18" charset="0"/>
                      </a:endParaRPr>
                    </a:p>
                  </a:txBody>
                  <a:tcPr marL="51435" marR="51435" marT="0" marB="0" anchor="ctr"/>
                </a:tc>
              </a:tr>
              <a:tr h="280056">
                <a:tc>
                  <a:txBody>
                    <a:bodyPr/>
                    <a:lstStyle/>
                    <a:p>
                      <a:pPr algn="just">
                        <a:spcAft>
                          <a:spcPts val="0"/>
                        </a:spcAft>
                      </a:pPr>
                      <a:r>
                        <a:rPr lang="zh-CN" sz="1800" kern="100">
                          <a:effectLst/>
                          <a:latin typeface="+mj-ea"/>
                          <a:ea typeface="+mj-ea"/>
                        </a:rPr>
                        <a:t>异常事件</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just">
                        <a:spcAft>
                          <a:spcPts val="0"/>
                        </a:spcAft>
                      </a:pPr>
                      <a:r>
                        <a:rPr lang="zh-CN" sz="1800" kern="100">
                          <a:effectLst/>
                          <a:latin typeface="+mj-ea"/>
                          <a:ea typeface="+mj-ea"/>
                        </a:rPr>
                        <a:t>无</a:t>
                      </a:r>
                      <a:endParaRPr lang="zh-CN" sz="1800" kern="100">
                        <a:effectLst/>
                        <a:latin typeface="+mj-ea"/>
                        <a:ea typeface="+mj-ea"/>
                        <a:cs typeface="Times New Roman" panose="02020603050405020304" pitchFamily="18" charset="0"/>
                      </a:endParaRPr>
                    </a:p>
                  </a:txBody>
                  <a:tcPr marL="51435" marR="51435" marT="0" marB="0" anchor="ctr"/>
                </a:tc>
              </a:tr>
              <a:tr h="280056">
                <a:tc>
                  <a:txBody>
                    <a:bodyPr/>
                    <a:lstStyle/>
                    <a:p>
                      <a:pPr algn="just">
                        <a:spcAft>
                          <a:spcPts val="0"/>
                        </a:spcAft>
                      </a:pPr>
                      <a:r>
                        <a:rPr lang="zh-CN" sz="1800" kern="100">
                          <a:effectLst/>
                          <a:latin typeface="+mj-ea"/>
                          <a:ea typeface="+mj-ea"/>
                        </a:rPr>
                        <a:t>后置条件</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just">
                        <a:spcAft>
                          <a:spcPts val="0"/>
                        </a:spcAft>
                      </a:pPr>
                      <a:r>
                        <a:rPr lang="zh-CN" sz="1800" kern="100" dirty="0">
                          <a:effectLst/>
                          <a:latin typeface="+mj-ea"/>
                          <a:ea typeface="+mj-ea"/>
                        </a:rPr>
                        <a:t>无</a:t>
                      </a:r>
                      <a:endParaRPr lang="zh-CN" sz="1800" kern="100" dirty="0">
                        <a:effectLst/>
                        <a:latin typeface="+mj-ea"/>
                        <a:ea typeface="+mj-ea"/>
                        <a:cs typeface="Times New Roman" panose="02020603050405020304" pitchFamily="18" charset="0"/>
                      </a:endParaRPr>
                    </a:p>
                  </a:txBody>
                  <a:tcPr marL="51435" marR="51435" marT="0"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spcAft>
                <a:spcPts val="0"/>
              </a:spcAft>
            </a:pPr>
            <a:r>
              <a:rPr lang="zh-CN" altLang="en-US" dirty="0"/>
              <a:t>网上报名系统的用例描述</a:t>
            </a:r>
            <a:r>
              <a:rPr lang="en-US" altLang="zh-CN" dirty="0"/>
              <a:t>—</a:t>
            </a:r>
            <a:r>
              <a:rPr lang="zh-CN" altLang="en-US" dirty="0"/>
              <a:t>修改用户</a:t>
            </a:r>
            <a:endParaRPr lang="zh-CN" altLang="en-US" dirty="0"/>
          </a:p>
        </p:txBody>
      </p:sp>
      <p:sp>
        <p:nvSpPr>
          <p:cNvPr id="2" name="日期占位符 1"/>
          <p:cNvSpPr>
            <a:spLocks noGrp="1"/>
          </p:cNvSpPr>
          <p:nvPr>
            <p:ph type="dt" sz="half" idx="10"/>
          </p:nvPr>
        </p:nvSpPr>
        <p:spPr/>
        <p:txBody>
          <a:bodyPr/>
          <a:lstStyle/>
          <a:p>
            <a:pPr>
              <a:spcAft>
                <a:spcPts val="0"/>
              </a:spcAft>
            </a:pPr>
            <a:fld id="{96E8E87D-97B1-472F-9375-EA4BEA791390}" type="datetime1">
              <a:rPr lang="zh-CN" altLang="en-US" smtClean="0"/>
            </a:fld>
            <a:endParaRPr lang="zh-CN" altLang="en-US" dirty="0"/>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5" name="灯片编号占位符 4"/>
          <p:cNvSpPr>
            <a:spLocks noGrp="1"/>
          </p:cNvSpPr>
          <p:nvPr>
            <p:ph type="sldNum" sz="quarter" idx="12"/>
          </p:nvPr>
        </p:nvSpPr>
        <p:spPr/>
        <p:txBody>
          <a:bodyPr/>
          <a:lstStyle/>
          <a:p>
            <a:pPr>
              <a:spcAft>
                <a:spcPts val="0"/>
              </a:spcAft>
            </a:pPr>
            <a:fld id="{0C913308-F349-4B6D-A68A-DD1791B4A57B}" type="slidenum">
              <a:rPr lang="zh-CN" altLang="en-US" smtClean="0"/>
            </a:fld>
            <a:endParaRPr lang="zh-CN" altLang="en-US" dirty="0"/>
          </a:p>
        </p:txBody>
      </p:sp>
      <p:graphicFrame>
        <p:nvGraphicFramePr>
          <p:cNvPr id="4" name="表格 3"/>
          <p:cNvGraphicFramePr>
            <a:graphicFrameLocks noGrp="1"/>
          </p:cNvGraphicFramePr>
          <p:nvPr/>
        </p:nvGraphicFramePr>
        <p:xfrm>
          <a:off x="1284542" y="781413"/>
          <a:ext cx="7208583" cy="4114800"/>
        </p:xfrm>
        <a:graphic>
          <a:graphicData uri="http://schemas.openxmlformats.org/drawingml/2006/table">
            <a:tbl>
              <a:tblPr firstRow="1" firstCol="1" bandRow="1">
                <a:tableStyleId>{5C22544A-7EE6-4342-B048-85BDC9FD1C3A}</a:tableStyleId>
              </a:tblPr>
              <a:tblGrid>
                <a:gridCol w="1203069"/>
                <a:gridCol w="6005514"/>
              </a:tblGrid>
              <a:tr h="258120">
                <a:tc>
                  <a:txBody>
                    <a:bodyPr/>
                    <a:lstStyle/>
                    <a:p>
                      <a:pPr algn="l">
                        <a:spcAft>
                          <a:spcPts val="0"/>
                        </a:spcAft>
                      </a:pPr>
                      <a:r>
                        <a:rPr lang="zh-CN" sz="1800" kern="100" dirty="0">
                          <a:effectLst/>
                          <a:latin typeface="+mj-ea"/>
                          <a:ea typeface="+mj-ea"/>
                        </a:rPr>
                        <a:t>用例编号</a:t>
                      </a:r>
                      <a:endParaRPr lang="zh-CN" sz="1800" kern="100" dirty="0">
                        <a:effectLst/>
                        <a:latin typeface="+mj-ea"/>
                        <a:ea typeface="+mj-ea"/>
                        <a:cs typeface="Times New Roman" panose="02020603050405020304" pitchFamily="18" charset="0"/>
                      </a:endParaRPr>
                    </a:p>
                  </a:txBody>
                  <a:tcPr marL="51435" marR="51435" marT="0" marB="0" anchor="ctr"/>
                </a:tc>
                <a:tc>
                  <a:txBody>
                    <a:bodyPr/>
                    <a:lstStyle/>
                    <a:p>
                      <a:pPr algn="l">
                        <a:spcAft>
                          <a:spcPts val="0"/>
                        </a:spcAft>
                      </a:pPr>
                      <a:r>
                        <a:rPr lang="en-US" sz="1800" kern="100">
                          <a:effectLst/>
                          <a:latin typeface="+mj-ea"/>
                          <a:ea typeface="+mj-ea"/>
                        </a:rPr>
                        <a:t>ORS_007</a:t>
                      </a:r>
                      <a:endParaRPr lang="zh-CN" sz="1800" kern="100">
                        <a:effectLst/>
                        <a:latin typeface="+mj-ea"/>
                        <a:ea typeface="+mj-ea"/>
                        <a:cs typeface="Times New Roman" panose="02020603050405020304" pitchFamily="18" charset="0"/>
                      </a:endParaRPr>
                    </a:p>
                  </a:txBody>
                  <a:tcPr marL="51435" marR="51435" marT="0" marB="0" anchor="ctr"/>
                </a:tc>
              </a:tr>
              <a:tr h="258120">
                <a:tc>
                  <a:txBody>
                    <a:bodyPr/>
                    <a:lstStyle/>
                    <a:p>
                      <a:pPr algn="l">
                        <a:spcAft>
                          <a:spcPts val="0"/>
                        </a:spcAft>
                      </a:pPr>
                      <a:r>
                        <a:rPr lang="zh-CN" sz="1800" kern="100">
                          <a:effectLst/>
                          <a:latin typeface="+mj-ea"/>
                          <a:ea typeface="+mj-ea"/>
                        </a:rPr>
                        <a:t>用例名</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l">
                        <a:spcAft>
                          <a:spcPts val="0"/>
                        </a:spcAft>
                      </a:pPr>
                      <a:r>
                        <a:rPr lang="zh-CN" sz="1800" kern="100">
                          <a:effectLst/>
                          <a:latin typeface="+mj-ea"/>
                          <a:ea typeface="+mj-ea"/>
                        </a:rPr>
                        <a:t>修改用户</a:t>
                      </a:r>
                      <a:endParaRPr lang="zh-CN" sz="1800" kern="100">
                        <a:effectLst/>
                        <a:latin typeface="+mj-ea"/>
                        <a:ea typeface="+mj-ea"/>
                        <a:cs typeface="Times New Roman" panose="02020603050405020304" pitchFamily="18" charset="0"/>
                      </a:endParaRPr>
                    </a:p>
                  </a:txBody>
                  <a:tcPr marL="51435" marR="51435" marT="0" marB="0" anchor="ctr"/>
                </a:tc>
              </a:tr>
              <a:tr h="258120">
                <a:tc>
                  <a:txBody>
                    <a:bodyPr/>
                    <a:lstStyle/>
                    <a:p>
                      <a:pPr algn="l">
                        <a:spcAft>
                          <a:spcPts val="0"/>
                        </a:spcAft>
                      </a:pPr>
                      <a:r>
                        <a:rPr lang="zh-CN" sz="1800" kern="100">
                          <a:effectLst/>
                          <a:latin typeface="+mj-ea"/>
                          <a:ea typeface="+mj-ea"/>
                        </a:rPr>
                        <a:t>用例描述</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l">
                        <a:spcAft>
                          <a:spcPts val="0"/>
                        </a:spcAft>
                      </a:pPr>
                      <a:r>
                        <a:rPr lang="zh-CN" sz="1800" kern="100" dirty="0">
                          <a:effectLst/>
                          <a:latin typeface="+mj-ea"/>
                          <a:ea typeface="+mj-ea"/>
                        </a:rPr>
                        <a:t>管理员修改省队用户信息</a:t>
                      </a:r>
                      <a:endParaRPr lang="zh-CN" sz="1800" kern="100" dirty="0">
                        <a:effectLst/>
                        <a:latin typeface="+mj-ea"/>
                        <a:ea typeface="+mj-ea"/>
                        <a:cs typeface="Times New Roman" panose="02020603050405020304" pitchFamily="18" charset="0"/>
                      </a:endParaRPr>
                    </a:p>
                  </a:txBody>
                  <a:tcPr marL="51435" marR="51435" marT="0" marB="0" anchor="ctr"/>
                </a:tc>
              </a:tr>
              <a:tr h="258120">
                <a:tc>
                  <a:txBody>
                    <a:bodyPr/>
                    <a:lstStyle/>
                    <a:p>
                      <a:pPr algn="l">
                        <a:spcAft>
                          <a:spcPts val="0"/>
                        </a:spcAft>
                      </a:pPr>
                      <a:r>
                        <a:rPr lang="zh-CN" sz="1800" kern="100">
                          <a:effectLst/>
                          <a:latin typeface="+mj-ea"/>
                          <a:ea typeface="+mj-ea"/>
                        </a:rPr>
                        <a:t>参与者</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l">
                        <a:spcAft>
                          <a:spcPts val="0"/>
                        </a:spcAft>
                      </a:pPr>
                      <a:r>
                        <a:rPr lang="zh-CN" sz="1800" kern="100">
                          <a:effectLst/>
                          <a:latin typeface="+mj-ea"/>
                          <a:ea typeface="+mj-ea"/>
                        </a:rPr>
                        <a:t>赛艇协会管理员</a:t>
                      </a:r>
                      <a:endParaRPr lang="zh-CN" sz="1800" kern="100">
                        <a:effectLst/>
                        <a:latin typeface="+mj-ea"/>
                        <a:ea typeface="+mj-ea"/>
                        <a:cs typeface="Times New Roman" panose="02020603050405020304" pitchFamily="18" charset="0"/>
                      </a:endParaRPr>
                    </a:p>
                  </a:txBody>
                  <a:tcPr marL="51435" marR="51435" marT="0" marB="0" anchor="ctr"/>
                </a:tc>
              </a:tr>
              <a:tr h="258120">
                <a:tc>
                  <a:txBody>
                    <a:bodyPr/>
                    <a:lstStyle/>
                    <a:p>
                      <a:pPr algn="l">
                        <a:spcAft>
                          <a:spcPts val="0"/>
                        </a:spcAft>
                      </a:pPr>
                      <a:r>
                        <a:rPr lang="zh-CN" sz="1800" kern="100">
                          <a:effectLst/>
                          <a:latin typeface="+mj-ea"/>
                          <a:ea typeface="+mj-ea"/>
                        </a:rPr>
                        <a:t>前置条件</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l">
                        <a:spcAft>
                          <a:spcPts val="0"/>
                        </a:spcAft>
                      </a:pPr>
                      <a:r>
                        <a:rPr lang="zh-CN" sz="1800" kern="100">
                          <a:effectLst/>
                          <a:latin typeface="+mj-ea"/>
                          <a:ea typeface="+mj-ea"/>
                        </a:rPr>
                        <a:t>点击“用户管理”</a:t>
                      </a:r>
                      <a:endParaRPr lang="zh-CN" sz="1800" kern="100">
                        <a:effectLst/>
                        <a:latin typeface="+mj-ea"/>
                        <a:ea typeface="+mj-ea"/>
                        <a:cs typeface="Times New Roman" panose="02020603050405020304" pitchFamily="18" charset="0"/>
                      </a:endParaRPr>
                    </a:p>
                  </a:txBody>
                  <a:tcPr marL="51435" marR="51435" marT="0" marB="0" anchor="ctr"/>
                </a:tc>
              </a:tr>
              <a:tr h="1548717">
                <a:tc>
                  <a:txBody>
                    <a:bodyPr/>
                    <a:lstStyle/>
                    <a:p>
                      <a:pPr algn="l">
                        <a:spcAft>
                          <a:spcPts val="0"/>
                        </a:spcAft>
                      </a:pPr>
                      <a:r>
                        <a:rPr lang="zh-CN" sz="1800" kern="100" dirty="0">
                          <a:effectLst/>
                          <a:latin typeface="+mj-ea"/>
                          <a:ea typeface="+mj-ea"/>
                        </a:rPr>
                        <a:t>基本路径</a:t>
                      </a:r>
                      <a:endParaRPr lang="zh-CN" sz="1800" kern="100" dirty="0">
                        <a:effectLst/>
                        <a:latin typeface="+mj-ea"/>
                        <a:ea typeface="+mj-ea"/>
                        <a:cs typeface="Times New Roman" panose="02020603050405020304" pitchFamily="18" charset="0"/>
                      </a:endParaRPr>
                    </a:p>
                  </a:txBody>
                  <a:tcPr marL="51435" marR="51435" marT="0" marB="0" anchor="ctr"/>
                </a:tc>
                <a:tc>
                  <a:txBody>
                    <a:bodyPr/>
                    <a:lstStyle/>
                    <a:p>
                      <a:pPr marL="342900" lvl="0" indent="-342900" algn="l">
                        <a:spcAft>
                          <a:spcPts val="0"/>
                        </a:spcAft>
                        <a:buFont typeface="+mj-lt"/>
                        <a:buAutoNum type="arabicPeriod"/>
                      </a:pPr>
                      <a:r>
                        <a:rPr lang="zh-CN" sz="1800" kern="100" dirty="0">
                          <a:effectLst/>
                          <a:latin typeface="+mj-ea"/>
                          <a:ea typeface="+mj-ea"/>
                        </a:rPr>
                        <a:t>选中需要修改的用户</a:t>
                      </a:r>
                      <a:endParaRPr lang="zh-CN" sz="1800" kern="100" dirty="0">
                        <a:effectLst/>
                        <a:latin typeface="+mj-ea"/>
                        <a:ea typeface="+mj-ea"/>
                      </a:endParaRPr>
                    </a:p>
                    <a:p>
                      <a:pPr marL="342900" lvl="0" indent="-342900" algn="l">
                        <a:spcAft>
                          <a:spcPts val="0"/>
                        </a:spcAft>
                        <a:buFont typeface="+mj-lt"/>
                        <a:buAutoNum type="arabicPeriod"/>
                      </a:pPr>
                      <a:r>
                        <a:rPr lang="zh-CN" sz="1800" kern="100" dirty="0">
                          <a:effectLst/>
                          <a:latin typeface="+mj-ea"/>
                          <a:ea typeface="+mj-ea"/>
                        </a:rPr>
                        <a:t>点击“修改”</a:t>
                      </a:r>
                      <a:endParaRPr lang="en-US" altLang="zh-CN" sz="1800" kern="100" dirty="0">
                        <a:effectLst/>
                        <a:latin typeface="+mj-ea"/>
                        <a:ea typeface="+mj-ea"/>
                      </a:endParaRPr>
                    </a:p>
                    <a:p>
                      <a:pPr marL="342900" marR="0" lvl="0" indent="-342900" algn="l" defTabSz="685800" rtl="0" eaLnBrk="1" fontAlgn="auto" latinLnBrk="0" hangingPunct="1">
                        <a:lnSpc>
                          <a:spcPct val="100000"/>
                        </a:lnSpc>
                        <a:spcBef>
                          <a:spcPts val="0"/>
                        </a:spcBef>
                        <a:spcAft>
                          <a:spcPts val="0"/>
                        </a:spcAft>
                        <a:buClrTx/>
                        <a:buSzTx/>
                        <a:buFont typeface="+mj-lt"/>
                        <a:buAutoNum type="arabicPeriod"/>
                        <a:defRPr/>
                      </a:pPr>
                      <a:r>
                        <a:rPr lang="zh-CN" altLang="en-US" sz="1800" kern="100" dirty="0">
                          <a:effectLst/>
                          <a:latin typeface="+mj-ea"/>
                          <a:ea typeface="+mj-ea"/>
                        </a:rPr>
                        <a:t>显示用户信息详情</a:t>
                      </a:r>
                      <a:r>
                        <a:rPr lang="zh-CN" altLang="zh-CN" sz="1800" kern="100" dirty="0">
                          <a:effectLst/>
                          <a:latin typeface="+mj-ea"/>
                          <a:ea typeface="+mj-ea"/>
                        </a:rPr>
                        <a:t>（用户名，真实姓名，密码，提示问题，答案，所属单位，联系电话，用户类型，备注）</a:t>
                      </a:r>
                      <a:endParaRPr lang="zh-CN" altLang="zh-CN" sz="1800" kern="100" dirty="0">
                        <a:effectLst/>
                        <a:latin typeface="+mj-ea"/>
                        <a:ea typeface="+mj-ea"/>
                      </a:endParaRPr>
                    </a:p>
                    <a:p>
                      <a:pPr marL="342900" lvl="0" indent="-342900" algn="l">
                        <a:spcAft>
                          <a:spcPts val="0"/>
                        </a:spcAft>
                        <a:buFont typeface="+mj-lt"/>
                        <a:buAutoNum type="arabicPeriod"/>
                      </a:pPr>
                      <a:r>
                        <a:rPr lang="zh-CN" altLang="zh-CN" sz="1800" kern="100" dirty="0">
                          <a:solidFill>
                            <a:schemeClr val="dk1"/>
                          </a:solidFill>
                          <a:effectLst/>
                          <a:latin typeface="+mj-ea"/>
                          <a:ea typeface="+mn-ea"/>
                          <a:cs typeface="+mn-cs"/>
                        </a:rPr>
                        <a:t>修改用户信息</a:t>
                      </a:r>
                      <a:endParaRPr lang="zh-CN" sz="1800" kern="100" dirty="0">
                        <a:effectLst/>
                        <a:latin typeface="+mj-ea"/>
                        <a:ea typeface="+mj-ea"/>
                      </a:endParaRPr>
                    </a:p>
                    <a:p>
                      <a:pPr marL="342900" lvl="0" indent="-342900" algn="l">
                        <a:spcAft>
                          <a:spcPts val="0"/>
                        </a:spcAft>
                        <a:buFont typeface="+mj-lt"/>
                        <a:buAutoNum type="arabicPeriod"/>
                      </a:pPr>
                      <a:r>
                        <a:rPr lang="en-US" altLang="zh-CN" sz="1800" kern="100" dirty="0">
                          <a:effectLst/>
                          <a:latin typeface="+mj-ea"/>
                          <a:ea typeface="+mj-ea"/>
                        </a:rPr>
                        <a:t>a) </a:t>
                      </a:r>
                      <a:r>
                        <a:rPr lang="zh-CN" sz="1800" kern="100" dirty="0">
                          <a:effectLst/>
                          <a:latin typeface="+mj-ea"/>
                          <a:ea typeface="+mj-ea"/>
                        </a:rPr>
                        <a:t>点击“确定”</a:t>
                      </a:r>
                      <a:endParaRPr lang="zh-CN" sz="1800" kern="100" dirty="0">
                        <a:effectLst/>
                        <a:latin typeface="+mj-ea"/>
                        <a:ea typeface="+mj-ea"/>
                      </a:endParaRPr>
                    </a:p>
                    <a:p>
                      <a:pPr marL="342900" lvl="0" indent="-342900" algn="l">
                        <a:spcAft>
                          <a:spcPts val="0"/>
                        </a:spcAft>
                        <a:buFont typeface="+mj-lt"/>
                        <a:buAutoNum type="arabicPeriod"/>
                      </a:pPr>
                      <a:r>
                        <a:rPr lang="zh-CN" sz="1800" kern="100" dirty="0">
                          <a:effectLst/>
                          <a:latin typeface="+mj-ea"/>
                          <a:ea typeface="+mj-ea"/>
                        </a:rPr>
                        <a:t>显示修改成功</a:t>
                      </a:r>
                      <a:endParaRPr lang="zh-CN" sz="1800" kern="100" dirty="0">
                        <a:effectLst/>
                        <a:latin typeface="+mj-ea"/>
                        <a:ea typeface="+mj-ea"/>
                        <a:cs typeface="Times New Roman" panose="02020603050405020304" pitchFamily="18" charset="0"/>
                      </a:endParaRPr>
                    </a:p>
                  </a:txBody>
                  <a:tcPr marL="51435" marR="51435" marT="0" marB="0" anchor="ctr"/>
                </a:tc>
              </a:tr>
              <a:tr h="258120">
                <a:tc>
                  <a:txBody>
                    <a:bodyPr/>
                    <a:lstStyle/>
                    <a:p>
                      <a:pPr algn="l">
                        <a:spcAft>
                          <a:spcPts val="0"/>
                        </a:spcAft>
                      </a:pPr>
                      <a:r>
                        <a:rPr lang="zh-CN" sz="1800" kern="100">
                          <a:effectLst/>
                          <a:latin typeface="+mj-ea"/>
                          <a:ea typeface="+mj-ea"/>
                        </a:rPr>
                        <a:t>其他路径</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l">
                        <a:spcAft>
                          <a:spcPts val="0"/>
                        </a:spcAft>
                      </a:pPr>
                      <a:r>
                        <a:rPr lang="en-US" sz="1800" kern="100" dirty="0">
                          <a:effectLst/>
                          <a:latin typeface="+mj-ea"/>
                          <a:ea typeface="+mj-ea"/>
                        </a:rPr>
                        <a:t>5 b</a:t>
                      </a:r>
                      <a:r>
                        <a:rPr lang="zh-CN" sz="1800" kern="100" dirty="0">
                          <a:effectLst/>
                          <a:latin typeface="+mj-ea"/>
                          <a:ea typeface="+mj-ea"/>
                        </a:rPr>
                        <a:t>）点击取消，返回到用户信息页面</a:t>
                      </a:r>
                      <a:endParaRPr lang="zh-CN" sz="1800" kern="100" dirty="0">
                        <a:effectLst/>
                        <a:latin typeface="+mj-ea"/>
                        <a:ea typeface="+mj-ea"/>
                        <a:cs typeface="Times New Roman" panose="02020603050405020304" pitchFamily="18" charset="0"/>
                      </a:endParaRPr>
                    </a:p>
                  </a:txBody>
                  <a:tcPr marL="51435" marR="51435" marT="0" marB="0" anchor="ctr"/>
                </a:tc>
              </a:tr>
              <a:tr h="258120">
                <a:tc>
                  <a:txBody>
                    <a:bodyPr/>
                    <a:lstStyle/>
                    <a:p>
                      <a:pPr algn="l">
                        <a:spcAft>
                          <a:spcPts val="0"/>
                        </a:spcAft>
                      </a:pPr>
                      <a:r>
                        <a:rPr lang="zh-CN" sz="1800" kern="100">
                          <a:effectLst/>
                          <a:latin typeface="+mj-ea"/>
                          <a:ea typeface="+mj-ea"/>
                        </a:rPr>
                        <a:t>异常事件</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l">
                        <a:spcAft>
                          <a:spcPts val="0"/>
                        </a:spcAft>
                      </a:pPr>
                      <a:r>
                        <a:rPr lang="zh-CN" sz="1800" kern="100">
                          <a:effectLst/>
                          <a:latin typeface="+mj-ea"/>
                          <a:ea typeface="+mj-ea"/>
                        </a:rPr>
                        <a:t>无</a:t>
                      </a:r>
                      <a:endParaRPr lang="zh-CN" sz="1800" kern="100">
                        <a:effectLst/>
                        <a:latin typeface="+mj-ea"/>
                        <a:ea typeface="+mj-ea"/>
                        <a:cs typeface="Times New Roman" panose="02020603050405020304" pitchFamily="18" charset="0"/>
                      </a:endParaRPr>
                    </a:p>
                  </a:txBody>
                  <a:tcPr marL="51435" marR="51435" marT="0" marB="0" anchor="ctr"/>
                </a:tc>
              </a:tr>
              <a:tr h="258120">
                <a:tc>
                  <a:txBody>
                    <a:bodyPr/>
                    <a:lstStyle/>
                    <a:p>
                      <a:pPr algn="l">
                        <a:spcAft>
                          <a:spcPts val="0"/>
                        </a:spcAft>
                      </a:pPr>
                      <a:r>
                        <a:rPr lang="zh-CN" sz="1800" kern="100">
                          <a:effectLst/>
                          <a:latin typeface="+mj-ea"/>
                          <a:ea typeface="+mj-ea"/>
                        </a:rPr>
                        <a:t>后置条件</a:t>
                      </a:r>
                      <a:endParaRPr lang="zh-CN" sz="1800" kern="100">
                        <a:effectLst/>
                        <a:latin typeface="+mj-ea"/>
                        <a:ea typeface="+mj-ea"/>
                        <a:cs typeface="Times New Roman" panose="02020603050405020304" pitchFamily="18" charset="0"/>
                      </a:endParaRPr>
                    </a:p>
                  </a:txBody>
                  <a:tcPr marL="51435" marR="51435" marT="0" marB="0" anchor="ctr"/>
                </a:tc>
                <a:tc>
                  <a:txBody>
                    <a:bodyPr/>
                    <a:lstStyle/>
                    <a:p>
                      <a:pPr algn="l">
                        <a:spcAft>
                          <a:spcPts val="0"/>
                        </a:spcAft>
                      </a:pPr>
                      <a:r>
                        <a:rPr lang="zh-CN" sz="1800" kern="100" dirty="0">
                          <a:effectLst/>
                          <a:latin typeface="+mj-ea"/>
                          <a:ea typeface="+mj-ea"/>
                        </a:rPr>
                        <a:t>无</a:t>
                      </a:r>
                      <a:endParaRPr lang="zh-CN" sz="1800" kern="100" dirty="0">
                        <a:effectLst/>
                        <a:latin typeface="+mj-ea"/>
                        <a:ea typeface="+mj-ea"/>
                        <a:cs typeface="Times New Roman" panose="02020603050405020304" pitchFamily="18" charset="0"/>
                      </a:endParaRPr>
                    </a:p>
                  </a:txBody>
                  <a:tcPr marL="51435" marR="51435" marT="0"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spcAft>
                <a:spcPts val="0"/>
              </a:spcAft>
            </a:pPr>
            <a:r>
              <a:rPr lang="zh-CN" altLang="en-US" dirty="0"/>
              <a:t>总结：建立</a:t>
            </a:r>
            <a:r>
              <a:rPr lang="en-US" altLang="zh-CN" dirty="0"/>
              <a:t>Use Case</a:t>
            </a:r>
            <a:r>
              <a:rPr lang="zh-CN" altLang="en-US" dirty="0"/>
              <a:t>模型的步骤</a:t>
            </a:r>
            <a:endParaRPr lang="zh-CN" altLang="en-US" dirty="0"/>
          </a:p>
        </p:txBody>
      </p:sp>
      <p:sp>
        <p:nvSpPr>
          <p:cNvPr id="7" name="内容占位符 6"/>
          <p:cNvSpPr>
            <a:spLocks noGrp="1"/>
          </p:cNvSpPr>
          <p:nvPr>
            <p:ph idx="1"/>
          </p:nvPr>
        </p:nvSpPr>
        <p:spPr/>
        <p:txBody>
          <a:bodyPr>
            <a:noAutofit/>
          </a:bodyPr>
          <a:lstStyle/>
          <a:p>
            <a:pPr marL="151130" indent="-514350">
              <a:buFont typeface="+mj-lt"/>
              <a:buAutoNum type="arabicPeriod"/>
            </a:pPr>
            <a:r>
              <a:rPr lang="zh-CN" altLang="en-US" sz="1600" dirty="0"/>
              <a:t>找出系统外部的参与者和外部系统，确定系统的边界和范围； </a:t>
            </a:r>
            <a:endParaRPr lang="en-US" altLang="zh-CN" sz="1600" dirty="0"/>
          </a:p>
          <a:p>
            <a:pPr marL="151130" indent="-514350">
              <a:buFont typeface="+mj-lt"/>
              <a:buAutoNum type="arabicPeriod"/>
            </a:pPr>
            <a:r>
              <a:rPr lang="zh-CN" altLang="en-US" sz="1600" dirty="0"/>
              <a:t>确定每一个参与者所期望的系统行为；</a:t>
            </a:r>
            <a:endParaRPr lang="en-US" altLang="zh-CN" sz="1600" dirty="0"/>
          </a:p>
          <a:p>
            <a:pPr marL="151130" indent="-514350">
              <a:buFont typeface="+mj-lt"/>
              <a:buAutoNum type="arabicPeriod"/>
            </a:pPr>
            <a:r>
              <a:rPr lang="zh-CN" altLang="en-US" sz="1600" dirty="0"/>
              <a:t>把这些系统行为命名为</a:t>
            </a:r>
            <a:r>
              <a:rPr lang="en-US" altLang="zh-CN" sz="1600" dirty="0"/>
              <a:t>Use Case</a:t>
            </a:r>
            <a:r>
              <a:rPr lang="zh-CN" altLang="en-US" sz="1600" dirty="0"/>
              <a:t>；</a:t>
            </a:r>
            <a:endParaRPr lang="en-US" altLang="zh-CN" sz="1600" dirty="0"/>
          </a:p>
          <a:p>
            <a:pPr marL="151130" indent="-514350">
              <a:buFont typeface="+mj-lt"/>
              <a:buAutoNum type="arabicPeriod"/>
            </a:pPr>
            <a:r>
              <a:rPr lang="zh-CN" altLang="en-US" sz="1600" dirty="0"/>
              <a:t>使用泛化、包含、扩展等关系处理系统行为的公共或变更部分；</a:t>
            </a:r>
            <a:endParaRPr lang="en-US" altLang="zh-CN" sz="1600" dirty="0"/>
          </a:p>
          <a:p>
            <a:pPr marL="151130" indent="-514350">
              <a:buFont typeface="+mj-lt"/>
              <a:buAutoNum type="arabicPeriod"/>
            </a:pPr>
            <a:r>
              <a:rPr lang="zh-CN" altLang="en-US" sz="1600" dirty="0"/>
              <a:t>编制每一个</a:t>
            </a:r>
            <a:r>
              <a:rPr lang="en-US" altLang="zh-CN" sz="1600" dirty="0"/>
              <a:t>Use Case</a:t>
            </a:r>
            <a:r>
              <a:rPr lang="zh-CN" altLang="en-US" sz="1600" dirty="0"/>
              <a:t>的脚本；</a:t>
            </a:r>
            <a:endParaRPr lang="en-US" altLang="zh-CN" sz="1600" dirty="0"/>
          </a:p>
          <a:p>
            <a:pPr marL="151130" indent="-514350">
              <a:buFont typeface="+mj-lt"/>
              <a:buAutoNum type="arabicPeriod"/>
            </a:pPr>
            <a:r>
              <a:rPr lang="zh-CN" altLang="en-US" sz="1600" dirty="0"/>
              <a:t>绘制</a:t>
            </a:r>
            <a:r>
              <a:rPr lang="en-US" altLang="zh-CN" sz="1600" dirty="0"/>
              <a:t>Use Case</a:t>
            </a:r>
            <a:r>
              <a:rPr lang="zh-CN" altLang="en-US" sz="1600" dirty="0"/>
              <a:t>图；</a:t>
            </a:r>
            <a:endParaRPr lang="en-US" altLang="zh-CN" sz="1600" dirty="0"/>
          </a:p>
          <a:p>
            <a:pPr marL="151130" indent="-514350">
              <a:buFont typeface="+mj-lt"/>
              <a:buAutoNum type="arabicPeriod"/>
            </a:pPr>
            <a:r>
              <a:rPr lang="zh-CN" altLang="en-US" sz="1600" dirty="0"/>
              <a:t>区分主事件流和异常情况的事件流，可以把表示异常情况的事件流作为单独的</a:t>
            </a:r>
            <a:r>
              <a:rPr lang="en-US" altLang="zh-CN" sz="1600" dirty="0"/>
              <a:t>Use Case</a:t>
            </a:r>
            <a:r>
              <a:rPr lang="zh-CN" altLang="en-US" sz="1600" dirty="0"/>
              <a:t>处理；</a:t>
            </a:r>
            <a:endParaRPr lang="en-US" altLang="zh-CN" sz="1600" dirty="0"/>
          </a:p>
          <a:p>
            <a:pPr marL="151130" indent="-514350">
              <a:buFont typeface="+mj-lt"/>
              <a:buAutoNum type="arabicPeriod"/>
            </a:pPr>
            <a:r>
              <a:rPr lang="zh-CN" altLang="en-US" sz="1600" dirty="0"/>
              <a:t>细化</a:t>
            </a:r>
            <a:r>
              <a:rPr lang="en-US" altLang="zh-CN" sz="1600" dirty="0"/>
              <a:t>Use Case</a:t>
            </a:r>
            <a:r>
              <a:rPr lang="zh-CN" altLang="en-US" sz="1600" dirty="0"/>
              <a:t>图，解决</a:t>
            </a:r>
            <a:r>
              <a:rPr lang="en-US" altLang="zh-CN" sz="1600" dirty="0"/>
              <a:t>Use Case</a:t>
            </a:r>
            <a:r>
              <a:rPr lang="zh-CN" altLang="en-US" sz="1600" dirty="0"/>
              <a:t>间的重复与冲突问题。 </a:t>
            </a:r>
            <a:endParaRPr lang="zh-CN" altLang="en-US" sz="1600" dirty="0"/>
          </a:p>
        </p:txBody>
      </p:sp>
      <p:sp>
        <p:nvSpPr>
          <p:cNvPr id="3" name="日期占位符 2"/>
          <p:cNvSpPr>
            <a:spLocks noGrp="1"/>
          </p:cNvSpPr>
          <p:nvPr>
            <p:ph type="dt" sz="half" idx="10"/>
          </p:nvPr>
        </p:nvSpPr>
        <p:spPr/>
        <p:txBody>
          <a:bodyPr/>
          <a:lstStyle/>
          <a:p>
            <a:pPr>
              <a:spcAft>
                <a:spcPts val="0"/>
              </a:spcAft>
            </a:pPr>
            <a:fld id="{8E0E2D15-13A9-48B6-A9F0-AB78CDBAE43F}" type="datetime1">
              <a:rPr lang="zh-CN" altLang="en-US" smtClean="0"/>
            </a:fld>
            <a:endParaRPr lang="zh-CN" altLang="en-US"/>
          </a:p>
        </p:txBody>
      </p:sp>
      <p:sp>
        <p:nvSpPr>
          <p:cNvPr id="4" name="页脚占位符 3"/>
          <p:cNvSpPr>
            <a:spLocks noGrp="1"/>
          </p:cNvSpPr>
          <p:nvPr>
            <p:ph type="ftr" sz="quarter" idx="11"/>
          </p:nvPr>
        </p:nvSpPr>
        <p:spPr/>
        <p:txBody>
          <a:bodyPr/>
          <a:lstStyle/>
          <a:p>
            <a:pPr>
              <a:spcAft>
                <a:spcPts val="0"/>
              </a:spcAft>
            </a:pPr>
            <a:r>
              <a:rPr lang="zh-CN" altLang="en-US"/>
              <a:t>软件工程</a:t>
            </a:r>
            <a:endParaRPr lang="zh-CN" altLang="en-US"/>
          </a:p>
        </p:txBody>
      </p:sp>
      <p:sp>
        <p:nvSpPr>
          <p:cNvPr id="5" name="灯片编号占位符 4"/>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课后作业</a:t>
            </a:r>
            <a:endParaRPr lang="zh-CN" altLang="en-US" dirty="0"/>
          </a:p>
        </p:txBody>
      </p:sp>
      <p:sp>
        <p:nvSpPr>
          <p:cNvPr id="3" name="内容占位符 2"/>
          <p:cNvSpPr>
            <a:spLocks noGrp="1"/>
          </p:cNvSpPr>
          <p:nvPr>
            <p:ph idx="1"/>
          </p:nvPr>
        </p:nvSpPr>
        <p:spPr>
          <a:xfrm>
            <a:off x="961752" y="1034143"/>
            <a:ext cx="5049795" cy="3440974"/>
          </a:xfrm>
        </p:spPr>
        <p:txBody>
          <a:bodyPr>
            <a:normAutofit/>
          </a:bodyPr>
          <a:lstStyle/>
          <a:p>
            <a:pPr>
              <a:lnSpc>
                <a:spcPct val="120000"/>
              </a:lnSpc>
              <a:spcBef>
                <a:spcPts val="1200"/>
              </a:spcBef>
            </a:pPr>
            <a:r>
              <a:rPr lang="zh-CN" altLang="en-US" dirty="0">
                <a:solidFill>
                  <a:schemeClr val="accent2">
                    <a:lumMod val="75000"/>
                  </a:schemeClr>
                </a:solidFill>
              </a:rPr>
              <a:t>学习相关技术</a:t>
            </a:r>
            <a:endParaRPr lang="en-US" altLang="zh-CN" dirty="0">
              <a:solidFill>
                <a:schemeClr val="accent2">
                  <a:lumMod val="75000"/>
                </a:schemeClr>
              </a:solidFill>
            </a:endParaRPr>
          </a:p>
          <a:p>
            <a:pPr>
              <a:lnSpc>
                <a:spcPct val="120000"/>
              </a:lnSpc>
            </a:pPr>
            <a:r>
              <a:rPr lang="zh-CN" altLang="en-US" dirty="0"/>
              <a:t>实验内容：</a:t>
            </a:r>
            <a:endParaRPr lang="en-US" altLang="zh-CN" dirty="0"/>
          </a:p>
          <a:p>
            <a:pPr lvl="1">
              <a:lnSpc>
                <a:spcPct val="120000"/>
              </a:lnSpc>
            </a:pPr>
            <a:r>
              <a:rPr lang="zh-CN" altLang="en-US" dirty="0"/>
              <a:t>根据业务分析报告中的业务，进行业务用例建模，识别执行者和用例，画出</a:t>
            </a:r>
            <a:r>
              <a:rPr lang="zh-CN" altLang="en-US" dirty="0">
                <a:solidFill>
                  <a:srgbClr val="FF0000"/>
                </a:solidFill>
              </a:rPr>
              <a:t>业务用例图</a:t>
            </a:r>
            <a:r>
              <a:rPr lang="zh-CN" altLang="en-US" dirty="0"/>
              <a:t>。</a:t>
            </a:r>
            <a:endParaRPr lang="en-US" altLang="zh-CN" dirty="0"/>
          </a:p>
        </p:txBody>
      </p:sp>
      <p:sp>
        <p:nvSpPr>
          <p:cNvPr id="4" name="日期占位符 3"/>
          <p:cNvSpPr>
            <a:spLocks noGrp="1"/>
          </p:cNvSpPr>
          <p:nvPr>
            <p:ph type="dt" sz="half" idx="10"/>
          </p:nvPr>
        </p:nvSpPr>
        <p:spPr/>
        <p:txBody>
          <a:bodyPr/>
          <a:lstStyle/>
          <a:p>
            <a:pPr>
              <a:spcAft>
                <a:spcPts val="0"/>
              </a:spcAft>
            </a:pPr>
            <a:fld id="{1168BB22-DC08-4640-BC03-D259155D38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6" name="灯片编号占位符 5"/>
          <p:cNvSpPr>
            <a:spLocks noGrp="1"/>
          </p:cNvSpPr>
          <p:nvPr>
            <p:ph type="sldNum" sz="quarter" idx="12"/>
          </p:nvPr>
        </p:nvSpPr>
        <p:spPr/>
        <p:txBody>
          <a:bodyPr/>
          <a:lstStyle/>
          <a:p>
            <a:pPr>
              <a:spcAft>
                <a:spcPts val="0"/>
              </a:spcAft>
            </a:pPr>
            <a:fld id="{F528F39D-B5E5-4CA7-906C-979D5A62978D}" type="slidenum">
              <a:rPr lang="zh-CN" altLang="en-US" smtClean="0"/>
            </a:fld>
            <a:endParaRPr lang="zh-CN" altLang="en-US"/>
          </a:p>
        </p:txBody>
      </p:sp>
      <p:grpSp>
        <p:nvGrpSpPr>
          <p:cNvPr id="9" name="组合 8"/>
          <p:cNvGrpSpPr/>
          <p:nvPr/>
        </p:nvGrpSpPr>
        <p:grpSpPr>
          <a:xfrm>
            <a:off x="6450228" y="1664805"/>
            <a:ext cx="1891966" cy="1999512"/>
            <a:chOff x="1516062" y="3403601"/>
            <a:chExt cx="2560638" cy="2846387"/>
          </a:xfrm>
          <a:solidFill>
            <a:schemeClr val="tx1">
              <a:lumMod val="65000"/>
              <a:lumOff val="35000"/>
            </a:schemeClr>
          </a:solidFill>
        </p:grpSpPr>
        <p:sp>
          <p:nvSpPr>
            <p:cNvPr id="10" name="Freeform 6"/>
            <p:cNvSpPr/>
            <p:nvPr/>
          </p:nvSpPr>
          <p:spPr bwMode="auto">
            <a:xfrm>
              <a:off x="1516062" y="3403601"/>
              <a:ext cx="2405063" cy="2846387"/>
            </a:xfrm>
            <a:custGeom>
              <a:avLst/>
              <a:gdLst>
                <a:gd name="T0" fmla="*/ 2572 w 2702"/>
                <a:gd name="T1" fmla="*/ 0 h 3200"/>
                <a:gd name="T2" fmla="*/ 2606 w 2702"/>
                <a:gd name="T3" fmla="*/ 11 h 3200"/>
                <a:gd name="T4" fmla="*/ 2700 w 2702"/>
                <a:gd name="T5" fmla="*/ 145 h 3200"/>
                <a:gd name="T6" fmla="*/ 2700 w 2702"/>
                <a:gd name="T7" fmla="*/ 885 h 3200"/>
                <a:gd name="T8" fmla="*/ 2699 w 2702"/>
                <a:gd name="T9" fmla="*/ 898 h 3200"/>
                <a:gd name="T10" fmla="*/ 2604 w 2702"/>
                <a:gd name="T11" fmla="*/ 803 h 3200"/>
                <a:gd name="T12" fmla="*/ 2601 w 2702"/>
                <a:gd name="T13" fmla="*/ 780 h 3200"/>
                <a:gd name="T14" fmla="*/ 2600 w 2702"/>
                <a:gd name="T15" fmla="*/ 164 h 3200"/>
                <a:gd name="T16" fmla="*/ 2536 w 2702"/>
                <a:gd name="T17" fmla="*/ 100 h 3200"/>
                <a:gd name="T18" fmla="*/ 164 w 2702"/>
                <a:gd name="T19" fmla="*/ 100 h 3200"/>
                <a:gd name="T20" fmla="*/ 100 w 2702"/>
                <a:gd name="T21" fmla="*/ 163 h 3200"/>
                <a:gd name="T22" fmla="*/ 100 w 2702"/>
                <a:gd name="T23" fmla="*/ 3037 h 3200"/>
                <a:gd name="T24" fmla="*/ 162 w 2702"/>
                <a:gd name="T25" fmla="*/ 3100 h 3200"/>
                <a:gd name="T26" fmla="*/ 2538 w 2702"/>
                <a:gd name="T27" fmla="*/ 3100 h 3200"/>
                <a:gd name="T28" fmla="*/ 2600 w 2702"/>
                <a:gd name="T29" fmla="*/ 3037 h 3200"/>
                <a:gd name="T30" fmla="*/ 2600 w 2702"/>
                <a:gd name="T31" fmla="*/ 1674 h 3200"/>
                <a:gd name="T32" fmla="*/ 2615 w 2702"/>
                <a:gd name="T33" fmla="*/ 1637 h 3200"/>
                <a:gd name="T34" fmla="*/ 2696 w 2702"/>
                <a:gd name="T35" fmla="*/ 1555 h 3200"/>
                <a:gd name="T36" fmla="*/ 2700 w 2702"/>
                <a:gd name="T37" fmla="*/ 1558 h 3200"/>
                <a:gd name="T38" fmla="*/ 2700 w 2702"/>
                <a:gd name="T39" fmla="*/ 1581 h 3200"/>
                <a:gd name="T40" fmla="*/ 2702 w 2702"/>
                <a:gd name="T41" fmla="*/ 3019 h 3200"/>
                <a:gd name="T42" fmla="*/ 2572 w 2702"/>
                <a:gd name="T43" fmla="*/ 3200 h 3200"/>
                <a:gd name="T44" fmla="*/ 128 w 2702"/>
                <a:gd name="T45" fmla="*/ 3200 h 3200"/>
                <a:gd name="T46" fmla="*/ 36 w 2702"/>
                <a:gd name="T47" fmla="*/ 3146 h 3200"/>
                <a:gd name="T48" fmla="*/ 0 w 2702"/>
                <a:gd name="T49" fmla="*/ 3072 h 3200"/>
                <a:gd name="T50" fmla="*/ 0 w 2702"/>
                <a:gd name="T51" fmla="*/ 128 h 3200"/>
                <a:gd name="T52" fmla="*/ 36 w 2702"/>
                <a:gd name="T53" fmla="*/ 54 h 3200"/>
                <a:gd name="T54" fmla="*/ 128 w 2702"/>
                <a:gd name="T55" fmla="*/ 0 h 3200"/>
                <a:gd name="T56" fmla="*/ 2572 w 2702"/>
                <a:gd name="T57" fmla="*/ 0 h 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2" h="3200">
                  <a:moveTo>
                    <a:pt x="2572" y="0"/>
                  </a:moveTo>
                  <a:cubicBezTo>
                    <a:pt x="2583" y="4"/>
                    <a:pt x="2595" y="6"/>
                    <a:pt x="2606" y="11"/>
                  </a:cubicBezTo>
                  <a:cubicBezTo>
                    <a:pt x="2664" y="37"/>
                    <a:pt x="2699" y="81"/>
                    <a:pt x="2700" y="145"/>
                  </a:cubicBezTo>
                  <a:cubicBezTo>
                    <a:pt x="2701" y="392"/>
                    <a:pt x="2700" y="639"/>
                    <a:pt x="2700" y="885"/>
                  </a:cubicBezTo>
                  <a:cubicBezTo>
                    <a:pt x="2700" y="888"/>
                    <a:pt x="2700" y="891"/>
                    <a:pt x="2699" y="898"/>
                  </a:cubicBezTo>
                  <a:cubicBezTo>
                    <a:pt x="2666" y="865"/>
                    <a:pt x="2634" y="834"/>
                    <a:pt x="2604" y="803"/>
                  </a:cubicBezTo>
                  <a:cubicBezTo>
                    <a:pt x="2600" y="798"/>
                    <a:pt x="2601" y="788"/>
                    <a:pt x="2601" y="780"/>
                  </a:cubicBezTo>
                  <a:cubicBezTo>
                    <a:pt x="2600" y="575"/>
                    <a:pt x="2600" y="370"/>
                    <a:pt x="2600" y="164"/>
                  </a:cubicBezTo>
                  <a:cubicBezTo>
                    <a:pt x="2600" y="115"/>
                    <a:pt x="2585" y="100"/>
                    <a:pt x="2536" y="100"/>
                  </a:cubicBezTo>
                  <a:cubicBezTo>
                    <a:pt x="1745" y="100"/>
                    <a:pt x="955" y="100"/>
                    <a:pt x="164" y="100"/>
                  </a:cubicBezTo>
                  <a:cubicBezTo>
                    <a:pt x="117" y="100"/>
                    <a:pt x="100" y="116"/>
                    <a:pt x="100" y="163"/>
                  </a:cubicBezTo>
                  <a:cubicBezTo>
                    <a:pt x="100" y="1121"/>
                    <a:pt x="100" y="2079"/>
                    <a:pt x="100" y="3037"/>
                  </a:cubicBezTo>
                  <a:cubicBezTo>
                    <a:pt x="100" y="3083"/>
                    <a:pt x="117" y="3100"/>
                    <a:pt x="162" y="3100"/>
                  </a:cubicBezTo>
                  <a:cubicBezTo>
                    <a:pt x="954" y="3100"/>
                    <a:pt x="1746" y="3100"/>
                    <a:pt x="2538" y="3100"/>
                  </a:cubicBezTo>
                  <a:cubicBezTo>
                    <a:pt x="2584" y="3100"/>
                    <a:pt x="2600" y="3084"/>
                    <a:pt x="2600" y="3037"/>
                  </a:cubicBezTo>
                  <a:cubicBezTo>
                    <a:pt x="2600" y="2583"/>
                    <a:pt x="2600" y="2128"/>
                    <a:pt x="2600" y="1674"/>
                  </a:cubicBezTo>
                  <a:cubicBezTo>
                    <a:pt x="2600" y="1658"/>
                    <a:pt x="2604" y="1647"/>
                    <a:pt x="2615" y="1637"/>
                  </a:cubicBezTo>
                  <a:cubicBezTo>
                    <a:pt x="2643" y="1610"/>
                    <a:pt x="2669" y="1582"/>
                    <a:pt x="2696" y="1555"/>
                  </a:cubicBezTo>
                  <a:cubicBezTo>
                    <a:pt x="2697" y="1556"/>
                    <a:pt x="2699" y="1557"/>
                    <a:pt x="2700" y="1558"/>
                  </a:cubicBezTo>
                  <a:cubicBezTo>
                    <a:pt x="2700" y="1565"/>
                    <a:pt x="2700" y="1573"/>
                    <a:pt x="2700" y="1581"/>
                  </a:cubicBezTo>
                  <a:cubicBezTo>
                    <a:pt x="2700" y="2060"/>
                    <a:pt x="2699" y="2539"/>
                    <a:pt x="2702" y="3019"/>
                  </a:cubicBezTo>
                  <a:cubicBezTo>
                    <a:pt x="2702" y="3120"/>
                    <a:pt x="2654" y="3182"/>
                    <a:pt x="2572" y="3200"/>
                  </a:cubicBezTo>
                  <a:cubicBezTo>
                    <a:pt x="1757" y="3200"/>
                    <a:pt x="943" y="3200"/>
                    <a:pt x="128" y="3200"/>
                  </a:cubicBezTo>
                  <a:cubicBezTo>
                    <a:pt x="92" y="3191"/>
                    <a:pt x="58" y="3177"/>
                    <a:pt x="36" y="3146"/>
                  </a:cubicBezTo>
                  <a:cubicBezTo>
                    <a:pt x="21" y="3123"/>
                    <a:pt x="12" y="3097"/>
                    <a:pt x="0" y="3072"/>
                  </a:cubicBezTo>
                  <a:cubicBezTo>
                    <a:pt x="0" y="2091"/>
                    <a:pt x="0" y="1109"/>
                    <a:pt x="0" y="128"/>
                  </a:cubicBezTo>
                  <a:cubicBezTo>
                    <a:pt x="12" y="103"/>
                    <a:pt x="21" y="77"/>
                    <a:pt x="36" y="54"/>
                  </a:cubicBezTo>
                  <a:cubicBezTo>
                    <a:pt x="58" y="23"/>
                    <a:pt x="92" y="9"/>
                    <a:pt x="128" y="0"/>
                  </a:cubicBezTo>
                  <a:cubicBezTo>
                    <a:pt x="943" y="0"/>
                    <a:pt x="1757" y="0"/>
                    <a:pt x="257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7"/>
            <p:cNvSpPr/>
            <p:nvPr/>
          </p:nvSpPr>
          <p:spPr bwMode="auto">
            <a:xfrm>
              <a:off x="3448050" y="4132263"/>
              <a:ext cx="628650" cy="633412"/>
            </a:xfrm>
            <a:custGeom>
              <a:avLst/>
              <a:gdLst>
                <a:gd name="T0" fmla="*/ 706 w 706"/>
                <a:gd name="T1" fmla="*/ 410 h 714"/>
                <a:gd name="T2" fmla="*/ 682 w 706"/>
                <a:gd name="T3" fmla="*/ 441 h 714"/>
                <a:gd name="T4" fmla="*/ 441 w 706"/>
                <a:gd name="T5" fmla="*/ 681 h 714"/>
                <a:gd name="T6" fmla="*/ 357 w 706"/>
                <a:gd name="T7" fmla="*/ 682 h 714"/>
                <a:gd name="T8" fmla="*/ 31 w 706"/>
                <a:gd name="T9" fmla="*/ 356 h 714"/>
                <a:gd name="T10" fmla="*/ 31 w 706"/>
                <a:gd name="T11" fmla="*/ 274 h 714"/>
                <a:gd name="T12" fmla="*/ 274 w 706"/>
                <a:gd name="T13" fmla="*/ 31 h 714"/>
                <a:gd name="T14" fmla="*/ 357 w 706"/>
                <a:gd name="T15" fmla="*/ 32 h 714"/>
                <a:gd name="T16" fmla="*/ 677 w 706"/>
                <a:gd name="T17" fmla="*/ 351 h 714"/>
                <a:gd name="T18" fmla="*/ 706 w 706"/>
                <a:gd name="T19" fmla="*/ 386 h 714"/>
                <a:gd name="T20" fmla="*/ 706 w 706"/>
                <a:gd name="T21" fmla="*/ 41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6" h="714">
                  <a:moveTo>
                    <a:pt x="706" y="410"/>
                  </a:moveTo>
                  <a:cubicBezTo>
                    <a:pt x="698" y="420"/>
                    <a:pt x="691" y="432"/>
                    <a:pt x="682" y="441"/>
                  </a:cubicBezTo>
                  <a:cubicBezTo>
                    <a:pt x="602" y="521"/>
                    <a:pt x="522" y="601"/>
                    <a:pt x="441" y="681"/>
                  </a:cubicBezTo>
                  <a:cubicBezTo>
                    <a:pt x="409" y="714"/>
                    <a:pt x="389" y="714"/>
                    <a:pt x="357" y="682"/>
                  </a:cubicBezTo>
                  <a:cubicBezTo>
                    <a:pt x="248" y="573"/>
                    <a:pt x="139" y="465"/>
                    <a:pt x="31" y="356"/>
                  </a:cubicBezTo>
                  <a:cubicBezTo>
                    <a:pt x="0" y="326"/>
                    <a:pt x="0" y="305"/>
                    <a:pt x="31" y="274"/>
                  </a:cubicBezTo>
                  <a:cubicBezTo>
                    <a:pt x="112" y="193"/>
                    <a:pt x="193" y="112"/>
                    <a:pt x="274" y="31"/>
                  </a:cubicBezTo>
                  <a:cubicBezTo>
                    <a:pt x="305" y="0"/>
                    <a:pt x="326" y="0"/>
                    <a:pt x="357" y="32"/>
                  </a:cubicBezTo>
                  <a:cubicBezTo>
                    <a:pt x="464" y="138"/>
                    <a:pt x="570" y="245"/>
                    <a:pt x="677" y="351"/>
                  </a:cubicBezTo>
                  <a:cubicBezTo>
                    <a:pt x="687" y="362"/>
                    <a:pt x="696" y="374"/>
                    <a:pt x="706" y="386"/>
                  </a:cubicBezTo>
                  <a:cubicBezTo>
                    <a:pt x="706" y="394"/>
                    <a:pt x="706" y="402"/>
                    <a:pt x="706" y="410"/>
                  </a:cubicBezTo>
                  <a:close/>
                </a:path>
              </a:pathLst>
            </a:custGeom>
            <a:solidFill>
              <a:srgbClr val="FF94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0"/>
            <p:cNvSpPr/>
            <p:nvPr/>
          </p:nvSpPr>
          <p:spPr bwMode="auto">
            <a:xfrm>
              <a:off x="2587625" y="4483100"/>
              <a:ext cx="1139825" cy="1143000"/>
            </a:xfrm>
            <a:custGeom>
              <a:avLst/>
              <a:gdLst>
                <a:gd name="T0" fmla="*/ 1281 w 1281"/>
                <a:gd name="T1" fmla="*/ 396 h 1285"/>
                <a:gd name="T2" fmla="*/ 1267 w 1281"/>
                <a:gd name="T3" fmla="*/ 426 h 1285"/>
                <a:gd name="T4" fmla="*/ 1252 w 1281"/>
                <a:gd name="T5" fmla="*/ 442 h 1285"/>
                <a:gd name="T6" fmla="*/ 443 w 1281"/>
                <a:gd name="T7" fmla="*/ 1251 h 1285"/>
                <a:gd name="T8" fmla="*/ 356 w 1281"/>
                <a:gd name="T9" fmla="*/ 1251 h 1285"/>
                <a:gd name="T10" fmla="*/ 32 w 1281"/>
                <a:gd name="T11" fmla="*/ 927 h 1285"/>
                <a:gd name="T12" fmla="*/ 32 w 1281"/>
                <a:gd name="T13" fmla="*/ 844 h 1285"/>
                <a:gd name="T14" fmla="*/ 846 w 1281"/>
                <a:gd name="T15" fmla="*/ 30 h 1285"/>
                <a:gd name="T16" fmla="*/ 928 w 1281"/>
                <a:gd name="T17" fmla="*/ 30 h 1285"/>
                <a:gd name="T18" fmla="*/ 1256 w 1281"/>
                <a:gd name="T19" fmla="*/ 358 h 1285"/>
                <a:gd name="T20" fmla="*/ 1281 w 1281"/>
                <a:gd name="T21" fmla="*/ 396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1" h="1285">
                  <a:moveTo>
                    <a:pt x="1281" y="396"/>
                  </a:moveTo>
                  <a:cubicBezTo>
                    <a:pt x="1275" y="409"/>
                    <a:pt x="1272" y="418"/>
                    <a:pt x="1267" y="426"/>
                  </a:cubicBezTo>
                  <a:cubicBezTo>
                    <a:pt x="1263" y="432"/>
                    <a:pt x="1257" y="437"/>
                    <a:pt x="1252" y="442"/>
                  </a:cubicBezTo>
                  <a:cubicBezTo>
                    <a:pt x="982" y="712"/>
                    <a:pt x="712" y="981"/>
                    <a:pt x="443" y="1251"/>
                  </a:cubicBezTo>
                  <a:cubicBezTo>
                    <a:pt x="409" y="1285"/>
                    <a:pt x="390" y="1285"/>
                    <a:pt x="356" y="1251"/>
                  </a:cubicBezTo>
                  <a:cubicBezTo>
                    <a:pt x="248" y="1143"/>
                    <a:pt x="140" y="1035"/>
                    <a:pt x="32" y="927"/>
                  </a:cubicBezTo>
                  <a:cubicBezTo>
                    <a:pt x="0" y="895"/>
                    <a:pt x="0" y="876"/>
                    <a:pt x="32" y="844"/>
                  </a:cubicBezTo>
                  <a:cubicBezTo>
                    <a:pt x="303" y="573"/>
                    <a:pt x="575" y="301"/>
                    <a:pt x="846" y="30"/>
                  </a:cubicBezTo>
                  <a:cubicBezTo>
                    <a:pt x="876" y="0"/>
                    <a:pt x="898" y="0"/>
                    <a:pt x="928" y="30"/>
                  </a:cubicBezTo>
                  <a:cubicBezTo>
                    <a:pt x="1037" y="139"/>
                    <a:pt x="1147" y="248"/>
                    <a:pt x="1256" y="358"/>
                  </a:cubicBezTo>
                  <a:cubicBezTo>
                    <a:pt x="1266" y="369"/>
                    <a:pt x="1273" y="383"/>
                    <a:pt x="1281" y="39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1"/>
            <p:cNvSpPr/>
            <p:nvPr/>
          </p:nvSpPr>
          <p:spPr bwMode="auto">
            <a:xfrm>
              <a:off x="2332038" y="5340350"/>
              <a:ext cx="538163" cy="539750"/>
            </a:xfrm>
            <a:custGeom>
              <a:avLst/>
              <a:gdLst>
                <a:gd name="T0" fmla="*/ 21 w 604"/>
                <a:gd name="T1" fmla="*/ 606 h 606"/>
                <a:gd name="T2" fmla="*/ 1 w 604"/>
                <a:gd name="T3" fmla="*/ 584 h 606"/>
                <a:gd name="T4" fmla="*/ 8 w 604"/>
                <a:gd name="T5" fmla="*/ 561 h 606"/>
                <a:gd name="T6" fmla="*/ 183 w 604"/>
                <a:gd name="T7" fmla="*/ 35 h 606"/>
                <a:gd name="T8" fmla="*/ 231 w 604"/>
                <a:gd name="T9" fmla="*/ 23 h 606"/>
                <a:gd name="T10" fmla="*/ 581 w 604"/>
                <a:gd name="T11" fmla="*/ 374 h 606"/>
                <a:gd name="T12" fmla="*/ 569 w 604"/>
                <a:gd name="T13" fmla="*/ 425 h 606"/>
                <a:gd name="T14" fmla="*/ 35 w 604"/>
                <a:gd name="T15" fmla="*/ 602 h 606"/>
                <a:gd name="T16" fmla="*/ 21 w 604"/>
                <a:gd name="T17"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606">
                  <a:moveTo>
                    <a:pt x="21" y="606"/>
                  </a:moveTo>
                  <a:cubicBezTo>
                    <a:pt x="5" y="606"/>
                    <a:pt x="0" y="596"/>
                    <a:pt x="1" y="584"/>
                  </a:cubicBezTo>
                  <a:cubicBezTo>
                    <a:pt x="2" y="576"/>
                    <a:pt x="5" y="568"/>
                    <a:pt x="8" y="561"/>
                  </a:cubicBezTo>
                  <a:cubicBezTo>
                    <a:pt x="66" y="385"/>
                    <a:pt x="124" y="210"/>
                    <a:pt x="183" y="35"/>
                  </a:cubicBezTo>
                  <a:cubicBezTo>
                    <a:pt x="193" y="3"/>
                    <a:pt x="207" y="0"/>
                    <a:pt x="231" y="23"/>
                  </a:cubicBezTo>
                  <a:cubicBezTo>
                    <a:pt x="348" y="140"/>
                    <a:pt x="464" y="257"/>
                    <a:pt x="581" y="374"/>
                  </a:cubicBezTo>
                  <a:cubicBezTo>
                    <a:pt x="604" y="397"/>
                    <a:pt x="600" y="415"/>
                    <a:pt x="569" y="425"/>
                  </a:cubicBezTo>
                  <a:cubicBezTo>
                    <a:pt x="391" y="484"/>
                    <a:pt x="213" y="543"/>
                    <a:pt x="35" y="602"/>
                  </a:cubicBezTo>
                  <a:cubicBezTo>
                    <a:pt x="30" y="604"/>
                    <a:pt x="25" y="605"/>
                    <a:pt x="21" y="6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2"/>
            <p:cNvSpPr/>
            <p:nvPr/>
          </p:nvSpPr>
          <p:spPr bwMode="auto">
            <a:xfrm>
              <a:off x="1990725" y="4032250"/>
              <a:ext cx="1454150" cy="42862"/>
            </a:xfrm>
            <a:custGeom>
              <a:avLst/>
              <a:gdLst>
                <a:gd name="T0" fmla="*/ 1634 w 1634"/>
                <a:gd name="T1" fmla="*/ 0 h 48"/>
                <a:gd name="T2" fmla="*/ 1634 w 1634"/>
                <a:gd name="T3" fmla="*/ 48 h 48"/>
                <a:gd name="T4" fmla="*/ 0 w 1634"/>
                <a:gd name="T5" fmla="*/ 48 h 48"/>
                <a:gd name="T6" fmla="*/ 0 w 1634"/>
                <a:gd name="T7" fmla="*/ 0 h 48"/>
                <a:gd name="T8" fmla="*/ 1634 w 1634"/>
                <a:gd name="T9" fmla="*/ 0 h 48"/>
              </a:gdLst>
              <a:ahLst/>
              <a:cxnLst>
                <a:cxn ang="0">
                  <a:pos x="T0" y="T1"/>
                </a:cxn>
                <a:cxn ang="0">
                  <a:pos x="T2" y="T3"/>
                </a:cxn>
                <a:cxn ang="0">
                  <a:pos x="T4" y="T5"/>
                </a:cxn>
                <a:cxn ang="0">
                  <a:pos x="T6" y="T7"/>
                </a:cxn>
                <a:cxn ang="0">
                  <a:pos x="T8" y="T9"/>
                </a:cxn>
              </a:cxnLst>
              <a:rect l="0" t="0" r="r" b="b"/>
              <a:pathLst>
                <a:path w="1634" h="48">
                  <a:moveTo>
                    <a:pt x="1634" y="0"/>
                  </a:moveTo>
                  <a:cubicBezTo>
                    <a:pt x="1634" y="17"/>
                    <a:pt x="1634" y="32"/>
                    <a:pt x="1634" y="48"/>
                  </a:cubicBezTo>
                  <a:cubicBezTo>
                    <a:pt x="1090" y="48"/>
                    <a:pt x="546" y="48"/>
                    <a:pt x="0" y="48"/>
                  </a:cubicBezTo>
                  <a:cubicBezTo>
                    <a:pt x="0" y="32"/>
                    <a:pt x="0" y="17"/>
                    <a:pt x="0" y="0"/>
                  </a:cubicBezTo>
                  <a:cubicBezTo>
                    <a:pt x="544" y="0"/>
                    <a:pt x="1088" y="0"/>
                    <a:pt x="16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3"/>
            <p:cNvSpPr/>
            <p:nvPr/>
          </p:nvSpPr>
          <p:spPr bwMode="auto">
            <a:xfrm>
              <a:off x="1992313" y="4548188"/>
              <a:ext cx="1184275" cy="44450"/>
            </a:xfrm>
            <a:custGeom>
              <a:avLst/>
              <a:gdLst>
                <a:gd name="T0" fmla="*/ 1331 w 1331"/>
                <a:gd name="T1" fmla="*/ 0 h 51"/>
                <a:gd name="T2" fmla="*/ 1245 w 1331"/>
                <a:gd name="T3" fmla="*/ 51 h 51"/>
                <a:gd name="T4" fmla="*/ 28 w 1331"/>
                <a:gd name="T5" fmla="*/ 50 h 51"/>
                <a:gd name="T6" fmla="*/ 0 w 1331"/>
                <a:gd name="T7" fmla="*/ 50 h 51"/>
                <a:gd name="T8" fmla="*/ 0 w 1331"/>
                <a:gd name="T9" fmla="*/ 0 h 51"/>
                <a:gd name="T10" fmla="*/ 1331 w 1331"/>
                <a:gd name="T11" fmla="*/ 0 h 51"/>
              </a:gdLst>
              <a:ahLst/>
              <a:cxnLst>
                <a:cxn ang="0">
                  <a:pos x="T0" y="T1"/>
                </a:cxn>
                <a:cxn ang="0">
                  <a:pos x="T2" y="T3"/>
                </a:cxn>
                <a:cxn ang="0">
                  <a:pos x="T4" y="T5"/>
                </a:cxn>
                <a:cxn ang="0">
                  <a:pos x="T6" y="T7"/>
                </a:cxn>
                <a:cxn ang="0">
                  <a:pos x="T8" y="T9"/>
                </a:cxn>
                <a:cxn ang="0">
                  <a:pos x="T10" y="T11"/>
                </a:cxn>
              </a:cxnLst>
              <a:rect l="0" t="0" r="r" b="b"/>
              <a:pathLst>
                <a:path w="1331" h="51">
                  <a:moveTo>
                    <a:pt x="1331" y="0"/>
                  </a:moveTo>
                  <a:cubicBezTo>
                    <a:pt x="1304" y="25"/>
                    <a:pt x="1287" y="51"/>
                    <a:pt x="1245" y="51"/>
                  </a:cubicBezTo>
                  <a:cubicBezTo>
                    <a:pt x="839" y="49"/>
                    <a:pt x="433" y="50"/>
                    <a:pt x="28" y="50"/>
                  </a:cubicBezTo>
                  <a:cubicBezTo>
                    <a:pt x="19" y="50"/>
                    <a:pt x="10" y="50"/>
                    <a:pt x="0" y="50"/>
                  </a:cubicBezTo>
                  <a:cubicBezTo>
                    <a:pt x="0" y="33"/>
                    <a:pt x="0" y="17"/>
                    <a:pt x="0" y="0"/>
                  </a:cubicBezTo>
                  <a:cubicBezTo>
                    <a:pt x="442" y="0"/>
                    <a:pt x="884" y="0"/>
                    <a:pt x="13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4"/>
            <p:cNvSpPr/>
            <p:nvPr/>
          </p:nvSpPr>
          <p:spPr bwMode="auto">
            <a:xfrm>
              <a:off x="1990725" y="5062538"/>
              <a:ext cx="668338" cy="44450"/>
            </a:xfrm>
            <a:custGeom>
              <a:avLst/>
              <a:gdLst>
                <a:gd name="T0" fmla="*/ 751 w 751"/>
                <a:gd name="T1" fmla="*/ 4 h 49"/>
                <a:gd name="T2" fmla="*/ 710 w 751"/>
                <a:gd name="T3" fmla="*/ 42 h 49"/>
                <a:gd name="T4" fmla="*/ 692 w 751"/>
                <a:gd name="T5" fmla="*/ 49 h 49"/>
                <a:gd name="T6" fmla="*/ 11 w 751"/>
                <a:gd name="T7" fmla="*/ 49 h 49"/>
                <a:gd name="T8" fmla="*/ 0 w 751"/>
                <a:gd name="T9" fmla="*/ 48 h 49"/>
                <a:gd name="T10" fmla="*/ 0 w 751"/>
                <a:gd name="T11" fmla="*/ 0 h 49"/>
                <a:gd name="T12" fmla="*/ 748 w 751"/>
                <a:gd name="T13" fmla="*/ 0 h 49"/>
                <a:gd name="T14" fmla="*/ 751 w 751"/>
                <a:gd name="T15" fmla="*/ 4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49">
                  <a:moveTo>
                    <a:pt x="751" y="4"/>
                  </a:moveTo>
                  <a:cubicBezTo>
                    <a:pt x="737" y="17"/>
                    <a:pt x="724" y="30"/>
                    <a:pt x="710" y="42"/>
                  </a:cubicBezTo>
                  <a:cubicBezTo>
                    <a:pt x="705" y="46"/>
                    <a:pt x="698" y="49"/>
                    <a:pt x="692" y="49"/>
                  </a:cubicBezTo>
                  <a:cubicBezTo>
                    <a:pt x="465" y="49"/>
                    <a:pt x="238" y="49"/>
                    <a:pt x="11" y="49"/>
                  </a:cubicBezTo>
                  <a:cubicBezTo>
                    <a:pt x="8" y="49"/>
                    <a:pt x="4" y="48"/>
                    <a:pt x="0" y="48"/>
                  </a:cubicBezTo>
                  <a:cubicBezTo>
                    <a:pt x="0" y="32"/>
                    <a:pt x="0" y="17"/>
                    <a:pt x="0" y="0"/>
                  </a:cubicBezTo>
                  <a:cubicBezTo>
                    <a:pt x="250" y="0"/>
                    <a:pt x="499" y="0"/>
                    <a:pt x="748" y="0"/>
                  </a:cubicBezTo>
                  <a:cubicBezTo>
                    <a:pt x="749" y="2"/>
                    <a:pt x="750" y="3"/>
                    <a:pt x="7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5"/>
            <p:cNvSpPr/>
            <p:nvPr/>
          </p:nvSpPr>
          <p:spPr bwMode="auto">
            <a:xfrm>
              <a:off x="3081338" y="5575300"/>
              <a:ext cx="363538" cy="46037"/>
            </a:xfrm>
            <a:custGeom>
              <a:avLst/>
              <a:gdLst>
                <a:gd name="T0" fmla="*/ 0 w 407"/>
                <a:gd name="T1" fmla="*/ 52 h 52"/>
                <a:gd name="T2" fmla="*/ 86 w 407"/>
                <a:gd name="T3" fmla="*/ 1 h 52"/>
                <a:gd name="T4" fmla="*/ 384 w 407"/>
                <a:gd name="T5" fmla="*/ 3 h 52"/>
                <a:gd name="T6" fmla="*/ 407 w 407"/>
                <a:gd name="T7" fmla="*/ 3 h 52"/>
                <a:gd name="T8" fmla="*/ 407 w 407"/>
                <a:gd name="T9" fmla="*/ 52 h 52"/>
                <a:gd name="T10" fmla="*/ 0 w 407"/>
                <a:gd name="T11" fmla="*/ 52 h 52"/>
              </a:gdLst>
              <a:ahLst/>
              <a:cxnLst>
                <a:cxn ang="0">
                  <a:pos x="T0" y="T1"/>
                </a:cxn>
                <a:cxn ang="0">
                  <a:pos x="T2" y="T3"/>
                </a:cxn>
                <a:cxn ang="0">
                  <a:pos x="T4" y="T5"/>
                </a:cxn>
                <a:cxn ang="0">
                  <a:pos x="T6" y="T7"/>
                </a:cxn>
                <a:cxn ang="0">
                  <a:pos x="T8" y="T9"/>
                </a:cxn>
                <a:cxn ang="0">
                  <a:pos x="T10" y="T11"/>
                </a:cxn>
              </a:cxnLst>
              <a:rect l="0" t="0" r="r" b="b"/>
              <a:pathLst>
                <a:path w="407" h="52">
                  <a:moveTo>
                    <a:pt x="0" y="52"/>
                  </a:moveTo>
                  <a:cubicBezTo>
                    <a:pt x="26" y="26"/>
                    <a:pt x="43" y="0"/>
                    <a:pt x="86" y="1"/>
                  </a:cubicBezTo>
                  <a:cubicBezTo>
                    <a:pt x="185" y="6"/>
                    <a:pt x="285" y="3"/>
                    <a:pt x="384" y="3"/>
                  </a:cubicBezTo>
                  <a:cubicBezTo>
                    <a:pt x="391" y="3"/>
                    <a:pt x="398" y="3"/>
                    <a:pt x="407" y="3"/>
                  </a:cubicBezTo>
                  <a:cubicBezTo>
                    <a:pt x="407" y="19"/>
                    <a:pt x="407" y="35"/>
                    <a:pt x="407" y="52"/>
                  </a:cubicBezTo>
                  <a:cubicBezTo>
                    <a:pt x="273" y="52"/>
                    <a:pt x="139" y="52"/>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6"/>
            <p:cNvSpPr/>
            <p:nvPr/>
          </p:nvSpPr>
          <p:spPr bwMode="auto">
            <a:xfrm>
              <a:off x="1990725" y="5578475"/>
              <a:ext cx="339725" cy="44450"/>
            </a:xfrm>
            <a:custGeom>
              <a:avLst/>
              <a:gdLst>
                <a:gd name="T0" fmla="*/ 0 w 381"/>
                <a:gd name="T1" fmla="*/ 49 h 49"/>
                <a:gd name="T2" fmla="*/ 0 w 381"/>
                <a:gd name="T3" fmla="*/ 0 h 49"/>
                <a:gd name="T4" fmla="*/ 381 w 381"/>
                <a:gd name="T5" fmla="*/ 0 h 49"/>
                <a:gd name="T6" fmla="*/ 367 w 381"/>
                <a:gd name="T7" fmla="*/ 43 h 49"/>
                <a:gd name="T8" fmla="*/ 356 w 381"/>
                <a:gd name="T9" fmla="*/ 49 h 49"/>
                <a:gd name="T10" fmla="*/ 0 w 381"/>
                <a:gd name="T11" fmla="*/ 49 h 49"/>
              </a:gdLst>
              <a:ahLst/>
              <a:cxnLst>
                <a:cxn ang="0">
                  <a:pos x="T0" y="T1"/>
                </a:cxn>
                <a:cxn ang="0">
                  <a:pos x="T2" y="T3"/>
                </a:cxn>
                <a:cxn ang="0">
                  <a:pos x="T4" y="T5"/>
                </a:cxn>
                <a:cxn ang="0">
                  <a:pos x="T6" y="T7"/>
                </a:cxn>
                <a:cxn ang="0">
                  <a:pos x="T8" y="T9"/>
                </a:cxn>
                <a:cxn ang="0">
                  <a:pos x="T10" y="T11"/>
                </a:cxn>
              </a:cxnLst>
              <a:rect l="0" t="0" r="r" b="b"/>
              <a:pathLst>
                <a:path w="381" h="49">
                  <a:moveTo>
                    <a:pt x="0" y="49"/>
                  </a:moveTo>
                  <a:cubicBezTo>
                    <a:pt x="0" y="32"/>
                    <a:pt x="0" y="17"/>
                    <a:pt x="0" y="0"/>
                  </a:cubicBezTo>
                  <a:cubicBezTo>
                    <a:pt x="126" y="0"/>
                    <a:pt x="252" y="0"/>
                    <a:pt x="381" y="0"/>
                  </a:cubicBezTo>
                  <a:cubicBezTo>
                    <a:pt x="376" y="15"/>
                    <a:pt x="372" y="29"/>
                    <a:pt x="367" y="43"/>
                  </a:cubicBezTo>
                  <a:cubicBezTo>
                    <a:pt x="366" y="46"/>
                    <a:pt x="360" y="49"/>
                    <a:pt x="356" y="49"/>
                  </a:cubicBezTo>
                  <a:cubicBezTo>
                    <a:pt x="238" y="49"/>
                    <a:pt x="120" y="49"/>
                    <a:pt x="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spcAft>
                <a:spcPts val="0"/>
              </a:spcAft>
            </a:pPr>
            <a:fld id="{2D385024-7147-4FEA-8CB9-E40D08ABAE27}" type="datetime1">
              <a:rPr lang="zh-CN" altLang="en-US" smtClean="0"/>
            </a:fld>
            <a:endParaRPr lang="zh-CN" altLang="en-US" dirty="0"/>
          </a:p>
        </p:txBody>
      </p:sp>
      <p:sp>
        <p:nvSpPr>
          <p:cNvPr id="3" name="页脚占位符 2"/>
          <p:cNvSpPr>
            <a:spLocks noGrp="1"/>
          </p:cNvSpPr>
          <p:nvPr>
            <p:ph type="ftr" sz="quarter" idx="11"/>
          </p:nvPr>
        </p:nvSpPr>
        <p:spPr/>
        <p:txBody>
          <a:bodyPr/>
          <a:lstStyle/>
          <a:p>
            <a:pPr>
              <a:spcAft>
                <a:spcPts val="0"/>
              </a:spcAft>
            </a:pPr>
            <a:r>
              <a:rPr lang="zh-CN" altLang="en-US"/>
              <a:t>软件工程</a:t>
            </a:r>
            <a:endParaRPr lang="zh-CN" altLang="en-US" dirty="0"/>
          </a:p>
        </p:txBody>
      </p:sp>
      <p:sp>
        <p:nvSpPr>
          <p:cNvPr id="4" name="灯片编号占位符 3"/>
          <p:cNvSpPr>
            <a:spLocks noGrp="1"/>
          </p:cNvSpPr>
          <p:nvPr>
            <p:ph type="sldNum" sz="quarter" idx="12"/>
          </p:nvPr>
        </p:nvSpPr>
        <p:spPr/>
        <p:txBody>
          <a:bodyPr/>
          <a:lstStyle/>
          <a:p>
            <a:pPr>
              <a:spcAft>
                <a:spcPts val="0"/>
              </a:spcAft>
            </a:pPr>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RAINPROBLEM" val="ProblemBody"/>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Item"/>
</p:tagLst>
</file>

<file path=ppt/tags/tag7.xml><?xml version="1.0" encoding="utf-8"?>
<p:tagLst xmlns:p="http://schemas.openxmlformats.org/presentationml/2006/main">
  <p:tag name="RAINPROBLEM" val="ProblemItem"/>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Wrong"/>
</p:tagLst>
</file>

<file path=ppt/tags/tag10.xml><?xml version="1.0" encoding="utf-8"?>
<p:tagLst xmlns:p="http://schemas.openxmlformats.org/presentationml/2006/main">
  <p:tag name="RAINPROBLEM" val="ProblemBullet"/>
  <p:tag name="RAINPROBLEMTYPE" val="MultipleChoice"/>
  <p:tag name="RAINBULLET" val="Wrong"/>
</p:tagLst>
</file>

<file path=ppt/tags/tag11.xml><?xml version="1.0" encoding="utf-8"?>
<p:tagLst xmlns:p="http://schemas.openxmlformats.org/presentationml/2006/main">
  <p:tag name="RAINPROBLEM" val="ProblemBullet"/>
  <p:tag name="RAINPROBLEMTYPE" val="MultipleChoice"/>
  <p:tag name="RAINBULLET" val="Correct"/>
</p:tagLst>
</file>

<file path=ppt/tags/tag12.xml><?xml version="1.0" encoding="utf-8"?>
<p:tagLst xmlns:p="http://schemas.openxmlformats.org/presentationml/2006/main">
  <p:tag name="RAINPROBLEM" val="ProblemSubmit"/>
  <p:tag name="RAINPROBLEMTYPE" val="MultipleChoice"/>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 val="ProblemSetting"/>
  <p:tag name="RAINPROBLEMTYPE" val="MultipleChoice"/>
</p:tagLst>
</file>

<file path=ppt/tags/tag19.xml><?xml version="1.0" encoding="utf-8"?>
<p:tagLst xmlns:p="http://schemas.openxmlformats.org/presentationml/2006/main">
  <p:tag name="RAINPROBLEM" val="MultipleChoice"/>
  <p:tag name="PROBLEMSCORE" val="1.0"/>
</p:tagLst>
</file>

<file path=ppt/tags/tag20.xml><?xml version="1.0" encoding="utf-8"?>
<p:tagLst xmlns:p="http://schemas.openxmlformats.org/presentationml/2006/main">
  <p:tag name="RAINPROBLEM" val="ProblemBody"/>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Item"/>
</p:tagLst>
</file>

<file path=ppt/tags/tag24.xml><?xml version="1.0" encoding="utf-8"?>
<p:tagLst xmlns:p="http://schemas.openxmlformats.org/presentationml/2006/main">
  <p:tag name="RAINPROBLEM" val="ProblemItem"/>
</p:tagLst>
</file>

<file path=ppt/tags/tag25.xml><?xml version="1.0" encoding="utf-8"?>
<p:tagLst xmlns:p="http://schemas.openxmlformats.org/presentationml/2006/main">
  <p:tag name="RAINPROBLEM" val="ProblemBullet"/>
  <p:tag name="RAINPROBLEMTYPE" val="MultipleChoice"/>
  <p:tag name="RAINBULLET" val="Wrong"/>
</p:tagLst>
</file>

<file path=ppt/tags/tag26.xml><?xml version="1.0" encoding="utf-8"?>
<p:tagLst xmlns:p="http://schemas.openxmlformats.org/presentationml/2006/main">
  <p:tag name="RAINPROBLEM" val="ProblemBullet"/>
  <p:tag name="RAINPROBLEMTYPE" val="MultipleChoice"/>
  <p:tag name="RAINBULLET" val="Wrong"/>
</p:tagLst>
</file>

<file path=ppt/tags/tag27.xml><?xml version="1.0" encoding="utf-8"?>
<p:tagLst xmlns:p="http://schemas.openxmlformats.org/presentationml/2006/main">
  <p:tag name="RAINPROBLEM" val="ProblemBullet"/>
  <p:tag name="RAINPROBLEMTYPE" val="MultipleChoice"/>
  <p:tag name="RAINBULLET" val="Wrong"/>
</p:tagLst>
</file>

<file path=ppt/tags/tag28.xml><?xml version="1.0" encoding="utf-8"?>
<p:tagLst xmlns:p="http://schemas.openxmlformats.org/presentationml/2006/main">
  <p:tag name="RAINPROBLEM" val="ProblemBullet"/>
  <p:tag name="RAINPROBLEMTYPE" val="MultipleChoice"/>
  <p:tag name="RAINBULLET" val="Correct"/>
</p:tagLst>
</file>

<file path=ppt/tags/tag29.xml><?xml version="1.0" encoding="utf-8"?>
<p:tagLst xmlns:p="http://schemas.openxmlformats.org/presentationml/2006/main">
  <p:tag name="RAINPROBLEM" val="ProblemSubmit"/>
  <p:tag name="RAINPROBLEMTYPE" val="MultipleChoice"/>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 val="ProblemSetting"/>
  <p:tag name="RAINPROBLEMTYPE" val="MultipleChoice"/>
</p:tagLst>
</file>

<file path=ppt/tags/tag36.xml><?xml version="1.0" encoding="utf-8"?>
<p:tagLst xmlns:p="http://schemas.openxmlformats.org/presentationml/2006/main">
  <p:tag name="RAINPROBLEM" val="MultipleChoice"/>
  <p:tag name="PROBLEMSCORE" val="1.0"/>
</p:tagLst>
</file>

<file path=ppt/tags/tag37.xml><?xml version="1.0" encoding="utf-8"?>
<p:tagLst xmlns:p="http://schemas.openxmlformats.org/presentationml/2006/main">
  <p:tag name="RAINPROBLEM" val="ProblemBody"/>
</p:tagLst>
</file>

<file path=ppt/tags/tag38.xml><?xml version="1.0" encoding="utf-8"?>
<p:tagLst xmlns:p="http://schemas.openxmlformats.org/presentationml/2006/main">
  <p:tag name="RAINPROBLEM" val="ProblemItem"/>
</p:tagLst>
</file>

<file path=ppt/tags/tag39.xml><?xml version="1.0" encoding="utf-8"?>
<p:tagLst xmlns:p="http://schemas.openxmlformats.org/presentationml/2006/main">
  <p:tag name="RAINPROBLEM" val="ProblemItem"/>
</p:tagLst>
</file>

<file path=ppt/tags/tag40.xml><?xml version="1.0" encoding="utf-8"?>
<p:tagLst xmlns:p="http://schemas.openxmlformats.org/presentationml/2006/main">
  <p:tag name="RAINPROBLEM" val="ProblemItem"/>
</p:tagLst>
</file>

<file path=ppt/tags/tag41.xml><?xml version="1.0" encoding="utf-8"?>
<p:tagLst xmlns:p="http://schemas.openxmlformats.org/presentationml/2006/main">
  <p:tag name="RAINPROBLEM" val="ProblemItem"/>
</p:tagLst>
</file>

<file path=ppt/tags/tag42.xml><?xml version="1.0" encoding="utf-8"?>
<p:tagLst xmlns:p="http://schemas.openxmlformats.org/presentationml/2006/main">
  <p:tag name="RAINPROBLEM" val="ProblemBullet"/>
  <p:tag name="RAINPROBLEMTYPE" val="MultipleChoice"/>
  <p:tag name="RAINBULLET" val="Correct"/>
</p:tagLst>
</file>

<file path=ppt/tags/tag43.xml><?xml version="1.0" encoding="utf-8"?>
<p:tagLst xmlns:p="http://schemas.openxmlformats.org/presentationml/2006/main">
  <p:tag name="RAINPROBLEM" val="ProblemBullet"/>
  <p:tag name="RAINPROBLEMTYPE" val="MultipleChoice"/>
  <p:tag name="RAINBULLET" val="Wrong"/>
</p:tagLst>
</file>

<file path=ppt/tags/tag44.xml><?xml version="1.0" encoding="utf-8"?>
<p:tagLst xmlns:p="http://schemas.openxmlformats.org/presentationml/2006/main">
  <p:tag name="RAINPROBLEM" val="ProblemBullet"/>
  <p:tag name="RAINPROBLEMTYPE" val="MultipleChoice"/>
  <p:tag name="RAINBULLET" val="Wrong"/>
</p:tagLst>
</file>

<file path=ppt/tags/tag45.xml><?xml version="1.0" encoding="utf-8"?>
<p:tagLst xmlns:p="http://schemas.openxmlformats.org/presentationml/2006/main">
  <p:tag name="RAINPROBLEM" val="ProblemBullet"/>
  <p:tag name="RAINPROBLEMTYPE" val="MultipleChoice"/>
  <p:tag name="RAINBULLET" val="Wrong"/>
</p:tagLst>
</file>

<file path=ppt/tags/tag46.xml><?xml version="1.0" encoding="utf-8"?>
<p:tagLst xmlns:p="http://schemas.openxmlformats.org/presentationml/2006/main">
  <p:tag name="RAINPROBLEM" val="ProblemSubmit"/>
  <p:tag name="RAINPROBLEMTYPE" val="MultipleChoice"/>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 val="ProblemSetting"/>
  <p:tag name="RAINPROBLEMTYPE" val="MultipleChoice"/>
</p:tagLst>
</file>

<file path=ppt/tags/tag53.xml><?xml version="1.0" encoding="utf-8"?>
<p:tagLst xmlns:p="http://schemas.openxmlformats.org/presentationml/2006/main">
  <p:tag name="RAINPROBLEM" val="MultipleChoice"/>
  <p:tag name="PROBLEMSCORE" val="1.0"/>
</p:tagLst>
</file>

<file path=ppt/tags/tag54.xml><?xml version="1.0" encoding="utf-8"?>
<p:tagLst xmlns:p="http://schemas.openxmlformats.org/presentationml/2006/main">
  <p:tag name="KSO_WPP_MARK_KEY" val="479356df-f44a-43e4-ae1e-b6de35df8ab5"/>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15645</Words>
  <Application>WPS 演示</Application>
  <PresentationFormat>全屏显示(16:9)</PresentationFormat>
  <Paragraphs>1953</Paragraphs>
  <Slides>127</Slides>
  <Notes>41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127</vt:i4>
      </vt:variant>
    </vt:vector>
  </HeadingPairs>
  <TitlesOfParts>
    <vt:vector size="147" baseType="lpstr">
      <vt:lpstr>Arial</vt:lpstr>
      <vt:lpstr>宋体</vt:lpstr>
      <vt:lpstr>Wingdings</vt:lpstr>
      <vt:lpstr>Wingdings 3</vt:lpstr>
      <vt:lpstr>微软雅黑</vt:lpstr>
      <vt:lpstr>华康俪金黑W8(P)</vt:lpstr>
      <vt:lpstr>黑体</vt:lpstr>
      <vt:lpstr>经典繁仿黑</vt:lpstr>
      <vt:lpstr>Arial Narrow</vt:lpstr>
      <vt:lpstr>Times New Roman</vt:lpstr>
      <vt:lpstr>Arial Black</vt:lpstr>
      <vt:lpstr>Arial Unicode MS</vt:lpstr>
      <vt:lpstr>等线</vt:lpstr>
      <vt:lpstr>Microsoft JhengHei</vt:lpstr>
      <vt:lpstr>Arial</vt:lpstr>
      <vt:lpstr>Calibri</vt:lpstr>
      <vt:lpstr>华文细黑</vt:lpstr>
      <vt:lpstr>-apple-system</vt:lpstr>
      <vt:lpstr>Segoe Print</vt:lpstr>
      <vt:lpstr>积分</vt:lpstr>
      <vt:lpstr>软件工程 ——需求分析2</vt:lpstr>
      <vt:lpstr>前情回顾</vt:lpstr>
      <vt:lpstr>本次课程速递</vt:lpstr>
      <vt:lpstr>PowerPoint 演示文稿</vt:lpstr>
      <vt:lpstr>需求工程过程</vt:lpstr>
      <vt:lpstr>PowerPoint 演示文稿</vt:lpstr>
      <vt:lpstr>PowerPoint 演示文稿</vt:lpstr>
      <vt:lpstr>需求分析案例</vt:lpstr>
      <vt:lpstr>需求分析步骤</vt:lpstr>
      <vt:lpstr>网上报名系统的第一次访谈记录（节选）</vt:lpstr>
      <vt:lpstr>网上报名系统的第一次访谈记录（节选）</vt:lpstr>
      <vt:lpstr>需求建模的工作任务</vt:lpstr>
      <vt:lpstr>网上报名系统的需求建模</vt:lpstr>
      <vt:lpstr>需求建模</vt:lpstr>
      <vt:lpstr>什么是业务用例建模</vt:lpstr>
      <vt:lpstr>什么是用例图</vt:lpstr>
      <vt:lpstr>用例图的作用</vt:lpstr>
      <vt:lpstr>用例图对开发的意义</vt:lpstr>
      <vt:lpstr>用例图的优势</vt:lpstr>
      <vt:lpstr>大学信息系统的一个用例图</vt:lpstr>
      <vt:lpstr>用例图的组成</vt:lpstr>
      <vt:lpstr>什么是参与者</vt:lpstr>
      <vt:lpstr>什么是用例</vt:lpstr>
      <vt:lpstr>如何建立用例模型</vt:lpstr>
      <vt:lpstr>如何建立用例模型</vt:lpstr>
      <vt:lpstr>用例建模技术</vt:lpstr>
      <vt:lpstr>识别参与者的方法</vt:lpstr>
      <vt:lpstr>参与者建模的检查项 </vt:lpstr>
      <vt:lpstr>识别参与者的误区</vt:lpstr>
      <vt:lpstr>识别参与者的方法</vt:lpstr>
      <vt:lpstr>识别参与者练习1</vt:lpstr>
      <vt:lpstr>识别参与者练习2</vt:lpstr>
      <vt:lpstr>识别用例的方法（难点）</vt:lpstr>
      <vt:lpstr>识别用例的方法</vt:lpstr>
      <vt:lpstr>识别用例的方法</vt:lpstr>
      <vt:lpstr>识别用例的方法</vt:lpstr>
      <vt:lpstr>识别用例的注意事项</vt:lpstr>
      <vt:lpstr>用例定义不是功能分解</vt:lpstr>
      <vt:lpstr>功能分解</vt:lpstr>
      <vt:lpstr>正确的用例建模</vt:lpstr>
      <vt:lpstr>如何避免功能性分解</vt:lpstr>
      <vt:lpstr>识别用例案例</vt:lpstr>
      <vt:lpstr>识别用例案例</vt:lpstr>
      <vt:lpstr>识别用例练习</vt:lpstr>
      <vt:lpstr>识别用例练习</vt:lpstr>
      <vt:lpstr>用例图中的关系（难点）</vt:lpstr>
      <vt:lpstr>用例图中的关系</vt:lpstr>
      <vt:lpstr>用例图中的关系</vt:lpstr>
      <vt:lpstr>用例图中的关系</vt:lpstr>
      <vt:lpstr>用例图中的关系</vt:lpstr>
      <vt:lpstr>详解：包含(Include)关系</vt:lpstr>
      <vt:lpstr>包含举例</vt:lpstr>
      <vt:lpstr>包含举例</vt:lpstr>
      <vt:lpstr>包含练习</vt:lpstr>
      <vt:lpstr>用例图中的关系</vt:lpstr>
      <vt:lpstr>详解：扩展(Extend)关系</vt:lpstr>
      <vt:lpstr>详解：扩展关系</vt:lpstr>
      <vt:lpstr>扩展举例</vt:lpstr>
      <vt:lpstr>扩展举例</vt:lpstr>
      <vt:lpstr>例1</vt:lpstr>
      <vt:lpstr>例2</vt:lpstr>
      <vt:lpstr>详解：包含用例与扩展用例的区别</vt:lpstr>
      <vt:lpstr>用例图中的关系</vt:lpstr>
      <vt:lpstr>详解：泛化(Generalization)关系</vt:lpstr>
      <vt:lpstr>泛化举例</vt:lpstr>
      <vt:lpstr>泛化举例</vt:lpstr>
      <vt:lpstr>泛化举例</vt:lpstr>
      <vt:lpstr>泛化练习</vt:lpstr>
      <vt:lpstr>例子</vt:lpstr>
      <vt:lpstr>用例图、参与者、用例、关系小结</vt:lpstr>
      <vt:lpstr>案例——图书销售系统用例图</vt:lpstr>
      <vt:lpstr>案例——网上购物系统用例图</vt:lpstr>
      <vt:lpstr>案例——网上购物系统用例图</vt:lpstr>
      <vt:lpstr>约定</vt:lpstr>
      <vt:lpstr>识别执行者</vt:lpstr>
      <vt:lpstr>识别用例一</vt:lpstr>
      <vt:lpstr>识别用例二</vt:lpstr>
      <vt:lpstr>买家功能</vt:lpstr>
      <vt:lpstr>PowerPoint 演示文稿</vt:lpstr>
      <vt:lpstr>PowerPoint 演示文稿</vt:lpstr>
      <vt:lpstr>PowerPoint 演示文稿</vt:lpstr>
      <vt:lpstr>卖家功能</vt:lpstr>
      <vt:lpstr>PowerPoint 演示文稿</vt:lpstr>
      <vt:lpstr>PowerPoint 演示文稿</vt:lpstr>
      <vt:lpstr>网上报名系统的业务用例建模</vt:lpstr>
      <vt:lpstr>网上报名系统的业务用例建模</vt:lpstr>
      <vt:lpstr>UML建模工具</vt:lpstr>
      <vt:lpstr>网上报名系统的业务用例建模</vt:lpstr>
      <vt:lpstr>省队用户业务用例图</vt:lpstr>
      <vt:lpstr>管理员业务用例图</vt:lpstr>
      <vt:lpstr>PowerPoint 演示文稿</vt:lpstr>
      <vt:lpstr>从业务需求到系统需求</vt:lpstr>
      <vt:lpstr>要点：用户观点而非系统观点</vt:lpstr>
      <vt:lpstr>网上报名系统 —— 省队用户业务用例图</vt:lpstr>
      <vt:lpstr>网上报名系统 —— 省队用户系统用例</vt:lpstr>
      <vt:lpstr>网上报名系统 —— 省队用户系统用例</vt:lpstr>
      <vt:lpstr>PowerPoint 演示文稿</vt:lpstr>
      <vt:lpstr>管理员业务用例图</vt:lpstr>
      <vt:lpstr>网上报名系统——管理员系统用例</vt:lpstr>
      <vt:lpstr>管理员省队用户管理用例图</vt:lpstr>
      <vt:lpstr>网上报名系统——管理员系统用例</vt:lpstr>
      <vt:lpstr>PowerPoint 演示文稿</vt:lpstr>
      <vt:lpstr>新增系统用例——“登录”和“注销”</vt:lpstr>
      <vt:lpstr>省队用户系统用例图</vt:lpstr>
      <vt:lpstr>PowerPoint 演示文稿</vt:lpstr>
      <vt:lpstr>微信抢票应用案例</vt:lpstr>
      <vt:lpstr>PowerPoint 演示文稿</vt:lpstr>
      <vt:lpstr>PowerPoint 演示文稿</vt:lpstr>
      <vt:lpstr>建立用例模型</vt:lpstr>
      <vt:lpstr>用例模型的文本表示——用例描述 </vt:lpstr>
      <vt:lpstr>用例描述（用例规约）</vt:lpstr>
      <vt:lpstr>用例描述模板一</vt:lpstr>
      <vt:lpstr>用例描述模板二</vt:lpstr>
      <vt:lpstr>用例描述怎么写？</vt:lpstr>
      <vt:lpstr>PowerPoint 演示文稿</vt:lpstr>
      <vt:lpstr>PowerPoint 演示文稿</vt:lpstr>
      <vt:lpstr>PowerPoint 演示文稿</vt:lpstr>
      <vt:lpstr>PowerPoint 演示文稿</vt:lpstr>
      <vt:lpstr>PowerPoint 演示文稿</vt:lpstr>
      <vt:lpstr>PowerPoint 演示文稿</vt:lpstr>
      <vt:lpstr>网上报名系统的用例描述</vt:lpstr>
      <vt:lpstr>PowerPoint 演示文稿</vt:lpstr>
      <vt:lpstr>网上报名系统的用例描述--新增运动员报名</vt:lpstr>
      <vt:lpstr>网上报名系统的用例描述—修改用户</vt:lpstr>
      <vt:lpstr>总结：建立Use Case模型的步骤</vt:lpstr>
      <vt:lpstr>课后作业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853</cp:revision>
  <dcterms:created xsi:type="dcterms:W3CDTF">2020-02-07T06:58:00Z</dcterms:created>
  <dcterms:modified xsi:type="dcterms:W3CDTF">2025-11-24T03:15:35Z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6BAF5B4D85BA4A4E8F8E48B7B2365126_13</vt:lpwstr>
  </property>
  <property fmtid="{D5CDD505-2E9C-101B-9397-08002B2CF9AE}" pid="3" name="KSOProductBuildVer">
    <vt:lpwstr>2052-12.1.0.23542</vt:lpwstr>
  </property>
</Properties>
</file>