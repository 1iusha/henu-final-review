
<file path=[Content_Types].xml><?xml version="1.0" encoding="utf-8"?>
<Types xmlns="http://schemas.openxmlformats.org/package/2006/content-types">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png" ContentType="image/png"/>
  <Default Extension="wmf" ContentType="image/x-wmf"/>
  <Default Extension="emf" ContentType="image/x-emf"/>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54"/>
  </p:handoutMasterIdLst>
  <p:sldIdLst>
    <p:sldId id="256" r:id="rId3"/>
    <p:sldId id="1704" r:id="rId5"/>
    <p:sldId id="1705" r:id="rId6"/>
    <p:sldId id="1664" r:id="rId7"/>
    <p:sldId id="1665" r:id="rId8"/>
    <p:sldId id="1666" r:id="rId9"/>
    <p:sldId id="1667" r:id="rId10"/>
    <p:sldId id="1668" r:id="rId11"/>
    <p:sldId id="1669" r:id="rId12"/>
    <p:sldId id="1670" r:id="rId13"/>
    <p:sldId id="1671" r:id="rId14"/>
    <p:sldId id="1672" r:id="rId15"/>
    <p:sldId id="1673" r:id="rId16"/>
    <p:sldId id="1674" r:id="rId17"/>
    <p:sldId id="1675" r:id="rId18"/>
    <p:sldId id="1676" r:id="rId19"/>
    <p:sldId id="1677" r:id="rId20"/>
    <p:sldId id="1678" r:id="rId21"/>
    <p:sldId id="1679" r:id="rId22"/>
    <p:sldId id="1680" r:id="rId23"/>
    <p:sldId id="1681" r:id="rId24"/>
    <p:sldId id="1682" r:id="rId25"/>
    <p:sldId id="1683" r:id="rId26"/>
    <p:sldId id="1684" r:id="rId27"/>
    <p:sldId id="1685" r:id="rId28"/>
    <p:sldId id="1686" r:id="rId29"/>
    <p:sldId id="1687" r:id="rId30"/>
    <p:sldId id="1688" r:id="rId31"/>
    <p:sldId id="1715" r:id="rId32"/>
    <p:sldId id="1716" r:id="rId33"/>
    <p:sldId id="1717" r:id="rId34"/>
    <p:sldId id="1718" r:id="rId35"/>
    <p:sldId id="1719" r:id="rId36"/>
    <p:sldId id="1720" r:id="rId37"/>
    <p:sldId id="1721" r:id="rId38"/>
    <p:sldId id="1689" r:id="rId39"/>
    <p:sldId id="1690" r:id="rId40"/>
    <p:sldId id="1691" r:id="rId41"/>
    <p:sldId id="1692" r:id="rId42"/>
    <p:sldId id="1693" r:id="rId43"/>
    <p:sldId id="1694" r:id="rId44"/>
    <p:sldId id="1695" r:id="rId45"/>
    <p:sldId id="1696" r:id="rId46"/>
    <p:sldId id="1697" r:id="rId47"/>
    <p:sldId id="1698" r:id="rId48"/>
    <p:sldId id="1699" r:id="rId49"/>
    <p:sldId id="1700" r:id="rId50"/>
    <p:sldId id="1701" r:id="rId51"/>
    <p:sldId id="1702" r:id="rId52"/>
    <p:sldId id="1549" r:id="rId53"/>
  </p:sldIdLst>
  <p:sldSz cx="9144000" cy="5143500" type="screen16x9"/>
  <p:notesSz cx="6858000" cy="9144000"/>
  <p:custDataLst>
    <p:tags r:id="rId5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7" autoAdjust="0"/>
    <p:restoredTop sz="76153" autoAdjust="0"/>
  </p:normalViewPr>
  <p:slideViewPr>
    <p:cSldViewPr snapToGrid="0" showGuides="1">
      <p:cViewPr varScale="1">
        <p:scale>
          <a:sx n="100" d="100"/>
          <a:sy n="100" d="100"/>
        </p:scale>
        <p:origin x="1380" y="64"/>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1" d="100"/>
          <a:sy n="51" d="100"/>
        </p:scale>
        <p:origin x="776" y="5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8" Type="http://schemas.openxmlformats.org/officeDocument/2006/relationships/tags" Target="tags/tag3.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handoutMaster" Target="handoutMasters/handoutMaster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r>
              <a:rPr lang="zh-CN" altLang="en-US" sz="1400" dirty="0"/>
              <a:t>软件开发消耗的工作量</a:t>
            </a:r>
            <a:endParaRPr lang="zh-CN" altLang="en-US" sz="1400" dirty="0"/>
          </a:p>
        </c:rich>
      </c:tx>
      <c:layout>
        <c:manualLayout>
          <c:xMode val="edge"/>
          <c:yMode val="edge"/>
          <c:x val="0.177586119355449"/>
          <c:y val="0.04025142880687"/>
        </c:manualLayout>
      </c:layout>
      <c:overlay val="0"/>
      <c:spPr>
        <a:noFill/>
        <a:ln>
          <a:noFill/>
        </a:ln>
        <a:effectLst/>
      </c:spPr>
    </c:title>
    <c:autoTitleDeleted val="0"/>
    <c:plotArea>
      <c:layout>
        <c:manualLayout>
          <c:layoutTarget val="inner"/>
          <c:xMode val="edge"/>
          <c:yMode val="edge"/>
          <c:x val="0.0781609407623153"/>
          <c:y val="0.15681180159215"/>
          <c:w val="0.892528706451816"/>
          <c:h val="0.702844167474512"/>
        </c:manualLayout>
      </c:layout>
      <c:pieChart>
        <c:varyColors val="1"/>
        <c:ser>
          <c:idx val="0"/>
          <c:order val="0"/>
          <c:tx>
            <c:strRef>
              <c:f>Sheet1!$B$1</c:f>
              <c:strCache>
                <c:ptCount val="1"/>
                <c:pt idx="0">
                  <c:v>软件成本</c:v>
                </c:pt>
              </c:strCache>
            </c:strRef>
          </c:tx>
          <c:spPr/>
          <c:explosion val="0"/>
          <c:dPt>
            <c:idx val="0"/>
            <c:bubble3D val="0"/>
            <c:spPr>
              <a:solidFill>
                <a:schemeClr val="accent1"/>
              </a:solidFill>
              <a:ln w="25400">
                <a:solidFill>
                  <a:schemeClr val="lt1"/>
                </a:solidFill>
              </a:ln>
              <a:effectLst/>
              <a:sp3d contourW="25400">
                <a:contourClr>
                  <a:schemeClr val="lt1"/>
                </a:contourClr>
              </a:sp3d>
            </c:spPr>
          </c:dPt>
          <c:dPt>
            <c:idx val="1"/>
            <c:bubble3D val="0"/>
            <c:spPr>
              <a:solidFill>
                <a:schemeClr val="accent2"/>
              </a:solidFill>
              <a:ln w="25400">
                <a:solidFill>
                  <a:schemeClr val="lt1"/>
                </a:solidFill>
              </a:ln>
              <a:effectLst/>
              <a:sp3d contourW="25400">
                <a:contourClr>
                  <a:schemeClr val="lt1"/>
                </a:contourClr>
              </a:sp3d>
            </c:spPr>
          </c:dPt>
          <c:dLbls>
            <c:dLbl>
              <c:idx val="0"/>
              <c:layout>
                <c:manualLayout>
                  <c:x val="-0.0561783684980638"/>
                  <c:y val="0.100628572017175"/>
                </c:manualLayout>
              </c:layout>
              <c:dLblPos val="bestFit"/>
              <c:showLegendKey val="0"/>
              <c:showVal val="1"/>
              <c:showCatName val="0"/>
              <c:showSerName val="0"/>
              <c:showPercent val="0"/>
              <c:showBubbleSize val="0"/>
              <c:extLst>
                <c:ext xmlns:c15="http://schemas.microsoft.com/office/drawing/2012/chart" uri="{CE6537A1-D6FC-4f65-9D91-7224C49458BB}">
                  <c15:layout>
                    <c:manualLayout>
                      <c:w val="0.24886912812086"/>
                      <c:h val="0.153559200898209"/>
                    </c:manualLayout>
                  </c15:layout>
                </c:ext>
              </c:extLst>
            </c:dLbl>
            <c:dLbl>
              <c:idx val="1"/>
              <c:layout/>
              <c:numFmt formatCode="General" sourceLinked="1"/>
              <c:spPr>
                <a:noFill/>
                <a:ln>
                  <a:noFill/>
                </a:ln>
                <a:effectLst/>
              </c:spPr>
              <c:txPr>
                <a:bodyPr rot="0" spcFirstLastPara="1" vertOverflow="ellipsis" vert="horz" wrap="square" lIns="38100" tIns="19050" rIns="38100" bIns="19050" anchor="ctr" anchorCtr="1">
                  <a:noAutofit/>
                </a:bodyPr>
                <a:lstStyle/>
                <a:p>
                  <a:pPr>
                    <a:defRPr lang="zh-CN" sz="1195"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extLst>
                <c:ext xmlns:c15="http://schemas.microsoft.com/office/drawing/2012/chart" uri="{CE6537A1-D6FC-4f65-9D91-7224C49458BB}">
                  <c15:layout>
                    <c:manualLayout>
                      <c:w val="0.292834657299663"/>
                      <c:h val="0.163622058099927"/>
                    </c:manualLayout>
                  </c15:layout>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维护</c:v>
                </c:pt>
                <c:pt idx="1">
                  <c:v>开发</c:v>
                </c:pt>
              </c:strCache>
            </c:strRef>
          </c:cat>
          <c:val>
            <c:numRef>
              <c:f>Sheet1!$B$2:$B$3</c:f>
              <c:numCache>
                <c:formatCode>0.00%</c:formatCode>
                <c:ptCount val="2"/>
                <c:pt idx="0">
                  <c:v>0.708</c:v>
                </c:pt>
                <c:pt idx="1">
                  <c:v>0.292</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f973b0ba-90ab-4ca4-90df-61751c3bd318}"/>
      </c:ext>
    </c:extLst>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B55A7A-C502-46B6-855A-4BBB11597EE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8659B1-BC94-4B1F-9D70-551345BF8F3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18A599-32F8-4B61-A0CD-2608407245F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849A97-A90C-496F-AD26-75D9C1389A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514350" rtl="0" eaLnBrk="1" latinLnBrk="0" hangingPunct="1">
      <a:defRPr sz="675" kern="1200">
        <a:solidFill>
          <a:schemeClr val="tx1"/>
        </a:solidFill>
        <a:latin typeface="+mn-lt"/>
        <a:ea typeface="+mn-ea"/>
        <a:cs typeface="+mn-cs"/>
      </a:defRPr>
    </a:lvl1pPr>
    <a:lvl2pPr marL="257175" algn="l" defTabSz="514350" rtl="0" eaLnBrk="1" latinLnBrk="0" hangingPunct="1">
      <a:defRPr sz="675" kern="1200">
        <a:solidFill>
          <a:schemeClr val="tx1"/>
        </a:solidFill>
        <a:latin typeface="+mn-lt"/>
        <a:ea typeface="+mn-ea"/>
        <a:cs typeface="+mn-cs"/>
      </a:defRPr>
    </a:lvl2pPr>
    <a:lvl3pPr marL="514350" algn="l" defTabSz="514350" rtl="0" eaLnBrk="1" latinLnBrk="0" hangingPunct="1">
      <a:defRPr sz="675" kern="1200">
        <a:solidFill>
          <a:schemeClr val="tx1"/>
        </a:solidFill>
        <a:latin typeface="+mn-lt"/>
        <a:ea typeface="+mn-ea"/>
        <a:cs typeface="+mn-cs"/>
      </a:defRPr>
    </a:lvl3pPr>
    <a:lvl4pPr marL="771525" algn="l" defTabSz="514350" rtl="0" eaLnBrk="1" latinLnBrk="0" hangingPunct="1">
      <a:defRPr sz="675" kern="1200">
        <a:solidFill>
          <a:schemeClr val="tx1"/>
        </a:solidFill>
        <a:latin typeface="+mn-lt"/>
        <a:ea typeface="+mn-ea"/>
        <a:cs typeface="+mn-cs"/>
      </a:defRPr>
    </a:lvl4pPr>
    <a:lvl5pPr marL="1028700" algn="l" defTabSz="514350" rtl="0" eaLnBrk="1" latinLnBrk="0" hangingPunct="1">
      <a:defRPr sz="675" kern="1200">
        <a:solidFill>
          <a:schemeClr val="tx1"/>
        </a:solidFill>
        <a:latin typeface="+mn-lt"/>
        <a:ea typeface="+mn-ea"/>
        <a:cs typeface="+mn-cs"/>
      </a:defRPr>
    </a:lvl5pPr>
    <a:lvl6pPr marL="1285875" algn="l" defTabSz="514350" rtl="0" eaLnBrk="1" latinLnBrk="0" hangingPunct="1">
      <a:defRPr sz="675" kern="1200">
        <a:solidFill>
          <a:schemeClr val="tx1"/>
        </a:solidFill>
        <a:latin typeface="+mn-lt"/>
        <a:ea typeface="+mn-ea"/>
        <a:cs typeface="+mn-cs"/>
      </a:defRPr>
    </a:lvl6pPr>
    <a:lvl7pPr marL="1543050" algn="l" defTabSz="514350" rtl="0" eaLnBrk="1" latinLnBrk="0" hangingPunct="1">
      <a:defRPr sz="675" kern="1200">
        <a:solidFill>
          <a:schemeClr val="tx1"/>
        </a:solidFill>
        <a:latin typeface="+mn-lt"/>
        <a:ea typeface="+mn-ea"/>
        <a:cs typeface="+mn-cs"/>
      </a:defRPr>
    </a:lvl7pPr>
    <a:lvl8pPr marL="1800225" algn="l" defTabSz="514350" rtl="0" eaLnBrk="1" latinLnBrk="0" hangingPunct="1">
      <a:defRPr sz="675" kern="1200">
        <a:solidFill>
          <a:schemeClr val="tx1"/>
        </a:solidFill>
        <a:latin typeface="+mn-lt"/>
        <a:ea typeface="+mn-ea"/>
        <a:cs typeface="+mn-cs"/>
      </a:defRPr>
    </a:lvl8pPr>
    <a:lvl9pPr marL="2057400" algn="l" defTabSz="514350" rtl="0" eaLnBrk="1" latinLnBrk="0" hangingPunct="1">
      <a:defRPr sz="67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问题：</a:t>
            </a:r>
            <a:endParaRPr lang="en-US" altLang="zh-CN" dirty="0" smtClean="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p>
            <a:fld id="{4775FDD6-9CE3-4C46-BAB0-CCEFD63004A3}" type="slidenum">
              <a:rPr lang="zh-CN" altLang="en-US" smtClean="0"/>
            </a:fld>
            <a:endParaRPr lang="en-US" altLang="zh-CN"/>
          </a:p>
        </p:txBody>
      </p:sp>
      <p:sp>
        <p:nvSpPr>
          <p:cNvPr id="144387" name="Rectangle 2"/>
          <p:cNvSpPr>
            <a:spLocks noGrp="1" noRot="1" noChangeAspect="1" noChangeArrowheads="1" noTextEdit="1"/>
          </p:cNvSpPr>
          <p:nvPr>
            <p:ph type="sldImg"/>
          </p:nvPr>
        </p:nvSpPr>
        <p:spPr>
          <a:xfrm>
            <a:off x="381000" y="685800"/>
            <a:ext cx="6096000" cy="3429000"/>
          </a:xfrm>
        </p:spPr>
      </p:sp>
      <p:sp>
        <p:nvSpPr>
          <p:cNvPr id="144388" name="Rectangle 3"/>
          <p:cNvSpPr>
            <a:spLocks noGrp="1" noChangeArrowheads="1"/>
          </p:cNvSpPr>
          <p:nvPr>
            <p:ph type="body" idx="1"/>
          </p:nvPr>
        </p:nvSpPr>
        <p:spPr>
          <a:noFill/>
        </p:spPr>
        <p:txBody>
          <a:bodyPr/>
          <a:lstStyle/>
          <a:p>
            <a:pPr eaLnBrk="1" hangingPunct="1"/>
            <a:r>
              <a:rPr lang="zh-CN" altLang="en-US" dirty="0"/>
              <a:t>调试过程从执行一个测试用例开始，评估测试结果，如果发现实际结果与预期结果不一致，则这种不一致就是一个症状，它表明在软件中存在着隐藏的问题。调试过程试图找出产生症状的原因，以便改正错误。</a:t>
            </a:r>
            <a:endParaRPr lang="zh-CN" altLang="en-US" dirty="0"/>
          </a:p>
          <a:p>
            <a:pPr eaLnBrk="1" hangingPunct="1"/>
            <a:r>
              <a:rPr lang="zh-CN" altLang="en-US" dirty="0"/>
              <a:t>调试过程总会有以下两种结果之一： </a:t>
            </a:r>
            <a:r>
              <a:rPr lang="en-US" altLang="zh-CN" dirty="0"/>
              <a:t>①</a:t>
            </a:r>
            <a:r>
              <a:rPr lang="zh-CN" altLang="en-US" dirty="0"/>
              <a:t>找到了问题的原因并把问题改正和排除掉了； </a:t>
            </a:r>
            <a:r>
              <a:rPr lang="en-US" altLang="zh-CN" dirty="0"/>
              <a:t>②</a:t>
            </a:r>
            <a:r>
              <a:rPr lang="zh-CN" altLang="en-US" dirty="0"/>
              <a:t>没找出问题的原因。在后一种情况下，调试人员可以猜想一个原因，并设计测试用例来验证这个假设，重复此过程直至找到原因并改正了错误。</a:t>
            </a: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p>
            <a:fld id="{84EA676F-139A-4446-800D-6E42524B07EA}" type="slidenum">
              <a:rPr lang="zh-CN" altLang="en-US" smtClean="0"/>
            </a:fld>
            <a:endParaRPr lang="en-US" altLang="zh-CN"/>
          </a:p>
        </p:txBody>
      </p:sp>
      <p:sp>
        <p:nvSpPr>
          <p:cNvPr id="145411" name="Rectangle 2"/>
          <p:cNvSpPr>
            <a:spLocks noGrp="1" noRot="1" noChangeAspect="1" noChangeArrowheads="1" noTextEdit="1"/>
          </p:cNvSpPr>
          <p:nvPr>
            <p:ph type="sldImg"/>
          </p:nvPr>
        </p:nvSpPr>
        <p:spPr>
          <a:xfrm>
            <a:off x="381000" y="685800"/>
            <a:ext cx="6096000" cy="3429000"/>
          </a:xfrm>
        </p:spPr>
      </p:sp>
      <p:sp>
        <p:nvSpPr>
          <p:cNvPr id="145412" name="Rectangle 3"/>
          <p:cNvSpPr>
            <a:spLocks noGrp="1" noChangeArrowheads="1"/>
          </p:cNvSpPr>
          <p:nvPr>
            <p:ph type="body" idx="1"/>
          </p:nvPr>
        </p:nvSpPr>
        <p:spPr>
          <a:noFill/>
        </p:spPr>
        <p:txBody>
          <a:bodyPr/>
          <a:lstStyle/>
          <a:p>
            <a:pPr eaLnBrk="1" hangingPunct="1">
              <a:lnSpc>
                <a:spcPct val="80000"/>
              </a:lnSpc>
            </a:pPr>
            <a:r>
              <a:rPr lang="en-US" altLang="zh-CN" sz="1000" dirty="0">
                <a:solidFill>
                  <a:srgbClr val="800000"/>
                </a:solidFill>
              </a:rPr>
              <a:t>1. </a:t>
            </a:r>
            <a:r>
              <a:rPr lang="zh-CN" altLang="en-US" sz="1000" dirty="0">
                <a:solidFill>
                  <a:srgbClr val="800000"/>
                </a:solidFill>
              </a:rPr>
              <a:t>蛮干法</a:t>
            </a:r>
            <a:endParaRPr lang="zh-CN" altLang="en-US" sz="1000" dirty="0">
              <a:solidFill>
                <a:srgbClr val="800000"/>
              </a:solidFill>
            </a:endParaRPr>
          </a:p>
          <a:p>
            <a:pPr eaLnBrk="1" hangingPunct="1">
              <a:lnSpc>
                <a:spcPct val="80000"/>
              </a:lnSpc>
            </a:pPr>
            <a:r>
              <a:rPr lang="zh-CN" altLang="en-US" sz="1000" dirty="0"/>
              <a:t>蛮干法可能是寻找软件错误原因的最低效的方法。仅当所有其他方法都失败了的情况下，才应该使用这种方法。按照“让计算机自己寻找错误”的策略，这种方法印出内存的内容，激活对运行过程的跟踪，并在程序中到处都写上</a:t>
            </a:r>
            <a:r>
              <a:rPr lang="en-US" altLang="zh-CN" sz="1000" dirty="0"/>
              <a:t>WRITE</a:t>
            </a:r>
            <a:r>
              <a:rPr lang="zh-CN" altLang="en-US" sz="1000" dirty="0"/>
              <a:t>（输出）语句，希望在这样生成的信息海洋的某个地方发现错误原因的线索。虽然所生成的大量信息也可能最终导致调试成功，但是，在更多情况下这样做只会浪费时间和精力。在使用任何一种调试方法之前，必须首先进行周密的思考，必须有明确的目的，应该尽量减少无关信息的数量。</a:t>
            </a:r>
            <a:endParaRPr lang="zh-CN" altLang="en-US" sz="1000" dirty="0"/>
          </a:p>
          <a:p>
            <a:pPr eaLnBrk="1" hangingPunct="1">
              <a:lnSpc>
                <a:spcPct val="80000"/>
              </a:lnSpc>
            </a:pPr>
            <a:r>
              <a:rPr lang="en-US" altLang="zh-CN" sz="1000" dirty="0">
                <a:solidFill>
                  <a:srgbClr val="800000"/>
                </a:solidFill>
              </a:rPr>
              <a:t>2. </a:t>
            </a:r>
            <a:r>
              <a:rPr lang="zh-CN" altLang="en-US" sz="1000" dirty="0">
                <a:solidFill>
                  <a:srgbClr val="800000"/>
                </a:solidFill>
              </a:rPr>
              <a:t>回溯法</a:t>
            </a:r>
            <a:endParaRPr lang="zh-CN" altLang="en-US" sz="1000" dirty="0">
              <a:solidFill>
                <a:srgbClr val="800000"/>
              </a:solidFill>
            </a:endParaRPr>
          </a:p>
          <a:p>
            <a:pPr eaLnBrk="1" hangingPunct="1">
              <a:lnSpc>
                <a:spcPct val="80000"/>
              </a:lnSpc>
            </a:pPr>
            <a:r>
              <a:rPr lang="zh-CN" altLang="en-US" sz="1000" dirty="0"/>
              <a:t>回溯是一种相当常用的调试方法，当调试小程序时这种方法是有效的。具体做法是，从发现症状的地方开始，人工沿程序的控制流往回追踪分析源程序代码，直到找出错误原因为止。但是，随着程序规模扩大，应该回溯的路径数目也变得越来越大，以至彻底回溯变成完全不可能了。</a:t>
            </a:r>
            <a:endParaRPr lang="zh-CN" altLang="en-US" sz="1000" dirty="0"/>
          </a:p>
          <a:p>
            <a:pPr eaLnBrk="1" hangingPunct="1">
              <a:lnSpc>
                <a:spcPct val="80000"/>
              </a:lnSpc>
            </a:pPr>
            <a:r>
              <a:rPr lang="en-US" altLang="zh-CN" sz="1000" dirty="0">
                <a:solidFill>
                  <a:srgbClr val="800000"/>
                </a:solidFill>
              </a:rPr>
              <a:t>3. </a:t>
            </a:r>
            <a:r>
              <a:rPr lang="zh-CN" altLang="en-US" sz="1000" dirty="0">
                <a:solidFill>
                  <a:srgbClr val="800000"/>
                </a:solidFill>
              </a:rPr>
              <a:t>原因排除法</a:t>
            </a:r>
            <a:endParaRPr lang="zh-CN" altLang="en-US" sz="1000" dirty="0">
              <a:solidFill>
                <a:srgbClr val="800000"/>
              </a:solidFill>
            </a:endParaRPr>
          </a:p>
          <a:p>
            <a:pPr eaLnBrk="1" hangingPunct="1">
              <a:lnSpc>
                <a:spcPct val="80000"/>
              </a:lnSpc>
            </a:pPr>
            <a:r>
              <a:rPr lang="zh-CN" altLang="en-US" sz="1000" dirty="0"/>
              <a:t>对分查找法、归纳法和演绎法都属于原因排除法。</a:t>
            </a:r>
            <a:endParaRPr lang="zh-CN" altLang="en-US" sz="1000" dirty="0"/>
          </a:p>
          <a:p>
            <a:pPr eaLnBrk="1" hangingPunct="1">
              <a:lnSpc>
                <a:spcPct val="80000"/>
              </a:lnSpc>
            </a:pPr>
            <a:r>
              <a:rPr lang="zh-CN" altLang="en-US" sz="1000" dirty="0"/>
              <a:t>对分查找法的基本思路是，如果已经知道每个变量在程序内若干个关键点的正确值，则可以用赋值语句或输入语句在程序中点附近“注入”这些变量的正确值，然后运行程序并检查所得到的输出。如果输出结果是正确的，则错误原因在程序的前半部分；反之，错误原因在程序的后半部分。对错误原因所在的那部分再重复使用这个方法，直到把出错范围缩小到容易诊断的程度为止。</a:t>
            </a:r>
            <a:endParaRPr lang="zh-CN" altLang="en-US" sz="1000" dirty="0"/>
          </a:p>
          <a:p>
            <a:pPr eaLnBrk="1" hangingPunct="1">
              <a:lnSpc>
                <a:spcPct val="80000"/>
              </a:lnSpc>
            </a:pPr>
            <a:r>
              <a:rPr lang="zh-CN" altLang="en-US" sz="1000" dirty="0"/>
              <a:t>归纳法是从个别现象推断出一般性结论的思维方法。使用这种方法调试程序时，首先把和错误有关的数据组织起来进行分析，以便发现可能的错误原因。然后导出对错误原因的一个或多个假设，并利用已有的数据来证明或排除这些假设。当然，如果已有的数据尚不足以证明或排除这些假设，则需设计并执行一些新的测试用例，以获得更多的数据。</a:t>
            </a:r>
            <a:endParaRPr lang="zh-CN" altLang="en-US" sz="1000" dirty="0"/>
          </a:p>
          <a:p>
            <a:pPr eaLnBrk="1" hangingPunct="1">
              <a:lnSpc>
                <a:spcPct val="80000"/>
              </a:lnSpc>
            </a:pPr>
            <a:r>
              <a:rPr lang="zh-CN" altLang="en-US" sz="1000" dirty="0"/>
              <a:t>演绎法从一般原理或前提出发，经过排除和精化的过程推导出结论。采用这种方法调试程序时，首先设想出所有可能的出错原因，然后试图用测试来排除每一个假设的原因。如果测试表明某个假设的原因可能是真的原因，则对数据进行细化以准确定位错误。</a:t>
            </a:r>
            <a:endParaRPr lang="zh-CN" altLang="en-US" sz="1000" dirty="0"/>
          </a:p>
          <a:p>
            <a:pPr eaLnBrk="1" hangingPunct="1">
              <a:lnSpc>
                <a:spcPct val="80000"/>
              </a:lnSpc>
            </a:pPr>
            <a:r>
              <a:rPr lang="zh-CN" altLang="en-US" sz="1000" dirty="0"/>
              <a:t>上述</a:t>
            </a:r>
            <a:r>
              <a:rPr lang="en-US" altLang="zh-CN" sz="1000" dirty="0"/>
              <a:t>3</a:t>
            </a:r>
            <a:r>
              <a:rPr lang="zh-CN" altLang="en-US" sz="1000" dirty="0"/>
              <a:t>种调试途径都可以使用调试工具辅助完成，但是工具并不能代替对全部设计文档和源程序的仔细分析与评估。</a:t>
            </a:r>
            <a:endParaRPr lang="zh-CN" altLang="en-US" sz="1000" dirty="0"/>
          </a:p>
          <a:p>
            <a:pPr eaLnBrk="1" hangingPunct="1">
              <a:lnSpc>
                <a:spcPct val="80000"/>
              </a:lnSpc>
            </a:pPr>
            <a:endParaRPr lang="zh-CN" altLang="en-US" sz="10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p:sp>
      <p:sp>
        <p:nvSpPr>
          <p:cNvPr id="77827" name="备注占位符 2"/>
          <p:cNvSpPr>
            <a:spLocks noGrp="1"/>
          </p:cNvSpPr>
          <p:nvPr>
            <p:ph type="body" idx="1"/>
          </p:nvPr>
        </p:nvSpPr>
        <p:spPr>
          <a:noFill/>
        </p:spPr>
        <p:txBody>
          <a:bodyPr/>
          <a:lstStyle/>
          <a:p>
            <a:endParaRPr lang="zh-CN" altLang="en-US"/>
          </a:p>
        </p:txBody>
      </p:sp>
      <p:sp>
        <p:nvSpPr>
          <p:cNvPr id="77828" name="灯片编号占位符 3"/>
          <p:cNvSpPr>
            <a:spLocks noGrp="1"/>
          </p:cNvSpPr>
          <p:nvPr>
            <p:ph type="sldNum" sz="quarter" idx="5"/>
          </p:nvPr>
        </p:nvSpPr>
        <p:spPr>
          <a:noFill/>
        </p:spPr>
        <p:txBody>
          <a:bodyPr/>
          <a:lstStyle/>
          <a:p>
            <a:fld id="{275739F7-CCCB-43EE-A3E6-204DD7795E51}" type="slidenum">
              <a:rPr lang="zh-CN" altLang="en-US"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A160DA8C-1F15-4EF4-BF26-270A3630856F}" type="slidenum">
              <a:rPr lang="zh-CN" altLang="en-US" smtClean="0"/>
            </a:fld>
            <a:endParaRPr lang="en-US" altLang="zh-CN"/>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noFill/>
        </p:spPr>
        <p:txBody>
          <a:bodyPr/>
          <a:lstStyle/>
          <a:p>
            <a:r>
              <a:rPr lang="en-US" altLang="zh-CN">
                <a:solidFill>
                  <a:srgbClr val="800000"/>
                </a:solidFill>
              </a:rPr>
              <a:t>1. </a:t>
            </a:r>
            <a:r>
              <a:rPr lang="zh-CN" altLang="en-US">
                <a:solidFill>
                  <a:srgbClr val="800000"/>
                </a:solidFill>
              </a:rPr>
              <a:t>用户文档</a:t>
            </a:r>
            <a:endParaRPr lang="zh-CN" altLang="en-US">
              <a:solidFill>
                <a:srgbClr val="800000"/>
              </a:solidFill>
            </a:endParaRPr>
          </a:p>
          <a:p>
            <a:r>
              <a:rPr lang="zh-CN" altLang="en-US"/>
              <a:t>用户文档是用户了解系统的第一步，它应该能使用户获得对系统的准确的初步印象。文档的结构方式应该使用户能够方便地根据需要阅读有关的内容。</a:t>
            </a:r>
            <a:endParaRPr lang="zh-CN" altLang="en-US"/>
          </a:p>
          <a:p>
            <a:r>
              <a:rPr lang="zh-CN" altLang="en-US"/>
              <a:t>用户文档至少应该包括下述</a:t>
            </a:r>
            <a:r>
              <a:rPr lang="en-US" altLang="zh-CN"/>
              <a:t>5</a:t>
            </a:r>
            <a:r>
              <a:rPr lang="zh-CN" altLang="en-US"/>
              <a:t>方面的内容：</a:t>
            </a:r>
            <a:endParaRPr lang="zh-CN" altLang="en-US"/>
          </a:p>
          <a:p>
            <a:r>
              <a:rPr lang="en-US" altLang="zh-CN"/>
              <a:t>(1) </a:t>
            </a:r>
            <a:r>
              <a:rPr lang="zh-CN" altLang="en-US"/>
              <a:t>功能描述，说明系统能做什么；</a:t>
            </a:r>
            <a:endParaRPr lang="zh-CN" altLang="en-US"/>
          </a:p>
          <a:p>
            <a:r>
              <a:rPr lang="en-US" altLang="zh-CN"/>
              <a:t>(2) </a:t>
            </a:r>
            <a:r>
              <a:rPr lang="zh-CN" altLang="en-US"/>
              <a:t>安装文档，说明怎样安装这个系统以及怎样使系统适应特定的硬件配置；</a:t>
            </a:r>
            <a:endParaRPr lang="zh-CN" altLang="en-US"/>
          </a:p>
          <a:p>
            <a:r>
              <a:rPr lang="en-US" altLang="zh-CN"/>
              <a:t>(3) </a:t>
            </a:r>
            <a:r>
              <a:rPr lang="zh-CN" altLang="en-US"/>
              <a:t>使用手册，简要说明如何着手使用这个系统</a:t>
            </a:r>
            <a:r>
              <a:rPr lang="en-US" altLang="zh-CN"/>
              <a:t>(</a:t>
            </a:r>
            <a:r>
              <a:rPr lang="zh-CN" altLang="en-US"/>
              <a:t>应该通过丰富例子说明怎样使用常用的系统功能，还应该说明用户操作错误时怎样恢复和重新启动</a:t>
            </a:r>
            <a:r>
              <a:rPr lang="en-US" altLang="zh-CN"/>
              <a:t>)</a:t>
            </a:r>
            <a:r>
              <a:rPr lang="zh-CN" altLang="en-US"/>
              <a:t>；</a:t>
            </a:r>
            <a:endParaRPr lang="zh-CN" altLang="en-US"/>
          </a:p>
          <a:p>
            <a:r>
              <a:rPr lang="en-US" altLang="zh-CN"/>
              <a:t>(4) </a:t>
            </a:r>
            <a:r>
              <a:rPr lang="zh-CN" altLang="en-US"/>
              <a:t>参考手册，详尽描述用户可以使用的所有系统设施以及它们的使用方法，还应该解释系统可能产生的各种出错信息的含义</a:t>
            </a:r>
            <a:r>
              <a:rPr lang="en-US" altLang="zh-CN"/>
              <a:t>(</a:t>
            </a:r>
            <a:r>
              <a:rPr lang="zh-CN" altLang="en-US"/>
              <a:t>对参考手册最主要的要求是完整，因此通常使用形式化的描述技术</a:t>
            </a:r>
            <a:r>
              <a:rPr lang="en-US" altLang="zh-CN"/>
              <a:t>)</a:t>
            </a:r>
            <a:r>
              <a:rPr lang="zh-CN" altLang="en-US"/>
              <a:t>；</a:t>
            </a:r>
            <a:endParaRPr lang="zh-CN" altLang="en-US"/>
          </a:p>
          <a:p>
            <a:r>
              <a:rPr lang="en-US" altLang="zh-CN"/>
              <a:t>(5) </a:t>
            </a:r>
            <a:r>
              <a:rPr lang="zh-CN" altLang="en-US"/>
              <a:t>操作员指南</a:t>
            </a:r>
            <a:r>
              <a:rPr lang="en-US" altLang="zh-CN"/>
              <a:t>(</a:t>
            </a:r>
            <a:r>
              <a:rPr lang="zh-CN" altLang="en-US"/>
              <a:t>如果需要有系统操作员的话</a:t>
            </a:r>
            <a:r>
              <a:rPr lang="en-US" altLang="zh-CN"/>
              <a:t>)</a:t>
            </a:r>
            <a:r>
              <a:rPr lang="zh-CN" altLang="en-US"/>
              <a:t>，说明操作员应该如何处理使用中出现的各种情况。</a:t>
            </a:r>
            <a:endParaRPr lang="zh-CN" altLang="en-US"/>
          </a:p>
          <a:p>
            <a:r>
              <a:rPr lang="zh-CN" altLang="en-US"/>
              <a:t>上述内容可以分别作为独立的文档，也可以作为一个文档的不同分册，具体做法应该由系统规模决定。</a:t>
            </a:r>
            <a:endParaRPr lang="zh-CN" altLang="en-US"/>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幻灯片图像占位符 1"/>
          <p:cNvSpPr>
            <a:spLocks noGrp="1" noRot="1" noChangeAspect="1" noTextEdit="1"/>
          </p:cNvSpPr>
          <p:nvPr>
            <p:ph type="sldImg"/>
          </p:nvPr>
        </p:nvSpPr>
        <p:spPr>
          <a:xfrm>
            <a:off x="381000" y="685800"/>
            <a:ext cx="6096000" cy="3429000"/>
          </a:xfrm>
        </p:spPr>
      </p:sp>
      <p:sp>
        <p:nvSpPr>
          <p:cNvPr id="154627" name="备注占位符 2"/>
          <p:cNvSpPr>
            <a:spLocks noGrp="1"/>
          </p:cNvSpPr>
          <p:nvPr>
            <p:ph type="body" idx="1"/>
          </p:nvPr>
        </p:nvSpPr>
        <p:spPr>
          <a:noFill/>
        </p:spPr>
        <p:txBody>
          <a:bodyPr/>
          <a:lstStyle/>
          <a:p>
            <a:endParaRPr lang="zh-CN" altLang="en-US"/>
          </a:p>
        </p:txBody>
      </p:sp>
      <p:sp>
        <p:nvSpPr>
          <p:cNvPr id="154628" name="灯片编号占位符 3"/>
          <p:cNvSpPr>
            <a:spLocks noGrp="1"/>
          </p:cNvSpPr>
          <p:nvPr>
            <p:ph type="sldNum" sz="quarter" idx="5"/>
          </p:nvPr>
        </p:nvSpPr>
        <p:spPr>
          <a:noFill/>
        </p:spPr>
        <p:txBody>
          <a:bodyPr/>
          <a:lstStyle/>
          <a:p>
            <a:fld id="{E6701C19-0440-40F3-862D-DDB121D7549A}" type="slidenum">
              <a:rPr lang="zh-CN" altLang="en-US"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Rectangle 6"/>
          <p:cNvSpPr/>
          <p:nvPr userDrawn="1"/>
        </p:nvSpPr>
        <p:spPr>
          <a:xfrm>
            <a:off x="0" y="-1"/>
            <a:ext cx="9144000" cy="34290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3720103"/>
            <a:ext cx="5829300" cy="1097280"/>
          </a:xfrm>
        </p:spPr>
        <p:txBody>
          <a:bodyPr anchor="ctr">
            <a:normAutofit/>
          </a:bodyPr>
          <a:lstStyle>
            <a:lvl1pPr algn="r">
              <a:defRPr sz="3750" spc="150" baseline="0"/>
            </a:lvl1pPr>
          </a:lstStyle>
          <a:p>
            <a:r>
              <a:rPr lang="zh-CN" altLang="en-US" dirty="0"/>
              <a:t>单击此处编辑母版标题样式</a:t>
            </a:r>
            <a:endParaRPr lang="en-US" dirty="0"/>
          </a:p>
        </p:txBody>
      </p:sp>
      <p:sp>
        <p:nvSpPr>
          <p:cNvPr id="3" name="Subtitle 2"/>
          <p:cNvSpPr>
            <a:spLocks noGrp="1"/>
          </p:cNvSpPr>
          <p:nvPr>
            <p:ph type="subTitle" idx="1" hasCustomPrompt="1"/>
          </p:nvPr>
        </p:nvSpPr>
        <p:spPr>
          <a:xfrm>
            <a:off x="6457950" y="3720103"/>
            <a:ext cx="2400300" cy="1097280"/>
          </a:xfrm>
        </p:spPr>
        <p:txBody>
          <a:bodyPr lIns="91440" rIns="91440" anchor="ctr">
            <a:normAutofit/>
          </a:bodyPr>
          <a:lstStyle>
            <a:lvl1pPr marL="0" indent="0" algn="l">
              <a:lnSpc>
                <a:spcPct val="100000"/>
              </a:lnSpc>
              <a:spcBef>
                <a:spcPts val="0"/>
              </a:spcBef>
              <a:buNone/>
              <a:defRPr sz="1350">
                <a:solidFill>
                  <a:schemeClr val="tx1">
                    <a:lumMod val="90000"/>
                    <a:lumOff val="10000"/>
                  </a:schemeClr>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zh-CN" altLang="en-US" dirty="0"/>
              <a:t>单击以编辑母版副标题样式</a:t>
            </a:r>
            <a:endParaRPr lang="en-US" dirty="0"/>
          </a:p>
        </p:txBody>
      </p:sp>
      <p:sp>
        <p:nvSpPr>
          <p:cNvPr id="4" name="Date Placeholder 3"/>
          <p:cNvSpPr>
            <a:spLocks noGrp="1"/>
          </p:cNvSpPr>
          <p:nvPr>
            <p:ph type="dt" sz="half" idx="10"/>
          </p:nvPr>
        </p:nvSpPr>
        <p:spPr/>
        <p:txBody>
          <a:bodyPr/>
          <a:lstStyle>
            <a:lvl1pPr algn="ctr">
              <a:defRPr sz="1600">
                <a:latin typeface="+mn-lt"/>
              </a:defRPr>
            </a:lvl1pPr>
          </a:lstStyle>
          <a:p>
            <a:fld id="{ACB945F8-FDF6-4CF8-999B-FD879E7F9281}" type="datetime1">
              <a:rPr lang="zh-CN" altLang="en-US" smtClean="0"/>
            </a:fld>
            <a:endParaRPr lang="zh-CN" altLang="en-US" dirty="0"/>
          </a:p>
        </p:txBody>
      </p:sp>
      <p:sp>
        <p:nvSpPr>
          <p:cNvPr id="5" name="Footer Placeholder 4"/>
          <p:cNvSpPr>
            <a:spLocks noGrp="1"/>
          </p:cNvSpPr>
          <p:nvPr>
            <p:ph type="ftr" sz="quarter" idx="11"/>
          </p:nvPr>
        </p:nvSpPr>
        <p:spPr>
          <a:xfrm>
            <a:off x="2298032" y="4853028"/>
            <a:ext cx="5760261" cy="205740"/>
          </a:xfrm>
        </p:spPr>
        <p:txBody>
          <a:bodyPr/>
          <a:lstStyle>
            <a:lvl1pPr algn="ctr">
              <a:defRPr sz="1600">
                <a:latin typeface="+mn-lt"/>
              </a:defRPr>
            </a:lvl1pPr>
          </a:lstStyle>
          <a:p>
            <a:r>
              <a:rPr lang="zh-CN" altLang="en-US"/>
              <a:t>软件工程</a:t>
            </a:r>
            <a:endParaRPr lang="zh-CN" altLang="en-US" dirty="0"/>
          </a:p>
        </p:txBody>
      </p:sp>
      <p:sp>
        <p:nvSpPr>
          <p:cNvPr id="6" name="Slide Number Placeholder 5"/>
          <p:cNvSpPr>
            <a:spLocks noGrp="1"/>
          </p:cNvSpPr>
          <p:nvPr>
            <p:ph type="sldNum" sz="quarter" idx="12"/>
          </p:nvPr>
        </p:nvSpPr>
        <p:spPr/>
        <p:txBody>
          <a:bodyPr/>
          <a:lstStyle>
            <a:lvl1pPr algn="ctr">
              <a:defRPr sz="1600">
                <a:latin typeface="+mn-lt"/>
              </a:defRPr>
            </a:lvl1pPr>
          </a:lstStyle>
          <a:p>
            <a:fld id="{F528F39D-B5E5-4CA7-906C-979D5A62978D}" type="slidenum">
              <a:rPr lang="zh-CN" altLang="en-US" smtClean="0"/>
            </a:fld>
            <a:endParaRPr lang="zh-CN" altLang="en-US"/>
          </a:p>
        </p:txBody>
      </p:sp>
      <p:cxnSp>
        <p:nvCxnSpPr>
          <p:cNvPr id="8" name="Straight Connector 7"/>
          <p:cNvCxnSpPr/>
          <p:nvPr/>
        </p:nvCxnSpPr>
        <p:spPr>
          <a:xfrm flipV="1">
            <a:off x="6290132" y="3948080"/>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42900" y="114820"/>
            <a:ext cx="692368" cy="69236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hasCustomPrompt="1"/>
          </p:nvPr>
        </p:nvSpPr>
        <p:spPr/>
        <p:txBody>
          <a:bodyPr/>
          <a:lstStyle>
            <a:lvl3pPr marL="1080135" indent="-288290">
              <a:buFont typeface="Wingdings 3" panose="05040102010807070707" pitchFamily="18" charset="2"/>
              <a:buChar char=""/>
              <a:defRPr/>
            </a:lvl3pPr>
            <a:lvl4pPr marL="1259840" indent="-288290">
              <a:buFont typeface="Wingdings 3" panose="05040102010807070707" pitchFamily="18" charset="2"/>
              <a:buChar char=""/>
              <a:defRPr/>
            </a:lvl4pPr>
            <a:lvl5pPr marL="1440180" indent="-288290">
              <a:buFont typeface="Wingdings 3" panose="05040102010807070707" pitchFamily="18" charset="2"/>
              <a:buChar char=""/>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p:txBody>
          <a:bodyPr/>
          <a:lstStyle>
            <a:lvl1pPr algn="ctr">
              <a:defRPr sz="1600" b="0">
                <a:solidFill>
                  <a:schemeClr val="bg1"/>
                </a:solidFill>
                <a:latin typeface="+mn-lt"/>
              </a:defRPr>
            </a:lvl1pPr>
          </a:lstStyle>
          <a:p>
            <a:fld id="{87A6A4D9-6108-44AE-88D9-74138F02C318}" type="datetime1">
              <a:rPr lang="zh-CN" altLang="en-US" smtClean="0"/>
            </a:fld>
            <a:endParaRPr lang="zh-CN" altLang="en-US" dirty="0"/>
          </a:p>
        </p:txBody>
      </p:sp>
      <p:sp>
        <p:nvSpPr>
          <p:cNvPr id="5" name="Footer Placeholder 4"/>
          <p:cNvSpPr>
            <a:spLocks noGrp="1"/>
          </p:cNvSpPr>
          <p:nvPr>
            <p:ph type="ftr" sz="quarter" idx="11"/>
          </p:nvPr>
        </p:nvSpPr>
        <p:spPr>
          <a:xfrm>
            <a:off x="2383703" y="4853028"/>
            <a:ext cx="5674590" cy="205740"/>
          </a:xfrm>
        </p:spPr>
        <p:txBody>
          <a:bodyPr/>
          <a:lstStyle>
            <a:lvl1pPr algn="ctr">
              <a:defRPr sz="1600" b="0">
                <a:solidFill>
                  <a:schemeClr val="bg1"/>
                </a:solidFill>
                <a:latin typeface="+mn-lt"/>
              </a:defRPr>
            </a:lvl1pPr>
          </a:lstStyle>
          <a:p>
            <a:r>
              <a:rPr lang="zh-CN" altLang="en-US" dirty="0"/>
              <a:t>软件工程</a:t>
            </a:r>
            <a:endParaRPr lang="zh-CN" altLang="en-US" dirty="0"/>
          </a:p>
        </p:txBody>
      </p:sp>
      <p:sp>
        <p:nvSpPr>
          <p:cNvPr id="6" name="Slide Number Placeholder 5"/>
          <p:cNvSpPr>
            <a:spLocks noGrp="1"/>
          </p:cNvSpPr>
          <p:nvPr>
            <p:ph type="sldNum" sz="quarter" idx="12"/>
          </p:nvPr>
        </p:nvSpPr>
        <p:spPr/>
        <p:txBody>
          <a:bodyPr/>
          <a:lstStyle>
            <a:lvl1pPr algn="ctr">
              <a:defRPr sz="1600" b="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095958" y="-12032"/>
            <a:ext cx="7882609" cy="860498"/>
          </a:xfrm>
        </p:spPr>
        <p:txBody>
          <a:bodyPr/>
          <a:lstStyle/>
          <a:p>
            <a:r>
              <a:rPr lang="zh-CN" altLang="en-US" dirty="0"/>
              <a:t>单击此处编辑母版标题样式</a:t>
            </a:r>
            <a:endParaRPr lang="en-US" dirty="0"/>
          </a:p>
        </p:txBody>
      </p:sp>
      <p:sp>
        <p:nvSpPr>
          <p:cNvPr id="3" name="Content Placeholder 2"/>
          <p:cNvSpPr>
            <a:spLocks noGrp="1"/>
          </p:cNvSpPr>
          <p:nvPr>
            <p:ph sz="half" idx="1" hasCustomPrompt="1"/>
          </p:nvPr>
        </p:nvSpPr>
        <p:spPr>
          <a:xfrm>
            <a:off x="768096" y="969475"/>
            <a:ext cx="3566160" cy="3762546"/>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Content Placeholder 3"/>
          <p:cNvSpPr>
            <a:spLocks noGrp="1"/>
          </p:cNvSpPr>
          <p:nvPr>
            <p:ph sz="half" idx="2" hasCustomPrompt="1"/>
          </p:nvPr>
        </p:nvSpPr>
        <p:spPr>
          <a:xfrm>
            <a:off x="4491990" y="969473"/>
            <a:ext cx="3566160" cy="3762547"/>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5" name="Date Placeholder 4"/>
          <p:cNvSpPr>
            <a:spLocks noGrp="1"/>
          </p:cNvSpPr>
          <p:nvPr>
            <p:ph type="dt" sz="half" idx="10"/>
          </p:nvPr>
        </p:nvSpPr>
        <p:spPr/>
        <p:txBody>
          <a:bodyPr/>
          <a:lstStyle>
            <a:lvl1pPr algn="ctr">
              <a:defRPr sz="1600">
                <a:solidFill>
                  <a:schemeClr val="bg1"/>
                </a:solidFill>
                <a:latin typeface="+mn-lt"/>
              </a:defRPr>
            </a:lvl1pPr>
          </a:lstStyle>
          <a:p>
            <a:fld id="{EB4C77B2-8736-4DFE-A797-A06A056A8666}" type="datetime1">
              <a:rPr lang="zh-CN" altLang="en-US" smtClean="0"/>
            </a:fld>
            <a:endParaRPr lang="zh-CN" altLang="en-US" dirty="0"/>
          </a:p>
        </p:txBody>
      </p:sp>
      <p:sp>
        <p:nvSpPr>
          <p:cNvPr id="6" name="Footer Placeholder 5"/>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7" name="Slide Number Placeholder 6"/>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80918" y="0"/>
            <a:ext cx="7290054" cy="848467"/>
          </a:xfrm>
        </p:spPr>
        <p:txBody>
          <a:bodyPr/>
          <a:lstStyle/>
          <a:p>
            <a:r>
              <a:rPr lang="zh-CN" altLang="en-US" dirty="0"/>
              <a:t>单击此处编辑母版标题样式</a:t>
            </a:r>
            <a:endParaRPr lang="en-US" dirty="0"/>
          </a:p>
        </p:txBody>
      </p:sp>
      <p:sp>
        <p:nvSpPr>
          <p:cNvPr id="3" name="Text Placeholder 2"/>
          <p:cNvSpPr>
            <a:spLocks noGrp="1"/>
          </p:cNvSpPr>
          <p:nvPr>
            <p:ph type="body" idx="1" hasCustomPrompt="1"/>
          </p:nvPr>
        </p:nvSpPr>
        <p:spPr>
          <a:xfrm>
            <a:off x="768096" y="993491"/>
            <a:ext cx="3566160" cy="617220"/>
          </a:xfrm>
        </p:spPr>
        <p:txBody>
          <a:bodyPr lIns="137160" rIns="137160" anchor="ctr">
            <a:normAutofit/>
          </a:bodyPr>
          <a:lstStyle>
            <a:lvl1pPr marL="0" indent="0">
              <a:spcBef>
                <a:spcPts val="0"/>
              </a:spcBef>
              <a:spcAft>
                <a:spcPts val="0"/>
              </a:spcAft>
              <a:buNone/>
              <a:defRPr sz="1725" b="0" cap="none" baseline="0">
                <a:solidFill>
                  <a:schemeClr val="accent2">
                    <a:lumMod val="75000"/>
                  </a:schemeClr>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768096"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4491990" y="993491"/>
            <a:ext cx="3566160" cy="617220"/>
          </a:xfrm>
        </p:spPr>
        <p:txBody>
          <a:bodyPr lIns="137160" rIns="137160" anchor="ctr">
            <a:normAutofit/>
          </a:bodyPr>
          <a:lstStyle>
            <a:lvl1pPr marL="0" indent="0">
              <a:spcBef>
                <a:spcPts val="0"/>
              </a:spcBef>
              <a:spcAft>
                <a:spcPts val="0"/>
              </a:spcAft>
              <a:buNone/>
              <a:defRPr lang="en-US" sz="1725" b="0" kern="1200" cap="none" baseline="0" dirty="0">
                <a:solidFill>
                  <a:schemeClr val="accent2">
                    <a:lumMod val="75000"/>
                  </a:schemeClr>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zh-CN" altLang="en-US"/>
              <a:t>编辑母版文本样式</a:t>
            </a:r>
            <a:endParaRPr lang="zh-CN" altLang="en-US"/>
          </a:p>
        </p:txBody>
      </p:sp>
      <p:sp>
        <p:nvSpPr>
          <p:cNvPr id="6" name="Content Placeholder 5"/>
          <p:cNvSpPr>
            <a:spLocks noGrp="1"/>
          </p:cNvSpPr>
          <p:nvPr>
            <p:ph sz="quarter" idx="4" hasCustomPrompt="1"/>
          </p:nvPr>
        </p:nvSpPr>
        <p:spPr>
          <a:xfrm>
            <a:off x="4491990"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lvl1pPr algn="ctr">
              <a:defRPr sz="1600">
                <a:solidFill>
                  <a:schemeClr val="bg1"/>
                </a:solidFill>
                <a:latin typeface="+mn-lt"/>
              </a:defRPr>
            </a:lvl1pPr>
          </a:lstStyle>
          <a:p>
            <a:fld id="{0D1BD960-CF57-496B-B1B6-5438B21E9062}" type="datetime1">
              <a:rPr lang="zh-CN" altLang="en-US" smtClean="0"/>
            </a:fld>
            <a:endParaRPr lang="zh-CN" altLang="en-US"/>
          </a:p>
        </p:txBody>
      </p:sp>
      <p:sp>
        <p:nvSpPr>
          <p:cNvPr id="8" name="Footer Placeholder 7"/>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9" name="Slide Number Placeholder 8"/>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algn="ctr">
              <a:defRPr sz="1600">
                <a:solidFill>
                  <a:schemeClr val="bg1"/>
                </a:solidFill>
                <a:latin typeface="+mn-lt"/>
              </a:defRPr>
            </a:lvl1pPr>
          </a:lstStyle>
          <a:p>
            <a:fld id="{0B7D4695-85A1-4C02-97E3-2A12B55523DC}" type="datetime1">
              <a:rPr lang="zh-CN" altLang="en-US" smtClean="0"/>
            </a:fld>
            <a:endParaRPr lang="zh-CN" altLang="en-US"/>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9" name="矩形 8"/>
          <p:cNvSpPr/>
          <p:nvPr userDrawn="1"/>
        </p:nvSpPr>
        <p:spPr>
          <a:xfrm>
            <a:off x="0" y="4215740"/>
            <a:ext cx="9144000" cy="8786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Date Placeholder 2"/>
          <p:cNvSpPr>
            <a:spLocks noGrp="1"/>
          </p:cNvSpPr>
          <p:nvPr>
            <p:ph type="dt" sz="half" idx="10"/>
          </p:nvPr>
        </p:nvSpPr>
        <p:spPr/>
        <p:txBody>
          <a:bodyPr/>
          <a:lstStyle>
            <a:lvl1pPr algn="ctr">
              <a:defRPr sz="1600">
                <a:solidFill>
                  <a:schemeClr val="accent1">
                    <a:lumMod val="50000"/>
                  </a:schemeClr>
                </a:solidFill>
                <a:latin typeface="+mn-lt"/>
              </a:defRPr>
            </a:lvl1pPr>
          </a:lstStyle>
          <a:p>
            <a:fld id="{F9F472DB-28F5-49D9-9586-67667AFD924E}" type="datetime1">
              <a:rPr lang="zh-CN" altLang="en-US" smtClean="0"/>
            </a:fld>
            <a:endParaRPr lang="zh-CN" altLang="en-US" dirty="0"/>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accent1">
                    <a:lumMod val="50000"/>
                  </a:schemeClr>
                </a:solidFill>
                <a:latin typeface="+mn-lt"/>
              </a:defRPr>
            </a:lvl1pPr>
          </a:lstStyle>
          <a:p>
            <a:r>
              <a:rPr lang="zh-CN" altLang="en-US"/>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accent1">
                    <a:lumMod val="50000"/>
                  </a:schemeClr>
                </a:solidFill>
                <a:latin typeface="+mn-lt"/>
              </a:defRPr>
            </a:lvl1pPr>
          </a:lstStyle>
          <a:p>
            <a:fld id="{F528F39D-B5E5-4CA7-906C-979D5A62978D}" type="slidenum">
              <a:rPr lang="zh-CN" altLang="en-US" smtClean="0"/>
            </a:fld>
            <a:endParaRPr lang="zh-CN" altLang="en-US"/>
          </a:p>
        </p:txBody>
      </p:sp>
      <p:sp>
        <p:nvSpPr>
          <p:cNvPr id="6" name="矩形 5"/>
          <p:cNvSpPr/>
          <p:nvPr userDrawn="1"/>
        </p:nvSpPr>
        <p:spPr>
          <a:xfrm>
            <a:off x="0" y="11875"/>
            <a:ext cx="9144000" cy="13894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cxnSp>
        <p:nvCxnSpPr>
          <p:cNvPr id="8" name="Straight Connector 6"/>
          <p:cNvCxnSpPr/>
          <p:nvPr userDrawn="1"/>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hasCustomPrompt="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44295A2C-A5BA-4775-8814-CA119E8D9B5E}" type="datetime1">
              <a:rPr lang="zh-CN" altLang="en-US" smtClean="0"/>
            </a:fld>
            <a:endParaRPr lang="zh-CN" altLang="en-US"/>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1_节标题">
    <p:spTree>
      <p:nvGrpSpPr>
        <p:cNvPr id="1" name=""/>
        <p:cNvGrpSpPr/>
        <p:nvPr/>
      </p:nvGrpSpPr>
      <p:grpSpPr>
        <a:xfrm>
          <a:off x="0" y="0"/>
          <a:ext cx="0" cy="0"/>
          <a:chOff x="0" y="0"/>
          <a:chExt cx="0" cy="0"/>
        </a:xfrm>
      </p:grpSpPr>
      <p:sp>
        <p:nvSpPr>
          <p:cNvPr id="2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4AC15F57-F098-4634-9267-B089CAC02877}"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dirty="0"/>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8342" y="-14837"/>
            <a:ext cx="692368" cy="692368"/>
          </a:xfrm>
          <a:prstGeom prst="rect">
            <a:avLst/>
          </a:prstGeom>
        </p:spPr>
      </p:pic>
      <p:cxnSp>
        <p:nvCxnSpPr>
          <p:cNvPr id="9" name="Straight Connector 6"/>
          <p:cNvCxnSpPr/>
          <p:nvPr userDrawn="1"/>
        </p:nvCxnSpPr>
        <p:spPr>
          <a:xfrm flipV="1">
            <a:off x="574526" y="677531"/>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4223189" y="780125"/>
            <a:ext cx="0" cy="386756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userDrawn="1"/>
        </p:nvSpPr>
        <p:spPr>
          <a:xfrm>
            <a:off x="835829" y="1395230"/>
            <a:ext cx="1992037" cy="1992037"/>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MH_Others_1"/>
          <p:cNvSpPr txBox="1"/>
          <p:nvPr userDrawn="1">
            <p:custDataLst>
              <p:tags r:id="rId3"/>
            </p:custDataLst>
          </p:nvPr>
        </p:nvSpPr>
        <p:spPr>
          <a:xfrm>
            <a:off x="1448688" y="1467661"/>
            <a:ext cx="1286564" cy="1847174"/>
          </a:xfrm>
          <a:prstGeom prst="rect">
            <a:avLst/>
          </a:prstGeom>
          <a:noFill/>
        </p:spPr>
        <p:txBody>
          <a:bodyPr wrap="square" lIns="0" tIns="0" rIns="0" bIns="0" rtlCol="0" anchor="ctr" anchorCtr="0">
            <a:noAutofit/>
          </a:bodyPr>
          <a:lstStyle/>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目</a:t>
            </a:r>
            <a:endParaRPr lang="en-US" altLang="zh-CN"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录</a:t>
            </a:r>
            <a:endPar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MH_Others_2"/>
          <p:cNvSpPr txBox="1"/>
          <p:nvPr userDrawn="1">
            <p:custDataLst>
              <p:tags r:id="rId4"/>
            </p:custDataLst>
          </p:nvPr>
        </p:nvSpPr>
        <p:spPr>
          <a:xfrm rot="5400000">
            <a:off x="589962" y="2191193"/>
            <a:ext cx="1932333" cy="400110"/>
          </a:xfrm>
          <a:prstGeom prst="rect">
            <a:avLst/>
          </a:prstGeom>
          <a:noFill/>
        </p:spPr>
        <p:txBody>
          <a:bodyPr wrap="square">
            <a:spAutoFit/>
          </a:bodyPr>
          <a:lstStyle/>
          <a:p>
            <a:pPr algn="ctr">
              <a:defRPr/>
            </a:pPr>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userDrawn="1"/>
        </p:nvSpPr>
        <p:spPr>
          <a:xfrm>
            <a:off x="0" y="1342074"/>
            <a:ext cx="9144000" cy="38014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标题 1"/>
          <p:cNvSpPr>
            <a:spLocks noGrp="1"/>
          </p:cNvSpPr>
          <p:nvPr>
            <p:ph type="title" hasCustomPrompt="1"/>
          </p:nvPr>
        </p:nvSpPr>
        <p:spPr>
          <a:xfrm>
            <a:off x="952609" y="385011"/>
            <a:ext cx="7886700" cy="935851"/>
          </a:xfrm>
        </p:spPr>
        <p:txBody>
          <a:bodyPr anchor="b">
            <a:normAutofit/>
          </a:bodyPr>
          <a:lstStyle>
            <a:lvl1pPr>
              <a:defRPr sz="4000">
                <a:solidFill>
                  <a:schemeClr val="tx2"/>
                </a:solidFill>
              </a:defRPr>
            </a:lvl1pPr>
          </a:lstStyle>
          <a:p>
            <a:r>
              <a:rPr lang="zh-CN" altLang="en-US" dirty="0"/>
              <a:t>编辑母版标</a:t>
            </a:r>
            <a:endParaRPr lang="zh-CN" altLang="en-US" dirty="0"/>
          </a:p>
        </p:txBody>
      </p:sp>
      <p:sp>
        <p:nvSpPr>
          <p:cNvPr id="3" name="文本占位符 2"/>
          <p:cNvSpPr>
            <a:spLocks noGrp="1"/>
          </p:cNvSpPr>
          <p:nvPr>
            <p:ph type="body" idx="1" hasCustomPrompt="1"/>
          </p:nvPr>
        </p:nvSpPr>
        <p:spPr>
          <a:xfrm>
            <a:off x="768096" y="1506009"/>
            <a:ext cx="7886700" cy="3090054"/>
          </a:xfrm>
        </p:spPr>
        <p:txBody>
          <a:bodyPr>
            <a:normAutofit/>
          </a:bodyPr>
          <a:lstStyle>
            <a:lvl1pPr marL="0" indent="0">
              <a:lnSpc>
                <a:spcPct val="120000"/>
              </a:lnSpc>
              <a:spcBef>
                <a:spcPts val="1200"/>
              </a:spcBef>
              <a:spcAft>
                <a:spcPts val="0"/>
              </a:spcAft>
              <a:buNone/>
              <a:defRPr sz="2800" b="0">
                <a:solidFill>
                  <a:schemeClr val="bg1"/>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endParaRPr lang="zh-CN" altLang="en-US" dirty="0"/>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AF2A3E83-2CAF-4D16-B7C9-623BB7B16D03}"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60241" y="17062"/>
            <a:ext cx="692368" cy="692368"/>
          </a:xfrm>
          <a:prstGeom prst="rect">
            <a:avLst/>
          </a:prstGeom>
        </p:spPr>
      </p:pic>
      <p:cxnSp>
        <p:nvCxnSpPr>
          <p:cNvPr id="9" name="Straight Connector 6"/>
          <p:cNvCxnSpPr/>
          <p:nvPr userDrawn="1"/>
        </p:nvCxnSpPr>
        <p:spPr>
          <a:xfrm flipV="1">
            <a:off x="606425" y="649706"/>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lgn="ctr">
              <a:defRPr sz="1600">
                <a:solidFill>
                  <a:schemeClr val="bg1"/>
                </a:solidFill>
                <a:latin typeface="+mn-lt"/>
              </a:defRPr>
            </a:lvl1pPr>
          </a:lstStyle>
          <a:p>
            <a:fld id="{0AABB7AB-4236-406A-88C8-80BAC7770BE4}" type="datetime1">
              <a:rPr lang="zh-CN" altLang="en-US" smtClean="0"/>
            </a:fld>
            <a:endParaRPr lang="zh-CN" altLang="en-US"/>
          </a:p>
        </p:txBody>
      </p:sp>
      <p:sp>
        <p:nvSpPr>
          <p:cNvPr id="3" name="页脚占位符 2"/>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120" name="文本框 119"/>
          <p:cNvSpPr txBox="1"/>
          <p:nvPr userDrawn="1"/>
        </p:nvSpPr>
        <p:spPr>
          <a:xfrm>
            <a:off x="4264202" y="2007508"/>
            <a:ext cx="4241369" cy="1223412"/>
          </a:xfrm>
          <a:prstGeom prst="rect">
            <a:avLst/>
          </a:prstGeom>
          <a:noFill/>
        </p:spPr>
        <p:txBody>
          <a:bodyPr wrap="square" rtlCol="0" anchor="ct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lvl="0">
              <a:defRPr sz="11500" spc="50">
                <a:ln w="11430"/>
                <a:solidFill>
                  <a:srgbClr val="008EE6"/>
                </a:solidFill>
                <a:effectLst>
                  <a:outerShdw blurRad="38100" dist="38100" dir="2700000" algn="tl">
                    <a:srgbClr val="000000">
                      <a:alpha val="43137"/>
                    </a:srgbClr>
                  </a:outerShdw>
                </a:effectLst>
                <a:latin typeface="华康俪金黑W8(P)" pitchFamily="34" charset="-122"/>
                <a:ea typeface="华康俪金黑W8(P)" pitchFamily="34" charset="-122"/>
                <a:cs typeface="经典繁仿黑" pitchFamily="49" charset="-122"/>
              </a:defRPr>
            </a:lvl1pPr>
          </a:lstStyle>
          <a:p>
            <a:pPr lvl="0"/>
            <a:r>
              <a:rPr lang="zh-CN" altLang="en-US" sz="7350" dirty="0">
                <a:solidFill>
                  <a:schemeClr val="tx1">
                    <a:lumMod val="65000"/>
                    <a:lumOff val="35000"/>
                  </a:schemeClr>
                </a:solidFill>
              </a:rPr>
              <a:t>谢谢聆听</a:t>
            </a:r>
            <a:endParaRPr lang="en-US" altLang="zh-CN" sz="7350" dirty="0">
              <a:solidFill>
                <a:schemeClr val="tx1">
                  <a:lumMod val="65000"/>
                  <a:lumOff val="35000"/>
                </a:schemeClr>
              </a:solidFill>
            </a:endParaRPr>
          </a:p>
        </p:txBody>
      </p:sp>
      <p:grpSp>
        <p:nvGrpSpPr>
          <p:cNvPr id="4" name="组合 3"/>
          <p:cNvGrpSpPr/>
          <p:nvPr userDrawn="1"/>
        </p:nvGrpSpPr>
        <p:grpSpPr>
          <a:xfrm>
            <a:off x="833860" y="1704155"/>
            <a:ext cx="3193793" cy="2085294"/>
            <a:chOff x="705272" y="1639861"/>
            <a:chExt cx="3193793" cy="2085294"/>
          </a:xfrm>
        </p:grpSpPr>
        <p:grpSp>
          <p:nvGrpSpPr>
            <p:cNvPr id="2" name="组合 1"/>
            <p:cNvGrpSpPr/>
            <p:nvPr userDrawn="1"/>
          </p:nvGrpSpPr>
          <p:grpSpPr>
            <a:xfrm>
              <a:off x="705272" y="1639861"/>
              <a:ext cx="3193793" cy="2085294"/>
              <a:chOff x="721633" y="1980294"/>
              <a:chExt cx="3233738" cy="2111375"/>
            </a:xfrm>
          </p:grpSpPr>
          <p:sp>
            <p:nvSpPr>
              <p:cNvPr id="9" name="Freeform 148"/>
              <p:cNvSpPr/>
              <p:nvPr userDrawn="1"/>
            </p:nvSpPr>
            <p:spPr bwMode="auto">
              <a:xfrm>
                <a:off x="721633" y="1980294"/>
                <a:ext cx="3233738" cy="2111375"/>
              </a:xfrm>
              <a:custGeom>
                <a:avLst/>
                <a:gdLst>
                  <a:gd name="T0" fmla="*/ 778 w 861"/>
                  <a:gd name="T1" fmla="*/ 437 h 562"/>
                  <a:gd name="T2" fmla="*/ 778 w 861"/>
                  <a:gd name="T3" fmla="*/ 21 h 562"/>
                  <a:gd name="T4" fmla="*/ 756 w 861"/>
                  <a:gd name="T5" fmla="*/ 0 h 562"/>
                  <a:gd name="T6" fmla="*/ 105 w 861"/>
                  <a:gd name="T7" fmla="*/ 0 h 562"/>
                  <a:gd name="T8" fmla="*/ 84 w 861"/>
                  <a:gd name="T9" fmla="*/ 21 h 562"/>
                  <a:gd name="T10" fmla="*/ 84 w 861"/>
                  <a:gd name="T11" fmla="*/ 436 h 562"/>
                  <a:gd name="T12" fmla="*/ 0 w 861"/>
                  <a:gd name="T13" fmla="*/ 530 h 562"/>
                  <a:gd name="T14" fmla="*/ 24 w 861"/>
                  <a:gd name="T15" fmla="*/ 562 h 562"/>
                  <a:gd name="T16" fmla="*/ 838 w 861"/>
                  <a:gd name="T17" fmla="*/ 562 h 562"/>
                  <a:gd name="T18" fmla="*/ 861 w 861"/>
                  <a:gd name="T19" fmla="*/ 530 h 562"/>
                  <a:gd name="T20" fmla="*/ 778 w 861"/>
                  <a:gd name="T21" fmla="*/ 437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61" h="562">
                    <a:moveTo>
                      <a:pt x="778" y="437"/>
                    </a:moveTo>
                    <a:cubicBezTo>
                      <a:pt x="778" y="21"/>
                      <a:pt x="778" y="21"/>
                      <a:pt x="778" y="21"/>
                    </a:cubicBezTo>
                    <a:cubicBezTo>
                      <a:pt x="778" y="9"/>
                      <a:pt x="768" y="0"/>
                      <a:pt x="756" y="0"/>
                    </a:cubicBezTo>
                    <a:cubicBezTo>
                      <a:pt x="105" y="0"/>
                      <a:pt x="105" y="0"/>
                      <a:pt x="105" y="0"/>
                    </a:cubicBezTo>
                    <a:cubicBezTo>
                      <a:pt x="93" y="0"/>
                      <a:pt x="84" y="9"/>
                      <a:pt x="84" y="21"/>
                    </a:cubicBezTo>
                    <a:cubicBezTo>
                      <a:pt x="84" y="436"/>
                      <a:pt x="84" y="436"/>
                      <a:pt x="84" y="436"/>
                    </a:cubicBezTo>
                    <a:cubicBezTo>
                      <a:pt x="0" y="530"/>
                      <a:pt x="0" y="530"/>
                      <a:pt x="0" y="530"/>
                    </a:cubicBezTo>
                    <a:cubicBezTo>
                      <a:pt x="0" y="543"/>
                      <a:pt x="11" y="562"/>
                      <a:pt x="24" y="562"/>
                    </a:cubicBezTo>
                    <a:cubicBezTo>
                      <a:pt x="838" y="562"/>
                      <a:pt x="838" y="562"/>
                      <a:pt x="838" y="562"/>
                    </a:cubicBezTo>
                    <a:cubicBezTo>
                      <a:pt x="851" y="562"/>
                      <a:pt x="861" y="543"/>
                      <a:pt x="861" y="530"/>
                    </a:cubicBezTo>
                    <a:lnTo>
                      <a:pt x="778" y="437"/>
                    </a:lnTo>
                    <a:close/>
                  </a:path>
                </a:pathLst>
              </a:custGeom>
              <a:solidFill>
                <a:srgbClr val="68686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0" name="Rectangle 149"/>
              <p:cNvSpPr>
                <a:spLocks noChangeArrowheads="1"/>
              </p:cNvSpPr>
              <p:nvPr userDrawn="1"/>
            </p:nvSpPr>
            <p:spPr bwMode="auto">
              <a:xfrm>
                <a:off x="1169308" y="2115231"/>
                <a:ext cx="2343150" cy="1404938"/>
              </a:xfrm>
              <a:prstGeom prst="rect">
                <a:avLst/>
              </a:prstGeom>
              <a:solidFill>
                <a:srgbClr val="F9F3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1" name="Freeform 150"/>
              <p:cNvSpPr/>
              <p:nvPr userDrawn="1"/>
            </p:nvSpPr>
            <p:spPr bwMode="auto">
              <a:xfrm>
                <a:off x="2118633" y="3975781"/>
                <a:ext cx="439738" cy="74613"/>
              </a:xfrm>
              <a:custGeom>
                <a:avLst/>
                <a:gdLst>
                  <a:gd name="T0" fmla="*/ 0 w 117"/>
                  <a:gd name="T1" fmla="*/ 0 h 20"/>
                  <a:gd name="T2" fmla="*/ 0 w 117"/>
                  <a:gd name="T3" fmla="*/ 0 h 20"/>
                  <a:gd name="T4" fmla="*/ 14 w 117"/>
                  <a:gd name="T5" fmla="*/ 20 h 20"/>
                  <a:gd name="T6" fmla="*/ 104 w 117"/>
                  <a:gd name="T7" fmla="*/ 20 h 20"/>
                  <a:gd name="T8" fmla="*/ 117 w 117"/>
                  <a:gd name="T9" fmla="*/ 0 h 20"/>
                  <a:gd name="T10" fmla="*/ 117 w 117"/>
                  <a:gd name="T11" fmla="*/ 0 h 20"/>
                  <a:gd name="T12" fmla="*/ 0 w 1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17" h="20">
                    <a:moveTo>
                      <a:pt x="0" y="0"/>
                    </a:moveTo>
                    <a:cubicBezTo>
                      <a:pt x="0" y="0"/>
                      <a:pt x="0" y="0"/>
                      <a:pt x="0" y="0"/>
                    </a:cubicBezTo>
                    <a:cubicBezTo>
                      <a:pt x="0" y="7"/>
                      <a:pt x="6" y="20"/>
                      <a:pt x="14" y="20"/>
                    </a:cubicBezTo>
                    <a:cubicBezTo>
                      <a:pt x="104" y="20"/>
                      <a:pt x="104" y="20"/>
                      <a:pt x="104" y="20"/>
                    </a:cubicBezTo>
                    <a:cubicBezTo>
                      <a:pt x="111" y="20"/>
                      <a:pt x="117" y="7"/>
                      <a:pt x="117" y="0"/>
                    </a:cubicBezTo>
                    <a:cubicBezTo>
                      <a:pt x="117" y="0"/>
                      <a:pt x="117" y="0"/>
                      <a:pt x="117" y="0"/>
                    </a:cubicBezTo>
                    <a:lnTo>
                      <a:pt x="0" y="0"/>
                    </a:lnTo>
                    <a:close/>
                  </a:path>
                </a:pathLst>
              </a:custGeom>
              <a:solidFill>
                <a:srgbClr val="F9F3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sp>
          <p:nvSpPr>
            <p:cNvPr id="108" name="矩形 107"/>
            <p:cNvSpPr/>
            <p:nvPr userDrawn="1"/>
          </p:nvSpPr>
          <p:spPr>
            <a:xfrm>
              <a:off x="2091447" y="2022227"/>
              <a:ext cx="1325371" cy="369332"/>
            </a:xfrm>
            <a:prstGeom prst="rect">
              <a:avLst/>
            </a:prstGeom>
          </p:spPr>
          <p:txBody>
            <a:bodyPr wrap="square">
              <a:spAutoFit/>
            </a:bodyPr>
            <a:lstStyle/>
            <a:p>
              <a:pPr algn="l">
                <a:lnSpc>
                  <a:spcPct val="120000"/>
                </a:lnSpc>
              </a:pPr>
              <a:r>
                <a:rPr lang="en-US" altLang="zh-CN" sz="1500" kern="1200" dirty="0">
                  <a:solidFill>
                    <a:schemeClr val="tx1">
                      <a:lumMod val="65000"/>
                      <a:lumOff val="35000"/>
                    </a:schemeClr>
                  </a:solidFill>
                  <a:latin typeface="+mj-ea"/>
                  <a:ea typeface="+mj-ea"/>
                  <a:cs typeface="+mn-cs"/>
                </a:rPr>
                <a:t>Thank You</a:t>
              </a:r>
              <a:r>
                <a:rPr lang="zh-CN" altLang="en-US" sz="1500" kern="1200" dirty="0">
                  <a:solidFill>
                    <a:schemeClr val="tx1">
                      <a:lumMod val="65000"/>
                      <a:lumOff val="35000"/>
                    </a:schemeClr>
                  </a:solidFill>
                  <a:latin typeface="+mj-ea"/>
                  <a:ea typeface="+mj-ea"/>
                  <a:cs typeface="+mn-cs"/>
                </a:rPr>
                <a:t>！</a:t>
              </a:r>
              <a:endParaRPr lang="zh-CN" altLang="en-US" sz="1500" kern="1200" dirty="0">
                <a:solidFill>
                  <a:schemeClr val="tx1">
                    <a:lumMod val="65000"/>
                    <a:lumOff val="35000"/>
                  </a:schemeClr>
                </a:solidFill>
                <a:latin typeface="+mj-ea"/>
                <a:ea typeface="+mj-ea"/>
                <a:cs typeface="+mn-cs"/>
              </a:endParaRPr>
            </a:p>
          </p:txBody>
        </p:sp>
        <p:grpSp>
          <p:nvGrpSpPr>
            <p:cNvPr id="114" name="组合 113"/>
            <p:cNvGrpSpPr/>
            <p:nvPr userDrawn="1"/>
          </p:nvGrpSpPr>
          <p:grpSpPr>
            <a:xfrm>
              <a:off x="2160453" y="2672657"/>
              <a:ext cx="1134000" cy="48600"/>
              <a:chOff x="0" y="4978400"/>
              <a:chExt cx="11157019" cy="406400"/>
            </a:xfrm>
          </p:grpSpPr>
          <p:sp>
            <p:nvSpPr>
              <p:cNvPr id="115" name="矩形 114"/>
              <p:cNvSpPr/>
              <p:nvPr userDrawn="1"/>
            </p:nvSpPr>
            <p:spPr>
              <a:xfrm>
                <a:off x="0" y="4978400"/>
                <a:ext cx="2788596" cy="406400"/>
              </a:xfrm>
              <a:prstGeom prst="rect">
                <a:avLst/>
              </a:prstGeom>
              <a:solidFill>
                <a:srgbClr val="9EC4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6" name="矩形 115"/>
              <p:cNvSpPr/>
              <p:nvPr userDrawn="1"/>
            </p:nvSpPr>
            <p:spPr>
              <a:xfrm>
                <a:off x="2788596" y="4978400"/>
                <a:ext cx="2788596" cy="406400"/>
              </a:xfrm>
              <a:prstGeom prst="rect">
                <a:avLst/>
              </a:prstGeom>
              <a:solidFill>
                <a:srgbClr val="CA0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7" name="矩形 116"/>
              <p:cNvSpPr/>
              <p:nvPr userDrawn="1"/>
            </p:nvSpPr>
            <p:spPr>
              <a:xfrm>
                <a:off x="5577192" y="4978400"/>
                <a:ext cx="2788596" cy="406400"/>
              </a:xfrm>
              <a:prstGeom prst="rect">
                <a:avLst/>
              </a:prstGeom>
              <a:solidFill>
                <a:srgbClr val="FF8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8" name="矩形 117"/>
              <p:cNvSpPr/>
              <p:nvPr userDrawn="1"/>
            </p:nvSpPr>
            <p:spPr>
              <a:xfrm>
                <a:off x="8368423" y="4978400"/>
                <a:ext cx="2788596" cy="406400"/>
              </a:xfrm>
              <a:prstGeom prst="rect">
                <a:avLst/>
              </a:prstGeom>
              <a:solidFill>
                <a:srgbClr val="008E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grpSp>
        <p:pic>
          <p:nvPicPr>
            <p:cNvPr id="110" name="Picture 2"/>
            <p:cNvPicPr>
              <a:picLocks noChangeAspect="1" noChangeArrowheads="1"/>
            </p:cNvPicPr>
            <p:nvPr userDrawn="1"/>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colorTemperature colorTemp="4700"/>
                      </a14:imgEffect>
                      <a14:imgEffect>
                        <a14:saturation sat="0"/>
                      </a14:imgEffect>
                    </a14:imgLayer>
                  </a14:imgProps>
                </a:ext>
              </a:extLst>
            </a:blip>
            <a:srcRect/>
            <a:stretch>
              <a:fillRect/>
            </a:stretch>
          </p:blipFill>
          <p:spPr bwMode="auto">
            <a:xfrm>
              <a:off x="1367669" y="2007508"/>
              <a:ext cx="675000" cy="675000"/>
            </a:xfrm>
            <a:prstGeom prst="rect">
              <a:avLst/>
            </a:prstGeom>
            <a:noFill/>
            <a:ln w="9525">
              <a:noFill/>
              <a:miter lim="800000"/>
              <a:headEnd/>
              <a:tailEnd/>
            </a:ln>
            <a:effectLst/>
          </p:spPr>
        </p:pic>
      </p:grpSp>
      <p:sp>
        <p:nvSpPr>
          <p:cNvPr id="20" name="日期占位符 3"/>
          <p:cNvSpPr>
            <a:spLocks noGrp="1"/>
          </p:cNvSpPr>
          <p:nvPr>
            <p:ph type="dt" sz="half" idx="10"/>
          </p:nvPr>
        </p:nvSpPr>
        <p:spPr>
          <a:xfrm>
            <a:off x="768096" y="4853028"/>
            <a:ext cx="1615607" cy="205740"/>
          </a:xfrm>
        </p:spPr>
        <p:txBody>
          <a:bodyPr/>
          <a:lstStyle>
            <a:lvl1pPr algn="ctr">
              <a:defRPr sz="1600">
                <a:solidFill>
                  <a:schemeClr val="bg1"/>
                </a:solidFill>
                <a:latin typeface="+mn-lt"/>
              </a:defRPr>
            </a:lvl1pPr>
          </a:lstStyle>
          <a:p>
            <a:fld id="{61EAF543-FF68-43EA-8084-337AD277189A}" type="datetime1">
              <a:rPr lang="zh-CN" altLang="en-US" smtClean="0"/>
            </a:fld>
            <a:endParaRPr lang="zh-CN" altLang="en-US" dirty="0"/>
          </a:p>
        </p:txBody>
      </p:sp>
      <p:sp>
        <p:nvSpPr>
          <p:cNvPr id="21"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22" name="灯片编号占位符 5"/>
          <p:cNvSpPr>
            <a:spLocks noGrp="1"/>
          </p:cNvSpPr>
          <p:nvPr>
            <p:ph type="sldNum" sz="quarter" idx="12"/>
          </p:nvPr>
        </p:nvSpPr>
        <p:spPr>
          <a:xfrm>
            <a:off x="8128000" y="4853028"/>
            <a:ext cx="730250" cy="205740"/>
          </a:xfrm>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transition>
    <p:cove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8" name="矩形"/>
          <p:cNvSpPr/>
          <p:nvPr/>
        </p:nvSpPr>
        <p:spPr>
          <a:xfrm>
            <a:off x="-3743" y="80319"/>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9" name="矩形"/>
          <p:cNvSpPr/>
          <p:nvPr/>
        </p:nvSpPr>
        <p:spPr>
          <a:xfrm>
            <a:off x="2284129" y="80319"/>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3" name="标题占位符"/>
          <p:cNvSpPr>
            <a:spLocks noGrp="1"/>
          </p:cNvSpPr>
          <p:nvPr>
            <p:ph type="body" sz="quarter" idx="10" hasCustomPrompt="1"/>
          </p:nvPr>
        </p:nvSpPr>
        <p:spPr>
          <a:xfrm>
            <a:off x="429992" y="234449"/>
            <a:ext cx="6897908" cy="415498"/>
          </a:xfrm>
          <a:prstGeom prst="rect">
            <a:avLst/>
          </a:prstGeom>
        </p:spPr>
        <p:txBody>
          <a:bodyPr wrap="square" anchor="ctr">
            <a:spAutoFit/>
          </a:bodyPr>
          <a:lstStyle>
            <a:lvl1pPr marL="0" indent="0" algn="l">
              <a:lnSpc>
                <a:spcPct val="100000"/>
              </a:lnSpc>
              <a:buFontTx/>
              <a:buNone/>
              <a:defRPr lang="zh-CN" altLang="en-US" sz="2100" b="1" spc="225"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4" name="文本占位符 3"/>
          <p:cNvSpPr>
            <a:spLocks noGrp="1"/>
          </p:cNvSpPr>
          <p:nvPr>
            <p:ph type="body" sz="quarter" idx="11"/>
          </p:nvPr>
        </p:nvSpPr>
        <p:spPr>
          <a:xfrm>
            <a:off x="627064" y="1009651"/>
            <a:ext cx="7615237" cy="3545681"/>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2"/>
          </p:nvPr>
        </p:nvSpPr>
        <p:spPr>
          <a:xfrm>
            <a:off x="6727032" y="4805958"/>
            <a:ext cx="1920240" cy="274320"/>
          </a:xfrm>
          <a:prstGeom prst="rect">
            <a:avLst/>
          </a:prstGeom>
        </p:spPr>
        <p:txBody>
          <a:bodyPr/>
          <a:lstStyle>
            <a:lvl1pPr>
              <a:defRPr sz="1200"/>
            </a:lvl1pPr>
          </a:lstStyle>
          <a:p>
            <a:fld id="{48A1A51D-8967-454F-98E3-CC85FA70963E}" type="datetime1">
              <a:rPr lang="zh-CN" altLang="en-US" smtClean="0"/>
            </a:fld>
            <a:endParaRPr lang="zh-CN" altLang="en-US"/>
          </a:p>
        </p:txBody>
      </p:sp>
      <p:sp>
        <p:nvSpPr>
          <p:cNvPr id="10" name="页脚占位符 4"/>
          <p:cNvSpPr>
            <a:spLocks noGrp="1"/>
          </p:cNvSpPr>
          <p:nvPr>
            <p:ph type="ftr" sz="quarter" idx="13"/>
          </p:nvPr>
        </p:nvSpPr>
        <p:spPr>
          <a:xfrm>
            <a:off x="4380074" y="4805960"/>
            <a:ext cx="2350681" cy="273844"/>
          </a:xfrm>
          <a:prstGeom prst="rect">
            <a:avLst/>
          </a:prstGeom>
        </p:spPr>
        <p:txBody>
          <a:bodyPr/>
          <a:lstStyle>
            <a:lvl1pPr>
              <a:defRPr sz="1200"/>
            </a:lvl1pPr>
          </a:lstStyle>
          <a:p>
            <a:r>
              <a:rPr lang="zh-CN" altLang="en-US"/>
              <a:t>软件工程</a:t>
            </a:r>
            <a:endParaRPr lang="zh-CN" altLang="en-US" dirty="0"/>
          </a:p>
        </p:txBody>
      </p:sp>
      <p:sp>
        <p:nvSpPr>
          <p:cNvPr id="11" name="灯片编号占位符 5"/>
          <p:cNvSpPr>
            <a:spLocks noGrp="1"/>
          </p:cNvSpPr>
          <p:nvPr>
            <p:ph type="sldNum" sz="quarter" idx="14"/>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sp>
        <p:nvSpPr>
          <p:cNvPr id="8" name="矩形"/>
          <p:cNvSpPr/>
          <p:nvPr/>
        </p:nvSpPr>
        <p:spPr>
          <a:xfrm>
            <a:off x="-3743" y="80320"/>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rgbClr val="C71C1C"/>
              </a:solidFill>
            </a:endParaRPr>
          </a:p>
        </p:txBody>
      </p:sp>
      <p:sp>
        <p:nvSpPr>
          <p:cNvPr id="9" name="矩形"/>
          <p:cNvSpPr/>
          <p:nvPr/>
        </p:nvSpPr>
        <p:spPr>
          <a:xfrm>
            <a:off x="2284129" y="80320"/>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rgbClr val="C71C1C"/>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内容页">
    <p:spTree>
      <p:nvGrpSpPr>
        <p:cNvPr id="1" name=""/>
        <p:cNvGrpSpPr/>
        <p:nvPr/>
      </p:nvGrpSpPr>
      <p:grpSpPr>
        <a:xfrm>
          <a:off x="0" y="0"/>
          <a:ext cx="0" cy="0"/>
          <a:chOff x="0" y="0"/>
          <a:chExt cx="0" cy="0"/>
        </a:xfrm>
      </p:grpSpPr>
      <p:sp>
        <p:nvSpPr>
          <p:cNvPr id="8" name="矩形"/>
          <p:cNvSpPr/>
          <p:nvPr/>
        </p:nvSpPr>
        <p:spPr>
          <a:xfrm>
            <a:off x="-3743" y="80320"/>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9" name="矩形"/>
          <p:cNvSpPr/>
          <p:nvPr/>
        </p:nvSpPr>
        <p:spPr>
          <a:xfrm>
            <a:off x="2284129" y="80320"/>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3" name="标题占位符"/>
          <p:cNvSpPr>
            <a:spLocks noGrp="1"/>
          </p:cNvSpPr>
          <p:nvPr>
            <p:ph type="body" sz="quarter" idx="10" hasCustomPrompt="1"/>
          </p:nvPr>
        </p:nvSpPr>
        <p:spPr>
          <a:xfrm>
            <a:off x="429992" y="234449"/>
            <a:ext cx="6897908" cy="415498"/>
          </a:xfrm>
          <a:prstGeom prst="rect">
            <a:avLst/>
          </a:prstGeom>
        </p:spPr>
        <p:txBody>
          <a:bodyPr wrap="square" anchor="ctr">
            <a:spAutoFit/>
          </a:bodyPr>
          <a:lstStyle>
            <a:lvl1pPr marL="0" indent="0" algn="l">
              <a:lnSpc>
                <a:spcPct val="100000"/>
              </a:lnSpc>
              <a:buFontTx/>
              <a:buNone/>
              <a:defRPr lang="zh-CN" altLang="en-US" sz="2100" b="1" spc="225"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7" name="日期占位符 3"/>
          <p:cNvSpPr>
            <a:spLocks noGrp="1"/>
          </p:cNvSpPr>
          <p:nvPr>
            <p:ph type="dt" sz="half" idx="11"/>
          </p:nvPr>
        </p:nvSpPr>
        <p:spPr>
          <a:xfrm>
            <a:off x="6727032" y="4805958"/>
            <a:ext cx="1920240" cy="274320"/>
          </a:xfrm>
          <a:prstGeom prst="rect">
            <a:avLst/>
          </a:prstGeom>
        </p:spPr>
        <p:txBody>
          <a:bodyPr/>
          <a:lstStyle>
            <a:lvl1pPr>
              <a:defRPr sz="1200"/>
            </a:lvl1pPr>
          </a:lstStyle>
          <a:p>
            <a:fld id="{FDF94EBD-8C48-4B44-A643-63FCEC8A778F}" type="datetime1">
              <a:rPr lang="zh-CN" altLang="en-US" smtClean="0"/>
            </a:fld>
            <a:endParaRPr lang="zh-CN" altLang="en-US"/>
          </a:p>
        </p:txBody>
      </p:sp>
      <p:sp>
        <p:nvSpPr>
          <p:cNvPr id="10" name="页脚占位符 4"/>
          <p:cNvSpPr>
            <a:spLocks noGrp="1"/>
          </p:cNvSpPr>
          <p:nvPr>
            <p:ph type="ftr" sz="quarter" idx="12"/>
          </p:nvPr>
        </p:nvSpPr>
        <p:spPr>
          <a:xfrm>
            <a:off x="4380074" y="4805960"/>
            <a:ext cx="2350681" cy="273844"/>
          </a:xfrm>
          <a:prstGeom prst="rect">
            <a:avLst/>
          </a:prstGeom>
        </p:spPr>
        <p:txBody>
          <a:bodyPr/>
          <a:lstStyle>
            <a:lvl1pPr>
              <a:defRPr sz="1200"/>
            </a:lvl1pPr>
          </a:lstStyle>
          <a:p>
            <a:r>
              <a:rPr lang="zh-CN" altLang="en-US"/>
              <a:t>软件工程</a:t>
            </a:r>
            <a:endParaRPr lang="zh-CN" altLang="en-US" dirty="0"/>
          </a:p>
        </p:txBody>
      </p:sp>
      <p:sp>
        <p:nvSpPr>
          <p:cNvPr id="11" name="灯片编号占位符 5"/>
          <p:cNvSpPr>
            <a:spLocks noGrp="1"/>
          </p:cNvSpPr>
          <p:nvPr>
            <p:ph type="sldNum" sz="quarter" idx="13"/>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sp>
        <p:nvSpPr>
          <p:cNvPr id="2" name="日期占位符 3"/>
          <p:cNvSpPr>
            <a:spLocks noGrp="1"/>
          </p:cNvSpPr>
          <p:nvPr>
            <p:ph type="dt" sz="half" idx="10"/>
          </p:nvPr>
        </p:nvSpPr>
        <p:spPr>
          <a:xfrm>
            <a:off x="6727032" y="4805958"/>
            <a:ext cx="1920240" cy="274320"/>
          </a:xfrm>
          <a:prstGeom prst="rect">
            <a:avLst/>
          </a:prstGeom>
        </p:spPr>
        <p:txBody>
          <a:bodyPr/>
          <a:lstStyle>
            <a:lvl1pPr>
              <a:defRPr sz="1200"/>
            </a:lvl1pPr>
          </a:lstStyle>
          <a:p>
            <a:fld id="{9A210718-87E1-47EE-BF6D-4DA718DDA753}" type="datetime1">
              <a:rPr lang="zh-CN" altLang="en-US" smtClean="0"/>
            </a:fld>
            <a:endParaRPr lang="zh-CN" altLang="en-US"/>
          </a:p>
        </p:txBody>
      </p:sp>
      <p:sp>
        <p:nvSpPr>
          <p:cNvPr id="3" name="页脚占位符 4"/>
          <p:cNvSpPr>
            <a:spLocks noGrp="1"/>
          </p:cNvSpPr>
          <p:nvPr>
            <p:ph type="ftr" sz="quarter" idx="11"/>
          </p:nvPr>
        </p:nvSpPr>
        <p:spPr>
          <a:xfrm>
            <a:off x="4380074" y="4805960"/>
            <a:ext cx="2350681" cy="273844"/>
          </a:xfrm>
          <a:prstGeom prst="rect">
            <a:avLst/>
          </a:prstGeom>
        </p:spPr>
        <p:txBody>
          <a:bodyPr/>
          <a:lstStyle>
            <a:lvl1pPr>
              <a:defRPr sz="1200"/>
            </a:lvl1pPr>
          </a:lstStyle>
          <a:p>
            <a:r>
              <a:rPr lang="zh-CN" altLang="en-US"/>
              <a:t>软件工程</a:t>
            </a:r>
            <a:endParaRPr lang="zh-CN" altLang="en-US" dirty="0"/>
          </a:p>
        </p:txBody>
      </p:sp>
      <p:sp>
        <p:nvSpPr>
          <p:cNvPr id="4" name="灯片编号占位符 5"/>
          <p:cNvSpPr>
            <a:spLocks noGrp="1"/>
          </p:cNvSpPr>
          <p:nvPr>
            <p:ph type="sldNum" sz="quarter" idx="12"/>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8097" y="925167"/>
            <a:ext cx="7832833" cy="3806854"/>
          </a:xfrm>
          <a:prstGeom prst="rect">
            <a:avLst/>
          </a:prstGeom>
        </p:spPr>
        <p:txBody>
          <a:bodyPr vert="horz" lIns="45720" tIns="45720" rIns="4572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Date Placeholder 3"/>
          <p:cNvSpPr>
            <a:spLocks noGrp="1"/>
          </p:cNvSpPr>
          <p:nvPr>
            <p:ph type="dt" sz="half" idx="2"/>
          </p:nvPr>
        </p:nvSpPr>
        <p:spPr>
          <a:xfrm>
            <a:off x="768096" y="4853028"/>
            <a:ext cx="1615607"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7A80B68F-8F1A-4766-ABC5-E1BEEA987B27}" type="datetime1">
              <a:rPr lang="zh-CN" altLang="en-US" smtClean="0"/>
            </a:fld>
            <a:endParaRPr lang="zh-CN" altLang="en-US"/>
          </a:p>
        </p:txBody>
      </p:sp>
      <p:sp>
        <p:nvSpPr>
          <p:cNvPr id="5" name="Footer Placeholder 4"/>
          <p:cNvSpPr>
            <a:spLocks noGrp="1"/>
          </p:cNvSpPr>
          <p:nvPr>
            <p:ph type="ftr" sz="quarter" idx="3"/>
          </p:nvPr>
        </p:nvSpPr>
        <p:spPr>
          <a:xfrm>
            <a:off x="3632199" y="4853028"/>
            <a:ext cx="4426094" cy="205740"/>
          </a:xfrm>
          <a:prstGeom prst="rect">
            <a:avLst/>
          </a:prstGeom>
        </p:spPr>
        <p:txBody>
          <a:bodyPr vert="horz" lIns="91440" tIns="45720" rIns="91440" bIns="45720" rtlCol="0" anchor="ctr"/>
          <a:lstStyle>
            <a:lvl1pPr algn="r">
              <a:defRPr sz="750" cap="all" baseline="0">
                <a:solidFill>
                  <a:schemeClr val="tx1">
                    <a:lumMod val="90000"/>
                    <a:lumOff val="10000"/>
                  </a:schemeClr>
                </a:solidFill>
                <a:latin typeface="+mj-lt"/>
              </a:defRPr>
            </a:lvl1pPr>
          </a:lstStyle>
          <a:p>
            <a:r>
              <a:rPr lang="zh-CN" altLang="en-US"/>
              <a:t>软件工程</a:t>
            </a:r>
            <a:endParaRPr lang="zh-CN" altLang="en-US"/>
          </a:p>
        </p:txBody>
      </p:sp>
      <p:sp>
        <p:nvSpPr>
          <p:cNvPr id="6" name="Slide Number Placeholder 5"/>
          <p:cNvSpPr>
            <a:spLocks noGrp="1"/>
          </p:cNvSpPr>
          <p:nvPr>
            <p:ph type="sldNum" sz="quarter" idx="4"/>
          </p:nvPr>
        </p:nvSpPr>
        <p:spPr>
          <a:xfrm>
            <a:off x="8128000" y="4853028"/>
            <a:ext cx="730250"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F528F39D-B5E5-4CA7-906C-979D5A62978D}" type="slidenum">
              <a:rPr lang="zh-CN" altLang="en-US" smtClean="0"/>
            </a:fld>
            <a:endParaRPr lang="zh-CN" altLang="en-US"/>
          </a:p>
        </p:txBody>
      </p:sp>
      <p:cxnSp>
        <p:nvCxnSpPr>
          <p:cNvPr id="7" name="Straight Connector 6"/>
          <p:cNvCxnSpPr/>
          <p:nvPr/>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图片 9"/>
          <p:cNvPicPr>
            <a:picLocks noChangeAspect="1"/>
          </p:cNvPicPr>
          <p:nvPr userDrawn="1"/>
        </p:nvPicPr>
        <p:blipFill>
          <a:blip r:embed="rId1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sp>
        <p:nvSpPr>
          <p:cNvPr id="2" name="Title Placeholder 1"/>
          <p:cNvSpPr>
            <a:spLocks noGrp="1"/>
          </p:cNvSpPr>
          <p:nvPr>
            <p:ph type="title"/>
          </p:nvPr>
        </p:nvSpPr>
        <p:spPr>
          <a:xfrm>
            <a:off x="1094321" y="0"/>
            <a:ext cx="7763929" cy="82891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p:txStyles>
    <p:title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p:titleStyle>
    <p:body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44577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58293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wmf"/><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hart" Target="../charts/char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wmf"/></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8.emf"/><Relationship Id="rId1"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wmf"/></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1.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75645" y="987551"/>
            <a:ext cx="8582606" cy="2468645"/>
          </a:xfrm>
        </p:spPr>
        <p:txBody>
          <a:bodyPr>
            <a:normAutofit/>
          </a:bodyPr>
          <a:lstStyle/>
          <a:p>
            <a:pPr>
              <a:lnSpc>
                <a:spcPct val="100000"/>
              </a:lnSpc>
              <a:spcBef>
                <a:spcPts val="3600"/>
              </a:spcBef>
              <a:spcAft>
                <a:spcPts val="3600"/>
              </a:spcAft>
            </a:pPr>
            <a:r>
              <a:rPr lang="zh-CN" altLang="en-US" sz="4800" dirty="0">
                <a:solidFill>
                  <a:srgbClr val="000000"/>
                </a:solidFill>
              </a:rPr>
              <a:t>软件工程</a:t>
            </a:r>
            <a:br>
              <a:rPr lang="en-US" altLang="zh-CN" sz="4800" dirty="0">
                <a:solidFill>
                  <a:srgbClr val="000000"/>
                </a:solidFill>
              </a:rPr>
            </a:br>
            <a:r>
              <a:rPr lang="en-US" altLang="zh-CN" sz="4800" dirty="0">
                <a:solidFill>
                  <a:srgbClr val="000000"/>
                </a:solidFill>
              </a:rPr>
              <a:t>——</a:t>
            </a:r>
            <a:r>
              <a:rPr lang="zh-CN" altLang="en-US" sz="4800" dirty="0">
                <a:solidFill>
                  <a:srgbClr val="000000"/>
                </a:solidFill>
              </a:rPr>
              <a:t>软件维护</a:t>
            </a:r>
            <a:endParaRPr lang="zh-CN" altLang="en-US" sz="4800" dirty="0">
              <a:solidFill>
                <a:srgbClr val="000000"/>
              </a:solidFill>
            </a:endParaRPr>
          </a:p>
        </p:txBody>
      </p:sp>
      <p:sp>
        <p:nvSpPr>
          <p:cNvPr id="3" name="副标题 2"/>
          <p:cNvSpPr>
            <a:spLocks noGrp="1"/>
          </p:cNvSpPr>
          <p:nvPr>
            <p:ph type="subTitle" idx="1"/>
          </p:nvPr>
        </p:nvSpPr>
        <p:spPr>
          <a:xfrm>
            <a:off x="1958907" y="3620351"/>
            <a:ext cx="6899344" cy="1380882"/>
          </a:xfrm>
        </p:spPr>
        <p:txBody>
          <a:bodyPr>
            <a:normAutofit/>
          </a:bodyPr>
          <a:lstStyle/>
          <a:p>
            <a:r>
              <a:rPr lang="zh-CN" altLang="en-US" sz="1800" dirty="0">
                <a:latin typeface="+mj-ea"/>
                <a:ea typeface="+mj-ea"/>
              </a:rPr>
              <a:t>          河南大学软件学院                                          </a:t>
            </a:r>
            <a:r>
              <a:rPr lang="zh-CN" altLang="en-US" sz="1800" dirty="0"/>
              <a:t>楚广琳</a:t>
            </a:r>
            <a:endParaRPr lang="zh-CN" altLang="en-US" sz="18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前情回顾</a:t>
            </a:r>
            <a:endParaRPr lang="zh-CN" altLang="en-US" dirty="0"/>
          </a:p>
        </p:txBody>
      </p:sp>
      <p:sp>
        <p:nvSpPr>
          <p:cNvPr id="3" name="内容占位符 2"/>
          <p:cNvSpPr>
            <a:spLocks noGrp="1"/>
          </p:cNvSpPr>
          <p:nvPr>
            <p:ph idx="1"/>
          </p:nvPr>
        </p:nvSpPr>
        <p:spPr>
          <a:xfrm>
            <a:off x="1094321" y="939114"/>
            <a:ext cx="4508322" cy="3679184"/>
          </a:xfrm>
        </p:spPr>
        <p:txBody>
          <a:bodyPr>
            <a:normAutofit fontScale="85000" lnSpcReduction="10000"/>
          </a:bodyPr>
          <a:lstStyle/>
          <a:p>
            <a:pPr marL="457200" indent="-457200">
              <a:lnSpc>
                <a:spcPct val="120000"/>
              </a:lnSpc>
              <a:spcBef>
                <a:spcPts val="600"/>
              </a:spcBef>
            </a:pPr>
            <a:r>
              <a:rPr lang="zh-CN" altLang="en-US" dirty="0">
                <a:solidFill>
                  <a:schemeClr val="bg2">
                    <a:lumMod val="50000"/>
                  </a:schemeClr>
                </a:solidFill>
              </a:rPr>
              <a:t>第</a:t>
            </a:r>
            <a:r>
              <a:rPr lang="en-US" altLang="zh-CN" dirty="0">
                <a:solidFill>
                  <a:schemeClr val="bg2">
                    <a:lumMod val="50000"/>
                  </a:schemeClr>
                </a:solidFill>
              </a:rPr>
              <a:t>3</a:t>
            </a:r>
            <a:r>
              <a:rPr lang="zh-CN" altLang="en-US" dirty="0">
                <a:solidFill>
                  <a:schemeClr val="bg2">
                    <a:lumMod val="50000"/>
                  </a:schemeClr>
                </a:solidFill>
              </a:rPr>
              <a:t>章 单元测试</a:t>
            </a:r>
            <a:endParaRPr lang="en-US" altLang="zh-CN" dirty="0">
              <a:solidFill>
                <a:schemeClr val="bg2">
                  <a:lumMod val="50000"/>
                </a:schemeClr>
              </a:solidFill>
            </a:endParaRPr>
          </a:p>
          <a:p>
            <a:pPr marL="1108710" lvl="1" indent="-457200">
              <a:lnSpc>
                <a:spcPct val="120000"/>
              </a:lnSpc>
              <a:spcBef>
                <a:spcPts val="600"/>
              </a:spcBef>
            </a:pPr>
            <a:r>
              <a:rPr lang="zh-CN" altLang="en-US" dirty="0">
                <a:solidFill>
                  <a:schemeClr val="bg2">
                    <a:lumMod val="50000"/>
                  </a:schemeClr>
                </a:solidFill>
              </a:rPr>
              <a:t>单元测试方法（黑盒、白盒）</a:t>
            </a:r>
            <a:endParaRPr lang="en-US" altLang="zh-CN" dirty="0">
              <a:solidFill>
                <a:schemeClr val="bg2">
                  <a:lumMod val="50000"/>
                </a:schemeClr>
              </a:solidFill>
            </a:endParaRPr>
          </a:p>
          <a:p>
            <a:pPr marL="1108710" lvl="1" indent="-457200">
              <a:lnSpc>
                <a:spcPct val="120000"/>
              </a:lnSpc>
              <a:spcBef>
                <a:spcPts val="600"/>
              </a:spcBef>
            </a:pPr>
            <a:r>
              <a:rPr lang="zh-CN" altLang="en-US" dirty="0">
                <a:solidFill>
                  <a:schemeClr val="bg2">
                    <a:lumMod val="50000"/>
                  </a:schemeClr>
                </a:solidFill>
              </a:rPr>
              <a:t>测试工具</a:t>
            </a:r>
            <a:endParaRPr lang="en-US" altLang="zh-CN" dirty="0">
              <a:solidFill>
                <a:schemeClr val="bg2">
                  <a:lumMod val="50000"/>
                </a:schemeClr>
              </a:solidFill>
            </a:endParaRPr>
          </a:p>
          <a:p>
            <a:pPr marL="457200" indent="-457200">
              <a:lnSpc>
                <a:spcPct val="120000"/>
              </a:lnSpc>
              <a:spcBef>
                <a:spcPts val="600"/>
              </a:spcBef>
            </a:pPr>
            <a:r>
              <a:rPr lang="zh-CN" altLang="en-US" dirty="0">
                <a:solidFill>
                  <a:schemeClr val="bg2">
                    <a:lumMod val="50000"/>
                  </a:schemeClr>
                </a:solidFill>
              </a:rPr>
              <a:t>第</a:t>
            </a:r>
            <a:r>
              <a:rPr lang="en-US" altLang="zh-CN" dirty="0">
                <a:solidFill>
                  <a:schemeClr val="bg2">
                    <a:lumMod val="50000"/>
                  </a:schemeClr>
                </a:solidFill>
              </a:rPr>
              <a:t>13</a:t>
            </a:r>
            <a:r>
              <a:rPr lang="zh-CN" altLang="en-US" dirty="0">
                <a:solidFill>
                  <a:schemeClr val="bg2">
                    <a:lumMod val="50000"/>
                  </a:schemeClr>
                </a:solidFill>
              </a:rPr>
              <a:t>章 软件系统测试</a:t>
            </a:r>
            <a:endParaRPr lang="en-US" altLang="zh-CN" dirty="0">
              <a:solidFill>
                <a:schemeClr val="bg2">
                  <a:lumMod val="50000"/>
                </a:schemeClr>
              </a:solidFill>
            </a:endParaRPr>
          </a:p>
          <a:p>
            <a:pPr marL="1108710" lvl="1" indent="-457200">
              <a:lnSpc>
                <a:spcPct val="120000"/>
              </a:lnSpc>
              <a:spcBef>
                <a:spcPts val="600"/>
              </a:spcBef>
            </a:pPr>
            <a:r>
              <a:rPr lang="zh-CN" altLang="en-US" dirty="0">
                <a:solidFill>
                  <a:schemeClr val="bg2">
                    <a:lumMod val="50000"/>
                  </a:schemeClr>
                </a:solidFill>
              </a:rPr>
              <a:t>软件测试的概念</a:t>
            </a:r>
            <a:endParaRPr lang="en-US" altLang="zh-CN" dirty="0">
              <a:solidFill>
                <a:schemeClr val="bg2">
                  <a:lumMod val="50000"/>
                </a:schemeClr>
              </a:solidFill>
            </a:endParaRPr>
          </a:p>
          <a:p>
            <a:pPr marL="1108710" lvl="1" indent="-457200">
              <a:lnSpc>
                <a:spcPct val="120000"/>
              </a:lnSpc>
              <a:spcBef>
                <a:spcPts val="600"/>
              </a:spcBef>
            </a:pPr>
            <a:r>
              <a:rPr lang="zh-CN" altLang="en-US" dirty="0">
                <a:solidFill>
                  <a:schemeClr val="bg2">
                    <a:lumMod val="50000"/>
                  </a:schemeClr>
                </a:solidFill>
              </a:rPr>
              <a:t>软件测试的类型</a:t>
            </a:r>
            <a:endParaRPr lang="en-US" altLang="zh-CN" dirty="0">
              <a:solidFill>
                <a:schemeClr val="bg2">
                  <a:lumMod val="50000"/>
                </a:schemeClr>
              </a:solidFill>
            </a:endParaRPr>
          </a:p>
          <a:p>
            <a:pPr>
              <a:lnSpc>
                <a:spcPct val="120000"/>
              </a:lnSpc>
              <a:spcBef>
                <a:spcPts val="600"/>
              </a:spcBef>
            </a:pPr>
            <a:r>
              <a:rPr lang="zh-CN" altLang="en-US" dirty="0" smtClean="0"/>
              <a:t>实验</a:t>
            </a:r>
            <a:r>
              <a:rPr lang="zh-CN" altLang="en-US" dirty="0"/>
              <a:t>：</a:t>
            </a:r>
            <a:endParaRPr lang="en-US" altLang="zh-CN" dirty="0"/>
          </a:p>
          <a:p>
            <a:pPr lvl="1">
              <a:lnSpc>
                <a:spcPct val="120000"/>
              </a:lnSpc>
              <a:spcBef>
                <a:spcPts val="600"/>
              </a:spcBef>
            </a:pPr>
            <a:r>
              <a:rPr lang="zh-CN" altLang="en-US" dirty="0" smtClean="0"/>
              <a:t>完成系统测试报告</a:t>
            </a:r>
            <a:endParaRPr lang="zh-CN" altLang="en-US" dirty="0"/>
          </a:p>
        </p:txBody>
      </p:sp>
      <p:sp>
        <p:nvSpPr>
          <p:cNvPr id="4" name="日期占位符 3"/>
          <p:cNvSpPr>
            <a:spLocks noGrp="1"/>
          </p:cNvSpPr>
          <p:nvPr>
            <p:ph type="dt" sz="half" idx="10"/>
          </p:nvPr>
        </p:nvSpPr>
        <p:spPr/>
        <p:txBody>
          <a:bodyPr/>
          <a:lstStyle/>
          <a:p>
            <a:fld id="{FE80F6F3-3B72-4FEF-B703-FDD4F57E692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9" name="组合 8"/>
          <p:cNvGrpSpPr/>
          <p:nvPr/>
        </p:nvGrpSpPr>
        <p:grpSpPr>
          <a:xfrm>
            <a:off x="6236034" y="1841214"/>
            <a:ext cx="1891966" cy="1999512"/>
            <a:chOff x="1516062" y="3403601"/>
            <a:chExt cx="2560638" cy="2846387"/>
          </a:xfrm>
          <a:solidFill>
            <a:schemeClr val="tx1">
              <a:lumMod val="65000"/>
              <a:lumOff val="35000"/>
            </a:schemeClr>
          </a:solidFill>
        </p:grpSpPr>
        <p:sp>
          <p:nvSpPr>
            <p:cNvPr id="10" name="Freeform 6"/>
            <p:cNvSpPr/>
            <p:nvPr/>
          </p:nvSpPr>
          <p:spPr bwMode="auto">
            <a:xfrm>
              <a:off x="1516062" y="3403601"/>
              <a:ext cx="2405063" cy="2846387"/>
            </a:xfrm>
            <a:custGeom>
              <a:avLst/>
              <a:gdLst>
                <a:gd name="T0" fmla="*/ 2572 w 2702"/>
                <a:gd name="T1" fmla="*/ 0 h 3200"/>
                <a:gd name="T2" fmla="*/ 2606 w 2702"/>
                <a:gd name="T3" fmla="*/ 11 h 3200"/>
                <a:gd name="T4" fmla="*/ 2700 w 2702"/>
                <a:gd name="T5" fmla="*/ 145 h 3200"/>
                <a:gd name="T6" fmla="*/ 2700 w 2702"/>
                <a:gd name="T7" fmla="*/ 885 h 3200"/>
                <a:gd name="T8" fmla="*/ 2699 w 2702"/>
                <a:gd name="T9" fmla="*/ 898 h 3200"/>
                <a:gd name="T10" fmla="*/ 2604 w 2702"/>
                <a:gd name="T11" fmla="*/ 803 h 3200"/>
                <a:gd name="T12" fmla="*/ 2601 w 2702"/>
                <a:gd name="T13" fmla="*/ 780 h 3200"/>
                <a:gd name="T14" fmla="*/ 2600 w 2702"/>
                <a:gd name="T15" fmla="*/ 164 h 3200"/>
                <a:gd name="T16" fmla="*/ 2536 w 2702"/>
                <a:gd name="T17" fmla="*/ 100 h 3200"/>
                <a:gd name="T18" fmla="*/ 164 w 2702"/>
                <a:gd name="T19" fmla="*/ 100 h 3200"/>
                <a:gd name="T20" fmla="*/ 100 w 2702"/>
                <a:gd name="T21" fmla="*/ 163 h 3200"/>
                <a:gd name="T22" fmla="*/ 100 w 2702"/>
                <a:gd name="T23" fmla="*/ 3037 h 3200"/>
                <a:gd name="T24" fmla="*/ 162 w 2702"/>
                <a:gd name="T25" fmla="*/ 3100 h 3200"/>
                <a:gd name="T26" fmla="*/ 2538 w 2702"/>
                <a:gd name="T27" fmla="*/ 3100 h 3200"/>
                <a:gd name="T28" fmla="*/ 2600 w 2702"/>
                <a:gd name="T29" fmla="*/ 3037 h 3200"/>
                <a:gd name="T30" fmla="*/ 2600 w 2702"/>
                <a:gd name="T31" fmla="*/ 1674 h 3200"/>
                <a:gd name="T32" fmla="*/ 2615 w 2702"/>
                <a:gd name="T33" fmla="*/ 1637 h 3200"/>
                <a:gd name="T34" fmla="*/ 2696 w 2702"/>
                <a:gd name="T35" fmla="*/ 1555 h 3200"/>
                <a:gd name="T36" fmla="*/ 2700 w 2702"/>
                <a:gd name="T37" fmla="*/ 1558 h 3200"/>
                <a:gd name="T38" fmla="*/ 2700 w 2702"/>
                <a:gd name="T39" fmla="*/ 1581 h 3200"/>
                <a:gd name="T40" fmla="*/ 2702 w 2702"/>
                <a:gd name="T41" fmla="*/ 3019 h 3200"/>
                <a:gd name="T42" fmla="*/ 2572 w 2702"/>
                <a:gd name="T43" fmla="*/ 3200 h 3200"/>
                <a:gd name="T44" fmla="*/ 128 w 2702"/>
                <a:gd name="T45" fmla="*/ 3200 h 3200"/>
                <a:gd name="T46" fmla="*/ 36 w 2702"/>
                <a:gd name="T47" fmla="*/ 3146 h 3200"/>
                <a:gd name="T48" fmla="*/ 0 w 2702"/>
                <a:gd name="T49" fmla="*/ 3072 h 3200"/>
                <a:gd name="T50" fmla="*/ 0 w 2702"/>
                <a:gd name="T51" fmla="*/ 128 h 3200"/>
                <a:gd name="T52" fmla="*/ 36 w 2702"/>
                <a:gd name="T53" fmla="*/ 54 h 3200"/>
                <a:gd name="T54" fmla="*/ 128 w 2702"/>
                <a:gd name="T55" fmla="*/ 0 h 3200"/>
                <a:gd name="T56" fmla="*/ 2572 w 2702"/>
                <a:gd name="T57" fmla="*/ 0 h 3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02" h="3200">
                  <a:moveTo>
                    <a:pt x="2572" y="0"/>
                  </a:moveTo>
                  <a:cubicBezTo>
                    <a:pt x="2583" y="4"/>
                    <a:pt x="2595" y="6"/>
                    <a:pt x="2606" y="11"/>
                  </a:cubicBezTo>
                  <a:cubicBezTo>
                    <a:pt x="2664" y="37"/>
                    <a:pt x="2699" y="81"/>
                    <a:pt x="2700" y="145"/>
                  </a:cubicBezTo>
                  <a:cubicBezTo>
                    <a:pt x="2701" y="392"/>
                    <a:pt x="2700" y="639"/>
                    <a:pt x="2700" y="885"/>
                  </a:cubicBezTo>
                  <a:cubicBezTo>
                    <a:pt x="2700" y="888"/>
                    <a:pt x="2700" y="891"/>
                    <a:pt x="2699" y="898"/>
                  </a:cubicBezTo>
                  <a:cubicBezTo>
                    <a:pt x="2666" y="865"/>
                    <a:pt x="2634" y="834"/>
                    <a:pt x="2604" y="803"/>
                  </a:cubicBezTo>
                  <a:cubicBezTo>
                    <a:pt x="2600" y="798"/>
                    <a:pt x="2601" y="788"/>
                    <a:pt x="2601" y="780"/>
                  </a:cubicBezTo>
                  <a:cubicBezTo>
                    <a:pt x="2600" y="575"/>
                    <a:pt x="2600" y="370"/>
                    <a:pt x="2600" y="164"/>
                  </a:cubicBezTo>
                  <a:cubicBezTo>
                    <a:pt x="2600" y="115"/>
                    <a:pt x="2585" y="100"/>
                    <a:pt x="2536" y="100"/>
                  </a:cubicBezTo>
                  <a:cubicBezTo>
                    <a:pt x="1745" y="100"/>
                    <a:pt x="955" y="100"/>
                    <a:pt x="164" y="100"/>
                  </a:cubicBezTo>
                  <a:cubicBezTo>
                    <a:pt x="117" y="100"/>
                    <a:pt x="100" y="116"/>
                    <a:pt x="100" y="163"/>
                  </a:cubicBezTo>
                  <a:cubicBezTo>
                    <a:pt x="100" y="1121"/>
                    <a:pt x="100" y="2079"/>
                    <a:pt x="100" y="3037"/>
                  </a:cubicBezTo>
                  <a:cubicBezTo>
                    <a:pt x="100" y="3083"/>
                    <a:pt x="117" y="3100"/>
                    <a:pt x="162" y="3100"/>
                  </a:cubicBezTo>
                  <a:cubicBezTo>
                    <a:pt x="954" y="3100"/>
                    <a:pt x="1746" y="3100"/>
                    <a:pt x="2538" y="3100"/>
                  </a:cubicBezTo>
                  <a:cubicBezTo>
                    <a:pt x="2584" y="3100"/>
                    <a:pt x="2600" y="3084"/>
                    <a:pt x="2600" y="3037"/>
                  </a:cubicBezTo>
                  <a:cubicBezTo>
                    <a:pt x="2600" y="2583"/>
                    <a:pt x="2600" y="2128"/>
                    <a:pt x="2600" y="1674"/>
                  </a:cubicBezTo>
                  <a:cubicBezTo>
                    <a:pt x="2600" y="1658"/>
                    <a:pt x="2604" y="1647"/>
                    <a:pt x="2615" y="1637"/>
                  </a:cubicBezTo>
                  <a:cubicBezTo>
                    <a:pt x="2643" y="1610"/>
                    <a:pt x="2669" y="1582"/>
                    <a:pt x="2696" y="1555"/>
                  </a:cubicBezTo>
                  <a:cubicBezTo>
                    <a:pt x="2697" y="1556"/>
                    <a:pt x="2699" y="1557"/>
                    <a:pt x="2700" y="1558"/>
                  </a:cubicBezTo>
                  <a:cubicBezTo>
                    <a:pt x="2700" y="1565"/>
                    <a:pt x="2700" y="1573"/>
                    <a:pt x="2700" y="1581"/>
                  </a:cubicBezTo>
                  <a:cubicBezTo>
                    <a:pt x="2700" y="2060"/>
                    <a:pt x="2699" y="2539"/>
                    <a:pt x="2702" y="3019"/>
                  </a:cubicBezTo>
                  <a:cubicBezTo>
                    <a:pt x="2702" y="3120"/>
                    <a:pt x="2654" y="3182"/>
                    <a:pt x="2572" y="3200"/>
                  </a:cubicBezTo>
                  <a:cubicBezTo>
                    <a:pt x="1757" y="3200"/>
                    <a:pt x="943" y="3200"/>
                    <a:pt x="128" y="3200"/>
                  </a:cubicBezTo>
                  <a:cubicBezTo>
                    <a:pt x="92" y="3191"/>
                    <a:pt x="58" y="3177"/>
                    <a:pt x="36" y="3146"/>
                  </a:cubicBezTo>
                  <a:cubicBezTo>
                    <a:pt x="21" y="3123"/>
                    <a:pt x="12" y="3097"/>
                    <a:pt x="0" y="3072"/>
                  </a:cubicBezTo>
                  <a:cubicBezTo>
                    <a:pt x="0" y="2091"/>
                    <a:pt x="0" y="1109"/>
                    <a:pt x="0" y="128"/>
                  </a:cubicBezTo>
                  <a:cubicBezTo>
                    <a:pt x="12" y="103"/>
                    <a:pt x="21" y="77"/>
                    <a:pt x="36" y="54"/>
                  </a:cubicBezTo>
                  <a:cubicBezTo>
                    <a:pt x="58" y="23"/>
                    <a:pt x="92" y="9"/>
                    <a:pt x="128" y="0"/>
                  </a:cubicBezTo>
                  <a:cubicBezTo>
                    <a:pt x="943" y="0"/>
                    <a:pt x="1757" y="0"/>
                    <a:pt x="257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7"/>
            <p:cNvSpPr/>
            <p:nvPr/>
          </p:nvSpPr>
          <p:spPr bwMode="auto">
            <a:xfrm>
              <a:off x="3448050" y="4132263"/>
              <a:ext cx="628650" cy="633412"/>
            </a:xfrm>
            <a:custGeom>
              <a:avLst/>
              <a:gdLst>
                <a:gd name="T0" fmla="*/ 706 w 706"/>
                <a:gd name="T1" fmla="*/ 410 h 714"/>
                <a:gd name="T2" fmla="*/ 682 w 706"/>
                <a:gd name="T3" fmla="*/ 441 h 714"/>
                <a:gd name="T4" fmla="*/ 441 w 706"/>
                <a:gd name="T5" fmla="*/ 681 h 714"/>
                <a:gd name="T6" fmla="*/ 357 w 706"/>
                <a:gd name="T7" fmla="*/ 682 h 714"/>
                <a:gd name="T8" fmla="*/ 31 w 706"/>
                <a:gd name="T9" fmla="*/ 356 h 714"/>
                <a:gd name="T10" fmla="*/ 31 w 706"/>
                <a:gd name="T11" fmla="*/ 274 h 714"/>
                <a:gd name="T12" fmla="*/ 274 w 706"/>
                <a:gd name="T13" fmla="*/ 31 h 714"/>
                <a:gd name="T14" fmla="*/ 357 w 706"/>
                <a:gd name="T15" fmla="*/ 32 h 714"/>
                <a:gd name="T16" fmla="*/ 677 w 706"/>
                <a:gd name="T17" fmla="*/ 351 h 714"/>
                <a:gd name="T18" fmla="*/ 706 w 706"/>
                <a:gd name="T19" fmla="*/ 386 h 714"/>
                <a:gd name="T20" fmla="*/ 706 w 706"/>
                <a:gd name="T21" fmla="*/ 410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6" h="714">
                  <a:moveTo>
                    <a:pt x="706" y="410"/>
                  </a:moveTo>
                  <a:cubicBezTo>
                    <a:pt x="698" y="420"/>
                    <a:pt x="691" y="432"/>
                    <a:pt x="682" y="441"/>
                  </a:cubicBezTo>
                  <a:cubicBezTo>
                    <a:pt x="602" y="521"/>
                    <a:pt x="522" y="601"/>
                    <a:pt x="441" y="681"/>
                  </a:cubicBezTo>
                  <a:cubicBezTo>
                    <a:pt x="409" y="714"/>
                    <a:pt x="389" y="714"/>
                    <a:pt x="357" y="682"/>
                  </a:cubicBezTo>
                  <a:cubicBezTo>
                    <a:pt x="248" y="573"/>
                    <a:pt x="139" y="465"/>
                    <a:pt x="31" y="356"/>
                  </a:cubicBezTo>
                  <a:cubicBezTo>
                    <a:pt x="0" y="326"/>
                    <a:pt x="0" y="305"/>
                    <a:pt x="31" y="274"/>
                  </a:cubicBezTo>
                  <a:cubicBezTo>
                    <a:pt x="112" y="193"/>
                    <a:pt x="193" y="112"/>
                    <a:pt x="274" y="31"/>
                  </a:cubicBezTo>
                  <a:cubicBezTo>
                    <a:pt x="305" y="0"/>
                    <a:pt x="326" y="0"/>
                    <a:pt x="357" y="32"/>
                  </a:cubicBezTo>
                  <a:cubicBezTo>
                    <a:pt x="464" y="138"/>
                    <a:pt x="570" y="245"/>
                    <a:pt x="677" y="351"/>
                  </a:cubicBezTo>
                  <a:cubicBezTo>
                    <a:pt x="687" y="362"/>
                    <a:pt x="696" y="374"/>
                    <a:pt x="706" y="386"/>
                  </a:cubicBezTo>
                  <a:cubicBezTo>
                    <a:pt x="706" y="394"/>
                    <a:pt x="706" y="402"/>
                    <a:pt x="706" y="410"/>
                  </a:cubicBezTo>
                  <a:close/>
                </a:path>
              </a:pathLst>
            </a:custGeom>
            <a:solidFill>
              <a:srgbClr val="FF94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0"/>
            <p:cNvSpPr/>
            <p:nvPr/>
          </p:nvSpPr>
          <p:spPr bwMode="auto">
            <a:xfrm>
              <a:off x="2587625" y="4483100"/>
              <a:ext cx="1139825" cy="1143000"/>
            </a:xfrm>
            <a:custGeom>
              <a:avLst/>
              <a:gdLst>
                <a:gd name="T0" fmla="*/ 1281 w 1281"/>
                <a:gd name="T1" fmla="*/ 396 h 1285"/>
                <a:gd name="T2" fmla="*/ 1267 w 1281"/>
                <a:gd name="T3" fmla="*/ 426 h 1285"/>
                <a:gd name="T4" fmla="*/ 1252 w 1281"/>
                <a:gd name="T5" fmla="*/ 442 h 1285"/>
                <a:gd name="T6" fmla="*/ 443 w 1281"/>
                <a:gd name="T7" fmla="*/ 1251 h 1285"/>
                <a:gd name="T8" fmla="*/ 356 w 1281"/>
                <a:gd name="T9" fmla="*/ 1251 h 1285"/>
                <a:gd name="T10" fmla="*/ 32 w 1281"/>
                <a:gd name="T11" fmla="*/ 927 h 1285"/>
                <a:gd name="T12" fmla="*/ 32 w 1281"/>
                <a:gd name="T13" fmla="*/ 844 h 1285"/>
                <a:gd name="T14" fmla="*/ 846 w 1281"/>
                <a:gd name="T15" fmla="*/ 30 h 1285"/>
                <a:gd name="T16" fmla="*/ 928 w 1281"/>
                <a:gd name="T17" fmla="*/ 30 h 1285"/>
                <a:gd name="T18" fmla="*/ 1256 w 1281"/>
                <a:gd name="T19" fmla="*/ 358 h 1285"/>
                <a:gd name="T20" fmla="*/ 1281 w 1281"/>
                <a:gd name="T21" fmla="*/ 396 h 1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1" h="1285">
                  <a:moveTo>
                    <a:pt x="1281" y="396"/>
                  </a:moveTo>
                  <a:cubicBezTo>
                    <a:pt x="1275" y="409"/>
                    <a:pt x="1272" y="418"/>
                    <a:pt x="1267" y="426"/>
                  </a:cubicBezTo>
                  <a:cubicBezTo>
                    <a:pt x="1263" y="432"/>
                    <a:pt x="1257" y="437"/>
                    <a:pt x="1252" y="442"/>
                  </a:cubicBezTo>
                  <a:cubicBezTo>
                    <a:pt x="982" y="712"/>
                    <a:pt x="712" y="981"/>
                    <a:pt x="443" y="1251"/>
                  </a:cubicBezTo>
                  <a:cubicBezTo>
                    <a:pt x="409" y="1285"/>
                    <a:pt x="390" y="1285"/>
                    <a:pt x="356" y="1251"/>
                  </a:cubicBezTo>
                  <a:cubicBezTo>
                    <a:pt x="248" y="1143"/>
                    <a:pt x="140" y="1035"/>
                    <a:pt x="32" y="927"/>
                  </a:cubicBezTo>
                  <a:cubicBezTo>
                    <a:pt x="0" y="895"/>
                    <a:pt x="0" y="876"/>
                    <a:pt x="32" y="844"/>
                  </a:cubicBezTo>
                  <a:cubicBezTo>
                    <a:pt x="303" y="573"/>
                    <a:pt x="575" y="301"/>
                    <a:pt x="846" y="30"/>
                  </a:cubicBezTo>
                  <a:cubicBezTo>
                    <a:pt x="876" y="0"/>
                    <a:pt x="898" y="0"/>
                    <a:pt x="928" y="30"/>
                  </a:cubicBezTo>
                  <a:cubicBezTo>
                    <a:pt x="1037" y="139"/>
                    <a:pt x="1147" y="248"/>
                    <a:pt x="1256" y="358"/>
                  </a:cubicBezTo>
                  <a:cubicBezTo>
                    <a:pt x="1266" y="369"/>
                    <a:pt x="1273" y="383"/>
                    <a:pt x="1281" y="396"/>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1"/>
            <p:cNvSpPr/>
            <p:nvPr/>
          </p:nvSpPr>
          <p:spPr bwMode="auto">
            <a:xfrm>
              <a:off x="2332038" y="5340350"/>
              <a:ext cx="538163" cy="539750"/>
            </a:xfrm>
            <a:custGeom>
              <a:avLst/>
              <a:gdLst>
                <a:gd name="T0" fmla="*/ 21 w 604"/>
                <a:gd name="T1" fmla="*/ 606 h 606"/>
                <a:gd name="T2" fmla="*/ 1 w 604"/>
                <a:gd name="T3" fmla="*/ 584 h 606"/>
                <a:gd name="T4" fmla="*/ 8 w 604"/>
                <a:gd name="T5" fmla="*/ 561 h 606"/>
                <a:gd name="T6" fmla="*/ 183 w 604"/>
                <a:gd name="T7" fmla="*/ 35 h 606"/>
                <a:gd name="T8" fmla="*/ 231 w 604"/>
                <a:gd name="T9" fmla="*/ 23 h 606"/>
                <a:gd name="T10" fmla="*/ 581 w 604"/>
                <a:gd name="T11" fmla="*/ 374 h 606"/>
                <a:gd name="T12" fmla="*/ 569 w 604"/>
                <a:gd name="T13" fmla="*/ 425 h 606"/>
                <a:gd name="T14" fmla="*/ 35 w 604"/>
                <a:gd name="T15" fmla="*/ 602 h 606"/>
                <a:gd name="T16" fmla="*/ 21 w 604"/>
                <a:gd name="T17" fmla="*/ 606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4" h="606">
                  <a:moveTo>
                    <a:pt x="21" y="606"/>
                  </a:moveTo>
                  <a:cubicBezTo>
                    <a:pt x="5" y="606"/>
                    <a:pt x="0" y="596"/>
                    <a:pt x="1" y="584"/>
                  </a:cubicBezTo>
                  <a:cubicBezTo>
                    <a:pt x="2" y="576"/>
                    <a:pt x="5" y="568"/>
                    <a:pt x="8" y="561"/>
                  </a:cubicBezTo>
                  <a:cubicBezTo>
                    <a:pt x="66" y="385"/>
                    <a:pt x="124" y="210"/>
                    <a:pt x="183" y="35"/>
                  </a:cubicBezTo>
                  <a:cubicBezTo>
                    <a:pt x="193" y="3"/>
                    <a:pt x="207" y="0"/>
                    <a:pt x="231" y="23"/>
                  </a:cubicBezTo>
                  <a:cubicBezTo>
                    <a:pt x="348" y="140"/>
                    <a:pt x="464" y="257"/>
                    <a:pt x="581" y="374"/>
                  </a:cubicBezTo>
                  <a:cubicBezTo>
                    <a:pt x="604" y="397"/>
                    <a:pt x="600" y="415"/>
                    <a:pt x="569" y="425"/>
                  </a:cubicBezTo>
                  <a:cubicBezTo>
                    <a:pt x="391" y="484"/>
                    <a:pt x="213" y="543"/>
                    <a:pt x="35" y="602"/>
                  </a:cubicBezTo>
                  <a:cubicBezTo>
                    <a:pt x="30" y="604"/>
                    <a:pt x="25" y="605"/>
                    <a:pt x="21" y="6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2"/>
            <p:cNvSpPr/>
            <p:nvPr/>
          </p:nvSpPr>
          <p:spPr bwMode="auto">
            <a:xfrm>
              <a:off x="1990725" y="4032250"/>
              <a:ext cx="1454150" cy="42862"/>
            </a:xfrm>
            <a:custGeom>
              <a:avLst/>
              <a:gdLst>
                <a:gd name="T0" fmla="*/ 1634 w 1634"/>
                <a:gd name="T1" fmla="*/ 0 h 48"/>
                <a:gd name="T2" fmla="*/ 1634 w 1634"/>
                <a:gd name="T3" fmla="*/ 48 h 48"/>
                <a:gd name="T4" fmla="*/ 0 w 1634"/>
                <a:gd name="T5" fmla="*/ 48 h 48"/>
                <a:gd name="T6" fmla="*/ 0 w 1634"/>
                <a:gd name="T7" fmla="*/ 0 h 48"/>
                <a:gd name="T8" fmla="*/ 1634 w 1634"/>
                <a:gd name="T9" fmla="*/ 0 h 48"/>
              </a:gdLst>
              <a:ahLst/>
              <a:cxnLst>
                <a:cxn ang="0">
                  <a:pos x="T0" y="T1"/>
                </a:cxn>
                <a:cxn ang="0">
                  <a:pos x="T2" y="T3"/>
                </a:cxn>
                <a:cxn ang="0">
                  <a:pos x="T4" y="T5"/>
                </a:cxn>
                <a:cxn ang="0">
                  <a:pos x="T6" y="T7"/>
                </a:cxn>
                <a:cxn ang="0">
                  <a:pos x="T8" y="T9"/>
                </a:cxn>
              </a:cxnLst>
              <a:rect l="0" t="0" r="r" b="b"/>
              <a:pathLst>
                <a:path w="1634" h="48">
                  <a:moveTo>
                    <a:pt x="1634" y="0"/>
                  </a:moveTo>
                  <a:cubicBezTo>
                    <a:pt x="1634" y="17"/>
                    <a:pt x="1634" y="32"/>
                    <a:pt x="1634" y="48"/>
                  </a:cubicBezTo>
                  <a:cubicBezTo>
                    <a:pt x="1090" y="48"/>
                    <a:pt x="546" y="48"/>
                    <a:pt x="0" y="48"/>
                  </a:cubicBezTo>
                  <a:cubicBezTo>
                    <a:pt x="0" y="32"/>
                    <a:pt x="0" y="17"/>
                    <a:pt x="0" y="0"/>
                  </a:cubicBezTo>
                  <a:cubicBezTo>
                    <a:pt x="544" y="0"/>
                    <a:pt x="1088" y="0"/>
                    <a:pt x="16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3"/>
            <p:cNvSpPr/>
            <p:nvPr/>
          </p:nvSpPr>
          <p:spPr bwMode="auto">
            <a:xfrm>
              <a:off x="1992313" y="4548188"/>
              <a:ext cx="1184275" cy="44450"/>
            </a:xfrm>
            <a:custGeom>
              <a:avLst/>
              <a:gdLst>
                <a:gd name="T0" fmla="*/ 1331 w 1331"/>
                <a:gd name="T1" fmla="*/ 0 h 51"/>
                <a:gd name="T2" fmla="*/ 1245 w 1331"/>
                <a:gd name="T3" fmla="*/ 51 h 51"/>
                <a:gd name="T4" fmla="*/ 28 w 1331"/>
                <a:gd name="T5" fmla="*/ 50 h 51"/>
                <a:gd name="T6" fmla="*/ 0 w 1331"/>
                <a:gd name="T7" fmla="*/ 50 h 51"/>
                <a:gd name="T8" fmla="*/ 0 w 1331"/>
                <a:gd name="T9" fmla="*/ 0 h 51"/>
                <a:gd name="T10" fmla="*/ 1331 w 1331"/>
                <a:gd name="T11" fmla="*/ 0 h 51"/>
              </a:gdLst>
              <a:ahLst/>
              <a:cxnLst>
                <a:cxn ang="0">
                  <a:pos x="T0" y="T1"/>
                </a:cxn>
                <a:cxn ang="0">
                  <a:pos x="T2" y="T3"/>
                </a:cxn>
                <a:cxn ang="0">
                  <a:pos x="T4" y="T5"/>
                </a:cxn>
                <a:cxn ang="0">
                  <a:pos x="T6" y="T7"/>
                </a:cxn>
                <a:cxn ang="0">
                  <a:pos x="T8" y="T9"/>
                </a:cxn>
                <a:cxn ang="0">
                  <a:pos x="T10" y="T11"/>
                </a:cxn>
              </a:cxnLst>
              <a:rect l="0" t="0" r="r" b="b"/>
              <a:pathLst>
                <a:path w="1331" h="51">
                  <a:moveTo>
                    <a:pt x="1331" y="0"/>
                  </a:moveTo>
                  <a:cubicBezTo>
                    <a:pt x="1304" y="25"/>
                    <a:pt x="1287" y="51"/>
                    <a:pt x="1245" y="51"/>
                  </a:cubicBezTo>
                  <a:cubicBezTo>
                    <a:pt x="839" y="49"/>
                    <a:pt x="433" y="50"/>
                    <a:pt x="28" y="50"/>
                  </a:cubicBezTo>
                  <a:cubicBezTo>
                    <a:pt x="19" y="50"/>
                    <a:pt x="10" y="50"/>
                    <a:pt x="0" y="50"/>
                  </a:cubicBezTo>
                  <a:cubicBezTo>
                    <a:pt x="0" y="33"/>
                    <a:pt x="0" y="17"/>
                    <a:pt x="0" y="0"/>
                  </a:cubicBezTo>
                  <a:cubicBezTo>
                    <a:pt x="442" y="0"/>
                    <a:pt x="884" y="0"/>
                    <a:pt x="133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14"/>
            <p:cNvSpPr/>
            <p:nvPr/>
          </p:nvSpPr>
          <p:spPr bwMode="auto">
            <a:xfrm>
              <a:off x="1990725" y="5062538"/>
              <a:ext cx="668338" cy="44450"/>
            </a:xfrm>
            <a:custGeom>
              <a:avLst/>
              <a:gdLst>
                <a:gd name="T0" fmla="*/ 751 w 751"/>
                <a:gd name="T1" fmla="*/ 4 h 49"/>
                <a:gd name="T2" fmla="*/ 710 w 751"/>
                <a:gd name="T3" fmla="*/ 42 h 49"/>
                <a:gd name="T4" fmla="*/ 692 w 751"/>
                <a:gd name="T5" fmla="*/ 49 h 49"/>
                <a:gd name="T6" fmla="*/ 11 w 751"/>
                <a:gd name="T7" fmla="*/ 49 h 49"/>
                <a:gd name="T8" fmla="*/ 0 w 751"/>
                <a:gd name="T9" fmla="*/ 48 h 49"/>
                <a:gd name="T10" fmla="*/ 0 w 751"/>
                <a:gd name="T11" fmla="*/ 0 h 49"/>
                <a:gd name="T12" fmla="*/ 748 w 751"/>
                <a:gd name="T13" fmla="*/ 0 h 49"/>
                <a:gd name="T14" fmla="*/ 751 w 751"/>
                <a:gd name="T15" fmla="*/ 4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1" h="49">
                  <a:moveTo>
                    <a:pt x="751" y="4"/>
                  </a:moveTo>
                  <a:cubicBezTo>
                    <a:pt x="737" y="17"/>
                    <a:pt x="724" y="30"/>
                    <a:pt x="710" y="42"/>
                  </a:cubicBezTo>
                  <a:cubicBezTo>
                    <a:pt x="705" y="46"/>
                    <a:pt x="698" y="49"/>
                    <a:pt x="692" y="49"/>
                  </a:cubicBezTo>
                  <a:cubicBezTo>
                    <a:pt x="465" y="49"/>
                    <a:pt x="238" y="49"/>
                    <a:pt x="11" y="49"/>
                  </a:cubicBezTo>
                  <a:cubicBezTo>
                    <a:pt x="8" y="49"/>
                    <a:pt x="4" y="48"/>
                    <a:pt x="0" y="48"/>
                  </a:cubicBezTo>
                  <a:cubicBezTo>
                    <a:pt x="0" y="32"/>
                    <a:pt x="0" y="17"/>
                    <a:pt x="0" y="0"/>
                  </a:cubicBezTo>
                  <a:cubicBezTo>
                    <a:pt x="250" y="0"/>
                    <a:pt x="499" y="0"/>
                    <a:pt x="748" y="0"/>
                  </a:cubicBezTo>
                  <a:cubicBezTo>
                    <a:pt x="749" y="2"/>
                    <a:pt x="750" y="3"/>
                    <a:pt x="75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5"/>
            <p:cNvSpPr/>
            <p:nvPr/>
          </p:nvSpPr>
          <p:spPr bwMode="auto">
            <a:xfrm>
              <a:off x="3081338" y="5575300"/>
              <a:ext cx="363538" cy="46037"/>
            </a:xfrm>
            <a:custGeom>
              <a:avLst/>
              <a:gdLst>
                <a:gd name="T0" fmla="*/ 0 w 407"/>
                <a:gd name="T1" fmla="*/ 52 h 52"/>
                <a:gd name="T2" fmla="*/ 86 w 407"/>
                <a:gd name="T3" fmla="*/ 1 h 52"/>
                <a:gd name="T4" fmla="*/ 384 w 407"/>
                <a:gd name="T5" fmla="*/ 3 h 52"/>
                <a:gd name="T6" fmla="*/ 407 w 407"/>
                <a:gd name="T7" fmla="*/ 3 h 52"/>
                <a:gd name="T8" fmla="*/ 407 w 407"/>
                <a:gd name="T9" fmla="*/ 52 h 52"/>
                <a:gd name="T10" fmla="*/ 0 w 407"/>
                <a:gd name="T11" fmla="*/ 52 h 52"/>
              </a:gdLst>
              <a:ahLst/>
              <a:cxnLst>
                <a:cxn ang="0">
                  <a:pos x="T0" y="T1"/>
                </a:cxn>
                <a:cxn ang="0">
                  <a:pos x="T2" y="T3"/>
                </a:cxn>
                <a:cxn ang="0">
                  <a:pos x="T4" y="T5"/>
                </a:cxn>
                <a:cxn ang="0">
                  <a:pos x="T6" y="T7"/>
                </a:cxn>
                <a:cxn ang="0">
                  <a:pos x="T8" y="T9"/>
                </a:cxn>
                <a:cxn ang="0">
                  <a:pos x="T10" y="T11"/>
                </a:cxn>
              </a:cxnLst>
              <a:rect l="0" t="0" r="r" b="b"/>
              <a:pathLst>
                <a:path w="407" h="52">
                  <a:moveTo>
                    <a:pt x="0" y="52"/>
                  </a:moveTo>
                  <a:cubicBezTo>
                    <a:pt x="26" y="26"/>
                    <a:pt x="43" y="0"/>
                    <a:pt x="86" y="1"/>
                  </a:cubicBezTo>
                  <a:cubicBezTo>
                    <a:pt x="185" y="6"/>
                    <a:pt x="285" y="3"/>
                    <a:pt x="384" y="3"/>
                  </a:cubicBezTo>
                  <a:cubicBezTo>
                    <a:pt x="391" y="3"/>
                    <a:pt x="398" y="3"/>
                    <a:pt x="407" y="3"/>
                  </a:cubicBezTo>
                  <a:cubicBezTo>
                    <a:pt x="407" y="19"/>
                    <a:pt x="407" y="35"/>
                    <a:pt x="407" y="52"/>
                  </a:cubicBezTo>
                  <a:cubicBezTo>
                    <a:pt x="273" y="52"/>
                    <a:pt x="139" y="52"/>
                    <a:pt x="0"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6"/>
            <p:cNvSpPr/>
            <p:nvPr/>
          </p:nvSpPr>
          <p:spPr bwMode="auto">
            <a:xfrm>
              <a:off x="1990725" y="5578475"/>
              <a:ext cx="339725" cy="44450"/>
            </a:xfrm>
            <a:custGeom>
              <a:avLst/>
              <a:gdLst>
                <a:gd name="T0" fmla="*/ 0 w 381"/>
                <a:gd name="T1" fmla="*/ 49 h 49"/>
                <a:gd name="T2" fmla="*/ 0 w 381"/>
                <a:gd name="T3" fmla="*/ 0 h 49"/>
                <a:gd name="T4" fmla="*/ 381 w 381"/>
                <a:gd name="T5" fmla="*/ 0 h 49"/>
                <a:gd name="T6" fmla="*/ 367 w 381"/>
                <a:gd name="T7" fmla="*/ 43 h 49"/>
                <a:gd name="T8" fmla="*/ 356 w 381"/>
                <a:gd name="T9" fmla="*/ 49 h 49"/>
                <a:gd name="T10" fmla="*/ 0 w 381"/>
                <a:gd name="T11" fmla="*/ 49 h 49"/>
              </a:gdLst>
              <a:ahLst/>
              <a:cxnLst>
                <a:cxn ang="0">
                  <a:pos x="T0" y="T1"/>
                </a:cxn>
                <a:cxn ang="0">
                  <a:pos x="T2" y="T3"/>
                </a:cxn>
                <a:cxn ang="0">
                  <a:pos x="T4" y="T5"/>
                </a:cxn>
                <a:cxn ang="0">
                  <a:pos x="T6" y="T7"/>
                </a:cxn>
                <a:cxn ang="0">
                  <a:pos x="T8" y="T9"/>
                </a:cxn>
                <a:cxn ang="0">
                  <a:pos x="T10" y="T11"/>
                </a:cxn>
              </a:cxnLst>
              <a:rect l="0" t="0" r="r" b="b"/>
              <a:pathLst>
                <a:path w="381" h="49">
                  <a:moveTo>
                    <a:pt x="0" y="49"/>
                  </a:moveTo>
                  <a:cubicBezTo>
                    <a:pt x="0" y="32"/>
                    <a:pt x="0" y="17"/>
                    <a:pt x="0" y="0"/>
                  </a:cubicBezTo>
                  <a:cubicBezTo>
                    <a:pt x="126" y="0"/>
                    <a:pt x="252" y="0"/>
                    <a:pt x="381" y="0"/>
                  </a:cubicBezTo>
                  <a:cubicBezTo>
                    <a:pt x="376" y="15"/>
                    <a:pt x="372" y="29"/>
                    <a:pt x="367" y="43"/>
                  </a:cubicBezTo>
                  <a:cubicBezTo>
                    <a:pt x="366" y="46"/>
                    <a:pt x="360" y="49"/>
                    <a:pt x="356" y="49"/>
                  </a:cubicBezTo>
                  <a:cubicBezTo>
                    <a:pt x="238" y="49"/>
                    <a:pt x="120" y="49"/>
                    <a:pt x="0"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本次</a:t>
            </a:r>
            <a:r>
              <a:rPr lang="zh-CN" altLang="en-US" dirty="0" smtClean="0"/>
              <a:t>课程</a:t>
            </a:r>
            <a:r>
              <a:rPr lang="zh-CN" altLang="en-US" b="1" dirty="0" smtClean="0"/>
              <a:t>速递</a:t>
            </a:r>
            <a:endParaRPr lang="zh-CN" altLang="en-US" b="1" dirty="0"/>
          </a:p>
        </p:txBody>
      </p:sp>
      <p:sp>
        <p:nvSpPr>
          <p:cNvPr id="3" name="内容占位符 2"/>
          <p:cNvSpPr>
            <a:spLocks noGrp="1"/>
          </p:cNvSpPr>
          <p:nvPr>
            <p:ph idx="1"/>
          </p:nvPr>
        </p:nvSpPr>
        <p:spPr>
          <a:xfrm>
            <a:off x="979714" y="909936"/>
            <a:ext cx="7878536" cy="3517687"/>
          </a:xfrm>
        </p:spPr>
        <p:txBody>
          <a:bodyPr>
            <a:normAutofit lnSpcReduction="10000"/>
          </a:bodyPr>
          <a:lstStyle/>
          <a:p>
            <a:pPr marL="457200" indent="-457200">
              <a:lnSpc>
                <a:spcPct val="120000"/>
              </a:lnSpc>
            </a:pPr>
            <a:r>
              <a:rPr lang="zh-CN" altLang="en-US" dirty="0" smtClean="0">
                <a:solidFill>
                  <a:schemeClr val="bg2">
                    <a:lumMod val="50000"/>
                  </a:schemeClr>
                </a:solidFill>
                <a:latin typeface="+mj-ea"/>
                <a:ea typeface="+mj-ea"/>
              </a:rPr>
              <a:t>第</a:t>
            </a:r>
            <a:r>
              <a:rPr lang="en-US" altLang="zh-CN" dirty="0" smtClean="0">
                <a:solidFill>
                  <a:schemeClr val="bg2">
                    <a:lumMod val="50000"/>
                  </a:schemeClr>
                </a:solidFill>
                <a:latin typeface="+mj-ea"/>
                <a:ea typeface="+mj-ea"/>
              </a:rPr>
              <a:t>14</a:t>
            </a:r>
            <a:r>
              <a:rPr lang="zh-CN" altLang="en-US" dirty="0" smtClean="0">
                <a:solidFill>
                  <a:schemeClr val="bg2">
                    <a:lumMod val="50000"/>
                  </a:schemeClr>
                </a:solidFill>
                <a:latin typeface="+mj-ea"/>
                <a:ea typeface="+mj-ea"/>
              </a:rPr>
              <a:t>章 </a:t>
            </a:r>
            <a:r>
              <a:rPr lang="zh-CN" altLang="en-US" dirty="0" smtClean="0">
                <a:solidFill>
                  <a:schemeClr val="bg2">
                    <a:lumMod val="50000"/>
                  </a:schemeClr>
                </a:solidFill>
              </a:rPr>
              <a:t>软件交付与维护</a:t>
            </a:r>
            <a:endParaRPr lang="en-US" altLang="zh-CN" dirty="0" smtClean="0">
              <a:solidFill>
                <a:schemeClr val="bg2">
                  <a:lumMod val="50000"/>
                </a:schemeClr>
              </a:solidFill>
            </a:endParaRPr>
          </a:p>
          <a:p>
            <a:pPr marL="1108710" lvl="1" indent="-457200">
              <a:lnSpc>
                <a:spcPct val="120000"/>
              </a:lnSpc>
            </a:pPr>
            <a:r>
              <a:rPr lang="zh-CN" altLang="en-US" dirty="0" smtClean="0">
                <a:solidFill>
                  <a:schemeClr val="bg2">
                    <a:lumMod val="50000"/>
                  </a:schemeClr>
                </a:solidFill>
              </a:rPr>
              <a:t>软件部署与交付</a:t>
            </a:r>
            <a:endParaRPr lang="en-US" altLang="zh-CN" dirty="0" smtClean="0">
              <a:solidFill>
                <a:schemeClr val="bg2">
                  <a:lumMod val="50000"/>
                </a:schemeClr>
              </a:solidFill>
            </a:endParaRPr>
          </a:p>
          <a:p>
            <a:pPr marL="1108710" lvl="1" indent="-457200">
              <a:lnSpc>
                <a:spcPct val="120000"/>
              </a:lnSpc>
            </a:pPr>
            <a:r>
              <a:rPr lang="zh-CN" altLang="en-US" dirty="0" smtClean="0">
                <a:solidFill>
                  <a:schemeClr val="bg2">
                    <a:lumMod val="50000"/>
                  </a:schemeClr>
                </a:solidFill>
              </a:rPr>
              <a:t>软件演化与维护</a:t>
            </a:r>
            <a:endParaRPr lang="en-US" altLang="zh-CN" dirty="0" smtClean="0">
              <a:solidFill>
                <a:schemeClr val="bg2">
                  <a:lumMod val="50000"/>
                </a:schemeClr>
              </a:solidFill>
            </a:endParaRPr>
          </a:p>
          <a:p>
            <a:pPr lvl="2"/>
            <a:r>
              <a:rPr lang="zh-CN" altLang="en-US" dirty="0"/>
              <a:t>调试</a:t>
            </a:r>
            <a:endParaRPr lang="en-US" altLang="zh-CN" dirty="0"/>
          </a:p>
          <a:p>
            <a:pPr lvl="2"/>
            <a:r>
              <a:rPr lang="zh-CN" altLang="en-US" dirty="0"/>
              <a:t>维护</a:t>
            </a:r>
            <a:endParaRPr lang="en-US" altLang="zh-CN" dirty="0"/>
          </a:p>
          <a:p>
            <a:pPr lvl="2"/>
            <a:r>
              <a:rPr lang="zh-CN" altLang="en-US" dirty="0"/>
              <a:t>重构</a:t>
            </a:r>
            <a:endParaRPr lang="en-US" altLang="zh-CN" dirty="0"/>
          </a:p>
          <a:p>
            <a:pPr lvl="2"/>
            <a:r>
              <a:rPr lang="zh-CN" altLang="en-US" dirty="0"/>
              <a:t>软件再工程</a:t>
            </a:r>
            <a:r>
              <a:rPr lang="zh-CN" altLang="en-US" dirty="0" smtClean="0"/>
              <a:t>过程</a:t>
            </a:r>
            <a:endParaRPr lang="zh-CN" altLang="en-US" dirty="0"/>
          </a:p>
        </p:txBody>
      </p:sp>
      <p:sp>
        <p:nvSpPr>
          <p:cNvPr id="7" name="日期占位符 6"/>
          <p:cNvSpPr>
            <a:spLocks noGrp="1"/>
          </p:cNvSpPr>
          <p:nvPr>
            <p:ph type="dt" sz="half" idx="10"/>
          </p:nvPr>
        </p:nvSpPr>
        <p:spPr/>
        <p:txBody>
          <a:bodyPr/>
          <a:lstStyle/>
          <a:p>
            <a:fld id="{17B9B125-CBDC-4E6A-8DE4-F19FC924BDC3}"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dirty="0" smtClean="0"/>
              <a:t>软件工程</a:t>
            </a:r>
            <a:endParaRPr lang="zh-CN" altLang="en-US" dirty="0"/>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0" name="图片 9"/>
          <p:cNvPicPr>
            <a:picLocks noChangeAspect="1"/>
          </p:cNvPicPr>
          <p:nvPr/>
        </p:nvPicPr>
        <p:blipFill>
          <a:blip r:embed="rId1">
            <a:clrChange>
              <a:clrFrom>
                <a:srgbClr val="F6F6F6"/>
              </a:clrFrom>
              <a:clrTo>
                <a:srgbClr val="F6F6F6">
                  <a:alpha val="0"/>
                </a:srgbClr>
              </a:clrTo>
            </a:clrChange>
          </a:blip>
          <a:stretch>
            <a:fillRect/>
          </a:stretch>
        </p:blipFill>
        <p:spPr>
          <a:xfrm>
            <a:off x="5719422" y="1518906"/>
            <a:ext cx="3098189" cy="3253099"/>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2"/>
          <p:cNvSpPr>
            <a:spLocks noGrp="1" noChangeArrowheads="1"/>
          </p:cNvSpPr>
          <p:nvPr>
            <p:ph type="title"/>
          </p:nvPr>
        </p:nvSpPr>
        <p:spPr/>
        <p:txBody>
          <a:bodyPr>
            <a:normAutofit/>
          </a:bodyPr>
          <a:lstStyle/>
          <a:p>
            <a:pPr eaLnBrk="1" hangingPunct="1"/>
            <a:r>
              <a:rPr lang="zh-CN" altLang="en-US" dirty="0"/>
              <a:t>软件调试</a:t>
            </a:r>
            <a:endParaRPr lang="zh-CN" altLang="en-US" dirty="0"/>
          </a:p>
        </p:txBody>
      </p:sp>
      <p:sp>
        <p:nvSpPr>
          <p:cNvPr id="119812" name="Rectangle 3"/>
          <p:cNvSpPr>
            <a:spLocks noGrp="1" noChangeArrowheads="1"/>
          </p:cNvSpPr>
          <p:nvPr>
            <p:ph idx="1"/>
          </p:nvPr>
        </p:nvSpPr>
        <p:spPr>
          <a:xfrm>
            <a:off x="768097" y="914400"/>
            <a:ext cx="8005513" cy="3759746"/>
          </a:xfrm>
        </p:spPr>
        <p:txBody>
          <a:bodyPr>
            <a:noAutofit/>
          </a:bodyPr>
          <a:lstStyle/>
          <a:p>
            <a:pPr eaLnBrk="1" hangingPunct="1">
              <a:lnSpc>
                <a:spcPct val="100000"/>
              </a:lnSpc>
            </a:pPr>
            <a:r>
              <a:rPr lang="zh-CN" altLang="en-US" sz="2200" dirty="0">
                <a:latin typeface="+mn-ea"/>
              </a:rPr>
              <a:t>调试（也称为纠错）作为成功测试的后果出现，也就是说，调试是在测试发现错误之后</a:t>
            </a:r>
            <a:r>
              <a:rPr lang="zh-CN" altLang="en-US" sz="2200" dirty="0">
                <a:solidFill>
                  <a:srgbClr val="FF0000"/>
                </a:solidFill>
                <a:latin typeface="+mn-ea"/>
              </a:rPr>
              <a:t>排除错误</a:t>
            </a:r>
            <a:r>
              <a:rPr lang="zh-CN" altLang="en-US" sz="2200" dirty="0">
                <a:latin typeface="+mn-ea"/>
              </a:rPr>
              <a:t>的过程。</a:t>
            </a:r>
            <a:endParaRPr lang="zh-CN" altLang="en-US" sz="2200" dirty="0">
              <a:latin typeface="+mn-ea"/>
            </a:endParaRPr>
          </a:p>
          <a:p>
            <a:pPr eaLnBrk="1" hangingPunct="1">
              <a:lnSpc>
                <a:spcPct val="100000"/>
              </a:lnSpc>
            </a:pPr>
            <a:r>
              <a:rPr lang="zh-CN" altLang="en-US" sz="2200" dirty="0">
                <a:latin typeface="+mn-ea"/>
              </a:rPr>
              <a:t>虽然调试应该而且可以是一个有序过程，但是，目前它在很大程度上仍然是一项技巧。</a:t>
            </a:r>
            <a:endParaRPr lang="zh-CN" altLang="en-US" sz="2200" dirty="0">
              <a:latin typeface="+mn-ea"/>
            </a:endParaRPr>
          </a:p>
          <a:p>
            <a:pPr eaLnBrk="1" hangingPunct="1">
              <a:lnSpc>
                <a:spcPct val="100000"/>
              </a:lnSpc>
            </a:pPr>
            <a:r>
              <a:rPr lang="zh-CN" altLang="en-US" sz="2200" dirty="0">
                <a:latin typeface="+mn-ea"/>
              </a:rPr>
              <a:t>软件工程师在评估测试结果时，往往仅面对着软件错误的症状，也就是说，软件错误的外部表现和它的内在原因之间可能并没有明显的联系。</a:t>
            </a:r>
            <a:endParaRPr lang="en-US" altLang="zh-CN" sz="2200" dirty="0">
              <a:latin typeface="+mn-ea"/>
            </a:endParaRPr>
          </a:p>
          <a:p>
            <a:pPr eaLnBrk="1" hangingPunct="1">
              <a:lnSpc>
                <a:spcPct val="100000"/>
              </a:lnSpc>
            </a:pPr>
            <a:r>
              <a:rPr lang="zh-CN" altLang="en-US" sz="2200" b="1" dirty="0">
                <a:solidFill>
                  <a:srgbClr val="FF0000"/>
                </a:solidFill>
                <a:latin typeface="+mn-ea"/>
              </a:rPr>
              <a:t>调试就是把症状和原因联系起来的尚未被人深入认识的智力过程。</a:t>
            </a:r>
            <a:endParaRPr lang="zh-CN" altLang="en-US" sz="2200" b="1" dirty="0">
              <a:solidFill>
                <a:srgbClr val="FF0000"/>
              </a:solidFill>
              <a:latin typeface="+mn-ea"/>
            </a:endParaRPr>
          </a:p>
        </p:txBody>
      </p:sp>
      <p:sp>
        <p:nvSpPr>
          <p:cNvPr id="4" name="灯片编号占位符 5"/>
          <p:cNvSpPr>
            <a:spLocks noGrp="1"/>
          </p:cNvSpPr>
          <p:nvPr>
            <p:ph type="sldNum" sz="quarter" idx="12"/>
          </p:nvPr>
        </p:nvSpPr>
        <p:spPr/>
        <p:txBody>
          <a:bodyPr/>
          <a:lstStyle/>
          <a:p>
            <a:pPr>
              <a:defRPr/>
            </a:pPr>
            <a:fld id="{41CF1634-2361-4F85-B51F-DDBDAF3C784B}" type="slidenum">
              <a:rPr lang="zh-CN" altLang="en-US"/>
            </a:fld>
            <a:endParaRPr lang="en-US" altLang="zh-CN"/>
          </a:p>
        </p:txBody>
      </p:sp>
      <p:sp>
        <p:nvSpPr>
          <p:cNvPr id="2" name="日期占位符 1"/>
          <p:cNvSpPr>
            <a:spLocks noGrp="1"/>
          </p:cNvSpPr>
          <p:nvPr>
            <p:ph type="dt" sz="half" idx="10"/>
          </p:nvPr>
        </p:nvSpPr>
        <p:spPr/>
        <p:txBody>
          <a:bodyPr/>
          <a:lstStyle/>
          <a:p>
            <a:fld id="{B79844A5-C8B2-402F-BD57-C1197909AC00}"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4463E16C-EFC9-455D-8CC1-877A7B2B4E22}" type="slidenum">
              <a:rPr lang="zh-CN" altLang="en-US"/>
            </a:fld>
            <a:endParaRPr lang="en-US" altLang="zh-CN"/>
          </a:p>
        </p:txBody>
      </p:sp>
      <p:sp>
        <p:nvSpPr>
          <p:cNvPr id="120835" name="Rectangle 2"/>
          <p:cNvSpPr>
            <a:spLocks noGrp="1" noChangeArrowheads="1"/>
          </p:cNvSpPr>
          <p:nvPr>
            <p:ph type="title"/>
          </p:nvPr>
        </p:nvSpPr>
        <p:spPr/>
        <p:txBody>
          <a:bodyPr>
            <a:normAutofit/>
          </a:bodyPr>
          <a:lstStyle/>
          <a:p>
            <a:pPr eaLnBrk="1" hangingPunct="1"/>
            <a:r>
              <a:rPr lang="zh-CN" altLang="en-US" dirty="0"/>
              <a:t>调试过程</a:t>
            </a:r>
            <a:endParaRPr lang="zh-CN" altLang="en-US" dirty="0"/>
          </a:p>
        </p:txBody>
      </p:sp>
      <p:pic>
        <p:nvPicPr>
          <p:cNvPr id="120836" name="Picture 4" descr="rj84"/>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2004644" y="783265"/>
            <a:ext cx="5134710" cy="3172301"/>
          </a:xfrm>
          <a:prstGeom prst="rect">
            <a:avLst/>
          </a:prstGeom>
          <a:noFill/>
          <a:ln w="9525">
            <a:noFill/>
            <a:miter lim="800000"/>
            <a:headEnd/>
            <a:tailEnd/>
          </a:ln>
        </p:spPr>
      </p:pic>
      <p:sp>
        <p:nvSpPr>
          <p:cNvPr id="120837" name="Rectangle 5"/>
          <p:cNvSpPr>
            <a:spLocks noChangeArrowheads="1"/>
          </p:cNvSpPr>
          <p:nvPr/>
        </p:nvSpPr>
        <p:spPr bwMode="auto">
          <a:xfrm>
            <a:off x="659758" y="3955566"/>
            <a:ext cx="7998106" cy="646331"/>
          </a:xfrm>
          <a:prstGeom prst="rect">
            <a:avLst/>
          </a:prstGeom>
          <a:noFill/>
          <a:ln w="9525">
            <a:noFill/>
            <a:miter lim="800000"/>
          </a:ln>
        </p:spPr>
        <p:txBody>
          <a:bodyPr wrap="square">
            <a:spAutoFit/>
          </a:bodyPr>
          <a:lstStyle/>
          <a:p>
            <a:r>
              <a:rPr lang="zh-CN" altLang="en-US" dirty="0">
                <a:latin typeface="+mj-ea"/>
                <a:ea typeface="+mj-ea"/>
              </a:rPr>
              <a:t>    调试是软件开发过程中最艰巨的脑力劳动。调试工作如此困难，可能心理方面的原因多于技术方面的原因。</a:t>
            </a:r>
            <a:endParaRPr lang="zh-CN" altLang="en-US" dirty="0">
              <a:latin typeface="+mj-ea"/>
              <a:ea typeface="+mj-ea"/>
            </a:endParaRPr>
          </a:p>
        </p:txBody>
      </p:sp>
      <p:sp>
        <p:nvSpPr>
          <p:cNvPr id="2" name="日期占位符 1"/>
          <p:cNvSpPr>
            <a:spLocks noGrp="1"/>
          </p:cNvSpPr>
          <p:nvPr>
            <p:ph type="dt" sz="half" idx="10"/>
          </p:nvPr>
        </p:nvSpPr>
        <p:spPr/>
        <p:txBody>
          <a:bodyPr/>
          <a:lstStyle/>
          <a:p>
            <a:fld id="{7CD7C1C4-6265-49BA-8B9F-FAC794DC2030}"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2"/>
          <p:cNvSpPr>
            <a:spLocks noGrp="1" noChangeArrowheads="1"/>
          </p:cNvSpPr>
          <p:nvPr>
            <p:ph type="title"/>
          </p:nvPr>
        </p:nvSpPr>
        <p:spPr/>
        <p:txBody>
          <a:bodyPr>
            <a:normAutofit/>
          </a:bodyPr>
          <a:lstStyle/>
          <a:p>
            <a:pPr eaLnBrk="1" hangingPunct="1"/>
            <a:r>
              <a:rPr lang="zh-CN" altLang="en-US" dirty="0"/>
              <a:t>调试途径</a:t>
            </a:r>
            <a:endParaRPr lang="zh-CN" altLang="en-US" dirty="0"/>
          </a:p>
        </p:txBody>
      </p:sp>
      <p:sp>
        <p:nvSpPr>
          <p:cNvPr id="121860" name="Rectangle 3"/>
          <p:cNvSpPr>
            <a:spLocks noGrp="1" noChangeArrowheads="1"/>
          </p:cNvSpPr>
          <p:nvPr>
            <p:ph idx="1"/>
          </p:nvPr>
        </p:nvSpPr>
        <p:spPr>
          <a:xfrm>
            <a:off x="768097" y="925167"/>
            <a:ext cx="7924490" cy="3806854"/>
          </a:xfrm>
        </p:spPr>
        <p:txBody>
          <a:bodyPr>
            <a:normAutofit fontScale="92500" lnSpcReduction="10000"/>
          </a:bodyPr>
          <a:lstStyle/>
          <a:p>
            <a:pPr marL="457200" indent="-457200">
              <a:lnSpc>
                <a:spcPct val="135000"/>
              </a:lnSpc>
            </a:pPr>
            <a:r>
              <a:rPr lang="zh-CN" altLang="en-US" dirty="0">
                <a:latin typeface="+mn-ea"/>
              </a:rPr>
              <a:t>无论采用什么方法，调试的目标都是寻找软件错误的原因并改正错误。通常需要把系统地分析、直觉和运气组合起来，才能实现上述目标。</a:t>
            </a:r>
            <a:endParaRPr lang="zh-CN" altLang="en-US" dirty="0">
              <a:latin typeface="+mn-ea"/>
            </a:endParaRPr>
          </a:p>
          <a:p>
            <a:pPr marL="457200" indent="-457200">
              <a:lnSpc>
                <a:spcPct val="135000"/>
              </a:lnSpc>
            </a:pPr>
            <a:r>
              <a:rPr lang="zh-CN" altLang="en-US" dirty="0">
                <a:latin typeface="+mn-ea"/>
              </a:rPr>
              <a:t>一般说来，有下列</a:t>
            </a:r>
            <a:r>
              <a:rPr lang="en-US" altLang="zh-CN" dirty="0">
                <a:latin typeface="+mn-ea"/>
              </a:rPr>
              <a:t>3</a:t>
            </a:r>
            <a:r>
              <a:rPr lang="zh-CN" altLang="en-US" dirty="0">
                <a:latin typeface="+mn-ea"/>
              </a:rPr>
              <a:t>种调试途径可以采用：</a:t>
            </a:r>
            <a:endParaRPr lang="zh-CN" altLang="en-US" dirty="0">
              <a:latin typeface="+mn-ea"/>
            </a:endParaRPr>
          </a:p>
          <a:p>
            <a:pPr marL="457200" indent="-457200">
              <a:lnSpc>
                <a:spcPct val="135000"/>
              </a:lnSpc>
              <a:buNone/>
            </a:pPr>
            <a:r>
              <a:rPr lang="zh-CN" altLang="en-US" sz="2200" dirty="0">
                <a:latin typeface="+mn-ea"/>
              </a:rPr>
              <a:t>      </a:t>
            </a:r>
            <a:r>
              <a:rPr lang="en-US" altLang="zh-CN" sz="2200" dirty="0">
                <a:latin typeface="+mn-ea"/>
              </a:rPr>
              <a:t>1</a:t>
            </a:r>
            <a:r>
              <a:rPr lang="zh-CN" altLang="en-US" sz="2200" dirty="0">
                <a:latin typeface="+mn-ea"/>
              </a:rPr>
              <a:t>、蛮干法  </a:t>
            </a:r>
            <a:r>
              <a:rPr lang="en-US" altLang="zh-CN" sz="2200" dirty="0">
                <a:latin typeface="+mn-ea"/>
              </a:rPr>
              <a:t>---  </a:t>
            </a:r>
            <a:r>
              <a:rPr lang="zh-CN" altLang="en-US" sz="2200" dirty="0">
                <a:latin typeface="+mn-ea"/>
              </a:rPr>
              <a:t>逐点（单步）跟踪</a:t>
            </a:r>
            <a:endParaRPr lang="en-US" altLang="zh-CN" sz="2200" dirty="0">
              <a:latin typeface="+mn-ea"/>
            </a:endParaRPr>
          </a:p>
          <a:p>
            <a:pPr marL="457200" indent="-457200">
              <a:lnSpc>
                <a:spcPct val="135000"/>
              </a:lnSpc>
              <a:buNone/>
            </a:pPr>
            <a:r>
              <a:rPr lang="zh-CN" altLang="en-US" sz="2200" dirty="0">
                <a:latin typeface="+mn-ea"/>
              </a:rPr>
              <a:t>      </a:t>
            </a:r>
            <a:r>
              <a:rPr lang="en-US" altLang="zh-CN" sz="2200" dirty="0">
                <a:latin typeface="+mn-ea"/>
              </a:rPr>
              <a:t>2</a:t>
            </a:r>
            <a:r>
              <a:rPr lang="zh-CN" altLang="en-US" sz="2200" dirty="0">
                <a:latin typeface="+mn-ea"/>
              </a:rPr>
              <a:t>、回溯法  </a:t>
            </a:r>
            <a:r>
              <a:rPr lang="en-US" altLang="zh-CN" sz="2200" dirty="0">
                <a:latin typeface="+mn-ea"/>
              </a:rPr>
              <a:t>---  </a:t>
            </a:r>
            <a:r>
              <a:rPr lang="zh-CN" altLang="en-US" sz="2200" dirty="0">
                <a:latin typeface="+mn-ea"/>
              </a:rPr>
              <a:t>从出错处向上追朔</a:t>
            </a:r>
            <a:r>
              <a:rPr lang="en-US" altLang="zh-CN" sz="2200" dirty="0">
                <a:latin typeface="+mn-ea"/>
              </a:rPr>
              <a:t>  </a:t>
            </a:r>
            <a:endParaRPr lang="en-US" altLang="zh-CN" sz="2200" dirty="0">
              <a:latin typeface="+mn-ea"/>
            </a:endParaRPr>
          </a:p>
          <a:p>
            <a:pPr marL="457200" indent="-457200">
              <a:lnSpc>
                <a:spcPct val="135000"/>
              </a:lnSpc>
              <a:buNone/>
            </a:pPr>
            <a:r>
              <a:rPr lang="zh-CN" altLang="en-US" sz="2200" dirty="0">
                <a:latin typeface="+mn-ea"/>
              </a:rPr>
              <a:t>      </a:t>
            </a:r>
            <a:r>
              <a:rPr lang="en-US" altLang="zh-CN" sz="2200" dirty="0">
                <a:latin typeface="+mn-ea"/>
              </a:rPr>
              <a:t>3</a:t>
            </a:r>
            <a:r>
              <a:rPr lang="zh-CN" altLang="en-US" sz="2200" dirty="0">
                <a:latin typeface="+mn-ea"/>
              </a:rPr>
              <a:t>、原因排除法 </a:t>
            </a:r>
            <a:r>
              <a:rPr lang="en-US" altLang="zh-CN" sz="2200" dirty="0">
                <a:latin typeface="+mn-ea"/>
              </a:rPr>
              <a:t>--- </a:t>
            </a:r>
            <a:r>
              <a:rPr lang="zh-CN" altLang="en-US" sz="2200" dirty="0">
                <a:latin typeface="+mn-ea"/>
              </a:rPr>
              <a:t>对分查找法、归纳法和演绎法</a:t>
            </a:r>
            <a:endParaRPr lang="en-US" altLang="zh-CN" sz="2200" dirty="0">
              <a:latin typeface="+mn-ea"/>
            </a:endParaRPr>
          </a:p>
        </p:txBody>
      </p:sp>
      <p:sp>
        <p:nvSpPr>
          <p:cNvPr id="2" name="日期占位符 1"/>
          <p:cNvSpPr>
            <a:spLocks noGrp="1"/>
          </p:cNvSpPr>
          <p:nvPr>
            <p:ph type="dt" sz="half" idx="10"/>
          </p:nvPr>
        </p:nvSpPr>
        <p:spPr/>
        <p:txBody>
          <a:bodyPr/>
          <a:lstStyle/>
          <a:p>
            <a:fld id="{CBE41F5A-0178-425E-927D-9544CC3B7DE9}"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5"/>
          <p:cNvSpPr>
            <a:spLocks noGrp="1"/>
          </p:cNvSpPr>
          <p:nvPr>
            <p:ph type="sldNum" sz="quarter" idx="12"/>
          </p:nvPr>
        </p:nvSpPr>
        <p:spPr/>
        <p:txBody>
          <a:bodyPr/>
          <a:lstStyle/>
          <a:p>
            <a:pPr>
              <a:defRPr/>
            </a:pPr>
            <a:fld id="{B950EAA1-9A64-40B3-80A1-02EA85868553}"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项目交付工作 </a:t>
            </a:r>
            <a:endParaRPr lang="zh-CN" altLang="en-US" dirty="0"/>
          </a:p>
        </p:txBody>
      </p:sp>
      <p:sp>
        <p:nvSpPr>
          <p:cNvPr id="3" name="内容占位符 2"/>
          <p:cNvSpPr>
            <a:spLocks noGrp="1"/>
          </p:cNvSpPr>
          <p:nvPr>
            <p:ph idx="1"/>
          </p:nvPr>
        </p:nvSpPr>
        <p:spPr/>
        <p:txBody>
          <a:bodyPr>
            <a:normAutofit/>
          </a:bodyPr>
          <a:lstStyle/>
          <a:p>
            <a:r>
              <a:rPr lang="zh-CN" altLang="en-US" sz="2400" dirty="0"/>
              <a:t>项目验收交付时，还有三项工作在等着：实施、培训、验收。</a:t>
            </a:r>
            <a:endParaRPr lang="en-US" altLang="zh-CN" sz="2400" dirty="0"/>
          </a:p>
          <a:p>
            <a:endParaRPr lang="en-US" altLang="zh-CN" sz="2400" dirty="0"/>
          </a:p>
          <a:p>
            <a:endParaRPr lang="en-US" altLang="zh-CN" sz="2400" dirty="0"/>
          </a:p>
          <a:p>
            <a:endParaRPr lang="en-US" altLang="zh-CN" sz="2400" dirty="0"/>
          </a:p>
          <a:p>
            <a:endParaRPr lang="en-US" altLang="zh-CN" sz="2400" dirty="0"/>
          </a:p>
          <a:p>
            <a:r>
              <a:rPr lang="zh-CN" altLang="en-US" sz="2400" dirty="0"/>
              <a:t>验收后的项目才正式进入“维护”阶段。</a:t>
            </a:r>
            <a:endParaRPr lang="zh-CN" altLang="en-US" sz="2400" dirty="0"/>
          </a:p>
        </p:txBody>
      </p:sp>
      <p:sp>
        <p:nvSpPr>
          <p:cNvPr id="4" name="日期占位符 3"/>
          <p:cNvSpPr>
            <a:spLocks noGrp="1"/>
          </p:cNvSpPr>
          <p:nvPr>
            <p:ph type="dt" sz="half" idx="10"/>
          </p:nvPr>
        </p:nvSpPr>
        <p:spPr/>
        <p:txBody>
          <a:bodyPr/>
          <a:lstStyle/>
          <a:p>
            <a:fld id="{0A417D11-9BD5-4B74-857F-8ED3044968A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3178171" y="1607919"/>
            <a:ext cx="2574447" cy="221363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项目实施 </a:t>
            </a:r>
            <a:endParaRPr lang="zh-CN" altLang="en-US" dirty="0"/>
          </a:p>
        </p:txBody>
      </p:sp>
      <p:sp>
        <p:nvSpPr>
          <p:cNvPr id="3" name="内容占位符 2"/>
          <p:cNvSpPr>
            <a:spLocks noGrp="1"/>
          </p:cNvSpPr>
          <p:nvPr>
            <p:ph idx="1"/>
          </p:nvPr>
        </p:nvSpPr>
        <p:spPr>
          <a:xfrm>
            <a:off x="768097" y="925975"/>
            <a:ext cx="7832833" cy="3736596"/>
          </a:xfrm>
        </p:spPr>
        <p:txBody>
          <a:bodyPr>
            <a:normAutofit fontScale="92500" lnSpcReduction="10000"/>
          </a:bodyPr>
          <a:lstStyle/>
          <a:p>
            <a:r>
              <a:rPr lang="zh-CN" altLang="en-US" sz="2600" dirty="0"/>
              <a:t>项目实施是将软件系统部署到客户方的计算机系统上，协助客户准备基础数据， 使软件系统顺利上线运行。</a:t>
            </a:r>
            <a:endParaRPr lang="en-US" altLang="zh-CN" sz="2600" dirty="0"/>
          </a:p>
          <a:p>
            <a:pPr lvl="1"/>
            <a:r>
              <a:rPr lang="zh-CN" altLang="en-US" sz="2200" dirty="0"/>
              <a:t>保证软件符合需求，质量过关  </a:t>
            </a:r>
            <a:endParaRPr lang="en-US" altLang="zh-CN" sz="2200" dirty="0"/>
          </a:p>
          <a:p>
            <a:pPr lvl="2"/>
            <a:r>
              <a:rPr lang="zh-CN" altLang="en-US" sz="2200" dirty="0"/>
              <a:t>全面做好测试工作（集成测试、功能测试、性能测试）</a:t>
            </a:r>
            <a:endParaRPr lang="en-US" altLang="zh-CN" sz="2200" dirty="0"/>
          </a:p>
          <a:p>
            <a:pPr lvl="1"/>
            <a:r>
              <a:rPr lang="zh-CN" altLang="en-US" sz="2200" dirty="0"/>
              <a:t>制定实施计划  </a:t>
            </a:r>
            <a:endParaRPr lang="en-US" altLang="zh-CN" sz="2200" dirty="0"/>
          </a:p>
          <a:p>
            <a:pPr lvl="2"/>
            <a:r>
              <a:rPr lang="zh-CN" altLang="en-US" sz="2200" dirty="0"/>
              <a:t>要发布的代码版本、数据库创建方式、基础数据准备方式 </a:t>
            </a:r>
            <a:endParaRPr lang="en-US" altLang="zh-CN" sz="2200" dirty="0"/>
          </a:p>
          <a:p>
            <a:pPr lvl="1"/>
            <a:r>
              <a:rPr lang="zh-CN" altLang="en-US" sz="2200" dirty="0"/>
              <a:t>准备好程序代码和相关文档  </a:t>
            </a:r>
            <a:endParaRPr lang="en-US" altLang="zh-CN" sz="2200" dirty="0"/>
          </a:p>
          <a:p>
            <a:pPr lvl="2"/>
            <a:r>
              <a:rPr lang="zh-CN" altLang="en-US" sz="2200" dirty="0"/>
              <a:t>用户手册以及其他系统文档（如需求说明书、设计文档等） </a:t>
            </a:r>
            <a:endParaRPr lang="zh-CN" altLang="en-US" sz="2200" dirty="0"/>
          </a:p>
        </p:txBody>
      </p:sp>
      <p:sp>
        <p:nvSpPr>
          <p:cNvPr id="4" name="日期占位符 3"/>
          <p:cNvSpPr>
            <a:spLocks noGrp="1"/>
          </p:cNvSpPr>
          <p:nvPr>
            <p:ph type="dt" sz="half" idx="10"/>
          </p:nvPr>
        </p:nvSpPr>
        <p:spPr/>
        <p:txBody>
          <a:bodyPr/>
          <a:lstStyle/>
          <a:p>
            <a:fld id="{0A417D11-9BD5-4B74-857F-8ED3044968A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客户培训 </a:t>
            </a:r>
            <a:endParaRPr lang="zh-CN" altLang="en-US" dirty="0"/>
          </a:p>
        </p:txBody>
      </p:sp>
      <p:sp>
        <p:nvSpPr>
          <p:cNvPr id="3" name="内容占位符 2"/>
          <p:cNvSpPr>
            <a:spLocks noGrp="1"/>
          </p:cNvSpPr>
          <p:nvPr>
            <p:ph idx="1"/>
          </p:nvPr>
        </p:nvSpPr>
        <p:spPr>
          <a:xfrm>
            <a:off x="768097" y="925167"/>
            <a:ext cx="7832833" cy="1216149"/>
          </a:xfrm>
        </p:spPr>
        <p:txBody>
          <a:bodyPr>
            <a:normAutofit/>
          </a:bodyPr>
          <a:lstStyle/>
          <a:p>
            <a:r>
              <a:rPr lang="zh-CN" altLang="en-US" sz="2400" dirty="0"/>
              <a:t>在系统部署完成、基础数据准备齐全之后，应该组织客户培训，使其掌握对软件系统的使用和操作。	</a:t>
            </a:r>
            <a:endParaRPr lang="zh-CN" altLang="en-US" sz="2400" dirty="0"/>
          </a:p>
        </p:txBody>
      </p:sp>
      <p:sp>
        <p:nvSpPr>
          <p:cNvPr id="4" name="日期占位符 3"/>
          <p:cNvSpPr>
            <a:spLocks noGrp="1"/>
          </p:cNvSpPr>
          <p:nvPr>
            <p:ph type="dt" sz="half" idx="10"/>
          </p:nvPr>
        </p:nvSpPr>
        <p:spPr/>
        <p:txBody>
          <a:bodyPr/>
          <a:lstStyle/>
          <a:p>
            <a:fld id="{0A417D11-9BD5-4B74-857F-8ED3044968A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矩形 6"/>
          <p:cNvSpPr/>
          <p:nvPr/>
        </p:nvSpPr>
        <p:spPr>
          <a:xfrm>
            <a:off x="4625026" y="1982927"/>
            <a:ext cx="3975904" cy="2323713"/>
          </a:xfrm>
          <a:prstGeom prst="rect">
            <a:avLst/>
          </a:prstGeom>
        </p:spPr>
        <p:txBody>
          <a:bodyPr wrap="square">
            <a:spAutoFit/>
          </a:bodyPr>
          <a:lstStyle/>
          <a:p>
            <a:pPr>
              <a:spcBef>
                <a:spcPts val="600"/>
              </a:spcBef>
            </a:pPr>
            <a:r>
              <a:rPr lang="zh-CN" altLang="en-US" sz="2000" dirty="0">
                <a:latin typeface="+mj-ea"/>
                <a:ea typeface="+mj-ea"/>
              </a:rPr>
              <a:t>•  选择合适的培训人员  </a:t>
            </a:r>
            <a:endParaRPr lang="en-US" altLang="zh-CN" sz="2000" dirty="0">
              <a:latin typeface="+mj-ea"/>
              <a:ea typeface="+mj-ea"/>
            </a:endParaRPr>
          </a:p>
          <a:p>
            <a:pPr>
              <a:spcBef>
                <a:spcPts val="600"/>
              </a:spcBef>
            </a:pPr>
            <a:r>
              <a:rPr lang="en-US" altLang="zh-CN" sz="2000" dirty="0">
                <a:latin typeface="+mj-ea"/>
                <a:ea typeface="+mj-ea"/>
              </a:rPr>
              <a:t>	</a:t>
            </a:r>
            <a:r>
              <a:rPr lang="zh-CN" altLang="en-US" sz="2000" dirty="0">
                <a:latin typeface="+mj-ea"/>
                <a:ea typeface="+mj-ea"/>
              </a:rPr>
              <a:t>经验丰富、了解业务和系统 </a:t>
            </a:r>
            <a:endParaRPr lang="en-US" altLang="zh-CN" sz="2000" dirty="0">
              <a:latin typeface="+mj-ea"/>
              <a:ea typeface="+mj-ea"/>
            </a:endParaRPr>
          </a:p>
          <a:p>
            <a:pPr>
              <a:spcBef>
                <a:spcPts val="600"/>
              </a:spcBef>
            </a:pPr>
            <a:r>
              <a:rPr lang="zh-CN" altLang="en-US" sz="2000" dirty="0">
                <a:latin typeface="+mj-ea"/>
                <a:ea typeface="+mj-ea"/>
              </a:rPr>
              <a:t>•  准备好培训内容  </a:t>
            </a:r>
            <a:endParaRPr lang="en-US" altLang="zh-CN" sz="2000" dirty="0">
              <a:latin typeface="+mj-ea"/>
              <a:ea typeface="+mj-ea"/>
            </a:endParaRPr>
          </a:p>
          <a:p>
            <a:pPr>
              <a:spcBef>
                <a:spcPts val="600"/>
              </a:spcBef>
            </a:pPr>
            <a:r>
              <a:rPr lang="en-US" altLang="zh-CN" sz="2000" dirty="0">
                <a:latin typeface="+mj-ea"/>
                <a:ea typeface="+mj-ea"/>
              </a:rPr>
              <a:t>	</a:t>
            </a:r>
            <a:r>
              <a:rPr lang="zh-CN" altLang="en-US" sz="2000" dirty="0">
                <a:latin typeface="+mj-ea"/>
                <a:ea typeface="+mj-ea"/>
              </a:rPr>
              <a:t>不要临时抱佛脚 </a:t>
            </a:r>
            <a:endParaRPr lang="en-US" altLang="zh-CN" sz="2000" dirty="0">
              <a:latin typeface="+mj-ea"/>
              <a:ea typeface="+mj-ea"/>
            </a:endParaRPr>
          </a:p>
          <a:p>
            <a:pPr>
              <a:spcBef>
                <a:spcPts val="600"/>
              </a:spcBef>
            </a:pPr>
            <a:r>
              <a:rPr lang="zh-CN" altLang="en-US" sz="2000" dirty="0">
                <a:latin typeface="+mj-ea"/>
                <a:ea typeface="+mj-ea"/>
              </a:rPr>
              <a:t>•  制定培训计划  </a:t>
            </a:r>
            <a:endParaRPr lang="en-US" altLang="zh-CN" sz="2000" dirty="0">
              <a:latin typeface="+mj-ea"/>
              <a:ea typeface="+mj-ea"/>
            </a:endParaRPr>
          </a:p>
          <a:p>
            <a:pPr>
              <a:spcBef>
                <a:spcPts val="600"/>
              </a:spcBef>
            </a:pPr>
            <a:r>
              <a:rPr lang="en-US" altLang="zh-CN" sz="2000" dirty="0">
                <a:latin typeface="+mj-ea"/>
                <a:ea typeface="+mj-ea"/>
              </a:rPr>
              <a:t>	</a:t>
            </a:r>
            <a:r>
              <a:rPr lang="zh-CN" altLang="en-US" sz="2000" dirty="0">
                <a:latin typeface="+mj-ea"/>
                <a:ea typeface="+mj-ea"/>
              </a:rPr>
              <a:t>与客户沟通协调，安排时间 </a:t>
            </a:r>
            <a:endParaRPr lang="zh-CN" altLang="en-US" sz="2000" dirty="0">
              <a:latin typeface="+mj-ea"/>
              <a:ea typeface="+mj-ea"/>
            </a:endParaRPr>
          </a:p>
        </p:txBody>
      </p:sp>
      <p:pic>
        <p:nvPicPr>
          <p:cNvPr id="8" name="图片 7"/>
          <p:cNvPicPr>
            <a:picLocks noChangeAspect="1"/>
          </p:cNvPicPr>
          <p:nvPr/>
        </p:nvPicPr>
        <p:blipFill>
          <a:blip r:embed="rId1"/>
          <a:stretch>
            <a:fillRect/>
          </a:stretch>
        </p:blipFill>
        <p:spPr>
          <a:xfrm>
            <a:off x="1094321" y="2070640"/>
            <a:ext cx="3246185" cy="202657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项目验收</a:t>
            </a:r>
            <a:endParaRPr lang="zh-CN" altLang="en-US" dirty="0"/>
          </a:p>
        </p:txBody>
      </p:sp>
      <p:sp>
        <p:nvSpPr>
          <p:cNvPr id="3" name="内容占位符 2"/>
          <p:cNvSpPr>
            <a:spLocks noGrp="1"/>
          </p:cNvSpPr>
          <p:nvPr>
            <p:ph idx="1"/>
          </p:nvPr>
        </p:nvSpPr>
        <p:spPr/>
        <p:txBody>
          <a:bodyPr>
            <a:normAutofit/>
          </a:bodyPr>
          <a:lstStyle/>
          <a:p>
            <a:r>
              <a:rPr lang="zh-CN" altLang="en-US" sz="2400" dirty="0"/>
              <a:t>客户对系统进行验收测试，包括范围核实（用户需求是否全部实现）和质量核实 （质量属性是否满足要求）。</a:t>
            </a:r>
            <a:endParaRPr lang="zh-CN" altLang="en-US" sz="2400" dirty="0"/>
          </a:p>
          <a:p>
            <a:r>
              <a:rPr lang="zh-CN" altLang="en-US" sz="2400" dirty="0"/>
              <a:t>客户在验收报告上签字，一切尘埃 落定。对于大中型项目，还会有一 个签字验收仪式。	</a:t>
            </a:r>
            <a:endParaRPr lang="zh-CN" altLang="en-US" sz="2400" dirty="0"/>
          </a:p>
        </p:txBody>
      </p:sp>
      <p:sp>
        <p:nvSpPr>
          <p:cNvPr id="4" name="日期占位符 3"/>
          <p:cNvSpPr>
            <a:spLocks noGrp="1"/>
          </p:cNvSpPr>
          <p:nvPr>
            <p:ph type="dt" sz="half" idx="10"/>
          </p:nvPr>
        </p:nvSpPr>
        <p:spPr/>
        <p:txBody>
          <a:bodyPr/>
          <a:lstStyle/>
          <a:p>
            <a:fld id="{0A417D11-9BD5-4B74-857F-8ED3044968A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3193976" y="2720050"/>
            <a:ext cx="3292576" cy="175531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软件部署定义</a:t>
            </a:r>
            <a:endParaRPr lang="zh-CN" altLang="en-US" dirty="0"/>
          </a:p>
        </p:txBody>
      </p:sp>
      <p:sp>
        <p:nvSpPr>
          <p:cNvPr id="3" name="内容占位符 2"/>
          <p:cNvSpPr>
            <a:spLocks noGrp="1"/>
          </p:cNvSpPr>
          <p:nvPr>
            <p:ph idx="1"/>
          </p:nvPr>
        </p:nvSpPr>
        <p:spPr/>
        <p:txBody>
          <a:bodyPr>
            <a:normAutofit/>
          </a:bodyPr>
          <a:lstStyle/>
          <a:p>
            <a:r>
              <a:rPr lang="zh-CN" altLang="en-US" sz="2400" dirty="0"/>
              <a:t>软件部署是软件生命周期中的一个重要环节，属于软件开发的后期活动，即 通过配置、安装和激活等活动来保障软件制品的后续运行。	</a:t>
            </a:r>
            <a:endParaRPr lang="zh-CN" altLang="en-US" sz="2400" dirty="0"/>
          </a:p>
          <a:p>
            <a:r>
              <a:rPr lang="zh-CN" altLang="en-US" sz="2400" dirty="0"/>
              <a:t>部署技术影响着整个软件过程的运行效率和投入成本，软件系统 部署的管理代价占到整个软件管理开销的绝大部分。 </a:t>
            </a:r>
            <a:endParaRPr lang="zh-CN" altLang="en-US" sz="2400" dirty="0"/>
          </a:p>
          <a:p>
            <a:r>
              <a:rPr lang="zh-CN" altLang="en-US" sz="2400" dirty="0"/>
              <a:t>软件配置过程极大地影响着软件部署结果的正确性，应用系统的 配置是整个部署过程中的主要错误来源。 </a:t>
            </a:r>
            <a:endParaRPr lang="zh-CN" altLang="en-US" sz="2400" dirty="0"/>
          </a:p>
        </p:txBody>
      </p:sp>
      <p:sp>
        <p:nvSpPr>
          <p:cNvPr id="4" name="日期占位符 3"/>
          <p:cNvSpPr>
            <a:spLocks noGrp="1"/>
          </p:cNvSpPr>
          <p:nvPr>
            <p:ph type="dt" sz="half" idx="10"/>
          </p:nvPr>
        </p:nvSpPr>
        <p:spPr/>
        <p:txBody>
          <a:bodyPr/>
          <a:lstStyle/>
          <a:p>
            <a:fld id="{0A417D11-9BD5-4B74-857F-8ED3044968A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软件部署模式 </a:t>
            </a:r>
            <a:endParaRPr lang="zh-CN" altLang="en-US" dirty="0"/>
          </a:p>
        </p:txBody>
      </p:sp>
      <p:sp>
        <p:nvSpPr>
          <p:cNvPr id="4" name="日期占位符 3"/>
          <p:cNvSpPr>
            <a:spLocks noGrp="1"/>
          </p:cNvSpPr>
          <p:nvPr>
            <p:ph type="dt" sz="half" idx="10"/>
          </p:nvPr>
        </p:nvSpPr>
        <p:spPr/>
        <p:txBody>
          <a:bodyPr/>
          <a:lstStyle/>
          <a:p>
            <a:fld id="{0A417D11-9BD5-4B74-857F-8ED3044968A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768096" y="1174859"/>
            <a:ext cx="7827432" cy="30499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软件变化原因 </a:t>
            </a:r>
            <a:endParaRPr lang="zh-CN" altLang="en-US" dirty="0"/>
          </a:p>
        </p:txBody>
      </p:sp>
      <p:sp>
        <p:nvSpPr>
          <p:cNvPr id="3" name="内容占位符 2"/>
          <p:cNvSpPr>
            <a:spLocks noGrp="1"/>
          </p:cNvSpPr>
          <p:nvPr>
            <p:ph idx="1"/>
          </p:nvPr>
        </p:nvSpPr>
        <p:spPr>
          <a:xfrm>
            <a:off x="768097" y="1041721"/>
            <a:ext cx="7970789" cy="3690299"/>
          </a:xfrm>
        </p:spPr>
        <p:txBody>
          <a:bodyPr>
            <a:normAutofit/>
          </a:bodyPr>
          <a:lstStyle/>
          <a:p>
            <a:pPr>
              <a:lnSpc>
                <a:spcPct val="120000"/>
              </a:lnSpc>
              <a:spcBef>
                <a:spcPts val="600"/>
              </a:spcBef>
            </a:pPr>
            <a:r>
              <a:rPr lang="zh-CN" altLang="en-US" sz="2400" dirty="0"/>
              <a:t>软件的变化是不可避免的 </a:t>
            </a:r>
            <a:endParaRPr lang="en-US" altLang="zh-CN" sz="2400" dirty="0"/>
          </a:p>
          <a:p>
            <a:pPr lvl="1">
              <a:lnSpc>
                <a:spcPct val="120000"/>
              </a:lnSpc>
              <a:spcBef>
                <a:spcPts val="600"/>
              </a:spcBef>
            </a:pPr>
            <a:r>
              <a:rPr lang="zh-CN" altLang="en-US" sz="2000" dirty="0"/>
              <a:t>软件在使用过程中，新的需求不断出现</a:t>
            </a:r>
            <a:endParaRPr lang="en-US" altLang="zh-CN" sz="2000" dirty="0"/>
          </a:p>
          <a:p>
            <a:pPr lvl="1">
              <a:lnSpc>
                <a:spcPct val="120000"/>
              </a:lnSpc>
              <a:spcBef>
                <a:spcPts val="600"/>
              </a:spcBef>
            </a:pPr>
            <a:r>
              <a:rPr lang="zh-CN" altLang="en-US" sz="2000" dirty="0"/>
              <a:t>商业环境在不断地变化</a:t>
            </a:r>
            <a:endParaRPr lang="en-US" altLang="zh-CN" sz="2000" dirty="0"/>
          </a:p>
          <a:p>
            <a:pPr lvl="1">
              <a:lnSpc>
                <a:spcPct val="120000"/>
              </a:lnSpc>
              <a:spcBef>
                <a:spcPts val="600"/>
              </a:spcBef>
            </a:pPr>
            <a:r>
              <a:rPr lang="zh-CN" altLang="en-US" sz="2000" dirty="0"/>
              <a:t>软件中的缺陷需要进行修复</a:t>
            </a:r>
            <a:endParaRPr lang="en-US" altLang="zh-CN" sz="2000" dirty="0"/>
          </a:p>
          <a:p>
            <a:pPr lvl="1">
              <a:lnSpc>
                <a:spcPct val="120000"/>
              </a:lnSpc>
              <a:spcBef>
                <a:spcPts val="600"/>
              </a:spcBef>
            </a:pPr>
            <a:r>
              <a:rPr lang="zh-CN" altLang="en-US" sz="2000" dirty="0"/>
              <a:t>计算机硬件和软件环境的升级需要更新现有的系统 </a:t>
            </a:r>
            <a:endParaRPr lang="en-US" altLang="zh-CN" sz="2000" dirty="0"/>
          </a:p>
          <a:p>
            <a:pPr lvl="1">
              <a:lnSpc>
                <a:spcPct val="120000"/>
              </a:lnSpc>
              <a:spcBef>
                <a:spcPts val="600"/>
              </a:spcBef>
            </a:pPr>
            <a:r>
              <a:rPr lang="zh-CN" altLang="en-US" sz="2000" dirty="0"/>
              <a:t>软件的性能和可靠性需要进一步改进 </a:t>
            </a:r>
            <a:endParaRPr lang="zh-CN" altLang="en-US" sz="2000" dirty="0"/>
          </a:p>
          <a:p>
            <a:pPr>
              <a:lnSpc>
                <a:spcPct val="120000"/>
              </a:lnSpc>
              <a:spcBef>
                <a:spcPts val="600"/>
              </a:spcBef>
            </a:pPr>
            <a:r>
              <a:rPr lang="zh-CN" altLang="en-US" sz="2400" dirty="0"/>
              <a:t>关键：采取适当的策略，有效地实施和管理软件的变化！ </a:t>
            </a:r>
            <a:endParaRPr lang="zh-CN" altLang="en-US" sz="2400" dirty="0"/>
          </a:p>
        </p:txBody>
      </p:sp>
      <p:sp>
        <p:nvSpPr>
          <p:cNvPr id="4" name="日期占位符 3"/>
          <p:cNvSpPr>
            <a:spLocks noGrp="1"/>
          </p:cNvSpPr>
          <p:nvPr>
            <p:ph type="dt" sz="half" idx="10"/>
          </p:nvPr>
        </p:nvSpPr>
        <p:spPr/>
        <p:txBody>
          <a:bodyPr/>
          <a:lstStyle/>
          <a:p>
            <a:fld id="{0A417D11-9BD5-4B74-857F-8ED3044968A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软件演进法则</a:t>
            </a:r>
            <a:r>
              <a:rPr lang="en-US" altLang="zh-CN" dirty="0"/>
              <a:t>——</a:t>
            </a:r>
            <a:r>
              <a:rPr lang="en-US" altLang="zh-CN" cap="none" dirty="0"/>
              <a:t>Lehman</a:t>
            </a:r>
            <a:r>
              <a:rPr lang="zh-CN" altLang="en-US" cap="none" dirty="0"/>
              <a:t>法则 </a:t>
            </a:r>
            <a:endParaRPr lang="zh-CN" altLang="en-US" dirty="0"/>
          </a:p>
        </p:txBody>
      </p:sp>
      <p:sp>
        <p:nvSpPr>
          <p:cNvPr id="8" name="内容占位符 7"/>
          <p:cNvSpPr>
            <a:spLocks noGrp="1"/>
          </p:cNvSpPr>
          <p:nvPr>
            <p:ph idx="1"/>
          </p:nvPr>
        </p:nvSpPr>
        <p:spPr>
          <a:xfrm>
            <a:off x="768097" y="890442"/>
            <a:ext cx="7832833" cy="984656"/>
          </a:xfrm>
        </p:spPr>
        <p:txBody>
          <a:bodyPr>
            <a:normAutofit/>
          </a:bodyPr>
          <a:lstStyle/>
          <a:p>
            <a:r>
              <a:rPr lang="zh-CN" altLang="en-US" sz="2000" dirty="0"/>
              <a:t>软件复杂度最早是在</a:t>
            </a:r>
            <a:r>
              <a:rPr lang="en-US" altLang="zh-CN" sz="2000" dirty="0"/>
              <a:t>Manny Lehman</a:t>
            </a:r>
            <a:r>
              <a:rPr lang="zh-CN" altLang="en-US" sz="2000" dirty="0"/>
              <a:t>教授的软件演进法则中提出的，他还提出了很多沿用至今的衡量软件的指标。</a:t>
            </a:r>
            <a:endParaRPr lang="zh-CN" altLang="en-US" sz="2000" dirty="0"/>
          </a:p>
        </p:txBody>
      </p:sp>
      <p:sp>
        <p:nvSpPr>
          <p:cNvPr id="4" name="日期占位符 3"/>
          <p:cNvSpPr>
            <a:spLocks noGrp="1"/>
          </p:cNvSpPr>
          <p:nvPr>
            <p:ph type="dt" sz="half" idx="10"/>
          </p:nvPr>
        </p:nvSpPr>
        <p:spPr/>
        <p:txBody>
          <a:bodyPr/>
          <a:lstStyle/>
          <a:p>
            <a:fld id="{0A417D11-9BD5-4B74-857F-8ED3044968A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1212381" y="1613261"/>
            <a:ext cx="6845912" cy="304930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软件演化策略 </a:t>
            </a:r>
            <a:endParaRPr lang="zh-CN" altLang="en-US" dirty="0"/>
          </a:p>
        </p:txBody>
      </p:sp>
      <p:sp>
        <p:nvSpPr>
          <p:cNvPr id="4" name="日期占位符 3"/>
          <p:cNvSpPr>
            <a:spLocks noGrp="1"/>
          </p:cNvSpPr>
          <p:nvPr>
            <p:ph type="dt" sz="half" idx="10"/>
          </p:nvPr>
        </p:nvSpPr>
        <p:spPr/>
        <p:txBody>
          <a:bodyPr/>
          <a:lstStyle/>
          <a:p>
            <a:fld id="{0A417D11-9BD5-4B74-857F-8ED3044968A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768096" y="1096959"/>
            <a:ext cx="7083554" cy="3170137"/>
          </a:xfrm>
          <a:prstGeom prst="rect">
            <a:avLst/>
          </a:prstGeom>
        </p:spPr>
      </p:pic>
      <p:pic>
        <p:nvPicPr>
          <p:cNvPr id="8" name="Picture 4" descr="MCj00787740000[1]"/>
          <p:cNvPicPr>
            <a:picLocks noChangeAspect="1" noChangeArrowheads="1"/>
          </p:cNvPicPr>
          <p:nvPr/>
        </p:nvPicPr>
        <p:blipFill>
          <a:blip r:embed="rId2" cstate="print"/>
          <a:srcRect/>
          <a:stretch>
            <a:fillRect/>
          </a:stretch>
        </p:blipFill>
        <p:spPr bwMode="auto">
          <a:xfrm>
            <a:off x="7373073" y="3178388"/>
            <a:ext cx="1485176" cy="1406594"/>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zh-CN" altLang="en-US" dirty="0">
                <a:latin typeface="+mn-ea"/>
              </a:rPr>
              <a:t>软件维护</a:t>
            </a:r>
            <a:endParaRPr lang="zh-CN" altLang="en-US" sz="3200" dirty="0"/>
          </a:p>
        </p:txBody>
      </p:sp>
      <p:sp>
        <p:nvSpPr>
          <p:cNvPr id="6" name="内容占位符 5"/>
          <p:cNvSpPr>
            <a:spLocks noGrp="1"/>
          </p:cNvSpPr>
          <p:nvPr>
            <p:ph idx="1"/>
          </p:nvPr>
        </p:nvSpPr>
        <p:spPr>
          <a:xfrm>
            <a:off x="768097" y="1065229"/>
            <a:ext cx="5331761" cy="3666792"/>
          </a:xfrm>
        </p:spPr>
        <p:txBody>
          <a:bodyPr>
            <a:normAutofit/>
          </a:bodyPr>
          <a:lstStyle/>
          <a:p>
            <a:pPr>
              <a:lnSpc>
                <a:spcPct val="135000"/>
              </a:lnSpc>
              <a:defRPr/>
            </a:pPr>
            <a:r>
              <a:rPr lang="zh-CN" altLang="en-US" sz="2000" dirty="0">
                <a:latin typeface="+mn-ea"/>
              </a:rPr>
              <a:t>软件维护</a:t>
            </a:r>
            <a:r>
              <a:rPr lang="en-US" altLang="zh-CN" sz="2000" dirty="0">
                <a:latin typeface="+mn-ea"/>
              </a:rPr>
              <a:t>----</a:t>
            </a:r>
            <a:r>
              <a:rPr lang="zh-CN" altLang="en-US" sz="2000" dirty="0">
                <a:latin typeface="+mn-ea"/>
              </a:rPr>
              <a:t>就是在软件已经交付使用之后，为保证软件在相当长的时期能够正常运作所进行的软件活动。</a:t>
            </a:r>
            <a:endParaRPr lang="en-US" altLang="zh-CN" sz="2000" dirty="0">
              <a:latin typeface="+mn-ea"/>
            </a:endParaRPr>
          </a:p>
          <a:p>
            <a:pPr>
              <a:lnSpc>
                <a:spcPct val="135000"/>
              </a:lnSpc>
              <a:defRPr/>
            </a:pPr>
            <a:r>
              <a:rPr lang="zh-CN" altLang="en-US" sz="2000" dirty="0">
                <a:latin typeface="+mn-ea"/>
              </a:rPr>
              <a:t>软件维护是软件生命周期中时间最长、费用最高、越来越难的活动。软件维护技术不像开发技术那样成熟和规范，消耗的工作量就比较多，其工作量占整个生存周期的</a:t>
            </a:r>
            <a:r>
              <a:rPr lang="en-US" altLang="zh-CN" sz="2000" dirty="0">
                <a:latin typeface="+mn-ea"/>
              </a:rPr>
              <a:t>70%</a:t>
            </a:r>
            <a:r>
              <a:rPr lang="zh-CN" altLang="en-US" sz="2000" dirty="0">
                <a:latin typeface="+mn-ea"/>
              </a:rPr>
              <a:t>以上。</a:t>
            </a:r>
            <a:endParaRPr lang="zh-CN" altLang="en-US" sz="2000" dirty="0">
              <a:latin typeface="+mn-ea"/>
            </a:endParaRPr>
          </a:p>
        </p:txBody>
      </p:sp>
      <p:sp>
        <p:nvSpPr>
          <p:cNvPr id="2" name="日期占位符 1"/>
          <p:cNvSpPr>
            <a:spLocks noGrp="1"/>
          </p:cNvSpPr>
          <p:nvPr>
            <p:ph type="dt" sz="half" idx="10"/>
          </p:nvPr>
        </p:nvSpPr>
        <p:spPr/>
        <p:txBody>
          <a:bodyPr/>
          <a:lstStyle/>
          <a:p>
            <a:fld id="{7F5F6335-28D2-45B9-9B6C-5EE15E7712C0}"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dirty="0"/>
              <a:t>软件工程</a:t>
            </a:r>
            <a:endParaRPr lang="zh-CN" altLang="en-US" dirty="0"/>
          </a:p>
        </p:txBody>
      </p:sp>
      <p:sp>
        <p:nvSpPr>
          <p:cNvPr id="5" name="灯片编号占位符 3"/>
          <p:cNvSpPr>
            <a:spLocks noGrp="1"/>
          </p:cNvSpPr>
          <p:nvPr>
            <p:ph type="sldNum" sz="quarter" idx="12"/>
          </p:nvPr>
        </p:nvSpPr>
        <p:spPr/>
        <p:txBody>
          <a:bodyPr/>
          <a:lstStyle/>
          <a:p>
            <a:pPr>
              <a:defRPr/>
            </a:pPr>
            <a:fld id="{AEB37F01-FF7D-4FF1-82A1-B5F3F66CE9C5}" type="slidenum">
              <a:rPr lang="zh-CN" altLang="en-US"/>
            </a:fld>
            <a:endParaRPr lang="en-US" altLang="zh-CN"/>
          </a:p>
        </p:txBody>
      </p:sp>
      <p:graphicFrame>
        <p:nvGraphicFramePr>
          <p:cNvPr id="10" name="图表 9"/>
          <p:cNvGraphicFramePr/>
          <p:nvPr/>
        </p:nvGraphicFramePr>
        <p:xfrm>
          <a:off x="6258486" y="1498964"/>
          <a:ext cx="2599764" cy="2524134"/>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zh-CN" altLang="en-US" dirty="0">
                <a:latin typeface="+mn-ea"/>
              </a:rPr>
              <a:t>软件维护</a:t>
            </a:r>
            <a:endParaRPr lang="zh-CN" altLang="en-US" sz="3200" dirty="0"/>
          </a:p>
        </p:txBody>
      </p:sp>
      <p:sp>
        <p:nvSpPr>
          <p:cNvPr id="6" name="内容占位符 5"/>
          <p:cNvSpPr>
            <a:spLocks noGrp="1"/>
          </p:cNvSpPr>
          <p:nvPr>
            <p:ph idx="1"/>
          </p:nvPr>
        </p:nvSpPr>
        <p:spPr>
          <a:xfrm>
            <a:off x="1094321" y="925167"/>
            <a:ext cx="7506609" cy="3806854"/>
          </a:xfrm>
        </p:spPr>
        <p:txBody>
          <a:bodyPr/>
          <a:lstStyle/>
          <a:p>
            <a:pPr>
              <a:lnSpc>
                <a:spcPct val="135000"/>
              </a:lnSpc>
              <a:defRPr/>
            </a:pPr>
            <a:r>
              <a:rPr kumimoji="1" lang="zh-CN" altLang="en-US" dirty="0">
                <a:latin typeface="+mn-ea"/>
              </a:rPr>
              <a:t>维护的类型有四种</a:t>
            </a:r>
            <a:r>
              <a:rPr kumimoji="1" lang="zh-CN" altLang="en-US" dirty="0">
                <a:effectLst>
                  <a:outerShdw blurRad="38100" dist="38100" dir="2700000" algn="tl">
                    <a:srgbClr val="C0C0C0"/>
                  </a:outerShdw>
                </a:effectLst>
                <a:latin typeface="+mn-ea"/>
              </a:rPr>
              <a:t>：</a:t>
            </a:r>
            <a:endParaRPr kumimoji="1" lang="zh-CN" altLang="en-US" dirty="0">
              <a:effectLst>
                <a:outerShdw blurRad="38100" dist="38100" dir="2700000" algn="tl">
                  <a:srgbClr val="C0C0C0"/>
                </a:outerShdw>
              </a:effectLst>
              <a:latin typeface="+mn-ea"/>
            </a:endParaRPr>
          </a:p>
          <a:p>
            <a:pPr lvl="1">
              <a:lnSpc>
                <a:spcPct val="135000"/>
              </a:lnSpc>
              <a:defRPr/>
            </a:pPr>
            <a:r>
              <a:rPr kumimoji="1" lang="zh-CN" altLang="en-US" dirty="0">
                <a:latin typeface="+mn-ea"/>
              </a:rPr>
              <a:t>改正性维护</a:t>
            </a:r>
            <a:endParaRPr kumimoji="1" lang="zh-CN" altLang="en-US" dirty="0">
              <a:latin typeface="+mn-ea"/>
            </a:endParaRPr>
          </a:p>
          <a:p>
            <a:pPr lvl="1">
              <a:lnSpc>
                <a:spcPct val="135000"/>
              </a:lnSpc>
              <a:defRPr/>
            </a:pPr>
            <a:r>
              <a:rPr kumimoji="1" lang="zh-CN" altLang="en-US" dirty="0">
                <a:latin typeface="+mn-ea"/>
              </a:rPr>
              <a:t>适应性维护</a:t>
            </a:r>
            <a:endParaRPr kumimoji="1" lang="zh-CN" altLang="en-US" dirty="0">
              <a:latin typeface="+mn-ea"/>
            </a:endParaRPr>
          </a:p>
          <a:p>
            <a:pPr lvl="1">
              <a:lnSpc>
                <a:spcPct val="135000"/>
              </a:lnSpc>
              <a:defRPr/>
            </a:pPr>
            <a:r>
              <a:rPr kumimoji="1" lang="zh-CN" altLang="en-US" dirty="0">
                <a:latin typeface="+mn-ea"/>
              </a:rPr>
              <a:t>扩充与完善性维护</a:t>
            </a:r>
            <a:endParaRPr kumimoji="1" lang="zh-CN" altLang="en-US" dirty="0">
              <a:latin typeface="+mn-ea"/>
            </a:endParaRPr>
          </a:p>
          <a:p>
            <a:pPr lvl="1">
              <a:lnSpc>
                <a:spcPct val="135000"/>
              </a:lnSpc>
              <a:defRPr/>
            </a:pPr>
            <a:r>
              <a:rPr kumimoji="1" lang="zh-CN" altLang="en-US" dirty="0">
                <a:latin typeface="+mn-ea"/>
              </a:rPr>
              <a:t>预防性维护</a:t>
            </a:r>
            <a:endParaRPr lang="zh-CN" altLang="en-US" dirty="0">
              <a:latin typeface="+mn-ea"/>
            </a:endParaRPr>
          </a:p>
        </p:txBody>
      </p:sp>
      <p:sp>
        <p:nvSpPr>
          <p:cNvPr id="2" name="日期占位符 1"/>
          <p:cNvSpPr>
            <a:spLocks noGrp="1"/>
          </p:cNvSpPr>
          <p:nvPr>
            <p:ph type="dt" sz="half" idx="10"/>
          </p:nvPr>
        </p:nvSpPr>
        <p:spPr/>
        <p:txBody>
          <a:bodyPr/>
          <a:lstStyle/>
          <a:p>
            <a:fld id="{B14A99AA-705B-44ED-81F8-18E008AA0E12}"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5" name="灯片编号占位符 3"/>
          <p:cNvSpPr>
            <a:spLocks noGrp="1"/>
          </p:cNvSpPr>
          <p:nvPr>
            <p:ph type="sldNum" sz="quarter" idx="12"/>
          </p:nvPr>
        </p:nvSpPr>
        <p:spPr/>
        <p:txBody>
          <a:bodyPr/>
          <a:lstStyle/>
          <a:p>
            <a:pPr>
              <a:defRPr/>
            </a:pPr>
            <a:fld id="{AEB37F01-FF7D-4FF1-82A1-B5F3F66CE9C5}" type="slidenum">
              <a:rPr lang="zh-CN" altLang="en-US"/>
            </a:fld>
            <a:endParaRPr lang="en-US" altLang="zh-CN"/>
          </a:p>
        </p:txBody>
      </p:sp>
      <p:grpSp>
        <p:nvGrpSpPr>
          <p:cNvPr id="8" name="组合 7"/>
          <p:cNvGrpSpPr/>
          <p:nvPr/>
        </p:nvGrpSpPr>
        <p:grpSpPr>
          <a:xfrm>
            <a:off x="4830482" y="1518906"/>
            <a:ext cx="4270771" cy="2619375"/>
            <a:chOff x="2626519" y="1382316"/>
            <a:chExt cx="4270771" cy="2619375"/>
          </a:xfrm>
        </p:grpSpPr>
        <p:sp>
          <p:nvSpPr>
            <p:cNvPr id="9" name="Line 4"/>
            <p:cNvSpPr>
              <a:spLocks noChangeShapeType="1"/>
            </p:cNvSpPr>
            <p:nvPr/>
          </p:nvSpPr>
          <p:spPr bwMode="auto">
            <a:xfrm>
              <a:off x="2626519" y="2692004"/>
              <a:ext cx="2847975" cy="1190"/>
            </a:xfrm>
            <a:prstGeom prst="line">
              <a:avLst/>
            </a:prstGeom>
            <a:noFill/>
            <a:ln w="12700">
              <a:solidFill>
                <a:schemeClr val="tx1"/>
              </a:solidFill>
              <a:round/>
            </a:ln>
          </p:spPr>
          <p:txBody>
            <a:bodyPr wrap="none" anchor="ctr"/>
            <a:lstStyle/>
            <a:p>
              <a:endParaRPr lang="zh-CN" altLang="en-US" sz="1400">
                <a:latin typeface="+mj-ea"/>
                <a:ea typeface="+mj-ea"/>
              </a:endParaRPr>
            </a:p>
          </p:txBody>
        </p:sp>
        <p:sp>
          <p:nvSpPr>
            <p:cNvPr id="10" name="Line 5"/>
            <p:cNvSpPr>
              <a:spLocks noChangeShapeType="1"/>
            </p:cNvSpPr>
            <p:nvPr/>
          </p:nvSpPr>
          <p:spPr bwMode="auto">
            <a:xfrm>
              <a:off x="4050506" y="1382316"/>
              <a:ext cx="1191" cy="1304925"/>
            </a:xfrm>
            <a:prstGeom prst="line">
              <a:avLst/>
            </a:prstGeom>
            <a:noFill/>
            <a:ln w="12700">
              <a:solidFill>
                <a:schemeClr val="tx1"/>
              </a:solidFill>
              <a:round/>
            </a:ln>
          </p:spPr>
          <p:txBody>
            <a:bodyPr wrap="none" anchor="ctr"/>
            <a:lstStyle/>
            <a:p>
              <a:endParaRPr lang="zh-CN" altLang="en-US" sz="1400">
                <a:latin typeface="+mj-ea"/>
                <a:ea typeface="+mj-ea"/>
              </a:endParaRPr>
            </a:p>
          </p:txBody>
        </p:sp>
        <p:sp>
          <p:nvSpPr>
            <p:cNvPr id="11" name="Rectangle 6"/>
            <p:cNvSpPr>
              <a:spLocks noChangeArrowheads="1"/>
            </p:cNvSpPr>
            <p:nvPr/>
          </p:nvSpPr>
          <p:spPr bwMode="auto">
            <a:xfrm>
              <a:off x="5250655" y="1635895"/>
              <a:ext cx="1646635" cy="313548"/>
            </a:xfrm>
            <a:prstGeom prst="rect">
              <a:avLst/>
            </a:prstGeom>
            <a:noFill/>
            <a:ln w="12700">
              <a:noFill/>
              <a:miter lim="800000"/>
            </a:ln>
          </p:spPr>
          <p:txBody>
            <a:bodyPr lIns="67866" tIns="33338" rIns="67866" bIns="33338">
              <a:spAutoFit/>
            </a:bodyPr>
            <a:lstStyle/>
            <a:p>
              <a:pPr algn="l"/>
              <a:r>
                <a:rPr kumimoji="1" lang="zh-CN" altLang="en-US" sz="1600" dirty="0">
                  <a:latin typeface="+mj-ea"/>
                  <a:ea typeface="+mj-ea"/>
                </a:rPr>
                <a:t>其它维护 </a:t>
              </a:r>
              <a:r>
                <a:rPr kumimoji="1" lang="en-US" altLang="zh-CN" sz="1600" dirty="0">
                  <a:latin typeface="+mj-ea"/>
                  <a:ea typeface="+mj-ea"/>
                </a:rPr>
                <a:t>4 %</a:t>
              </a:r>
              <a:endParaRPr kumimoji="1" lang="en-US" altLang="zh-CN" sz="1600" dirty="0">
                <a:latin typeface="+mj-ea"/>
                <a:ea typeface="+mj-ea"/>
              </a:endParaRPr>
            </a:p>
          </p:txBody>
        </p:sp>
        <p:sp>
          <p:nvSpPr>
            <p:cNvPr id="12" name="Line 7"/>
            <p:cNvSpPr>
              <a:spLocks noChangeShapeType="1"/>
            </p:cNvSpPr>
            <p:nvPr/>
          </p:nvSpPr>
          <p:spPr bwMode="auto">
            <a:xfrm>
              <a:off x="2626519" y="2692004"/>
              <a:ext cx="1419225" cy="1190"/>
            </a:xfrm>
            <a:prstGeom prst="line">
              <a:avLst/>
            </a:prstGeom>
            <a:noFill/>
            <a:ln w="12700">
              <a:solidFill>
                <a:schemeClr val="tx1"/>
              </a:solidFill>
              <a:round/>
            </a:ln>
          </p:spPr>
          <p:txBody>
            <a:bodyPr wrap="none" anchor="ctr"/>
            <a:lstStyle/>
            <a:p>
              <a:endParaRPr lang="zh-CN" altLang="en-US" sz="1400">
                <a:latin typeface="+mj-ea"/>
                <a:ea typeface="+mj-ea"/>
              </a:endParaRPr>
            </a:p>
          </p:txBody>
        </p:sp>
        <p:sp>
          <p:nvSpPr>
            <p:cNvPr id="13" name="Line 8"/>
            <p:cNvSpPr>
              <a:spLocks noChangeShapeType="1"/>
            </p:cNvSpPr>
            <p:nvPr/>
          </p:nvSpPr>
          <p:spPr bwMode="auto">
            <a:xfrm>
              <a:off x="4055269" y="2692004"/>
              <a:ext cx="1419225" cy="1190"/>
            </a:xfrm>
            <a:prstGeom prst="line">
              <a:avLst/>
            </a:prstGeom>
            <a:noFill/>
            <a:ln w="12700">
              <a:solidFill>
                <a:schemeClr val="tx1"/>
              </a:solidFill>
              <a:round/>
            </a:ln>
          </p:spPr>
          <p:txBody>
            <a:bodyPr wrap="none" anchor="ctr"/>
            <a:lstStyle/>
            <a:p>
              <a:endParaRPr lang="zh-CN" altLang="en-US" sz="1400">
                <a:latin typeface="+mj-ea"/>
                <a:ea typeface="+mj-ea"/>
              </a:endParaRPr>
            </a:p>
          </p:txBody>
        </p:sp>
        <p:sp>
          <p:nvSpPr>
            <p:cNvPr id="14" name="Line 9"/>
            <p:cNvSpPr>
              <a:spLocks noChangeShapeType="1"/>
            </p:cNvSpPr>
            <p:nvPr/>
          </p:nvSpPr>
          <p:spPr bwMode="auto">
            <a:xfrm>
              <a:off x="4055269" y="2692004"/>
              <a:ext cx="1419225" cy="1190"/>
            </a:xfrm>
            <a:prstGeom prst="line">
              <a:avLst/>
            </a:prstGeom>
            <a:noFill/>
            <a:ln w="12700">
              <a:solidFill>
                <a:schemeClr val="tx1"/>
              </a:solidFill>
              <a:round/>
            </a:ln>
          </p:spPr>
          <p:txBody>
            <a:bodyPr wrap="none" anchor="ctr"/>
            <a:lstStyle/>
            <a:p>
              <a:endParaRPr lang="zh-CN" altLang="en-US" sz="1400">
                <a:latin typeface="+mj-ea"/>
                <a:ea typeface="+mj-ea"/>
              </a:endParaRPr>
            </a:p>
          </p:txBody>
        </p:sp>
        <p:sp>
          <p:nvSpPr>
            <p:cNvPr id="15" name="Oval 10"/>
            <p:cNvSpPr>
              <a:spLocks noChangeArrowheads="1"/>
            </p:cNvSpPr>
            <p:nvPr/>
          </p:nvSpPr>
          <p:spPr bwMode="auto">
            <a:xfrm>
              <a:off x="2626519" y="1382316"/>
              <a:ext cx="2847975" cy="2619375"/>
            </a:xfrm>
            <a:prstGeom prst="ellipse">
              <a:avLst/>
            </a:prstGeom>
            <a:solidFill>
              <a:srgbClr val="EAEAEA"/>
            </a:solidFill>
            <a:ln w="12700">
              <a:solidFill>
                <a:srgbClr val="919191"/>
              </a:solidFill>
              <a:round/>
            </a:ln>
          </p:spPr>
          <p:txBody>
            <a:bodyPr wrap="none" anchor="ctr"/>
            <a:lstStyle/>
            <a:p>
              <a:endParaRPr lang="zh-CN" altLang="en-US" sz="1400">
                <a:latin typeface="+mj-ea"/>
                <a:ea typeface="+mj-ea"/>
              </a:endParaRPr>
            </a:p>
          </p:txBody>
        </p:sp>
        <p:sp>
          <p:nvSpPr>
            <p:cNvPr id="16" name="Line 11"/>
            <p:cNvSpPr>
              <a:spLocks noChangeShapeType="1"/>
            </p:cNvSpPr>
            <p:nvPr/>
          </p:nvSpPr>
          <p:spPr bwMode="auto">
            <a:xfrm>
              <a:off x="4055269" y="2692004"/>
              <a:ext cx="1419225" cy="1190"/>
            </a:xfrm>
            <a:prstGeom prst="line">
              <a:avLst/>
            </a:prstGeom>
            <a:noFill/>
            <a:ln w="12700">
              <a:solidFill>
                <a:schemeClr val="tx1"/>
              </a:solidFill>
              <a:round/>
            </a:ln>
          </p:spPr>
          <p:txBody>
            <a:bodyPr wrap="none" anchor="ctr"/>
            <a:lstStyle/>
            <a:p>
              <a:endParaRPr lang="zh-CN" altLang="en-US" sz="1400">
                <a:latin typeface="+mj-ea"/>
                <a:ea typeface="+mj-ea"/>
              </a:endParaRPr>
            </a:p>
          </p:txBody>
        </p:sp>
        <p:sp>
          <p:nvSpPr>
            <p:cNvPr id="17" name="Line 12"/>
            <p:cNvSpPr>
              <a:spLocks noChangeShapeType="1"/>
            </p:cNvSpPr>
            <p:nvPr/>
          </p:nvSpPr>
          <p:spPr bwMode="auto">
            <a:xfrm>
              <a:off x="2626519" y="2692004"/>
              <a:ext cx="1476375" cy="1190"/>
            </a:xfrm>
            <a:prstGeom prst="line">
              <a:avLst/>
            </a:prstGeom>
            <a:noFill/>
            <a:ln w="12700">
              <a:solidFill>
                <a:srgbClr val="60C900"/>
              </a:solidFill>
              <a:round/>
            </a:ln>
          </p:spPr>
          <p:txBody>
            <a:bodyPr wrap="none" anchor="ctr"/>
            <a:lstStyle/>
            <a:p>
              <a:endParaRPr lang="zh-CN" altLang="en-US" sz="1400">
                <a:latin typeface="+mj-ea"/>
                <a:ea typeface="+mj-ea"/>
              </a:endParaRPr>
            </a:p>
          </p:txBody>
        </p:sp>
        <p:sp>
          <p:nvSpPr>
            <p:cNvPr id="18" name="Line 13"/>
            <p:cNvSpPr>
              <a:spLocks noChangeShapeType="1"/>
            </p:cNvSpPr>
            <p:nvPr/>
          </p:nvSpPr>
          <p:spPr bwMode="auto">
            <a:xfrm>
              <a:off x="4107656" y="1382316"/>
              <a:ext cx="1191" cy="1304925"/>
            </a:xfrm>
            <a:prstGeom prst="line">
              <a:avLst/>
            </a:prstGeom>
            <a:noFill/>
            <a:ln w="12700">
              <a:solidFill>
                <a:schemeClr val="tx1"/>
              </a:solidFill>
              <a:round/>
            </a:ln>
          </p:spPr>
          <p:txBody>
            <a:bodyPr wrap="none" anchor="ctr"/>
            <a:lstStyle/>
            <a:p>
              <a:endParaRPr lang="zh-CN" altLang="en-US" sz="1400">
                <a:latin typeface="+mj-ea"/>
                <a:ea typeface="+mj-ea"/>
              </a:endParaRPr>
            </a:p>
          </p:txBody>
        </p:sp>
        <p:sp>
          <p:nvSpPr>
            <p:cNvPr id="19" name="Arc 14"/>
            <p:cNvSpPr/>
            <p:nvPr/>
          </p:nvSpPr>
          <p:spPr bwMode="auto">
            <a:xfrm>
              <a:off x="2627710" y="1383506"/>
              <a:ext cx="1481138" cy="1309688"/>
            </a:xfrm>
            <a:custGeom>
              <a:avLst/>
              <a:gdLst>
                <a:gd name="T0" fmla="*/ 0 w 21600"/>
                <a:gd name="T1" fmla="*/ 2147483647 h 21600"/>
                <a:gd name="T2" fmla="*/ 2147483647 w 21600"/>
                <a:gd name="T3" fmla="*/ 0 h 21600"/>
                <a:gd name="T4" fmla="*/ 2147483647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77"/>
                    <a:pt x="9660" y="9"/>
                    <a:pt x="21583" y="0"/>
                  </a:cubicBezTo>
                </a:path>
                <a:path w="21600" h="21600" stroke="0" extrusionOk="0">
                  <a:moveTo>
                    <a:pt x="0" y="21600"/>
                  </a:moveTo>
                  <a:cubicBezTo>
                    <a:pt x="0" y="9677"/>
                    <a:pt x="9660" y="9"/>
                    <a:pt x="21583" y="0"/>
                  </a:cubicBezTo>
                  <a:lnTo>
                    <a:pt x="21600" y="21600"/>
                  </a:lnTo>
                  <a:close/>
                </a:path>
              </a:pathLst>
            </a:custGeom>
            <a:solidFill>
              <a:srgbClr val="DCFF7B"/>
            </a:solidFill>
            <a:ln w="12700" cap="rnd">
              <a:solidFill>
                <a:srgbClr val="60C900"/>
              </a:solidFill>
              <a:round/>
            </a:ln>
          </p:spPr>
          <p:txBody>
            <a:bodyPr wrap="none" anchor="ctr"/>
            <a:lstStyle/>
            <a:p>
              <a:endParaRPr lang="zh-CN" altLang="en-US" sz="1400">
                <a:latin typeface="+mj-ea"/>
                <a:ea typeface="+mj-ea"/>
              </a:endParaRPr>
            </a:p>
          </p:txBody>
        </p:sp>
        <p:sp>
          <p:nvSpPr>
            <p:cNvPr id="20" name="Line 15"/>
            <p:cNvSpPr>
              <a:spLocks noChangeShapeType="1"/>
            </p:cNvSpPr>
            <p:nvPr/>
          </p:nvSpPr>
          <p:spPr bwMode="auto">
            <a:xfrm>
              <a:off x="4107656" y="1382316"/>
              <a:ext cx="1191" cy="1304925"/>
            </a:xfrm>
            <a:prstGeom prst="line">
              <a:avLst/>
            </a:prstGeom>
            <a:noFill/>
            <a:ln w="12700">
              <a:solidFill>
                <a:schemeClr val="tx1"/>
              </a:solidFill>
              <a:round/>
            </a:ln>
          </p:spPr>
          <p:txBody>
            <a:bodyPr wrap="none" anchor="ctr"/>
            <a:lstStyle/>
            <a:p>
              <a:endParaRPr lang="zh-CN" altLang="en-US" sz="1400">
                <a:latin typeface="+mj-ea"/>
                <a:ea typeface="+mj-ea"/>
              </a:endParaRPr>
            </a:p>
          </p:txBody>
        </p:sp>
        <p:sp>
          <p:nvSpPr>
            <p:cNvPr id="21" name="Arc 16"/>
            <p:cNvSpPr/>
            <p:nvPr/>
          </p:nvSpPr>
          <p:spPr bwMode="auto">
            <a:xfrm>
              <a:off x="4107656" y="1383506"/>
              <a:ext cx="1366838" cy="13096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DB9F0"/>
            </a:solidFill>
            <a:ln w="12700" cap="rnd">
              <a:solidFill>
                <a:srgbClr val="F76681"/>
              </a:solidFill>
              <a:round/>
            </a:ln>
          </p:spPr>
          <p:txBody>
            <a:bodyPr wrap="none" anchor="ctr"/>
            <a:lstStyle/>
            <a:p>
              <a:endParaRPr lang="zh-CN" altLang="en-US" sz="1400">
                <a:latin typeface="+mj-ea"/>
                <a:ea typeface="+mj-ea"/>
              </a:endParaRPr>
            </a:p>
          </p:txBody>
        </p:sp>
        <p:sp>
          <p:nvSpPr>
            <p:cNvPr id="22" name="Line 17"/>
            <p:cNvSpPr>
              <a:spLocks noChangeShapeType="1"/>
            </p:cNvSpPr>
            <p:nvPr/>
          </p:nvSpPr>
          <p:spPr bwMode="auto">
            <a:xfrm flipV="1">
              <a:off x="4112419" y="2172891"/>
              <a:ext cx="1247775" cy="523875"/>
            </a:xfrm>
            <a:prstGeom prst="line">
              <a:avLst/>
            </a:prstGeom>
            <a:noFill/>
            <a:ln w="12700">
              <a:solidFill>
                <a:schemeClr val="tx1"/>
              </a:solidFill>
              <a:round/>
            </a:ln>
          </p:spPr>
          <p:txBody>
            <a:bodyPr wrap="none" anchor="ctr"/>
            <a:lstStyle/>
            <a:p>
              <a:endParaRPr lang="zh-CN" altLang="en-US" sz="1400">
                <a:latin typeface="+mj-ea"/>
                <a:ea typeface="+mj-ea"/>
              </a:endParaRPr>
            </a:p>
          </p:txBody>
        </p:sp>
        <p:sp>
          <p:nvSpPr>
            <p:cNvPr id="23" name="Arc 18"/>
            <p:cNvSpPr/>
            <p:nvPr/>
          </p:nvSpPr>
          <p:spPr bwMode="auto">
            <a:xfrm>
              <a:off x="5350669" y="2172891"/>
              <a:ext cx="109538" cy="509588"/>
            </a:xfrm>
            <a:custGeom>
              <a:avLst/>
              <a:gdLst>
                <a:gd name="T0" fmla="*/ 0 w 21600"/>
                <a:gd name="T1" fmla="*/ 0 h 21600"/>
                <a:gd name="T2" fmla="*/ 6677243 w 21600"/>
                <a:gd name="T3" fmla="*/ 672302698 h 21600"/>
                <a:gd name="T4" fmla="*/ 0 w 21600"/>
                <a:gd name="T5" fmla="*/ 672302698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3365FB"/>
            </a:solidFill>
            <a:ln w="12700" cap="rnd">
              <a:solidFill>
                <a:srgbClr val="3365FB"/>
              </a:solidFill>
              <a:round/>
            </a:ln>
          </p:spPr>
          <p:txBody>
            <a:bodyPr wrap="none" anchor="ctr"/>
            <a:lstStyle/>
            <a:p>
              <a:endParaRPr lang="zh-CN" altLang="en-US" sz="1400">
                <a:latin typeface="+mj-ea"/>
                <a:ea typeface="+mj-ea"/>
              </a:endParaRPr>
            </a:p>
          </p:txBody>
        </p:sp>
        <p:sp>
          <p:nvSpPr>
            <p:cNvPr id="24" name="Line 19"/>
            <p:cNvSpPr>
              <a:spLocks noChangeShapeType="1"/>
            </p:cNvSpPr>
            <p:nvPr/>
          </p:nvSpPr>
          <p:spPr bwMode="auto">
            <a:xfrm>
              <a:off x="4112419" y="2692004"/>
              <a:ext cx="1362075" cy="1190"/>
            </a:xfrm>
            <a:prstGeom prst="line">
              <a:avLst/>
            </a:prstGeom>
            <a:noFill/>
            <a:ln w="12700">
              <a:solidFill>
                <a:schemeClr val="tx1"/>
              </a:solidFill>
              <a:round/>
            </a:ln>
          </p:spPr>
          <p:txBody>
            <a:bodyPr wrap="none" anchor="ctr"/>
            <a:lstStyle/>
            <a:p>
              <a:endParaRPr lang="zh-CN" altLang="en-US" sz="1400">
                <a:latin typeface="+mj-ea"/>
                <a:ea typeface="+mj-ea"/>
              </a:endParaRPr>
            </a:p>
          </p:txBody>
        </p:sp>
        <p:sp>
          <p:nvSpPr>
            <p:cNvPr id="25" name="AutoShape 20"/>
            <p:cNvSpPr>
              <a:spLocks noChangeArrowheads="1"/>
            </p:cNvSpPr>
            <p:nvPr/>
          </p:nvSpPr>
          <p:spPr bwMode="auto">
            <a:xfrm rot="-5400000">
              <a:off x="4450556" y="1777604"/>
              <a:ext cx="514350" cy="1314450"/>
            </a:xfrm>
            <a:prstGeom prst="rtTriangle">
              <a:avLst/>
            </a:prstGeom>
            <a:solidFill>
              <a:srgbClr val="3365FB"/>
            </a:solidFill>
            <a:ln w="12700">
              <a:noFill/>
              <a:miter lim="800000"/>
            </a:ln>
          </p:spPr>
          <p:txBody>
            <a:bodyPr vert="eaVert" wrap="none" anchor="ctr"/>
            <a:lstStyle/>
            <a:p>
              <a:endParaRPr lang="zh-CN" altLang="en-US" sz="1400">
                <a:latin typeface="+mj-ea"/>
                <a:ea typeface="+mj-ea"/>
              </a:endParaRPr>
            </a:p>
          </p:txBody>
        </p:sp>
        <p:sp>
          <p:nvSpPr>
            <p:cNvPr id="26" name="Rectangle 21"/>
            <p:cNvSpPr>
              <a:spLocks noChangeArrowheads="1"/>
            </p:cNvSpPr>
            <p:nvPr/>
          </p:nvSpPr>
          <p:spPr bwMode="auto">
            <a:xfrm>
              <a:off x="2830117" y="1968363"/>
              <a:ext cx="1296590" cy="510525"/>
            </a:xfrm>
            <a:prstGeom prst="rect">
              <a:avLst/>
            </a:prstGeom>
            <a:noFill/>
            <a:ln w="12700">
              <a:noFill/>
              <a:miter lim="800000"/>
            </a:ln>
          </p:spPr>
          <p:txBody>
            <a:bodyPr lIns="67866" tIns="33338" rIns="67866" bIns="33338">
              <a:spAutoFit/>
            </a:bodyPr>
            <a:lstStyle/>
            <a:p>
              <a:pPr algn="l">
                <a:lnSpc>
                  <a:spcPct val="80000"/>
                </a:lnSpc>
              </a:pPr>
              <a:r>
                <a:rPr kumimoji="1" lang="zh-CN" altLang="en-US" sz="1600" dirty="0">
                  <a:latin typeface="+mj-ea"/>
                  <a:ea typeface="+mj-ea"/>
                </a:rPr>
                <a:t>适应性维护</a:t>
              </a:r>
              <a:endParaRPr kumimoji="1" lang="zh-CN" altLang="en-US" sz="1600" dirty="0">
                <a:latin typeface="+mj-ea"/>
                <a:ea typeface="+mj-ea"/>
              </a:endParaRPr>
            </a:p>
            <a:p>
              <a:pPr algn="l"/>
              <a:r>
                <a:rPr kumimoji="1" lang="en-US" altLang="zh-CN" sz="1600" dirty="0">
                  <a:latin typeface="+mj-ea"/>
                  <a:ea typeface="+mj-ea"/>
                </a:rPr>
                <a:t>18%</a:t>
              </a:r>
              <a:r>
                <a:rPr kumimoji="1" lang="zh-CN" altLang="en-US" sz="1600" dirty="0">
                  <a:latin typeface="+mj-ea"/>
                  <a:ea typeface="+mj-ea"/>
                </a:rPr>
                <a:t>～</a:t>
              </a:r>
              <a:r>
                <a:rPr kumimoji="1" lang="en-US" altLang="zh-CN" sz="1600" dirty="0">
                  <a:latin typeface="+mj-ea"/>
                  <a:ea typeface="+mj-ea"/>
                </a:rPr>
                <a:t> 25%</a:t>
              </a:r>
              <a:endParaRPr kumimoji="1" lang="en-US" altLang="zh-CN" sz="1600" dirty="0">
                <a:latin typeface="+mj-ea"/>
                <a:ea typeface="+mj-ea"/>
              </a:endParaRPr>
            </a:p>
          </p:txBody>
        </p:sp>
        <p:sp>
          <p:nvSpPr>
            <p:cNvPr id="27" name="Rectangle 22"/>
            <p:cNvSpPr>
              <a:spLocks noChangeArrowheads="1"/>
            </p:cNvSpPr>
            <p:nvPr/>
          </p:nvSpPr>
          <p:spPr bwMode="auto">
            <a:xfrm>
              <a:off x="4056460" y="1768079"/>
              <a:ext cx="1384697" cy="510525"/>
            </a:xfrm>
            <a:prstGeom prst="rect">
              <a:avLst/>
            </a:prstGeom>
            <a:noFill/>
            <a:ln w="12700">
              <a:noFill/>
              <a:miter lim="800000"/>
            </a:ln>
          </p:spPr>
          <p:txBody>
            <a:bodyPr lIns="67866" tIns="33338" rIns="67866" bIns="33338">
              <a:spAutoFit/>
            </a:bodyPr>
            <a:lstStyle/>
            <a:p>
              <a:pPr algn="l">
                <a:lnSpc>
                  <a:spcPct val="80000"/>
                </a:lnSpc>
              </a:pPr>
              <a:r>
                <a:rPr kumimoji="1" lang="zh-CN" altLang="en-US" sz="1600" dirty="0">
                  <a:latin typeface="+mj-ea"/>
                  <a:ea typeface="+mj-ea"/>
                </a:rPr>
                <a:t>改正性维护</a:t>
              </a:r>
              <a:endParaRPr kumimoji="1" lang="zh-CN" altLang="en-US" sz="1600" dirty="0">
                <a:latin typeface="+mj-ea"/>
                <a:ea typeface="+mj-ea"/>
              </a:endParaRPr>
            </a:p>
            <a:p>
              <a:pPr algn="l"/>
              <a:r>
                <a:rPr kumimoji="1" lang="zh-CN" altLang="en-US" sz="1600" dirty="0">
                  <a:latin typeface="+mj-ea"/>
                  <a:ea typeface="+mj-ea"/>
                </a:rPr>
                <a:t> </a:t>
              </a:r>
              <a:r>
                <a:rPr kumimoji="1" lang="en-US" altLang="zh-CN" sz="1600" dirty="0">
                  <a:latin typeface="+mj-ea"/>
                  <a:ea typeface="+mj-ea"/>
                </a:rPr>
                <a:t>17%</a:t>
              </a:r>
              <a:r>
                <a:rPr kumimoji="1" lang="zh-CN" altLang="en-US" sz="1600" dirty="0">
                  <a:latin typeface="+mj-ea"/>
                  <a:ea typeface="+mj-ea"/>
                </a:rPr>
                <a:t>～ </a:t>
              </a:r>
              <a:r>
                <a:rPr kumimoji="1" lang="en-US" altLang="zh-CN" sz="1600" dirty="0">
                  <a:latin typeface="+mj-ea"/>
                  <a:ea typeface="+mj-ea"/>
                </a:rPr>
                <a:t>21%</a:t>
              </a:r>
              <a:endParaRPr kumimoji="1" lang="en-US" altLang="zh-CN" sz="1600" dirty="0">
                <a:latin typeface="+mj-ea"/>
                <a:ea typeface="+mj-ea"/>
              </a:endParaRPr>
            </a:p>
          </p:txBody>
        </p:sp>
        <p:sp>
          <p:nvSpPr>
            <p:cNvPr id="28" name="Rectangle 23"/>
            <p:cNvSpPr>
              <a:spLocks noChangeArrowheads="1"/>
            </p:cNvSpPr>
            <p:nvPr/>
          </p:nvSpPr>
          <p:spPr bwMode="auto">
            <a:xfrm>
              <a:off x="3084910" y="3053954"/>
              <a:ext cx="2052638" cy="559770"/>
            </a:xfrm>
            <a:prstGeom prst="rect">
              <a:avLst/>
            </a:prstGeom>
            <a:noFill/>
            <a:ln w="12700">
              <a:noFill/>
              <a:miter lim="800000"/>
            </a:ln>
          </p:spPr>
          <p:txBody>
            <a:bodyPr lIns="67866" tIns="33338" rIns="67866" bIns="33338">
              <a:spAutoFit/>
            </a:bodyPr>
            <a:lstStyle/>
            <a:p>
              <a:pPr algn="l"/>
              <a:r>
                <a:rPr kumimoji="1" lang="zh-CN" altLang="en-US" sz="1600" dirty="0">
                  <a:latin typeface="+mj-ea"/>
                  <a:ea typeface="+mj-ea"/>
                </a:rPr>
                <a:t>扩充与完善性维护</a:t>
              </a:r>
              <a:endParaRPr kumimoji="1" lang="zh-CN" altLang="en-US" sz="1600" dirty="0">
                <a:latin typeface="+mj-ea"/>
                <a:ea typeface="+mj-ea"/>
              </a:endParaRPr>
            </a:p>
            <a:p>
              <a:pPr algn="l"/>
              <a:r>
                <a:rPr kumimoji="1" lang="en-US" altLang="zh-CN" sz="1600" dirty="0">
                  <a:latin typeface="+mj-ea"/>
                  <a:ea typeface="+mj-ea"/>
                </a:rPr>
                <a:t>       50% </a:t>
              </a:r>
              <a:r>
                <a:rPr kumimoji="1" lang="zh-CN" altLang="en-US" sz="1600" dirty="0">
                  <a:latin typeface="+mj-ea"/>
                  <a:ea typeface="+mj-ea"/>
                </a:rPr>
                <a:t>～ </a:t>
              </a:r>
              <a:r>
                <a:rPr kumimoji="1" lang="en-US" altLang="zh-CN" sz="1600" dirty="0">
                  <a:latin typeface="+mj-ea"/>
                  <a:ea typeface="+mj-ea"/>
                </a:rPr>
                <a:t>60%</a:t>
              </a:r>
              <a:endParaRPr kumimoji="1" lang="en-US" altLang="zh-CN" sz="1600" dirty="0">
                <a:latin typeface="+mj-ea"/>
                <a:ea typeface="+mj-ea"/>
              </a:endParaRPr>
            </a:p>
          </p:txBody>
        </p:sp>
        <p:sp>
          <p:nvSpPr>
            <p:cNvPr id="29" name="Line 24"/>
            <p:cNvSpPr>
              <a:spLocks noChangeShapeType="1"/>
            </p:cNvSpPr>
            <p:nvPr/>
          </p:nvSpPr>
          <p:spPr bwMode="auto">
            <a:xfrm flipV="1">
              <a:off x="5145882" y="2110979"/>
              <a:ext cx="692944" cy="304800"/>
            </a:xfrm>
            <a:prstGeom prst="line">
              <a:avLst/>
            </a:prstGeom>
            <a:noFill/>
            <a:ln w="25400">
              <a:solidFill>
                <a:schemeClr val="tx1"/>
              </a:solidFill>
              <a:round/>
            </a:ln>
          </p:spPr>
          <p:txBody>
            <a:bodyPr wrap="none" anchor="ctr"/>
            <a:lstStyle/>
            <a:p>
              <a:endParaRPr lang="zh-CN" altLang="en-US" sz="1400">
                <a:latin typeface="+mj-ea"/>
                <a:ea typeface="+mj-ea"/>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mn-ea"/>
              </a:rPr>
              <a:t>改正性维护</a:t>
            </a:r>
            <a:r>
              <a:rPr lang="en-US" altLang="zh-CN" cap="none" dirty="0">
                <a:latin typeface="+mj-ea"/>
              </a:rPr>
              <a:t>Corrective Maintenance</a:t>
            </a:r>
            <a:endParaRPr lang="zh-CN" altLang="en-US" cap="none" dirty="0">
              <a:latin typeface="+mj-ea"/>
            </a:endParaRPr>
          </a:p>
        </p:txBody>
      </p:sp>
      <p:sp>
        <p:nvSpPr>
          <p:cNvPr id="9219" name="Rectangle 5"/>
          <p:cNvSpPr>
            <a:spLocks noGrp="1" noChangeArrowheads="1"/>
          </p:cNvSpPr>
          <p:nvPr>
            <p:ph idx="1"/>
          </p:nvPr>
        </p:nvSpPr>
        <p:spPr>
          <a:noFill/>
        </p:spPr>
        <p:txBody>
          <a:bodyPr vert="horz" lIns="69056" tIns="34529" rIns="69056" bIns="34529" rtlCol="0">
            <a:normAutofit/>
          </a:bodyPr>
          <a:lstStyle/>
          <a:p>
            <a:pPr>
              <a:lnSpc>
                <a:spcPct val="120000"/>
              </a:lnSpc>
            </a:pPr>
            <a:r>
              <a:rPr lang="zh-CN" altLang="en-US" sz="2400" dirty="0">
                <a:latin typeface="+mn-ea"/>
              </a:rPr>
              <a:t>在软件交付使用后，因开发时测试的不彻底、不完全，必然会有部分隐藏的错误遗留到运行阶段。</a:t>
            </a:r>
            <a:endParaRPr lang="zh-CN" altLang="en-US" sz="2400" dirty="0">
              <a:latin typeface="+mn-ea"/>
            </a:endParaRPr>
          </a:p>
          <a:p>
            <a:pPr eaLnBrk="1" hangingPunct="1">
              <a:lnSpc>
                <a:spcPct val="120000"/>
              </a:lnSpc>
            </a:pPr>
            <a:r>
              <a:rPr lang="zh-CN" altLang="en-US" sz="2400" dirty="0">
                <a:latin typeface="+mn-ea"/>
              </a:rPr>
              <a:t>这些隐藏下来的错误在某些特定的使用环境下就会暴露出来。</a:t>
            </a:r>
            <a:endParaRPr lang="zh-CN" altLang="en-US" sz="2400" dirty="0">
              <a:latin typeface="+mn-ea"/>
            </a:endParaRPr>
          </a:p>
          <a:p>
            <a:pPr eaLnBrk="1" hangingPunct="1">
              <a:lnSpc>
                <a:spcPct val="120000"/>
              </a:lnSpc>
            </a:pPr>
            <a:r>
              <a:rPr lang="zh-CN" altLang="en-US" sz="2400" dirty="0">
                <a:latin typeface="+mn-ea"/>
              </a:rPr>
              <a:t>为了识别和纠正软件错误、改正软件性能上的缺陷、排除实施中的误使用，所进行的诊断和改正错误的过程就叫做</a:t>
            </a:r>
            <a:r>
              <a:rPr lang="zh-CN" altLang="en-US" sz="2400" dirty="0">
                <a:solidFill>
                  <a:srgbClr val="FF0000"/>
                </a:solidFill>
                <a:latin typeface="+mn-ea"/>
              </a:rPr>
              <a:t>改正性维护</a:t>
            </a:r>
            <a:r>
              <a:rPr lang="zh-CN" altLang="en-US" sz="2400" dirty="0">
                <a:latin typeface="+mn-ea"/>
              </a:rPr>
              <a:t>。</a:t>
            </a:r>
            <a:endParaRPr lang="zh-CN" altLang="en-US" sz="2400" dirty="0">
              <a:latin typeface="+mn-ea"/>
            </a:endParaRPr>
          </a:p>
        </p:txBody>
      </p:sp>
      <p:sp>
        <p:nvSpPr>
          <p:cNvPr id="4" name="日期占位符 3"/>
          <p:cNvSpPr>
            <a:spLocks noGrp="1"/>
          </p:cNvSpPr>
          <p:nvPr>
            <p:ph type="dt" sz="half" idx="10"/>
          </p:nvPr>
        </p:nvSpPr>
        <p:spPr/>
        <p:txBody>
          <a:bodyPr/>
          <a:lstStyle/>
          <a:p>
            <a:fld id="{6E208E7F-7180-4D54-8D97-8A6CEDD22946}"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3" name="灯片编号占位符 5"/>
          <p:cNvSpPr>
            <a:spLocks noGrp="1"/>
          </p:cNvSpPr>
          <p:nvPr>
            <p:ph type="sldNum" sz="quarter" idx="12"/>
          </p:nvPr>
        </p:nvSpPr>
        <p:spPr/>
        <p:txBody>
          <a:bodyPr/>
          <a:lstStyle/>
          <a:p>
            <a:pPr>
              <a:defRPr/>
            </a:pPr>
            <a:fld id="{209EDEC6-F695-4984-BA4A-54ECD462A764}"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j-ea"/>
              </a:rPr>
              <a:t>适应性维护</a:t>
            </a:r>
            <a:r>
              <a:rPr lang="en-US" altLang="zh-CN" cap="none" dirty="0">
                <a:latin typeface="+mj-ea"/>
              </a:rPr>
              <a:t>Adaptive Maintenance</a:t>
            </a:r>
            <a:r>
              <a:rPr lang="en-US" altLang="zh-CN" cap="none" dirty="0">
                <a:effectLst>
                  <a:outerShdw blurRad="38100" dist="38100" dir="2700000" algn="tl">
                    <a:srgbClr val="C0C0C0"/>
                  </a:outerShdw>
                </a:effectLst>
                <a:latin typeface="+mj-ea"/>
              </a:rPr>
              <a:t> </a:t>
            </a:r>
            <a:endParaRPr lang="zh-CN" altLang="en-US" cap="none" dirty="0">
              <a:latin typeface="+mj-ea"/>
            </a:endParaRPr>
          </a:p>
        </p:txBody>
      </p:sp>
      <p:sp>
        <p:nvSpPr>
          <p:cNvPr id="6" name="内容占位符 5"/>
          <p:cNvSpPr>
            <a:spLocks noGrp="1"/>
          </p:cNvSpPr>
          <p:nvPr>
            <p:ph idx="1"/>
          </p:nvPr>
        </p:nvSpPr>
        <p:spPr/>
        <p:txBody>
          <a:bodyPr>
            <a:normAutofit/>
          </a:bodyPr>
          <a:lstStyle/>
          <a:p>
            <a:pPr marL="257175" indent="-257175">
              <a:buFontTx/>
              <a:buChar char="•"/>
              <a:defRPr/>
            </a:pPr>
            <a:r>
              <a:rPr lang="zh-CN" altLang="en-US" sz="2400" dirty="0">
                <a:latin typeface="+mn-ea"/>
              </a:rPr>
              <a:t>在使用过程中，</a:t>
            </a:r>
            <a:endParaRPr lang="zh-CN" altLang="en-US" sz="2400" dirty="0">
              <a:latin typeface="+mn-ea"/>
            </a:endParaRPr>
          </a:p>
          <a:p>
            <a:pPr marL="557530" lvl="1" indent="-214630">
              <a:buFontTx/>
              <a:buChar char="–"/>
              <a:defRPr/>
            </a:pPr>
            <a:r>
              <a:rPr lang="zh-CN" altLang="en-US" sz="2000" dirty="0">
                <a:latin typeface="+mn-ea"/>
              </a:rPr>
              <a:t> 外部环境（新的硬、软件配置）</a:t>
            </a:r>
            <a:endParaRPr lang="zh-CN" altLang="en-US" sz="2000" dirty="0">
              <a:latin typeface="+mn-ea"/>
            </a:endParaRPr>
          </a:p>
          <a:p>
            <a:pPr marL="557530" lvl="1" indent="-214630">
              <a:buFontTx/>
              <a:buChar char="–"/>
              <a:defRPr/>
            </a:pPr>
            <a:r>
              <a:rPr lang="zh-CN" altLang="en-US" sz="2000" dirty="0">
                <a:latin typeface="+mn-ea"/>
              </a:rPr>
              <a:t> 数据环境（数据库、数据格式、数据输入</a:t>
            </a:r>
            <a:r>
              <a:rPr lang="en-US" altLang="zh-CN" sz="2000" dirty="0">
                <a:latin typeface="+mn-ea"/>
              </a:rPr>
              <a:t>/</a:t>
            </a:r>
            <a:r>
              <a:rPr lang="zh-CN" altLang="en-US" sz="2000" dirty="0">
                <a:latin typeface="+mn-ea"/>
              </a:rPr>
              <a:t>输出方式、数据存储介质）</a:t>
            </a:r>
            <a:endParaRPr lang="zh-CN" altLang="en-US" sz="2000" dirty="0">
              <a:latin typeface="+mn-ea"/>
            </a:endParaRPr>
          </a:p>
          <a:p>
            <a:pPr marL="0" indent="0">
              <a:buNone/>
              <a:defRPr/>
            </a:pPr>
            <a:r>
              <a:rPr lang="zh-CN" altLang="en-US" sz="2400" dirty="0">
                <a:latin typeface="+mn-ea"/>
              </a:rPr>
              <a:t>  可能发生变化。</a:t>
            </a:r>
            <a:endParaRPr lang="zh-CN" altLang="en-US" sz="2400" dirty="0">
              <a:latin typeface="+mn-ea"/>
            </a:endParaRPr>
          </a:p>
          <a:p>
            <a:pPr marL="257175" indent="-257175">
              <a:buFontTx/>
              <a:buChar char="•"/>
              <a:defRPr/>
            </a:pPr>
            <a:r>
              <a:rPr lang="zh-CN" altLang="en-US" sz="2400" dirty="0">
                <a:latin typeface="+mn-ea"/>
              </a:rPr>
              <a:t>为使软件适应这种变化，而去修改软件的过程就叫做</a:t>
            </a:r>
            <a:r>
              <a:rPr lang="zh-CN" altLang="en-US" sz="2400" dirty="0">
                <a:solidFill>
                  <a:srgbClr val="FF0000"/>
                </a:solidFill>
                <a:latin typeface="+mn-ea"/>
              </a:rPr>
              <a:t>适应性维护</a:t>
            </a:r>
            <a:r>
              <a:rPr lang="zh-CN" altLang="en-US" sz="2400" dirty="0">
                <a:latin typeface="+mn-ea"/>
              </a:rPr>
              <a:t>。</a:t>
            </a:r>
            <a:endParaRPr lang="zh-CN" altLang="en-US" sz="2400" dirty="0">
              <a:latin typeface="+mn-ea"/>
            </a:endParaRPr>
          </a:p>
        </p:txBody>
      </p:sp>
      <p:sp>
        <p:nvSpPr>
          <p:cNvPr id="2" name="日期占位符 1"/>
          <p:cNvSpPr>
            <a:spLocks noGrp="1"/>
          </p:cNvSpPr>
          <p:nvPr>
            <p:ph type="dt" sz="half" idx="10"/>
          </p:nvPr>
        </p:nvSpPr>
        <p:spPr/>
        <p:txBody>
          <a:bodyPr/>
          <a:lstStyle/>
          <a:p>
            <a:fld id="{202B7FCF-2B96-4915-B08C-145E0E717040}"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5" name="灯片编号占位符 3"/>
          <p:cNvSpPr>
            <a:spLocks noGrp="1"/>
          </p:cNvSpPr>
          <p:nvPr>
            <p:ph type="sldNum" sz="quarter" idx="12"/>
          </p:nvPr>
        </p:nvSpPr>
        <p:spPr/>
        <p:txBody>
          <a:bodyPr/>
          <a:lstStyle/>
          <a:p>
            <a:pPr>
              <a:defRPr/>
            </a:pPr>
            <a:fld id="{A7CFB3F7-78C8-4374-8CCD-801E646D86E1}"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ea"/>
              </a:rPr>
              <a:t>扩充与完善性维护</a:t>
            </a:r>
            <a:r>
              <a:rPr lang="en-US" altLang="zh-CN" cap="none" dirty="0">
                <a:latin typeface="+mj-ea"/>
              </a:rPr>
              <a:t>Perfective Maintenance </a:t>
            </a:r>
            <a:endParaRPr lang="zh-CN" altLang="en-US" dirty="0">
              <a:latin typeface="+mj-ea"/>
            </a:endParaRPr>
          </a:p>
        </p:txBody>
      </p:sp>
      <p:sp>
        <p:nvSpPr>
          <p:cNvPr id="3" name="内容占位符 2"/>
          <p:cNvSpPr>
            <a:spLocks noGrp="1"/>
          </p:cNvSpPr>
          <p:nvPr>
            <p:ph idx="1"/>
          </p:nvPr>
        </p:nvSpPr>
        <p:spPr>
          <a:xfrm>
            <a:off x="768097" y="1006997"/>
            <a:ext cx="7832833" cy="3725024"/>
          </a:xfrm>
        </p:spPr>
        <p:txBody>
          <a:bodyPr>
            <a:normAutofit/>
          </a:bodyPr>
          <a:lstStyle/>
          <a:p>
            <a:pPr marL="257175" indent="-257175">
              <a:buFontTx/>
              <a:buChar char="•"/>
            </a:pPr>
            <a:r>
              <a:rPr lang="zh-CN" altLang="en-US" sz="2400" dirty="0">
                <a:latin typeface="+mn-ea"/>
              </a:rPr>
              <a:t>在软件的使用过程中，用户往往会对软件提出新的功能与性能要求。</a:t>
            </a:r>
            <a:endParaRPr lang="zh-CN" altLang="en-US" sz="2400" dirty="0">
              <a:latin typeface="+mn-ea"/>
            </a:endParaRPr>
          </a:p>
          <a:p>
            <a:pPr marL="257175" indent="-257175">
              <a:buFontTx/>
              <a:buChar char="•"/>
            </a:pPr>
            <a:r>
              <a:rPr lang="zh-CN" altLang="en-US" sz="2400" dirty="0">
                <a:latin typeface="+mn-ea"/>
              </a:rPr>
              <a:t>为了满足这些要求，需要修改或再开发软件，以扩充软件功能、增强软件性能、改进加工效率、提高软件的可维护性。</a:t>
            </a:r>
            <a:endParaRPr lang="zh-CN" altLang="en-US" sz="2400" dirty="0">
              <a:latin typeface="+mn-ea"/>
            </a:endParaRPr>
          </a:p>
          <a:p>
            <a:pPr marL="257175" indent="-257175">
              <a:buFontTx/>
              <a:buChar char="•"/>
            </a:pPr>
            <a:r>
              <a:rPr lang="zh-CN" altLang="en-US" sz="2400" dirty="0">
                <a:latin typeface="+mn-ea"/>
              </a:rPr>
              <a:t>这种情况下进行的维护活动叫做</a:t>
            </a:r>
            <a:r>
              <a:rPr lang="zh-CN" altLang="en-US" sz="2400" dirty="0">
                <a:solidFill>
                  <a:srgbClr val="FF0000"/>
                </a:solidFill>
                <a:latin typeface="+mn-ea"/>
              </a:rPr>
              <a:t>扩充与完善性维护</a:t>
            </a:r>
            <a:r>
              <a:rPr lang="zh-CN" altLang="en-US" sz="2400" dirty="0">
                <a:latin typeface="+mn-ea"/>
              </a:rPr>
              <a:t>。</a:t>
            </a:r>
            <a:endParaRPr lang="zh-CN" altLang="en-US" sz="2400" dirty="0">
              <a:latin typeface="+mn-ea"/>
            </a:endParaRPr>
          </a:p>
        </p:txBody>
      </p:sp>
      <p:sp>
        <p:nvSpPr>
          <p:cNvPr id="5" name="日期占位符 4"/>
          <p:cNvSpPr>
            <a:spLocks noGrp="1"/>
          </p:cNvSpPr>
          <p:nvPr>
            <p:ph type="dt" sz="half" idx="10"/>
          </p:nvPr>
        </p:nvSpPr>
        <p:spPr/>
        <p:txBody>
          <a:bodyPr/>
          <a:lstStyle/>
          <a:p>
            <a:fld id="{757B20F3-3C9D-4A51-ACA9-BF1CEAD9E9CB}"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pPr>
              <a:defRPr/>
            </a:pPr>
            <a:fld id="{8CA96F1A-D4E7-4564-B0F3-75EF57EDF29E}"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ea"/>
              </a:rPr>
              <a:t>预防性维护</a:t>
            </a:r>
            <a:r>
              <a:rPr lang="en-US" altLang="zh-CN" cap="none" dirty="0">
                <a:latin typeface="+mj-ea"/>
              </a:rPr>
              <a:t>Preventive Maintenance</a:t>
            </a:r>
            <a:endParaRPr lang="zh-CN" altLang="en-US" cap="none" dirty="0">
              <a:latin typeface="+mj-ea"/>
            </a:endParaRPr>
          </a:p>
        </p:txBody>
      </p:sp>
      <p:sp>
        <p:nvSpPr>
          <p:cNvPr id="3" name="内容占位符 2"/>
          <p:cNvSpPr>
            <a:spLocks noGrp="1"/>
          </p:cNvSpPr>
          <p:nvPr>
            <p:ph idx="1"/>
          </p:nvPr>
        </p:nvSpPr>
        <p:spPr>
          <a:xfrm>
            <a:off x="768097" y="1099595"/>
            <a:ext cx="7832833" cy="3113590"/>
          </a:xfrm>
        </p:spPr>
        <p:txBody>
          <a:bodyPr>
            <a:normAutofit/>
          </a:bodyPr>
          <a:lstStyle/>
          <a:p>
            <a:pPr marL="257175" indent="-257175">
              <a:lnSpc>
                <a:spcPct val="120000"/>
              </a:lnSpc>
              <a:spcBef>
                <a:spcPct val="20000"/>
              </a:spcBef>
              <a:buFontTx/>
              <a:buChar char="•"/>
            </a:pPr>
            <a:r>
              <a:rPr lang="zh-CN" altLang="en-US" sz="2400" dirty="0">
                <a:latin typeface="+mn-ea"/>
              </a:rPr>
              <a:t>预防性维护是为了提高软件的可维护性、可靠性等，为以后进一步改进软件打下良好基础。</a:t>
            </a:r>
            <a:endParaRPr lang="zh-CN" altLang="en-US" sz="2400" dirty="0">
              <a:latin typeface="+mn-ea"/>
            </a:endParaRPr>
          </a:p>
          <a:p>
            <a:pPr marL="257175" indent="-257175">
              <a:lnSpc>
                <a:spcPct val="120000"/>
              </a:lnSpc>
              <a:spcBef>
                <a:spcPct val="20000"/>
              </a:spcBef>
              <a:buFontTx/>
              <a:buChar char="•"/>
            </a:pPr>
            <a:r>
              <a:rPr lang="zh-CN" altLang="en-US" sz="2400" dirty="0">
                <a:latin typeface="+mn-ea"/>
              </a:rPr>
              <a:t>采用先进的软件工程方法对需要维护的软件或软件中的某一部分（重新）进行设计、编制和测试，称为</a:t>
            </a:r>
            <a:r>
              <a:rPr lang="zh-CN" altLang="en-US" sz="2400" dirty="0">
                <a:solidFill>
                  <a:srgbClr val="FF0000"/>
                </a:solidFill>
                <a:latin typeface="+mn-ea"/>
              </a:rPr>
              <a:t>预防性维护</a:t>
            </a:r>
            <a:r>
              <a:rPr lang="zh-CN" altLang="en-US" sz="2400" dirty="0">
                <a:latin typeface="+mn-ea"/>
              </a:rPr>
              <a:t>。</a:t>
            </a:r>
            <a:endParaRPr lang="zh-CN" altLang="en-US" sz="2400" dirty="0">
              <a:latin typeface="+mn-ea"/>
            </a:endParaRPr>
          </a:p>
        </p:txBody>
      </p:sp>
      <p:sp>
        <p:nvSpPr>
          <p:cNvPr id="4" name="日期占位符 3"/>
          <p:cNvSpPr>
            <a:spLocks noGrp="1"/>
          </p:cNvSpPr>
          <p:nvPr>
            <p:ph type="dt" sz="half" idx="10"/>
          </p:nvPr>
        </p:nvSpPr>
        <p:spPr/>
        <p:txBody>
          <a:bodyPr/>
          <a:lstStyle/>
          <a:p>
            <a:fld id="{E0EF3FBF-CAD5-4FB0-9698-66D9EE0BB6C2}"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5" name="灯片编号占位符 3"/>
          <p:cNvSpPr>
            <a:spLocks noGrp="1"/>
          </p:cNvSpPr>
          <p:nvPr>
            <p:ph type="sldNum" sz="quarter" idx="12"/>
          </p:nvPr>
        </p:nvSpPr>
        <p:spPr/>
        <p:txBody>
          <a:bodyPr/>
          <a:lstStyle/>
          <a:p>
            <a:pPr>
              <a:defRPr/>
            </a:pPr>
            <a:fld id="{C50DD4AB-A3EF-4C6D-9FF5-84934C8A4E53}" type="slidenum">
              <a:rPr lang="zh-CN" altLang="en-US"/>
            </a:fld>
            <a:endParaRPr lang="en-US" altLang="zh-CN"/>
          </a:p>
        </p:txBody>
      </p:sp>
      <p:pic>
        <p:nvPicPr>
          <p:cNvPr id="12293" name="Picture 5" descr="MCj02813280000[1]"/>
          <p:cNvPicPr>
            <a:picLocks noChangeAspect="1" noChangeArrowheads="1"/>
          </p:cNvPicPr>
          <p:nvPr/>
        </p:nvPicPr>
        <p:blipFill>
          <a:blip r:embed="rId1" cstate="print"/>
          <a:srcRect/>
          <a:stretch>
            <a:fillRect/>
          </a:stretch>
        </p:blipFill>
        <p:spPr bwMode="auto">
          <a:xfrm>
            <a:off x="6562328" y="3172845"/>
            <a:ext cx="1565672" cy="1387078"/>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a:xfrm>
            <a:off x="768097" y="925167"/>
            <a:ext cx="7832833" cy="1517091"/>
          </a:xfrm>
        </p:spPr>
        <p:txBody>
          <a:bodyPr>
            <a:normAutofit/>
          </a:bodyPr>
          <a:lstStyle/>
          <a:p>
            <a:r>
              <a:rPr lang="zh-CN" altLang="en-US" sz="2400" dirty="0"/>
              <a:t>软件维护成本是很昂贵的 </a:t>
            </a:r>
            <a:endParaRPr lang="en-US" altLang="zh-CN" sz="2400" dirty="0"/>
          </a:p>
          <a:p>
            <a:pPr lvl="1"/>
            <a:r>
              <a:rPr lang="zh-CN" altLang="en-US" sz="2000" dirty="0"/>
              <a:t>业务应用系统：维护费用与开发成本大体相同 </a:t>
            </a:r>
            <a:endParaRPr lang="en-US" altLang="zh-CN" sz="2000" dirty="0"/>
          </a:p>
          <a:p>
            <a:pPr lvl="1"/>
            <a:r>
              <a:rPr lang="zh-CN" altLang="en-US" sz="2000" dirty="0"/>
              <a:t>嵌入式实时系统：维护费用是开发成本的四倍以上 </a:t>
            </a:r>
            <a:endParaRPr lang="zh-CN" altLang="en-US" sz="2000" dirty="0"/>
          </a:p>
        </p:txBody>
      </p:sp>
      <p:sp>
        <p:nvSpPr>
          <p:cNvPr id="2" name="日期占位符 1"/>
          <p:cNvSpPr>
            <a:spLocks noGrp="1"/>
          </p:cNvSpPr>
          <p:nvPr>
            <p:ph type="dt" sz="half" idx="10"/>
          </p:nvPr>
        </p:nvSpPr>
        <p:spPr/>
        <p:txBody>
          <a:bodyPr/>
          <a:lstStyle/>
          <a:p>
            <a:fld id="{ECB2E9BE-C95A-4005-A21D-9521DD4B5139}"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25" name="灯片编号占位符 3"/>
          <p:cNvSpPr>
            <a:spLocks noGrp="1"/>
          </p:cNvSpPr>
          <p:nvPr>
            <p:ph type="sldNum" sz="quarter" idx="12"/>
          </p:nvPr>
        </p:nvSpPr>
        <p:spPr/>
        <p:txBody>
          <a:bodyPr/>
          <a:lstStyle/>
          <a:p>
            <a:pPr>
              <a:defRPr/>
            </a:pPr>
            <a:fld id="{1814FE43-3942-4D65-89C8-9386903C046B}" type="slidenum">
              <a:rPr lang="zh-CN" altLang="en-US">
                <a:latin typeface="+mn-ea"/>
              </a:rPr>
            </a:fld>
            <a:endParaRPr lang="en-US" altLang="zh-CN">
              <a:latin typeface="+mn-ea"/>
            </a:endParaRPr>
          </a:p>
        </p:txBody>
      </p:sp>
      <p:sp>
        <p:nvSpPr>
          <p:cNvPr id="13316" name="Rectangle 3"/>
          <p:cNvSpPr>
            <a:spLocks noChangeArrowheads="1"/>
          </p:cNvSpPr>
          <p:nvPr/>
        </p:nvSpPr>
        <p:spPr bwMode="auto">
          <a:xfrm>
            <a:off x="1158348" y="25512"/>
            <a:ext cx="4062650" cy="685800"/>
          </a:xfrm>
          <a:prstGeom prst="rect">
            <a:avLst/>
          </a:prstGeom>
          <a:noFill/>
          <a:ln w="12700">
            <a:noFill/>
            <a:miter lim="800000"/>
          </a:ln>
        </p:spPr>
        <p:txBody>
          <a:bodyPr lIns="67866" tIns="33338" rIns="67866" bIns="33338" anchor="ctr"/>
          <a:lstStyle/>
          <a:p>
            <a:pPr marL="257175" indent="-257175"/>
            <a:r>
              <a:rPr lang="zh-CN" altLang="en-US" sz="2800" b="1" cap="all" spc="75" dirty="0">
                <a:solidFill>
                  <a:schemeClr val="bg1"/>
                </a:solidFill>
                <a:latin typeface="+mn-ea"/>
                <a:ea typeface="+mj-ea"/>
                <a:cs typeface="+mj-cs"/>
              </a:rPr>
              <a:t>软件维护成本</a:t>
            </a:r>
            <a:endParaRPr lang="zh-CN" altLang="en-US" sz="2800" b="1" cap="all" spc="75" dirty="0">
              <a:solidFill>
                <a:schemeClr val="bg1"/>
              </a:solidFill>
              <a:latin typeface="+mn-ea"/>
              <a:ea typeface="+mj-ea"/>
              <a:cs typeface="+mj-cs"/>
            </a:endParaRPr>
          </a:p>
        </p:txBody>
      </p:sp>
      <p:pic>
        <p:nvPicPr>
          <p:cNvPr id="8" name="图片 7"/>
          <p:cNvPicPr>
            <a:picLocks noChangeAspect="1"/>
          </p:cNvPicPr>
          <p:nvPr/>
        </p:nvPicPr>
        <p:blipFill>
          <a:blip r:embed="rId1"/>
          <a:stretch>
            <a:fillRect/>
          </a:stretch>
        </p:blipFill>
        <p:spPr>
          <a:xfrm>
            <a:off x="768096" y="2442258"/>
            <a:ext cx="7600509" cy="198495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影响维护成本的因素 </a:t>
            </a:r>
            <a:endParaRPr lang="zh-CN" altLang="en-US" dirty="0"/>
          </a:p>
        </p:txBody>
      </p:sp>
      <p:sp>
        <p:nvSpPr>
          <p:cNvPr id="3" name="内容占位符 2"/>
          <p:cNvSpPr>
            <a:spLocks noGrp="1"/>
          </p:cNvSpPr>
          <p:nvPr>
            <p:ph idx="1"/>
          </p:nvPr>
        </p:nvSpPr>
        <p:spPr>
          <a:xfrm>
            <a:off x="768097" y="914399"/>
            <a:ext cx="7832833" cy="3677921"/>
          </a:xfrm>
        </p:spPr>
        <p:txBody>
          <a:bodyPr>
            <a:noAutofit/>
          </a:bodyPr>
          <a:lstStyle/>
          <a:p>
            <a:pPr marL="457200" indent="-457200">
              <a:spcBef>
                <a:spcPts val="600"/>
              </a:spcBef>
            </a:pPr>
            <a:r>
              <a:rPr lang="zh-CN" altLang="en-US" sz="2200" dirty="0">
                <a:solidFill>
                  <a:srgbClr val="0070C0"/>
                </a:solidFill>
              </a:rPr>
              <a:t>团队稳定性：</a:t>
            </a:r>
            <a:r>
              <a:rPr lang="zh-CN" altLang="en-US" sz="2200" dirty="0"/>
              <a:t>系统移交后开发团队会解散，人员分配到其他项目中，负责维护的人员通常不是原开发人员，需要花时间理解系统。</a:t>
            </a:r>
            <a:endParaRPr lang="en-US" altLang="zh-CN" sz="2200" dirty="0"/>
          </a:p>
          <a:p>
            <a:pPr marL="457200" indent="-457200">
              <a:spcBef>
                <a:spcPts val="600"/>
              </a:spcBef>
            </a:pPr>
            <a:r>
              <a:rPr lang="zh-CN" altLang="en-US" sz="2200" dirty="0">
                <a:solidFill>
                  <a:srgbClr val="0070C0"/>
                </a:solidFill>
              </a:rPr>
              <a:t>合同责任：</a:t>
            </a:r>
            <a:r>
              <a:rPr lang="zh-CN" altLang="en-US" sz="2200" dirty="0"/>
              <a:t>维护合同一般独立于开发合同，这样开发人员有可能缺少为方便维护而写软件的动力。 </a:t>
            </a:r>
            <a:endParaRPr lang="en-US" altLang="zh-CN" sz="2200" dirty="0"/>
          </a:p>
          <a:p>
            <a:pPr marL="457200" indent="-457200">
              <a:spcBef>
                <a:spcPts val="600"/>
              </a:spcBef>
            </a:pPr>
            <a:r>
              <a:rPr lang="zh-CN" altLang="en-US" sz="2200" dirty="0">
                <a:solidFill>
                  <a:srgbClr val="0070C0"/>
                </a:solidFill>
              </a:rPr>
              <a:t>人员技术水平：</a:t>
            </a:r>
            <a:r>
              <a:rPr lang="zh-CN" altLang="en-US" sz="2200" dirty="0"/>
              <a:t>维护人员有可能缺乏经验，而且不熟悉 应用领域。</a:t>
            </a:r>
            <a:endParaRPr lang="en-US" altLang="zh-CN" sz="2200" dirty="0"/>
          </a:p>
          <a:p>
            <a:pPr marL="457200" indent="-457200">
              <a:spcBef>
                <a:spcPts val="600"/>
              </a:spcBef>
            </a:pPr>
            <a:r>
              <a:rPr lang="zh-CN" altLang="en-US" sz="2200" dirty="0">
                <a:solidFill>
                  <a:srgbClr val="0070C0"/>
                </a:solidFill>
              </a:rPr>
              <a:t>程序年龄与结构：</a:t>
            </a:r>
            <a:r>
              <a:rPr lang="zh-CN" altLang="en-US" sz="2200" dirty="0"/>
              <a:t>程序结构随年龄增加而受到破坏，不易理解和变更。 </a:t>
            </a:r>
            <a:endParaRPr lang="zh-CN" altLang="en-US" sz="2200" dirty="0"/>
          </a:p>
        </p:txBody>
      </p:sp>
      <p:sp>
        <p:nvSpPr>
          <p:cNvPr id="4" name="日期占位符 3"/>
          <p:cNvSpPr>
            <a:spLocks noGrp="1"/>
          </p:cNvSpPr>
          <p:nvPr>
            <p:ph type="dt" sz="half" idx="10"/>
          </p:nvPr>
        </p:nvSpPr>
        <p:spPr/>
        <p:txBody>
          <a:bodyPr/>
          <a:lstStyle/>
          <a:p>
            <a:fld id="{0A417D11-9BD5-4B74-857F-8ED3044968A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normAutofit/>
          </a:bodyPr>
          <a:lstStyle/>
          <a:p>
            <a:r>
              <a:rPr lang="zh-CN" altLang="zh-CN" dirty="0">
                <a:latin typeface="+mj-ea"/>
              </a:rPr>
              <a:t>影响软件维护的因素</a:t>
            </a:r>
            <a:endParaRPr lang="zh-CN" altLang="en-US" dirty="0">
              <a:latin typeface="+mj-ea"/>
            </a:endParaRPr>
          </a:p>
        </p:txBody>
      </p:sp>
      <p:sp>
        <p:nvSpPr>
          <p:cNvPr id="3" name="内容占位符 2"/>
          <p:cNvSpPr>
            <a:spLocks noGrp="1"/>
          </p:cNvSpPr>
          <p:nvPr>
            <p:ph idx="1"/>
          </p:nvPr>
        </p:nvSpPr>
        <p:spPr>
          <a:xfrm>
            <a:off x="768097" y="867292"/>
            <a:ext cx="7832833" cy="3806854"/>
          </a:xfrm>
        </p:spPr>
        <p:txBody>
          <a:bodyPr>
            <a:normAutofit lnSpcReduction="10000"/>
          </a:bodyPr>
          <a:lstStyle/>
          <a:p>
            <a:pPr>
              <a:defRPr/>
            </a:pPr>
            <a:r>
              <a:rPr lang="zh-CN" altLang="en-US" sz="2400" dirty="0"/>
              <a:t>维护的费用和代价</a:t>
            </a:r>
            <a:endParaRPr lang="en-US" altLang="zh-CN" sz="2400" dirty="0"/>
          </a:p>
          <a:p>
            <a:pPr lvl="1">
              <a:defRPr/>
            </a:pPr>
            <a:r>
              <a:rPr lang="zh-CN" altLang="zh-CN" sz="2000" dirty="0"/>
              <a:t>维护费用仅仅是软件维护的明显代价</a:t>
            </a:r>
            <a:r>
              <a:rPr lang="zh-CN" altLang="en-US" sz="2000" dirty="0"/>
              <a:t>，</a:t>
            </a:r>
            <a:r>
              <a:rPr lang="zh-CN" altLang="zh-CN" sz="2000" dirty="0"/>
              <a:t>还有许多不明显的代价。</a:t>
            </a:r>
            <a:endParaRPr lang="en-US" altLang="zh-CN" sz="2800" dirty="0"/>
          </a:p>
          <a:p>
            <a:pPr>
              <a:defRPr/>
            </a:pPr>
            <a:r>
              <a:rPr lang="zh-CN" altLang="en-US" sz="2400" dirty="0"/>
              <a:t>维护的问题</a:t>
            </a:r>
            <a:endParaRPr lang="en-US" altLang="zh-CN" sz="2400" dirty="0"/>
          </a:p>
          <a:p>
            <a:pPr lvl="1">
              <a:defRPr/>
            </a:pPr>
            <a:r>
              <a:rPr lang="zh-CN" altLang="zh-CN" sz="2000" dirty="0"/>
              <a:t>理解别人写的程序通常非常困难</a:t>
            </a:r>
            <a:endParaRPr lang="en-US" altLang="zh-CN" sz="2000" dirty="0"/>
          </a:p>
          <a:p>
            <a:pPr lvl="1">
              <a:defRPr/>
            </a:pPr>
            <a:r>
              <a:rPr lang="zh-CN" altLang="zh-CN" sz="2000" dirty="0"/>
              <a:t>需要维护的软件往往没有合格的文档</a:t>
            </a:r>
            <a:endParaRPr lang="en-US" altLang="zh-CN" sz="2000" dirty="0"/>
          </a:p>
          <a:p>
            <a:pPr lvl="1">
              <a:defRPr/>
            </a:pPr>
            <a:r>
              <a:rPr lang="zh-CN" altLang="zh-CN" sz="2000" dirty="0"/>
              <a:t>当要求对软件进行维护时，不能指望由开发人员仔细说明软件</a:t>
            </a:r>
            <a:endParaRPr lang="en-US" altLang="zh-CN" sz="2000" dirty="0"/>
          </a:p>
          <a:p>
            <a:pPr lvl="1">
              <a:defRPr/>
            </a:pPr>
            <a:r>
              <a:rPr lang="zh-CN" altLang="zh-CN" sz="2000" dirty="0"/>
              <a:t>绝大多数软件在设计时没有考虑将来的修改</a:t>
            </a:r>
            <a:endParaRPr lang="en-US" altLang="zh-CN" sz="2000" dirty="0"/>
          </a:p>
          <a:p>
            <a:pPr lvl="1">
              <a:defRPr/>
            </a:pPr>
            <a:r>
              <a:rPr lang="zh-CN" altLang="zh-CN" sz="2000" dirty="0"/>
              <a:t>软件维护不是一项吸引人的工作</a:t>
            </a:r>
            <a:endParaRPr lang="zh-CN" altLang="en-US" sz="2000" dirty="0"/>
          </a:p>
        </p:txBody>
      </p:sp>
      <p:sp>
        <p:nvSpPr>
          <p:cNvPr id="4" name="日期占位符 3"/>
          <p:cNvSpPr>
            <a:spLocks noGrp="1"/>
          </p:cNvSpPr>
          <p:nvPr>
            <p:ph type="dt" sz="half" idx="10"/>
          </p:nvPr>
        </p:nvSpPr>
        <p:spPr/>
        <p:txBody>
          <a:bodyPr/>
          <a:lstStyle/>
          <a:p>
            <a:fld id="{0D06709C-DC92-4E21-A5DB-A099D8009770}"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软件维护比开发要困难</a:t>
            </a:r>
            <a:endParaRPr lang="zh-CN" altLang="en-US" dirty="0"/>
          </a:p>
        </p:txBody>
      </p:sp>
      <p:sp>
        <p:nvSpPr>
          <p:cNvPr id="2" name="内容占位符 1"/>
          <p:cNvSpPr>
            <a:spLocks noGrp="1"/>
          </p:cNvSpPr>
          <p:nvPr>
            <p:ph idx="1"/>
          </p:nvPr>
        </p:nvSpPr>
        <p:spPr>
          <a:xfrm>
            <a:off x="768096" y="814702"/>
            <a:ext cx="8090153" cy="3927861"/>
          </a:xfrm>
        </p:spPr>
        <p:txBody>
          <a:bodyPr>
            <a:normAutofit fontScale="62500" lnSpcReduction="20000"/>
          </a:bodyPr>
          <a:lstStyle/>
          <a:p>
            <a:pPr>
              <a:lnSpc>
                <a:spcPct val="120000"/>
              </a:lnSpc>
              <a:spcBef>
                <a:spcPts val="600"/>
              </a:spcBef>
            </a:pPr>
            <a:r>
              <a:rPr lang="zh-CN" altLang="en-US" sz="3200" dirty="0"/>
              <a:t>维护的副作用就是指由于维护或在维护过程中其他一些不期望的行为引入的错误。</a:t>
            </a:r>
            <a:endParaRPr lang="zh-CN" altLang="en-US" sz="3200" dirty="0"/>
          </a:p>
          <a:p>
            <a:pPr>
              <a:lnSpc>
                <a:spcPct val="120000"/>
              </a:lnSpc>
              <a:spcBef>
                <a:spcPts val="600"/>
              </a:spcBef>
            </a:pPr>
            <a:r>
              <a:rPr lang="zh-CN" altLang="en-US" sz="3200" dirty="0"/>
              <a:t>引起副作用的维护修改可分三类：代码副作用；数据副作用；文档副作用。</a:t>
            </a:r>
            <a:endParaRPr lang="zh-CN" altLang="en-US" sz="3200" dirty="0"/>
          </a:p>
          <a:p>
            <a:r>
              <a:rPr lang="zh-CN" altLang="en-US" sz="3200" dirty="0"/>
              <a:t>维护的困难：</a:t>
            </a:r>
            <a:endParaRPr lang="zh-CN" altLang="en-US" sz="3200" dirty="0"/>
          </a:p>
          <a:p>
            <a:pPr marL="257175" lvl="1" indent="0">
              <a:lnSpc>
                <a:spcPct val="120000"/>
              </a:lnSpc>
              <a:spcBef>
                <a:spcPts val="600"/>
              </a:spcBef>
              <a:buNone/>
            </a:pPr>
            <a:r>
              <a:rPr lang="en-US" altLang="zh-CN" sz="2900" dirty="0"/>
              <a:t>1</a:t>
            </a:r>
            <a:r>
              <a:rPr lang="zh-CN" altLang="en-US" sz="2900" dirty="0"/>
              <a:t>）现场维护人员的压力很大。 </a:t>
            </a:r>
            <a:endParaRPr lang="zh-CN" altLang="en-US" sz="2900" dirty="0"/>
          </a:p>
          <a:p>
            <a:pPr marL="257175" lvl="1" indent="0">
              <a:lnSpc>
                <a:spcPct val="120000"/>
              </a:lnSpc>
              <a:spcBef>
                <a:spcPts val="600"/>
              </a:spcBef>
              <a:buNone/>
            </a:pPr>
            <a:r>
              <a:rPr lang="en-US" altLang="zh-CN" sz="2900" dirty="0"/>
              <a:t>2</a:t>
            </a:r>
            <a:r>
              <a:rPr lang="zh-CN" altLang="en-US" sz="2900" dirty="0"/>
              <a:t>）维护人员不知所措，不知怎样进行修改。 </a:t>
            </a:r>
            <a:endParaRPr lang="zh-CN" altLang="en-US" sz="2900" dirty="0"/>
          </a:p>
          <a:p>
            <a:pPr marL="257175" lvl="1" indent="0">
              <a:lnSpc>
                <a:spcPct val="120000"/>
              </a:lnSpc>
              <a:spcBef>
                <a:spcPts val="600"/>
              </a:spcBef>
              <a:buNone/>
            </a:pPr>
            <a:r>
              <a:rPr lang="en-US" altLang="zh-CN" sz="2900" dirty="0"/>
              <a:t>3</a:t>
            </a:r>
            <a:r>
              <a:rPr lang="zh-CN" altLang="en-US" sz="2900" dirty="0"/>
              <a:t>）维护人员理解别人的程序非常困难。 </a:t>
            </a:r>
            <a:endParaRPr lang="zh-CN" altLang="en-US" sz="2900" dirty="0"/>
          </a:p>
          <a:p>
            <a:pPr marL="257175" lvl="1" indent="0">
              <a:lnSpc>
                <a:spcPct val="120000"/>
              </a:lnSpc>
              <a:spcBef>
                <a:spcPts val="600"/>
              </a:spcBef>
              <a:buNone/>
            </a:pPr>
            <a:r>
              <a:rPr lang="en-US" altLang="zh-CN" sz="2900" dirty="0"/>
              <a:t>4</a:t>
            </a:r>
            <a:r>
              <a:rPr lang="zh-CN" altLang="en-US" sz="2900" dirty="0"/>
              <a:t>）由于维护阶段持续时间很长，造成了维护的困难。 </a:t>
            </a:r>
            <a:endParaRPr lang="zh-CN" altLang="en-US" sz="2900" dirty="0"/>
          </a:p>
          <a:p>
            <a:pPr marL="257175" lvl="1" indent="0">
              <a:lnSpc>
                <a:spcPct val="120000"/>
              </a:lnSpc>
              <a:spcBef>
                <a:spcPts val="600"/>
              </a:spcBef>
              <a:buNone/>
            </a:pPr>
            <a:r>
              <a:rPr lang="en-US" altLang="zh-CN" sz="2900" dirty="0"/>
              <a:t>5</a:t>
            </a:r>
            <a:r>
              <a:rPr lang="zh-CN" altLang="en-US" sz="2900" dirty="0"/>
              <a:t>）维护人员更为困惑的是，有的软件的错误不是程序本身的问题，可能是分析和设计的缺陷。</a:t>
            </a:r>
            <a:endParaRPr lang="zh-CN" altLang="en-US" sz="2900" dirty="0"/>
          </a:p>
        </p:txBody>
      </p:sp>
      <p:sp>
        <p:nvSpPr>
          <p:cNvPr id="5" name="日期占位符 4"/>
          <p:cNvSpPr>
            <a:spLocks noGrp="1"/>
          </p:cNvSpPr>
          <p:nvPr>
            <p:ph type="dt" sz="half" idx="10"/>
          </p:nvPr>
        </p:nvSpPr>
        <p:spPr/>
        <p:txBody>
          <a:bodyPr/>
          <a:lstStyle/>
          <a:p>
            <a:fld id="{31F50FA1-E48E-4DBF-B15A-AC97B64B89E7}"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7" name="Picture 7" descr="MCj02391350000[1]"/>
          <p:cNvPicPr>
            <a:picLocks noChangeAspect="1" noChangeArrowheads="1"/>
          </p:cNvPicPr>
          <p:nvPr/>
        </p:nvPicPr>
        <p:blipFill>
          <a:blip r:embed="rId1" cstate="print"/>
          <a:srcRect/>
          <a:stretch>
            <a:fillRect/>
          </a:stretch>
        </p:blipFill>
        <p:spPr bwMode="auto">
          <a:xfrm>
            <a:off x="7184260" y="2146160"/>
            <a:ext cx="1673989" cy="1767757"/>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非结构化维护与结构化维护</a:t>
            </a:r>
            <a:endParaRPr lang="zh-CN" altLang="en-US" dirty="0"/>
          </a:p>
        </p:txBody>
      </p:sp>
      <p:sp>
        <p:nvSpPr>
          <p:cNvPr id="39" name="内容占位符 38"/>
          <p:cNvSpPr>
            <a:spLocks noGrp="1"/>
          </p:cNvSpPr>
          <p:nvPr>
            <p:ph idx="1"/>
          </p:nvPr>
        </p:nvSpPr>
        <p:spPr>
          <a:xfrm>
            <a:off x="768097" y="786266"/>
            <a:ext cx="7993938" cy="3927861"/>
          </a:xfrm>
        </p:spPr>
        <p:txBody>
          <a:bodyPr>
            <a:normAutofit fontScale="85000" lnSpcReduction="20000"/>
          </a:bodyPr>
          <a:lstStyle/>
          <a:p>
            <a:pPr>
              <a:lnSpc>
                <a:spcPct val="120000"/>
              </a:lnSpc>
              <a:spcBef>
                <a:spcPts val="600"/>
              </a:spcBef>
            </a:pPr>
            <a:r>
              <a:rPr lang="zh-CN" altLang="en-US" sz="2600" dirty="0"/>
              <a:t>非结构化维护：</a:t>
            </a:r>
            <a:endParaRPr lang="zh-CN" altLang="en-US" sz="2600" dirty="0"/>
          </a:p>
          <a:p>
            <a:pPr lvl="1">
              <a:lnSpc>
                <a:spcPct val="120000"/>
              </a:lnSpc>
              <a:spcBef>
                <a:spcPts val="600"/>
              </a:spcBef>
            </a:pPr>
            <a:r>
              <a:rPr lang="zh-CN" altLang="en-US" sz="1650" dirty="0"/>
              <a:t> </a:t>
            </a:r>
            <a:r>
              <a:rPr lang="zh-CN" altLang="en-US" sz="1900" dirty="0"/>
              <a:t>软件的配置中只有源代码。</a:t>
            </a:r>
            <a:endParaRPr lang="zh-CN" altLang="en-US" sz="1900" dirty="0"/>
          </a:p>
          <a:p>
            <a:pPr lvl="1">
              <a:lnSpc>
                <a:spcPct val="120000"/>
              </a:lnSpc>
              <a:spcBef>
                <a:spcPts val="600"/>
              </a:spcBef>
            </a:pPr>
            <a:r>
              <a:rPr lang="zh-CN" altLang="en-US" sz="1900" dirty="0"/>
              <a:t> 由于没有分析和设计文档，无法对程序的功能进行反向追踪，理解别人的代码是很痛苦的事情。</a:t>
            </a:r>
            <a:endParaRPr lang="zh-CN" altLang="en-US" sz="1900" dirty="0"/>
          </a:p>
          <a:p>
            <a:pPr lvl="1">
              <a:lnSpc>
                <a:spcPct val="120000"/>
              </a:lnSpc>
              <a:spcBef>
                <a:spcPts val="600"/>
              </a:spcBef>
            </a:pPr>
            <a:r>
              <a:rPr lang="zh-CN" altLang="en-US" sz="1900" dirty="0"/>
              <a:t>由于配置中没有测试文档，所以维护后的代码无法进行回归测试。因而导致程序的结构化被不断的破坏，维护的质量无法得到保证。</a:t>
            </a:r>
            <a:endParaRPr lang="zh-CN" altLang="en-US" sz="1900" dirty="0"/>
          </a:p>
          <a:p>
            <a:pPr>
              <a:lnSpc>
                <a:spcPct val="120000"/>
              </a:lnSpc>
              <a:spcBef>
                <a:spcPts val="600"/>
              </a:spcBef>
            </a:pPr>
            <a:r>
              <a:rPr lang="zh-CN" altLang="en-US" sz="2600" dirty="0"/>
              <a:t> 结构化维护：</a:t>
            </a:r>
            <a:endParaRPr lang="zh-CN" altLang="en-US" sz="2600" dirty="0"/>
          </a:p>
          <a:p>
            <a:pPr lvl="1">
              <a:lnSpc>
                <a:spcPct val="120000"/>
              </a:lnSpc>
              <a:spcBef>
                <a:spcPts val="600"/>
              </a:spcBef>
            </a:pPr>
            <a:r>
              <a:rPr lang="zh-CN" altLang="en-US" sz="2100" dirty="0"/>
              <a:t>待维护的软件的配置是完整的。</a:t>
            </a:r>
            <a:endParaRPr lang="zh-CN" altLang="en-US" sz="2100" dirty="0"/>
          </a:p>
          <a:p>
            <a:pPr lvl="1">
              <a:lnSpc>
                <a:spcPct val="120000"/>
              </a:lnSpc>
              <a:spcBef>
                <a:spcPts val="600"/>
              </a:spcBef>
            </a:pPr>
            <a:r>
              <a:rPr lang="zh-CN" altLang="en-US" sz="2100" dirty="0"/>
              <a:t>用户提出的维护申请用正向追踪很容易从分析设计文档追踪直至代码中，从而使维护人员很容易定位代码的维护点。所以这种维护不会破坏软件的结构。</a:t>
            </a:r>
            <a:endParaRPr lang="zh-CN" altLang="en-US" sz="2100" dirty="0"/>
          </a:p>
          <a:p>
            <a:pPr lvl="1">
              <a:lnSpc>
                <a:spcPct val="120000"/>
              </a:lnSpc>
              <a:spcBef>
                <a:spcPts val="600"/>
              </a:spcBef>
            </a:pPr>
            <a:r>
              <a:rPr lang="zh-CN" altLang="en-US" sz="2100" dirty="0"/>
              <a:t>结构化维护不仅能减少维护的工作量，还能提高维护的质量。</a:t>
            </a:r>
            <a:endParaRPr lang="zh-CN" altLang="en-US" sz="2100" dirty="0"/>
          </a:p>
        </p:txBody>
      </p:sp>
      <p:sp>
        <p:nvSpPr>
          <p:cNvPr id="2" name="日期占位符 1"/>
          <p:cNvSpPr>
            <a:spLocks noGrp="1"/>
          </p:cNvSpPr>
          <p:nvPr>
            <p:ph type="dt" sz="half" idx="10"/>
          </p:nvPr>
        </p:nvSpPr>
        <p:spPr/>
        <p:txBody>
          <a:bodyPr/>
          <a:lstStyle/>
          <a:p>
            <a:fld id="{C5992372-49B4-4106-94DB-5B72C5B54E36}"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xEl>
                                              <p:pRg st="4" end="4"/>
                                            </p:txEl>
                                          </p:spTgt>
                                        </p:tgtEl>
                                        <p:attrNameLst>
                                          <p:attrName>style.visibility</p:attrName>
                                        </p:attrNameLst>
                                      </p:cBhvr>
                                      <p:to>
                                        <p:strVal val="visible"/>
                                      </p:to>
                                    </p:set>
                                    <p:animEffect transition="in" filter="fade">
                                      <p:cBhvr>
                                        <p:cTn id="7" dur="500"/>
                                        <p:tgtEl>
                                          <p:spTgt spid="39">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9">
                                            <p:txEl>
                                              <p:pRg st="5" end="5"/>
                                            </p:txEl>
                                          </p:spTgt>
                                        </p:tgtEl>
                                        <p:attrNameLst>
                                          <p:attrName>style.visibility</p:attrName>
                                        </p:attrNameLst>
                                      </p:cBhvr>
                                      <p:to>
                                        <p:strVal val="visible"/>
                                      </p:to>
                                    </p:set>
                                    <p:animEffect transition="in" filter="fade">
                                      <p:cBhvr>
                                        <p:cTn id="10" dur="500"/>
                                        <p:tgtEl>
                                          <p:spTgt spid="39">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9">
                                            <p:txEl>
                                              <p:pRg st="6" end="6"/>
                                            </p:txEl>
                                          </p:spTgt>
                                        </p:tgtEl>
                                        <p:attrNameLst>
                                          <p:attrName>style.visibility</p:attrName>
                                        </p:attrNameLst>
                                      </p:cBhvr>
                                      <p:to>
                                        <p:strVal val="visible"/>
                                      </p:to>
                                    </p:set>
                                    <p:animEffect transition="in" filter="fade">
                                      <p:cBhvr>
                                        <p:cTn id="13" dur="500"/>
                                        <p:tgtEl>
                                          <p:spTgt spid="39">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9">
                                            <p:txEl>
                                              <p:pRg st="7" end="7"/>
                                            </p:txEl>
                                          </p:spTgt>
                                        </p:tgtEl>
                                        <p:attrNameLst>
                                          <p:attrName>style.visibility</p:attrName>
                                        </p:attrNameLst>
                                      </p:cBhvr>
                                      <p:to>
                                        <p:strVal val="visible"/>
                                      </p:to>
                                    </p:set>
                                    <p:animEffect transition="in" filter="fade">
                                      <p:cBhvr>
                                        <p:cTn id="16" dur="500"/>
                                        <p:tgtEl>
                                          <p:spTgt spid="3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标题 1"/>
          <p:cNvSpPr>
            <a:spLocks noGrp="1"/>
          </p:cNvSpPr>
          <p:nvPr>
            <p:ph type="title"/>
          </p:nvPr>
        </p:nvSpPr>
        <p:spPr/>
        <p:txBody>
          <a:bodyPr>
            <a:normAutofit/>
          </a:bodyPr>
          <a:lstStyle/>
          <a:p>
            <a:r>
              <a:rPr lang="zh-CN" altLang="zh-CN" dirty="0">
                <a:latin typeface="+mj-ea"/>
              </a:rPr>
              <a:t>软件维护过程</a:t>
            </a:r>
            <a:endParaRPr lang="zh-CN" altLang="en-US" dirty="0">
              <a:latin typeface="+mj-ea"/>
            </a:endParaRPr>
          </a:p>
        </p:txBody>
      </p:sp>
      <p:sp>
        <p:nvSpPr>
          <p:cNvPr id="3" name="内容占位符 2"/>
          <p:cNvSpPr>
            <a:spLocks noGrp="1"/>
          </p:cNvSpPr>
          <p:nvPr>
            <p:ph idx="1"/>
          </p:nvPr>
        </p:nvSpPr>
        <p:spPr>
          <a:xfrm>
            <a:off x="6472019" y="1058854"/>
            <a:ext cx="2386231" cy="2296681"/>
          </a:xfrm>
        </p:spPr>
        <p:txBody>
          <a:bodyPr>
            <a:noAutofit/>
          </a:bodyPr>
          <a:lstStyle/>
          <a:p>
            <a:pPr>
              <a:lnSpc>
                <a:spcPct val="100000"/>
              </a:lnSpc>
              <a:defRPr/>
            </a:pPr>
            <a:r>
              <a:rPr lang="zh-CN" altLang="en-US" sz="2000" dirty="0"/>
              <a:t>维护组织</a:t>
            </a:r>
            <a:endParaRPr lang="en-US" altLang="zh-CN" sz="2000" dirty="0"/>
          </a:p>
          <a:p>
            <a:pPr>
              <a:lnSpc>
                <a:spcPct val="100000"/>
              </a:lnSpc>
              <a:defRPr/>
            </a:pPr>
            <a:r>
              <a:rPr lang="zh-CN" altLang="en-US" sz="2000" dirty="0"/>
              <a:t>维护报告</a:t>
            </a:r>
            <a:endParaRPr lang="en-US" altLang="zh-CN" sz="2000" dirty="0"/>
          </a:p>
          <a:p>
            <a:pPr>
              <a:lnSpc>
                <a:spcPct val="100000"/>
              </a:lnSpc>
              <a:defRPr/>
            </a:pPr>
            <a:r>
              <a:rPr lang="zh-CN" altLang="en-US" sz="2000" dirty="0"/>
              <a:t>工作流程</a:t>
            </a:r>
            <a:endParaRPr lang="en-US" altLang="zh-CN" sz="2000" dirty="0"/>
          </a:p>
          <a:p>
            <a:pPr>
              <a:lnSpc>
                <a:spcPct val="100000"/>
              </a:lnSpc>
              <a:defRPr/>
            </a:pPr>
            <a:r>
              <a:rPr lang="zh-CN" altLang="en-US" sz="2000" dirty="0"/>
              <a:t>维护记录的保存</a:t>
            </a:r>
            <a:endParaRPr lang="en-US" altLang="zh-CN" sz="2000" dirty="0"/>
          </a:p>
          <a:p>
            <a:pPr>
              <a:lnSpc>
                <a:spcPct val="100000"/>
              </a:lnSpc>
              <a:defRPr/>
            </a:pPr>
            <a:r>
              <a:rPr lang="zh-CN" altLang="en-US" sz="2000" dirty="0"/>
              <a:t>对维护的评价</a:t>
            </a:r>
            <a:endParaRPr lang="zh-CN" altLang="en-US" sz="2000" dirty="0"/>
          </a:p>
        </p:txBody>
      </p:sp>
      <p:sp>
        <p:nvSpPr>
          <p:cNvPr id="3077" name="Rectangle 2"/>
          <p:cNvSpPr>
            <a:spLocks noChangeArrowheads="1"/>
          </p:cNvSpPr>
          <p:nvPr/>
        </p:nvSpPr>
        <p:spPr bwMode="auto">
          <a:xfrm>
            <a:off x="1143001"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sz="1350"/>
          </a:p>
        </p:txBody>
      </p:sp>
      <p:graphicFrame>
        <p:nvGraphicFramePr>
          <p:cNvPr id="3074" name="Object 1"/>
          <p:cNvGraphicFramePr>
            <a:graphicFrameLocks noChangeAspect="1"/>
          </p:cNvGraphicFramePr>
          <p:nvPr/>
        </p:nvGraphicFramePr>
        <p:xfrm>
          <a:off x="622141" y="2724092"/>
          <a:ext cx="7542527" cy="1898995"/>
        </p:xfrm>
        <a:graphic>
          <a:graphicData uri="http://schemas.openxmlformats.org/presentationml/2006/ole">
            <mc:AlternateContent xmlns:mc="http://schemas.openxmlformats.org/markup-compatibility/2006">
              <mc:Choice xmlns:v="urn:schemas-microsoft-com:vml" Requires="v">
                <p:oleObj spid="_x0000_s2" name="Visio" r:id="rId1" imgW="7933690" imgH="2007870" progId="Visio.Drawing.11">
                  <p:embed/>
                </p:oleObj>
              </mc:Choice>
              <mc:Fallback>
                <p:oleObj name="Visio" r:id="rId1" imgW="7933690" imgH="200787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141" y="2724092"/>
                        <a:ext cx="7542527" cy="1898995"/>
                      </a:xfrm>
                      <a:prstGeom prst="rect">
                        <a:avLst/>
                      </a:prstGeom>
                      <a:noFill/>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文本框 4"/>
          <p:cNvSpPr txBox="1"/>
          <p:nvPr/>
        </p:nvSpPr>
        <p:spPr>
          <a:xfrm>
            <a:off x="658607" y="1176338"/>
            <a:ext cx="5408269" cy="1200329"/>
          </a:xfrm>
          <a:prstGeom prst="rect">
            <a:avLst/>
          </a:prstGeom>
          <a:noFill/>
        </p:spPr>
        <p:txBody>
          <a:bodyPr wrap="square" rtlCol="0">
            <a:spAutoFit/>
          </a:bodyPr>
          <a:lstStyle/>
          <a:p>
            <a:pPr>
              <a:lnSpc>
                <a:spcPct val="120000"/>
              </a:lnSpc>
            </a:pPr>
            <a:r>
              <a:rPr lang="zh-CN" altLang="en-US" sz="2000" dirty="0">
                <a:latin typeface="+mj-ea"/>
                <a:ea typeface="+mj-ea"/>
              </a:rPr>
              <a:t>维护就是修改软件；另一个关键词是“过程”，过程暗喻不是单一的活动，是活动的集合和活动的有序组合，过程就需要管理。</a:t>
            </a:r>
            <a:endParaRPr lang="en-US" altLang="zh-CN" sz="2000" dirty="0">
              <a:latin typeface="+mj-ea"/>
              <a:ea typeface="+mj-ea"/>
            </a:endParaRPr>
          </a:p>
        </p:txBody>
      </p:sp>
      <p:sp>
        <p:nvSpPr>
          <p:cNvPr id="6" name="日期占位符 5"/>
          <p:cNvSpPr>
            <a:spLocks noGrp="1"/>
          </p:cNvSpPr>
          <p:nvPr>
            <p:ph type="dt" sz="half" idx="10"/>
          </p:nvPr>
        </p:nvSpPr>
        <p:spPr/>
        <p:txBody>
          <a:bodyPr/>
          <a:lstStyle/>
          <a:p>
            <a:fld id="{AC6C6AD1-91E7-4114-974D-6EB070D13F94}"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软件维护过程</a:t>
            </a:r>
            <a:endParaRPr lang="zh-CN" altLang="en-US" dirty="0"/>
          </a:p>
        </p:txBody>
      </p:sp>
      <p:sp>
        <p:nvSpPr>
          <p:cNvPr id="2" name="日期占位符 1"/>
          <p:cNvSpPr>
            <a:spLocks noGrp="1"/>
          </p:cNvSpPr>
          <p:nvPr>
            <p:ph type="dt" sz="half" idx="10"/>
          </p:nvPr>
        </p:nvSpPr>
        <p:spPr/>
        <p:txBody>
          <a:bodyPr/>
          <a:lstStyle/>
          <a:p>
            <a:fld id="{5541431C-00D1-4A6C-9486-495E1DB982A6}" type="datetime1">
              <a:rPr lang="zh-CN" altLang="en-US" smtClean="0"/>
            </a:fld>
            <a:endParaRPr lang="zh-CN" altLang="en-US" dirty="0"/>
          </a:p>
        </p:txBody>
      </p:sp>
      <p:sp>
        <p:nvSpPr>
          <p:cNvPr id="39" name="页脚占位符 38"/>
          <p:cNvSpPr>
            <a:spLocks noGrp="1"/>
          </p:cNvSpPr>
          <p:nvPr>
            <p:ph type="ftr" sz="quarter" idx="11"/>
          </p:nvPr>
        </p:nvSpPr>
        <p:spPr/>
        <p:txBody>
          <a:bodyPr/>
          <a:lstStyle/>
          <a:p>
            <a:r>
              <a:rPr lang="zh-CN" altLang="en-US"/>
              <a:t>软件工程</a:t>
            </a:r>
            <a:endParaRPr lang="zh-CN" altLang="en-US" dirty="0"/>
          </a:p>
        </p:txBody>
      </p:sp>
      <p:pic>
        <p:nvPicPr>
          <p:cNvPr id="40" name="图片 39"/>
          <p:cNvPicPr>
            <a:picLocks noChangeAspect="1"/>
          </p:cNvPicPr>
          <p:nvPr/>
        </p:nvPicPr>
        <p:blipFill>
          <a:blip r:embed="rId1"/>
          <a:stretch>
            <a:fillRect/>
          </a:stretch>
        </p:blipFill>
        <p:spPr>
          <a:xfrm>
            <a:off x="958596" y="1031817"/>
            <a:ext cx="7575804" cy="33049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软件的可维护性</a:t>
            </a:r>
            <a:endParaRPr lang="zh-CN" altLang="en-US"/>
          </a:p>
        </p:txBody>
      </p:sp>
      <p:sp>
        <p:nvSpPr>
          <p:cNvPr id="3" name="内容占位符 2"/>
          <p:cNvSpPr>
            <a:spLocks noGrp="1"/>
          </p:cNvSpPr>
          <p:nvPr>
            <p:ph idx="1"/>
          </p:nvPr>
        </p:nvSpPr>
        <p:spPr/>
        <p:txBody>
          <a:bodyPr/>
          <a:p>
            <a:r>
              <a:rPr lang="zh-CN" altLang="en-US" dirty="0">
                <a:latin typeface="Arial" panose="020B0604020202020204" pitchFamily="34" charset="0"/>
                <a:sym typeface="+mn-ea"/>
              </a:rPr>
              <a:t>可以把软件的</a:t>
            </a:r>
            <a:r>
              <a:rPr lang="zh-CN" altLang="en-US" dirty="0">
                <a:solidFill>
                  <a:srgbClr val="FF0000"/>
                </a:solidFill>
                <a:latin typeface="Arial" panose="020B0604020202020204" pitchFamily="34" charset="0"/>
                <a:sym typeface="+mn-ea"/>
              </a:rPr>
              <a:t>可维护性</a:t>
            </a:r>
            <a:r>
              <a:rPr lang="zh-CN" altLang="en-US" dirty="0">
                <a:latin typeface="Arial" panose="020B0604020202020204" pitchFamily="34" charset="0"/>
                <a:sym typeface="+mn-ea"/>
              </a:rPr>
              <a:t>定性地</a:t>
            </a:r>
            <a:r>
              <a:rPr lang="zh-CN" altLang="en-US" dirty="0">
                <a:solidFill>
                  <a:srgbClr val="FF0000"/>
                </a:solidFill>
                <a:latin typeface="Arial" panose="020B0604020202020204" pitchFamily="34" charset="0"/>
                <a:sym typeface="+mn-ea"/>
              </a:rPr>
              <a:t>定义</a:t>
            </a:r>
            <a:r>
              <a:rPr lang="zh-CN" altLang="en-US" dirty="0">
                <a:latin typeface="Arial" panose="020B0604020202020204" pitchFamily="34" charset="0"/>
                <a:sym typeface="+mn-ea"/>
              </a:rPr>
              <a:t>为： 维护人员理解、改正、改动或改进这个软件的难易程度。</a:t>
            </a:r>
            <a:endParaRPr lang="zh-CN" altLang="en-US" dirty="0">
              <a:latin typeface="Arial" panose="020B0604020202020204" pitchFamily="34" charset="0"/>
              <a:sym typeface="+mn-ea"/>
            </a:endParaRPr>
          </a:p>
          <a:p>
            <a:endParaRPr lang="zh-CN" altLang="en-US" dirty="0">
              <a:latin typeface="Arial" panose="020B0604020202020204" pitchFamily="34" charset="0"/>
              <a:sym typeface="+mn-ea"/>
            </a:endParaRPr>
          </a:p>
          <a:p>
            <a:r>
              <a:rPr lang="zh-CN" altLang="en-US" dirty="0">
                <a:latin typeface="Arial" panose="020B0604020202020204" pitchFamily="34" charset="0"/>
                <a:sym typeface="+mn-ea"/>
              </a:rPr>
              <a:t>提高可维护性是支配软件工程方法学所有步骤的关键目标！</a:t>
            </a:r>
            <a:endParaRPr lang="zh-CN" altLang="en-US" dirty="0">
              <a:latin typeface="Arial" panose="020B0604020202020204" pitchFamily="34" charset="0"/>
            </a:endParaRPr>
          </a:p>
          <a:p>
            <a:pPr eaLnBrk="1" hangingPunct="1">
              <a:buNone/>
            </a:pPr>
            <a:endParaRPr lang="zh-CN" altLang="en-US" dirty="0">
              <a:latin typeface="Arial" panose="020B0604020202020204" pitchFamily="34" charset="0"/>
            </a:endParaRPr>
          </a:p>
          <a:p>
            <a:endParaRPr lang="zh-CN" altLang="en-US"/>
          </a:p>
        </p:txBody>
      </p:sp>
      <p:sp>
        <p:nvSpPr>
          <p:cNvPr id="4" name="日期占位符 3"/>
          <p:cNvSpPr>
            <a:spLocks noGrp="1"/>
          </p:cNvSpPr>
          <p:nvPr>
            <p:ph type="dt" sz="half" idx="10"/>
          </p:nvPr>
        </p:nvSpPr>
        <p:spPr/>
        <p:txBody>
          <a:bodyPr/>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决定软件可维护性的因素</a:t>
            </a:r>
            <a:endParaRPr lang="zh-CN" altLang="en-US"/>
          </a:p>
        </p:txBody>
      </p:sp>
      <p:sp>
        <p:nvSpPr>
          <p:cNvPr id="3" name="内容占位符 2"/>
          <p:cNvSpPr>
            <a:spLocks noGrp="1"/>
          </p:cNvSpPr>
          <p:nvPr>
            <p:ph idx="1"/>
          </p:nvPr>
        </p:nvSpPr>
        <p:spPr/>
        <p:txBody>
          <a:bodyPr>
            <a:normAutofit fontScale="60000"/>
          </a:bodyPr>
          <a:p>
            <a:pPr marR="0" defTabSz="914400" eaLnBrk="1" hangingPunct="1">
              <a:buClrTx/>
              <a:buSzTx/>
              <a:buFontTx/>
              <a:buNone/>
              <a:defRPr/>
            </a:pPr>
            <a:r>
              <a:rPr lang="zh-CN" altLang="en-US" noProof="0" dirty="0">
                <a:latin typeface="Arial" panose="020B0604020202020204" pitchFamily="34" charset="0"/>
                <a:ea typeface="宋体" panose="02010600030101010101" pitchFamily="2" charset="-122"/>
                <a:sym typeface="+mn-ea"/>
              </a:rPr>
              <a:t>维护就是在软件交付使用后进行的修改，</a:t>
            </a:r>
            <a:r>
              <a:rPr lang="zh-CN" altLang="en-US" noProof="0" dirty="0">
                <a:solidFill>
                  <a:srgbClr val="FF0000"/>
                </a:solidFill>
                <a:latin typeface="Arial" panose="020B0604020202020204" pitchFamily="34" charset="0"/>
                <a:ea typeface="宋体" panose="02010600030101010101" pitchFamily="2" charset="-122"/>
                <a:sym typeface="+mn-ea"/>
              </a:rPr>
              <a:t>修改之前必须理解待修改的对象，修改之后应该进行必要的测试</a:t>
            </a:r>
            <a:r>
              <a:rPr lang="zh-CN" altLang="en-US" noProof="0" dirty="0">
                <a:latin typeface="Arial" panose="020B0604020202020204" pitchFamily="34" charset="0"/>
                <a:ea typeface="宋体" panose="02010600030101010101" pitchFamily="2" charset="-122"/>
                <a:sym typeface="+mn-ea"/>
              </a:rPr>
              <a:t>，以保证所做的修改是正确的。如果是改正性维护，还必须预先进行调试以确定错误的具体位置。因此，决定软件可维护性的因素主要有下述</a:t>
            </a:r>
            <a:r>
              <a:rPr lang="en-US" altLang="zh-CN" noProof="0" dirty="0">
                <a:latin typeface="Arial" panose="020B0604020202020204" pitchFamily="34" charset="0"/>
                <a:ea typeface="宋体" panose="02010600030101010101" pitchFamily="2" charset="-122"/>
                <a:sym typeface="+mn-ea"/>
              </a:rPr>
              <a:t>5</a:t>
            </a:r>
            <a:r>
              <a:rPr lang="zh-CN" altLang="en-US" noProof="0" dirty="0">
                <a:latin typeface="Arial" panose="020B0604020202020204" pitchFamily="34" charset="0"/>
                <a:ea typeface="宋体" panose="02010600030101010101" pitchFamily="2" charset="-122"/>
                <a:sym typeface="+mn-ea"/>
              </a:rPr>
              <a:t>个</a:t>
            </a:r>
            <a:r>
              <a:rPr lang="zh-CN" altLang="en-US" noProof="0" dirty="0" smtClean="0">
                <a:latin typeface="Arial" panose="020B0604020202020204" pitchFamily="34" charset="0"/>
                <a:ea typeface="宋体" panose="02010600030101010101" pitchFamily="2" charset="-122"/>
                <a:sym typeface="+mn-ea"/>
              </a:rPr>
              <a:t>。</a:t>
            </a:r>
            <a:endParaRPr kumimoji="0" lang="en-US" altLang="zh-CN" kern="1200" cap="none" spc="0" normalizeH="0" baseline="0" noProof="0" dirty="0" smtClean="0">
              <a:latin typeface="Arial" panose="020B0604020202020204" pitchFamily="34" charset="0"/>
              <a:ea typeface="宋体" panose="02010600030101010101" pitchFamily="2" charset="-122"/>
              <a:cs typeface="+mn-cs"/>
            </a:endParaRPr>
          </a:p>
          <a:p>
            <a:pPr marL="457200" marR="0" indent="-457200" defTabSz="914400" eaLnBrk="1" hangingPunct="1">
              <a:buClrTx/>
              <a:buSzTx/>
              <a:buFont typeface="+mj-lt"/>
              <a:buAutoNum type="arabicPeriod"/>
              <a:defRPr/>
            </a:pPr>
            <a:r>
              <a:rPr lang="zh-CN" altLang="en-US" noProof="0" dirty="0">
                <a:latin typeface="Arial" panose="020B0604020202020204" pitchFamily="34" charset="0"/>
                <a:ea typeface="宋体" panose="02010600030101010101" pitchFamily="2" charset="-122"/>
                <a:sym typeface="+mn-ea"/>
              </a:rPr>
              <a:t>可理解性</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L="457200" marR="0" indent="-457200" defTabSz="914400" eaLnBrk="1" hangingPunct="1">
              <a:buClrTx/>
              <a:buSzTx/>
              <a:buFont typeface="+mj-lt"/>
              <a:buAutoNum type="arabicPeriod"/>
              <a:defRPr/>
            </a:pPr>
            <a:r>
              <a:rPr lang="zh-CN" altLang="en-US" noProof="0" dirty="0">
                <a:latin typeface="Arial" panose="020B0604020202020204" pitchFamily="34" charset="0"/>
                <a:ea typeface="宋体" panose="02010600030101010101" pitchFamily="2" charset="-122"/>
                <a:sym typeface="+mn-ea"/>
              </a:rPr>
              <a:t>可测试性</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L="457200" marR="0" indent="-457200" defTabSz="914400" eaLnBrk="1" hangingPunct="1">
              <a:buClrTx/>
              <a:buSzTx/>
              <a:buFont typeface="+mj-lt"/>
              <a:buAutoNum type="arabicPeriod"/>
              <a:defRPr/>
            </a:pPr>
            <a:r>
              <a:rPr lang="zh-CN" altLang="en-US" noProof="0" dirty="0">
                <a:latin typeface="Arial" panose="020B0604020202020204" pitchFamily="34" charset="0"/>
                <a:ea typeface="宋体" panose="02010600030101010101" pitchFamily="2" charset="-122"/>
                <a:sym typeface="+mn-ea"/>
              </a:rPr>
              <a:t>可修改性</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L="457200" marR="0" indent="-457200" defTabSz="914400" eaLnBrk="1" hangingPunct="1">
              <a:buClrTx/>
              <a:buSzTx/>
              <a:buFont typeface="+mj-lt"/>
              <a:buAutoNum type="arabicPeriod"/>
              <a:defRPr/>
            </a:pPr>
            <a:r>
              <a:rPr lang="zh-CN" altLang="en-US" noProof="0" dirty="0">
                <a:latin typeface="Arial" panose="020B0604020202020204" pitchFamily="34" charset="0"/>
                <a:ea typeface="宋体" panose="02010600030101010101" pitchFamily="2" charset="-122"/>
                <a:sym typeface="+mn-ea"/>
              </a:rPr>
              <a:t>可移植性</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L="457200" marR="0" indent="-457200" defTabSz="914400" eaLnBrk="1" hangingPunct="1">
              <a:buClrTx/>
              <a:buSzTx/>
              <a:buFont typeface="+mj-lt"/>
              <a:buAutoNum type="arabicPeriod"/>
              <a:defRPr/>
            </a:pPr>
            <a:r>
              <a:rPr lang="zh-CN" altLang="en-US" noProof="0" dirty="0">
                <a:latin typeface="Arial" panose="020B0604020202020204" pitchFamily="34" charset="0"/>
                <a:ea typeface="宋体" panose="02010600030101010101" pitchFamily="2" charset="-122"/>
                <a:sym typeface="+mn-ea"/>
              </a:rPr>
              <a:t>可重用</a:t>
            </a:r>
            <a:r>
              <a:rPr lang="zh-CN" altLang="en-US" noProof="0" dirty="0" smtClean="0">
                <a:latin typeface="Arial" panose="020B0604020202020204" pitchFamily="34" charset="0"/>
                <a:ea typeface="宋体" panose="02010600030101010101" pitchFamily="2" charset="-122"/>
                <a:sym typeface="+mn-ea"/>
              </a:rPr>
              <a:t>性</a:t>
            </a:r>
            <a:endParaRPr lang="zh-CN" altLang="en-US"/>
          </a:p>
        </p:txBody>
      </p:sp>
      <p:sp>
        <p:nvSpPr>
          <p:cNvPr id="4" name="日期占位符 3"/>
          <p:cNvSpPr>
            <a:spLocks noGrp="1"/>
          </p:cNvSpPr>
          <p:nvPr>
            <p:ph type="dt" sz="half" idx="10"/>
          </p:nvPr>
        </p:nvSpPr>
        <p:spPr/>
        <p:txBody>
          <a:bodyPr/>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决定软件可维护性的因素</a:t>
            </a:r>
            <a:r>
              <a:rPr lang="en-US" altLang="zh-CN">
                <a:sym typeface="+mn-ea"/>
              </a:rPr>
              <a:t>——</a:t>
            </a:r>
            <a:r>
              <a:rPr lang="zh-CN" altLang="en-US">
                <a:sym typeface="+mn-ea"/>
              </a:rPr>
              <a:t>可理解性</a:t>
            </a:r>
            <a:endParaRPr lang="zh-CN" altLang="en-US">
              <a:sym typeface="+mn-ea"/>
            </a:endParaRPr>
          </a:p>
        </p:txBody>
      </p:sp>
      <p:sp>
        <p:nvSpPr>
          <p:cNvPr id="3" name="内容占位符 2"/>
          <p:cNvSpPr>
            <a:spLocks noGrp="1"/>
          </p:cNvSpPr>
          <p:nvPr>
            <p:ph idx="1"/>
          </p:nvPr>
        </p:nvSpPr>
        <p:spPr/>
        <p:txBody>
          <a:bodyPr/>
          <a:p>
            <a:pPr>
              <a:buFont typeface="Wingdings" panose="05000000000000000000" charset="0"/>
              <a:buChar char="Ø"/>
            </a:pPr>
            <a:r>
              <a:rPr lang="zh-CN" altLang="en-US">
                <a:solidFill>
                  <a:srgbClr val="FF0000"/>
                </a:solidFill>
              </a:rPr>
              <a:t>可理解性</a:t>
            </a:r>
            <a:endParaRPr lang="zh-CN" altLang="en-US"/>
          </a:p>
          <a:p>
            <a:r>
              <a:rPr lang="zh-CN" altLang="en-US"/>
              <a:t>软件可理解性表现为外来读者理解软件的结构、功能、接口和内部处理过程的难易程度。</a:t>
            </a:r>
            <a:endParaRPr lang="zh-CN" altLang="en-US"/>
          </a:p>
          <a:p>
            <a:r>
              <a:rPr lang="zh-CN" altLang="en-US"/>
              <a:t>       模块化（模块结构良好，高内聚，松耦合）、详细的设计文档、结构化设计、程序内部的文档和良好的高级程序设计语言等，都对提高软件的可理解性有重要贡献。</a:t>
            </a:r>
            <a:endParaRPr lang="zh-CN" altLang="en-US"/>
          </a:p>
        </p:txBody>
      </p:sp>
      <p:sp>
        <p:nvSpPr>
          <p:cNvPr id="4" name="日期占位符 3"/>
          <p:cNvSpPr>
            <a:spLocks noGrp="1"/>
          </p:cNvSpPr>
          <p:nvPr>
            <p:ph type="dt" sz="half" idx="10"/>
          </p:nvPr>
        </p:nvSpPr>
        <p:spPr/>
        <p:txBody>
          <a:bodyPr/>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决定软件可维护性的因素</a:t>
            </a:r>
            <a:r>
              <a:rPr lang="en-US" altLang="zh-CN">
                <a:sym typeface="+mn-ea"/>
              </a:rPr>
              <a:t>——</a:t>
            </a:r>
            <a:r>
              <a:rPr lang="zh-CN" altLang="en-US">
                <a:sym typeface="+mn-ea"/>
              </a:rPr>
              <a:t>可测试性</a:t>
            </a:r>
            <a:endParaRPr lang="zh-CN" altLang="en-US"/>
          </a:p>
        </p:txBody>
      </p:sp>
      <p:sp>
        <p:nvSpPr>
          <p:cNvPr id="3" name="内容占位符 2"/>
          <p:cNvSpPr>
            <a:spLocks noGrp="1"/>
          </p:cNvSpPr>
          <p:nvPr>
            <p:ph idx="1"/>
          </p:nvPr>
        </p:nvSpPr>
        <p:spPr/>
        <p:txBody>
          <a:bodyPr>
            <a:normAutofit fontScale="40000"/>
          </a:bodyPr>
          <a:p>
            <a:pPr marR="0" defTabSz="914400" eaLnBrk="1" hangingPunct="1">
              <a:buClrTx/>
              <a:buSzTx/>
              <a:buFont typeface="Wingdings" panose="05000000000000000000" charset="0"/>
              <a:buChar char="Ø"/>
              <a:defRPr/>
            </a:pPr>
            <a:r>
              <a:rPr lang="zh-CN" altLang="en-US" noProof="0" dirty="0">
                <a:solidFill>
                  <a:srgbClr val="FF0000"/>
                </a:solidFill>
                <a:latin typeface="Arial" panose="020B0604020202020204" pitchFamily="34" charset="0"/>
                <a:ea typeface="宋体" panose="02010600030101010101" pitchFamily="2" charset="-122"/>
                <a:sym typeface="+mn-ea"/>
              </a:rPr>
              <a:t>可测试性</a:t>
            </a:r>
            <a:endParaRPr lang="zh-CN" altLang="en-US" noProof="0" dirty="0">
              <a:solidFill>
                <a:srgbClr val="FF0000"/>
              </a:solidFill>
              <a:latin typeface="Arial" panose="020B0604020202020204" pitchFamily="34" charset="0"/>
              <a:ea typeface="宋体" panose="02010600030101010101" pitchFamily="2" charset="-122"/>
              <a:sym typeface="+mn-ea"/>
            </a:endParaRPr>
          </a:p>
          <a:p>
            <a:pPr marR="0" defTabSz="914400" eaLnBrk="1" hangingPunct="1">
              <a:buClrTx/>
              <a:buSzTx/>
              <a:buFontTx/>
              <a:buNone/>
              <a:defRPr/>
            </a:pPr>
            <a:r>
              <a:rPr lang="zh-CN" altLang="en-US" noProof="0" dirty="0">
                <a:latin typeface="Arial" panose="020B0604020202020204" pitchFamily="34" charset="0"/>
                <a:ea typeface="宋体" panose="02010600030101010101" pitchFamily="2" charset="-122"/>
                <a:sym typeface="+mn-ea"/>
              </a:rPr>
              <a:t>诊断和测试的容易程度取决于软件容易理解的程度</a:t>
            </a:r>
            <a:r>
              <a:rPr lang="zh-CN" altLang="en-US" noProof="0" dirty="0" smtClean="0">
                <a:latin typeface="Arial" panose="020B0604020202020204" pitchFamily="34" charset="0"/>
                <a:ea typeface="宋体" panose="02010600030101010101" pitchFamily="2" charset="-122"/>
                <a:sym typeface="+mn-ea"/>
              </a:rPr>
              <a:t>。</a:t>
            </a:r>
            <a:endParaRPr kumimoji="0" lang="en-US" altLang="zh-CN" kern="1200" cap="none" spc="0" normalizeH="0" baseline="0" noProof="0" dirty="0" smtClean="0">
              <a:latin typeface="Arial" panose="020B0604020202020204" pitchFamily="34" charset="0"/>
              <a:ea typeface="宋体" panose="02010600030101010101" pitchFamily="2" charset="-122"/>
              <a:cs typeface="+mn-cs"/>
            </a:endParaRPr>
          </a:p>
          <a:p>
            <a:pPr marL="342900" marR="0" indent="-342900" defTabSz="914400" eaLnBrk="1" hangingPunct="1">
              <a:buClrTx/>
              <a:buSzPct val="70000"/>
              <a:buFont typeface="Wingdings" panose="05000000000000000000" pitchFamily="2" charset="2"/>
              <a:buChar char="l"/>
              <a:defRPr/>
            </a:pPr>
            <a:r>
              <a:rPr lang="zh-CN" altLang="en-US" noProof="0" dirty="0" smtClean="0">
                <a:latin typeface="Arial" panose="020B0604020202020204" pitchFamily="34" charset="0"/>
                <a:ea typeface="宋体" panose="02010600030101010101" pitchFamily="2" charset="-122"/>
                <a:sym typeface="+mn-ea"/>
              </a:rPr>
              <a:t>良好</a:t>
            </a:r>
            <a:r>
              <a:rPr lang="zh-CN" altLang="en-US" noProof="0" dirty="0">
                <a:latin typeface="Arial" panose="020B0604020202020204" pitchFamily="34" charset="0"/>
                <a:ea typeface="宋体" panose="02010600030101010101" pitchFamily="2" charset="-122"/>
                <a:sym typeface="+mn-ea"/>
              </a:rPr>
              <a:t>的</a:t>
            </a:r>
            <a:r>
              <a:rPr lang="zh-CN" altLang="en-US" noProof="0" dirty="0" smtClean="0">
                <a:latin typeface="Arial" panose="020B0604020202020204" pitchFamily="34" charset="0"/>
                <a:ea typeface="宋体" panose="02010600030101010101" pitchFamily="2" charset="-122"/>
                <a:sym typeface="+mn-ea"/>
              </a:rPr>
              <a:t>文档</a:t>
            </a:r>
            <a:endParaRPr kumimoji="0" lang="en-US" altLang="zh-CN" kern="1200" cap="none" spc="0" normalizeH="0" baseline="0" noProof="0" dirty="0" smtClean="0">
              <a:latin typeface="Arial" panose="020B0604020202020204" pitchFamily="34" charset="0"/>
              <a:ea typeface="宋体" panose="02010600030101010101" pitchFamily="2" charset="-122"/>
              <a:cs typeface="+mn-cs"/>
            </a:endParaRPr>
          </a:p>
          <a:p>
            <a:pPr marL="342900" marR="0" indent="-342900" defTabSz="914400" eaLnBrk="1" hangingPunct="1">
              <a:buClrTx/>
              <a:buSzPct val="70000"/>
              <a:buFont typeface="Wingdings" panose="05000000000000000000" pitchFamily="2" charset="2"/>
              <a:buChar char="l"/>
              <a:defRPr/>
            </a:pPr>
            <a:r>
              <a:rPr lang="zh-CN" altLang="en-US" noProof="0" dirty="0" smtClean="0">
                <a:latin typeface="Arial" panose="020B0604020202020204" pitchFamily="34" charset="0"/>
                <a:ea typeface="宋体" panose="02010600030101010101" pitchFamily="2" charset="-122"/>
                <a:sym typeface="+mn-ea"/>
              </a:rPr>
              <a:t>软件结构</a:t>
            </a:r>
            <a:endParaRPr kumimoji="0" lang="en-US" altLang="zh-CN" kern="1200" cap="none" spc="0" normalizeH="0" baseline="0" noProof="0" dirty="0" smtClean="0">
              <a:latin typeface="Arial" panose="020B0604020202020204" pitchFamily="34" charset="0"/>
              <a:ea typeface="宋体" panose="02010600030101010101" pitchFamily="2" charset="-122"/>
              <a:cs typeface="+mn-cs"/>
            </a:endParaRPr>
          </a:p>
          <a:p>
            <a:pPr marL="342900" marR="0" indent="-342900" defTabSz="914400" eaLnBrk="1" hangingPunct="1">
              <a:buClrTx/>
              <a:buSzPct val="70000"/>
              <a:buFont typeface="Wingdings" panose="05000000000000000000" pitchFamily="2" charset="2"/>
              <a:buChar char="l"/>
              <a:defRPr/>
            </a:pPr>
            <a:r>
              <a:rPr lang="zh-CN" altLang="en-US" noProof="0" dirty="0" smtClean="0">
                <a:latin typeface="Arial" panose="020B0604020202020204" pitchFamily="34" charset="0"/>
                <a:ea typeface="宋体" panose="02010600030101010101" pitchFamily="2" charset="-122"/>
                <a:sym typeface="+mn-ea"/>
              </a:rPr>
              <a:t>可用</a:t>
            </a:r>
            <a:r>
              <a:rPr lang="zh-CN" altLang="en-US" noProof="0" dirty="0">
                <a:latin typeface="Arial" panose="020B0604020202020204" pitchFamily="34" charset="0"/>
                <a:ea typeface="宋体" panose="02010600030101010101" pitchFamily="2" charset="-122"/>
                <a:sym typeface="+mn-ea"/>
              </a:rPr>
              <a:t>的测试</a:t>
            </a:r>
            <a:r>
              <a:rPr lang="zh-CN" altLang="en-US" noProof="0" dirty="0" smtClean="0">
                <a:latin typeface="Arial" panose="020B0604020202020204" pitchFamily="34" charset="0"/>
                <a:ea typeface="宋体" panose="02010600030101010101" pitchFamily="2" charset="-122"/>
                <a:sym typeface="+mn-ea"/>
              </a:rPr>
              <a:t>工具</a:t>
            </a:r>
            <a:endParaRPr kumimoji="0" lang="en-US" altLang="zh-CN" kern="1200" cap="none" spc="0" normalizeH="0" baseline="0" noProof="0" dirty="0" smtClean="0">
              <a:latin typeface="Arial" panose="020B0604020202020204" pitchFamily="34" charset="0"/>
              <a:ea typeface="宋体" panose="02010600030101010101" pitchFamily="2" charset="-122"/>
              <a:cs typeface="+mn-cs"/>
            </a:endParaRPr>
          </a:p>
          <a:p>
            <a:pPr marL="342900" marR="0" indent="-342900" defTabSz="914400" eaLnBrk="1" hangingPunct="1">
              <a:buClrTx/>
              <a:buSzPct val="70000"/>
              <a:buFont typeface="Wingdings" panose="05000000000000000000" pitchFamily="2" charset="2"/>
              <a:buChar char="l"/>
              <a:defRPr/>
            </a:pPr>
            <a:r>
              <a:rPr lang="zh-CN" altLang="en-US" noProof="0" dirty="0" smtClean="0">
                <a:latin typeface="Arial" panose="020B0604020202020204" pitchFamily="34" charset="0"/>
                <a:ea typeface="宋体" panose="02010600030101010101" pitchFamily="2" charset="-122"/>
                <a:sym typeface="+mn-ea"/>
              </a:rPr>
              <a:t>调试</a:t>
            </a:r>
            <a:r>
              <a:rPr lang="zh-CN" altLang="en-US" noProof="0" dirty="0">
                <a:latin typeface="Arial" panose="020B0604020202020204" pitchFamily="34" charset="0"/>
                <a:ea typeface="宋体" panose="02010600030101010101" pitchFamily="2" charset="-122"/>
                <a:sym typeface="+mn-ea"/>
              </a:rPr>
              <a:t>工具</a:t>
            </a:r>
            <a:r>
              <a:rPr lang="zh-CN" altLang="en-US" noProof="0" dirty="0" smtClean="0">
                <a:latin typeface="Arial" panose="020B0604020202020204" pitchFamily="34" charset="0"/>
                <a:ea typeface="宋体" panose="02010600030101010101" pitchFamily="2" charset="-122"/>
                <a:sym typeface="+mn-ea"/>
              </a:rPr>
              <a:t>，</a:t>
            </a:r>
            <a:endParaRPr kumimoji="0" lang="en-US" altLang="zh-CN" kern="1200" cap="none" spc="0" normalizeH="0" baseline="0" noProof="0" dirty="0" smtClean="0">
              <a:latin typeface="Arial" panose="020B0604020202020204" pitchFamily="34" charset="0"/>
              <a:ea typeface="宋体" panose="02010600030101010101" pitchFamily="2" charset="-122"/>
              <a:cs typeface="+mn-cs"/>
            </a:endParaRPr>
          </a:p>
          <a:p>
            <a:pPr marL="342900" marR="0" indent="-342900" defTabSz="914400" eaLnBrk="1" hangingPunct="1">
              <a:buClrTx/>
              <a:buSzPct val="70000"/>
              <a:buFont typeface="Wingdings" panose="05000000000000000000" pitchFamily="2" charset="2"/>
              <a:buChar char="l"/>
              <a:defRPr/>
            </a:pPr>
            <a:r>
              <a:rPr lang="zh-CN" altLang="en-US" noProof="0" dirty="0" smtClean="0">
                <a:latin typeface="Arial" panose="020B0604020202020204" pitchFamily="34" charset="0"/>
                <a:ea typeface="宋体" panose="02010600030101010101" pitchFamily="2" charset="-122"/>
                <a:sym typeface="+mn-ea"/>
              </a:rPr>
              <a:t>以前</a:t>
            </a:r>
            <a:r>
              <a:rPr lang="zh-CN" altLang="en-US" noProof="0" dirty="0">
                <a:latin typeface="Arial" panose="020B0604020202020204" pitchFamily="34" charset="0"/>
                <a:ea typeface="宋体" panose="02010600030101010101" pitchFamily="2" charset="-122"/>
                <a:sym typeface="+mn-ea"/>
              </a:rPr>
              <a:t>设计的测试</a:t>
            </a:r>
            <a:r>
              <a:rPr lang="zh-CN" altLang="en-US" noProof="0" dirty="0" smtClean="0">
                <a:latin typeface="Arial" panose="020B0604020202020204" pitchFamily="34" charset="0"/>
                <a:ea typeface="宋体" panose="02010600030101010101" pitchFamily="2" charset="-122"/>
                <a:sym typeface="+mn-ea"/>
              </a:rPr>
              <a:t>过程</a:t>
            </a:r>
            <a:endParaRPr kumimoji="0" lang="en-US" altLang="zh-CN" kern="1200" cap="none" spc="0" normalizeH="0" baseline="0" noProof="0" dirty="0" smtClean="0">
              <a:latin typeface="Arial" panose="020B0604020202020204" pitchFamily="34" charset="0"/>
              <a:ea typeface="宋体" panose="02010600030101010101" pitchFamily="2" charset="-122"/>
              <a:cs typeface="+mn-cs"/>
            </a:endParaRPr>
          </a:p>
          <a:p>
            <a:pPr marL="342900" marR="0" indent="-342900" defTabSz="914400" eaLnBrk="1" hangingPunct="1">
              <a:buClrTx/>
              <a:buSzPct val="70000"/>
              <a:buFont typeface="Wingdings" panose="05000000000000000000" pitchFamily="2" charset="2"/>
              <a:buChar char="l"/>
              <a:defRPr/>
            </a:pPr>
            <a:r>
              <a:rPr lang="zh-CN" altLang="en-US" noProof="0" dirty="0" smtClean="0">
                <a:latin typeface="Arial" panose="020B0604020202020204" pitchFamily="34" charset="0"/>
                <a:ea typeface="宋体" panose="02010600030101010101" pitchFamily="2" charset="-122"/>
                <a:sym typeface="+mn-ea"/>
              </a:rPr>
              <a:t>开发</a:t>
            </a:r>
            <a:r>
              <a:rPr lang="zh-CN" altLang="en-US" noProof="0" dirty="0">
                <a:latin typeface="Arial" panose="020B0604020202020204" pitchFamily="34" charset="0"/>
                <a:ea typeface="宋体" panose="02010600030101010101" pitchFamily="2" charset="-122"/>
                <a:sym typeface="+mn-ea"/>
              </a:rPr>
              <a:t>阶段用过的测试方案，</a:t>
            </a:r>
            <a:r>
              <a:rPr lang="zh-CN" altLang="en-US" noProof="0" dirty="0" smtClean="0">
                <a:latin typeface="Arial" panose="020B0604020202020204" pitchFamily="34" charset="0"/>
                <a:ea typeface="宋体" panose="02010600030101010101" pitchFamily="2" charset="-122"/>
                <a:sym typeface="+mn-ea"/>
              </a:rPr>
              <a:t>以便维护人员进行</a:t>
            </a:r>
            <a:r>
              <a:rPr lang="zh-CN" altLang="en-US" noProof="0" dirty="0">
                <a:latin typeface="Arial" panose="020B0604020202020204" pitchFamily="34" charset="0"/>
                <a:ea typeface="宋体" panose="02010600030101010101" pitchFamily="2" charset="-122"/>
                <a:sym typeface="+mn-ea"/>
              </a:rPr>
              <a:t>回归测试</a:t>
            </a:r>
            <a:r>
              <a:rPr lang="zh-CN" altLang="en-US" noProof="0" dirty="0" smtClean="0">
                <a:latin typeface="Arial" panose="020B0604020202020204" pitchFamily="34" charset="0"/>
                <a:ea typeface="宋体" panose="02010600030101010101" pitchFamily="2" charset="-122"/>
                <a:sym typeface="+mn-ea"/>
              </a:rPr>
              <a:t>。</a:t>
            </a:r>
            <a:endParaRPr kumimoji="0" lang="en-US" altLang="zh-CN" kern="1200" cap="none" spc="0" normalizeH="0" baseline="0" noProof="0" dirty="0" smtClean="0">
              <a:latin typeface="Arial" panose="020B0604020202020204" pitchFamily="34" charset="0"/>
              <a:ea typeface="宋体" panose="02010600030101010101" pitchFamily="2" charset="-122"/>
              <a:cs typeface="+mn-cs"/>
            </a:endParaRPr>
          </a:p>
          <a:p>
            <a:pPr marL="342900" marR="0" indent="-342900" defTabSz="914400" eaLnBrk="1" hangingPunct="1">
              <a:buClrTx/>
              <a:buSzPct val="70000"/>
              <a:buFont typeface="Wingdings" panose="05000000000000000000" pitchFamily="2" charset="2"/>
              <a:buChar char="l"/>
              <a:defRPr/>
            </a:pPr>
            <a:r>
              <a:rPr lang="zh-CN" altLang="en-US" noProof="0" dirty="0" smtClean="0">
                <a:latin typeface="Arial" panose="020B0604020202020204" pitchFamily="34" charset="0"/>
                <a:ea typeface="宋体" panose="02010600030101010101" pitchFamily="2" charset="-122"/>
                <a:sym typeface="+mn-ea"/>
              </a:rPr>
              <a:t>在</a:t>
            </a:r>
            <a:r>
              <a:rPr lang="zh-CN" altLang="en-US" noProof="0" dirty="0">
                <a:latin typeface="Arial" panose="020B0604020202020204" pitchFamily="34" charset="0"/>
                <a:ea typeface="宋体" panose="02010600030101010101" pitchFamily="2" charset="-122"/>
                <a:sym typeface="+mn-ea"/>
              </a:rPr>
              <a:t>设计阶段应该尽力把软件设计成容易测试和容易诊断的。</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buClrTx/>
              <a:buSzTx/>
              <a:buFontTx/>
              <a:buNone/>
              <a:defRPr/>
            </a:pPr>
            <a:r>
              <a:rPr lang="zh-CN" altLang="en-US" noProof="0" dirty="0" smtClean="0">
                <a:latin typeface="Arial" panose="020B0604020202020204" pitchFamily="34" charset="0"/>
                <a:ea typeface="宋体" panose="02010600030101010101" pitchFamily="2" charset="-122"/>
                <a:sym typeface="+mn-ea"/>
              </a:rPr>
              <a:t>       对于</a:t>
            </a:r>
            <a:r>
              <a:rPr lang="zh-CN" altLang="en-US" noProof="0" dirty="0">
                <a:latin typeface="Arial" panose="020B0604020202020204" pitchFamily="34" charset="0"/>
                <a:ea typeface="宋体" panose="02010600030101010101" pitchFamily="2" charset="-122"/>
                <a:sym typeface="+mn-ea"/>
              </a:rPr>
              <a:t>程序模块来说，可以用程序复杂度来度量它的可测试性。模块的环形复杂度越大，可执行的路径就越多，因此，全面测试它的难度就越高</a:t>
            </a:r>
            <a:endParaRPr lang="zh-CN" altLang="en-US"/>
          </a:p>
        </p:txBody>
      </p:sp>
      <p:sp>
        <p:nvSpPr>
          <p:cNvPr id="4" name="日期占位符 3"/>
          <p:cNvSpPr>
            <a:spLocks noGrp="1"/>
          </p:cNvSpPr>
          <p:nvPr>
            <p:ph type="dt" sz="half" idx="10"/>
          </p:nvPr>
        </p:nvSpPr>
        <p:spPr/>
        <p:txBody>
          <a:bodyPr/>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决定软件可维护性的因素</a:t>
            </a:r>
            <a:r>
              <a:rPr lang="en-US" altLang="zh-CN">
                <a:sym typeface="+mn-ea"/>
              </a:rPr>
              <a:t>——</a:t>
            </a:r>
            <a:r>
              <a:rPr lang="zh-CN" altLang="en-US">
                <a:sym typeface="+mn-ea"/>
              </a:rPr>
              <a:t>可修改性</a:t>
            </a:r>
            <a:endParaRPr lang="zh-CN" altLang="en-US"/>
          </a:p>
        </p:txBody>
      </p:sp>
      <p:sp>
        <p:nvSpPr>
          <p:cNvPr id="3" name="内容占位符 2"/>
          <p:cNvSpPr>
            <a:spLocks noGrp="1"/>
          </p:cNvSpPr>
          <p:nvPr>
            <p:ph idx="1"/>
          </p:nvPr>
        </p:nvSpPr>
        <p:spPr/>
        <p:txBody>
          <a:bodyPr/>
          <a:p>
            <a:pPr marL="457200" indent="-457200">
              <a:buFont typeface="Wingdings" panose="05000000000000000000" charset="0"/>
              <a:buChar char="Ø"/>
            </a:pPr>
            <a:r>
              <a:rPr lang="zh-CN" altLang="en-US">
                <a:solidFill>
                  <a:srgbClr val="FF0000"/>
                </a:solidFill>
              </a:rPr>
              <a:t>可修改性</a:t>
            </a:r>
            <a:endParaRPr lang="zh-CN" altLang="en-US"/>
          </a:p>
          <a:p>
            <a:r>
              <a:rPr lang="zh-CN" altLang="en-US" dirty="0">
                <a:latin typeface="Arial" panose="020B0604020202020204" pitchFamily="34" charset="0"/>
                <a:sym typeface="+mn-ea"/>
              </a:rPr>
              <a:t>软件容易修改的程度和设计原理和启发规则直接有关。耦合、内聚、信息隐藏、局部化、控制域与作用域的关系等，都影响软件的可修改性。</a:t>
            </a:r>
            <a:endParaRPr lang="zh-CN" altLang="en-US"/>
          </a:p>
        </p:txBody>
      </p:sp>
      <p:sp>
        <p:nvSpPr>
          <p:cNvPr id="4" name="日期占位符 3"/>
          <p:cNvSpPr>
            <a:spLocks noGrp="1"/>
          </p:cNvSpPr>
          <p:nvPr>
            <p:ph type="dt" sz="half" idx="10"/>
          </p:nvPr>
        </p:nvSpPr>
        <p:spPr/>
        <p:txBody>
          <a:bodyPr/>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决定软件可维护性的因素</a:t>
            </a:r>
            <a:r>
              <a:rPr lang="en-US" altLang="zh-CN">
                <a:sym typeface="+mn-ea"/>
              </a:rPr>
              <a:t>——</a:t>
            </a:r>
            <a:r>
              <a:rPr lang="zh-CN" altLang="en-US">
                <a:sym typeface="+mn-ea"/>
              </a:rPr>
              <a:t>可移植性</a:t>
            </a:r>
            <a:endParaRPr lang="zh-CN" altLang="en-US">
              <a:sym typeface="+mn-ea"/>
            </a:endParaRPr>
          </a:p>
        </p:txBody>
      </p:sp>
      <p:sp>
        <p:nvSpPr>
          <p:cNvPr id="3" name="内容占位符 2"/>
          <p:cNvSpPr>
            <a:spLocks noGrp="1"/>
          </p:cNvSpPr>
          <p:nvPr>
            <p:ph idx="1"/>
          </p:nvPr>
        </p:nvSpPr>
        <p:spPr/>
        <p:txBody>
          <a:bodyPr/>
          <a:p>
            <a:pPr>
              <a:buFont typeface="Wingdings" panose="05000000000000000000" charset="0"/>
              <a:buChar char="Ø"/>
            </a:pPr>
            <a:r>
              <a:rPr lang="zh-CN" altLang="en-US">
                <a:solidFill>
                  <a:srgbClr val="FF0000"/>
                </a:solidFill>
              </a:rPr>
              <a:t>可移植性</a:t>
            </a:r>
            <a:endParaRPr lang="zh-CN" altLang="en-US">
              <a:solidFill>
                <a:srgbClr val="FF0000"/>
              </a:solidFill>
            </a:endParaRPr>
          </a:p>
          <a:p>
            <a:r>
              <a:rPr lang="zh-CN" altLang="en-US" dirty="0">
                <a:latin typeface="Arial" panose="020B0604020202020204" pitchFamily="34" charset="0"/>
                <a:sym typeface="+mn-ea"/>
              </a:rPr>
              <a:t>软件可移植性指的是，把程序从一种计算环境（硬件配置和操作系统）转移到另一种计算环境的难易程度。把与硬件、操作系统以及其他外部设备有关的程序代码集中放到特定的程序模块中，可以把因环境变化而必须修改的程序局限在少数程序模块中，从而降低修改的难度。</a:t>
            </a:r>
            <a:endParaRPr lang="zh-CN" altLang="en-US"/>
          </a:p>
        </p:txBody>
      </p:sp>
      <p:sp>
        <p:nvSpPr>
          <p:cNvPr id="4" name="日期占位符 3"/>
          <p:cNvSpPr>
            <a:spLocks noGrp="1"/>
          </p:cNvSpPr>
          <p:nvPr>
            <p:ph type="dt" sz="half" idx="10"/>
          </p:nvPr>
        </p:nvSpPr>
        <p:spPr/>
        <p:txBody>
          <a:bodyPr/>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决定软件可维护性的因素</a:t>
            </a:r>
            <a:r>
              <a:rPr lang="en-US" altLang="zh-CN">
                <a:sym typeface="+mn-ea"/>
              </a:rPr>
              <a:t>——</a:t>
            </a:r>
            <a:r>
              <a:rPr lang="zh-CN" altLang="en-US">
                <a:sym typeface="+mn-ea"/>
              </a:rPr>
              <a:t>可重用性</a:t>
            </a:r>
            <a:endParaRPr lang="zh-CN" altLang="en-US">
              <a:sym typeface="+mn-ea"/>
            </a:endParaRPr>
          </a:p>
        </p:txBody>
      </p:sp>
      <p:sp>
        <p:nvSpPr>
          <p:cNvPr id="3" name="内容占位符 2"/>
          <p:cNvSpPr>
            <a:spLocks noGrp="1"/>
          </p:cNvSpPr>
          <p:nvPr>
            <p:ph idx="1"/>
          </p:nvPr>
        </p:nvSpPr>
        <p:spPr/>
        <p:txBody>
          <a:bodyPr>
            <a:normAutofit fontScale="60000"/>
          </a:bodyPr>
          <a:p>
            <a:pPr eaLnBrk="1" hangingPunct="1">
              <a:buFont typeface="Wingdings" panose="05000000000000000000" charset="0"/>
              <a:buChar char="Ø"/>
            </a:pPr>
            <a:r>
              <a:rPr lang="zh-CN" altLang="en-US" dirty="0">
                <a:solidFill>
                  <a:srgbClr val="FF0000"/>
                </a:solidFill>
                <a:latin typeface="Arial" panose="020B0604020202020204" pitchFamily="34" charset="0"/>
                <a:sym typeface="+mn-ea"/>
              </a:rPr>
              <a:t>可重新用性 </a:t>
            </a:r>
            <a:endParaRPr lang="zh-CN" altLang="en-US" dirty="0">
              <a:solidFill>
                <a:srgbClr val="FF0000"/>
              </a:solidFill>
              <a:latin typeface="Arial" panose="020B0604020202020204" pitchFamily="34" charset="0"/>
              <a:sym typeface="+mn-ea"/>
            </a:endParaRPr>
          </a:p>
          <a:p>
            <a:pPr eaLnBrk="1" hangingPunct="1">
              <a:buNone/>
            </a:pPr>
            <a:r>
              <a:rPr lang="zh-CN" altLang="en-US" dirty="0">
                <a:latin typeface="Arial" panose="020B0604020202020204" pitchFamily="34" charset="0"/>
                <a:sym typeface="+mn-ea"/>
              </a:rPr>
              <a:t>所谓重用（</a:t>
            </a:r>
            <a:r>
              <a:rPr lang="en-US" altLang="zh-CN" dirty="0">
                <a:latin typeface="Arial" panose="020B0604020202020204" pitchFamily="34" charset="0"/>
                <a:sym typeface="+mn-ea"/>
              </a:rPr>
              <a:t>reuse</a:t>
            </a:r>
            <a:r>
              <a:rPr lang="zh-CN" altLang="en-US" dirty="0">
                <a:latin typeface="Arial" panose="020B0604020202020204" pitchFamily="34" charset="0"/>
                <a:sym typeface="+mn-ea"/>
              </a:rPr>
              <a:t>）是指同一事物不做修改或稍加改动就在</a:t>
            </a:r>
            <a:r>
              <a:rPr lang="zh-CN" altLang="en-US" dirty="0">
                <a:solidFill>
                  <a:srgbClr val="C00000"/>
                </a:solidFill>
                <a:latin typeface="Arial" panose="020B0604020202020204" pitchFamily="34" charset="0"/>
                <a:sym typeface="+mn-ea"/>
              </a:rPr>
              <a:t>不同环境中多次重复使用</a:t>
            </a:r>
            <a:r>
              <a:rPr lang="zh-CN" altLang="en-US" dirty="0">
                <a:latin typeface="Arial" panose="020B0604020202020204" pitchFamily="34" charset="0"/>
                <a:sym typeface="+mn-ea"/>
              </a:rPr>
              <a:t>。大量使用可重用的软件构件来开发软件，可以从下述两个方面提高软件的可维护性。</a:t>
            </a:r>
            <a:endParaRPr lang="zh-CN" altLang="en-US" dirty="0">
              <a:latin typeface="Arial" panose="020B0604020202020204" pitchFamily="34" charset="0"/>
            </a:endParaRPr>
          </a:p>
          <a:p>
            <a:pPr eaLnBrk="1" hangingPunct="1">
              <a:buNone/>
            </a:pPr>
            <a:r>
              <a:rPr lang="en-US" altLang="zh-CN" dirty="0">
                <a:latin typeface="Arial" panose="020B0604020202020204" pitchFamily="34" charset="0"/>
                <a:sym typeface="+mn-ea"/>
              </a:rPr>
              <a:t>(1) </a:t>
            </a:r>
            <a:r>
              <a:rPr lang="zh-CN" altLang="en-US" dirty="0">
                <a:latin typeface="Arial" panose="020B0604020202020204" pitchFamily="34" charset="0"/>
                <a:sym typeface="+mn-ea"/>
              </a:rPr>
              <a:t>通常，可重用的软件构件在开发时都经过很严格的测试，可靠性比较高，且在每次重用过程中都会发现并清除一些错误，随着时间推移，这样的构件将变成实质上无错误的。因此，软件中使用的可重用构件越多，软件的可靠性越高，改正性维护需求就越少。</a:t>
            </a:r>
            <a:endParaRPr lang="zh-CN" altLang="en-US" dirty="0">
              <a:latin typeface="Arial" panose="020B0604020202020204" pitchFamily="34" charset="0"/>
            </a:endParaRPr>
          </a:p>
          <a:p>
            <a:pPr eaLnBrk="1" hangingPunct="1">
              <a:buNone/>
            </a:pPr>
            <a:r>
              <a:rPr lang="en-US" altLang="zh-CN" dirty="0">
                <a:latin typeface="Arial" panose="020B0604020202020204" pitchFamily="34" charset="0"/>
                <a:sym typeface="+mn-ea"/>
              </a:rPr>
              <a:t>(2) </a:t>
            </a:r>
            <a:r>
              <a:rPr lang="zh-CN" altLang="en-US" dirty="0">
                <a:latin typeface="Arial" panose="020B0604020202020204" pitchFamily="34" charset="0"/>
                <a:sym typeface="+mn-ea"/>
              </a:rPr>
              <a:t>很容易修改可重用的软件构件使之再次应用在新环境中，因此，软件中使用的可重用构件越多，适应性和完善性维护也就越容易。</a:t>
            </a:r>
            <a:endParaRPr lang="zh-CN" altLang="en-US" dirty="0">
              <a:latin typeface="Arial" panose="020B0604020202020204" pitchFamily="34" charset="0"/>
            </a:endParaRPr>
          </a:p>
          <a:p>
            <a:endParaRPr lang="zh-CN" altLang="en-US"/>
          </a:p>
        </p:txBody>
      </p:sp>
      <p:sp>
        <p:nvSpPr>
          <p:cNvPr id="4" name="日期占位符 3"/>
          <p:cNvSpPr>
            <a:spLocks noGrp="1"/>
          </p:cNvSpPr>
          <p:nvPr>
            <p:ph type="dt" sz="half" idx="10"/>
          </p:nvPr>
        </p:nvSpPr>
        <p:spPr/>
        <p:txBody>
          <a:bodyPr/>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软件系统的文档</a:t>
            </a:r>
            <a:endParaRPr lang="zh-CN" altLang="en-US" dirty="0"/>
          </a:p>
        </p:txBody>
      </p:sp>
      <p:sp>
        <p:nvSpPr>
          <p:cNvPr id="60420" name="Rectangle 3"/>
          <p:cNvSpPr>
            <a:spLocks noGrp="1" noChangeArrowheads="1"/>
          </p:cNvSpPr>
          <p:nvPr>
            <p:ph idx="1"/>
          </p:nvPr>
        </p:nvSpPr>
        <p:spPr/>
        <p:txBody>
          <a:bodyPr>
            <a:normAutofit fontScale="77500" lnSpcReduction="20000"/>
          </a:bodyPr>
          <a:lstStyle/>
          <a:p>
            <a:pPr eaLnBrk="1" hangingPunct="1">
              <a:lnSpc>
                <a:spcPct val="115000"/>
              </a:lnSpc>
            </a:pPr>
            <a:r>
              <a:rPr lang="zh-CN" altLang="en-US" dirty="0">
                <a:latin typeface="+mn-ea"/>
              </a:rPr>
              <a:t>文档是影响软件可维护性的决定因素。往往文档比程序代码更重要。</a:t>
            </a:r>
            <a:endParaRPr lang="en-US" altLang="zh-CN" dirty="0">
              <a:latin typeface="+mn-ea"/>
            </a:endParaRPr>
          </a:p>
          <a:p>
            <a:pPr>
              <a:lnSpc>
                <a:spcPct val="130000"/>
              </a:lnSpc>
            </a:pPr>
            <a:r>
              <a:rPr lang="zh-CN" altLang="en-US" dirty="0">
                <a:latin typeface="+mn-ea"/>
              </a:rPr>
              <a:t>软件文档应该满足下述要求：</a:t>
            </a:r>
            <a:endParaRPr lang="zh-CN" altLang="en-US" dirty="0">
              <a:latin typeface="+mn-ea"/>
            </a:endParaRPr>
          </a:p>
          <a:p>
            <a:pPr>
              <a:lnSpc>
                <a:spcPct val="130000"/>
              </a:lnSpc>
              <a:buNone/>
            </a:pPr>
            <a:r>
              <a:rPr lang="en-US" altLang="zh-CN" dirty="0">
                <a:latin typeface="+mn-ea"/>
              </a:rPr>
              <a:t>   (1) </a:t>
            </a:r>
            <a:r>
              <a:rPr lang="zh-CN" altLang="en-US" dirty="0">
                <a:latin typeface="+mn-ea"/>
              </a:rPr>
              <a:t>必须描述如何使用这个系统，没有这种描述时即使是最简单的系统也无法使用；</a:t>
            </a:r>
            <a:endParaRPr lang="zh-CN" altLang="en-US" dirty="0">
              <a:latin typeface="+mn-ea"/>
            </a:endParaRPr>
          </a:p>
          <a:p>
            <a:pPr>
              <a:lnSpc>
                <a:spcPct val="130000"/>
              </a:lnSpc>
              <a:buNone/>
            </a:pPr>
            <a:r>
              <a:rPr lang="en-US" altLang="zh-CN" dirty="0">
                <a:latin typeface="+mn-ea"/>
              </a:rPr>
              <a:t>   (2) </a:t>
            </a:r>
            <a:r>
              <a:rPr lang="zh-CN" altLang="en-US" dirty="0">
                <a:latin typeface="+mn-ea"/>
              </a:rPr>
              <a:t>必须描述怎样安装和管理这个系统；</a:t>
            </a:r>
            <a:endParaRPr lang="zh-CN" altLang="en-US" dirty="0">
              <a:latin typeface="+mn-ea"/>
            </a:endParaRPr>
          </a:p>
          <a:p>
            <a:pPr>
              <a:lnSpc>
                <a:spcPct val="130000"/>
              </a:lnSpc>
              <a:buNone/>
            </a:pPr>
            <a:r>
              <a:rPr lang="en-US" altLang="zh-CN" dirty="0">
                <a:latin typeface="+mn-ea"/>
              </a:rPr>
              <a:t>   (3) </a:t>
            </a:r>
            <a:r>
              <a:rPr lang="zh-CN" altLang="en-US" dirty="0">
                <a:latin typeface="+mn-ea"/>
              </a:rPr>
              <a:t>必须描述系统需求和设计；</a:t>
            </a:r>
            <a:endParaRPr lang="zh-CN" altLang="en-US" dirty="0">
              <a:latin typeface="+mn-ea"/>
            </a:endParaRPr>
          </a:p>
          <a:p>
            <a:pPr>
              <a:lnSpc>
                <a:spcPct val="130000"/>
              </a:lnSpc>
              <a:buNone/>
            </a:pPr>
            <a:r>
              <a:rPr lang="en-US" altLang="zh-CN" dirty="0">
                <a:latin typeface="+mn-ea"/>
              </a:rPr>
              <a:t>   (4) </a:t>
            </a:r>
            <a:r>
              <a:rPr lang="zh-CN" altLang="en-US" dirty="0">
                <a:latin typeface="+mn-ea"/>
              </a:rPr>
              <a:t>必须描述系统的实现和测试，以便使系统成为可维护的。</a:t>
            </a:r>
            <a:endParaRPr lang="zh-CN" altLang="en-US" dirty="0">
              <a:latin typeface="+mn-ea"/>
            </a:endParaRPr>
          </a:p>
        </p:txBody>
      </p:sp>
      <p:sp>
        <p:nvSpPr>
          <p:cNvPr id="3" name="日期占位符 2"/>
          <p:cNvSpPr>
            <a:spLocks noGrp="1"/>
          </p:cNvSpPr>
          <p:nvPr>
            <p:ph type="dt" sz="half" idx="10"/>
          </p:nvPr>
        </p:nvSpPr>
        <p:spPr/>
        <p:txBody>
          <a:bodyPr/>
          <a:lstStyle/>
          <a:p>
            <a:fld id="{0CF30DD8-19D7-4B54-8E82-97DD2C5E285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4" name="灯片编号占位符 5"/>
          <p:cNvSpPr>
            <a:spLocks noGrp="1"/>
          </p:cNvSpPr>
          <p:nvPr>
            <p:ph type="sldNum" sz="quarter" idx="12"/>
          </p:nvPr>
        </p:nvSpPr>
        <p:spPr/>
        <p:txBody>
          <a:bodyPr/>
          <a:lstStyle/>
          <a:p>
            <a:pPr>
              <a:defRPr/>
            </a:pPr>
            <a:fld id="{AD299F46-6BB3-41FA-BF6D-01099D664221}"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noChangeArrowheads="1"/>
          </p:cNvSpPr>
          <p:nvPr>
            <p:ph idx="1"/>
          </p:nvPr>
        </p:nvSpPr>
        <p:spPr>
          <a:xfrm>
            <a:off x="768097" y="1064871"/>
            <a:ext cx="7832833" cy="3667150"/>
          </a:xfrm>
        </p:spPr>
        <p:txBody>
          <a:bodyPr>
            <a:normAutofit/>
          </a:bodyPr>
          <a:lstStyle/>
          <a:p>
            <a:pPr>
              <a:lnSpc>
                <a:spcPct val="115000"/>
              </a:lnSpc>
            </a:pPr>
            <a:r>
              <a:rPr lang="zh-CN" altLang="en-US" sz="2400" dirty="0">
                <a:latin typeface="+mn-ea"/>
              </a:rPr>
              <a:t>软件系统的文档可以分为用户文档和系统文档两类。</a:t>
            </a:r>
            <a:endParaRPr lang="en-US" altLang="zh-CN" sz="2400" dirty="0">
              <a:latin typeface="+mn-ea"/>
            </a:endParaRPr>
          </a:p>
          <a:p>
            <a:pPr marL="342900" indent="-342900">
              <a:lnSpc>
                <a:spcPct val="115000"/>
              </a:lnSpc>
              <a:buFont typeface="+mj-lt"/>
              <a:buAutoNum type="arabicPeriod"/>
            </a:pPr>
            <a:r>
              <a:rPr lang="zh-CN" altLang="en-US" sz="2400" b="1" dirty="0">
                <a:solidFill>
                  <a:srgbClr val="FF0000"/>
                </a:solidFill>
                <a:latin typeface="+mn-ea"/>
              </a:rPr>
              <a:t>用户文档</a:t>
            </a:r>
            <a:r>
              <a:rPr lang="zh-CN" altLang="en-US" sz="2400" dirty="0">
                <a:latin typeface="+mn-ea"/>
              </a:rPr>
              <a:t>主要描述系统功能和使用方法，并不关心这些功能是怎样实现的。</a:t>
            </a:r>
            <a:endParaRPr lang="en-US" altLang="zh-CN" sz="2400" dirty="0">
              <a:latin typeface="+mn-ea"/>
            </a:endParaRPr>
          </a:p>
          <a:p>
            <a:pPr marL="342900" indent="-342900">
              <a:lnSpc>
                <a:spcPct val="115000"/>
              </a:lnSpc>
              <a:buFont typeface="+mj-lt"/>
              <a:buAutoNum type="arabicPeriod"/>
            </a:pPr>
            <a:r>
              <a:rPr lang="zh-CN" altLang="en-US" sz="2400" b="1" dirty="0">
                <a:solidFill>
                  <a:srgbClr val="FF0000"/>
                </a:solidFill>
                <a:latin typeface="+mn-ea"/>
              </a:rPr>
              <a:t>系统文档</a:t>
            </a:r>
            <a:r>
              <a:rPr lang="zh-CN" altLang="en-US" sz="2400" dirty="0">
                <a:latin typeface="+mn-ea"/>
              </a:rPr>
              <a:t>描述系统设计、实现和测试等各方面的内容。</a:t>
            </a:r>
            <a:endParaRPr lang="zh-CN" altLang="en-US" sz="2400" dirty="0">
              <a:latin typeface="+mn-ea"/>
            </a:endParaRPr>
          </a:p>
        </p:txBody>
      </p:sp>
      <p:sp>
        <p:nvSpPr>
          <p:cNvPr id="4" name="灯片编号占位符 5"/>
          <p:cNvSpPr>
            <a:spLocks noGrp="1"/>
          </p:cNvSpPr>
          <p:nvPr>
            <p:ph type="sldNum" sz="quarter" idx="12"/>
          </p:nvPr>
        </p:nvSpPr>
        <p:spPr/>
        <p:txBody>
          <a:bodyPr/>
          <a:lstStyle/>
          <a:p>
            <a:pPr>
              <a:defRPr/>
            </a:pPr>
            <a:fld id="{6F3F8B35-E190-4505-9818-8190845F5256}" type="slidenum">
              <a:rPr lang="zh-CN" altLang="en-US"/>
            </a:fld>
            <a:endParaRPr lang="en-US" altLang="zh-CN"/>
          </a:p>
        </p:txBody>
      </p:sp>
      <p:sp>
        <p:nvSpPr>
          <p:cNvPr id="2" name="标题 1"/>
          <p:cNvSpPr>
            <a:spLocks noGrp="1"/>
          </p:cNvSpPr>
          <p:nvPr>
            <p:ph type="title"/>
          </p:nvPr>
        </p:nvSpPr>
        <p:spPr/>
        <p:txBody>
          <a:bodyPr/>
          <a:lstStyle/>
          <a:p>
            <a:r>
              <a:rPr lang="zh-CN" altLang="en-US" dirty="0"/>
              <a:t>软件系统的文档类型</a:t>
            </a:r>
            <a:endParaRPr lang="zh-CN" altLang="en-US" dirty="0"/>
          </a:p>
        </p:txBody>
      </p:sp>
      <p:sp>
        <p:nvSpPr>
          <p:cNvPr id="3" name="日期占位符 2"/>
          <p:cNvSpPr>
            <a:spLocks noGrp="1"/>
          </p:cNvSpPr>
          <p:nvPr>
            <p:ph type="dt" sz="half" idx="10"/>
          </p:nvPr>
        </p:nvSpPr>
        <p:spPr/>
        <p:txBody>
          <a:bodyPr/>
          <a:lstStyle/>
          <a:p>
            <a:fld id="{A466586A-8EB2-49F6-99DE-E374F060978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pic>
        <p:nvPicPr>
          <p:cNvPr id="7" name="Picture 4" descr="MCj02403510000[1]"/>
          <p:cNvPicPr>
            <a:picLocks noChangeAspect="1" noChangeArrowheads="1"/>
          </p:cNvPicPr>
          <p:nvPr/>
        </p:nvPicPr>
        <p:blipFill>
          <a:blip r:embed="rId1" cstate="print"/>
          <a:srcRect/>
          <a:stretch>
            <a:fillRect/>
          </a:stretch>
        </p:blipFill>
        <p:spPr bwMode="auto">
          <a:xfrm>
            <a:off x="6819106" y="3484280"/>
            <a:ext cx="1674019" cy="937022"/>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用户文档</a:t>
            </a:r>
            <a:endParaRPr lang="zh-CN" altLang="en-US" dirty="0"/>
          </a:p>
        </p:txBody>
      </p:sp>
      <p:sp>
        <p:nvSpPr>
          <p:cNvPr id="3" name="文本占位符 2"/>
          <p:cNvSpPr>
            <a:spLocks noGrp="1"/>
          </p:cNvSpPr>
          <p:nvPr>
            <p:ph idx="1"/>
          </p:nvPr>
        </p:nvSpPr>
        <p:spPr>
          <a:xfrm>
            <a:off x="768097" y="902824"/>
            <a:ext cx="7924490" cy="3771322"/>
          </a:xfrm>
        </p:spPr>
        <p:txBody>
          <a:bodyPr>
            <a:noAutofit/>
          </a:bodyPr>
          <a:lstStyle/>
          <a:p>
            <a:pPr>
              <a:lnSpc>
                <a:spcPct val="100000"/>
              </a:lnSpc>
              <a:spcBef>
                <a:spcPts val="600"/>
              </a:spcBef>
            </a:pPr>
            <a:r>
              <a:rPr lang="zh-CN" altLang="en-US" sz="2000" dirty="0">
                <a:latin typeface="+mn-ea"/>
              </a:rPr>
              <a:t>用户文档是用户了解系统的第一步，它应该能使用户获得对系统的准确的初步印象。文档的结构方式应该使用户能够方便地根据需要阅读有关的内容。</a:t>
            </a:r>
            <a:endParaRPr lang="zh-CN" altLang="en-US" sz="2000" dirty="0">
              <a:latin typeface="+mn-ea"/>
            </a:endParaRPr>
          </a:p>
          <a:p>
            <a:pPr>
              <a:lnSpc>
                <a:spcPct val="100000"/>
              </a:lnSpc>
              <a:spcBef>
                <a:spcPts val="600"/>
              </a:spcBef>
            </a:pPr>
            <a:r>
              <a:rPr lang="zh-CN" altLang="en-US" sz="2000" dirty="0">
                <a:latin typeface="+mn-ea"/>
              </a:rPr>
              <a:t>用户文档至少应该包括下述</a:t>
            </a:r>
            <a:r>
              <a:rPr lang="en-US" altLang="zh-CN" sz="2000" dirty="0">
                <a:latin typeface="+mn-ea"/>
              </a:rPr>
              <a:t>5</a:t>
            </a:r>
            <a:r>
              <a:rPr lang="zh-CN" altLang="en-US" sz="2000" dirty="0">
                <a:latin typeface="+mn-ea"/>
              </a:rPr>
              <a:t>方面的内容：</a:t>
            </a:r>
            <a:endParaRPr lang="zh-CN" altLang="en-US" sz="2000" dirty="0">
              <a:latin typeface="+mn-ea"/>
            </a:endParaRPr>
          </a:p>
          <a:p>
            <a:pPr>
              <a:lnSpc>
                <a:spcPct val="100000"/>
              </a:lnSpc>
              <a:spcBef>
                <a:spcPts val="600"/>
              </a:spcBef>
              <a:buNone/>
            </a:pPr>
            <a:r>
              <a:rPr lang="en-US" altLang="zh-CN" sz="2000" dirty="0">
                <a:latin typeface="+mn-ea"/>
              </a:rPr>
              <a:t>       (1) </a:t>
            </a:r>
            <a:r>
              <a:rPr lang="zh-CN" altLang="en-US" sz="2000" dirty="0">
                <a:latin typeface="+mn-ea"/>
              </a:rPr>
              <a:t>功能描述；     </a:t>
            </a:r>
            <a:r>
              <a:rPr lang="en-US" altLang="zh-CN" sz="2000" dirty="0">
                <a:latin typeface="+mn-ea"/>
              </a:rPr>
              <a:t>(2) </a:t>
            </a:r>
            <a:r>
              <a:rPr lang="zh-CN" altLang="en-US" sz="2000" dirty="0">
                <a:latin typeface="+mn-ea"/>
              </a:rPr>
              <a:t>安装文档；</a:t>
            </a:r>
            <a:endParaRPr lang="zh-CN" altLang="en-US" sz="2000" dirty="0">
              <a:latin typeface="+mn-ea"/>
            </a:endParaRPr>
          </a:p>
          <a:p>
            <a:pPr>
              <a:lnSpc>
                <a:spcPct val="100000"/>
              </a:lnSpc>
              <a:spcBef>
                <a:spcPts val="600"/>
              </a:spcBef>
              <a:buNone/>
            </a:pPr>
            <a:r>
              <a:rPr lang="en-US" altLang="zh-CN" sz="2000" dirty="0">
                <a:latin typeface="+mn-ea"/>
              </a:rPr>
              <a:t>       (3) </a:t>
            </a:r>
            <a:r>
              <a:rPr lang="zh-CN" altLang="en-US" sz="2000" dirty="0">
                <a:latin typeface="+mn-ea"/>
              </a:rPr>
              <a:t>使用手册；     </a:t>
            </a:r>
            <a:r>
              <a:rPr lang="en-US" altLang="zh-CN" sz="2000" dirty="0">
                <a:latin typeface="+mn-ea"/>
              </a:rPr>
              <a:t>(4) </a:t>
            </a:r>
            <a:r>
              <a:rPr lang="zh-CN" altLang="en-US" sz="2000" dirty="0">
                <a:latin typeface="+mn-ea"/>
              </a:rPr>
              <a:t>参考手册；</a:t>
            </a:r>
            <a:endParaRPr lang="zh-CN" altLang="en-US" sz="2000" dirty="0">
              <a:latin typeface="+mn-ea"/>
            </a:endParaRPr>
          </a:p>
          <a:p>
            <a:pPr>
              <a:lnSpc>
                <a:spcPct val="100000"/>
              </a:lnSpc>
              <a:spcBef>
                <a:spcPts val="600"/>
              </a:spcBef>
              <a:buNone/>
            </a:pPr>
            <a:r>
              <a:rPr lang="en-US" altLang="zh-CN" sz="2000" dirty="0">
                <a:latin typeface="+mn-ea"/>
              </a:rPr>
              <a:t>       (5) </a:t>
            </a:r>
            <a:r>
              <a:rPr lang="zh-CN" altLang="en-US" sz="2000" dirty="0">
                <a:latin typeface="+mn-ea"/>
              </a:rPr>
              <a:t>操作员指南</a:t>
            </a:r>
            <a:r>
              <a:rPr lang="en-US" altLang="zh-CN" sz="2000" dirty="0">
                <a:latin typeface="+mn-ea"/>
              </a:rPr>
              <a:t>(</a:t>
            </a:r>
            <a:r>
              <a:rPr lang="zh-CN" altLang="en-US" sz="2000" dirty="0">
                <a:latin typeface="+mn-ea"/>
              </a:rPr>
              <a:t>如果需要有系统操作员的话</a:t>
            </a:r>
            <a:r>
              <a:rPr lang="en-US" altLang="zh-CN" sz="2000" dirty="0">
                <a:latin typeface="+mn-ea"/>
              </a:rPr>
              <a:t>)</a:t>
            </a:r>
            <a:r>
              <a:rPr lang="zh-CN" altLang="en-US" sz="2000" dirty="0">
                <a:latin typeface="+mn-ea"/>
              </a:rPr>
              <a:t> 。</a:t>
            </a:r>
            <a:endParaRPr lang="zh-CN" altLang="en-US" sz="2000" dirty="0">
              <a:latin typeface="+mn-ea"/>
            </a:endParaRPr>
          </a:p>
          <a:p>
            <a:pPr>
              <a:lnSpc>
                <a:spcPct val="100000"/>
              </a:lnSpc>
              <a:spcBef>
                <a:spcPts val="600"/>
              </a:spcBef>
            </a:pPr>
            <a:r>
              <a:rPr lang="zh-CN" altLang="en-US" sz="2000" dirty="0">
                <a:latin typeface="+mn-ea"/>
              </a:rPr>
              <a:t>上述内容可以分别作为独立的文档，</a:t>
            </a:r>
            <a:endParaRPr lang="zh-CN" altLang="en-US" sz="2000" dirty="0">
              <a:latin typeface="+mn-ea"/>
            </a:endParaRPr>
          </a:p>
          <a:p>
            <a:pPr>
              <a:lnSpc>
                <a:spcPct val="100000"/>
              </a:lnSpc>
              <a:spcBef>
                <a:spcPts val="600"/>
              </a:spcBef>
              <a:buNone/>
            </a:pPr>
            <a:r>
              <a:rPr lang="zh-CN" altLang="en-US" sz="2000" dirty="0">
                <a:latin typeface="+mn-ea"/>
              </a:rPr>
              <a:t>    也可以作为一个文档的不同分册，</a:t>
            </a:r>
            <a:endParaRPr lang="zh-CN" altLang="en-US" sz="2000" dirty="0">
              <a:latin typeface="+mn-ea"/>
            </a:endParaRPr>
          </a:p>
          <a:p>
            <a:pPr>
              <a:lnSpc>
                <a:spcPct val="100000"/>
              </a:lnSpc>
              <a:spcBef>
                <a:spcPts val="600"/>
              </a:spcBef>
              <a:buNone/>
            </a:pPr>
            <a:r>
              <a:rPr lang="zh-CN" altLang="en-US" sz="2000" dirty="0">
                <a:latin typeface="+mn-ea"/>
              </a:rPr>
              <a:t>    具体做法应该由系统规模决定。</a:t>
            </a:r>
            <a:endParaRPr lang="zh-CN" altLang="en-US" sz="2000" dirty="0"/>
          </a:p>
        </p:txBody>
      </p:sp>
      <p:sp>
        <p:nvSpPr>
          <p:cNvPr id="2" name="日期占位符 1"/>
          <p:cNvSpPr>
            <a:spLocks noGrp="1"/>
          </p:cNvSpPr>
          <p:nvPr>
            <p:ph type="dt" sz="half" idx="10"/>
          </p:nvPr>
        </p:nvSpPr>
        <p:spPr/>
        <p:txBody>
          <a:bodyPr/>
          <a:lstStyle/>
          <a:p>
            <a:fld id="{E6FF9327-B592-47B1-9269-C9E19D9D8BE6}"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4" name="灯片编号占位符 5"/>
          <p:cNvSpPr>
            <a:spLocks noGrp="1"/>
          </p:cNvSpPr>
          <p:nvPr>
            <p:ph type="sldNum" sz="quarter" idx="12"/>
          </p:nvPr>
        </p:nvSpPr>
        <p:spPr/>
        <p:txBody>
          <a:bodyPr/>
          <a:lstStyle/>
          <a:p>
            <a:pPr>
              <a:defRPr/>
            </a:pPr>
            <a:fld id="{0B6E1E8F-7690-485B-84C1-D4FEA961ADB1}" type="slidenum">
              <a:rPr lang="zh-CN" altLang="en-US"/>
            </a:fld>
            <a:endParaRPr lang="en-US" altLang="zh-CN"/>
          </a:p>
        </p:txBody>
      </p:sp>
      <p:pic>
        <p:nvPicPr>
          <p:cNvPr id="62468" name="Picture 5" descr="MCj02500430000[1]"/>
          <p:cNvPicPr>
            <a:picLocks noChangeAspect="1" noChangeArrowheads="1"/>
          </p:cNvPicPr>
          <p:nvPr/>
        </p:nvPicPr>
        <p:blipFill>
          <a:blip r:embed="rId1" cstate="print"/>
          <a:srcRect/>
          <a:stretch>
            <a:fillRect/>
          </a:stretch>
        </p:blipFill>
        <p:spPr bwMode="auto">
          <a:xfrm>
            <a:off x="7034520" y="3211691"/>
            <a:ext cx="1658067" cy="1244563"/>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系统文档</a:t>
            </a:r>
            <a:endParaRPr lang="zh-CN" altLang="en-US" dirty="0"/>
          </a:p>
        </p:txBody>
      </p:sp>
      <p:sp>
        <p:nvSpPr>
          <p:cNvPr id="3" name="文本占位符 2"/>
          <p:cNvSpPr>
            <a:spLocks noGrp="1"/>
          </p:cNvSpPr>
          <p:nvPr>
            <p:ph idx="1"/>
          </p:nvPr>
        </p:nvSpPr>
        <p:spPr/>
        <p:txBody>
          <a:bodyPr>
            <a:normAutofit/>
          </a:bodyPr>
          <a:lstStyle/>
          <a:p>
            <a:pPr>
              <a:lnSpc>
                <a:spcPct val="120000"/>
              </a:lnSpc>
            </a:pPr>
            <a:r>
              <a:rPr lang="zh-CN" altLang="en-US" sz="2400" dirty="0">
                <a:latin typeface="+mn-ea"/>
              </a:rPr>
              <a:t>所谓系统文档指从问题定义、需求说明到验收测试计划这样一系列和系统实现有关的文档。</a:t>
            </a:r>
            <a:endParaRPr lang="zh-CN" altLang="en-US" sz="2400" dirty="0">
              <a:latin typeface="+mn-ea"/>
            </a:endParaRPr>
          </a:p>
          <a:p>
            <a:pPr>
              <a:lnSpc>
                <a:spcPct val="120000"/>
              </a:lnSpc>
            </a:pPr>
            <a:r>
              <a:rPr lang="zh-CN" altLang="en-US" sz="2400" dirty="0">
                <a:latin typeface="+mn-ea"/>
              </a:rPr>
              <a:t>描述系统设计、实现和测试的文档对于理解程序和维护程序来说是极端重要的。</a:t>
            </a:r>
            <a:endParaRPr lang="zh-CN" altLang="en-US" sz="2400" dirty="0">
              <a:latin typeface="+mn-ea"/>
            </a:endParaRPr>
          </a:p>
          <a:p>
            <a:pPr>
              <a:lnSpc>
                <a:spcPct val="120000"/>
              </a:lnSpc>
            </a:pPr>
            <a:r>
              <a:rPr lang="zh-CN" altLang="en-US" sz="2400" dirty="0">
                <a:latin typeface="+mn-ea"/>
              </a:rPr>
              <a:t>和用户文档类似，系统文档的结构也应该能把读者从对系统概貌的了解，引导到对系统每个方面每个特点的更形式化更具体的认识。</a:t>
            </a:r>
            <a:endParaRPr lang="zh-CN" altLang="en-US" sz="2400" dirty="0"/>
          </a:p>
        </p:txBody>
      </p:sp>
      <p:sp>
        <p:nvSpPr>
          <p:cNvPr id="2" name="日期占位符 1"/>
          <p:cNvSpPr>
            <a:spLocks noGrp="1"/>
          </p:cNvSpPr>
          <p:nvPr>
            <p:ph type="dt" sz="half" idx="10"/>
          </p:nvPr>
        </p:nvSpPr>
        <p:spPr/>
        <p:txBody>
          <a:bodyPr/>
          <a:lstStyle/>
          <a:p>
            <a:fld id="{C17F19FD-6A48-4E5B-8B41-BA5B099548EC}"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4" name="灯片编号占位符 5"/>
          <p:cNvSpPr>
            <a:spLocks noGrp="1"/>
          </p:cNvSpPr>
          <p:nvPr>
            <p:ph type="sldNum" sz="quarter" idx="12"/>
          </p:nvPr>
        </p:nvSpPr>
        <p:spPr/>
        <p:txBody>
          <a:bodyPr/>
          <a:lstStyle/>
          <a:p>
            <a:pPr>
              <a:defRPr/>
            </a:pPr>
            <a:fld id="{95D04396-CDB8-4D11-B2C2-9BF7D538718F}" type="slidenum">
              <a:rPr lang="zh-CN" altLang="en-US"/>
            </a:fld>
            <a:endParaRPr lang="en-US" altLang="zh-C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ea"/>
              </a:rPr>
              <a:t>提高可维护性的方法</a:t>
            </a:r>
            <a:endParaRPr lang="zh-CN" altLang="en-US" dirty="0"/>
          </a:p>
        </p:txBody>
      </p:sp>
      <p:sp>
        <p:nvSpPr>
          <p:cNvPr id="3" name="内容占位符 2"/>
          <p:cNvSpPr>
            <a:spLocks noGrp="1"/>
          </p:cNvSpPr>
          <p:nvPr>
            <p:ph idx="1"/>
          </p:nvPr>
        </p:nvSpPr>
        <p:spPr>
          <a:xfrm>
            <a:off x="768097" y="1053295"/>
            <a:ext cx="7832833" cy="3678725"/>
          </a:xfrm>
        </p:spPr>
        <p:txBody>
          <a:bodyPr>
            <a:normAutofit/>
          </a:bodyPr>
          <a:lstStyle/>
          <a:p>
            <a:pPr marL="257175" indent="-257175">
              <a:lnSpc>
                <a:spcPct val="120000"/>
              </a:lnSpc>
              <a:spcBef>
                <a:spcPct val="20000"/>
              </a:spcBef>
              <a:buFontTx/>
              <a:buChar char="•"/>
              <a:defRPr/>
            </a:pPr>
            <a:r>
              <a:rPr lang="zh-CN" altLang="en-US" sz="2400" dirty="0">
                <a:latin typeface="+mn-ea"/>
              </a:rPr>
              <a:t>建立明确的软件质量目标和优先级</a:t>
            </a:r>
            <a:endParaRPr lang="zh-CN" altLang="en-US" sz="2400" dirty="0">
              <a:latin typeface="+mn-ea"/>
            </a:endParaRPr>
          </a:p>
          <a:p>
            <a:pPr marL="257175" indent="-257175">
              <a:lnSpc>
                <a:spcPct val="120000"/>
              </a:lnSpc>
              <a:spcBef>
                <a:spcPct val="20000"/>
              </a:spcBef>
              <a:buFontTx/>
              <a:buChar char="•"/>
              <a:defRPr/>
            </a:pPr>
            <a:r>
              <a:rPr lang="zh-CN" altLang="en-US" sz="2400" dirty="0">
                <a:latin typeface="+mn-ea"/>
              </a:rPr>
              <a:t>使用提高软件质量的技术和工具</a:t>
            </a:r>
            <a:endParaRPr lang="zh-CN" altLang="en-US" sz="2400" dirty="0">
              <a:latin typeface="+mn-ea"/>
            </a:endParaRPr>
          </a:p>
          <a:p>
            <a:pPr marL="257175" indent="-257175">
              <a:lnSpc>
                <a:spcPct val="120000"/>
              </a:lnSpc>
              <a:spcBef>
                <a:spcPct val="20000"/>
              </a:spcBef>
              <a:buFontTx/>
              <a:buChar char="•"/>
              <a:defRPr/>
            </a:pPr>
            <a:r>
              <a:rPr lang="zh-CN" altLang="en-US" sz="2400" dirty="0">
                <a:latin typeface="+mn-ea"/>
              </a:rPr>
              <a:t>进行明确的质量保证审查</a:t>
            </a:r>
            <a:endParaRPr lang="zh-CN" altLang="en-US" sz="2400" dirty="0">
              <a:latin typeface="+mn-ea"/>
            </a:endParaRPr>
          </a:p>
          <a:p>
            <a:pPr marL="257175" indent="-257175">
              <a:lnSpc>
                <a:spcPct val="120000"/>
              </a:lnSpc>
              <a:spcBef>
                <a:spcPct val="20000"/>
              </a:spcBef>
              <a:buFontTx/>
              <a:buChar char="•"/>
              <a:defRPr/>
            </a:pPr>
            <a:r>
              <a:rPr lang="zh-CN" altLang="en-US" sz="2400" dirty="0">
                <a:latin typeface="+mn-ea"/>
              </a:rPr>
              <a:t>选择可维护的程序设计语言</a:t>
            </a:r>
            <a:endParaRPr lang="zh-CN" altLang="en-US" sz="2400" dirty="0">
              <a:latin typeface="+mn-ea"/>
            </a:endParaRPr>
          </a:p>
          <a:p>
            <a:pPr marL="257175" indent="-257175">
              <a:lnSpc>
                <a:spcPct val="120000"/>
              </a:lnSpc>
              <a:spcBef>
                <a:spcPct val="20000"/>
              </a:spcBef>
              <a:buFontTx/>
              <a:buChar char="•"/>
              <a:defRPr/>
            </a:pPr>
            <a:r>
              <a:rPr lang="zh-CN" altLang="en-US" sz="2400" dirty="0">
                <a:latin typeface="+mn-ea"/>
              </a:rPr>
              <a:t>改进程序的文档</a:t>
            </a:r>
            <a:endParaRPr lang="zh-CN" altLang="en-US" sz="2400" dirty="0">
              <a:latin typeface="+mn-ea"/>
            </a:endParaRPr>
          </a:p>
        </p:txBody>
      </p:sp>
      <p:sp>
        <p:nvSpPr>
          <p:cNvPr id="4" name="日期占位符 3"/>
          <p:cNvSpPr>
            <a:spLocks noGrp="1"/>
          </p:cNvSpPr>
          <p:nvPr>
            <p:ph type="dt" sz="half" idx="10"/>
          </p:nvPr>
        </p:nvSpPr>
        <p:spPr/>
        <p:txBody>
          <a:bodyPr/>
          <a:lstStyle/>
          <a:p>
            <a:fld id="{670F31F5-E441-4300-9F79-D1704F9BE328}"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5" name="灯片编号占位符 5"/>
          <p:cNvSpPr>
            <a:spLocks noGrp="1"/>
          </p:cNvSpPr>
          <p:nvPr>
            <p:ph type="sldNum" sz="quarter" idx="12"/>
          </p:nvPr>
        </p:nvSpPr>
        <p:spPr/>
        <p:txBody>
          <a:bodyPr/>
          <a:lstStyle/>
          <a:p>
            <a:pPr>
              <a:defRPr/>
            </a:pPr>
            <a:fld id="{67FD11ED-4502-453F-894B-2E455D998AC6}" type="slidenum">
              <a:rPr lang="zh-CN" altLang="en-US"/>
            </a:fld>
            <a:endParaRPr lang="en-US" altLang="zh-CN"/>
          </a:p>
        </p:txBody>
      </p:sp>
      <p:pic>
        <p:nvPicPr>
          <p:cNvPr id="64517" name="Picture 8" descr="MCj03125740000[1]"/>
          <p:cNvPicPr>
            <a:picLocks noChangeAspect="1" noChangeArrowheads="1"/>
          </p:cNvPicPr>
          <p:nvPr/>
        </p:nvPicPr>
        <p:blipFill>
          <a:blip r:embed="rId1" cstate="print"/>
          <a:srcRect/>
          <a:stretch>
            <a:fillRect/>
          </a:stretch>
        </p:blipFill>
        <p:spPr bwMode="auto">
          <a:xfrm>
            <a:off x="6675800" y="2326511"/>
            <a:ext cx="1452200" cy="1958814"/>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18426" y="841613"/>
            <a:ext cx="8001723" cy="3704987"/>
          </a:xfrm>
        </p:spPr>
        <p:txBody>
          <a:bodyPr>
            <a:noAutofit/>
          </a:bodyPr>
          <a:lstStyle/>
          <a:p>
            <a:pPr marL="342900" indent="-342900">
              <a:lnSpc>
                <a:spcPct val="100000"/>
              </a:lnSpc>
              <a:spcBef>
                <a:spcPts val="600"/>
              </a:spcBef>
            </a:pPr>
            <a:r>
              <a:rPr lang="zh-CN" altLang="en-US" sz="2400" dirty="0"/>
              <a:t>预防性维护又称为软件再工程。指的是重新构造或编写现有系统的一部分或全部，但不改变其功能。</a:t>
            </a:r>
            <a:endParaRPr lang="en-US" altLang="zh-CN" sz="2400" dirty="0"/>
          </a:p>
          <a:p>
            <a:pPr marL="342900" indent="-342900">
              <a:lnSpc>
                <a:spcPct val="100000"/>
              </a:lnSpc>
              <a:spcBef>
                <a:spcPts val="600"/>
              </a:spcBef>
            </a:pPr>
            <a:r>
              <a:rPr lang="zh-CN" altLang="en-US" sz="2400" dirty="0"/>
              <a:t>在大型系统中某些部分需要频繁维护时，可应用软件再工程。</a:t>
            </a:r>
            <a:endParaRPr lang="en-US" altLang="zh-CN" sz="2400" dirty="0"/>
          </a:p>
          <a:p>
            <a:pPr marL="342900" indent="-342900">
              <a:lnSpc>
                <a:spcPct val="100000"/>
              </a:lnSpc>
              <a:spcBef>
                <a:spcPts val="600"/>
              </a:spcBef>
            </a:pPr>
            <a:r>
              <a:rPr lang="zh-CN" altLang="en-US" sz="2400" dirty="0"/>
              <a:t>再工程的目的是努力使系统更易于维护，系统需要被再构造和再文档化。</a:t>
            </a:r>
            <a:endParaRPr lang="en-US" altLang="zh-CN" sz="2400" dirty="0"/>
          </a:p>
          <a:p>
            <a:pPr marL="342900" indent="-342900">
              <a:lnSpc>
                <a:spcPct val="100000"/>
              </a:lnSpc>
              <a:spcBef>
                <a:spcPts val="600"/>
              </a:spcBef>
            </a:pPr>
            <a:r>
              <a:rPr lang="zh-CN" altLang="en-US" sz="2400" dirty="0"/>
              <a:t>减少风险：重新开发一个在用的系统具有很高的风险，可能会有开发问题、人员问题和规格说明问题。</a:t>
            </a:r>
            <a:endParaRPr lang="en-US" altLang="zh-CN" sz="2400" dirty="0"/>
          </a:p>
          <a:p>
            <a:pPr marL="342900" indent="-342900">
              <a:lnSpc>
                <a:spcPct val="100000"/>
              </a:lnSpc>
              <a:spcBef>
                <a:spcPts val="600"/>
              </a:spcBef>
            </a:pPr>
            <a:r>
              <a:rPr lang="zh-CN" altLang="en-US" sz="2400" dirty="0"/>
              <a:t>低成本：再工程的成本比重新开发软件的成本要小得多。 </a:t>
            </a:r>
            <a:endParaRPr lang="en-US" altLang="zh-CN" sz="24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软件再工程过程</a:t>
            </a:r>
            <a:endParaRPr lang="zh-CN" altLang="en-US" dirty="0"/>
          </a:p>
        </p:txBody>
      </p:sp>
      <p:sp>
        <p:nvSpPr>
          <p:cNvPr id="5" name="日期占位符 4"/>
          <p:cNvSpPr>
            <a:spLocks noGrp="1"/>
          </p:cNvSpPr>
          <p:nvPr>
            <p:ph type="dt" sz="half" idx="10"/>
          </p:nvPr>
        </p:nvSpPr>
        <p:spPr/>
        <p:txBody>
          <a:bodyPr/>
          <a:lstStyle/>
          <a:p>
            <a:fld id="{2AF13FB4-EA5D-4BF8-BC6B-2231CE3BEDC4}"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软件再工程过程</a:t>
            </a:r>
            <a:endParaRPr lang="zh-CN" altLang="en-US" dirty="0"/>
          </a:p>
        </p:txBody>
      </p:sp>
      <p:sp>
        <p:nvSpPr>
          <p:cNvPr id="3" name="内容占位符 2"/>
          <p:cNvSpPr>
            <a:spLocks noGrp="1"/>
          </p:cNvSpPr>
          <p:nvPr>
            <p:ph idx="1"/>
          </p:nvPr>
        </p:nvSpPr>
        <p:spPr>
          <a:xfrm>
            <a:off x="1094321" y="899767"/>
            <a:ext cx="7506609" cy="3806854"/>
          </a:xfrm>
        </p:spPr>
        <p:txBody>
          <a:bodyPr>
            <a:normAutofit lnSpcReduction="10000"/>
          </a:bodyPr>
          <a:lstStyle/>
          <a:p>
            <a:r>
              <a:rPr lang="zh-CN" altLang="en-US" dirty="0"/>
              <a:t>包括：</a:t>
            </a:r>
            <a:endParaRPr lang="en-US" altLang="zh-CN" dirty="0"/>
          </a:p>
          <a:p>
            <a:pPr marL="1108710" lvl="1" indent="-457200">
              <a:buFont typeface="+mj-lt"/>
              <a:buAutoNum type="arabicPeriod"/>
            </a:pPr>
            <a:r>
              <a:rPr lang="zh-CN" altLang="en-US" dirty="0"/>
              <a:t>库存目录分析</a:t>
            </a:r>
            <a:endParaRPr lang="en-US" altLang="zh-CN" dirty="0"/>
          </a:p>
          <a:p>
            <a:pPr marL="1108710" lvl="1" indent="-457200">
              <a:buFont typeface="+mj-lt"/>
              <a:buAutoNum type="arabicPeriod"/>
            </a:pPr>
            <a:r>
              <a:rPr lang="zh-CN" altLang="en-US" dirty="0"/>
              <a:t>文档重构</a:t>
            </a:r>
            <a:endParaRPr lang="en-US" altLang="zh-CN" dirty="0"/>
          </a:p>
          <a:p>
            <a:pPr marL="1108710" lvl="1" indent="-457200">
              <a:buFont typeface="+mj-lt"/>
              <a:buAutoNum type="arabicPeriod"/>
            </a:pPr>
            <a:r>
              <a:rPr lang="zh-CN" altLang="en-US" dirty="0"/>
              <a:t>逆向工程</a:t>
            </a:r>
            <a:endParaRPr lang="en-US" altLang="zh-CN" dirty="0"/>
          </a:p>
          <a:p>
            <a:pPr marL="1108710" lvl="1" indent="-457200">
              <a:buFont typeface="+mj-lt"/>
              <a:buAutoNum type="arabicPeriod"/>
            </a:pPr>
            <a:r>
              <a:rPr lang="zh-CN" altLang="en-US" dirty="0"/>
              <a:t>代码重构</a:t>
            </a:r>
            <a:endParaRPr lang="en-US" altLang="zh-CN" dirty="0"/>
          </a:p>
          <a:p>
            <a:pPr marL="1108710" lvl="1" indent="-457200">
              <a:buFont typeface="+mj-lt"/>
              <a:buAutoNum type="arabicPeriod"/>
            </a:pPr>
            <a:r>
              <a:rPr lang="zh-CN" altLang="en-US" dirty="0"/>
              <a:t>数据重构</a:t>
            </a:r>
            <a:endParaRPr lang="en-US" altLang="zh-CN" dirty="0"/>
          </a:p>
          <a:p>
            <a:pPr marL="1108710" lvl="1" indent="-457200">
              <a:buFont typeface="+mj-lt"/>
              <a:buAutoNum type="arabicPeriod"/>
            </a:pPr>
            <a:r>
              <a:rPr lang="zh-CN" altLang="en-US" dirty="0"/>
              <a:t>正向工程</a:t>
            </a:r>
            <a:endParaRPr lang="zh-CN" altLang="en-US" dirty="0"/>
          </a:p>
        </p:txBody>
      </p:sp>
      <p:sp>
        <p:nvSpPr>
          <p:cNvPr id="4" name="日期占位符 3"/>
          <p:cNvSpPr>
            <a:spLocks noGrp="1"/>
          </p:cNvSpPr>
          <p:nvPr>
            <p:ph type="dt" sz="half" idx="10"/>
          </p:nvPr>
        </p:nvSpPr>
        <p:spPr/>
        <p:txBody>
          <a:bodyPr/>
          <a:lstStyle/>
          <a:p>
            <a:fld id="{0A417D11-9BD5-4B74-857F-8ED3044968A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逆向工程 </a:t>
            </a:r>
            <a:endParaRPr lang="zh-CN" altLang="en-US" dirty="0"/>
          </a:p>
        </p:txBody>
      </p:sp>
      <p:sp>
        <p:nvSpPr>
          <p:cNvPr id="3" name="内容占位符 2"/>
          <p:cNvSpPr>
            <a:spLocks noGrp="1"/>
          </p:cNvSpPr>
          <p:nvPr>
            <p:ph idx="1"/>
          </p:nvPr>
        </p:nvSpPr>
        <p:spPr>
          <a:xfrm>
            <a:off x="768097" y="1104899"/>
            <a:ext cx="7956803" cy="3136901"/>
          </a:xfrm>
        </p:spPr>
        <p:txBody>
          <a:bodyPr>
            <a:noAutofit/>
          </a:bodyPr>
          <a:lstStyle/>
          <a:p>
            <a:r>
              <a:rPr lang="zh-CN" altLang="en-US" sz="2400" dirty="0"/>
              <a:t>逆向工程是以复原软件的规格说明和设计为目标的软件分析过程。</a:t>
            </a:r>
            <a:endParaRPr lang="zh-CN" altLang="en-US" sz="2400" dirty="0"/>
          </a:p>
          <a:p>
            <a:r>
              <a:rPr lang="zh-CN" altLang="en-US" sz="2400" dirty="0"/>
              <a:t>大多数情况下，逆向工程弥补缺乏良好文档的问题。 </a:t>
            </a:r>
            <a:endParaRPr lang="zh-CN" altLang="en-US" sz="2400" dirty="0"/>
          </a:p>
          <a:p>
            <a:r>
              <a:rPr lang="zh-CN" altLang="en-US" sz="2400" dirty="0"/>
              <a:t>开发阶段的文档与维护阶段的文档可能是不一致的。</a:t>
            </a:r>
            <a:endParaRPr lang="zh-CN" altLang="en-US" sz="2400" dirty="0"/>
          </a:p>
          <a:p>
            <a:r>
              <a:rPr lang="zh-CN" altLang="en-US" sz="2400" dirty="0"/>
              <a:t>开发阶段编写的程序文档在维护阶段是非常有用的。</a:t>
            </a:r>
            <a:endParaRPr lang="zh-CN" altLang="en-US" sz="2400" dirty="0"/>
          </a:p>
        </p:txBody>
      </p:sp>
      <p:sp>
        <p:nvSpPr>
          <p:cNvPr id="4" name="日期占位符 3"/>
          <p:cNvSpPr>
            <a:spLocks noGrp="1"/>
          </p:cNvSpPr>
          <p:nvPr>
            <p:ph type="dt" sz="half" idx="10"/>
          </p:nvPr>
        </p:nvSpPr>
        <p:spPr/>
        <p:txBody>
          <a:bodyPr/>
          <a:lstStyle/>
          <a:p>
            <a:fld id="{0A417D11-9BD5-4B74-857F-8ED3044968A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再工程过程 </a:t>
            </a:r>
            <a:endParaRPr lang="zh-CN" altLang="en-US" dirty="0"/>
          </a:p>
        </p:txBody>
      </p:sp>
      <p:sp>
        <p:nvSpPr>
          <p:cNvPr id="4" name="日期占位符 3"/>
          <p:cNvSpPr>
            <a:spLocks noGrp="1"/>
          </p:cNvSpPr>
          <p:nvPr>
            <p:ph type="dt" sz="half" idx="10"/>
          </p:nvPr>
        </p:nvSpPr>
        <p:spPr/>
        <p:txBody>
          <a:bodyPr/>
          <a:lstStyle/>
          <a:p>
            <a:fld id="{0A417D11-9BD5-4B74-857F-8ED3044968A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1094321" y="1085787"/>
            <a:ext cx="7402566" cy="339731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j-ea"/>
              </a:rPr>
              <a:t>重构（</a:t>
            </a:r>
            <a:r>
              <a:rPr lang="en-US" altLang="zh-CN" cap="none" dirty="0">
                <a:latin typeface="+mj-ea"/>
              </a:rPr>
              <a:t>Refactoring</a:t>
            </a:r>
            <a:r>
              <a:rPr lang="zh-CN" altLang="en-US" dirty="0">
                <a:latin typeface="+mj-ea"/>
              </a:rPr>
              <a:t>）</a:t>
            </a:r>
            <a:endParaRPr lang="zh-CN" altLang="en-US" dirty="0">
              <a:latin typeface="+mj-ea"/>
            </a:endParaRPr>
          </a:p>
        </p:txBody>
      </p:sp>
      <p:sp>
        <p:nvSpPr>
          <p:cNvPr id="2" name="内容占位符 1"/>
          <p:cNvSpPr>
            <a:spLocks noGrp="1"/>
          </p:cNvSpPr>
          <p:nvPr>
            <p:ph idx="1"/>
          </p:nvPr>
        </p:nvSpPr>
        <p:spPr>
          <a:xfrm>
            <a:off x="768096" y="828912"/>
            <a:ext cx="7970790" cy="3939857"/>
          </a:xfrm>
        </p:spPr>
        <p:txBody>
          <a:bodyPr>
            <a:noAutofit/>
          </a:bodyPr>
          <a:lstStyle/>
          <a:p>
            <a:pPr>
              <a:lnSpc>
                <a:spcPct val="100000"/>
              </a:lnSpc>
              <a:spcBef>
                <a:spcPts val="600"/>
              </a:spcBef>
            </a:pPr>
            <a:r>
              <a:rPr lang="zh-CN" altLang="en-US" sz="2000" dirty="0">
                <a:solidFill>
                  <a:srgbClr val="FF0000"/>
                </a:solidFill>
              </a:rPr>
              <a:t>重构</a:t>
            </a:r>
            <a:r>
              <a:rPr lang="zh-CN" altLang="en-US" sz="2000" dirty="0"/>
              <a:t>就是在不改变软件现有功能的基础上，通过调整程序代码改善软件的质量、性能，使其程序的设计模式和架构更趋合理</a:t>
            </a:r>
            <a:r>
              <a:rPr lang="zh-CN" altLang="en-US" sz="2000"/>
              <a:t>，提高软件</a:t>
            </a:r>
            <a:r>
              <a:rPr lang="zh-CN" altLang="en-US" sz="2000" dirty="0"/>
              <a:t>的扩展性和维护性。</a:t>
            </a:r>
            <a:endParaRPr lang="en-US" altLang="zh-CN" sz="2000" dirty="0"/>
          </a:p>
          <a:p>
            <a:pPr>
              <a:lnSpc>
                <a:spcPct val="100000"/>
              </a:lnSpc>
              <a:spcBef>
                <a:spcPts val="600"/>
              </a:spcBef>
            </a:pPr>
            <a:r>
              <a:rPr lang="zh-CN" altLang="en-US" sz="2000" dirty="0"/>
              <a:t>软件设计人员毕竟不是先知先觉，功能的变化导致设计的调整在所难免。所以“测试为先，持续重构”作为良好开发习惯被越来越多的人所采纳。</a:t>
            </a:r>
            <a:endParaRPr lang="en-US" altLang="zh-CN" sz="2000" dirty="0"/>
          </a:p>
          <a:p>
            <a:pPr>
              <a:lnSpc>
                <a:spcPct val="100000"/>
              </a:lnSpc>
              <a:spcBef>
                <a:spcPts val="600"/>
              </a:spcBef>
            </a:pPr>
            <a:r>
              <a:rPr lang="zh-CN" altLang="en-US" sz="2000" dirty="0"/>
              <a:t>使用重构的方式，不改变系统的外部功能，只对内部的结构进行重新的整理。通过重构，不断的调整系统的结构，使系统对于需求的变更始终具有较强的适应能力。</a:t>
            </a:r>
            <a:endParaRPr lang="en-US" altLang="zh-CN" sz="2000" dirty="0"/>
          </a:p>
          <a:p>
            <a:pPr>
              <a:lnSpc>
                <a:spcPct val="100000"/>
              </a:lnSpc>
              <a:spcBef>
                <a:spcPts val="600"/>
              </a:spcBef>
            </a:pPr>
            <a:r>
              <a:rPr lang="zh-CN" altLang="en-US" sz="2000" dirty="0"/>
              <a:t>重构要注意两点：</a:t>
            </a:r>
            <a:endParaRPr lang="en-US" altLang="zh-CN" sz="2000" dirty="0"/>
          </a:p>
          <a:p>
            <a:pPr marL="342900" indent="-342900">
              <a:lnSpc>
                <a:spcPct val="100000"/>
              </a:lnSpc>
              <a:spcBef>
                <a:spcPts val="600"/>
              </a:spcBef>
              <a:buFont typeface="+mj-lt"/>
              <a:buAutoNum type="arabicPeriod"/>
            </a:pPr>
            <a:r>
              <a:rPr lang="zh-CN" altLang="en-US" sz="2000" dirty="0"/>
              <a:t>保持系统的核心价值不变      </a:t>
            </a:r>
            <a:r>
              <a:rPr lang="zh-CN" altLang="en-US" sz="2000" dirty="0">
                <a:solidFill>
                  <a:schemeClr val="accent1"/>
                </a:solidFill>
              </a:rPr>
              <a:t> </a:t>
            </a:r>
            <a:r>
              <a:rPr lang="en-US" altLang="zh-CN" sz="2000" dirty="0">
                <a:solidFill>
                  <a:schemeClr val="accent1"/>
                </a:solidFill>
              </a:rPr>
              <a:t>2. </a:t>
            </a:r>
            <a:r>
              <a:rPr lang="zh-CN" altLang="en-US" sz="2000" dirty="0"/>
              <a:t>注意风险</a:t>
            </a:r>
            <a:endParaRPr lang="zh-CN" altLang="en-US" sz="2000" dirty="0"/>
          </a:p>
        </p:txBody>
      </p:sp>
      <p:sp>
        <p:nvSpPr>
          <p:cNvPr id="5" name="日期占位符 4"/>
          <p:cNvSpPr>
            <a:spLocks noGrp="1"/>
          </p:cNvSpPr>
          <p:nvPr>
            <p:ph type="dt" sz="half" idx="10"/>
          </p:nvPr>
        </p:nvSpPr>
        <p:spPr/>
        <p:txBody>
          <a:bodyPr/>
          <a:lstStyle/>
          <a:p>
            <a:fld id="{A9E683A9-2051-46EB-BB04-3959F87D1038}"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par>
                          <p:cTn id="23" fill="hold">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2">
                                            <p:txEl>
                                              <p:pRg st="4" end="4"/>
                                            </p:txEl>
                                          </p:spTgt>
                                        </p:tgtEl>
                                        <p:attrNameLst>
                                          <p:attrName>style.visibility</p:attrName>
                                        </p:attrNameLst>
                                      </p:cBhvr>
                                      <p:to>
                                        <p:strVal val="visible"/>
                                      </p:to>
                                    </p:set>
                                    <p:animEffect transition="in" filter="wipe(up)">
                                      <p:cBhvr>
                                        <p:cTn id="26"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68097" y="983847"/>
            <a:ext cx="7947640" cy="3748173"/>
          </a:xfrm>
        </p:spPr>
        <p:txBody>
          <a:bodyPr>
            <a:normAutofit/>
          </a:bodyPr>
          <a:lstStyle/>
          <a:p>
            <a:r>
              <a:rPr lang="zh-CN" altLang="en-US" sz="2400" dirty="0"/>
              <a:t>软件开发的两个交替不断的活动：</a:t>
            </a:r>
            <a:endParaRPr lang="en-US" altLang="zh-CN" sz="2400" dirty="0"/>
          </a:p>
          <a:p>
            <a:r>
              <a:rPr lang="zh-CN" altLang="en-US" sz="2400" dirty="0"/>
              <a:t>重构和增强功能，像两顶帽子一样。</a:t>
            </a:r>
            <a:endParaRPr lang="en-US" altLang="zh-CN" sz="2400" dirty="0"/>
          </a:p>
          <a:p>
            <a:r>
              <a:rPr lang="zh-CN" altLang="en-US" sz="2400" b="1" dirty="0">
                <a:solidFill>
                  <a:srgbClr val="FF0000"/>
                </a:solidFill>
              </a:rPr>
              <a:t>戴一顶帽子只做一件事情。</a:t>
            </a:r>
            <a:endParaRPr lang="en-US" altLang="zh-CN" sz="2400" b="1" dirty="0">
              <a:solidFill>
                <a:srgbClr val="FF0000"/>
              </a:solidFill>
            </a:endParaRPr>
          </a:p>
          <a:p>
            <a:r>
              <a:rPr lang="zh-CN" altLang="en-US" sz="2400" dirty="0"/>
              <a:t>在一个软件开发的过程中，当增加一个新功能时，就不应该改变任何已经存在的代码。当新增功能以后，新增加的代码使得程序的结构难以理解，这时，就需要脱下增加功能的帽子，改变原来的代码结构，来更好的加入新功能。</a:t>
            </a:r>
            <a:endParaRPr lang="zh-CN" altLang="en-US" sz="24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重构与增强功能</a:t>
            </a:r>
            <a:endParaRPr lang="zh-CN" altLang="en-US" dirty="0"/>
          </a:p>
        </p:txBody>
      </p:sp>
      <p:sp>
        <p:nvSpPr>
          <p:cNvPr id="5" name="日期占位符 4"/>
          <p:cNvSpPr>
            <a:spLocks noGrp="1"/>
          </p:cNvSpPr>
          <p:nvPr>
            <p:ph type="dt" sz="half" idx="10"/>
          </p:nvPr>
        </p:nvSpPr>
        <p:spPr/>
        <p:txBody>
          <a:bodyPr/>
          <a:lstStyle/>
          <a:p>
            <a:fld id="{061407C6-3F05-42F9-A260-99ACD5F0E431}"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软件维护总结</a:t>
            </a:r>
            <a:endParaRPr lang="zh-CN" altLang="en-US" dirty="0"/>
          </a:p>
        </p:txBody>
      </p:sp>
      <p:sp>
        <p:nvSpPr>
          <p:cNvPr id="3" name="内容占位符 2"/>
          <p:cNvSpPr>
            <a:spLocks noGrp="1"/>
          </p:cNvSpPr>
          <p:nvPr>
            <p:ph idx="1"/>
          </p:nvPr>
        </p:nvSpPr>
        <p:spPr/>
        <p:txBody>
          <a:bodyPr>
            <a:normAutofit/>
          </a:bodyPr>
          <a:lstStyle/>
          <a:p>
            <a:pPr marL="82550" indent="0">
              <a:lnSpc>
                <a:spcPct val="120000"/>
              </a:lnSpc>
              <a:spcBef>
                <a:spcPts val="450"/>
              </a:spcBef>
              <a:buClr>
                <a:srgbClr val="2DA2BF"/>
              </a:buClr>
              <a:buSzPct val="68000"/>
              <a:buNone/>
            </a:pPr>
            <a:r>
              <a:rPr lang="zh-CN" altLang="en-US" sz="2400" dirty="0"/>
              <a:t>软件维护的</a:t>
            </a:r>
            <a:r>
              <a:rPr lang="en-US" altLang="zh-CN" sz="2400" dirty="0"/>
              <a:t>4</a:t>
            </a:r>
            <a:r>
              <a:rPr lang="zh-CN" altLang="en-US" sz="2400" dirty="0"/>
              <a:t>类活动：</a:t>
            </a:r>
            <a:endParaRPr lang="zh-CN" altLang="en-US" sz="2400" dirty="0"/>
          </a:p>
          <a:p>
            <a:pPr marL="82550" indent="0">
              <a:lnSpc>
                <a:spcPct val="120000"/>
              </a:lnSpc>
              <a:spcBef>
                <a:spcPts val="450"/>
              </a:spcBef>
              <a:buClr>
                <a:srgbClr val="2DA2BF"/>
              </a:buClr>
              <a:buSzPct val="68000"/>
              <a:buNone/>
            </a:pPr>
            <a:r>
              <a:rPr lang="zh-CN" altLang="en-US" sz="2400" dirty="0"/>
              <a:t>  （改正性、适应性、完善性、预防性）</a:t>
            </a:r>
            <a:endParaRPr lang="en-US" altLang="zh-CN" sz="2400" dirty="0"/>
          </a:p>
          <a:p>
            <a:pPr marL="82550" indent="0">
              <a:lnSpc>
                <a:spcPct val="120000"/>
              </a:lnSpc>
              <a:spcBef>
                <a:spcPts val="450"/>
              </a:spcBef>
              <a:buClr>
                <a:srgbClr val="2DA2BF"/>
              </a:buClr>
              <a:buSzPct val="68000"/>
              <a:buNone/>
            </a:pPr>
            <a:r>
              <a:rPr lang="zh-CN" altLang="en-US" sz="2400" dirty="0"/>
              <a:t>决定软件可维护性的基本要素：</a:t>
            </a:r>
            <a:endParaRPr lang="zh-CN" altLang="en-US" sz="2400" dirty="0"/>
          </a:p>
          <a:p>
            <a:pPr marL="82550" indent="0">
              <a:lnSpc>
                <a:spcPct val="120000"/>
              </a:lnSpc>
              <a:spcBef>
                <a:spcPts val="450"/>
              </a:spcBef>
              <a:buClr>
                <a:srgbClr val="2DA2BF"/>
              </a:buClr>
              <a:buSzPct val="68000"/>
              <a:buNone/>
            </a:pPr>
            <a:r>
              <a:rPr lang="zh-CN" altLang="en-US" sz="2400" dirty="0"/>
              <a:t>  （可理解、可测试、可修改、可移植和可重用性）</a:t>
            </a:r>
            <a:endParaRPr lang="zh-CN" altLang="en-US" sz="2400" dirty="0"/>
          </a:p>
          <a:p>
            <a:pPr marL="82550" indent="0">
              <a:lnSpc>
                <a:spcPct val="120000"/>
              </a:lnSpc>
              <a:spcBef>
                <a:spcPts val="450"/>
              </a:spcBef>
              <a:buClr>
                <a:srgbClr val="2DA2BF"/>
              </a:buClr>
              <a:buSzPct val="68000"/>
              <a:buNone/>
            </a:pPr>
            <a:r>
              <a:rPr lang="zh-CN" altLang="en-US" sz="2400" dirty="0">
                <a:solidFill>
                  <a:srgbClr val="FF0000"/>
                </a:solidFill>
              </a:rPr>
              <a:t>文档</a:t>
            </a:r>
            <a:r>
              <a:rPr lang="zh-CN" altLang="en-US" sz="2400" dirty="0"/>
              <a:t>是影响软件可维护性的决定因素</a:t>
            </a:r>
            <a:endParaRPr lang="zh-CN" altLang="en-US" sz="2400" dirty="0"/>
          </a:p>
          <a:p>
            <a:pPr marL="82550" indent="0">
              <a:lnSpc>
                <a:spcPct val="120000"/>
              </a:lnSpc>
              <a:spcBef>
                <a:spcPts val="450"/>
              </a:spcBef>
              <a:buClr>
                <a:srgbClr val="2DA2BF"/>
              </a:buClr>
              <a:buSzPct val="68000"/>
              <a:buNone/>
            </a:pPr>
            <a:r>
              <a:rPr lang="zh-CN" altLang="en-US" sz="2400" dirty="0"/>
              <a:t>软件可维护性定义，如何提高？</a:t>
            </a:r>
            <a:endParaRPr lang="zh-CN" altLang="en-US" sz="2400" dirty="0">
              <a:solidFill>
                <a:schemeClr val="accent2"/>
              </a:solidFill>
            </a:endParaRPr>
          </a:p>
        </p:txBody>
      </p:sp>
      <p:sp>
        <p:nvSpPr>
          <p:cNvPr id="4" name="日期占位符 3"/>
          <p:cNvSpPr>
            <a:spLocks noGrp="1"/>
          </p:cNvSpPr>
          <p:nvPr>
            <p:ph type="dt" sz="half" idx="10"/>
          </p:nvPr>
        </p:nvSpPr>
        <p:spPr/>
        <p:txBody>
          <a:bodyPr/>
          <a:lstStyle/>
          <a:p>
            <a:fld id="{6BD5573F-9581-45B5-87D8-897B2007FDDD}"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95492" y="1002124"/>
            <a:ext cx="5268599" cy="3699725"/>
          </a:xfrm>
        </p:spPr>
        <p:txBody>
          <a:bodyPr>
            <a:normAutofit fontScale="75000" lnSpcReduction="20000"/>
          </a:bodyPr>
          <a:lstStyle/>
          <a:p>
            <a:pPr marL="457200" indent="-457200">
              <a:spcBef>
                <a:spcPts val="600"/>
              </a:spcBef>
            </a:pPr>
            <a:r>
              <a:rPr lang="zh-CN" altLang="en-US" dirty="0"/>
              <a:t>软件测试的方法</a:t>
            </a:r>
            <a:endParaRPr lang="en-US" altLang="zh-CN" dirty="0"/>
          </a:p>
          <a:p>
            <a:pPr marL="457200" indent="-457200">
              <a:spcBef>
                <a:spcPts val="600"/>
              </a:spcBef>
            </a:pPr>
            <a:r>
              <a:rPr lang="zh-CN" altLang="en-US" dirty="0"/>
              <a:t>白盒测试黑盒测试的定义及方法</a:t>
            </a:r>
            <a:endParaRPr lang="en-US" altLang="zh-CN" dirty="0"/>
          </a:p>
          <a:p>
            <a:pPr marL="457200" indent="-457200">
              <a:spcBef>
                <a:spcPts val="600"/>
              </a:spcBef>
            </a:pPr>
            <a:r>
              <a:rPr lang="zh-CN" altLang="en-US" dirty="0"/>
              <a:t>测试的四个阶段及主要内容</a:t>
            </a:r>
            <a:endParaRPr lang="en-US" altLang="zh-CN" dirty="0"/>
          </a:p>
          <a:p>
            <a:pPr marL="457200" indent="-457200">
              <a:spcBef>
                <a:spcPts val="600"/>
              </a:spcBef>
            </a:pPr>
            <a:r>
              <a:rPr lang="zh-CN" altLang="en-US" dirty="0"/>
              <a:t>测试和调试的区别</a:t>
            </a:r>
            <a:endParaRPr lang="en-US" altLang="zh-CN" dirty="0"/>
          </a:p>
          <a:p>
            <a:pPr marL="457200" indent="-457200">
              <a:spcBef>
                <a:spcPts val="600"/>
              </a:spcBef>
            </a:pPr>
            <a:r>
              <a:rPr lang="zh-CN" altLang="en-US" dirty="0"/>
              <a:t>软件维护的类型与过程</a:t>
            </a:r>
            <a:endParaRPr lang="zh-CN" altLang="en-US" dirty="0"/>
          </a:p>
          <a:p>
            <a:pPr marL="457200" indent="-457200">
              <a:spcBef>
                <a:spcPts val="600"/>
              </a:spcBef>
            </a:pPr>
            <a:r>
              <a:rPr lang="zh-CN" altLang="en-US" dirty="0"/>
              <a:t>软件可维护性定义、决定性因素、提高方法</a:t>
            </a:r>
            <a:endParaRPr lang="en-US" altLang="zh-CN" dirty="0"/>
          </a:p>
          <a:p>
            <a:pPr marL="457200" indent="-457200">
              <a:spcBef>
                <a:spcPts val="600"/>
              </a:spcBef>
            </a:pPr>
            <a:r>
              <a:rPr lang="zh-CN" altLang="en-US" dirty="0"/>
              <a:t>软件再工程过程，重构的概念</a:t>
            </a:r>
            <a:endParaRPr lang="en-US" altLang="zh-CN" dirty="0"/>
          </a:p>
          <a:p>
            <a:pPr marL="457200" indent="-457200">
              <a:spcBef>
                <a:spcPts val="600"/>
              </a:spcBef>
            </a:pPr>
            <a:r>
              <a:rPr lang="zh-CN" altLang="en-US" dirty="0"/>
              <a:t>课后作业：</a:t>
            </a:r>
            <a:endParaRPr lang="zh-CN" altLang="en-US" dirty="0"/>
          </a:p>
          <a:p>
            <a:pPr marL="994410" lvl="1" indent="-342900">
              <a:spcBef>
                <a:spcPts val="600"/>
              </a:spcBef>
              <a:buClr>
                <a:srgbClr val="CA0098"/>
              </a:buClr>
              <a:buFont typeface="Arial" panose="020B0604020202020204" pitchFamily="34" charset="0"/>
              <a:buChar char="♥"/>
            </a:pPr>
            <a:r>
              <a:rPr lang="zh-CN" altLang="en-US" dirty="0"/>
              <a:t>完成系统的项目总结报告</a:t>
            </a:r>
            <a:endParaRPr lang="en-US" altLang="zh-CN"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本课小结</a:t>
            </a:r>
            <a:endParaRPr lang="zh-CN" altLang="en-US" dirty="0"/>
          </a:p>
        </p:txBody>
      </p:sp>
      <p:grpSp>
        <p:nvGrpSpPr>
          <p:cNvPr id="7" name="Group 6"/>
          <p:cNvGrpSpPr/>
          <p:nvPr/>
        </p:nvGrpSpPr>
        <p:grpSpPr>
          <a:xfrm>
            <a:off x="5795529" y="1448602"/>
            <a:ext cx="3209575" cy="3270280"/>
            <a:chOff x="3827463" y="1565275"/>
            <a:chExt cx="1195388" cy="1271588"/>
          </a:xfrm>
          <a:solidFill>
            <a:srgbClr val="92D050"/>
          </a:solidFill>
        </p:grpSpPr>
        <p:sp>
          <p:nvSpPr>
            <p:cNvPr id="8" name="Freeform 70"/>
            <p:cNvSpPr/>
            <p:nvPr/>
          </p:nvSpPr>
          <p:spPr bwMode="auto">
            <a:xfrm>
              <a:off x="4010026" y="1708150"/>
              <a:ext cx="835025" cy="1128713"/>
            </a:xfrm>
            <a:custGeom>
              <a:avLst/>
              <a:gdLst/>
              <a:ahLst/>
              <a:cxnLst>
                <a:cxn ang="0">
                  <a:pos x="104" y="385"/>
                </a:cxn>
                <a:cxn ang="0">
                  <a:pos x="112" y="230"/>
                </a:cxn>
                <a:cxn ang="0">
                  <a:pos x="6" y="164"/>
                </a:cxn>
                <a:cxn ang="0">
                  <a:pos x="121" y="191"/>
                </a:cxn>
                <a:cxn ang="0">
                  <a:pos x="126" y="93"/>
                </a:cxn>
                <a:cxn ang="0">
                  <a:pos x="76" y="29"/>
                </a:cxn>
                <a:cxn ang="0">
                  <a:pos x="132" y="61"/>
                </a:cxn>
                <a:cxn ang="0">
                  <a:pos x="174" y="5"/>
                </a:cxn>
                <a:cxn ang="0">
                  <a:pos x="149" y="79"/>
                </a:cxn>
                <a:cxn ang="0">
                  <a:pos x="171" y="196"/>
                </a:cxn>
                <a:cxn ang="0">
                  <a:pos x="277" y="149"/>
                </a:cxn>
                <a:cxn ang="0">
                  <a:pos x="177" y="228"/>
                </a:cxn>
                <a:cxn ang="0">
                  <a:pos x="178" y="385"/>
                </a:cxn>
                <a:cxn ang="0">
                  <a:pos x="104" y="385"/>
                </a:cxn>
              </a:cxnLst>
              <a:rect l="0" t="0" r="r" b="b"/>
              <a:pathLst>
                <a:path w="285" h="385">
                  <a:moveTo>
                    <a:pt x="104" y="385"/>
                  </a:moveTo>
                  <a:cubicBezTo>
                    <a:pt x="104" y="385"/>
                    <a:pt x="139" y="260"/>
                    <a:pt x="112" y="230"/>
                  </a:cubicBezTo>
                  <a:cubicBezTo>
                    <a:pt x="64" y="179"/>
                    <a:pt x="0" y="166"/>
                    <a:pt x="6" y="164"/>
                  </a:cubicBezTo>
                  <a:cubicBezTo>
                    <a:pt x="44" y="154"/>
                    <a:pt x="105" y="205"/>
                    <a:pt x="121" y="191"/>
                  </a:cubicBezTo>
                  <a:cubicBezTo>
                    <a:pt x="134" y="180"/>
                    <a:pt x="136" y="117"/>
                    <a:pt x="126" y="93"/>
                  </a:cubicBezTo>
                  <a:cubicBezTo>
                    <a:pt x="107" y="46"/>
                    <a:pt x="60" y="29"/>
                    <a:pt x="76" y="29"/>
                  </a:cubicBezTo>
                  <a:cubicBezTo>
                    <a:pt x="98" y="29"/>
                    <a:pt x="128" y="66"/>
                    <a:pt x="132" y="61"/>
                  </a:cubicBezTo>
                  <a:cubicBezTo>
                    <a:pt x="137" y="57"/>
                    <a:pt x="164" y="0"/>
                    <a:pt x="174" y="5"/>
                  </a:cubicBezTo>
                  <a:cubicBezTo>
                    <a:pt x="177" y="7"/>
                    <a:pt x="149" y="36"/>
                    <a:pt x="149" y="79"/>
                  </a:cubicBezTo>
                  <a:cubicBezTo>
                    <a:pt x="149" y="121"/>
                    <a:pt x="154" y="206"/>
                    <a:pt x="171" y="196"/>
                  </a:cubicBezTo>
                  <a:cubicBezTo>
                    <a:pt x="200" y="178"/>
                    <a:pt x="257" y="147"/>
                    <a:pt x="277" y="149"/>
                  </a:cubicBezTo>
                  <a:cubicBezTo>
                    <a:pt x="285" y="150"/>
                    <a:pt x="196" y="185"/>
                    <a:pt x="177" y="228"/>
                  </a:cubicBezTo>
                  <a:cubicBezTo>
                    <a:pt x="161" y="264"/>
                    <a:pt x="170" y="373"/>
                    <a:pt x="178" y="385"/>
                  </a:cubicBezTo>
                  <a:lnTo>
                    <a:pt x="104" y="385"/>
                  </a:lnTo>
                  <a:close/>
                </a:path>
              </a:pathLst>
            </a:custGeom>
            <a:solidFill>
              <a:srgbClr val="B65310"/>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9" name="Freeform 71"/>
            <p:cNvSpPr/>
            <p:nvPr/>
          </p:nvSpPr>
          <p:spPr bwMode="auto">
            <a:xfrm>
              <a:off x="4495801" y="2089150"/>
              <a:ext cx="166688" cy="114300"/>
            </a:xfrm>
            <a:custGeom>
              <a:avLst/>
              <a:gdLst/>
              <a:ahLst/>
              <a:cxnLst>
                <a:cxn ang="0">
                  <a:pos x="27" y="39"/>
                </a:cxn>
                <a:cxn ang="0">
                  <a:pos x="20" y="0"/>
                </a:cxn>
                <a:cxn ang="0">
                  <a:pos x="27" y="39"/>
                </a:cxn>
              </a:cxnLst>
              <a:rect l="0" t="0" r="r" b="b"/>
              <a:pathLst>
                <a:path w="57" h="39">
                  <a:moveTo>
                    <a:pt x="27" y="39"/>
                  </a:moveTo>
                  <a:cubicBezTo>
                    <a:pt x="27" y="39"/>
                    <a:pt x="0" y="36"/>
                    <a:pt x="20" y="0"/>
                  </a:cubicBezTo>
                  <a:cubicBezTo>
                    <a:pt x="20" y="0"/>
                    <a:pt x="57" y="26"/>
                    <a:pt x="27" y="3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0" name="Freeform 72"/>
            <p:cNvSpPr/>
            <p:nvPr/>
          </p:nvSpPr>
          <p:spPr bwMode="auto">
            <a:xfrm>
              <a:off x="4621213" y="2025650"/>
              <a:ext cx="161925" cy="117475"/>
            </a:xfrm>
            <a:custGeom>
              <a:avLst/>
              <a:gdLst/>
              <a:ahLst/>
              <a:cxnLst>
                <a:cxn ang="0">
                  <a:pos x="23" y="40"/>
                </a:cxn>
                <a:cxn ang="0">
                  <a:pos x="27" y="0"/>
                </a:cxn>
                <a:cxn ang="0">
                  <a:pos x="23" y="40"/>
                </a:cxn>
              </a:cxnLst>
              <a:rect l="0" t="0" r="r" b="b"/>
              <a:pathLst>
                <a:path w="55" h="40">
                  <a:moveTo>
                    <a:pt x="23" y="40"/>
                  </a:moveTo>
                  <a:cubicBezTo>
                    <a:pt x="23" y="40"/>
                    <a:pt x="0" y="32"/>
                    <a:pt x="27" y="0"/>
                  </a:cubicBezTo>
                  <a:cubicBezTo>
                    <a:pt x="27" y="0"/>
                    <a:pt x="55" y="35"/>
                    <a:pt x="23" y="4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1" name="Freeform 73"/>
            <p:cNvSpPr/>
            <p:nvPr/>
          </p:nvSpPr>
          <p:spPr bwMode="auto">
            <a:xfrm>
              <a:off x="4718051" y="1971675"/>
              <a:ext cx="173038" cy="138113"/>
            </a:xfrm>
            <a:custGeom>
              <a:avLst/>
              <a:gdLst/>
              <a:ahLst/>
              <a:cxnLst>
                <a:cxn ang="0">
                  <a:pos x="22" y="47"/>
                </a:cxn>
                <a:cxn ang="0">
                  <a:pos x="40" y="0"/>
                </a:cxn>
                <a:cxn ang="0">
                  <a:pos x="22" y="47"/>
                </a:cxn>
              </a:cxnLst>
              <a:rect l="0" t="0" r="r" b="b"/>
              <a:pathLst>
                <a:path w="59" h="47">
                  <a:moveTo>
                    <a:pt x="22" y="47"/>
                  </a:moveTo>
                  <a:cubicBezTo>
                    <a:pt x="22" y="47"/>
                    <a:pt x="0" y="25"/>
                    <a:pt x="40" y="0"/>
                  </a:cubicBezTo>
                  <a:cubicBezTo>
                    <a:pt x="40" y="0"/>
                    <a:pt x="59" y="43"/>
                    <a:pt x="22" y="4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2" name="Freeform 74"/>
            <p:cNvSpPr/>
            <p:nvPr/>
          </p:nvSpPr>
          <p:spPr bwMode="auto">
            <a:xfrm>
              <a:off x="4873626" y="2009775"/>
              <a:ext cx="149225" cy="117475"/>
            </a:xfrm>
            <a:custGeom>
              <a:avLst/>
              <a:gdLst/>
              <a:ahLst/>
              <a:cxnLst>
                <a:cxn ang="0">
                  <a:pos x="4" y="24"/>
                </a:cxn>
                <a:cxn ang="0">
                  <a:pos x="51" y="10"/>
                </a:cxn>
                <a:cxn ang="0">
                  <a:pos x="39" y="25"/>
                </a:cxn>
                <a:cxn ang="0">
                  <a:pos x="4" y="24"/>
                </a:cxn>
              </a:cxnLst>
              <a:rect l="0" t="0" r="r" b="b"/>
              <a:pathLst>
                <a:path w="51" h="40">
                  <a:moveTo>
                    <a:pt x="4" y="24"/>
                  </a:moveTo>
                  <a:cubicBezTo>
                    <a:pt x="4" y="24"/>
                    <a:pt x="0" y="0"/>
                    <a:pt x="51" y="10"/>
                  </a:cubicBezTo>
                  <a:cubicBezTo>
                    <a:pt x="51" y="10"/>
                    <a:pt x="46" y="15"/>
                    <a:pt x="39" y="25"/>
                  </a:cubicBezTo>
                  <a:cubicBezTo>
                    <a:pt x="32" y="34"/>
                    <a:pt x="11" y="40"/>
                    <a:pt x="4"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3" name="Freeform 75"/>
            <p:cNvSpPr/>
            <p:nvPr/>
          </p:nvSpPr>
          <p:spPr bwMode="auto">
            <a:xfrm>
              <a:off x="4827588" y="2165350"/>
              <a:ext cx="131763" cy="92075"/>
            </a:xfrm>
            <a:custGeom>
              <a:avLst/>
              <a:gdLst/>
              <a:ahLst/>
              <a:cxnLst>
                <a:cxn ang="0">
                  <a:pos x="14" y="0"/>
                </a:cxn>
                <a:cxn ang="0">
                  <a:pos x="45" y="20"/>
                </a:cxn>
                <a:cxn ang="0">
                  <a:pos x="9" y="16"/>
                </a:cxn>
                <a:cxn ang="0">
                  <a:pos x="14" y="0"/>
                </a:cxn>
              </a:cxnLst>
              <a:rect l="0" t="0" r="r" b="b"/>
              <a:pathLst>
                <a:path w="45" h="31">
                  <a:moveTo>
                    <a:pt x="14" y="0"/>
                  </a:moveTo>
                  <a:cubicBezTo>
                    <a:pt x="14" y="0"/>
                    <a:pt x="40" y="3"/>
                    <a:pt x="45" y="20"/>
                  </a:cubicBezTo>
                  <a:cubicBezTo>
                    <a:pt x="45" y="20"/>
                    <a:pt x="28" y="31"/>
                    <a:pt x="9" y="16"/>
                  </a:cubicBezTo>
                  <a:cubicBezTo>
                    <a:pt x="0" y="8"/>
                    <a:pt x="6" y="1"/>
                    <a:pt x="14" y="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4" name="Freeform 76"/>
            <p:cNvSpPr/>
            <p:nvPr/>
          </p:nvSpPr>
          <p:spPr bwMode="auto">
            <a:xfrm>
              <a:off x="4751388" y="2212975"/>
              <a:ext cx="104775" cy="111125"/>
            </a:xfrm>
            <a:custGeom>
              <a:avLst/>
              <a:gdLst/>
              <a:ahLst/>
              <a:cxnLst>
                <a:cxn ang="0">
                  <a:pos x="6" y="8"/>
                </a:cxn>
                <a:cxn ang="0">
                  <a:pos x="27" y="11"/>
                </a:cxn>
                <a:cxn ang="0">
                  <a:pos x="36" y="38"/>
                </a:cxn>
                <a:cxn ang="0">
                  <a:pos x="5" y="23"/>
                </a:cxn>
                <a:cxn ang="0">
                  <a:pos x="6" y="8"/>
                </a:cxn>
              </a:cxnLst>
              <a:rect l="0" t="0" r="r" b="b"/>
              <a:pathLst>
                <a:path w="36" h="38">
                  <a:moveTo>
                    <a:pt x="6" y="8"/>
                  </a:moveTo>
                  <a:cubicBezTo>
                    <a:pt x="6" y="8"/>
                    <a:pt x="17" y="0"/>
                    <a:pt x="27" y="11"/>
                  </a:cubicBezTo>
                  <a:cubicBezTo>
                    <a:pt x="36" y="21"/>
                    <a:pt x="34" y="33"/>
                    <a:pt x="36" y="38"/>
                  </a:cubicBezTo>
                  <a:cubicBezTo>
                    <a:pt x="36" y="38"/>
                    <a:pt x="14" y="35"/>
                    <a:pt x="5" y="23"/>
                  </a:cubicBezTo>
                  <a:cubicBezTo>
                    <a:pt x="0" y="16"/>
                    <a:pt x="4" y="11"/>
                    <a:pt x="6" y="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5" name="Freeform 77"/>
            <p:cNvSpPr/>
            <p:nvPr/>
          </p:nvSpPr>
          <p:spPr bwMode="auto">
            <a:xfrm>
              <a:off x="4638676" y="2279650"/>
              <a:ext cx="138113" cy="111125"/>
            </a:xfrm>
            <a:custGeom>
              <a:avLst/>
              <a:gdLst/>
              <a:ahLst/>
              <a:cxnLst>
                <a:cxn ang="0">
                  <a:pos x="15" y="5"/>
                </a:cxn>
                <a:cxn ang="0">
                  <a:pos x="39" y="12"/>
                </a:cxn>
                <a:cxn ang="0">
                  <a:pos x="47" y="35"/>
                </a:cxn>
                <a:cxn ang="0">
                  <a:pos x="15" y="5"/>
                </a:cxn>
              </a:cxnLst>
              <a:rect l="0" t="0" r="r" b="b"/>
              <a:pathLst>
                <a:path w="47" h="38">
                  <a:moveTo>
                    <a:pt x="15" y="5"/>
                  </a:moveTo>
                  <a:cubicBezTo>
                    <a:pt x="15" y="5"/>
                    <a:pt x="31" y="0"/>
                    <a:pt x="39" y="12"/>
                  </a:cubicBezTo>
                  <a:cubicBezTo>
                    <a:pt x="47" y="23"/>
                    <a:pt x="44" y="31"/>
                    <a:pt x="47" y="35"/>
                  </a:cubicBezTo>
                  <a:cubicBezTo>
                    <a:pt x="47" y="35"/>
                    <a:pt x="0" y="38"/>
                    <a:pt x="15" y="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6" name="Freeform 78"/>
            <p:cNvSpPr/>
            <p:nvPr/>
          </p:nvSpPr>
          <p:spPr bwMode="auto">
            <a:xfrm>
              <a:off x="4132263" y="2089150"/>
              <a:ext cx="123825" cy="117475"/>
            </a:xfrm>
            <a:custGeom>
              <a:avLst/>
              <a:gdLst/>
              <a:ahLst/>
              <a:cxnLst>
                <a:cxn ang="0">
                  <a:pos x="22" y="35"/>
                </a:cxn>
                <a:cxn ang="0">
                  <a:pos x="40" y="0"/>
                </a:cxn>
                <a:cxn ang="0">
                  <a:pos x="40" y="17"/>
                </a:cxn>
                <a:cxn ang="0">
                  <a:pos x="22" y="35"/>
                </a:cxn>
              </a:cxnLst>
              <a:rect l="0" t="0" r="r" b="b"/>
              <a:pathLst>
                <a:path w="42" h="40">
                  <a:moveTo>
                    <a:pt x="22" y="35"/>
                  </a:moveTo>
                  <a:cubicBezTo>
                    <a:pt x="22" y="35"/>
                    <a:pt x="0" y="19"/>
                    <a:pt x="40" y="0"/>
                  </a:cubicBezTo>
                  <a:cubicBezTo>
                    <a:pt x="40" y="0"/>
                    <a:pt x="39" y="8"/>
                    <a:pt x="40" y="17"/>
                  </a:cubicBezTo>
                  <a:cubicBezTo>
                    <a:pt x="42" y="25"/>
                    <a:pt x="36" y="40"/>
                    <a:pt x="22" y="3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7" name="Freeform 79"/>
            <p:cNvSpPr/>
            <p:nvPr/>
          </p:nvSpPr>
          <p:spPr bwMode="auto">
            <a:xfrm>
              <a:off x="4067176" y="2036763"/>
              <a:ext cx="112713" cy="123825"/>
            </a:xfrm>
            <a:custGeom>
              <a:avLst/>
              <a:gdLst/>
              <a:ahLst/>
              <a:cxnLst>
                <a:cxn ang="0">
                  <a:pos x="11" y="36"/>
                </a:cxn>
                <a:cxn ang="0">
                  <a:pos x="17" y="6"/>
                </a:cxn>
                <a:cxn ang="0">
                  <a:pos x="28" y="0"/>
                </a:cxn>
                <a:cxn ang="0">
                  <a:pos x="25" y="39"/>
                </a:cxn>
                <a:cxn ang="0">
                  <a:pos x="11" y="36"/>
                </a:cxn>
              </a:cxnLst>
              <a:rect l="0" t="0" r="r" b="b"/>
              <a:pathLst>
                <a:path w="38" h="42">
                  <a:moveTo>
                    <a:pt x="11" y="36"/>
                  </a:moveTo>
                  <a:cubicBezTo>
                    <a:pt x="11" y="36"/>
                    <a:pt x="0" y="21"/>
                    <a:pt x="17" y="6"/>
                  </a:cubicBezTo>
                  <a:cubicBezTo>
                    <a:pt x="21" y="3"/>
                    <a:pt x="28" y="0"/>
                    <a:pt x="28" y="0"/>
                  </a:cubicBezTo>
                  <a:cubicBezTo>
                    <a:pt x="28" y="0"/>
                    <a:pt x="38" y="31"/>
                    <a:pt x="25" y="39"/>
                  </a:cubicBezTo>
                  <a:cubicBezTo>
                    <a:pt x="20" y="42"/>
                    <a:pt x="14" y="41"/>
                    <a:pt x="11" y="36"/>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8" name="Freeform 80"/>
            <p:cNvSpPr/>
            <p:nvPr/>
          </p:nvSpPr>
          <p:spPr bwMode="auto">
            <a:xfrm>
              <a:off x="3956051" y="2019300"/>
              <a:ext cx="109538" cy="125413"/>
            </a:xfrm>
            <a:custGeom>
              <a:avLst/>
              <a:gdLst/>
              <a:ahLst/>
              <a:cxnLst>
                <a:cxn ang="0">
                  <a:pos x="19" y="42"/>
                </a:cxn>
                <a:cxn ang="0">
                  <a:pos x="9" y="15"/>
                </a:cxn>
                <a:cxn ang="0">
                  <a:pos x="17" y="0"/>
                </a:cxn>
                <a:cxn ang="0">
                  <a:pos x="24" y="11"/>
                </a:cxn>
                <a:cxn ang="0">
                  <a:pos x="19" y="42"/>
                </a:cxn>
              </a:cxnLst>
              <a:rect l="0" t="0" r="r" b="b"/>
              <a:pathLst>
                <a:path w="37" h="43">
                  <a:moveTo>
                    <a:pt x="19" y="42"/>
                  </a:moveTo>
                  <a:cubicBezTo>
                    <a:pt x="9" y="43"/>
                    <a:pt x="0" y="30"/>
                    <a:pt x="9" y="15"/>
                  </a:cubicBezTo>
                  <a:cubicBezTo>
                    <a:pt x="17" y="0"/>
                    <a:pt x="17" y="0"/>
                    <a:pt x="17" y="0"/>
                  </a:cubicBezTo>
                  <a:cubicBezTo>
                    <a:pt x="17" y="0"/>
                    <a:pt x="21" y="7"/>
                    <a:pt x="24" y="11"/>
                  </a:cubicBezTo>
                  <a:cubicBezTo>
                    <a:pt x="30" y="20"/>
                    <a:pt x="37" y="42"/>
                    <a:pt x="19"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9" name="Freeform 81"/>
            <p:cNvSpPr/>
            <p:nvPr/>
          </p:nvSpPr>
          <p:spPr bwMode="auto">
            <a:xfrm>
              <a:off x="3827463" y="2106613"/>
              <a:ext cx="146050" cy="100013"/>
            </a:xfrm>
            <a:custGeom>
              <a:avLst/>
              <a:gdLst/>
              <a:ahLst/>
              <a:cxnLst>
                <a:cxn ang="0">
                  <a:pos x="49" y="24"/>
                </a:cxn>
                <a:cxn ang="0">
                  <a:pos x="9" y="12"/>
                </a:cxn>
                <a:cxn ang="0">
                  <a:pos x="0" y="19"/>
                </a:cxn>
                <a:cxn ang="0">
                  <a:pos x="23" y="33"/>
                </a:cxn>
                <a:cxn ang="0">
                  <a:pos x="49" y="24"/>
                </a:cxn>
              </a:cxnLst>
              <a:rect l="0" t="0" r="r" b="b"/>
              <a:pathLst>
                <a:path w="50" h="34">
                  <a:moveTo>
                    <a:pt x="49" y="24"/>
                  </a:moveTo>
                  <a:cubicBezTo>
                    <a:pt x="49" y="24"/>
                    <a:pt x="30" y="0"/>
                    <a:pt x="9" y="12"/>
                  </a:cubicBezTo>
                  <a:cubicBezTo>
                    <a:pt x="9" y="12"/>
                    <a:pt x="3" y="17"/>
                    <a:pt x="0" y="19"/>
                  </a:cubicBezTo>
                  <a:cubicBezTo>
                    <a:pt x="0" y="19"/>
                    <a:pt x="10" y="32"/>
                    <a:pt x="23" y="33"/>
                  </a:cubicBezTo>
                  <a:cubicBezTo>
                    <a:pt x="35" y="34"/>
                    <a:pt x="50" y="33"/>
                    <a:pt x="49"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0" name="Freeform 82"/>
            <p:cNvSpPr/>
            <p:nvPr/>
          </p:nvSpPr>
          <p:spPr bwMode="auto">
            <a:xfrm>
              <a:off x="3948113" y="2220913"/>
              <a:ext cx="119063" cy="109538"/>
            </a:xfrm>
            <a:custGeom>
              <a:avLst/>
              <a:gdLst/>
              <a:ahLst/>
              <a:cxnLst>
                <a:cxn ang="0">
                  <a:pos x="28" y="1"/>
                </a:cxn>
                <a:cxn ang="0">
                  <a:pos x="7" y="19"/>
                </a:cxn>
                <a:cxn ang="0">
                  <a:pos x="0" y="37"/>
                </a:cxn>
                <a:cxn ang="0">
                  <a:pos x="38" y="20"/>
                </a:cxn>
                <a:cxn ang="0">
                  <a:pos x="28" y="1"/>
                </a:cxn>
              </a:cxnLst>
              <a:rect l="0" t="0" r="r" b="b"/>
              <a:pathLst>
                <a:path w="41" h="37">
                  <a:moveTo>
                    <a:pt x="28" y="1"/>
                  </a:moveTo>
                  <a:cubicBezTo>
                    <a:pt x="23" y="1"/>
                    <a:pt x="8" y="5"/>
                    <a:pt x="7" y="19"/>
                  </a:cubicBezTo>
                  <a:cubicBezTo>
                    <a:pt x="5" y="32"/>
                    <a:pt x="0" y="37"/>
                    <a:pt x="0" y="37"/>
                  </a:cubicBezTo>
                  <a:cubicBezTo>
                    <a:pt x="0" y="37"/>
                    <a:pt x="35" y="35"/>
                    <a:pt x="38" y="20"/>
                  </a:cubicBezTo>
                  <a:cubicBezTo>
                    <a:pt x="41" y="4"/>
                    <a:pt x="33" y="0"/>
                    <a:pt x="28" y="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1" name="Freeform 83"/>
            <p:cNvSpPr/>
            <p:nvPr/>
          </p:nvSpPr>
          <p:spPr bwMode="auto">
            <a:xfrm>
              <a:off x="4056063" y="2265363"/>
              <a:ext cx="179388" cy="128588"/>
            </a:xfrm>
            <a:custGeom>
              <a:avLst/>
              <a:gdLst/>
              <a:ahLst/>
              <a:cxnLst>
                <a:cxn ang="0">
                  <a:pos x="30" y="7"/>
                </a:cxn>
                <a:cxn ang="0">
                  <a:pos x="10" y="44"/>
                </a:cxn>
                <a:cxn ang="0">
                  <a:pos x="30" y="7"/>
                </a:cxn>
              </a:cxnLst>
              <a:rect l="0" t="0" r="r" b="b"/>
              <a:pathLst>
                <a:path w="61" h="44">
                  <a:moveTo>
                    <a:pt x="30" y="7"/>
                  </a:moveTo>
                  <a:cubicBezTo>
                    <a:pt x="18" y="0"/>
                    <a:pt x="0" y="12"/>
                    <a:pt x="10" y="44"/>
                  </a:cubicBezTo>
                  <a:cubicBezTo>
                    <a:pt x="10" y="44"/>
                    <a:pt x="61" y="26"/>
                    <a:pt x="30" y="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2" name="Freeform 84"/>
            <p:cNvSpPr/>
            <p:nvPr/>
          </p:nvSpPr>
          <p:spPr bwMode="auto">
            <a:xfrm>
              <a:off x="4457701" y="1565275"/>
              <a:ext cx="138113" cy="155575"/>
            </a:xfrm>
            <a:custGeom>
              <a:avLst/>
              <a:gdLst/>
              <a:ahLst/>
              <a:cxnLst>
                <a:cxn ang="0">
                  <a:pos x="23" y="44"/>
                </a:cxn>
                <a:cxn ang="0">
                  <a:pos x="42" y="0"/>
                </a:cxn>
                <a:cxn ang="0">
                  <a:pos x="46" y="17"/>
                </a:cxn>
                <a:cxn ang="0">
                  <a:pos x="23" y="44"/>
                </a:cxn>
              </a:cxnLst>
              <a:rect l="0" t="0" r="r" b="b"/>
              <a:pathLst>
                <a:path w="47" h="53">
                  <a:moveTo>
                    <a:pt x="23" y="44"/>
                  </a:moveTo>
                  <a:cubicBezTo>
                    <a:pt x="23" y="44"/>
                    <a:pt x="0" y="21"/>
                    <a:pt x="42" y="0"/>
                  </a:cubicBezTo>
                  <a:cubicBezTo>
                    <a:pt x="42" y="0"/>
                    <a:pt x="45" y="8"/>
                    <a:pt x="46" y="17"/>
                  </a:cubicBezTo>
                  <a:cubicBezTo>
                    <a:pt x="47" y="26"/>
                    <a:pt x="43" y="53"/>
                    <a:pt x="23"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3" name="Freeform 85"/>
            <p:cNvSpPr/>
            <p:nvPr/>
          </p:nvSpPr>
          <p:spPr bwMode="auto">
            <a:xfrm>
              <a:off x="4398963" y="1609725"/>
              <a:ext cx="103188" cy="133350"/>
            </a:xfrm>
            <a:custGeom>
              <a:avLst/>
              <a:gdLst/>
              <a:ahLst/>
              <a:cxnLst>
                <a:cxn ang="0">
                  <a:pos x="24" y="41"/>
                </a:cxn>
                <a:cxn ang="0">
                  <a:pos x="14" y="11"/>
                </a:cxn>
                <a:cxn ang="0">
                  <a:pos x="1" y="0"/>
                </a:cxn>
                <a:cxn ang="0">
                  <a:pos x="1" y="19"/>
                </a:cxn>
                <a:cxn ang="0">
                  <a:pos x="10" y="43"/>
                </a:cxn>
                <a:cxn ang="0">
                  <a:pos x="24" y="41"/>
                </a:cxn>
              </a:cxnLst>
              <a:rect l="0" t="0" r="r" b="b"/>
              <a:pathLst>
                <a:path w="35" h="46">
                  <a:moveTo>
                    <a:pt x="24" y="41"/>
                  </a:moveTo>
                  <a:cubicBezTo>
                    <a:pt x="24" y="41"/>
                    <a:pt x="35" y="25"/>
                    <a:pt x="14" y="11"/>
                  </a:cubicBezTo>
                  <a:cubicBezTo>
                    <a:pt x="3" y="3"/>
                    <a:pt x="1" y="0"/>
                    <a:pt x="1" y="0"/>
                  </a:cubicBezTo>
                  <a:cubicBezTo>
                    <a:pt x="1" y="0"/>
                    <a:pt x="0" y="14"/>
                    <a:pt x="1" y="19"/>
                  </a:cubicBezTo>
                  <a:cubicBezTo>
                    <a:pt x="1" y="24"/>
                    <a:pt x="0" y="38"/>
                    <a:pt x="10" y="43"/>
                  </a:cubicBezTo>
                  <a:cubicBezTo>
                    <a:pt x="17" y="46"/>
                    <a:pt x="24" y="41"/>
                    <a:pt x="2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4" name="Freeform 86"/>
            <p:cNvSpPr/>
            <p:nvPr/>
          </p:nvSpPr>
          <p:spPr bwMode="auto">
            <a:xfrm>
              <a:off x="4527551" y="1682750"/>
              <a:ext cx="138113" cy="131763"/>
            </a:xfrm>
            <a:custGeom>
              <a:avLst/>
              <a:gdLst/>
              <a:ahLst/>
              <a:cxnLst>
                <a:cxn ang="0">
                  <a:pos x="6" y="21"/>
                </a:cxn>
                <a:cxn ang="0">
                  <a:pos x="47" y="34"/>
                </a:cxn>
                <a:cxn ang="0">
                  <a:pos x="9" y="35"/>
                </a:cxn>
                <a:cxn ang="0">
                  <a:pos x="6" y="21"/>
                </a:cxn>
              </a:cxnLst>
              <a:rect l="0" t="0" r="r" b="b"/>
              <a:pathLst>
                <a:path w="47" h="45">
                  <a:moveTo>
                    <a:pt x="6" y="21"/>
                  </a:moveTo>
                  <a:cubicBezTo>
                    <a:pt x="6" y="21"/>
                    <a:pt x="31" y="0"/>
                    <a:pt x="47" y="34"/>
                  </a:cubicBezTo>
                  <a:cubicBezTo>
                    <a:pt x="47" y="34"/>
                    <a:pt x="28" y="45"/>
                    <a:pt x="9" y="35"/>
                  </a:cubicBezTo>
                  <a:cubicBezTo>
                    <a:pt x="0" y="31"/>
                    <a:pt x="6" y="23"/>
                    <a:pt x="6" y="2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5" name="Freeform 87"/>
            <p:cNvSpPr/>
            <p:nvPr/>
          </p:nvSpPr>
          <p:spPr bwMode="auto">
            <a:xfrm>
              <a:off x="4475163" y="1814513"/>
              <a:ext cx="138113" cy="117475"/>
            </a:xfrm>
            <a:custGeom>
              <a:avLst/>
              <a:gdLst/>
              <a:ahLst/>
              <a:cxnLst>
                <a:cxn ang="0">
                  <a:pos x="1" y="20"/>
                </a:cxn>
                <a:cxn ang="0">
                  <a:pos x="47" y="14"/>
                </a:cxn>
                <a:cxn ang="0">
                  <a:pos x="33" y="24"/>
                </a:cxn>
                <a:cxn ang="0">
                  <a:pos x="1" y="20"/>
                </a:cxn>
              </a:cxnLst>
              <a:rect l="0" t="0" r="r" b="b"/>
              <a:pathLst>
                <a:path w="47" h="40">
                  <a:moveTo>
                    <a:pt x="1" y="20"/>
                  </a:moveTo>
                  <a:cubicBezTo>
                    <a:pt x="0" y="15"/>
                    <a:pt x="9" y="0"/>
                    <a:pt x="47" y="14"/>
                  </a:cubicBezTo>
                  <a:cubicBezTo>
                    <a:pt x="47" y="14"/>
                    <a:pt x="38" y="21"/>
                    <a:pt x="33" y="24"/>
                  </a:cubicBezTo>
                  <a:cubicBezTo>
                    <a:pt x="28" y="28"/>
                    <a:pt x="2" y="40"/>
                    <a:pt x="1" y="2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6" name="Freeform 88"/>
            <p:cNvSpPr/>
            <p:nvPr/>
          </p:nvSpPr>
          <p:spPr bwMode="auto">
            <a:xfrm>
              <a:off x="4481513" y="1946275"/>
              <a:ext cx="122238" cy="111125"/>
            </a:xfrm>
            <a:custGeom>
              <a:avLst/>
              <a:gdLst/>
              <a:ahLst/>
              <a:cxnLst>
                <a:cxn ang="0">
                  <a:pos x="1" y="19"/>
                </a:cxn>
                <a:cxn ang="0">
                  <a:pos x="35" y="0"/>
                </a:cxn>
                <a:cxn ang="0">
                  <a:pos x="42" y="0"/>
                </a:cxn>
                <a:cxn ang="0">
                  <a:pos x="24" y="31"/>
                </a:cxn>
                <a:cxn ang="0">
                  <a:pos x="1" y="19"/>
                </a:cxn>
              </a:cxnLst>
              <a:rect l="0" t="0" r="r" b="b"/>
              <a:pathLst>
                <a:path w="42" h="38">
                  <a:moveTo>
                    <a:pt x="1" y="19"/>
                  </a:moveTo>
                  <a:cubicBezTo>
                    <a:pt x="0" y="14"/>
                    <a:pt x="2" y="0"/>
                    <a:pt x="35" y="0"/>
                  </a:cubicBezTo>
                  <a:cubicBezTo>
                    <a:pt x="35" y="0"/>
                    <a:pt x="40" y="1"/>
                    <a:pt x="42" y="0"/>
                  </a:cubicBezTo>
                  <a:cubicBezTo>
                    <a:pt x="42" y="0"/>
                    <a:pt x="36" y="23"/>
                    <a:pt x="24" y="31"/>
                  </a:cubicBezTo>
                  <a:cubicBezTo>
                    <a:pt x="12" y="38"/>
                    <a:pt x="2" y="27"/>
                    <a:pt x="1" y="1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7" name="Freeform 89"/>
            <p:cNvSpPr/>
            <p:nvPr/>
          </p:nvSpPr>
          <p:spPr bwMode="auto">
            <a:xfrm>
              <a:off x="4232276" y="1990725"/>
              <a:ext cx="139700" cy="93663"/>
            </a:xfrm>
            <a:custGeom>
              <a:avLst/>
              <a:gdLst/>
              <a:ahLst/>
              <a:cxnLst>
                <a:cxn ang="0">
                  <a:pos x="46" y="18"/>
                </a:cxn>
                <a:cxn ang="0">
                  <a:pos x="15" y="3"/>
                </a:cxn>
                <a:cxn ang="0">
                  <a:pos x="0" y="5"/>
                </a:cxn>
                <a:cxn ang="0">
                  <a:pos x="24" y="30"/>
                </a:cxn>
                <a:cxn ang="0">
                  <a:pos x="46" y="18"/>
                </a:cxn>
              </a:cxnLst>
              <a:rect l="0" t="0" r="r" b="b"/>
              <a:pathLst>
                <a:path w="48" h="32">
                  <a:moveTo>
                    <a:pt x="46" y="18"/>
                  </a:moveTo>
                  <a:cubicBezTo>
                    <a:pt x="46" y="18"/>
                    <a:pt x="44" y="0"/>
                    <a:pt x="15" y="3"/>
                  </a:cubicBezTo>
                  <a:cubicBezTo>
                    <a:pt x="15" y="3"/>
                    <a:pt x="2" y="6"/>
                    <a:pt x="0" y="5"/>
                  </a:cubicBezTo>
                  <a:cubicBezTo>
                    <a:pt x="0" y="5"/>
                    <a:pt x="10" y="27"/>
                    <a:pt x="24" y="30"/>
                  </a:cubicBezTo>
                  <a:cubicBezTo>
                    <a:pt x="38" y="32"/>
                    <a:pt x="48" y="27"/>
                    <a:pt x="46" y="1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Freeform 90"/>
            <p:cNvSpPr/>
            <p:nvPr/>
          </p:nvSpPr>
          <p:spPr bwMode="auto">
            <a:xfrm>
              <a:off x="4170363" y="1870075"/>
              <a:ext cx="131763" cy="87313"/>
            </a:xfrm>
            <a:custGeom>
              <a:avLst/>
              <a:gdLst/>
              <a:ahLst/>
              <a:cxnLst>
                <a:cxn ang="0">
                  <a:pos x="41" y="11"/>
                </a:cxn>
                <a:cxn ang="0">
                  <a:pos x="7" y="8"/>
                </a:cxn>
                <a:cxn ang="0">
                  <a:pos x="0" y="18"/>
                </a:cxn>
                <a:cxn ang="0">
                  <a:pos x="19" y="24"/>
                </a:cxn>
                <a:cxn ang="0">
                  <a:pos x="41" y="11"/>
                </a:cxn>
              </a:cxnLst>
              <a:rect l="0" t="0" r="r" b="b"/>
              <a:pathLst>
                <a:path w="45" h="30">
                  <a:moveTo>
                    <a:pt x="41" y="11"/>
                  </a:moveTo>
                  <a:cubicBezTo>
                    <a:pt x="37" y="5"/>
                    <a:pt x="22" y="0"/>
                    <a:pt x="7" y="8"/>
                  </a:cubicBezTo>
                  <a:cubicBezTo>
                    <a:pt x="1" y="12"/>
                    <a:pt x="0" y="18"/>
                    <a:pt x="0" y="18"/>
                  </a:cubicBezTo>
                  <a:cubicBezTo>
                    <a:pt x="0" y="18"/>
                    <a:pt x="13" y="21"/>
                    <a:pt x="19" y="24"/>
                  </a:cubicBezTo>
                  <a:cubicBezTo>
                    <a:pt x="32" y="30"/>
                    <a:pt x="45" y="18"/>
                    <a:pt x="41" y="1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9" name="Freeform 91"/>
            <p:cNvSpPr/>
            <p:nvPr/>
          </p:nvSpPr>
          <p:spPr bwMode="auto">
            <a:xfrm>
              <a:off x="4122738" y="1682750"/>
              <a:ext cx="120650" cy="114300"/>
            </a:xfrm>
            <a:custGeom>
              <a:avLst/>
              <a:gdLst/>
              <a:ahLst/>
              <a:cxnLst>
                <a:cxn ang="0">
                  <a:pos x="30" y="34"/>
                </a:cxn>
                <a:cxn ang="0">
                  <a:pos x="23" y="9"/>
                </a:cxn>
                <a:cxn ang="0">
                  <a:pos x="8" y="0"/>
                </a:cxn>
                <a:cxn ang="0">
                  <a:pos x="9" y="27"/>
                </a:cxn>
                <a:cxn ang="0">
                  <a:pos x="30" y="34"/>
                </a:cxn>
              </a:cxnLst>
              <a:rect l="0" t="0" r="r" b="b"/>
              <a:pathLst>
                <a:path w="41" h="39">
                  <a:moveTo>
                    <a:pt x="30" y="34"/>
                  </a:moveTo>
                  <a:cubicBezTo>
                    <a:pt x="30" y="34"/>
                    <a:pt x="41" y="17"/>
                    <a:pt x="23" y="9"/>
                  </a:cubicBezTo>
                  <a:cubicBezTo>
                    <a:pt x="10" y="3"/>
                    <a:pt x="8" y="0"/>
                    <a:pt x="8" y="0"/>
                  </a:cubicBezTo>
                  <a:cubicBezTo>
                    <a:pt x="8" y="0"/>
                    <a:pt x="0" y="15"/>
                    <a:pt x="9" y="27"/>
                  </a:cubicBezTo>
                  <a:cubicBezTo>
                    <a:pt x="18" y="39"/>
                    <a:pt x="27" y="35"/>
                    <a:pt x="30" y="3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0" name="Freeform 92"/>
            <p:cNvSpPr/>
            <p:nvPr/>
          </p:nvSpPr>
          <p:spPr bwMode="auto">
            <a:xfrm>
              <a:off x="4246563" y="1670050"/>
              <a:ext cx="125413" cy="134938"/>
            </a:xfrm>
            <a:custGeom>
              <a:avLst/>
              <a:gdLst/>
              <a:ahLst/>
              <a:cxnLst>
                <a:cxn ang="0">
                  <a:pos x="14" y="41"/>
                </a:cxn>
                <a:cxn ang="0">
                  <a:pos x="12" y="17"/>
                </a:cxn>
                <a:cxn ang="0">
                  <a:pos x="31" y="0"/>
                </a:cxn>
                <a:cxn ang="0">
                  <a:pos x="35" y="38"/>
                </a:cxn>
                <a:cxn ang="0">
                  <a:pos x="14" y="41"/>
                </a:cxn>
              </a:cxnLst>
              <a:rect l="0" t="0" r="r" b="b"/>
              <a:pathLst>
                <a:path w="43" h="46">
                  <a:moveTo>
                    <a:pt x="14" y="41"/>
                  </a:moveTo>
                  <a:cubicBezTo>
                    <a:pt x="14" y="41"/>
                    <a:pt x="0" y="28"/>
                    <a:pt x="12" y="17"/>
                  </a:cubicBezTo>
                  <a:cubicBezTo>
                    <a:pt x="24" y="5"/>
                    <a:pt x="31" y="4"/>
                    <a:pt x="31" y="0"/>
                  </a:cubicBezTo>
                  <a:cubicBezTo>
                    <a:pt x="31" y="0"/>
                    <a:pt x="43" y="30"/>
                    <a:pt x="35" y="38"/>
                  </a:cubicBezTo>
                  <a:cubicBezTo>
                    <a:pt x="28" y="46"/>
                    <a:pt x="19" y="44"/>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1" name="Freeform 93"/>
            <p:cNvSpPr/>
            <p:nvPr/>
          </p:nvSpPr>
          <p:spPr bwMode="auto">
            <a:xfrm>
              <a:off x="4654551" y="1831975"/>
              <a:ext cx="128588" cy="134938"/>
            </a:xfrm>
            <a:custGeom>
              <a:avLst/>
              <a:gdLst/>
              <a:ahLst/>
              <a:cxnLst>
                <a:cxn ang="0">
                  <a:pos x="8" y="38"/>
                </a:cxn>
                <a:cxn ang="0">
                  <a:pos x="16" y="12"/>
                </a:cxn>
                <a:cxn ang="0">
                  <a:pos x="38" y="0"/>
                </a:cxn>
                <a:cxn ang="0">
                  <a:pos x="35" y="39"/>
                </a:cxn>
                <a:cxn ang="0">
                  <a:pos x="8" y="38"/>
                </a:cxn>
              </a:cxnLst>
              <a:rect l="0" t="0" r="r" b="b"/>
              <a:pathLst>
                <a:path w="44" h="46">
                  <a:moveTo>
                    <a:pt x="8" y="38"/>
                  </a:moveTo>
                  <a:cubicBezTo>
                    <a:pt x="8" y="38"/>
                    <a:pt x="0" y="19"/>
                    <a:pt x="16" y="12"/>
                  </a:cubicBezTo>
                  <a:cubicBezTo>
                    <a:pt x="33" y="5"/>
                    <a:pt x="38" y="0"/>
                    <a:pt x="38" y="0"/>
                  </a:cubicBezTo>
                  <a:cubicBezTo>
                    <a:pt x="38" y="0"/>
                    <a:pt x="44" y="32"/>
                    <a:pt x="35" y="39"/>
                  </a:cubicBezTo>
                  <a:cubicBezTo>
                    <a:pt x="25" y="45"/>
                    <a:pt x="13" y="46"/>
                    <a:pt x="8"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2" name="Freeform 94"/>
            <p:cNvSpPr/>
            <p:nvPr/>
          </p:nvSpPr>
          <p:spPr bwMode="auto">
            <a:xfrm>
              <a:off x="4668838" y="1649413"/>
              <a:ext cx="84138" cy="120650"/>
            </a:xfrm>
            <a:custGeom>
              <a:avLst/>
              <a:gdLst/>
              <a:ahLst/>
              <a:cxnLst>
                <a:cxn ang="0">
                  <a:pos x="14" y="41"/>
                </a:cxn>
                <a:cxn ang="0">
                  <a:pos x="2" y="21"/>
                </a:cxn>
                <a:cxn ang="0">
                  <a:pos x="15" y="0"/>
                </a:cxn>
                <a:cxn ang="0">
                  <a:pos x="27" y="20"/>
                </a:cxn>
                <a:cxn ang="0">
                  <a:pos x="14" y="41"/>
                </a:cxn>
              </a:cxnLst>
              <a:rect l="0" t="0" r="r" b="b"/>
              <a:pathLst>
                <a:path w="29" h="41">
                  <a:moveTo>
                    <a:pt x="14" y="41"/>
                  </a:moveTo>
                  <a:cubicBezTo>
                    <a:pt x="14" y="41"/>
                    <a:pt x="0" y="31"/>
                    <a:pt x="2" y="21"/>
                  </a:cubicBezTo>
                  <a:cubicBezTo>
                    <a:pt x="4" y="11"/>
                    <a:pt x="15" y="3"/>
                    <a:pt x="15" y="0"/>
                  </a:cubicBezTo>
                  <a:cubicBezTo>
                    <a:pt x="15" y="0"/>
                    <a:pt x="26" y="13"/>
                    <a:pt x="27" y="20"/>
                  </a:cubicBezTo>
                  <a:cubicBezTo>
                    <a:pt x="29" y="26"/>
                    <a:pt x="27" y="40"/>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3" name="Freeform 95"/>
            <p:cNvSpPr/>
            <p:nvPr/>
          </p:nvSpPr>
          <p:spPr bwMode="auto">
            <a:xfrm>
              <a:off x="3976688" y="1876425"/>
              <a:ext cx="141288" cy="122238"/>
            </a:xfrm>
            <a:custGeom>
              <a:avLst/>
              <a:gdLst/>
              <a:ahLst/>
              <a:cxnLst>
                <a:cxn ang="0">
                  <a:pos x="31" y="42"/>
                </a:cxn>
                <a:cxn ang="0">
                  <a:pos x="23" y="0"/>
                </a:cxn>
                <a:cxn ang="0">
                  <a:pos x="34" y="11"/>
                </a:cxn>
                <a:cxn ang="0">
                  <a:pos x="31" y="42"/>
                </a:cxn>
              </a:cxnLst>
              <a:rect l="0" t="0" r="r" b="b"/>
              <a:pathLst>
                <a:path w="48" h="42">
                  <a:moveTo>
                    <a:pt x="31" y="42"/>
                  </a:moveTo>
                  <a:cubicBezTo>
                    <a:pt x="31" y="42"/>
                    <a:pt x="0" y="34"/>
                    <a:pt x="23" y="0"/>
                  </a:cubicBezTo>
                  <a:cubicBezTo>
                    <a:pt x="23" y="0"/>
                    <a:pt x="27" y="6"/>
                    <a:pt x="34" y="11"/>
                  </a:cubicBezTo>
                  <a:cubicBezTo>
                    <a:pt x="41" y="16"/>
                    <a:pt x="48" y="42"/>
                    <a:pt x="31"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4" name="Freeform 96"/>
            <p:cNvSpPr/>
            <p:nvPr/>
          </p:nvSpPr>
          <p:spPr bwMode="auto">
            <a:xfrm>
              <a:off x="3830638" y="1901825"/>
              <a:ext cx="169863" cy="128588"/>
            </a:xfrm>
            <a:custGeom>
              <a:avLst/>
              <a:gdLst/>
              <a:ahLst/>
              <a:cxnLst>
                <a:cxn ang="0">
                  <a:pos x="26" y="44"/>
                </a:cxn>
                <a:cxn ang="0">
                  <a:pos x="20" y="0"/>
                </a:cxn>
                <a:cxn ang="0">
                  <a:pos x="28" y="7"/>
                </a:cxn>
                <a:cxn ang="0">
                  <a:pos x="26" y="44"/>
                </a:cxn>
              </a:cxnLst>
              <a:rect l="0" t="0" r="r" b="b"/>
              <a:pathLst>
                <a:path w="58" h="44">
                  <a:moveTo>
                    <a:pt x="26" y="44"/>
                  </a:moveTo>
                  <a:cubicBezTo>
                    <a:pt x="26" y="44"/>
                    <a:pt x="0" y="31"/>
                    <a:pt x="20" y="0"/>
                  </a:cubicBezTo>
                  <a:cubicBezTo>
                    <a:pt x="20" y="0"/>
                    <a:pt x="24" y="5"/>
                    <a:pt x="28" y="7"/>
                  </a:cubicBezTo>
                  <a:cubicBezTo>
                    <a:pt x="41" y="15"/>
                    <a:pt x="58" y="35"/>
                    <a:pt x="26"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5" name="Freeform 97"/>
            <p:cNvSpPr/>
            <p:nvPr/>
          </p:nvSpPr>
          <p:spPr bwMode="auto">
            <a:xfrm>
              <a:off x="3997326" y="1724025"/>
              <a:ext cx="146050" cy="111125"/>
            </a:xfrm>
            <a:custGeom>
              <a:avLst/>
              <a:gdLst/>
              <a:ahLst/>
              <a:cxnLst>
                <a:cxn ang="0">
                  <a:pos x="30" y="38"/>
                </a:cxn>
                <a:cxn ang="0">
                  <a:pos x="18" y="0"/>
                </a:cxn>
                <a:cxn ang="0">
                  <a:pos x="26" y="9"/>
                </a:cxn>
                <a:cxn ang="0">
                  <a:pos x="30" y="38"/>
                </a:cxn>
              </a:cxnLst>
              <a:rect l="0" t="0" r="r" b="b"/>
              <a:pathLst>
                <a:path w="50" h="38">
                  <a:moveTo>
                    <a:pt x="30" y="38"/>
                  </a:moveTo>
                  <a:cubicBezTo>
                    <a:pt x="30" y="38"/>
                    <a:pt x="0" y="38"/>
                    <a:pt x="18" y="0"/>
                  </a:cubicBezTo>
                  <a:cubicBezTo>
                    <a:pt x="18" y="0"/>
                    <a:pt x="22" y="7"/>
                    <a:pt x="26" y="9"/>
                  </a:cubicBezTo>
                  <a:cubicBezTo>
                    <a:pt x="30" y="11"/>
                    <a:pt x="50" y="31"/>
                    <a:pt x="30"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sp>
        <p:nvSpPr>
          <p:cNvPr id="36" name="日期占位符 35"/>
          <p:cNvSpPr>
            <a:spLocks noGrp="1"/>
          </p:cNvSpPr>
          <p:nvPr>
            <p:ph type="dt" sz="half" idx="10"/>
          </p:nvPr>
        </p:nvSpPr>
        <p:spPr/>
        <p:txBody>
          <a:bodyPr/>
          <a:lstStyle/>
          <a:p>
            <a:fld id="{E6A31AD8-3A06-4829-8396-05D8CEC7A0EB}" type="datetime1">
              <a:rPr lang="zh-CN" altLang="en-US" smtClean="0"/>
            </a:fld>
            <a:endParaRPr lang="zh-CN" altLang="en-US" dirty="0"/>
          </a:p>
        </p:txBody>
      </p:sp>
      <p:sp>
        <p:nvSpPr>
          <p:cNvPr id="37" name="页脚占位符 36"/>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实验内容</a:t>
            </a:r>
            <a:endParaRPr lang="zh-CN" altLang="en-US" dirty="0"/>
          </a:p>
        </p:txBody>
      </p:sp>
      <p:sp>
        <p:nvSpPr>
          <p:cNvPr id="2" name="内容占位符 1"/>
          <p:cNvSpPr>
            <a:spLocks noGrp="1"/>
          </p:cNvSpPr>
          <p:nvPr>
            <p:ph idx="1"/>
          </p:nvPr>
        </p:nvSpPr>
        <p:spPr/>
        <p:txBody>
          <a:bodyPr>
            <a:normAutofit/>
          </a:bodyPr>
          <a:lstStyle/>
          <a:p>
            <a:pPr>
              <a:lnSpc>
                <a:spcPct val="120000"/>
              </a:lnSpc>
            </a:pPr>
            <a:r>
              <a:rPr lang="zh-CN" altLang="en-US" sz="2600" dirty="0"/>
              <a:t>对自己所做的项目进行总结：</a:t>
            </a:r>
            <a:endParaRPr lang="en-US" altLang="zh-CN" sz="2600" dirty="0"/>
          </a:p>
          <a:p>
            <a:pPr marL="386080" indent="-386080">
              <a:lnSpc>
                <a:spcPct val="120000"/>
              </a:lnSpc>
              <a:buFont typeface="+mj-lt"/>
              <a:buAutoNum type="arabicPeriod"/>
            </a:pPr>
            <a:r>
              <a:rPr lang="zh-CN" altLang="zh-CN" sz="2400" dirty="0"/>
              <a:t>描述所做项目的名称，个人职责，所做工作及采用的技术要点。</a:t>
            </a:r>
            <a:endParaRPr lang="zh-CN" altLang="zh-CN" sz="2400" dirty="0"/>
          </a:p>
          <a:p>
            <a:pPr marL="386080" indent="-386080">
              <a:lnSpc>
                <a:spcPct val="120000"/>
              </a:lnSpc>
              <a:buFont typeface="+mj-lt"/>
              <a:buAutoNum type="arabicPeriod"/>
            </a:pPr>
            <a:r>
              <a:rPr lang="zh-CN" altLang="zh-CN" sz="2400" dirty="0"/>
              <a:t>在整个项目过程中遇到的问题以及如何克服。</a:t>
            </a:r>
            <a:endParaRPr lang="zh-CN" altLang="zh-CN" sz="2400" dirty="0"/>
          </a:p>
          <a:p>
            <a:pPr marL="386080" indent="-386080">
              <a:lnSpc>
                <a:spcPct val="120000"/>
              </a:lnSpc>
              <a:buFont typeface="+mj-lt"/>
              <a:buAutoNum type="arabicPeriod"/>
            </a:pPr>
            <a:r>
              <a:rPr lang="zh-CN" altLang="zh-CN" sz="2400" dirty="0"/>
              <a:t>写出自己的感想体会，总结一下收获和经验教训。</a:t>
            </a:r>
            <a:endParaRPr lang="zh-CN" altLang="zh-CN" sz="2400" dirty="0"/>
          </a:p>
          <a:p>
            <a:pPr marL="386080" indent="-386080">
              <a:lnSpc>
                <a:spcPct val="120000"/>
              </a:lnSpc>
              <a:buFont typeface="+mj-lt"/>
              <a:buAutoNum type="arabicPeriod"/>
            </a:pPr>
            <a:r>
              <a:rPr lang="zh-CN" altLang="zh-CN" sz="2400" dirty="0"/>
              <a:t>查找一下工作中的不足之处，和待改进的地方。</a:t>
            </a:r>
            <a:endParaRPr lang="zh-CN" altLang="zh-CN" sz="2400" dirty="0"/>
          </a:p>
        </p:txBody>
      </p:sp>
      <p:sp>
        <p:nvSpPr>
          <p:cNvPr id="5" name="日期占位符 4"/>
          <p:cNvSpPr>
            <a:spLocks noGrp="1"/>
          </p:cNvSpPr>
          <p:nvPr>
            <p:ph type="dt" sz="half" idx="10"/>
          </p:nvPr>
        </p:nvSpPr>
        <p:spPr/>
        <p:txBody>
          <a:bodyPr/>
          <a:lstStyle/>
          <a:p>
            <a:fld id="{5C5574CD-E55C-46C1-8A42-32823E380A84}"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210C18-1D0F-4DD2-A7D9-7A27CE0F07F6}"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tags/tag1.xml><?xml version="1.0" encoding="utf-8"?>
<p:tagLst xmlns:p="http://schemas.openxmlformats.org/presentationml/2006/main">
  <p:tag name="MH" val="20160830110146"/>
  <p:tag name="MH_LIBRARY" val="CONTENTS"/>
  <p:tag name="MH_TYPE" val="OTHERS"/>
  <p:tag name="ID" val="553512"/>
</p:tagLst>
</file>

<file path=ppt/tags/tag2.xml><?xml version="1.0" encoding="utf-8"?>
<p:tagLst xmlns:p="http://schemas.openxmlformats.org/presentationml/2006/main">
  <p:tag name="MH" val="20160830110146"/>
  <p:tag name="MH_LIBRARY" val="CONTENTS"/>
  <p:tag name="MH_TYPE" val="OTHERS"/>
  <p:tag name="ID" val="553512"/>
</p:tagLst>
</file>

<file path=ppt/tags/tag3.xml><?xml version="1.0" encoding="utf-8"?>
<p:tagLst xmlns:p="http://schemas.openxmlformats.org/presentationml/2006/main">
  <p:tag name="KSO_WPP_MARK_KEY" val="ffd7604d-aabd-470f-bd8f-cf4155c28f6f"/>
  <p:tag name="COMMONDATA" val="eyJoZGlkIjoiZDhmZjM3ZTZiYzVhZjRkYzFlNzUwYmM2YTkxODQ5OTUifQ=="/>
</p:tagLst>
</file>

<file path=ppt/theme/_rels/them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积分">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6162</Words>
  <Application>WPS 演示</Application>
  <PresentationFormat>全屏显示(16:9)</PresentationFormat>
  <Paragraphs>669</Paragraphs>
  <Slides>50</Slides>
  <Notes>47</Notes>
  <HiddenSlides>4</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50</vt:i4>
      </vt:variant>
    </vt:vector>
  </HeadingPairs>
  <TitlesOfParts>
    <vt:vector size="64" baseType="lpstr">
      <vt:lpstr>Arial</vt:lpstr>
      <vt:lpstr>宋体</vt:lpstr>
      <vt:lpstr>Wingdings</vt:lpstr>
      <vt:lpstr>Wingdings 3</vt:lpstr>
      <vt:lpstr>微软雅黑</vt:lpstr>
      <vt:lpstr>华康俪金黑W8(P)</vt:lpstr>
      <vt:lpstr>黑体</vt:lpstr>
      <vt:lpstr>经典繁仿黑</vt:lpstr>
      <vt:lpstr>Arial Black</vt:lpstr>
      <vt:lpstr>Arial Unicode MS</vt:lpstr>
      <vt:lpstr>等线</vt:lpstr>
      <vt:lpstr>Wingdings</vt:lpstr>
      <vt:lpstr>积分</vt:lpstr>
      <vt:lpstr>Visio.Drawing.11</vt:lpstr>
      <vt:lpstr>软件工程 ——软件维护</vt:lpstr>
      <vt:lpstr>前情回顾</vt:lpstr>
      <vt:lpstr>本次课程速递</vt:lpstr>
      <vt:lpstr>软件调试</vt:lpstr>
      <vt:lpstr>调试过程</vt:lpstr>
      <vt:lpstr>调试途径</vt:lpstr>
      <vt:lpstr>项目交付工作 </vt:lpstr>
      <vt:lpstr>项目实施 </vt:lpstr>
      <vt:lpstr>客户培训 </vt:lpstr>
      <vt:lpstr>项目验收</vt:lpstr>
      <vt:lpstr>软件部署定义</vt:lpstr>
      <vt:lpstr>软件部署模式 </vt:lpstr>
      <vt:lpstr>软件变化原因 </vt:lpstr>
      <vt:lpstr>软件演进法则——Lehman法则 </vt:lpstr>
      <vt:lpstr>软件演化策略 </vt:lpstr>
      <vt:lpstr>软件维护</vt:lpstr>
      <vt:lpstr>软件维护</vt:lpstr>
      <vt:lpstr>改正性维护Corrective Maintenance</vt:lpstr>
      <vt:lpstr>适应性维护Adaptive Maintenance </vt:lpstr>
      <vt:lpstr>扩充与完善性维护Perfective Maintenance </vt:lpstr>
      <vt:lpstr>预防性维护Preventive Maintenance</vt:lpstr>
      <vt:lpstr>PowerPoint 演示文稿</vt:lpstr>
      <vt:lpstr>影响维护成本的因素 </vt:lpstr>
      <vt:lpstr>影响软件维护的因素</vt:lpstr>
      <vt:lpstr>软件维护比开发要困难</vt:lpstr>
      <vt:lpstr>非结构化维护与结构化维护</vt:lpstr>
      <vt:lpstr>软件维护过程</vt:lpstr>
      <vt:lpstr>软件维护过程</vt:lpstr>
      <vt:lpstr>软件的可维护性</vt:lpstr>
      <vt:lpstr>决定软件可维护性的因素</vt:lpstr>
      <vt:lpstr>决定软件可维护性的因素——可理解性</vt:lpstr>
      <vt:lpstr>决定软件可维护性的因素——可测试性</vt:lpstr>
      <vt:lpstr>决定软件可维护性的因素——可修改性</vt:lpstr>
      <vt:lpstr>决定软件可维护性的因素——可移植性</vt:lpstr>
      <vt:lpstr>决定软件可维护性的因素——可重用性</vt:lpstr>
      <vt:lpstr>软件系统的文档</vt:lpstr>
      <vt:lpstr>软件系统的文档类型</vt:lpstr>
      <vt:lpstr>用户文档</vt:lpstr>
      <vt:lpstr>系统文档</vt:lpstr>
      <vt:lpstr>提高可维护性的方法</vt:lpstr>
      <vt:lpstr>软件再工程过程</vt:lpstr>
      <vt:lpstr>软件再工程过程</vt:lpstr>
      <vt:lpstr>逆向工程 </vt:lpstr>
      <vt:lpstr>再工程过程 </vt:lpstr>
      <vt:lpstr>重构（Refactoring）</vt:lpstr>
      <vt:lpstr>重构与增强功能</vt:lpstr>
      <vt:lpstr>软件维护总结</vt:lpstr>
      <vt:lpstr>本课小结</vt:lpstr>
      <vt:lpstr>实验内容</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试播内容</dc:title>
  <dc:creator>HUAWEI</dc:creator>
  <cp:lastModifiedBy>lingdang</cp:lastModifiedBy>
  <cp:revision>1083</cp:revision>
  <dcterms:created xsi:type="dcterms:W3CDTF">2020-02-07T06:58:00Z</dcterms:created>
  <dcterms:modified xsi:type="dcterms:W3CDTF">2025-06-03T10:01:31Z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658992C86768421A913D664D5A33DF9B_12</vt:lpwstr>
  </property>
</Properties>
</file>