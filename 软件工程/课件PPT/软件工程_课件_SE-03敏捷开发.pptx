
<file path=[Content_Types].xml><?xml version="1.0" encoding="utf-8"?>
<Types xmlns="http://schemas.openxmlformats.org/package/2006/content-types">
  <Default Extension="png" ContentType="image/png"/>
  <Default Extension="jpeg" ContentType="image/jpeg"/>
  <Default Extension="JPG" ContentType="image/.jp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111"/>
  </p:handoutMasterIdLst>
  <p:sldIdLst>
    <p:sldId id="938" r:id="rId3"/>
    <p:sldId id="1354" r:id="rId5"/>
    <p:sldId id="1355" r:id="rId6"/>
    <p:sldId id="1363" r:id="rId7"/>
    <p:sldId id="1364" r:id="rId8"/>
    <p:sldId id="1309" r:id="rId9"/>
    <p:sldId id="1357" r:id="rId10"/>
    <p:sldId id="1358" r:id="rId11"/>
    <p:sldId id="1361" r:id="rId12"/>
    <p:sldId id="1360" r:id="rId13"/>
    <p:sldId id="1359" r:id="rId14"/>
    <p:sldId id="1310" r:id="rId15"/>
    <p:sldId id="1311" r:id="rId16"/>
    <p:sldId id="1312" r:id="rId17"/>
    <p:sldId id="1313" r:id="rId18"/>
    <p:sldId id="1314" r:id="rId19"/>
    <p:sldId id="1315" r:id="rId20"/>
    <p:sldId id="1422" r:id="rId21"/>
    <p:sldId id="1362" r:id="rId22"/>
    <p:sldId id="1318" r:id="rId23"/>
    <p:sldId id="1319" r:id="rId24"/>
    <p:sldId id="1320" r:id="rId25"/>
    <p:sldId id="1321" r:id="rId26"/>
    <p:sldId id="1322" r:id="rId27"/>
    <p:sldId id="1323" r:id="rId28"/>
    <p:sldId id="1365" r:id="rId29"/>
    <p:sldId id="1326" r:id="rId30"/>
    <p:sldId id="1372" r:id="rId31"/>
    <p:sldId id="1327" r:id="rId32"/>
    <p:sldId id="1424" r:id="rId33"/>
    <p:sldId id="1328" r:id="rId34"/>
    <p:sldId id="1368" r:id="rId35"/>
    <p:sldId id="1366" r:id="rId36"/>
    <p:sldId id="1367" r:id="rId37"/>
    <p:sldId id="1329" r:id="rId38"/>
    <p:sldId id="1423" r:id="rId39"/>
    <p:sldId id="1331" r:id="rId40"/>
    <p:sldId id="1425" r:id="rId41"/>
    <p:sldId id="1333" r:id="rId42"/>
    <p:sldId id="1334" r:id="rId43"/>
    <p:sldId id="1335" r:id="rId44"/>
    <p:sldId id="1336" r:id="rId45"/>
    <p:sldId id="1337" r:id="rId46"/>
    <p:sldId id="1338" r:id="rId47"/>
    <p:sldId id="1339" r:id="rId48"/>
    <p:sldId id="1340" r:id="rId49"/>
    <p:sldId id="1341" r:id="rId50"/>
    <p:sldId id="1342" r:id="rId51"/>
    <p:sldId id="1343" r:id="rId52"/>
    <p:sldId id="1493" r:id="rId53"/>
    <p:sldId id="1494" r:id="rId54"/>
    <p:sldId id="1495" r:id="rId55"/>
    <p:sldId id="1496" r:id="rId56"/>
    <p:sldId id="1497" r:id="rId57"/>
    <p:sldId id="1498" r:id="rId58"/>
    <p:sldId id="1499" r:id="rId59"/>
    <p:sldId id="1500" r:id="rId60"/>
    <p:sldId id="1501" r:id="rId61"/>
    <p:sldId id="1502" r:id="rId62"/>
    <p:sldId id="1503" r:id="rId63"/>
    <p:sldId id="1504" r:id="rId64"/>
    <p:sldId id="1505" r:id="rId65"/>
    <p:sldId id="1506" r:id="rId66"/>
    <p:sldId id="1507" r:id="rId67"/>
    <p:sldId id="1508" r:id="rId68"/>
    <p:sldId id="1509" r:id="rId69"/>
    <p:sldId id="1510" r:id="rId70"/>
    <p:sldId id="1511" r:id="rId71"/>
    <p:sldId id="1344" r:id="rId72"/>
    <p:sldId id="1369" r:id="rId73"/>
    <p:sldId id="1370" r:id="rId74"/>
    <p:sldId id="1371" r:id="rId75"/>
    <p:sldId id="1345" r:id="rId76"/>
    <p:sldId id="1346" r:id="rId77"/>
    <p:sldId id="1347" r:id="rId78"/>
    <p:sldId id="1348" r:id="rId79"/>
    <p:sldId id="1426" r:id="rId80"/>
    <p:sldId id="1492" r:id="rId81"/>
    <p:sldId id="1349" r:id="rId82"/>
    <p:sldId id="1350" r:id="rId83"/>
    <p:sldId id="1351" r:id="rId84"/>
    <p:sldId id="1352" r:id="rId85"/>
    <p:sldId id="1353" r:id="rId86"/>
    <p:sldId id="1427" r:id="rId87"/>
    <p:sldId id="1449" r:id="rId88"/>
    <p:sldId id="1451" r:id="rId89"/>
    <p:sldId id="1428" r:id="rId90"/>
    <p:sldId id="1448" r:id="rId91"/>
    <p:sldId id="1429" r:id="rId92"/>
    <p:sldId id="1430" r:id="rId93"/>
    <p:sldId id="1431" r:id="rId94"/>
    <p:sldId id="1432" r:id="rId95"/>
    <p:sldId id="1433" r:id="rId96"/>
    <p:sldId id="1450" r:id="rId97"/>
    <p:sldId id="1437" r:id="rId98"/>
    <p:sldId id="1438" r:id="rId99"/>
    <p:sldId id="1439" r:id="rId100"/>
    <p:sldId id="1440" r:id="rId101"/>
    <p:sldId id="1447" r:id="rId102"/>
    <p:sldId id="1441" r:id="rId103"/>
    <p:sldId id="1442" r:id="rId104"/>
    <p:sldId id="1443" r:id="rId105"/>
    <p:sldId id="1444" r:id="rId106"/>
    <p:sldId id="1445" r:id="rId107"/>
    <p:sldId id="1446" r:id="rId108"/>
    <p:sldId id="1436" r:id="rId109"/>
    <p:sldId id="1052" r:id="rId110"/>
  </p:sldIdLst>
  <p:sldSz cx="9144000" cy="5143500" type="screen16x9"/>
  <p:notesSz cx="6858000" cy="9144000"/>
  <p:custDataLst>
    <p:tags r:id="rId11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68953D-F93C-4FE1-B9FD-C6D41156F62D}" styleName="{c624527a-1e08-42e2-8f48-2ca59fd601db}">
    <a:wholeTbl>
      <a:tcTxStyle>
        <a:fontRef idx="none">
          <a:prstClr val="black"/>
        </a:fontRef>
      </a:tcTxStyle>
      <a:tcStyle>
        <a:tcBdr>
          <a:left>
            <a:ln w="6350" cmpd="sng">
              <a:solidFill>
                <a:srgbClr val="C55F4E"/>
              </a:solidFill>
            </a:ln>
          </a:left>
          <a:right>
            <a:ln w="6350" cmpd="sng">
              <a:solidFill>
                <a:srgbClr val="C55F4E"/>
              </a:solidFill>
            </a:ln>
          </a:right>
          <a:top>
            <a:ln w="6350" cmpd="sng">
              <a:solidFill>
                <a:srgbClr val="C55F4E"/>
              </a:solidFill>
            </a:ln>
          </a:top>
          <a:bottom>
            <a:ln w="6350" cmpd="sng">
              <a:solidFill>
                <a:srgbClr val="C55F4E"/>
              </a:solidFill>
            </a:ln>
          </a:bottom>
          <a:insideH>
            <a:ln w="6350" cmpd="sng">
              <a:solidFill>
                <a:srgbClr val="C55F4E"/>
              </a:solidFill>
            </a:ln>
          </a:insideH>
          <a:insideV>
            <a:ln w="6350" cmpd="sng">
              <a:solidFill>
                <a:srgbClr val="C55F4E"/>
              </a:solidFill>
            </a:ln>
          </a:insideV>
        </a:tcBdr>
        <a:fill>
          <a:solidFill>
            <a:srgbClr val="FFFFFF"/>
          </a:solidFill>
        </a:fill>
      </a:tcStyle>
    </a:wholeTbl>
    <a:firstRow>
      <a:tcTxStyle>
        <a:fontRef idx="none">
          <a:prstClr val="black"/>
        </a:fontRef>
      </a:tcTxStyle>
      <a:tcStyle>
        <a:tcBdr>
          <a:insideV>
            <a:ln w="6350" cmpd="sng">
              <a:solidFill>
                <a:srgbClr val="FFFFFF"/>
              </a:solidFill>
            </a:ln>
          </a:insideV>
        </a:tcBdr>
        <a:fill>
          <a:solidFill>
            <a:srgbClr val="C55F4E"/>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0938" autoAdjust="0"/>
  </p:normalViewPr>
  <p:slideViewPr>
    <p:cSldViewPr snapToGrid="0" showGuides="1">
      <p:cViewPr varScale="1">
        <p:scale>
          <a:sx n="108" d="100"/>
          <a:sy n="108" d="100"/>
        </p:scale>
        <p:origin x="1452" y="72"/>
      </p:cViewPr>
      <p:guideLst>
        <p:guide orient="horz" pos="162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1" d="100"/>
          <a:sy n="51" d="100"/>
        </p:scale>
        <p:origin x="776" y="56"/>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5" Type="http://schemas.openxmlformats.org/officeDocument/2006/relationships/tags" Target="tags/tag212.xml"/><Relationship Id="rId114" Type="http://schemas.openxmlformats.org/officeDocument/2006/relationships/tableStyles" Target="tableStyles.xml"/><Relationship Id="rId113" Type="http://schemas.openxmlformats.org/officeDocument/2006/relationships/viewProps" Target="viewProps.xml"/><Relationship Id="rId112" Type="http://schemas.openxmlformats.org/officeDocument/2006/relationships/presProps" Target="presProps.xml"/><Relationship Id="rId111" Type="http://schemas.openxmlformats.org/officeDocument/2006/relationships/handoutMaster" Target="handoutMasters/handoutMaster1.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4B55A7A-C502-46B6-855A-4BBB11597EE7}"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48659B1-BC94-4B1F-9D70-551345BF8F3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18A599-32F8-4B61-A0CD-2608407245F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849A97-A90C-496F-AD26-75D9C1389A1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514350" rtl="0" eaLnBrk="1" latinLnBrk="0" hangingPunct="1">
      <a:defRPr sz="675" kern="1200">
        <a:solidFill>
          <a:schemeClr val="tx1"/>
        </a:solidFill>
        <a:latin typeface="+mn-lt"/>
        <a:ea typeface="+mn-ea"/>
        <a:cs typeface="+mn-cs"/>
      </a:defRPr>
    </a:lvl1pPr>
    <a:lvl2pPr marL="257175" algn="l" defTabSz="514350" rtl="0" eaLnBrk="1" latinLnBrk="0" hangingPunct="1">
      <a:defRPr sz="675" kern="1200">
        <a:solidFill>
          <a:schemeClr val="tx1"/>
        </a:solidFill>
        <a:latin typeface="+mn-lt"/>
        <a:ea typeface="+mn-ea"/>
        <a:cs typeface="+mn-cs"/>
      </a:defRPr>
    </a:lvl2pPr>
    <a:lvl3pPr marL="514350" algn="l" defTabSz="514350" rtl="0" eaLnBrk="1" latinLnBrk="0" hangingPunct="1">
      <a:defRPr sz="675" kern="1200">
        <a:solidFill>
          <a:schemeClr val="tx1"/>
        </a:solidFill>
        <a:latin typeface="+mn-lt"/>
        <a:ea typeface="+mn-ea"/>
        <a:cs typeface="+mn-cs"/>
      </a:defRPr>
    </a:lvl3pPr>
    <a:lvl4pPr marL="771525" algn="l" defTabSz="514350" rtl="0" eaLnBrk="1" latinLnBrk="0" hangingPunct="1">
      <a:defRPr sz="675" kern="1200">
        <a:solidFill>
          <a:schemeClr val="tx1"/>
        </a:solidFill>
        <a:latin typeface="+mn-lt"/>
        <a:ea typeface="+mn-ea"/>
        <a:cs typeface="+mn-cs"/>
      </a:defRPr>
    </a:lvl4pPr>
    <a:lvl5pPr marL="1028700" algn="l" defTabSz="514350" rtl="0" eaLnBrk="1" latinLnBrk="0" hangingPunct="1">
      <a:defRPr sz="675" kern="1200">
        <a:solidFill>
          <a:schemeClr val="tx1"/>
        </a:solidFill>
        <a:latin typeface="+mn-lt"/>
        <a:ea typeface="+mn-ea"/>
        <a:cs typeface="+mn-cs"/>
      </a:defRPr>
    </a:lvl5pPr>
    <a:lvl6pPr marL="1285875" algn="l" defTabSz="514350" rtl="0" eaLnBrk="1" latinLnBrk="0" hangingPunct="1">
      <a:defRPr sz="675" kern="1200">
        <a:solidFill>
          <a:schemeClr val="tx1"/>
        </a:solidFill>
        <a:latin typeface="+mn-lt"/>
        <a:ea typeface="+mn-ea"/>
        <a:cs typeface="+mn-cs"/>
      </a:defRPr>
    </a:lvl6pPr>
    <a:lvl7pPr marL="1543050" algn="l" defTabSz="514350" rtl="0" eaLnBrk="1" latinLnBrk="0" hangingPunct="1">
      <a:defRPr sz="675" kern="1200">
        <a:solidFill>
          <a:schemeClr val="tx1"/>
        </a:solidFill>
        <a:latin typeface="+mn-lt"/>
        <a:ea typeface="+mn-ea"/>
        <a:cs typeface="+mn-cs"/>
      </a:defRPr>
    </a:lvl7pPr>
    <a:lvl8pPr marL="1800225" algn="l" defTabSz="514350" rtl="0" eaLnBrk="1" latinLnBrk="0" hangingPunct="1">
      <a:defRPr sz="675" kern="1200">
        <a:solidFill>
          <a:schemeClr val="tx1"/>
        </a:solidFill>
        <a:latin typeface="+mn-lt"/>
        <a:ea typeface="+mn-ea"/>
        <a:cs typeface="+mn-cs"/>
      </a:defRPr>
    </a:lvl8pPr>
    <a:lvl9pPr marL="2057400" algn="l" defTabSz="514350" rtl="0" eaLnBrk="1" latinLnBrk="0" hangingPunct="1">
      <a:defRPr sz="67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0.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6.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1.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8.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9.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0.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1.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2.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3.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4.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6.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smtClean="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一分钟告诉你究竟DevOps是什么鬼？ - 瓏曦 - 博客园</a:t>
            </a:r>
            <a:endParaRPr lang="zh-CN" altLang="en-US" dirty="0"/>
          </a:p>
          <a:p>
            <a:r>
              <a:rPr lang="zh-CN" altLang="en-US" dirty="0"/>
              <a:t>https://www.cnblogs.com/jetzhang/p/6068773.html</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在 1990~1994 期间，时间盒、重构、站立会议、持续集成、Scrum（1993 年定义，1996 形成框架）、每日站会被相继提出并得到采纳和应用；随着 web1.0 的快速发展，更多的优秀的方法实践被提出完善，例如在 1995~1999 期间，Sprint、结对编程、Scrum、FDD（函数驱动开发）、冒烟测试、Junit、增量、XP（极限编程）等方法实践；随着 2001 年《敏捷宣言》的诞生，对 90 年代的众多优秀的理论实践进行了理论和原则上的大一统，使得敏捷成为一种完全不同于瀑布的新的软件开发方法。敏捷软件开发开始快速发展，越来越多的优秀软件实践及框架被提出并纳入敏捷软件开发范畴。</a:t>
            </a:r>
            <a:endParaRPr lang="zh-CN" altLang="en-US"/>
          </a:p>
          <a:p>
            <a:endParaRPr lang="zh-CN" altLang="en-US"/>
          </a:p>
          <a:p>
            <a:r>
              <a:rPr lang="zh-CN" altLang="en-US">
                <a:sym typeface="+mn-ea"/>
              </a:rPr>
              <a:t>数字化 IT 从业者知识体系 | 软件开发方法 —— 敏捷篇</a:t>
            </a:r>
            <a:r>
              <a:rPr lang="en-US" altLang="zh-CN">
                <a:sym typeface="+mn-ea"/>
              </a:rPr>
              <a:t>     作者：何文强</a:t>
            </a:r>
            <a:endParaRPr lang="en-US" altLang="zh-CN"/>
          </a:p>
          <a:p>
            <a:r>
              <a:rPr lang="zh-CN" altLang="en-US">
                <a:sym typeface="+mn-ea"/>
              </a:rPr>
              <a:t>https://cloud.tencent.com/developer/article/2243671</a:t>
            </a:r>
            <a:endParaRPr lang="zh-CN" altLang="en-US"/>
          </a:p>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敏捷宣言表明的是一些优先级，不必当作圣旨或者教条来争论。</a:t>
            </a:r>
            <a:endParaRPr lang="zh-CN" altLang="en-US" dirty="0" smtClean="0"/>
          </a:p>
          <a:p>
            <a:endParaRPr lang="zh-CN" altLang="en-US" dirty="0"/>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90195" indent="-171450" eaLnBrk="0" hangingPunct="0">
              <a:lnSpc>
                <a:spcPct val="120000"/>
              </a:lnSpc>
              <a:buFont typeface="Arial" panose="020B0604020202020204" pitchFamily="34" charset="0"/>
              <a:buChar char="•"/>
            </a:pPr>
            <a:r>
              <a:rPr lang="zh-CN" altLang="en-US" sz="800" dirty="0"/>
              <a:t>有几个原因导致敏捷在互联网时代出现：</a:t>
            </a:r>
            <a:endParaRPr lang="en-US" altLang="zh-CN" sz="800" dirty="0"/>
          </a:p>
          <a:p>
            <a:pPr eaLnBrk="0" hangingPunct="0">
              <a:lnSpc>
                <a:spcPct val="120000"/>
              </a:lnSpc>
            </a:pPr>
            <a:r>
              <a:rPr lang="zh-CN" altLang="en-US" sz="800" b="1" dirty="0"/>
              <a:t>最初的软件</a:t>
            </a:r>
            <a:r>
              <a:rPr lang="zh-CN" altLang="en-US" sz="800" dirty="0"/>
              <a:t>（</a:t>
            </a:r>
            <a:r>
              <a:rPr lang="en-US" altLang="zh-CN" sz="800" dirty="0"/>
              <a:t>20 </a:t>
            </a:r>
            <a:r>
              <a:rPr lang="zh-CN" altLang="en-US" sz="800" dirty="0"/>
              <a:t>世纪六七十年代）的顾客都是大型研究机构、军方、美 国航空航天局、大型股票交易公司，他们需要通过软件系统来搞科学计算、军方项目、登月项目、股票交易系统等超级复杂的项目。这些项目 对功能的要求非常严格，对计算的准确度要求相当高。</a:t>
            </a:r>
            <a:endParaRPr lang="en-US" altLang="zh-CN" sz="800" dirty="0"/>
          </a:p>
          <a:p>
            <a:pPr eaLnBrk="0" hangingPunct="0">
              <a:lnSpc>
                <a:spcPct val="120000"/>
              </a:lnSpc>
            </a:pPr>
            <a:r>
              <a:rPr lang="en-US" altLang="zh-CN" sz="800" dirty="0"/>
              <a:t>20 </a:t>
            </a:r>
            <a:r>
              <a:rPr lang="zh-CN" altLang="en-US" sz="800" dirty="0"/>
              <a:t>世纪八九十年代，软件进入</a:t>
            </a:r>
            <a:r>
              <a:rPr lang="zh-CN" altLang="en-US" sz="800" b="1" dirty="0"/>
              <a:t>桌面软件</a:t>
            </a:r>
            <a:r>
              <a:rPr lang="zh-CN" altLang="en-US" sz="800" dirty="0"/>
              <a:t>时代，开发周期明显缩短，各 种新的方法开始进入实用阶段。但是软件发布的媒介还是软盘、</a:t>
            </a:r>
            <a:r>
              <a:rPr lang="en-US" altLang="zh-CN" sz="800" dirty="0"/>
              <a:t>CD</a:t>
            </a:r>
            <a:r>
              <a:rPr lang="zh-CN" altLang="en-US" sz="800" dirty="0"/>
              <a:t>、 </a:t>
            </a:r>
            <a:r>
              <a:rPr lang="en-US" altLang="zh-CN" sz="800" dirty="0"/>
              <a:t>DVD</a:t>
            </a:r>
            <a:r>
              <a:rPr lang="zh-CN" altLang="en-US" sz="800" dirty="0"/>
              <a:t>，做好一个发布需要较大的经济投入，不能频繁更新版本。</a:t>
            </a:r>
            <a:endParaRPr lang="en-US" altLang="zh-CN" sz="800" dirty="0"/>
          </a:p>
          <a:p>
            <a:pPr eaLnBrk="0" hangingPunct="0">
              <a:lnSpc>
                <a:spcPct val="120000"/>
              </a:lnSpc>
            </a:pPr>
            <a:r>
              <a:rPr lang="zh-CN" altLang="en-US" sz="800" b="1" dirty="0"/>
              <a:t>互联网时代</a:t>
            </a:r>
            <a:r>
              <a:rPr lang="zh-CN" altLang="en-US" sz="800" dirty="0"/>
              <a:t>：大部分的服务是通过网络服务器端实现，在客户端有各种 方便的推送（</a:t>
            </a:r>
            <a:r>
              <a:rPr lang="en-US" altLang="zh-CN" sz="800" dirty="0"/>
              <a:t>Push</a:t>
            </a:r>
            <a:r>
              <a:rPr lang="zh-CN" altLang="en-US" sz="800" dirty="0"/>
              <a:t>）渠道。一般消费者成为主要用户。网络的传播速度和广度，使得知识的获取变得更加容易，很多软件服务可以由一个小团队来实现。同时，技术更新的速度在加快，用户需求的变化也在加快，开发流程必须跟上这些快速变化的节奏。于是敏捷就产生了。</a:t>
            </a:r>
            <a:endParaRPr lang="en-US" altLang="zh-CN" sz="800" dirty="0"/>
          </a:p>
          <a:p>
            <a:pPr marL="0" marR="0" lvl="0" indent="0" algn="l" defTabSz="514350" rtl="0" eaLnBrk="0" fontAlgn="auto" latinLnBrk="0" hangingPunct="0">
              <a:lnSpc>
                <a:spcPct val="120000"/>
              </a:lnSpc>
              <a:spcBef>
                <a:spcPts val="0"/>
              </a:spcBef>
              <a:spcAft>
                <a:spcPts val="0"/>
              </a:spcAft>
              <a:buClrTx/>
              <a:buSzTx/>
              <a:buFontTx/>
              <a:buNone/>
              <a:defRPr/>
            </a:pPr>
            <a:r>
              <a:rPr lang="zh-CN" altLang="en-US" sz="800" dirty="0"/>
              <a:t>从 </a:t>
            </a:r>
            <a:r>
              <a:rPr lang="en-US" altLang="zh-CN" sz="800" dirty="0"/>
              <a:t>2001 </a:t>
            </a:r>
            <a:r>
              <a:rPr lang="zh-CN" altLang="en-US" sz="800" dirty="0"/>
              <a:t>年 开始，一些软件界的专家开始倡导“敏捷”的价值观和流程，他们肯定了流行做 法的价值（左列），但是强调敏捷的做法（右列）更能带来价值。</a:t>
            </a:r>
            <a:endParaRPr lang="en-US" altLang="zh-CN" sz="800" dirty="0"/>
          </a:p>
          <a:p>
            <a:pPr eaLnBrk="0" hangingPunct="0">
              <a:lnSpc>
                <a:spcPct val="120000"/>
              </a:lnSpc>
            </a:pPr>
            <a:endParaRPr lang="en-US" altLang="zh-CN" sz="800" dirty="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spcBef>
                <a:spcPts val="1200"/>
              </a:spcBef>
              <a:spcAft>
                <a:spcPts val="0"/>
              </a:spcAft>
            </a:pPr>
            <a:r>
              <a:rPr lang="zh-CN" altLang="en-US" sz="800" kern="1200" dirty="0">
                <a:solidFill>
                  <a:schemeClr val="tx1"/>
                </a:solidFill>
                <a:effectLst/>
                <a:latin typeface="+mj-ea"/>
                <a:ea typeface="+mn-ea"/>
                <a:cs typeface="+mn-cs"/>
              </a:rPr>
              <a:t>动态系统开发：</a:t>
            </a:r>
            <a:r>
              <a:rPr lang="en-US" altLang="zh-CN" sz="800" kern="1200" dirty="0">
                <a:solidFill>
                  <a:schemeClr val="tx1"/>
                </a:solidFill>
                <a:effectLst/>
                <a:latin typeface="+mj-ea"/>
                <a:ea typeface="+mn-ea"/>
                <a:cs typeface="+mn-cs"/>
              </a:rPr>
              <a:t> DSDM/Dynamic Systems Development Method </a:t>
            </a:r>
            <a:endParaRPr lang="en-US" altLang="zh-CN" sz="800" kern="1200" dirty="0">
              <a:solidFill>
                <a:schemeClr val="tx1"/>
              </a:solidFill>
              <a:effectLst/>
              <a:latin typeface="+mj-ea"/>
              <a:ea typeface="+mn-ea"/>
              <a:cs typeface="+mn-cs"/>
            </a:endParaRPr>
          </a:p>
          <a:p>
            <a:pPr>
              <a:lnSpc>
                <a:spcPct val="120000"/>
              </a:lnSpc>
              <a:spcBef>
                <a:spcPts val="1200"/>
              </a:spcBef>
              <a:spcAft>
                <a:spcPts val="0"/>
              </a:spcAft>
            </a:pPr>
            <a:r>
              <a:rPr lang="zh-CN" altLang="en-US" sz="800" kern="1200" dirty="0">
                <a:solidFill>
                  <a:schemeClr val="tx1"/>
                </a:solidFill>
                <a:effectLst/>
                <a:latin typeface="+mj-ea"/>
                <a:ea typeface="+mn-ea"/>
                <a:cs typeface="+mn-cs"/>
              </a:rPr>
              <a:t>特征驱动开发：</a:t>
            </a:r>
            <a:r>
              <a:rPr lang="en-US" altLang="zh-CN" sz="800" kern="1200" dirty="0">
                <a:solidFill>
                  <a:schemeClr val="tx1"/>
                </a:solidFill>
                <a:effectLst/>
                <a:latin typeface="+mj-ea"/>
                <a:ea typeface="+mn-ea"/>
                <a:cs typeface="+mn-cs"/>
              </a:rPr>
              <a:t>Feature-Driven Development</a:t>
            </a:r>
            <a:endParaRPr lang="en-US" altLang="zh-CN" sz="800" kern="1200" dirty="0">
              <a:solidFill>
                <a:schemeClr val="tx1"/>
              </a:solidFill>
              <a:effectLst/>
              <a:latin typeface="+mj-ea"/>
              <a:ea typeface="+mn-ea"/>
              <a:cs typeface="+mn-cs"/>
            </a:endParaRPr>
          </a:p>
          <a:p>
            <a:pPr>
              <a:lnSpc>
                <a:spcPct val="120000"/>
              </a:lnSpc>
              <a:spcBef>
                <a:spcPts val="1200"/>
              </a:spcBef>
              <a:spcAft>
                <a:spcPts val="0"/>
              </a:spcAft>
            </a:pPr>
            <a:r>
              <a:rPr lang="zh-CN" altLang="en-US" sz="800" kern="1200" dirty="0">
                <a:solidFill>
                  <a:schemeClr val="tx1"/>
                </a:solidFill>
                <a:effectLst/>
                <a:latin typeface="+mj-ea"/>
                <a:ea typeface="+mn-ea"/>
                <a:cs typeface="+mn-cs"/>
              </a:rPr>
              <a:t>水晶模型</a:t>
            </a:r>
            <a:r>
              <a:rPr lang="en-US" altLang="zh-CN" sz="800" kern="1200" dirty="0">
                <a:solidFill>
                  <a:schemeClr val="tx1"/>
                </a:solidFill>
                <a:effectLst/>
                <a:latin typeface="+mj-ea"/>
                <a:ea typeface="+mn-ea"/>
                <a:cs typeface="+mn-cs"/>
              </a:rPr>
              <a:t>: Crystal</a:t>
            </a:r>
            <a:endParaRPr lang="en-US" altLang="zh-CN" sz="800" kern="1200" dirty="0">
              <a:solidFill>
                <a:schemeClr val="tx1"/>
              </a:solidFill>
              <a:effectLst/>
              <a:latin typeface="+mj-ea"/>
              <a:ea typeface="+mn-ea"/>
              <a:cs typeface="+mn-cs"/>
            </a:endParaRPr>
          </a:p>
          <a:p>
            <a:pPr>
              <a:lnSpc>
                <a:spcPct val="120000"/>
              </a:lnSpc>
              <a:spcBef>
                <a:spcPts val="1200"/>
              </a:spcBef>
              <a:spcAft>
                <a:spcPts val="0"/>
              </a:spcAft>
            </a:pPr>
            <a:r>
              <a:rPr lang="en-US" altLang="zh-CN" sz="800" kern="1200" dirty="0">
                <a:solidFill>
                  <a:srgbClr val="FF0000"/>
                </a:solidFill>
                <a:effectLst/>
                <a:latin typeface="+mj-ea"/>
                <a:ea typeface="+mn-ea"/>
                <a:cs typeface="+mn-cs"/>
              </a:rPr>
              <a:t>Scrum</a:t>
            </a:r>
            <a:r>
              <a:rPr lang="zh-CN" altLang="en-US" sz="800" kern="1200" dirty="0">
                <a:solidFill>
                  <a:srgbClr val="FF0000"/>
                </a:solidFill>
                <a:effectLst/>
                <a:latin typeface="+mj-ea"/>
                <a:ea typeface="+mn-ea"/>
                <a:cs typeface="+mn-cs"/>
              </a:rPr>
              <a:t>模型</a:t>
            </a:r>
            <a:endParaRPr lang="en-US" altLang="zh-CN" sz="800" kern="1200" dirty="0">
              <a:solidFill>
                <a:srgbClr val="FF0000"/>
              </a:solidFill>
              <a:effectLst/>
              <a:latin typeface="+mj-ea"/>
              <a:ea typeface="+mn-ea"/>
              <a:cs typeface="+mn-cs"/>
            </a:endParaRPr>
          </a:p>
          <a:p>
            <a:pPr>
              <a:lnSpc>
                <a:spcPct val="120000"/>
              </a:lnSpc>
              <a:spcBef>
                <a:spcPts val="1200"/>
              </a:spcBef>
              <a:spcAft>
                <a:spcPts val="0"/>
              </a:spcAft>
            </a:pPr>
            <a:r>
              <a:rPr lang="zh-CN" altLang="en-US" sz="800" kern="1200" dirty="0">
                <a:solidFill>
                  <a:srgbClr val="FF0000"/>
                </a:solidFill>
                <a:effectLst/>
                <a:latin typeface="+mj-ea"/>
                <a:ea typeface="+mn-ea"/>
                <a:cs typeface="+mn-cs"/>
              </a:rPr>
              <a:t>极限编程：</a:t>
            </a:r>
            <a:r>
              <a:rPr lang="en-US" altLang="zh-CN" sz="800" kern="1200" dirty="0">
                <a:solidFill>
                  <a:srgbClr val="FF0000"/>
                </a:solidFill>
                <a:effectLst/>
                <a:latin typeface="+mj-ea"/>
                <a:ea typeface="+mn-ea"/>
                <a:cs typeface="+mn-cs"/>
              </a:rPr>
              <a:t> </a:t>
            </a:r>
            <a:r>
              <a:rPr lang="en-US" altLang="zh-CN" sz="800" kern="1200" dirty="0" err="1">
                <a:solidFill>
                  <a:srgbClr val="FF0000"/>
                </a:solidFill>
                <a:effectLst/>
                <a:latin typeface="+mj-ea"/>
                <a:ea typeface="+mn-ea"/>
                <a:cs typeface="+mn-cs"/>
              </a:rPr>
              <a:t>eXtreme</a:t>
            </a:r>
            <a:r>
              <a:rPr lang="en-US" altLang="zh-CN" sz="800" kern="1200" dirty="0">
                <a:solidFill>
                  <a:srgbClr val="FF0000"/>
                </a:solidFill>
                <a:effectLst/>
                <a:latin typeface="+mj-ea"/>
                <a:ea typeface="+mn-ea"/>
                <a:cs typeface="+mn-cs"/>
              </a:rPr>
              <a:t> Programming</a:t>
            </a:r>
            <a:endParaRPr lang="zh-CN" altLang="en-US" sz="800" kern="1200" dirty="0">
              <a:solidFill>
                <a:srgbClr val="FF0000"/>
              </a:solidFill>
              <a:effectLst/>
              <a:latin typeface="+mj-ea"/>
              <a:ea typeface="+mn-ea"/>
              <a:cs typeface="+mn-cs"/>
            </a:endParaRPr>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514350" rtl="0" eaLnBrk="1" fontAlgn="auto" latinLnBrk="0" hangingPunct="1">
              <a:lnSpc>
                <a:spcPct val="100000"/>
              </a:lnSpc>
              <a:spcBef>
                <a:spcPts val="0"/>
              </a:spcBef>
              <a:spcAft>
                <a:spcPts val="0"/>
              </a:spcAft>
              <a:buClrTx/>
              <a:buSzTx/>
              <a:buFontTx/>
              <a:buNone/>
              <a:defRPr/>
            </a:pPr>
            <a:r>
              <a:rPr lang="en-US" altLang="zh-CN" b="1" dirty="0"/>
              <a:t>Scrum: </a:t>
            </a:r>
            <a:r>
              <a:rPr lang="zh-CN" altLang="en-US" dirty="0"/>
              <a:t>英文意思是橄榄球运动的一个专业术语，表示“争球”的动作；把一个开发流程的名字取名为</a:t>
            </a:r>
            <a:r>
              <a:rPr lang="en-US" altLang="zh-CN" dirty="0"/>
              <a:t>Scrum</a:t>
            </a:r>
            <a:r>
              <a:rPr lang="zh-CN" altLang="en-US" dirty="0"/>
              <a:t>，我想你一定能想象出你的开发团队在开发一个项目时，大家像打橄榄球一样迅速、富有战斗激情、人人你争我抢地完成它，你一定会感到非常兴奋的。而</a:t>
            </a:r>
            <a:r>
              <a:rPr lang="en-US" altLang="zh-CN" dirty="0"/>
              <a:t>Scrum</a:t>
            </a:r>
            <a:r>
              <a:rPr lang="zh-CN" altLang="en-US" dirty="0"/>
              <a:t>就是这样的一个开发流程，运用该流程，你就能看到你团队高效的工作</a:t>
            </a:r>
            <a:r>
              <a:rPr lang="zh-CN" altLang="en-US" dirty="0" smtClean="0"/>
              <a:t>。</a:t>
            </a:r>
            <a:endParaRPr lang="en-US" altLang="zh-CN" dirty="0" smtClean="0"/>
          </a:p>
          <a:p>
            <a:pPr marL="0" marR="0" indent="0" algn="l" defTabSz="514350" rtl="0" eaLnBrk="1" fontAlgn="auto" latinLnBrk="0" hangingPunct="1">
              <a:lnSpc>
                <a:spcPct val="100000"/>
              </a:lnSpc>
              <a:spcBef>
                <a:spcPts val="0"/>
              </a:spcBef>
              <a:spcAft>
                <a:spcPts val="0"/>
              </a:spcAft>
              <a:buClrTx/>
              <a:buSzTx/>
              <a:buFontTx/>
              <a:buNone/>
              <a:defRPr/>
            </a:pPr>
            <a:endParaRPr lang="zh-CN" altLang="en-US" dirty="0"/>
          </a:p>
          <a:p>
            <a:r>
              <a:rPr lang="en-US" altLang="zh-CN" sz="675" b="0" i="0" kern="1200" dirty="0" smtClean="0">
                <a:solidFill>
                  <a:schemeClr val="tx1"/>
                </a:solidFill>
                <a:effectLst/>
                <a:latin typeface="+mn-lt"/>
                <a:ea typeface="+mn-ea"/>
                <a:cs typeface="+mn-cs"/>
              </a:rPr>
              <a:t>Scrum </a:t>
            </a:r>
            <a:r>
              <a:rPr lang="zh-CN" altLang="en-US" sz="675" b="0" i="0" kern="1200" dirty="0" smtClean="0">
                <a:solidFill>
                  <a:schemeClr val="tx1"/>
                </a:solidFill>
                <a:effectLst/>
                <a:latin typeface="+mn-lt"/>
                <a:ea typeface="+mn-ea"/>
                <a:cs typeface="+mn-cs"/>
              </a:rPr>
              <a:t>的历史最早追溯于 </a:t>
            </a:r>
            <a:r>
              <a:rPr lang="en-US" altLang="zh-CN" sz="675" b="0" i="0" kern="1200" dirty="0" smtClean="0">
                <a:solidFill>
                  <a:schemeClr val="tx1"/>
                </a:solidFill>
                <a:effectLst/>
                <a:latin typeface="+mn-lt"/>
                <a:ea typeface="+mn-ea"/>
                <a:cs typeface="+mn-cs"/>
              </a:rPr>
              <a:t>1986 </a:t>
            </a:r>
            <a:r>
              <a:rPr lang="zh-CN" altLang="en-US" sz="675" b="0" i="0" kern="1200" dirty="0" smtClean="0">
                <a:solidFill>
                  <a:schemeClr val="tx1"/>
                </a:solidFill>
                <a:effectLst/>
                <a:latin typeface="+mn-lt"/>
                <a:ea typeface="+mn-ea"/>
                <a:cs typeface="+mn-cs"/>
              </a:rPr>
              <a:t>年的组内弘高（管理学者、哈佛商学院教授）和野中郁次郎（日本经营策略学者）在</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哈佛商业评论</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发表</a:t>
            </a:r>
            <a:r>
              <a:rPr lang="en-US" altLang="zh-CN" sz="675" b="0" i="0" kern="1200" dirty="0" smtClean="0">
                <a:solidFill>
                  <a:schemeClr val="tx1"/>
                </a:solidFill>
                <a:effectLst/>
                <a:latin typeface="+mn-lt"/>
                <a:ea typeface="+mn-ea"/>
                <a:cs typeface="+mn-cs"/>
              </a:rPr>
              <a:t>《The New </a:t>
            </a:r>
            <a:r>
              <a:rPr lang="en-US" altLang="zh-CN" sz="675" b="0" i="0" kern="1200" dirty="0" err="1" smtClean="0">
                <a:solidFill>
                  <a:schemeClr val="tx1"/>
                </a:solidFill>
                <a:effectLst/>
                <a:latin typeface="+mn-lt"/>
                <a:ea typeface="+mn-ea"/>
                <a:cs typeface="+mn-cs"/>
              </a:rPr>
              <a:t>New</a:t>
            </a:r>
            <a:r>
              <a:rPr lang="en-US" altLang="zh-CN" sz="675" b="0" i="0" kern="1200" dirty="0" smtClean="0">
                <a:solidFill>
                  <a:schemeClr val="tx1"/>
                </a:solidFill>
                <a:effectLst/>
                <a:latin typeface="+mn-lt"/>
                <a:ea typeface="+mn-ea"/>
                <a:cs typeface="+mn-cs"/>
              </a:rPr>
              <a:t> Product Development Game》</a:t>
            </a:r>
            <a:r>
              <a:rPr lang="zh-CN" altLang="en-US" sz="675" b="0" i="0" kern="1200" dirty="0" smtClean="0">
                <a:solidFill>
                  <a:schemeClr val="tx1"/>
                </a:solidFill>
                <a:effectLst/>
                <a:latin typeface="+mn-lt"/>
                <a:ea typeface="+mn-ea"/>
                <a:cs typeface="+mn-cs"/>
              </a:rPr>
              <a:t>文章。阐述了一种新的整体性方法，能够提高商业产品开发的速度和灵活性，并将这种整体性方法与橄榄球比较，引入了 </a:t>
            </a:r>
            <a:r>
              <a:rPr lang="en-US" altLang="zh-CN" sz="675" b="0" i="0" kern="1200" dirty="0" smtClean="0">
                <a:solidFill>
                  <a:schemeClr val="tx1"/>
                </a:solidFill>
                <a:effectLst/>
                <a:latin typeface="+mn-lt"/>
                <a:ea typeface="+mn-ea"/>
                <a:cs typeface="+mn-cs"/>
              </a:rPr>
              <a:t>Scrum </a:t>
            </a:r>
            <a:r>
              <a:rPr lang="zh-CN" altLang="en-US" sz="675" b="0" i="0" kern="1200" dirty="0" smtClean="0">
                <a:solidFill>
                  <a:schemeClr val="tx1"/>
                </a:solidFill>
                <a:effectLst/>
                <a:latin typeface="+mn-lt"/>
                <a:ea typeface="+mn-ea"/>
                <a:cs typeface="+mn-cs"/>
              </a:rPr>
              <a:t>术语。</a:t>
            </a:r>
            <a:endParaRPr lang="zh-CN" altLang="en-US" sz="675" b="0" i="0" kern="1200" dirty="0" smtClean="0">
              <a:solidFill>
                <a:schemeClr val="tx1"/>
              </a:solidFill>
              <a:effectLst/>
              <a:latin typeface="+mn-lt"/>
              <a:ea typeface="+mn-ea"/>
              <a:cs typeface="+mn-cs"/>
            </a:endParaRPr>
          </a:p>
          <a:p>
            <a:r>
              <a:rPr lang="en-US" altLang="zh-CN" sz="675" b="0" i="0" kern="1200" dirty="0" smtClean="0">
                <a:solidFill>
                  <a:schemeClr val="tx1"/>
                </a:solidFill>
                <a:effectLst/>
                <a:latin typeface="+mn-lt"/>
                <a:ea typeface="+mn-ea"/>
                <a:cs typeface="+mn-cs"/>
              </a:rPr>
              <a:t>1990 </a:t>
            </a:r>
            <a:r>
              <a:rPr lang="zh-CN" altLang="en-US" sz="675" b="0" i="0" kern="1200" dirty="0" smtClean="0">
                <a:solidFill>
                  <a:schemeClr val="tx1"/>
                </a:solidFill>
                <a:effectLst/>
                <a:latin typeface="+mn-lt"/>
                <a:ea typeface="+mn-ea"/>
                <a:cs typeface="+mn-cs"/>
              </a:rPr>
              <a:t>年，肯</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施瓦伯（</a:t>
            </a:r>
            <a:r>
              <a:rPr lang="en-US" altLang="zh-CN" sz="675" b="0" i="0" kern="1200" dirty="0" smtClean="0">
                <a:solidFill>
                  <a:schemeClr val="tx1"/>
                </a:solidFill>
                <a:effectLst/>
                <a:latin typeface="+mn-lt"/>
                <a:ea typeface="+mn-ea"/>
                <a:cs typeface="+mn-cs"/>
              </a:rPr>
              <a:t>Ken </a:t>
            </a:r>
            <a:r>
              <a:rPr lang="en-US" altLang="zh-CN" sz="675" b="0" i="0" kern="1200" dirty="0" err="1" smtClean="0">
                <a:solidFill>
                  <a:schemeClr val="tx1"/>
                </a:solidFill>
                <a:effectLst/>
                <a:latin typeface="+mn-lt"/>
                <a:ea typeface="+mn-ea"/>
                <a:cs typeface="+mn-cs"/>
              </a:rPr>
              <a:t>Schwaber</a:t>
            </a:r>
            <a:r>
              <a:rPr lang="zh-CN" altLang="en-US" sz="675" b="0" i="0" kern="1200" dirty="0" smtClean="0">
                <a:solidFill>
                  <a:schemeClr val="tx1"/>
                </a:solidFill>
                <a:effectLst/>
                <a:latin typeface="+mn-lt"/>
                <a:ea typeface="+mn-ea"/>
                <a:cs typeface="+mn-cs"/>
              </a:rPr>
              <a:t>）在其公司 </a:t>
            </a:r>
            <a:r>
              <a:rPr lang="en-US" altLang="zh-CN" sz="675" b="0" i="0" kern="1200" dirty="0" smtClean="0">
                <a:solidFill>
                  <a:schemeClr val="tx1"/>
                </a:solidFill>
                <a:effectLst/>
                <a:latin typeface="+mn-lt"/>
                <a:ea typeface="+mn-ea"/>
                <a:cs typeface="+mn-cs"/>
              </a:rPr>
              <a:t>Advanced Development Methods </a:t>
            </a:r>
            <a:r>
              <a:rPr lang="zh-CN" altLang="en-US" sz="675" b="0" i="0" kern="1200" dirty="0" smtClean="0">
                <a:solidFill>
                  <a:schemeClr val="tx1"/>
                </a:solidFill>
                <a:effectLst/>
                <a:latin typeface="+mn-lt"/>
                <a:ea typeface="+mn-ea"/>
                <a:cs typeface="+mn-cs"/>
              </a:rPr>
              <a:t>使用了一种方法，这种方法后来发展为 </a:t>
            </a:r>
            <a:r>
              <a:rPr lang="en-US" altLang="zh-CN" sz="675" b="0" i="0" kern="1200" dirty="0" smtClean="0">
                <a:solidFill>
                  <a:schemeClr val="tx1"/>
                </a:solidFill>
                <a:effectLst/>
                <a:latin typeface="+mn-lt"/>
                <a:ea typeface="+mn-ea"/>
                <a:cs typeface="+mn-cs"/>
              </a:rPr>
              <a:t>Scrum</a:t>
            </a:r>
            <a:r>
              <a:rPr lang="zh-CN" altLang="en-US" sz="675" b="0" i="0" kern="1200" dirty="0" smtClean="0">
                <a:solidFill>
                  <a:schemeClr val="tx1"/>
                </a:solidFill>
                <a:effectLst/>
                <a:latin typeface="+mn-lt"/>
                <a:ea typeface="+mn-ea"/>
                <a:cs typeface="+mn-cs"/>
              </a:rPr>
              <a:t>。</a:t>
            </a:r>
            <a:endParaRPr lang="zh-CN" altLang="en-US" sz="675" b="0" i="0" kern="1200" dirty="0" smtClean="0">
              <a:solidFill>
                <a:schemeClr val="tx1"/>
              </a:solidFill>
              <a:effectLst/>
              <a:latin typeface="+mn-lt"/>
              <a:ea typeface="+mn-ea"/>
              <a:cs typeface="+mn-cs"/>
            </a:endParaRPr>
          </a:p>
          <a:p>
            <a:r>
              <a:rPr lang="en-US" altLang="zh-CN" sz="675" b="0" i="0" kern="1200" dirty="0" smtClean="0">
                <a:solidFill>
                  <a:schemeClr val="tx1"/>
                </a:solidFill>
                <a:effectLst/>
                <a:latin typeface="+mn-lt"/>
                <a:ea typeface="+mn-ea"/>
                <a:cs typeface="+mn-cs"/>
              </a:rPr>
              <a:t>1991</a:t>
            </a:r>
            <a:r>
              <a:rPr lang="zh-CN" altLang="en-US" sz="675" b="0" i="0" kern="1200" dirty="0" smtClean="0">
                <a:solidFill>
                  <a:schemeClr val="tx1"/>
                </a:solidFill>
                <a:effectLst/>
                <a:latin typeface="+mn-lt"/>
                <a:ea typeface="+mn-ea"/>
                <a:cs typeface="+mn-cs"/>
              </a:rPr>
              <a:t>年，</a:t>
            </a:r>
            <a:r>
              <a:rPr lang="en-US" altLang="zh-CN" sz="675" b="0" i="0" kern="1200" dirty="0" smtClean="0">
                <a:solidFill>
                  <a:schemeClr val="tx1"/>
                </a:solidFill>
                <a:effectLst/>
                <a:latin typeface="+mn-lt"/>
                <a:ea typeface="+mn-ea"/>
                <a:cs typeface="+mn-cs"/>
              </a:rPr>
              <a:t>Peter </a:t>
            </a:r>
            <a:r>
              <a:rPr lang="en-US" altLang="zh-CN" sz="675" b="0" i="0" kern="1200" dirty="0" err="1" smtClean="0">
                <a:solidFill>
                  <a:schemeClr val="tx1"/>
                </a:solidFill>
                <a:effectLst/>
                <a:latin typeface="+mn-lt"/>
                <a:ea typeface="+mn-ea"/>
                <a:cs typeface="+mn-cs"/>
              </a:rPr>
              <a:t>DeGrace</a:t>
            </a:r>
            <a:r>
              <a:rPr lang="en-US" altLang="zh-CN" sz="675" b="0" i="0" kern="1200" dirty="0" smtClean="0">
                <a:solidFill>
                  <a:schemeClr val="tx1"/>
                </a:solidFill>
                <a:effectLst/>
                <a:latin typeface="+mn-lt"/>
                <a:ea typeface="+mn-ea"/>
                <a:cs typeface="+mn-cs"/>
              </a:rPr>
              <a:t> </a:t>
            </a:r>
            <a:r>
              <a:rPr lang="zh-CN" altLang="en-US" sz="675" b="0" i="0" kern="1200" dirty="0" smtClean="0">
                <a:solidFill>
                  <a:schemeClr val="tx1"/>
                </a:solidFill>
                <a:effectLst/>
                <a:latin typeface="+mn-lt"/>
                <a:ea typeface="+mn-ea"/>
                <a:cs typeface="+mn-cs"/>
              </a:rPr>
              <a:t>和 </a:t>
            </a:r>
            <a:r>
              <a:rPr lang="en-US" altLang="zh-CN" sz="675" b="0" i="0" kern="1200" dirty="0" smtClean="0">
                <a:solidFill>
                  <a:schemeClr val="tx1"/>
                </a:solidFill>
                <a:effectLst/>
                <a:latin typeface="+mn-lt"/>
                <a:ea typeface="+mn-ea"/>
                <a:cs typeface="+mn-cs"/>
              </a:rPr>
              <a:t>Leslie </a:t>
            </a:r>
            <a:r>
              <a:rPr lang="en-US" altLang="zh-CN" sz="675" b="0" i="0" kern="1200" dirty="0" err="1" smtClean="0">
                <a:solidFill>
                  <a:schemeClr val="tx1"/>
                </a:solidFill>
                <a:effectLst/>
                <a:latin typeface="+mn-lt"/>
                <a:ea typeface="+mn-ea"/>
                <a:cs typeface="+mn-cs"/>
              </a:rPr>
              <a:t>Hulet</a:t>
            </a:r>
            <a:r>
              <a:rPr lang="en-US" altLang="zh-CN" sz="675" b="0" i="0" kern="1200" dirty="0" smtClean="0">
                <a:solidFill>
                  <a:schemeClr val="tx1"/>
                </a:solidFill>
                <a:effectLst/>
                <a:latin typeface="+mn-lt"/>
                <a:ea typeface="+mn-ea"/>
                <a:cs typeface="+mn-cs"/>
              </a:rPr>
              <a:t> Stahl </a:t>
            </a:r>
            <a:r>
              <a:rPr lang="zh-CN" altLang="en-US" sz="675" b="0" i="0" kern="1200" dirty="0" smtClean="0">
                <a:solidFill>
                  <a:schemeClr val="tx1"/>
                </a:solidFill>
                <a:effectLst/>
                <a:latin typeface="+mn-lt"/>
                <a:ea typeface="+mn-ea"/>
                <a:cs typeface="+mn-cs"/>
              </a:rPr>
              <a:t>在</a:t>
            </a:r>
            <a:r>
              <a:rPr lang="en-US" altLang="zh-CN" sz="675" b="0" i="0" kern="1200" dirty="0" smtClean="0">
                <a:solidFill>
                  <a:schemeClr val="tx1"/>
                </a:solidFill>
                <a:effectLst/>
                <a:latin typeface="+mn-lt"/>
                <a:ea typeface="+mn-ea"/>
                <a:cs typeface="+mn-cs"/>
              </a:rPr>
              <a:t>《Wicked Problems, Righteous Solutions》</a:t>
            </a:r>
            <a:r>
              <a:rPr lang="zh-CN" altLang="en-US" sz="675" b="0" i="0" kern="1200" dirty="0" smtClean="0">
                <a:solidFill>
                  <a:schemeClr val="tx1"/>
                </a:solidFill>
                <a:effectLst/>
                <a:latin typeface="+mn-lt"/>
                <a:ea typeface="+mn-ea"/>
                <a:cs typeface="+mn-cs"/>
              </a:rPr>
              <a:t>一书中将这种方法称为 </a:t>
            </a:r>
            <a:r>
              <a:rPr lang="en-US" altLang="zh-CN" sz="675" b="0" i="0" kern="1200" dirty="0" smtClean="0">
                <a:solidFill>
                  <a:schemeClr val="tx1"/>
                </a:solidFill>
                <a:effectLst/>
                <a:latin typeface="+mn-lt"/>
                <a:ea typeface="+mn-ea"/>
                <a:cs typeface="+mn-cs"/>
              </a:rPr>
              <a:t>Scrum</a:t>
            </a:r>
            <a:r>
              <a:rPr lang="zh-CN" altLang="en-US" sz="675" b="0" i="0" kern="1200" dirty="0" smtClean="0">
                <a:solidFill>
                  <a:schemeClr val="tx1"/>
                </a:solidFill>
                <a:effectLst/>
                <a:latin typeface="+mn-lt"/>
                <a:ea typeface="+mn-ea"/>
                <a:cs typeface="+mn-cs"/>
              </a:rPr>
              <a:t>，引用在竹内弘高和野中郁次郎的文章中提到的 </a:t>
            </a:r>
            <a:r>
              <a:rPr lang="en-US" altLang="zh-CN" sz="675" b="0" i="0" kern="1200" dirty="0" smtClean="0">
                <a:solidFill>
                  <a:schemeClr val="tx1"/>
                </a:solidFill>
                <a:effectLst/>
                <a:latin typeface="+mn-lt"/>
                <a:ea typeface="+mn-ea"/>
                <a:cs typeface="+mn-cs"/>
              </a:rPr>
              <a:t>Scrum </a:t>
            </a:r>
            <a:r>
              <a:rPr lang="zh-CN" altLang="en-US" sz="675" b="0" i="0" kern="1200" dirty="0" smtClean="0">
                <a:solidFill>
                  <a:schemeClr val="tx1"/>
                </a:solidFill>
                <a:effectLst/>
                <a:latin typeface="+mn-lt"/>
                <a:ea typeface="+mn-ea"/>
                <a:cs typeface="+mn-cs"/>
              </a:rPr>
              <a:t>术语。</a:t>
            </a:r>
            <a:endParaRPr lang="zh-CN" altLang="en-US" sz="675" b="0" i="0" kern="1200" dirty="0" smtClean="0">
              <a:solidFill>
                <a:schemeClr val="tx1"/>
              </a:solidFill>
              <a:effectLst/>
              <a:latin typeface="+mn-lt"/>
              <a:ea typeface="+mn-ea"/>
              <a:cs typeface="+mn-cs"/>
            </a:endParaRPr>
          </a:p>
          <a:p>
            <a:r>
              <a:rPr lang="en-US" altLang="zh-CN" sz="675" b="0" i="0" kern="1200" dirty="0" smtClean="0">
                <a:solidFill>
                  <a:schemeClr val="tx1"/>
                </a:solidFill>
                <a:effectLst/>
                <a:latin typeface="+mn-lt"/>
                <a:ea typeface="+mn-ea"/>
                <a:cs typeface="+mn-cs"/>
              </a:rPr>
              <a:t>1993 </a:t>
            </a:r>
            <a:r>
              <a:rPr lang="zh-CN" altLang="en-US" sz="675" b="0" i="0" kern="1200" dirty="0" smtClean="0">
                <a:solidFill>
                  <a:schemeClr val="tx1"/>
                </a:solidFill>
                <a:effectLst/>
                <a:latin typeface="+mn-lt"/>
                <a:ea typeface="+mn-ea"/>
                <a:cs typeface="+mn-cs"/>
              </a:rPr>
              <a:t>年，杰夫</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萨瑟兰（</a:t>
            </a:r>
            <a:r>
              <a:rPr lang="en-US" altLang="zh-CN" sz="675" b="0" i="0" kern="1200" dirty="0" smtClean="0">
                <a:solidFill>
                  <a:schemeClr val="tx1"/>
                </a:solidFill>
                <a:effectLst/>
                <a:latin typeface="+mn-lt"/>
                <a:ea typeface="+mn-ea"/>
                <a:cs typeface="+mn-cs"/>
              </a:rPr>
              <a:t>Jeff Sutherland</a:t>
            </a:r>
            <a:r>
              <a:rPr lang="zh-CN" altLang="en-US" sz="675" b="0" i="0" kern="1200" dirty="0" smtClean="0">
                <a:solidFill>
                  <a:schemeClr val="tx1"/>
                </a:solidFill>
                <a:effectLst/>
                <a:latin typeface="+mn-lt"/>
                <a:ea typeface="+mn-ea"/>
                <a:cs typeface="+mn-cs"/>
              </a:rPr>
              <a:t>）在 </a:t>
            </a:r>
            <a:r>
              <a:rPr lang="en-US" altLang="zh-CN" sz="675" b="0" i="0" kern="1200" dirty="0" smtClean="0">
                <a:solidFill>
                  <a:schemeClr val="tx1"/>
                </a:solidFill>
                <a:effectLst/>
                <a:latin typeface="+mn-lt"/>
                <a:ea typeface="+mn-ea"/>
                <a:cs typeface="+mn-cs"/>
              </a:rPr>
              <a:t>Easel </a:t>
            </a:r>
            <a:r>
              <a:rPr lang="zh-CN" altLang="en-US" sz="675" b="0" i="0" kern="1200" dirty="0" smtClean="0">
                <a:solidFill>
                  <a:schemeClr val="tx1"/>
                </a:solidFill>
                <a:effectLst/>
                <a:latin typeface="+mn-lt"/>
                <a:ea typeface="+mn-ea"/>
                <a:cs typeface="+mn-cs"/>
              </a:rPr>
              <a:t>公司开发了一种类似的方法，并使用单个词 </a:t>
            </a:r>
            <a:r>
              <a:rPr lang="en-US" altLang="zh-CN" sz="675" b="0" i="0" kern="1200" dirty="0" smtClean="0">
                <a:solidFill>
                  <a:schemeClr val="tx1"/>
                </a:solidFill>
                <a:effectLst/>
                <a:latin typeface="+mn-lt"/>
                <a:ea typeface="+mn-ea"/>
                <a:cs typeface="+mn-cs"/>
              </a:rPr>
              <a:t>Scrum </a:t>
            </a:r>
            <a:r>
              <a:rPr lang="zh-CN" altLang="en-US" sz="675" b="0" i="0" kern="1200" dirty="0" smtClean="0">
                <a:solidFill>
                  <a:schemeClr val="tx1"/>
                </a:solidFill>
                <a:effectLst/>
                <a:latin typeface="+mn-lt"/>
                <a:ea typeface="+mn-ea"/>
                <a:cs typeface="+mn-cs"/>
              </a:rPr>
              <a:t>来代表这方法。</a:t>
            </a:r>
            <a:endParaRPr lang="zh-CN" altLang="en-US" sz="675" b="0" i="0" kern="1200" dirty="0" smtClean="0">
              <a:solidFill>
                <a:schemeClr val="tx1"/>
              </a:solidFill>
              <a:effectLst/>
              <a:latin typeface="+mn-lt"/>
              <a:ea typeface="+mn-ea"/>
              <a:cs typeface="+mn-cs"/>
            </a:endParaRPr>
          </a:p>
          <a:p>
            <a:r>
              <a:rPr lang="en-US" altLang="zh-CN" sz="675" b="0" i="0" kern="1200" dirty="0" smtClean="0">
                <a:solidFill>
                  <a:schemeClr val="tx1"/>
                </a:solidFill>
                <a:effectLst/>
                <a:latin typeface="+mn-lt"/>
                <a:ea typeface="+mn-ea"/>
                <a:cs typeface="+mn-cs"/>
              </a:rPr>
              <a:t>1995 </a:t>
            </a:r>
            <a:r>
              <a:rPr lang="zh-CN" altLang="en-US" sz="675" b="0" i="0" kern="1200" dirty="0" smtClean="0">
                <a:solidFill>
                  <a:schemeClr val="tx1"/>
                </a:solidFill>
                <a:effectLst/>
                <a:latin typeface="+mn-lt"/>
                <a:ea typeface="+mn-ea"/>
                <a:cs typeface="+mn-cs"/>
              </a:rPr>
              <a:t>年，在奥斯汀举办的 </a:t>
            </a:r>
            <a:r>
              <a:rPr lang="en-US" altLang="zh-CN" sz="675" b="0" i="0" kern="1200" dirty="0" smtClean="0">
                <a:solidFill>
                  <a:schemeClr val="tx1"/>
                </a:solidFill>
                <a:effectLst/>
                <a:latin typeface="+mn-lt"/>
                <a:ea typeface="+mn-ea"/>
                <a:cs typeface="+mn-cs"/>
              </a:rPr>
              <a:t>OOPSLA '95 </a:t>
            </a:r>
            <a:r>
              <a:rPr lang="zh-CN" altLang="en-US" sz="675" b="0" i="0" kern="1200" dirty="0" smtClean="0">
                <a:solidFill>
                  <a:schemeClr val="tx1"/>
                </a:solidFill>
                <a:effectLst/>
                <a:latin typeface="+mn-lt"/>
                <a:ea typeface="+mn-ea"/>
                <a:cs typeface="+mn-cs"/>
              </a:rPr>
              <a:t>上，萨瑟兰和施瓦伯联合发表了论文首次提出了 </a:t>
            </a:r>
            <a:r>
              <a:rPr lang="en-US" altLang="zh-CN" sz="675" b="0" i="0" kern="1200" dirty="0" smtClean="0">
                <a:solidFill>
                  <a:schemeClr val="tx1"/>
                </a:solidFill>
                <a:effectLst/>
                <a:latin typeface="+mn-lt"/>
                <a:ea typeface="+mn-ea"/>
                <a:cs typeface="+mn-cs"/>
              </a:rPr>
              <a:t>Scrum </a:t>
            </a:r>
            <a:r>
              <a:rPr lang="zh-CN" altLang="en-US" sz="675" b="0" i="0" kern="1200" dirty="0" smtClean="0">
                <a:solidFill>
                  <a:schemeClr val="tx1"/>
                </a:solidFill>
                <a:effectLst/>
                <a:latin typeface="+mn-lt"/>
                <a:ea typeface="+mn-ea"/>
                <a:cs typeface="+mn-cs"/>
              </a:rPr>
              <a:t>概念。施瓦伯和萨瑟兰在接下的几年里合作，将上述的文章，他们的经验，以及业界的最佳实践融合起来，形成我们现在所知的 </a:t>
            </a:r>
            <a:r>
              <a:rPr lang="en-US" altLang="zh-CN" sz="675" b="0" i="0" kern="1200" dirty="0" smtClean="0">
                <a:solidFill>
                  <a:schemeClr val="tx1"/>
                </a:solidFill>
                <a:effectLst/>
                <a:latin typeface="+mn-lt"/>
                <a:ea typeface="+mn-ea"/>
                <a:cs typeface="+mn-cs"/>
              </a:rPr>
              <a:t>Scrum</a:t>
            </a:r>
            <a:r>
              <a:rPr lang="zh-CN" altLang="en-US" sz="675" b="0" i="0" kern="1200" dirty="0" smtClean="0">
                <a:solidFill>
                  <a:schemeClr val="tx1"/>
                </a:solidFill>
                <a:effectLst/>
                <a:latin typeface="+mn-lt"/>
                <a:ea typeface="+mn-ea"/>
                <a:cs typeface="+mn-cs"/>
              </a:rPr>
              <a:t>。</a:t>
            </a:r>
            <a:endParaRPr lang="zh-CN" altLang="en-US" sz="675" b="0" i="0" kern="1200" dirty="0" smtClean="0">
              <a:solidFill>
                <a:schemeClr val="tx1"/>
              </a:solidFill>
              <a:effectLst/>
              <a:latin typeface="+mn-lt"/>
              <a:ea typeface="+mn-ea"/>
              <a:cs typeface="+mn-cs"/>
            </a:endParaRPr>
          </a:p>
          <a:p>
            <a:r>
              <a:rPr lang="en-US" altLang="zh-CN" sz="675" b="0" i="0" kern="1200" dirty="0" smtClean="0">
                <a:solidFill>
                  <a:schemeClr val="tx1"/>
                </a:solidFill>
                <a:effectLst/>
                <a:latin typeface="+mn-lt"/>
                <a:ea typeface="+mn-ea"/>
                <a:cs typeface="+mn-cs"/>
              </a:rPr>
              <a:t>2001 </a:t>
            </a:r>
            <a:r>
              <a:rPr lang="zh-CN" altLang="en-US" sz="675" b="0" i="0" kern="1200" dirty="0" smtClean="0">
                <a:solidFill>
                  <a:schemeClr val="tx1"/>
                </a:solidFill>
                <a:effectLst/>
                <a:latin typeface="+mn-lt"/>
                <a:ea typeface="+mn-ea"/>
                <a:cs typeface="+mn-cs"/>
              </a:rPr>
              <a:t>年，肯</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施瓦伯（</a:t>
            </a:r>
            <a:r>
              <a:rPr lang="en-US" altLang="zh-CN" sz="675" b="0" i="0" kern="1200" dirty="0" smtClean="0">
                <a:solidFill>
                  <a:schemeClr val="tx1"/>
                </a:solidFill>
                <a:effectLst/>
                <a:latin typeface="+mn-lt"/>
                <a:ea typeface="+mn-ea"/>
                <a:cs typeface="+mn-cs"/>
              </a:rPr>
              <a:t>Ken </a:t>
            </a:r>
            <a:r>
              <a:rPr lang="en-US" altLang="zh-CN" sz="675" b="0" i="0" kern="1200" dirty="0" err="1" smtClean="0">
                <a:solidFill>
                  <a:schemeClr val="tx1"/>
                </a:solidFill>
                <a:effectLst/>
                <a:latin typeface="+mn-lt"/>
                <a:ea typeface="+mn-ea"/>
                <a:cs typeface="+mn-cs"/>
              </a:rPr>
              <a:t>Schwaber</a:t>
            </a:r>
            <a:r>
              <a:rPr lang="zh-CN" altLang="en-US" sz="675" b="0" i="0" kern="1200" dirty="0" smtClean="0">
                <a:solidFill>
                  <a:schemeClr val="tx1"/>
                </a:solidFill>
                <a:effectLst/>
                <a:latin typeface="+mn-lt"/>
                <a:ea typeface="+mn-ea"/>
                <a:cs typeface="+mn-cs"/>
              </a:rPr>
              <a:t>）与麦克</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比窦（</a:t>
            </a:r>
            <a:r>
              <a:rPr lang="en-US" altLang="zh-CN" sz="675" b="0" i="0" kern="1200" dirty="0" smtClean="0">
                <a:solidFill>
                  <a:schemeClr val="tx1"/>
                </a:solidFill>
                <a:effectLst/>
                <a:latin typeface="+mn-lt"/>
                <a:ea typeface="+mn-ea"/>
                <a:cs typeface="+mn-cs"/>
              </a:rPr>
              <a:t>Mike </a:t>
            </a:r>
            <a:r>
              <a:rPr lang="en-US" altLang="zh-CN" sz="675" b="0" i="0" kern="1200" dirty="0" err="1" smtClean="0">
                <a:solidFill>
                  <a:schemeClr val="tx1"/>
                </a:solidFill>
                <a:effectLst/>
                <a:latin typeface="+mn-lt"/>
                <a:ea typeface="+mn-ea"/>
                <a:cs typeface="+mn-cs"/>
              </a:rPr>
              <a:t>Beedle</a:t>
            </a:r>
            <a:r>
              <a:rPr lang="zh-CN" altLang="en-US" sz="675" b="0" i="0" kern="1200" dirty="0" smtClean="0">
                <a:solidFill>
                  <a:schemeClr val="tx1"/>
                </a:solidFill>
                <a:effectLst/>
                <a:latin typeface="+mn-lt"/>
                <a:ea typeface="+mn-ea"/>
                <a:cs typeface="+mn-cs"/>
              </a:rPr>
              <a:t>）合著了</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敏捷软件开发</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使用 </a:t>
            </a:r>
            <a:r>
              <a:rPr lang="en-US" altLang="zh-CN" sz="675" b="0" i="0" kern="1200" dirty="0" smtClean="0">
                <a:solidFill>
                  <a:schemeClr val="tx1"/>
                </a:solidFill>
                <a:effectLst/>
                <a:latin typeface="+mn-lt"/>
                <a:ea typeface="+mn-ea"/>
                <a:cs typeface="+mn-cs"/>
              </a:rPr>
              <a:t>Scrum </a:t>
            </a:r>
            <a:r>
              <a:rPr lang="zh-CN" altLang="en-US" sz="675" b="0" i="0" kern="1200" dirty="0" smtClean="0">
                <a:solidFill>
                  <a:schemeClr val="tx1"/>
                </a:solidFill>
                <a:effectLst/>
                <a:latin typeface="+mn-lt"/>
                <a:ea typeface="+mn-ea"/>
                <a:cs typeface="+mn-cs"/>
              </a:rPr>
              <a:t>过程</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一书，介绍了 </a:t>
            </a:r>
            <a:r>
              <a:rPr lang="en-US" altLang="zh-CN" sz="675" b="0" i="0" kern="1200" dirty="0" smtClean="0">
                <a:solidFill>
                  <a:schemeClr val="tx1"/>
                </a:solidFill>
                <a:effectLst/>
                <a:latin typeface="+mn-lt"/>
                <a:ea typeface="+mn-ea"/>
                <a:cs typeface="+mn-cs"/>
              </a:rPr>
              <a:t>Scrum </a:t>
            </a:r>
            <a:r>
              <a:rPr lang="zh-CN" altLang="en-US" sz="675" b="0" i="0" kern="1200" dirty="0" smtClean="0">
                <a:solidFill>
                  <a:schemeClr val="tx1"/>
                </a:solidFill>
                <a:effectLst/>
                <a:latin typeface="+mn-lt"/>
                <a:ea typeface="+mn-ea"/>
                <a:cs typeface="+mn-cs"/>
              </a:rPr>
              <a:t>方法。</a:t>
            </a:r>
            <a:endParaRPr lang="zh-CN" altLang="en-US" sz="675" b="0" i="0" kern="1200" dirty="0" smtClean="0">
              <a:solidFill>
                <a:schemeClr val="tx1"/>
              </a:solidFill>
              <a:effectLst/>
              <a:latin typeface="+mn-lt"/>
              <a:ea typeface="+mn-ea"/>
              <a:cs typeface="+mn-cs"/>
            </a:endParaRPr>
          </a:p>
          <a:p>
            <a:r>
              <a:rPr lang="en-US" altLang="zh-CN" sz="675" b="0" i="0" kern="1200" dirty="0" smtClean="0">
                <a:solidFill>
                  <a:schemeClr val="tx1"/>
                </a:solidFill>
                <a:effectLst/>
                <a:latin typeface="+mn-lt"/>
                <a:ea typeface="+mn-ea"/>
                <a:cs typeface="+mn-cs"/>
              </a:rPr>
              <a:t>2002 </a:t>
            </a:r>
            <a:r>
              <a:rPr lang="zh-CN" altLang="en-US" sz="675" b="0" i="0" kern="1200" dirty="0" smtClean="0">
                <a:solidFill>
                  <a:schemeClr val="tx1"/>
                </a:solidFill>
                <a:effectLst/>
                <a:latin typeface="+mn-lt"/>
                <a:ea typeface="+mn-ea"/>
                <a:cs typeface="+mn-cs"/>
              </a:rPr>
              <a:t>年，肯</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施瓦伯（</a:t>
            </a:r>
            <a:r>
              <a:rPr lang="en-US" altLang="zh-CN" sz="675" b="0" i="0" kern="1200" dirty="0" smtClean="0">
                <a:solidFill>
                  <a:schemeClr val="tx1"/>
                </a:solidFill>
                <a:effectLst/>
                <a:latin typeface="+mn-lt"/>
                <a:ea typeface="+mn-ea"/>
                <a:cs typeface="+mn-cs"/>
              </a:rPr>
              <a:t>Ken </a:t>
            </a:r>
            <a:r>
              <a:rPr lang="en-US" altLang="zh-CN" sz="675" b="0" i="0" kern="1200" dirty="0" err="1" smtClean="0">
                <a:solidFill>
                  <a:schemeClr val="tx1"/>
                </a:solidFill>
                <a:effectLst/>
                <a:latin typeface="+mn-lt"/>
                <a:ea typeface="+mn-ea"/>
                <a:cs typeface="+mn-cs"/>
              </a:rPr>
              <a:t>Schwaber</a:t>
            </a:r>
            <a:r>
              <a:rPr lang="zh-CN" altLang="en-US" sz="675" b="0" i="0" kern="1200" dirty="0" smtClean="0">
                <a:solidFill>
                  <a:schemeClr val="tx1"/>
                </a:solidFill>
                <a:effectLst/>
                <a:latin typeface="+mn-lt"/>
                <a:ea typeface="+mn-ea"/>
                <a:cs typeface="+mn-cs"/>
              </a:rPr>
              <a:t>）与 </a:t>
            </a:r>
            <a:r>
              <a:rPr lang="en-US" altLang="zh-CN" sz="675" b="0" i="0" kern="1200" dirty="0" smtClean="0">
                <a:solidFill>
                  <a:schemeClr val="tx1"/>
                </a:solidFill>
                <a:effectLst/>
                <a:latin typeface="+mn-lt"/>
                <a:ea typeface="+mn-ea"/>
                <a:cs typeface="+mn-cs"/>
              </a:rPr>
              <a:t>Mike Cohn</a:t>
            </a:r>
            <a:r>
              <a:rPr lang="zh-CN" altLang="en-US" sz="675" b="0" i="0" kern="1200" dirty="0" smtClean="0">
                <a:solidFill>
                  <a:schemeClr val="tx1"/>
                </a:solidFill>
                <a:effectLst/>
                <a:latin typeface="+mn-lt"/>
                <a:ea typeface="+mn-ea"/>
                <a:cs typeface="+mn-cs"/>
              </a:rPr>
              <a:t>、</a:t>
            </a:r>
            <a:r>
              <a:rPr lang="en-US" altLang="zh-CN" sz="675" b="0" i="0" kern="1200" dirty="0" smtClean="0">
                <a:solidFill>
                  <a:schemeClr val="tx1"/>
                </a:solidFill>
                <a:effectLst/>
                <a:latin typeface="+mn-lt"/>
                <a:ea typeface="+mn-ea"/>
                <a:cs typeface="+mn-cs"/>
              </a:rPr>
              <a:t>Esther Derby </a:t>
            </a:r>
            <a:r>
              <a:rPr lang="zh-CN" altLang="en-US" sz="675" b="0" i="0" kern="1200" dirty="0" smtClean="0">
                <a:solidFill>
                  <a:schemeClr val="tx1"/>
                </a:solidFill>
                <a:effectLst/>
                <a:latin typeface="+mn-lt"/>
                <a:ea typeface="+mn-ea"/>
                <a:cs typeface="+mn-cs"/>
              </a:rPr>
              <a:t>共同建立了 </a:t>
            </a:r>
            <a:r>
              <a:rPr lang="en-US" altLang="zh-CN" sz="675" b="0" i="0" kern="1200" dirty="0" smtClean="0">
                <a:solidFill>
                  <a:schemeClr val="tx1"/>
                </a:solidFill>
                <a:effectLst/>
                <a:latin typeface="+mn-lt"/>
                <a:ea typeface="+mn-ea"/>
                <a:cs typeface="+mn-cs"/>
              </a:rPr>
              <a:t>Scrum </a:t>
            </a:r>
            <a:r>
              <a:rPr lang="zh-CN" altLang="en-US" sz="675" b="0" i="0" kern="1200" dirty="0" smtClean="0">
                <a:solidFill>
                  <a:schemeClr val="tx1"/>
                </a:solidFill>
                <a:effectLst/>
                <a:latin typeface="+mn-lt"/>
                <a:ea typeface="+mn-ea"/>
                <a:cs typeface="+mn-cs"/>
              </a:rPr>
              <a:t>联盟（</a:t>
            </a:r>
            <a:r>
              <a:rPr lang="en-US" altLang="zh-CN" sz="675" b="0" i="0" kern="1200" dirty="0" smtClean="0">
                <a:solidFill>
                  <a:schemeClr val="tx1"/>
                </a:solidFill>
                <a:effectLst/>
                <a:latin typeface="+mn-lt"/>
                <a:ea typeface="+mn-ea"/>
                <a:cs typeface="+mn-cs"/>
              </a:rPr>
              <a:t>Scrum Alliance</a:t>
            </a:r>
            <a:r>
              <a:rPr lang="zh-CN" altLang="en-US" sz="675" b="0" i="0" kern="1200" dirty="0" smtClean="0">
                <a:solidFill>
                  <a:schemeClr val="tx1"/>
                </a:solidFill>
                <a:effectLst/>
                <a:latin typeface="+mn-lt"/>
                <a:ea typeface="+mn-ea"/>
                <a:cs typeface="+mn-cs"/>
              </a:rPr>
              <a:t>）并建立了 </a:t>
            </a:r>
            <a:r>
              <a:rPr lang="en-US" altLang="zh-CN" sz="675" b="0" i="0" kern="1200" dirty="0" smtClean="0">
                <a:solidFill>
                  <a:schemeClr val="tx1"/>
                </a:solidFill>
                <a:effectLst/>
                <a:latin typeface="+mn-lt"/>
                <a:ea typeface="+mn-ea"/>
                <a:cs typeface="+mn-cs"/>
              </a:rPr>
              <a:t>Certified Scrum </a:t>
            </a:r>
            <a:r>
              <a:rPr lang="zh-CN" altLang="en-US" sz="675" b="0" i="0" kern="1200" dirty="0" smtClean="0">
                <a:solidFill>
                  <a:schemeClr val="tx1"/>
                </a:solidFill>
                <a:effectLst/>
                <a:latin typeface="+mn-lt"/>
                <a:ea typeface="+mn-ea"/>
                <a:cs typeface="+mn-cs"/>
              </a:rPr>
              <a:t>认证系列。</a:t>
            </a:r>
            <a:endParaRPr lang="zh-CN" altLang="en-US" sz="675" b="0" i="0" kern="1200" dirty="0" smtClean="0">
              <a:solidFill>
                <a:schemeClr val="tx1"/>
              </a:solidFill>
              <a:effectLst/>
              <a:latin typeface="+mn-lt"/>
              <a:ea typeface="+mn-ea"/>
              <a:cs typeface="+mn-cs"/>
            </a:endParaRPr>
          </a:p>
          <a:p>
            <a:r>
              <a:rPr lang="en-US" altLang="zh-CN" sz="675" b="0" i="0" kern="1200" dirty="0" smtClean="0">
                <a:solidFill>
                  <a:schemeClr val="tx1"/>
                </a:solidFill>
                <a:effectLst/>
                <a:latin typeface="+mn-lt"/>
                <a:ea typeface="+mn-ea"/>
                <a:cs typeface="+mn-cs"/>
              </a:rPr>
              <a:t>2009 </a:t>
            </a:r>
            <a:r>
              <a:rPr lang="zh-CN" altLang="en-US" sz="675" b="0" i="0" kern="1200" dirty="0" smtClean="0">
                <a:solidFill>
                  <a:schemeClr val="tx1"/>
                </a:solidFill>
                <a:effectLst/>
                <a:latin typeface="+mn-lt"/>
                <a:ea typeface="+mn-ea"/>
                <a:cs typeface="+mn-cs"/>
              </a:rPr>
              <a:t>年末，肯</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施瓦伯（</a:t>
            </a:r>
            <a:r>
              <a:rPr lang="en-US" altLang="zh-CN" sz="675" b="0" i="0" kern="1200" dirty="0" smtClean="0">
                <a:solidFill>
                  <a:schemeClr val="tx1"/>
                </a:solidFill>
                <a:effectLst/>
                <a:latin typeface="+mn-lt"/>
                <a:ea typeface="+mn-ea"/>
                <a:cs typeface="+mn-cs"/>
              </a:rPr>
              <a:t>Ken </a:t>
            </a:r>
            <a:r>
              <a:rPr lang="en-US" altLang="zh-CN" sz="675" b="0" i="0" kern="1200" dirty="0" err="1" smtClean="0">
                <a:solidFill>
                  <a:schemeClr val="tx1"/>
                </a:solidFill>
                <a:effectLst/>
                <a:latin typeface="+mn-lt"/>
                <a:ea typeface="+mn-ea"/>
                <a:cs typeface="+mn-cs"/>
              </a:rPr>
              <a:t>Schwaber</a:t>
            </a:r>
            <a:r>
              <a:rPr lang="zh-CN" altLang="en-US" sz="675" b="0" i="0" kern="1200" dirty="0" smtClean="0">
                <a:solidFill>
                  <a:schemeClr val="tx1"/>
                </a:solidFill>
                <a:effectLst/>
                <a:latin typeface="+mn-lt"/>
                <a:ea typeface="+mn-ea"/>
                <a:cs typeface="+mn-cs"/>
              </a:rPr>
              <a:t>）离开了 </a:t>
            </a:r>
            <a:r>
              <a:rPr lang="en-US" altLang="zh-CN" sz="675" b="0" i="0" kern="1200" dirty="0" smtClean="0">
                <a:solidFill>
                  <a:schemeClr val="tx1"/>
                </a:solidFill>
                <a:effectLst/>
                <a:latin typeface="+mn-lt"/>
                <a:ea typeface="+mn-ea"/>
                <a:cs typeface="+mn-cs"/>
              </a:rPr>
              <a:t>Scrum </a:t>
            </a:r>
            <a:r>
              <a:rPr lang="zh-CN" altLang="en-US" sz="675" b="0" i="0" kern="1200" dirty="0" smtClean="0">
                <a:solidFill>
                  <a:schemeClr val="tx1"/>
                </a:solidFill>
                <a:effectLst/>
                <a:latin typeface="+mn-lt"/>
                <a:ea typeface="+mn-ea"/>
                <a:cs typeface="+mn-cs"/>
              </a:rPr>
              <a:t>联盟（</a:t>
            </a:r>
            <a:r>
              <a:rPr lang="en-US" altLang="zh-CN" sz="675" b="0" i="0" kern="1200" dirty="0" smtClean="0">
                <a:solidFill>
                  <a:schemeClr val="tx1"/>
                </a:solidFill>
                <a:effectLst/>
                <a:latin typeface="+mn-lt"/>
                <a:ea typeface="+mn-ea"/>
                <a:cs typeface="+mn-cs"/>
              </a:rPr>
              <a:t>Scrum Alliance</a:t>
            </a:r>
            <a:r>
              <a:rPr lang="zh-CN" altLang="en-US" sz="675" b="0" i="0" kern="1200" dirty="0" smtClean="0">
                <a:solidFill>
                  <a:schemeClr val="tx1"/>
                </a:solidFill>
                <a:effectLst/>
                <a:latin typeface="+mn-lt"/>
                <a:ea typeface="+mn-ea"/>
                <a:cs typeface="+mn-cs"/>
              </a:rPr>
              <a:t>），创立了 </a:t>
            </a:r>
            <a:r>
              <a:rPr lang="en-US" altLang="zh-CN" sz="675" b="0" i="0" kern="1200" dirty="0" smtClean="0">
                <a:solidFill>
                  <a:schemeClr val="tx1"/>
                </a:solidFill>
                <a:effectLst/>
                <a:latin typeface="+mn-lt"/>
                <a:ea typeface="+mn-ea"/>
                <a:cs typeface="+mn-cs"/>
              </a:rPr>
              <a:t>Scrum.org</a:t>
            </a:r>
            <a:r>
              <a:rPr lang="zh-CN" altLang="en-US" sz="675" b="0" i="0" kern="1200" dirty="0" smtClean="0">
                <a:solidFill>
                  <a:schemeClr val="tx1"/>
                </a:solidFill>
                <a:effectLst/>
                <a:latin typeface="+mn-lt"/>
                <a:ea typeface="+mn-ea"/>
                <a:cs typeface="+mn-cs"/>
              </a:rPr>
              <a:t>，该机构负责监督并行的 </a:t>
            </a:r>
            <a:r>
              <a:rPr lang="en-US" altLang="zh-CN" sz="675" b="0" i="0" kern="1200" dirty="0" smtClean="0">
                <a:solidFill>
                  <a:schemeClr val="tx1"/>
                </a:solidFill>
                <a:effectLst/>
                <a:latin typeface="+mn-lt"/>
                <a:ea typeface="+mn-ea"/>
                <a:cs typeface="+mn-cs"/>
              </a:rPr>
              <a:t>Professional Scrum </a:t>
            </a:r>
            <a:r>
              <a:rPr lang="zh-CN" altLang="en-US" sz="675" b="0" i="0" kern="1200" dirty="0" smtClean="0">
                <a:solidFill>
                  <a:schemeClr val="tx1"/>
                </a:solidFill>
                <a:effectLst/>
                <a:latin typeface="+mn-lt"/>
                <a:ea typeface="+mn-ea"/>
                <a:cs typeface="+mn-cs"/>
              </a:rPr>
              <a:t>认证系列。</a:t>
            </a:r>
            <a:endParaRPr lang="zh-CN" altLang="en-US" sz="675" b="0" i="0" kern="1200" dirty="0" smtClean="0">
              <a:solidFill>
                <a:schemeClr val="tx1"/>
              </a:solidFill>
              <a:effectLst/>
              <a:latin typeface="+mn-lt"/>
              <a:ea typeface="+mn-ea"/>
              <a:cs typeface="+mn-cs"/>
            </a:endParaRPr>
          </a:p>
          <a:p>
            <a:r>
              <a:rPr lang="zh-CN" altLang="en-US" sz="675" b="0" i="0" kern="1200" dirty="0" smtClean="0">
                <a:solidFill>
                  <a:schemeClr val="tx1"/>
                </a:solidFill>
                <a:effectLst/>
                <a:latin typeface="+mn-lt"/>
                <a:ea typeface="+mn-ea"/>
                <a:cs typeface="+mn-cs"/>
              </a:rPr>
              <a:t>自 </a:t>
            </a:r>
            <a:r>
              <a:rPr lang="en-US" altLang="zh-CN" sz="675" b="0" i="0" kern="1200" dirty="0" smtClean="0">
                <a:solidFill>
                  <a:schemeClr val="tx1"/>
                </a:solidFill>
                <a:effectLst/>
                <a:latin typeface="+mn-lt"/>
                <a:ea typeface="+mn-ea"/>
                <a:cs typeface="+mn-cs"/>
              </a:rPr>
              <a:t>2009 </a:t>
            </a:r>
            <a:r>
              <a:rPr lang="zh-CN" altLang="en-US" sz="675" b="0" i="0" kern="1200" dirty="0" smtClean="0">
                <a:solidFill>
                  <a:schemeClr val="tx1"/>
                </a:solidFill>
                <a:effectLst/>
                <a:latin typeface="+mn-lt"/>
                <a:ea typeface="+mn-ea"/>
                <a:cs typeface="+mn-cs"/>
              </a:rPr>
              <a:t>年以来，肯</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施瓦伯（</a:t>
            </a:r>
            <a:r>
              <a:rPr lang="en-US" altLang="zh-CN" sz="675" b="0" i="0" kern="1200" dirty="0" smtClean="0">
                <a:solidFill>
                  <a:schemeClr val="tx1"/>
                </a:solidFill>
                <a:effectLst/>
                <a:latin typeface="+mn-lt"/>
                <a:ea typeface="+mn-ea"/>
                <a:cs typeface="+mn-cs"/>
              </a:rPr>
              <a:t>Ken </a:t>
            </a:r>
            <a:r>
              <a:rPr lang="en-US" altLang="zh-CN" sz="675" b="0" i="0" kern="1200" dirty="0" err="1" smtClean="0">
                <a:solidFill>
                  <a:schemeClr val="tx1"/>
                </a:solidFill>
                <a:effectLst/>
                <a:latin typeface="+mn-lt"/>
                <a:ea typeface="+mn-ea"/>
                <a:cs typeface="+mn-cs"/>
              </a:rPr>
              <a:t>Schwaber</a:t>
            </a:r>
            <a:r>
              <a:rPr lang="zh-CN" altLang="en-US" sz="675" b="0" i="0" kern="1200" dirty="0" smtClean="0">
                <a:solidFill>
                  <a:schemeClr val="tx1"/>
                </a:solidFill>
                <a:effectLst/>
                <a:latin typeface="+mn-lt"/>
                <a:ea typeface="+mn-ea"/>
                <a:cs typeface="+mn-cs"/>
              </a:rPr>
              <a:t>）和 杰夫</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萨瑟兰（</a:t>
            </a:r>
            <a:r>
              <a:rPr lang="en-US" altLang="zh-CN" sz="675" b="0" i="0" kern="1200" dirty="0" smtClean="0">
                <a:solidFill>
                  <a:schemeClr val="tx1"/>
                </a:solidFill>
                <a:effectLst/>
                <a:latin typeface="+mn-lt"/>
                <a:ea typeface="+mn-ea"/>
                <a:cs typeface="+mn-cs"/>
              </a:rPr>
              <a:t>Jeff Sutherland</a:t>
            </a:r>
            <a:r>
              <a:rPr lang="zh-CN" altLang="en-US" sz="675" b="0" i="0" kern="1200" dirty="0" smtClean="0">
                <a:solidFill>
                  <a:schemeClr val="tx1"/>
                </a:solidFill>
                <a:effectLst/>
                <a:latin typeface="+mn-lt"/>
                <a:ea typeface="+mn-ea"/>
                <a:cs typeface="+mn-cs"/>
              </a:rPr>
              <a:t>）已发布并更新了名为 </a:t>
            </a:r>
            <a:r>
              <a:rPr lang="en-US" altLang="zh-CN" sz="675" b="0" i="0" kern="1200" dirty="0" smtClean="0">
                <a:solidFill>
                  <a:schemeClr val="tx1"/>
                </a:solidFill>
                <a:effectLst/>
                <a:latin typeface="+mn-lt"/>
                <a:ea typeface="+mn-ea"/>
                <a:cs typeface="+mn-cs"/>
              </a:rPr>
              <a:t>《Scrum </a:t>
            </a:r>
            <a:r>
              <a:rPr lang="zh-CN" altLang="en-US" sz="675" b="0" i="0" kern="1200" dirty="0" smtClean="0">
                <a:solidFill>
                  <a:schemeClr val="tx1"/>
                </a:solidFill>
                <a:effectLst/>
                <a:latin typeface="+mn-lt"/>
                <a:ea typeface="+mn-ea"/>
                <a:cs typeface="+mn-cs"/>
              </a:rPr>
              <a:t>指南</a:t>
            </a:r>
            <a:r>
              <a:rPr lang="en-US" altLang="zh-CN" sz="675" b="0" i="0" kern="1200" dirty="0" smtClean="0">
                <a:solidFill>
                  <a:schemeClr val="tx1"/>
                </a:solidFill>
                <a:effectLst/>
                <a:latin typeface="+mn-lt"/>
                <a:ea typeface="+mn-ea"/>
                <a:cs typeface="+mn-cs"/>
              </a:rPr>
              <a:t>》</a:t>
            </a:r>
            <a:r>
              <a:rPr lang="zh-CN" altLang="en-US" sz="675" b="0" i="0" kern="1200" dirty="0" smtClean="0">
                <a:solidFill>
                  <a:schemeClr val="tx1"/>
                </a:solidFill>
                <a:effectLst/>
                <a:latin typeface="+mn-lt"/>
                <a:ea typeface="+mn-ea"/>
                <a:cs typeface="+mn-cs"/>
              </a:rPr>
              <a:t>（</a:t>
            </a:r>
            <a:r>
              <a:rPr lang="en-US" altLang="zh-CN" sz="675" b="0" i="0" kern="1200" dirty="0" smtClean="0">
                <a:solidFill>
                  <a:schemeClr val="tx1"/>
                </a:solidFill>
                <a:effectLst/>
                <a:latin typeface="+mn-lt"/>
                <a:ea typeface="+mn-ea"/>
                <a:cs typeface="+mn-cs"/>
              </a:rPr>
              <a:t>Scrum Guide</a:t>
            </a:r>
            <a:r>
              <a:rPr lang="zh-CN" altLang="en-US" sz="675" b="0" i="0" kern="1200" dirty="0" smtClean="0">
                <a:solidFill>
                  <a:schemeClr val="tx1"/>
                </a:solidFill>
                <a:effectLst/>
                <a:latin typeface="+mn-lt"/>
                <a:ea typeface="+mn-ea"/>
                <a:cs typeface="+mn-cs"/>
              </a:rPr>
              <a:t>）的公共文件。该版本已被修订 </a:t>
            </a:r>
            <a:r>
              <a:rPr lang="en-US" altLang="zh-CN" sz="675" b="0" i="0" kern="1200" dirty="0" smtClean="0">
                <a:solidFill>
                  <a:schemeClr val="tx1"/>
                </a:solidFill>
                <a:effectLst/>
                <a:latin typeface="+mn-lt"/>
                <a:ea typeface="+mn-ea"/>
                <a:cs typeface="+mn-cs"/>
              </a:rPr>
              <a:t>6 </a:t>
            </a:r>
            <a:r>
              <a:rPr lang="zh-CN" altLang="en-US" sz="675" b="0" i="0" kern="1200" dirty="0" smtClean="0">
                <a:solidFill>
                  <a:schemeClr val="tx1"/>
                </a:solidFill>
                <a:effectLst/>
                <a:latin typeface="+mn-lt"/>
                <a:ea typeface="+mn-ea"/>
                <a:cs typeface="+mn-cs"/>
              </a:rPr>
              <a:t>次，当前版本为 </a:t>
            </a:r>
            <a:r>
              <a:rPr lang="en-US" altLang="zh-CN" sz="675" b="0" i="0" kern="1200" dirty="0" smtClean="0">
                <a:solidFill>
                  <a:schemeClr val="tx1"/>
                </a:solidFill>
                <a:effectLst/>
                <a:latin typeface="+mn-lt"/>
                <a:ea typeface="+mn-ea"/>
                <a:cs typeface="+mn-cs"/>
              </a:rPr>
              <a:t>2020 </a:t>
            </a:r>
            <a:r>
              <a:rPr lang="zh-CN" altLang="en-US" sz="675" b="0" i="0" kern="1200" dirty="0" smtClean="0">
                <a:solidFill>
                  <a:schemeClr val="tx1"/>
                </a:solidFill>
                <a:effectLst/>
                <a:latin typeface="+mn-lt"/>
                <a:ea typeface="+mn-ea"/>
                <a:cs typeface="+mn-cs"/>
              </a:rPr>
              <a:t>年 </a:t>
            </a:r>
            <a:r>
              <a:rPr lang="en-US" altLang="zh-CN" sz="675" b="0" i="0" kern="1200" dirty="0" smtClean="0">
                <a:solidFill>
                  <a:schemeClr val="tx1"/>
                </a:solidFill>
                <a:effectLst/>
                <a:latin typeface="+mn-lt"/>
                <a:ea typeface="+mn-ea"/>
                <a:cs typeface="+mn-cs"/>
              </a:rPr>
              <a:t>11 </a:t>
            </a:r>
            <a:r>
              <a:rPr lang="zh-CN" altLang="en-US" sz="675" b="0" i="0" kern="1200" dirty="0" smtClean="0">
                <a:solidFill>
                  <a:schemeClr val="tx1"/>
                </a:solidFill>
                <a:effectLst/>
                <a:latin typeface="+mn-lt"/>
                <a:ea typeface="+mn-ea"/>
                <a:cs typeface="+mn-cs"/>
              </a:rPr>
              <a:t>月。</a:t>
            </a:r>
            <a:endParaRPr lang="zh-CN" altLang="en-US" sz="675" b="0" i="0" kern="1200" dirty="0" smtClean="0">
              <a:solidFill>
                <a:schemeClr val="tx1"/>
              </a:solidFill>
              <a:effectLst/>
              <a:latin typeface="+mn-lt"/>
              <a:ea typeface="+mn-ea"/>
              <a:cs typeface="+mn-cs"/>
            </a:endParaRPr>
          </a:p>
          <a:p>
            <a:r>
              <a:rPr lang="en-US" altLang="zh-CN" sz="675" b="0" i="0" kern="1200" dirty="0" smtClean="0">
                <a:solidFill>
                  <a:schemeClr val="tx1"/>
                </a:solidFill>
                <a:effectLst/>
                <a:latin typeface="+mn-lt"/>
                <a:ea typeface="+mn-ea"/>
                <a:cs typeface="+mn-cs"/>
              </a:rPr>
              <a:t>2020 </a:t>
            </a:r>
            <a:r>
              <a:rPr lang="zh-CN" altLang="en-US" sz="675" b="0" i="0" kern="1200" dirty="0" smtClean="0">
                <a:solidFill>
                  <a:schemeClr val="tx1"/>
                </a:solidFill>
                <a:effectLst/>
                <a:latin typeface="+mn-lt"/>
                <a:ea typeface="+mn-ea"/>
                <a:cs typeface="+mn-cs"/>
              </a:rPr>
              <a:t>年 </a:t>
            </a:r>
            <a:r>
              <a:rPr lang="en-US" altLang="zh-CN" sz="675" b="0" i="0" kern="1200" dirty="0" smtClean="0">
                <a:solidFill>
                  <a:schemeClr val="tx1"/>
                </a:solidFill>
                <a:effectLst/>
                <a:latin typeface="+mn-lt"/>
                <a:ea typeface="+mn-ea"/>
                <a:cs typeface="+mn-cs"/>
              </a:rPr>
              <a:t>5 </a:t>
            </a:r>
            <a:r>
              <a:rPr lang="zh-CN" altLang="en-US" sz="675" b="0" i="0" kern="1200" dirty="0" smtClean="0">
                <a:solidFill>
                  <a:schemeClr val="tx1"/>
                </a:solidFill>
                <a:effectLst/>
                <a:latin typeface="+mn-lt"/>
                <a:ea typeface="+mn-ea"/>
                <a:cs typeface="+mn-cs"/>
              </a:rPr>
              <a:t>月，杰夫 </a:t>
            </a:r>
            <a:r>
              <a:rPr lang="en-US" altLang="zh-CN" sz="675" b="0" i="0" kern="1200" dirty="0" smtClean="0">
                <a:solidFill>
                  <a:schemeClr val="tx1"/>
                </a:solidFill>
                <a:effectLst/>
                <a:latin typeface="+mn-lt"/>
                <a:ea typeface="+mn-ea"/>
                <a:cs typeface="+mn-cs"/>
              </a:rPr>
              <a:t>· </a:t>
            </a:r>
            <a:r>
              <a:rPr lang="zh-CN" altLang="en-US" sz="675" b="0" i="0" kern="1200" dirty="0" smtClean="0">
                <a:solidFill>
                  <a:schemeClr val="tx1"/>
                </a:solidFill>
                <a:effectLst/>
                <a:latin typeface="+mn-lt"/>
                <a:ea typeface="+mn-ea"/>
                <a:cs typeface="+mn-cs"/>
              </a:rPr>
              <a:t>萨瑟兰（</a:t>
            </a:r>
            <a:r>
              <a:rPr lang="en-US" altLang="zh-CN" sz="675" b="0" i="0" kern="1200" dirty="0" smtClean="0">
                <a:solidFill>
                  <a:schemeClr val="tx1"/>
                </a:solidFill>
                <a:effectLst/>
                <a:latin typeface="+mn-lt"/>
                <a:ea typeface="+mn-ea"/>
                <a:cs typeface="+mn-cs"/>
              </a:rPr>
              <a:t>Jeff Sutherland</a:t>
            </a:r>
            <a:r>
              <a:rPr lang="zh-CN" altLang="en-US" sz="675" b="0" i="0" kern="1200" dirty="0" smtClean="0">
                <a:solidFill>
                  <a:schemeClr val="tx1"/>
                </a:solidFill>
                <a:effectLst/>
                <a:latin typeface="+mn-lt"/>
                <a:ea typeface="+mn-ea"/>
                <a:cs typeface="+mn-cs"/>
              </a:rPr>
              <a:t>）在 </a:t>
            </a:r>
            <a:r>
              <a:rPr lang="en-US" altLang="zh-CN" sz="675" b="0" i="0" kern="1200" dirty="0" smtClean="0">
                <a:solidFill>
                  <a:schemeClr val="tx1"/>
                </a:solidFill>
                <a:effectLst/>
                <a:latin typeface="+mn-lt"/>
                <a:ea typeface="+mn-ea"/>
                <a:cs typeface="+mn-cs"/>
              </a:rPr>
              <a:t>2006 </a:t>
            </a:r>
            <a:r>
              <a:rPr lang="zh-CN" altLang="en-US" sz="675" b="0" i="0" kern="1200" dirty="0" smtClean="0">
                <a:solidFill>
                  <a:schemeClr val="tx1"/>
                </a:solidFill>
                <a:effectLst/>
                <a:latin typeface="+mn-lt"/>
                <a:ea typeface="+mn-ea"/>
                <a:cs typeface="+mn-cs"/>
              </a:rPr>
              <a:t>年创立的 </a:t>
            </a:r>
            <a:r>
              <a:rPr lang="en-US" altLang="zh-CN" sz="675" b="0" i="0" kern="1200" dirty="0" err="1" smtClean="0">
                <a:solidFill>
                  <a:schemeClr val="tx1"/>
                </a:solidFill>
                <a:effectLst/>
                <a:latin typeface="+mn-lt"/>
                <a:ea typeface="+mn-ea"/>
                <a:cs typeface="+mn-cs"/>
              </a:rPr>
              <a:t>ScrumInc</a:t>
            </a:r>
            <a:r>
              <a:rPr lang="en-US" altLang="zh-CN" sz="675" b="0" i="0" kern="1200" dirty="0" smtClean="0">
                <a:solidFill>
                  <a:schemeClr val="tx1"/>
                </a:solidFill>
                <a:effectLst/>
                <a:latin typeface="+mn-lt"/>
                <a:ea typeface="+mn-ea"/>
                <a:cs typeface="+mn-cs"/>
              </a:rPr>
              <a:t> </a:t>
            </a:r>
            <a:r>
              <a:rPr lang="zh-CN" altLang="en-US" sz="675" b="0" i="0" kern="1200" dirty="0" smtClean="0">
                <a:solidFill>
                  <a:schemeClr val="tx1"/>
                </a:solidFill>
                <a:effectLst/>
                <a:latin typeface="+mn-lt"/>
                <a:ea typeface="+mn-ea"/>
                <a:cs typeface="+mn-cs"/>
              </a:rPr>
              <a:t>公司，开始教授“</a:t>
            </a:r>
            <a:r>
              <a:rPr lang="en-US" altLang="zh-CN" sz="675" b="0" i="0" kern="1200" dirty="0" smtClean="0">
                <a:solidFill>
                  <a:schemeClr val="tx1"/>
                </a:solidFill>
                <a:effectLst/>
                <a:latin typeface="+mn-lt"/>
                <a:ea typeface="+mn-ea"/>
                <a:cs typeface="+mn-cs"/>
              </a:rPr>
              <a:t>Scrum </a:t>
            </a:r>
            <a:r>
              <a:rPr lang="en-US" altLang="zh-CN" sz="675" b="0" i="0" kern="1200" dirty="0" err="1" smtClean="0">
                <a:solidFill>
                  <a:schemeClr val="tx1"/>
                </a:solidFill>
                <a:effectLst/>
                <a:latin typeface="+mn-lt"/>
                <a:ea typeface="+mn-ea"/>
                <a:cs typeface="+mn-cs"/>
              </a:rPr>
              <a:t>Inc</a:t>
            </a:r>
            <a:r>
              <a:rPr lang="en-US" altLang="zh-CN" sz="675" b="0" i="0" kern="1200" dirty="0" smtClean="0">
                <a:solidFill>
                  <a:schemeClr val="tx1"/>
                </a:solidFill>
                <a:effectLst/>
                <a:latin typeface="+mn-lt"/>
                <a:ea typeface="+mn-ea"/>
                <a:cs typeface="+mn-cs"/>
              </a:rPr>
              <a:t> </a:t>
            </a:r>
            <a:r>
              <a:rPr lang="zh-CN" altLang="en-US" sz="675" b="0" i="0" kern="1200" dirty="0" smtClean="0">
                <a:solidFill>
                  <a:schemeClr val="tx1"/>
                </a:solidFill>
                <a:effectLst/>
                <a:latin typeface="+mn-lt"/>
                <a:ea typeface="+mn-ea"/>
                <a:cs typeface="+mn-cs"/>
              </a:rPr>
              <a:t>认证系列”。</a:t>
            </a:r>
            <a:endParaRPr lang="zh-CN" altLang="en-US" sz="675" b="0" i="0" kern="1200" dirty="0" smtClean="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Sprint</a:t>
            </a:r>
            <a:r>
              <a:rPr lang="zh-CN" altLang="en-US" dirty="0"/>
              <a:t>：是短距离赛跑的意思，这里面指的是一次迭代，而一次迭代的周期是</a:t>
            </a:r>
            <a:r>
              <a:rPr lang="en-US" altLang="zh-CN" dirty="0"/>
              <a:t>1</a:t>
            </a:r>
            <a:r>
              <a:rPr lang="zh-CN" altLang="en-US" dirty="0"/>
              <a:t>个月时间（即</a:t>
            </a:r>
            <a:r>
              <a:rPr lang="en-US" altLang="zh-CN" dirty="0"/>
              <a:t>4</a:t>
            </a:r>
            <a:r>
              <a:rPr lang="zh-CN" altLang="en-US" dirty="0"/>
              <a:t>个星期），也就是我们要把一次迭代的开发内容以最快的速度完成它，这个过程我们称它为 </a:t>
            </a:r>
            <a:r>
              <a:rPr lang="en-US" altLang="zh-CN" dirty="0"/>
              <a:t>Sprint.</a:t>
            </a:r>
            <a:endParaRPr lang="zh-CN" altLang="en-US" dirty="0"/>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514350" rtl="0" eaLnBrk="1" fontAlgn="auto" latinLnBrk="0" hangingPunct="1">
              <a:lnSpc>
                <a:spcPct val="100000"/>
              </a:lnSpc>
              <a:spcBef>
                <a:spcPts val="0"/>
              </a:spcBef>
              <a:spcAft>
                <a:spcPts val="0"/>
              </a:spcAft>
              <a:buClrTx/>
              <a:buSzTx/>
              <a:buFontTx/>
              <a:buNone/>
              <a:defRPr/>
            </a:pPr>
            <a:r>
              <a:rPr lang="en-US" altLang="zh-CN" sz="800" dirty="0">
                <a:effectLst/>
              </a:rPr>
              <a:t>Sprint </a:t>
            </a:r>
            <a:r>
              <a:rPr lang="zh-CN" altLang="en-US" sz="800" dirty="0">
                <a:effectLst/>
              </a:rPr>
              <a:t>计划会议</a:t>
            </a:r>
            <a:r>
              <a:rPr lang="zh-CN" altLang="zh-CN" sz="675" kern="1200" dirty="0">
                <a:solidFill>
                  <a:schemeClr val="tx1"/>
                </a:solidFill>
                <a:effectLst/>
                <a:latin typeface="+mn-lt"/>
                <a:ea typeface="+mn-ea"/>
                <a:cs typeface="+mn-cs"/>
              </a:rPr>
              <a:t>需要整个团队参加，</a:t>
            </a:r>
            <a:r>
              <a:rPr lang="en-US" altLang="zh-CN" sz="675" kern="1200" dirty="0">
                <a:solidFill>
                  <a:schemeClr val="tx1"/>
                </a:solidFill>
                <a:effectLst/>
                <a:latin typeface="+mn-lt"/>
                <a:ea typeface="+mn-ea"/>
                <a:cs typeface="+mn-cs"/>
              </a:rPr>
              <a:t>PO</a:t>
            </a:r>
            <a:r>
              <a:rPr lang="zh-CN" altLang="zh-CN" sz="675" kern="1200" dirty="0">
                <a:solidFill>
                  <a:schemeClr val="tx1"/>
                </a:solidFill>
                <a:effectLst/>
                <a:latin typeface="+mn-lt"/>
                <a:ea typeface="+mn-ea"/>
                <a:cs typeface="+mn-cs"/>
              </a:rPr>
              <a:t>逐条讲解订单条目（最重要的产品功能），开发团队共同估算故事所需要的工作量，直到本次迭代工作量达到饱和（比如</a:t>
            </a:r>
            <a:r>
              <a:rPr lang="en-US" altLang="zh-CN" sz="675" kern="1200" dirty="0">
                <a:solidFill>
                  <a:schemeClr val="tx1"/>
                </a:solidFill>
                <a:effectLst/>
                <a:latin typeface="+mn-lt"/>
                <a:ea typeface="+mn-ea"/>
                <a:cs typeface="+mn-cs"/>
              </a:rPr>
              <a:t>2</a:t>
            </a:r>
            <a:r>
              <a:rPr lang="zh-CN" altLang="zh-CN" sz="675" kern="1200" dirty="0">
                <a:solidFill>
                  <a:schemeClr val="tx1"/>
                </a:solidFill>
                <a:effectLst/>
                <a:latin typeface="+mn-lt"/>
                <a:ea typeface="+mn-ea"/>
                <a:cs typeface="+mn-cs"/>
              </a:rPr>
              <a:t>周）。</a:t>
            </a:r>
            <a:r>
              <a:rPr lang="en-US" altLang="zh-CN" sz="675" kern="1200" dirty="0">
                <a:solidFill>
                  <a:schemeClr val="tx1"/>
                </a:solidFill>
                <a:effectLst/>
                <a:latin typeface="+mn-lt"/>
                <a:ea typeface="+mn-ea"/>
                <a:cs typeface="+mn-cs"/>
              </a:rPr>
              <a:t>PO</a:t>
            </a:r>
            <a:r>
              <a:rPr lang="zh-CN" altLang="zh-CN" sz="675" kern="1200" dirty="0">
                <a:solidFill>
                  <a:schemeClr val="tx1"/>
                </a:solidFill>
                <a:effectLst/>
                <a:latin typeface="+mn-lt"/>
                <a:ea typeface="+mn-ea"/>
                <a:cs typeface="+mn-cs"/>
              </a:rPr>
              <a:t>参与讨论并回答与产品相关的问题，但是不干涉估算结果。</a:t>
            </a:r>
            <a:endParaRPr lang="zh-CN" altLang="zh-CN" sz="675" kern="1200" dirty="0">
              <a:solidFill>
                <a:schemeClr val="tx1"/>
              </a:solidFill>
              <a:effectLst/>
              <a:latin typeface="+mn-lt"/>
              <a:ea typeface="+mn-ea"/>
              <a:cs typeface="+mn-cs"/>
            </a:endParaRPr>
          </a:p>
          <a:p>
            <a:r>
              <a:rPr lang="en-US" altLang="zh-CN" dirty="0"/>
              <a:t>Story</a:t>
            </a:r>
            <a:r>
              <a:rPr lang="zh-CN" altLang="en-US" dirty="0"/>
              <a:t>：用户故事，</a:t>
            </a:r>
            <a:r>
              <a:rPr lang="zh-CN" altLang="zh-CN" sz="675" kern="1200" dirty="0">
                <a:solidFill>
                  <a:schemeClr val="tx1"/>
                </a:solidFill>
                <a:effectLst/>
                <a:latin typeface="+mn-lt"/>
                <a:ea typeface="+mn-ea"/>
                <a:cs typeface="+mn-cs"/>
              </a:rPr>
              <a:t>在软件开发过程中被作为描述需求的一种表达形式；为了规范用户故事的表达，便于沟通；包含角色、活动、价值三个要素。提炼出来三要素就是</a:t>
            </a:r>
            <a:r>
              <a:rPr lang="en-US" altLang="zh-CN" sz="675" kern="1200" dirty="0">
                <a:solidFill>
                  <a:schemeClr val="tx1"/>
                </a:solidFill>
                <a:effectLst/>
                <a:latin typeface="+mn-lt"/>
                <a:ea typeface="+mn-ea"/>
                <a:cs typeface="+mn-cs"/>
              </a:rPr>
              <a:t>who</a:t>
            </a:r>
            <a:r>
              <a:rPr lang="zh-CN" altLang="zh-CN" sz="675" kern="1200" dirty="0">
                <a:solidFill>
                  <a:schemeClr val="tx1"/>
                </a:solidFill>
                <a:effectLst/>
                <a:latin typeface="+mn-lt"/>
                <a:ea typeface="+mn-ea"/>
                <a:cs typeface="+mn-cs"/>
              </a:rPr>
              <a:t>、</a:t>
            </a:r>
            <a:r>
              <a:rPr lang="en-US" altLang="zh-CN" sz="675" kern="1200" dirty="0">
                <a:solidFill>
                  <a:schemeClr val="tx1"/>
                </a:solidFill>
                <a:effectLst/>
                <a:latin typeface="+mn-lt"/>
                <a:ea typeface="+mn-ea"/>
                <a:cs typeface="+mn-cs"/>
              </a:rPr>
              <a:t>why</a:t>
            </a:r>
            <a:r>
              <a:rPr lang="zh-CN" altLang="zh-CN" sz="675" kern="1200" dirty="0">
                <a:solidFill>
                  <a:schemeClr val="tx1"/>
                </a:solidFill>
                <a:effectLst/>
                <a:latin typeface="+mn-lt"/>
                <a:ea typeface="+mn-ea"/>
                <a:cs typeface="+mn-cs"/>
              </a:rPr>
              <a:t>、</a:t>
            </a:r>
            <a:r>
              <a:rPr lang="en-US" altLang="zh-CN" sz="675" kern="1200" dirty="0">
                <a:solidFill>
                  <a:schemeClr val="tx1"/>
                </a:solidFill>
                <a:effectLst/>
                <a:latin typeface="+mn-lt"/>
                <a:ea typeface="+mn-ea"/>
                <a:cs typeface="+mn-cs"/>
              </a:rPr>
              <a:t>what</a:t>
            </a:r>
            <a:r>
              <a:rPr lang="zh-CN" altLang="zh-CN" sz="675" kern="1200" dirty="0">
                <a:solidFill>
                  <a:schemeClr val="tx1"/>
                </a:solidFill>
                <a:effectLst/>
                <a:latin typeface="+mn-lt"/>
                <a:ea typeface="+mn-ea"/>
                <a:cs typeface="+mn-cs"/>
              </a:rPr>
              <a:t>。</a:t>
            </a:r>
            <a:endParaRPr lang="en-US" altLang="zh-CN" sz="675" kern="1200" dirty="0">
              <a:solidFill>
                <a:schemeClr val="tx1"/>
              </a:solidFill>
              <a:effectLst/>
              <a:latin typeface="+mn-lt"/>
              <a:ea typeface="+mn-ea"/>
              <a:cs typeface="+mn-cs"/>
            </a:endParaRPr>
          </a:p>
          <a:p>
            <a:r>
              <a:rPr lang="zh-CN" altLang="en-US" sz="675" b="1" kern="1200" dirty="0">
                <a:solidFill>
                  <a:schemeClr val="tx1"/>
                </a:solidFill>
                <a:effectLst/>
                <a:latin typeface="+mn-lt"/>
                <a:ea typeface="+mn-ea"/>
                <a:cs typeface="+mn-cs"/>
              </a:rPr>
              <a:t>注意：需求在一个</a:t>
            </a:r>
            <a:r>
              <a:rPr lang="en-US" altLang="zh-CN" sz="675" b="1" kern="1200" dirty="0">
                <a:solidFill>
                  <a:schemeClr val="tx1"/>
                </a:solidFill>
                <a:effectLst/>
                <a:latin typeface="+mn-lt"/>
                <a:ea typeface="+mn-ea"/>
                <a:cs typeface="+mn-cs"/>
              </a:rPr>
              <a:t>sprint</a:t>
            </a:r>
            <a:r>
              <a:rPr lang="zh-CN" altLang="en-US" sz="675" b="1" kern="1200" dirty="0">
                <a:solidFill>
                  <a:schemeClr val="tx1"/>
                </a:solidFill>
                <a:effectLst/>
                <a:latin typeface="+mn-lt"/>
                <a:ea typeface="+mn-ea"/>
                <a:cs typeface="+mn-cs"/>
              </a:rPr>
              <a:t>内是不允许改变的。</a:t>
            </a:r>
            <a:endParaRPr lang="zh-CN" altLang="en-US" b="1"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  </a:t>
            </a:r>
            <a:r>
              <a:rPr lang="zh-CN" altLang="en-US" dirty="0" smtClean="0"/>
              <a:t>独立性：尽可能避免故事之间存在依赖关系，否则会产生优先级和规划问题。</a:t>
            </a:r>
            <a:endParaRPr lang="en-US" altLang="zh-CN" dirty="0" smtClean="0"/>
          </a:p>
          <a:p>
            <a:r>
              <a:rPr lang="en-US" altLang="zh-CN" dirty="0" smtClean="0"/>
              <a:t>•  </a:t>
            </a:r>
            <a:r>
              <a:rPr lang="zh-CN" altLang="en-US" dirty="0" smtClean="0"/>
              <a:t>可协商：故事是可协商的，不是必须实现的书面合同或者需求。 </a:t>
            </a:r>
            <a:endParaRPr lang="en-US" altLang="zh-CN" dirty="0" smtClean="0"/>
          </a:p>
          <a:p>
            <a:r>
              <a:rPr lang="en-US" altLang="zh-CN" dirty="0" smtClean="0"/>
              <a:t>•  </a:t>
            </a:r>
            <a:r>
              <a:rPr lang="zh-CN" altLang="en-US" dirty="0" smtClean="0"/>
              <a:t>有价值：确保每个故事对客户或者用户有价值的，最好是让用户编写故事。</a:t>
            </a:r>
            <a:endParaRPr lang="en-US" altLang="zh-CN" dirty="0" smtClean="0"/>
          </a:p>
          <a:p>
            <a:r>
              <a:rPr lang="en-US" altLang="zh-CN" dirty="0" smtClean="0"/>
              <a:t>•  </a:t>
            </a:r>
            <a:r>
              <a:rPr lang="zh-CN" altLang="en-US" dirty="0" smtClean="0"/>
              <a:t>可估算：开发者应该能够预测故事的规模，以及编码实现所需要的时间。</a:t>
            </a:r>
            <a:endParaRPr lang="en-US" altLang="zh-CN" dirty="0" smtClean="0"/>
          </a:p>
          <a:p>
            <a:r>
              <a:rPr lang="en-US" altLang="zh-CN" dirty="0" smtClean="0"/>
              <a:t>•  </a:t>
            </a:r>
            <a:r>
              <a:rPr lang="zh-CN" altLang="en-US" dirty="0" smtClean="0"/>
              <a:t>短小的：故事尽量短小，最好不超过</a:t>
            </a:r>
            <a:r>
              <a:rPr lang="en-US" altLang="zh-CN" dirty="0" smtClean="0"/>
              <a:t>10</a:t>
            </a:r>
            <a:r>
              <a:rPr lang="zh-CN" altLang="en-US" dirty="0" smtClean="0"/>
              <a:t>个理想人天，至少在一个迭代中完成。</a:t>
            </a:r>
            <a:endParaRPr lang="en-US" altLang="zh-CN" dirty="0" smtClean="0"/>
          </a:p>
          <a:p>
            <a:r>
              <a:rPr lang="en-US" altLang="zh-CN" dirty="0" smtClean="0"/>
              <a:t>•  </a:t>
            </a:r>
            <a:r>
              <a:rPr lang="zh-CN" altLang="en-US" dirty="0" smtClean="0"/>
              <a:t>可测试：所编写的故事必须是可测试的。</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评审会议在迭代结束的时候召开，</a:t>
            </a:r>
            <a:r>
              <a:rPr lang="en-US" altLang="zh-CN" dirty="0">
                <a:effectLst/>
              </a:rPr>
              <a:t>Scrum Team</a:t>
            </a:r>
            <a:r>
              <a:rPr lang="zh-CN" altLang="en-US" dirty="0">
                <a:effectLst/>
              </a:rPr>
              <a:t>成员演示迭代的产品，让用户使用并提出问题，听取用户对产品功能的反馈。整个小组会讨论他们在迭代中观察到了什么，有哪些新的产品想法，</a:t>
            </a:r>
            <a:r>
              <a:rPr lang="en-US" altLang="zh-CN" dirty="0">
                <a:effectLst/>
              </a:rPr>
              <a:t>PO</a:t>
            </a:r>
            <a:r>
              <a:rPr lang="zh-CN" altLang="en-US" dirty="0">
                <a:effectLst/>
              </a:rPr>
              <a:t>对未来做出一个最终的决定并适当调整产品订单条目。</a:t>
            </a:r>
            <a:endParaRPr lang="zh-CN" altLang="en-US" dirty="0"/>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514350" rtl="0" eaLnBrk="1" fontAlgn="auto" latinLnBrk="0" hangingPunct="1">
              <a:lnSpc>
                <a:spcPct val="100000"/>
              </a:lnSpc>
              <a:spcBef>
                <a:spcPts val="0"/>
              </a:spcBef>
              <a:spcAft>
                <a:spcPts val="0"/>
              </a:spcAft>
              <a:buClrTx/>
              <a:buSzTx/>
              <a:buFontTx/>
              <a:buNone/>
              <a:defRPr/>
            </a:pPr>
            <a:r>
              <a:rPr lang="zh-CN" altLang="en-US" dirty="0"/>
              <a:t>找出哪些做得好，哪些做得不好，找出潜在可改进的事项，为将来的改进制定计划。每次也就是</a:t>
            </a:r>
            <a:r>
              <a:rPr lang="en-US" altLang="zh-CN" dirty="0"/>
              <a:t>1-3</a:t>
            </a:r>
            <a:r>
              <a:rPr lang="zh-CN" altLang="en-US" dirty="0"/>
              <a:t>个关键问题做出可行（方法简单，影响范围小，见效快）的解决方案。</a:t>
            </a:r>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None/>
            </a:pPr>
            <a:endParaRPr lang="en-US" altLang="zh-CN" dirty="0"/>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228600" indent="-228600">
              <a:buFont typeface="Arial" panose="020B0604020202020204" pitchFamily="34" charset="0"/>
              <a:buChar char="•"/>
            </a:pPr>
            <a:r>
              <a:rPr lang="en-US" altLang="zh-CN" b="1" dirty="0">
                <a:effectLst/>
              </a:rPr>
              <a:t>XP</a:t>
            </a:r>
            <a:r>
              <a:rPr lang="zh-CN" altLang="en-US" b="1" dirty="0">
                <a:effectLst/>
              </a:rPr>
              <a:t>的四个基本价值观</a:t>
            </a:r>
            <a:endParaRPr lang="en-US" altLang="zh-CN" b="1" dirty="0">
              <a:effectLst/>
            </a:endParaRPr>
          </a:p>
          <a:p>
            <a:pPr marL="228600" indent="-228600">
              <a:buAutoNum type="arabicPeriod"/>
            </a:pPr>
            <a:r>
              <a:rPr lang="zh-CN" altLang="en-US" b="1" dirty="0">
                <a:effectLst/>
              </a:rPr>
              <a:t>改善沟通   </a:t>
            </a:r>
            <a:r>
              <a:rPr lang="en-US" altLang="zh-CN" b="1" dirty="0">
                <a:effectLst/>
              </a:rPr>
              <a:t>2.  </a:t>
            </a:r>
            <a:r>
              <a:rPr lang="zh-CN" altLang="en-US" b="1" dirty="0">
                <a:effectLst/>
              </a:rPr>
              <a:t>寻求简单   </a:t>
            </a:r>
            <a:r>
              <a:rPr lang="en-US" altLang="zh-CN" b="1" dirty="0">
                <a:effectLst/>
              </a:rPr>
              <a:t>3.  </a:t>
            </a:r>
            <a:r>
              <a:rPr lang="zh-CN" altLang="en-US" b="1" dirty="0">
                <a:effectLst/>
              </a:rPr>
              <a:t>获得反馈    </a:t>
            </a:r>
            <a:r>
              <a:rPr lang="en-US" altLang="zh-CN" b="1" dirty="0">
                <a:effectLst/>
              </a:rPr>
              <a:t>4.  </a:t>
            </a:r>
            <a:r>
              <a:rPr lang="zh-CN" altLang="en-US" b="1" dirty="0">
                <a:effectLst/>
              </a:rPr>
              <a:t>富有勇气</a:t>
            </a:r>
            <a:br>
              <a:rPr lang="zh-CN" altLang="en-US" b="1" dirty="0">
                <a:effectLst/>
              </a:rPr>
            </a:br>
            <a:endParaRPr lang="en-US" altLang="zh-CN" dirty="0"/>
          </a:p>
          <a:p>
            <a:pPr marL="228600" indent="-228600">
              <a:buAutoNum type="arabicPeriod"/>
            </a:pPr>
            <a:r>
              <a:rPr lang="zh-CN" altLang="en-US" dirty="0"/>
              <a:t>鼓励大家进行口头交流，解决问题，提高效率。</a:t>
            </a:r>
            <a:endParaRPr lang="en-US" altLang="zh-CN" dirty="0"/>
          </a:p>
          <a:p>
            <a:pPr marL="228600" indent="-228600">
              <a:buAutoNum type="arabicPeriod"/>
            </a:pPr>
            <a:r>
              <a:rPr lang="zh-CN" altLang="en-US" dirty="0"/>
              <a:t>不要像传统开发方法一样，对未来做一些预先规划，只要做好今天的就行，不要考虑明天会发现的新问题。提倡时刻对代码重构、保持代码良好的结构和可扩展性。</a:t>
            </a:r>
            <a:endParaRPr lang="en-US" altLang="zh-CN" dirty="0"/>
          </a:p>
          <a:p>
            <a:pPr marL="228600" indent="-228600">
              <a:buAutoNum type="arabicPeriod"/>
            </a:pPr>
            <a:r>
              <a:rPr lang="zh-CN" altLang="en-US" dirty="0"/>
              <a:t>通过持续明确的反馈来暴露软件状态的问题与进展。在开发过程中，要加强集成工作，做到持续集成，使得每次增量都是一个可执行的工作版本。在开发过程中，要及时的反馈，及早的发现问题。</a:t>
            </a:r>
            <a:endParaRPr lang="en-US" altLang="zh-CN" dirty="0"/>
          </a:p>
          <a:p>
            <a:pPr marL="228600" indent="-228600">
              <a:buAutoNum type="arabicPeriod"/>
            </a:pPr>
            <a:r>
              <a:rPr lang="zh-CN" altLang="en-US" dirty="0"/>
              <a:t>软件开发中的变化时刻存在，要有勇气面对新的变化带来的一些重新开发的需要，让这些变化早些暴露。“早出现、早解决，是实现小步快走开发节奏的好办法。”</a:t>
            </a:r>
            <a:endParaRPr lang="en-US" altLang="zh-CN" dirty="0"/>
          </a:p>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客户也有自己的事情要做，不能时时刻刻参与到软件开发中，怎么办？这时需要有人和客户进行沟通，充分了解客户的需求，从而充当客户的角色，这种人就叫做商务分析师。商务分析师最重要的职责就是与客户交谈，了解和分析需求，将其制作成用户故事并将需求转述给程序员。同时，商务分析师也要代替客户负责功能验收测试。</a:t>
            </a:r>
            <a:endParaRPr lang="en-US" altLang="zh-CN" dirty="0"/>
          </a:p>
          <a:p>
            <a:r>
              <a:rPr lang="zh-CN" altLang="en-US" dirty="0"/>
              <a:t>商务分析师开始进行需求的分析：我们到底是否真的需要这个需求</a:t>
            </a:r>
            <a:r>
              <a:rPr lang="en-US" altLang="zh-CN" dirty="0"/>
              <a:t>?</a:t>
            </a:r>
            <a:r>
              <a:rPr lang="zh-CN" altLang="en-US" dirty="0"/>
              <a:t>有没有更好的解决方案</a:t>
            </a:r>
            <a:r>
              <a:rPr lang="en-US" altLang="zh-CN" dirty="0"/>
              <a:t>?</a:t>
            </a:r>
            <a:r>
              <a:rPr lang="zh-CN" altLang="en-US" dirty="0"/>
              <a:t>有没有简单并且低廉的方式</a:t>
            </a:r>
            <a:r>
              <a:rPr lang="en-US" altLang="zh-CN" dirty="0"/>
              <a:t>?</a:t>
            </a:r>
            <a:r>
              <a:rPr lang="zh-CN" altLang="en-US" dirty="0"/>
              <a:t>换一种形式是不是也能达到这样的需求</a:t>
            </a:r>
            <a:r>
              <a:rPr lang="en-US" altLang="zh-CN" dirty="0"/>
              <a:t>?</a:t>
            </a:r>
            <a:r>
              <a:rPr lang="zh-CN" altLang="en-US" dirty="0"/>
              <a:t>这个需求有多少地方涉及到以前的软件变更</a:t>
            </a:r>
            <a:r>
              <a:rPr lang="en-US" altLang="zh-CN" dirty="0"/>
              <a:t>? </a:t>
            </a:r>
            <a:br>
              <a:rPr lang="en-US" altLang="zh-CN" dirty="0"/>
            </a:br>
            <a:br>
              <a:rPr lang="zh-CN" altLang="en-US" dirty="0"/>
            </a:br>
            <a:endParaRPr lang="zh-CN" altLang="en-US" dirty="0"/>
          </a:p>
        </p:txBody>
      </p:sp>
      <p:sp>
        <p:nvSpPr>
          <p:cNvPr id="4" name="灯片编号占位符 3"/>
          <p:cNvSpPr>
            <a:spLocks noGrp="1"/>
          </p:cNvSpPr>
          <p:nvPr>
            <p:ph type="sldNum" sz="quarter" idx="10"/>
          </p:nvPr>
        </p:nvSpPr>
        <p:spPr/>
        <p:txBody>
          <a:bodyPr/>
          <a:lstStyle/>
          <a:p>
            <a:fld id="{5E050A18-A669-4EFF-A178-886E05C2A619}"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幻灯片图像占位符 1"/>
          <p:cNvSpPr>
            <a:spLocks noGrp="1" noRot="1" noChangeAspect="1" noTextEdit="1"/>
          </p:cNvSpPr>
          <p:nvPr>
            <p:ph type="sldImg"/>
          </p:nvPr>
        </p:nvSpPr>
        <p:spPr bwMode="auto">
          <a:noFill/>
          <a:ln>
            <a:solidFill>
              <a:srgbClr val="000000"/>
            </a:solidFill>
            <a:miter lim="800000"/>
          </a:ln>
        </p:spPr>
      </p:sp>
      <p:sp>
        <p:nvSpPr>
          <p:cNvPr id="116739"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F6F8A127-C84E-4A4E-B6E2-6F3401D87546}"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spcBef>
                <a:spcPts val="1800"/>
              </a:spcBef>
            </a:pPr>
            <a:r>
              <a:rPr lang="zh-CN" altLang="en-US" sz="1200" b="0" dirty="0">
                <a:effectLst/>
              </a:rPr>
              <a:t>极限编程加强开发者与用户的</a:t>
            </a:r>
            <a:r>
              <a:rPr lang="zh-CN" altLang="en-US" sz="1200" b="0" dirty="0">
                <a:solidFill>
                  <a:srgbClr val="FF0000"/>
                </a:solidFill>
                <a:effectLst/>
              </a:rPr>
              <a:t>沟通</a:t>
            </a:r>
            <a:r>
              <a:rPr lang="zh-CN" altLang="en-US" sz="1200" b="0" dirty="0">
                <a:effectLst/>
              </a:rPr>
              <a:t>需求，让客户全面参与软件的开发设计，保证变化的需求及时得到修正。</a:t>
            </a:r>
            <a:endParaRPr lang="en-US" altLang="zh-CN" sz="1200" b="0" dirty="0">
              <a:effectLst/>
            </a:endParaRPr>
          </a:p>
          <a:p>
            <a:pPr>
              <a:spcBef>
                <a:spcPts val="1800"/>
              </a:spcBef>
            </a:pPr>
            <a:r>
              <a:rPr lang="zh-CN" altLang="en-US" sz="1200" b="0" dirty="0">
                <a:effectLst/>
              </a:rPr>
              <a:t>极限编程注重用户</a:t>
            </a:r>
            <a:r>
              <a:rPr lang="zh-CN" altLang="en-US" sz="1200" b="0" dirty="0">
                <a:solidFill>
                  <a:srgbClr val="FF0000"/>
                </a:solidFill>
                <a:effectLst/>
              </a:rPr>
              <a:t>反馈</a:t>
            </a:r>
            <a:r>
              <a:rPr lang="zh-CN" altLang="en-US" sz="1200" b="0" dirty="0">
                <a:effectLst/>
              </a:rPr>
              <a:t>与让客户加入开发是一致的，让客户参与就是随时反馈软件是否符合客户的要求。有了反馈，开发子过程变短，迭代也就很自然出现了，快速迭代，小版本发布都让开发过程变成更多的自反馈过程，有些象更加细化的快速模型法。</a:t>
            </a:r>
            <a:endParaRPr lang="zh-CN" altLang="en-US" sz="1200" b="0" dirty="0">
              <a:effectLst/>
            </a:endParaRPr>
          </a:p>
          <a:p>
            <a:r>
              <a:rPr lang="zh-CN" altLang="en-US" dirty="0"/>
              <a:t>客户也有自己的事情要做，不能时时刻刻参与到软件开发中，怎么办？这时需要有人和客户进行沟通，充分了解客户的需求，从而充当客户的角色，这种人就叫做商务分析师。商务分析师最重要的职责就是与客户交谈，了解和分析需求，将其制作成用户故事并将需求转述给程序员。同时，商务分析师也要代替客户负责功能验收测试。</a:t>
            </a:r>
            <a:endParaRPr lang="en-US" altLang="zh-CN" dirty="0"/>
          </a:p>
          <a:p>
            <a:r>
              <a:rPr lang="zh-CN" altLang="en-US" dirty="0"/>
              <a:t>商务分析师开始进行需求的分析：我们到底是否真的需要这个需求</a:t>
            </a:r>
            <a:r>
              <a:rPr lang="en-US" altLang="zh-CN" dirty="0"/>
              <a:t>?</a:t>
            </a:r>
            <a:r>
              <a:rPr lang="zh-CN" altLang="en-US" dirty="0"/>
              <a:t>有没有更好的解决方案</a:t>
            </a:r>
            <a:r>
              <a:rPr lang="en-US" altLang="zh-CN" dirty="0"/>
              <a:t>?</a:t>
            </a:r>
            <a:r>
              <a:rPr lang="zh-CN" altLang="en-US" dirty="0"/>
              <a:t>有没有简单并且低廉的方式</a:t>
            </a:r>
            <a:r>
              <a:rPr lang="en-US" altLang="zh-CN" dirty="0"/>
              <a:t>?</a:t>
            </a:r>
            <a:r>
              <a:rPr lang="zh-CN" altLang="en-US" dirty="0"/>
              <a:t>换一种形式是不是也能达到这样的需求</a:t>
            </a:r>
            <a:r>
              <a:rPr lang="en-US" altLang="zh-CN" dirty="0"/>
              <a:t>?</a:t>
            </a:r>
            <a:r>
              <a:rPr lang="zh-CN" altLang="en-US" dirty="0"/>
              <a:t>这个需求有多少地方涉及到以前的软件变更</a:t>
            </a:r>
            <a:r>
              <a:rPr lang="en-US" altLang="zh-CN" dirty="0"/>
              <a:t>? </a:t>
            </a:r>
            <a:br>
              <a:rPr lang="en-US" altLang="zh-CN" dirty="0"/>
            </a:br>
            <a:endParaRPr lang="zh-CN" altLang="en-US" dirty="0"/>
          </a:p>
        </p:txBody>
      </p:sp>
      <p:sp>
        <p:nvSpPr>
          <p:cNvPr id="4" name="灯片编号占位符 3"/>
          <p:cNvSpPr>
            <a:spLocks noGrp="1"/>
          </p:cNvSpPr>
          <p:nvPr>
            <p:ph type="sldNum" sz="quarter" idx="5"/>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隐喻是形容某些行业术语具有约定俗成的概念和潜规则，提起一个名词，不用详细解释，就能理解内在约定的含义，每个人都会不约而同的按约定去执行。</a:t>
            </a:r>
            <a:endParaRPr lang="en-US" altLang="zh-CN" dirty="0"/>
          </a:p>
          <a:p>
            <a:r>
              <a:rPr lang="zh-CN" altLang="en-US" dirty="0"/>
              <a:t>在</a:t>
            </a:r>
            <a:r>
              <a:rPr lang="en-US" altLang="zh-CN" dirty="0"/>
              <a:t>IT</a:t>
            </a:r>
            <a:r>
              <a:rPr lang="zh-CN" altLang="en-US" dirty="0"/>
              <a:t>企业内部有一套沉淀下来的简单易懂、具有象征意义的词语，所有成员都用这些词语来交流。比如，</a:t>
            </a:r>
            <a:r>
              <a:rPr lang="en-US" altLang="zh-CN" dirty="0"/>
              <a:t>Web</a:t>
            </a:r>
            <a:r>
              <a:rPr lang="zh-CN" altLang="en-US" dirty="0"/>
              <a:t>开发的三层结构、</a:t>
            </a:r>
            <a:r>
              <a:rPr lang="en-US" altLang="zh-CN" dirty="0"/>
              <a:t>MVC</a:t>
            </a:r>
            <a:r>
              <a:rPr lang="zh-CN" altLang="en-US" dirty="0"/>
              <a:t>模式、工厂模式、装配模式、业务层模型、持久层框架</a:t>
            </a:r>
            <a:r>
              <a:rPr lang="en-US" altLang="zh-CN" dirty="0"/>
              <a:t>DAO</a:t>
            </a:r>
            <a:r>
              <a:rPr lang="zh-CN" altLang="en-US" dirty="0"/>
              <a:t>、值对象</a:t>
            </a:r>
            <a:r>
              <a:rPr lang="en-US" altLang="zh-CN" dirty="0"/>
              <a:t>VO</a:t>
            </a:r>
            <a:r>
              <a:rPr lang="zh-CN" altLang="en-US" dirty="0"/>
              <a:t>、面向方面</a:t>
            </a:r>
            <a:r>
              <a:rPr lang="en-US" altLang="zh-CN" dirty="0"/>
              <a:t>AOP</a:t>
            </a:r>
            <a:r>
              <a:rPr lang="zh-CN" altLang="en-US" dirty="0"/>
              <a:t>、依赖注入</a:t>
            </a:r>
            <a:r>
              <a:rPr lang="en-US" altLang="zh-CN" dirty="0"/>
              <a:t>DI</a:t>
            </a:r>
            <a:r>
              <a:rPr lang="zh-CN" altLang="en-US" dirty="0"/>
              <a:t>、对象关系映射</a:t>
            </a:r>
            <a:r>
              <a:rPr lang="en-US" altLang="zh-CN" dirty="0"/>
              <a:t>ORM</a:t>
            </a:r>
            <a:r>
              <a:rPr lang="zh-CN" altLang="en-US" dirty="0"/>
              <a:t>等术语。</a:t>
            </a:r>
            <a:endParaRPr lang="en-US" altLang="zh-CN" dirty="0"/>
          </a:p>
          <a:p>
            <a:r>
              <a:rPr lang="zh-CN" altLang="en-US" dirty="0"/>
              <a:t>业务熟练的开发人员都会熟悉这些术语蕴藏的开发规则，即使没有设计文档，也会不约而同、循规蹈矩的按照隐喻进行。</a:t>
            </a:r>
            <a:r>
              <a:rPr lang="en-US" altLang="zh-CN" dirty="0"/>
              <a:t>XP</a:t>
            </a:r>
            <a:r>
              <a:rPr lang="zh-CN" altLang="en-US" dirty="0"/>
              <a:t>并不是轻视设计，而是因为有了隐喻能简化设计。</a:t>
            </a:r>
            <a:endParaRPr lang="en-US" altLang="zh-CN" dirty="0"/>
          </a:p>
          <a:p>
            <a:r>
              <a:rPr lang="zh-CN" altLang="en-US" dirty="0"/>
              <a:t>因此使用</a:t>
            </a:r>
            <a:r>
              <a:rPr lang="en-US" altLang="zh-CN" dirty="0"/>
              <a:t>XP</a:t>
            </a:r>
            <a:r>
              <a:rPr lang="zh-CN" altLang="en-US" dirty="0"/>
              <a:t>的开发团队是具有较高能力成熟度的标志。由于大家对“隐喻”有一致的理解，即使多个程序员编写的代码也好像出自一人之手。</a:t>
            </a:r>
            <a:endParaRPr lang="zh-CN" altLang="en-US" dirty="0"/>
          </a:p>
        </p:txBody>
      </p:sp>
      <p:sp>
        <p:nvSpPr>
          <p:cNvPr id="4" name="灯片编号占位符 3"/>
          <p:cNvSpPr>
            <a:spLocks noGrp="1"/>
          </p:cNvSpPr>
          <p:nvPr>
            <p:ph type="sldNum" sz="quarter" idx="5"/>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514350" rtl="0" eaLnBrk="1" fontAlgn="auto" latinLnBrk="0" hangingPunct="1">
              <a:lnSpc>
                <a:spcPct val="100000"/>
              </a:lnSpc>
              <a:spcBef>
                <a:spcPts val="0"/>
              </a:spcBef>
              <a:spcAft>
                <a:spcPts val="0"/>
              </a:spcAft>
              <a:buClrTx/>
              <a:buSzTx/>
              <a:buFontTx/>
              <a:buNone/>
              <a:defRPr/>
            </a:pPr>
            <a:r>
              <a:rPr lang="zh-CN" altLang="en-US" sz="675" b="1" i="0" kern="1200" dirty="0">
                <a:solidFill>
                  <a:schemeClr val="tx1"/>
                </a:solidFill>
                <a:effectLst/>
                <a:latin typeface="+mn-lt"/>
                <a:ea typeface="+mn-ea"/>
                <a:cs typeface="+mn-cs"/>
              </a:rPr>
              <a:t>结对编程：</a:t>
            </a:r>
            <a:endParaRPr lang="en-US" altLang="zh-CN" sz="675" b="1" i="0" kern="1200" dirty="0">
              <a:solidFill>
                <a:schemeClr val="tx1"/>
              </a:solidFill>
              <a:effectLst/>
              <a:latin typeface="+mn-lt"/>
              <a:ea typeface="+mn-ea"/>
              <a:cs typeface="+mn-cs"/>
            </a:endParaRPr>
          </a:p>
          <a:p>
            <a:pPr marL="0" marR="0" indent="0" algn="l" defTabSz="514350" rtl="0" eaLnBrk="1" fontAlgn="auto" latinLnBrk="0" hangingPunct="1">
              <a:lnSpc>
                <a:spcPct val="100000"/>
              </a:lnSpc>
              <a:spcBef>
                <a:spcPts val="0"/>
              </a:spcBef>
              <a:spcAft>
                <a:spcPts val="0"/>
              </a:spcAft>
              <a:buClrTx/>
              <a:buSzTx/>
              <a:buFontTx/>
              <a:buNone/>
              <a:defRPr/>
            </a:pPr>
            <a:r>
              <a:rPr lang="zh-CN" altLang="en-US" sz="675" b="1" i="0" kern="1200" dirty="0">
                <a:solidFill>
                  <a:schemeClr val="tx1"/>
                </a:solidFill>
                <a:effectLst/>
                <a:latin typeface="+mn-lt"/>
                <a:ea typeface="+mn-ea"/>
                <a:cs typeface="+mn-cs"/>
              </a:rPr>
              <a:t>测试驱动开发</a:t>
            </a:r>
            <a:endParaRPr lang="zh-CN" altLang="en-US" sz="675" b="1" i="0" kern="1200" dirty="0">
              <a:solidFill>
                <a:schemeClr val="tx1"/>
              </a:solidFill>
              <a:effectLst/>
              <a:latin typeface="+mn-lt"/>
              <a:ea typeface="+mn-ea"/>
              <a:cs typeface="+mn-cs"/>
            </a:endParaRPr>
          </a:p>
          <a:p>
            <a:r>
              <a:rPr lang="zh-CN" altLang="en-US" sz="675" b="0" i="0" kern="1200" dirty="0">
                <a:solidFill>
                  <a:schemeClr val="tx1"/>
                </a:solidFill>
                <a:effectLst/>
                <a:latin typeface="+mn-lt"/>
                <a:ea typeface="+mn-ea"/>
                <a:cs typeface="+mn-cs"/>
              </a:rPr>
              <a:t>这个是常规思维难以理解的概念，测试先行，程序都没写出了，怎么测试？参考资料的例子非常好：</a:t>
            </a:r>
            <a:endParaRPr lang="zh-CN" altLang="en-US" sz="675" b="0" i="0" kern="1200" dirty="0">
              <a:solidFill>
                <a:schemeClr val="tx1"/>
              </a:solidFill>
              <a:effectLst/>
              <a:latin typeface="+mn-lt"/>
              <a:ea typeface="+mn-ea"/>
              <a:cs typeface="+mn-cs"/>
            </a:endParaRPr>
          </a:p>
          <a:p>
            <a:r>
              <a:rPr lang="zh-CN" altLang="en-US" sz="675" b="0" i="0" kern="1200" dirty="0">
                <a:solidFill>
                  <a:schemeClr val="tx1"/>
                </a:solidFill>
                <a:effectLst/>
                <a:latin typeface="+mn-lt"/>
                <a:ea typeface="+mn-ea"/>
                <a:cs typeface="+mn-cs"/>
              </a:rPr>
              <a:t>工匠一：先拉上一根水平线，砌每一块砖时，都与这跟水平线进行比较，使得每一块砖都保持水平。</a:t>
            </a:r>
            <a:endParaRPr lang="zh-CN" altLang="en-US" sz="675" b="0" i="0" kern="1200" dirty="0">
              <a:solidFill>
                <a:schemeClr val="tx1"/>
              </a:solidFill>
              <a:effectLst/>
              <a:latin typeface="+mn-lt"/>
              <a:ea typeface="+mn-ea"/>
              <a:cs typeface="+mn-cs"/>
            </a:endParaRPr>
          </a:p>
          <a:p>
            <a:r>
              <a:rPr lang="zh-CN" altLang="en-US" sz="675" b="0" i="0" kern="1200" dirty="0">
                <a:solidFill>
                  <a:schemeClr val="tx1"/>
                </a:solidFill>
                <a:effectLst/>
                <a:latin typeface="+mn-lt"/>
                <a:ea typeface="+mn-ea"/>
                <a:cs typeface="+mn-cs"/>
              </a:rPr>
              <a:t>工匠二：先将一排砖都砌完，然后再拉上一根水平线，看看哪些砖有问题，对有问题的砖进行适当的调整。</a:t>
            </a:r>
            <a:endParaRPr lang="zh-CN" altLang="en-US" sz="675" b="0" i="0" kern="1200" dirty="0">
              <a:solidFill>
                <a:schemeClr val="tx1"/>
              </a:solidFill>
              <a:effectLst/>
              <a:latin typeface="+mn-lt"/>
              <a:ea typeface="+mn-ea"/>
              <a:cs typeface="+mn-cs"/>
            </a:endParaRPr>
          </a:p>
          <a:p>
            <a:r>
              <a:rPr lang="zh-CN" altLang="en-US" sz="675" b="0" i="0" kern="1200" dirty="0">
                <a:solidFill>
                  <a:schemeClr val="tx1"/>
                </a:solidFill>
                <a:effectLst/>
                <a:latin typeface="+mn-lt"/>
                <a:ea typeface="+mn-ea"/>
                <a:cs typeface="+mn-cs"/>
              </a:rPr>
              <a:t>工匠一代表的就是测试驱动开发的方法，当然为了有效的实现它，需要我们借助一些自动化测试工具。</a:t>
            </a:r>
            <a:endParaRPr lang="en-US" altLang="zh-CN" sz="675" b="0" i="0" kern="1200" dirty="0">
              <a:solidFill>
                <a:schemeClr val="tx1"/>
              </a:solidFill>
              <a:effectLst/>
              <a:latin typeface="+mn-lt"/>
              <a:ea typeface="+mn-ea"/>
              <a:cs typeface="+mn-cs"/>
            </a:endParaRPr>
          </a:p>
          <a:p>
            <a:r>
              <a:rPr lang="zh-CN" altLang="en-US" sz="675" b="1" i="0" kern="1200" dirty="0">
                <a:solidFill>
                  <a:schemeClr val="tx1"/>
                </a:solidFill>
                <a:effectLst/>
                <a:latin typeface="+mn-lt"/>
                <a:ea typeface="+mn-ea"/>
                <a:cs typeface="+mn-cs"/>
              </a:rPr>
              <a:t>重构</a:t>
            </a:r>
            <a:r>
              <a:rPr lang="zh-CN" altLang="en-US" sz="675" b="0" i="0" kern="1200" dirty="0">
                <a:solidFill>
                  <a:schemeClr val="tx1"/>
                </a:solidFill>
                <a:effectLst/>
                <a:latin typeface="+mn-lt"/>
                <a:ea typeface="+mn-ea"/>
                <a:cs typeface="+mn-cs"/>
              </a:rPr>
              <a:t>的目的是降低变化引发的风险，使得代码优化更加容易。重构有时并不是需要做很大的修改，不用谈虎色变，对于</a:t>
            </a:r>
            <a:r>
              <a:rPr lang="en-US" altLang="zh-CN" sz="675" b="0" i="0" kern="1200" dirty="0">
                <a:solidFill>
                  <a:schemeClr val="tx1"/>
                </a:solidFill>
                <a:effectLst/>
                <a:latin typeface="+mn-lt"/>
                <a:ea typeface="+mn-ea"/>
                <a:cs typeface="+mn-cs"/>
              </a:rPr>
              <a:t>XP</a:t>
            </a:r>
            <a:r>
              <a:rPr lang="zh-CN" altLang="en-US" sz="675" b="0" i="0" kern="1200" dirty="0">
                <a:solidFill>
                  <a:schemeClr val="tx1"/>
                </a:solidFill>
                <a:effectLst/>
                <a:latin typeface="+mn-lt"/>
                <a:ea typeface="+mn-ea"/>
                <a:cs typeface="+mn-cs"/>
              </a:rPr>
              <a:t>来说，它只是一个常规操作。</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C45DFEC-6AAF-406C-A0B4-29BDCF4A591E}" type="slidenum">
              <a:rPr lang="ko-KR" altLang="en-US" smtClean="0"/>
            </a:fld>
            <a:endParaRPr lang="en-US" altLang="ko-K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B</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C</a:t>
            </a:r>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dirty="0">
                <a:sym typeface="+mn-ea"/>
              </a:rPr>
              <a:t>极限编程是一个轻量级的、灵巧的软件开发方法；同时它也是一个非常严谨和周密的方法。它的基础和价值观是交流、朴素、反馈和勇气；即，任何一个软件项目都可以从四个方面入手进行改善：加强交流；从简单做起；寻求反馈；勇于实事求是。</a:t>
            </a:r>
            <a:r>
              <a:rPr lang="en-US" altLang="zh-CN" dirty="0">
                <a:sym typeface="+mn-ea"/>
              </a:rPr>
              <a:t>XP</a:t>
            </a:r>
            <a:r>
              <a:rPr lang="zh-CN" altLang="en-US" dirty="0">
                <a:sym typeface="+mn-ea"/>
              </a:rPr>
              <a:t>是一种近螺旋式的开发方法，它将复杂的开发过程分解为一个个相对比较简单的小周期；通过积极的交流、反馈以及其它一系列的方法，开发人员和客户可以非常清楚开发进度、变化、待解决的问题和潜在的困难等，并根据实际情况及时地调整开发过程。</a:t>
            </a:r>
            <a:r>
              <a:rPr lang="en-US" altLang="zh-CN" dirty="0">
                <a:sym typeface="+mn-ea"/>
              </a:rPr>
              <a:t>XP</a:t>
            </a:r>
            <a:r>
              <a:rPr lang="zh-CN" altLang="en-US" dirty="0">
                <a:sym typeface="+mn-ea"/>
              </a:rPr>
              <a:t>就提倡结对编程（</a:t>
            </a:r>
            <a:r>
              <a:rPr lang="en-US" altLang="zh-CN" dirty="0" err="1">
                <a:sym typeface="+mn-ea"/>
              </a:rPr>
              <a:t>PairProgramming</a:t>
            </a:r>
            <a:r>
              <a:rPr lang="en-US" altLang="zh-CN" dirty="0">
                <a:sym typeface="+mn-ea"/>
              </a:rPr>
              <a:t>)</a:t>
            </a:r>
            <a:r>
              <a:rPr lang="zh-CN" altLang="en-US" dirty="0">
                <a:sym typeface="+mn-ea"/>
              </a:rPr>
              <a:t>，而且代码所有权是归于整个开发队伍。其中的结对编程就是一种对代码的审査过程，</a:t>
            </a:r>
            <a:r>
              <a:rPr lang="en-US" altLang="zh-CN" b="1" dirty="0">
                <a:sym typeface="+mn-ea"/>
              </a:rPr>
              <a:t>XP</a:t>
            </a:r>
            <a:r>
              <a:rPr lang="zh-CN" altLang="en-US" b="1" dirty="0">
                <a:sym typeface="+mn-ea"/>
              </a:rPr>
              <a:t>主要解决代码质暈低的问题，编码速度不能改变</a:t>
            </a:r>
            <a:r>
              <a:rPr lang="zh-CN" altLang="en-US" dirty="0">
                <a:sym typeface="+mn-ea"/>
              </a:rPr>
              <a:t>。</a:t>
            </a:r>
            <a:endParaRPr lang="zh-CN" altLang="en-US" dirty="0"/>
          </a:p>
          <a:p>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b="1" dirty="0">
                <a:effectLst/>
                <a:sym typeface="+mn-ea"/>
              </a:rPr>
              <a:t> 极限编程提倡小型版本发布，每一轮迭代大约</a:t>
            </a:r>
            <a:r>
              <a:rPr lang="en-US" altLang="zh-CN" b="1" dirty="0">
                <a:effectLst/>
                <a:sym typeface="+mn-ea"/>
              </a:rPr>
              <a:t>2</a:t>
            </a:r>
            <a:r>
              <a:rPr lang="zh-CN" altLang="en-US" b="1" dirty="0">
                <a:effectLst/>
                <a:sym typeface="+mn-ea"/>
              </a:rPr>
              <a:t>周，所以</a:t>
            </a:r>
            <a:r>
              <a:rPr lang="en-US" altLang="zh-CN" b="1" dirty="0">
                <a:effectLst/>
                <a:sym typeface="+mn-ea"/>
              </a:rPr>
              <a:t>C</a:t>
            </a:r>
            <a:r>
              <a:rPr lang="zh-CN" altLang="en-US" b="1" dirty="0">
                <a:effectLst/>
                <a:sym typeface="+mn-ea"/>
              </a:rPr>
              <a:t>选项错误。</a:t>
            </a:r>
            <a:endParaRPr lang="zh-CN" altLang="en-US" dirty="0"/>
          </a:p>
          <a:p>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zh-CN" dirty="0">
                <a:effectLst/>
                <a:sym typeface="+mn-ea"/>
              </a:rPr>
              <a:t>极限编程包括：</a:t>
            </a:r>
            <a:endParaRPr lang="zh-CN" altLang="zh-CN" kern="1200" dirty="0">
              <a:solidFill>
                <a:schemeClr val="tx1"/>
              </a:solidFill>
              <a:effectLst/>
              <a:latin typeface="+mn-lt"/>
              <a:ea typeface="+mn-ea"/>
              <a:cs typeface="+mn-cs"/>
            </a:endParaRPr>
          </a:p>
          <a:p>
            <a:r>
              <a:rPr lang="en-US" altLang="zh-CN" dirty="0">
                <a:effectLst/>
                <a:sym typeface="+mn-ea"/>
              </a:rPr>
              <a:t> </a:t>
            </a:r>
            <a:endParaRPr lang="zh-CN" altLang="zh-CN" kern="1200" dirty="0">
              <a:solidFill>
                <a:schemeClr val="tx1"/>
              </a:solidFill>
              <a:effectLst/>
              <a:latin typeface="+mn-lt"/>
              <a:ea typeface="+mn-ea"/>
              <a:cs typeface="+mn-cs"/>
            </a:endParaRPr>
          </a:p>
          <a:p>
            <a:r>
              <a:rPr lang="zh-CN" altLang="zh-CN" dirty="0">
                <a:effectLst/>
                <a:sym typeface="+mn-ea"/>
              </a:rPr>
              <a:t>团队协作、规划策略、结对编程、测试驱动开发</a:t>
            </a:r>
            <a:r>
              <a:rPr lang="en-US" altLang="zh-CN" dirty="0">
                <a:effectLst/>
                <a:sym typeface="+mn-ea"/>
              </a:rPr>
              <a:t>(Testing-Driven Development)</a:t>
            </a:r>
            <a:r>
              <a:rPr lang="zh-CN" altLang="zh-CN" dirty="0">
                <a:effectLst/>
                <a:sym typeface="+mn-ea"/>
              </a:rPr>
              <a:t>、重构</a:t>
            </a:r>
            <a:r>
              <a:rPr lang="en-US" altLang="zh-CN" dirty="0">
                <a:effectLst/>
                <a:sym typeface="+mn-ea"/>
              </a:rPr>
              <a:t>(Refactoring)</a:t>
            </a:r>
            <a:r>
              <a:rPr lang="zh-CN" altLang="zh-CN" dirty="0">
                <a:effectLst/>
                <a:sym typeface="+mn-ea"/>
              </a:rPr>
              <a:t>、简单设计</a:t>
            </a:r>
            <a:r>
              <a:rPr lang="en-US" altLang="zh-CN" dirty="0">
                <a:effectLst/>
                <a:sym typeface="+mn-ea"/>
              </a:rPr>
              <a:t>(Simple Design) </a:t>
            </a:r>
            <a:r>
              <a:rPr lang="zh-CN" altLang="zh-CN" dirty="0">
                <a:effectLst/>
                <a:sym typeface="+mn-ea"/>
              </a:rPr>
              <a:t>、代码集体所有权</a:t>
            </a:r>
            <a:r>
              <a:rPr lang="en-US" altLang="zh-CN" dirty="0">
                <a:effectLst/>
                <a:sym typeface="+mn-ea"/>
              </a:rPr>
              <a:t>(Collective Code Ownership)</a:t>
            </a:r>
            <a:r>
              <a:rPr lang="zh-CN" altLang="zh-CN" dirty="0">
                <a:effectLst/>
                <a:sym typeface="+mn-ea"/>
              </a:rPr>
              <a:t>、持续集成</a:t>
            </a:r>
            <a:r>
              <a:rPr lang="en-US" altLang="zh-CN" dirty="0">
                <a:effectLst/>
                <a:sym typeface="+mn-ea"/>
              </a:rPr>
              <a:t>(Continuous Integration)</a:t>
            </a:r>
            <a:r>
              <a:rPr lang="zh-CN" altLang="zh-CN" dirty="0">
                <a:effectLst/>
                <a:sym typeface="+mn-ea"/>
              </a:rPr>
              <a:t>、客户测试</a:t>
            </a:r>
            <a:r>
              <a:rPr lang="en-US" altLang="zh-CN" dirty="0">
                <a:effectLst/>
                <a:sym typeface="+mn-ea"/>
              </a:rPr>
              <a:t>(Customer Tests)</a:t>
            </a:r>
            <a:r>
              <a:rPr lang="zh-CN" altLang="zh-CN" dirty="0">
                <a:effectLst/>
                <a:sym typeface="+mn-ea"/>
              </a:rPr>
              <a:t>、小型发布（</a:t>
            </a:r>
            <a:r>
              <a:rPr lang="en-US" altLang="zh-CN" dirty="0">
                <a:effectLst/>
                <a:sym typeface="+mn-ea"/>
              </a:rPr>
              <a:t>Small Release</a:t>
            </a:r>
            <a:r>
              <a:rPr lang="zh-CN" altLang="zh-CN" dirty="0">
                <a:effectLst/>
                <a:sym typeface="+mn-ea"/>
              </a:rPr>
              <a:t>）、每周</a:t>
            </a:r>
            <a:r>
              <a:rPr lang="en-US" altLang="zh-CN" dirty="0">
                <a:effectLst/>
                <a:sym typeface="+mn-ea"/>
              </a:rPr>
              <a:t>40</a:t>
            </a:r>
            <a:r>
              <a:rPr lang="zh-CN" altLang="zh-CN" dirty="0">
                <a:effectLst/>
                <a:sym typeface="+mn-ea"/>
              </a:rPr>
              <a:t>小时工作制（</a:t>
            </a:r>
            <a:r>
              <a:rPr lang="en-US" altLang="zh-CN" dirty="0">
                <a:effectLst/>
                <a:sym typeface="+mn-ea"/>
              </a:rPr>
              <a:t>40-hour Week</a:t>
            </a:r>
            <a:r>
              <a:rPr lang="zh-CN" altLang="zh-CN" dirty="0">
                <a:effectLst/>
                <a:sym typeface="+mn-ea"/>
              </a:rPr>
              <a:t>）、编码规范（</a:t>
            </a:r>
            <a:r>
              <a:rPr lang="en-US" altLang="zh-CN" dirty="0">
                <a:effectLst/>
                <a:sym typeface="+mn-ea"/>
              </a:rPr>
              <a:t>Code Standards</a:t>
            </a:r>
            <a:r>
              <a:rPr lang="zh-CN" altLang="zh-CN" dirty="0">
                <a:effectLst/>
                <a:sym typeface="+mn-ea"/>
              </a:rPr>
              <a:t>）、系统隐喻（</a:t>
            </a:r>
            <a:r>
              <a:rPr lang="en-US" altLang="zh-CN" dirty="0">
                <a:effectLst/>
                <a:sym typeface="+mn-ea"/>
              </a:rPr>
              <a:t>System Metaphor</a:t>
            </a:r>
            <a:r>
              <a:rPr lang="zh-CN" altLang="zh-CN" dirty="0">
                <a:effectLst/>
                <a:sym typeface="+mn-ea"/>
              </a:rPr>
              <a:t>）</a:t>
            </a:r>
            <a:endParaRPr lang="zh-CN" altLang="en-US" dirty="0"/>
          </a:p>
          <a:p>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DevOps 是一个完整的面向IT运维的工作流，以 IT 自动化以及持续集成（CI）、持续部署（CD）为基础，来优化程式开发、测试、系统运维等所有环节。</a:t>
            </a:r>
            <a:endParaRPr lang="zh-CN" altLang="en-US"/>
          </a:p>
          <a:p>
            <a:endParaRPr lang="zh-CN" altLang="en-US"/>
          </a:p>
          <a:p>
            <a:r>
              <a:rPr lang="zh-CN" altLang="en-US"/>
              <a:t>什么是DevOps？ - 知乎</a:t>
            </a:r>
            <a:endParaRPr lang="zh-CN" altLang="en-US"/>
          </a:p>
          <a:p>
            <a:r>
              <a:rPr lang="zh-CN" altLang="en-US"/>
              <a:t>https://zhuanlan.zhihu.com/p/111790236</a:t>
            </a:r>
            <a:endParaRPr lang="zh-CN" altLang="en-US"/>
          </a:p>
          <a:p>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敏捷开发实现了开发与需求的同步进行、及时反馈与调整，确保了需求与市场的一致性。</a:t>
            </a:r>
            <a:endParaRPr lang="zh-CN" altLang="en-US"/>
          </a:p>
          <a:p>
            <a:r>
              <a:rPr lang="en-US" altLang="zh-CN"/>
              <a:t>DevOps</a:t>
            </a:r>
            <a:r>
              <a:rPr lang="zh-CN" altLang="en-US"/>
              <a:t>模式通过自动化流程实现应用的持续集成与持续部署，在保证质量的前提下，满足用户不断变化的需求，快速交付高品质的软件迭代版本。</a:t>
            </a:r>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a:t>
            </a:r>
            <a:r>
              <a:rPr lang="en-US" altLang="zh-CN"/>
              <a:t>DevOps</a:t>
            </a:r>
            <a:r>
              <a:rPr lang="zh-CN" altLang="en-US"/>
              <a:t>模式里，运维和开发是紧密关联的。在项目开发其，运维人员就会介入到开发过程中来了解技术路线和架构系统，提前定制相对应的运维方案。在运维初期，开发人员也会介入到系统部署中来，提供相关的优化建议。</a:t>
            </a:r>
            <a:endParaRPr lang="zh-CN" altLang="en-US"/>
          </a:p>
          <a:p>
            <a:r>
              <a:rPr lang="zh-CN" altLang="en-US"/>
              <a:t>微服务和容器化为</a:t>
            </a:r>
            <a:r>
              <a:rPr lang="en-US" altLang="zh-CN"/>
              <a:t>DevOps</a:t>
            </a:r>
            <a:r>
              <a:rPr lang="zh-CN" altLang="en-US"/>
              <a:t>提供了技术和工具。</a:t>
            </a:r>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在开发过程中，系统在开发者的本地机器上运行。在运营过程中，系统经常分布在多台服务器上，例如web服务器、应用服务器、数据库服务器等。</a:t>
            </a:r>
            <a:endParaRPr lang="zh-CN" altLang="en-US"/>
          </a:p>
          <a:p>
            <a:pPr marL="171450" indent="-171450">
              <a:buFont typeface="Arial" panose="020B0604020202020204" pitchFamily="34" charset="0"/>
              <a:buChar char="•"/>
            </a:pPr>
            <a:r>
              <a:rPr lang="zh-CN" altLang="en-US"/>
              <a:t>开发是由功能性需求(通常与业务需求直接相关)驱动的。</a:t>
            </a:r>
            <a:endParaRPr lang="zh-CN" altLang="en-US"/>
          </a:p>
          <a:p>
            <a:pPr marL="171450" indent="-171450">
              <a:buFont typeface="Arial" panose="020B0604020202020204" pitchFamily="34" charset="0"/>
              <a:buChar char="•"/>
            </a:pPr>
            <a:r>
              <a:rPr lang="zh-CN" altLang="en-US"/>
              <a:t>运营是由非功能性需求(例如可获得性、可靠性、性能等)驱动的。</a:t>
            </a:r>
            <a:endParaRPr lang="zh-CN" altLang="en-US"/>
          </a:p>
          <a:p>
            <a:pPr marL="171450" indent="-171450">
              <a:buFont typeface="Arial" panose="020B0604020202020204" pitchFamily="34" charset="0"/>
              <a:buChar char="•"/>
            </a:pPr>
            <a:r>
              <a:rPr lang="zh-CN" altLang="en-US"/>
              <a:t>运营人员希望尽量避免修改功能，从而降低满足非功能性需求的风险，如果拒绝了小的修改，但给定时间段内需要修改的总量不变，那么每次变更的规模就会变大，变更规模越大，风险也越大，因为其中涉及的区域越多。</a:t>
            </a:r>
            <a:endParaRPr lang="zh-CN" altLang="en-US"/>
          </a:p>
          <a:p>
            <a:pPr marL="171450" indent="-171450">
              <a:buFont typeface="Wingdings" panose="05000000000000000000" charset="0"/>
              <a:buChar char="ü"/>
            </a:pPr>
            <a:r>
              <a:rPr lang="zh-CN" altLang="en-US"/>
              <a:t>由于运营人员尝试避免变更，新功能流入生产环境的速度因此被延缓，从而延缓了开发人员将特性交付给用户使用的速度。</a:t>
            </a:r>
            <a:endParaRPr lang="zh-CN" altLang="en-US"/>
          </a:p>
          <a:p>
            <a:pPr marL="171450" indent="-171450">
              <a:buFont typeface="Wingdings" panose="05000000000000000000" charset="0"/>
              <a:buChar char="ü"/>
            </a:pPr>
            <a:r>
              <a:rPr lang="zh-CN" altLang="en-US"/>
              <a:t>运营人员可能对应用程序内部缺乏了解，从而难以正确地选择运行时环境和发布流程。</a:t>
            </a:r>
            <a:endParaRPr lang="zh-CN" altLang="en-US"/>
          </a:p>
          <a:p>
            <a:pPr marL="171450" indent="-171450">
              <a:buFont typeface="Wingdings" panose="05000000000000000000" charset="0"/>
              <a:buChar char="ü"/>
            </a:pPr>
            <a:r>
              <a:rPr lang="zh-CN" altLang="en-US"/>
              <a:t>开发人员可能对运行时环境缺乏了解，从而难以正确地对代码进行调整。</a:t>
            </a:r>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什么是DevOps、</a:t>
            </a:r>
            <a:r>
              <a:rPr lang="en-US" altLang="zh-CN">
                <a:sym typeface="+mn-ea"/>
              </a:rPr>
              <a:t>CI/CD</a:t>
            </a:r>
            <a:endParaRPr lang="zh-CN" altLang="en-US"/>
          </a:p>
          <a:p>
            <a:r>
              <a:rPr lang="zh-CN" altLang="en-US">
                <a:sym typeface="+mn-ea"/>
              </a:rPr>
              <a:t>https://blog.csdn.net/qq_46130027/article/details/131616193</a:t>
            </a:r>
            <a:endParaRPr lang="zh-CN" altLang="en-US"/>
          </a:p>
          <a:p>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开发部门要开发一款新产品。这款产品要使用最新最炫的技术，来保证客户的所有花俏的需求，从而给公司带来百万美元的利润。这款产品被要求使用最新的技术和运行平台，还得马上交付。于是开发部门没日没夜的加班、赶代码（cuts code like crazy），终于如期完成了任务。然后他们把自己的“杰作”一股脑的甩给了运维部门，后者还没能完全接手，前者已经迫不及待的开始了庆功会。</a:t>
            </a:r>
            <a:endParaRPr lang="zh-CN" altLang="en-US"/>
          </a:p>
          <a:p>
            <a:r>
              <a:rPr lang="zh-CN" altLang="en-US"/>
              <a:t>接到产品后，运维部门每个人的心中都充满了恐惧。</a:t>
            </a:r>
            <a:endParaRPr lang="zh-CN" altLang="en-US"/>
          </a:p>
          <a:p>
            <a:r>
              <a:rPr lang="zh-CN" altLang="en-US"/>
              <a:t>下面就是运维部门的恐惧之源：（{A.B.C}表示A或B或C之一）</a:t>
            </a:r>
            <a:endParaRPr lang="zh-CN" altLang="en-US"/>
          </a:p>
          <a:p>
            <a:pPr marL="171450" indent="-171450">
              <a:buFont typeface="Arial" panose="020B0604020202020204" pitchFamily="34" charset="0"/>
              <a:buChar char="•"/>
            </a:pPr>
            <a:r>
              <a:rPr lang="zh-CN" altLang="en-US"/>
              <a:t>这款优秀的产品在目前的底层平台上无法运行，因为这个平台{太古老了，空间不足，不支持某某版本}</a:t>
            </a:r>
            <a:endParaRPr lang="zh-CN" altLang="en-US"/>
          </a:p>
          <a:p>
            <a:pPr marL="171450" indent="-171450">
              <a:buFont typeface="Arial" panose="020B0604020202020204" pitchFamily="34" charset="0"/>
              <a:buChar char="•"/>
            </a:pPr>
            <a:r>
              <a:rPr lang="zh-CN" altLang="en-US"/>
              <a:t>这款产品的体系结构跟我们的{存储，网络，部署，安全}模型不匹配。</a:t>
            </a:r>
            <a:endParaRPr lang="zh-CN" altLang="en-US"/>
          </a:p>
          <a:p>
            <a:pPr marL="171450" indent="-171450">
              <a:buFont typeface="Arial" panose="020B0604020202020204" pitchFamily="34" charset="0"/>
              <a:buChar char="•"/>
            </a:pPr>
            <a:r>
              <a:rPr lang="zh-CN" altLang="en-US"/>
              <a:t>这款产品的{ 报告，安全，监视，备份，服务提供} 我们搞不懂 ，所以没法把它做成实际可用的产品。</a:t>
            </a:r>
            <a:endParaRPr lang="zh-CN" altLang="en-US"/>
          </a:p>
          <a:p>
            <a:r>
              <a:rPr lang="zh-CN" altLang="en-US"/>
              <a:t>尽管伴随着不绝于耳的抱怨和咒骂，运维部门最终还是把这款产品安装好了。不幸的是，由于做了很多蹩脚的修改和不合理的强迫式运行，这款产品的性能最后被归结为：</a:t>
            </a:r>
            <a:r>
              <a:rPr lang="zh-CN" altLang="en-US" b="1"/>
              <a:t>终极失败（Epic Fail）</a:t>
            </a:r>
            <a:r>
              <a:rPr lang="zh-CN" altLang="en-US"/>
              <a:t>。</a:t>
            </a:r>
            <a:endParaRPr lang="zh-CN" altLang="en-US"/>
          </a:p>
          <a:p>
            <a:r>
              <a:rPr lang="zh-CN" altLang="en-US"/>
              <a:t>于是非常沮丧的运维部门开始记录各种问题，源源不断的给开发部门提Issue。而开发部门的回应基本上都是：</a:t>
            </a:r>
            <a:endParaRPr lang="zh-CN" altLang="en-US"/>
          </a:p>
          <a:p>
            <a:pPr marL="171450" indent="-171450">
              <a:buFont typeface="Arial" panose="020B0604020202020204" pitchFamily="34" charset="0"/>
              <a:buChar char="•"/>
            </a:pPr>
            <a:r>
              <a:rPr lang="zh-CN" altLang="en-US"/>
              <a:t>这不是我们的错 —— 我们的代码非常完美——而是（运维部门的）部署做的太差劲了。</a:t>
            </a:r>
            <a:endParaRPr lang="zh-CN" altLang="en-US"/>
          </a:p>
          <a:p>
            <a:pPr marL="171450" indent="-171450">
              <a:buFont typeface="Arial" panose="020B0604020202020204" pitchFamily="34" charset="0"/>
              <a:buChar char="•"/>
            </a:pPr>
            <a:r>
              <a:rPr lang="zh-CN" altLang="en-US"/>
              <a:t>运维部门比较笨，他们不懂新技术—— 为什么他们没法实现最新的技术呢？为什么他们这么落伍呢？</a:t>
            </a:r>
            <a:endParaRPr lang="zh-CN" altLang="en-US"/>
          </a:p>
          <a:p>
            <a:pPr marL="171450" indent="-171450">
              <a:buFont typeface="Arial" panose="020B0604020202020204" pitchFamily="34" charset="0"/>
              <a:buChar char="•"/>
            </a:pPr>
            <a:r>
              <a:rPr lang="zh-CN" altLang="en-US"/>
              <a:t>在我的机器上运行的没问题啊……</a:t>
            </a:r>
            <a:endParaRPr lang="zh-CN" altLang="en-US"/>
          </a:p>
          <a:p>
            <a:r>
              <a:rPr lang="zh-CN" altLang="en-US"/>
              <a:t>两个部门之间的交流很快变成了一场暴风骤雨。客户（以及股东、投资方和管理层）则成了蒙受损失的失败方。最终公司损失了无数的金钱，大家也都失业了。终极的失败。</a:t>
            </a:r>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硬性要求：工具上的准备</a:t>
            </a:r>
            <a:endParaRPr lang="zh-CN" altLang="en-US"/>
          </a:p>
          <a:p>
            <a:r>
              <a:rPr lang="zh-CN" altLang="en-US"/>
              <a:t>代码管理（SCM）：GitHub、GitLab、BitBucket、SubVersion</a:t>
            </a:r>
            <a:endParaRPr lang="zh-CN" altLang="en-US"/>
          </a:p>
          <a:p>
            <a:r>
              <a:rPr lang="zh-CN" altLang="en-US"/>
              <a:t>构建工具：Ant、Gradle、maven</a:t>
            </a:r>
            <a:endParaRPr lang="zh-CN" altLang="en-US"/>
          </a:p>
          <a:p>
            <a:r>
              <a:rPr lang="zh-CN" altLang="en-US"/>
              <a:t>自动部署：Capistrano、CodeDeploy</a:t>
            </a:r>
            <a:endParaRPr lang="zh-CN" altLang="en-US"/>
          </a:p>
          <a:p>
            <a:r>
              <a:rPr lang="zh-CN" altLang="en-US"/>
              <a:t>持续集成（CI）：Bamboo、Hudson、Jenkins</a:t>
            </a:r>
            <a:endParaRPr lang="zh-CN" altLang="en-US"/>
          </a:p>
          <a:p>
            <a:r>
              <a:rPr lang="zh-CN" altLang="en-US"/>
              <a:t>配置管理：Ansible、Chef、Puppet、SaltStack、ScriptRock GuardRail</a:t>
            </a:r>
            <a:endParaRPr lang="zh-CN" altLang="en-US"/>
          </a:p>
          <a:p>
            <a:r>
              <a:rPr lang="zh-CN" altLang="en-US"/>
              <a:t>容器：Docker、LXC、第三方厂商如AWS</a:t>
            </a:r>
            <a:endParaRPr lang="zh-CN" altLang="en-US"/>
          </a:p>
          <a:p>
            <a:r>
              <a:rPr lang="zh-CN" altLang="en-US"/>
              <a:t>编排：Kubernetes、Core、Apache Mesos、DC/OS</a:t>
            </a:r>
            <a:endParaRPr lang="zh-CN" altLang="en-US"/>
          </a:p>
          <a:p>
            <a:r>
              <a:rPr lang="zh-CN" altLang="en-US"/>
              <a:t>服务注册与发现：Zookeeper、etcd、Consul</a:t>
            </a:r>
            <a:endParaRPr lang="zh-CN" altLang="en-US"/>
          </a:p>
          <a:p>
            <a:r>
              <a:rPr lang="zh-CN" altLang="en-US"/>
              <a:t>脚本语言：python、ruby、shell</a:t>
            </a:r>
            <a:endParaRPr lang="zh-CN" altLang="en-US"/>
          </a:p>
          <a:p>
            <a:r>
              <a:rPr lang="zh-CN" altLang="en-US"/>
              <a:t>日志管理：ELK、Logentries</a:t>
            </a:r>
            <a:endParaRPr lang="zh-CN" altLang="en-US"/>
          </a:p>
          <a:p>
            <a:r>
              <a:rPr lang="zh-CN" altLang="en-US"/>
              <a:t>系统监控：Datadog、Graphite、Icinga、Nagios</a:t>
            </a:r>
            <a:endParaRPr lang="zh-CN" altLang="en-US"/>
          </a:p>
          <a:p>
            <a:r>
              <a:rPr lang="zh-CN" altLang="en-US"/>
              <a:t>性能监控：AppDynamics、New Relic、Splunk</a:t>
            </a:r>
            <a:endParaRPr lang="zh-CN" altLang="en-US"/>
          </a:p>
          <a:p>
            <a:r>
              <a:rPr lang="zh-CN" altLang="en-US"/>
              <a:t>压力测试：JMeter、Blaze Meter、loader.io</a:t>
            </a:r>
            <a:endParaRPr lang="zh-CN" altLang="en-US"/>
          </a:p>
          <a:p>
            <a:r>
              <a:rPr lang="zh-CN" altLang="en-US"/>
              <a:t>预警：PagerDuty、pingdom、厂商自带如AWS SNS</a:t>
            </a:r>
            <a:endParaRPr lang="zh-CN" altLang="en-US"/>
          </a:p>
          <a:p>
            <a:r>
              <a:rPr lang="zh-CN" altLang="en-US"/>
              <a:t>HTTP加速器：Varnish</a:t>
            </a:r>
            <a:endParaRPr lang="zh-CN" altLang="en-US"/>
          </a:p>
          <a:p>
            <a:r>
              <a:rPr lang="zh-CN" altLang="en-US"/>
              <a:t>消息总线：ActiveMQ、SQS</a:t>
            </a:r>
            <a:endParaRPr lang="zh-CN" altLang="en-US"/>
          </a:p>
          <a:p>
            <a:r>
              <a:rPr lang="zh-CN" altLang="en-US"/>
              <a:t>应用服务器：Tomcat、JBoss</a:t>
            </a:r>
            <a:endParaRPr lang="zh-CN" altLang="en-US"/>
          </a:p>
          <a:p>
            <a:r>
              <a:rPr lang="zh-CN" altLang="en-US"/>
              <a:t>Web服务器：Apache、Nginx、IIS</a:t>
            </a:r>
            <a:endParaRPr lang="zh-CN" altLang="en-US"/>
          </a:p>
          <a:p>
            <a:r>
              <a:rPr lang="zh-CN" altLang="en-US"/>
              <a:t>数据库：MySQL、Oracle、PostgreSQL等关系型数据库；cassandra、mongoDB、redis等NoSQL数据库</a:t>
            </a:r>
            <a:endParaRPr lang="zh-CN" altLang="en-US"/>
          </a:p>
          <a:p>
            <a:r>
              <a:rPr lang="zh-CN" altLang="en-US"/>
              <a:t>项目管理（PM）：Jira、Asana、Taiga、Trello、Basecamp、Pivotal Tracker</a:t>
            </a:r>
            <a:endParaRPr lang="zh-CN" altLang="en-US"/>
          </a:p>
          <a:p>
            <a:r>
              <a:rPr lang="zh-CN" altLang="en-US"/>
              <a:t>在工具的选择上，需要结合公司业务需求和技术团队情况而定。（注：更多关于工具的详细介绍可以参见此文：51 Best DevOps Tools for #DevOps Engineers）</a:t>
            </a:r>
            <a:endParaRPr lang="zh-CN" altLang="en-US"/>
          </a:p>
          <a:p>
            <a:endParaRPr lang="zh-CN" altLang="en-US"/>
          </a:p>
          <a:p>
            <a:r>
              <a:rPr lang="zh-CN" altLang="en-US"/>
              <a:t>软性需求：文化和人</a:t>
            </a:r>
            <a:endParaRPr lang="zh-CN" altLang="en-US"/>
          </a:p>
          <a:p>
            <a:r>
              <a:rPr lang="zh-CN" altLang="en-US"/>
              <a:t>DevOps成功与否，公司组织是否利于协作是关键。开发人员和运维人员可以良好沟通互相学习，从而拥有高生产力。并且协作也存在于业务人员与开发人员之间。</a:t>
            </a:r>
            <a:endParaRPr lang="zh-CN" altLang="en-US"/>
          </a:p>
          <a:p>
            <a:r>
              <a:rPr lang="zh-CN" altLang="en-US"/>
              <a:t>出席了2016年伦敦企业级DevOps峰会的ITV公司在2012年就开始落地DevOps，其通用平台主管Clark在接受了InfoQ的采访，在谈及成功时表示，业务人员非常清楚他们希望在最小化可行产品中实现什么，工程师们就按需交付，不做多余工作。</a:t>
            </a:r>
            <a:endParaRPr lang="zh-CN" altLang="en-US"/>
          </a:p>
          <a:p>
            <a:r>
              <a:rPr lang="zh-CN" altLang="en-US"/>
              <a:t>这样，工程师们使用通用的平台（即打通的工具链）得到更好的一致性和更高的质量。此外，DevOps对工程师个人的要求也提高了，很多专家也认为招募到优秀的人才也是一个挑战。</a:t>
            </a:r>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对于开发人员，要让运维人员常驻到开发部门，全程参与开发流程。邀请运维人员参与你的Scrum或者开发会议，与他们分享项目计划、分享新技术的点子和心得。搜集功能性需求（指开发人员用到的需求）的同时也要搜集运维方面的需求。把对于“发布、备份、监控、安全、配置管理和系统功能”的测试作为一项独立的项目流程。软件产品在开发时解决的问题越多，那么在使用时暴露给用户的问题就越少。给运维人员做培训，让他们弄清楚项目的体系结构和核心代码。如果运维人员在反馈bug时提供的信息越多，那么你花在排查问题（trouble-shooting) 的时间就越少，这个bug也就会更快的被解决掉。</a:t>
            </a:r>
            <a:endParaRPr lang="zh-CN" altLang="en-US"/>
          </a:p>
          <a:p>
            <a:endParaRPr lang="zh-CN" altLang="en-US"/>
          </a:p>
          <a:p>
            <a:r>
              <a:rPr lang="zh-CN" altLang="en-US"/>
              <a:t>对于运维人员，在遇到问题时需要把开发人员加进来，大家一起解决问题。邀请开发人员参与你们的会议，分享项目进度（roadmaps），并且共同修订工作计划。运维人员一定要了解开发部门下一步的工作方向，从而确保产品运行的底层平台能够良好的支持最新技术。开发人员也会带来相关的技术、知识和工作，帮助你们改善产品的运行环境，使其更加易于维护、简洁有效。</a:t>
            </a:r>
            <a:endParaRPr lang="zh-CN" altLang="en-US"/>
          </a:p>
          <a:p>
            <a:endParaRPr lang="zh-CN" altLang="en-US"/>
          </a:p>
          <a:p>
            <a:r>
              <a:rPr lang="zh-CN" altLang="en-US"/>
              <a:t>流程绝对不会从头到尾一帆风顺，所以我们要把每一步流程都认真对待，找出所有潜在的问题和障碍。跟软件产品一样，在流程的管理中也要有异常处理。我们不必做到精确预见每一个问题，但一定要保证：即使流程出错，它还能往下走。</a:t>
            </a:r>
            <a:endParaRPr lang="zh-CN" altLang="en-US"/>
          </a:p>
          <a:p>
            <a:r>
              <a:rPr lang="zh-CN" altLang="en-US"/>
              <a:t>把不同领域的所有流程串到一起。这些领域包括：部署、监控、能力计划(capacity planning) 等等。从逻辑上讲，“部署”是软件开发周期的最后一环，所以它应该属于“开发流程”，而非“运维流程”。另一个例子是度量和监控。在开发领域，如果不理解底线标准和估算，就什么评估都做不了。把开发部门和运维部门的流程衔接在一起，也会让两个部门更好的配合、相互理解、承担共同的责任。最后还有个优点：文档只需要一份而不是两份（开发一份、运维一份），从而节省了资金。</a:t>
            </a:r>
            <a:endParaRPr lang="zh-CN" altLang="en-US"/>
          </a:p>
          <a:p>
            <a:endParaRPr lang="zh-CN" altLang="en-US"/>
          </a:p>
          <a:p>
            <a:r>
              <a:rPr lang="zh-CN" altLang="en-US"/>
              <a:t>构建或使用简单、可扩展的工具（确保提供API, 机器可读的输入、输出）。使用Puppet一类的工具做配置管理。要扩展这些自动化工具，使其能够支持多个领域（开发领域和运维领域），并且在产品的不同环境（开发环境、测试环境、发布环境和生产环境）中使用相同的工具（也叫end-to-end）。这样不但会在产品支持和管理方面带来经济效益，而且也可以在编写新代码的同时，进行产品的发布和管理。</a:t>
            </a:r>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软件开发过程流水线中常见的开源软件</a:t>
            </a:r>
            <a:endParaRPr lang="zh-CN" altLang="en-US"/>
          </a:p>
          <a:p>
            <a:r>
              <a:rPr lang="zh-CN" altLang="en-US"/>
              <a:t>持续集成与持续部署可以极大的提高软件迭代速度，是</a:t>
            </a:r>
            <a:r>
              <a:rPr lang="en-US" altLang="zh-CN"/>
              <a:t>DevOps</a:t>
            </a:r>
            <a:r>
              <a:rPr lang="zh-CN" altLang="en-US"/>
              <a:t>中的重要一环。</a:t>
            </a:r>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 CI/CD 其实就是一个流程（通常形象地表述为管道），用于实现应用开发中的高度持续自动化和持续监控。</a:t>
            </a:r>
            <a:endParaRPr lang="zh-CN" altLang="en-US"/>
          </a:p>
          <a:p>
            <a:r>
              <a:rPr lang="zh-CN" altLang="en-US"/>
              <a:t>许多企业最开始先添加 CI，然后逐步实现交付和部署的自动化（例如作为云原生应用的一部分）。</a:t>
            </a:r>
            <a:endParaRPr lang="zh-CN" altLang="en-US"/>
          </a:p>
          <a:p>
            <a:r>
              <a:rPr lang="zh-CN" altLang="en-US"/>
              <a:t>持续集成是借助工具对软件项目进行持续的自动化的编译打包构建测试发布，来检查软件交付质量的一种行为。</a:t>
            </a:r>
            <a:endParaRPr lang="zh-CN" altLang="en-US"/>
          </a:p>
          <a:p>
            <a:r>
              <a:rPr lang="zh-CN" altLang="en-US"/>
              <a:t>而持续部署是基于持续交付的优势自动将经过测试的代码推入生产环境的过程。</a:t>
            </a:r>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https://blog.csdn.net/weixin_67470255/article/details/126258564</a:t>
            </a:r>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什么是DevOps与CIC</a:t>
            </a:r>
            <a:r>
              <a:rPr lang="en-US" altLang="zh-CN"/>
              <a:t>D</a:t>
            </a:r>
            <a:endParaRPr lang="en-US" altLang="zh-CN"/>
          </a:p>
          <a:p>
            <a:r>
              <a:rPr lang="zh-CN" altLang="en-US"/>
              <a:t>https://blog.csdn.net/qq_46130027/article/details/131616193</a:t>
            </a:r>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CI：代码提交阶段</a:t>
            </a:r>
            <a:endParaRPr lang="zh-CN" altLang="en-US"/>
          </a:p>
          <a:p>
            <a:r>
              <a:rPr lang="zh-CN" altLang="en-US"/>
              <a:t>参与者：开发工程师，数据库管理员（DBA），基础架构团队</a:t>
            </a:r>
            <a:endParaRPr lang="zh-CN" altLang="en-US"/>
          </a:p>
          <a:p>
            <a:r>
              <a:rPr lang="zh-CN" altLang="en-US"/>
              <a:t>技术：GitHub，GitLab，SVM，BitBucket</a:t>
            </a:r>
            <a:endParaRPr lang="zh-CN" altLang="en-US"/>
          </a:p>
          <a:p>
            <a:r>
              <a:rPr lang="zh-CN" altLang="en-US"/>
              <a:t>流程：代码提交阶段也称为版本控制。提交是将开发人员编写的最新代码变更发送到代码存储库的操作。开发人员编写的代码的每个版本都被无限期地存储。在与合作者讨论和审查变更之后，开发人员将编写代码，并在软件需求、特性增强、bug修复或变更请求完成后提交。管理编辑和提交变更的存储库称为源代码管理工具（配置管理工具）。在开发人员提交代码（代码推送请求）后，代码更改被合并到主线代码分支中，这些主线代码分支存储在GitHub这样的中央存储库中。</a:t>
            </a:r>
            <a:endParaRPr lang="zh-CN" altLang="en-US"/>
          </a:p>
          <a:p>
            <a:endParaRPr lang="zh-CN" altLang="en-US"/>
          </a:p>
          <a:p>
            <a:r>
              <a:rPr lang="en-US" altLang="zh-CN">
                <a:sym typeface="+mn-ea"/>
              </a:rPr>
              <a:t>CI</a:t>
            </a:r>
            <a:r>
              <a:rPr lang="zh-CN" altLang="en-US">
                <a:sym typeface="+mn-ea"/>
              </a:rPr>
              <a:t>：静态代码检查阶段</a:t>
            </a:r>
            <a:endParaRPr lang="zh-CN" altLang="en-US"/>
          </a:p>
          <a:p>
            <a:r>
              <a:rPr lang="zh-CN" altLang="en-US">
                <a:sym typeface="+mn-ea"/>
              </a:rPr>
              <a:t>参与者：开发工程师，数据库管理员（DBA），基础架构团队</a:t>
            </a:r>
            <a:endParaRPr lang="zh-CN" altLang="en-US"/>
          </a:p>
          <a:p>
            <a:r>
              <a:rPr lang="zh-CN" altLang="en-US">
                <a:sym typeface="+mn-ea"/>
              </a:rPr>
              <a:t>技术：GitHub，GitLab，SVM，BitBucket</a:t>
            </a:r>
            <a:endParaRPr lang="zh-CN" altLang="en-US"/>
          </a:p>
          <a:p>
            <a:r>
              <a:rPr lang="zh-CN" altLang="en-US">
                <a:sym typeface="+mn-ea"/>
              </a:rPr>
              <a:t>流程：开发人员编写代码并将其推送到存储库后，系统将自动触发以启动下一个代码分析过程。开发过程中存在这种情况：提交的代码可以构建成功，但在部署期间构建失败。无论从机器还是人力资源的利用率而言，这都是一个缓慢而昂贵的过程。因此必须检查代码中的静态策略。SAST（静态应用程序安全性测试）：SAST是一种白盒测试方法，可以使用SonarQube，Veracode，Appscan等SAST工具从内部检查代码，以发现软件缺陷，漏洞和弱点（例如SQL注入等）。这是一个快速检查过程，其中检查代码是否存在语法错误。尽管此阶段缺少检查运行时错误的功能，但该功能将在以后的阶段中执行。</a:t>
            </a:r>
            <a:endParaRPr lang="zh-CN" altLang="en-US"/>
          </a:p>
          <a:p>
            <a:r>
              <a:rPr lang="zh-CN" altLang="en-US">
                <a:sym typeface="+mn-ea"/>
              </a:rPr>
              <a:t>将额外的策略检查加入自动化流水线中可以显著减少流程中稍后发现的错误数量。</a:t>
            </a:r>
            <a:endParaRPr lang="zh-CN" altLang="en-US"/>
          </a:p>
          <a:p>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CI：构建</a:t>
            </a:r>
            <a:endParaRPr lang="zh-CN" altLang="en-US"/>
          </a:p>
          <a:p>
            <a:r>
              <a:rPr lang="zh-CN" altLang="en-US"/>
              <a:t>参与者：开发工程师</a:t>
            </a:r>
            <a:endParaRPr lang="zh-CN" altLang="en-US"/>
          </a:p>
          <a:p>
            <a:r>
              <a:rPr lang="zh-CN" altLang="en-US"/>
              <a:t>技术：Jenkins，Bamboo CI，Circle CI，Travis CI，Maven，Azure DevOps</a:t>
            </a:r>
            <a:endParaRPr lang="zh-CN" altLang="en-US"/>
          </a:p>
          <a:p>
            <a:r>
              <a:rPr lang="zh-CN" altLang="en-US"/>
              <a:t>流程：持续集成过程的目标是提交的代码持续构建为二进制文件或构建产物。通过持续集成来检查添加的新模块是否与现有模块兼容，不仅有助于更快地发现bug，还有助于减少验证新代码更改的时间。构建工具可以根据几乎所有编程语言的源代码创建可执行文件或包（.exe，.dll，.jar等）。在构建过程中，还可以生成SQL脚本，配合基础设施配置文件一起进行测试。简而言之，构建阶段就是编译应用程序的阶段。Artifactory存储、构建验证测试和单元测试也可以作为构建过程的一部分。</a:t>
            </a:r>
            <a:endParaRPr lang="zh-CN" altLang="en-US"/>
          </a:p>
          <a:p>
            <a:r>
              <a:rPr lang="zh-CN" altLang="en-US"/>
              <a:t>构建验证测试（BVT）/冒烟测试/单元测试：</a:t>
            </a:r>
            <a:endParaRPr lang="zh-CN" altLang="en-US"/>
          </a:p>
          <a:p>
            <a:r>
              <a:rPr lang="zh-CN" altLang="en-US"/>
              <a:t>创建构建后立即执行冒烟测试。BVT将检查所有模块是否正确集成，以及程序的关键功能是否正常运行。这样做的目的是拒绝严重损坏的应用程序，以使QA团队不会在安装和测试软件应用程序步骤浪费时间。</a:t>
            </a:r>
            <a:endParaRPr lang="zh-CN" altLang="en-US"/>
          </a:p>
          <a:p>
            <a:r>
              <a:rPr lang="zh-CN" altLang="en-US"/>
              <a:t>在完成这些检查后，将向流水线中执行UT（单元测试），以进一步减少生产中的故障。单元测试可验证开发人员编写的单个单元或组件是否按预期执行。</a:t>
            </a:r>
            <a:endParaRPr lang="zh-CN" altLang="en-US"/>
          </a:p>
          <a:p>
            <a:r>
              <a:rPr lang="zh-CN" altLang="en-US"/>
              <a:t>构建产物存储：</a:t>
            </a:r>
            <a:endParaRPr lang="zh-CN" altLang="en-US"/>
          </a:p>
          <a:p>
            <a:r>
              <a:rPr lang="zh-CN" altLang="en-US"/>
              <a:t>一旦构建就绪，程序包就会存储在称为Artifactory或Repository工具的中央数据库。随着每天构建量的增加，跟踪所有构建产物也会变得愈加困难。因此，一旦生成并验证了构建产物，就将其发送到存储库进行存储管理。诸如Jfrog Artifactory之类的存储库工具可用于存储诸如.rar，.war，.exe，Msi等之类的二进制文件。测试人员可以从此处手动进行选择，并在测试环境中部署构建产物以进行测试。</a:t>
            </a:r>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CI：测试阶段</a:t>
            </a:r>
            <a:endParaRPr lang="zh-CN" altLang="en-US"/>
          </a:p>
          <a:p>
            <a:r>
              <a:rPr lang="zh-CN" altLang="en-US"/>
              <a:t>参与者：测试人员、QA</a:t>
            </a:r>
            <a:endParaRPr lang="zh-CN" altLang="en-US"/>
          </a:p>
          <a:p>
            <a:r>
              <a:rPr lang="zh-CN" altLang="en-US"/>
              <a:t>技术：Selenium，Appium，Jmeter，SOAP UI，Tarantula</a:t>
            </a:r>
            <a:endParaRPr lang="zh-CN" altLang="en-US"/>
          </a:p>
          <a:p>
            <a:r>
              <a:rPr lang="zh-CN" altLang="en-US"/>
              <a:t>过程：发布构建过程后的一系列自动测试将验证代码的准确性。此阶段可帮助避免生产中的错误。根据构建的大小，此检查可能持续数秒至数小时。对于由多个团队提交和构建代码的大型组织，这些检查在并行环境中运行，以节省宝贵的时间并尽早将错误通知开发人员。</a:t>
            </a:r>
            <a:endParaRPr lang="zh-CN" altLang="en-US"/>
          </a:p>
          <a:p>
            <a:r>
              <a:rPr lang="zh-CN" altLang="en-US"/>
              <a:t>测试人员（或称为QA工程师）基于用户描述的测试用例和场景设置自动化测试用例。他们执行回归分析、压力测试来检查与预期输出的偏差。测试中涉及的活动有完整性测试、集成测试、压力测试。这是一个高层次测试方法。在这个阶段，可以发现开发人员忽视的某些代码问题。</a:t>
            </a:r>
            <a:endParaRPr lang="zh-CN" altLang="en-US"/>
          </a:p>
          <a:p>
            <a:endParaRPr lang="zh-CN" altLang="en-US"/>
          </a:p>
          <a:p>
            <a:r>
              <a:rPr lang="zh-CN" altLang="en-US"/>
              <a:t>集成测试：</a:t>
            </a:r>
            <a:endParaRPr lang="zh-CN" altLang="en-US"/>
          </a:p>
          <a:p>
            <a:r>
              <a:rPr lang="zh-CN" altLang="en-US"/>
              <a:t>集成测试是使用Cucumber、Selenium等工具执行的，在这些工具中，单个应用程序模块被组合起来并作为一组进行测试，同时评估其是否符合指定的功能需求。在集成测试之后，需要有人批准该组中的更新集应该移到下一个阶段，这通常是性能测试。这个验证过程可能很麻烦，但它是整个过程的一个重要部分。验证这个过程业界有很多优秀的方案。</a:t>
            </a:r>
            <a:endParaRPr lang="zh-CN" altLang="en-US"/>
          </a:p>
          <a:p>
            <a:endParaRPr lang="zh-CN" altLang="en-US"/>
          </a:p>
          <a:p>
            <a:r>
              <a:rPr lang="zh-CN" altLang="en-US"/>
              <a:t>性能和压力测试：</a:t>
            </a:r>
            <a:endParaRPr lang="zh-CN" altLang="en-US"/>
          </a:p>
          <a:p>
            <a:r>
              <a:rPr lang="zh-CN" altLang="en-US"/>
              <a:t>Selenium、JMeter等自动化测试工具也可执行性能和压力测试，以检查应用程序在面对高负载时是否稳定和性能良好。该测试流程通常不会在每个更新提交上运行，因为完整的压力测试是长期运行的。当发布主要的新功能时，将对多个更新进行分组，并完成完整的性能测试。在单个更新被转移到下一阶段的情况下，流水线可能将金丝雀测试加入作为可选。</a:t>
            </a:r>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持续部署：Bake和部署</a:t>
            </a:r>
            <a:endParaRPr lang="zh-CN" altLang="en-US"/>
          </a:p>
          <a:p>
            <a:r>
              <a:rPr lang="zh-CN" altLang="en-US"/>
              <a:t>参与者：基础架构工程师，SRE，运维工程师</a:t>
            </a:r>
            <a:endParaRPr lang="zh-CN" altLang="en-US"/>
          </a:p>
          <a:p>
            <a:r>
              <a:rPr lang="zh-CN" altLang="en-US"/>
              <a:t>技术：Spinnaker，Argo CD，Tekton CD</a:t>
            </a:r>
            <a:endParaRPr lang="zh-CN" altLang="en-US"/>
          </a:p>
          <a:p>
            <a:r>
              <a:rPr lang="zh-CN" altLang="en-US"/>
              <a:t>过程：在测试阶段完成之后，可以部署到服务器的标准代码准备就绪。在部署到生产中之前，它们将被部署到产品团队内部使用的测试环境或beta环境。在将构建移至这些环境之前，构建必须经过Bake和Deploy的子阶段。这两个阶段都是Spinnaker所支持存在的。</a:t>
            </a:r>
            <a:endParaRPr lang="zh-CN" altLang="en-US"/>
          </a:p>
          <a:p>
            <a:endParaRPr lang="zh-CN" altLang="en-US"/>
          </a:p>
          <a:p>
            <a:r>
              <a:rPr lang="zh-CN" altLang="en-US"/>
              <a:t>CD：Bake</a:t>
            </a:r>
            <a:endParaRPr lang="zh-CN" altLang="en-US"/>
          </a:p>
          <a:p>
            <a:r>
              <a:rPr lang="zh-CN" altLang="en-US"/>
              <a:t>Baking是指在生产时使用当前配置从源代码创建不可变的镜像实例。这些配置可能是数据库更改和其他基础结构更新之类的事情。Spinnaker可以触发Jenkins执行此任务，并且某些组织更喜欢使用Packer。</a:t>
            </a:r>
            <a:endParaRPr lang="zh-CN" altLang="en-US"/>
          </a:p>
          <a:p>
            <a:endParaRPr lang="zh-CN" altLang="en-US"/>
          </a:p>
          <a:p>
            <a:r>
              <a:rPr lang="zh-CN" altLang="en-US"/>
              <a:t>CD：部署</a:t>
            </a:r>
            <a:endParaRPr lang="zh-CN" altLang="en-US"/>
          </a:p>
          <a:p>
            <a:r>
              <a:rPr lang="zh-CN" altLang="en-US"/>
              <a:t>Spinnaker自动将已bake的镜像发送到部署阶段。这是将服务器组设置为部署到集群的位置。与上述测试过程类似，在部署阶段将执行功能相同的过程。首先将部署移至测试阶段，然后最终移至生产环境，以进行批准和检查。这个处理过程可以由Spinnaker等工具支持。</a:t>
            </a:r>
            <a:endParaRPr lang="zh-CN" altLang="en-US"/>
          </a:p>
          <a:p>
            <a:endParaRPr lang="zh-CN" altLang="en-US"/>
          </a:p>
          <a:p>
            <a:r>
              <a:rPr lang="zh-CN" altLang="en-US"/>
              <a:t>CD：验证</a:t>
            </a:r>
            <a:endParaRPr lang="zh-CN" altLang="en-US"/>
          </a:p>
          <a:p>
            <a:r>
              <a:rPr lang="zh-CN" altLang="en-US"/>
              <a:t>这也是团队优化整个CI/CD流程的关键位置。因为现在已经进行了如此多的测试，所以失败很少见。但是，此时必须尽快解决所有故障，以最大程度地减少对最终客户的影响。团队也应该考虑使流程的这一部分自动化。</a:t>
            </a:r>
            <a:endParaRPr lang="zh-CN" altLang="en-US"/>
          </a:p>
          <a:p>
            <a:r>
              <a:rPr lang="zh-CN" altLang="en-US"/>
              <a:t>使用蓝绿部署、金丝雀分析、滚动更新等策略部署到产品。在部署阶段，将监视正在运行的应用程序以验证当前部署是否正确或是否需要回滚。</a:t>
            </a:r>
            <a:endParaRPr lang="zh-CN" altLang="en-US"/>
          </a:p>
          <a:p>
            <a:endParaRPr lang="zh-CN" altLang="en-US"/>
          </a:p>
          <a:p>
            <a:r>
              <a:rPr lang="zh-CN" altLang="en-US"/>
              <a:t>CD：监控</a:t>
            </a:r>
            <a:endParaRPr lang="zh-CN" altLang="en-US"/>
          </a:p>
          <a:p>
            <a:r>
              <a:rPr lang="zh-CN" altLang="en-US"/>
              <a:t>参与者：站点可靠性工程师（SRE）、运营团队</a:t>
            </a:r>
            <a:endParaRPr lang="zh-CN" altLang="en-US"/>
          </a:p>
          <a:p>
            <a:r>
              <a:rPr lang="zh-CN" altLang="en-US"/>
              <a:t>技术：Zabbix、Nagios、Prometheus、Elastic Search、Splunk、Appdynamics、Tivoli</a:t>
            </a:r>
            <a:endParaRPr lang="zh-CN" altLang="en-US"/>
          </a:p>
          <a:p>
            <a:r>
              <a:rPr lang="zh-CN" altLang="en-US"/>
              <a:t>过程：为了使软件发行版具有故障安全性和健壮性，在生产环境中跟踪发行版的运行状况至关重要。应用程序监视工具将跟踪性能指标，例如CPU利用率和发行版延迟。日志分析器将扫描由底层中间件和操作系统产生的大量日志，以识别行为并跟踪问题的根源。如果生产中出现任何问题，将通知利益相关者以确保生产环境的安全性和可靠性。此外，监视阶段可帮助组织收集有关其新软件更改如何为收入贡献的情报，帮助基础设施团队跟踪系统行为趋势并进行容量规划。</a:t>
            </a:r>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sym typeface="+mn-ea"/>
              </a:rPr>
              <a:t>持续交付（CD）：反馈和协作工具</a:t>
            </a:r>
            <a:endParaRPr lang="zh-CN" altLang="en-US"/>
          </a:p>
          <a:p>
            <a:r>
              <a:rPr lang="zh-CN" altLang="en-US"/>
              <a:t>参与者：站点可靠性工程师（SRE）、运营和维护团队。</a:t>
            </a:r>
            <a:endParaRPr lang="zh-CN" altLang="en-US"/>
          </a:p>
          <a:p>
            <a:r>
              <a:rPr lang="zh-CN" altLang="en-US"/>
              <a:t>技术：JIRA、ServiceNow、Slack、电子邮件、Hipchat。</a:t>
            </a:r>
            <a:endParaRPr lang="zh-CN" altLang="en-US"/>
          </a:p>
          <a:p>
            <a:r>
              <a:rPr lang="zh-CN" altLang="en-US"/>
              <a:t>过程：DevOps团队的目标是更快地持续发布，然后不断减少错误和性能问题。这是通过不时地通过发送电子邮件向开发人员、项目经理提供有关新版本的质量和性能的反馈。通常情况下，反馈系统是整个软件交付过程的一部分。因此，交付中的任何更改都会频繁地录入系统，以便交付团队可以对它采取行动。</a:t>
            </a:r>
            <a:endParaRPr lang="zh-CN" altLang="en-US"/>
          </a:p>
          <a:p>
            <a:r>
              <a:rPr lang="zh-CN" altLang="en-US"/>
              <a:t>企业必须评估一个整体的持续交付解决方案，该解决方案可以自动化或促进上述这些阶段的自动化。</a:t>
            </a:r>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3BC6344-4E1C-4543-A1F2-9BE7241890D4}"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1849A97-A90C-496F-AD26-75D9C1389A1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
        <p:nvSpPr>
          <p:cNvPr id="7" name="Rectangle 6"/>
          <p:cNvSpPr/>
          <p:nvPr userDrawn="1"/>
        </p:nvSpPr>
        <p:spPr>
          <a:xfrm>
            <a:off x="0" y="-1"/>
            <a:ext cx="9144000" cy="342900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3720103"/>
            <a:ext cx="5829300" cy="1097280"/>
          </a:xfrm>
        </p:spPr>
        <p:txBody>
          <a:bodyPr anchor="ctr">
            <a:normAutofit/>
          </a:bodyPr>
          <a:lstStyle>
            <a:lvl1pPr algn="r">
              <a:defRPr sz="3750" spc="150" baseline="0"/>
            </a:lvl1pPr>
          </a:lstStyle>
          <a:p>
            <a:r>
              <a:rPr lang="zh-CN" altLang="en-US" dirty="0"/>
              <a:t>单击此处编辑母版标题样式</a:t>
            </a:r>
            <a:endParaRPr lang="en-US" dirty="0"/>
          </a:p>
        </p:txBody>
      </p:sp>
      <p:sp>
        <p:nvSpPr>
          <p:cNvPr id="3" name="Subtitle 2"/>
          <p:cNvSpPr>
            <a:spLocks noGrp="1"/>
          </p:cNvSpPr>
          <p:nvPr>
            <p:ph type="subTitle" idx="1" hasCustomPrompt="1"/>
          </p:nvPr>
        </p:nvSpPr>
        <p:spPr>
          <a:xfrm>
            <a:off x="6457950" y="3720103"/>
            <a:ext cx="2400300" cy="1097280"/>
          </a:xfrm>
        </p:spPr>
        <p:txBody>
          <a:bodyPr lIns="91440" rIns="91440" anchor="ctr">
            <a:normAutofit/>
          </a:bodyPr>
          <a:lstStyle>
            <a:lvl1pPr marL="0" indent="0" algn="l">
              <a:lnSpc>
                <a:spcPct val="100000"/>
              </a:lnSpc>
              <a:spcBef>
                <a:spcPts val="0"/>
              </a:spcBef>
              <a:buNone/>
              <a:defRPr sz="1350">
                <a:solidFill>
                  <a:schemeClr val="tx1">
                    <a:lumMod val="90000"/>
                    <a:lumOff val="10000"/>
                  </a:schemeClr>
                </a:solidFill>
              </a:defRPr>
            </a:lvl1pPr>
            <a:lvl2pPr marL="342900" indent="0" algn="ctr">
              <a:buNone/>
              <a:defRPr sz="1350"/>
            </a:lvl2pPr>
            <a:lvl3pPr marL="685800" indent="0" algn="ctr">
              <a:buNone/>
              <a:defRPr sz="1350"/>
            </a:lvl3pPr>
            <a:lvl4pPr marL="1028700" indent="0" algn="ctr">
              <a:buNone/>
              <a:defRPr sz="1350"/>
            </a:lvl4pPr>
            <a:lvl5pPr marL="1371600" indent="0" algn="ctr">
              <a:buNone/>
              <a:defRPr sz="1350"/>
            </a:lvl5pPr>
            <a:lvl6pPr marL="1714500" indent="0" algn="ctr">
              <a:buNone/>
              <a:defRPr sz="1350"/>
            </a:lvl6pPr>
            <a:lvl7pPr marL="2057400" indent="0" algn="ctr">
              <a:buNone/>
              <a:defRPr sz="1350"/>
            </a:lvl7pPr>
            <a:lvl8pPr marL="2400300" indent="0" algn="ctr">
              <a:buNone/>
              <a:defRPr sz="1350"/>
            </a:lvl8pPr>
            <a:lvl9pPr marL="2743200" indent="0" algn="ctr">
              <a:buNone/>
              <a:defRPr sz="1350"/>
            </a:lvl9pPr>
          </a:lstStyle>
          <a:p>
            <a:r>
              <a:rPr lang="zh-CN" altLang="en-US" dirty="0"/>
              <a:t>单击以编辑母版副标题样式</a:t>
            </a:r>
            <a:endParaRPr lang="en-US" dirty="0"/>
          </a:p>
        </p:txBody>
      </p:sp>
      <p:sp>
        <p:nvSpPr>
          <p:cNvPr id="4" name="Date Placeholder 3"/>
          <p:cNvSpPr>
            <a:spLocks noGrp="1"/>
          </p:cNvSpPr>
          <p:nvPr>
            <p:ph type="dt" sz="half" idx="10"/>
          </p:nvPr>
        </p:nvSpPr>
        <p:spPr/>
        <p:txBody>
          <a:bodyPr/>
          <a:lstStyle>
            <a:lvl1pPr algn="ctr">
              <a:defRPr sz="1600">
                <a:latin typeface="+mn-lt"/>
              </a:defRPr>
            </a:lvl1pPr>
          </a:lstStyle>
          <a:p>
            <a:fld id="{60FB8FB2-9769-4F22-8580-D43F76E3F213}" type="datetime1">
              <a:rPr lang="zh-CN" altLang="en-US" smtClean="0"/>
            </a:fld>
            <a:endParaRPr lang="zh-CN" altLang="en-US" dirty="0"/>
          </a:p>
        </p:txBody>
      </p:sp>
      <p:sp>
        <p:nvSpPr>
          <p:cNvPr id="5" name="Footer Placeholder 4"/>
          <p:cNvSpPr>
            <a:spLocks noGrp="1"/>
          </p:cNvSpPr>
          <p:nvPr>
            <p:ph type="ftr" sz="quarter" idx="11"/>
          </p:nvPr>
        </p:nvSpPr>
        <p:spPr>
          <a:xfrm>
            <a:off x="2298032" y="4853028"/>
            <a:ext cx="5760261" cy="205740"/>
          </a:xfrm>
        </p:spPr>
        <p:txBody>
          <a:bodyPr/>
          <a:lstStyle>
            <a:lvl1pPr algn="ctr">
              <a:defRPr sz="1600">
                <a:latin typeface="+mn-lt"/>
              </a:defRPr>
            </a:lvl1pPr>
          </a:lstStyle>
          <a:p>
            <a:r>
              <a:rPr lang="zh-CN" altLang="en-US"/>
              <a:t>软件工程</a:t>
            </a:r>
            <a:endParaRPr lang="zh-CN" altLang="en-US" dirty="0"/>
          </a:p>
        </p:txBody>
      </p:sp>
      <p:sp>
        <p:nvSpPr>
          <p:cNvPr id="6" name="Slide Number Placeholder 5"/>
          <p:cNvSpPr>
            <a:spLocks noGrp="1"/>
          </p:cNvSpPr>
          <p:nvPr>
            <p:ph type="sldNum" sz="quarter" idx="12"/>
          </p:nvPr>
        </p:nvSpPr>
        <p:spPr/>
        <p:txBody>
          <a:bodyPr/>
          <a:lstStyle>
            <a:lvl1pPr algn="ctr">
              <a:defRPr sz="1600">
                <a:latin typeface="+mn-lt"/>
              </a:defRPr>
            </a:lvl1pPr>
          </a:lstStyle>
          <a:p>
            <a:fld id="{F528F39D-B5E5-4CA7-906C-979D5A62978D}" type="slidenum">
              <a:rPr lang="zh-CN" altLang="en-US" smtClean="0"/>
            </a:fld>
            <a:endParaRPr lang="zh-CN" altLang="en-US"/>
          </a:p>
        </p:txBody>
      </p:sp>
      <p:cxnSp>
        <p:nvCxnSpPr>
          <p:cNvPr id="8" name="Straight Connector 7"/>
          <p:cNvCxnSpPr/>
          <p:nvPr/>
        </p:nvCxnSpPr>
        <p:spPr>
          <a:xfrm flipV="1">
            <a:off x="6290132" y="3948080"/>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9" name="图片 8"/>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42900" y="114820"/>
            <a:ext cx="692368" cy="692368"/>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单击此处编辑母版标题样式</a:t>
            </a:r>
            <a:endParaRPr lang="en-US" dirty="0"/>
          </a:p>
        </p:txBody>
      </p:sp>
      <p:sp>
        <p:nvSpPr>
          <p:cNvPr id="3" name="Content Placeholder 2"/>
          <p:cNvSpPr>
            <a:spLocks noGrp="1"/>
          </p:cNvSpPr>
          <p:nvPr>
            <p:ph idx="1" hasCustomPrompt="1"/>
          </p:nvPr>
        </p:nvSpPr>
        <p:spPr/>
        <p:txBody>
          <a:bodyPr/>
          <a:lstStyle>
            <a:lvl3pPr marL="1080135" indent="-288290">
              <a:buFont typeface="Wingdings 3" panose="05040102010807070707" pitchFamily="18" charset="2"/>
              <a:buChar char=""/>
              <a:defRPr/>
            </a:lvl3pPr>
            <a:lvl4pPr marL="1259840" indent="-288290">
              <a:buFont typeface="Wingdings 3" panose="05040102010807070707" pitchFamily="18" charset="2"/>
              <a:buChar char=""/>
              <a:defRPr/>
            </a:lvl4pPr>
            <a:lvl5pPr marL="1440180" indent="-288290">
              <a:buFont typeface="Wingdings 3" panose="05040102010807070707" pitchFamily="18" charset="2"/>
              <a:buChar char=""/>
              <a:defRPr/>
            </a:lvl5p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Date Placeholder 3"/>
          <p:cNvSpPr>
            <a:spLocks noGrp="1"/>
          </p:cNvSpPr>
          <p:nvPr>
            <p:ph type="dt" sz="half" idx="10"/>
          </p:nvPr>
        </p:nvSpPr>
        <p:spPr/>
        <p:txBody>
          <a:bodyPr/>
          <a:lstStyle>
            <a:lvl1pPr algn="ctr">
              <a:defRPr sz="1600" b="0">
                <a:solidFill>
                  <a:schemeClr val="bg1"/>
                </a:solidFill>
                <a:latin typeface="+mn-lt"/>
              </a:defRPr>
            </a:lvl1pPr>
          </a:lstStyle>
          <a:p>
            <a:fld id="{D7326FFE-7CCA-4C0D-B453-625569992FBB}" type="datetime1">
              <a:rPr lang="zh-CN" altLang="en-US" smtClean="0"/>
            </a:fld>
            <a:endParaRPr lang="zh-CN" altLang="en-US" dirty="0"/>
          </a:p>
        </p:txBody>
      </p:sp>
      <p:sp>
        <p:nvSpPr>
          <p:cNvPr id="5" name="Footer Placeholder 4"/>
          <p:cNvSpPr>
            <a:spLocks noGrp="1"/>
          </p:cNvSpPr>
          <p:nvPr>
            <p:ph type="ftr" sz="quarter" idx="11"/>
          </p:nvPr>
        </p:nvSpPr>
        <p:spPr>
          <a:xfrm>
            <a:off x="2383703" y="4853028"/>
            <a:ext cx="5674590" cy="205740"/>
          </a:xfrm>
        </p:spPr>
        <p:txBody>
          <a:bodyPr/>
          <a:lstStyle>
            <a:lvl1pPr algn="ctr">
              <a:defRPr sz="1600" b="0">
                <a:solidFill>
                  <a:schemeClr val="bg1"/>
                </a:solidFill>
                <a:latin typeface="+mn-lt"/>
              </a:defRPr>
            </a:lvl1pPr>
          </a:lstStyle>
          <a:p>
            <a:r>
              <a:rPr lang="zh-CN" altLang="en-US" dirty="0"/>
              <a:t>软件工程</a:t>
            </a:r>
            <a:endParaRPr lang="zh-CN" altLang="en-US" dirty="0"/>
          </a:p>
        </p:txBody>
      </p:sp>
      <p:sp>
        <p:nvSpPr>
          <p:cNvPr id="6" name="Slide Number Placeholder 5"/>
          <p:cNvSpPr>
            <a:spLocks noGrp="1"/>
          </p:cNvSpPr>
          <p:nvPr>
            <p:ph type="sldNum" sz="quarter" idx="12"/>
          </p:nvPr>
        </p:nvSpPr>
        <p:spPr/>
        <p:txBody>
          <a:bodyPr/>
          <a:lstStyle>
            <a:lvl1pPr algn="ctr">
              <a:defRPr sz="1600" b="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095958" y="-12032"/>
            <a:ext cx="7882609" cy="860498"/>
          </a:xfrm>
        </p:spPr>
        <p:txBody>
          <a:bodyPr/>
          <a:lstStyle/>
          <a:p>
            <a:r>
              <a:rPr lang="zh-CN" altLang="en-US" dirty="0"/>
              <a:t>单击此处编辑母版标题样式</a:t>
            </a:r>
            <a:endParaRPr lang="en-US" dirty="0"/>
          </a:p>
        </p:txBody>
      </p:sp>
      <p:sp>
        <p:nvSpPr>
          <p:cNvPr id="3" name="Content Placeholder 2"/>
          <p:cNvSpPr>
            <a:spLocks noGrp="1"/>
          </p:cNvSpPr>
          <p:nvPr>
            <p:ph sz="half" idx="1" hasCustomPrompt="1"/>
          </p:nvPr>
        </p:nvSpPr>
        <p:spPr>
          <a:xfrm>
            <a:off x="768096" y="969475"/>
            <a:ext cx="3566160" cy="3762546"/>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4" name="Content Placeholder 3"/>
          <p:cNvSpPr>
            <a:spLocks noGrp="1"/>
          </p:cNvSpPr>
          <p:nvPr>
            <p:ph sz="half" idx="2" hasCustomPrompt="1"/>
          </p:nvPr>
        </p:nvSpPr>
        <p:spPr>
          <a:xfrm>
            <a:off x="4491990" y="969473"/>
            <a:ext cx="3566160" cy="3762547"/>
          </a:xfrm>
        </p:spPr>
        <p:txBody>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en-US" dirty="0"/>
          </a:p>
        </p:txBody>
      </p:sp>
      <p:sp>
        <p:nvSpPr>
          <p:cNvPr id="5" name="Date Placeholder 4"/>
          <p:cNvSpPr>
            <a:spLocks noGrp="1"/>
          </p:cNvSpPr>
          <p:nvPr>
            <p:ph type="dt" sz="half" idx="10"/>
          </p:nvPr>
        </p:nvSpPr>
        <p:spPr/>
        <p:txBody>
          <a:bodyPr/>
          <a:lstStyle>
            <a:lvl1pPr algn="ctr">
              <a:defRPr sz="1600">
                <a:solidFill>
                  <a:schemeClr val="bg1"/>
                </a:solidFill>
                <a:latin typeface="+mn-lt"/>
              </a:defRPr>
            </a:lvl1pPr>
          </a:lstStyle>
          <a:p>
            <a:fld id="{B74AB904-11F0-40D2-A521-063F99E152E4}" type="datetime1">
              <a:rPr lang="zh-CN" altLang="en-US" smtClean="0"/>
            </a:fld>
            <a:endParaRPr lang="zh-CN" altLang="en-US" dirty="0"/>
          </a:p>
        </p:txBody>
      </p:sp>
      <p:sp>
        <p:nvSpPr>
          <p:cNvPr id="6" name="Footer Placeholder 5"/>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7" name="Slide Number Placeholder 6"/>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a:xfrm>
            <a:off x="1080918" y="0"/>
            <a:ext cx="7290054" cy="848467"/>
          </a:xfrm>
        </p:spPr>
        <p:txBody>
          <a:bodyPr/>
          <a:lstStyle/>
          <a:p>
            <a:r>
              <a:rPr lang="zh-CN" altLang="en-US" dirty="0"/>
              <a:t>单击此处编辑母版标题样式</a:t>
            </a:r>
            <a:endParaRPr lang="en-US" dirty="0"/>
          </a:p>
        </p:txBody>
      </p:sp>
      <p:sp>
        <p:nvSpPr>
          <p:cNvPr id="3" name="Text Placeholder 2"/>
          <p:cNvSpPr>
            <a:spLocks noGrp="1"/>
          </p:cNvSpPr>
          <p:nvPr>
            <p:ph type="body" idx="1" hasCustomPrompt="1"/>
          </p:nvPr>
        </p:nvSpPr>
        <p:spPr>
          <a:xfrm>
            <a:off x="768096" y="993491"/>
            <a:ext cx="3566160" cy="617220"/>
          </a:xfrm>
        </p:spPr>
        <p:txBody>
          <a:bodyPr lIns="137160" rIns="137160" anchor="ctr">
            <a:normAutofit/>
          </a:bodyPr>
          <a:lstStyle>
            <a:lvl1pPr marL="0" indent="0">
              <a:spcBef>
                <a:spcPts val="0"/>
              </a:spcBef>
              <a:spcAft>
                <a:spcPts val="0"/>
              </a:spcAft>
              <a:buNone/>
              <a:defRPr sz="1725" b="0" cap="none" baseline="0">
                <a:solidFill>
                  <a:schemeClr val="accent2">
                    <a:lumMod val="75000"/>
                  </a:schemeClr>
                </a:solidFill>
                <a:latin typeface="+mn-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编辑母版文本样式</a:t>
            </a:r>
            <a:endParaRPr lang="zh-CN" altLang="en-US"/>
          </a:p>
        </p:txBody>
      </p:sp>
      <p:sp>
        <p:nvSpPr>
          <p:cNvPr id="4" name="Content Placeholder 3"/>
          <p:cNvSpPr>
            <a:spLocks noGrp="1"/>
          </p:cNvSpPr>
          <p:nvPr>
            <p:ph sz="half" idx="2" hasCustomPrompt="1"/>
          </p:nvPr>
        </p:nvSpPr>
        <p:spPr>
          <a:xfrm>
            <a:off x="768096"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5" name="Text Placeholder 4"/>
          <p:cNvSpPr>
            <a:spLocks noGrp="1"/>
          </p:cNvSpPr>
          <p:nvPr>
            <p:ph type="body" sz="quarter" idx="3" hasCustomPrompt="1"/>
          </p:nvPr>
        </p:nvSpPr>
        <p:spPr>
          <a:xfrm>
            <a:off x="4491990" y="993491"/>
            <a:ext cx="3566160" cy="617220"/>
          </a:xfrm>
        </p:spPr>
        <p:txBody>
          <a:bodyPr lIns="137160" rIns="137160" anchor="ctr">
            <a:normAutofit/>
          </a:bodyPr>
          <a:lstStyle>
            <a:lvl1pPr marL="0" indent="0">
              <a:spcBef>
                <a:spcPts val="0"/>
              </a:spcBef>
              <a:spcAft>
                <a:spcPts val="0"/>
              </a:spcAft>
              <a:buNone/>
              <a:defRPr lang="en-US" sz="1725" b="0" kern="1200" cap="none" baseline="0" dirty="0">
                <a:solidFill>
                  <a:schemeClr val="accent2">
                    <a:lumMod val="75000"/>
                  </a:schemeClr>
                </a:solidFill>
                <a:latin typeface="+mn-lt"/>
                <a:ea typeface="+mn-ea"/>
                <a:cs typeface="+mn-cs"/>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marL="0" lvl="0" indent="0" algn="l" defTabSz="685800" rtl="0" eaLnBrk="1" latinLnBrk="0" hangingPunct="1">
              <a:lnSpc>
                <a:spcPct val="90000"/>
              </a:lnSpc>
              <a:spcBef>
                <a:spcPts val="1350"/>
              </a:spcBef>
              <a:buNone/>
            </a:pPr>
            <a:r>
              <a:rPr lang="zh-CN" altLang="en-US"/>
              <a:t>编辑母版文本样式</a:t>
            </a:r>
            <a:endParaRPr lang="zh-CN" altLang="en-US"/>
          </a:p>
        </p:txBody>
      </p:sp>
      <p:sp>
        <p:nvSpPr>
          <p:cNvPr id="6" name="Content Placeholder 5"/>
          <p:cNvSpPr>
            <a:spLocks noGrp="1"/>
          </p:cNvSpPr>
          <p:nvPr>
            <p:ph sz="quarter" idx="4" hasCustomPrompt="1"/>
          </p:nvPr>
        </p:nvSpPr>
        <p:spPr>
          <a:xfrm>
            <a:off x="4491990" y="1584605"/>
            <a:ext cx="3566160" cy="2506179"/>
          </a:xfrm>
        </p:spPr>
        <p:txBody>
          <a:bodyPr lIns="45720" rIns="4572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en-US" dirty="0"/>
          </a:p>
        </p:txBody>
      </p:sp>
      <p:sp>
        <p:nvSpPr>
          <p:cNvPr id="7" name="Date Placeholder 6"/>
          <p:cNvSpPr>
            <a:spLocks noGrp="1"/>
          </p:cNvSpPr>
          <p:nvPr>
            <p:ph type="dt" sz="half" idx="10"/>
          </p:nvPr>
        </p:nvSpPr>
        <p:spPr/>
        <p:txBody>
          <a:bodyPr/>
          <a:lstStyle>
            <a:lvl1pPr algn="ctr">
              <a:defRPr sz="1600">
                <a:solidFill>
                  <a:schemeClr val="bg1"/>
                </a:solidFill>
                <a:latin typeface="+mn-lt"/>
              </a:defRPr>
            </a:lvl1pPr>
          </a:lstStyle>
          <a:p>
            <a:fld id="{0529599E-9530-48C5-9CAF-172E1B800D9B}" type="datetime1">
              <a:rPr lang="zh-CN" altLang="en-US" smtClean="0"/>
            </a:fld>
            <a:endParaRPr lang="zh-CN" altLang="en-US"/>
          </a:p>
        </p:txBody>
      </p:sp>
      <p:sp>
        <p:nvSpPr>
          <p:cNvPr id="8" name="Footer Placeholder 7"/>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9" name="Slide Number Placeholder 8"/>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lvl1pPr algn="ctr">
              <a:defRPr sz="1600">
                <a:solidFill>
                  <a:schemeClr val="bg1"/>
                </a:solidFill>
                <a:latin typeface="+mn-lt"/>
              </a:defRPr>
            </a:lvl1pPr>
          </a:lstStyle>
          <a:p>
            <a:fld id="{5902FD77-8323-485D-87E2-91A0E9C84954}" type="datetime1">
              <a:rPr lang="zh-CN" altLang="en-US" smtClean="0"/>
            </a:fld>
            <a:endParaRPr lang="zh-CN" altLang="en-US"/>
          </a:p>
        </p:txBody>
      </p:sp>
      <p:sp>
        <p:nvSpPr>
          <p:cNvPr id="4" name="Footer Placeholder 3"/>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5" name="Slide Number Placeholder 4"/>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375"/>
            <a:ext cx="6858000" cy="1790700"/>
          </a:xfrm>
        </p:spPr>
        <p:txBody>
          <a:bodyPr anchor="b"/>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hasCustomPrompt="1"/>
          </p:nvPr>
        </p:nvSpPr>
        <p:spPr>
          <a:xfrm>
            <a:off x="1143000" y="2701925"/>
            <a:ext cx="6858000" cy="12414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F8EDE902-01B3-453F-A2EE-45228A659E9E}" type="datetime1">
              <a:rPr lang="zh-CN" altLang="en-US" smtClean="0"/>
            </a:fld>
            <a:endParaRPr lang="zh-CN" altLang="en-US"/>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1_节标题">
    <p:spTree>
      <p:nvGrpSpPr>
        <p:cNvPr id="1" name=""/>
        <p:cNvGrpSpPr/>
        <p:nvPr/>
      </p:nvGrpSpPr>
      <p:grpSpPr>
        <a:xfrm>
          <a:off x="0" y="0"/>
          <a:ext cx="0" cy="0"/>
          <a:chOff x="0" y="0"/>
          <a:chExt cx="0" cy="0"/>
        </a:xfrm>
      </p:grpSpPr>
      <p:sp>
        <p:nvSpPr>
          <p:cNvPr id="2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DAEA8122-0D78-4844-A578-3876484268E6}"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dirty="0"/>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8342" y="-14837"/>
            <a:ext cx="692368" cy="692368"/>
          </a:xfrm>
          <a:prstGeom prst="rect">
            <a:avLst/>
          </a:prstGeom>
        </p:spPr>
      </p:pic>
      <p:cxnSp>
        <p:nvCxnSpPr>
          <p:cNvPr id="9" name="Straight Connector 6"/>
          <p:cNvCxnSpPr/>
          <p:nvPr userDrawn="1"/>
        </p:nvCxnSpPr>
        <p:spPr>
          <a:xfrm flipV="1">
            <a:off x="574526" y="677531"/>
            <a:ext cx="0" cy="6858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4223189" y="780125"/>
            <a:ext cx="0" cy="3867561"/>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3" name="椭圆 22"/>
          <p:cNvSpPr/>
          <p:nvPr userDrawn="1"/>
        </p:nvSpPr>
        <p:spPr>
          <a:xfrm>
            <a:off x="835829" y="1395230"/>
            <a:ext cx="1992037" cy="1992037"/>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24" name="MH_Others_1"/>
          <p:cNvSpPr txBox="1"/>
          <p:nvPr userDrawn="1">
            <p:custDataLst>
              <p:tags r:id="rId3"/>
            </p:custDataLst>
          </p:nvPr>
        </p:nvSpPr>
        <p:spPr>
          <a:xfrm>
            <a:off x="1448688" y="1467661"/>
            <a:ext cx="1286564" cy="1847174"/>
          </a:xfrm>
          <a:prstGeom prst="rect">
            <a:avLst/>
          </a:prstGeom>
          <a:noFill/>
        </p:spPr>
        <p:txBody>
          <a:bodyPr wrap="square" lIns="0" tIns="0" rIns="0" bIns="0" rtlCol="0" anchor="ctr" anchorCtr="0">
            <a:noAutofit/>
          </a:bodyPr>
          <a:lstStyle/>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目</a:t>
            </a:r>
            <a:endParaRPr lang="en-US" altLang="zh-CN"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a:p>
            <a:pPr algn="ctr"/>
            <a:r>
              <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rPr>
              <a:t>录</a:t>
            </a:r>
            <a:endParaRPr lang="zh-CN" altLang="en-US" sz="4800" spc="6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25" name="MH_Others_2"/>
          <p:cNvSpPr txBox="1"/>
          <p:nvPr userDrawn="1">
            <p:custDataLst>
              <p:tags r:id="rId4"/>
            </p:custDataLst>
          </p:nvPr>
        </p:nvSpPr>
        <p:spPr>
          <a:xfrm rot="5400000">
            <a:off x="589962" y="2191193"/>
            <a:ext cx="1932333" cy="400110"/>
          </a:xfrm>
          <a:prstGeom prst="rect">
            <a:avLst/>
          </a:prstGeom>
          <a:noFill/>
        </p:spPr>
        <p:txBody>
          <a:bodyPr wrap="square">
            <a:spAutoFit/>
          </a:bodyPr>
          <a:lstStyle/>
          <a:p>
            <a:pPr algn="ctr">
              <a:defRPr/>
            </a:pPr>
            <a:r>
              <a:rPr lang="en-US" altLang="zh-CN" sz="2000" dirty="0">
                <a:solidFill>
                  <a:schemeClr val="bg1"/>
                </a:solidFill>
                <a:latin typeface="Arial" panose="020B0604020202020204" pitchFamily="34" charset="0"/>
                <a:ea typeface="微软雅黑" panose="020B0503020204020204" pitchFamily="34" charset="-122"/>
                <a:sym typeface="Arial" panose="020B0604020202020204" pitchFamily="34" charset="0"/>
              </a:rPr>
              <a:t>CONTENTS</a:t>
            </a:r>
            <a:endParaRPr lang="zh-CN" altLang="en-US" sz="20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showMasterSp="0">
  <p:cSld name="节标题">
    <p:spTree>
      <p:nvGrpSpPr>
        <p:cNvPr id="1" name=""/>
        <p:cNvGrpSpPr/>
        <p:nvPr/>
      </p:nvGrpSpPr>
      <p:grpSpPr>
        <a:xfrm>
          <a:off x="0" y="0"/>
          <a:ext cx="0" cy="0"/>
          <a:chOff x="0" y="0"/>
          <a:chExt cx="0" cy="0"/>
        </a:xfrm>
      </p:grpSpPr>
      <p:sp>
        <p:nvSpPr>
          <p:cNvPr id="7" name="Rectangle 6"/>
          <p:cNvSpPr/>
          <p:nvPr userDrawn="1"/>
        </p:nvSpPr>
        <p:spPr>
          <a:xfrm>
            <a:off x="0" y="1342074"/>
            <a:ext cx="9144000" cy="3801427"/>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p:cNvSpPr>
            <a:spLocks noGrp="1"/>
          </p:cNvSpPr>
          <p:nvPr>
            <p:ph type="title" hasCustomPrompt="1"/>
          </p:nvPr>
        </p:nvSpPr>
        <p:spPr>
          <a:xfrm>
            <a:off x="952609" y="385011"/>
            <a:ext cx="7886700" cy="935851"/>
          </a:xfrm>
        </p:spPr>
        <p:txBody>
          <a:bodyPr anchor="b">
            <a:normAutofit/>
          </a:bodyPr>
          <a:lstStyle>
            <a:lvl1pPr>
              <a:defRPr sz="4000">
                <a:solidFill>
                  <a:schemeClr val="tx2"/>
                </a:solidFill>
              </a:defRPr>
            </a:lvl1pPr>
          </a:lstStyle>
          <a:p>
            <a:r>
              <a:rPr lang="zh-CN" altLang="en-US" dirty="0"/>
              <a:t>编辑母版标</a:t>
            </a:r>
            <a:endParaRPr lang="zh-CN" altLang="en-US" dirty="0"/>
          </a:p>
        </p:txBody>
      </p:sp>
      <p:sp>
        <p:nvSpPr>
          <p:cNvPr id="3" name="文本占位符 2"/>
          <p:cNvSpPr>
            <a:spLocks noGrp="1"/>
          </p:cNvSpPr>
          <p:nvPr>
            <p:ph type="body" idx="1" hasCustomPrompt="1"/>
          </p:nvPr>
        </p:nvSpPr>
        <p:spPr>
          <a:xfrm>
            <a:off x="768096" y="1506009"/>
            <a:ext cx="7886700" cy="3090054"/>
          </a:xfrm>
        </p:spPr>
        <p:txBody>
          <a:bodyPr>
            <a:normAutofit/>
          </a:bodyPr>
          <a:lstStyle>
            <a:lvl1pPr marL="0" indent="0">
              <a:lnSpc>
                <a:spcPct val="120000"/>
              </a:lnSpc>
              <a:spcBef>
                <a:spcPts val="1200"/>
              </a:spcBef>
              <a:spcAft>
                <a:spcPts val="0"/>
              </a:spcAft>
              <a:buNone/>
              <a:defRPr sz="2800" b="0">
                <a:solidFill>
                  <a:schemeClr val="bg1"/>
                </a:solidFill>
                <a:latin typeface="+mj-ea"/>
                <a:ea typeface="+mj-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编辑母版文本样式</a:t>
            </a:r>
            <a:endParaRPr lang="zh-CN" altLang="en-US" dirty="0"/>
          </a:p>
        </p:txBody>
      </p:sp>
      <p:sp>
        <p:nvSpPr>
          <p:cNvPr id="4" name="日期占位符 3"/>
          <p:cNvSpPr>
            <a:spLocks noGrp="1"/>
          </p:cNvSpPr>
          <p:nvPr>
            <p:ph type="dt" sz="half" idx="10"/>
          </p:nvPr>
        </p:nvSpPr>
        <p:spPr/>
        <p:txBody>
          <a:bodyPr/>
          <a:lstStyle>
            <a:lvl1pPr algn="ctr">
              <a:defRPr sz="1600">
                <a:solidFill>
                  <a:schemeClr val="bg1"/>
                </a:solidFill>
                <a:latin typeface="+mn-lt"/>
              </a:defRPr>
            </a:lvl1pPr>
          </a:lstStyle>
          <a:p>
            <a:fld id="{FE1C514A-AFAF-433D-949D-3F3495E7683C}" type="datetime1">
              <a:rPr lang="zh-CN" altLang="en-US" smtClean="0"/>
            </a:fld>
            <a:endParaRPr lang="zh-CN" altLang="en-US" dirty="0"/>
          </a:p>
        </p:txBody>
      </p:sp>
      <p:sp>
        <p:nvSpPr>
          <p:cNvPr id="5"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pic>
        <p:nvPicPr>
          <p:cNvPr id="8" name="图片 7"/>
          <p:cNvPicPr>
            <a:picLocks noChangeAspect="1"/>
          </p:cNvPicPr>
          <p:nvPr userDrawn="1"/>
        </p:nvPicPr>
        <p:blipFill>
          <a:blip r:embed="rId2"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60241" y="17062"/>
            <a:ext cx="692368" cy="692368"/>
          </a:xfrm>
          <a:prstGeom prst="rect">
            <a:avLst/>
          </a:prstGeom>
        </p:spPr>
      </p:pic>
      <p:cxnSp>
        <p:nvCxnSpPr>
          <p:cNvPr id="9" name="Straight Connector 6"/>
          <p:cNvCxnSpPr/>
          <p:nvPr userDrawn="1"/>
        </p:nvCxnSpPr>
        <p:spPr>
          <a:xfrm flipV="1">
            <a:off x="606425" y="649706"/>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lgn="ctr">
              <a:defRPr sz="1600">
                <a:solidFill>
                  <a:schemeClr val="bg1"/>
                </a:solidFill>
                <a:latin typeface="+mn-lt"/>
              </a:defRPr>
            </a:lvl1pPr>
          </a:lstStyle>
          <a:p>
            <a:fld id="{9865EC83-5FAA-4FE9-BB65-5544193D6B0B}" type="datetime1">
              <a:rPr lang="zh-CN" altLang="en-US" smtClean="0"/>
            </a:fld>
            <a:endParaRPr lang="zh-CN" altLang="en-US"/>
          </a:p>
        </p:txBody>
      </p:sp>
      <p:sp>
        <p:nvSpPr>
          <p:cNvPr id="3" name="页脚占位符 2"/>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lvl1pPr algn="ctr">
              <a:defRPr sz="1600">
                <a:solidFill>
                  <a:schemeClr val="bg1"/>
                </a:solidFill>
                <a:latin typeface="+mn-lt"/>
              </a:defRPr>
            </a:lvl1pPr>
          </a:lstStyle>
          <a:p>
            <a:fld id="{F528F39D-B5E5-4CA7-906C-979D5A62978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4_标题幻灯片">
    <p:spTree>
      <p:nvGrpSpPr>
        <p:cNvPr id="1" name=""/>
        <p:cNvGrpSpPr/>
        <p:nvPr/>
      </p:nvGrpSpPr>
      <p:grpSpPr>
        <a:xfrm>
          <a:off x="0" y="0"/>
          <a:ext cx="0" cy="0"/>
          <a:chOff x="0" y="0"/>
          <a:chExt cx="0" cy="0"/>
        </a:xfrm>
      </p:grpSpPr>
      <p:sp>
        <p:nvSpPr>
          <p:cNvPr id="120" name="文本框 119"/>
          <p:cNvSpPr txBox="1"/>
          <p:nvPr userDrawn="1"/>
        </p:nvSpPr>
        <p:spPr>
          <a:xfrm>
            <a:off x="4264202" y="2007508"/>
            <a:ext cx="4241369" cy="1223412"/>
          </a:xfrm>
          <a:prstGeom prst="rect">
            <a:avLst/>
          </a:prstGeom>
          <a:noFill/>
        </p:spPr>
        <p:txBody>
          <a:bodyPr wrap="square" rtlCol="0" anchor="ct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defPPr>
              <a:defRPr lang="zh-CN"/>
            </a:defPPr>
            <a:lvl1pPr lvl="0">
              <a:defRPr sz="11500" spc="50">
                <a:ln w="11430"/>
                <a:solidFill>
                  <a:srgbClr val="008EE6"/>
                </a:solidFill>
                <a:effectLst>
                  <a:outerShdw blurRad="38100" dist="38100" dir="2700000" algn="tl">
                    <a:srgbClr val="000000">
                      <a:alpha val="43137"/>
                    </a:srgbClr>
                  </a:outerShdw>
                </a:effectLst>
                <a:latin typeface="华康俪金黑W8(P)" pitchFamily="34" charset="-122"/>
                <a:ea typeface="华康俪金黑W8(P)" pitchFamily="34" charset="-122"/>
                <a:cs typeface="经典繁仿黑" pitchFamily="49" charset="-122"/>
              </a:defRPr>
            </a:lvl1pPr>
          </a:lstStyle>
          <a:p>
            <a:pPr lvl="0"/>
            <a:r>
              <a:rPr lang="zh-CN" altLang="en-US" sz="7350" dirty="0">
                <a:solidFill>
                  <a:schemeClr val="tx1">
                    <a:lumMod val="65000"/>
                    <a:lumOff val="35000"/>
                  </a:schemeClr>
                </a:solidFill>
              </a:rPr>
              <a:t>谢谢聆听</a:t>
            </a:r>
            <a:endParaRPr lang="en-US" altLang="zh-CN" sz="7350" dirty="0">
              <a:solidFill>
                <a:schemeClr val="tx1">
                  <a:lumMod val="65000"/>
                  <a:lumOff val="35000"/>
                </a:schemeClr>
              </a:solidFill>
            </a:endParaRPr>
          </a:p>
        </p:txBody>
      </p:sp>
      <p:grpSp>
        <p:nvGrpSpPr>
          <p:cNvPr id="4" name="组合 3"/>
          <p:cNvGrpSpPr/>
          <p:nvPr userDrawn="1"/>
        </p:nvGrpSpPr>
        <p:grpSpPr>
          <a:xfrm>
            <a:off x="833860" y="1704155"/>
            <a:ext cx="3193793" cy="2085294"/>
            <a:chOff x="705272" y="1639861"/>
            <a:chExt cx="3193793" cy="2085294"/>
          </a:xfrm>
        </p:grpSpPr>
        <p:grpSp>
          <p:nvGrpSpPr>
            <p:cNvPr id="2" name="组合 1"/>
            <p:cNvGrpSpPr/>
            <p:nvPr userDrawn="1"/>
          </p:nvGrpSpPr>
          <p:grpSpPr>
            <a:xfrm>
              <a:off x="705272" y="1639861"/>
              <a:ext cx="3193793" cy="2085294"/>
              <a:chOff x="721633" y="1980294"/>
              <a:chExt cx="3233738" cy="2111375"/>
            </a:xfrm>
          </p:grpSpPr>
          <p:sp>
            <p:nvSpPr>
              <p:cNvPr id="9" name="Freeform 148"/>
              <p:cNvSpPr/>
              <p:nvPr userDrawn="1"/>
            </p:nvSpPr>
            <p:spPr bwMode="auto">
              <a:xfrm>
                <a:off x="721633" y="1980294"/>
                <a:ext cx="3233738" cy="2111375"/>
              </a:xfrm>
              <a:custGeom>
                <a:avLst/>
                <a:gdLst>
                  <a:gd name="T0" fmla="*/ 778 w 861"/>
                  <a:gd name="T1" fmla="*/ 437 h 562"/>
                  <a:gd name="T2" fmla="*/ 778 w 861"/>
                  <a:gd name="T3" fmla="*/ 21 h 562"/>
                  <a:gd name="T4" fmla="*/ 756 w 861"/>
                  <a:gd name="T5" fmla="*/ 0 h 562"/>
                  <a:gd name="T6" fmla="*/ 105 w 861"/>
                  <a:gd name="T7" fmla="*/ 0 h 562"/>
                  <a:gd name="T8" fmla="*/ 84 w 861"/>
                  <a:gd name="T9" fmla="*/ 21 h 562"/>
                  <a:gd name="T10" fmla="*/ 84 w 861"/>
                  <a:gd name="T11" fmla="*/ 436 h 562"/>
                  <a:gd name="T12" fmla="*/ 0 w 861"/>
                  <a:gd name="T13" fmla="*/ 530 h 562"/>
                  <a:gd name="T14" fmla="*/ 24 w 861"/>
                  <a:gd name="T15" fmla="*/ 562 h 562"/>
                  <a:gd name="T16" fmla="*/ 838 w 861"/>
                  <a:gd name="T17" fmla="*/ 562 h 562"/>
                  <a:gd name="T18" fmla="*/ 861 w 861"/>
                  <a:gd name="T19" fmla="*/ 530 h 562"/>
                  <a:gd name="T20" fmla="*/ 778 w 861"/>
                  <a:gd name="T21" fmla="*/ 437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61" h="562">
                    <a:moveTo>
                      <a:pt x="778" y="437"/>
                    </a:moveTo>
                    <a:cubicBezTo>
                      <a:pt x="778" y="21"/>
                      <a:pt x="778" y="21"/>
                      <a:pt x="778" y="21"/>
                    </a:cubicBezTo>
                    <a:cubicBezTo>
                      <a:pt x="778" y="9"/>
                      <a:pt x="768" y="0"/>
                      <a:pt x="756" y="0"/>
                    </a:cubicBezTo>
                    <a:cubicBezTo>
                      <a:pt x="105" y="0"/>
                      <a:pt x="105" y="0"/>
                      <a:pt x="105" y="0"/>
                    </a:cubicBezTo>
                    <a:cubicBezTo>
                      <a:pt x="93" y="0"/>
                      <a:pt x="84" y="9"/>
                      <a:pt x="84" y="21"/>
                    </a:cubicBezTo>
                    <a:cubicBezTo>
                      <a:pt x="84" y="436"/>
                      <a:pt x="84" y="436"/>
                      <a:pt x="84" y="436"/>
                    </a:cubicBezTo>
                    <a:cubicBezTo>
                      <a:pt x="0" y="530"/>
                      <a:pt x="0" y="530"/>
                      <a:pt x="0" y="530"/>
                    </a:cubicBezTo>
                    <a:cubicBezTo>
                      <a:pt x="0" y="543"/>
                      <a:pt x="11" y="562"/>
                      <a:pt x="24" y="562"/>
                    </a:cubicBezTo>
                    <a:cubicBezTo>
                      <a:pt x="838" y="562"/>
                      <a:pt x="838" y="562"/>
                      <a:pt x="838" y="562"/>
                    </a:cubicBezTo>
                    <a:cubicBezTo>
                      <a:pt x="851" y="562"/>
                      <a:pt x="861" y="543"/>
                      <a:pt x="861" y="530"/>
                    </a:cubicBezTo>
                    <a:lnTo>
                      <a:pt x="778" y="437"/>
                    </a:lnTo>
                    <a:close/>
                  </a:path>
                </a:pathLst>
              </a:custGeom>
              <a:solidFill>
                <a:srgbClr val="686868"/>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sp>
            <p:nvSpPr>
              <p:cNvPr id="10" name="Rectangle 149"/>
              <p:cNvSpPr>
                <a:spLocks noChangeArrowheads="1"/>
              </p:cNvSpPr>
              <p:nvPr userDrawn="1"/>
            </p:nvSpPr>
            <p:spPr bwMode="auto">
              <a:xfrm>
                <a:off x="1169308" y="2115231"/>
                <a:ext cx="2343150" cy="1404938"/>
              </a:xfrm>
              <a:prstGeom prst="rect">
                <a:avLst/>
              </a:prstGeom>
              <a:solidFill>
                <a:srgbClr val="F9F3E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endParaRPr lang="zh-CN" altLang="en-US" sz="1350"/>
              </a:p>
            </p:txBody>
          </p:sp>
          <p:sp>
            <p:nvSpPr>
              <p:cNvPr id="11" name="Freeform 150"/>
              <p:cNvSpPr/>
              <p:nvPr userDrawn="1"/>
            </p:nvSpPr>
            <p:spPr bwMode="auto">
              <a:xfrm>
                <a:off x="2118633" y="3975781"/>
                <a:ext cx="439738" cy="74613"/>
              </a:xfrm>
              <a:custGeom>
                <a:avLst/>
                <a:gdLst>
                  <a:gd name="T0" fmla="*/ 0 w 117"/>
                  <a:gd name="T1" fmla="*/ 0 h 20"/>
                  <a:gd name="T2" fmla="*/ 0 w 117"/>
                  <a:gd name="T3" fmla="*/ 0 h 20"/>
                  <a:gd name="T4" fmla="*/ 14 w 117"/>
                  <a:gd name="T5" fmla="*/ 20 h 20"/>
                  <a:gd name="T6" fmla="*/ 104 w 117"/>
                  <a:gd name="T7" fmla="*/ 20 h 20"/>
                  <a:gd name="T8" fmla="*/ 117 w 117"/>
                  <a:gd name="T9" fmla="*/ 0 h 20"/>
                  <a:gd name="T10" fmla="*/ 117 w 117"/>
                  <a:gd name="T11" fmla="*/ 0 h 20"/>
                  <a:gd name="T12" fmla="*/ 0 w 117"/>
                  <a:gd name="T13" fmla="*/ 0 h 20"/>
                </a:gdLst>
                <a:ahLst/>
                <a:cxnLst>
                  <a:cxn ang="0">
                    <a:pos x="T0" y="T1"/>
                  </a:cxn>
                  <a:cxn ang="0">
                    <a:pos x="T2" y="T3"/>
                  </a:cxn>
                  <a:cxn ang="0">
                    <a:pos x="T4" y="T5"/>
                  </a:cxn>
                  <a:cxn ang="0">
                    <a:pos x="T6" y="T7"/>
                  </a:cxn>
                  <a:cxn ang="0">
                    <a:pos x="T8" y="T9"/>
                  </a:cxn>
                  <a:cxn ang="0">
                    <a:pos x="T10" y="T11"/>
                  </a:cxn>
                  <a:cxn ang="0">
                    <a:pos x="T12" y="T13"/>
                  </a:cxn>
                </a:cxnLst>
                <a:rect l="0" t="0" r="r" b="b"/>
                <a:pathLst>
                  <a:path w="117" h="20">
                    <a:moveTo>
                      <a:pt x="0" y="0"/>
                    </a:moveTo>
                    <a:cubicBezTo>
                      <a:pt x="0" y="0"/>
                      <a:pt x="0" y="0"/>
                      <a:pt x="0" y="0"/>
                    </a:cubicBezTo>
                    <a:cubicBezTo>
                      <a:pt x="0" y="7"/>
                      <a:pt x="6" y="20"/>
                      <a:pt x="14" y="20"/>
                    </a:cubicBezTo>
                    <a:cubicBezTo>
                      <a:pt x="104" y="20"/>
                      <a:pt x="104" y="20"/>
                      <a:pt x="104" y="20"/>
                    </a:cubicBezTo>
                    <a:cubicBezTo>
                      <a:pt x="111" y="20"/>
                      <a:pt x="117" y="7"/>
                      <a:pt x="117" y="0"/>
                    </a:cubicBezTo>
                    <a:cubicBezTo>
                      <a:pt x="117" y="0"/>
                      <a:pt x="117" y="0"/>
                      <a:pt x="117" y="0"/>
                    </a:cubicBezTo>
                    <a:lnTo>
                      <a:pt x="0" y="0"/>
                    </a:lnTo>
                    <a:close/>
                  </a:path>
                </a:pathLst>
              </a:custGeom>
              <a:solidFill>
                <a:srgbClr val="F9F3ED"/>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sz="1350"/>
              </a:p>
            </p:txBody>
          </p:sp>
        </p:grpSp>
        <p:sp>
          <p:nvSpPr>
            <p:cNvPr id="108" name="矩形 107"/>
            <p:cNvSpPr/>
            <p:nvPr userDrawn="1"/>
          </p:nvSpPr>
          <p:spPr>
            <a:xfrm>
              <a:off x="2091447" y="2022227"/>
              <a:ext cx="1325371" cy="369332"/>
            </a:xfrm>
            <a:prstGeom prst="rect">
              <a:avLst/>
            </a:prstGeom>
          </p:spPr>
          <p:txBody>
            <a:bodyPr wrap="square">
              <a:spAutoFit/>
            </a:bodyPr>
            <a:lstStyle/>
            <a:p>
              <a:pPr algn="l">
                <a:lnSpc>
                  <a:spcPct val="120000"/>
                </a:lnSpc>
              </a:pPr>
              <a:r>
                <a:rPr lang="en-US" altLang="zh-CN" sz="1500" kern="1200" dirty="0">
                  <a:solidFill>
                    <a:schemeClr val="tx1">
                      <a:lumMod val="65000"/>
                      <a:lumOff val="35000"/>
                    </a:schemeClr>
                  </a:solidFill>
                  <a:latin typeface="+mj-ea"/>
                  <a:ea typeface="+mj-ea"/>
                  <a:cs typeface="+mn-cs"/>
                </a:rPr>
                <a:t>Thank You</a:t>
              </a:r>
              <a:r>
                <a:rPr lang="zh-CN" altLang="en-US" sz="1500" kern="1200" dirty="0">
                  <a:solidFill>
                    <a:schemeClr val="tx1">
                      <a:lumMod val="65000"/>
                      <a:lumOff val="35000"/>
                    </a:schemeClr>
                  </a:solidFill>
                  <a:latin typeface="+mj-ea"/>
                  <a:ea typeface="+mj-ea"/>
                  <a:cs typeface="+mn-cs"/>
                </a:rPr>
                <a:t>！</a:t>
              </a:r>
              <a:endParaRPr lang="zh-CN" altLang="en-US" sz="1500" kern="1200" dirty="0">
                <a:solidFill>
                  <a:schemeClr val="tx1">
                    <a:lumMod val="65000"/>
                    <a:lumOff val="35000"/>
                  </a:schemeClr>
                </a:solidFill>
                <a:latin typeface="+mj-ea"/>
                <a:ea typeface="+mj-ea"/>
                <a:cs typeface="+mn-cs"/>
              </a:endParaRPr>
            </a:p>
          </p:txBody>
        </p:sp>
        <p:grpSp>
          <p:nvGrpSpPr>
            <p:cNvPr id="114" name="组合 113"/>
            <p:cNvGrpSpPr/>
            <p:nvPr userDrawn="1"/>
          </p:nvGrpSpPr>
          <p:grpSpPr>
            <a:xfrm>
              <a:off x="2160453" y="2672657"/>
              <a:ext cx="1134000" cy="48600"/>
              <a:chOff x="0" y="4978400"/>
              <a:chExt cx="11157019" cy="406400"/>
            </a:xfrm>
          </p:grpSpPr>
          <p:sp>
            <p:nvSpPr>
              <p:cNvPr id="115" name="矩形 114"/>
              <p:cNvSpPr/>
              <p:nvPr userDrawn="1"/>
            </p:nvSpPr>
            <p:spPr>
              <a:xfrm>
                <a:off x="0" y="4978400"/>
                <a:ext cx="2788596" cy="406400"/>
              </a:xfrm>
              <a:prstGeom prst="rect">
                <a:avLst/>
              </a:prstGeom>
              <a:solidFill>
                <a:srgbClr val="9EC4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6" name="矩形 115"/>
              <p:cNvSpPr/>
              <p:nvPr userDrawn="1"/>
            </p:nvSpPr>
            <p:spPr>
              <a:xfrm>
                <a:off x="2788596" y="4978400"/>
                <a:ext cx="2788596" cy="406400"/>
              </a:xfrm>
              <a:prstGeom prst="rect">
                <a:avLst/>
              </a:prstGeom>
              <a:solidFill>
                <a:srgbClr val="CA00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7" name="矩形 116"/>
              <p:cNvSpPr/>
              <p:nvPr userDrawn="1"/>
            </p:nvSpPr>
            <p:spPr>
              <a:xfrm>
                <a:off x="5577192" y="4978400"/>
                <a:ext cx="2788596" cy="406400"/>
              </a:xfrm>
              <a:prstGeom prst="rect">
                <a:avLst/>
              </a:prstGeom>
              <a:solidFill>
                <a:srgbClr val="FF8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sp>
            <p:nvSpPr>
              <p:cNvPr id="118" name="矩形 117"/>
              <p:cNvSpPr/>
              <p:nvPr userDrawn="1"/>
            </p:nvSpPr>
            <p:spPr>
              <a:xfrm>
                <a:off x="8368423" y="4978400"/>
                <a:ext cx="2788596" cy="406400"/>
              </a:xfrm>
              <a:prstGeom prst="rect">
                <a:avLst/>
              </a:prstGeom>
              <a:solidFill>
                <a:srgbClr val="008E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FF8900"/>
                  </a:solidFill>
                </a:endParaRPr>
              </a:p>
            </p:txBody>
          </p:sp>
        </p:grpSp>
        <p:pic>
          <p:nvPicPr>
            <p:cNvPr id="110" name="Picture 2"/>
            <p:cNvPicPr>
              <a:picLocks noChangeAspect="1" noChangeArrowheads="1"/>
            </p:cNvPicPr>
            <p:nvPr userDrawn="1"/>
          </p:nvPicPr>
          <p:blipFill>
            <a:blip r:embed="rId2" cstate="print">
              <a:clrChange>
                <a:clrFrom>
                  <a:srgbClr val="FFFFFF"/>
                </a:clrFrom>
                <a:clrTo>
                  <a:srgbClr val="FFFFFF">
                    <a:alpha val="0"/>
                  </a:srgbClr>
                </a:clrTo>
              </a:clrChange>
              <a:extLst>
                <a:ext uri="{BEBA8EAE-BF5A-486C-A8C5-ECC9F3942E4B}">
                  <a14:imgProps xmlns:a14="http://schemas.microsoft.com/office/drawing/2010/main">
                    <a14:imgLayer r:embed="rId3">
                      <a14:imgEffect>
                        <a14:colorTemperature colorTemp="4700"/>
                      </a14:imgEffect>
                      <a14:imgEffect>
                        <a14:saturation sat="0"/>
                      </a14:imgEffect>
                    </a14:imgLayer>
                  </a14:imgProps>
                </a:ext>
              </a:extLst>
            </a:blip>
            <a:srcRect/>
            <a:stretch>
              <a:fillRect/>
            </a:stretch>
          </p:blipFill>
          <p:spPr bwMode="auto">
            <a:xfrm>
              <a:off x="1367669" y="2007508"/>
              <a:ext cx="675000" cy="675000"/>
            </a:xfrm>
            <a:prstGeom prst="rect">
              <a:avLst/>
            </a:prstGeom>
            <a:noFill/>
            <a:ln w="9525">
              <a:noFill/>
              <a:miter lim="800000"/>
              <a:headEnd/>
              <a:tailEnd/>
            </a:ln>
            <a:effectLst/>
          </p:spPr>
        </p:pic>
      </p:grpSp>
      <p:sp>
        <p:nvSpPr>
          <p:cNvPr id="20" name="日期占位符 3"/>
          <p:cNvSpPr>
            <a:spLocks noGrp="1"/>
          </p:cNvSpPr>
          <p:nvPr>
            <p:ph type="dt" sz="half" idx="10"/>
          </p:nvPr>
        </p:nvSpPr>
        <p:spPr>
          <a:xfrm>
            <a:off x="768096" y="4853028"/>
            <a:ext cx="1615607" cy="205740"/>
          </a:xfrm>
        </p:spPr>
        <p:txBody>
          <a:bodyPr/>
          <a:lstStyle>
            <a:lvl1pPr algn="ctr">
              <a:defRPr sz="1600">
                <a:solidFill>
                  <a:schemeClr val="bg1"/>
                </a:solidFill>
                <a:latin typeface="+mn-lt"/>
              </a:defRPr>
            </a:lvl1pPr>
          </a:lstStyle>
          <a:p>
            <a:fld id="{8F98B0E8-48B0-47D3-A6C8-7E041360F69C}" type="datetime1">
              <a:rPr lang="zh-CN" altLang="en-US" smtClean="0"/>
            </a:fld>
            <a:endParaRPr lang="zh-CN" altLang="en-US" dirty="0"/>
          </a:p>
        </p:txBody>
      </p:sp>
      <p:sp>
        <p:nvSpPr>
          <p:cNvPr id="21" name="页脚占位符 4"/>
          <p:cNvSpPr>
            <a:spLocks noGrp="1"/>
          </p:cNvSpPr>
          <p:nvPr>
            <p:ph type="ftr" sz="quarter" idx="11"/>
          </p:nvPr>
        </p:nvSpPr>
        <p:spPr>
          <a:xfrm>
            <a:off x="2383703" y="4853028"/>
            <a:ext cx="5674590" cy="205740"/>
          </a:xfrm>
        </p:spPr>
        <p:txBody>
          <a:bodyPr/>
          <a:lstStyle>
            <a:lvl1pPr algn="ctr">
              <a:defRPr sz="1600">
                <a:solidFill>
                  <a:schemeClr val="bg1"/>
                </a:solidFill>
                <a:latin typeface="+mn-lt"/>
              </a:defRPr>
            </a:lvl1pPr>
          </a:lstStyle>
          <a:p>
            <a:r>
              <a:rPr lang="zh-CN" altLang="en-US" dirty="0"/>
              <a:t>软件工程</a:t>
            </a:r>
            <a:endParaRPr lang="zh-CN" altLang="en-US" dirty="0"/>
          </a:p>
        </p:txBody>
      </p:sp>
      <p:sp>
        <p:nvSpPr>
          <p:cNvPr id="22" name="灯片编号占位符 5"/>
          <p:cNvSpPr>
            <a:spLocks noGrp="1"/>
          </p:cNvSpPr>
          <p:nvPr>
            <p:ph type="sldNum" sz="quarter" idx="12"/>
          </p:nvPr>
        </p:nvSpPr>
        <p:spPr>
          <a:xfrm>
            <a:off x="8128000" y="4853028"/>
            <a:ext cx="730250" cy="205740"/>
          </a:xfrm>
        </p:spPr>
        <p:txBody>
          <a:bodyPr/>
          <a:lstStyle>
            <a:lvl1pPr algn="ctr">
              <a:defRPr sz="1600">
                <a:solidFill>
                  <a:schemeClr val="bg1"/>
                </a:solidFill>
                <a:latin typeface="+mn-lt"/>
              </a:defRPr>
            </a:lvl1pPr>
          </a:lstStyle>
          <a:p>
            <a:fld id="{233B410F-ED3A-420F-9009-9AC68EA66982}" type="slidenum">
              <a:rPr lang="zh-CN" altLang="en-US" smtClean="0"/>
            </a:fld>
            <a:endParaRPr lang="zh-CN" altLang="en-US"/>
          </a:p>
        </p:txBody>
      </p:sp>
    </p:spTree>
  </p:cSld>
  <p:clrMapOvr>
    <a:masterClrMapping/>
  </p:clrMapOvr>
  <p:transition>
    <p:cove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目录页">
    <p:spTree>
      <p:nvGrpSpPr>
        <p:cNvPr id="1" name=""/>
        <p:cNvGrpSpPr/>
        <p:nvPr/>
      </p:nvGrpSpPr>
      <p:grpSpPr>
        <a:xfrm>
          <a:off x="0" y="0"/>
          <a:ext cx="0" cy="0"/>
          <a:chOff x="0" y="0"/>
          <a:chExt cx="0" cy="0"/>
        </a:xfrm>
      </p:grpSpPr>
      <p:sp>
        <p:nvSpPr>
          <p:cNvPr id="4" name="日期占位符 3"/>
          <p:cNvSpPr>
            <a:spLocks noGrp="1"/>
          </p:cNvSpPr>
          <p:nvPr>
            <p:ph type="dt" sz="half" idx="10"/>
          </p:nvPr>
        </p:nvSpPr>
        <p:spPr>
          <a:xfrm>
            <a:off x="6727032" y="4805958"/>
            <a:ext cx="1920240" cy="274320"/>
          </a:xfrm>
          <a:prstGeom prst="rect">
            <a:avLst/>
          </a:prstGeom>
        </p:spPr>
        <p:txBody>
          <a:bodyPr/>
          <a:lstStyle>
            <a:lvl1pPr>
              <a:defRPr sz="1050"/>
            </a:lvl1pPr>
          </a:lstStyle>
          <a:p>
            <a:fld id="{7C38504B-1AF3-4156-B61A-8DB24BEED060}" type="datetime1">
              <a:rPr lang="zh-CN" altLang="en-US" smtClean="0"/>
            </a:fld>
            <a:endParaRPr lang="zh-CN" altLang="en-US" dirty="0"/>
          </a:p>
        </p:txBody>
      </p:sp>
      <p:sp>
        <p:nvSpPr>
          <p:cNvPr id="5" name="页脚占位符 4"/>
          <p:cNvSpPr>
            <a:spLocks noGrp="1"/>
          </p:cNvSpPr>
          <p:nvPr>
            <p:ph type="ftr" sz="quarter" idx="11"/>
          </p:nvPr>
        </p:nvSpPr>
        <p:spPr>
          <a:xfrm>
            <a:off x="4380074" y="4805960"/>
            <a:ext cx="2350681" cy="273844"/>
          </a:xfrm>
          <a:prstGeom prst="rect">
            <a:avLst/>
          </a:prstGeom>
        </p:spPr>
        <p:txBody>
          <a:bodyPr/>
          <a:lstStyle>
            <a:lvl1pPr>
              <a:defRPr sz="1050"/>
            </a:lvl1pPr>
          </a:lstStyle>
          <a:p>
            <a:r>
              <a:rPr lang="zh-CN" altLang="en-US"/>
              <a:t>软件工程</a:t>
            </a:r>
            <a:endParaRPr lang="zh-CN" altLang="en-US" dirty="0"/>
          </a:p>
        </p:txBody>
      </p:sp>
      <p:sp>
        <p:nvSpPr>
          <p:cNvPr id="6" name="灯片编号占位符 5"/>
          <p:cNvSpPr>
            <a:spLocks noGrp="1"/>
          </p:cNvSpPr>
          <p:nvPr>
            <p:ph type="sldNum" sz="quarter" idx="12"/>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
        <p:nvSpPr>
          <p:cNvPr id="7" name="标题占位符"/>
          <p:cNvSpPr>
            <a:spLocks noGrp="1"/>
          </p:cNvSpPr>
          <p:nvPr>
            <p:ph type="body" sz="quarter" idx="13" hasCustomPrompt="1"/>
          </p:nvPr>
        </p:nvSpPr>
        <p:spPr>
          <a:xfrm>
            <a:off x="1052622" y="159755"/>
            <a:ext cx="6275277" cy="415498"/>
          </a:xfrm>
          <a:prstGeom prst="rect">
            <a:avLst/>
          </a:prstGeom>
        </p:spPr>
        <p:txBody>
          <a:bodyPr wrap="square" anchor="ctr">
            <a:spAutoFit/>
          </a:bodyPr>
          <a:lstStyle>
            <a:lvl1pPr marL="0" indent="0" algn="l">
              <a:lnSpc>
                <a:spcPct val="100000"/>
              </a:lnSpc>
              <a:buFontTx/>
              <a:buNone/>
              <a:defRPr lang="zh-CN" altLang="en-US" sz="2100" b="1" spc="169"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75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tmplLst>
          <p:tmpl lvl="0">
            <p:tnLst>
              <p:par>
                <p:cTn presetID="22" presetClass="entr" presetSubtype="8" fill="hold" nodeType="after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wipe(left)">
                      <p:cBhvr>
                        <p:cTn dur="750"/>
                        <p:tgtEl>
                          <p:spTgt spid="7"/>
                        </p:tgtEl>
                      </p:cBhvr>
                    </p:animEffect>
                  </p:childTnLst>
                </p:cTn>
              </p:par>
            </p:tnLst>
          </p:tmpl>
        </p:tmplLst>
      </p:bldP>
    </p:bld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8" name="矩形"/>
          <p:cNvSpPr/>
          <p:nvPr/>
        </p:nvSpPr>
        <p:spPr>
          <a:xfrm>
            <a:off x="-3743" y="80319"/>
            <a:ext cx="2287872" cy="5401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9" name="矩形"/>
          <p:cNvSpPr/>
          <p:nvPr/>
        </p:nvSpPr>
        <p:spPr>
          <a:xfrm>
            <a:off x="2284129" y="80319"/>
            <a:ext cx="2287872" cy="5401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6" name="矩形"/>
          <p:cNvSpPr/>
          <p:nvPr userDrawn="1"/>
        </p:nvSpPr>
        <p:spPr>
          <a:xfrm>
            <a:off x="110557" y="309456"/>
            <a:ext cx="235878" cy="246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rgbClr val="C71C1C"/>
              </a:solidFill>
            </a:endParaRPr>
          </a:p>
        </p:txBody>
      </p:sp>
      <p:sp>
        <p:nvSpPr>
          <p:cNvPr id="3" name="标题占位符"/>
          <p:cNvSpPr>
            <a:spLocks noGrp="1"/>
          </p:cNvSpPr>
          <p:nvPr>
            <p:ph type="body" sz="quarter" idx="10" hasCustomPrompt="1"/>
          </p:nvPr>
        </p:nvSpPr>
        <p:spPr>
          <a:xfrm>
            <a:off x="429992" y="234449"/>
            <a:ext cx="6897908" cy="415498"/>
          </a:xfrm>
          <a:prstGeom prst="rect">
            <a:avLst/>
          </a:prstGeom>
        </p:spPr>
        <p:txBody>
          <a:bodyPr wrap="square" anchor="ctr">
            <a:spAutoFit/>
          </a:bodyPr>
          <a:lstStyle>
            <a:lvl1pPr marL="0" indent="0" algn="l">
              <a:lnSpc>
                <a:spcPct val="100000"/>
              </a:lnSpc>
              <a:buFontTx/>
              <a:buNone/>
              <a:defRPr lang="zh-CN" altLang="en-US" sz="2100" b="1" spc="225" dirty="0" smtClean="0">
                <a:solidFill>
                  <a:schemeClr val="tx1">
                    <a:lumMod val="95000"/>
                    <a:lumOff val="5000"/>
                  </a:schemeClr>
                </a:solidFill>
                <a:latin typeface="+mn-ea"/>
              </a:defRPr>
            </a:lvl1pPr>
          </a:lstStyle>
          <a:p>
            <a:pPr marL="0" lvl="0"/>
            <a:r>
              <a:rPr lang="zh-CN" altLang="en-US" dirty="0"/>
              <a:t>点击添加标题</a:t>
            </a:r>
            <a:endParaRPr lang="zh-CN" altLang="en-US" dirty="0"/>
          </a:p>
        </p:txBody>
      </p:sp>
      <p:sp>
        <p:nvSpPr>
          <p:cNvPr id="4" name="文本占位符 3"/>
          <p:cNvSpPr>
            <a:spLocks noGrp="1"/>
          </p:cNvSpPr>
          <p:nvPr>
            <p:ph type="body" sz="quarter" idx="11"/>
          </p:nvPr>
        </p:nvSpPr>
        <p:spPr>
          <a:xfrm>
            <a:off x="627064" y="1009651"/>
            <a:ext cx="7615237" cy="3545681"/>
          </a:xfrm>
          <a:prstGeom prst="rect">
            <a:avLst/>
          </a:prstGeo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3"/>
          <p:cNvSpPr>
            <a:spLocks noGrp="1"/>
          </p:cNvSpPr>
          <p:nvPr>
            <p:ph type="dt" sz="half" idx="12"/>
          </p:nvPr>
        </p:nvSpPr>
        <p:spPr>
          <a:xfrm>
            <a:off x="6727032" y="4805958"/>
            <a:ext cx="1920240" cy="274320"/>
          </a:xfrm>
          <a:prstGeom prst="rect">
            <a:avLst/>
          </a:prstGeom>
        </p:spPr>
        <p:txBody>
          <a:bodyPr/>
          <a:lstStyle>
            <a:lvl1pPr>
              <a:defRPr sz="1200"/>
            </a:lvl1pPr>
          </a:lstStyle>
          <a:p>
            <a:endParaRPr lang="zh-CN" altLang="en-US"/>
          </a:p>
        </p:txBody>
      </p:sp>
      <p:sp>
        <p:nvSpPr>
          <p:cNvPr id="10" name="页脚占位符 4"/>
          <p:cNvSpPr>
            <a:spLocks noGrp="1"/>
          </p:cNvSpPr>
          <p:nvPr>
            <p:ph type="ftr" sz="quarter" idx="13"/>
          </p:nvPr>
        </p:nvSpPr>
        <p:spPr>
          <a:xfrm>
            <a:off x="4380074" y="4805960"/>
            <a:ext cx="2350681" cy="273844"/>
          </a:xfrm>
          <a:prstGeom prst="rect">
            <a:avLst/>
          </a:prstGeom>
        </p:spPr>
        <p:txBody>
          <a:bodyPr/>
          <a:lstStyle>
            <a:lvl1pPr>
              <a:defRPr sz="1200"/>
            </a:lvl1pPr>
          </a:lstStyle>
          <a:p>
            <a:endParaRPr lang="zh-CN" altLang="en-US" dirty="0"/>
          </a:p>
        </p:txBody>
      </p:sp>
      <p:sp>
        <p:nvSpPr>
          <p:cNvPr id="11" name="灯片编号占位符 5"/>
          <p:cNvSpPr>
            <a:spLocks noGrp="1"/>
          </p:cNvSpPr>
          <p:nvPr>
            <p:ph type="sldNum" sz="quarter" idx="14"/>
          </p:nvPr>
        </p:nvSpPr>
        <p:spPr>
          <a:xfrm>
            <a:off x="8461830" y="4805960"/>
            <a:ext cx="551203" cy="273844"/>
          </a:xfrm>
          <a:prstGeom prst="rect">
            <a:avLst/>
          </a:prstGeom>
        </p:spPr>
        <p:txBody>
          <a:bodyPr/>
          <a:lstStyle>
            <a:lvl1pPr>
              <a:defRPr sz="1050"/>
            </a:lvl1pPr>
          </a:lstStyle>
          <a:p>
            <a:fld id="{0C913308-F349-4B6D-A68A-DD1791B4A57B}" type="slidenum">
              <a:rPr lang="zh-CN" altLang="en-US" smtClean="0"/>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wipe(right)">
                                      <p:cBhvr>
                                        <p:cTn id="10" dur="500"/>
                                        <p:tgtEl>
                                          <p:spTgt spid="9"/>
                                        </p:tgtEl>
                                      </p:cBhvr>
                                    </p:animEffect>
                                  </p:childTnLst>
                                </p:cTn>
                              </p:par>
                              <p:par>
                                <p:cTn id="11" presetID="23" presetClass="entr" presetSubtype="16"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500" fill="hold"/>
                                        <p:tgtEl>
                                          <p:spTgt spid="6"/>
                                        </p:tgtEl>
                                        <p:attrNameLst>
                                          <p:attrName>ppt_w</p:attrName>
                                        </p:attrNameLst>
                                      </p:cBhvr>
                                      <p:tavLst>
                                        <p:tav tm="0">
                                          <p:val>
                                            <p:fltVal val="0"/>
                                          </p:val>
                                        </p:tav>
                                        <p:tav tm="100000">
                                          <p:val>
                                            <p:strVal val="#ppt_w"/>
                                          </p:val>
                                        </p:tav>
                                      </p:tavLst>
                                    </p:anim>
                                    <p:anim calcmode="lin" valueType="num">
                                      <p:cBhvr>
                                        <p:cTn id="14" dur="500" fill="hold"/>
                                        <p:tgtEl>
                                          <p:spTgt spid="6"/>
                                        </p:tgtEl>
                                        <p:attrNameLst>
                                          <p:attrName>ppt_h</p:attrName>
                                        </p:attrNameLst>
                                      </p:cBhvr>
                                      <p:tavLst>
                                        <p:tav tm="0">
                                          <p:val>
                                            <p:fltVal val="0"/>
                                          </p:val>
                                        </p:tav>
                                        <p:tav tm="100000">
                                          <p:val>
                                            <p:strVal val="#ppt_h"/>
                                          </p:val>
                                        </p:tav>
                                      </p:tavLst>
                                    </p:anim>
                                  </p:childTnLst>
                                </p:cTn>
                              </p:par>
                            </p:childTnLst>
                          </p:cTn>
                        </p:par>
                        <p:par>
                          <p:cTn id="15" fill="hold">
                            <p:stCondLst>
                              <p:cond delay="500"/>
                            </p:stCondLst>
                            <p:childTnLst>
                              <p:par>
                                <p:cTn id="16" presetID="22" presetClass="entr" presetSubtype="8" fill="hold" grpId="0"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left)">
                                      <p:cBhvr>
                                        <p:cTn id="18" dur="7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6" grpId="0" animBg="1"/>
      <p:bldP spid="3" grpId="0">
        <p:tmplLst>
          <p:tmpl lvl="0">
            <p:tnLst>
              <p:par>
                <p:cTn presetID="22" presetClass="entr" presetSubtype="8" fill="hold" nodeType="after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wipe(left)">
                      <p:cBhvr>
                        <p:cTn dur="750"/>
                        <p:tgtEl>
                          <p:spTgt spid="3"/>
                        </p:tgtEl>
                      </p:cBhvr>
                    </p:animEffect>
                  </p:childTnLst>
                </p:cTn>
              </p:par>
            </p:tnLst>
          </p:tmpl>
        </p:tmplLst>
      </p:bldP>
    </p:bldLst>
  </p:timing>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768097" y="925167"/>
            <a:ext cx="7832833" cy="3806854"/>
          </a:xfrm>
          <a:prstGeom prst="rect">
            <a:avLst/>
          </a:prstGeom>
        </p:spPr>
        <p:txBody>
          <a:bodyPr vert="horz" lIns="45720" tIns="45720" rIns="4572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p:txBody>
      </p:sp>
      <p:sp>
        <p:nvSpPr>
          <p:cNvPr id="4" name="Date Placeholder 3"/>
          <p:cNvSpPr>
            <a:spLocks noGrp="1"/>
          </p:cNvSpPr>
          <p:nvPr>
            <p:ph type="dt" sz="half" idx="2"/>
          </p:nvPr>
        </p:nvSpPr>
        <p:spPr>
          <a:xfrm>
            <a:off x="768096" y="4853028"/>
            <a:ext cx="1615607"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4F2F4983-3602-4E3E-983A-EBA4353A8448}" type="datetime1">
              <a:rPr lang="zh-CN" altLang="en-US" smtClean="0"/>
            </a:fld>
            <a:endParaRPr lang="zh-CN" altLang="en-US"/>
          </a:p>
        </p:txBody>
      </p:sp>
      <p:sp>
        <p:nvSpPr>
          <p:cNvPr id="5" name="Footer Placeholder 4"/>
          <p:cNvSpPr>
            <a:spLocks noGrp="1"/>
          </p:cNvSpPr>
          <p:nvPr>
            <p:ph type="ftr" sz="quarter" idx="3"/>
          </p:nvPr>
        </p:nvSpPr>
        <p:spPr>
          <a:xfrm>
            <a:off x="3632199" y="4853028"/>
            <a:ext cx="4426094" cy="205740"/>
          </a:xfrm>
          <a:prstGeom prst="rect">
            <a:avLst/>
          </a:prstGeom>
        </p:spPr>
        <p:txBody>
          <a:bodyPr vert="horz" lIns="91440" tIns="45720" rIns="91440" bIns="45720" rtlCol="0" anchor="ctr"/>
          <a:lstStyle>
            <a:lvl1pPr algn="r">
              <a:defRPr sz="750" cap="all" baseline="0">
                <a:solidFill>
                  <a:schemeClr val="tx1">
                    <a:lumMod val="90000"/>
                    <a:lumOff val="10000"/>
                  </a:schemeClr>
                </a:solidFill>
                <a:latin typeface="+mj-lt"/>
              </a:defRPr>
            </a:lvl1pPr>
          </a:lstStyle>
          <a:p>
            <a:r>
              <a:rPr lang="zh-CN" altLang="en-US"/>
              <a:t>软件工程</a:t>
            </a:r>
            <a:endParaRPr lang="zh-CN" altLang="en-US"/>
          </a:p>
        </p:txBody>
      </p:sp>
      <p:sp>
        <p:nvSpPr>
          <p:cNvPr id="6" name="Slide Number Placeholder 5"/>
          <p:cNvSpPr>
            <a:spLocks noGrp="1"/>
          </p:cNvSpPr>
          <p:nvPr>
            <p:ph type="sldNum" sz="quarter" idx="4"/>
          </p:nvPr>
        </p:nvSpPr>
        <p:spPr>
          <a:xfrm>
            <a:off x="8128000" y="4853028"/>
            <a:ext cx="730250" cy="205740"/>
          </a:xfrm>
          <a:prstGeom prst="rect">
            <a:avLst/>
          </a:prstGeom>
        </p:spPr>
        <p:txBody>
          <a:bodyPr vert="horz" lIns="91440" tIns="45720" rIns="91440" bIns="45720" rtlCol="0" anchor="ctr"/>
          <a:lstStyle>
            <a:lvl1pPr algn="l">
              <a:defRPr sz="750">
                <a:solidFill>
                  <a:schemeClr val="tx1">
                    <a:lumMod val="90000"/>
                    <a:lumOff val="10000"/>
                  </a:schemeClr>
                </a:solidFill>
                <a:latin typeface="+mj-lt"/>
              </a:defRPr>
            </a:lvl1pPr>
          </a:lstStyle>
          <a:p>
            <a:fld id="{F528F39D-B5E5-4CA7-906C-979D5A62978D}" type="slidenum">
              <a:rPr lang="zh-CN" altLang="en-US" smtClean="0"/>
            </a:fld>
            <a:endParaRPr lang="zh-CN" altLang="en-US"/>
          </a:p>
        </p:txBody>
      </p:sp>
      <p:cxnSp>
        <p:nvCxnSpPr>
          <p:cNvPr id="7" name="Straight Connector 6"/>
          <p:cNvCxnSpPr/>
          <p:nvPr/>
        </p:nvCxnSpPr>
        <p:spPr>
          <a:xfrm flipV="1">
            <a:off x="571500" y="61974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Rectangle 6"/>
          <p:cNvSpPr/>
          <p:nvPr userDrawn="1"/>
        </p:nvSpPr>
        <p:spPr>
          <a:xfrm>
            <a:off x="0" y="4647686"/>
            <a:ext cx="9144000" cy="495815"/>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6"/>
          <p:cNvSpPr/>
          <p:nvPr userDrawn="1"/>
        </p:nvSpPr>
        <p:spPr>
          <a:xfrm>
            <a:off x="0" y="-23309"/>
            <a:ext cx="9144000" cy="803434"/>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10" name="图片 9"/>
          <p:cNvPicPr>
            <a:picLocks noChangeAspect="1"/>
          </p:cNvPicPr>
          <p:nvPr userDrawn="1"/>
        </p:nvPicPr>
        <p:blipFill>
          <a:blip r:embed="rId13"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225316" y="-9943"/>
            <a:ext cx="692368" cy="692368"/>
          </a:xfrm>
          <a:prstGeom prst="rect">
            <a:avLst/>
          </a:prstGeom>
        </p:spPr>
      </p:pic>
      <p:sp>
        <p:nvSpPr>
          <p:cNvPr id="2" name="Title Placeholder 1"/>
          <p:cNvSpPr>
            <a:spLocks noGrp="1"/>
          </p:cNvSpPr>
          <p:nvPr>
            <p:ph type="title"/>
          </p:nvPr>
        </p:nvSpPr>
        <p:spPr>
          <a:xfrm>
            <a:off x="1094321" y="0"/>
            <a:ext cx="7763929" cy="82891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l" defTabSz="685800" rtl="0" eaLnBrk="1" latinLnBrk="0" hangingPunct="1">
        <a:lnSpc>
          <a:spcPct val="80000"/>
        </a:lnSpc>
        <a:spcBef>
          <a:spcPct val="0"/>
        </a:spcBef>
        <a:buNone/>
        <a:defRPr sz="2800" b="1" kern="1200" cap="all" spc="75" baseline="0">
          <a:solidFill>
            <a:schemeClr val="bg1"/>
          </a:solidFill>
          <a:latin typeface="+mj-lt"/>
          <a:ea typeface="+mj-ea"/>
          <a:cs typeface="+mj-cs"/>
        </a:defRPr>
      </a:lvl1pPr>
    </p:titleStyle>
    <p:bodyStyle>
      <a:lvl1pPr marL="68580" indent="-431800" algn="just" defTabSz="685800" rtl="0" eaLnBrk="1" latinLnBrk="0" hangingPunct="1">
        <a:lnSpc>
          <a:spcPct val="110000"/>
        </a:lnSpc>
        <a:spcBef>
          <a:spcPts val="1200"/>
        </a:spcBef>
        <a:spcAft>
          <a:spcPts val="0"/>
        </a:spcAft>
        <a:buClr>
          <a:schemeClr val="accent1"/>
        </a:buClr>
        <a:buSzPct val="80000"/>
        <a:buFont typeface="Arial" panose="020B0604020202020204" pitchFamily="34" charset="0"/>
        <a:buChar char="֍"/>
        <a:defRPr sz="2800" kern="1200">
          <a:solidFill>
            <a:schemeClr val="tx2">
              <a:lumMod val="90000"/>
              <a:lumOff val="10000"/>
            </a:schemeClr>
          </a:solidFill>
          <a:latin typeface="+mj-ea"/>
          <a:ea typeface="+mj-ea"/>
          <a:cs typeface="+mn-cs"/>
        </a:defRPr>
      </a:lvl1pPr>
      <a:lvl2pPr marL="720090" indent="-360045" algn="just" defTabSz="685800" rtl="0" eaLnBrk="1" latinLnBrk="0" hangingPunct="1">
        <a:lnSpc>
          <a:spcPct val="110000"/>
        </a:lnSpc>
        <a:spcBef>
          <a:spcPts val="1200"/>
        </a:spcBef>
        <a:spcAft>
          <a:spcPts val="0"/>
        </a:spcAft>
        <a:buClr>
          <a:schemeClr val="accent2"/>
        </a:buClr>
        <a:buFont typeface="Arial" panose="020B0604020202020204" pitchFamily="34" charset="0"/>
        <a:buChar char="→"/>
        <a:defRPr sz="2400" kern="1200">
          <a:solidFill>
            <a:schemeClr val="tx2">
              <a:lumMod val="90000"/>
              <a:lumOff val="10000"/>
            </a:schemeClr>
          </a:solidFill>
          <a:latin typeface="+mj-ea"/>
          <a:ea typeface="+mj-ea"/>
          <a:cs typeface="+mn-cs"/>
        </a:defRPr>
      </a:lvl2pPr>
      <a:lvl3pPr marL="1080135" indent="-288290" algn="just" defTabSz="685800" rtl="0" eaLnBrk="1" latinLnBrk="0" hangingPunct="1">
        <a:lnSpc>
          <a:spcPct val="110000"/>
        </a:lnSpc>
        <a:spcBef>
          <a:spcPts val="1200"/>
        </a:spcBef>
        <a:spcAft>
          <a:spcPts val="0"/>
        </a:spcAft>
        <a:buClr>
          <a:schemeClr val="accent2"/>
        </a:buClr>
        <a:buFont typeface="Wingdings 3" panose="05040102010807070707" pitchFamily="18" charset="2"/>
        <a:buChar char=""/>
        <a:defRPr sz="2000" kern="1200">
          <a:solidFill>
            <a:schemeClr val="tx2">
              <a:lumMod val="90000"/>
              <a:lumOff val="10000"/>
            </a:schemeClr>
          </a:solidFill>
          <a:latin typeface="+mj-ea"/>
          <a:ea typeface="+mj-ea"/>
          <a:cs typeface="+mn-cs"/>
        </a:defRPr>
      </a:lvl3pPr>
      <a:lvl4pPr marL="44577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4pPr>
      <a:lvl5pPr marL="582930" indent="-102870" algn="l" defTabSz="685800" rtl="0" eaLnBrk="1" latinLnBrk="0" hangingPunct="1">
        <a:lnSpc>
          <a:spcPct val="90000"/>
        </a:lnSpc>
        <a:spcBef>
          <a:spcPts val="600"/>
        </a:spcBef>
        <a:spcAft>
          <a:spcPts val="300"/>
        </a:spcAft>
        <a:buClr>
          <a:schemeClr val="accent2"/>
        </a:buClr>
        <a:buFont typeface="Wingdings 3" panose="05040102010807070707" pitchFamily="18" charset="2"/>
        <a:buChar char=""/>
        <a:defRPr sz="2000" kern="1200">
          <a:solidFill>
            <a:schemeClr val="tx2">
              <a:lumMod val="90000"/>
              <a:lumOff val="10000"/>
            </a:schemeClr>
          </a:solidFill>
          <a:latin typeface="+mn-lt"/>
          <a:ea typeface="+mn-ea"/>
          <a:cs typeface="+mn-cs"/>
        </a:defRPr>
      </a:lvl5pPr>
      <a:lvl6pPr marL="68580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6pPr>
      <a:lvl7pPr marL="79565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7pPr>
      <a:lvl8pPr marL="911860"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8pPr>
      <a:lvl9pPr marL="1021715" indent="-102870" algn="l" defTabSz="685800" rtl="0" eaLnBrk="1" latinLnBrk="0" hangingPunct="1">
        <a:lnSpc>
          <a:spcPct val="90000"/>
        </a:lnSpc>
        <a:spcBef>
          <a:spcPts val="150"/>
        </a:spcBef>
        <a:spcAft>
          <a:spcPts val="300"/>
        </a:spcAft>
        <a:buClr>
          <a:schemeClr val="accent2"/>
        </a:buClr>
        <a:buFont typeface="Wingdings 3" panose="05040102010807070707" pitchFamily="18" charset="2"/>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hyperlink" Target="https://www.cnblogs.com/jetzhang/p/6068773.html%0d" TargetMode="Externa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martinfowler.com/agile.html" TargetMode="Externa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tags" Target="../tags/tag3.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hyperlink" Target="https://zhuanlan.zhihu.com/p/649801148?utm_id=0" TargetMode="External"/><Relationship Id="rId1" Type="http://schemas.openxmlformats.org/officeDocument/2006/relationships/image" Target="../media/image18.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99" Type="http://schemas.openxmlformats.org/officeDocument/2006/relationships/tags" Target="../tags/tag101.xml"/><Relationship Id="rId98" Type="http://schemas.openxmlformats.org/officeDocument/2006/relationships/tags" Target="../tags/tag100.xml"/><Relationship Id="rId97" Type="http://schemas.openxmlformats.org/officeDocument/2006/relationships/tags" Target="../tags/tag99.xml"/><Relationship Id="rId96" Type="http://schemas.openxmlformats.org/officeDocument/2006/relationships/tags" Target="../tags/tag98.xml"/><Relationship Id="rId95" Type="http://schemas.openxmlformats.org/officeDocument/2006/relationships/tags" Target="../tags/tag97.xml"/><Relationship Id="rId94" Type="http://schemas.openxmlformats.org/officeDocument/2006/relationships/tags" Target="../tags/tag96.xml"/><Relationship Id="rId93" Type="http://schemas.openxmlformats.org/officeDocument/2006/relationships/tags" Target="../tags/tag95.xml"/><Relationship Id="rId92" Type="http://schemas.openxmlformats.org/officeDocument/2006/relationships/tags" Target="../tags/tag94.xml"/><Relationship Id="rId91" Type="http://schemas.openxmlformats.org/officeDocument/2006/relationships/tags" Target="../tags/tag93.xml"/><Relationship Id="rId90" Type="http://schemas.openxmlformats.org/officeDocument/2006/relationships/tags" Target="../tags/tag92.xml"/><Relationship Id="rId9" Type="http://schemas.openxmlformats.org/officeDocument/2006/relationships/tags" Target="../tags/tag11.xml"/><Relationship Id="rId89" Type="http://schemas.openxmlformats.org/officeDocument/2006/relationships/tags" Target="../tags/tag91.xml"/><Relationship Id="rId88" Type="http://schemas.openxmlformats.org/officeDocument/2006/relationships/tags" Target="../tags/tag90.xml"/><Relationship Id="rId87" Type="http://schemas.openxmlformats.org/officeDocument/2006/relationships/tags" Target="../tags/tag89.xml"/><Relationship Id="rId86" Type="http://schemas.openxmlformats.org/officeDocument/2006/relationships/tags" Target="../tags/tag88.xml"/><Relationship Id="rId85" Type="http://schemas.openxmlformats.org/officeDocument/2006/relationships/tags" Target="../tags/tag87.xml"/><Relationship Id="rId84" Type="http://schemas.openxmlformats.org/officeDocument/2006/relationships/tags" Target="../tags/tag86.xml"/><Relationship Id="rId83" Type="http://schemas.openxmlformats.org/officeDocument/2006/relationships/tags" Target="../tags/tag85.xml"/><Relationship Id="rId82" Type="http://schemas.openxmlformats.org/officeDocument/2006/relationships/tags" Target="../tags/tag84.xml"/><Relationship Id="rId81" Type="http://schemas.openxmlformats.org/officeDocument/2006/relationships/tags" Target="../tags/tag83.xml"/><Relationship Id="rId80" Type="http://schemas.openxmlformats.org/officeDocument/2006/relationships/tags" Target="../tags/tag82.xml"/><Relationship Id="rId8" Type="http://schemas.openxmlformats.org/officeDocument/2006/relationships/tags" Target="../tags/tag10.xml"/><Relationship Id="rId79" Type="http://schemas.openxmlformats.org/officeDocument/2006/relationships/tags" Target="../tags/tag81.xml"/><Relationship Id="rId78" Type="http://schemas.openxmlformats.org/officeDocument/2006/relationships/tags" Target="../tags/tag80.xml"/><Relationship Id="rId77" Type="http://schemas.openxmlformats.org/officeDocument/2006/relationships/tags" Target="../tags/tag79.xml"/><Relationship Id="rId76" Type="http://schemas.openxmlformats.org/officeDocument/2006/relationships/tags" Target="../tags/tag78.xml"/><Relationship Id="rId75" Type="http://schemas.openxmlformats.org/officeDocument/2006/relationships/tags" Target="../tags/tag77.xml"/><Relationship Id="rId74" Type="http://schemas.openxmlformats.org/officeDocument/2006/relationships/tags" Target="../tags/tag76.xml"/><Relationship Id="rId73" Type="http://schemas.openxmlformats.org/officeDocument/2006/relationships/tags" Target="../tags/tag75.xml"/><Relationship Id="rId72" Type="http://schemas.openxmlformats.org/officeDocument/2006/relationships/tags" Target="../tags/tag74.xml"/><Relationship Id="rId71" Type="http://schemas.openxmlformats.org/officeDocument/2006/relationships/tags" Target="../tags/tag73.xml"/><Relationship Id="rId70" Type="http://schemas.openxmlformats.org/officeDocument/2006/relationships/tags" Target="../tags/tag72.xml"/><Relationship Id="rId7" Type="http://schemas.openxmlformats.org/officeDocument/2006/relationships/tags" Target="../tags/tag9.xml"/><Relationship Id="rId69" Type="http://schemas.openxmlformats.org/officeDocument/2006/relationships/tags" Target="../tags/tag71.xml"/><Relationship Id="rId68" Type="http://schemas.openxmlformats.org/officeDocument/2006/relationships/tags" Target="../tags/tag70.xml"/><Relationship Id="rId67" Type="http://schemas.openxmlformats.org/officeDocument/2006/relationships/tags" Target="../tags/tag69.xml"/><Relationship Id="rId66" Type="http://schemas.openxmlformats.org/officeDocument/2006/relationships/tags" Target="../tags/tag68.xml"/><Relationship Id="rId65" Type="http://schemas.openxmlformats.org/officeDocument/2006/relationships/tags" Target="../tags/tag67.xml"/><Relationship Id="rId64" Type="http://schemas.openxmlformats.org/officeDocument/2006/relationships/tags" Target="../tags/tag66.xml"/><Relationship Id="rId63" Type="http://schemas.openxmlformats.org/officeDocument/2006/relationships/tags" Target="../tags/tag65.xml"/><Relationship Id="rId62" Type="http://schemas.openxmlformats.org/officeDocument/2006/relationships/tags" Target="../tags/tag64.xml"/><Relationship Id="rId61" Type="http://schemas.openxmlformats.org/officeDocument/2006/relationships/tags" Target="../tags/tag63.xml"/><Relationship Id="rId60" Type="http://schemas.openxmlformats.org/officeDocument/2006/relationships/tags" Target="../tags/tag62.xml"/><Relationship Id="rId6" Type="http://schemas.openxmlformats.org/officeDocument/2006/relationships/tags" Target="../tags/tag8.xml"/><Relationship Id="rId59" Type="http://schemas.openxmlformats.org/officeDocument/2006/relationships/tags" Target="../tags/tag61.xml"/><Relationship Id="rId58" Type="http://schemas.openxmlformats.org/officeDocument/2006/relationships/tags" Target="../tags/tag60.xml"/><Relationship Id="rId57" Type="http://schemas.openxmlformats.org/officeDocument/2006/relationships/tags" Target="../tags/tag59.xml"/><Relationship Id="rId56" Type="http://schemas.openxmlformats.org/officeDocument/2006/relationships/tags" Target="../tags/tag58.xml"/><Relationship Id="rId55" Type="http://schemas.openxmlformats.org/officeDocument/2006/relationships/tags" Target="../tags/tag57.xml"/><Relationship Id="rId54" Type="http://schemas.openxmlformats.org/officeDocument/2006/relationships/tags" Target="../tags/tag56.xml"/><Relationship Id="rId53" Type="http://schemas.openxmlformats.org/officeDocument/2006/relationships/tags" Target="../tags/tag55.xml"/><Relationship Id="rId52" Type="http://schemas.openxmlformats.org/officeDocument/2006/relationships/tags" Target="../tags/tag54.xml"/><Relationship Id="rId51" Type="http://schemas.openxmlformats.org/officeDocument/2006/relationships/tags" Target="../tags/tag53.xml"/><Relationship Id="rId50" Type="http://schemas.openxmlformats.org/officeDocument/2006/relationships/tags" Target="../tags/tag52.xml"/><Relationship Id="rId5" Type="http://schemas.openxmlformats.org/officeDocument/2006/relationships/tags" Target="../tags/tag7.xml"/><Relationship Id="rId49" Type="http://schemas.openxmlformats.org/officeDocument/2006/relationships/tags" Target="../tags/tag51.xml"/><Relationship Id="rId48" Type="http://schemas.openxmlformats.org/officeDocument/2006/relationships/tags" Target="../tags/tag50.xml"/><Relationship Id="rId47" Type="http://schemas.openxmlformats.org/officeDocument/2006/relationships/tags" Target="../tags/tag49.xml"/><Relationship Id="rId46" Type="http://schemas.openxmlformats.org/officeDocument/2006/relationships/tags" Target="../tags/tag48.xml"/><Relationship Id="rId45" Type="http://schemas.openxmlformats.org/officeDocument/2006/relationships/tags" Target="../tags/tag47.xml"/><Relationship Id="rId44" Type="http://schemas.openxmlformats.org/officeDocument/2006/relationships/tags" Target="../tags/tag46.xml"/><Relationship Id="rId43" Type="http://schemas.openxmlformats.org/officeDocument/2006/relationships/tags" Target="../tags/tag45.xml"/><Relationship Id="rId42" Type="http://schemas.openxmlformats.org/officeDocument/2006/relationships/tags" Target="../tags/tag44.xml"/><Relationship Id="rId41" Type="http://schemas.openxmlformats.org/officeDocument/2006/relationships/tags" Target="../tags/tag43.xml"/><Relationship Id="rId40" Type="http://schemas.openxmlformats.org/officeDocument/2006/relationships/tags" Target="../tags/tag42.xml"/><Relationship Id="rId4" Type="http://schemas.openxmlformats.org/officeDocument/2006/relationships/tags" Target="../tags/tag6.xml"/><Relationship Id="rId39" Type="http://schemas.openxmlformats.org/officeDocument/2006/relationships/tags" Target="../tags/tag41.xml"/><Relationship Id="rId38" Type="http://schemas.openxmlformats.org/officeDocument/2006/relationships/tags" Target="../tags/tag40.xml"/><Relationship Id="rId37" Type="http://schemas.openxmlformats.org/officeDocument/2006/relationships/tags" Target="../tags/tag39.xml"/><Relationship Id="rId36" Type="http://schemas.openxmlformats.org/officeDocument/2006/relationships/tags" Target="../tags/tag38.xml"/><Relationship Id="rId35" Type="http://schemas.openxmlformats.org/officeDocument/2006/relationships/tags" Target="../tags/tag37.xml"/><Relationship Id="rId34" Type="http://schemas.openxmlformats.org/officeDocument/2006/relationships/tags" Target="../tags/tag36.xml"/><Relationship Id="rId33" Type="http://schemas.openxmlformats.org/officeDocument/2006/relationships/tags" Target="../tags/tag35.xml"/><Relationship Id="rId32" Type="http://schemas.openxmlformats.org/officeDocument/2006/relationships/tags" Target="../tags/tag34.xml"/><Relationship Id="rId31" Type="http://schemas.openxmlformats.org/officeDocument/2006/relationships/tags" Target="../tags/tag33.xml"/><Relationship Id="rId30" Type="http://schemas.openxmlformats.org/officeDocument/2006/relationships/tags" Target="../tags/tag32.xml"/><Relationship Id="rId3" Type="http://schemas.openxmlformats.org/officeDocument/2006/relationships/tags" Target="../tags/tag5.xml"/><Relationship Id="rId29" Type="http://schemas.openxmlformats.org/officeDocument/2006/relationships/tags" Target="../tags/tag31.xml"/><Relationship Id="rId28" Type="http://schemas.openxmlformats.org/officeDocument/2006/relationships/tags" Target="../tags/tag30.xml"/><Relationship Id="rId27" Type="http://schemas.openxmlformats.org/officeDocument/2006/relationships/tags" Target="../tags/tag29.xml"/><Relationship Id="rId26" Type="http://schemas.openxmlformats.org/officeDocument/2006/relationships/tags" Target="../tags/tag28.xml"/><Relationship Id="rId25" Type="http://schemas.openxmlformats.org/officeDocument/2006/relationships/tags" Target="../tags/tag27.xml"/><Relationship Id="rId24" Type="http://schemas.openxmlformats.org/officeDocument/2006/relationships/tags" Target="../tags/tag26.xml"/><Relationship Id="rId23" Type="http://schemas.openxmlformats.org/officeDocument/2006/relationships/tags" Target="../tags/tag25.xml"/><Relationship Id="rId22" Type="http://schemas.openxmlformats.org/officeDocument/2006/relationships/tags" Target="../tags/tag24.xml"/><Relationship Id="rId21" Type="http://schemas.openxmlformats.org/officeDocument/2006/relationships/tags" Target="../tags/tag23.xml"/><Relationship Id="rId20" Type="http://schemas.openxmlformats.org/officeDocument/2006/relationships/tags" Target="../tags/tag22.xml"/><Relationship Id="rId2" Type="http://schemas.openxmlformats.org/officeDocument/2006/relationships/image" Target="../media/image20.png"/><Relationship Id="rId19" Type="http://schemas.openxmlformats.org/officeDocument/2006/relationships/tags" Target="../tags/tag21.xml"/><Relationship Id="rId18" Type="http://schemas.openxmlformats.org/officeDocument/2006/relationships/tags" Target="../tags/tag20.xml"/><Relationship Id="rId17" Type="http://schemas.openxmlformats.org/officeDocument/2006/relationships/tags" Target="../tags/tag19.xml"/><Relationship Id="rId16" Type="http://schemas.openxmlformats.org/officeDocument/2006/relationships/tags" Target="../tags/tag18.xml"/><Relationship Id="rId15" Type="http://schemas.openxmlformats.org/officeDocument/2006/relationships/tags" Target="../tags/tag17.xml"/><Relationship Id="rId14" Type="http://schemas.openxmlformats.org/officeDocument/2006/relationships/tags" Target="../tags/tag16.xml"/><Relationship Id="rId13" Type="http://schemas.openxmlformats.org/officeDocument/2006/relationships/tags" Target="../tags/tag15.xml"/><Relationship Id="rId121" Type="http://schemas.openxmlformats.org/officeDocument/2006/relationships/slideLayout" Target="../slideLayouts/slideLayout2.xml"/><Relationship Id="rId120" Type="http://schemas.openxmlformats.org/officeDocument/2006/relationships/tags" Target="../tags/tag122.xml"/><Relationship Id="rId12" Type="http://schemas.openxmlformats.org/officeDocument/2006/relationships/tags" Target="../tags/tag14.xml"/><Relationship Id="rId119" Type="http://schemas.openxmlformats.org/officeDocument/2006/relationships/tags" Target="../tags/tag121.xml"/><Relationship Id="rId118" Type="http://schemas.openxmlformats.org/officeDocument/2006/relationships/tags" Target="../tags/tag120.xml"/><Relationship Id="rId117" Type="http://schemas.openxmlformats.org/officeDocument/2006/relationships/tags" Target="../tags/tag119.xml"/><Relationship Id="rId116" Type="http://schemas.openxmlformats.org/officeDocument/2006/relationships/tags" Target="../tags/tag118.xml"/><Relationship Id="rId115" Type="http://schemas.openxmlformats.org/officeDocument/2006/relationships/tags" Target="../tags/tag117.xml"/><Relationship Id="rId114" Type="http://schemas.openxmlformats.org/officeDocument/2006/relationships/tags" Target="../tags/tag116.xml"/><Relationship Id="rId113" Type="http://schemas.openxmlformats.org/officeDocument/2006/relationships/tags" Target="../tags/tag115.xml"/><Relationship Id="rId112" Type="http://schemas.openxmlformats.org/officeDocument/2006/relationships/tags" Target="../tags/tag114.xml"/><Relationship Id="rId111" Type="http://schemas.openxmlformats.org/officeDocument/2006/relationships/tags" Target="../tags/tag113.xml"/><Relationship Id="rId110" Type="http://schemas.openxmlformats.org/officeDocument/2006/relationships/tags" Target="../tags/tag112.xml"/><Relationship Id="rId11" Type="http://schemas.openxmlformats.org/officeDocument/2006/relationships/tags" Target="../tags/tag13.xml"/><Relationship Id="rId109" Type="http://schemas.openxmlformats.org/officeDocument/2006/relationships/tags" Target="../tags/tag111.xml"/><Relationship Id="rId108" Type="http://schemas.openxmlformats.org/officeDocument/2006/relationships/tags" Target="../tags/tag110.xml"/><Relationship Id="rId107" Type="http://schemas.openxmlformats.org/officeDocument/2006/relationships/tags" Target="../tags/tag109.xml"/><Relationship Id="rId106" Type="http://schemas.openxmlformats.org/officeDocument/2006/relationships/tags" Target="../tags/tag108.xml"/><Relationship Id="rId105" Type="http://schemas.openxmlformats.org/officeDocument/2006/relationships/tags" Target="../tags/tag107.xml"/><Relationship Id="rId104" Type="http://schemas.openxmlformats.org/officeDocument/2006/relationships/tags" Target="../tags/tag106.xml"/><Relationship Id="rId103" Type="http://schemas.openxmlformats.org/officeDocument/2006/relationships/tags" Target="../tags/tag105.xml"/><Relationship Id="rId102" Type="http://schemas.openxmlformats.org/officeDocument/2006/relationships/tags" Target="../tags/tag104.xml"/><Relationship Id="rId101" Type="http://schemas.openxmlformats.org/officeDocument/2006/relationships/tags" Target="../tags/tag103.xml"/><Relationship Id="rId100" Type="http://schemas.openxmlformats.org/officeDocument/2006/relationships/tags" Target="../tags/tag102.xml"/><Relationship Id="rId10" Type="http://schemas.openxmlformats.org/officeDocument/2006/relationships/tags" Target="../tags/tag12.xml"/><Relationship Id="rId1" Type="http://schemas.openxmlformats.org/officeDocument/2006/relationships/tags" Target="../tags/tag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3.png"/></Relationships>
</file>

<file path=ppt/slides/_rels/slide38.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2.xml"/><Relationship Id="rId2" Type="http://schemas.openxmlformats.org/officeDocument/2006/relationships/image" Target="../media/image25.png"/><Relationship Id="rId1"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6.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7" Type="http://schemas.openxmlformats.org/officeDocument/2006/relationships/notesSlide" Target="../notesSlides/notesSlide23.xml"/><Relationship Id="rId6" Type="http://schemas.openxmlformats.org/officeDocument/2006/relationships/slideLayout" Target="../slideLayouts/slideLayout1.xml"/><Relationship Id="rId5" Type="http://schemas.openxmlformats.org/officeDocument/2006/relationships/hyperlink" Target="http://en.wikipedia.org/wiki/Respect" TargetMode="External"/><Relationship Id="rId4" Type="http://schemas.openxmlformats.org/officeDocument/2006/relationships/hyperlink" Target="http://en.wikipedia.org/wiki/Courage" TargetMode="External"/><Relationship Id="rId3" Type="http://schemas.openxmlformats.org/officeDocument/2006/relationships/hyperlink" Target="http://en.wikipedia.org/wiki/Feedback" TargetMode="External"/><Relationship Id="rId2" Type="http://schemas.openxmlformats.org/officeDocument/2006/relationships/hyperlink" Target="http://en.wikipedia.org/wiki/Simplicity" TargetMode="External"/><Relationship Id="rId1" Type="http://schemas.openxmlformats.org/officeDocument/2006/relationships/image" Target="../media/image33.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6" Type="http://schemas.openxmlformats.org/officeDocument/2006/relationships/notesSlide" Target="../notesSlides/notesSlide27.xml"/><Relationship Id="rId5" Type="http://schemas.openxmlformats.org/officeDocument/2006/relationships/slideLayout" Target="../slideLayouts/slideLayout2.xml"/><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34.png"/></Relationships>
</file>

<file path=ppt/slides/_rels/slide7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2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9" Type="http://schemas.openxmlformats.org/officeDocument/2006/relationships/tags" Target="../tags/tag132.xml"/><Relationship Id="rId8" Type="http://schemas.openxmlformats.org/officeDocument/2006/relationships/tags" Target="../tags/tag131.xml"/><Relationship Id="rId7" Type="http://schemas.openxmlformats.org/officeDocument/2006/relationships/tags" Target="../tags/tag130.xml"/><Relationship Id="rId6" Type="http://schemas.openxmlformats.org/officeDocument/2006/relationships/tags" Target="../tags/tag129.xml"/><Relationship Id="rId5" Type="http://schemas.openxmlformats.org/officeDocument/2006/relationships/tags" Target="../tags/tag128.xml"/><Relationship Id="rId4" Type="http://schemas.openxmlformats.org/officeDocument/2006/relationships/tags" Target="../tags/tag127.xml"/><Relationship Id="rId3" Type="http://schemas.openxmlformats.org/officeDocument/2006/relationships/tags" Target="../tags/tag126.xml"/><Relationship Id="rId20" Type="http://schemas.openxmlformats.org/officeDocument/2006/relationships/notesSlide" Target="../notesSlides/notesSlide28.xml"/><Relationship Id="rId2" Type="http://schemas.openxmlformats.org/officeDocument/2006/relationships/tags" Target="../tags/tag125.xml"/><Relationship Id="rId19" Type="http://schemas.openxmlformats.org/officeDocument/2006/relationships/slideLayout" Target="../slideLayouts/slideLayout9.xml"/><Relationship Id="rId18" Type="http://schemas.openxmlformats.org/officeDocument/2006/relationships/tags" Target="../tags/tag140.xml"/><Relationship Id="rId17" Type="http://schemas.openxmlformats.org/officeDocument/2006/relationships/image" Target="../media/image38.png"/><Relationship Id="rId16" Type="http://schemas.openxmlformats.org/officeDocument/2006/relationships/tags" Target="../tags/tag139.xml"/><Relationship Id="rId15" Type="http://schemas.openxmlformats.org/officeDocument/2006/relationships/tags" Target="../tags/tag138.xml"/><Relationship Id="rId14" Type="http://schemas.openxmlformats.org/officeDocument/2006/relationships/tags" Target="../tags/tag137.xml"/><Relationship Id="rId13" Type="http://schemas.openxmlformats.org/officeDocument/2006/relationships/tags" Target="../tags/tag136.xml"/><Relationship Id="rId12" Type="http://schemas.openxmlformats.org/officeDocument/2006/relationships/tags" Target="../tags/tag135.xml"/><Relationship Id="rId11" Type="http://schemas.openxmlformats.org/officeDocument/2006/relationships/tags" Target="../tags/tag134.xml"/><Relationship Id="rId10" Type="http://schemas.openxmlformats.org/officeDocument/2006/relationships/tags" Target="../tags/tag133.xml"/><Relationship Id="rId1" Type="http://schemas.openxmlformats.org/officeDocument/2006/relationships/tags" Target="../tags/tag124.xml"/></Relationships>
</file>

<file path=ppt/slides/_rels/slide80.xml.rels><?xml version="1.0" encoding="UTF-8" standalone="yes"?>
<Relationships xmlns="http://schemas.openxmlformats.org/package/2006/relationships"><Relationship Id="rId9" Type="http://schemas.openxmlformats.org/officeDocument/2006/relationships/tags" Target="../tags/tag149.xml"/><Relationship Id="rId8" Type="http://schemas.openxmlformats.org/officeDocument/2006/relationships/tags" Target="../tags/tag148.xml"/><Relationship Id="rId7" Type="http://schemas.openxmlformats.org/officeDocument/2006/relationships/tags" Target="../tags/tag147.xml"/><Relationship Id="rId6" Type="http://schemas.openxmlformats.org/officeDocument/2006/relationships/tags" Target="../tags/tag146.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tags" Target="../tags/tag143.xml"/><Relationship Id="rId20" Type="http://schemas.openxmlformats.org/officeDocument/2006/relationships/notesSlide" Target="../notesSlides/notesSlide29.xml"/><Relationship Id="rId2" Type="http://schemas.openxmlformats.org/officeDocument/2006/relationships/tags" Target="../tags/tag142.xml"/><Relationship Id="rId19" Type="http://schemas.openxmlformats.org/officeDocument/2006/relationships/slideLayout" Target="../slideLayouts/slideLayout9.xml"/><Relationship Id="rId18" Type="http://schemas.openxmlformats.org/officeDocument/2006/relationships/tags" Target="../tags/tag157.xml"/><Relationship Id="rId17" Type="http://schemas.openxmlformats.org/officeDocument/2006/relationships/image" Target="../media/image38.png"/><Relationship Id="rId16" Type="http://schemas.openxmlformats.org/officeDocument/2006/relationships/tags" Target="../tags/tag156.xml"/><Relationship Id="rId15" Type="http://schemas.openxmlformats.org/officeDocument/2006/relationships/tags" Target="../tags/tag155.xml"/><Relationship Id="rId14" Type="http://schemas.openxmlformats.org/officeDocument/2006/relationships/tags" Target="../tags/tag154.xml"/><Relationship Id="rId13" Type="http://schemas.openxmlformats.org/officeDocument/2006/relationships/tags" Target="../tags/tag153.xml"/><Relationship Id="rId12" Type="http://schemas.openxmlformats.org/officeDocument/2006/relationships/tags" Target="../tags/tag152.xml"/><Relationship Id="rId11" Type="http://schemas.openxmlformats.org/officeDocument/2006/relationships/tags" Target="../tags/tag151.xml"/><Relationship Id="rId10" Type="http://schemas.openxmlformats.org/officeDocument/2006/relationships/tags" Target="../tags/tag150.xml"/><Relationship Id="rId1" Type="http://schemas.openxmlformats.org/officeDocument/2006/relationships/tags" Target="../tags/tag141.xml"/></Relationships>
</file>

<file path=ppt/slides/_rels/slide81.xml.rels><?xml version="1.0" encoding="UTF-8" standalone="yes"?>
<Relationships xmlns="http://schemas.openxmlformats.org/package/2006/relationships"><Relationship Id="rId9" Type="http://schemas.openxmlformats.org/officeDocument/2006/relationships/tags" Target="../tags/tag166.xml"/><Relationship Id="rId8" Type="http://schemas.openxmlformats.org/officeDocument/2006/relationships/tags" Target="../tags/tag165.xml"/><Relationship Id="rId7" Type="http://schemas.openxmlformats.org/officeDocument/2006/relationships/tags" Target="../tags/tag164.xml"/><Relationship Id="rId6" Type="http://schemas.openxmlformats.org/officeDocument/2006/relationships/tags" Target="../tags/tag163.xml"/><Relationship Id="rId5" Type="http://schemas.openxmlformats.org/officeDocument/2006/relationships/tags" Target="../tags/tag162.xml"/><Relationship Id="rId4" Type="http://schemas.openxmlformats.org/officeDocument/2006/relationships/tags" Target="../tags/tag161.xml"/><Relationship Id="rId3" Type="http://schemas.openxmlformats.org/officeDocument/2006/relationships/tags" Target="../tags/tag160.xml"/><Relationship Id="rId20" Type="http://schemas.openxmlformats.org/officeDocument/2006/relationships/notesSlide" Target="../notesSlides/notesSlide30.xml"/><Relationship Id="rId2" Type="http://schemas.openxmlformats.org/officeDocument/2006/relationships/tags" Target="../tags/tag159.xml"/><Relationship Id="rId19" Type="http://schemas.openxmlformats.org/officeDocument/2006/relationships/slideLayout" Target="../slideLayouts/slideLayout9.xml"/><Relationship Id="rId18" Type="http://schemas.openxmlformats.org/officeDocument/2006/relationships/tags" Target="../tags/tag174.xml"/><Relationship Id="rId17" Type="http://schemas.openxmlformats.org/officeDocument/2006/relationships/image" Target="../media/image38.png"/><Relationship Id="rId16" Type="http://schemas.openxmlformats.org/officeDocument/2006/relationships/tags" Target="../tags/tag173.xml"/><Relationship Id="rId15" Type="http://schemas.openxmlformats.org/officeDocument/2006/relationships/tags" Target="../tags/tag172.xml"/><Relationship Id="rId14" Type="http://schemas.openxmlformats.org/officeDocument/2006/relationships/tags" Target="../tags/tag171.xml"/><Relationship Id="rId13" Type="http://schemas.openxmlformats.org/officeDocument/2006/relationships/tags" Target="../tags/tag170.xml"/><Relationship Id="rId12" Type="http://schemas.openxmlformats.org/officeDocument/2006/relationships/tags" Target="../tags/tag169.xml"/><Relationship Id="rId11" Type="http://schemas.openxmlformats.org/officeDocument/2006/relationships/tags" Target="../tags/tag168.xml"/><Relationship Id="rId10" Type="http://schemas.openxmlformats.org/officeDocument/2006/relationships/tags" Target="../tags/tag167.xml"/><Relationship Id="rId1" Type="http://schemas.openxmlformats.org/officeDocument/2006/relationships/tags" Target="../tags/tag158.xml"/></Relationships>
</file>

<file path=ppt/slides/_rels/slide82.xml.rels><?xml version="1.0" encoding="UTF-8" standalone="yes"?>
<Relationships xmlns="http://schemas.openxmlformats.org/package/2006/relationships"><Relationship Id="rId9" Type="http://schemas.openxmlformats.org/officeDocument/2006/relationships/tags" Target="../tags/tag183.xml"/><Relationship Id="rId8" Type="http://schemas.openxmlformats.org/officeDocument/2006/relationships/tags" Target="../tags/tag182.xml"/><Relationship Id="rId7" Type="http://schemas.openxmlformats.org/officeDocument/2006/relationships/tags" Target="../tags/tag181.xml"/><Relationship Id="rId6" Type="http://schemas.openxmlformats.org/officeDocument/2006/relationships/tags" Target="../tags/tag180.xml"/><Relationship Id="rId5" Type="http://schemas.openxmlformats.org/officeDocument/2006/relationships/tags" Target="../tags/tag179.xml"/><Relationship Id="rId4" Type="http://schemas.openxmlformats.org/officeDocument/2006/relationships/tags" Target="../tags/tag178.xml"/><Relationship Id="rId3" Type="http://schemas.openxmlformats.org/officeDocument/2006/relationships/tags" Target="../tags/tag177.xml"/><Relationship Id="rId20" Type="http://schemas.openxmlformats.org/officeDocument/2006/relationships/notesSlide" Target="../notesSlides/notesSlide31.xml"/><Relationship Id="rId2" Type="http://schemas.openxmlformats.org/officeDocument/2006/relationships/tags" Target="../tags/tag176.xml"/><Relationship Id="rId19" Type="http://schemas.openxmlformats.org/officeDocument/2006/relationships/slideLayout" Target="../slideLayouts/slideLayout9.xml"/><Relationship Id="rId18" Type="http://schemas.openxmlformats.org/officeDocument/2006/relationships/tags" Target="../tags/tag191.xml"/><Relationship Id="rId17" Type="http://schemas.openxmlformats.org/officeDocument/2006/relationships/image" Target="../media/image38.png"/><Relationship Id="rId16" Type="http://schemas.openxmlformats.org/officeDocument/2006/relationships/tags" Target="../tags/tag190.xml"/><Relationship Id="rId15" Type="http://schemas.openxmlformats.org/officeDocument/2006/relationships/tags" Target="../tags/tag189.xml"/><Relationship Id="rId14" Type="http://schemas.openxmlformats.org/officeDocument/2006/relationships/tags" Target="../tags/tag188.xml"/><Relationship Id="rId13" Type="http://schemas.openxmlformats.org/officeDocument/2006/relationships/tags" Target="../tags/tag187.xml"/><Relationship Id="rId12" Type="http://schemas.openxmlformats.org/officeDocument/2006/relationships/tags" Target="../tags/tag186.xml"/><Relationship Id="rId11" Type="http://schemas.openxmlformats.org/officeDocument/2006/relationships/tags" Target="../tags/tag185.xml"/><Relationship Id="rId10" Type="http://schemas.openxmlformats.org/officeDocument/2006/relationships/tags" Target="../tags/tag184.xml"/><Relationship Id="rId1" Type="http://schemas.openxmlformats.org/officeDocument/2006/relationships/tags" Target="../tags/tag175.xml"/></Relationships>
</file>

<file path=ppt/slides/_rels/slide83.xml.rels><?xml version="1.0" encoding="UTF-8" standalone="yes"?>
<Relationships xmlns="http://schemas.openxmlformats.org/package/2006/relationships"><Relationship Id="rId9" Type="http://schemas.openxmlformats.org/officeDocument/2006/relationships/tags" Target="../tags/tag200.xml"/><Relationship Id="rId8" Type="http://schemas.openxmlformats.org/officeDocument/2006/relationships/tags" Target="../tags/tag199.xml"/><Relationship Id="rId7" Type="http://schemas.openxmlformats.org/officeDocument/2006/relationships/tags" Target="../tags/tag198.xml"/><Relationship Id="rId6" Type="http://schemas.openxmlformats.org/officeDocument/2006/relationships/tags" Target="../tags/tag197.xml"/><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0" Type="http://schemas.openxmlformats.org/officeDocument/2006/relationships/notesSlide" Target="../notesSlides/notesSlide32.xml"/><Relationship Id="rId2" Type="http://schemas.openxmlformats.org/officeDocument/2006/relationships/tags" Target="../tags/tag193.xml"/><Relationship Id="rId19" Type="http://schemas.openxmlformats.org/officeDocument/2006/relationships/slideLayout" Target="../slideLayouts/slideLayout9.xml"/><Relationship Id="rId18" Type="http://schemas.openxmlformats.org/officeDocument/2006/relationships/tags" Target="../tags/tag208.xml"/><Relationship Id="rId17" Type="http://schemas.openxmlformats.org/officeDocument/2006/relationships/image" Target="../media/image38.png"/><Relationship Id="rId16" Type="http://schemas.openxmlformats.org/officeDocument/2006/relationships/tags" Target="../tags/tag207.xml"/><Relationship Id="rId15" Type="http://schemas.openxmlformats.org/officeDocument/2006/relationships/tags" Target="../tags/tag206.xml"/><Relationship Id="rId14" Type="http://schemas.openxmlformats.org/officeDocument/2006/relationships/tags" Target="../tags/tag205.xml"/><Relationship Id="rId13" Type="http://schemas.openxmlformats.org/officeDocument/2006/relationships/tags" Target="../tags/tag204.xml"/><Relationship Id="rId12" Type="http://schemas.openxmlformats.org/officeDocument/2006/relationships/tags" Target="../tags/tag203.xml"/><Relationship Id="rId11" Type="http://schemas.openxmlformats.org/officeDocument/2006/relationships/tags" Target="../tags/tag202.xml"/><Relationship Id="rId10" Type="http://schemas.openxmlformats.org/officeDocument/2006/relationships/tags" Target="../tags/tag201.xml"/><Relationship Id="rId1" Type="http://schemas.openxmlformats.org/officeDocument/2006/relationships/tags" Target="../tags/tag192.xml"/></Relationships>
</file>

<file path=ppt/slides/_rels/slide84.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39.png"/></Relationships>
</file>

<file path=ppt/slides/_rels/slide85.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40.png"/></Relationships>
</file>

<file path=ppt/slides/_rels/slide86.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image" Target="../media/image41.png"/></Relationships>
</file>

<file path=ppt/slides/_rels/slide87.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2.xml"/><Relationship Id="rId1" Type="http://schemas.openxmlformats.org/officeDocument/2006/relationships/image" Target="../media/image42.png"/></Relationships>
</file>

<file path=ppt/slides/_rels/slide88.xml.rels><?xml version="1.0" encoding="UTF-8" standalone="yes"?>
<Relationships xmlns="http://schemas.openxmlformats.org/package/2006/relationships"><Relationship Id="rId4" Type="http://schemas.openxmlformats.org/officeDocument/2006/relationships/notesSlide" Target="../notesSlides/notesSlide37.xml"/><Relationship Id="rId3" Type="http://schemas.openxmlformats.org/officeDocument/2006/relationships/slideLayout" Target="../slideLayouts/slideLayout2.xml"/><Relationship Id="rId2" Type="http://schemas.openxmlformats.org/officeDocument/2006/relationships/image" Target="../media/image44.png"/><Relationship Id="rId1" Type="http://schemas.openxmlformats.org/officeDocument/2006/relationships/image" Target="../media/image43.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5.png"/><Relationship Id="rId1" Type="http://schemas.openxmlformats.org/officeDocument/2006/relationships/tags" Target="../tags/tag209.xml"/></Relationships>
</file>

<file path=ppt/slides/_rels/slide9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image" Target="../media/image46.png"/></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7.jpeg"/><Relationship Id="rId1" Type="http://schemas.openxmlformats.org/officeDocument/2006/relationships/tags" Target="../tags/tag210.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100.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2.xml"/><Relationship Id="rId1" Type="http://schemas.openxmlformats.org/officeDocument/2006/relationships/image" Target="../media/image49.png"/></Relationships>
</file>

<file path=ppt/slides/_rels/slide101.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2.xml"/><Relationship Id="rId1" Type="http://schemas.openxmlformats.org/officeDocument/2006/relationships/image" Target="../media/image50.png"/></Relationships>
</file>

<file path=ppt/slides/_rels/slide102.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2.xml"/><Relationship Id="rId1" Type="http://schemas.openxmlformats.org/officeDocument/2006/relationships/image" Target="../media/image51.png"/></Relationships>
</file>

<file path=ppt/slides/_rels/slide103.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2.xml"/><Relationship Id="rId1" Type="http://schemas.openxmlformats.org/officeDocument/2006/relationships/image" Target="../media/image52.png"/></Relationships>
</file>

<file path=ppt/slides/_rels/slide104.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2.xml"/><Relationship Id="rId1" Type="http://schemas.openxmlformats.org/officeDocument/2006/relationships/image" Target="../media/image53.png"/></Relationships>
</file>

<file path=ppt/slides/_rels/slide10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4.jpeg"/><Relationship Id="rId1" Type="http://schemas.openxmlformats.org/officeDocument/2006/relationships/tags" Target="../tags/tag21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75645" y="987551"/>
            <a:ext cx="8582606" cy="2468645"/>
          </a:xfrm>
        </p:spPr>
        <p:txBody>
          <a:bodyPr>
            <a:normAutofit/>
          </a:bodyPr>
          <a:lstStyle/>
          <a:p>
            <a:pPr>
              <a:lnSpc>
                <a:spcPct val="100000"/>
              </a:lnSpc>
              <a:spcBef>
                <a:spcPts val="3600"/>
              </a:spcBef>
              <a:spcAft>
                <a:spcPts val="3600"/>
              </a:spcAft>
            </a:pPr>
            <a:r>
              <a:rPr lang="zh-CN" altLang="en-US" sz="4800" dirty="0">
                <a:solidFill>
                  <a:schemeClr val="bg1"/>
                </a:solidFill>
              </a:rPr>
              <a:t>软件工程</a:t>
            </a:r>
            <a:br>
              <a:rPr lang="en-US" altLang="zh-CN" sz="4800" dirty="0">
                <a:solidFill>
                  <a:schemeClr val="bg1"/>
                </a:solidFill>
              </a:rPr>
            </a:br>
            <a:r>
              <a:rPr lang="zh-CN" altLang="en-US" sz="3200" u="sng" cap="none" dirty="0" smtClean="0">
                <a:solidFill>
                  <a:schemeClr val="bg1"/>
                </a:solidFill>
                <a:effectLst>
                  <a:outerShdw blurRad="38100" dist="38100" dir="2700000" algn="tl">
                    <a:srgbClr val="000000">
                      <a:alpha val="43137"/>
                    </a:srgbClr>
                  </a:outerShdw>
                </a:effectLst>
                <a:ea typeface="华文中宋" panose="02010600040101010101" pitchFamily="2" charset="-122"/>
              </a:rPr>
              <a:t>敏捷开发</a:t>
            </a:r>
            <a:endParaRPr lang="zh-CN" altLang="en-US" sz="3200" u="sng" cap="none" dirty="0" smtClean="0">
              <a:solidFill>
                <a:schemeClr val="bg1"/>
              </a:solidFill>
              <a:effectLst>
                <a:outerShdw blurRad="38100" dist="38100" dir="2700000" algn="tl">
                  <a:srgbClr val="000000">
                    <a:alpha val="43137"/>
                  </a:srgbClr>
                </a:outerShdw>
              </a:effectLst>
              <a:ea typeface="华文中宋" panose="02010600040101010101" pitchFamily="2" charset="-122"/>
            </a:endParaRPr>
          </a:p>
        </p:txBody>
      </p:sp>
      <p:sp>
        <p:nvSpPr>
          <p:cNvPr id="3" name="副标题 2"/>
          <p:cNvSpPr>
            <a:spLocks noGrp="1"/>
          </p:cNvSpPr>
          <p:nvPr>
            <p:ph type="subTitle" idx="1"/>
          </p:nvPr>
        </p:nvSpPr>
        <p:spPr>
          <a:xfrm>
            <a:off x="1958907" y="3620351"/>
            <a:ext cx="6899344" cy="1380882"/>
          </a:xfrm>
        </p:spPr>
        <p:txBody>
          <a:bodyPr>
            <a:normAutofit/>
          </a:bodyPr>
          <a:lstStyle/>
          <a:p>
            <a:r>
              <a:rPr lang="zh-CN" altLang="en-US" sz="1800" dirty="0">
                <a:latin typeface="+mj-ea"/>
                <a:ea typeface="+mj-ea"/>
              </a:rPr>
              <a:t>          </a:t>
            </a:r>
            <a:r>
              <a:rPr lang="zh-CN" altLang="en-US" sz="1800" dirty="0" smtClean="0">
                <a:latin typeface="+mj-ea"/>
                <a:ea typeface="+mj-ea"/>
              </a:rPr>
              <a:t>河南大学软件学院                                          楚广琳</a:t>
            </a:r>
            <a:endParaRPr lang="zh-CN" altLang="en-US" sz="1800" dirty="0">
              <a:latin typeface="+mj-ea"/>
              <a:ea typeface="+mj-ea"/>
            </a:endParaRP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前情回顾</a:t>
            </a:r>
            <a:endParaRPr lang="zh-CN" altLang="en-US" dirty="0"/>
          </a:p>
        </p:txBody>
      </p:sp>
      <p:sp>
        <p:nvSpPr>
          <p:cNvPr id="3" name="内容占位符 2"/>
          <p:cNvSpPr>
            <a:spLocks noGrp="1"/>
          </p:cNvSpPr>
          <p:nvPr>
            <p:ph idx="1"/>
          </p:nvPr>
        </p:nvSpPr>
        <p:spPr>
          <a:xfrm>
            <a:off x="1094105" y="1210945"/>
            <a:ext cx="7506335" cy="3326765"/>
          </a:xfrm>
        </p:spPr>
        <p:txBody>
          <a:bodyPr>
            <a:normAutofit fontScale="97500"/>
          </a:bodyPr>
          <a:lstStyle/>
          <a:p>
            <a:pPr>
              <a:lnSpc>
                <a:spcPct val="110000"/>
              </a:lnSpc>
            </a:pPr>
            <a:r>
              <a:rPr lang="zh-CN" altLang="en-US" dirty="0" smtClean="0"/>
              <a:t>软件过程模型：</a:t>
            </a:r>
            <a:r>
              <a:rPr lang="en-US" altLang="zh-CN" dirty="0" smtClean="0"/>
              <a:t>6</a:t>
            </a:r>
            <a:r>
              <a:rPr lang="zh-CN" altLang="en-US" dirty="0" smtClean="0"/>
              <a:t>种</a:t>
            </a:r>
            <a:endParaRPr lang="en-US" altLang="zh-CN" dirty="0" smtClean="0"/>
          </a:p>
          <a:p>
            <a:pPr>
              <a:lnSpc>
                <a:spcPct val="110000"/>
              </a:lnSpc>
            </a:pPr>
            <a:r>
              <a:rPr lang="zh-CN" altLang="en-US" dirty="0" smtClean="0"/>
              <a:t>软件定义阶段</a:t>
            </a:r>
            <a:endParaRPr lang="zh-CN" altLang="en-US" dirty="0" smtClean="0"/>
          </a:p>
          <a:p>
            <a:pPr marL="457200" lvl="2">
              <a:lnSpc>
                <a:spcPct val="110000"/>
              </a:lnSpc>
            </a:pPr>
            <a:r>
              <a:rPr lang="zh-CN" altLang="en-US" dirty="0" smtClean="0">
                <a:solidFill>
                  <a:srgbClr val="FF0000"/>
                </a:solidFill>
                <a:sym typeface="+mn-ea"/>
              </a:rPr>
              <a:t>问题定义、可行性研究、项目计划</a:t>
            </a:r>
            <a:endParaRPr lang="en-US" altLang="zh-CN" sz="1600" dirty="0" smtClean="0"/>
          </a:p>
          <a:p>
            <a:pPr>
              <a:lnSpc>
                <a:spcPct val="110000"/>
              </a:lnSpc>
            </a:pPr>
            <a:r>
              <a:rPr lang="zh-CN" altLang="en-US" dirty="0" smtClean="0"/>
              <a:t>项目进度：</a:t>
            </a:r>
            <a:endParaRPr lang="en-US" altLang="zh-CN" dirty="0" smtClean="0"/>
          </a:p>
          <a:p>
            <a:pPr lvl="1">
              <a:lnSpc>
                <a:spcPct val="110000"/>
              </a:lnSpc>
            </a:pPr>
            <a:r>
              <a:rPr lang="zh-CN" altLang="en-US" dirty="0" smtClean="0"/>
              <a:t>开始规划项目的任务</a:t>
            </a:r>
            <a:endParaRPr lang="en-US" altLang="zh-CN" dirty="0" smtClean="0"/>
          </a:p>
          <a:p>
            <a:pPr lvl="1">
              <a:lnSpc>
                <a:spcPct val="110000"/>
              </a:lnSpc>
            </a:pPr>
            <a:r>
              <a:rPr lang="zh-CN" altLang="en-US" dirty="0" smtClean="0"/>
              <a:t>项目开发计划</a:t>
            </a:r>
            <a:endParaRPr lang="zh-CN" altLang="en-US" dirty="0"/>
          </a:p>
        </p:txBody>
      </p:sp>
      <p:sp>
        <p:nvSpPr>
          <p:cNvPr id="4" name="日期占位符 3"/>
          <p:cNvSpPr>
            <a:spLocks noGrp="1"/>
          </p:cNvSpPr>
          <p:nvPr>
            <p:ph type="dt" sz="half" idx="10"/>
          </p:nvPr>
        </p:nvSpPr>
        <p:spPr/>
        <p:txBody>
          <a:bodyPr/>
          <a:lstStyle/>
          <a:p>
            <a:fld id="{509524B1-EE47-46F3-9E26-A2EBD5C2A0C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7" name="组合 6"/>
          <p:cNvGrpSpPr/>
          <p:nvPr/>
        </p:nvGrpSpPr>
        <p:grpSpPr>
          <a:xfrm>
            <a:off x="6086763" y="1752183"/>
            <a:ext cx="1925810" cy="2177574"/>
            <a:chOff x="1516062" y="3403601"/>
            <a:chExt cx="2560638" cy="2846387"/>
          </a:xfrm>
          <a:solidFill>
            <a:schemeClr val="tx1">
              <a:lumMod val="65000"/>
              <a:lumOff val="35000"/>
            </a:schemeClr>
          </a:solidFill>
        </p:grpSpPr>
        <p:sp>
          <p:nvSpPr>
            <p:cNvPr id="8" name="Freeform 6"/>
            <p:cNvSpPr/>
            <p:nvPr/>
          </p:nvSpPr>
          <p:spPr bwMode="auto">
            <a:xfrm>
              <a:off x="1516062" y="3403601"/>
              <a:ext cx="2405063" cy="2846387"/>
            </a:xfrm>
            <a:custGeom>
              <a:avLst/>
              <a:gdLst>
                <a:gd name="T0" fmla="*/ 2572 w 2702"/>
                <a:gd name="T1" fmla="*/ 0 h 3200"/>
                <a:gd name="T2" fmla="*/ 2606 w 2702"/>
                <a:gd name="T3" fmla="*/ 11 h 3200"/>
                <a:gd name="T4" fmla="*/ 2700 w 2702"/>
                <a:gd name="T5" fmla="*/ 145 h 3200"/>
                <a:gd name="T6" fmla="*/ 2700 w 2702"/>
                <a:gd name="T7" fmla="*/ 885 h 3200"/>
                <a:gd name="T8" fmla="*/ 2699 w 2702"/>
                <a:gd name="T9" fmla="*/ 898 h 3200"/>
                <a:gd name="T10" fmla="*/ 2604 w 2702"/>
                <a:gd name="T11" fmla="*/ 803 h 3200"/>
                <a:gd name="T12" fmla="*/ 2601 w 2702"/>
                <a:gd name="T13" fmla="*/ 780 h 3200"/>
                <a:gd name="T14" fmla="*/ 2600 w 2702"/>
                <a:gd name="T15" fmla="*/ 164 h 3200"/>
                <a:gd name="T16" fmla="*/ 2536 w 2702"/>
                <a:gd name="T17" fmla="*/ 100 h 3200"/>
                <a:gd name="T18" fmla="*/ 164 w 2702"/>
                <a:gd name="T19" fmla="*/ 100 h 3200"/>
                <a:gd name="T20" fmla="*/ 100 w 2702"/>
                <a:gd name="T21" fmla="*/ 163 h 3200"/>
                <a:gd name="T22" fmla="*/ 100 w 2702"/>
                <a:gd name="T23" fmla="*/ 3037 h 3200"/>
                <a:gd name="T24" fmla="*/ 162 w 2702"/>
                <a:gd name="T25" fmla="*/ 3100 h 3200"/>
                <a:gd name="T26" fmla="*/ 2538 w 2702"/>
                <a:gd name="T27" fmla="*/ 3100 h 3200"/>
                <a:gd name="T28" fmla="*/ 2600 w 2702"/>
                <a:gd name="T29" fmla="*/ 3037 h 3200"/>
                <a:gd name="T30" fmla="*/ 2600 w 2702"/>
                <a:gd name="T31" fmla="*/ 1674 h 3200"/>
                <a:gd name="T32" fmla="*/ 2615 w 2702"/>
                <a:gd name="T33" fmla="*/ 1637 h 3200"/>
                <a:gd name="T34" fmla="*/ 2696 w 2702"/>
                <a:gd name="T35" fmla="*/ 1555 h 3200"/>
                <a:gd name="T36" fmla="*/ 2700 w 2702"/>
                <a:gd name="T37" fmla="*/ 1558 h 3200"/>
                <a:gd name="T38" fmla="*/ 2700 w 2702"/>
                <a:gd name="T39" fmla="*/ 1581 h 3200"/>
                <a:gd name="T40" fmla="*/ 2702 w 2702"/>
                <a:gd name="T41" fmla="*/ 3019 h 3200"/>
                <a:gd name="T42" fmla="*/ 2572 w 2702"/>
                <a:gd name="T43" fmla="*/ 3200 h 3200"/>
                <a:gd name="T44" fmla="*/ 128 w 2702"/>
                <a:gd name="T45" fmla="*/ 3200 h 3200"/>
                <a:gd name="T46" fmla="*/ 36 w 2702"/>
                <a:gd name="T47" fmla="*/ 3146 h 3200"/>
                <a:gd name="T48" fmla="*/ 0 w 2702"/>
                <a:gd name="T49" fmla="*/ 3072 h 3200"/>
                <a:gd name="T50" fmla="*/ 0 w 2702"/>
                <a:gd name="T51" fmla="*/ 128 h 3200"/>
                <a:gd name="T52" fmla="*/ 36 w 2702"/>
                <a:gd name="T53" fmla="*/ 54 h 3200"/>
                <a:gd name="T54" fmla="*/ 128 w 2702"/>
                <a:gd name="T55" fmla="*/ 0 h 3200"/>
                <a:gd name="T56" fmla="*/ 2572 w 2702"/>
                <a:gd name="T57" fmla="*/ 0 h 3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702" h="3200">
                  <a:moveTo>
                    <a:pt x="2572" y="0"/>
                  </a:moveTo>
                  <a:cubicBezTo>
                    <a:pt x="2583" y="4"/>
                    <a:pt x="2595" y="6"/>
                    <a:pt x="2606" y="11"/>
                  </a:cubicBezTo>
                  <a:cubicBezTo>
                    <a:pt x="2664" y="37"/>
                    <a:pt x="2699" y="81"/>
                    <a:pt x="2700" y="145"/>
                  </a:cubicBezTo>
                  <a:cubicBezTo>
                    <a:pt x="2701" y="392"/>
                    <a:pt x="2700" y="639"/>
                    <a:pt x="2700" y="885"/>
                  </a:cubicBezTo>
                  <a:cubicBezTo>
                    <a:pt x="2700" y="888"/>
                    <a:pt x="2700" y="891"/>
                    <a:pt x="2699" y="898"/>
                  </a:cubicBezTo>
                  <a:cubicBezTo>
                    <a:pt x="2666" y="865"/>
                    <a:pt x="2634" y="834"/>
                    <a:pt x="2604" y="803"/>
                  </a:cubicBezTo>
                  <a:cubicBezTo>
                    <a:pt x="2600" y="798"/>
                    <a:pt x="2601" y="788"/>
                    <a:pt x="2601" y="780"/>
                  </a:cubicBezTo>
                  <a:cubicBezTo>
                    <a:pt x="2600" y="575"/>
                    <a:pt x="2600" y="370"/>
                    <a:pt x="2600" y="164"/>
                  </a:cubicBezTo>
                  <a:cubicBezTo>
                    <a:pt x="2600" y="115"/>
                    <a:pt x="2585" y="100"/>
                    <a:pt x="2536" y="100"/>
                  </a:cubicBezTo>
                  <a:cubicBezTo>
                    <a:pt x="1745" y="100"/>
                    <a:pt x="955" y="100"/>
                    <a:pt x="164" y="100"/>
                  </a:cubicBezTo>
                  <a:cubicBezTo>
                    <a:pt x="117" y="100"/>
                    <a:pt x="100" y="116"/>
                    <a:pt x="100" y="163"/>
                  </a:cubicBezTo>
                  <a:cubicBezTo>
                    <a:pt x="100" y="1121"/>
                    <a:pt x="100" y="2079"/>
                    <a:pt x="100" y="3037"/>
                  </a:cubicBezTo>
                  <a:cubicBezTo>
                    <a:pt x="100" y="3083"/>
                    <a:pt x="117" y="3100"/>
                    <a:pt x="162" y="3100"/>
                  </a:cubicBezTo>
                  <a:cubicBezTo>
                    <a:pt x="954" y="3100"/>
                    <a:pt x="1746" y="3100"/>
                    <a:pt x="2538" y="3100"/>
                  </a:cubicBezTo>
                  <a:cubicBezTo>
                    <a:pt x="2584" y="3100"/>
                    <a:pt x="2600" y="3084"/>
                    <a:pt x="2600" y="3037"/>
                  </a:cubicBezTo>
                  <a:cubicBezTo>
                    <a:pt x="2600" y="2583"/>
                    <a:pt x="2600" y="2128"/>
                    <a:pt x="2600" y="1674"/>
                  </a:cubicBezTo>
                  <a:cubicBezTo>
                    <a:pt x="2600" y="1658"/>
                    <a:pt x="2604" y="1647"/>
                    <a:pt x="2615" y="1637"/>
                  </a:cubicBezTo>
                  <a:cubicBezTo>
                    <a:pt x="2643" y="1610"/>
                    <a:pt x="2669" y="1582"/>
                    <a:pt x="2696" y="1555"/>
                  </a:cubicBezTo>
                  <a:cubicBezTo>
                    <a:pt x="2697" y="1556"/>
                    <a:pt x="2699" y="1557"/>
                    <a:pt x="2700" y="1558"/>
                  </a:cubicBezTo>
                  <a:cubicBezTo>
                    <a:pt x="2700" y="1565"/>
                    <a:pt x="2700" y="1573"/>
                    <a:pt x="2700" y="1581"/>
                  </a:cubicBezTo>
                  <a:cubicBezTo>
                    <a:pt x="2700" y="2060"/>
                    <a:pt x="2699" y="2539"/>
                    <a:pt x="2702" y="3019"/>
                  </a:cubicBezTo>
                  <a:cubicBezTo>
                    <a:pt x="2702" y="3120"/>
                    <a:pt x="2654" y="3182"/>
                    <a:pt x="2572" y="3200"/>
                  </a:cubicBezTo>
                  <a:cubicBezTo>
                    <a:pt x="1757" y="3200"/>
                    <a:pt x="943" y="3200"/>
                    <a:pt x="128" y="3200"/>
                  </a:cubicBezTo>
                  <a:cubicBezTo>
                    <a:pt x="92" y="3191"/>
                    <a:pt x="58" y="3177"/>
                    <a:pt x="36" y="3146"/>
                  </a:cubicBezTo>
                  <a:cubicBezTo>
                    <a:pt x="21" y="3123"/>
                    <a:pt x="12" y="3097"/>
                    <a:pt x="0" y="3072"/>
                  </a:cubicBezTo>
                  <a:cubicBezTo>
                    <a:pt x="0" y="2091"/>
                    <a:pt x="0" y="1109"/>
                    <a:pt x="0" y="128"/>
                  </a:cubicBezTo>
                  <a:cubicBezTo>
                    <a:pt x="12" y="103"/>
                    <a:pt x="21" y="77"/>
                    <a:pt x="36" y="54"/>
                  </a:cubicBezTo>
                  <a:cubicBezTo>
                    <a:pt x="58" y="23"/>
                    <a:pt x="92" y="9"/>
                    <a:pt x="128" y="0"/>
                  </a:cubicBezTo>
                  <a:cubicBezTo>
                    <a:pt x="943" y="0"/>
                    <a:pt x="1757" y="0"/>
                    <a:pt x="257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9" name="Freeform 7"/>
            <p:cNvSpPr/>
            <p:nvPr/>
          </p:nvSpPr>
          <p:spPr bwMode="auto">
            <a:xfrm>
              <a:off x="3448050" y="4132263"/>
              <a:ext cx="628650" cy="633412"/>
            </a:xfrm>
            <a:custGeom>
              <a:avLst/>
              <a:gdLst>
                <a:gd name="T0" fmla="*/ 706 w 706"/>
                <a:gd name="T1" fmla="*/ 410 h 714"/>
                <a:gd name="T2" fmla="*/ 682 w 706"/>
                <a:gd name="T3" fmla="*/ 441 h 714"/>
                <a:gd name="T4" fmla="*/ 441 w 706"/>
                <a:gd name="T5" fmla="*/ 681 h 714"/>
                <a:gd name="T6" fmla="*/ 357 w 706"/>
                <a:gd name="T7" fmla="*/ 682 h 714"/>
                <a:gd name="T8" fmla="*/ 31 w 706"/>
                <a:gd name="T9" fmla="*/ 356 h 714"/>
                <a:gd name="T10" fmla="*/ 31 w 706"/>
                <a:gd name="T11" fmla="*/ 274 h 714"/>
                <a:gd name="T12" fmla="*/ 274 w 706"/>
                <a:gd name="T13" fmla="*/ 31 h 714"/>
                <a:gd name="T14" fmla="*/ 357 w 706"/>
                <a:gd name="T15" fmla="*/ 32 h 714"/>
                <a:gd name="T16" fmla="*/ 677 w 706"/>
                <a:gd name="T17" fmla="*/ 351 h 714"/>
                <a:gd name="T18" fmla="*/ 706 w 706"/>
                <a:gd name="T19" fmla="*/ 386 h 714"/>
                <a:gd name="T20" fmla="*/ 706 w 706"/>
                <a:gd name="T21" fmla="*/ 410 h 7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6" h="714">
                  <a:moveTo>
                    <a:pt x="706" y="410"/>
                  </a:moveTo>
                  <a:cubicBezTo>
                    <a:pt x="698" y="420"/>
                    <a:pt x="691" y="432"/>
                    <a:pt x="682" y="441"/>
                  </a:cubicBezTo>
                  <a:cubicBezTo>
                    <a:pt x="602" y="521"/>
                    <a:pt x="522" y="601"/>
                    <a:pt x="441" y="681"/>
                  </a:cubicBezTo>
                  <a:cubicBezTo>
                    <a:pt x="409" y="714"/>
                    <a:pt x="389" y="714"/>
                    <a:pt x="357" y="682"/>
                  </a:cubicBezTo>
                  <a:cubicBezTo>
                    <a:pt x="248" y="573"/>
                    <a:pt x="139" y="465"/>
                    <a:pt x="31" y="356"/>
                  </a:cubicBezTo>
                  <a:cubicBezTo>
                    <a:pt x="0" y="326"/>
                    <a:pt x="0" y="305"/>
                    <a:pt x="31" y="274"/>
                  </a:cubicBezTo>
                  <a:cubicBezTo>
                    <a:pt x="112" y="193"/>
                    <a:pt x="193" y="112"/>
                    <a:pt x="274" y="31"/>
                  </a:cubicBezTo>
                  <a:cubicBezTo>
                    <a:pt x="305" y="0"/>
                    <a:pt x="326" y="0"/>
                    <a:pt x="357" y="32"/>
                  </a:cubicBezTo>
                  <a:cubicBezTo>
                    <a:pt x="464" y="138"/>
                    <a:pt x="570" y="245"/>
                    <a:pt x="677" y="351"/>
                  </a:cubicBezTo>
                  <a:cubicBezTo>
                    <a:pt x="687" y="362"/>
                    <a:pt x="696" y="374"/>
                    <a:pt x="706" y="386"/>
                  </a:cubicBezTo>
                  <a:cubicBezTo>
                    <a:pt x="706" y="394"/>
                    <a:pt x="706" y="402"/>
                    <a:pt x="706" y="410"/>
                  </a:cubicBezTo>
                  <a:close/>
                </a:path>
              </a:pathLst>
            </a:custGeom>
            <a:solidFill>
              <a:srgbClr val="FF9400"/>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0" name="Freeform 10"/>
            <p:cNvSpPr/>
            <p:nvPr/>
          </p:nvSpPr>
          <p:spPr bwMode="auto">
            <a:xfrm>
              <a:off x="2587625" y="4483100"/>
              <a:ext cx="1139825" cy="1143000"/>
            </a:xfrm>
            <a:custGeom>
              <a:avLst/>
              <a:gdLst>
                <a:gd name="T0" fmla="*/ 1281 w 1281"/>
                <a:gd name="T1" fmla="*/ 396 h 1285"/>
                <a:gd name="T2" fmla="*/ 1267 w 1281"/>
                <a:gd name="T3" fmla="*/ 426 h 1285"/>
                <a:gd name="T4" fmla="*/ 1252 w 1281"/>
                <a:gd name="T5" fmla="*/ 442 h 1285"/>
                <a:gd name="T6" fmla="*/ 443 w 1281"/>
                <a:gd name="T7" fmla="*/ 1251 h 1285"/>
                <a:gd name="T8" fmla="*/ 356 w 1281"/>
                <a:gd name="T9" fmla="*/ 1251 h 1285"/>
                <a:gd name="T10" fmla="*/ 32 w 1281"/>
                <a:gd name="T11" fmla="*/ 927 h 1285"/>
                <a:gd name="T12" fmla="*/ 32 w 1281"/>
                <a:gd name="T13" fmla="*/ 844 h 1285"/>
                <a:gd name="T14" fmla="*/ 846 w 1281"/>
                <a:gd name="T15" fmla="*/ 30 h 1285"/>
                <a:gd name="T16" fmla="*/ 928 w 1281"/>
                <a:gd name="T17" fmla="*/ 30 h 1285"/>
                <a:gd name="T18" fmla="*/ 1256 w 1281"/>
                <a:gd name="T19" fmla="*/ 358 h 1285"/>
                <a:gd name="T20" fmla="*/ 1281 w 1281"/>
                <a:gd name="T21" fmla="*/ 396 h 1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1" h="1285">
                  <a:moveTo>
                    <a:pt x="1281" y="396"/>
                  </a:moveTo>
                  <a:cubicBezTo>
                    <a:pt x="1275" y="409"/>
                    <a:pt x="1272" y="418"/>
                    <a:pt x="1267" y="426"/>
                  </a:cubicBezTo>
                  <a:cubicBezTo>
                    <a:pt x="1263" y="432"/>
                    <a:pt x="1257" y="437"/>
                    <a:pt x="1252" y="442"/>
                  </a:cubicBezTo>
                  <a:cubicBezTo>
                    <a:pt x="982" y="712"/>
                    <a:pt x="712" y="981"/>
                    <a:pt x="443" y="1251"/>
                  </a:cubicBezTo>
                  <a:cubicBezTo>
                    <a:pt x="409" y="1285"/>
                    <a:pt x="390" y="1285"/>
                    <a:pt x="356" y="1251"/>
                  </a:cubicBezTo>
                  <a:cubicBezTo>
                    <a:pt x="248" y="1143"/>
                    <a:pt x="140" y="1035"/>
                    <a:pt x="32" y="927"/>
                  </a:cubicBezTo>
                  <a:cubicBezTo>
                    <a:pt x="0" y="895"/>
                    <a:pt x="0" y="876"/>
                    <a:pt x="32" y="844"/>
                  </a:cubicBezTo>
                  <a:cubicBezTo>
                    <a:pt x="303" y="573"/>
                    <a:pt x="575" y="301"/>
                    <a:pt x="846" y="30"/>
                  </a:cubicBezTo>
                  <a:cubicBezTo>
                    <a:pt x="876" y="0"/>
                    <a:pt x="898" y="0"/>
                    <a:pt x="928" y="30"/>
                  </a:cubicBezTo>
                  <a:cubicBezTo>
                    <a:pt x="1037" y="139"/>
                    <a:pt x="1147" y="248"/>
                    <a:pt x="1256" y="358"/>
                  </a:cubicBezTo>
                  <a:cubicBezTo>
                    <a:pt x="1266" y="369"/>
                    <a:pt x="1273" y="383"/>
                    <a:pt x="1281" y="396"/>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1" name="Freeform 11"/>
            <p:cNvSpPr/>
            <p:nvPr/>
          </p:nvSpPr>
          <p:spPr bwMode="auto">
            <a:xfrm>
              <a:off x="2332038" y="5340350"/>
              <a:ext cx="538163" cy="539750"/>
            </a:xfrm>
            <a:custGeom>
              <a:avLst/>
              <a:gdLst>
                <a:gd name="T0" fmla="*/ 21 w 604"/>
                <a:gd name="T1" fmla="*/ 606 h 606"/>
                <a:gd name="T2" fmla="*/ 1 w 604"/>
                <a:gd name="T3" fmla="*/ 584 h 606"/>
                <a:gd name="T4" fmla="*/ 8 w 604"/>
                <a:gd name="T5" fmla="*/ 561 h 606"/>
                <a:gd name="T6" fmla="*/ 183 w 604"/>
                <a:gd name="T7" fmla="*/ 35 h 606"/>
                <a:gd name="T8" fmla="*/ 231 w 604"/>
                <a:gd name="T9" fmla="*/ 23 h 606"/>
                <a:gd name="T10" fmla="*/ 581 w 604"/>
                <a:gd name="T11" fmla="*/ 374 h 606"/>
                <a:gd name="T12" fmla="*/ 569 w 604"/>
                <a:gd name="T13" fmla="*/ 425 h 606"/>
                <a:gd name="T14" fmla="*/ 35 w 604"/>
                <a:gd name="T15" fmla="*/ 602 h 606"/>
                <a:gd name="T16" fmla="*/ 21 w 604"/>
                <a:gd name="T17" fmla="*/ 606 h 6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4" h="606">
                  <a:moveTo>
                    <a:pt x="21" y="606"/>
                  </a:moveTo>
                  <a:cubicBezTo>
                    <a:pt x="5" y="606"/>
                    <a:pt x="0" y="596"/>
                    <a:pt x="1" y="584"/>
                  </a:cubicBezTo>
                  <a:cubicBezTo>
                    <a:pt x="2" y="576"/>
                    <a:pt x="5" y="568"/>
                    <a:pt x="8" y="561"/>
                  </a:cubicBezTo>
                  <a:cubicBezTo>
                    <a:pt x="66" y="385"/>
                    <a:pt x="124" y="210"/>
                    <a:pt x="183" y="35"/>
                  </a:cubicBezTo>
                  <a:cubicBezTo>
                    <a:pt x="193" y="3"/>
                    <a:pt x="207" y="0"/>
                    <a:pt x="231" y="23"/>
                  </a:cubicBezTo>
                  <a:cubicBezTo>
                    <a:pt x="348" y="140"/>
                    <a:pt x="464" y="257"/>
                    <a:pt x="581" y="374"/>
                  </a:cubicBezTo>
                  <a:cubicBezTo>
                    <a:pt x="604" y="397"/>
                    <a:pt x="600" y="415"/>
                    <a:pt x="569" y="425"/>
                  </a:cubicBezTo>
                  <a:cubicBezTo>
                    <a:pt x="391" y="484"/>
                    <a:pt x="213" y="543"/>
                    <a:pt x="35" y="602"/>
                  </a:cubicBezTo>
                  <a:cubicBezTo>
                    <a:pt x="30" y="604"/>
                    <a:pt x="25" y="605"/>
                    <a:pt x="21" y="60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2" name="Freeform 12"/>
            <p:cNvSpPr/>
            <p:nvPr/>
          </p:nvSpPr>
          <p:spPr bwMode="auto">
            <a:xfrm>
              <a:off x="1990725" y="4032250"/>
              <a:ext cx="1454150" cy="42862"/>
            </a:xfrm>
            <a:custGeom>
              <a:avLst/>
              <a:gdLst>
                <a:gd name="T0" fmla="*/ 1634 w 1634"/>
                <a:gd name="T1" fmla="*/ 0 h 48"/>
                <a:gd name="T2" fmla="*/ 1634 w 1634"/>
                <a:gd name="T3" fmla="*/ 48 h 48"/>
                <a:gd name="T4" fmla="*/ 0 w 1634"/>
                <a:gd name="T5" fmla="*/ 48 h 48"/>
                <a:gd name="T6" fmla="*/ 0 w 1634"/>
                <a:gd name="T7" fmla="*/ 0 h 48"/>
                <a:gd name="T8" fmla="*/ 1634 w 1634"/>
                <a:gd name="T9" fmla="*/ 0 h 48"/>
              </a:gdLst>
              <a:ahLst/>
              <a:cxnLst>
                <a:cxn ang="0">
                  <a:pos x="T0" y="T1"/>
                </a:cxn>
                <a:cxn ang="0">
                  <a:pos x="T2" y="T3"/>
                </a:cxn>
                <a:cxn ang="0">
                  <a:pos x="T4" y="T5"/>
                </a:cxn>
                <a:cxn ang="0">
                  <a:pos x="T6" y="T7"/>
                </a:cxn>
                <a:cxn ang="0">
                  <a:pos x="T8" y="T9"/>
                </a:cxn>
              </a:cxnLst>
              <a:rect l="0" t="0" r="r" b="b"/>
              <a:pathLst>
                <a:path w="1634" h="48">
                  <a:moveTo>
                    <a:pt x="1634" y="0"/>
                  </a:moveTo>
                  <a:cubicBezTo>
                    <a:pt x="1634" y="17"/>
                    <a:pt x="1634" y="32"/>
                    <a:pt x="1634" y="48"/>
                  </a:cubicBezTo>
                  <a:cubicBezTo>
                    <a:pt x="1090" y="48"/>
                    <a:pt x="546" y="48"/>
                    <a:pt x="0" y="48"/>
                  </a:cubicBezTo>
                  <a:cubicBezTo>
                    <a:pt x="0" y="32"/>
                    <a:pt x="0" y="17"/>
                    <a:pt x="0" y="0"/>
                  </a:cubicBezTo>
                  <a:cubicBezTo>
                    <a:pt x="544" y="0"/>
                    <a:pt x="1088" y="0"/>
                    <a:pt x="16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3" name="Freeform 13"/>
            <p:cNvSpPr/>
            <p:nvPr/>
          </p:nvSpPr>
          <p:spPr bwMode="auto">
            <a:xfrm>
              <a:off x="1992313" y="4548188"/>
              <a:ext cx="1184275" cy="44450"/>
            </a:xfrm>
            <a:custGeom>
              <a:avLst/>
              <a:gdLst>
                <a:gd name="T0" fmla="*/ 1331 w 1331"/>
                <a:gd name="T1" fmla="*/ 0 h 51"/>
                <a:gd name="T2" fmla="*/ 1245 w 1331"/>
                <a:gd name="T3" fmla="*/ 51 h 51"/>
                <a:gd name="T4" fmla="*/ 28 w 1331"/>
                <a:gd name="T5" fmla="*/ 50 h 51"/>
                <a:gd name="T6" fmla="*/ 0 w 1331"/>
                <a:gd name="T7" fmla="*/ 50 h 51"/>
                <a:gd name="T8" fmla="*/ 0 w 1331"/>
                <a:gd name="T9" fmla="*/ 0 h 51"/>
                <a:gd name="T10" fmla="*/ 1331 w 1331"/>
                <a:gd name="T11" fmla="*/ 0 h 51"/>
              </a:gdLst>
              <a:ahLst/>
              <a:cxnLst>
                <a:cxn ang="0">
                  <a:pos x="T0" y="T1"/>
                </a:cxn>
                <a:cxn ang="0">
                  <a:pos x="T2" y="T3"/>
                </a:cxn>
                <a:cxn ang="0">
                  <a:pos x="T4" y="T5"/>
                </a:cxn>
                <a:cxn ang="0">
                  <a:pos x="T6" y="T7"/>
                </a:cxn>
                <a:cxn ang="0">
                  <a:pos x="T8" y="T9"/>
                </a:cxn>
                <a:cxn ang="0">
                  <a:pos x="T10" y="T11"/>
                </a:cxn>
              </a:cxnLst>
              <a:rect l="0" t="0" r="r" b="b"/>
              <a:pathLst>
                <a:path w="1331" h="51">
                  <a:moveTo>
                    <a:pt x="1331" y="0"/>
                  </a:moveTo>
                  <a:cubicBezTo>
                    <a:pt x="1304" y="25"/>
                    <a:pt x="1287" y="51"/>
                    <a:pt x="1245" y="51"/>
                  </a:cubicBezTo>
                  <a:cubicBezTo>
                    <a:pt x="839" y="49"/>
                    <a:pt x="433" y="50"/>
                    <a:pt x="28" y="50"/>
                  </a:cubicBezTo>
                  <a:cubicBezTo>
                    <a:pt x="19" y="50"/>
                    <a:pt x="10" y="50"/>
                    <a:pt x="0" y="50"/>
                  </a:cubicBezTo>
                  <a:cubicBezTo>
                    <a:pt x="0" y="33"/>
                    <a:pt x="0" y="17"/>
                    <a:pt x="0" y="0"/>
                  </a:cubicBezTo>
                  <a:cubicBezTo>
                    <a:pt x="442" y="0"/>
                    <a:pt x="884" y="0"/>
                    <a:pt x="133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4" name="Freeform 14"/>
            <p:cNvSpPr/>
            <p:nvPr/>
          </p:nvSpPr>
          <p:spPr bwMode="auto">
            <a:xfrm>
              <a:off x="1990725" y="5062538"/>
              <a:ext cx="668338" cy="44450"/>
            </a:xfrm>
            <a:custGeom>
              <a:avLst/>
              <a:gdLst>
                <a:gd name="T0" fmla="*/ 751 w 751"/>
                <a:gd name="T1" fmla="*/ 4 h 49"/>
                <a:gd name="T2" fmla="*/ 710 w 751"/>
                <a:gd name="T3" fmla="*/ 42 h 49"/>
                <a:gd name="T4" fmla="*/ 692 w 751"/>
                <a:gd name="T5" fmla="*/ 49 h 49"/>
                <a:gd name="T6" fmla="*/ 11 w 751"/>
                <a:gd name="T7" fmla="*/ 49 h 49"/>
                <a:gd name="T8" fmla="*/ 0 w 751"/>
                <a:gd name="T9" fmla="*/ 48 h 49"/>
                <a:gd name="T10" fmla="*/ 0 w 751"/>
                <a:gd name="T11" fmla="*/ 0 h 49"/>
                <a:gd name="T12" fmla="*/ 748 w 751"/>
                <a:gd name="T13" fmla="*/ 0 h 49"/>
                <a:gd name="T14" fmla="*/ 751 w 751"/>
                <a:gd name="T15" fmla="*/ 4 h 4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51" h="49">
                  <a:moveTo>
                    <a:pt x="751" y="4"/>
                  </a:moveTo>
                  <a:cubicBezTo>
                    <a:pt x="737" y="17"/>
                    <a:pt x="724" y="30"/>
                    <a:pt x="710" y="42"/>
                  </a:cubicBezTo>
                  <a:cubicBezTo>
                    <a:pt x="705" y="46"/>
                    <a:pt x="698" y="49"/>
                    <a:pt x="692" y="49"/>
                  </a:cubicBezTo>
                  <a:cubicBezTo>
                    <a:pt x="465" y="49"/>
                    <a:pt x="238" y="49"/>
                    <a:pt x="11" y="49"/>
                  </a:cubicBezTo>
                  <a:cubicBezTo>
                    <a:pt x="8" y="49"/>
                    <a:pt x="4" y="48"/>
                    <a:pt x="0" y="48"/>
                  </a:cubicBezTo>
                  <a:cubicBezTo>
                    <a:pt x="0" y="32"/>
                    <a:pt x="0" y="17"/>
                    <a:pt x="0" y="0"/>
                  </a:cubicBezTo>
                  <a:cubicBezTo>
                    <a:pt x="250" y="0"/>
                    <a:pt x="499" y="0"/>
                    <a:pt x="748" y="0"/>
                  </a:cubicBezTo>
                  <a:cubicBezTo>
                    <a:pt x="749" y="2"/>
                    <a:pt x="750" y="3"/>
                    <a:pt x="751"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5" name="Freeform 15"/>
            <p:cNvSpPr/>
            <p:nvPr/>
          </p:nvSpPr>
          <p:spPr bwMode="auto">
            <a:xfrm>
              <a:off x="3081338" y="5575300"/>
              <a:ext cx="363538" cy="46037"/>
            </a:xfrm>
            <a:custGeom>
              <a:avLst/>
              <a:gdLst>
                <a:gd name="T0" fmla="*/ 0 w 407"/>
                <a:gd name="T1" fmla="*/ 52 h 52"/>
                <a:gd name="T2" fmla="*/ 86 w 407"/>
                <a:gd name="T3" fmla="*/ 1 h 52"/>
                <a:gd name="T4" fmla="*/ 384 w 407"/>
                <a:gd name="T5" fmla="*/ 3 h 52"/>
                <a:gd name="T6" fmla="*/ 407 w 407"/>
                <a:gd name="T7" fmla="*/ 3 h 52"/>
                <a:gd name="T8" fmla="*/ 407 w 407"/>
                <a:gd name="T9" fmla="*/ 52 h 52"/>
                <a:gd name="T10" fmla="*/ 0 w 407"/>
                <a:gd name="T11" fmla="*/ 52 h 52"/>
              </a:gdLst>
              <a:ahLst/>
              <a:cxnLst>
                <a:cxn ang="0">
                  <a:pos x="T0" y="T1"/>
                </a:cxn>
                <a:cxn ang="0">
                  <a:pos x="T2" y="T3"/>
                </a:cxn>
                <a:cxn ang="0">
                  <a:pos x="T4" y="T5"/>
                </a:cxn>
                <a:cxn ang="0">
                  <a:pos x="T6" y="T7"/>
                </a:cxn>
                <a:cxn ang="0">
                  <a:pos x="T8" y="T9"/>
                </a:cxn>
                <a:cxn ang="0">
                  <a:pos x="T10" y="T11"/>
                </a:cxn>
              </a:cxnLst>
              <a:rect l="0" t="0" r="r" b="b"/>
              <a:pathLst>
                <a:path w="407" h="52">
                  <a:moveTo>
                    <a:pt x="0" y="52"/>
                  </a:moveTo>
                  <a:cubicBezTo>
                    <a:pt x="26" y="26"/>
                    <a:pt x="43" y="0"/>
                    <a:pt x="86" y="1"/>
                  </a:cubicBezTo>
                  <a:cubicBezTo>
                    <a:pt x="185" y="6"/>
                    <a:pt x="285" y="3"/>
                    <a:pt x="384" y="3"/>
                  </a:cubicBezTo>
                  <a:cubicBezTo>
                    <a:pt x="391" y="3"/>
                    <a:pt x="398" y="3"/>
                    <a:pt x="407" y="3"/>
                  </a:cubicBezTo>
                  <a:cubicBezTo>
                    <a:pt x="407" y="19"/>
                    <a:pt x="407" y="35"/>
                    <a:pt x="407" y="52"/>
                  </a:cubicBezTo>
                  <a:cubicBezTo>
                    <a:pt x="273" y="52"/>
                    <a:pt x="139" y="52"/>
                    <a:pt x="0" y="5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16" name="Freeform 16"/>
            <p:cNvSpPr/>
            <p:nvPr/>
          </p:nvSpPr>
          <p:spPr bwMode="auto">
            <a:xfrm>
              <a:off x="1990725" y="5578475"/>
              <a:ext cx="339725" cy="44450"/>
            </a:xfrm>
            <a:custGeom>
              <a:avLst/>
              <a:gdLst>
                <a:gd name="T0" fmla="*/ 0 w 381"/>
                <a:gd name="T1" fmla="*/ 49 h 49"/>
                <a:gd name="T2" fmla="*/ 0 w 381"/>
                <a:gd name="T3" fmla="*/ 0 h 49"/>
                <a:gd name="T4" fmla="*/ 381 w 381"/>
                <a:gd name="T5" fmla="*/ 0 h 49"/>
                <a:gd name="T6" fmla="*/ 367 w 381"/>
                <a:gd name="T7" fmla="*/ 43 h 49"/>
                <a:gd name="T8" fmla="*/ 356 w 381"/>
                <a:gd name="T9" fmla="*/ 49 h 49"/>
                <a:gd name="T10" fmla="*/ 0 w 381"/>
                <a:gd name="T11" fmla="*/ 49 h 49"/>
              </a:gdLst>
              <a:ahLst/>
              <a:cxnLst>
                <a:cxn ang="0">
                  <a:pos x="T0" y="T1"/>
                </a:cxn>
                <a:cxn ang="0">
                  <a:pos x="T2" y="T3"/>
                </a:cxn>
                <a:cxn ang="0">
                  <a:pos x="T4" y="T5"/>
                </a:cxn>
                <a:cxn ang="0">
                  <a:pos x="T6" y="T7"/>
                </a:cxn>
                <a:cxn ang="0">
                  <a:pos x="T8" y="T9"/>
                </a:cxn>
                <a:cxn ang="0">
                  <a:pos x="T10" y="T11"/>
                </a:cxn>
              </a:cxnLst>
              <a:rect l="0" t="0" r="r" b="b"/>
              <a:pathLst>
                <a:path w="381" h="49">
                  <a:moveTo>
                    <a:pt x="0" y="49"/>
                  </a:moveTo>
                  <a:cubicBezTo>
                    <a:pt x="0" y="32"/>
                    <a:pt x="0" y="17"/>
                    <a:pt x="0" y="0"/>
                  </a:cubicBezTo>
                  <a:cubicBezTo>
                    <a:pt x="126" y="0"/>
                    <a:pt x="252" y="0"/>
                    <a:pt x="381" y="0"/>
                  </a:cubicBezTo>
                  <a:cubicBezTo>
                    <a:pt x="376" y="15"/>
                    <a:pt x="372" y="29"/>
                    <a:pt x="367" y="43"/>
                  </a:cubicBezTo>
                  <a:cubicBezTo>
                    <a:pt x="366" y="46"/>
                    <a:pt x="360" y="49"/>
                    <a:pt x="356" y="49"/>
                  </a:cubicBezTo>
                  <a:cubicBezTo>
                    <a:pt x="238" y="49"/>
                    <a:pt x="120" y="49"/>
                    <a:pt x="0" y="4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up)">
                                      <p:cBhvr>
                                        <p:cTn id="7" dur="500"/>
                                        <p:tgtEl>
                                          <p:spTgt spid="3">
                                            <p:txEl>
                                              <p:pRg st="3" end="3"/>
                                            </p:txEl>
                                          </p:spTgt>
                                        </p:tgtEl>
                                      </p:cBhvr>
                                    </p:animEffect>
                                  </p:childTnLst>
                                </p:cTn>
                              </p:par>
                              <p:par>
                                <p:cTn id="8" presetID="22" presetClass="entr" presetSubtype="1"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wipe(up)">
                                      <p:cBhvr>
                                        <p:cTn id="10" dur="500"/>
                                        <p:tgtEl>
                                          <p:spTgt spid="3">
                                            <p:txEl>
                                              <p:pRg st="4" end="4"/>
                                            </p:txEl>
                                          </p:spTgt>
                                        </p:tgtEl>
                                      </p:cBhvr>
                                    </p:animEffect>
                                  </p:childTnLst>
                                </p:cTn>
                              </p:par>
                              <p:par>
                                <p:cTn id="11" presetID="22" presetClass="entr" presetSubtype="1"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wipe(up)">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b="1" dirty="0" smtClean="0"/>
              <a:t>本次</a:t>
            </a:r>
            <a:r>
              <a:rPr lang="zh-CN" altLang="en-US" dirty="0" smtClean="0"/>
              <a:t>课程</a:t>
            </a:r>
            <a:r>
              <a:rPr lang="zh-CN" altLang="en-US" b="1" dirty="0" smtClean="0"/>
              <a:t>速递</a:t>
            </a:r>
            <a:endParaRPr lang="zh-CN" altLang="en-US" b="1" dirty="0"/>
          </a:p>
        </p:txBody>
      </p:sp>
      <p:sp>
        <p:nvSpPr>
          <p:cNvPr id="3" name="内容占位符 2"/>
          <p:cNvSpPr>
            <a:spLocks noGrp="1"/>
          </p:cNvSpPr>
          <p:nvPr>
            <p:ph idx="1"/>
          </p:nvPr>
        </p:nvSpPr>
        <p:spPr>
          <a:xfrm>
            <a:off x="1094105" y="1248410"/>
            <a:ext cx="7764145" cy="3432175"/>
          </a:xfrm>
        </p:spPr>
        <p:txBody>
          <a:bodyPr>
            <a:normAutofit/>
          </a:bodyPr>
          <a:lstStyle/>
          <a:p>
            <a:pPr marL="421640" lvl="1" indent="-514350" algn="just" fontAlgn="auto">
              <a:lnSpc>
                <a:spcPct val="130000"/>
              </a:lnSpc>
              <a:buSzTx/>
              <a:buAutoNum type="arabicPeriod"/>
            </a:pPr>
            <a:r>
              <a:rPr lang="zh-CN" altLang="en-US" sz="2800" dirty="0">
                <a:latin typeface="+mj-ea"/>
                <a:ea typeface="+mj-ea"/>
              </a:rPr>
              <a:t>敏捷开发</a:t>
            </a:r>
            <a:endParaRPr lang="zh-CN" altLang="en-US" sz="2800" dirty="0">
              <a:latin typeface="+mj-ea"/>
              <a:ea typeface="+mj-ea"/>
            </a:endParaRPr>
          </a:p>
          <a:p>
            <a:pPr marL="0" lvl="1" indent="-514350" algn="just" fontAlgn="auto">
              <a:lnSpc>
                <a:spcPct val="130000"/>
              </a:lnSpc>
              <a:buSzTx/>
              <a:buAutoNum type="arabicPeriod"/>
            </a:pPr>
            <a:r>
              <a:rPr lang="en-US" sz="2800" dirty="0">
                <a:sym typeface="+mn-ea"/>
              </a:rPr>
              <a:t>DevOps</a:t>
            </a:r>
            <a:endParaRPr lang="en-US" sz="2800" dirty="0">
              <a:solidFill>
                <a:schemeClr val="tx2">
                  <a:lumMod val="90000"/>
                  <a:lumOff val="10000"/>
                </a:schemeClr>
              </a:solidFill>
              <a:latin typeface="+mj-ea"/>
              <a:ea typeface="+mj-ea"/>
            </a:endParaRPr>
          </a:p>
          <a:p>
            <a:pPr marL="421640" lvl="1" indent="-514350" algn="just" fontAlgn="auto">
              <a:lnSpc>
                <a:spcPct val="130000"/>
              </a:lnSpc>
              <a:buSzTx/>
              <a:buAutoNum type="arabicPeriod"/>
            </a:pPr>
            <a:r>
              <a:rPr lang="en-US" sz="2800" dirty="0">
                <a:latin typeface="+mj-ea"/>
                <a:ea typeface="+mj-ea"/>
              </a:rPr>
              <a:t>CI/CD</a:t>
            </a:r>
            <a:endParaRPr lang="en-US" sz="2800" dirty="0">
              <a:latin typeface="+mj-ea"/>
              <a:ea typeface="+mj-ea"/>
            </a:endParaRPr>
          </a:p>
          <a:p>
            <a:pPr marL="421640" lvl="1" indent="-514350" algn="just" fontAlgn="auto">
              <a:lnSpc>
                <a:spcPct val="130000"/>
              </a:lnSpc>
              <a:buSzTx/>
              <a:buAutoNum type="arabicPeriod"/>
            </a:pPr>
            <a:endParaRPr lang="en-US" sz="2800" dirty="0">
              <a:solidFill>
                <a:schemeClr val="tx2">
                  <a:lumMod val="90000"/>
                  <a:lumOff val="10000"/>
                </a:schemeClr>
              </a:solidFill>
              <a:latin typeface="+mj-ea"/>
              <a:ea typeface="+mj-ea"/>
            </a:endParaRPr>
          </a:p>
        </p:txBody>
      </p:sp>
      <p:sp>
        <p:nvSpPr>
          <p:cNvPr id="7" name="日期占位符 6"/>
          <p:cNvSpPr>
            <a:spLocks noGrp="1"/>
          </p:cNvSpPr>
          <p:nvPr>
            <p:ph type="dt" sz="half" idx="10"/>
          </p:nvPr>
        </p:nvSpPr>
        <p:spPr/>
        <p:txBody>
          <a:bodyPr/>
          <a:lstStyle/>
          <a:p>
            <a:fld id="{EAC84F94-7942-4B56-9847-51B9E128A53E}" type="datetime1">
              <a:rPr lang="zh-CN" altLang="en-US" smtClean="0"/>
            </a:fld>
            <a:endParaRPr lang="zh-CN" altLang="en-US"/>
          </a:p>
        </p:txBody>
      </p:sp>
      <p:sp>
        <p:nvSpPr>
          <p:cNvPr id="8" name="页脚占位符 7"/>
          <p:cNvSpPr>
            <a:spLocks noGrp="1"/>
          </p:cNvSpPr>
          <p:nvPr>
            <p:ph type="ftr" sz="quarter" idx="11"/>
          </p:nvPr>
        </p:nvSpPr>
        <p:spPr/>
        <p:txBody>
          <a:bodyPr/>
          <a:lstStyle/>
          <a:p>
            <a:r>
              <a:rPr lang="zh-CN" altLang="en-US" dirty="0" smtClean="0"/>
              <a:t>软件工程</a:t>
            </a:r>
            <a:endParaRPr lang="zh-CN" altLang="en-US" dirty="0"/>
          </a:p>
        </p:txBody>
      </p:sp>
      <p:sp>
        <p:nvSpPr>
          <p:cNvPr id="9" name="灯片编号占位符 8"/>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4" name="图片 3"/>
          <p:cNvPicPr>
            <a:picLocks noChangeAspect="1"/>
          </p:cNvPicPr>
          <p:nvPr/>
        </p:nvPicPr>
        <p:blipFill>
          <a:blip r:embed="rId1"/>
          <a:stretch>
            <a:fillRect/>
          </a:stretch>
        </p:blipFill>
        <p:spPr>
          <a:xfrm>
            <a:off x="6067425" y="1497330"/>
            <a:ext cx="2179320" cy="2148840"/>
          </a:xfrm>
          <a:prstGeom prst="rect">
            <a:avLst/>
          </a:prstGeom>
        </p:spPr>
      </p:pic>
      <p:sp>
        <p:nvSpPr>
          <p:cNvPr id="5" name="文本框 4">
            <a:hlinkClick r:id="rId2" action="ppaction://hlinkfile"/>
          </p:cNvPr>
          <p:cNvSpPr txBox="1"/>
          <p:nvPr/>
        </p:nvSpPr>
        <p:spPr>
          <a:xfrm>
            <a:off x="5927725" y="3811905"/>
            <a:ext cx="2458720" cy="487680"/>
          </a:xfrm>
          <a:prstGeom prst="rect">
            <a:avLst/>
          </a:prstGeom>
          <a:noFill/>
        </p:spPr>
        <p:txBody>
          <a:bodyPr wrap="square" rtlCol="0" anchor="t">
            <a:noAutofit/>
          </a:bodyPr>
          <a:lstStyle/>
          <a:p>
            <a:r>
              <a:rPr lang="zh-CN" altLang="en-US">
                <a:hlinkClick r:id="rId2" action="ppaction://hlinkfile"/>
              </a:rPr>
              <a:t>各种开发方法的介绍</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案例一</a:t>
            </a:r>
            <a:endParaRPr lang="zh-CN" altLang="en-US" dirty="0"/>
          </a:p>
        </p:txBody>
      </p:sp>
      <p:sp>
        <p:nvSpPr>
          <p:cNvPr id="3" name="内容占位符 2"/>
          <p:cNvSpPr>
            <a:spLocks noGrp="1"/>
          </p:cNvSpPr>
          <p:nvPr>
            <p:ph idx="1"/>
          </p:nvPr>
        </p:nvSpPr>
        <p:spPr>
          <a:xfrm>
            <a:off x="768350" y="925195"/>
            <a:ext cx="8041005" cy="3806825"/>
          </a:xfrm>
        </p:spPr>
        <p:txBody>
          <a:bodyPr>
            <a:normAutofit lnSpcReduction="10000"/>
          </a:bodyPr>
          <a:lstStyle/>
          <a:p>
            <a:pPr marL="0" indent="0">
              <a:buNone/>
            </a:pPr>
            <a:r>
              <a:rPr lang="zh-CN" altLang="en-US" sz="1600"/>
              <a:t>客人到餐馆来点菜(新项目不确定客户想吃什么的时候，通常选好餐厅后会先看看餐厅的菜单(客户往往提不出具体的需求。</a:t>
            </a:r>
            <a:endParaRPr lang="zh-CN" altLang="en-US" sz="1600"/>
          </a:p>
          <a:p>
            <a:pPr marL="0" indent="0">
              <a:buNone/>
            </a:pPr>
            <a:r>
              <a:rPr lang="zh-CN" altLang="en-US" sz="1600"/>
              <a:t>根据图文菜单，客人点了十个菜(根据原型和设计稿，基本确定了需求)，后厨开始准备(项目启动)。</a:t>
            </a:r>
            <a:endParaRPr lang="zh-CN" altLang="en-US" sz="1600"/>
          </a:p>
          <a:p>
            <a:pPr marL="0" indent="0">
              <a:buNone/>
            </a:pPr>
            <a:r>
              <a:rPr lang="zh-CN" altLang="en-US" sz="1600"/>
              <a:t>根据客人的下单配菜，炒菜(基本上不会主动去了解完整需求半个小时了，菜还没上桌，客人饿极了(项目启动后很长一段时间客户什么都看不到)再过了二十分钟，十个菜都一起上来了(项目最终一次交付)客人说，有几个菜挺好的，但是有个菜味道淡了，有两个不够辣，还有两盘重复了想换掉(我是买单的，我要变需求)。</a:t>
            </a:r>
            <a:endParaRPr lang="zh-CN" altLang="en-US" sz="1600"/>
          </a:p>
          <a:p>
            <a:pPr marL="0" indent="0">
              <a:buNone/>
            </a:pPr>
            <a:r>
              <a:rPr lang="zh-CN" altLang="en-US" sz="1600"/>
              <a:t>这时候大堂经理来了，说，“味道淡了可以加盐，不辣可以加辣，但是换菜不行，已经炒好的那两盘菜也是要算成本的”(瀑布的坏处，需求变更比较麻烦)。于是，后厨只给客户加了盐，加了辣。</a:t>
            </a:r>
            <a:endParaRPr lang="zh-CN" altLang="en-US" sz="1600"/>
          </a:p>
          <a:p>
            <a:pPr marL="0" indent="0">
              <a:buNone/>
            </a:pPr>
            <a:r>
              <a:rPr lang="zh-CN" altLang="en-US" sz="1600"/>
              <a:t>客人吃完，不是很满意，下次不来了(没有满足需求)。</a:t>
            </a:r>
            <a:endParaRPr lang="zh-CN" altLang="en-US" sz="1600"/>
          </a:p>
        </p:txBody>
      </p:sp>
      <p:sp>
        <p:nvSpPr>
          <p:cNvPr id="4" name="日期占位符 3"/>
          <p:cNvSpPr>
            <a:spLocks noGrp="1"/>
          </p:cNvSpPr>
          <p:nvPr>
            <p:ph type="dt" sz="half" idx="10"/>
          </p:nvPr>
        </p:nvSpPr>
        <p:spPr/>
        <p:txBody>
          <a:bodyPr/>
          <a:lstStyle/>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案例二</a:t>
            </a:r>
            <a:endParaRPr lang="en-US" altLang="zh-CN" dirty="0" smtClean="0"/>
          </a:p>
        </p:txBody>
      </p:sp>
      <p:sp>
        <p:nvSpPr>
          <p:cNvPr id="3" name="内容占位符 2"/>
          <p:cNvSpPr>
            <a:spLocks noGrp="1"/>
          </p:cNvSpPr>
          <p:nvPr>
            <p:ph idx="1"/>
          </p:nvPr>
        </p:nvSpPr>
        <p:spPr>
          <a:xfrm>
            <a:off x="768350" y="876300"/>
            <a:ext cx="7983220" cy="3799840"/>
          </a:xfrm>
        </p:spPr>
        <p:txBody>
          <a:bodyPr>
            <a:noAutofit/>
          </a:bodyPr>
          <a:lstStyle/>
          <a:p>
            <a:pPr marL="0" indent="0">
              <a:buNone/>
            </a:pPr>
            <a:r>
              <a:rPr lang="zh-CN" altLang="en-US" sz="1600"/>
              <a:t>客人到餐馆来点菜(新项目)不确定客户想吃什么的时候，通常选好餐厅后会先看看餐厅的菜单(客户往往提不出具体的需求)。</a:t>
            </a:r>
            <a:endParaRPr lang="zh-CN" altLang="en-US" sz="1600"/>
          </a:p>
          <a:p>
            <a:pPr marL="0" indent="0">
              <a:buNone/>
            </a:pPr>
            <a:r>
              <a:rPr lang="zh-CN" altLang="en-US" sz="1600"/>
              <a:t>根据图文菜单，客人点了十个菜(根据原型和设计稿，基本确定了需求)后厨开始准备(项目启动)。</a:t>
            </a:r>
            <a:endParaRPr lang="zh-CN" altLang="en-US" sz="1600"/>
          </a:p>
          <a:p>
            <a:pPr marL="0" indent="0">
              <a:buNone/>
            </a:pPr>
            <a:r>
              <a:rPr lang="zh-CN" altLang="en-US" sz="1600"/>
              <a:t>配菜、炒菜，先上了两盘，让客人尝了尝味道(先提供可用实例给客户用)客人说还不错，后厨继续准备后面的菜，陆续上菜(不断迭代，不断测试)上菜过程中，客人突然发现有个菜的味道太淡了，让后厨加了点盐又端上来了(敏捷的好处，可以不断测试和需求变更)。</a:t>
            </a:r>
            <a:endParaRPr lang="zh-CN" altLang="en-US" sz="1600"/>
          </a:p>
          <a:p>
            <a:pPr marL="0" indent="0">
              <a:buNone/>
            </a:pPr>
            <a:r>
              <a:rPr lang="zh-CN" altLang="en-US" sz="1600"/>
              <a:t>又上了两盘，不够辣，又拿到后厨加了辣(敏捷的坏处，需求没有提前明确，反复迭代，增加了工作量)。</a:t>
            </a:r>
            <a:endParaRPr lang="zh-CN" altLang="en-US" sz="1600"/>
          </a:p>
          <a:p>
            <a:pPr marL="0" indent="0">
              <a:buNone/>
            </a:pPr>
            <a:r>
              <a:rPr lang="zh-CN" altLang="en-US" sz="1600"/>
              <a:t>到最后两盘时，客人要求换两个菜，还好没炒(迭代的好处，随时接受需求变更，客人吃完，很满意(基本满足了全部的要求)。</a:t>
            </a:r>
            <a:endParaRPr lang="zh-CN" altLang="en-US" sz="1600"/>
          </a:p>
        </p:txBody>
      </p:sp>
      <p:sp>
        <p:nvSpPr>
          <p:cNvPr id="4" name="日期占位符 3"/>
          <p:cNvSpPr>
            <a:spLocks noGrp="1"/>
          </p:cNvSpPr>
          <p:nvPr>
            <p:ph type="dt" sz="half" idx="10"/>
          </p:nvPr>
        </p:nvSpPr>
        <p:spPr/>
        <p:txBody>
          <a:bodyPr/>
          <a:lstStyle/>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a:bodyPr>
          <a:lstStyle/>
          <a:p>
            <a:r>
              <a:rPr lang="zh-CN" altLang="en-US" sz="2400" dirty="0"/>
              <a:t>传统计划驱动的开发方法强调过分</a:t>
            </a:r>
            <a:r>
              <a:rPr lang="zh-CN" altLang="en-US" sz="2400" dirty="0">
                <a:solidFill>
                  <a:srgbClr val="FF0000"/>
                </a:solidFill>
              </a:rPr>
              <a:t>过程控制</a:t>
            </a:r>
            <a:r>
              <a:rPr lang="zh-CN" altLang="en-US" sz="2400" dirty="0"/>
              <a:t>，这种方法的一个后果就是大量的开发时间被用在开发文档的撰写和维护上，而真正花在代码上的时间就相对少了；另外一个后果就是由于主要依赖过程控制，而不是程序员自我管理，开发过程的管理非常复杂和低效。</a:t>
            </a:r>
            <a:endParaRPr lang="en-US" altLang="zh-CN" sz="2400" dirty="0"/>
          </a:p>
          <a:p>
            <a:endParaRPr lang="zh-CN" altLang="en-US" sz="2400" dirty="0"/>
          </a:p>
        </p:txBody>
      </p:sp>
      <p:sp>
        <p:nvSpPr>
          <p:cNvPr id="3" name="标题 2"/>
          <p:cNvSpPr>
            <a:spLocks noGrp="1"/>
          </p:cNvSpPr>
          <p:nvPr>
            <p:ph type="title"/>
          </p:nvPr>
        </p:nvSpPr>
        <p:spPr/>
        <p:txBody>
          <a:bodyPr/>
          <a:lstStyle/>
          <a:p>
            <a:r>
              <a:rPr lang="en-US" altLang="zh-CN" dirty="0"/>
              <a:t> </a:t>
            </a:r>
            <a:r>
              <a:rPr lang="zh-CN" altLang="en-US" dirty="0"/>
              <a:t>传统开发方法</a:t>
            </a:r>
            <a:r>
              <a:rPr lang="en-US" altLang="zh-CN" dirty="0"/>
              <a:t>VS</a:t>
            </a:r>
            <a:r>
              <a:rPr lang="zh-CN" altLang="en-US" dirty="0"/>
              <a:t>敏捷开发方法</a:t>
            </a:r>
            <a:endParaRPr lang="zh-CN"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传统开发方法</a:t>
            </a:r>
            <a:r>
              <a:rPr lang="en-US" altLang="zh-CN" dirty="0">
                <a:sym typeface="+mn-ea"/>
              </a:rPr>
              <a:t>VS</a:t>
            </a:r>
            <a:r>
              <a:rPr lang="zh-CN" altLang="en-US" dirty="0">
                <a:sym typeface="+mn-ea"/>
              </a:rPr>
              <a:t>敏捷开发方法</a:t>
            </a:r>
            <a:endParaRPr lang="zh-CN" altLang="en-US"/>
          </a:p>
        </p:txBody>
      </p:sp>
      <p:sp>
        <p:nvSpPr>
          <p:cNvPr id="3" name="内容占位符 2"/>
          <p:cNvSpPr>
            <a:spLocks noGrp="1"/>
          </p:cNvSpPr>
          <p:nvPr>
            <p:ph idx="1"/>
          </p:nvPr>
        </p:nvSpPr>
        <p:spPr/>
        <p:txBody>
          <a:bodyPr>
            <a:normAutofit lnSpcReduction="10000"/>
          </a:bodyPr>
          <a:lstStyle/>
          <a:p>
            <a:r>
              <a:rPr lang="zh-CN" altLang="en-US" dirty="0">
                <a:sym typeface="+mn-ea"/>
              </a:rPr>
              <a:t>在计划驱动方法中，过程和工具不是为人（指程序员）服务的，而是</a:t>
            </a:r>
            <a:r>
              <a:rPr lang="zh-CN" altLang="en-US" dirty="0">
                <a:solidFill>
                  <a:srgbClr val="FF0000"/>
                </a:solidFill>
                <a:sym typeface="+mn-ea"/>
              </a:rPr>
              <a:t>为管理者服务</a:t>
            </a:r>
            <a:r>
              <a:rPr lang="zh-CN" altLang="en-US" dirty="0">
                <a:sym typeface="+mn-ea"/>
              </a:rPr>
              <a:t>的，程序员成了工具和过程的奴隶。这些都极大地阻碍了软件生产率的提高，这种开发模式越来越不适应现代瞬息万变的商业需求了。因此，在近几年，一种被成为敏捷方法的开发思想开始流行起来。</a:t>
            </a:r>
            <a:endParaRPr lang="zh-CN" altLang="en-US" dirty="0">
              <a:sym typeface="+mn-ea"/>
            </a:endParaRPr>
          </a:p>
          <a:p>
            <a:pPr algn="l" fontAlgn="auto"/>
            <a:r>
              <a:rPr lang="zh-CN" altLang="en-US" b="1" dirty="0">
                <a:sym typeface="+mn-ea"/>
              </a:rPr>
              <a:t>敏捷软件</a:t>
            </a:r>
            <a:r>
              <a:rPr lang="zh-CN" altLang="en-US" b="1" dirty="0" smtClean="0">
                <a:sym typeface="+mn-ea"/>
              </a:rPr>
              <a:t>指南 </a:t>
            </a:r>
            <a:r>
              <a:rPr lang="en-US" altLang="zh-CN" dirty="0" smtClean="0">
                <a:sym typeface="+mn-ea"/>
                <a:hlinkClick r:id="rId1"/>
              </a:rPr>
              <a:t>https</a:t>
            </a:r>
            <a:r>
              <a:rPr lang="en-US" altLang="zh-CN" dirty="0">
                <a:sym typeface="+mn-ea"/>
                <a:hlinkClick r:id="rId1"/>
              </a:rPr>
              <a:t>://martinfowler.com/agile.html</a:t>
            </a:r>
            <a:endParaRPr lang="zh-CN" altLang="en-US" dirty="0"/>
          </a:p>
          <a:p>
            <a:endParaRPr lang="zh-CN" altLang="en-US"/>
          </a:p>
        </p:txBody>
      </p:sp>
      <p:sp>
        <p:nvSpPr>
          <p:cNvPr id="4" name="日期占位符 3"/>
          <p:cNvSpPr>
            <a:spLocks noGrp="1"/>
          </p:cNvSpPr>
          <p:nvPr>
            <p:ph type="dt" sz="half" idx="10"/>
          </p:nvPr>
        </p:nvSpPr>
        <p:spPr/>
        <p:txBody>
          <a:bodyPr/>
          <a:lstStyle/>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dirty="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mn-ea"/>
              </a:rPr>
              <a:t>敏捷宣言</a:t>
            </a:r>
            <a:endParaRPr lang="en-US" altLang="zh-CN" dirty="0" smtClean="0">
              <a:sym typeface="+mn-ea"/>
            </a:endParaRPr>
          </a:p>
        </p:txBody>
      </p:sp>
      <p:sp>
        <p:nvSpPr>
          <p:cNvPr id="3" name="内容占位符 2"/>
          <p:cNvSpPr>
            <a:spLocks noGrp="1"/>
          </p:cNvSpPr>
          <p:nvPr>
            <p:ph idx="1"/>
          </p:nvPr>
        </p:nvSpPr>
        <p:spPr>
          <a:xfrm>
            <a:off x="768097" y="816582"/>
            <a:ext cx="7832833" cy="3806854"/>
          </a:xfrm>
        </p:spPr>
        <p:txBody>
          <a:bodyPr/>
          <a:lstStyle/>
          <a:p>
            <a:pPr fontAlgn="auto">
              <a:lnSpc>
                <a:spcPct val="100000"/>
              </a:lnSpc>
              <a:spcBef>
                <a:spcPts val="0"/>
              </a:spcBef>
            </a:pPr>
            <a:r>
              <a:rPr lang="zh-CN" altLang="en-US" sz="2800" dirty="0">
                <a:sym typeface="+mn-ea"/>
              </a:rPr>
              <a:t>越来越多的软件团队陷入不断增长的过程泥潭。</a:t>
            </a:r>
            <a:endParaRPr lang="zh-CN" altLang="en-US"/>
          </a:p>
        </p:txBody>
      </p:sp>
      <p:sp>
        <p:nvSpPr>
          <p:cNvPr id="4" name="日期占位符 3"/>
          <p:cNvSpPr>
            <a:spLocks noGrp="1"/>
          </p:cNvSpPr>
          <p:nvPr>
            <p:ph type="dt" sz="half" idx="10"/>
          </p:nvPr>
        </p:nvSpPr>
        <p:spPr/>
        <p:txBody>
          <a:bodyPr/>
          <a:lstStyle/>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descr="敏捷开发起源史"/>
          <p:cNvPicPr>
            <a:picLocks noChangeAspect="1"/>
          </p:cNvPicPr>
          <p:nvPr/>
        </p:nvPicPr>
        <p:blipFill>
          <a:blip r:embed="rId1"/>
          <a:stretch>
            <a:fillRect/>
          </a:stretch>
        </p:blipFill>
        <p:spPr>
          <a:xfrm>
            <a:off x="0" y="1736090"/>
            <a:ext cx="9144000" cy="32537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sym typeface="+mn-ea"/>
              </a:rPr>
              <a:t>敏捷宣言</a:t>
            </a:r>
            <a:endParaRPr lang="en-US" altLang="zh-CN" dirty="0" smtClean="0">
              <a:sym typeface="+mn-ea"/>
            </a:endParaRPr>
          </a:p>
        </p:txBody>
      </p:sp>
      <p:sp>
        <p:nvSpPr>
          <p:cNvPr id="3" name="内容占位符 2"/>
          <p:cNvSpPr>
            <a:spLocks noGrp="1"/>
          </p:cNvSpPr>
          <p:nvPr>
            <p:ph idx="1"/>
          </p:nvPr>
        </p:nvSpPr>
        <p:spPr/>
        <p:txBody>
          <a:bodyPr/>
          <a:lstStyle/>
          <a:p>
            <a:pPr fontAlgn="auto">
              <a:lnSpc>
                <a:spcPct val="150000"/>
              </a:lnSpc>
            </a:pPr>
            <a:r>
              <a:rPr lang="zh-CN" altLang="en-US" sz="2800" dirty="0">
                <a:sym typeface="+mn-ea"/>
              </a:rPr>
              <a:t>在2001年2月，17位软件开发方法学家在美国犹他州召开了长达两天的会议，制订并签署了“敏捷软件开发宣言”，该宣言给出了4个价值观：</a:t>
            </a:r>
            <a:endParaRPr lang="zh-CN" altLang="en-US"/>
          </a:p>
        </p:txBody>
      </p:sp>
      <p:sp>
        <p:nvSpPr>
          <p:cNvPr id="4" name="日期占位符 3"/>
          <p:cNvSpPr>
            <a:spLocks noGrp="1"/>
          </p:cNvSpPr>
          <p:nvPr>
            <p:ph type="dt" sz="half" idx="10"/>
          </p:nvPr>
        </p:nvSpPr>
        <p:spPr/>
        <p:txBody>
          <a:bodyPr/>
          <a:lstStyle/>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敏捷宣言</a:t>
            </a:r>
            <a:endParaRPr lang="zh-CN" altLang="en-US" dirty="0"/>
          </a:p>
        </p:txBody>
      </p:sp>
      <p:sp>
        <p:nvSpPr>
          <p:cNvPr id="3" name="内容占位符 2"/>
          <p:cNvSpPr>
            <a:spLocks noGrp="1"/>
          </p:cNvSpPr>
          <p:nvPr>
            <p:ph idx="1"/>
          </p:nvPr>
        </p:nvSpPr>
        <p:spPr/>
        <p:txBody>
          <a:bodyPr/>
          <a:lstStyle/>
          <a:p>
            <a:endParaRPr lang="zh-CN" altLang="en-US"/>
          </a:p>
        </p:txBody>
      </p:sp>
      <p:sp>
        <p:nvSpPr>
          <p:cNvPr id="4" name="日期占位符 3"/>
          <p:cNvSpPr>
            <a:spLocks noGrp="1"/>
          </p:cNvSpPr>
          <p:nvPr>
            <p:ph type="dt" sz="half" idx="10"/>
          </p:nvPr>
        </p:nvSpPr>
        <p:spPr/>
        <p:txBody>
          <a:bodyPr/>
          <a:lstStyle/>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37361" y="698212"/>
            <a:ext cx="5809956" cy="4190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敏捷宣言（四条基本</a:t>
            </a:r>
            <a:r>
              <a:rPr lang="zh-CN" altLang="en-US" dirty="0" smtClean="0"/>
              <a:t>价值观）</a:t>
            </a:r>
            <a:endParaRPr lang="zh-CN" altLang="en-US" dirty="0"/>
          </a:p>
        </p:txBody>
      </p:sp>
      <p:sp>
        <p:nvSpPr>
          <p:cNvPr id="2" name="内容占位符 1"/>
          <p:cNvSpPr>
            <a:spLocks noGrp="1"/>
          </p:cNvSpPr>
          <p:nvPr>
            <p:ph idx="1"/>
          </p:nvPr>
        </p:nvSpPr>
        <p:spPr>
          <a:xfrm>
            <a:off x="950026" y="1151905"/>
            <a:ext cx="7650904" cy="3580115"/>
          </a:xfrm>
        </p:spPr>
        <p:txBody>
          <a:bodyPr>
            <a:normAutofit/>
          </a:bodyPr>
          <a:lstStyle/>
          <a:p>
            <a:pPr marL="386080" indent="-386080">
              <a:lnSpc>
                <a:spcPct val="150000"/>
              </a:lnSpc>
              <a:buAutoNum type="arabicPeriod"/>
            </a:pPr>
            <a:r>
              <a:rPr lang="zh-CN" altLang="en-US" dirty="0">
                <a:effectLst/>
                <a:latin typeface="+mj-ea"/>
                <a:ea typeface="+mj-ea"/>
              </a:rPr>
              <a:t>个体和交互          </a:t>
            </a:r>
            <a:r>
              <a:rPr lang="zh-CN" altLang="en-US" dirty="0">
                <a:solidFill>
                  <a:srgbClr val="FF0000"/>
                </a:solidFill>
                <a:effectLst/>
                <a:latin typeface="+mj-ea"/>
                <a:ea typeface="+mj-ea"/>
              </a:rPr>
              <a:t>胜过</a:t>
            </a:r>
            <a:r>
              <a:rPr lang="zh-CN" altLang="en-US" dirty="0">
                <a:effectLst/>
                <a:latin typeface="+mj-ea"/>
                <a:ea typeface="+mj-ea"/>
              </a:rPr>
              <a:t>    过程和工具</a:t>
            </a:r>
            <a:endParaRPr lang="en-US" altLang="zh-CN" dirty="0">
              <a:effectLst/>
              <a:latin typeface="+mj-ea"/>
              <a:ea typeface="+mj-ea"/>
            </a:endParaRPr>
          </a:p>
          <a:p>
            <a:pPr marL="386080" indent="-386080">
              <a:lnSpc>
                <a:spcPct val="150000"/>
              </a:lnSpc>
              <a:buAutoNum type="arabicPeriod"/>
            </a:pPr>
            <a:r>
              <a:rPr lang="zh-CN" altLang="en-US" dirty="0">
                <a:effectLst/>
                <a:latin typeface="+mj-ea"/>
                <a:ea typeface="+mj-ea"/>
              </a:rPr>
              <a:t>可以工作的软件   </a:t>
            </a:r>
            <a:r>
              <a:rPr lang="zh-CN" altLang="en-US" dirty="0">
                <a:solidFill>
                  <a:srgbClr val="FF0000"/>
                </a:solidFill>
                <a:effectLst/>
                <a:latin typeface="+mj-ea"/>
                <a:ea typeface="+mj-ea"/>
              </a:rPr>
              <a:t>胜过</a:t>
            </a:r>
            <a:r>
              <a:rPr lang="zh-CN" altLang="en-US" dirty="0">
                <a:effectLst/>
                <a:latin typeface="+mj-ea"/>
                <a:ea typeface="+mj-ea"/>
              </a:rPr>
              <a:t>    面面俱到的文档</a:t>
            </a:r>
            <a:endParaRPr lang="en-US" altLang="zh-CN" dirty="0">
              <a:effectLst/>
              <a:latin typeface="+mj-ea"/>
              <a:ea typeface="+mj-ea"/>
            </a:endParaRPr>
          </a:p>
          <a:p>
            <a:pPr marL="386080" indent="-386080">
              <a:lnSpc>
                <a:spcPct val="150000"/>
              </a:lnSpc>
              <a:buAutoNum type="arabicPeriod"/>
            </a:pPr>
            <a:r>
              <a:rPr lang="zh-CN" altLang="en-US" dirty="0">
                <a:effectLst/>
                <a:latin typeface="+mj-ea"/>
                <a:ea typeface="+mj-ea"/>
              </a:rPr>
              <a:t>客户合作              </a:t>
            </a:r>
            <a:r>
              <a:rPr lang="zh-CN" altLang="en-US" dirty="0">
                <a:solidFill>
                  <a:srgbClr val="FF0000"/>
                </a:solidFill>
                <a:effectLst/>
                <a:latin typeface="+mj-ea"/>
                <a:ea typeface="+mj-ea"/>
              </a:rPr>
              <a:t>胜过</a:t>
            </a:r>
            <a:r>
              <a:rPr lang="zh-CN" altLang="en-US" dirty="0">
                <a:effectLst/>
                <a:latin typeface="+mj-ea"/>
                <a:ea typeface="+mj-ea"/>
              </a:rPr>
              <a:t>    合同谈判</a:t>
            </a:r>
            <a:endParaRPr lang="en-US" altLang="zh-CN" dirty="0">
              <a:effectLst/>
              <a:latin typeface="+mj-ea"/>
              <a:ea typeface="+mj-ea"/>
            </a:endParaRPr>
          </a:p>
          <a:p>
            <a:pPr marL="386080" indent="-386080">
              <a:lnSpc>
                <a:spcPct val="150000"/>
              </a:lnSpc>
              <a:buAutoNum type="arabicPeriod"/>
            </a:pPr>
            <a:r>
              <a:rPr lang="zh-CN" altLang="en-US" dirty="0">
                <a:effectLst/>
                <a:latin typeface="+mj-ea"/>
                <a:ea typeface="+mj-ea"/>
              </a:rPr>
              <a:t>响应变化              </a:t>
            </a:r>
            <a:r>
              <a:rPr lang="zh-CN" altLang="en-US" dirty="0">
                <a:solidFill>
                  <a:srgbClr val="FF0000"/>
                </a:solidFill>
                <a:effectLst/>
                <a:latin typeface="+mj-ea"/>
                <a:ea typeface="+mj-ea"/>
              </a:rPr>
              <a:t>胜过</a:t>
            </a:r>
            <a:r>
              <a:rPr lang="zh-CN" altLang="en-US" dirty="0">
                <a:effectLst/>
                <a:latin typeface="+mj-ea"/>
                <a:ea typeface="+mj-ea"/>
              </a:rPr>
              <a:t>    遵循计划</a:t>
            </a:r>
            <a:endParaRPr lang="zh-CN" altLang="en-US" dirty="0">
              <a:effectLst/>
              <a:latin typeface="+mj-ea"/>
              <a:ea typeface="+mj-ea"/>
            </a:endParaRPr>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4" name="日期占位符 3"/>
          <p:cNvSpPr>
            <a:spLocks noGrp="1"/>
          </p:cNvSpPr>
          <p:nvPr>
            <p:ph type="dt" sz="half" idx="10"/>
          </p:nvPr>
        </p:nvSpPr>
        <p:spPr/>
        <p:txBody>
          <a:bodyPr/>
          <a:lstStyle/>
          <a:p>
            <a:fld id="{E9D62181-4EF7-4336-9564-09B9C5D3B065}"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Agile? </a:t>
            </a:r>
            <a:r>
              <a:rPr lang="zh-CN" altLang="en-US" dirty="0"/>
              <a:t>（什么是敏捷）</a:t>
            </a:r>
            <a:endParaRPr lang="en-US" dirty="0"/>
          </a:p>
        </p:txBody>
      </p:sp>
      <p:sp>
        <p:nvSpPr>
          <p:cNvPr id="76" name="TextBox 75"/>
          <p:cNvSpPr txBox="1"/>
          <p:nvPr/>
        </p:nvSpPr>
        <p:spPr>
          <a:xfrm>
            <a:off x="7074200" y="951250"/>
            <a:ext cx="2078120" cy="3477875"/>
          </a:xfrm>
          <a:prstGeom prst="rect">
            <a:avLst/>
          </a:prstGeom>
          <a:noFill/>
        </p:spPr>
        <p:txBody>
          <a:bodyPr wrap="square" rtlCol="0">
            <a:spAutoFit/>
          </a:bodyPr>
          <a:lstStyle/>
          <a:p>
            <a:r>
              <a:rPr lang="zh-CN" altLang="en-US" sz="2000" b="1" dirty="0">
                <a:latin typeface="+mj-ea"/>
                <a:ea typeface="+mj-ea"/>
              </a:rPr>
              <a:t>敏捷是</a:t>
            </a:r>
            <a:endParaRPr lang="en-US" altLang="zh-CN" sz="2000" b="1" dirty="0">
              <a:latin typeface="+mj-ea"/>
              <a:ea typeface="+mj-ea"/>
            </a:endParaRPr>
          </a:p>
          <a:p>
            <a:r>
              <a:rPr lang="zh-CN" altLang="en-US" sz="2000" b="1" dirty="0">
                <a:latin typeface="+mj-ea"/>
                <a:ea typeface="+mj-ea"/>
              </a:rPr>
              <a:t>一组软件开发思想的统称。</a:t>
            </a:r>
            <a:endParaRPr lang="en-US" sz="2000" b="1" dirty="0">
              <a:latin typeface="+mj-ea"/>
              <a:ea typeface="+mj-ea"/>
            </a:endParaRPr>
          </a:p>
          <a:p>
            <a:endParaRPr lang="en-US" sz="2000" dirty="0">
              <a:latin typeface="+mj-ea"/>
              <a:ea typeface="+mj-ea"/>
            </a:endParaRPr>
          </a:p>
          <a:p>
            <a:r>
              <a:rPr lang="zh-CN" altLang="en-US" sz="2000" dirty="0">
                <a:latin typeface="+mj-ea"/>
                <a:ea typeface="+mj-ea"/>
              </a:rPr>
              <a:t>以一组软件开发方法论为代表。</a:t>
            </a:r>
            <a:endParaRPr lang="en-US" altLang="zh-CN" sz="2000" dirty="0">
              <a:latin typeface="+mj-ea"/>
              <a:ea typeface="+mj-ea"/>
            </a:endParaRPr>
          </a:p>
          <a:p>
            <a:endParaRPr lang="en-US" sz="2000" dirty="0">
              <a:latin typeface="+mj-ea"/>
              <a:ea typeface="+mj-ea"/>
            </a:endParaRPr>
          </a:p>
          <a:p>
            <a:endParaRPr lang="en-US" sz="2000" dirty="0">
              <a:latin typeface="+mj-ea"/>
              <a:ea typeface="+mj-ea"/>
            </a:endParaRPr>
          </a:p>
          <a:p>
            <a:r>
              <a:rPr lang="zh-CN" altLang="en-US" sz="2000" dirty="0">
                <a:latin typeface="+mj-ea"/>
                <a:ea typeface="+mj-ea"/>
              </a:rPr>
              <a:t>具体体现为许多互相支援的概念，工具和实践经验。</a:t>
            </a:r>
            <a:endParaRPr lang="en-US" sz="2000" dirty="0">
              <a:latin typeface="+mj-ea"/>
              <a:ea typeface="+mj-ea"/>
            </a:endParaRPr>
          </a:p>
        </p:txBody>
      </p:sp>
      <p:grpSp>
        <p:nvGrpSpPr>
          <p:cNvPr id="205" name="组合 204"/>
          <p:cNvGrpSpPr/>
          <p:nvPr/>
        </p:nvGrpSpPr>
        <p:grpSpPr>
          <a:xfrm>
            <a:off x="-48058" y="770456"/>
            <a:ext cx="7246634" cy="4091300"/>
            <a:chOff x="-48058" y="770456"/>
            <a:chExt cx="7246634" cy="4091300"/>
          </a:xfrm>
        </p:grpSpPr>
        <p:sp>
          <p:nvSpPr>
            <p:cNvPr id="40" name="Oval 39"/>
            <p:cNvSpPr/>
            <p:nvPr/>
          </p:nvSpPr>
          <p:spPr>
            <a:xfrm>
              <a:off x="-48058" y="3760724"/>
              <a:ext cx="1726532" cy="7181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Extract Activities </a:t>
              </a:r>
              <a:r>
                <a:rPr lang="zh-CN" altLang="en-US" sz="1400" dirty="0">
                  <a:solidFill>
                    <a:schemeClr val="tx1"/>
                  </a:solidFill>
                </a:rPr>
                <a:t>提取业务活动</a:t>
              </a:r>
              <a:endParaRPr lang="en-US" sz="1400" dirty="0">
                <a:solidFill>
                  <a:schemeClr val="tx1"/>
                </a:solidFill>
              </a:endParaRPr>
            </a:p>
          </p:txBody>
        </p:sp>
        <p:sp>
          <p:nvSpPr>
            <p:cNvPr id="62" name="Oval 61"/>
            <p:cNvSpPr/>
            <p:nvPr/>
          </p:nvSpPr>
          <p:spPr>
            <a:xfrm>
              <a:off x="-42050" y="2739243"/>
              <a:ext cx="1521712" cy="620367"/>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Domain Model </a:t>
              </a:r>
              <a:r>
                <a:rPr lang="zh-CN" altLang="en-US" sz="1400" dirty="0">
                  <a:solidFill>
                    <a:schemeClr val="tx1"/>
                  </a:solidFill>
                </a:rPr>
                <a:t>领域模型</a:t>
              </a:r>
              <a:endParaRPr lang="en-US" sz="1400" dirty="0">
                <a:solidFill>
                  <a:schemeClr val="tx1"/>
                </a:solidFill>
              </a:endParaRPr>
            </a:p>
          </p:txBody>
        </p:sp>
        <p:grpSp>
          <p:nvGrpSpPr>
            <p:cNvPr id="204" name="组合 203"/>
            <p:cNvGrpSpPr/>
            <p:nvPr/>
          </p:nvGrpSpPr>
          <p:grpSpPr>
            <a:xfrm>
              <a:off x="252762" y="770456"/>
              <a:ext cx="6945814" cy="4091300"/>
              <a:chOff x="252762" y="770456"/>
              <a:chExt cx="6945814" cy="4091300"/>
            </a:xfrm>
          </p:grpSpPr>
          <p:cxnSp>
            <p:nvCxnSpPr>
              <p:cNvPr id="41" name="Straight Connector 40"/>
              <p:cNvCxnSpPr>
                <a:stCxn id="49" idx="4"/>
                <a:endCxn id="56" idx="0"/>
              </p:cNvCxnSpPr>
              <p:nvPr/>
            </p:nvCxnSpPr>
            <p:spPr>
              <a:xfrm flipH="1">
                <a:off x="5207367" y="2034632"/>
                <a:ext cx="427647" cy="451746"/>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47" idx="4"/>
                <a:endCxn id="56" idx="0"/>
              </p:cNvCxnSpPr>
              <p:nvPr/>
            </p:nvCxnSpPr>
            <p:spPr>
              <a:xfrm>
                <a:off x="4203991" y="2169668"/>
                <a:ext cx="1003376" cy="31671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47" idx="4"/>
                <a:endCxn id="58" idx="0"/>
              </p:cNvCxnSpPr>
              <p:nvPr/>
            </p:nvCxnSpPr>
            <p:spPr>
              <a:xfrm>
                <a:off x="4203991" y="2169668"/>
                <a:ext cx="1443169" cy="1865493"/>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46" idx="4"/>
                <a:endCxn id="61" idx="0"/>
              </p:cNvCxnSpPr>
              <p:nvPr/>
            </p:nvCxnSpPr>
            <p:spPr>
              <a:xfrm>
                <a:off x="2883496" y="2164406"/>
                <a:ext cx="940987" cy="1773664"/>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Oval 44"/>
              <p:cNvSpPr/>
              <p:nvPr/>
            </p:nvSpPr>
            <p:spPr>
              <a:xfrm>
                <a:off x="2688265" y="770456"/>
                <a:ext cx="1828800" cy="514350"/>
              </a:xfrm>
              <a:prstGeom prst="ellipse">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sz="1600" dirty="0">
                    <a:solidFill>
                      <a:schemeClr val="tx2"/>
                    </a:solidFill>
                    <a:latin typeface="+mj-ea"/>
                    <a:ea typeface="+mj-ea"/>
                  </a:rPr>
                  <a:t>Agile </a:t>
                </a:r>
                <a:r>
                  <a:rPr lang="zh-CN" altLang="en-US" sz="1600" dirty="0">
                    <a:solidFill>
                      <a:schemeClr val="tx2"/>
                    </a:solidFill>
                    <a:latin typeface="+mj-ea"/>
                    <a:ea typeface="+mj-ea"/>
                  </a:rPr>
                  <a:t>敏捷</a:t>
                </a:r>
                <a:endParaRPr lang="en-US" sz="1600" dirty="0">
                  <a:solidFill>
                    <a:schemeClr val="tx2"/>
                  </a:solidFill>
                  <a:latin typeface="+mj-ea"/>
                  <a:ea typeface="+mj-ea"/>
                </a:endParaRPr>
              </a:p>
            </p:txBody>
          </p:sp>
          <p:sp>
            <p:nvSpPr>
              <p:cNvPr id="46" name="Oval 45"/>
              <p:cNvSpPr/>
              <p:nvPr/>
            </p:nvSpPr>
            <p:spPr>
              <a:xfrm>
                <a:off x="2322238" y="1650056"/>
                <a:ext cx="1122516" cy="5143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1600" dirty="0">
                    <a:solidFill>
                      <a:schemeClr val="bg1"/>
                    </a:solidFill>
                    <a:latin typeface="+mj-ea"/>
                    <a:ea typeface="+mj-ea"/>
                  </a:rPr>
                  <a:t>Scrum</a:t>
                </a:r>
                <a:endParaRPr lang="en-US" sz="1600" dirty="0">
                  <a:solidFill>
                    <a:schemeClr val="bg1"/>
                  </a:solidFill>
                  <a:latin typeface="+mj-ea"/>
                  <a:ea typeface="+mj-ea"/>
                </a:endParaRPr>
              </a:p>
            </p:txBody>
          </p:sp>
          <p:sp>
            <p:nvSpPr>
              <p:cNvPr id="47" name="Oval 46"/>
              <p:cNvSpPr/>
              <p:nvPr/>
            </p:nvSpPr>
            <p:spPr>
              <a:xfrm>
                <a:off x="3627011" y="1655318"/>
                <a:ext cx="1153959" cy="5143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1600" dirty="0">
                    <a:solidFill>
                      <a:schemeClr val="bg1"/>
                    </a:solidFill>
                    <a:latin typeface="+mj-ea"/>
                    <a:ea typeface="+mj-ea"/>
                  </a:rPr>
                  <a:t>XP </a:t>
                </a:r>
                <a:r>
                  <a:rPr lang="zh-CN" altLang="en-US" sz="1600" dirty="0">
                    <a:solidFill>
                      <a:schemeClr val="bg1"/>
                    </a:solidFill>
                    <a:latin typeface="+mj-ea"/>
                    <a:ea typeface="+mj-ea"/>
                  </a:rPr>
                  <a:t>极限编程</a:t>
                </a:r>
                <a:endParaRPr lang="en-US" sz="1600" dirty="0">
                  <a:solidFill>
                    <a:schemeClr val="bg1"/>
                  </a:solidFill>
                  <a:latin typeface="+mj-ea"/>
                  <a:ea typeface="+mj-ea"/>
                </a:endParaRPr>
              </a:p>
            </p:txBody>
          </p:sp>
          <p:sp>
            <p:nvSpPr>
              <p:cNvPr id="48" name="Oval 47"/>
              <p:cNvSpPr/>
              <p:nvPr/>
            </p:nvSpPr>
            <p:spPr>
              <a:xfrm>
                <a:off x="252762" y="1589986"/>
                <a:ext cx="1848568" cy="514350"/>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1600" dirty="0">
                    <a:solidFill>
                      <a:schemeClr val="bg1"/>
                    </a:solidFill>
                    <a:latin typeface="+mj-ea"/>
                    <a:ea typeface="+mj-ea"/>
                  </a:rPr>
                  <a:t>FDD </a:t>
                </a:r>
                <a:r>
                  <a:rPr lang="zh-CN" altLang="en-US" sz="1600" dirty="0">
                    <a:solidFill>
                      <a:schemeClr val="bg1"/>
                    </a:solidFill>
                    <a:latin typeface="+mj-ea"/>
                    <a:ea typeface="+mj-ea"/>
                  </a:rPr>
                  <a:t>功能驱动的开发</a:t>
                </a:r>
                <a:endParaRPr lang="en-US" sz="1600" dirty="0">
                  <a:solidFill>
                    <a:schemeClr val="bg1"/>
                  </a:solidFill>
                  <a:latin typeface="+mj-ea"/>
                  <a:ea typeface="+mj-ea"/>
                </a:endParaRPr>
              </a:p>
            </p:txBody>
          </p:sp>
          <p:cxnSp>
            <p:nvCxnSpPr>
              <p:cNvPr id="50" name="Straight Connector 49"/>
              <p:cNvCxnSpPr>
                <a:stCxn id="45" idx="4"/>
                <a:endCxn id="48" idx="0"/>
              </p:cNvCxnSpPr>
              <p:nvPr/>
            </p:nvCxnSpPr>
            <p:spPr>
              <a:xfrm flipH="1">
                <a:off x="1177046" y="1284806"/>
                <a:ext cx="2425619" cy="30518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a:stCxn id="45" idx="4"/>
                <a:endCxn id="46" idx="0"/>
              </p:cNvCxnSpPr>
              <p:nvPr/>
            </p:nvCxnSpPr>
            <p:spPr>
              <a:xfrm flipH="1">
                <a:off x="2883496" y="1284806"/>
                <a:ext cx="719169" cy="36525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45" idx="4"/>
                <a:endCxn id="47" idx="0"/>
              </p:cNvCxnSpPr>
              <p:nvPr/>
            </p:nvCxnSpPr>
            <p:spPr>
              <a:xfrm>
                <a:off x="3602665" y="1284806"/>
                <a:ext cx="601326" cy="370512"/>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a:stCxn id="45" idx="4"/>
                <a:endCxn id="49" idx="1"/>
              </p:cNvCxnSpPr>
              <p:nvPr/>
            </p:nvCxnSpPr>
            <p:spPr>
              <a:xfrm>
                <a:off x="3602665" y="1284806"/>
                <a:ext cx="1566557" cy="30309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Oval 53"/>
              <p:cNvSpPr/>
              <p:nvPr/>
            </p:nvSpPr>
            <p:spPr>
              <a:xfrm>
                <a:off x="5466457" y="3096620"/>
                <a:ext cx="1349675" cy="7429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2"/>
                    </a:solidFill>
                    <a:latin typeface="+mj-ea"/>
                    <a:ea typeface="+mj-ea"/>
                  </a:rPr>
                  <a:t>TDD </a:t>
                </a:r>
                <a:r>
                  <a:rPr lang="zh-CN" altLang="en-US" sz="1400" dirty="0">
                    <a:solidFill>
                      <a:schemeClr val="tx2"/>
                    </a:solidFill>
                    <a:latin typeface="+mj-ea"/>
                    <a:ea typeface="+mj-ea"/>
                  </a:rPr>
                  <a:t>测试驱动开发</a:t>
                </a:r>
                <a:endParaRPr lang="en-US" sz="1400" dirty="0">
                  <a:solidFill>
                    <a:schemeClr val="tx2"/>
                  </a:solidFill>
                  <a:latin typeface="+mj-ea"/>
                  <a:ea typeface="+mj-ea"/>
                </a:endParaRPr>
              </a:p>
            </p:txBody>
          </p:sp>
          <p:sp>
            <p:nvSpPr>
              <p:cNvPr id="56" name="Oval 55"/>
              <p:cNvSpPr/>
              <p:nvPr/>
            </p:nvSpPr>
            <p:spPr>
              <a:xfrm>
                <a:off x="4675006" y="2486378"/>
                <a:ext cx="1064721" cy="74295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2"/>
                    </a:solidFill>
                    <a:latin typeface="+mj-ea"/>
                    <a:ea typeface="+mj-ea"/>
                  </a:rPr>
                  <a:t>CI </a:t>
                </a:r>
                <a:r>
                  <a:rPr lang="zh-CN" altLang="en-US" sz="1400" dirty="0">
                    <a:solidFill>
                      <a:schemeClr val="tx2"/>
                    </a:solidFill>
                    <a:latin typeface="+mj-ea"/>
                    <a:ea typeface="+mj-ea"/>
                  </a:rPr>
                  <a:t>持续集成</a:t>
                </a:r>
                <a:endParaRPr lang="en-US" sz="1400" dirty="0">
                  <a:solidFill>
                    <a:schemeClr val="tx2"/>
                  </a:solidFill>
                  <a:latin typeface="+mj-ea"/>
                  <a:ea typeface="+mj-ea"/>
                </a:endParaRPr>
              </a:p>
            </p:txBody>
          </p:sp>
          <p:sp>
            <p:nvSpPr>
              <p:cNvPr id="57" name="Oval 56"/>
              <p:cNvSpPr/>
              <p:nvPr/>
            </p:nvSpPr>
            <p:spPr>
              <a:xfrm>
                <a:off x="1916186" y="2429230"/>
                <a:ext cx="1072140" cy="857249"/>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2"/>
                    </a:solidFill>
                    <a:latin typeface="+mj-ea"/>
                    <a:ea typeface="+mj-ea"/>
                  </a:rPr>
                  <a:t>Burn-down </a:t>
                </a:r>
                <a:r>
                  <a:rPr lang="zh-CN" altLang="en-US" sz="1400" dirty="0">
                    <a:solidFill>
                      <a:schemeClr val="tx2"/>
                    </a:solidFill>
                    <a:latin typeface="+mj-ea"/>
                    <a:ea typeface="+mj-ea"/>
                  </a:rPr>
                  <a:t>燃尽图</a:t>
                </a:r>
                <a:endParaRPr lang="en-US" sz="1400" dirty="0">
                  <a:solidFill>
                    <a:schemeClr val="tx2"/>
                  </a:solidFill>
                  <a:latin typeface="+mj-ea"/>
                  <a:ea typeface="+mj-ea"/>
                </a:endParaRPr>
              </a:p>
            </p:txBody>
          </p:sp>
          <p:sp>
            <p:nvSpPr>
              <p:cNvPr id="58" name="Oval 57"/>
              <p:cNvSpPr/>
              <p:nvPr/>
            </p:nvSpPr>
            <p:spPr>
              <a:xfrm>
                <a:off x="4941809" y="4035161"/>
                <a:ext cx="1410702" cy="46479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2"/>
                    </a:solidFill>
                    <a:latin typeface="+mj-ea"/>
                    <a:ea typeface="+mj-ea"/>
                  </a:rPr>
                  <a:t>Refactor </a:t>
                </a:r>
                <a:r>
                  <a:rPr lang="zh-CN" altLang="en-US" sz="1400" dirty="0">
                    <a:solidFill>
                      <a:schemeClr val="tx2"/>
                    </a:solidFill>
                    <a:latin typeface="+mj-ea"/>
                    <a:ea typeface="+mj-ea"/>
                  </a:rPr>
                  <a:t>重构</a:t>
                </a:r>
                <a:endParaRPr lang="en-US" sz="1400" dirty="0">
                  <a:solidFill>
                    <a:schemeClr val="tx2"/>
                  </a:solidFill>
                  <a:latin typeface="+mj-ea"/>
                  <a:ea typeface="+mj-ea"/>
                </a:endParaRPr>
              </a:p>
            </p:txBody>
          </p:sp>
          <p:sp>
            <p:nvSpPr>
              <p:cNvPr id="59" name="Oval 58"/>
              <p:cNvSpPr/>
              <p:nvPr/>
            </p:nvSpPr>
            <p:spPr>
              <a:xfrm>
                <a:off x="2981687" y="2563196"/>
                <a:ext cx="1370395" cy="767577"/>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2"/>
                    </a:solidFill>
                    <a:latin typeface="+mj-ea"/>
                    <a:ea typeface="+mj-ea"/>
                  </a:rPr>
                  <a:t>StandUps</a:t>
                </a:r>
                <a:r>
                  <a:rPr lang="en-US" sz="1400" dirty="0">
                    <a:solidFill>
                      <a:schemeClr val="tx2"/>
                    </a:solidFill>
                    <a:latin typeface="+mj-ea"/>
                    <a:ea typeface="+mj-ea"/>
                  </a:rPr>
                  <a:t> </a:t>
                </a:r>
                <a:r>
                  <a:rPr lang="zh-CN" altLang="en-US" sz="1400" dirty="0">
                    <a:solidFill>
                      <a:schemeClr val="tx2"/>
                    </a:solidFill>
                    <a:latin typeface="+mj-ea"/>
                    <a:ea typeface="+mj-ea"/>
                  </a:rPr>
                  <a:t>站着开会 </a:t>
                </a:r>
                <a:r>
                  <a:rPr lang="en-US" altLang="zh-CN" sz="1400" dirty="0">
                    <a:solidFill>
                      <a:schemeClr val="tx2"/>
                    </a:solidFill>
                    <a:latin typeface="+mj-ea"/>
                    <a:ea typeface="+mj-ea"/>
                  </a:rPr>
                  <a:t>(</a:t>
                </a:r>
                <a:r>
                  <a:rPr lang="zh-CN" altLang="en-US" sz="1400" dirty="0">
                    <a:solidFill>
                      <a:schemeClr val="tx2"/>
                    </a:solidFill>
                    <a:latin typeface="+mj-ea"/>
                    <a:ea typeface="+mj-ea"/>
                  </a:rPr>
                  <a:t>立会</a:t>
                </a:r>
                <a:r>
                  <a:rPr lang="en-US" altLang="zh-CN" sz="1400" dirty="0">
                    <a:solidFill>
                      <a:schemeClr val="tx2"/>
                    </a:solidFill>
                    <a:latin typeface="+mj-ea"/>
                    <a:ea typeface="+mj-ea"/>
                  </a:rPr>
                  <a:t>)</a:t>
                </a:r>
                <a:endParaRPr lang="en-US" sz="1400" dirty="0">
                  <a:solidFill>
                    <a:schemeClr val="tx2"/>
                  </a:solidFill>
                  <a:latin typeface="+mj-ea"/>
                  <a:ea typeface="+mj-ea"/>
                </a:endParaRPr>
              </a:p>
            </p:txBody>
          </p:sp>
          <p:sp>
            <p:nvSpPr>
              <p:cNvPr id="61" name="Oval 60"/>
              <p:cNvSpPr/>
              <p:nvPr/>
            </p:nvSpPr>
            <p:spPr>
              <a:xfrm>
                <a:off x="3185880" y="3938070"/>
                <a:ext cx="1277206" cy="775251"/>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2"/>
                    </a:solidFill>
                    <a:latin typeface="+mj-ea"/>
                    <a:ea typeface="+mj-ea"/>
                  </a:rPr>
                  <a:t>Sprint</a:t>
                </a:r>
                <a:br>
                  <a:rPr lang="en-US" sz="1400" dirty="0">
                    <a:solidFill>
                      <a:schemeClr val="tx2"/>
                    </a:solidFill>
                    <a:latin typeface="+mj-ea"/>
                    <a:ea typeface="+mj-ea"/>
                  </a:rPr>
                </a:br>
                <a:r>
                  <a:rPr lang="en-US" sz="1400" dirty="0">
                    <a:solidFill>
                      <a:schemeClr val="tx2"/>
                    </a:solidFill>
                    <a:latin typeface="+mj-ea"/>
                    <a:ea typeface="+mj-ea"/>
                  </a:rPr>
                  <a:t>Backlog </a:t>
                </a:r>
                <a:r>
                  <a:rPr lang="zh-CN" altLang="en-US" sz="1400" dirty="0">
                    <a:solidFill>
                      <a:schemeClr val="tx2"/>
                    </a:solidFill>
                    <a:latin typeface="+mj-ea"/>
                    <a:ea typeface="+mj-ea"/>
                  </a:rPr>
                  <a:t>冲刺任务</a:t>
                </a:r>
                <a:endParaRPr lang="en-US" sz="1400" dirty="0">
                  <a:solidFill>
                    <a:schemeClr val="tx2"/>
                  </a:solidFill>
                  <a:latin typeface="+mj-ea"/>
                  <a:ea typeface="+mj-ea"/>
                </a:endParaRPr>
              </a:p>
            </p:txBody>
          </p:sp>
          <p:sp>
            <p:nvSpPr>
              <p:cNvPr id="64" name="Oval 63"/>
              <p:cNvSpPr/>
              <p:nvPr/>
            </p:nvSpPr>
            <p:spPr>
              <a:xfrm>
                <a:off x="3509569" y="3226975"/>
                <a:ext cx="1872810" cy="771593"/>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2"/>
                    </a:solidFill>
                    <a:latin typeface="+mj-ea"/>
                    <a:ea typeface="+mj-ea"/>
                  </a:rPr>
                  <a:t>Pair Programming </a:t>
                </a:r>
                <a:r>
                  <a:rPr lang="zh-CN" altLang="en-US" sz="1400" dirty="0">
                    <a:solidFill>
                      <a:schemeClr val="tx2"/>
                    </a:solidFill>
                    <a:latin typeface="+mj-ea"/>
                    <a:ea typeface="+mj-ea"/>
                  </a:rPr>
                  <a:t>结对编程</a:t>
                </a:r>
                <a:endParaRPr lang="en-US" sz="1400" dirty="0">
                  <a:solidFill>
                    <a:schemeClr val="tx2"/>
                  </a:solidFill>
                  <a:latin typeface="+mj-ea"/>
                  <a:ea typeface="+mj-ea"/>
                </a:endParaRPr>
              </a:p>
            </p:txBody>
          </p:sp>
          <p:cxnSp>
            <p:nvCxnSpPr>
              <p:cNvPr id="65" name="Straight Connector 64"/>
              <p:cNvCxnSpPr>
                <a:stCxn id="48" idx="4"/>
                <a:endCxn id="62" idx="0"/>
              </p:cNvCxnSpPr>
              <p:nvPr/>
            </p:nvCxnSpPr>
            <p:spPr>
              <a:xfrm flipH="1">
                <a:off x="718806" y="2104336"/>
                <a:ext cx="458240" cy="634907"/>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a:stCxn id="63" idx="0"/>
                <a:endCxn id="48" idx="4"/>
              </p:cNvCxnSpPr>
              <p:nvPr/>
            </p:nvCxnSpPr>
            <p:spPr>
              <a:xfrm flipH="1" flipV="1">
                <a:off x="1177046" y="2104336"/>
                <a:ext cx="472271" cy="935134"/>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a:stCxn id="60" idx="0"/>
                <a:endCxn id="48" idx="4"/>
              </p:cNvCxnSpPr>
              <p:nvPr/>
            </p:nvCxnSpPr>
            <p:spPr>
              <a:xfrm flipH="1" flipV="1">
                <a:off x="1177046" y="2104336"/>
                <a:ext cx="1279412" cy="161996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stCxn id="46" idx="4"/>
                <a:endCxn id="60" idx="0"/>
              </p:cNvCxnSpPr>
              <p:nvPr/>
            </p:nvCxnSpPr>
            <p:spPr>
              <a:xfrm flipH="1">
                <a:off x="2456458" y="2164406"/>
                <a:ext cx="427038" cy="1559895"/>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6" idx="4"/>
                <a:endCxn id="57" idx="0"/>
              </p:cNvCxnSpPr>
              <p:nvPr/>
            </p:nvCxnSpPr>
            <p:spPr>
              <a:xfrm flipH="1">
                <a:off x="2452256" y="2164406"/>
                <a:ext cx="431240" cy="264824"/>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46" idx="4"/>
                <a:endCxn id="59" idx="0"/>
              </p:cNvCxnSpPr>
              <p:nvPr/>
            </p:nvCxnSpPr>
            <p:spPr>
              <a:xfrm>
                <a:off x="2883496" y="2164406"/>
                <a:ext cx="783389" cy="39879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47" idx="4"/>
                <a:endCxn id="59" idx="0"/>
              </p:cNvCxnSpPr>
              <p:nvPr/>
            </p:nvCxnSpPr>
            <p:spPr>
              <a:xfrm flipH="1">
                <a:off x="3666885" y="2169668"/>
                <a:ext cx="537106" cy="39352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49" idx="4"/>
                <a:endCxn id="54" idx="0"/>
              </p:cNvCxnSpPr>
              <p:nvPr/>
            </p:nvCxnSpPr>
            <p:spPr>
              <a:xfrm>
                <a:off x="5635014" y="2034632"/>
                <a:ext cx="506281" cy="106198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4"/>
                <a:endCxn id="64" idx="0"/>
              </p:cNvCxnSpPr>
              <p:nvPr/>
            </p:nvCxnSpPr>
            <p:spPr>
              <a:xfrm>
                <a:off x="4203991" y="2169668"/>
                <a:ext cx="241983" cy="1057307"/>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49" idx="4"/>
                <a:endCxn id="55" idx="0"/>
              </p:cNvCxnSpPr>
              <p:nvPr/>
            </p:nvCxnSpPr>
            <p:spPr>
              <a:xfrm>
                <a:off x="5635014" y="2034632"/>
                <a:ext cx="996004" cy="31087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p:nvPr/>
            </p:nvCxnSpPr>
            <p:spPr>
              <a:xfrm>
                <a:off x="6972301" y="803468"/>
                <a:ext cx="0" cy="3857983"/>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a:stCxn id="54" idx="4"/>
                <a:endCxn id="58" idx="7"/>
              </p:cNvCxnSpPr>
              <p:nvPr/>
            </p:nvCxnSpPr>
            <p:spPr>
              <a:xfrm>
                <a:off x="6141295" y="3839570"/>
                <a:ext cx="4623" cy="26365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48" idx="4"/>
                <a:endCxn id="40" idx="0"/>
              </p:cNvCxnSpPr>
              <p:nvPr/>
            </p:nvCxnSpPr>
            <p:spPr>
              <a:xfrm flipH="1">
                <a:off x="815208" y="2104336"/>
                <a:ext cx="361838" cy="1656388"/>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Oval 48"/>
              <p:cNvSpPr/>
              <p:nvPr/>
            </p:nvSpPr>
            <p:spPr>
              <a:xfrm>
                <a:off x="4976285" y="1511258"/>
                <a:ext cx="1317457" cy="523374"/>
              </a:xfrm>
              <a:prstGeom prst="ellips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1600" dirty="0">
                    <a:solidFill>
                      <a:schemeClr val="bg1"/>
                    </a:solidFill>
                    <a:latin typeface="+mj-ea"/>
                    <a:ea typeface="+mj-ea"/>
                  </a:rPr>
                  <a:t>Others</a:t>
                </a:r>
                <a:endParaRPr lang="en-US" sz="1600" dirty="0">
                  <a:solidFill>
                    <a:schemeClr val="bg1"/>
                  </a:solidFill>
                  <a:latin typeface="+mj-ea"/>
                  <a:ea typeface="+mj-ea"/>
                </a:endParaRPr>
              </a:p>
            </p:txBody>
          </p:sp>
          <p:sp>
            <p:nvSpPr>
              <p:cNvPr id="55" name="Oval 54"/>
              <p:cNvSpPr/>
              <p:nvPr/>
            </p:nvSpPr>
            <p:spPr>
              <a:xfrm>
                <a:off x="6063460" y="2345502"/>
                <a:ext cx="1135116" cy="7429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2"/>
                    </a:solidFill>
                    <a:latin typeface="+mj-ea"/>
                    <a:ea typeface="+mj-ea"/>
                  </a:rPr>
                  <a:t>BDD </a:t>
                </a:r>
                <a:r>
                  <a:rPr lang="zh-CN" altLang="en-US" sz="1400" dirty="0">
                    <a:solidFill>
                      <a:schemeClr val="tx2"/>
                    </a:solidFill>
                    <a:latin typeface="+mj-ea"/>
                    <a:ea typeface="+mj-ea"/>
                  </a:rPr>
                  <a:t>行为驱动的开发</a:t>
                </a:r>
                <a:endParaRPr lang="en-US" sz="1400" dirty="0">
                  <a:solidFill>
                    <a:schemeClr val="tx2"/>
                  </a:solidFill>
                  <a:latin typeface="+mj-ea"/>
                  <a:ea typeface="+mj-ea"/>
                </a:endParaRPr>
              </a:p>
            </p:txBody>
          </p:sp>
          <p:sp>
            <p:nvSpPr>
              <p:cNvPr id="63" name="Oval 62"/>
              <p:cNvSpPr/>
              <p:nvPr/>
            </p:nvSpPr>
            <p:spPr>
              <a:xfrm>
                <a:off x="1030504" y="3039470"/>
                <a:ext cx="1237626" cy="8001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2"/>
                    </a:solidFill>
                    <a:latin typeface="+mj-ea"/>
                    <a:ea typeface="+mj-ea"/>
                  </a:rPr>
                  <a:t>Feature Team </a:t>
                </a:r>
                <a:r>
                  <a:rPr lang="zh-CN" altLang="en-US" sz="1400" dirty="0">
                    <a:solidFill>
                      <a:schemeClr val="tx2"/>
                    </a:solidFill>
                    <a:latin typeface="+mj-ea"/>
                    <a:ea typeface="+mj-ea"/>
                  </a:rPr>
                  <a:t>功能团队</a:t>
                </a:r>
                <a:endParaRPr lang="en-US" sz="1400" dirty="0">
                  <a:solidFill>
                    <a:schemeClr val="tx2"/>
                  </a:solidFill>
                  <a:latin typeface="+mj-ea"/>
                  <a:ea typeface="+mj-ea"/>
                </a:endParaRPr>
              </a:p>
            </p:txBody>
          </p:sp>
          <p:sp>
            <p:nvSpPr>
              <p:cNvPr id="60" name="Oval 59"/>
              <p:cNvSpPr/>
              <p:nvPr/>
            </p:nvSpPr>
            <p:spPr>
              <a:xfrm>
                <a:off x="1566224" y="3724301"/>
                <a:ext cx="1780468" cy="1137455"/>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2"/>
                    </a:solidFill>
                    <a:latin typeface="+mj-ea"/>
                    <a:ea typeface="+mj-ea"/>
                  </a:rPr>
                  <a:t>Feature List / Product</a:t>
                </a:r>
                <a:br>
                  <a:rPr lang="en-US" sz="1400" dirty="0">
                    <a:solidFill>
                      <a:schemeClr val="tx2"/>
                    </a:solidFill>
                    <a:latin typeface="+mj-ea"/>
                    <a:ea typeface="+mj-ea"/>
                  </a:rPr>
                </a:br>
                <a:r>
                  <a:rPr lang="en-US" sz="1400" dirty="0">
                    <a:solidFill>
                      <a:schemeClr val="tx2"/>
                    </a:solidFill>
                    <a:latin typeface="+mj-ea"/>
                    <a:ea typeface="+mj-ea"/>
                  </a:rPr>
                  <a:t>Backlog </a:t>
                </a:r>
                <a:r>
                  <a:rPr lang="zh-CN" altLang="en-US" sz="1400" dirty="0">
                    <a:solidFill>
                      <a:schemeClr val="tx2"/>
                    </a:solidFill>
                    <a:latin typeface="+mj-ea"/>
                    <a:ea typeface="+mj-ea"/>
                  </a:rPr>
                  <a:t>功能列表 </a:t>
                </a:r>
                <a:r>
                  <a:rPr lang="en-US" altLang="zh-CN" sz="1400" dirty="0">
                    <a:solidFill>
                      <a:schemeClr val="tx2"/>
                    </a:solidFill>
                    <a:latin typeface="+mj-ea"/>
                    <a:ea typeface="+mj-ea"/>
                  </a:rPr>
                  <a:t>/ </a:t>
                </a:r>
                <a:r>
                  <a:rPr lang="zh-CN" altLang="en-US" sz="1400" dirty="0">
                    <a:solidFill>
                      <a:schemeClr val="tx2"/>
                    </a:solidFill>
                    <a:latin typeface="+mj-ea"/>
                    <a:ea typeface="+mj-ea"/>
                  </a:rPr>
                  <a:t>产品待办事项</a:t>
                </a:r>
                <a:endParaRPr lang="en-US" sz="1400" dirty="0">
                  <a:solidFill>
                    <a:schemeClr val="tx2"/>
                  </a:solidFill>
                  <a:latin typeface="+mj-ea"/>
                  <a:ea typeface="+mj-ea"/>
                </a:endParaRPr>
              </a:p>
            </p:txBody>
          </p:sp>
        </p:grpSp>
      </p:grpSp>
      <p:sp>
        <p:nvSpPr>
          <p:cNvPr id="206" name="日期占位符 205"/>
          <p:cNvSpPr>
            <a:spLocks noGrp="1"/>
          </p:cNvSpPr>
          <p:nvPr>
            <p:ph type="dt" sz="half" idx="10"/>
          </p:nvPr>
        </p:nvSpPr>
        <p:spPr/>
        <p:txBody>
          <a:bodyPr/>
          <a:lstStyle/>
          <a:p>
            <a:fld id="{E71D89C3-02D0-48D3-93A5-1591846DAA67}" type="datetime1">
              <a:rPr lang="zh-CN" altLang="en-US" smtClean="0"/>
            </a:fld>
            <a:endParaRPr lang="zh-CN" altLang="en-US"/>
          </a:p>
        </p:txBody>
      </p:sp>
      <p:sp>
        <p:nvSpPr>
          <p:cNvPr id="207" name="页脚占位符 206"/>
          <p:cNvSpPr>
            <a:spLocks noGrp="1"/>
          </p:cNvSpPr>
          <p:nvPr>
            <p:ph type="ftr" sz="quarter" idx="11"/>
          </p:nvPr>
        </p:nvSpPr>
        <p:spPr/>
        <p:txBody>
          <a:bodyPr/>
          <a:lstStyle/>
          <a:p>
            <a:r>
              <a:rPr lang="zh-CN" altLang="en-US"/>
              <a:t>软件工程</a:t>
            </a:r>
            <a:endParaRPr lang="zh-CN" altLang="en-US"/>
          </a:p>
        </p:txBody>
      </p:sp>
      <p:sp>
        <p:nvSpPr>
          <p:cNvPr id="208" name="灯片编号占位符 207"/>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什么是敏捷过程</a:t>
            </a:r>
            <a:endParaRPr lang="en-US" altLang="zh-CN" dirty="0"/>
          </a:p>
          <a:p>
            <a:pPr>
              <a:buNone/>
            </a:pPr>
            <a:r>
              <a:rPr lang="zh-CN" altLang="en-US" dirty="0"/>
              <a:t>         敏捷过程是容易适应变化并迅速做出调整，在保证质量的前提下做到文档适量适度。</a:t>
            </a:r>
            <a:endParaRPr lang="en-US" altLang="zh-CN" dirty="0"/>
          </a:p>
          <a:p>
            <a:r>
              <a:rPr lang="zh-CN" altLang="en-US" dirty="0"/>
              <a:t>敏捷开发方法并不是一个具体的过程，而是一个概况性的术语。具有</a:t>
            </a:r>
            <a:r>
              <a:rPr lang="zh-CN" altLang="en-US" dirty="0">
                <a:solidFill>
                  <a:srgbClr val="FF0000"/>
                </a:solidFill>
              </a:rPr>
              <a:t>以人为核心</a:t>
            </a:r>
            <a:r>
              <a:rPr lang="zh-CN" altLang="en-US" dirty="0"/>
              <a:t>、</a:t>
            </a:r>
            <a:r>
              <a:rPr lang="zh-CN" altLang="en-US" dirty="0">
                <a:solidFill>
                  <a:srgbClr val="FF0000"/>
                </a:solidFill>
              </a:rPr>
              <a:t>循环迭代</a:t>
            </a:r>
            <a:r>
              <a:rPr lang="zh-CN" altLang="en-US" dirty="0"/>
              <a:t>、</a:t>
            </a:r>
            <a:r>
              <a:rPr lang="zh-CN" altLang="en-US" dirty="0">
                <a:solidFill>
                  <a:srgbClr val="FF0000"/>
                </a:solidFill>
              </a:rPr>
              <a:t>响应变化</a:t>
            </a:r>
            <a:r>
              <a:rPr lang="zh-CN" altLang="en-US" dirty="0"/>
              <a:t>的特点，着眼于高质量的快速交付令客户满意的工作软件。</a:t>
            </a:r>
            <a:endParaRPr lang="en-US" altLang="zh-CN" dirty="0"/>
          </a:p>
          <a:p>
            <a:endParaRPr lang="en-US" altLang="zh-CN" dirty="0"/>
          </a:p>
          <a:p>
            <a:endParaRPr lang="zh-CN" altLang="en-US" dirty="0"/>
          </a:p>
        </p:txBody>
      </p:sp>
      <p:sp>
        <p:nvSpPr>
          <p:cNvPr id="3" name="标题 2"/>
          <p:cNvSpPr>
            <a:spLocks noGrp="1"/>
          </p:cNvSpPr>
          <p:nvPr>
            <p:ph type="title"/>
          </p:nvPr>
        </p:nvSpPr>
        <p:spPr/>
        <p:txBody>
          <a:bodyPr/>
          <a:lstStyle/>
          <a:p>
            <a:r>
              <a:rPr lang="zh-CN" altLang="en-US" dirty="0"/>
              <a:t>（</a:t>
            </a:r>
            <a:r>
              <a:rPr lang="en-US" altLang="zh-CN" dirty="0"/>
              <a:t>7</a:t>
            </a:r>
            <a:r>
              <a:rPr lang="zh-CN" altLang="en-US" dirty="0"/>
              <a:t>）</a:t>
            </a:r>
            <a:r>
              <a:rPr lang="en-US" altLang="zh-CN" dirty="0"/>
              <a:t> </a:t>
            </a:r>
            <a:r>
              <a:rPr lang="zh-CN" altLang="en-US" dirty="0"/>
              <a:t>敏捷</a:t>
            </a:r>
            <a:r>
              <a:rPr lang="fr-FR" altLang="zh-CN" dirty="0"/>
              <a:t>(</a:t>
            </a:r>
            <a:r>
              <a:rPr lang="zh-CN" altLang="en-US" dirty="0"/>
              <a:t>灵活</a:t>
            </a:r>
            <a:r>
              <a:rPr lang="fr-FR" altLang="zh-CN" dirty="0"/>
              <a:t>)</a:t>
            </a:r>
            <a:r>
              <a:rPr lang="zh-CN" altLang="en-US" dirty="0"/>
              <a:t>开发</a:t>
            </a:r>
            <a:endParaRPr lang="zh-CN"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a:bodyPr>
          <a:lstStyle/>
          <a:p>
            <a:pPr fontAlgn="auto">
              <a:spcBef>
                <a:spcPts val="0"/>
              </a:spcBef>
            </a:pPr>
            <a:r>
              <a:rPr lang="zh-CN" altLang="en-US" dirty="0"/>
              <a:t>开发过程</a:t>
            </a:r>
            <a:r>
              <a:rPr lang="zh-CN" altLang="en-US" dirty="0">
                <a:solidFill>
                  <a:srgbClr val="FF0000"/>
                </a:solidFill>
              </a:rPr>
              <a:t>以代码为核心</a:t>
            </a:r>
            <a:r>
              <a:rPr lang="zh-CN" altLang="en-US" dirty="0"/>
              <a:t>，而不是以文档为核心。代码编写，测试，发布，重构，然后进入第二次迭代，经过多次小型</a:t>
            </a:r>
            <a:r>
              <a:rPr lang="zh-CN" altLang="en-US" dirty="0">
                <a:solidFill>
                  <a:srgbClr val="FF0000"/>
                </a:solidFill>
              </a:rPr>
              <a:t>迭代</a:t>
            </a:r>
            <a:r>
              <a:rPr lang="zh-CN" altLang="en-US" dirty="0"/>
              <a:t>开发过程逐步逼近实际需求。</a:t>
            </a:r>
            <a:endParaRPr lang="en-US" altLang="zh-CN" dirty="0"/>
          </a:p>
          <a:p>
            <a:pPr fontAlgn="auto">
              <a:spcBef>
                <a:spcPts val="0"/>
              </a:spcBef>
            </a:pPr>
            <a:r>
              <a:rPr lang="zh-CN" altLang="en-US" dirty="0">
                <a:solidFill>
                  <a:srgbClr val="FF0000"/>
                </a:solidFill>
              </a:rPr>
              <a:t>以人为本</a:t>
            </a:r>
            <a:r>
              <a:rPr lang="zh-CN" altLang="en-US" dirty="0"/>
              <a:t>。程序员在软件开发中不再是单纯被管理的对象，而是开发的主体。所有的主要设计策略的制定，开发方法的选择，需求的确定都由程序员决定，因为他们才是真正生产软件的人，他们最了解如何开发软件。</a:t>
            </a:r>
            <a:endParaRPr lang="zh-CN" altLang="en-US" dirty="0"/>
          </a:p>
        </p:txBody>
      </p:sp>
      <p:sp>
        <p:nvSpPr>
          <p:cNvPr id="3" name="标题 2"/>
          <p:cNvSpPr>
            <a:spLocks noGrp="1"/>
          </p:cNvSpPr>
          <p:nvPr>
            <p:ph type="title"/>
          </p:nvPr>
        </p:nvSpPr>
        <p:spPr/>
        <p:txBody>
          <a:bodyPr/>
          <a:lstStyle/>
          <a:p>
            <a:r>
              <a:rPr lang="zh-CN" altLang="en-US" dirty="0"/>
              <a:t>敏捷方法的特征</a:t>
            </a:r>
            <a:endParaRPr lang="zh-CN"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敏捷方法：适应而非预测 </a:t>
            </a:r>
            <a:endParaRPr lang="zh-CN" altLang="en-US" dirty="0"/>
          </a:p>
        </p:txBody>
      </p:sp>
      <p:sp>
        <p:nvSpPr>
          <p:cNvPr id="4" name="日期占位符 3"/>
          <p:cNvSpPr>
            <a:spLocks noGrp="1"/>
          </p:cNvSpPr>
          <p:nvPr>
            <p:ph type="dt" sz="half" idx="10"/>
          </p:nvPr>
        </p:nvSpPr>
        <p:spPr/>
        <p:txBody>
          <a:bodyPr/>
          <a:lstStyle/>
          <a:p>
            <a:fld id="{0BD5049A-74A1-4E85-AA8C-CB03E70D0D56}"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58101" y="968980"/>
            <a:ext cx="7618903" cy="3525483"/>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fontAlgn="auto">
              <a:lnSpc>
                <a:spcPct val="100000"/>
              </a:lnSpc>
            </a:pPr>
            <a:r>
              <a:rPr lang="zh-CN" altLang="en-US" dirty="0"/>
              <a:t>这个问题的答案就是靠人</a:t>
            </a:r>
            <a:r>
              <a:rPr lang="zh-CN" altLang="en-US" dirty="0">
                <a:solidFill>
                  <a:srgbClr val="FF0000"/>
                </a:solidFill>
              </a:rPr>
              <a:t>自我的管理</a:t>
            </a:r>
            <a:r>
              <a:rPr lang="zh-CN" altLang="en-US" dirty="0"/>
              <a:t>，团队自我的管理。</a:t>
            </a:r>
            <a:endParaRPr lang="en-US" altLang="zh-CN" dirty="0"/>
          </a:p>
          <a:p>
            <a:pPr fontAlgn="auto">
              <a:lnSpc>
                <a:spcPct val="100000"/>
              </a:lnSpc>
            </a:pPr>
            <a:r>
              <a:rPr lang="zh-CN" altLang="en-US" dirty="0"/>
              <a:t>敏捷方法抛弃了机械、严格的过程控制，就必须依赖于程序员和开发团队的高标准自我要求：严格的自律，团队合作精神，个人高度自觉的主动性，责任感。敏捷方法的高效和高质量实际上是以程序员的高素质和开发团队的高度合作的开发文化为基础的。</a:t>
            </a:r>
            <a:endParaRPr lang="zh-CN" altLang="en-US" dirty="0"/>
          </a:p>
        </p:txBody>
      </p:sp>
      <p:sp>
        <p:nvSpPr>
          <p:cNvPr id="3" name="标题 2"/>
          <p:cNvSpPr>
            <a:spLocks noGrp="1"/>
          </p:cNvSpPr>
          <p:nvPr>
            <p:ph type="title"/>
          </p:nvPr>
        </p:nvSpPr>
        <p:spPr/>
        <p:txBody>
          <a:bodyPr>
            <a:normAutofit/>
          </a:bodyPr>
          <a:lstStyle/>
          <a:p>
            <a:r>
              <a:rPr lang="zh-CN" altLang="en-US" dirty="0"/>
              <a:t>敏捷方法如何保证开发进度，开发效率，开发质量？</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敏捷对团队的要求</a:t>
            </a:r>
            <a:endParaRPr lang="en-US" dirty="0"/>
          </a:p>
        </p:txBody>
      </p:sp>
      <p:sp>
        <p:nvSpPr>
          <p:cNvPr id="3" name="内容占位符 2"/>
          <p:cNvSpPr>
            <a:spLocks noGrp="1"/>
          </p:cNvSpPr>
          <p:nvPr>
            <p:ph idx="1"/>
          </p:nvPr>
        </p:nvSpPr>
        <p:spPr/>
        <p:txBody>
          <a:bodyPr>
            <a:noAutofit/>
          </a:bodyPr>
          <a:lstStyle/>
          <a:p>
            <a:pPr marL="342900" indent="-342900">
              <a:lnSpc>
                <a:spcPct val="100000"/>
              </a:lnSpc>
              <a:spcBef>
                <a:spcPts val="600"/>
              </a:spcBef>
            </a:pPr>
            <a:r>
              <a:rPr lang="zh-CN" altLang="en-US" sz="2200" b="1" dirty="0"/>
              <a:t>自主管理</a:t>
            </a:r>
            <a:r>
              <a:rPr lang="zh-CN" altLang="en-US" sz="2200" dirty="0"/>
              <a:t>（</a:t>
            </a:r>
            <a:r>
              <a:rPr lang="en-US" altLang="zh-CN" sz="2200" dirty="0"/>
              <a:t>Self-managing</a:t>
            </a:r>
            <a:r>
              <a:rPr lang="zh-CN" altLang="en-US" sz="2200" dirty="0"/>
              <a:t>）：以前领导布置了任务，我们实现就可以了，现在要自己挑选任务；每次 </a:t>
            </a:r>
            <a:r>
              <a:rPr lang="en-US" altLang="zh-CN" sz="2200" dirty="0"/>
              <a:t>Sprint </a:t>
            </a:r>
            <a:r>
              <a:rPr lang="zh-CN" altLang="en-US" sz="2200" dirty="0"/>
              <a:t>结束之后，还要总结不足，提出改进，并且自己要实施这些改进。“自主管理” 不等于“没有管理”。</a:t>
            </a:r>
            <a:endParaRPr lang="en-US" altLang="zh-CN" sz="2200" dirty="0"/>
          </a:p>
          <a:p>
            <a:pPr marL="342900" indent="-342900">
              <a:lnSpc>
                <a:spcPct val="100000"/>
              </a:lnSpc>
              <a:spcBef>
                <a:spcPts val="600"/>
              </a:spcBef>
            </a:pPr>
            <a:r>
              <a:rPr lang="zh-CN" altLang="en-US" sz="2200" b="1" dirty="0"/>
              <a:t>自我组织</a:t>
            </a:r>
            <a:r>
              <a:rPr lang="zh-CN" altLang="en-US" sz="2200" dirty="0"/>
              <a:t>（</a:t>
            </a:r>
            <a:r>
              <a:rPr lang="en-US" altLang="zh-CN" sz="2200" dirty="0"/>
              <a:t>Self-organizing</a:t>
            </a:r>
            <a:r>
              <a:rPr lang="zh-CN" altLang="en-US" sz="2200" dirty="0"/>
              <a:t>）</a:t>
            </a:r>
            <a:r>
              <a:rPr lang="zh-CN" altLang="en-US" sz="2200" b="1" dirty="0"/>
              <a:t>：</a:t>
            </a:r>
            <a:r>
              <a:rPr lang="zh-CN" altLang="en-US" sz="2200" dirty="0"/>
              <a:t>以前做好自己的事情就好了，安心下班。现在每个人要联合起来对项目负责， 有人工作落后了还要帮助他改进，项目缺少某类资源还要自己顶上去。 </a:t>
            </a:r>
            <a:endParaRPr lang="en-US" altLang="zh-CN" sz="2200" dirty="0"/>
          </a:p>
          <a:p>
            <a:pPr marL="342900" indent="-342900">
              <a:lnSpc>
                <a:spcPct val="100000"/>
              </a:lnSpc>
              <a:spcBef>
                <a:spcPts val="600"/>
              </a:spcBef>
            </a:pPr>
            <a:r>
              <a:rPr lang="zh-CN" altLang="en-US" sz="2200" b="1" dirty="0"/>
              <a:t>多功能型</a:t>
            </a:r>
            <a:r>
              <a:rPr lang="zh-CN" altLang="en-US" sz="2200" dirty="0"/>
              <a:t>（</a:t>
            </a:r>
            <a:r>
              <a:rPr lang="en-US" altLang="zh-CN" sz="2200" dirty="0"/>
              <a:t>Cross-functional</a:t>
            </a:r>
            <a:r>
              <a:rPr lang="zh-CN" altLang="en-US" sz="2200" dirty="0"/>
              <a:t>）</a:t>
            </a:r>
            <a:r>
              <a:rPr lang="zh-CN" altLang="en-US" sz="2200" b="1" dirty="0"/>
              <a:t>：</a:t>
            </a:r>
            <a:r>
              <a:rPr lang="zh-CN" altLang="en-US" sz="2200" dirty="0"/>
              <a:t>以前规格说明书由</a:t>
            </a:r>
            <a:r>
              <a:rPr lang="en-US" altLang="zh-CN" sz="2200" dirty="0"/>
              <a:t>PM</a:t>
            </a:r>
            <a:r>
              <a:rPr lang="zh-CN" altLang="en-US" sz="2200" dirty="0"/>
              <a:t>来写，测试由测试人员来做，现在每个人都全面负责， 自己搞定规格说明书，和别人沟通，同时自己搞定测试。</a:t>
            </a:r>
            <a:endParaRPr lang="zh-CN" altLang="en-US" sz="2200" dirty="0"/>
          </a:p>
        </p:txBody>
      </p:sp>
      <p:sp>
        <p:nvSpPr>
          <p:cNvPr id="4" name="日期占位符 3"/>
          <p:cNvSpPr>
            <a:spLocks noGrp="1"/>
          </p:cNvSpPr>
          <p:nvPr>
            <p:ph type="dt" sz="half" idx="10"/>
          </p:nvPr>
        </p:nvSpPr>
        <p:spPr/>
        <p:txBody>
          <a:bodyPr/>
          <a:lstStyle/>
          <a:p>
            <a:fld id="{33863B99-652C-4C8A-961E-01BE568E3274}"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何时选择敏捷？</a:t>
            </a:r>
            <a:endParaRPr lang="zh-CN" altLang="en-US" dirty="0"/>
          </a:p>
        </p:txBody>
      </p:sp>
      <p:sp>
        <p:nvSpPr>
          <p:cNvPr id="4" name="日期占位符 3"/>
          <p:cNvSpPr>
            <a:spLocks noGrp="1"/>
          </p:cNvSpPr>
          <p:nvPr>
            <p:ph type="dt" sz="half" idx="10"/>
          </p:nvPr>
        </p:nvSpPr>
        <p:spPr/>
        <p:txBody>
          <a:bodyPr/>
          <a:lstStyle/>
          <a:p>
            <a:fld id="{C2732816-192E-4070-BC82-470780D5C39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Content Placeholder 3"/>
          <p:cNvPicPr>
            <a:picLocks noGrp="1" noChangeAspect="1"/>
          </p:cNvPicPr>
          <p:nvPr>
            <p:ph idx="1"/>
          </p:nvPr>
        </p:nvPicPr>
        <p:blipFill>
          <a:blip r:embed="rId1"/>
          <a:stretch>
            <a:fillRect/>
          </a:stretch>
        </p:blipFill>
        <p:spPr>
          <a:xfrm>
            <a:off x="374573" y="665302"/>
            <a:ext cx="8382577" cy="4351338"/>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敏捷开发流程</a:t>
            </a:r>
            <a:endParaRPr lang="zh-CN" altLang="en-US"/>
          </a:p>
        </p:txBody>
      </p:sp>
      <p:sp>
        <p:nvSpPr>
          <p:cNvPr id="4" name="日期占位符 3"/>
          <p:cNvSpPr>
            <a:spLocks noGrp="1"/>
          </p:cNvSpPr>
          <p:nvPr>
            <p:ph type="dt" sz="half" idx="10"/>
          </p:nvPr>
        </p:nvSpPr>
        <p:spPr/>
        <p:txBody>
          <a:bodyPr/>
          <a:lstStyle/>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9" name="内容占位符 6"/>
          <p:cNvPicPr>
            <a:picLocks noGrp="1" noChangeAspect="1"/>
          </p:cNvPicPr>
          <p:nvPr>
            <p:custDataLst>
              <p:tags r:id="rId1"/>
            </p:custDataLst>
          </p:nvPr>
        </p:nvPicPr>
        <p:blipFill>
          <a:blip r:embed="rId2">
            <a:extLst>
              <a:ext uri="{28A0092B-C50C-407E-A947-70E740481C1C}">
                <a14:useLocalDpi xmlns:a14="http://schemas.microsoft.com/office/drawing/2010/main" val="0"/>
              </a:ext>
            </a:extLst>
          </a:blip>
          <a:srcRect t="11296" b="4233"/>
          <a:stretch>
            <a:fillRect/>
          </a:stretch>
        </p:blipFill>
        <p:spPr>
          <a:xfrm>
            <a:off x="834390" y="765175"/>
            <a:ext cx="7475220" cy="416941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敏捷开发的代表方法</a:t>
            </a:r>
            <a:endParaRPr lang="zh-CN" altLang="en-US" dirty="0"/>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4" name="日期占位符 3"/>
          <p:cNvSpPr>
            <a:spLocks noGrp="1"/>
          </p:cNvSpPr>
          <p:nvPr>
            <p:ph type="dt" sz="half" idx="10"/>
          </p:nvPr>
        </p:nvSpPr>
        <p:spPr/>
        <p:txBody>
          <a:bodyPr/>
          <a:lstStyle/>
          <a:p>
            <a:fld id="{CB8A9950-ADF4-4FF4-967D-F99C057EA2E8}"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pic>
        <p:nvPicPr>
          <p:cNvPr id="7" name="图片 6"/>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33221" y="828913"/>
            <a:ext cx="7359904" cy="3785698"/>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敏捷开发方法</a:t>
            </a:r>
            <a:endParaRPr lang="zh-CN" altLang="en-US" dirty="0"/>
          </a:p>
        </p:txBody>
      </p:sp>
      <p:sp>
        <p:nvSpPr>
          <p:cNvPr id="4" name="日期占位符 3"/>
          <p:cNvSpPr>
            <a:spLocks noGrp="1"/>
          </p:cNvSpPr>
          <p:nvPr>
            <p:ph type="dt" sz="half" idx="10"/>
          </p:nvPr>
        </p:nvSpPr>
        <p:spPr/>
        <p:txBody>
          <a:bodyPr/>
          <a:lstStyle/>
          <a:p>
            <a:fld id="{474D7989-7FA0-490D-8C14-EE552DC0ECC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26276" y="900163"/>
            <a:ext cx="7433953" cy="3668843"/>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p:txBody>
          <a:bodyPr>
            <a:normAutofit/>
          </a:bodyPr>
          <a:lstStyle/>
          <a:p>
            <a:r>
              <a:rPr lang="zh-CN" altLang="en-US" sz="4400" dirty="0">
                <a:solidFill>
                  <a:schemeClr val="tx1"/>
                </a:solidFill>
              </a:rPr>
              <a:t>敏捷开发之</a:t>
            </a:r>
            <a:r>
              <a:rPr lang="en-US" altLang="zh-CN" sz="4400" cap="none" dirty="0">
                <a:solidFill>
                  <a:schemeClr val="tx1"/>
                </a:solidFill>
              </a:rPr>
              <a:t>Scrum</a:t>
            </a:r>
            <a:endParaRPr lang="zh-CN" altLang="en-US" sz="4400" cap="none" dirty="0">
              <a:solidFill>
                <a:schemeClr val="tx1"/>
              </a:solidFill>
            </a:endParaRPr>
          </a:p>
        </p:txBody>
      </p:sp>
      <p:sp>
        <p:nvSpPr>
          <p:cNvPr id="8" name="副标题 7"/>
          <p:cNvSpPr>
            <a:spLocks noGrp="1"/>
          </p:cNvSpPr>
          <p:nvPr>
            <p:ph type="subTitle" idx="1"/>
          </p:nvPr>
        </p:nvSpPr>
        <p:spPr/>
        <p:txBody>
          <a:bodyPr/>
          <a:lstStyle/>
          <a:p>
            <a:endParaRPr lang="zh-CN" altLang="en-US" dirty="0"/>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cap="none" dirty="0"/>
              <a:t>Scrum</a:t>
            </a:r>
            <a:endParaRPr lang="zh-CN" altLang="en-US" cap="none" dirty="0"/>
          </a:p>
        </p:txBody>
      </p:sp>
      <p:sp>
        <p:nvSpPr>
          <p:cNvPr id="3" name="内容占位符 2"/>
          <p:cNvSpPr>
            <a:spLocks noGrp="1"/>
          </p:cNvSpPr>
          <p:nvPr>
            <p:ph idx="1"/>
          </p:nvPr>
        </p:nvSpPr>
        <p:spPr>
          <a:xfrm>
            <a:off x="768097" y="1127341"/>
            <a:ext cx="7832833" cy="3604679"/>
          </a:xfrm>
        </p:spPr>
        <p:txBody>
          <a:bodyPr>
            <a:normAutofit fontScale="87500" lnSpcReduction="20000"/>
          </a:bodyPr>
          <a:lstStyle/>
          <a:p>
            <a:pPr fontAlgn="auto">
              <a:lnSpc>
                <a:spcPct val="100000"/>
              </a:lnSpc>
              <a:spcBef>
                <a:spcPts val="0"/>
              </a:spcBef>
            </a:pPr>
            <a:r>
              <a:rPr lang="zh-CN" altLang="en-US" b="1" dirty="0"/>
              <a:t>什么是</a:t>
            </a:r>
            <a:r>
              <a:rPr lang="en-US" altLang="zh-CN" b="1" dirty="0"/>
              <a:t>Scrum</a:t>
            </a:r>
            <a:endParaRPr lang="zh-CN" altLang="en-US" b="1" dirty="0"/>
          </a:p>
          <a:p>
            <a:pPr marL="0" indent="0" fontAlgn="auto">
              <a:lnSpc>
                <a:spcPct val="100000"/>
              </a:lnSpc>
              <a:spcBef>
                <a:spcPts val="0"/>
              </a:spcBef>
              <a:buNone/>
            </a:pPr>
            <a:r>
              <a:rPr lang="en-US" altLang="zh-CN" dirty="0"/>
              <a:t>      </a:t>
            </a:r>
            <a:r>
              <a:rPr lang="en-US" altLang="zh-CN" sz="2400" dirty="0"/>
              <a:t>Scrum</a:t>
            </a:r>
            <a:r>
              <a:rPr lang="zh-CN" altLang="en-US" sz="2400" dirty="0"/>
              <a:t>是橄榄球运动的一个专业术语，表示“争球”的动作。橄榄球是一项单位场地内寸土必争的运动，一方获得进攻权利，就会一步步地推进敌方阵营。这样就类似团队进行开发项目时，通过团队合作把项目一步步推进，和打橄榄球一样迅速、充满激情，所以把这样的一个开发流程取名为</a:t>
            </a:r>
            <a:r>
              <a:rPr lang="en-US" altLang="zh-CN" sz="2400" dirty="0"/>
              <a:t>Scrum</a:t>
            </a:r>
            <a:r>
              <a:rPr lang="zh-CN" altLang="en-US" sz="2400" dirty="0"/>
              <a:t>。开发团队利用</a:t>
            </a:r>
            <a:r>
              <a:rPr lang="en-US" altLang="zh-CN" sz="2400" dirty="0"/>
              <a:t>Scrum</a:t>
            </a:r>
            <a:r>
              <a:rPr lang="zh-CN" altLang="en-US" sz="2400" dirty="0"/>
              <a:t>方法，可以高效运作。</a:t>
            </a:r>
            <a:endParaRPr lang="zh-CN" altLang="en-US" sz="2400" dirty="0"/>
          </a:p>
          <a:p>
            <a:pPr fontAlgn="auto">
              <a:lnSpc>
                <a:spcPct val="100000"/>
              </a:lnSpc>
              <a:spcBef>
                <a:spcPts val="0"/>
              </a:spcBef>
            </a:pPr>
            <a:r>
              <a:rPr lang="en-US" altLang="zh-CN" b="1" dirty="0"/>
              <a:t>Scrum</a:t>
            </a:r>
            <a:r>
              <a:rPr lang="zh-CN" altLang="en-US" b="1" dirty="0"/>
              <a:t>目的</a:t>
            </a:r>
            <a:endParaRPr lang="zh-CN" altLang="en-US" b="1" dirty="0"/>
          </a:p>
          <a:p>
            <a:pPr marL="0" indent="0" fontAlgn="auto">
              <a:lnSpc>
                <a:spcPct val="100000"/>
              </a:lnSpc>
              <a:spcBef>
                <a:spcPts val="0"/>
              </a:spcBef>
              <a:buNone/>
            </a:pPr>
            <a:r>
              <a:rPr lang="en-US" altLang="zh-CN" sz="2400" dirty="0"/>
              <a:t>      Ken </a:t>
            </a:r>
            <a:r>
              <a:rPr lang="en-US" altLang="zh-CN" sz="2400" dirty="0" err="1"/>
              <a:t>Schwaber</a:t>
            </a:r>
            <a:r>
              <a:rPr lang="zh-CN" altLang="en-US" sz="2400" dirty="0"/>
              <a:t>和</a:t>
            </a:r>
            <a:r>
              <a:rPr lang="en-US" altLang="zh-CN" sz="2400" dirty="0"/>
              <a:t>Jeff Sutherland</a:t>
            </a:r>
            <a:r>
              <a:rPr lang="zh-CN" altLang="en-US" sz="2400" dirty="0"/>
              <a:t>创建</a:t>
            </a:r>
            <a:r>
              <a:rPr lang="en-US" altLang="zh-CN" sz="2400" dirty="0"/>
              <a:t>Scrum</a:t>
            </a:r>
            <a:r>
              <a:rPr lang="zh-CN" altLang="en-US" sz="2400" dirty="0"/>
              <a:t>的目的是为了提高软件开发的效率，如今</a:t>
            </a:r>
            <a:r>
              <a:rPr lang="en-US" altLang="zh-CN" sz="2400" dirty="0"/>
              <a:t>Scrum</a:t>
            </a:r>
            <a:r>
              <a:rPr lang="zh-CN" altLang="en-US" sz="2400" dirty="0"/>
              <a:t>的影响已经远远超过软件开发领域，成为零售、军事、风险投资甚至学校里完成各种任务的创新方法。</a:t>
            </a:r>
            <a:r>
              <a:rPr lang="en-US" altLang="zh-CN" sz="2400" dirty="0"/>
              <a:t>Scrum</a:t>
            </a:r>
            <a:r>
              <a:rPr lang="zh-CN" altLang="en-US" sz="2400" dirty="0"/>
              <a:t>框架促进团队成员之间的有效交互，为企业创造价值。</a:t>
            </a:r>
            <a:endParaRPr lang="zh-CN" altLang="en-US" sz="2400" dirty="0"/>
          </a:p>
          <a:p>
            <a:endParaRPr lang="en-US" altLang="zh-CN" dirty="0"/>
          </a:p>
        </p:txBody>
      </p:sp>
      <p:sp>
        <p:nvSpPr>
          <p:cNvPr id="4" name="日期占位符 3"/>
          <p:cNvSpPr>
            <a:spLocks noGrp="1"/>
          </p:cNvSpPr>
          <p:nvPr>
            <p:ph type="dt" sz="half" idx="10"/>
          </p:nvPr>
        </p:nvSpPr>
        <p:spPr/>
        <p:txBody>
          <a:bodyPr/>
          <a:lstStyle/>
          <a:p>
            <a:fld id="{3042E493-2A25-4938-806F-6BFD6ED7704B}" type="datetime1">
              <a:rPr lang="zh-CN" altLang="en-US" sz="1600" smtClean="0"/>
            </a:fld>
            <a:endParaRPr lang="zh-CN" altLang="en-US" sz="1600" dirty="0"/>
          </a:p>
        </p:txBody>
      </p:sp>
      <p:sp>
        <p:nvSpPr>
          <p:cNvPr id="5" name="页脚占位符 4"/>
          <p:cNvSpPr>
            <a:spLocks noGrp="1"/>
          </p:cNvSpPr>
          <p:nvPr>
            <p:ph type="ftr" sz="quarter" idx="11"/>
          </p:nvPr>
        </p:nvSpPr>
        <p:spPr/>
        <p:txBody>
          <a:bodyPr/>
          <a:lstStyle/>
          <a:p>
            <a:r>
              <a:rPr lang="zh-CN" altLang="en-US" sz="1600" dirty="0"/>
              <a:t>软件工程</a:t>
            </a:r>
            <a:endParaRPr lang="zh-CN" altLang="en-US" sz="1600" dirty="0"/>
          </a:p>
        </p:txBody>
      </p:sp>
      <p:sp>
        <p:nvSpPr>
          <p:cNvPr id="6" name="灯片编号占位符 5"/>
          <p:cNvSpPr>
            <a:spLocks noGrp="1"/>
          </p:cNvSpPr>
          <p:nvPr>
            <p:ph type="sldNum" sz="quarter" idx="12"/>
          </p:nvPr>
        </p:nvSpPr>
        <p:spPr/>
        <p:txBody>
          <a:bodyPr/>
          <a:lstStyle/>
          <a:p>
            <a:fld id="{F528F39D-B5E5-4CA7-906C-979D5A62978D}" type="slidenum">
              <a:rPr lang="zh-CN" altLang="en-US" sz="1600" smtClean="0"/>
            </a:fld>
            <a:endParaRPr lang="zh-CN" altLang="en-US" sz="1600"/>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cap="none" dirty="0"/>
              <a:t>Scrum</a:t>
            </a:r>
            <a:r>
              <a:rPr lang="zh-CN" altLang="en-US" cap="none" dirty="0"/>
              <a:t>框架</a:t>
            </a:r>
            <a:endParaRPr lang="zh-CN" altLang="en-US" cap="none" dirty="0"/>
          </a:p>
        </p:txBody>
      </p:sp>
      <p:pic>
        <p:nvPicPr>
          <p:cNvPr id="7" name="内容占位符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778860" y="891986"/>
            <a:ext cx="7832725" cy="3705713"/>
          </a:xfrm>
        </p:spPr>
      </p:pic>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cap="none" dirty="0"/>
              <a:t> </a:t>
            </a:r>
            <a:r>
              <a:rPr lang="en-US" altLang="zh-CN" cap="none" dirty="0"/>
              <a:t>Scrum</a:t>
            </a:r>
            <a:r>
              <a:rPr lang="zh-CN" altLang="en-US" dirty="0"/>
              <a:t>团队角色</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3683" y="899001"/>
            <a:ext cx="7767144" cy="3720053"/>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Scrum</a:t>
            </a:r>
            <a:r>
              <a:rPr lang="zh-CN" altLang="en-US" dirty="0"/>
              <a:t>制品 </a:t>
            </a:r>
            <a:endParaRPr lang="zh-CN" altLang="en-US" dirty="0"/>
          </a:p>
        </p:txBody>
      </p:sp>
      <p:sp>
        <p:nvSpPr>
          <p:cNvPr id="4" name="日期占位符 3"/>
          <p:cNvSpPr>
            <a:spLocks noGrp="1"/>
          </p:cNvSpPr>
          <p:nvPr>
            <p:ph type="dt" sz="half" idx="10"/>
          </p:nvPr>
        </p:nvSpPr>
        <p:spPr/>
        <p:txBody>
          <a:bodyPr/>
          <a:lstStyle/>
          <a:p>
            <a:fld id="{D52006A6-DF7D-4BC6-9394-3D44ABCF9D00}"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237167" y="864538"/>
            <a:ext cx="7430735" cy="3700446"/>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cap="none" dirty="0"/>
              <a:t>Scrum</a:t>
            </a:r>
            <a:endParaRPr lang="zh-CN" altLang="en-US" cap="none" dirty="0"/>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684214" y="933597"/>
            <a:ext cx="8002587" cy="3516812"/>
          </a:xfrm>
        </p:spPr>
      </p:pic>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7" name="内容占位符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1238919" y="944712"/>
            <a:ext cx="6237450" cy="2592187"/>
          </a:xfrm>
        </p:spPr>
      </p:pic>
      <p:sp>
        <p:nvSpPr>
          <p:cNvPr id="4" name="日期占位符 3"/>
          <p:cNvSpPr>
            <a:spLocks noGrp="1"/>
          </p:cNvSpPr>
          <p:nvPr>
            <p:ph type="dt" sz="half" idx="10"/>
          </p:nvPr>
        </p:nvSpPr>
        <p:spPr/>
        <p:txBody>
          <a:bodyPr/>
          <a:lstStyle/>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矩形 7"/>
          <p:cNvSpPr/>
          <p:nvPr/>
        </p:nvSpPr>
        <p:spPr>
          <a:xfrm>
            <a:off x="1122917" y="3523119"/>
            <a:ext cx="6469454" cy="1477328"/>
          </a:xfrm>
          <a:prstGeom prst="rect">
            <a:avLst/>
          </a:prstGeom>
        </p:spPr>
        <p:txBody>
          <a:bodyPr wrap="square">
            <a:spAutoFit/>
          </a:bodyPr>
          <a:lstStyle/>
          <a:p>
            <a:r>
              <a:rPr lang="zh-CN" altLang="en-US" b="1" dirty="0"/>
              <a:t>产品经理学敏捷：</a:t>
            </a:r>
            <a:r>
              <a:rPr lang="en-US" altLang="zh-CN" b="1" dirty="0"/>
              <a:t>Scrum</a:t>
            </a:r>
            <a:r>
              <a:rPr lang="zh-CN" altLang="en-US" b="1" dirty="0"/>
              <a:t>框架与基础</a:t>
            </a:r>
            <a:endParaRPr lang="zh-CN" altLang="en-US" b="1" dirty="0"/>
          </a:p>
          <a:p>
            <a:r>
              <a:rPr lang="zh-CN" altLang="en-US" dirty="0" smtClean="0">
                <a:hlinkClick r:id="rId2"/>
              </a:rPr>
              <a:t>https</a:t>
            </a:r>
            <a:r>
              <a:rPr lang="zh-CN" altLang="en-US" dirty="0">
                <a:hlinkClick r:id="rId2"/>
              </a:rPr>
              <a:t>://zhuanlan.zhihu.com/p/649801148?utm_id=</a:t>
            </a:r>
            <a:r>
              <a:rPr lang="zh-CN" altLang="en-US" dirty="0" smtClean="0">
                <a:hlinkClick r:id="rId2"/>
              </a:rPr>
              <a:t>0</a:t>
            </a:r>
            <a:endParaRPr lang="en-US" altLang="zh-CN" dirty="0" smtClean="0"/>
          </a:p>
          <a:p>
            <a:r>
              <a:rPr lang="zh-CN" altLang="en-US" b="1" dirty="0"/>
              <a:t>敏捷软件开发框架之 </a:t>
            </a:r>
            <a:r>
              <a:rPr lang="en-US" altLang="zh-CN" b="1" dirty="0"/>
              <a:t>Scrum</a:t>
            </a:r>
            <a:endParaRPr lang="en-US" altLang="zh-CN" b="1" dirty="0"/>
          </a:p>
          <a:p>
            <a:r>
              <a:rPr lang="en-US" altLang="zh-CN" dirty="0" smtClean="0"/>
              <a:t>https</a:t>
            </a:r>
            <a:r>
              <a:rPr lang="en-US" altLang="zh-CN" dirty="0"/>
              <a:t>://</a:t>
            </a:r>
            <a:r>
              <a:rPr lang="en-US" altLang="zh-CN" dirty="0" smtClean="0"/>
              <a:t>cloud.tencent.com/developer/article/2247265</a:t>
            </a:r>
            <a:endParaRPr lang="en-US" altLang="zh-CN" dirty="0" smtClean="0"/>
          </a:p>
          <a:p>
            <a:endParaRPr lang="zh-CN" alt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如何进行 </a:t>
            </a:r>
            <a:r>
              <a:rPr lang="en-US" altLang="zh-CN" cap="none" dirty="0"/>
              <a:t>Scrum</a:t>
            </a:r>
            <a:r>
              <a:rPr lang="en-US" altLang="zh-CN" dirty="0"/>
              <a:t> </a:t>
            </a:r>
            <a:r>
              <a:rPr lang="zh-CN" altLang="en-US" dirty="0"/>
              <a:t>的开发</a:t>
            </a:r>
            <a:r>
              <a:rPr lang="en-US" altLang="zh-CN" dirty="0"/>
              <a:t>?</a:t>
            </a:r>
            <a:endParaRPr lang="zh-CN" altLang="en-US" dirty="0"/>
          </a:p>
        </p:txBody>
      </p:sp>
      <p:sp>
        <p:nvSpPr>
          <p:cNvPr id="3" name="内容占位符 2"/>
          <p:cNvSpPr>
            <a:spLocks noGrp="1"/>
          </p:cNvSpPr>
          <p:nvPr>
            <p:ph idx="1"/>
          </p:nvPr>
        </p:nvSpPr>
        <p:spPr/>
        <p:txBody>
          <a:bodyPr>
            <a:normAutofit/>
          </a:bodyPr>
          <a:lstStyle/>
          <a:p>
            <a:pPr fontAlgn="auto">
              <a:lnSpc>
                <a:spcPct val="100000"/>
              </a:lnSpc>
            </a:pPr>
            <a:r>
              <a:rPr lang="en-US" altLang="zh-CN" sz="2000" dirty="0">
                <a:effectLst/>
                <a:latin typeface="+mj-ea"/>
                <a:ea typeface="+mj-ea"/>
              </a:rPr>
              <a:t>1.</a:t>
            </a:r>
            <a:r>
              <a:rPr lang="zh-CN" altLang="en-US" sz="2000" dirty="0">
                <a:effectLst/>
                <a:latin typeface="+mj-ea"/>
                <a:ea typeface="+mj-ea"/>
              </a:rPr>
              <a:t>首先我们需要确认一个 </a:t>
            </a:r>
            <a:r>
              <a:rPr lang="en-US" altLang="zh-CN" sz="2000" dirty="0">
                <a:effectLst/>
                <a:latin typeface="+mj-ea"/>
                <a:ea typeface="+mj-ea"/>
              </a:rPr>
              <a:t>PB ( Product Backlog , </a:t>
            </a:r>
            <a:r>
              <a:rPr lang="zh-CN" altLang="en-US" sz="2000" dirty="0">
                <a:effectLst/>
                <a:latin typeface="+mj-ea"/>
                <a:ea typeface="+mj-ea"/>
              </a:rPr>
              <a:t>即按优先顺序排列的一个产品需求列表</a:t>
            </a:r>
            <a:r>
              <a:rPr lang="en-US" altLang="zh-CN" sz="2000" dirty="0">
                <a:effectLst/>
                <a:latin typeface="+mj-ea"/>
                <a:ea typeface="+mj-ea"/>
              </a:rPr>
              <a:t>) </a:t>
            </a:r>
            <a:r>
              <a:rPr lang="zh-CN" altLang="en-US" sz="2000" dirty="0">
                <a:effectLst/>
                <a:latin typeface="+mj-ea"/>
                <a:ea typeface="+mj-ea"/>
              </a:rPr>
              <a:t>，这是由 </a:t>
            </a:r>
            <a:r>
              <a:rPr lang="en-US" altLang="zh-CN" sz="2000" dirty="0">
                <a:effectLst/>
                <a:latin typeface="+mj-ea"/>
                <a:ea typeface="+mj-ea"/>
              </a:rPr>
              <a:t>PO</a:t>
            </a:r>
            <a:r>
              <a:rPr lang="zh-CN" altLang="en-US" sz="2000" dirty="0">
                <a:effectLst/>
                <a:latin typeface="+mj-ea"/>
                <a:ea typeface="+mj-ea"/>
              </a:rPr>
              <a:t>（</a:t>
            </a:r>
            <a:r>
              <a:rPr lang="en-US" altLang="zh-CN" sz="2000" dirty="0">
                <a:effectLst/>
                <a:latin typeface="+mj-ea"/>
                <a:ea typeface="+mj-ea"/>
              </a:rPr>
              <a:t>Product Owner</a:t>
            </a:r>
            <a:r>
              <a:rPr lang="zh-CN" altLang="en-US" sz="2000" dirty="0">
                <a:effectLst/>
                <a:latin typeface="+mj-ea"/>
                <a:ea typeface="+mj-ea"/>
              </a:rPr>
              <a:t>） 负责的</a:t>
            </a:r>
            <a:endParaRPr lang="zh-CN" altLang="en-US" sz="2000" dirty="0">
              <a:effectLst/>
              <a:latin typeface="+mj-ea"/>
              <a:ea typeface="+mj-ea"/>
            </a:endParaRPr>
          </a:p>
          <a:p>
            <a:pPr fontAlgn="auto">
              <a:lnSpc>
                <a:spcPct val="100000"/>
              </a:lnSpc>
            </a:pPr>
            <a:r>
              <a:rPr lang="en-US" altLang="zh-CN" sz="2000" dirty="0">
                <a:effectLst/>
                <a:latin typeface="+mj-ea"/>
                <a:ea typeface="+mj-ea"/>
              </a:rPr>
              <a:t>2.ST</a:t>
            </a:r>
            <a:r>
              <a:rPr lang="zh-CN" altLang="en-US" sz="2000" dirty="0">
                <a:effectLst/>
                <a:latin typeface="+mj-ea"/>
                <a:ea typeface="+mj-ea"/>
              </a:rPr>
              <a:t>（</a:t>
            </a:r>
            <a:r>
              <a:rPr lang="en-US" altLang="zh-CN" sz="2000" dirty="0">
                <a:effectLst/>
                <a:latin typeface="+mj-ea"/>
                <a:ea typeface="+mj-ea"/>
              </a:rPr>
              <a:t>Scrum Team</a:t>
            </a:r>
            <a:r>
              <a:rPr lang="zh-CN" altLang="en-US" sz="2000" dirty="0">
                <a:effectLst/>
                <a:latin typeface="+mj-ea"/>
                <a:ea typeface="+mj-ea"/>
              </a:rPr>
              <a:t>） 会根据 </a:t>
            </a:r>
            <a:r>
              <a:rPr lang="en-US" altLang="zh-CN" sz="2000" dirty="0">
                <a:effectLst/>
                <a:latin typeface="+mj-ea"/>
                <a:ea typeface="+mj-ea"/>
              </a:rPr>
              <a:t>PB </a:t>
            </a:r>
            <a:r>
              <a:rPr lang="zh-CN" altLang="en-US" sz="2000" dirty="0">
                <a:effectLst/>
                <a:latin typeface="+mj-ea"/>
                <a:ea typeface="+mj-ea"/>
              </a:rPr>
              <a:t>列表，进行工作量的预估和安排</a:t>
            </a:r>
            <a:endParaRPr lang="zh-CN" altLang="en-US" sz="2000" dirty="0">
              <a:effectLst/>
              <a:latin typeface="+mj-ea"/>
              <a:ea typeface="+mj-ea"/>
            </a:endParaRPr>
          </a:p>
          <a:p>
            <a:pPr fontAlgn="auto">
              <a:lnSpc>
                <a:spcPct val="100000"/>
              </a:lnSpc>
            </a:pPr>
            <a:r>
              <a:rPr lang="en-US" altLang="zh-CN" sz="2000" dirty="0">
                <a:effectLst/>
                <a:latin typeface="+mj-ea"/>
                <a:ea typeface="+mj-ea"/>
              </a:rPr>
              <a:t>3.</a:t>
            </a:r>
            <a:r>
              <a:rPr lang="zh-CN" altLang="en-US" sz="2000" dirty="0">
                <a:effectLst/>
                <a:latin typeface="+mj-ea"/>
                <a:ea typeface="+mj-ea"/>
              </a:rPr>
              <a:t>有了 </a:t>
            </a:r>
            <a:r>
              <a:rPr lang="en-US" altLang="zh-CN" sz="2000" dirty="0">
                <a:effectLst/>
                <a:latin typeface="+mj-ea"/>
                <a:ea typeface="+mj-ea"/>
              </a:rPr>
              <a:t>PB </a:t>
            </a:r>
            <a:r>
              <a:rPr lang="zh-CN" altLang="en-US" sz="2000" dirty="0">
                <a:effectLst/>
                <a:latin typeface="+mj-ea"/>
                <a:ea typeface="+mj-ea"/>
              </a:rPr>
              <a:t>列表，我们需要通过 </a:t>
            </a:r>
            <a:r>
              <a:rPr lang="en-US" altLang="zh-CN" sz="2000" dirty="0">
                <a:effectLst/>
                <a:latin typeface="+mj-ea"/>
                <a:ea typeface="+mj-ea"/>
              </a:rPr>
              <a:t>Sprint Planning Meeting( Sprint </a:t>
            </a:r>
            <a:r>
              <a:rPr lang="zh-CN" altLang="en-US" sz="2000" dirty="0">
                <a:effectLst/>
                <a:latin typeface="+mj-ea"/>
                <a:ea typeface="+mj-ea"/>
              </a:rPr>
              <a:t>计划会议</a:t>
            </a:r>
            <a:r>
              <a:rPr lang="en-US" altLang="zh-CN" sz="2000" dirty="0">
                <a:effectLst/>
                <a:latin typeface="+mj-ea"/>
                <a:ea typeface="+mj-ea"/>
              </a:rPr>
              <a:t>)</a:t>
            </a:r>
            <a:r>
              <a:rPr lang="zh-CN" altLang="en-US" sz="2000" dirty="0">
                <a:effectLst/>
                <a:latin typeface="+mj-ea"/>
                <a:ea typeface="+mj-ea"/>
              </a:rPr>
              <a:t>来从中挑选出一个 </a:t>
            </a:r>
            <a:r>
              <a:rPr lang="en-US" altLang="zh-CN" sz="2000" dirty="0">
                <a:effectLst/>
                <a:latin typeface="+mj-ea"/>
                <a:ea typeface="+mj-ea"/>
              </a:rPr>
              <a:t>Story </a:t>
            </a:r>
            <a:r>
              <a:rPr lang="zh-CN" altLang="en-US" sz="2000" dirty="0">
                <a:effectLst/>
                <a:latin typeface="+mj-ea"/>
                <a:ea typeface="+mj-ea"/>
              </a:rPr>
              <a:t>作为本次迭代完成的目标，这个目标的时间周期是</a:t>
            </a:r>
            <a:r>
              <a:rPr lang="en-US" altLang="zh-CN" sz="2000" dirty="0">
                <a:effectLst/>
                <a:latin typeface="+mj-ea"/>
                <a:ea typeface="+mj-ea"/>
              </a:rPr>
              <a:t>1~4</a:t>
            </a:r>
            <a:r>
              <a:rPr lang="zh-CN" altLang="en-US" sz="2000" dirty="0">
                <a:effectLst/>
                <a:latin typeface="+mj-ea"/>
                <a:ea typeface="+mj-ea"/>
              </a:rPr>
              <a:t>个星期，然后把这个</a:t>
            </a:r>
            <a:r>
              <a:rPr lang="en-US" altLang="zh-CN" sz="2000" dirty="0">
                <a:effectLst/>
                <a:latin typeface="+mj-ea"/>
                <a:ea typeface="+mj-ea"/>
              </a:rPr>
              <a:t>Story</a:t>
            </a:r>
            <a:r>
              <a:rPr lang="zh-CN" altLang="en-US" sz="2000" dirty="0">
                <a:effectLst/>
                <a:latin typeface="+mj-ea"/>
                <a:ea typeface="+mj-ea"/>
              </a:rPr>
              <a:t>进行细化，形成一个</a:t>
            </a:r>
            <a:r>
              <a:rPr lang="en-US" altLang="zh-CN" sz="2000" dirty="0">
                <a:effectLst/>
                <a:latin typeface="+mj-ea"/>
                <a:ea typeface="+mj-ea"/>
              </a:rPr>
              <a:t>Sprint Backlog</a:t>
            </a:r>
            <a:r>
              <a:rPr lang="zh-CN" altLang="en-US" sz="2000" dirty="0">
                <a:effectLst/>
                <a:latin typeface="+mj-ea"/>
                <a:ea typeface="+mj-ea"/>
              </a:rPr>
              <a:t>。</a:t>
            </a:r>
            <a:endParaRPr lang="en-US" altLang="zh-CN" sz="2000" dirty="0">
              <a:effectLst/>
              <a:latin typeface="+mj-ea"/>
              <a:ea typeface="+mj-ea"/>
            </a:endParaRPr>
          </a:p>
          <a:p>
            <a:endParaRPr lang="zh-CN" altLang="en-US" sz="2000" dirty="0">
              <a:latin typeface="+mj-ea"/>
              <a:ea typeface="+mj-ea"/>
            </a:endParaRPr>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BackLog</a:t>
            </a:r>
            <a:endParaRPr lang="en-US" altLang="zh-CN"/>
          </a:p>
        </p:txBody>
      </p:sp>
      <p:sp>
        <p:nvSpPr>
          <p:cNvPr id="3" name="内容占位符 2"/>
          <p:cNvSpPr>
            <a:spLocks noGrp="1"/>
          </p:cNvSpPr>
          <p:nvPr>
            <p:ph idx="1"/>
          </p:nvPr>
        </p:nvSpPr>
        <p:spPr>
          <a:xfrm>
            <a:off x="768350" y="925195"/>
            <a:ext cx="3719195" cy="3806825"/>
          </a:xfrm>
        </p:spPr>
        <p:txBody>
          <a:bodyPr/>
          <a:p>
            <a:pPr algn="just">
              <a:lnSpc>
                <a:spcPct val="150000"/>
              </a:lnSpc>
            </a:pPr>
            <a:r>
              <a:rPr lang="zh-CN" altLang="en-US" sz="2000">
                <a:latin typeface="微软雅黑" panose="020B0503020204020204" pitchFamily="34" charset="-122"/>
                <a:cs typeface="微软雅黑" panose="020B0503020204020204" pitchFamily="34" charset="-122"/>
                <a:sym typeface="+mn-ea"/>
              </a:rPr>
              <a:t>Backlog是Scrum中经过优先级排序的动态刷新的产品需求清单，用来制定发布计划和迭代计划。使用Backlog可以通过需求的动态管理应对变化，避免浪费，并且易于优先交付对用户价值高的需求。</a:t>
            </a:r>
            <a:endParaRPr lang="zh-CN" altLang="en-US" sz="2000">
              <a:latin typeface="微软雅黑" panose="020B0503020204020204" pitchFamily="34" charset="-122"/>
              <a:cs typeface="微软雅黑" panose="020B0503020204020204" pitchFamily="34" charset="-122"/>
              <a:sym typeface="+mn-ea"/>
            </a:endParaRPr>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7" name="内容占位符 6"/>
          <p:cNvSpPr>
            <a:spLocks noGrp="1"/>
          </p:cNvSpPr>
          <p:nvPr>
            <p:ph sz="half" idx="2"/>
          </p:nvPr>
        </p:nvSpPr>
        <p:spPr>
          <a:xfrm>
            <a:off x="4662170" y="1001395"/>
            <a:ext cx="4081780" cy="3446145"/>
          </a:xfrm>
        </p:spPr>
        <p:txBody>
          <a:bodyPr>
            <a:normAutofit/>
          </a:bodyPr>
          <a:p>
            <a:pPr fontAlgn="auto">
              <a:lnSpc>
                <a:spcPct val="120000"/>
              </a:lnSpc>
            </a:pPr>
            <a:r>
              <a:rPr lang="en-US" altLang="zh-CN" sz="2000">
                <a:latin typeface="微软雅黑" panose="020B0503020204020204" pitchFamily="34" charset="-122"/>
                <a:cs typeface="微软雅黑" panose="020B0503020204020204" pitchFamily="34" charset="-122"/>
              </a:rPr>
              <a:t>Backlog</a:t>
            </a:r>
            <a:r>
              <a:rPr lang="zh-CN" altLang="en-US" sz="2000">
                <a:latin typeface="微软雅黑" panose="020B0503020204020204" pitchFamily="34" charset="-122"/>
                <a:cs typeface="微软雅黑" panose="020B0503020204020204" pitchFamily="34" charset="-122"/>
              </a:rPr>
              <a:t>的关键要点如下所述：</a:t>
            </a:r>
            <a:endParaRPr lang="zh-CN" altLang="en-US" sz="2000">
              <a:latin typeface="微软雅黑" panose="020B0503020204020204" pitchFamily="34" charset="-122"/>
              <a:cs typeface="微软雅黑" panose="020B0503020204020204" pitchFamily="34" charset="-122"/>
            </a:endParaRPr>
          </a:p>
          <a:p>
            <a:pPr marL="685800" lvl="1" indent="-228600" fontAlgn="auto">
              <a:lnSpc>
                <a:spcPct val="120000"/>
              </a:lnSpc>
              <a:buFont typeface="Arial" panose="020B0604020202020204" pitchFamily="34" charset="0"/>
              <a:buChar char="•"/>
            </a:pPr>
            <a:r>
              <a:rPr lang="zh-CN" altLang="en-US" sz="2000" dirty="0">
                <a:latin typeface="微软雅黑" panose="020B0503020204020204" pitchFamily="34" charset="-122"/>
                <a:cs typeface="微软雅黑" panose="020B0503020204020204" pitchFamily="34" charset="-122"/>
                <a:sym typeface="+mn-ea"/>
              </a:rPr>
              <a:t>清楚地表述列表中每个需求任务给用户带来的价值，</a:t>
            </a:r>
            <a:r>
              <a:rPr lang="zh-CN" altLang="en-US" sz="2000" dirty="0">
                <a:latin typeface="微软雅黑" panose="020B0503020204020204" pitchFamily="34" charset="-122"/>
                <a:cs typeface="微软雅黑" panose="020B0503020204020204" pitchFamily="34" charset="-122"/>
                <a:sym typeface="+mn-ea"/>
              </a:rPr>
              <a:t>作为优先级排序的重要参考。</a:t>
            </a:r>
            <a:endParaRPr lang="zh-CN" altLang="en-US" sz="2000" dirty="0">
              <a:latin typeface="微软雅黑" panose="020B0503020204020204" pitchFamily="34" charset="-122"/>
              <a:cs typeface="微软雅黑" panose="020B0503020204020204" pitchFamily="34" charset="-122"/>
              <a:sym typeface="+mn-ea"/>
            </a:endParaRPr>
          </a:p>
          <a:p>
            <a:pPr marL="685800" lvl="1" indent="-228600" fontAlgn="auto">
              <a:lnSpc>
                <a:spcPct val="120000"/>
              </a:lnSpc>
              <a:buFont typeface="Arial" panose="020B0604020202020204" pitchFamily="34" charset="0"/>
              <a:buChar char="•"/>
            </a:pPr>
            <a:r>
              <a:rPr lang="zh-CN" altLang="en-US" sz="2000">
                <a:solidFill>
                  <a:srgbClr val="000000"/>
                </a:solidFill>
                <a:latin typeface="微软雅黑" panose="020B0503020204020204" pitchFamily="34" charset="-122"/>
                <a:cs typeface="微软雅黑" panose="020B0503020204020204" pitchFamily="34" charset="-122"/>
              </a:rPr>
              <a:t>动态的需求管理而非</a:t>
            </a:r>
            <a:r>
              <a:rPr lang="en-US" altLang="zh-CN" sz="2000">
                <a:solidFill>
                  <a:srgbClr val="000000"/>
                </a:solidFill>
                <a:latin typeface="微软雅黑" panose="020B0503020204020204" pitchFamily="34" charset="-122"/>
                <a:cs typeface="微软雅黑" panose="020B0503020204020204" pitchFamily="34" charset="-122"/>
              </a:rPr>
              <a:t>“</a:t>
            </a:r>
            <a:r>
              <a:rPr lang="zh-CN" altLang="en-US" sz="2000">
                <a:solidFill>
                  <a:srgbClr val="000000"/>
                </a:solidFill>
                <a:latin typeface="微软雅黑" panose="020B0503020204020204" pitchFamily="34" charset="-122"/>
                <a:cs typeface="微软雅黑" panose="020B0503020204020204" pitchFamily="34" charset="-122"/>
              </a:rPr>
              <a:t>冻结</a:t>
            </a:r>
            <a:r>
              <a:rPr lang="en-US" altLang="zh-CN" sz="2000">
                <a:solidFill>
                  <a:srgbClr val="000000"/>
                </a:solidFill>
                <a:latin typeface="微软雅黑" panose="020B0503020204020204" pitchFamily="34" charset="-122"/>
                <a:cs typeface="微软雅黑" panose="020B0503020204020204" pitchFamily="34" charset="-122"/>
              </a:rPr>
              <a:t>”</a:t>
            </a:r>
            <a:r>
              <a:rPr lang="zh-CN" altLang="en-US" sz="2000">
                <a:solidFill>
                  <a:srgbClr val="000000"/>
                </a:solidFill>
                <a:latin typeface="微软雅黑" panose="020B0503020204020204" pitchFamily="34" charset="-122"/>
                <a:cs typeface="微软雅黑" panose="020B0503020204020204" pitchFamily="34" charset="-122"/>
              </a:rPr>
              <a:t>方式。</a:t>
            </a:r>
            <a:endParaRPr lang="zh-CN" altLang="en-US" sz="2000">
              <a:solidFill>
                <a:srgbClr val="000000"/>
              </a:solidFill>
              <a:latin typeface="微软雅黑" panose="020B0503020204020204" pitchFamily="34" charset="-122"/>
              <a:cs typeface="微软雅黑" panose="020B0503020204020204" pitchFamily="34" charset="-122"/>
            </a:endParaRPr>
          </a:p>
          <a:p>
            <a:pPr marL="685800" lvl="1" indent="-228600" fontAlgn="auto">
              <a:lnSpc>
                <a:spcPct val="120000"/>
              </a:lnSpc>
              <a:buFont typeface="Arial" panose="020B0604020202020204" pitchFamily="34" charset="0"/>
              <a:buChar char="•"/>
            </a:pPr>
            <a:r>
              <a:rPr lang="zh-CN" altLang="en-US" sz="2000">
                <a:solidFill>
                  <a:srgbClr val="000000"/>
                </a:solidFill>
                <a:latin typeface="微软雅黑" panose="020B0503020204020204" pitchFamily="34" charset="-122"/>
                <a:cs typeface="微软雅黑" panose="020B0503020204020204" pitchFamily="34" charset="-122"/>
              </a:rPr>
              <a:t>需求分析的过程是可迭代的。</a:t>
            </a:r>
            <a:endParaRPr lang="zh-CN" altLang="en-US" sz="2000">
              <a:solidFill>
                <a:srgbClr val="000000"/>
              </a:solidFill>
              <a:latin typeface="微软雅黑" panose="020B0503020204020204" pitchFamily="34" charset="-122"/>
              <a:cs typeface="微软雅黑" panose="020B0503020204020204" pitchFamily="34"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迭代计划会议 </a:t>
            </a:r>
            <a:endParaRPr lang="zh-CN" altLang="en-US" dirty="0"/>
          </a:p>
        </p:txBody>
      </p:sp>
      <p:sp>
        <p:nvSpPr>
          <p:cNvPr id="4" name="日期占位符 3"/>
          <p:cNvSpPr>
            <a:spLocks noGrp="1"/>
          </p:cNvSpPr>
          <p:nvPr>
            <p:ph type="dt" sz="half" idx="10"/>
          </p:nvPr>
        </p:nvSpPr>
        <p:spPr/>
        <p:txBody>
          <a:bodyPr/>
          <a:lstStyle/>
          <a:p>
            <a:fld id="{34461AE0-F4CC-4292-BFC4-A59447C368C5}"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68096" y="951580"/>
            <a:ext cx="8090154" cy="361898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用户故事</a:t>
            </a:r>
            <a:r>
              <a:rPr lang="en-US" altLang="zh-CN"/>
              <a:t>Story</a:t>
            </a:r>
            <a:endParaRPr lang="en-US" altLang="zh-CN"/>
          </a:p>
        </p:txBody>
      </p:sp>
      <p:sp>
        <p:nvSpPr>
          <p:cNvPr id="3" name="内容占位符 2"/>
          <p:cNvSpPr>
            <a:spLocks noGrp="1"/>
          </p:cNvSpPr>
          <p:nvPr>
            <p:ph idx="1"/>
          </p:nvPr>
        </p:nvSpPr>
        <p:spPr/>
        <p:txBody>
          <a:bodyPr>
            <a:normAutofit fontScale="87500"/>
          </a:bodyPr>
          <a:lstStyle/>
          <a:p>
            <a:pPr algn="just" fontAlgn="auto">
              <a:lnSpc>
                <a:spcPct val="100000"/>
              </a:lnSpc>
            </a:pPr>
            <a:r>
              <a:rPr lang="zh-CN" sz="2800" dirty="0">
                <a:sym typeface="+mn-ea"/>
              </a:rPr>
              <a:t>实际开发流程中，最为重要的是做好用户故事的划分。用户故事是从用户的角度来描述用户渴望得到的功能。</a:t>
            </a:r>
            <a:endParaRPr lang="zh-CN" sz="2800" dirty="0">
              <a:sym typeface="+mn-ea"/>
            </a:endParaRPr>
          </a:p>
          <a:p>
            <a:pPr fontAlgn="auto">
              <a:lnSpc>
                <a:spcPct val="100000"/>
              </a:lnSpc>
            </a:pPr>
            <a:r>
              <a:rPr lang="zh-CN" sz="2800" dirty="0">
                <a:sym typeface="+mn-ea"/>
              </a:rPr>
              <a:t>用户的三个要素：</a:t>
            </a:r>
            <a:endParaRPr lang="zh-CN" sz="2800" dirty="0">
              <a:sym typeface="+mn-ea"/>
            </a:endParaRPr>
          </a:p>
          <a:p>
            <a:pPr marL="685800" lvl="1" indent="-228600" fontAlgn="auto">
              <a:lnSpc>
                <a:spcPct val="100000"/>
              </a:lnSpc>
              <a:buFont typeface="Arial" panose="020B0604020202020204" pitchFamily="34" charset="0"/>
              <a:buChar char="•"/>
            </a:pPr>
            <a:r>
              <a:rPr lang="zh-CN" sz="2800" dirty="0">
                <a:sym typeface="+mn-ea"/>
              </a:rPr>
              <a:t>角色：谁要使用这个功能</a:t>
            </a:r>
            <a:endParaRPr lang="zh-CN" sz="2800" dirty="0">
              <a:sym typeface="+mn-ea"/>
            </a:endParaRPr>
          </a:p>
          <a:p>
            <a:pPr marL="685800" lvl="1" indent="-228600" fontAlgn="auto">
              <a:lnSpc>
                <a:spcPct val="100000"/>
              </a:lnSpc>
              <a:buFont typeface="Arial" panose="020B0604020202020204" pitchFamily="34" charset="0"/>
              <a:buChar char="•"/>
            </a:pPr>
            <a:r>
              <a:rPr lang="zh-CN" sz="2800" dirty="0">
                <a:sym typeface="+mn-ea"/>
              </a:rPr>
              <a:t>活动：需要完成什么样的功能</a:t>
            </a:r>
            <a:endParaRPr lang="zh-CN" sz="2800" dirty="0">
              <a:sym typeface="+mn-ea"/>
            </a:endParaRPr>
          </a:p>
          <a:p>
            <a:pPr marL="685800" lvl="1" indent="-228600" fontAlgn="auto">
              <a:lnSpc>
                <a:spcPct val="100000"/>
              </a:lnSpc>
              <a:buFont typeface="Arial" panose="020B0604020202020204" pitchFamily="34" charset="0"/>
              <a:buChar char="•"/>
            </a:pPr>
            <a:r>
              <a:rPr lang="zh-CN" sz="2800" dirty="0">
                <a:sym typeface="+mn-ea"/>
              </a:rPr>
              <a:t>商业价值：为什么需要这个功能，这个功能带来什么样的价值</a:t>
            </a:r>
            <a:endParaRPr lang="en-US" altLang="zh-CN" sz="2800" dirty="0">
              <a:solidFill>
                <a:srgbClr val="000000"/>
              </a:solidFill>
            </a:endParaRPr>
          </a:p>
          <a:p>
            <a:endParaRPr lang="zh-CN" altLang="en-US"/>
          </a:p>
        </p:txBody>
      </p:sp>
      <p:sp>
        <p:nvSpPr>
          <p:cNvPr id="4" name="日期占位符 3"/>
          <p:cNvSpPr>
            <a:spLocks noGrp="1"/>
          </p:cNvSpPr>
          <p:nvPr>
            <p:ph type="dt" sz="half" idx="10"/>
          </p:nvPr>
        </p:nvSpPr>
        <p:spPr/>
        <p:txBody>
          <a:bodyPr/>
          <a:lstStyle/>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sym typeface="+mn-ea"/>
              </a:rPr>
              <a:t>实际开发记录举例</a:t>
            </a:r>
            <a:endParaRPr lang="zh-CN" altLang="en-US"/>
          </a:p>
        </p:txBody>
      </p:sp>
      <p:sp>
        <p:nvSpPr>
          <p:cNvPr id="4" name="日期占位符 3"/>
          <p:cNvSpPr>
            <a:spLocks noGrp="1"/>
          </p:cNvSpPr>
          <p:nvPr>
            <p:ph type="dt" sz="half" idx="10"/>
          </p:nvPr>
        </p:nvSpPr>
        <p:spPr/>
        <p:txBody>
          <a:bodyPr/>
          <a:lstStyle/>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8" name="内容占位符 5"/>
          <p:cNvPicPr>
            <a:picLocks noGrp="1" noChangeAspect="1"/>
          </p:cNvPicPr>
          <p:nvPr>
            <p:custDataLst>
              <p:tags r:id="rId1"/>
            </p:custDataLst>
          </p:nvPr>
        </p:nvPicPr>
        <p:blipFill>
          <a:blip r:embed="rId2">
            <a:clrChange>
              <a:clrFrom>
                <a:srgbClr val="FFFFFF">
                  <a:alpha val="100000"/>
                </a:srgbClr>
              </a:clrFrom>
              <a:clrTo>
                <a:srgbClr val="FFFFFF">
                  <a:alpha val="100000"/>
                  <a:alpha val="0"/>
                </a:srgbClr>
              </a:clrTo>
            </a:clrChange>
            <a:extLst>
              <a:ext uri="{28A0092B-C50C-407E-A947-70E740481C1C}">
                <a14:useLocalDpi xmlns:a14="http://schemas.microsoft.com/office/drawing/2010/main" val="0"/>
              </a:ext>
            </a:extLst>
          </a:blip>
          <a:srcRect t="9644"/>
          <a:stretch>
            <a:fillRect/>
          </a:stretch>
        </p:blipFill>
        <p:spPr>
          <a:xfrm>
            <a:off x="448310" y="828675"/>
            <a:ext cx="6448425" cy="3950335"/>
          </a:xfrm>
          <a:prstGeom prst="rect">
            <a:avLst/>
          </a:prstGeom>
        </p:spPr>
      </p:pic>
      <p:grpSp>
        <p:nvGrpSpPr>
          <p:cNvPr id="44" name="组合 43"/>
          <p:cNvGrpSpPr/>
          <p:nvPr/>
        </p:nvGrpSpPr>
        <p:grpSpPr>
          <a:xfrm>
            <a:off x="6577965" y="1585595"/>
            <a:ext cx="2399030" cy="2653030"/>
            <a:chOff x="12044" y="3348"/>
            <a:chExt cx="5144" cy="5789"/>
          </a:xfrm>
        </p:grpSpPr>
        <p:grpSp>
          <p:nvGrpSpPr>
            <p:cNvPr id="10" name="Group 19"/>
            <p:cNvGrpSpPr/>
            <p:nvPr/>
          </p:nvGrpSpPr>
          <p:grpSpPr>
            <a:xfrm>
              <a:off x="13298" y="6982"/>
              <a:ext cx="487" cy="2150"/>
              <a:chOff x="4980416" y="5037518"/>
              <a:chExt cx="412706" cy="1820482"/>
            </a:xfrm>
          </p:grpSpPr>
          <p:sp>
            <p:nvSpPr>
              <p:cNvPr id="154" name="Freeform: Shape 20"/>
              <p:cNvSpPr/>
              <p:nvPr>
                <p:custDataLst>
                  <p:tags r:id="rId3"/>
                </p:custDataLst>
              </p:nvPr>
            </p:nvSpPr>
            <p:spPr bwMode="auto">
              <a:xfrm>
                <a:off x="4991862" y="5046944"/>
                <a:ext cx="300945" cy="490130"/>
              </a:xfrm>
              <a:custGeom>
                <a:avLst/>
                <a:gdLst>
                  <a:gd name="T0" fmla="*/ 447 w 447"/>
                  <a:gd name="T1" fmla="*/ 659 h 728"/>
                  <a:gd name="T2" fmla="*/ 241 w 447"/>
                  <a:gd name="T3" fmla="*/ 0 h 728"/>
                  <a:gd name="T4" fmla="*/ 196 w 447"/>
                  <a:gd name="T5" fmla="*/ 0 h 728"/>
                  <a:gd name="T6" fmla="*/ 0 w 447"/>
                  <a:gd name="T7" fmla="*/ 681 h 728"/>
                  <a:gd name="T8" fmla="*/ 12 w 447"/>
                  <a:gd name="T9" fmla="*/ 728 h 728"/>
                  <a:gd name="T10" fmla="*/ 423 w 447"/>
                  <a:gd name="T11" fmla="*/ 728 h 728"/>
                  <a:gd name="T12" fmla="*/ 447 w 447"/>
                  <a:gd name="T13" fmla="*/ 659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9"/>
                    </a:moveTo>
                    <a:lnTo>
                      <a:pt x="241" y="0"/>
                    </a:lnTo>
                    <a:lnTo>
                      <a:pt x="196" y="0"/>
                    </a:lnTo>
                    <a:lnTo>
                      <a:pt x="0" y="681"/>
                    </a:lnTo>
                    <a:lnTo>
                      <a:pt x="12" y="728"/>
                    </a:lnTo>
                    <a:lnTo>
                      <a:pt x="423" y="728"/>
                    </a:lnTo>
                    <a:lnTo>
                      <a:pt x="447" y="659"/>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5" name="Freeform: Shape 21"/>
              <p:cNvSpPr/>
              <p:nvPr>
                <p:custDataLst>
                  <p:tags r:id="rId4"/>
                </p:custDataLst>
              </p:nvPr>
            </p:nvSpPr>
            <p:spPr bwMode="auto">
              <a:xfrm>
                <a:off x="4991862" y="5046944"/>
                <a:ext cx="300945" cy="490130"/>
              </a:xfrm>
              <a:custGeom>
                <a:avLst/>
                <a:gdLst>
                  <a:gd name="T0" fmla="*/ 447 w 447"/>
                  <a:gd name="T1" fmla="*/ 659 h 728"/>
                  <a:gd name="T2" fmla="*/ 241 w 447"/>
                  <a:gd name="T3" fmla="*/ 0 h 728"/>
                  <a:gd name="T4" fmla="*/ 196 w 447"/>
                  <a:gd name="T5" fmla="*/ 0 h 728"/>
                  <a:gd name="T6" fmla="*/ 0 w 447"/>
                  <a:gd name="T7" fmla="*/ 681 h 728"/>
                  <a:gd name="T8" fmla="*/ 12 w 447"/>
                  <a:gd name="T9" fmla="*/ 728 h 728"/>
                  <a:gd name="T10" fmla="*/ 423 w 447"/>
                  <a:gd name="T11" fmla="*/ 728 h 728"/>
                  <a:gd name="T12" fmla="*/ 447 w 447"/>
                  <a:gd name="T13" fmla="*/ 659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9"/>
                    </a:moveTo>
                    <a:lnTo>
                      <a:pt x="241" y="0"/>
                    </a:lnTo>
                    <a:lnTo>
                      <a:pt x="196" y="0"/>
                    </a:lnTo>
                    <a:lnTo>
                      <a:pt x="0" y="681"/>
                    </a:lnTo>
                    <a:lnTo>
                      <a:pt x="12" y="728"/>
                    </a:lnTo>
                    <a:lnTo>
                      <a:pt x="423" y="728"/>
                    </a:lnTo>
                    <a:lnTo>
                      <a:pt x="447" y="659"/>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6" name="Freeform: Shape 22"/>
              <p:cNvSpPr/>
              <p:nvPr>
                <p:custDataLst>
                  <p:tags r:id="rId5"/>
                </p:custDataLst>
              </p:nvPr>
            </p:nvSpPr>
            <p:spPr bwMode="auto">
              <a:xfrm>
                <a:off x="5078038" y="5468401"/>
                <a:ext cx="125899" cy="1386906"/>
              </a:xfrm>
              <a:custGeom>
                <a:avLst/>
                <a:gdLst>
                  <a:gd name="T0" fmla="*/ 79 w 79"/>
                  <a:gd name="T1" fmla="*/ 871 h 871"/>
                  <a:gd name="T2" fmla="*/ 0 w 79"/>
                  <a:gd name="T3" fmla="*/ 871 h 871"/>
                  <a:gd name="T4" fmla="*/ 0 w 79"/>
                  <a:gd name="T5" fmla="*/ 33 h 871"/>
                  <a:gd name="T6" fmla="*/ 39 w 79"/>
                  <a:gd name="T7" fmla="*/ 1 h 871"/>
                  <a:gd name="T8" fmla="*/ 79 w 79"/>
                  <a:gd name="T9" fmla="*/ 33 h 871"/>
                  <a:gd name="T10" fmla="*/ 79 w 79"/>
                  <a:gd name="T11" fmla="*/ 871 h 871"/>
                </a:gdLst>
                <a:ahLst/>
                <a:cxnLst>
                  <a:cxn ang="0">
                    <a:pos x="T0" y="T1"/>
                  </a:cxn>
                  <a:cxn ang="0">
                    <a:pos x="T2" y="T3"/>
                  </a:cxn>
                  <a:cxn ang="0">
                    <a:pos x="T4" y="T5"/>
                  </a:cxn>
                  <a:cxn ang="0">
                    <a:pos x="T6" y="T7"/>
                  </a:cxn>
                  <a:cxn ang="0">
                    <a:pos x="T8" y="T9"/>
                  </a:cxn>
                  <a:cxn ang="0">
                    <a:pos x="T10" y="T11"/>
                  </a:cxn>
                </a:cxnLst>
                <a:rect l="0" t="0" r="r" b="b"/>
                <a:pathLst>
                  <a:path w="79" h="871">
                    <a:moveTo>
                      <a:pt x="79" y="871"/>
                    </a:moveTo>
                    <a:cubicBezTo>
                      <a:pt x="0" y="871"/>
                      <a:pt x="0" y="871"/>
                      <a:pt x="0" y="871"/>
                    </a:cubicBezTo>
                    <a:cubicBezTo>
                      <a:pt x="0" y="33"/>
                      <a:pt x="0" y="33"/>
                      <a:pt x="0" y="33"/>
                    </a:cubicBezTo>
                    <a:cubicBezTo>
                      <a:pt x="0" y="33"/>
                      <a:pt x="5" y="2"/>
                      <a:pt x="39" y="1"/>
                    </a:cubicBezTo>
                    <a:cubicBezTo>
                      <a:pt x="73" y="0"/>
                      <a:pt x="79" y="33"/>
                      <a:pt x="79" y="33"/>
                    </a:cubicBezTo>
                    <a:cubicBezTo>
                      <a:pt x="79" y="871"/>
                      <a:pt x="79" y="871"/>
                      <a:pt x="79" y="871"/>
                    </a:cubicBezTo>
                  </a:path>
                </a:pathLst>
              </a:custGeom>
              <a:solidFill>
                <a:schemeClr val="accent1">
                  <a:lumMod val="60000"/>
                  <a:lumOff val="40000"/>
                </a:schemeClr>
              </a:solidFill>
              <a:ln>
                <a:noFill/>
              </a:ln>
            </p:spPr>
            <p:txBody>
              <a:bodyPr anchor="ctr"/>
              <a:lstStyle/>
              <a:p>
                <a:pPr algn="ctr"/>
              </a:p>
            </p:txBody>
          </p:sp>
          <p:sp>
            <p:nvSpPr>
              <p:cNvPr id="157" name="Freeform: Shape 23"/>
              <p:cNvSpPr/>
              <p:nvPr>
                <p:custDataLst>
                  <p:tags r:id="rId6"/>
                </p:custDataLst>
              </p:nvPr>
            </p:nvSpPr>
            <p:spPr bwMode="auto">
              <a:xfrm>
                <a:off x="5200571" y="5465708"/>
                <a:ext cx="101662" cy="1387579"/>
              </a:xfrm>
              <a:custGeom>
                <a:avLst/>
                <a:gdLst>
                  <a:gd name="T0" fmla="*/ 64 w 64"/>
                  <a:gd name="T1" fmla="*/ 872 h 872"/>
                  <a:gd name="T2" fmla="*/ 0 w 64"/>
                  <a:gd name="T3" fmla="*/ 872 h 872"/>
                  <a:gd name="T4" fmla="*/ 0 w 64"/>
                  <a:gd name="T5" fmla="*/ 33 h 872"/>
                  <a:gd name="T6" fmla="*/ 31 w 64"/>
                  <a:gd name="T7" fmla="*/ 1 h 872"/>
                  <a:gd name="T8" fmla="*/ 64 w 64"/>
                  <a:gd name="T9" fmla="*/ 33 h 872"/>
                  <a:gd name="T10" fmla="*/ 64 w 64"/>
                  <a:gd name="T11" fmla="*/ 872 h 872"/>
                </a:gdLst>
                <a:ahLst/>
                <a:cxnLst>
                  <a:cxn ang="0">
                    <a:pos x="T0" y="T1"/>
                  </a:cxn>
                  <a:cxn ang="0">
                    <a:pos x="T2" y="T3"/>
                  </a:cxn>
                  <a:cxn ang="0">
                    <a:pos x="T4" y="T5"/>
                  </a:cxn>
                  <a:cxn ang="0">
                    <a:pos x="T6" y="T7"/>
                  </a:cxn>
                  <a:cxn ang="0">
                    <a:pos x="T8" y="T9"/>
                  </a:cxn>
                  <a:cxn ang="0">
                    <a:pos x="T10" y="T11"/>
                  </a:cxn>
                </a:cxnLst>
                <a:rect l="0" t="0" r="r" b="b"/>
                <a:pathLst>
                  <a:path w="64" h="872">
                    <a:moveTo>
                      <a:pt x="64" y="872"/>
                    </a:moveTo>
                    <a:cubicBezTo>
                      <a:pt x="0" y="872"/>
                      <a:pt x="0" y="872"/>
                      <a:pt x="0" y="872"/>
                    </a:cubicBezTo>
                    <a:cubicBezTo>
                      <a:pt x="0" y="33"/>
                      <a:pt x="0" y="33"/>
                      <a:pt x="0" y="33"/>
                    </a:cubicBezTo>
                    <a:cubicBezTo>
                      <a:pt x="0" y="33"/>
                      <a:pt x="4" y="2"/>
                      <a:pt x="31" y="1"/>
                    </a:cubicBezTo>
                    <a:cubicBezTo>
                      <a:pt x="58" y="0"/>
                      <a:pt x="64" y="33"/>
                      <a:pt x="64" y="33"/>
                    </a:cubicBezTo>
                    <a:cubicBezTo>
                      <a:pt x="64" y="872"/>
                      <a:pt x="64" y="872"/>
                      <a:pt x="64" y="872"/>
                    </a:cubicBezTo>
                  </a:path>
                </a:pathLst>
              </a:custGeom>
              <a:solidFill>
                <a:srgbClr val="ABA07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8" name="Freeform: Shape 24"/>
              <p:cNvSpPr/>
              <p:nvPr>
                <p:custDataLst>
                  <p:tags r:id="rId7"/>
                </p:custDataLst>
              </p:nvPr>
            </p:nvSpPr>
            <p:spPr bwMode="auto">
              <a:xfrm>
                <a:off x="4980416" y="5465708"/>
                <a:ext cx="100315" cy="1387579"/>
              </a:xfrm>
              <a:custGeom>
                <a:avLst/>
                <a:gdLst>
                  <a:gd name="T0" fmla="*/ 63 w 63"/>
                  <a:gd name="T1" fmla="*/ 872 h 872"/>
                  <a:gd name="T2" fmla="*/ 0 w 63"/>
                  <a:gd name="T3" fmla="*/ 872 h 872"/>
                  <a:gd name="T4" fmla="*/ 0 w 63"/>
                  <a:gd name="T5" fmla="*/ 33 h 872"/>
                  <a:gd name="T6" fmla="*/ 31 w 63"/>
                  <a:gd name="T7" fmla="*/ 1 h 872"/>
                  <a:gd name="T8" fmla="*/ 63 w 63"/>
                  <a:gd name="T9" fmla="*/ 33 h 872"/>
                  <a:gd name="T10" fmla="*/ 63 w 63"/>
                  <a:gd name="T11" fmla="*/ 872 h 872"/>
                </a:gdLst>
                <a:ahLst/>
                <a:cxnLst>
                  <a:cxn ang="0">
                    <a:pos x="T0" y="T1"/>
                  </a:cxn>
                  <a:cxn ang="0">
                    <a:pos x="T2" y="T3"/>
                  </a:cxn>
                  <a:cxn ang="0">
                    <a:pos x="T4" y="T5"/>
                  </a:cxn>
                  <a:cxn ang="0">
                    <a:pos x="T6" y="T7"/>
                  </a:cxn>
                  <a:cxn ang="0">
                    <a:pos x="T8" y="T9"/>
                  </a:cxn>
                  <a:cxn ang="0">
                    <a:pos x="T10" y="T11"/>
                  </a:cxn>
                </a:cxnLst>
                <a:rect l="0" t="0" r="r" b="b"/>
                <a:pathLst>
                  <a:path w="63" h="872">
                    <a:moveTo>
                      <a:pt x="63" y="872"/>
                    </a:moveTo>
                    <a:cubicBezTo>
                      <a:pt x="0" y="872"/>
                      <a:pt x="0" y="872"/>
                      <a:pt x="0" y="872"/>
                    </a:cubicBezTo>
                    <a:cubicBezTo>
                      <a:pt x="0" y="33"/>
                      <a:pt x="0" y="33"/>
                      <a:pt x="0" y="33"/>
                    </a:cubicBezTo>
                    <a:cubicBezTo>
                      <a:pt x="0" y="33"/>
                      <a:pt x="4" y="2"/>
                      <a:pt x="31" y="1"/>
                    </a:cubicBezTo>
                    <a:cubicBezTo>
                      <a:pt x="57" y="0"/>
                      <a:pt x="63" y="33"/>
                      <a:pt x="63" y="33"/>
                    </a:cubicBezTo>
                    <a:lnTo>
                      <a:pt x="63" y="872"/>
                    </a:lnTo>
                    <a:close/>
                  </a:path>
                </a:pathLst>
              </a:custGeom>
              <a:solidFill>
                <a:schemeClr val="accent1">
                  <a:lumMod val="60000"/>
                  <a:lumOff val="40000"/>
                </a:schemeClr>
              </a:solidFill>
              <a:ln>
                <a:noFill/>
              </a:ln>
            </p:spPr>
            <p:txBody>
              <a:bodyPr anchor="ctr"/>
              <a:lstStyle/>
              <a:p>
                <a:pPr algn="ctr"/>
              </a:p>
            </p:txBody>
          </p:sp>
          <p:sp>
            <p:nvSpPr>
              <p:cNvPr id="159" name="Freeform: Shape 25"/>
              <p:cNvSpPr/>
              <p:nvPr>
                <p:custDataLst>
                  <p:tags r:id="rId8"/>
                </p:custDataLst>
              </p:nvPr>
            </p:nvSpPr>
            <p:spPr bwMode="auto">
              <a:xfrm>
                <a:off x="5076019" y="5038865"/>
                <a:ext cx="132631" cy="192551"/>
              </a:xfrm>
              <a:custGeom>
                <a:avLst/>
                <a:gdLst>
                  <a:gd name="T0" fmla="*/ 0 w 83"/>
                  <a:gd name="T1" fmla="*/ 111 h 121"/>
                  <a:gd name="T2" fmla="*/ 83 w 83"/>
                  <a:gd name="T3" fmla="*/ 113 h 121"/>
                  <a:gd name="T4" fmla="*/ 49 w 83"/>
                  <a:gd name="T5" fmla="*/ 0 h 121"/>
                  <a:gd name="T6" fmla="*/ 29 w 83"/>
                  <a:gd name="T7" fmla="*/ 0 h 121"/>
                  <a:gd name="T8" fmla="*/ 0 w 83"/>
                  <a:gd name="T9" fmla="*/ 111 h 121"/>
                </a:gdLst>
                <a:ahLst/>
                <a:cxnLst>
                  <a:cxn ang="0">
                    <a:pos x="T0" y="T1"/>
                  </a:cxn>
                  <a:cxn ang="0">
                    <a:pos x="T2" y="T3"/>
                  </a:cxn>
                  <a:cxn ang="0">
                    <a:pos x="T4" y="T5"/>
                  </a:cxn>
                  <a:cxn ang="0">
                    <a:pos x="T6" y="T7"/>
                  </a:cxn>
                  <a:cxn ang="0">
                    <a:pos x="T8" y="T9"/>
                  </a:cxn>
                </a:cxnLst>
                <a:rect l="0" t="0" r="r" b="b"/>
                <a:pathLst>
                  <a:path w="83" h="121">
                    <a:moveTo>
                      <a:pt x="0" y="111"/>
                    </a:moveTo>
                    <a:cubicBezTo>
                      <a:pt x="0" y="111"/>
                      <a:pt x="40" y="121"/>
                      <a:pt x="83" y="113"/>
                    </a:cubicBezTo>
                    <a:cubicBezTo>
                      <a:pt x="49" y="0"/>
                      <a:pt x="49" y="0"/>
                      <a:pt x="49" y="0"/>
                    </a:cubicBezTo>
                    <a:cubicBezTo>
                      <a:pt x="29" y="0"/>
                      <a:pt x="29" y="0"/>
                      <a:pt x="29" y="0"/>
                    </a:cubicBezTo>
                    <a:cubicBezTo>
                      <a:pt x="0" y="111"/>
                      <a:pt x="0" y="111"/>
                      <a:pt x="0" y="111"/>
                    </a:cubicBezTo>
                  </a:path>
                </a:pathLst>
              </a:custGeom>
              <a:solidFill>
                <a:schemeClr val="accent1">
                  <a:lumMod val="60000"/>
                  <a:lumOff val="40000"/>
                </a:schemeClr>
              </a:solidFill>
              <a:ln>
                <a:noFill/>
              </a:ln>
            </p:spPr>
            <p:txBody>
              <a:bodyPr anchor="ctr"/>
              <a:lstStyle/>
              <a:p>
                <a:pPr algn="ctr"/>
              </a:p>
            </p:txBody>
          </p:sp>
          <p:sp>
            <p:nvSpPr>
              <p:cNvPr id="160" name="Freeform: Shape 26"/>
              <p:cNvSpPr/>
              <p:nvPr>
                <p:custDataLst>
                  <p:tags r:id="rId9"/>
                </p:custDataLst>
              </p:nvPr>
            </p:nvSpPr>
            <p:spPr bwMode="auto">
              <a:xfrm>
                <a:off x="5143344" y="5037518"/>
                <a:ext cx="249778" cy="1820482"/>
              </a:xfrm>
              <a:custGeom>
                <a:avLst/>
                <a:gdLst>
                  <a:gd name="T0" fmla="*/ 34 w 157"/>
                  <a:gd name="T1" fmla="*/ 0 h 1144"/>
                  <a:gd name="T2" fmla="*/ 0 w 157"/>
                  <a:gd name="T3" fmla="*/ 1 h 1144"/>
                  <a:gd name="T4" fmla="*/ 7 w 157"/>
                  <a:gd name="T5" fmla="*/ 1 h 1144"/>
                  <a:gd name="T6" fmla="*/ 41 w 157"/>
                  <a:gd name="T7" fmla="*/ 114 h 1144"/>
                  <a:gd name="T8" fmla="*/ 41 w 157"/>
                  <a:gd name="T9" fmla="*/ 114 h 1144"/>
                  <a:gd name="T10" fmla="*/ 94 w 157"/>
                  <a:gd name="T11" fmla="*/ 285 h 1144"/>
                  <a:gd name="T12" fmla="*/ 94 w 157"/>
                  <a:gd name="T13" fmla="*/ 286 h 1144"/>
                  <a:gd name="T14" fmla="*/ 100 w 157"/>
                  <a:gd name="T15" fmla="*/ 302 h 1144"/>
                  <a:gd name="T16" fmla="*/ 100 w 157"/>
                  <a:gd name="T17" fmla="*/ 1141 h 1144"/>
                  <a:gd name="T18" fmla="*/ 38 w 157"/>
                  <a:gd name="T19" fmla="*/ 1141 h 1144"/>
                  <a:gd name="T20" fmla="*/ 38 w 157"/>
                  <a:gd name="T21" fmla="*/ 1142 h 1144"/>
                  <a:gd name="T22" fmla="*/ 0 w 157"/>
                  <a:gd name="T23" fmla="*/ 1142 h 1144"/>
                  <a:gd name="T24" fmla="*/ 0 w 157"/>
                  <a:gd name="T25" fmla="*/ 1144 h 1144"/>
                  <a:gd name="T26" fmla="*/ 157 w 157"/>
                  <a:gd name="T27" fmla="*/ 1142 h 1144"/>
                  <a:gd name="T28" fmla="*/ 142 w 157"/>
                  <a:gd name="T29" fmla="*/ 290 h 1144"/>
                  <a:gd name="T30" fmla="*/ 34 w 157"/>
                  <a:gd name="T31" fmla="*/ 0 h 1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7" h="1144">
                    <a:moveTo>
                      <a:pt x="34" y="0"/>
                    </a:moveTo>
                    <a:cubicBezTo>
                      <a:pt x="0" y="1"/>
                      <a:pt x="0" y="1"/>
                      <a:pt x="0" y="1"/>
                    </a:cubicBezTo>
                    <a:cubicBezTo>
                      <a:pt x="7" y="1"/>
                      <a:pt x="7" y="1"/>
                      <a:pt x="7" y="1"/>
                    </a:cubicBezTo>
                    <a:cubicBezTo>
                      <a:pt x="41" y="114"/>
                      <a:pt x="41" y="114"/>
                      <a:pt x="41" y="114"/>
                    </a:cubicBezTo>
                    <a:cubicBezTo>
                      <a:pt x="41" y="114"/>
                      <a:pt x="41" y="114"/>
                      <a:pt x="41" y="114"/>
                    </a:cubicBezTo>
                    <a:cubicBezTo>
                      <a:pt x="94" y="285"/>
                      <a:pt x="94" y="285"/>
                      <a:pt x="94" y="285"/>
                    </a:cubicBezTo>
                    <a:cubicBezTo>
                      <a:pt x="94" y="286"/>
                      <a:pt x="94" y="286"/>
                      <a:pt x="94" y="286"/>
                    </a:cubicBezTo>
                    <a:cubicBezTo>
                      <a:pt x="98" y="294"/>
                      <a:pt x="100" y="302"/>
                      <a:pt x="100" y="302"/>
                    </a:cubicBezTo>
                    <a:cubicBezTo>
                      <a:pt x="100" y="1141"/>
                      <a:pt x="100" y="1141"/>
                      <a:pt x="100" y="1141"/>
                    </a:cubicBezTo>
                    <a:cubicBezTo>
                      <a:pt x="38" y="1141"/>
                      <a:pt x="38" y="1141"/>
                      <a:pt x="38" y="1141"/>
                    </a:cubicBezTo>
                    <a:cubicBezTo>
                      <a:pt x="38" y="1142"/>
                      <a:pt x="38" y="1142"/>
                      <a:pt x="38" y="1142"/>
                    </a:cubicBezTo>
                    <a:cubicBezTo>
                      <a:pt x="0" y="1142"/>
                      <a:pt x="0" y="1142"/>
                      <a:pt x="0" y="1142"/>
                    </a:cubicBezTo>
                    <a:cubicBezTo>
                      <a:pt x="0" y="1144"/>
                      <a:pt x="0" y="1144"/>
                      <a:pt x="0" y="1144"/>
                    </a:cubicBezTo>
                    <a:cubicBezTo>
                      <a:pt x="157" y="1142"/>
                      <a:pt x="157" y="1142"/>
                      <a:pt x="157" y="11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1" name="Freeform: Shape 27"/>
              <p:cNvSpPr/>
              <p:nvPr>
                <p:custDataLst>
                  <p:tags r:id="rId10"/>
                </p:custDataLst>
              </p:nvPr>
            </p:nvSpPr>
            <p:spPr bwMode="auto">
              <a:xfrm>
                <a:off x="5143344" y="5218624"/>
                <a:ext cx="149463" cy="294886"/>
              </a:xfrm>
              <a:custGeom>
                <a:avLst/>
                <a:gdLst>
                  <a:gd name="T0" fmla="*/ 41 w 94"/>
                  <a:gd name="T1" fmla="*/ 0 h 185"/>
                  <a:gd name="T2" fmla="*/ 6 w 94"/>
                  <a:gd name="T3" fmla="*/ 3 h 185"/>
                  <a:gd name="T4" fmla="*/ 0 w 94"/>
                  <a:gd name="T5" fmla="*/ 3 h 185"/>
                  <a:gd name="T6" fmla="*/ 0 w 94"/>
                  <a:gd name="T7" fmla="*/ 158 h 185"/>
                  <a:gd name="T8" fmla="*/ 37 w 94"/>
                  <a:gd name="T9" fmla="*/ 185 h 185"/>
                  <a:gd name="T10" fmla="*/ 67 w 94"/>
                  <a:gd name="T11" fmla="*/ 156 h 185"/>
                  <a:gd name="T12" fmla="*/ 68 w 94"/>
                  <a:gd name="T13" fmla="*/ 156 h 185"/>
                  <a:gd name="T14" fmla="*/ 94 w 94"/>
                  <a:gd name="T15" fmla="*/ 172 h 185"/>
                  <a:gd name="T16" fmla="*/ 94 w 94"/>
                  <a:gd name="T17" fmla="*/ 171 h 185"/>
                  <a:gd name="T18" fmla="*/ 41 w 94"/>
                  <a:gd name="T19"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 h="185">
                    <a:moveTo>
                      <a:pt x="41" y="0"/>
                    </a:moveTo>
                    <a:cubicBezTo>
                      <a:pt x="28" y="2"/>
                      <a:pt x="16" y="3"/>
                      <a:pt x="6" y="3"/>
                    </a:cubicBezTo>
                    <a:cubicBezTo>
                      <a:pt x="4" y="3"/>
                      <a:pt x="2" y="3"/>
                      <a:pt x="0" y="3"/>
                    </a:cubicBezTo>
                    <a:cubicBezTo>
                      <a:pt x="0" y="158"/>
                      <a:pt x="0" y="158"/>
                      <a:pt x="0" y="158"/>
                    </a:cubicBezTo>
                    <a:cubicBezTo>
                      <a:pt x="24" y="159"/>
                      <a:pt x="34" y="177"/>
                      <a:pt x="37" y="185"/>
                    </a:cubicBezTo>
                    <a:cubicBezTo>
                      <a:pt x="38" y="178"/>
                      <a:pt x="45" y="157"/>
                      <a:pt x="67" y="156"/>
                    </a:cubicBezTo>
                    <a:cubicBezTo>
                      <a:pt x="68" y="156"/>
                      <a:pt x="68" y="156"/>
                      <a:pt x="68" y="156"/>
                    </a:cubicBezTo>
                    <a:cubicBezTo>
                      <a:pt x="81" y="156"/>
                      <a:pt x="89" y="164"/>
                      <a:pt x="94" y="172"/>
                    </a:cubicBezTo>
                    <a:cubicBezTo>
                      <a:pt x="94" y="171"/>
                      <a:pt x="94" y="171"/>
                      <a:pt x="94" y="171"/>
                    </a:cubicBezTo>
                    <a:cubicBezTo>
                      <a:pt x="41" y="0"/>
                      <a:pt x="41" y="0"/>
                      <a:pt x="41"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62" name="Freeform: Shape 28"/>
              <p:cNvSpPr/>
              <p:nvPr>
                <p:custDataLst>
                  <p:tags r:id="rId11"/>
                </p:custDataLst>
              </p:nvPr>
            </p:nvSpPr>
            <p:spPr bwMode="auto">
              <a:xfrm>
                <a:off x="5143344" y="5470421"/>
                <a:ext cx="60593" cy="1384886"/>
              </a:xfrm>
              <a:custGeom>
                <a:avLst/>
                <a:gdLst>
                  <a:gd name="T0" fmla="*/ 0 w 38"/>
                  <a:gd name="T1" fmla="*/ 0 h 870"/>
                  <a:gd name="T2" fmla="*/ 0 w 38"/>
                  <a:gd name="T3" fmla="*/ 870 h 870"/>
                  <a:gd name="T4" fmla="*/ 38 w 38"/>
                  <a:gd name="T5" fmla="*/ 870 h 870"/>
                  <a:gd name="T6" fmla="*/ 38 w 38"/>
                  <a:gd name="T7" fmla="*/ 869 h 870"/>
                  <a:gd name="T8" fmla="*/ 36 w 38"/>
                  <a:gd name="T9" fmla="*/ 869 h 870"/>
                  <a:gd name="T10" fmla="*/ 36 w 38"/>
                  <a:gd name="T11" fmla="*/ 30 h 870"/>
                  <a:gd name="T12" fmla="*/ 37 w 38"/>
                  <a:gd name="T13" fmla="*/ 27 h 870"/>
                  <a:gd name="T14" fmla="*/ 0 w 38"/>
                  <a:gd name="T15" fmla="*/ 0 h 8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8" h="870">
                    <a:moveTo>
                      <a:pt x="0" y="0"/>
                    </a:moveTo>
                    <a:cubicBezTo>
                      <a:pt x="0" y="870"/>
                      <a:pt x="0" y="870"/>
                      <a:pt x="0" y="870"/>
                    </a:cubicBezTo>
                    <a:cubicBezTo>
                      <a:pt x="38" y="870"/>
                      <a:pt x="38" y="870"/>
                      <a:pt x="38" y="870"/>
                    </a:cubicBezTo>
                    <a:cubicBezTo>
                      <a:pt x="38" y="869"/>
                      <a:pt x="38" y="869"/>
                      <a:pt x="38" y="869"/>
                    </a:cubicBezTo>
                    <a:cubicBezTo>
                      <a:pt x="36" y="869"/>
                      <a:pt x="36" y="869"/>
                      <a:pt x="36" y="869"/>
                    </a:cubicBezTo>
                    <a:cubicBezTo>
                      <a:pt x="36" y="30"/>
                      <a:pt x="36" y="30"/>
                      <a:pt x="36" y="30"/>
                    </a:cubicBezTo>
                    <a:cubicBezTo>
                      <a:pt x="36" y="30"/>
                      <a:pt x="37" y="29"/>
                      <a:pt x="37" y="27"/>
                    </a:cubicBezTo>
                    <a:cubicBezTo>
                      <a:pt x="34" y="19"/>
                      <a:pt x="24" y="1"/>
                      <a:pt x="0" y="0"/>
                    </a:cubicBezTo>
                  </a:path>
                </a:pathLst>
              </a:custGeom>
              <a:solidFill>
                <a:schemeClr val="accent1"/>
              </a:solidFill>
              <a:ln>
                <a:noFill/>
              </a:ln>
            </p:spPr>
            <p:txBody>
              <a:bodyPr anchor="ctr"/>
              <a:lstStyle/>
              <a:p>
                <a:pPr algn="ctr"/>
              </a:p>
            </p:txBody>
          </p:sp>
          <p:sp>
            <p:nvSpPr>
              <p:cNvPr id="163" name="Freeform: Shape 29"/>
              <p:cNvSpPr/>
              <p:nvPr>
                <p:custDataLst>
                  <p:tags r:id="rId12"/>
                </p:custDataLst>
              </p:nvPr>
            </p:nvSpPr>
            <p:spPr bwMode="auto">
              <a:xfrm>
                <a:off x="5200571" y="5467055"/>
                <a:ext cx="101662" cy="1386232"/>
              </a:xfrm>
              <a:custGeom>
                <a:avLst/>
                <a:gdLst>
                  <a:gd name="T0" fmla="*/ 32 w 64"/>
                  <a:gd name="T1" fmla="*/ 0 h 871"/>
                  <a:gd name="T2" fmla="*/ 31 w 64"/>
                  <a:gd name="T3" fmla="*/ 0 h 871"/>
                  <a:gd name="T4" fmla="*/ 1 w 64"/>
                  <a:gd name="T5" fmla="*/ 29 h 871"/>
                  <a:gd name="T6" fmla="*/ 0 w 64"/>
                  <a:gd name="T7" fmla="*/ 32 h 871"/>
                  <a:gd name="T8" fmla="*/ 0 w 64"/>
                  <a:gd name="T9" fmla="*/ 871 h 871"/>
                  <a:gd name="T10" fmla="*/ 2 w 64"/>
                  <a:gd name="T11" fmla="*/ 871 h 871"/>
                  <a:gd name="T12" fmla="*/ 64 w 64"/>
                  <a:gd name="T13" fmla="*/ 871 h 871"/>
                  <a:gd name="T14" fmla="*/ 64 w 64"/>
                  <a:gd name="T15" fmla="*/ 32 h 871"/>
                  <a:gd name="T16" fmla="*/ 58 w 64"/>
                  <a:gd name="T17" fmla="*/ 16 h 871"/>
                  <a:gd name="T18" fmla="*/ 32 w 64"/>
                  <a:gd name="T19" fmla="*/ 0 h 8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4" h="871">
                    <a:moveTo>
                      <a:pt x="32" y="0"/>
                    </a:moveTo>
                    <a:cubicBezTo>
                      <a:pt x="32" y="0"/>
                      <a:pt x="32" y="0"/>
                      <a:pt x="31" y="0"/>
                    </a:cubicBezTo>
                    <a:cubicBezTo>
                      <a:pt x="9" y="1"/>
                      <a:pt x="2" y="22"/>
                      <a:pt x="1" y="29"/>
                    </a:cubicBezTo>
                    <a:cubicBezTo>
                      <a:pt x="1" y="31"/>
                      <a:pt x="0" y="32"/>
                      <a:pt x="0" y="32"/>
                    </a:cubicBezTo>
                    <a:cubicBezTo>
                      <a:pt x="0" y="871"/>
                      <a:pt x="0" y="871"/>
                      <a:pt x="0" y="871"/>
                    </a:cubicBezTo>
                    <a:cubicBezTo>
                      <a:pt x="2" y="871"/>
                      <a:pt x="2" y="871"/>
                      <a:pt x="2" y="871"/>
                    </a:cubicBezTo>
                    <a:cubicBezTo>
                      <a:pt x="64" y="871"/>
                      <a:pt x="64" y="871"/>
                      <a:pt x="64" y="871"/>
                    </a:cubicBezTo>
                    <a:cubicBezTo>
                      <a:pt x="64" y="32"/>
                      <a:pt x="64" y="32"/>
                      <a:pt x="64" y="32"/>
                    </a:cubicBezTo>
                    <a:cubicBezTo>
                      <a:pt x="64" y="32"/>
                      <a:pt x="62" y="24"/>
                      <a:pt x="58" y="16"/>
                    </a:cubicBezTo>
                    <a:cubicBezTo>
                      <a:pt x="53" y="8"/>
                      <a:pt x="45" y="0"/>
                      <a:pt x="32" y="0"/>
                    </a:cubicBezTo>
                  </a:path>
                </a:pathLst>
              </a:custGeom>
              <a:solidFill>
                <a:schemeClr val="accent1"/>
              </a:solidFill>
              <a:ln>
                <a:noFill/>
              </a:ln>
            </p:spPr>
            <p:txBody>
              <a:bodyPr anchor="ctr"/>
              <a:lstStyle/>
              <a:p>
                <a:pPr algn="ctr"/>
              </a:p>
            </p:txBody>
          </p:sp>
          <p:sp>
            <p:nvSpPr>
              <p:cNvPr id="164" name="Freeform: Shape 30"/>
              <p:cNvSpPr/>
              <p:nvPr>
                <p:custDataLst>
                  <p:tags r:id="rId13"/>
                </p:custDataLst>
              </p:nvPr>
            </p:nvSpPr>
            <p:spPr bwMode="auto">
              <a:xfrm>
                <a:off x="5143344" y="5038865"/>
                <a:ext cx="65306" cy="184472"/>
              </a:xfrm>
              <a:custGeom>
                <a:avLst/>
                <a:gdLst>
                  <a:gd name="T0" fmla="*/ 7 w 41"/>
                  <a:gd name="T1" fmla="*/ 0 h 116"/>
                  <a:gd name="T2" fmla="*/ 0 w 41"/>
                  <a:gd name="T3" fmla="*/ 0 h 116"/>
                  <a:gd name="T4" fmla="*/ 0 w 41"/>
                  <a:gd name="T5" fmla="*/ 116 h 116"/>
                  <a:gd name="T6" fmla="*/ 6 w 41"/>
                  <a:gd name="T7" fmla="*/ 116 h 116"/>
                  <a:gd name="T8" fmla="*/ 41 w 41"/>
                  <a:gd name="T9" fmla="*/ 113 h 116"/>
                  <a:gd name="T10" fmla="*/ 41 w 41"/>
                  <a:gd name="T11" fmla="*/ 113 h 116"/>
                  <a:gd name="T12" fmla="*/ 7 w 41"/>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1" h="116">
                    <a:moveTo>
                      <a:pt x="7" y="0"/>
                    </a:moveTo>
                    <a:cubicBezTo>
                      <a:pt x="0" y="0"/>
                      <a:pt x="0" y="0"/>
                      <a:pt x="0" y="0"/>
                    </a:cubicBezTo>
                    <a:cubicBezTo>
                      <a:pt x="0" y="116"/>
                      <a:pt x="0" y="116"/>
                      <a:pt x="0" y="116"/>
                    </a:cubicBezTo>
                    <a:cubicBezTo>
                      <a:pt x="2" y="116"/>
                      <a:pt x="4" y="116"/>
                      <a:pt x="6" y="116"/>
                    </a:cubicBezTo>
                    <a:cubicBezTo>
                      <a:pt x="16" y="116"/>
                      <a:pt x="28" y="115"/>
                      <a:pt x="41" y="113"/>
                    </a:cubicBezTo>
                    <a:cubicBezTo>
                      <a:pt x="41" y="113"/>
                      <a:pt x="41" y="113"/>
                      <a:pt x="41" y="113"/>
                    </a:cubicBezTo>
                    <a:cubicBezTo>
                      <a:pt x="7" y="0"/>
                      <a:pt x="7" y="0"/>
                      <a:pt x="7" y="0"/>
                    </a:cubicBezTo>
                  </a:path>
                </a:pathLst>
              </a:custGeom>
              <a:solidFill>
                <a:schemeClr val="accent1"/>
              </a:solidFill>
              <a:ln>
                <a:noFill/>
              </a:ln>
            </p:spPr>
            <p:txBody>
              <a:bodyPr anchor="ctr"/>
              <a:lstStyle/>
              <a:p>
                <a:pPr algn="ctr"/>
              </a:p>
            </p:txBody>
          </p:sp>
        </p:grpSp>
        <p:grpSp>
          <p:nvGrpSpPr>
            <p:cNvPr id="11" name="Group 31"/>
            <p:cNvGrpSpPr/>
            <p:nvPr/>
          </p:nvGrpSpPr>
          <p:grpSpPr>
            <a:xfrm>
              <a:off x="13915" y="7357"/>
              <a:ext cx="487" cy="1775"/>
              <a:chOff x="5502862" y="5355294"/>
              <a:chExt cx="412706" cy="1502706"/>
            </a:xfrm>
          </p:grpSpPr>
          <p:sp>
            <p:nvSpPr>
              <p:cNvPr id="143" name="Freeform: Shape 32"/>
              <p:cNvSpPr/>
              <p:nvPr>
                <p:custDataLst>
                  <p:tags r:id="rId14"/>
                </p:custDataLst>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4" name="Freeform: Shape 33"/>
              <p:cNvSpPr/>
              <p:nvPr>
                <p:custDataLst>
                  <p:tags r:id="rId15"/>
                </p:custDataLst>
              </p:nvPr>
            </p:nvSpPr>
            <p:spPr bwMode="auto">
              <a:xfrm>
                <a:off x="5514308" y="5365393"/>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5" name="Freeform: Shape 34"/>
              <p:cNvSpPr/>
              <p:nvPr>
                <p:custDataLst>
                  <p:tags r:id="rId16"/>
                </p:custDataLst>
              </p:nvPr>
            </p:nvSpPr>
            <p:spPr bwMode="auto">
              <a:xfrm>
                <a:off x="5601831" y="5786851"/>
                <a:ext cx="125899" cy="1068456"/>
              </a:xfrm>
              <a:custGeom>
                <a:avLst/>
                <a:gdLst>
                  <a:gd name="T0" fmla="*/ 79 w 79"/>
                  <a:gd name="T1" fmla="*/ 671 h 671"/>
                  <a:gd name="T2" fmla="*/ 0 w 79"/>
                  <a:gd name="T3" fmla="*/ 671 h 671"/>
                  <a:gd name="T4" fmla="*/ 0 w 79"/>
                  <a:gd name="T5" fmla="*/ 32 h 671"/>
                  <a:gd name="T6" fmla="*/ 38 w 79"/>
                  <a:gd name="T7" fmla="*/ 1 h 671"/>
                  <a:gd name="T8" fmla="*/ 79 w 79"/>
                  <a:gd name="T9" fmla="*/ 32 h 671"/>
                  <a:gd name="T10" fmla="*/ 79 w 79"/>
                  <a:gd name="T11" fmla="*/ 671 h 671"/>
                </a:gdLst>
                <a:ahLst/>
                <a:cxnLst>
                  <a:cxn ang="0">
                    <a:pos x="T0" y="T1"/>
                  </a:cxn>
                  <a:cxn ang="0">
                    <a:pos x="T2" y="T3"/>
                  </a:cxn>
                  <a:cxn ang="0">
                    <a:pos x="T4" y="T5"/>
                  </a:cxn>
                  <a:cxn ang="0">
                    <a:pos x="T6" y="T7"/>
                  </a:cxn>
                  <a:cxn ang="0">
                    <a:pos x="T8" y="T9"/>
                  </a:cxn>
                  <a:cxn ang="0">
                    <a:pos x="T10" y="T11"/>
                  </a:cxn>
                </a:cxnLst>
                <a:rect l="0" t="0" r="r" b="b"/>
                <a:pathLst>
                  <a:path w="79" h="671">
                    <a:moveTo>
                      <a:pt x="79" y="671"/>
                    </a:moveTo>
                    <a:cubicBezTo>
                      <a:pt x="0" y="671"/>
                      <a:pt x="0" y="671"/>
                      <a:pt x="0" y="671"/>
                    </a:cubicBezTo>
                    <a:cubicBezTo>
                      <a:pt x="0" y="32"/>
                      <a:pt x="0" y="32"/>
                      <a:pt x="0" y="32"/>
                    </a:cubicBezTo>
                    <a:cubicBezTo>
                      <a:pt x="0" y="32"/>
                      <a:pt x="5" y="1"/>
                      <a:pt x="38" y="1"/>
                    </a:cubicBezTo>
                    <a:cubicBezTo>
                      <a:pt x="72" y="0"/>
                      <a:pt x="79" y="32"/>
                      <a:pt x="79" y="32"/>
                    </a:cubicBezTo>
                    <a:cubicBezTo>
                      <a:pt x="79" y="671"/>
                      <a:pt x="79" y="671"/>
                      <a:pt x="79" y="671"/>
                    </a:cubicBezTo>
                  </a:path>
                </a:pathLst>
              </a:custGeom>
              <a:solidFill>
                <a:schemeClr val="accent2">
                  <a:lumMod val="60000"/>
                  <a:lumOff val="40000"/>
                </a:schemeClr>
              </a:solidFill>
              <a:ln>
                <a:noFill/>
              </a:ln>
            </p:spPr>
            <p:txBody>
              <a:bodyPr anchor="ctr"/>
              <a:lstStyle/>
              <a:p>
                <a:pPr algn="ctr"/>
              </a:p>
            </p:txBody>
          </p:sp>
          <p:sp>
            <p:nvSpPr>
              <p:cNvPr id="146" name="Freeform: Shape 35"/>
              <p:cNvSpPr/>
              <p:nvPr>
                <p:custDataLst>
                  <p:tags r:id="rId17"/>
                </p:custDataLst>
              </p:nvPr>
            </p:nvSpPr>
            <p:spPr bwMode="auto">
              <a:xfrm>
                <a:off x="5724363"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B59BC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7" name="Freeform: Shape 36"/>
              <p:cNvSpPr/>
              <p:nvPr>
                <p:custDataLst>
                  <p:tags r:id="rId18"/>
                </p:custDataLst>
              </p:nvPr>
            </p:nvSpPr>
            <p:spPr bwMode="auto">
              <a:xfrm>
                <a:off x="5502862"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accent2">
                  <a:lumMod val="60000"/>
                  <a:lumOff val="40000"/>
                </a:schemeClr>
              </a:solidFill>
              <a:ln>
                <a:noFill/>
              </a:ln>
            </p:spPr>
            <p:txBody>
              <a:bodyPr anchor="ctr"/>
              <a:lstStyle/>
              <a:p>
                <a:pPr algn="ctr"/>
              </a:p>
            </p:txBody>
          </p:sp>
          <p:sp>
            <p:nvSpPr>
              <p:cNvPr id="148" name="Freeform: Shape 37"/>
              <p:cNvSpPr/>
              <p:nvPr>
                <p:custDataLst>
                  <p:tags r:id="rId19"/>
                </p:custDataLst>
              </p:nvPr>
            </p:nvSpPr>
            <p:spPr bwMode="auto">
              <a:xfrm>
                <a:off x="5599811" y="5357314"/>
                <a:ext cx="130611" cy="189185"/>
              </a:xfrm>
              <a:custGeom>
                <a:avLst/>
                <a:gdLst>
                  <a:gd name="T0" fmla="*/ 0 w 82"/>
                  <a:gd name="T1" fmla="*/ 110 h 119"/>
                  <a:gd name="T2" fmla="*/ 82 w 82"/>
                  <a:gd name="T3" fmla="*/ 111 h 119"/>
                  <a:gd name="T4" fmla="*/ 48 w 82"/>
                  <a:gd name="T5" fmla="*/ 0 h 119"/>
                  <a:gd name="T6" fmla="*/ 28 w 82"/>
                  <a:gd name="T7" fmla="*/ 0 h 119"/>
                  <a:gd name="T8" fmla="*/ 0 w 82"/>
                  <a:gd name="T9" fmla="*/ 110 h 119"/>
                </a:gdLst>
                <a:ahLst/>
                <a:cxnLst>
                  <a:cxn ang="0">
                    <a:pos x="T0" y="T1"/>
                  </a:cxn>
                  <a:cxn ang="0">
                    <a:pos x="T2" y="T3"/>
                  </a:cxn>
                  <a:cxn ang="0">
                    <a:pos x="T4" y="T5"/>
                  </a:cxn>
                  <a:cxn ang="0">
                    <a:pos x="T6" y="T7"/>
                  </a:cxn>
                  <a:cxn ang="0">
                    <a:pos x="T8" y="T9"/>
                  </a:cxn>
                </a:cxnLst>
                <a:rect l="0" t="0" r="r" b="b"/>
                <a:pathLst>
                  <a:path w="82" h="119">
                    <a:moveTo>
                      <a:pt x="0" y="110"/>
                    </a:moveTo>
                    <a:cubicBezTo>
                      <a:pt x="0" y="110"/>
                      <a:pt x="39" y="119"/>
                      <a:pt x="82" y="111"/>
                    </a:cubicBezTo>
                    <a:cubicBezTo>
                      <a:pt x="48" y="0"/>
                      <a:pt x="48" y="0"/>
                      <a:pt x="48" y="0"/>
                    </a:cubicBezTo>
                    <a:cubicBezTo>
                      <a:pt x="28" y="0"/>
                      <a:pt x="28" y="0"/>
                      <a:pt x="28" y="0"/>
                    </a:cubicBezTo>
                    <a:cubicBezTo>
                      <a:pt x="0" y="110"/>
                      <a:pt x="0" y="110"/>
                      <a:pt x="0" y="110"/>
                    </a:cubicBezTo>
                  </a:path>
                </a:pathLst>
              </a:custGeom>
              <a:solidFill>
                <a:schemeClr val="accent2">
                  <a:lumMod val="60000"/>
                  <a:lumOff val="40000"/>
                </a:schemeClr>
              </a:solidFill>
              <a:ln>
                <a:noFill/>
              </a:ln>
            </p:spPr>
            <p:txBody>
              <a:bodyPr anchor="ctr"/>
              <a:lstStyle/>
              <a:p>
                <a:pPr algn="ctr"/>
              </a:p>
            </p:txBody>
          </p:sp>
          <p:sp>
            <p:nvSpPr>
              <p:cNvPr id="149" name="Freeform: Shape 38"/>
              <p:cNvSpPr/>
              <p:nvPr>
                <p:custDataLst>
                  <p:tags r:id="rId20"/>
                </p:custDataLst>
              </p:nvPr>
            </p:nvSpPr>
            <p:spPr bwMode="auto">
              <a:xfrm>
                <a:off x="5665117" y="5355294"/>
                <a:ext cx="250451" cy="1502706"/>
              </a:xfrm>
              <a:custGeom>
                <a:avLst/>
                <a:gdLst>
                  <a:gd name="T0" fmla="*/ 34 w 157"/>
                  <a:gd name="T1" fmla="*/ 0 h 944"/>
                  <a:gd name="T2" fmla="*/ 0 w 157"/>
                  <a:gd name="T3" fmla="*/ 1 h 944"/>
                  <a:gd name="T4" fmla="*/ 0 w 157"/>
                  <a:gd name="T5" fmla="*/ 1 h 944"/>
                  <a:gd name="T6" fmla="*/ 7 w 157"/>
                  <a:gd name="T7" fmla="*/ 1 h 944"/>
                  <a:gd name="T8" fmla="*/ 41 w 157"/>
                  <a:gd name="T9" fmla="*/ 112 h 944"/>
                  <a:gd name="T10" fmla="*/ 40 w 157"/>
                  <a:gd name="T11" fmla="*/ 113 h 944"/>
                  <a:gd name="T12" fmla="*/ 95 w 157"/>
                  <a:gd name="T13" fmla="*/ 284 h 944"/>
                  <a:gd name="T14" fmla="*/ 94 w 157"/>
                  <a:gd name="T15" fmla="*/ 286 h 944"/>
                  <a:gd name="T16" fmla="*/ 100 w 157"/>
                  <a:gd name="T17" fmla="*/ 301 h 944"/>
                  <a:gd name="T18" fmla="*/ 100 w 157"/>
                  <a:gd name="T19" fmla="*/ 941 h 944"/>
                  <a:gd name="T20" fmla="*/ 39 w 157"/>
                  <a:gd name="T21" fmla="*/ 941 h 944"/>
                  <a:gd name="T22" fmla="*/ 39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7" y="1"/>
                      <a:pt x="7" y="1"/>
                      <a:pt x="7" y="1"/>
                    </a:cubicBezTo>
                    <a:cubicBezTo>
                      <a:pt x="41" y="112"/>
                      <a:pt x="41" y="112"/>
                      <a:pt x="41" y="112"/>
                    </a:cubicBezTo>
                    <a:cubicBezTo>
                      <a:pt x="41" y="112"/>
                      <a:pt x="41" y="113"/>
                      <a:pt x="40" y="113"/>
                    </a:cubicBezTo>
                    <a:cubicBezTo>
                      <a:pt x="95" y="284"/>
                      <a:pt x="95" y="284"/>
                      <a:pt x="95" y="284"/>
                    </a:cubicBezTo>
                    <a:cubicBezTo>
                      <a:pt x="94" y="286"/>
                      <a:pt x="94" y="286"/>
                      <a:pt x="94" y="286"/>
                    </a:cubicBezTo>
                    <a:cubicBezTo>
                      <a:pt x="98" y="293"/>
                      <a:pt x="100" y="301"/>
                      <a:pt x="100" y="301"/>
                    </a:cubicBezTo>
                    <a:cubicBezTo>
                      <a:pt x="100" y="941"/>
                      <a:pt x="100" y="941"/>
                      <a:pt x="100" y="941"/>
                    </a:cubicBezTo>
                    <a:cubicBezTo>
                      <a:pt x="39" y="941"/>
                      <a:pt x="39" y="941"/>
                      <a:pt x="39" y="941"/>
                    </a:cubicBezTo>
                    <a:cubicBezTo>
                      <a:pt x="39" y="942"/>
                      <a:pt x="39" y="942"/>
                      <a:pt x="39"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0" name="Freeform: Shape 39"/>
              <p:cNvSpPr/>
              <p:nvPr>
                <p:custDataLst>
                  <p:tags r:id="rId21"/>
                </p:custDataLst>
              </p:nvPr>
            </p:nvSpPr>
            <p:spPr bwMode="auto">
              <a:xfrm>
                <a:off x="5665117" y="5535727"/>
                <a:ext cx="151482" cy="295559"/>
              </a:xfrm>
              <a:custGeom>
                <a:avLst/>
                <a:gdLst>
                  <a:gd name="T0" fmla="*/ 40 w 95"/>
                  <a:gd name="T1" fmla="*/ 0 h 186"/>
                  <a:gd name="T2" fmla="*/ 6 w 95"/>
                  <a:gd name="T3" fmla="*/ 2 h 186"/>
                  <a:gd name="T4" fmla="*/ 0 w 95"/>
                  <a:gd name="T5" fmla="*/ 2 h 186"/>
                  <a:gd name="T6" fmla="*/ 0 w 95"/>
                  <a:gd name="T7" fmla="*/ 159 h 186"/>
                  <a:gd name="T8" fmla="*/ 37 w 95"/>
                  <a:gd name="T9" fmla="*/ 186 h 186"/>
                  <a:gd name="T10" fmla="*/ 68 w 95"/>
                  <a:gd name="T11" fmla="*/ 156 h 186"/>
                  <a:gd name="T12" fmla="*/ 68 w 95"/>
                  <a:gd name="T13" fmla="*/ 156 h 186"/>
                  <a:gd name="T14" fmla="*/ 94 w 95"/>
                  <a:gd name="T15" fmla="*/ 173 h 186"/>
                  <a:gd name="T16" fmla="*/ 95 w 95"/>
                  <a:gd name="T17" fmla="*/ 171 h 186"/>
                  <a:gd name="T18" fmla="*/ 40 w 95"/>
                  <a:gd name="T19"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186">
                    <a:moveTo>
                      <a:pt x="40" y="0"/>
                    </a:moveTo>
                    <a:cubicBezTo>
                      <a:pt x="28" y="2"/>
                      <a:pt x="16" y="2"/>
                      <a:pt x="6" y="2"/>
                    </a:cubicBezTo>
                    <a:cubicBezTo>
                      <a:pt x="4" y="2"/>
                      <a:pt x="2" y="2"/>
                      <a:pt x="0" y="2"/>
                    </a:cubicBezTo>
                    <a:cubicBezTo>
                      <a:pt x="0" y="159"/>
                      <a:pt x="0" y="159"/>
                      <a:pt x="0" y="159"/>
                    </a:cubicBezTo>
                    <a:cubicBezTo>
                      <a:pt x="24" y="159"/>
                      <a:pt x="34" y="177"/>
                      <a:pt x="37" y="186"/>
                    </a:cubicBezTo>
                    <a:cubicBezTo>
                      <a:pt x="39" y="179"/>
                      <a:pt x="45" y="157"/>
                      <a:pt x="68" y="156"/>
                    </a:cubicBezTo>
                    <a:cubicBezTo>
                      <a:pt x="68" y="156"/>
                      <a:pt x="68" y="156"/>
                      <a:pt x="68" y="156"/>
                    </a:cubicBezTo>
                    <a:cubicBezTo>
                      <a:pt x="82" y="156"/>
                      <a:pt x="89" y="165"/>
                      <a:pt x="94" y="173"/>
                    </a:cubicBezTo>
                    <a:cubicBezTo>
                      <a:pt x="95" y="171"/>
                      <a:pt x="95" y="171"/>
                      <a:pt x="95" y="171"/>
                    </a:cubicBezTo>
                    <a:cubicBezTo>
                      <a:pt x="40" y="0"/>
                      <a:pt x="40" y="0"/>
                      <a:pt x="40"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51" name="Freeform: Shape 40"/>
              <p:cNvSpPr/>
              <p:nvPr>
                <p:custDataLst>
                  <p:tags r:id="rId22"/>
                </p:custDataLst>
              </p:nvPr>
            </p:nvSpPr>
            <p:spPr bwMode="auto">
              <a:xfrm>
                <a:off x="5679185" y="5788871"/>
                <a:ext cx="62613" cy="1066436"/>
              </a:xfrm>
              <a:custGeom>
                <a:avLst/>
                <a:gdLst>
                  <a:gd name="T0" fmla="*/ 0 w 39"/>
                  <a:gd name="T1" fmla="*/ 0 h 670"/>
                  <a:gd name="T2" fmla="*/ 0 w 39"/>
                  <a:gd name="T3" fmla="*/ 670 h 670"/>
                  <a:gd name="T4" fmla="*/ 39 w 39"/>
                  <a:gd name="T5" fmla="*/ 670 h 670"/>
                  <a:gd name="T6" fmla="*/ 39 w 39"/>
                  <a:gd name="T7" fmla="*/ 669 h 670"/>
                  <a:gd name="T8" fmla="*/ 37 w 39"/>
                  <a:gd name="T9" fmla="*/ 669 h 670"/>
                  <a:gd name="T10" fmla="*/ 37 w 39"/>
                  <a:gd name="T11" fmla="*/ 29 h 670"/>
                  <a:gd name="T12" fmla="*/ 37 w 39"/>
                  <a:gd name="T13" fmla="*/ 27 h 670"/>
                  <a:gd name="T14" fmla="*/ 0 w 39"/>
                  <a:gd name="T15" fmla="*/ 0 h 6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670">
                    <a:moveTo>
                      <a:pt x="0" y="0"/>
                    </a:moveTo>
                    <a:cubicBezTo>
                      <a:pt x="0" y="670"/>
                      <a:pt x="0" y="670"/>
                      <a:pt x="0" y="670"/>
                    </a:cubicBezTo>
                    <a:cubicBezTo>
                      <a:pt x="39" y="670"/>
                      <a:pt x="39" y="670"/>
                      <a:pt x="39" y="670"/>
                    </a:cubicBezTo>
                    <a:cubicBezTo>
                      <a:pt x="39" y="669"/>
                      <a:pt x="39" y="669"/>
                      <a:pt x="39" y="669"/>
                    </a:cubicBezTo>
                    <a:cubicBezTo>
                      <a:pt x="37" y="669"/>
                      <a:pt x="37" y="669"/>
                      <a:pt x="37" y="669"/>
                    </a:cubicBezTo>
                    <a:cubicBezTo>
                      <a:pt x="37" y="29"/>
                      <a:pt x="37" y="29"/>
                      <a:pt x="37" y="29"/>
                    </a:cubicBezTo>
                    <a:cubicBezTo>
                      <a:pt x="37" y="29"/>
                      <a:pt x="37" y="28"/>
                      <a:pt x="37" y="27"/>
                    </a:cubicBezTo>
                    <a:cubicBezTo>
                      <a:pt x="34" y="18"/>
                      <a:pt x="24" y="0"/>
                      <a:pt x="0" y="0"/>
                    </a:cubicBezTo>
                  </a:path>
                </a:pathLst>
              </a:custGeom>
              <a:solidFill>
                <a:schemeClr val="accent2"/>
              </a:solidFill>
              <a:ln>
                <a:noFill/>
              </a:ln>
            </p:spPr>
            <p:txBody>
              <a:bodyPr anchor="ctr"/>
              <a:lstStyle/>
              <a:p>
                <a:pPr algn="ctr"/>
              </a:p>
            </p:txBody>
          </p:sp>
          <p:sp>
            <p:nvSpPr>
              <p:cNvPr id="152" name="Freeform: Shape 41"/>
              <p:cNvSpPr/>
              <p:nvPr>
                <p:custDataLst>
                  <p:tags r:id="rId23"/>
                </p:custDataLst>
              </p:nvPr>
            </p:nvSpPr>
            <p:spPr bwMode="auto">
              <a:xfrm>
                <a:off x="5724363"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2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2" y="672"/>
                      <a:pt x="2" y="672"/>
                      <a:pt x="2"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accent2"/>
              </a:solidFill>
              <a:ln>
                <a:noFill/>
              </a:ln>
            </p:spPr>
            <p:txBody>
              <a:bodyPr anchor="ctr"/>
              <a:lstStyle/>
              <a:p>
                <a:pPr algn="ctr"/>
              </a:p>
            </p:txBody>
          </p:sp>
          <p:sp>
            <p:nvSpPr>
              <p:cNvPr id="153" name="Freeform: Shape 42"/>
              <p:cNvSpPr/>
              <p:nvPr>
                <p:custDataLst>
                  <p:tags r:id="rId24"/>
                </p:custDataLst>
              </p:nvPr>
            </p:nvSpPr>
            <p:spPr bwMode="auto">
              <a:xfrm>
                <a:off x="5665117" y="5357314"/>
                <a:ext cx="65306" cy="181106"/>
              </a:xfrm>
              <a:custGeom>
                <a:avLst/>
                <a:gdLst>
                  <a:gd name="T0" fmla="*/ 7 w 41"/>
                  <a:gd name="T1" fmla="*/ 0 h 114"/>
                  <a:gd name="T2" fmla="*/ 0 w 41"/>
                  <a:gd name="T3" fmla="*/ 0 h 114"/>
                  <a:gd name="T4" fmla="*/ 0 w 41"/>
                  <a:gd name="T5" fmla="*/ 114 h 114"/>
                  <a:gd name="T6" fmla="*/ 6 w 41"/>
                  <a:gd name="T7" fmla="*/ 114 h 114"/>
                  <a:gd name="T8" fmla="*/ 40 w 41"/>
                  <a:gd name="T9" fmla="*/ 112 h 114"/>
                  <a:gd name="T10" fmla="*/ 41 w 41"/>
                  <a:gd name="T11" fmla="*/ 111 h 114"/>
                  <a:gd name="T12" fmla="*/ 7 w 41"/>
                  <a:gd name="T13" fmla="*/ 0 h 114"/>
                </a:gdLst>
                <a:ahLst/>
                <a:cxnLst>
                  <a:cxn ang="0">
                    <a:pos x="T0" y="T1"/>
                  </a:cxn>
                  <a:cxn ang="0">
                    <a:pos x="T2" y="T3"/>
                  </a:cxn>
                  <a:cxn ang="0">
                    <a:pos x="T4" y="T5"/>
                  </a:cxn>
                  <a:cxn ang="0">
                    <a:pos x="T6" y="T7"/>
                  </a:cxn>
                  <a:cxn ang="0">
                    <a:pos x="T8" y="T9"/>
                  </a:cxn>
                  <a:cxn ang="0">
                    <a:pos x="T10" y="T11"/>
                  </a:cxn>
                  <a:cxn ang="0">
                    <a:pos x="T12" y="T13"/>
                  </a:cxn>
                </a:cxnLst>
                <a:rect l="0" t="0" r="r" b="b"/>
                <a:pathLst>
                  <a:path w="41" h="114">
                    <a:moveTo>
                      <a:pt x="7" y="0"/>
                    </a:moveTo>
                    <a:cubicBezTo>
                      <a:pt x="0" y="0"/>
                      <a:pt x="0" y="0"/>
                      <a:pt x="0" y="0"/>
                    </a:cubicBezTo>
                    <a:cubicBezTo>
                      <a:pt x="0" y="114"/>
                      <a:pt x="0" y="114"/>
                      <a:pt x="0" y="114"/>
                    </a:cubicBezTo>
                    <a:cubicBezTo>
                      <a:pt x="2" y="114"/>
                      <a:pt x="4" y="114"/>
                      <a:pt x="6" y="114"/>
                    </a:cubicBezTo>
                    <a:cubicBezTo>
                      <a:pt x="16" y="114"/>
                      <a:pt x="28" y="114"/>
                      <a:pt x="40" y="112"/>
                    </a:cubicBezTo>
                    <a:cubicBezTo>
                      <a:pt x="41" y="112"/>
                      <a:pt x="41" y="111"/>
                      <a:pt x="41" y="111"/>
                    </a:cubicBezTo>
                    <a:cubicBezTo>
                      <a:pt x="7" y="0"/>
                      <a:pt x="7" y="0"/>
                      <a:pt x="7" y="0"/>
                    </a:cubicBezTo>
                  </a:path>
                </a:pathLst>
              </a:custGeom>
              <a:solidFill>
                <a:schemeClr val="accent2"/>
              </a:solidFill>
              <a:ln>
                <a:noFill/>
              </a:ln>
            </p:spPr>
            <p:txBody>
              <a:bodyPr anchor="ctr"/>
              <a:lstStyle/>
              <a:p>
                <a:pPr algn="ctr"/>
              </a:p>
            </p:txBody>
          </p:sp>
        </p:grpSp>
        <p:grpSp>
          <p:nvGrpSpPr>
            <p:cNvPr id="12" name="Group 43"/>
            <p:cNvGrpSpPr/>
            <p:nvPr/>
          </p:nvGrpSpPr>
          <p:grpSpPr>
            <a:xfrm>
              <a:off x="15649" y="7363"/>
              <a:ext cx="481" cy="1775"/>
              <a:chOff x="6959786" y="5355294"/>
              <a:chExt cx="407320" cy="1502706"/>
            </a:xfrm>
          </p:grpSpPr>
          <p:sp>
            <p:nvSpPr>
              <p:cNvPr id="132" name="Freeform: Shape 44"/>
              <p:cNvSpPr/>
              <p:nvPr>
                <p:custDataLst>
                  <p:tags r:id="rId25"/>
                </p:custDataLst>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3" name="Freeform: Shape 45"/>
              <p:cNvSpPr/>
              <p:nvPr>
                <p:custDataLst>
                  <p:tags r:id="rId26"/>
                </p:custDataLst>
              </p:nvPr>
            </p:nvSpPr>
            <p:spPr bwMode="auto">
              <a:xfrm>
                <a:off x="6970558" y="5365393"/>
                <a:ext cx="302965" cy="490130"/>
              </a:xfrm>
              <a:custGeom>
                <a:avLst/>
                <a:gdLst>
                  <a:gd name="T0" fmla="*/ 450 w 450"/>
                  <a:gd name="T1" fmla="*/ 657 h 728"/>
                  <a:gd name="T2" fmla="*/ 242 w 450"/>
                  <a:gd name="T3" fmla="*/ 0 h 728"/>
                  <a:gd name="T4" fmla="*/ 197 w 450"/>
                  <a:gd name="T5" fmla="*/ 0 h 728"/>
                  <a:gd name="T6" fmla="*/ 0 w 450"/>
                  <a:gd name="T7" fmla="*/ 681 h 728"/>
                  <a:gd name="T8" fmla="*/ 12 w 450"/>
                  <a:gd name="T9" fmla="*/ 728 h 728"/>
                  <a:gd name="T10" fmla="*/ 424 w 450"/>
                  <a:gd name="T11" fmla="*/ 726 h 728"/>
                  <a:gd name="T12" fmla="*/ 450 w 450"/>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50" h="728">
                    <a:moveTo>
                      <a:pt x="450" y="657"/>
                    </a:moveTo>
                    <a:lnTo>
                      <a:pt x="242" y="0"/>
                    </a:lnTo>
                    <a:lnTo>
                      <a:pt x="197" y="0"/>
                    </a:lnTo>
                    <a:lnTo>
                      <a:pt x="0" y="681"/>
                    </a:lnTo>
                    <a:lnTo>
                      <a:pt x="12" y="728"/>
                    </a:lnTo>
                    <a:lnTo>
                      <a:pt x="424" y="726"/>
                    </a:lnTo>
                    <a:lnTo>
                      <a:pt x="450"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4" name="Freeform: Shape 46"/>
              <p:cNvSpPr/>
              <p:nvPr>
                <p:custDataLst>
                  <p:tags r:id="rId27"/>
                </p:custDataLst>
              </p:nvPr>
            </p:nvSpPr>
            <p:spPr bwMode="auto">
              <a:xfrm>
                <a:off x="7058755" y="5786851"/>
                <a:ext cx="123879" cy="1068456"/>
              </a:xfrm>
              <a:custGeom>
                <a:avLst/>
                <a:gdLst>
                  <a:gd name="T0" fmla="*/ 78 w 78"/>
                  <a:gd name="T1" fmla="*/ 671 h 671"/>
                  <a:gd name="T2" fmla="*/ 0 w 78"/>
                  <a:gd name="T3" fmla="*/ 671 h 671"/>
                  <a:gd name="T4" fmla="*/ 0 w 78"/>
                  <a:gd name="T5" fmla="*/ 32 h 671"/>
                  <a:gd name="T6" fmla="*/ 38 w 78"/>
                  <a:gd name="T7" fmla="*/ 1 h 671"/>
                  <a:gd name="T8" fmla="*/ 78 w 78"/>
                  <a:gd name="T9" fmla="*/ 32 h 671"/>
                  <a:gd name="T10" fmla="*/ 78 w 78"/>
                  <a:gd name="T11" fmla="*/ 671 h 671"/>
                </a:gdLst>
                <a:ahLst/>
                <a:cxnLst>
                  <a:cxn ang="0">
                    <a:pos x="T0" y="T1"/>
                  </a:cxn>
                  <a:cxn ang="0">
                    <a:pos x="T2" y="T3"/>
                  </a:cxn>
                  <a:cxn ang="0">
                    <a:pos x="T4" y="T5"/>
                  </a:cxn>
                  <a:cxn ang="0">
                    <a:pos x="T6" y="T7"/>
                  </a:cxn>
                  <a:cxn ang="0">
                    <a:pos x="T8" y="T9"/>
                  </a:cxn>
                  <a:cxn ang="0">
                    <a:pos x="T10" y="T11"/>
                  </a:cxn>
                </a:cxnLst>
                <a:rect l="0" t="0" r="r" b="b"/>
                <a:pathLst>
                  <a:path w="78" h="671">
                    <a:moveTo>
                      <a:pt x="78" y="671"/>
                    </a:moveTo>
                    <a:cubicBezTo>
                      <a:pt x="0" y="671"/>
                      <a:pt x="0" y="671"/>
                      <a:pt x="0" y="671"/>
                    </a:cubicBezTo>
                    <a:cubicBezTo>
                      <a:pt x="0" y="32"/>
                      <a:pt x="0" y="32"/>
                      <a:pt x="0" y="32"/>
                    </a:cubicBezTo>
                    <a:cubicBezTo>
                      <a:pt x="0" y="32"/>
                      <a:pt x="4" y="1"/>
                      <a:pt x="38" y="1"/>
                    </a:cubicBezTo>
                    <a:cubicBezTo>
                      <a:pt x="72" y="0"/>
                      <a:pt x="78" y="32"/>
                      <a:pt x="78" y="32"/>
                    </a:cubicBezTo>
                    <a:cubicBezTo>
                      <a:pt x="78" y="671"/>
                      <a:pt x="78" y="671"/>
                      <a:pt x="78" y="671"/>
                    </a:cubicBezTo>
                  </a:path>
                </a:pathLst>
              </a:custGeom>
              <a:solidFill>
                <a:schemeClr val="tx2">
                  <a:lumMod val="60000"/>
                  <a:lumOff val="40000"/>
                </a:schemeClr>
              </a:solidFill>
              <a:ln>
                <a:noFill/>
              </a:ln>
            </p:spPr>
            <p:txBody>
              <a:bodyPr anchor="ctr"/>
              <a:lstStyle/>
              <a:p>
                <a:pPr algn="ctr"/>
              </a:p>
            </p:txBody>
          </p:sp>
          <p:sp>
            <p:nvSpPr>
              <p:cNvPr id="135" name="Freeform: Shape 47"/>
              <p:cNvSpPr/>
              <p:nvPr>
                <p:custDataLst>
                  <p:tags r:id="rId28"/>
                </p:custDataLst>
              </p:nvPr>
            </p:nvSpPr>
            <p:spPr bwMode="auto">
              <a:xfrm>
                <a:off x="7181287"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7" y="0"/>
                      <a:pt x="63" y="32"/>
                      <a:pt x="63" y="32"/>
                    </a:cubicBezTo>
                    <a:cubicBezTo>
                      <a:pt x="63" y="672"/>
                      <a:pt x="63" y="672"/>
                      <a:pt x="63" y="672"/>
                    </a:cubicBezTo>
                  </a:path>
                </a:pathLst>
              </a:custGeom>
              <a:solidFill>
                <a:srgbClr val="F7787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6" name="Freeform: Shape 48"/>
              <p:cNvSpPr/>
              <p:nvPr>
                <p:custDataLst>
                  <p:tags r:id="rId29"/>
                </p:custDataLst>
              </p:nvPr>
            </p:nvSpPr>
            <p:spPr bwMode="auto">
              <a:xfrm>
                <a:off x="6959786" y="5783485"/>
                <a:ext cx="100315" cy="1069802"/>
              </a:xfrm>
              <a:custGeom>
                <a:avLst/>
                <a:gdLst>
                  <a:gd name="T0" fmla="*/ 63 w 63"/>
                  <a:gd name="T1" fmla="*/ 672 h 672"/>
                  <a:gd name="T2" fmla="*/ 0 w 63"/>
                  <a:gd name="T3" fmla="*/ 672 h 672"/>
                  <a:gd name="T4" fmla="*/ 0 w 63"/>
                  <a:gd name="T5" fmla="*/ 32 h 672"/>
                  <a:gd name="T6" fmla="*/ 31 w 63"/>
                  <a:gd name="T7" fmla="*/ 0 h 672"/>
                  <a:gd name="T8" fmla="*/ 63 w 63"/>
                  <a:gd name="T9" fmla="*/ 32 h 672"/>
                  <a:gd name="T10" fmla="*/ 63 w 63"/>
                  <a:gd name="T11" fmla="*/ 672 h 672"/>
                </a:gdLst>
                <a:ahLst/>
                <a:cxnLst>
                  <a:cxn ang="0">
                    <a:pos x="T0" y="T1"/>
                  </a:cxn>
                  <a:cxn ang="0">
                    <a:pos x="T2" y="T3"/>
                  </a:cxn>
                  <a:cxn ang="0">
                    <a:pos x="T4" y="T5"/>
                  </a:cxn>
                  <a:cxn ang="0">
                    <a:pos x="T6" y="T7"/>
                  </a:cxn>
                  <a:cxn ang="0">
                    <a:pos x="T8" y="T9"/>
                  </a:cxn>
                  <a:cxn ang="0">
                    <a:pos x="T10" y="T11"/>
                  </a:cxn>
                </a:cxnLst>
                <a:rect l="0" t="0" r="r" b="b"/>
                <a:pathLst>
                  <a:path w="63" h="672">
                    <a:moveTo>
                      <a:pt x="63" y="672"/>
                    </a:moveTo>
                    <a:cubicBezTo>
                      <a:pt x="0" y="672"/>
                      <a:pt x="0" y="672"/>
                      <a:pt x="0" y="672"/>
                    </a:cubicBezTo>
                    <a:cubicBezTo>
                      <a:pt x="0" y="32"/>
                      <a:pt x="0" y="32"/>
                      <a:pt x="0" y="32"/>
                    </a:cubicBezTo>
                    <a:cubicBezTo>
                      <a:pt x="0" y="32"/>
                      <a:pt x="4" y="1"/>
                      <a:pt x="31" y="0"/>
                    </a:cubicBezTo>
                    <a:cubicBezTo>
                      <a:pt x="58" y="0"/>
                      <a:pt x="63" y="32"/>
                      <a:pt x="63" y="32"/>
                    </a:cubicBezTo>
                    <a:lnTo>
                      <a:pt x="63" y="672"/>
                    </a:lnTo>
                    <a:close/>
                  </a:path>
                </a:pathLst>
              </a:custGeom>
              <a:solidFill>
                <a:schemeClr val="tx2">
                  <a:lumMod val="60000"/>
                  <a:lumOff val="40000"/>
                </a:schemeClr>
              </a:solidFill>
              <a:ln>
                <a:noFill/>
              </a:ln>
            </p:spPr>
            <p:txBody>
              <a:bodyPr anchor="ctr"/>
              <a:lstStyle/>
              <a:p>
                <a:pPr algn="ctr"/>
              </a:p>
            </p:txBody>
          </p:sp>
          <p:sp>
            <p:nvSpPr>
              <p:cNvPr id="137" name="Freeform: Shape 49"/>
              <p:cNvSpPr/>
              <p:nvPr>
                <p:custDataLst>
                  <p:tags r:id="rId30"/>
                </p:custDataLst>
              </p:nvPr>
            </p:nvSpPr>
            <p:spPr bwMode="auto">
              <a:xfrm>
                <a:off x="7056735" y="5357314"/>
                <a:ext cx="130611" cy="191204"/>
              </a:xfrm>
              <a:custGeom>
                <a:avLst/>
                <a:gdLst>
                  <a:gd name="T0" fmla="*/ 0 w 82"/>
                  <a:gd name="T1" fmla="*/ 110 h 120"/>
                  <a:gd name="T2" fmla="*/ 82 w 82"/>
                  <a:gd name="T3" fmla="*/ 112 h 120"/>
                  <a:gd name="T4" fmla="*/ 48 w 82"/>
                  <a:gd name="T5" fmla="*/ 0 h 120"/>
                  <a:gd name="T6" fmla="*/ 28 w 82"/>
                  <a:gd name="T7" fmla="*/ 0 h 120"/>
                  <a:gd name="T8" fmla="*/ 0 w 82"/>
                  <a:gd name="T9" fmla="*/ 110 h 120"/>
                </a:gdLst>
                <a:ahLst/>
                <a:cxnLst>
                  <a:cxn ang="0">
                    <a:pos x="T0" y="T1"/>
                  </a:cxn>
                  <a:cxn ang="0">
                    <a:pos x="T2" y="T3"/>
                  </a:cxn>
                  <a:cxn ang="0">
                    <a:pos x="T4" y="T5"/>
                  </a:cxn>
                  <a:cxn ang="0">
                    <a:pos x="T6" y="T7"/>
                  </a:cxn>
                  <a:cxn ang="0">
                    <a:pos x="T8" y="T9"/>
                  </a:cxn>
                </a:cxnLst>
                <a:rect l="0" t="0" r="r" b="b"/>
                <a:pathLst>
                  <a:path w="82" h="120">
                    <a:moveTo>
                      <a:pt x="0" y="110"/>
                    </a:moveTo>
                    <a:cubicBezTo>
                      <a:pt x="0" y="110"/>
                      <a:pt x="39" y="120"/>
                      <a:pt x="82" y="112"/>
                    </a:cubicBezTo>
                    <a:cubicBezTo>
                      <a:pt x="48" y="0"/>
                      <a:pt x="48" y="0"/>
                      <a:pt x="48" y="0"/>
                    </a:cubicBezTo>
                    <a:cubicBezTo>
                      <a:pt x="28" y="0"/>
                      <a:pt x="28" y="0"/>
                      <a:pt x="28" y="0"/>
                    </a:cubicBezTo>
                    <a:cubicBezTo>
                      <a:pt x="0" y="110"/>
                      <a:pt x="0" y="110"/>
                      <a:pt x="0" y="110"/>
                    </a:cubicBezTo>
                  </a:path>
                </a:pathLst>
              </a:custGeom>
              <a:solidFill>
                <a:schemeClr val="tx2">
                  <a:lumMod val="60000"/>
                  <a:lumOff val="40000"/>
                </a:schemeClr>
              </a:solidFill>
              <a:ln>
                <a:noFill/>
              </a:ln>
            </p:spPr>
            <p:txBody>
              <a:bodyPr anchor="ctr"/>
              <a:lstStyle/>
              <a:p>
                <a:pPr algn="ctr"/>
              </a:p>
            </p:txBody>
          </p:sp>
          <p:sp>
            <p:nvSpPr>
              <p:cNvPr id="138" name="Freeform: Shape 50"/>
              <p:cNvSpPr/>
              <p:nvPr>
                <p:custDataLst>
                  <p:tags r:id="rId31"/>
                </p:custDataLst>
              </p:nvPr>
            </p:nvSpPr>
            <p:spPr bwMode="auto">
              <a:xfrm>
                <a:off x="7117328" y="5355294"/>
                <a:ext cx="249778" cy="1502706"/>
              </a:xfrm>
              <a:custGeom>
                <a:avLst/>
                <a:gdLst>
                  <a:gd name="T0" fmla="*/ 34 w 157"/>
                  <a:gd name="T1" fmla="*/ 0 h 944"/>
                  <a:gd name="T2" fmla="*/ 0 w 157"/>
                  <a:gd name="T3" fmla="*/ 1 h 944"/>
                  <a:gd name="T4" fmla="*/ 0 w 157"/>
                  <a:gd name="T5" fmla="*/ 1 h 944"/>
                  <a:gd name="T6" fmla="*/ 10 w 157"/>
                  <a:gd name="T7" fmla="*/ 1 h 944"/>
                  <a:gd name="T8" fmla="*/ 44 w 157"/>
                  <a:gd name="T9" fmla="*/ 113 h 944"/>
                  <a:gd name="T10" fmla="*/ 44 w 157"/>
                  <a:gd name="T11" fmla="*/ 113 h 944"/>
                  <a:gd name="T12" fmla="*/ 98 w 157"/>
                  <a:gd name="T13" fmla="*/ 284 h 944"/>
                  <a:gd name="T14" fmla="*/ 97 w 157"/>
                  <a:gd name="T15" fmla="*/ 286 h 944"/>
                  <a:gd name="T16" fmla="*/ 103 w 157"/>
                  <a:gd name="T17" fmla="*/ 301 h 944"/>
                  <a:gd name="T18" fmla="*/ 103 w 157"/>
                  <a:gd name="T19" fmla="*/ 941 h 944"/>
                  <a:gd name="T20" fmla="*/ 41 w 157"/>
                  <a:gd name="T21" fmla="*/ 941 h 944"/>
                  <a:gd name="T22" fmla="*/ 41 w 157"/>
                  <a:gd name="T23" fmla="*/ 942 h 944"/>
                  <a:gd name="T24" fmla="*/ 0 w 157"/>
                  <a:gd name="T25" fmla="*/ 942 h 944"/>
                  <a:gd name="T26" fmla="*/ 0 w 157"/>
                  <a:gd name="T27" fmla="*/ 944 h 944"/>
                  <a:gd name="T28" fmla="*/ 157 w 157"/>
                  <a:gd name="T29" fmla="*/ 942 h 944"/>
                  <a:gd name="T30" fmla="*/ 142 w 157"/>
                  <a:gd name="T31" fmla="*/ 290 h 944"/>
                  <a:gd name="T32" fmla="*/ 34 w 157"/>
                  <a:gd name="T33" fmla="*/ 0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57" h="944">
                    <a:moveTo>
                      <a:pt x="34" y="0"/>
                    </a:moveTo>
                    <a:cubicBezTo>
                      <a:pt x="0" y="1"/>
                      <a:pt x="0" y="1"/>
                      <a:pt x="0" y="1"/>
                    </a:cubicBezTo>
                    <a:cubicBezTo>
                      <a:pt x="0" y="1"/>
                      <a:pt x="0" y="1"/>
                      <a:pt x="0" y="1"/>
                    </a:cubicBezTo>
                    <a:cubicBezTo>
                      <a:pt x="10" y="1"/>
                      <a:pt x="10" y="1"/>
                      <a:pt x="10" y="1"/>
                    </a:cubicBezTo>
                    <a:cubicBezTo>
                      <a:pt x="44" y="113"/>
                      <a:pt x="44" y="113"/>
                      <a:pt x="44" y="113"/>
                    </a:cubicBezTo>
                    <a:cubicBezTo>
                      <a:pt x="44" y="113"/>
                      <a:pt x="44" y="113"/>
                      <a:pt x="44" y="113"/>
                    </a:cubicBezTo>
                    <a:cubicBezTo>
                      <a:pt x="98" y="284"/>
                      <a:pt x="98" y="284"/>
                      <a:pt x="98" y="284"/>
                    </a:cubicBezTo>
                    <a:cubicBezTo>
                      <a:pt x="97" y="286"/>
                      <a:pt x="97" y="286"/>
                      <a:pt x="97" y="286"/>
                    </a:cubicBezTo>
                    <a:cubicBezTo>
                      <a:pt x="101" y="293"/>
                      <a:pt x="103" y="301"/>
                      <a:pt x="103" y="301"/>
                    </a:cubicBezTo>
                    <a:cubicBezTo>
                      <a:pt x="103" y="941"/>
                      <a:pt x="103" y="941"/>
                      <a:pt x="103" y="941"/>
                    </a:cubicBezTo>
                    <a:cubicBezTo>
                      <a:pt x="41" y="941"/>
                      <a:pt x="41" y="941"/>
                      <a:pt x="41" y="941"/>
                    </a:cubicBezTo>
                    <a:cubicBezTo>
                      <a:pt x="41" y="942"/>
                      <a:pt x="41" y="942"/>
                      <a:pt x="41" y="942"/>
                    </a:cubicBezTo>
                    <a:cubicBezTo>
                      <a:pt x="0" y="942"/>
                      <a:pt x="0" y="942"/>
                      <a:pt x="0" y="942"/>
                    </a:cubicBezTo>
                    <a:cubicBezTo>
                      <a:pt x="0" y="944"/>
                      <a:pt x="0" y="944"/>
                      <a:pt x="0" y="944"/>
                    </a:cubicBezTo>
                    <a:cubicBezTo>
                      <a:pt x="157" y="942"/>
                      <a:pt x="157" y="942"/>
                      <a:pt x="157" y="942"/>
                    </a:cubicBezTo>
                    <a:cubicBezTo>
                      <a:pt x="142" y="290"/>
                      <a:pt x="142" y="290"/>
                      <a:pt x="142" y="290"/>
                    </a:cubicBezTo>
                    <a:cubicBezTo>
                      <a:pt x="34" y="0"/>
                      <a:pt x="34" y="0"/>
                      <a:pt x="3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39" name="Freeform: Shape 51"/>
              <p:cNvSpPr/>
              <p:nvPr>
                <p:custDataLst>
                  <p:tags r:id="rId32"/>
                </p:custDataLst>
              </p:nvPr>
            </p:nvSpPr>
            <p:spPr bwMode="auto">
              <a:xfrm>
                <a:off x="7117328" y="5535727"/>
                <a:ext cx="156195" cy="295559"/>
              </a:xfrm>
              <a:custGeom>
                <a:avLst/>
                <a:gdLst>
                  <a:gd name="T0" fmla="*/ 44 w 98"/>
                  <a:gd name="T1" fmla="*/ 0 h 186"/>
                  <a:gd name="T2" fmla="*/ 9 w 98"/>
                  <a:gd name="T3" fmla="*/ 3 h 186"/>
                  <a:gd name="T4" fmla="*/ 0 w 98"/>
                  <a:gd name="T5" fmla="*/ 3 h 186"/>
                  <a:gd name="T6" fmla="*/ 0 w 98"/>
                  <a:gd name="T7" fmla="*/ 159 h 186"/>
                  <a:gd name="T8" fmla="*/ 1 w 98"/>
                  <a:gd name="T9" fmla="*/ 159 h 186"/>
                  <a:gd name="T10" fmla="*/ 2 w 98"/>
                  <a:gd name="T11" fmla="*/ 159 h 186"/>
                  <a:gd name="T12" fmla="*/ 40 w 98"/>
                  <a:gd name="T13" fmla="*/ 186 h 186"/>
                  <a:gd name="T14" fmla="*/ 71 w 98"/>
                  <a:gd name="T15" fmla="*/ 156 h 186"/>
                  <a:gd name="T16" fmla="*/ 71 w 98"/>
                  <a:gd name="T17" fmla="*/ 156 h 186"/>
                  <a:gd name="T18" fmla="*/ 97 w 98"/>
                  <a:gd name="T19" fmla="*/ 173 h 186"/>
                  <a:gd name="T20" fmla="*/ 98 w 98"/>
                  <a:gd name="T21" fmla="*/ 171 h 186"/>
                  <a:gd name="T22" fmla="*/ 44 w 98"/>
                  <a:gd name="T23" fmla="*/ 0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8" h="186">
                    <a:moveTo>
                      <a:pt x="44" y="0"/>
                    </a:moveTo>
                    <a:cubicBezTo>
                      <a:pt x="31" y="2"/>
                      <a:pt x="20" y="3"/>
                      <a:pt x="9" y="3"/>
                    </a:cubicBezTo>
                    <a:cubicBezTo>
                      <a:pt x="6" y="3"/>
                      <a:pt x="3" y="3"/>
                      <a:pt x="0" y="3"/>
                    </a:cubicBezTo>
                    <a:cubicBezTo>
                      <a:pt x="0" y="159"/>
                      <a:pt x="0" y="159"/>
                      <a:pt x="0" y="159"/>
                    </a:cubicBezTo>
                    <a:cubicBezTo>
                      <a:pt x="0" y="159"/>
                      <a:pt x="1" y="159"/>
                      <a:pt x="1" y="159"/>
                    </a:cubicBezTo>
                    <a:cubicBezTo>
                      <a:pt x="2" y="159"/>
                      <a:pt x="2" y="159"/>
                      <a:pt x="2" y="159"/>
                    </a:cubicBezTo>
                    <a:cubicBezTo>
                      <a:pt x="27" y="159"/>
                      <a:pt x="37" y="177"/>
                      <a:pt x="40" y="186"/>
                    </a:cubicBezTo>
                    <a:cubicBezTo>
                      <a:pt x="42" y="179"/>
                      <a:pt x="48" y="157"/>
                      <a:pt x="71" y="156"/>
                    </a:cubicBezTo>
                    <a:cubicBezTo>
                      <a:pt x="71" y="156"/>
                      <a:pt x="71" y="156"/>
                      <a:pt x="71" y="156"/>
                    </a:cubicBezTo>
                    <a:cubicBezTo>
                      <a:pt x="85" y="156"/>
                      <a:pt x="92" y="165"/>
                      <a:pt x="97" y="173"/>
                    </a:cubicBezTo>
                    <a:cubicBezTo>
                      <a:pt x="98" y="171"/>
                      <a:pt x="98" y="171"/>
                      <a:pt x="98" y="171"/>
                    </a:cubicBezTo>
                    <a:cubicBezTo>
                      <a:pt x="44" y="0"/>
                      <a:pt x="44" y="0"/>
                      <a:pt x="44"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40" name="Freeform: Shape 52"/>
              <p:cNvSpPr/>
              <p:nvPr>
                <p:custDataLst>
                  <p:tags r:id="rId33"/>
                </p:custDataLst>
              </p:nvPr>
            </p:nvSpPr>
            <p:spPr bwMode="auto">
              <a:xfrm>
                <a:off x="7117328" y="5788871"/>
                <a:ext cx="65306" cy="1066436"/>
              </a:xfrm>
              <a:custGeom>
                <a:avLst/>
                <a:gdLst>
                  <a:gd name="T0" fmla="*/ 2 w 41"/>
                  <a:gd name="T1" fmla="*/ 0 h 670"/>
                  <a:gd name="T2" fmla="*/ 1 w 41"/>
                  <a:gd name="T3" fmla="*/ 0 h 670"/>
                  <a:gd name="T4" fmla="*/ 0 w 41"/>
                  <a:gd name="T5" fmla="*/ 0 h 670"/>
                  <a:gd name="T6" fmla="*/ 0 w 41"/>
                  <a:gd name="T7" fmla="*/ 670 h 670"/>
                  <a:gd name="T8" fmla="*/ 41 w 41"/>
                  <a:gd name="T9" fmla="*/ 670 h 670"/>
                  <a:gd name="T10" fmla="*/ 41 w 41"/>
                  <a:gd name="T11" fmla="*/ 669 h 670"/>
                  <a:gd name="T12" fmla="*/ 40 w 41"/>
                  <a:gd name="T13" fmla="*/ 669 h 670"/>
                  <a:gd name="T14" fmla="*/ 40 w 41"/>
                  <a:gd name="T15" fmla="*/ 29 h 670"/>
                  <a:gd name="T16" fmla="*/ 40 w 41"/>
                  <a:gd name="T17" fmla="*/ 27 h 670"/>
                  <a:gd name="T18" fmla="*/ 2 w 41"/>
                  <a:gd name="T19"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670">
                    <a:moveTo>
                      <a:pt x="2" y="0"/>
                    </a:moveTo>
                    <a:cubicBezTo>
                      <a:pt x="2" y="0"/>
                      <a:pt x="2" y="0"/>
                      <a:pt x="1" y="0"/>
                    </a:cubicBezTo>
                    <a:cubicBezTo>
                      <a:pt x="1" y="0"/>
                      <a:pt x="0" y="0"/>
                      <a:pt x="0" y="0"/>
                    </a:cubicBezTo>
                    <a:cubicBezTo>
                      <a:pt x="0" y="670"/>
                      <a:pt x="0" y="670"/>
                      <a:pt x="0" y="670"/>
                    </a:cubicBezTo>
                    <a:cubicBezTo>
                      <a:pt x="41" y="670"/>
                      <a:pt x="41" y="670"/>
                      <a:pt x="41" y="670"/>
                    </a:cubicBezTo>
                    <a:cubicBezTo>
                      <a:pt x="41" y="669"/>
                      <a:pt x="41" y="669"/>
                      <a:pt x="41" y="669"/>
                    </a:cubicBezTo>
                    <a:cubicBezTo>
                      <a:pt x="40" y="669"/>
                      <a:pt x="40" y="669"/>
                      <a:pt x="40" y="669"/>
                    </a:cubicBezTo>
                    <a:cubicBezTo>
                      <a:pt x="40" y="29"/>
                      <a:pt x="40" y="29"/>
                      <a:pt x="40" y="29"/>
                    </a:cubicBezTo>
                    <a:cubicBezTo>
                      <a:pt x="40" y="29"/>
                      <a:pt x="40" y="28"/>
                      <a:pt x="40" y="27"/>
                    </a:cubicBezTo>
                    <a:cubicBezTo>
                      <a:pt x="37" y="18"/>
                      <a:pt x="27" y="0"/>
                      <a:pt x="2" y="0"/>
                    </a:cubicBezTo>
                  </a:path>
                </a:pathLst>
              </a:custGeom>
              <a:solidFill>
                <a:schemeClr val="tx2"/>
              </a:solidFill>
              <a:ln>
                <a:noFill/>
              </a:ln>
            </p:spPr>
            <p:txBody>
              <a:bodyPr anchor="ctr"/>
              <a:lstStyle/>
              <a:p>
                <a:pPr algn="ctr"/>
              </a:p>
            </p:txBody>
          </p:sp>
          <p:sp>
            <p:nvSpPr>
              <p:cNvPr id="141" name="Freeform: Shape 53"/>
              <p:cNvSpPr/>
              <p:nvPr>
                <p:custDataLst>
                  <p:tags r:id="rId34"/>
                </p:custDataLst>
              </p:nvPr>
            </p:nvSpPr>
            <p:spPr bwMode="auto">
              <a:xfrm>
                <a:off x="7181287" y="5783485"/>
                <a:ext cx="100315" cy="1069802"/>
              </a:xfrm>
              <a:custGeom>
                <a:avLst/>
                <a:gdLst>
                  <a:gd name="T0" fmla="*/ 31 w 63"/>
                  <a:gd name="T1" fmla="*/ 0 h 672"/>
                  <a:gd name="T2" fmla="*/ 31 w 63"/>
                  <a:gd name="T3" fmla="*/ 0 h 672"/>
                  <a:gd name="T4" fmla="*/ 0 w 63"/>
                  <a:gd name="T5" fmla="*/ 30 h 672"/>
                  <a:gd name="T6" fmla="*/ 0 w 63"/>
                  <a:gd name="T7" fmla="*/ 32 h 672"/>
                  <a:gd name="T8" fmla="*/ 0 w 63"/>
                  <a:gd name="T9" fmla="*/ 672 h 672"/>
                  <a:gd name="T10" fmla="*/ 1 w 63"/>
                  <a:gd name="T11" fmla="*/ 672 h 672"/>
                  <a:gd name="T12" fmla="*/ 63 w 63"/>
                  <a:gd name="T13" fmla="*/ 672 h 672"/>
                  <a:gd name="T14" fmla="*/ 63 w 63"/>
                  <a:gd name="T15" fmla="*/ 32 h 672"/>
                  <a:gd name="T16" fmla="*/ 57 w 63"/>
                  <a:gd name="T17" fmla="*/ 17 h 672"/>
                  <a:gd name="T18" fmla="*/ 31 w 63"/>
                  <a:gd name="T19" fmla="*/ 0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672">
                    <a:moveTo>
                      <a:pt x="31" y="0"/>
                    </a:moveTo>
                    <a:cubicBezTo>
                      <a:pt x="31" y="0"/>
                      <a:pt x="31" y="0"/>
                      <a:pt x="31" y="0"/>
                    </a:cubicBezTo>
                    <a:cubicBezTo>
                      <a:pt x="8" y="1"/>
                      <a:pt x="2" y="23"/>
                      <a:pt x="0" y="30"/>
                    </a:cubicBezTo>
                    <a:cubicBezTo>
                      <a:pt x="0" y="31"/>
                      <a:pt x="0" y="32"/>
                      <a:pt x="0" y="32"/>
                    </a:cubicBezTo>
                    <a:cubicBezTo>
                      <a:pt x="0" y="672"/>
                      <a:pt x="0" y="672"/>
                      <a:pt x="0" y="672"/>
                    </a:cubicBezTo>
                    <a:cubicBezTo>
                      <a:pt x="1" y="672"/>
                      <a:pt x="1" y="672"/>
                      <a:pt x="1" y="672"/>
                    </a:cubicBezTo>
                    <a:cubicBezTo>
                      <a:pt x="63" y="672"/>
                      <a:pt x="63" y="672"/>
                      <a:pt x="63" y="672"/>
                    </a:cubicBezTo>
                    <a:cubicBezTo>
                      <a:pt x="63" y="32"/>
                      <a:pt x="63" y="32"/>
                      <a:pt x="63" y="32"/>
                    </a:cubicBezTo>
                    <a:cubicBezTo>
                      <a:pt x="63" y="32"/>
                      <a:pt x="61" y="24"/>
                      <a:pt x="57" y="17"/>
                    </a:cubicBezTo>
                    <a:cubicBezTo>
                      <a:pt x="52" y="9"/>
                      <a:pt x="45" y="0"/>
                      <a:pt x="31" y="0"/>
                    </a:cubicBezTo>
                  </a:path>
                </a:pathLst>
              </a:custGeom>
              <a:solidFill>
                <a:schemeClr val="tx2"/>
              </a:solidFill>
              <a:ln>
                <a:noFill/>
              </a:ln>
            </p:spPr>
            <p:txBody>
              <a:bodyPr anchor="ctr"/>
              <a:lstStyle/>
              <a:p>
                <a:pPr algn="ctr"/>
              </a:p>
            </p:txBody>
          </p:sp>
          <p:sp>
            <p:nvSpPr>
              <p:cNvPr id="142" name="Freeform: Shape 54"/>
              <p:cNvSpPr/>
              <p:nvPr>
                <p:custDataLst>
                  <p:tags r:id="rId35"/>
                </p:custDataLst>
              </p:nvPr>
            </p:nvSpPr>
            <p:spPr bwMode="auto">
              <a:xfrm>
                <a:off x="7117328" y="5357314"/>
                <a:ext cx="70019" cy="183125"/>
              </a:xfrm>
              <a:custGeom>
                <a:avLst/>
                <a:gdLst>
                  <a:gd name="T0" fmla="*/ 10 w 44"/>
                  <a:gd name="T1" fmla="*/ 0 h 115"/>
                  <a:gd name="T2" fmla="*/ 0 w 44"/>
                  <a:gd name="T3" fmla="*/ 0 h 115"/>
                  <a:gd name="T4" fmla="*/ 0 w 44"/>
                  <a:gd name="T5" fmla="*/ 115 h 115"/>
                  <a:gd name="T6" fmla="*/ 9 w 44"/>
                  <a:gd name="T7" fmla="*/ 115 h 115"/>
                  <a:gd name="T8" fmla="*/ 44 w 44"/>
                  <a:gd name="T9" fmla="*/ 112 h 115"/>
                  <a:gd name="T10" fmla="*/ 44 w 44"/>
                  <a:gd name="T11" fmla="*/ 112 h 115"/>
                  <a:gd name="T12" fmla="*/ 10 w 44"/>
                  <a:gd name="T13" fmla="*/ 0 h 115"/>
                </a:gdLst>
                <a:ahLst/>
                <a:cxnLst>
                  <a:cxn ang="0">
                    <a:pos x="T0" y="T1"/>
                  </a:cxn>
                  <a:cxn ang="0">
                    <a:pos x="T2" y="T3"/>
                  </a:cxn>
                  <a:cxn ang="0">
                    <a:pos x="T4" y="T5"/>
                  </a:cxn>
                  <a:cxn ang="0">
                    <a:pos x="T6" y="T7"/>
                  </a:cxn>
                  <a:cxn ang="0">
                    <a:pos x="T8" y="T9"/>
                  </a:cxn>
                  <a:cxn ang="0">
                    <a:pos x="T10" y="T11"/>
                  </a:cxn>
                  <a:cxn ang="0">
                    <a:pos x="T12" y="T13"/>
                  </a:cxn>
                </a:cxnLst>
                <a:rect l="0" t="0" r="r" b="b"/>
                <a:pathLst>
                  <a:path w="44" h="115">
                    <a:moveTo>
                      <a:pt x="10" y="0"/>
                    </a:moveTo>
                    <a:cubicBezTo>
                      <a:pt x="0" y="0"/>
                      <a:pt x="0" y="0"/>
                      <a:pt x="0" y="0"/>
                    </a:cubicBezTo>
                    <a:cubicBezTo>
                      <a:pt x="0" y="115"/>
                      <a:pt x="0" y="115"/>
                      <a:pt x="0" y="115"/>
                    </a:cubicBezTo>
                    <a:cubicBezTo>
                      <a:pt x="3" y="115"/>
                      <a:pt x="6" y="115"/>
                      <a:pt x="9" y="115"/>
                    </a:cubicBezTo>
                    <a:cubicBezTo>
                      <a:pt x="20" y="115"/>
                      <a:pt x="31" y="114"/>
                      <a:pt x="44" y="112"/>
                    </a:cubicBezTo>
                    <a:cubicBezTo>
                      <a:pt x="44" y="112"/>
                      <a:pt x="44" y="112"/>
                      <a:pt x="44" y="112"/>
                    </a:cubicBezTo>
                    <a:cubicBezTo>
                      <a:pt x="10" y="0"/>
                      <a:pt x="10" y="0"/>
                      <a:pt x="10" y="0"/>
                    </a:cubicBezTo>
                  </a:path>
                </a:pathLst>
              </a:custGeom>
              <a:solidFill>
                <a:schemeClr val="tx2"/>
              </a:solidFill>
              <a:ln>
                <a:noFill/>
              </a:ln>
            </p:spPr>
            <p:txBody>
              <a:bodyPr anchor="ctr"/>
              <a:lstStyle/>
              <a:p>
                <a:pPr algn="ctr"/>
              </a:p>
            </p:txBody>
          </p:sp>
        </p:grpSp>
        <p:grpSp>
          <p:nvGrpSpPr>
            <p:cNvPr id="13" name="Group 55"/>
            <p:cNvGrpSpPr/>
            <p:nvPr/>
          </p:nvGrpSpPr>
          <p:grpSpPr>
            <a:xfrm>
              <a:off x="14512" y="6071"/>
              <a:ext cx="477" cy="3057"/>
              <a:chOff x="6007804" y="4266641"/>
              <a:chExt cx="403952" cy="2588666"/>
            </a:xfrm>
          </p:grpSpPr>
          <p:sp>
            <p:nvSpPr>
              <p:cNvPr id="121" name="Freeform: Shape 56"/>
              <p:cNvSpPr/>
              <p:nvPr>
                <p:custDataLst>
                  <p:tags r:id="rId36"/>
                </p:custDataLst>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2" name="Freeform: Shape 57"/>
              <p:cNvSpPr/>
              <p:nvPr>
                <p:custDataLst>
                  <p:tags r:id="rId37"/>
                </p:custDataLst>
              </p:nvPr>
            </p:nvSpPr>
            <p:spPr bwMode="auto">
              <a:xfrm>
                <a:off x="6018576" y="4273373"/>
                <a:ext cx="300945" cy="490130"/>
              </a:xfrm>
              <a:custGeom>
                <a:avLst/>
                <a:gdLst>
                  <a:gd name="T0" fmla="*/ 447 w 447"/>
                  <a:gd name="T1" fmla="*/ 657 h 728"/>
                  <a:gd name="T2" fmla="*/ 242 w 447"/>
                  <a:gd name="T3" fmla="*/ 0 h 728"/>
                  <a:gd name="T4" fmla="*/ 197 w 447"/>
                  <a:gd name="T5" fmla="*/ 0 h 728"/>
                  <a:gd name="T6" fmla="*/ 0 w 447"/>
                  <a:gd name="T7" fmla="*/ 681 h 728"/>
                  <a:gd name="T8" fmla="*/ 12 w 447"/>
                  <a:gd name="T9" fmla="*/ 728 h 728"/>
                  <a:gd name="T10" fmla="*/ 424 w 447"/>
                  <a:gd name="T11" fmla="*/ 726 h 728"/>
                  <a:gd name="T12" fmla="*/ 447 w 447"/>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7" h="728">
                    <a:moveTo>
                      <a:pt x="447" y="657"/>
                    </a:moveTo>
                    <a:lnTo>
                      <a:pt x="242" y="0"/>
                    </a:lnTo>
                    <a:lnTo>
                      <a:pt x="197" y="0"/>
                    </a:lnTo>
                    <a:lnTo>
                      <a:pt x="0" y="681"/>
                    </a:lnTo>
                    <a:lnTo>
                      <a:pt x="12" y="728"/>
                    </a:lnTo>
                    <a:lnTo>
                      <a:pt x="424" y="726"/>
                    </a:lnTo>
                    <a:lnTo>
                      <a:pt x="447"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3" name="Freeform: Shape 58"/>
              <p:cNvSpPr/>
              <p:nvPr>
                <p:custDataLst>
                  <p:tags r:id="rId38"/>
                </p:custDataLst>
              </p:nvPr>
            </p:nvSpPr>
            <p:spPr bwMode="auto">
              <a:xfrm>
                <a:off x="6104752" y="4694831"/>
                <a:ext cx="125899" cy="2160476"/>
              </a:xfrm>
              <a:custGeom>
                <a:avLst/>
                <a:gdLst>
                  <a:gd name="T0" fmla="*/ 79 w 79"/>
                  <a:gd name="T1" fmla="*/ 1357 h 1357"/>
                  <a:gd name="T2" fmla="*/ 0 w 79"/>
                  <a:gd name="T3" fmla="*/ 1357 h 1357"/>
                  <a:gd name="T4" fmla="*/ 0 w 79"/>
                  <a:gd name="T5" fmla="*/ 32 h 1357"/>
                  <a:gd name="T6" fmla="*/ 39 w 79"/>
                  <a:gd name="T7" fmla="*/ 1 h 1357"/>
                  <a:gd name="T8" fmla="*/ 79 w 79"/>
                  <a:gd name="T9" fmla="*/ 32 h 1357"/>
                  <a:gd name="T10" fmla="*/ 79 w 79"/>
                  <a:gd name="T11" fmla="*/ 1357 h 1357"/>
                </a:gdLst>
                <a:ahLst/>
                <a:cxnLst>
                  <a:cxn ang="0">
                    <a:pos x="T0" y="T1"/>
                  </a:cxn>
                  <a:cxn ang="0">
                    <a:pos x="T2" y="T3"/>
                  </a:cxn>
                  <a:cxn ang="0">
                    <a:pos x="T4" y="T5"/>
                  </a:cxn>
                  <a:cxn ang="0">
                    <a:pos x="T6" y="T7"/>
                  </a:cxn>
                  <a:cxn ang="0">
                    <a:pos x="T8" y="T9"/>
                  </a:cxn>
                  <a:cxn ang="0">
                    <a:pos x="T10" y="T11"/>
                  </a:cxn>
                </a:cxnLst>
                <a:rect l="0" t="0" r="r" b="b"/>
                <a:pathLst>
                  <a:path w="79" h="1357">
                    <a:moveTo>
                      <a:pt x="79" y="1357"/>
                    </a:moveTo>
                    <a:cubicBezTo>
                      <a:pt x="0" y="1357"/>
                      <a:pt x="0" y="1357"/>
                      <a:pt x="0" y="1357"/>
                    </a:cubicBezTo>
                    <a:cubicBezTo>
                      <a:pt x="0" y="32"/>
                      <a:pt x="0" y="32"/>
                      <a:pt x="0" y="32"/>
                    </a:cubicBezTo>
                    <a:cubicBezTo>
                      <a:pt x="0" y="32"/>
                      <a:pt x="5" y="1"/>
                      <a:pt x="39" y="1"/>
                    </a:cubicBezTo>
                    <a:cubicBezTo>
                      <a:pt x="73" y="0"/>
                      <a:pt x="79" y="32"/>
                      <a:pt x="79" y="32"/>
                    </a:cubicBezTo>
                    <a:cubicBezTo>
                      <a:pt x="79" y="1357"/>
                      <a:pt x="79" y="1357"/>
                      <a:pt x="79" y="1357"/>
                    </a:cubicBezTo>
                  </a:path>
                </a:pathLst>
              </a:custGeom>
              <a:solidFill>
                <a:schemeClr val="accent3">
                  <a:lumMod val="60000"/>
                  <a:lumOff val="40000"/>
                </a:schemeClr>
              </a:solidFill>
              <a:ln>
                <a:noFill/>
              </a:ln>
            </p:spPr>
            <p:txBody>
              <a:bodyPr anchor="ctr"/>
              <a:lstStyle/>
              <a:p>
                <a:pPr algn="ctr"/>
              </a:p>
            </p:txBody>
          </p:sp>
          <p:sp>
            <p:nvSpPr>
              <p:cNvPr id="124" name="Freeform: Shape 59"/>
              <p:cNvSpPr/>
              <p:nvPr>
                <p:custDataLst>
                  <p:tags r:id="rId39"/>
                </p:custDataLst>
              </p:nvPr>
            </p:nvSpPr>
            <p:spPr bwMode="auto">
              <a:xfrm>
                <a:off x="6228631" y="4692138"/>
                <a:ext cx="100315" cy="2161149"/>
              </a:xfrm>
              <a:custGeom>
                <a:avLst/>
                <a:gdLst>
                  <a:gd name="T0" fmla="*/ 63 w 63"/>
                  <a:gd name="T1" fmla="*/ 1358 h 1358"/>
                  <a:gd name="T2" fmla="*/ 0 w 63"/>
                  <a:gd name="T3" fmla="*/ 1358 h 1358"/>
                  <a:gd name="T4" fmla="*/ 0 w 63"/>
                  <a:gd name="T5" fmla="*/ 32 h 1358"/>
                  <a:gd name="T6" fmla="*/ 30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0" y="0"/>
                    </a:cubicBezTo>
                    <a:cubicBezTo>
                      <a:pt x="57" y="0"/>
                      <a:pt x="63" y="32"/>
                      <a:pt x="63" y="32"/>
                    </a:cubicBezTo>
                    <a:cubicBezTo>
                      <a:pt x="63" y="1358"/>
                      <a:pt x="63" y="1358"/>
                      <a:pt x="63" y="1358"/>
                    </a:cubicBezTo>
                  </a:path>
                </a:pathLst>
              </a:custGeom>
              <a:solidFill>
                <a:srgbClr val="FFB14A"/>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5" name="Freeform: Shape 60"/>
              <p:cNvSpPr/>
              <p:nvPr>
                <p:custDataLst>
                  <p:tags r:id="rId40"/>
                </p:custDataLst>
              </p:nvPr>
            </p:nvSpPr>
            <p:spPr bwMode="auto">
              <a:xfrm>
                <a:off x="6007804" y="4692138"/>
                <a:ext cx="100315" cy="2161149"/>
              </a:xfrm>
              <a:custGeom>
                <a:avLst/>
                <a:gdLst>
                  <a:gd name="T0" fmla="*/ 63 w 63"/>
                  <a:gd name="T1" fmla="*/ 1358 h 1358"/>
                  <a:gd name="T2" fmla="*/ 0 w 63"/>
                  <a:gd name="T3" fmla="*/ 1358 h 1358"/>
                  <a:gd name="T4" fmla="*/ 0 w 63"/>
                  <a:gd name="T5" fmla="*/ 32 h 1358"/>
                  <a:gd name="T6" fmla="*/ 31 w 63"/>
                  <a:gd name="T7" fmla="*/ 0 h 1358"/>
                  <a:gd name="T8" fmla="*/ 63 w 63"/>
                  <a:gd name="T9" fmla="*/ 32 h 1358"/>
                  <a:gd name="T10" fmla="*/ 63 w 63"/>
                  <a:gd name="T11" fmla="*/ 1358 h 1358"/>
                </a:gdLst>
                <a:ahLst/>
                <a:cxnLst>
                  <a:cxn ang="0">
                    <a:pos x="T0" y="T1"/>
                  </a:cxn>
                  <a:cxn ang="0">
                    <a:pos x="T2" y="T3"/>
                  </a:cxn>
                  <a:cxn ang="0">
                    <a:pos x="T4" y="T5"/>
                  </a:cxn>
                  <a:cxn ang="0">
                    <a:pos x="T6" y="T7"/>
                  </a:cxn>
                  <a:cxn ang="0">
                    <a:pos x="T8" y="T9"/>
                  </a:cxn>
                  <a:cxn ang="0">
                    <a:pos x="T10" y="T11"/>
                  </a:cxn>
                </a:cxnLst>
                <a:rect l="0" t="0" r="r" b="b"/>
                <a:pathLst>
                  <a:path w="63" h="1358">
                    <a:moveTo>
                      <a:pt x="63" y="1358"/>
                    </a:moveTo>
                    <a:cubicBezTo>
                      <a:pt x="0" y="1358"/>
                      <a:pt x="0" y="1358"/>
                      <a:pt x="0" y="1358"/>
                    </a:cubicBezTo>
                    <a:cubicBezTo>
                      <a:pt x="0" y="32"/>
                      <a:pt x="0" y="32"/>
                      <a:pt x="0" y="32"/>
                    </a:cubicBezTo>
                    <a:cubicBezTo>
                      <a:pt x="0" y="32"/>
                      <a:pt x="4" y="1"/>
                      <a:pt x="31" y="0"/>
                    </a:cubicBezTo>
                    <a:cubicBezTo>
                      <a:pt x="58" y="0"/>
                      <a:pt x="63" y="32"/>
                      <a:pt x="63" y="32"/>
                    </a:cubicBezTo>
                    <a:lnTo>
                      <a:pt x="63" y="1358"/>
                    </a:lnTo>
                    <a:close/>
                  </a:path>
                </a:pathLst>
              </a:custGeom>
              <a:solidFill>
                <a:schemeClr val="accent3">
                  <a:lumMod val="60000"/>
                  <a:lumOff val="40000"/>
                </a:schemeClr>
              </a:solidFill>
              <a:ln>
                <a:noFill/>
              </a:ln>
            </p:spPr>
            <p:txBody>
              <a:bodyPr anchor="ctr"/>
              <a:lstStyle/>
              <a:p>
                <a:pPr algn="ctr"/>
              </a:p>
            </p:txBody>
          </p:sp>
          <p:sp>
            <p:nvSpPr>
              <p:cNvPr id="126" name="Freeform: Shape 61"/>
              <p:cNvSpPr/>
              <p:nvPr>
                <p:custDataLst>
                  <p:tags r:id="rId41"/>
                </p:custDataLst>
              </p:nvPr>
            </p:nvSpPr>
            <p:spPr bwMode="auto">
              <a:xfrm>
                <a:off x="6104752" y="4268661"/>
                <a:ext cx="129265" cy="185818"/>
              </a:xfrm>
              <a:custGeom>
                <a:avLst/>
                <a:gdLst>
                  <a:gd name="T0" fmla="*/ 0 w 81"/>
                  <a:gd name="T1" fmla="*/ 107 h 117"/>
                  <a:gd name="T2" fmla="*/ 81 w 81"/>
                  <a:gd name="T3" fmla="*/ 109 h 117"/>
                  <a:gd name="T4" fmla="*/ 48 w 81"/>
                  <a:gd name="T5" fmla="*/ 0 h 117"/>
                  <a:gd name="T6" fmla="*/ 28 w 81"/>
                  <a:gd name="T7" fmla="*/ 0 h 117"/>
                  <a:gd name="T8" fmla="*/ 0 w 81"/>
                  <a:gd name="T9" fmla="*/ 107 h 117"/>
                </a:gdLst>
                <a:ahLst/>
                <a:cxnLst>
                  <a:cxn ang="0">
                    <a:pos x="T0" y="T1"/>
                  </a:cxn>
                  <a:cxn ang="0">
                    <a:pos x="T2" y="T3"/>
                  </a:cxn>
                  <a:cxn ang="0">
                    <a:pos x="T4" y="T5"/>
                  </a:cxn>
                  <a:cxn ang="0">
                    <a:pos x="T6" y="T7"/>
                  </a:cxn>
                  <a:cxn ang="0">
                    <a:pos x="T8" y="T9"/>
                  </a:cxn>
                </a:cxnLst>
                <a:rect l="0" t="0" r="r" b="b"/>
                <a:pathLst>
                  <a:path w="81" h="117">
                    <a:moveTo>
                      <a:pt x="0" y="107"/>
                    </a:moveTo>
                    <a:cubicBezTo>
                      <a:pt x="0" y="107"/>
                      <a:pt x="39" y="117"/>
                      <a:pt x="81" y="109"/>
                    </a:cubicBezTo>
                    <a:cubicBezTo>
                      <a:pt x="48" y="0"/>
                      <a:pt x="48" y="0"/>
                      <a:pt x="48" y="0"/>
                    </a:cubicBezTo>
                    <a:cubicBezTo>
                      <a:pt x="28" y="0"/>
                      <a:pt x="28" y="0"/>
                      <a:pt x="28" y="0"/>
                    </a:cubicBezTo>
                    <a:cubicBezTo>
                      <a:pt x="0" y="107"/>
                      <a:pt x="0" y="107"/>
                      <a:pt x="0" y="107"/>
                    </a:cubicBezTo>
                  </a:path>
                </a:pathLst>
              </a:custGeom>
              <a:solidFill>
                <a:schemeClr val="accent3">
                  <a:lumMod val="60000"/>
                  <a:lumOff val="40000"/>
                </a:schemeClr>
              </a:solidFill>
              <a:ln>
                <a:noFill/>
              </a:ln>
            </p:spPr>
            <p:txBody>
              <a:bodyPr anchor="ctr"/>
              <a:lstStyle/>
              <a:p>
                <a:pPr algn="ctr"/>
              </a:p>
            </p:txBody>
          </p:sp>
          <p:sp>
            <p:nvSpPr>
              <p:cNvPr id="127" name="Freeform: Shape 62"/>
              <p:cNvSpPr/>
              <p:nvPr>
                <p:custDataLst>
                  <p:tags r:id="rId42"/>
                </p:custDataLst>
              </p:nvPr>
            </p:nvSpPr>
            <p:spPr bwMode="auto">
              <a:xfrm>
                <a:off x="6173424" y="4266641"/>
                <a:ext cx="238332" cy="2588666"/>
              </a:xfrm>
              <a:custGeom>
                <a:avLst/>
                <a:gdLst>
                  <a:gd name="T0" fmla="*/ 27 w 150"/>
                  <a:gd name="T1" fmla="*/ 0 h 1626"/>
                  <a:gd name="T2" fmla="*/ 0 w 150"/>
                  <a:gd name="T3" fmla="*/ 1 h 1626"/>
                  <a:gd name="T4" fmla="*/ 5 w 150"/>
                  <a:gd name="T5" fmla="*/ 1 h 1626"/>
                  <a:gd name="T6" fmla="*/ 38 w 150"/>
                  <a:gd name="T7" fmla="*/ 110 h 1626"/>
                  <a:gd name="T8" fmla="*/ 92 w 150"/>
                  <a:gd name="T9" fmla="*/ 282 h 1626"/>
                  <a:gd name="T10" fmla="*/ 92 w 150"/>
                  <a:gd name="T11" fmla="*/ 284 h 1626"/>
                  <a:gd name="T12" fmla="*/ 98 w 150"/>
                  <a:gd name="T13" fmla="*/ 299 h 1626"/>
                  <a:gd name="T14" fmla="*/ 98 w 150"/>
                  <a:gd name="T15" fmla="*/ 1625 h 1626"/>
                  <a:gd name="T16" fmla="*/ 36 w 150"/>
                  <a:gd name="T17" fmla="*/ 1625 h 1626"/>
                  <a:gd name="T18" fmla="*/ 36 w 150"/>
                  <a:gd name="T19" fmla="*/ 1626 h 1626"/>
                  <a:gd name="T20" fmla="*/ 150 w 150"/>
                  <a:gd name="T21" fmla="*/ 1626 h 1626"/>
                  <a:gd name="T22" fmla="*/ 135 w 150"/>
                  <a:gd name="T23" fmla="*/ 290 h 1626"/>
                  <a:gd name="T24" fmla="*/ 27 w 150"/>
                  <a:gd name="T25" fmla="*/ 0 h 1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0" h="1626">
                    <a:moveTo>
                      <a:pt x="27" y="0"/>
                    </a:moveTo>
                    <a:cubicBezTo>
                      <a:pt x="0" y="1"/>
                      <a:pt x="0" y="1"/>
                      <a:pt x="0" y="1"/>
                    </a:cubicBezTo>
                    <a:cubicBezTo>
                      <a:pt x="5" y="1"/>
                      <a:pt x="5" y="1"/>
                      <a:pt x="5" y="1"/>
                    </a:cubicBezTo>
                    <a:cubicBezTo>
                      <a:pt x="38" y="110"/>
                      <a:pt x="38" y="110"/>
                      <a:pt x="38" y="110"/>
                    </a:cubicBezTo>
                    <a:cubicBezTo>
                      <a:pt x="92" y="282"/>
                      <a:pt x="92" y="282"/>
                      <a:pt x="92" y="282"/>
                    </a:cubicBezTo>
                    <a:cubicBezTo>
                      <a:pt x="92" y="284"/>
                      <a:pt x="92" y="284"/>
                      <a:pt x="92" y="284"/>
                    </a:cubicBezTo>
                    <a:cubicBezTo>
                      <a:pt x="96" y="291"/>
                      <a:pt x="98" y="299"/>
                      <a:pt x="98" y="299"/>
                    </a:cubicBezTo>
                    <a:cubicBezTo>
                      <a:pt x="98" y="1625"/>
                      <a:pt x="98" y="1625"/>
                      <a:pt x="98" y="1625"/>
                    </a:cubicBezTo>
                    <a:cubicBezTo>
                      <a:pt x="36" y="1625"/>
                      <a:pt x="36" y="1625"/>
                      <a:pt x="36" y="1625"/>
                    </a:cubicBezTo>
                    <a:cubicBezTo>
                      <a:pt x="36" y="1626"/>
                      <a:pt x="36" y="1626"/>
                      <a:pt x="36" y="1626"/>
                    </a:cubicBezTo>
                    <a:cubicBezTo>
                      <a:pt x="150" y="1626"/>
                      <a:pt x="150" y="1626"/>
                      <a:pt x="150" y="1626"/>
                    </a:cubicBezTo>
                    <a:cubicBezTo>
                      <a:pt x="135" y="290"/>
                      <a:pt x="135" y="290"/>
                      <a:pt x="135" y="290"/>
                    </a:cubicBezTo>
                    <a:cubicBezTo>
                      <a:pt x="27" y="0"/>
                      <a:pt x="27" y="0"/>
                      <a:pt x="27"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8" name="Freeform: Shape 63"/>
              <p:cNvSpPr/>
              <p:nvPr>
                <p:custDataLst>
                  <p:tags r:id="rId43"/>
                </p:custDataLst>
              </p:nvPr>
            </p:nvSpPr>
            <p:spPr bwMode="auto">
              <a:xfrm>
                <a:off x="6161979" y="4441687"/>
                <a:ext cx="157542" cy="298252"/>
              </a:xfrm>
              <a:custGeom>
                <a:avLst/>
                <a:gdLst>
                  <a:gd name="T0" fmla="*/ 45 w 99"/>
                  <a:gd name="T1" fmla="*/ 0 h 187"/>
                  <a:gd name="T2" fmla="*/ 45 w 99"/>
                  <a:gd name="T3" fmla="*/ 0 h 187"/>
                  <a:gd name="T4" fmla="*/ 11 w 99"/>
                  <a:gd name="T5" fmla="*/ 3 h 187"/>
                  <a:gd name="T6" fmla="*/ 0 w 99"/>
                  <a:gd name="T7" fmla="*/ 3 h 187"/>
                  <a:gd name="T8" fmla="*/ 0 w 99"/>
                  <a:gd name="T9" fmla="*/ 160 h 187"/>
                  <a:gd name="T10" fmla="*/ 3 w 99"/>
                  <a:gd name="T11" fmla="*/ 160 h 187"/>
                  <a:gd name="T12" fmla="*/ 4 w 99"/>
                  <a:gd name="T13" fmla="*/ 160 h 187"/>
                  <a:gd name="T14" fmla="*/ 42 w 99"/>
                  <a:gd name="T15" fmla="*/ 187 h 187"/>
                  <a:gd name="T16" fmla="*/ 72 w 99"/>
                  <a:gd name="T17" fmla="*/ 157 h 187"/>
                  <a:gd name="T18" fmla="*/ 73 w 99"/>
                  <a:gd name="T19" fmla="*/ 157 h 187"/>
                  <a:gd name="T20" fmla="*/ 99 w 99"/>
                  <a:gd name="T21" fmla="*/ 174 h 187"/>
                  <a:gd name="T22" fmla="*/ 99 w 99"/>
                  <a:gd name="T23" fmla="*/ 172 h 187"/>
                  <a:gd name="T24" fmla="*/ 45 w 99"/>
                  <a:gd name="T25" fmla="*/ 0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9" h="187">
                    <a:moveTo>
                      <a:pt x="45" y="0"/>
                    </a:moveTo>
                    <a:cubicBezTo>
                      <a:pt x="45" y="0"/>
                      <a:pt x="45" y="0"/>
                      <a:pt x="45" y="0"/>
                    </a:cubicBezTo>
                    <a:cubicBezTo>
                      <a:pt x="33" y="2"/>
                      <a:pt x="21" y="3"/>
                      <a:pt x="11" y="3"/>
                    </a:cubicBezTo>
                    <a:cubicBezTo>
                      <a:pt x="7" y="3"/>
                      <a:pt x="3" y="3"/>
                      <a:pt x="0" y="3"/>
                    </a:cubicBezTo>
                    <a:cubicBezTo>
                      <a:pt x="0" y="160"/>
                      <a:pt x="0" y="160"/>
                      <a:pt x="0" y="160"/>
                    </a:cubicBezTo>
                    <a:cubicBezTo>
                      <a:pt x="1" y="160"/>
                      <a:pt x="2" y="160"/>
                      <a:pt x="3" y="160"/>
                    </a:cubicBezTo>
                    <a:cubicBezTo>
                      <a:pt x="3" y="160"/>
                      <a:pt x="4" y="160"/>
                      <a:pt x="4" y="160"/>
                    </a:cubicBezTo>
                    <a:cubicBezTo>
                      <a:pt x="29" y="160"/>
                      <a:pt x="39" y="178"/>
                      <a:pt x="42" y="187"/>
                    </a:cubicBezTo>
                    <a:cubicBezTo>
                      <a:pt x="44" y="179"/>
                      <a:pt x="50" y="158"/>
                      <a:pt x="72" y="157"/>
                    </a:cubicBezTo>
                    <a:cubicBezTo>
                      <a:pt x="73" y="157"/>
                      <a:pt x="73" y="157"/>
                      <a:pt x="73" y="157"/>
                    </a:cubicBezTo>
                    <a:cubicBezTo>
                      <a:pt x="87" y="157"/>
                      <a:pt x="94" y="166"/>
                      <a:pt x="99" y="174"/>
                    </a:cubicBezTo>
                    <a:cubicBezTo>
                      <a:pt x="99" y="172"/>
                      <a:pt x="99" y="172"/>
                      <a:pt x="99" y="172"/>
                    </a:cubicBezTo>
                    <a:cubicBezTo>
                      <a:pt x="45" y="0"/>
                      <a:pt x="45" y="0"/>
                      <a:pt x="45"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29" name="Freeform: Shape 64"/>
              <p:cNvSpPr/>
              <p:nvPr>
                <p:custDataLst>
                  <p:tags r:id="rId44"/>
                </p:custDataLst>
              </p:nvPr>
            </p:nvSpPr>
            <p:spPr bwMode="auto">
              <a:xfrm>
                <a:off x="6161979" y="4696851"/>
                <a:ext cx="68672" cy="2158456"/>
              </a:xfrm>
              <a:custGeom>
                <a:avLst/>
                <a:gdLst>
                  <a:gd name="T0" fmla="*/ 4 w 43"/>
                  <a:gd name="T1" fmla="*/ 0 h 1356"/>
                  <a:gd name="T2" fmla="*/ 3 w 43"/>
                  <a:gd name="T3" fmla="*/ 0 h 1356"/>
                  <a:gd name="T4" fmla="*/ 0 w 43"/>
                  <a:gd name="T5" fmla="*/ 0 h 1356"/>
                  <a:gd name="T6" fmla="*/ 0 w 43"/>
                  <a:gd name="T7" fmla="*/ 1356 h 1356"/>
                  <a:gd name="T8" fmla="*/ 43 w 43"/>
                  <a:gd name="T9" fmla="*/ 1356 h 1356"/>
                  <a:gd name="T10" fmla="*/ 43 w 43"/>
                  <a:gd name="T11" fmla="*/ 1355 h 1356"/>
                  <a:gd name="T12" fmla="*/ 42 w 43"/>
                  <a:gd name="T13" fmla="*/ 1355 h 1356"/>
                  <a:gd name="T14" fmla="*/ 42 w 43"/>
                  <a:gd name="T15" fmla="*/ 29 h 1356"/>
                  <a:gd name="T16" fmla="*/ 42 w 43"/>
                  <a:gd name="T17" fmla="*/ 27 h 1356"/>
                  <a:gd name="T18" fmla="*/ 4 w 43"/>
                  <a:gd name="T19" fmla="*/ 0 h 13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1356">
                    <a:moveTo>
                      <a:pt x="4" y="0"/>
                    </a:moveTo>
                    <a:cubicBezTo>
                      <a:pt x="4" y="0"/>
                      <a:pt x="3" y="0"/>
                      <a:pt x="3" y="0"/>
                    </a:cubicBezTo>
                    <a:cubicBezTo>
                      <a:pt x="2" y="0"/>
                      <a:pt x="1" y="0"/>
                      <a:pt x="0" y="0"/>
                    </a:cubicBezTo>
                    <a:cubicBezTo>
                      <a:pt x="0" y="1356"/>
                      <a:pt x="0" y="1356"/>
                      <a:pt x="0" y="1356"/>
                    </a:cubicBezTo>
                    <a:cubicBezTo>
                      <a:pt x="43" y="1356"/>
                      <a:pt x="43" y="1356"/>
                      <a:pt x="43" y="1356"/>
                    </a:cubicBezTo>
                    <a:cubicBezTo>
                      <a:pt x="43" y="1355"/>
                      <a:pt x="43" y="1355"/>
                      <a:pt x="43" y="1355"/>
                    </a:cubicBezTo>
                    <a:cubicBezTo>
                      <a:pt x="42" y="1355"/>
                      <a:pt x="42" y="1355"/>
                      <a:pt x="42" y="1355"/>
                    </a:cubicBezTo>
                    <a:cubicBezTo>
                      <a:pt x="42" y="29"/>
                      <a:pt x="42" y="29"/>
                      <a:pt x="42" y="29"/>
                    </a:cubicBezTo>
                    <a:cubicBezTo>
                      <a:pt x="42" y="29"/>
                      <a:pt x="42" y="28"/>
                      <a:pt x="42" y="27"/>
                    </a:cubicBezTo>
                    <a:cubicBezTo>
                      <a:pt x="39" y="18"/>
                      <a:pt x="29" y="0"/>
                      <a:pt x="4" y="0"/>
                    </a:cubicBezTo>
                  </a:path>
                </a:pathLst>
              </a:custGeom>
              <a:solidFill>
                <a:schemeClr val="accent3"/>
              </a:solidFill>
              <a:ln>
                <a:noFill/>
              </a:ln>
            </p:spPr>
            <p:txBody>
              <a:bodyPr anchor="ctr"/>
              <a:lstStyle/>
              <a:p>
                <a:pPr algn="ctr"/>
              </a:p>
            </p:txBody>
          </p:sp>
          <p:sp>
            <p:nvSpPr>
              <p:cNvPr id="130" name="Freeform: Shape 65"/>
              <p:cNvSpPr/>
              <p:nvPr>
                <p:custDataLst>
                  <p:tags r:id="rId45"/>
                </p:custDataLst>
              </p:nvPr>
            </p:nvSpPr>
            <p:spPr bwMode="auto">
              <a:xfrm>
                <a:off x="6228631" y="4692138"/>
                <a:ext cx="100315" cy="2161149"/>
              </a:xfrm>
              <a:custGeom>
                <a:avLst/>
                <a:gdLst>
                  <a:gd name="T0" fmla="*/ 31 w 63"/>
                  <a:gd name="T1" fmla="*/ 0 h 1358"/>
                  <a:gd name="T2" fmla="*/ 30 w 63"/>
                  <a:gd name="T3" fmla="*/ 0 h 1358"/>
                  <a:gd name="T4" fmla="*/ 0 w 63"/>
                  <a:gd name="T5" fmla="*/ 30 h 1358"/>
                  <a:gd name="T6" fmla="*/ 0 w 63"/>
                  <a:gd name="T7" fmla="*/ 32 h 1358"/>
                  <a:gd name="T8" fmla="*/ 0 w 63"/>
                  <a:gd name="T9" fmla="*/ 1358 h 1358"/>
                  <a:gd name="T10" fmla="*/ 1 w 63"/>
                  <a:gd name="T11" fmla="*/ 1358 h 1358"/>
                  <a:gd name="T12" fmla="*/ 63 w 63"/>
                  <a:gd name="T13" fmla="*/ 1358 h 1358"/>
                  <a:gd name="T14" fmla="*/ 63 w 63"/>
                  <a:gd name="T15" fmla="*/ 32 h 1358"/>
                  <a:gd name="T16" fmla="*/ 57 w 63"/>
                  <a:gd name="T17" fmla="*/ 17 h 1358"/>
                  <a:gd name="T18" fmla="*/ 31 w 63"/>
                  <a:gd name="T19" fmla="*/ 0 h 13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358">
                    <a:moveTo>
                      <a:pt x="31" y="0"/>
                    </a:moveTo>
                    <a:cubicBezTo>
                      <a:pt x="31" y="0"/>
                      <a:pt x="31" y="0"/>
                      <a:pt x="30" y="0"/>
                    </a:cubicBezTo>
                    <a:cubicBezTo>
                      <a:pt x="8" y="1"/>
                      <a:pt x="2" y="22"/>
                      <a:pt x="0" y="30"/>
                    </a:cubicBezTo>
                    <a:cubicBezTo>
                      <a:pt x="0" y="31"/>
                      <a:pt x="0" y="32"/>
                      <a:pt x="0" y="32"/>
                    </a:cubicBezTo>
                    <a:cubicBezTo>
                      <a:pt x="0" y="1358"/>
                      <a:pt x="0" y="1358"/>
                      <a:pt x="0" y="1358"/>
                    </a:cubicBezTo>
                    <a:cubicBezTo>
                      <a:pt x="1" y="1358"/>
                      <a:pt x="1" y="1358"/>
                      <a:pt x="1" y="1358"/>
                    </a:cubicBezTo>
                    <a:cubicBezTo>
                      <a:pt x="63" y="1358"/>
                      <a:pt x="63" y="1358"/>
                      <a:pt x="63" y="1358"/>
                    </a:cubicBezTo>
                    <a:cubicBezTo>
                      <a:pt x="63" y="32"/>
                      <a:pt x="63" y="32"/>
                      <a:pt x="63" y="32"/>
                    </a:cubicBezTo>
                    <a:cubicBezTo>
                      <a:pt x="63" y="32"/>
                      <a:pt x="61" y="24"/>
                      <a:pt x="57" y="17"/>
                    </a:cubicBezTo>
                    <a:cubicBezTo>
                      <a:pt x="52" y="9"/>
                      <a:pt x="45" y="0"/>
                      <a:pt x="31" y="0"/>
                    </a:cubicBezTo>
                  </a:path>
                </a:pathLst>
              </a:custGeom>
              <a:solidFill>
                <a:schemeClr val="accent3"/>
              </a:solidFill>
              <a:ln>
                <a:noFill/>
              </a:ln>
            </p:spPr>
            <p:txBody>
              <a:bodyPr anchor="ctr"/>
              <a:lstStyle/>
              <a:p>
                <a:pPr algn="ctr"/>
              </a:p>
            </p:txBody>
          </p:sp>
          <p:sp>
            <p:nvSpPr>
              <p:cNvPr id="131" name="Freeform: Shape 66"/>
              <p:cNvSpPr/>
              <p:nvPr>
                <p:custDataLst>
                  <p:tags r:id="rId46"/>
                </p:custDataLst>
              </p:nvPr>
            </p:nvSpPr>
            <p:spPr bwMode="auto">
              <a:xfrm>
                <a:off x="6161979" y="4268661"/>
                <a:ext cx="72038" cy="178413"/>
              </a:xfrm>
              <a:custGeom>
                <a:avLst/>
                <a:gdLst>
                  <a:gd name="T0" fmla="*/ 12 w 45"/>
                  <a:gd name="T1" fmla="*/ 0 h 112"/>
                  <a:gd name="T2" fmla="*/ 7 w 45"/>
                  <a:gd name="T3" fmla="*/ 0 h 112"/>
                  <a:gd name="T4" fmla="*/ 0 w 45"/>
                  <a:gd name="T5" fmla="*/ 0 h 112"/>
                  <a:gd name="T6" fmla="*/ 0 w 45"/>
                  <a:gd name="T7" fmla="*/ 112 h 112"/>
                  <a:gd name="T8" fmla="*/ 11 w 45"/>
                  <a:gd name="T9" fmla="*/ 112 h 112"/>
                  <a:gd name="T10" fmla="*/ 45 w 45"/>
                  <a:gd name="T11" fmla="*/ 109 h 112"/>
                  <a:gd name="T12" fmla="*/ 45 w 45"/>
                  <a:gd name="T13" fmla="*/ 109 h 112"/>
                  <a:gd name="T14" fmla="*/ 12 w 45"/>
                  <a:gd name="T15" fmla="*/ 0 h 1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5" h="112">
                    <a:moveTo>
                      <a:pt x="12" y="0"/>
                    </a:moveTo>
                    <a:cubicBezTo>
                      <a:pt x="7" y="0"/>
                      <a:pt x="7" y="0"/>
                      <a:pt x="7" y="0"/>
                    </a:cubicBezTo>
                    <a:cubicBezTo>
                      <a:pt x="0" y="0"/>
                      <a:pt x="0" y="0"/>
                      <a:pt x="0" y="0"/>
                    </a:cubicBezTo>
                    <a:cubicBezTo>
                      <a:pt x="0" y="112"/>
                      <a:pt x="0" y="112"/>
                      <a:pt x="0" y="112"/>
                    </a:cubicBezTo>
                    <a:cubicBezTo>
                      <a:pt x="3" y="112"/>
                      <a:pt x="7" y="112"/>
                      <a:pt x="11" y="112"/>
                    </a:cubicBezTo>
                    <a:cubicBezTo>
                      <a:pt x="21" y="112"/>
                      <a:pt x="33" y="111"/>
                      <a:pt x="45" y="109"/>
                    </a:cubicBezTo>
                    <a:cubicBezTo>
                      <a:pt x="45" y="109"/>
                      <a:pt x="45" y="109"/>
                      <a:pt x="45" y="109"/>
                    </a:cubicBezTo>
                    <a:cubicBezTo>
                      <a:pt x="12" y="0"/>
                      <a:pt x="12" y="0"/>
                      <a:pt x="12" y="0"/>
                    </a:cubicBezTo>
                  </a:path>
                </a:pathLst>
              </a:custGeom>
              <a:solidFill>
                <a:schemeClr val="accent3"/>
              </a:solidFill>
              <a:ln>
                <a:noFill/>
              </a:ln>
            </p:spPr>
            <p:txBody>
              <a:bodyPr anchor="ctr"/>
              <a:lstStyle/>
              <a:p>
                <a:pPr algn="ctr"/>
              </a:p>
            </p:txBody>
          </p:sp>
        </p:grpSp>
        <p:grpSp>
          <p:nvGrpSpPr>
            <p:cNvPr id="14" name="Group 67"/>
            <p:cNvGrpSpPr/>
            <p:nvPr/>
          </p:nvGrpSpPr>
          <p:grpSpPr>
            <a:xfrm>
              <a:off x="15070" y="5418"/>
              <a:ext cx="483" cy="3711"/>
              <a:chOff x="6480429" y="3713225"/>
              <a:chExt cx="409339" cy="3142082"/>
            </a:xfrm>
          </p:grpSpPr>
          <p:sp>
            <p:nvSpPr>
              <p:cNvPr id="110" name="Freeform: Shape 68"/>
              <p:cNvSpPr/>
              <p:nvPr>
                <p:custDataLst>
                  <p:tags r:id="rId47"/>
                </p:custDataLst>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1" name="Freeform: Shape 69"/>
              <p:cNvSpPr/>
              <p:nvPr>
                <p:custDataLst>
                  <p:tags r:id="rId48"/>
                </p:custDataLst>
              </p:nvPr>
            </p:nvSpPr>
            <p:spPr bwMode="auto">
              <a:xfrm>
                <a:off x="6491874" y="3722651"/>
                <a:ext cx="302292" cy="490130"/>
              </a:xfrm>
              <a:custGeom>
                <a:avLst/>
                <a:gdLst>
                  <a:gd name="T0" fmla="*/ 449 w 449"/>
                  <a:gd name="T1" fmla="*/ 657 h 728"/>
                  <a:gd name="T2" fmla="*/ 241 w 449"/>
                  <a:gd name="T3" fmla="*/ 0 h 728"/>
                  <a:gd name="T4" fmla="*/ 196 w 449"/>
                  <a:gd name="T5" fmla="*/ 0 h 728"/>
                  <a:gd name="T6" fmla="*/ 0 w 449"/>
                  <a:gd name="T7" fmla="*/ 681 h 728"/>
                  <a:gd name="T8" fmla="*/ 12 w 449"/>
                  <a:gd name="T9" fmla="*/ 728 h 728"/>
                  <a:gd name="T10" fmla="*/ 423 w 449"/>
                  <a:gd name="T11" fmla="*/ 726 h 728"/>
                  <a:gd name="T12" fmla="*/ 449 w 449"/>
                  <a:gd name="T13" fmla="*/ 657 h 728"/>
                </a:gdLst>
                <a:ahLst/>
                <a:cxnLst>
                  <a:cxn ang="0">
                    <a:pos x="T0" y="T1"/>
                  </a:cxn>
                  <a:cxn ang="0">
                    <a:pos x="T2" y="T3"/>
                  </a:cxn>
                  <a:cxn ang="0">
                    <a:pos x="T4" y="T5"/>
                  </a:cxn>
                  <a:cxn ang="0">
                    <a:pos x="T6" y="T7"/>
                  </a:cxn>
                  <a:cxn ang="0">
                    <a:pos x="T8" y="T9"/>
                  </a:cxn>
                  <a:cxn ang="0">
                    <a:pos x="T10" y="T11"/>
                  </a:cxn>
                  <a:cxn ang="0">
                    <a:pos x="T12" y="T13"/>
                  </a:cxn>
                </a:cxnLst>
                <a:rect l="0" t="0" r="r" b="b"/>
                <a:pathLst>
                  <a:path w="449" h="728">
                    <a:moveTo>
                      <a:pt x="449" y="657"/>
                    </a:moveTo>
                    <a:lnTo>
                      <a:pt x="241" y="0"/>
                    </a:lnTo>
                    <a:lnTo>
                      <a:pt x="196" y="0"/>
                    </a:lnTo>
                    <a:lnTo>
                      <a:pt x="0" y="681"/>
                    </a:lnTo>
                    <a:lnTo>
                      <a:pt x="12" y="728"/>
                    </a:lnTo>
                    <a:lnTo>
                      <a:pt x="423" y="726"/>
                    </a:lnTo>
                    <a:lnTo>
                      <a:pt x="449" y="657"/>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2" name="Freeform: Shape 70"/>
              <p:cNvSpPr/>
              <p:nvPr>
                <p:custDataLst>
                  <p:tags r:id="rId49"/>
                </p:custDataLst>
              </p:nvPr>
            </p:nvSpPr>
            <p:spPr bwMode="auto">
              <a:xfrm>
                <a:off x="6579397" y="4144108"/>
                <a:ext cx="125899" cy="2711199"/>
              </a:xfrm>
              <a:custGeom>
                <a:avLst/>
                <a:gdLst>
                  <a:gd name="T0" fmla="*/ 79 w 79"/>
                  <a:gd name="T1" fmla="*/ 1703 h 1703"/>
                  <a:gd name="T2" fmla="*/ 0 w 79"/>
                  <a:gd name="T3" fmla="*/ 1703 h 1703"/>
                  <a:gd name="T4" fmla="*/ 0 w 79"/>
                  <a:gd name="T5" fmla="*/ 33 h 1703"/>
                  <a:gd name="T6" fmla="*/ 38 w 79"/>
                  <a:gd name="T7" fmla="*/ 1 h 1703"/>
                  <a:gd name="T8" fmla="*/ 79 w 79"/>
                  <a:gd name="T9" fmla="*/ 33 h 1703"/>
                  <a:gd name="T10" fmla="*/ 79 w 79"/>
                  <a:gd name="T11" fmla="*/ 1703 h 1703"/>
                </a:gdLst>
                <a:ahLst/>
                <a:cxnLst>
                  <a:cxn ang="0">
                    <a:pos x="T0" y="T1"/>
                  </a:cxn>
                  <a:cxn ang="0">
                    <a:pos x="T2" y="T3"/>
                  </a:cxn>
                  <a:cxn ang="0">
                    <a:pos x="T4" y="T5"/>
                  </a:cxn>
                  <a:cxn ang="0">
                    <a:pos x="T6" y="T7"/>
                  </a:cxn>
                  <a:cxn ang="0">
                    <a:pos x="T8" y="T9"/>
                  </a:cxn>
                  <a:cxn ang="0">
                    <a:pos x="T10" y="T11"/>
                  </a:cxn>
                </a:cxnLst>
                <a:rect l="0" t="0" r="r" b="b"/>
                <a:pathLst>
                  <a:path w="79" h="1703">
                    <a:moveTo>
                      <a:pt x="79" y="1703"/>
                    </a:moveTo>
                    <a:cubicBezTo>
                      <a:pt x="0" y="1703"/>
                      <a:pt x="0" y="1703"/>
                      <a:pt x="0" y="1703"/>
                    </a:cubicBezTo>
                    <a:cubicBezTo>
                      <a:pt x="0" y="33"/>
                      <a:pt x="0" y="33"/>
                      <a:pt x="0" y="33"/>
                    </a:cubicBezTo>
                    <a:cubicBezTo>
                      <a:pt x="0" y="33"/>
                      <a:pt x="5" y="2"/>
                      <a:pt x="38" y="1"/>
                    </a:cubicBezTo>
                    <a:cubicBezTo>
                      <a:pt x="72" y="0"/>
                      <a:pt x="79" y="33"/>
                      <a:pt x="79" y="33"/>
                    </a:cubicBezTo>
                    <a:cubicBezTo>
                      <a:pt x="79" y="1703"/>
                      <a:pt x="79" y="1703"/>
                      <a:pt x="79" y="1703"/>
                    </a:cubicBezTo>
                  </a:path>
                </a:pathLst>
              </a:custGeom>
              <a:solidFill>
                <a:schemeClr val="accent4">
                  <a:lumMod val="60000"/>
                  <a:lumOff val="40000"/>
                </a:schemeClr>
              </a:solidFill>
              <a:ln>
                <a:noFill/>
              </a:ln>
            </p:spPr>
            <p:txBody>
              <a:bodyPr anchor="ctr"/>
              <a:lstStyle/>
              <a:p>
                <a:pPr algn="ctr"/>
              </a:p>
            </p:txBody>
          </p:sp>
          <p:sp>
            <p:nvSpPr>
              <p:cNvPr id="113" name="Freeform: Shape 71"/>
              <p:cNvSpPr/>
              <p:nvPr>
                <p:custDataLst>
                  <p:tags r:id="rId50"/>
                </p:custDataLst>
              </p:nvPr>
            </p:nvSpPr>
            <p:spPr bwMode="auto">
              <a:xfrm>
                <a:off x="6701930"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cubicBezTo>
                      <a:pt x="63" y="1704"/>
                      <a:pt x="63" y="1704"/>
                      <a:pt x="63" y="1704"/>
                    </a:cubicBezTo>
                  </a:path>
                </a:pathLst>
              </a:custGeom>
              <a:solidFill>
                <a:srgbClr val="3DCEB5"/>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4" name="Freeform: Shape 72"/>
              <p:cNvSpPr/>
              <p:nvPr>
                <p:custDataLst>
                  <p:tags r:id="rId51"/>
                </p:custDataLst>
              </p:nvPr>
            </p:nvSpPr>
            <p:spPr bwMode="auto">
              <a:xfrm>
                <a:off x="6480429" y="4141415"/>
                <a:ext cx="100315" cy="2711872"/>
              </a:xfrm>
              <a:custGeom>
                <a:avLst/>
                <a:gdLst>
                  <a:gd name="T0" fmla="*/ 63 w 63"/>
                  <a:gd name="T1" fmla="*/ 1704 h 1704"/>
                  <a:gd name="T2" fmla="*/ 0 w 63"/>
                  <a:gd name="T3" fmla="*/ 1704 h 1704"/>
                  <a:gd name="T4" fmla="*/ 0 w 63"/>
                  <a:gd name="T5" fmla="*/ 33 h 1704"/>
                  <a:gd name="T6" fmla="*/ 31 w 63"/>
                  <a:gd name="T7" fmla="*/ 1 h 1704"/>
                  <a:gd name="T8" fmla="*/ 63 w 63"/>
                  <a:gd name="T9" fmla="*/ 33 h 1704"/>
                  <a:gd name="T10" fmla="*/ 63 w 63"/>
                  <a:gd name="T11" fmla="*/ 1704 h 1704"/>
                </a:gdLst>
                <a:ahLst/>
                <a:cxnLst>
                  <a:cxn ang="0">
                    <a:pos x="T0" y="T1"/>
                  </a:cxn>
                  <a:cxn ang="0">
                    <a:pos x="T2" y="T3"/>
                  </a:cxn>
                  <a:cxn ang="0">
                    <a:pos x="T4" y="T5"/>
                  </a:cxn>
                  <a:cxn ang="0">
                    <a:pos x="T6" y="T7"/>
                  </a:cxn>
                  <a:cxn ang="0">
                    <a:pos x="T8" y="T9"/>
                  </a:cxn>
                  <a:cxn ang="0">
                    <a:pos x="T10" y="T11"/>
                  </a:cxn>
                </a:cxnLst>
                <a:rect l="0" t="0" r="r" b="b"/>
                <a:pathLst>
                  <a:path w="63" h="1704">
                    <a:moveTo>
                      <a:pt x="63" y="1704"/>
                    </a:moveTo>
                    <a:cubicBezTo>
                      <a:pt x="0" y="1704"/>
                      <a:pt x="0" y="1704"/>
                      <a:pt x="0" y="1704"/>
                    </a:cubicBezTo>
                    <a:cubicBezTo>
                      <a:pt x="0" y="33"/>
                      <a:pt x="0" y="33"/>
                      <a:pt x="0" y="33"/>
                    </a:cubicBezTo>
                    <a:cubicBezTo>
                      <a:pt x="0" y="33"/>
                      <a:pt x="4" y="1"/>
                      <a:pt x="31" y="1"/>
                    </a:cubicBezTo>
                    <a:cubicBezTo>
                      <a:pt x="58" y="0"/>
                      <a:pt x="63" y="33"/>
                      <a:pt x="63" y="33"/>
                    </a:cubicBezTo>
                    <a:lnTo>
                      <a:pt x="63" y="1704"/>
                    </a:lnTo>
                    <a:close/>
                  </a:path>
                </a:pathLst>
              </a:custGeom>
              <a:solidFill>
                <a:schemeClr val="accent4">
                  <a:lumMod val="60000"/>
                  <a:lumOff val="40000"/>
                </a:schemeClr>
              </a:solidFill>
              <a:ln>
                <a:noFill/>
              </a:ln>
            </p:spPr>
            <p:txBody>
              <a:bodyPr anchor="ctr"/>
              <a:lstStyle/>
              <a:p>
                <a:pPr algn="ctr"/>
              </a:p>
            </p:txBody>
          </p:sp>
          <p:sp>
            <p:nvSpPr>
              <p:cNvPr id="115" name="Freeform: Shape 73"/>
              <p:cNvSpPr/>
              <p:nvPr>
                <p:custDataLst>
                  <p:tags r:id="rId52"/>
                </p:custDataLst>
              </p:nvPr>
            </p:nvSpPr>
            <p:spPr bwMode="auto">
              <a:xfrm>
                <a:off x="6576031" y="3714572"/>
                <a:ext cx="131958" cy="191204"/>
              </a:xfrm>
              <a:custGeom>
                <a:avLst/>
                <a:gdLst>
                  <a:gd name="T0" fmla="*/ 0 w 83"/>
                  <a:gd name="T1" fmla="*/ 111 h 120"/>
                  <a:gd name="T2" fmla="*/ 83 w 83"/>
                  <a:gd name="T3" fmla="*/ 113 h 120"/>
                  <a:gd name="T4" fmla="*/ 50 w 83"/>
                  <a:gd name="T5" fmla="*/ 0 h 120"/>
                  <a:gd name="T6" fmla="*/ 29 w 83"/>
                  <a:gd name="T7" fmla="*/ 0 h 120"/>
                  <a:gd name="T8" fmla="*/ 0 w 83"/>
                  <a:gd name="T9" fmla="*/ 111 h 120"/>
                </a:gdLst>
                <a:ahLst/>
                <a:cxnLst>
                  <a:cxn ang="0">
                    <a:pos x="T0" y="T1"/>
                  </a:cxn>
                  <a:cxn ang="0">
                    <a:pos x="T2" y="T3"/>
                  </a:cxn>
                  <a:cxn ang="0">
                    <a:pos x="T4" y="T5"/>
                  </a:cxn>
                  <a:cxn ang="0">
                    <a:pos x="T6" y="T7"/>
                  </a:cxn>
                  <a:cxn ang="0">
                    <a:pos x="T8" y="T9"/>
                  </a:cxn>
                </a:cxnLst>
                <a:rect l="0" t="0" r="r" b="b"/>
                <a:pathLst>
                  <a:path w="83" h="120">
                    <a:moveTo>
                      <a:pt x="0" y="111"/>
                    </a:moveTo>
                    <a:cubicBezTo>
                      <a:pt x="0" y="111"/>
                      <a:pt x="40" y="120"/>
                      <a:pt x="83" y="113"/>
                    </a:cubicBezTo>
                    <a:cubicBezTo>
                      <a:pt x="50" y="0"/>
                      <a:pt x="50" y="0"/>
                      <a:pt x="50" y="0"/>
                    </a:cubicBezTo>
                    <a:cubicBezTo>
                      <a:pt x="29" y="0"/>
                      <a:pt x="29" y="0"/>
                      <a:pt x="29" y="0"/>
                    </a:cubicBezTo>
                    <a:cubicBezTo>
                      <a:pt x="0" y="111"/>
                      <a:pt x="0" y="111"/>
                      <a:pt x="0" y="111"/>
                    </a:cubicBezTo>
                  </a:path>
                </a:pathLst>
              </a:custGeom>
              <a:solidFill>
                <a:schemeClr val="accent4">
                  <a:lumMod val="60000"/>
                  <a:lumOff val="40000"/>
                </a:schemeClr>
              </a:solidFill>
              <a:ln>
                <a:noFill/>
              </a:ln>
            </p:spPr>
            <p:txBody>
              <a:bodyPr anchor="ctr"/>
              <a:lstStyle/>
              <a:p>
                <a:pPr algn="ctr"/>
              </a:p>
            </p:txBody>
          </p:sp>
          <p:sp>
            <p:nvSpPr>
              <p:cNvPr id="116" name="Freeform: Shape 74"/>
              <p:cNvSpPr/>
              <p:nvPr>
                <p:custDataLst>
                  <p:tags r:id="rId53"/>
                </p:custDataLst>
              </p:nvPr>
            </p:nvSpPr>
            <p:spPr bwMode="auto">
              <a:xfrm>
                <a:off x="6655475" y="3713225"/>
                <a:ext cx="234293" cy="3142082"/>
              </a:xfrm>
              <a:custGeom>
                <a:avLst/>
                <a:gdLst>
                  <a:gd name="T0" fmla="*/ 24 w 147"/>
                  <a:gd name="T1" fmla="*/ 0 h 1974"/>
                  <a:gd name="T2" fmla="*/ 0 w 147"/>
                  <a:gd name="T3" fmla="*/ 1 h 1974"/>
                  <a:gd name="T4" fmla="*/ 33 w 147"/>
                  <a:gd name="T5" fmla="*/ 114 h 1974"/>
                  <a:gd name="T6" fmla="*/ 33 w 147"/>
                  <a:gd name="T7" fmla="*/ 114 h 1974"/>
                  <a:gd name="T8" fmla="*/ 87 w 147"/>
                  <a:gd name="T9" fmla="*/ 284 h 1974"/>
                  <a:gd name="T10" fmla="*/ 86 w 147"/>
                  <a:gd name="T11" fmla="*/ 286 h 1974"/>
                  <a:gd name="T12" fmla="*/ 92 w 147"/>
                  <a:gd name="T13" fmla="*/ 302 h 1974"/>
                  <a:gd name="T14" fmla="*/ 92 w 147"/>
                  <a:gd name="T15" fmla="*/ 1973 h 1974"/>
                  <a:gd name="T16" fmla="*/ 31 w 147"/>
                  <a:gd name="T17" fmla="*/ 1973 h 1974"/>
                  <a:gd name="T18" fmla="*/ 31 w 147"/>
                  <a:gd name="T19" fmla="*/ 1974 h 1974"/>
                  <a:gd name="T20" fmla="*/ 147 w 147"/>
                  <a:gd name="T21" fmla="*/ 1974 h 1974"/>
                  <a:gd name="T22" fmla="*/ 132 w 147"/>
                  <a:gd name="T23" fmla="*/ 290 h 1974"/>
                  <a:gd name="T24" fmla="*/ 24 w 147"/>
                  <a:gd name="T25" fmla="*/ 0 h 1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7" h="1974">
                    <a:moveTo>
                      <a:pt x="24" y="0"/>
                    </a:moveTo>
                    <a:cubicBezTo>
                      <a:pt x="0" y="1"/>
                      <a:pt x="0" y="1"/>
                      <a:pt x="0" y="1"/>
                    </a:cubicBezTo>
                    <a:cubicBezTo>
                      <a:pt x="33" y="114"/>
                      <a:pt x="33" y="114"/>
                      <a:pt x="33" y="114"/>
                    </a:cubicBezTo>
                    <a:cubicBezTo>
                      <a:pt x="33" y="114"/>
                      <a:pt x="33" y="114"/>
                      <a:pt x="33" y="114"/>
                    </a:cubicBezTo>
                    <a:cubicBezTo>
                      <a:pt x="87" y="284"/>
                      <a:pt x="87" y="284"/>
                      <a:pt x="87" y="284"/>
                    </a:cubicBezTo>
                    <a:cubicBezTo>
                      <a:pt x="86" y="286"/>
                      <a:pt x="86" y="286"/>
                      <a:pt x="86" y="286"/>
                    </a:cubicBezTo>
                    <a:cubicBezTo>
                      <a:pt x="91" y="294"/>
                      <a:pt x="92" y="302"/>
                      <a:pt x="92" y="302"/>
                    </a:cubicBezTo>
                    <a:cubicBezTo>
                      <a:pt x="92" y="1973"/>
                      <a:pt x="92" y="1973"/>
                      <a:pt x="92" y="1973"/>
                    </a:cubicBezTo>
                    <a:cubicBezTo>
                      <a:pt x="31" y="1973"/>
                      <a:pt x="31" y="1973"/>
                      <a:pt x="31" y="1973"/>
                    </a:cubicBezTo>
                    <a:cubicBezTo>
                      <a:pt x="31" y="1974"/>
                      <a:pt x="31" y="1974"/>
                      <a:pt x="31" y="1974"/>
                    </a:cubicBezTo>
                    <a:cubicBezTo>
                      <a:pt x="147" y="1974"/>
                      <a:pt x="147" y="1974"/>
                      <a:pt x="147" y="1974"/>
                    </a:cubicBezTo>
                    <a:cubicBezTo>
                      <a:pt x="132" y="290"/>
                      <a:pt x="132" y="290"/>
                      <a:pt x="132" y="290"/>
                    </a:cubicBezTo>
                    <a:cubicBezTo>
                      <a:pt x="24" y="0"/>
                      <a:pt x="24" y="0"/>
                      <a:pt x="24" y="0"/>
                    </a:cubicBezTo>
                  </a:path>
                </a:pathLst>
              </a:custGeom>
              <a:solidFill>
                <a:srgbClr val="9C9696"/>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7" name="Freeform: Shape 75"/>
              <p:cNvSpPr/>
              <p:nvPr>
                <p:custDataLst>
                  <p:tags r:id="rId54"/>
                </p:custDataLst>
              </p:nvPr>
            </p:nvSpPr>
            <p:spPr bwMode="auto">
              <a:xfrm>
                <a:off x="6639990" y="3894331"/>
                <a:ext cx="154175" cy="294886"/>
              </a:xfrm>
              <a:custGeom>
                <a:avLst/>
                <a:gdLst>
                  <a:gd name="T0" fmla="*/ 43 w 97"/>
                  <a:gd name="T1" fmla="*/ 0 h 185"/>
                  <a:gd name="T2" fmla="*/ 8 w 97"/>
                  <a:gd name="T3" fmla="*/ 3 h 185"/>
                  <a:gd name="T4" fmla="*/ 0 w 97"/>
                  <a:gd name="T5" fmla="*/ 3 h 185"/>
                  <a:gd name="T6" fmla="*/ 0 w 97"/>
                  <a:gd name="T7" fmla="*/ 158 h 185"/>
                  <a:gd name="T8" fmla="*/ 0 w 97"/>
                  <a:gd name="T9" fmla="*/ 158 h 185"/>
                  <a:gd name="T10" fmla="*/ 1 w 97"/>
                  <a:gd name="T11" fmla="*/ 158 h 185"/>
                  <a:gd name="T12" fmla="*/ 39 w 97"/>
                  <a:gd name="T13" fmla="*/ 185 h 185"/>
                  <a:gd name="T14" fmla="*/ 70 w 97"/>
                  <a:gd name="T15" fmla="*/ 156 h 185"/>
                  <a:gd name="T16" fmla="*/ 71 w 97"/>
                  <a:gd name="T17" fmla="*/ 156 h 185"/>
                  <a:gd name="T18" fmla="*/ 96 w 97"/>
                  <a:gd name="T19" fmla="*/ 172 h 185"/>
                  <a:gd name="T20" fmla="*/ 97 w 97"/>
                  <a:gd name="T21" fmla="*/ 170 h 185"/>
                  <a:gd name="T22" fmla="*/ 43 w 97"/>
                  <a:gd name="T23" fmla="*/ 0 h 1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7" h="185">
                    <a:moveTo>
                      <a:pt x="43" y="0"/>
                    </a:moveTo>
                    <a:cubicBezTo>
                      <a:pt x="31" y="2"/>
                      <a:pt x="19" y="3"/>
                      <a:pt x="8" y="3"/>
                    </a:cubicBezTo>
                    <a:cubicBezTo>
                      <a:pt x="5" y="3"/>
                      <a:pt x="3" y="3"/>
                      <a:pt x="0" y="3"/>
                    </a:cubicBezTo>
                    <a:cubicBezTo>
                      <a:pt x="0" y="158"/>
                      <a:pt x="0" y="158"/>
                      <a:pt x="0" y="158"/>
                    </a:cubicBezTo>
                    <a:cubicBezTo>
                      <a:pt x="0" y="158"/>
                      <a:pt x="0" y="158"/>
                      <a:pt x="0" y="158"/>
                    </a:cubicBezTo>
                    <a:cubicBezTo>
                      <a:pt x="1" y="158"/>
                      <a:pt x="1" y="158"/>
                      <a:pt x="1" y="158"/>
                    </a:cubicBezTo>
                    <a:cubicBezTo>
                      <a:pt x="26" y="158"/>
                      <a:pt x="36" y="176"/>
                      <a:pt x="39" y="185"/>
                    </a:cubicBezTo>
                    <a:cubicBezTo>
                      <a:pt x="41" y="178"/>
                      <a:pt x="47" y="156"/>
                      <a:pt x="70" y="156"/>
                    </a:cubicBezTo>
                    <a:cubicBezTo>
                      <a:pt x="70" y="156"/>
                      <a:pt x="70" y="156"/>
                      <a:pt x="71" y="156"/>
                    </a:cubicBezTo>
                    <a:cubicBezTo>
                      <a:pt x="84" y="156"/>
                      <a:pt x="92" y="164"/>
                      <a:pt x="96" y="172"/>
                    </a:cubicBezTo>
                    <a:cubicBezTo>
                      <a:pt x="97" y="170"/>
                      <a:pt x="97" y="170"/>
                      <a:pt x="97" y="170"/>
                    </a:cubicBezTo>
                    <a:cubicBezTo>
                      <a:pt x="43" y="0"/>
                      <a:pt x="43" y="0"/>
                      <a:pt x="43" y="0"/>
                    </a:cubicBezTo>
                  </a:path>
                </a:pathLst>
              </a:custGeom>
              <a:solidFill>
                <a:srgbClr val="C2B388"/>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18" name="Freeform: Shape 76"/>
              <p:cNvSpPr/>
              <p:nvPr>
                <p:custDataLst>
                  <p:tags r:id="rId55"/>
                </p:custDataLst>
              </p:nvPr>
            </p:nvSpPr>
            <p:spPr bwMode="auto">
              <a:xfrm>
                <a:off x="6639990" y="4146128"/>
                <a:ext cx="65306" cy="2709179"/>
              </a:xfrm>
              <a:custGeom>
                <a:avLst/>
                <a:gdLst>
                  <a:gd name="T0" fmla="*/ 1 w 41"/>
                  <a:gd name="T1" fmla="*/ 0 h 1702"/>
                  <a:gd name="T2" fmla="*/ 0 w 41"/>
                  <a:gd name="T3" fmla="*/ 0 h 1702"/>
                  <a:gd name="T4" fmla="*/ 0 w 41"/>
                  <a:gd name="T5" fmla="*/ 0 h 1702"/>
                  <a:gd name="T6" fmla="*/ 0 w 41"/>
                  <a:gd name="T7" fmla="*/ 1702 h 1702"/>
                  <a:gd name="T8" fmla="*/ 41 w 41"/>
                  <a:gd name="T9" fmla="*/ 1702 h 1702"/>
                  <a:gd name="T10" fmla="*/ 41 w 41"/>
                  <a:gd name="T11" fmla="*/ 1701 h 1702"/>
                  <a:gd name="T12" fmla="*/ 39 w 41"/>
                  <a:gd name="T13" fmla="*/ 1701 h 1702"/>
                  <a:gd name="T14" fmla="*/ 39 w 41"/>
                  <a:gd name="T15" fmla="*/ 30 h 1702"/>
                  <a:gd name="T16" fmla="*/ 39 w 41"/>
                  <a:gd name="T17" fmla="*/ 27 h 1702"/>
                  <a:gd name="T18" fmla="*/ 1 w 41"/>
                  <a:gd name="T19" fmla="*/ 0 h 1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1702">
                    <a:moveTo>
                      <a:pt x="1" y="0"/>
                    </a:moveTo>
                    <a:cubicBezTo>
                      <a:pt x="1" y="0"/>
                      <a:pt x="1" y="0"/>
                      <a:pt x="0" y="0"/>
                    </a:cubicBezTo>
                    <a:cubicBezTo>
                      <a:pt x="0" y="0"/>
                      <a:pt x="0" y="0"/>
                      <a:pt x="0" y="0"/>
                    </a:cubicBezTo>
                    <a:cubicBezTo>
                      <a:pt x="0" y="1702"/>
                      <a:pt x="0" y="1702"/>
                      <a:pt x="0" y="1702"/>
                    </a:cubicBezTo>
                    <a:cubicBezTo>
                      <a:pt x="41" y="1702"/>
                      <a:pt x="41" y="1702"/>
                      <a:pt x="41" y="1702"/>
                    </a:cubicBezTo>
                    <a:cubicBezTo>
                      <a:pt x="41" y="1701"/>
                      <a:pt x="41" y="1701"/>
                      <a:pt x="41" y="1701"/>
                    </a:cubicBezTo>
                    <a:cubicBezTo>
                      <a:pt x="39" y="1701"/>
                      <a:pt x="39" y="1701"/>
                      <a:pt x="39" y="1701"/>
                    </a:cubicBezTo>
                    <a:cubicBezTo>
                      <a:pt x="39" y="30"/>
                      <a:pt x="39" y="30"/>
                      <a:pt x="39" y="30"/>
                    </a:cubicBezTo>
                    <a:cubicBezTo>
                      <a:pt x="39" y="30"/>
                      <a:pt x="39" y="29"/>
                      <a:pt x="39" y="27"/>
                    </a:cubicBezTo>
                    <a:cubicBezTo>
                      <a:pt x="36" y="18"/>
                      <a:pt x="26" y="0"/>
                      <a:pt x="1" y="0"/>
                    </a:cubicBezTo>
                  </a:path>
                </a:pathLst>
              </a:custGeom>
              <a:solidFill>
                <a:schemeClr val="accent4"/>
              </a:solidFill>
              <a:ln>
                <a:noFill/>
              </a:ln>
            </p:spPr>
            <p:txBody>
              <a:bodyPr anchor="ctr"/>
              <a:lstStyle/>
              <a:p>
                <a:pPr algn="ctr"/>
              </a:p>
            </p:txBody>
          </p:sp>
          <p:sp>
            <p:nvSpPr>
              <p:cNvPr id="119" name="Freeform: Shape 77"/>
              <p:cNvSpPr/>
              <p:nvPr>
                <p:custDataLst>
                  <p:tags r:id="rId56"/>
                </p:custDataLst>
              </p:nvPr>
            </p:nvSpPr>
            <p:spPr bwMode="auto">
              <a:xfrm>
                <a:off x="6701930" y="4142762"/>
                <a:ext cx="100315" cy="2710525"/>
              </a:xfrm>
              <a:custGeom>
                <a:avLst/>
                <a:gdLst>
                  <a:gd name="T0" fmla="*/ 32 w 63"/>
                  <a:gd name="T1" fmla="*/ 0 h 1703"/>
                  <a:gd name="T2" fmla="*/ 31 w 63"/>
                  <a:gd name="T3" fmla="*/ 0 h 1703"/>
                  <a:gd name="T4" fmla="*/ 0 w 63"/>
                  <a:gd name="T5" fmla="*/ 29 h 1703"/>
                  <a:gd name="T6" fmla="*/ 0 w 63"/>
                  <a:gd name="T7" fmla="*/ 32 h 1703"/>
                  <a:gd name="T8" fmla="*/ 0 w 63"/>
                  <a:gd name="T9" fmla="*/ 1703 h 1703"/>
                  <a:gd name="T10" fmla="*/ 2 w 63"/>
                  <a:gd name="T11" fmla="*/ 1703 h 1703"/>
                  <a:gd name="T12" fmla="*/ 63 w 63"/>
                  <a:gd name="T13" fmla="*/ 1703 h 1703"/>
                  <a:gd name="T14" fmla="*/ 63 w 63"/>
                  <a:gd name="T15" fmla="*/ 32 h 1703"/>
                  <a:gd name="T16" fmla="*/ 57 w 63"/>
                  <a:gd name="T17" fmla="*/ 16 h 1703"/>
                  <a:gd name="T18" fmla="*/ 32 w 63"/>
                  <a:gd name="T19" fmla="*/ 0 h 17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3" h="1703">
                    <a:moveTo>
                      <a:pt x="32" y="0"/>
                    </a:moveTo>
                    <a:cubicBezTo>
                      <a:pt x="31" y="0"/>
                      <a:pt x="31" y="0"/>
                      <a:pt x="31" y="0"/>
                    </a:cubicBezTo>
                    <a:cubicBezTo>
                      <a:pt x="8" y="0"/>
                      <a:pt x="2" y="22"/>
                      <a:pt x="0" y="29"/>
                    </a:cubicBezTo>
                    <a:cubicBezTo>
                      <a:pt x="0" y="31"/>
                      <a:pt x="0" y="32"/>
                      <a:pt x="0" y="32"/>
                    </a:cubicBezTo>
                    <a:cubicBezTo>
                      <a:pt x="0" y="1703"/>
                      <a:pt x="0" y="1703"/>
                      <a:pt x="0" y="1703"/>
                    </a:cubicBezTo>
                    <a:cubicBezTo>
                      <a:pt x="2" y="1703"/>
                      <a:pt x="2" y="1703"/>
                      <a:pt x="2" y="1703"/>
                    </a:cubicBezTo>
                    <a:cubicBezTo>
                      <a:pt x="63" y="1703"/>
                      <a:pt x="63" y="1703"/>
                      <a:pt x="63" y="1703"/>
                    </a:cubicBezTo>
                    <a:cubicBezTo>
                      <a:pt x="63" y="32"/>
                      <a:pt x="63" y="32"/>
                      <a:pt x="63" y="32"/>
                    </a:cubicBezTo>
                    <a:cubicBezTo>
                      <a:pt x="63" y="32"/>
                      <a:pt x="62" y="24"/>
                      <a:pt x="57" y="16"/>
                    </a:cubicBezTo>
                    <a:cubicBezTo>
                      <a:pt x="53" y="8"/>
                      <a:pt x="45" y="0"/>
                      <a:pt x="32" y="0"/>
                    </a:cubicBezTo>
                  </a:path>
                </a:pathLst>
              </a:custGeom>
              <a:solidFill>
                <a:schemeClr val="accent4"/>
              </a:solidFill>
              <a:ln>
                <a:noFill/>
              </a:ln>
            </p:spPr>
            <p:txBody>
              <a:bodyPr anchor="ctr"/>
              <a:lstStyle/>
              <a:p>
                <a:pPr algn="ctr"/>
              </a:p>
            </p:txBody>
          </p:sp>
          <p:sp>
            <p:nvSpPr>
              <p:cNvPr id="120" name="Freeform: Shape 78"/>
              <p:cNvSpPr/>
              <p:nvPr>
                <p:custDataLst>
                  <p:tags r:id="rId57"/>
                </p:custDataLst>
              </p:nvPr>
            </p:nvSpPr>
            <p:spPr bwMode="auto">
              <a:xfrm>
                <a:off x="6639990" y="3714572"/>
                <a:ext cx="67999" cy="184472"/>
              </a:xfrm>
              <a:custGeom>
                <a:avLst/>
                <a:gdLst>
                  <a:gd name="T0" fmla="*/ 10 w 43"/>
                  <a:gd name="T1" fmla="*/ 0 h 116"/>
                  <a:gd name="T2" fmla="*/ 0 w 43"/>
                  <a:gd name="T3" fmla="*/ 0 h 116"/>
                  <a:gd name="T4" fmla="*/ 0 w 43"/>
                  <a:gd name="T5" fmla="*/ 116 h 116"/>
                  <a:gd name="T6" fmla="*/ 8 w 43"/>
                  <a:gd name="T7" fmla="*/ 116 h 116"/>
                  <a:gd name="T8" fmla="*/ 43 w 43"/>
                  <a:gd name="T9" fmla="*/ 113 h 116"/>
                  <a:gd name="T10" fmla="*/ 43 w 43"/>
                  <a:gd name="T11" fmla="*/ 113 h 116"/>
                  <a:gd name="T12" fmla="*/ 10 w 43"/>
                  <a:gd name="T13" fmla="*/ 0 h 116"/>
                </a:gdLst>
                <a:ahLst/>
                <a:cxnLst>
                  <a:cxn ang="0">
                    <a:pos x="T0" y="T1"/>
                  </a:cxn>
                  <a:cxn ang="0">
                    <a:pos x="T2" y="T3"/>
                  </a:cxn>
                  <a:cxn ang="0">
                    <a:pos x="T4" y="T5"/>
                  </a:cxn>
                  <a:cxn ang="0">
                    <a:pos x="T6" y="T7"/>
                  </a:cxn>
                  <a:cxn ang="0">
                    <a:pos x="T8" y="T9"/>
                  </a:cxn>
                  <a:cxn ang="0">
                    <a:pos x="T10" y="T11"/>
                  </a:cxn>
                  <a:cxn ang="0">
                    <a:pos x="T12" y="T13"/>
                  </a:cxn>
                </a:cxnLst>
                <a:rect l="0" t="0" r="r" b="b"/>
                <a:pathLst>
                  <a:path w="43" h="116">
                    <a:moveTo>
                      <a:pt x="10" y="0"/>
                    </a:moveTo>
                    <a:cubicBezTo>
                      <a:pt x="0" y="0"/>
                      <a:pt x="0" y="0"/>
                      <a:pt x="0" y="0"/>
                    </a:cubicBezTo>
                    <a:cubicBezTo>
                      <a:pt x="0" y="116"/>
                      <a:pt x="0" y="116"/>
                      <a:pt x="0" y="116"/>
                    </a:cubicBezTo>
                    <a:cubicBezTo>
                      <a:pt x="3" y="116"/>
                      <a:pt x="5" y="116"/>
                      <a:pt x="8" y="116"/>
                    </a:cubicBezTo>
                    <a:cubicBezTo>
                      <a:pt x="19" y="116"/>
                      <a:pt x="31" y="115"/>
                      <a:pt x="43" y="113"/>
                    </a:cubicBezTo>
                    <a:cubicBezTo>
                      <a:pt x="43" y="113"/>
                      <a:pt x="43" y="113"/>
                      <a:pt x="43" y="113"/>
                    </a:cubicBezTo>
                    <a:cubicBezTo>
                      <a:pt x="10" y="0"/>
                      <a:pt x="10" y="0"/>
                      <a:pt x="10" y="0"/>
                    </a:cubicBezTo>
                  </a:path>
                </a:pathLst>
              </a:custGeom>
              <a:solidFill>
                <a:schemeClr val="accent4"/>
              </a:solidFill>
              <a:ln>
                <a:noFill/>
              </a:ln>
            </p:spPr>
            <p:txBody>
              <a:bodyPr anchor="ctr"/>
              <a:lstStyle/>
              <a:p>
                <a:pPr algn="ctr"/>
              </a:p>
            </p:txBody>
          </p:sp>
        </p:grpSp>
        <p:grpSp>
          <p:nvGrpSpPr>
            <p:cNvPr id="15" name="Group 79"/>
            <p:cNvGrpSpPr/>
            <p:nvPr/>
          </p:nvGrpSpPr>
          <p:grpSpPr>
            <a:xfrm>
              <a:off x="13184" y="4346"/>
              <a:ext cx="1431" cy="1418"/>
              <a:chOff x="4883468" y="2805677"/>
              <a:chExt cx="1211858" cy="1200415"/>
            </a:xfrm>
          </p:grpSpPr>
          <p:sp>
            <p:nvSpPr>
              <p:cNvPr id="106" name="Freeform: Shape 80"/>
              <p:cNvSpPr/>
              <p:nvPr>
                <p:custDataLst>
                  <p:tags r:id="rId58"/>
                </p:custDataLst>
              </p:nvPr>
            </p:nvSpPr>
            <p:spPr bwMode="auto">
              <a:xfrm>
                <a:off x="4964931" y="2888488"/>
                <a:ext cx="1130395" cy="1117604"/>
              </a:xfrm>
              <a:custGeom>
                <a:avLst/>
                <a:gdLst>
                  <a:gd name="T0" fmla="*/ 363 w 710"/>
                  <a:gd name="T1" fmla="*/ 0 h 702"/>
                  <a:gd name="T2" fmla="*/ 270 w 710"/>
                  <a:gd name="T3" fmla="*/ 13 h 702"/>
                  <a:gd name="T4" fmla="*/ 51 w 710"/>
                  <a:gd name="T5" fmla="*/ 418 h 702"/>
                  <a:gd name="T6" fmla="*/ 363 w 710"/>
                  <a:gd name="T7" fmla="*/ 651 h 702"/>
                  <a:gd name="T8" fmla="*/ 456 w 710"/>
                  <a:gd name="T9" fmla="*/ 637 h 702"/>
                  <a:gd name="T10" fmla="*/ 470 w 710"/>
                  <a:gd name="T11" fmla="*/ 633 h 702"/>
                  <a:gd name="T12" fmla="*/ 628 w 710"/>
                  <a:gd name="T13" fmla="*/ 702 h 702"/>
                  <a:gd name="T14" fmla="*/ 597 w 710"/>
                  <a:gd name="T15" fmla="*/ 551 h 702"/>
                  <a:gd name="T16" fmla="*/ 675 w 710"/>
                  <a:gd name="T17" fmla="*/ 232 h 702"/>
                  <a:gd name="T18" fmla="*/ 363 w 710"/>
                  <a:gd name="T19" fmla="*/ 0 h 7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0" h="702">
                    <a:moveTo>
                      <a:pt x="363" y="0"/>
                    </a:moveTo>
                    <a:cubicBezTo>
                      <a:pt x="332" y="0"/>
                      <a:pt x="301" y="4"/>
                      <a:pt x="270" y="13"/>
                    </a:cubicBezTo>
                    <a:cubicBezTo>
                      <a:pt x="98" y="65"/>
                      <a:pt x="0" y="246"/>
                      <a:pt x="51" y="418"/>
                    </a:cubicBezTo>
                    <a:cubicBezTo>
                      <a:pt x="93" y="560"/>
                      <a:pt x="223" y="651"/>
                      <a:pt x="363" y="651"/>
                    </a:cubicBezTo>
                    <a:cubicBezTo>
                      <a:pt x="394" y="651"/>
                      <a:pt x="425" y="647"/>
                      <a:pt x="456" y="637"/>
                    </a:cubicBezTo>
                    <a:cubicBezTo>
                      <a:pt x="461" y="636"/>
                      <a:pt x="465" y="634"/>
                      <a:pt x="470" y="633"/>
                    </a:cubicBezTo>
                    <a:cubicBezTo>
                      <a:pt x="628" y="702"/>
                      <a:pt x="628" y="702"/>
                      <a:pt x="628" y="702"/>
                    </a:cubicBezTo>
                    <a:cubicBezTo>
                      <a:pt x="597" y="551"/>
                      <a:pt x="597" y="551"/>
                      <a:pt x="597" y="551"/>
                    </a:cubicBezTo>
                    <a:cubicBezTo>
                      <a:pt x="676" y="469"/>
                      <a:pt x="710" y="349"/>
                      <a:pt x="675" y="232"/>
                    </a:cubicBezTo>
                    <a:cubicBezTo>
                      <a:pt x="633" y="91"/>
                      <a:pt x="503" y="0"/>
                      <a:pt x="363"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7" name="Freeform: Shape 81"/>
              <p:cNvSpPr/>
              <p:nvPr>
                <p:custDataLst>
                  <p:tags r:id="rId59"/>
                </p:custDataLst>
              </p:nvPr>
            </p:nvSpPr>
            <p:spPr bwMode="auto">
              <a:xfrm>
                <a:off x="4883468" y="2805677"/>
                <a:ext cx="1130395" cy="1178197"/>
              </a:xfrm>
              <a:custGeom>
                <a:avLst/>
                <a:gdLst>
                  <a:gd name="T0" fmla="*/ 675 w 710"/>
                  <a:gd name="T1" fmla="*/ 271 h 740"/>
                  <a:gd name="T2" fmla="*/ 270 w 710"/>
                  <a:gd name="T3" fmla="*/ 52 h 740"/>
                  <a:gd name="T4" fmla="*/ 52 w 710"/>
                  <a:gd name="T5" fmla="*/ 457 h 740"/>
                  <a:gd name="T6" fmla="*/ 456 w 710"/>
                  <a:gd name="T7" fmla="*/ 676 h 740"/>
                  <a:gd name="T8" fmla="*/ 471 w 710"/>
                  <a:gd name="T9" fmla="*/ 671 h 740"/>
                  <a:gd name="T10" fmla="*/ 628 w 710"/>
                  <a:gd name="T11" fmla="*/ 740 h 740"/>
                  <a:gd name="T12" fmla="*/ 598 w 710"/>
                  <a:gd name="T13" fmla="*/ 589 h 740"/>
                  <a:gd name="T14" fmla="*/ 675 w 710"/>
                  <a:gd name="T15" fmla="*/ 271 h 7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0" h="740">
                    <a:moveTo>
                      <a:pt x="675" y="271"/>
                    </a:moveTo>
                    <a:cubicBezTo>
                      <a:pt x="624" y="98"/>
                      <a:pt x="443" y="0"/>
                      <a:pt x="270" y="52"/>
                    </a:cubicBezTo>
                    <a:cubicBezTo>
                      <a:pt x="98" y="103"/>
                      <a:pt x="0" y="285"/>
                      <a:pt x="52" y="457"/>
                    </a:cubicBezTo>
                    <a:cubicBezTo>
                      <a:pt x="103" y="629"/>
                      <a:pt x="284" y="727"/>
                      <a:pt x="456" y="676"/>
                    </a:cubicBezTo>
                    <a:cubicBezTo>
                      <a:pt x="461" y="674"/>
                      <a:pt x="466" y="673"/>
                      <a:pt x="471" y="671"/>
                    </a:cubicBezTo>
                    <a:cubicBezTo>
                      <a:pt x="628" y="740"/>
                      <a:pt x="628" y="740"/>
                      <a:pt x="628" y="740"/>
                    </a:cubicBezTo>
                    <a:cubicBezTo>
                      <a:pt x="598" y="589"/>
                      <a:pt x="598" y="589"/>
                      <a:pt x="598" y="589"/>
                    </a:cubicBezTo>
                    <a:cubicBezTo>
                      <a:pt x="676" y="508"/>
                      <a:pt x="710" y="387"/>
                      <a:pt x="675" y="271"/>
                    </a:cubicBezTo>
                    <a:close/>
                  </a:path>
                </a:pathLst>
              </a:custGeom>
              <a:solidFill>
                <a:schemeClr val="accent3"/>
              </a:solidFill>
              <a:ln>
                <a:noFill/>
              </a:ln>
            </p:spPr>
            <p:txBody>
              <a:bodyPr anchor="ctr"/>
              <a:lstStyle/>
              <a:p>
                <a:pPr algn="ctr"/>
              </a:p>
            </p:txBody>
          </p:sp>
          <p:sp>
            <p:nvSpPr>
              <p:cNvPr id="108" name="Freeform: Shape 82"/>
              <p:cNvSpPr/>
              <p:nvPr>
                <p:custDataLst>
                  <p:tags r:id="rId60"/>
                </p:custDataLst>
              </p:nvPr>
            </p:nvSpPr>
            <p:spPr bwMode="auto">
              <a:xfrm>
                <a:off x="5276649" y="3155770"/>
                <a:ext cx="407993" cy="299599"/>
              </a:xfrm>
              <a:custGeom>
                <a:avLst/>
                <a:gdLst>
                  <a:gd name="T0" fmla="*/ 256 w 256"/>
                  <a:gd name="T1" fmla="*/ 7 h 188"/>
                  <a:gd name="T2" fmla="*/ 249 w 256"/>
                  <a:gd name="T3" fmla="*/ 0 h 188"/>
                  <a:gd name="T4" fmla="*/ 7 w 256"/>
                  <a:gd name="T5" fmla="*/ 0 h 188"/>
                  <a:gd name="T6" fmla="*/ 0 w 256"/>
                  <a:gd name="T7" fmla="*/ 7 h 188"/>
                  <a:gd name="T8" fmla="*/ 0 w 256"/>
                  <a:gd name="T9" fmla="*/ 181 h 188"/>
                  <a:gd name="T10" fmla="*/ 7 w 256"/>
                  <a:gd name="T11" fmla="*/ 188 h 188"/>
                  <a:gd name="T12" fmla="*/ 249 w 256"/>
                  <a:gd name="T13" fmla="*/ 188 h 188"/>
                  <a:gd name="T14" fmla="*/ 256 w 256"/>
                  <a:gd name="T15" fmla="*/ 181 h 188"/>
                  <a:gd name="T16" fmla="*/ 256 w 256"/>
                  <a:gd name="T17" fmla="*/ 7 h 188"/>
                  <a:gd name="T18" fmla="*/ 219 w 256"/>
                  <a:gd name="T19" fmla="*/ 155 h 188"/>
                  <a:gd name="T20" fmla="*/ 214 w 256"/>
                  <a:gd name="T21" fmla="*/ 160 h 188"/>
                  <a:gd name="T22" fmla="*/ 37 w 256"/>
                  <a:gd name="T23" fmla="*/ 160 h 188"/>
                  <a:gd name="T24" fmla="*/ 32 w 256"/>
                  <a:gd name="T25" fmla="*/ 155 h 188"/>
                  <a:gd name="T26" fmla="*/ 32 w 256"/>
                  <a:gd name="T27" fmla="*/ 29 h 188"/>
                  <a:gd name="T28" fmla="*/ 37 w 256"/>
                  <a:gd name="T29" fmla="*/ 24 h 188"/>
                  <a:gd name="T30" fmla="*/ 214 w 256"/>
                  <a:gd name="T31" fmla="*/ 24 h 188"/>
                  <a:gd name="T32" fmla="*/ 219 w 256"/>
                  <a:gd name="T33" fmla="*/ 29 h 188"/>
                  <a:gd name="T34" fmla="*/ 219 w 256"/>
                  <a:gd name="T35" fmla="*/ 155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56" h="188">
                    <a:moveTo>
                      <a:pt x="256" y="7"/>
                    </a:moveTo>
                    <a:cubicBezTo>
                      <a:pt x="256" y="3"/>
                      <a:pt x="253" y="0"/>
                      <a:pt x="249" y="0"/>
                    </a:cubicBezTo>
                    <a:cubicBezTo>
                      <a:pt x="7" y="0"/>
                      <a:pt x="7" y="0"/>
                      <a:pt x="7" y="0"/>
                    </a:cubicBezTo>
                    <a:cubicBezTo>
                      <a:pt x="3" y="0"/>
                      <a:pt x="0" y="3"/>
                      <a:pt x="0" y="7"/>
                    </a:cubicBezTo>
                    <a:cubicBezTo>
                      <a:pt x="0" y="181"/>
                      <a:pt x="0" y="181"/>
                      <a:pt x="0" y="181"/>
                    </a:cubicBezTo>
                    <a:cubicBezTo>
                      <a:pt x="0" y="185"/>
                      <a:pt x="3" y="188"/>
                      <a:pt x="7" y="188"/>
                    </a:cubicBezTo>
                    <a:cubicBezTo>
                      <a:pt x="249" y="188"/>
                      <a:pt x="249" y="188"/>
                      <a:pt x="249" y="188"/>
                    </a:cubicBezTo>
                    <a:cubicBezTo>
                      <a:pt x="253" y="188"/>
                      <a:pt x="256" y="185"/>
                      <a:pt x="256" y="181"/>
                    </a:cubicBezTo>
                    <a:lnTo>
                      <a:pt x="256" y="7"/>
                    </a:lnTo>
                    <a:close/>
                    <a:moveTo>
                      <a:pt x="219" y="155"/>
                    </a:moveTo>
                    <a:cubicBezTo>
                      <a:pt x="219" y="158"/>
                      <a:pt x="217" y="160"/>
                      <a:pt x="214" y="160"/>
                    </a:cubicBezTo>
                    <a:cubicBezTo>
                      <a:pt x="37" y="160"/>
                      <a:pt x="37" y="160"/>
                      <a:pt x="37" y="160"/>
                    </a:cubicBezTo>
                    <a:cubicBezTo>
                      <a:pt x="34" y="160"/>
                      <a:pt x="32" y="158"/>
                      <a:pt x="32" y="155"/>
                    </a:cubicBezTo>
                    <a:cubicBezTo>
                      <a:pt x="32" y="29"/>
                      <a:pt x="32" y="29"/>
                      <a:pt x="32" y="29"/>
                    </a:cubicBezTo>
                    <a:cubicBezTo>
                      <a:pt x="32" y="26"/>
                      <a:pt x="34" y="24"/>
                      <a:pt x="37" y="24"/>
                    </a:cubicBezTo>
                    <a:cubicBezTo>
                      <a:pt x="214" y="24"/>
                      <a:pt x="214" y="24"/>
                      <a:pt x="214" y="24"/>
                    </a:cubicBezTo>
                    <a:cubicBezTo>
                      <a:pt x="217" y="24"/>
                      <a:pt x="219" y="26"/>
                      <a:pt x="219" y="29"/>
                    </a:cubicBezTo>
                    <a:lnTo>
                      <a:pt x="219" y="155"/>
                    </a:lnTo>
                    <a:close/>
                  </a:path>
                </a:pathLst>
              </a:custGeom>
              <a:solidFill>
                <a:schemeClr val="bg2"/>
              </a:solidFill>
              <a:ln>
                <a:noFill/>
              </a:ln>
            </p:spPr>
            <p:txBody>
              <a:bodyPr anchor="ctr"/>
              <a:lstStyle/>
              <a:p>
                <a:pPr algn="ctr"/>
              </a:p>
            </p:txBody>
          </p:sp>
          <p:sp>
            <p:nvSpPr>
              <p:cNvPr id="109" name="Freeform: Shape 83"/>
              <p:cNvSpPr/>
              <p:nvPr>
                <p:custDataLst>
                  <p:tags r:id="rId61"/>
                </p:custDataLst>
              </p:nvPr>
            </p:nvSpPr>
            <p:spPr bwMode="auto">
              <a:xfrm>
                <a:off x="5191145" y="3474220"/>
                <a:ext cx="578999" cy="127245"/>
              </a:xfrm>
              <a:custGeom>
                <a:avLst/>
                <a:gdLst>
                  <a:gd name="T0" fmla="*/ 317 w 364"/>
                  <a:gd name="T1" fmla="*/ 7 h 80"/>
                  <a:gd name="T2" fmla="*/ 310 w 364"/>
                  <a:gd name="T3" fmla="*/ 0 h 80"/>
                  <a:gd name="T4" fmla="*/ 54 w 364"/>
                  <a:gd name="T5" fmla="*/ 0 h 80"/>
                  <a:gd name="T6" fmla="*/ 47 w 364"/>
                  <a:gd name="T7" fmla="*/ 7 h 80"/>
                  <a:gd name="T8" fmla="*/ 0 w 364"/>
                  <a:gd name="T9" fmla="*/ 74 h 80"/>
                  <a:gd name="T10" fmla="*/ 7 w 364"/>
                  <a:gd name="T11" fmla="*/ 80 h 80"/>
                  <a:gd name="T12" fmla="*/ 357 w 364"/>
                  <a:gd name="T13" fmla="*/ 80 h 80"/>
                  <a:gd name="T14" fmla="*/ 364 w 364"/>
                  <a:gd name="T15" fmla="*/ 74 h 80"/>
                  <a:gd name="T16" fmla="*/ 317 w 364"/>
                  <a:gd name="T17" fmla="*/ 7 h 80"/>
                  <a:gd name="T18" fmla="*/ 162 w 364"/>
                  <a:gd name="T19" fmla="*/ 75 h 80"/>
                  <a:gd name="T20" fmla="*/ 162 w 364"/>
                  <a:gd name="T21" fmla="*/ 60 h 80"/>
                  <a:gd name="T22" fmla="*/ 203 w 364"/>
                  <a:gd name="T23" fmla="*/ 60 h 80"/>
                  <a:gd name="T24" fmla="*/ 205 w 364"/>
                  <a:gd name="T25" fmla="*/ 74 h 80"/>
                  <a:gd name="T26" fmla="*/ 162 w 364"/>
                  <a:gd name="T27" fmla="*/ 75 h 80"/>
                  <a:gd name="T28" fmla="*/ 322 w 364"/>
                  <a:gd name="T29" fmla="*/ 56 h 80"/>
                  <a:gd name="T30" fmla="*/ 46 w 364"/>
                  <a:gd name="T31" fmla="*/ 56 h 80"/>
                  <a:gd name="T32" fmla="*/ 41 w 364"/>
                  <a:gd name="T33" fmla="*/ 52 h 80"/>
                  <a:gd name="T34" fmla="*/ 60 w 364"/>
                  <a:gd name="T35" fmla="*/ 12 h 80"/>
                  <a:gd name="T36" fmla="*/ 65 w 364"/>
                  <a:gd name="T37" fmla="*/ 8 h 80"/>
                  <a:gd name="T38" fmla="*/ 299 w 364"/>
                  <a:gd name="T39" fmla="*/ 8 h 80"/>
                  <a:gd name="T40" fmla="*/ 304 w 364"/>
                  <a:gd name="T41" fmla="*/ 11 h 80"/>
                  <a:gd name="T42" fmla="*/ 328 w 364"/>
                  <a:gd name="T43" fmla="*/ 52 h 80"/>
                  <a:gd name="T44" fmla="*/ 322 w 364"/>
                  <a:gd name="T45" fmla="*/ 56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4" h="80">
                    <a:moveTo>
                      <a:pt x="317" y="7"/>
                    </a:moveTo>
                    <a:cubicBezTo>
                      <a:pt x="317" y="3"/>
                      <a:pt x="314" y="0"/>
                      <a:pt x="310" y="0"/>
                    </a:cubicBezTo>
                    <a:cubicBezTo>
                      <a:pt x="54" y="0"/>
                      <a:pt x="54" y="0"/>
                      <a:pt x="54" y="0"/>
                    </a:cubicBezTo>
                    <a:cubicBezTo>
                      <a:pt x="50" y="0"/>
                      <a:pt x="47" y="3"/>
                      <a:pt x="47" y="7"/>
                    </a:cubicBezTo>
                    <a:cubicBezTo>
                      <a:pt x="0" y="74"/>
                      <a:pt x="0" y="74"/>
                      <a:pt x="0" y="74"/>
                    </a:cubicBezTo>
                    <a:cubicBezTo>
                      <a:pt x="0" y="78"/>
                      <a:pt x="3" y="80"/>
                      <a:pt x="7" y="80"/>
                    </a:cubicBezTo>
                    <a:cubicBezTo>
                      <a:pt x="357" y="80"/>
                      <a:pt x="357" y="80"/>
                      <a:pt x="357" y="80"/>
                    </a:cubicBezTo>
                    <a:cubicBezTo>
                      <a:pt x="361" y="80"/>
                      <a:pt x="364" y="78"/>
                      <a:pt x="364" y="74"/>
                    </a:cubicBezTo>
                    <a:lnTo>
                      <a:pt x="317" y="7"/>
                    </a:lnTo>
                    <a:close/>
                    <a:moveTo>
                      <a:pt x="162" y="75"/>
                    </a:moveTo>
                    <a:cubicBezTo>
                      <a:pt x="162" y="60"/>
                      <a:pt x="162" y="60"/>
                      <a:pt x="162" y="60"/>
                    </a:cubicBezTo>
                    <a:cubicBezTo>
                      <a:pt x="203" y="60"/>
                      <a:pt x="203" y="60"/>
                      <a:pt x="203" y="60"/>
                    </a:cubicBezTo>
                    <a:cubicBezTo>
                      <a:pt x="205" y="74"/>
                      <a:pt x="205" y="74"/>
                      <a:pt x="205" y="74"/>
                    </a:cubicBezTo>
                    <a:lnTo>
                      <a:pt x="162" y="75"/>
                    </a:lnTo>
                    <a:close/>
                    <a:moveTo>
                      <a:pt x="322" y="56"/>
                    </a:moveTo>
                    <a:cubicBezTo>
                      <a:pt x="46" y="56"/>
                      <a:pt x="46" y="56"/>
                      <a:pt x="46" y="56"/>
                    </a:cubicBezTo>
                    <a:cubicBezTo>
                      <a:pt x="43" y="56"/>
                      <a:pt x="41" y="54"/>
                      <a:pt x="41" y="52"/>
                    </a:cubicBezTo>
                    <a:cubicBezTo>
                      <a:pt x="60" y="12"/>
                      <a:pt x="60" y="12"/>
                      <a:pt x="60" y="12"/>
                    </a:cubicBezTo>
                    <a:cubicBezTo>
                      <a:pt x="60" y="10"/>
                      <a:pt x="62" y="8"/>
                      <a:pt x="65" y="8"/>
                    </a:cubicBezTo>
                    <a:cubicBezTo>
                      <a:pt x="299" y="8"/>
                      <a:pt x="299" y="8"/>
                      <a:pt x="299" y="8"/>
                    </a:cubicBezTo>
                    <a:cubicBezTo>
                      <a:pt x="301" y="8"/>
                      <a:pt x="304" y="9"/>
                      <a:pt x="304" y="11"/>
                    </a:cubicBezTo>
                    <a:cubicBezTo>
                      <a:pt x="328" y="52"/>
                      <a:pt x="328" y="52"/>
                      <a:pt x="328" y="52"/>
                    </a:cubicBezTo>
                    <a:cubicBezTo>
                      <a:pt x="328" y="54"/>
                      <a:pt x="325" y="56"/>
                      <a:pt x="322" y="56"/>
                    </a:cubicBezTo>
                    <a:close/>
                  </a:path>
                </a:pathLst>
              </a:custGeom>
              <a:solidFill>
                <a:schemeClr val="bg2"/>
              </a:solidFill>
              <a:ln>
                <a:noFill/>
              </a:ln>
            </p:spPr>
            <p:txBody>
              <a:bodyPr anchor="ctr"/>
              <a:lstStyle/>
              <a:p>
                <a:pPr algn="ctr"/>
              </a:p>
            </p:txBody>
          </p:sp>
        </p:grpSp>
        <p:grpSp>
          <p:nvGrpSpPr>
            <p:cNvPr id="16" name="Group 84"/>
            <p:cNvGrpSpPr/>
            <p:nvPr/>
          </p:nvGrpSpPr>
          <p:grpSpPr>
            <a:xfrm>
              <a:off x="13440" y="5878"/>
              <a:ext cx="872" cy="1030"/>
              <a:chOff x="5100256" y="4103040"/>
              <a:chExt cx="738560" cy="871865"/>
            </a:xfrm>
          </p:grpSpPr>
          <p:sp>
            <p:nvSpPr>
              <p:cNvPr id="98" name="Freeform: Shape 85"/>
              <p:cNvSpPr/>
              <p:nvPr>
                <p:custDataLst>
                  <p:tags r:id="rId62"/>
                </p:custDataLst>
              </p:nvPr>
            </p:nvSpPr>
            <p:spPr bwMode="auto">
              <a:xfrm>
                <a:off x="5125839" y="4141415"/>
                <a:ext cx="712977" cy="833490"/>
              </a:xfrm>
              <a:custGeom>
                <a:avLst/>
                <a:gdLst>
                  <a:gd name="T0" fmla="*/ 224 w 448"/>
                  <a:gd name="T1" fmla="*/ 0 h 524"/>
                  <a:gd name="T2" fmla="*/ 0 w 448"/>
                  <a:gd name="T3" fmla="*/ 224 h 524"/>
                  <a:gd name="T4" fmla="*/ 224 w 448"/>
                  <a:gd name="T5" fmla="*/ 448 h 524"/>
                  <a:gd name="T6" fmla="*/ 234 w 448"/>
                  <a:gd name="T7" fmla="*/ 448 h 524"/>
                  <a:gd name="T8" fmla="*/ 324 w 448"/>
                  <a:gd name="T9" fmla="*/ 524 h 524"/>
                  <a:gd name="T10" fmla="*/ 334 w 448"/>
                  <a:gd name="T11" fmla="*/ 419 h 524"/>
                  <a:gd name="T12" fmla="*/ 448 w 448"/>
                  <a:gd name="T13" fmla="*/ 224 h 524"/>
                  <a:gd name="T14" fmla="*/ 224 w 448"/>
                  <a:gd name="T15" fmla="*/ 0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524">
                    <a:moveTo>
                      <a:pt x="224" y="0"/>
                    </a:moveTo>
                    <a:cubicBezTo>
                      <a:pt x="100" y="0"/>
                      <a:pt x="0" y="100"/>
                      <a:pt x="0" y="224"/>
                    </a:cubicBezTo>
                    <a:cubicBezTo>
                      <a:pt x="0" y="347"/>
                      <a:pt x="100" y="448"/>
                      <a:pt x="224" y="448"/>
                    </a:cubicBezTo>
                    <a:cubicBezTo>
                      <a:pt x="227" y="448"/>
                      <a:pt x="231" y="448"/>
                      <a:pt x="234" y="448"/>
                    </a:cubicBezTo>
                    <a:cubicBezTo>
                      <a:pt x="324" y="524"/>
                      <a:pt x="324" y="524"/>
                      <a:pt x="324" y="524"/>
                    </a:cubicBezTo>
                    <a:cubicBezTo>
                      <a:pt x="334" y="419"/>
                      <a:pt x="334" y="419"/>
                      <a:pt x="334" y="419"/>
                    </a:cubicBezTo>
                    <a:cubicBezTo>
                      <a:pt x="402" y="380"/>
                      <a:pt x="448" y="307"/>
                      <a:pt x="448" y="224"/>
                    </a:cubicBezTo>
                    <a:cubicBezTo>
                      <a:pt x="448" y="100"/>
                      <a:pt x="348" y="0"/>
                      <a:pt x="224"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9" name="Freeform: Shape 86"/>
              <p:cNvSpPr/>
              <p:nvPr>
                <p:custDataLst>
                  <p:tags r:id="rId63"/>
                </p:custDataLst>
              </p:nvPr>
            </p:nvSpPr>
            <p:spPr bwMode="auto">
              <a:xfrm>
                <a:off x="5100256" y="4103040"/>
                <a:ext cx="712977" cy="834163"/>
              </a:xfrm>
              <a:custGeom>
                <a:avLst/>
                <a:gdLst>
                  <a:gd name="T0" fmla="*/ 448 w 448"/>
                  <a:gd name="T1" fmla="*/ 224 h 524"/>
                  <a:gd name="T2" fmla="*/ 224 w 448"/>
                  <a:gd name="T3" fmla="*/ 0 h 524"/>
                  <a:gd name="T4" fmla="*/ 0 w 448"/>
                  <a:gd name="T5" fmla="*/ 224 h 524"/>
                  <a:gd name="T6" fmla="*/ 224 w 448"/>
                  <a:gd name="T7" fmla="*/ 448 h 524"/>
                  <a:gd name="T8" fmla="*/ 234 w 448"/>
                  <a:gd name="T9" fmla="*/ 448 h 524"/>
                  <a:gd name="T10" fmla="*/ 324 w 448"/>
                  <a:gd name="T11" fmla="*/ 524 h 524"/>
                  <a:gd name="T12" fmla="*/ 334 w 448"/>
                  <a:gd name="T13" fmla="*/ 419 h 524"/>
                  <a:gd name="T14" fmla="*/ 448 w 448"/>
                  <a:gd name="T15" fmla="*/ 224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8" h="524">
                    <a:moveTo>
                      <a:pt x="448" y="224"/>
                    </a:moveTo>
                    <a:cubicBezTo>
                      <a:pt x="448" y="100"/>
                      <a:pt x="348" y="0"/>
                      <a:pt x="224" y="0"/>
                    </a:cubicBezTo>
                    <a:cubicBezTo>
                      <a:pt x="100" y="0"/>
                      <a:pt x="0" y="100"/>
                      <a:pt x="0" y="224"/>
                    </a:cubicBezTo>
                    <a:cubicBezTo>
                      <a:pt x="0" y="347"/>
                      <a:pt x="100" y="448"/>
                      <a:pt x="224" y="448"/>
                    </a:cubicBezTo>
                    <a:cubicBezTo>
                      <a:pt x="227" y="448"/>
                      <a:pt x="231" y="448"/>
                      <a:pt x="234" y="448"/>
                    </a:cubicBezTo>
                    <a:cubicBezTo>
                      <a:pt x="324" y="524"/>
                      <a:pt x="324" y="524"/>
                      <a:pt x="324" y="524"/>
                    </a:cubicBezTo>
                    <a:cubicBezTo>
                      <a:pt x="334" y="419"/>
                      <a:pt x="334" y="419"/>
                      <a:pt x="334" y="419"/>
                    </a:cubicBezTo>
                    <a:cubicBezTo>
                      <a:pt x="402" y="380"/>
                      <a:pt x="448" y="307"/>
                      <a:pt x="448" y="224"/>
                    </a:cubicBezTo>
                    <a:close/>
                  </a:path>
                </a:pathLst>
              </a:custGeom>
              <a:solidFill>
                <a:schemeClr val="accent2"/>
              </a:solidFill>
              <a:ln>
                <a:noFill/>
              </a:ln>
            </p:spPr>
            <p:txBody>
              <a:bodyPr anchor="ctr"/>
              <a:lstStyle/>
              <a:p>
                <a:pPr algn="ctr"/>
              </a:p>
            </p:txBody>
          </p:sp>
          <p:sp>
            <p:nvSpPr>
              <p:cNvPr id="100" name="Freeform: Shape 87"/>
              <p:cNvSpPr/>
              <p:nvPr>
                <p:custDataLst>
                  <p:tags r:id="rId64"/>
                </p:custDataLst>
              </p:nvPr>
            </p:nvSpPr>
            <p:spPr bwMode="auto">
              <a:xfrm>
                <a:off x="5361479" y="4274720"/>
                <a:ext cx="205343" cy="388468"/>
              </a:xfrm>
              <a:custGeom>
                <a:avLst/>
                <a:gdLst>
                  <a:gd name="T0" fmla="*/ 8 w 129"/>
                  <a:gd name="T1" fmla="*/ 244 h 244"/>
                  <a:gd name="T2" fmla="*/ 8 w 129"/>
                  <a:gd name="T3" fmla="*/ 244 h 244"/>
                  <a:gd name="T4" fmla="*/ 0 w 129"/>
                  <a:gd name="T5" fmla="*/ 236 h 244"/>
                  <a:gd name="T6" fmla="*/ 67 w 129"/>
                  <a:gd name="T7" fmla="*/ 163 h 244"/>
                  <a:gd name="T8" fmla="*/ 112 w 129"/>
                  <a:gd name="T9" fmla="*/ 119 h 244"/>
                  <a:gd name="T10" fmla="*/ 64 w 129"/>
                  <a:gd name="T11" fmla="*/ 75 h 244"/>
                  <a:gd name="T12" fmla="*/ 3 w 129"/>
                  <a:gd name="T13" fmla="*/ 7 h 244"/>
                  <a:gd name="T14" fmla="*/ 12 w 129"/>
                  <a:gd name="T15" fmla="*/ 0 h 244"/>
                  <a:gd name="T16" fmla="*/ 19 w 129"/>
                  <a:gd name="T17" fmla="*/ 9 h 244"/>
                  <a:gd name="T18" fmla="*/ 71 w 129"/>
                  <a:gd name="T19" fmla="*/ 61 h 244"/>
                  <a:gd name="T20" fmla="*/ 127 w 129"/>
                  <a:gd name="T21" fmla="*/ 119 h 244"/>
                  <a:gd name="T22" fmla="*/ 72 w 129"/>
                  <a:gd name="T23" fmla="*/ 178 h 244"/>
                  <a:gd name="T24" fmla="*/ 16 w 129"/>
                  <a:gd name="T25" fmla="*/ 237 h 244"/>
                  <a:gd name="T26" fmla="*/ 8 w 129"/>
                  <a:gd name="T27"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29" h="244">
                    <a:moveTo>
                      <a:pt x="8" y="244"/>
                    </a:moveTo>
                    <a:cubicBezTo>
                      <a:pt x="8" y="244"/>
                      <a:pt x="8" y="244"/>
                      <a:pt x="8" y="244"/>
                    </a:cubicBezTo>
                    <a:cubicBezTo>
                      <a:pt x="3" y="244"/>
                      <a:pt x="0" y="240"/>
                      <a:pt x="0" y="236"/>
                    </a:cubicBezTo>
                    <a:cubicBezTo>
                      <a:pt x="4" y="186"/>
                      <a:pt x="39" y="174"/>
                      <a:pt x="67" y="163"/>
                    </a:cubicBezTo>
                    <a:cubicBezTo>
                      <a:pt x="95" y="153"/>
                      <a:pt x="112" y="146"/>
                      <a:pt x="112" y="119"/>
                    </a:cubicBezTo>
                    <a:cubicBezTo>
                      <a:pt x="113" y="98"/>
                      <a:pt x="94" y="88"/>
                      <a:pt x="64" y="75"/>
                    </a:cubicBezTo>
                    <a:cubicBezTo>
                      <a:pt x="34" y="63"/>
                      <a:pt x="0" y="48"/>
                      <a:pt x="3" y="7"/>
                    </a:cubicBezTo>
                    <a:cubicBezTo>
                      <a:pt x="4" y="3"/>
                      <a:pt x="8" y="0"/>
                      <a:pt x="12" y="0"/>
                    </a:cubicBezTo>
                    <a:cubicBezTo>
                      <a:pt x="16" y="0"/>
                      <a:pt x="20" y="4"/>
                      <a:pt x="19" y="9"/>
                    </a:cubicBezTo>
                    <a:cubicBezTo>
                      <a:pt x="17" y="36"/>
                      <a:pt x="37" y="46"/>
                      <a:pt x="71" y="61"/>
                    </a:cubicBezTo>
                    <a:cubicBezTo>
                      <a:pt x="98" y="73"/>
                      <a:pt x="129" y="86"/>
                      <a:pt x="127" y="119"/>
                    </a:cubicBezTo>
                    <a:cubicBezTo>
                      <a:pt x="127" y="158"/>
                      <a:pt x="98" y="169"/>
                      <a:pt x="72" y="178"/>
                    </a:cubicBezTo>
                    <a:cubicBezTo>
                      <a:pt x="45" y="188"/>
                      <a:pt x="19" y="198"/>
                      <a:pt x="16" y="237"/>
                    </a:cubicBezTo>
                    <a:cubicBezTo>
                      <a:pt x="16" y="241"/>
                      <a:pt x="12" y="244"/>
                      <a:pt x="8" y="244"/>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1" name="Freeform: Shape 88"/>
              <p:cNvSpPr/>
              <p:nvPr>
                <p:custDataLst>
                  <p:tags r:id="rId65"/>
                </p:custDataLst>
              </p:nvPr>
            </p:nvSpPr>
            <p:spPr bwMode="auto">
              <a:xfrm>
                <a:off x="5359459" y="4274720"/>
                <a:ext cx="205343" cy="388468"/>
              </a:xfrm>
              <a:custGeom>
                <a:avLst/>
                <a:gdLst>
                  <a:gd name="T0" fmla="*/ 121 w 129"/>
                  <a:gd name="T1" fmla="*/ 244 h 244"/>
                  <a:gd name="T2" fmla="*/ 113 w 129"/>
                  <a:gd name="T3" fmla="*/ 237 h 244"/>
                  <a:gd name="T4" fmla="*/ 57 w 129"/>
                  <a:gd name="T5" fmla="*/ 178 h 244"/>
                  <a:gd name="T6" fmla="*/ 1 w 129"/>
                  <a:gd name="T7" fmla="*/ 119 h 244"/>
                  <a:gd name="T8" fmla="*/ 58 w 129"/>
                  <a:gd name="T9" fmla="*/ 61 h 244"/>
                  <a:gd name="T10" fmla="*/ 110 w 129"/>
                  <a:gd name="T11" fmla="*/ 9 h 244"/>
                  <a:gd name="T12" fmla="*/ 117 w 129"/>
                  <a:gd name="T13" fmla="*/ 0 h 244"/>
                  <a:gd name="T14" fmla="*/ 126 w 129"/>
                  <a:gd name="T15" fmla="*/ 7 h 244"/>
                  <a:gd name="T16" fmla="*/ 64 w 129"/>
                  <a:gd name="T17" fmla="*/ 75 h 244"/>
                  <a:gd name="T18" fmla="*/ 17 w 129"/>
                  <a:gd name="T19" fmla="*/ 119 h 244"/>
                  <a:gd name="T20" fmla="*/ 62 w 129"/>
                  <a:gd name="T21" fmla="*/ 163 h 244"/>
                  <a:gd name="T22" fmla="*/ 129 w 129"/>
                  <a:gd name="T23" fmla="*/ 236 h 244"/>
                  <a:gd name="T24" fmla="*/ 121 w 129"/>
                  <a:gd name="T25" fmla="*/ 244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9" h="244">
                    <a:moveTo>
                      <a:pt x="121" y="244"/>
                    </a:moveTo>
                    <a:cubicBezTo>
                      <a:pt x="116" y="244"/>
                      <a:pt x="113" y="241"/>
                      <a:pt x="113" y="237"/>
                    </a:cubicBezTo>
                    <a:cubicBezTo>
                      <a:pt x="110" y="198"/>
                      <a:pt x="84" y="188"/>
                      <a:pt x="57" y="178"/>
                    </a:cubicBezTo>
                    <a:cubicBezTo>
                      <a:pt x="31" y="169"/>
                      <a:pt x="1" y="158"/>
                      <a:pt x="1" y="119"/>
                    </a:cubicBezTo>
                    <a:cubicBezTo>
                      <a:pt x="0" y="86"/>
                      <a:pt x="31" y="73"/>
                      <a:pt x="58" y="61"/>
                    </a:cubicBezTo>
                    <a:cubicBezTo>
                      <a:pt x="92" y="46"/>
                      <a:pt x="112" y="36"/>
                      <a:pt x="110" y="9"/>
                    </a:cubicBezTo>
                    <a:cubicBezTo>
                      <a:pt x="109" y="4"/>
                      <a:pt x="113" y="0"/>
                      <a:pt x="117" y="0"/>
                    </a:cubicBezTo>
                    <a:cubicBezTo>
                      <a:pt x="121" y="0"/>
                      <a:pt x="125" y="3"/>
                      <a:pt x="126" y="7"/>
                    </a:cubicBezTo>
                    <a:cubicBezTo>
                      <a:pt x="129" y="48"/>
                      <a:pt x="95" y="63"/>
                      <a:pt x="64" y="75"/>
                    </a:cubicBezTo>
                    <a:cubicBezTo>
                      <a:pt x="34" y="88"/>
                      <a:pt x="16" y="98"/>
                      <a:pt x="17" y="119"/>
                    </a:cubicBezTo>
                    <a:cubicBezTo>
                      <a:pt x="17" y="146"/>
                      <a:pt x="34" y="153"/>
                      <a:pt x="62" y="163"/>
                    </a:cubicBezTo>
                    <a:cubicBezTo>
                      <a:pt x="90" y="174"/>
                      <a:pt x="125" y="186"/>
                      <a:pt x="129" y="236"/>
                    </a:cubicBezTo>
                    <a:cubicBezTo>
                      <a:pt x="129" y="240"/>
                      <a:pt x="126" y="244"/>
                      <a:pt x="121" y="244"/>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2" name="Freeform: Shape 89"/>
              <p:cNvSpPr/>
              <p:nvPr>
                <p:custDataLst>
                  <p:tags r:id="rId66"/>
                </p:custDataLst>
              </p:nvPr>
            </p:nvSpPr>
            <p:spPr bwMode="auto">
              <a:xfrm>
                <a:off x="5407260" y="4301650"/>
                <a:ext cx="116473" cy="19524"/>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3" name="Freeform: Shape 90"/>
              <p:cNvSpPr/>
              <p:nvPr>
                <p:custDataLst>
                  <p:tags r:id="rId67"/>
                </p:custDataLst>
              </p:nvPr>
            </p:nvSpPr>
            <p:spPr bwMode="auto">
              <a:xfrm>
                <a:off x="5407260" y="4614041"/>
                <a:ext cx="116473" cy="12792"/>
              </a:xfrm>
              <a:custGeom>
                <a:avLst/>
                <a:gdLst>
                  <a:gd name="T0" fmla="*/ 68 w 73"/>
                  <a:gd name="T1" fmla="*/ 8 h 8"/>
                  <a:gd name="T2" fmla="*/ 5 w 73"/>
                  <a:gd name="T3" fmla="*/ 8 h 8"/>
                  <a:gd name="T4" fmla="*/ 0 w 73"/>
                  <a:gd name="T5" fmla="*/ 4 h 8"/>
                  <a:gd name="T6" fmla="*/ 5 w 73"/>
                  <a:gd name="T7" fmla="*/ 0 h 8"/>
                  <a:gd name="T8" fmla="*/ 68 w 73"/>
                  <a:gd name="T9" fmla="*/ 0 h 8"/>
                  <a:gd name="T10" fmla="*/ 73 w 73"/>
                  <a:gd name="T11" fmla="*/ 4 h 8"/>
                  <a:gd name="T12" fmla="*/ 68 w 73"/>
                  <a:gd name="T13" fmla="*/ 8 h 8"/>
                </a:gdLst>
                <a:ahLst/>
                <a:cxnLst>
                  <a:cxn ang="0">
                    <a:pos x="T0" y="T1"/>
                  </a:cxn>
                  <a:cxn ang="0">
                    <a:pos x="T2" y="T3"/>
                  </a:cxn>
                  <a:cxn ang="0">
                    <a:pos x="T4" y="T5"/>
                  </a:cxn>
                  <a:cxn ang="0">
                    <a:pos x="T6" y="T7"/>
                  </a:cxn>
                  <a:cxn ang="0">
                    <a:pos x="T8" y="T9"/>
                  </a:cxn>
                  <a:cxn ang="0">
                    <a:pos x="T10" y="T11"/>
                  </a:cxn>
                  <a:cxn ang="0">
                    <a:pos x="T12" y="T13"/>
                  </a:cxn>
                </a:cxnLst>
                <a:rect l="0" t="0" r="r" b="b"/>
                <a:pathLst>
                  <a:path w="73" h="8">
                    <a:moveTo>
                      <a:pt x="68" y="8"/>
                    </a:moveTo>
                    <a:cubicBezTo>
                      <a:pt x="5" y="8"/>
                      <a:pt x="5" y="8"/>
                      <a:pt x="5" y="8"/>
                    </a:cubicBezTo>
                    <a:cubicBezTo>
                      <a:pt x="2" y="8"/>
                      <a:pt x="0" y="7"/>
                      <a:pt x="0" y="4"/>
                    </a:cubicBezTo>
                    <a:cubicBezTo>
                      <a:pt x="0" y="1"/>
                      <a:pt x="2" y="0"/>
                      <a:pt x="5" y="0"/>
                    </a:cubicBezTo>
                    <a:cubicBezTo>
                      <a:pt x="68" y="0"/>
                      <a:pt x="68" y="0"/>
                      <a:pt x="68" y="0"/>
                    </a:cubicBezTo>
                    <a:cubicBezTo>
                      <a:pt x="71" y="0"/>
                      <a:pt x="73" y="1"/>
                      <a:pt x="73" y="4"/>
                    </a:cubicBezTo>
                    <a:cubicBezTo>
                      <a:pt x="73" y="7"/>
                      <a:pt x="71" y="8"/>
                      <a:pt x="68" y="8"/>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4" name="Freeform: Shape 91"/>
              <p:cNvSpPr/>
              <p:nvPr>
                <p:custDataLst>
                  <p:tags r:id="rId68"/>
                </p:custDataLst>
              </p:nvPr>
            </p:nvSpPr>
            <p:spPr bwMode="auto">
              <a:xfrm>
                <a:off x="5407260" y="4429569"/>
                <a:ext cx="116473" cy="18851"/>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105" name="Freeform: Shape 92"/>
              <p:cNvSpPr/>
              <p:nvPr>
                <p:custDataLst>
                  <p:tags r:id="rId69"/>
                </p:custDataLst>
              </p:nvPr>
            </p:nvSpPr>
            <p:spPr bwMode="auto">
              <a:xfrm>
                <a:off x="5407260" y="4474003"/>
                <a:ext cx="116473" cy="18851"/>
              </a:xfrm>
              <a:custGeom>
                <a:avLst/>
                <a:gdLst>
                  <a:gd name="T0" fmla="*/ 68 w 73"/>
                  <a:gd name="T1" fmla="*/ 12 h 12"/>
                  <a:gd name="T2" fmla="*/ 5 w 73"/>
                  <a:gd name="T3" fmla="*/ 12 h 12"/>
                  <a:gd name="T4" fmla="*/ 0 w 73"/>
                  <a:gd name="T5" fmla="*/ 6 h 12"/>
                  <a:gd name="T6" fmla="*/ 5 w 73"/>
                  <a:gd name="T7" fmla="*/ 0 h 12"/>
                  <a:gd name="T8" fmla="*/ 68 w 73"/>
                  <a:gd name="T9" fmla="*/ 0 h 12"/>
                  <a:gd name="T10" fmla="*/ 73 w 73"/>
                  <a:gd name="T11" fmla="*/ 6 h 12"/>
                  <a:gd name="T12" fmla="*/ 68 w 73"/>
                  <a:gd name="T13" fmla="*/ 12 h 12"/>
                </a:gdLst>
                <a:ahLst/>
                <a:cxnLst>
                  <a:cxn ang="0">
                    <a:pos x="T0" y="T1"/>
                  </a:cxn>
                  <a:cxn ang="0">
                    <a:pos x="T2" y="T3"/>
                  </a:cxn>
                  <a:cxn ang="0">
                    <a:pos x="T4" y="T5"/>
                  </a:cxn>
                  <a:cxn ang="0">
                    <a:pos x="T6" y="T7"/>
                  </a:cxn>
                  <a:cxn ang="0">
                    <a:pos x="T8" y="T9"/>
                  </a:cxn>
                  <a:cxn ang="0">
                    <a:pos x="T10" y="T11"/>
                  </a:cxn>
                  <a:cxn ang="0">
                    <a:pos x="T12" y="T13"/>
                  </a:cxn>
                </a:cxnLst>
                <a:rect l="0" t="0" r="r" b="b"/>
                <a:pathLst>
                  <a:path w="73" h="12">
                    <a:moveTo>
                      <a:pt x="68" y="12"/>
                    </a:moveTo>
                    <a:cubicBezTo>
                      <a:pt x="5" y="12"/>
                      <a:pt x="5" y="12"/>
                      <a:pt x="5" y="12"/>
                    </a:cubicBezTo>
                    <a:cubicBezTo>
                      <a:pt x="2" y="12"/>
                      <a:pt x="0" y="9"/>
                      <a:pt x="0" y="6"/>
                    </a:cubicBezTo>
                    <a:cubicBezTo>
                      <a:pt x="0" y="3"/>
                      <a:pt x="2" y="0"/>
                      <a:pt x="5" y="0"/>
                    </a:cubicBezTo>
                    <a:cubicBezTo>
                      <a:pt x="68" y="0"/>
                      <a:pt x="68" y="0"/>
                      <a:pt x="68" y="0"/>
                    </a:cubicBezTo>
                    <a:cubicBezTo>
                      <a:pt x="71" y="0"/>
                      <a:pt x="73" y="3"/>
                      <a:pt x="73" y="6"/>
                    </a:cubicBezTo>
                    <a:cubicBezTo>
                      <a:pt x="73" y="9"/>
                      <a:pt x="71" y="12"/>
                      <a:pt x="68" y="12"/>
                    </a:cubicBezTo>
                    <a:close/>
                  </a:path>
                </a:pathLst>
              </a:custGeom>
              <a:solidFill>
                <a:srgbClr val="F8E9B2"/>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grpSp>
        <p:grpSp>
          <p:nvGrpSpPr>
            <p:cNvPr id="17" name="Group 93"/>
            <p:cNvGrpSpPr/>
            <p:nvPr/>
          </p:nvGrpSpPr>
          <p:grpSpPr>
            <a:xfrm>
              <a:off x="15576" y="3900"/>
              <a:ext cx="1612" cy="1752"/>
              <a:chOff x="6908619" y="2428654"/>
              <a:chExt cx="1364688" cy="1483182"/>
            </a:xfrm>
          </p:grpSpPr>
          <p:sp>
            <p:nvSpPr>
              <p:cNvPr id="93" name="Freeform: Shape 94"/>
              <p:cNvSpPr/>
              <p:nvPr>
                <p:custDataLst>
                  <p:tags r:id="rId70"/>
                </p:custDataLst>
              </p:nvPr>
            </p:nvSpPr>
            <p:spPr bwMode="auto">
              <a:xfrm>
                <a:off x="6908619" y="2555900"/>
                <a:ext cx="1320253" cy="1355936"/>
              </a:xfrm>
              <a:custGeom>
                <a:avLst/>
                <a:gdLst>
                  <a:gd name="T0" fmla="*/ 407 w 829"/>
                  <a:gd name="T1" fmla="*/ 0 h 852"/>
                  <a:gd name="T2" fmla="*/ 31 w 829"/>
                  <a:gd name="T3" fmla="*/ 301 h 852"/>
                  <a:gd name="T4" fmla="*/ 149 w 829"/>
                  <a:gd name="T5" fmla="*/ 671 h 852"/>
                  <a:gd name="T6" fmla="*/ 125 w 829"/>
                  <a:gd name="T7" fmla="*/ 852 h 852"/>
                  <a:gd name="T8" fmla="*/ 306 w 829"/>
                  <a:gd name="T9" fmla="*/ 757 h 852"/>
                  <a:gd name="T10" fmla="*/ 323 w 829"/>
                  <a:gd name="T11" fmla="*/ 761 h 852"/>
                  <a:gd name="T12" fmla="*/ 408 w 829"/>
                  <a:gd name="T13" fmla="*/ 771 h 852"/>
                  <a:gd name="T14" fmla="*/ 783 w 829"/>
                  <a:gd name="T15" fmla="*/ 470 h 852"/>
                  <a:gd name="T16" fmla="*/ 491 w 829"/>
                  <a:gd name="T17" fmla="*/ 10 h 852"/>
                  <a:gd name="T18" fmla="*/ 407 w 829"/>
                  <a:gd name="T19" fmla="*/ 0 h 8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29" h="852">
                    <a:moveTo>
                      <a:pt x="407" y="0"/>
                    </a:moveTo>
                    <a:cubicBezTo>
                      <a:pt x="231" y="0"/>
                      <a:pt x="72" y="122"/>
                      <a:pt x="31" y="301"/>
                    </a:cubicBezTo>
                    <a:cubicBezTo>
                      <a:pt x="0" y="442"/>
                      <a:pt x="49" y="581"/>
                      <a:pt x="149" y="671"/>
                    </a:cubicBezTo>
                    <a:cubicBezTo>
                      <a:pt x="125" y="852"/>
                      <a:pt x="125" y="852"/>
                      <a:pt x="125" y="852"/>
                    </a:cubicBezTo>
                    <a:cubicBezTo>
                      <a:pt x="306" y="757"/>
                      <a:pt x="306" y="757"/>
                      <a:pt x="306" y="757"/>
                    </a:cubicBezTo>
                    <a:cubicBezTo>
                      <a:pt x="312" y="759"/>
                      <a:pt x="317" y="760"/>
                      <a:pt x="323" y="761"/>
                    </a:cubicBezTo>
                    <a:cubicBezTo>
                      <a:pt x="351" y="768"/>
                      <a:pt x="380" y="771"/>
                      <a:pt x="408" y="771"/>
                    </a:cubicBezTo>
                    <a:cubicBezTo>
                      <a:pt x="584" y="771"/>
                      <a:pt x="743" y="649"/>
                      <a:pt x="783" y="470"/>
                    </a:cubicBezTo>
                    <a:cubicBezTo>
                      <a:pt x="829" y="262"/>
                      <a:pt x="699" y="56"/>
                      <a:pt x="491" y="10"/>
                    </a:cubicBezTo>
                    <a:cubicBezTo>
                      <a:pt x="463" y="4"/>
                      <a:pt x="435" y="0"/>
                      <a:pt x="40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94" name="Freeform: Shape 95"/>
              <p:cNvSpPr/>
              <p:nvPr>
                <p:custDataLst>
                  <p:tags r:id="rId71"/>
                </p:custDataLst>
              </p:nvPr>
            </p:nvSpPr>
            <p:spPr bwMode="auto">
              <a:xfrm>
                <a:off x="6951707" y="2428654"/>
                <a:ext cx="1321600" cy="1413163"/>
              </a:xfrm>
              <a:custGeom>
                <a:avLst/>
                <a:gdLst>
                  <a:gd name="T0" fmla="*/ 492 w 830"/>
                  <a:gd name="T1" fmla="*/ 46 h 888"/>
                  <a:gd name="T2" fmla="*/ 32 w 830"/>
                  <a:gd name="T3" fmla="*/ 338 h 888"/>
                  <a:gd name="T4" fmla="*/ 149 w 830"/>
                  <a:gd name="T5" fmla="*/ 708 h 888"/>
                  <a:gd name="T6" fmla="*/ 126 w 830"/>
                  <a:gd name="T7" fmla="*/ 888 h 888"/>
                  <a:gd name="T8" fmla="*/ 306 w 830"/>
                  <a:gd name="T9" fmla="*/ 793 h 888"/>
                  <a:gd name="T10" fmla="*/ 323 w 830"/>
                  <a:gd name="T11" fmla="*/ 798 h 888"/>
                  <a:gd name="T12" fmla="*/ 783 w 830"/>
                  <a:gd name="T13" fmla="*/ 506 h 888"/>
                  <a:gd name="T14" fmla="*/ 492 w 830"/>
                  <a:gd name="T15" fmla="*/ 46 h 88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30" h="888">
                    <a:moveTo>
                      <a:pt x="492" y="46"/>
                    </a:moveTo>
                    <a:cubicBezTo>
                      <a:pt x="284" y="0"/>
                      <a:pt x="78" y="130"/>
                      <a:pt x="32" y="338"/>
                    </a:cubicBezTo>
                    <a:cubicBezTo>
                      <a:pt x="0" y="478"/>
                      <a:pt x="50" y="618"/>
                      <a:pt x="149" y="708"/>
                    </a:cubicBezTo>
                    <a:cubicBezTo>
                      <a:pt x="126" y="888"/>
                      <a:pt x="126" y="888"/>
                      <a:pt x="126" y="888"/>
                    </a:cubicBezTo>
                    <a:cubicBezTo>
                      <a:pt x="306" y="793"/>
                      <a:pt x="306" y="793"/>
                      <a:pt x="306" y="793"/>
                    </a:cubicBezTo>
                    <a:cubicBezTo>
                      <a:pt x="312" y="795"/>
                      <a:pt x="317" y="796"/>
                      <a:pt x="323" y="798"/>
                    </a:cubicBezTo>
                    <a:cubicBezTo>
                      <a:pt x="531" y="844"/>
                      <a:pt x="737" y="714"/>
                      <a:pt x="783" y="506"/>
                    </a:cubicBezTo>
                    <a:cubicBezTo>
                      <a:pt x="830" y="299"/>
                      <a:pt x="699" y="93"/>
                      <a:pt x="492" y="46"/>
                    </a:cubicBezTo>
                    <a:close/>
                  </a:path>
                </a:pathLst>
              </a:custGeom>
              <a:solidFill>
                <a:schemeClr val="accent4"/>
              </a:solidFill>
              <a:ln>
                <a:noFill/>
              </a:ln>
            </p:spPr>
            <p:txBody>
              <a:bodyPr anchor="ctr"/>
              <a:lstStyle/>
              <a:p>
                <a:pPr algn="ctr"/>
              </a:p>
            </p:txBody>
          </p:sp>
          <p:sp>
            <p:nvSpPr>
              <p:cNvPr id="95" name="Freeform: Shape 96"/>
              <p:cNvSpPr/>
              <p:nvPr>
                <p:custDataLst>
                  <p:tags r:id="rId72"/>
                </p:custDataLst>
              </p:nvPr>
            </p:nvSpPr>
            <p:spPr bwMode="auto">
              <a:xfrm>
                <a:off x="7359700" y="2754510"/>
                <a:ext cx="493496" cy="681334"/>
              </a:xfrm>
              <a:custGeom>
                <a:avLst/>
                <a:gdLst>
                  <a:gd name="T0" fmla="*/ 200 w 310"/>
                  <a:gd name="T1" fmla="*/ 39 h 428"/>
                  <a:gd name="T2" fmla="*/ 205 w 310"/>
                  <a:gd name="T3" fmla="*/ 40 h 428"/>
                  <a:gd name="T4" fmla="*/ 215 w 310"/>
                  <a:gd name="T5" fmla="*/ 23 h 428"/>
                  <a:gd name="T6" fmla="*/ 206 w 310"/>
                  <a:gd name="T7" fmla="*/ 5 h 428"/>
                  <a:gd name="T8" fmla="*/ 196 w 310"/>
                  <a:gd name="T9" fmla="*/ 9 h 428"/>
                  <a:gd name="T10" fmla="*/ 123 w 310"/>
                  <a:gd name="T11" fmla="*/ 0 h 428"/>
                  <a:gd name="T12" fmla="*/ 97 w 310"/>
                  <a:gd name="T13" fmla="*/ 11 h 428"/>
                  <a:gd name="T14" fmla="*/ 104 w 310"/>
                  <a:gd name="T15" fmla="*/ 17 h 428"/>
                  <a:gd name="T16" fmla="*/ 99 w 310"/>
                  <a:gd name="T17" fmla="*/ 35 h 428"/>
                  <a:gd name="T18" fmla="*/ 120 w 310"/>
                  <a:gd name="T19" fmla="*/ 38 h 428"/>
                  <a:gd name="T20" fmla="*/ 120 w 310"/>
                  <a:gd name="T21" fmla="*/ 182 h 428"/>
                  <a:gd name="T22" fmla="*/ 13 w 310"/>
                  <a:gd name="T23" fmla="*/ 347 h 428"/>
                  <a:gd name="T24" fmla="*/ 3 w 310"/>
                  <a:gd name="T25" fmla="*/ 399 h 428"/>
                  <a:gd name="T26" fmla="*/ 89 w 310"/>
                  <a:gd name="T27" fmla="*/ 426 h 428"/>
                  <a:gd name="T28" fmla="*/ 286 w 310"/>
                  <a:gd name="T29" fmla="*/ 414 h 428"/>
                  <a:gd name="T30" fmla="*/ 310 w 310"/>
                  <a:gd name="T31" fmla="*/ 388 h 428"/>
                  <a:gd name="T32" fmla="*/ 199 w 310"/>
                  <a:gd name="T33" fmla="*/ 178 h 428"/>
                  <a:gd name="T34" fmla="*/ 192 w 310"/>
                  <a:gd name="T35" fmla="*/ 182 h 428"/>
                  <a:gd name="T36" fmla="*/ 284 w 310"/>
                  <a:gd name="T37" fmla="*/ 354 h 428"/>
                  <a:gd name="T38" fmla="*/ 293 w 310"/>
                  <a:gd name="T39" fmla="*/ 391 h 428"/>
                  <a:gd name="T40" fmla="*/ 219 w 310"/>
                  <a:gd name="T41" fmla="*/ 410 h 428"/>
                  <a:gd name="T42" fmla="*/ 29 w 310"/>
                  <a:gd name="T43" fmla="*/ 399 h 428"/>
                  <a:gd name="T44" fmla="*/ 16 w 310"/>
                  <a:gd name="T45" fmla="*/ 388 h 428"/>
                  <a:gd name="T46" fmla="*/ 81 w 310"/>
                  <a:gd name="T47" fmla="*/ 260 h 428"/>
                  <a:gd name="T48" fmla="*/ 128 w 310"/>
                  <a:gd name="T49" fmla="*/ 38 h 428"/>
                  <a:gd name="T50" fmla="*/ 121 w 310"/>
                  <a:gd name="T51" fmla="*/ 30 h 428"/>
                  <a:gd name="T52" fmla="*/ 121 w 310"/>
                  <a:gd name="T53" fmla="*/ 30 h 428"/>
                  <a:gd name="T54" fmla="*/ 112 w 310"/>
                  <a:gd name="T55" fmla="*/ 25 h 428"/>
                  <a:gd name="T56" fmla="*/ 112 w 310"/>
                  <a:gd name="T57" fmla="*/ 17 h 428"/>
                  <a:gd name="T58" fmla="*/ 112 w 310"/>
                  <a:gd name="T59" fmla="*/ 18 h 428"/>
                  <a:gd name="T60" fmla="*/ 112 w 310"/>
                  <a:gd name="T61" fmla="*/ 18 h 428"/>
                  <a:gd name="T62" fmla="*/ 112 w 310"/>
                  <a:gd name="T63" fmla="*/ 18 h 428"/>
                  <a:gd name="T64" fmla="*/ 111 w 310"/>
                  <a:gd name="T65" fmla="*/ 18 h 428"/>
                  <a:gd name="T66" fmla="*/ 111 w 310"/>
                  <a:gd name="T67" fmla="*/ 18 h 428"/>
                  <a:gd name="T68" fmla="*/ 117 w 310"/>
                  <a:gd name="T69" fmla="*/ 16 h 428"/>
                  <a:gd name="T70" fmla="*/ 122 w 310"/>
                  <a:gd name="T71" fmla="*/ 16 h 428"/>
                  <a:gd name="T72" fmla="*/ 196 w 310"/>
                  <a:gd name="T73" fmla="*/ 14 h 428"/>
                  <a:gd name="T74" fmla="*/ 196 w 310"/>
                  <a:gd name="T75" fmla="*/ 14 h 428"/>
                  <a:gd name="T76" fmla="*/ 195 w 310"/>
                  <a:gd name="T77" fmla="*/ 17 h 428"/>
                  <a:gd name="T78" fmla="*/ 195 w 310"/>
                  <a:gd name="T79" fmla="*/ 17 h 428"/>
                  <a:gd name="T80" fmla="*/ 199 w 310"/>
                  <a:gd name="T81" fmla="*/ 23 h 428"/>
                  <a:gd name="T82" fmla="*/ 200 w 310"/>
                  <a:gd name="T83" fmla="*/ 25 h 428"/>
                  <a:gd name="T84" fmla="*/ 200 w 310"/>
                  <a:gd name="T85" fmla="*/ 25 h 428"/>
                  <a:gd name="T86" fmla="*/ 207 w 310"/>
                  <a:gd name="T87" fmla="*/ 23 h 428"/>
                  <a:gd name="T88" fmla="*/ 200 w 310"/>
                  <a:gd name="T89" fmla="*/ 22 h 428"/>
                  <a:gd name="T90" fmla="*/ 200 w 310"/>
                  <a:gd name="T91" fmla="*/ 22 h 428"/>
                  <a:gd name="T92" fmla="*/ 200 w 310"/>
                  <a:gd name="T93" fmla="*/ 22 h 428"/>
                  <a:gd name="T94" fmla="*/ 200 w 310"/>
                  <a:gd name="T95" fmla="*/ 22 h 428"/>
                  <a:gd name="T96" fmla="*/ 200 w 310"/>
                  <a:gd name="T97" fmla="*/ 22 h 428"/>
                  <a:gd name="T98" fmla="*/ 192 w 310"/>
                  <a:gd name="T99" fmla="*/ 29 h 428"/>
                  <a:gd name="T100" fmla="*/ 188 w 310"/>
                  <a:gd name="T101" fmla="*/ 32 h 428"/>
                  <a:gd name="T102" fmla="*/ 188 w 310"/>
                  <a:gd name="T103" fmla="*/ 32 h 428"/>
                  <a:gd name="T104" fmla="*/ 188 w 310"/>
                  <a:gd name="T105" fmla="*/ 32 h 428"/>
                  <a:gd name="T106" fmla="*/ 185 w 310"/>
                  <a:gd name="T107" fmla="*/ 187 h 4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10" h="428">
                    <a:moveTo>
                      <a:pt x="192" y="182"/>
                    </a:moveTo>
                    <a:cubicBezTo>
                      <a:pt x="200" y="182"/>
                      <a:pt x="200" y="182"/>
                      <a:pt x="200" y="182"/>
                    </a:cubicBezTo>
                    <a:cubicBezTo>
                      <a:pt x="200" y="39"/>
                      <a:pt x="200" y="39"/>
                      <a:pt x="200" y="39"/>
                    </a:cubicBezTo>
                    <a:cubicBezTo>
                      <a:pt x="192" y="39"/>
                      <a:pt x="192" y="39"/>
                      <a:pt x="192" y="39"/>
                    </a:cubicBezTo>
                    <a:cubicBezTo>
                      <a:pt x="196" y="46"/>
                      <a:pt x="196" y="46"/>
                      <a:pt x="196" y="46"/>
                    </a:cubicBezTo>
                    <a:cubicBezTo>
                      <a:pt x="196" y="45"/>
                      <a:pt x="200" y="43"/>
                      <a:pt x="205" y="40"/>
                    </a:cubicBezTo>
                    <a:cubicBezTo>
                      <a:pt x="207" y="38"/>
                      <a:pt x="209" y="36"/>
                      <a:pt x="211" y="34"/>
                    </a:cubicBezTo>
                    <a:cubicBezTo>
                      <a:pt x="212" y="32"/>
                      <a:pt x="213" y="31"/>
                      <a:pt x="214" y="29"/>
                    </a:cubicBezTo>
                    <a:cubicBezTo>
                      <a:pt x="215" y="28"/>
                      <a:pt x="215" y="25"/>
                      <a:pt x="215" y="23"/>
                    </a:cubicBezTo>
                    <a:cubicBezTo>
                      <a:pt x="215" y="22"/>
                      <a:pt x="215" y="22"/>
                      <a:pt x="215" y="21"/>
                    </a:cubicBezTo>
                    <a:cubicBezTo>
                      <a:pt x="215" y="21"/>
                      <a:pt x="214" y="17"/>
                      <a:pt x="211" y="12"/>
                    </a:cubicBezTo>
                    <a:cubicBezTo>
                      <a:pt x="210" y="10"/>
                      <a:pt x="209" y="7"/>
                      <a:pt x="206" y="5"/>
                    </a:cubicBezTo>
                    <a:cubicBezTo>
                      <a:pt x="205" y="4"/>
                      <a:pt x="204" y="3"/>
                      <a:pt x="202" y="2"/>
                    </a:cubicBezTo>
                    <a:cubicBezTo>
                      <a:pt x="200" y="1"/>
                      <a:pt x="198" y="1"/>
                      <a:pt x="196" y="1"/>
                    </a:cubicBezTo>
                    <a:cubicBezTo>
                      <a:pt x="196" y="9"/>
                      <a:pt x="196" y="9"/>
                      <a:pt x="196" y="9"/>
                    </a:cubicBezTo>
                    <a:cubicBezTo>
                      <a:pt x="196" y="1"/>
                      <a:pt x="196" y="1"/>
                      <a:pt x="196" y="1"/>
                    </a:cubicBezTo>
                    <a:cubicBezTo>
                      <a:pt x="123" y="0"/>
                      <a:pt x="123" y="0"/>
                      <a:pt x="123" y="0"/>
                    </a:cubicBezTo>
                    <a:cubicBezTo>
                      <a:pt x="123" y="0"/>
                      <a:pt x="123" y="0"/>
                      <a:pt x="123" y="0"/>
                    </a:cubicBezTo>
                    <a:cubicBezTo>
                      <a:pt x="118" y="0"/>
                      <a:pt x="113" y="0"/>
                      <a:pt x="108" y="2"/>
                    </a:cubicBezTo>
                    <a:cubicBezTo>
                      <a:pt x="105" y="3"/>
                      <a:pt x="103" y="4"/>
                      <a:pt x="100" y="7"/>
                    </a:cubicBezTo>
                    <a:cubicBezTo>
                      <a:pt x="99" y="8"/>
                      <a:pt x="98" y="9"/>
                      <a:pt x="97" y="11"/>
                    </a:cubicBezTo>
                    <a:cubicBezTo>
                      <a:pt x="96" y="13"/>
                      <a:pt x="96" y="15"/>
                      <a:pt x="96" y="17"/>
                    </a:cubicBezTo>
                    <a:cubicBezTo>
                      <a:pt x="96" y="17"/>
                      <a:pt x="96" y="17"/>
                      <a:pt x="96" y="17"/>
                    </a:cubicBezTo>
                    <a:cubicBezTo>
                      <a:pt x="104" y="17"/>
                      <a:pt x="104" y="17"/>
                      <a:pt x="104" y="17"/>
                    </a:cubicBezTo>
                    <a:cubicBezTo>
                      <a:pt x="96" y="15"/>
                      <a:pt x="96" y="15"/>
                      <a:pt x="96" y="15"/>
                    </a:cubicBezTo>
                    <a:cubicBezTo>
                      <a:pt x="96" y="17"/>
                      <a:pt x="95" y="20"/>
                      <a:pt x="95" y="22"/>
                    </a:cubicBezTo>
                    <a:cubicBezTo>
                      <a:pt x="95" y="27"/>
                      <a:pt x="97" y="31"/>
                      <a:pt x="99" y="35"/>
                    </a:cubicBezTo>
                    <a:cubicBezTo>
                      <a:pt x="103" y="40"/>
                      <a:pt x="108" y="43"/>
                      <a:pt x="112" y="44"/>
                    </a:cubicBezTo>
                    <a:cubicBezTo>
                      <a:pt x="116" y="46"/>
                      <a:pt x="118" y="46"/>
                      <a:pt x="119" y="46"/>
                    </a:cubicBezTo>
                    <a:cubicBezTo>
                      <a:pt x="120" y="38"/>
                      <a:pt x="120" y="38"/>
                      <a:pt x="120" y="38"/>
                    </a:cubicBezTo>
                    <a:cubicBezTo>
                      <a:pt x="112" y="38"/>
                      <a:pt x="112" y="38"/>
                      <a:pt x="112" y="38"/>
                    </a:cubicBezTo>
                    <a:cubicBezTo>
                      <a:pt x="112" y="182"/>
                      <a:pt x="112" y="182"/>
                      <a:pt x="112" y="182"/>
                    </a:cubicBezTo>
                    <a:cubicBezTo>
                      <a:pt x="120" y="182"/>
                      <a:pt x="120" y="182"/>
                      <a:pt x="120" y="182"/>
                    </a:cubicBezTo>
                    <a:cubicBezTo>
                      <a:pt x="113" y="178"/>
                      <a:pt x="113" y="178"/>
                      <a:pt x="113" y="178"/>
                    </a:cubicBezTo>
                    <a:cubicBezTo>
                      <a:pt x="93" y="210"/>
                      <a:pt x="65" y="253"/>
                      <a:pt x="42" y="292"/>
                    </a:cubicBezTo>
                    <a:cubicBezTo>
                      <a:pt x="30" y="312"/>
                      <a:pt x="20" y="331"/>
                      <a:pt x="13" y="347"/>
                    </a:cubicBezTo>
                    <a:cubicBezTo>
                      <a:pt x="9" y="355"/>
                      <a:pt x="6" y="363"/>
                      <a:pt x="4" y="370"/>
                    </a:cubicBezTo>
                    <a:cubicBezTo>
                      <a:pt x="2" y="376"/>
                      <a:pt x="0" y="382"/>
                      <a:pt x="0" y="388"/>
                    </a:cubicBezTo>
                    <a:cubicBezTo>
                      <a:pt x="0" y="392"/>
                      <a:pt x="1" y="396"/>
                      <a:pt x="3" y="399"/>
                    </a:cubicBezTo>
                    <a:cubicBezTo>
                      <a:pt x="5" y="403"/>
                      <a:pt x="8" y="406"/>
                      <a:pt x="11" y="408"/>
                    </a:cubicBezTo>
                    <a:cubicBezTo>
                      <a:pt x="18" y="412"/>
                      <a:pt x="26" y="415"/>
                      <a:pt x="36" y="417"/>
                    </a:cubicBezTo>
                    <a:cubicBezTo>
                      <a:pt x="50" y="421"/>
                      <a:pt x="69" y="424"/>
                      <a:pt x="89" y="426"/>
                    </a:cubicBezTo>
                    <a:cubicBezTo>
                      <a:pt x="110" y="427"/>
                      <a:pt x="132" y="428"/>
                      <a:pt x="155" y="428"/>
                    </a:cubicBezTo>
                    <a:cubicBezTo>
                      <a:pt x="189" y="428"/>
                      <a:pt x="224" y="426"/>
                      <a:pt x="251" y="422"/>
                    </a:cubicBezTo>
                    <a:cubicBezTo>
                      <a:pt x="265" y="420"/>
                      <a:pt x="277" y="417"/>
                      <a:pt x="286" y="414"/>
                    </a:cubicBezTo>
                    <a:cubicBezTo>
                      <a:pt x="291" y="412"/>
                      <a:pt x="295" y="410"/>
                      <a:pt x="299" y="408"/>
                    </a:cubicBezTo>
                    <a:cubicBezTo>
                      <a:pt x="302" y="406"/>
                      <a:pt x="305" y="403"/>
                      <a:pt x="307" y="399"/>
                    </a:cubicBezTo>
                    <a:cubicBezTo>
                      <a:pt x="309" y="396"/>
                      <a:pt x="310" y="392"/>
                      <a:pt x="310" y="388"/>
                    </a:cubicBezTo>
                    <a:cubicBezTo>
                      <a:pt x="310" y="383"/>
                      <a:pt x="309" y="377"/>
                      <a:pt x="307" y="370"/>
                    </a:cubicBezTo>
                    <a:cubicBezTo>
                      <a:pt x="303" y="358"/>
                      <a:pt x="297" y="344"/>
                      <a:pt x="289" y="329"/>
                    </a:cubicBezTo>
                    <a:cubicBezTo>
                      <a:pt x="266" y="282"/>
                      <a:pt x="228" y="222"/>
                      <a:pt x="199" y="178"/>
                    </a:cubicBezTo>
                    <a:cubicBezTo>
                      <a:pt x="192" y="182"/>
                      <a:pt x="192" y="182"/>
                      <a:pt x="192" y="182"/>
                    </a:cubicBezTo>
                    <a:cubicBezTo>
                      <a:pt x="200" y="182"/>
                      <a:pt x="200" y="182"/>
                      <a:pt x="200" y="182"/>
                    </a:cubicBezTo>
                    <a:cubicBezTo>
                      <a:pt x="192" y="182"/>
                      <a:pt x="192" y="182"/>
                      <a:pt x="192" y="182"/>
                    </a:cubicBezTo>
                    <a:cubicBezTo>
                      <a:pt x="185" y="187"/>
                      <a:pt x="185" y="187"/>
                      <a:pt x="185" y="187"/>
                    </a:cubicBezTo>
                    <a:cubicBezTo>
                      <a:pt x="207" y="220"/>
                      <a:pt x="235" y="263"/>
                      <a:pt x="257" y="301"/>
                    </a:cubicBezTo>
                    <a:cubicBezTo>
                      <a:pt x="267" y="321"/>
                      <a:pt x="277" y="339"/>
                      <a:pt x="284" y="354"/>
                    </a:cubicBezTo>
                    <a:cubicBezTo>
                      <a:pt x="287" y="362"/>
                      <a:pt x="290" y="369"/>
                      <a:pt x="291" y="375"/>
                    </a:cubicBezTo>
                    <a:cubicBezTo>
                      <a:pt x="293" y="381"/>
                      <a:pt x="294" y="385"/>
                      <a:pt x="294" y="388"/>
                    </a:cubicBezTo>
                    <a:cubicBezTo>
                      <a:pt x="294" y="390"/>
                      <a:pt x="293" y="391"/>
                      <a:pt x="293" y="391"/>
                    </a:cubicBezTo>
                    <a:cubicBezTo>
                      <a:pt x="293" y="392"/>
                      <a:pt x="292" y="393"/>
                      <a:pt x="290" y="394"/>
                    </a:cubicBezTo>
                    <a:cubicBezTo>
                      <a:pt x="286" y="397"/>
                      <a:pt x="279" y="400"/>
                      <a:pt x="270" y="402"/>
                    </a:cubicBezTo>
                    <a:cubicBezTo>
                      <a:pt x="257" y="405"/>
                      <a:pt x="239" y="408"/>
                      <a:pt x="219" y="410"/>
                    </a:cubicBezTo>
                    <a:cubicBezTo>
                      <a:pt x="199" y="411"/>
                      <a:pt x="177" y="412"/>
                      <a:pt x="155" y="412"/>
                    </a:cubicBezTo>
                    <a:cubicBezTo>
                      <a:pt x="121" y="412"/>
                      <a:pt x="88" y="410"/>
                      <a:pt x="62" y="406"/>
                    </a:cubicBezTo>
                    <a:cubicBezTo>
                      <a:pt x="48" y="404"/>
                      <a:pt x="37" y="402"/>
                      <a:pt x="29" y="399"/>
                    </a:cubicBezTo>
                    <a:cubicBezTo>
                      <a:pt x="25" y="397"/>
                      <a:pt x="22" y="396"/>
                      <a:pt x="20" y="394"/>
                    </a:cubicBezTo>
                    <a:cubicBezTo>
                      <a:pt x="18" y="393"/>
                      <a:pt x="17" y="392"/>
                      <a:pt x="17" y="391"/>
                    </a:cubicBezTo>
                    <a:cubicBezTo>
                      <a:pt x="17" y="391"/>
                      <a:pt x="16" y="390"/>
                      <a:pt x="16" y="388"/>
                    </a:cubicBezTo>
                    <a:cubicBezTo>
                      <a:pt x="16" y="385"/>
                      <a:pt x="17" y="380"/>
                      <a:pt x="19" y="374"/>
                    </a:cubicBezTo>
                    <a:cubicBezTo>
                      <a:pt x="22" y="364"/>
                      <a:pt x="28" y="350"/>
                      <a:pt x="36" y="335"/>
                    </a:cubicBezTo>
                    <a:cubicBezTo>
                      <a:pt x="48" y="312"/>
                      <a:pt x="64" y="286"/>
                      <a:pt x="81" y="260"/>
                    </a:cubicBezTo>
                    <a:cubicBezTo>
                      <a:pt x="97" y="233"/>
                      <a:pt x="113" y="208"/>
                      <a:pt x="127" y="186"/>
                    </a:cubicBezTo>
                    <a:cubicBezTo>
                      <a:pt x="128" y="185"/>
                      <a:pt x="128" y="184"/>
                      <a:pt x="128" y="182"/>
                    </a:cubicBezTo>
                    <a:cubicBezTo>
                      <a:pt x="128" y="38"/>
                      <a:pt x="128" y="38"/>
                      <a:pt x="128" y="38"/>
                    </a:cubicBezTo>
                    <a:cubicBezTo>
                      <a:pt x="128" y="34"/>
                      <a:pt x="125" y="31"/>
                      <a:pt x="121" y="30"/>
                    </a:cubicBezTo>
                    <a:cubicBezTo>
                      <a:pt x="121" y="35"/>
                      <a:pt x="121" y="35"/>
                      <a:pt x="121" y="35"/>
                    </a:cubicBezTo>
                    <a:cubicBezTo>
                      <a:pt x="121" y="30"/>
                      <a:pt x="121" y="30"/>
                      <a:pt x="121" y="30"/>
                    </a:cubicBezTo>
                    <a:cubicBezTo>
                      <a:pt x="121" y="30"/>
                      <a:pt x="121" y="30"/>
                      <a:pt x="121" y="30"/>
                    </a:cubicBezTo>
                    <a:cubicBezTo>
                      <a:pt x="121" y="35"/>
                      <a:pt x="121" y="35"/>
                      <a:pt x="121" y="35"/>
                    </a:cubicBezTo>
                    <a:cubicBezTo>
                      <a:pt x="121" y="30"/>
                      <a:pt x="121" y="30"/>
                      <a:pt x="121" y="30"/>
                    </a:cubicBezTo>
                    <a:cubicBezTo>
                      <a:pt x="121" y="30"/>
                      <a:pt x="121" y="30"/>
                      <a:pt x="121" y="30"/>
                    </a:cubicBezTo>
                    <a:cubicBezTo>
                      <a:pt x="120" y="30"/>
                      <a:pt x="117" y="29"/>
                      <a:pt x="115" y="28"/>
                    </a:cubicBezTo>
                    <a:cubicBezTo>
                      <a:pt x="114" y="27"/>
                      <a:pt x="113" y="26"/>
                      <a:pt x="112" y="25"/>
                    </a:cubicBezTo>
                    <a:cubicBezTo>
                      <a:pt x="112" y="24"/>
                      <a:pt x="111" y="23"/>
                      <a:pt x="111" y="22"/>
                    </a:cubicBezTo>
                    <a:cubicBezTo>
                      <a:pt x="111" y="21"/>
                      <a:pt x="112" y="20"/>
                      <a:pt x="112" y="19"/>
                    </a:cubicBezTo>
                    <a:cubicBezTo>
                      <a:pt x="112" y="18"/>
                      <a:pt x="112" y="18"/>
                      <a:pt x="112" y="17"/>
                    </a:cubicBezTo>
                    <a:cubicBezTo>
                      <a:pt x="112" y="17"/>
                      <a:pt x="112" y="17"/>
                      <a:pt x="112" y="17"/>
                    </a:cubicBezTo>
                    <a:cubicBezTo>
                      <a:pt x="110" y="17"/>
                      <a:pt x="110" y="17"/>
                      <a:pt x="110" y="17"/>
                    </a:cubicBezTo>
                    <a:cubicBezTo>
                      <a:pt x="112" y="18"/>
                      <a:pt x="112" y="18"/>
                      <a:pt x="112" y="18"/>
                    </a:cubicBezTo>
                    <a:cubicBezTo>
                      <a:pt x="112" y="17"/>
                      <a:pt x="112" y="17"/>
                      <a:pt x="112" y="17"/>
                    </a:cubicBezTo>
                    <a:cubicBezTo>
                      <a:pt x="110" y="17"/>
                      <a:pt x="110" y="17"/>
                      <a:pt x="110" y="17"/>
                    </a:cubicBezTo>
                    <a:cubicBezTo>
                      <a:pt x="112" y="18"/>
                      <a:pt x="112" y="18"/>
                      <a:pt x="112" y="18"/>
                    </a:cubicBezTo>
                    <a:cubicBezTo>
                      <a:pt x="110" y="17"/>
                      <a:pt x="110" y="17"/>
                      <a:pt x="110" y="17"/>
                    </a:cubicBezTo>
                    <a:cubicBezTo>
                      <a:pt x="112" y="18"/>
                      <a:pt x="112" y="18"/>
                      <a:pt x="112" y="18"/>
                    </a:cubicBezTo>
                    <a:cubicBezTo>
                      <a:pt x="112" y="18"/>
                      <a:pt x="112" y="18"/>
                      <a:pt x="112" y="18"/>
                    </a:cubicBezTo>
                    <a:cubicBezTo>
                      <a:pt x="110" y="17"/>
                      <a:pt x="110" y="17"/>
                      <a:pt x="110" y="17"/>
                    </a:cubicBezTo>
                    <a:cubicBezTo>
                      <a:pt x="112" y="18"/>
                      <a:pt x="112" y="18"/>
                      <a:pt x="112" y="18"/>
                    </a:cubicBezTo>
                    <a:cubicBezTo>
                      <a:pt x="111" y="18"/>
                      <a:pt x="111" y="18"/>
                      <a:pt x="111" y="18"/>
                    </a:cubicBezTo>
                    <a:cubicBezTo>
                      <a:pt x="112" y="18"/>
                      <a:pt x="112" y="18"/>
                      <a:pt x="112" y="18"/>
                    </a:cubicBezTo>
                    <a:cubicBezTo>
                      <a:pt x="112" y="18"/>
                      <a:pt x="112" y="18"/>
                      <a:pt x="112" y="18"/>
                    </a:cubicBezTo>
                    <a:cubicBezTo>
                      <a:pt x="111" y="18"/>
                      <a:pt x="111" y="18"/>
                      <a:pt x="111" y="18"/>
                    </a:cubicBezTo>
                    <a:cubicBezTo>
                      <a:pt x="112" y="18"/>
                      <a:pt x="112" y="18"/>
                      <a:pt x="112" y="18"/>
                    </a:cubicBezTo>
                    <a:cubicBezTo>
                      <a:pt x="112" y="18"/>
                      <a:pt x="112" y="18"/>
                      <a:pt x="113" y="17"/>
                    </a:cubicBezTo>
                    <a:cubicBezTo>
                      <a:pt x="114" y="17"/>
                      <a:pt x="115" y="16"/>
                      <a:pt x="117" y="16"/>
                    </a:cubicBezTo>
                    <a:cubicBezTo>
                      <a:pt x="119" y="16"/>
                      <a:pt x="121" y="16"/>
                      <a:pt x="123" y="16"/>
                    </a:cubicBezTo>
                    <a:cubicBezTo>
                      <a:pt x="123" y="8"/>
                      <a:pt x="123" y="8"/>
                      <a:pt x="123" y="8"/>
                    </a:cubicBezTo>
                    <a:cubicBezTo>
                      <a:pt x="122" y="16"/>
                      <a:pt x="122" y="16"/>
                      <a:pt x="122" y="16"/>
                    </a:cubicBezTo>
                    <a:cubicBezTo>
                      <a:pt x="196" y="17"/>
                      <a:pt x="196" y="17"/>
                      <a:pt x="196" y="17"/>
                    </a:cubicBezTo>
                    <a:cubicBezTo>
                      <a:pt x="196" y="17"/>
                      <a:pt x="196" y="17"/>
                      <a:pt x="196" y="17"/>
                    </a:cubicBezTo>
                    <a:cubicBezTo>
                      <a:pt x="196" y="14"/>
                      <a:pt x="196" y="14"/>
                      <a:pt x="196" y="14"/>
                    </a:cubicBezTo>
                    <a:cubicBezTo>
                      <a:pt x="195" y="17"/>
                      <a:pt x="195" y="17"/>
                      <a:pt x="195" y="17"/>
                    </a:cubicBezTo>
                    <a:cubicBezTo>
                      <a:pt x="195" y="17"/>
                      <a:pt x="196" y="17"/>
                      <a:pt x="196" y="17"/>
                    </a:cubicBezTo>
                    <a:cubicBezTo>
                      <a:pt x="196" y="14"/>
                      <a:pt x="196" y="14"/>
                      <a:pt x="196" y="14"/>
                    </a:cubicBezTo>
                    <a:cubicBezTo>
                      <a:pt x="195" y="17"/>
                      <a:pt x="195" y="17"/>
                      <a:pt x="195" y="17"/>
                    </a:cubicBezTo>
                    <a:cubicBezTo>
                      <a:pt x="195" y="16"/>
                      <a:pt x="195" y="16"/>
                      <a:pt x="195" y="16"/>
                    </a:cubicBezTo>
                    <a:cubicBezTo>
                      <a:pt x="195" y="17"/>
                      <a:pt x="195" y="17"/>
                      <a:pt x="195" y="17"/>
                    </a:cubicBezTo>
                    <a:cubicBezTo>
                      <a:pt x="195" y="17"/>
                      <a:pt x="195" y="17"/>
                      <a:pt x="195" y="17"/>
                    </a:cubicBezTo>
                    <a:cubicBezTo>
                      <a:pt x="195" y="16"/>
                      <a:pt x="195" y="16"/>
                      <a:pt x="195" y="16"/>
                    </a:cubicBezTo>
                    <a:cubicBezTo>
                      <a:pt x="195" y="17"/>
                      <a:pt x="195" y="17"/>
                      <a:pt x="195" y="17"/>
                    </a:cubicBezTo>
                    <a:cubicBezTo>
                      <a:pt x="195" y="17"/>
                      <a:pt x="195" y="17"/>
                      <a:pt x="195" y="17"/>
                    </a:cubicBezTo>
                    <a:cubicBezTo>
                      <a:pt x="195" y="17"/>
                      <a:pt x="196" y="17"/>
                      <a:pt x="197" y="18"/>
                    </a:cubicBezTo>
                    <a:cubicBezTo>
                      <a:pt x="197" y="20"/>
                      <a:pt x="198" y="22"/>
                      <a:pt x="199" y="23"/>
                    </a:cubicBezTo>
                    <a:cubicBezTo>
                      <a:pt x="199" y="24"/>
                      <a:pt x="199" y="24"/>
                      <a:pt x="200" y="25"/>
                    </a:cubicBezTo>
                    <a:cubicBezTo>
                      <a:pt x="200" y="25"/>
                      <a:pt x="200" y="25"/>
                      <a:pt x="200" y="25"/>
                    </a:cubicBezTo>
                    <a:cubicBezTo>
                      <a:pt x="200" y="25"/>
                      <a:pt x="200" y="25"/>
                      <a:pt x="200" y="25"/>
                    </a:cubicBezTo>
                    <a:cubicBezTo>
                      <a:pt x="201" y="25"/>
                      <a:pt x="201" y="25"/>
                      <a:pt x="201" y="25"/>
                    </a:cubicBezTo>
                    <a:cubicBezTo>
                      <a:pt x="200" y="25"/>
                      <a:pt x="200" y="25"/>
                      <a:pt x="200" y="25"/>
                    </a:cubicBezTo>
                    <a:cubicBezTo>
                      <a:pt x="200" y="25"/>
                      <a:pt x="200" y="25"/>
                      <a:pt x="200" y="25"/>
                    </a:cubicBezTo>
                    <a:cubicBezTo>
                      <a:pt x="201" y="25"/>
                      <a:pt x="201" y="25"/>
                      <a:pt x="201" y="25"/>
                    </a:cubicBezTo>
                    <a:cubicBezTo>
                      <a:pt x="200" y="25"/>
                      <a:pt x="200" y="25"/>
                      <a:pt x="200" y="25"/>
                    </a:cubicBezTo>
                    <a:cubicBezTo>
                      <a:pt x="207" y="23"/>
                      <a:pt x="207" y="23"/>
                      <a:pt x="207" y="23"/>
                    </a:cubicBezTo>
                    <a:cubicBezTo>
                      <a:pt x="199" y="23"/>
                      <a:pt x="199" y="23"/>
                      <a:pt x="199" y="23"/>
                    </a:cubicBezTo>
                    <a:cubicBezTo>
                      <a:pt x="202" y="23"/>
                      <a:pt x="202" y="23"/>
                      <a:pt x="202" y="23"/>
                    </a:cubicBezTo>
                    <a:cubicBezTo>
                      <a:pt x="200" y="22"/>
                      <a:pt x="200" y="22"/>
                      <a:pt x="200" y="22"/>
                    </a:cubicBezTo>
                    <a:cubicBezTo>
                      <a:pt x="199" y="23"/>
                      <a:pt x="199" y="23"/>
                      <a:pt x="199" y="23"/>
                    </a:cubicBezTo>
                    <a:cubicBezTo>
                      <a:pt x="202" y="23"/>
                      <a:pt x="202" y="23"/>
                      <a:pt x="202" y="23"/>
                    </a:cubicBezTo>
                    <a:cubicBezTo>
                      <a:pt x="200" y="22"/>
                      <a:pt x="200" y="22"/>
                      <a:pt x="200" y="22"/>
                    </a:cubicBezTo>
                    <a:cubicBezTo>
                      <a:pt x="201" y="23"/>
                      <a:pt x="201" y="23"/>
                      <a:pt x="201" y="23"/>
                    </a:cubicBezTo>
                    <a:cubicBezTo>
                      <a:pt x="200" y="22"/>
                      <a:pt x="200" y="22"/>
                      <a:pt x="200" y="22"/>
                    </a:cubicBezTo>
                    <a:cubicBezTo>
                      <a:pt x="200" y="22"/>
                      <a:pt x="200" y="22"/>
                      <a:pt x="200" y="22"/>
                    </a:cubicBezTo>
                    <a:cubicBezTo>
                      <a:pt x="201" y="23"/>
                      <a:pt x="201" y="23"/>
                      <a:pt x="201" y="23"/>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200" y="22"/>
                      <a:pt x="200" y="22"/>
                    </a:cubicBezTo>
                    <a:cubicBezTo>
                      <a:pt x="200" y="22"/>
                      <a:pt x="199" y="23"/>
                      <a:pt x="198" y="25"/>
                    </a:cubicBezTo>
                    <a:cubicBezTo>
                      <a:pt x="196" y="26"/>
                      <a:pt x="194" y="28"/>
                      <a:pt x="192" y="29"/>
                    </a:cubicBezTo>
                    <a:cubicBezTo>
                      <a:pt x="191" y="30"/>
                      <a:pt x="190" y="31"/>
                      <a:pt x="189" y="31"/>
                    </a:cubicBezTo>
                    <a:cubicBezTo>
                      <a:pt x="188" y="31"/>
                      <a:pt x="188" y="31"/>
                      <a:pt x="188" y="31"/>
                    </a:cubicBezTo>
                    <a:cubicBezTo>
                      <a:pt x="188" y="32"/>
                      <a:pt x="188" y="32"/>
                      <a:pt x="188" y="32"/>
                    </a:cubicBezTo>
                    <a:cubicBezTo>
                      <a:pt x="188" y="32"/>
                      <a:pt x="188" y="32"/>
                      <a:pt x="188" y="32"/>
                    </a:cubicBezTo>
                    <a:cubicBezTo>
                      <a:pt x="189" y="33"/>
                      <a:pt x="189" y="33"/>
                      <a:pt x="189" y="33"/>
                    </a:cubicBezTo>
                    <a:cubicBezTo>
                      <a:pt x="188" y="32"/>
                      <a:pt x="188" y="32"/>
                      <a:pt x="188" y="32"/>
                    </a:cubicBezTo>
                    <a:cubicBezTo>
                      <a:pt x="188" y="32"/>
                      <a:pt x="188" y="32"/>
                      <a:pt x="188" y="32"/>
                    </a:cubicBezTo>
                    <a:cubicBezTo>
                      <a:pt x="189" y="33"/>
                      <a:pt x="189" y="33"/>
                      <a:pt x="189" y="33"/>
                    </a:cubicBezTo>
                    <a:cubicBezTo>
                      <a:pt x="188" y="32"/>
                      <a:pt x="188" y="32"/>
                      <a:pt x="188" y="32"/>
                    </a:cubicBezTo>
                    <a:cubicBezTo>
                      <a:pt x="186" y="33"/>
                      <a:pt x="184" y="36"/>
                      <a:pt x="184" y="39"/>
                    </a:cubicBezTo>
                    <a:cubicBezTo>
                      <a:pt x="184" y="182"/>
                      <a:pt x="184" y="182"/>
                      <a:pt x="184" y="182"/>
                    </a:cubicBezTo>
                    <a:cubicBezTo>
                      <a:pt x="184" y="184"/>
                      <a:pt x="184" y="185"/>
                      <a:pt x="185" y="187"/>
                    </a:cubicBezTo>
                    <a:lnTo>
                      <a:pt x="192" y="182"/>
                    </a:lnTo>
                    <a:close/>
                  </a:path>
                </a:pathLst>
              </a:custGeom>
              <a:solidFill>
                <a:schemeClr val="bg2"/>
              </a:solidFill>
              <a:ln>
                <a:noFill/>
              </a:ln>
            </p:spPr>
            <p:txBody>
              <a:bodyPr anchor="ctr"/>
              <a:lstStyle/>
              <a:p>
                <a:pPr algn="ctr"/>
              </a:p>
            </p:txBody>
          </p:sp>
          <p:sp>
            <p:nvSpPr>
              <p:cNvPr id="96" name="Oval 97"/>
              <p:cNvSpPr/>
              <p:nvPr>
                <p:custDataLst>
                  <p:tags r:id="rId73"/>
                </p:custDataLst>
              </p:nvPr>
            </p:nvSpPr>
            <p:spPr bwMode="auto">
              <a:xfrm>
                <a:off x="7588607" y="3060168"/>
                <a:ext cx="66652" cy="67326"/>
              </a:xfrm>
              <a:prstGeom prst="ellipse">
                <a:avLst/>
              </a:prstGeom>
              <a:solidFill>
                <a:schemeClr val="bg2"/>
              </a:solidFill>
              <a:ln>
                <a:noFill/>
              </a:ln>
            </p:spPr>
            <p:txBody>
              <a:bodyPr anchor="ctr"/>
              <a:lstStyle/>
              <a:p>
                <a:pPr algn="ctr"/>
              </a:p>
            </p:txBody>
          </p:sp>
          <p:sp>
            <p:nvSpPr>
              <p:cNvPr id="97" name="Freeform: Shape 98"/>
              <p:cNvSpPr/>
              <p:nvPr>
                <p:custDataLst>
                  <p:tags r:id="rId74"/>
                </p:custDataLst>
              </p:nvPr>
            </p:nvSpPr>
            <p:spPr bwMode="auto">
              <a:xfrm>
                <a:off x="7429718" y="3157116"/>
                <a:ext cx="350093" cy="229580"/>
              </a:xfrm>
              <a:custGeom>
                <a:avLst/>
                <a:gdLst>
                  <a:gd name="T0" fmla="*/ 161 w 220"/>
                  <a:gd name="T1" fmla="*/ 0 h 144"/>
                  <a:gd name="T2" fmla="*/ 65 w 220"/>
                  <a:gd name="T3" fmla="*/ 3 h 144"/>
                  <a:gd name="T4" fmla="*/ 0 w 220"/>
                  <a:gd name="T5" fmla="*/ 118 h 144"/>
                  <a:gd name="T6" fmla="*/ 220 w 220"/>
                  <a:gd name="T7" fmla="*/ 119 h 144"/>
                  <a:gd name="T8" fmla="*/ 161 w 220"/>
                  <a:gd name="T9" fmla="*/ 0 h 144"/>
                  <a:gd name="T10" fmla="*/ 87 w 220"/>
                  <a:gd name="T11" fmla="*/ 87 h 144"/>
                  <a:gd name="T12" fmla="*/ 62 w 220"/>
                  <a:gd name="T13" fmla="*/ 63 h 144"/>
                  <a:gd name="T14" fmla="*/ 87 w 220"/>
                  <a:gd name="T15" fmla="*/ 39 h 144"/>
                  <a:gd name="T16" fmla="*/ 111 w 220"/>
                  <a:gd name="T17" fmla="*/ 63 h 144"/>
                  <a:gd name="T18" fmla="*/ 87 w 220"/>
                  <a:gd name="T19" fmla="*/ 87 h 144"/>
                  <a:gd name="T20" fmla="*/ 147 w 220"/>
                  <a:gd name="T21" fmla="*/ 103 h 144"/>
                  <a:gd name="T22" fmla="*/ 132 w 220"/>
                  <a:gd name="T23" fmla="*/ 88 h 144"/>
                  <a:gd name="T24" fmla="*/ 147 w 220"/>
                  <a:gd name="T25" fmla="*/ 74 h 144"/>
                  <a:gd name="T26" fmla="*/ 161 w 220"/>
                  <a:gd name="T27" fmla="*/ 88 h 144"/>
                  <a:gd name="T28" fmla="*/ 147 w 220"/>
                  <a:gd name="T29" fmla="*/ 103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20" h="144">
                    <a:moveTo>
                      <a:pt x="161" y="0"/>
                    </a:moveTo>
                    <a:cubicBezTo>
                      <a:pt x="65" y="3"/>
                      <a:pt x="65" y="3"/>
                      <a:pt x="65" y="3"/>
                    </a:cubicBezTo>
                    <a:cubicBezTo>
                      <a:pt x="0" y="118"/>
                      <a:pt x="0" y="118"/>
                      <a:pt x="0" y="118"/>
                    </a:cubicBezTo>
                    <a:cubicBezTo>
                      <a:pt x="39" y="134"/>
                      <a:pt x="147" y="144"/>
                      <a:pt x="220" y="119"/>
                    </a:cubicBezTo>
                    <a:lnTo>
                      <a:pt x="161" y="0"/>
                    </a:lnTo>
                    <a:close/>
                    <a:moveTo>
                      <a:pt x="87" y="87"/>
                    </a:moveTo>
                    <a:cubicBezTo>
                      <a:pt x="73" y="87"/>
                      <a:pt x="62" y="76"/>
                      <a:pt x="62" y="63"/>
                    </a:cubicBezTo>
                    <a:cubicBezTo>
                      <a:pt x="62" y="49"/>
                      <a:pt x="73" y="39"/>
                      <a:pt x="87" y="39"/>
                    </a:cubicBezTo>
                    <a:cubicBezTo>
                      <a:pt x="100" y="39"/>
                      <a:pt x="111" y="49"/>
                      <a:pt x="111" y="63"/>
                    </a:cubicBezTo>
                    <a:cubicBezTo>
                      <a:pt x="111" y="76"/>
                      <a:pt x="100" y="87"/>
                      <a:pt x="87" y="87"/>
                    </a:cubicBezTo>
                    <a:close/>
                    <a:moveTo>
                      <a:pt x="147" y="103"/>
                    </a:moveTo>
                    <a:cubicBezTo>
                      <a:pt x="139" y="103"/>
                      <a:pt x="132" y="96"/>
                      <a:pt x="132" y="88"/>
                    </a:cubicBezTo>
                    <a:cubicBezTo>
                      <a:pt x="132" y="81"/>
                      <a:pt x="139" y="74"/>
                      <a:pt x="147" y="74"/>
                    </a:cubicBezTo>
                    <a:cubicBezTo>
                      <a:pt x="155" y="74"/>
                      <a:pt x="161" y="81"/>
                      <a:pt x="161" y="88"/>
                    </a:cubicBezTo>
                    <a:cubicBezTo>
                      <a:pt x="161" y="96"/>
                      <a:pt x="155" y="103"/>
                      <a:pt x="147" y="103"/>
                    </a:cubicBezTo>
                    <a:close/>
                  </a:path>
                </a:pathLst>
              </a:custGeom>
              <a:solidFill>
                <a:schemeClr val="bg2"/>
              </a:solidFill>
              <a:ln>
                <a:noFill/>
              </a:ln>
            </p:spPr>
            <p:txBody>
              <a:bodyPr anchor="ctr"/>
              <a:lstStyle/>
              <a:p>
                <a:pPr algn="ctr"/>
              </a:p>
            </p:txBody>
          </p:sp>
        </p:grpSp>
        <p:grpSp>
          <p:nvGrpSpPr>
            <p:cNvPr id="18" name="Group 99"/>
            <p:cNvGrpSpPr/>
            <p:nvPr/>
          </p:nvGrpSpPr>
          <p:grpSpPr>
            <a:xfrm>
              <a:off x="15689" y="5919"/>
              <a:ext cx="1068" cy="1156"/>
              <a:chOff x="7004221" y="4138049"/>
              <a:chExt cx="904182" cy="978913"/>
            </a:xfrm>
          </p:grpSpPr>
          <p:sp>
            <p:nvSpPr>
              <p:cNvPr id="88" name="Freeform: Shape 100"/>
              <p:cNvSpPr/>
              <p:nvPr>
                <p:custDataLst>
                  <p:tags r:id="rId75"/>
                </p:custDataLst>
              </p:nvPr>
            </p:nvSpPr>
            <p:spPr bwMode="auto">
              <a:xfrm>
                <a:off x="7088378" y="4158920"/>
                <a:ext cx="820025" cy="958042"/>
              </a:xfrm>
              <a:custGeom>
                <a:avLst/>
                <a:gdLst>
                  <a:gd name="T0" fmla="*/ 258 w 515"/>
                  <a:gd name="T1" fmla="*/ 0 h 602"/>
                  <a:gd name="T2" fmla="*/ 0 w 515"/>
                  <a:gd name="T3" fmla="*/ 257 h 602"/>
                  <a:gd name="T4" fmla="*/ 131 w 515"/>
                  <a:gd name="T5" fmla="*/ 481 h 602"/>
                  <a:gd name="T6" fmla="*/ 142 w 515"/>
                  <a:gd name="T7" fmla="*/ 602 h 602"/>
                  <a:gd name="T8" fmla="*/ 246 w 515"/>
                  <a:gd name="T9" fmla="*/ 514 h 602"/>
                  <a:gd name="T10" fmla="*/ 258 w 515"/>
                  <a:gd name="T11" fmla="*/ 514 h 602"/>
                  <a:gd name="T12" fmla="*/ 515 w 515"/>
                  <a:gd name="T13" fmla="*/ 257 h 602"/>
                  <a:gd name="T14" fmla="*/ 258 w 515"/>
                  <a:gd name="T15" fmla="*/ 0 h 6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5" h="602">
                    <a:moveTo>
                      <a:pt x="258" y="0"/>
                    </a:moveTo>
                    <a:cubicBezTo>
                      <a:pt x="116" y="0"/>
                      <a:pt x="0" y="115"/>
                      <a:pt x="0" y="257"/>
                    </a:cubicBezTo>
                    <a:cubicBezTo>
                      <a:pt x="0" y="353"/>
                      <a:pt x="53" y="437"/>
                      <a:pt x="131" y="481"/>
                    </a:cubicBezTo>
                    <a:cubicBezTo>
                      <a:pt x="142" y="602"/>
                      <a:pt x="142" y="602"/>
                      <a:pt x="142" y="602"/>
                    </a:cubicBezTo>
                    <a:cubicBezTo>
                      <a:pt x="246" y="514"/>
                      <a:pt x="246" y="514"/>
                      <a:pt x="246" y="514"/>
                    </a:cubicBezTo>
                    <a:cubicBezTo>
                      <a:pt x="250" y="514"/>
                      <a:pt x="254" y="514"/>
                      <a:pt x="258" y="514"/>
                    </a:cubicBezTo>
                    <a:cubicBezTo>
                      <a:pt x="400" y="514"/>
                      <a:pt x="515" y="399"/>
                      <a:pt x="515" y="257"/>
                    </a:cubicBezTo>
                    <a:cubicBezTo>
                      <a:pt x="515" y="115"/>
                      <a:pt x="400" y="0"/>
                      <a:pt x="258"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9" name="Freeform: Shape 101"/>
              <p:cNvSpPr/>
              <p:nvPr>
                <p:custDataLst>
                  <p:tags r:id="rId76"/>
                </p:custDataLst>
              </p:nvPr>
            </p:nvSpPr>
            <p:spPr bwMode="auto">
              <a:xfrm>
                <a:off x="7004221" y="4138049"/>
                <a:ext cx="818678" cy="958042"/>
              </a:xfrm>
              <a:custGeom>
                <a:avLst/>
                <a:gdLst>
                  <a:gd name="T0" fmla="*/ 257 w 514"/>
                  <a:gd name="T1" fmla="*/ 0 h 602"/>
                  <a:gd name="T2" fmla="*/ 0 w 514"/>
                  <a:gd name="T3" fmla="*/ 257 h 602"/>
                  <a:gd name="T4" fmla="*/ 131 w 514"/>
                  <a:gd name="T5" fmla="*/ 481 h 602"/>
                  <a:gd name="T6" fmla="*/ 142 w 514"/>
                  <a:gd name="T7" fmla="*/ 602 h 602"/>
                  <a:gd name="T8" fmla="*/ 246 w 514"/>
                  <a:gd name="T9" fmla="*/ 514 h 602"/>
                  <a:gd name="T10" fmla="*/ 257 w 514"/>
                  <a:gd name="T11" fmla="*/ 514 h 602"/>
                  <a:gd name="T12" fmla="*/ 514 w 514"/>
                  <a:gd name="T13" fmla="*/ 257 h 602"/>
                  <a:gd name="T14" fmla="*/ 257 w 514"/>
                  <a:gd name="T15" fmla="*/ 0 h 60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14" h="602">
                    <a:moveTo>
                      <a:pt x="257" y="0"/>
                    </a:moveTo>
                    <a:cubicBezTo>
                      <a:pt x="115" y="0"/>
                      <a:pt x="0" y="115"/>
                      <a:pt x="0" y="257"/>
                    </a:cubicBezTo>
                    <a:cubicBezTo>
                      <a:pt x="0" y="353"/>
                      <a:pt x="53" y="437"/>
                      <a:pt x="131" y="481"/>
                    </a:cubicBezTo>
                    <a:cubicBezTo>
                      <a:pt x="142" y="602"/>
                      <a:pt x="142" y="602"/>
                      <a:pt x="142" y="602"/>
                    </a:cubicBezTo>
                    <a:cubicBezTo>
                      <a:pt x="246" y="514"/>
                      <a:pt x="246" y="514"/>
                      <a:pt x="246" y="514"/>
                    </a:cubicBezTo>
                    <a:cubicBezTo>
                      <a:pt x="249" y="514"/>
                      <a:pt x="253" y="514"/>
                      <a:pt x="257" y="514"/>
                    </a:cubicBezTo>
                    <a:cubicBezTo>
                      <a:pt x="399" y="514"/>
                      <a:pt x="514" y="399"/>
                      <a:pt x="514" y="257"/>
                    </a:cubicBezTo>
                    <a:cubicBezTo>
                      <a:pt x="514" y="115"/>
                      <a:pt x="399" y="0"/>
                      <a:pt x="257" y="0"/>
                    </a:cubicBezTo>
                    <a:close/>
                  </a:path>
                </a:pathLst>
              </a:custGeom>
              <a:solidFill>
                <a:schemeClr val="tx2"/>
              </a:solidFill>
              <a:ln>
                <a:noFill/>
              </a:ln>
            </p:spPr>
            <p:txBody>
              <a:bodyPr anchor="ctr"/>
              <a:lstStyle/>
              <a:p>
                <a:pPr algn="ctr"/>
              </a:p>
            </p:txBody>
          </p:sp>
          <p:sp>
            <p:nvSpPr>
              <p:cNvPr id="90" name="Freeform: Shape 102"/>
              <p:cNvSpPr/>
              <p:nvPr>
                <p:custDataLst>
                  <p:tags r:id="rId77"/>
                </p:custDataLst>
              </p:nvPr>
            </p:nvSpPr>
            <p:spPr bwMode="auto">
              <a:xfrm>
                <a:off x="7138199" y="4430915"/>
                <a:ext cx="154175" cy="216115"/>
              </a:xfrm>
              <a:custGeom>
                <a:avLst/>
                <a:gdLst>
                  <a:gd name="T0" fmla="*/ 3 w 97"/>
                  <a:gd name="T1" fmla="*/ 54 h 136"/>
                  <a:gd name="T2" fmla="*/ 51 w 97"/>
                  <a:gd name="T3" fmla="*/ 0 h 136"/>
                  <a:gd name="T4" fmla="*/ 97 w 97"/>
                  <a:gd name="T5" fmla="*/ 42 h 136"/>
                  <a:gd name="T6" fmla="*/ 73 w 97"/>
                  <a:gd name="T7" fmla="*/ 82 h 136"/>
                  <a:gd name="T8" fmla="*/ 34 w 97"/>
                  <a:gd name="T9" fmla="*/ 113 h 136"/>
                  <a:gd name="T10" fmla="*/ 97 w 97"/>
                  <a:gd name="T11" fmla="*/ 113 h 136"/>
                  <a:gd name="T12" fmla="*/ 97 w 97"/>
                  <a:gd name="T13" fmla="*/ 136 h 136"/>
                  <a:gd name="T14" fmla="*/ 0 w 97"/>
                  <a:gd name="T15" fmla="*/ 136 h 136"/>
                  <a:gd name="T16" fmla="*/ 42 w 97"/>
                  <a:gd name="T17" fmla="*/ 76 h 136"/>
                  <a:gd name="T18" fmla="*/ 70 w 97"/>
                  <a:gd name="T19" fmla="*/ 43 h 136"/>
                  <a:gd name="T20" fmla="*/ 51 w 97"/>
                  <a:gd name="T21" fmla="*/ 23 h 136"/>
                  <a:gd name="T22" fmla="*/ 28 w 97"/>
                  <a:gd name="T23" fmla="*/ 54 h 136"/>
                  <a:gd name="T24" fmla="*/ 3 w 97"/>
                  <a:gd name="T25" fmla="*/ 5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7" h="136">
                    <a:moveTo>
                      <a:pt x="3" y="54"/>
                    </a:moveTo>
                    <a:cubicBezTo>
                      <a:pt x="2" y="23"/>
                      <a:pt x="19" y="0"/>
                      <a:pt x="51" y="0"/>
                    </a:cubicBezTo>
                    <a:cubicBezTo>
                      <a:pt x="75" y="0"/>
                      <a:pt x="97" y="16"/>
                      <a:pt x="97" y="42"/>
                    </a:cubicBezTo>
                    <a:cubicBezTo>
                      <a:pt x="97" y="62"/>
                      <a:pt x="86" y="73"/>
                      <a:pt x="73" y="82"/>
                    </a:cubicBezTo>
                    <a:cubicBezTo>
                      <a:pt x="60" y="91"/>
                      <a:pt x="44" y="99"/>
                      <a:pt x="34" y="113"/>
                    </a:cubicBezTo>
                    <a:cubicBezTo>
                      <a:pt x="97" y="113"/>
                      <a:pt x="97" y="113"/>
                      <a:pt x="97" y="113"/>
                    </a:cubicBezTo>
                    <a:cubicBezTo>
                      <a:pt x="97" y="136"/>
                      <a:pt x="97" y="136"/>
                      <a:pt x="97" y="136"/>
                    </a:cubicBezTo>
                    <a:cubicBezTo>
                      <a:pt x="0" y="136"/>
                      <a:pt x="0" y="136"/>
                      <a:pt x="0" y="136"/>
                    </a:cubicBezTo>
                    <a:cubicBezTo>
                      <a:pt x="0" y="105"/>
                      <a:pt x="19" y="92"/>
                      <a:pt x="42" y="76"/>
                    </a:cubicBezTo>
                    <a:cubicBezTo>
                      <a:pt x="60" y="64"/>
                      <a:pt x="70" y="57"/>
                      <a:pt x="70" y="43"/>
                    </a:cubicBezTo>
                    <a:cubicBezTo>
                      <a:pt x="70" y="32"/>
                      <a:pt x="61" y="23"/>
                      <a:pt x="51" y="23"/>
                    </a:cubicBezTo>
                    <a:cubicBezTo>
                      <a:pt x="33" y="23"/>
                      <a:pt x="28" y="40"/>
                      <a:pt x="28" y="54"/>
                    </a:cubicBezTo>
                    <a:lnTo>
                      <a:pt x="3" y="54"/>
                    </a:lnTo>
                    <a:close/>
                  </a:path>
                </a:pathLst>
              </a:custGeom>
              <a:solidFill>
                <a:schemeClr val="bg2"/>
              </a:solidFill>
              <a:ln>
                <a:noFill/>
              </a:ln>
            </p:spPr>
            <p:txBody>
              <a:bodyPr anchor="ctr"/>
              <a:lstStyle/>
              <a:p>
                <a:pPr algn="ctr"/>
              </a:p>
            </p:txBody>
          </p:sp>
          <p:sp>
            <p:nvSpPr>
              <p:cNvPr id="91" name="Freeform: Shape 103"/>
              <p:cNvSpPr/>
              <p:nvPr>
                <p:custDataLst>
                  <p:tags r:id="rId78"/>
                </p:custDataLst>
              </p:nvPr>
            </p:nvSpPr>
            <p:spPr bwMode="auto">
              <a:xfrm>
                <a:off x="7335463" y="4476697"/>
                <a:ext cx="159561" cy="157542"/>
              </a:xfrm>
              <a:custGeom>
                <a:avLst/>
                <a:gdLst>
                  <a:gd name="T0" fmla="*/ 0 w 237"/>
                  <a:gd name="T1" fmla="*/ 102 h 234"/>
                  <a:gd name="T2" fmla="*/ 104 w 237"/>
                  <a:gd name="T3" fmla="*/ 102 h 234"/>
                  <a:gd name="T4" fmla="*/ 104 w 237"/>
                  <a:gd name="T5" fmla="*/ 0 h 234"/>
                  <a:gd name="T6" fmla="*/ 132 w 237"/>
                  <a:gd name="T7" fmla="*/ 0 h 234"/>
                  <a:gd name="T8" fmla="*/ 132 w 237"/>
                  <a:gd name="T9" fmla="*/ 102 h 234"/>
                  <a:gd name="T10" fmla="*/ 237 w 237"/>
                  <a:gd name="T11" fmla="*/ 102 h 234"/>
                  <a:gd name="T12" fmla="*/ 237 w 237"/>
                  <a:gd name="T13" fmla="*/ 130 h 234"/>
                  <a:gd name="T14" fmla="*/ 132 w 237"/>
                  <a:gd name="T15" fmla="*/ 130 h 234"/>
                  <a:gd name="T16" fmla="*/ 132 w 237"/>
                  <a:gd name="T17" fmla="*/ 234 h 234"/>
                  <a:gd name="T18" fmla="*/ 104 w 237"/>
                  <a:gd name="T19" fmla="*/ 234 h 234"/>
                  <a:gd name="T20" fmla="*/ 104 w 237"/>
                  <a:gd name="T21" fmla="*/ 130 h 234"/>
                  <a:gd name="T22" fmla="*/ 0 w 237"/>
                  <a:gd name="T23" fmla="*/ 130 h 234"/>
                  <a:gd name="T24" fmla="*/ 0 w 237"/>
                  <a:gd name="T25" fmla="*/ 102 h 2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37" h="234">
                    <a:moveTo>
                      <a:pt x="0" y="102"/>
                    </a:moveTo>
                    <a:lnTo>
                      <a:pt x="104" y="102"/>
                    </a:lnTo>
                    <a:lnTo>
                      <a:pt x="104" y="0"/>
                    </a:lnTo>
                    <a:lnTo>
                      <a:pt x="132" y="0"/>
                    </a:lnTo>
                    <a:lnTo>
                      <a:pt x="132" y="102"/>
                    </a:lnTo>
                    <a:lnTo>
                      <a:pt x="237" y="102"/>
                    </a:lnTo>
                    <a:lnTo>
                      <a:pt x="237" y="130"/>
                    </a:lnTo>
                    <a:lnTo>
                      <a:pt x="132" y="130"/>
                    </a:lnTo>
                    <a:lnTo>
                      <a:pt x="132" y="234"/>
                    </a:lnTo>
                    <a:lnTo>
                      <a:pt x="104" y="234"/>
                    </a:lnTo>
                    <a:lnTo>
                      <a:pt x="104" y="130"/>
                    </a:lnTo>
                    <a:lnTo>
                      <a:pt x="0" y="130"/>
                    </a:lnTo>
                    <a:lnTo>
                      <a:pt x="0" y="102"/>
                    </a:lnTo>
                    <a:close/>
                  </a:path>
                </a:pathLst>
              </a:custGeom>
              <a:solidFill>
                <a:schemeClr val="bg2"/>
              </a:solidFill>
              <a:ln>
                <a:noFill/>
              </a:ln>
            </p:spPr>
            <p:txBody>
              <a:bodyPr anchor="ctr"/>
              <a:lstStyle/>
              <a:p>
                <a:pPr algn="ctr"/>
              </a:p>
            </p:txBody>
          </p:sp>
          <p:sp>
            <p:nvSpPr>
              <p:cNvPr id="92" name="Freeform: Shape 104"/>
              <p:cNvSpPr/>
              <p:nvPr>
                <p:custDataLst>
                  <p:tags r:id="rId79"/>
                </p:custDataLst>
              </p:nvPr>
            </p:nvSpPr>
            <p:spPr bwMode="auto">
              <a:xfrm>
                <a:off x="7528014" y="4430915"/>
                <a:ext cx="156195" cy="216115"/>
              </a:xfrm>
              <a:custGeom>
                <a:avLst/>
                <a:gdLst>
                  <a:gd name="T0" fmla="*/ 3 w 98"/>
                  <a:gd name="T1" fmla="*/ 54 h 136"/>
                  <a:gd name="T2" fmla="*/ 51 w 98"/>
                  <a:gd name="T3" fmla="*/ 0 h 136"/>
                  <a:gd name="T4" fmla="*/ 97 w 98"/>
                  <a:gd name="T5" fmla="*/ 42 h 136"/>
                  <a:gd name="T6" fmla="*/ 73 w 98"/>
                  <a:gd name="T7" fmla="*/ 82 h 136"/>
                  <a:gd name="T8" fmla="*/ 35 w 98"/>
                  <a:gd name="T9" fmla="*/ 113 h 136"/>
                  <a:gd name="T10" fmla="*/ 98 w 98"/>
                  <a:gd name="T11" fmla="*/ 113 h 136"/>
                  <a:gd name="T12" fmla="*/ 98 w 98"/>
                  <a:gd name="T13" fmla="*/ 136 h 136"/>
                  <a:gd name="T14" fmla="*/ 0 w 98"/>
                  <a:gd name="T15" fmla="*/ 136 h 136"/>
                  <a:gd name="T16" fmla="*/ 42 w 98"/>
                  <a:gd name="T17" fmla="*/ 76 h 136"/>
                  <a:gd name="T18" fmla="*/ 70 w 98"/>
                  <a:gd name="T19" fmla="*/ 43 h 136"/>
                  <a:gd name="T20" fmla="*/ 51 w 98"/>
                  <a:gd name="T21" fmla="*/ 23 h 136"/>
                  <a:gd name="T22" fmla="*/ 29 w 98"/>
                  <a:gd name="T23" fmla="*/ 54 h 136"/>
                  <a:gd name="T24" fmla="*/ 3 w 98"/>
                  <a:gd name="T25" fmla="*/ 54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 h="136">
                    <a:moveTo>
                      <a:pt x="3" y="54"/>
                    </a:moveTo>
                    <a:cubicBezTo>
                      <a:pt x="2" y="23"/>
                      <a:pt x="19" y="0"/>
                      <a:pt x="51" y="0"/>
                    </a:cubicBezTo>
                    <a:cubicBezTo>
                      <a:pt x="75" y="0"/>
                      <a:pt x="97" y="16"/>
                      <a:pt x="97" y="42"/>
                    </a:cubicBezTo>
                    <a:cubicBezTo>
                      <a:pt x="97" y="62"/>
                      <a:pt x="86" y="73"/>
                      <a:pt x="73" y="82"/>
                    </a:cubicBezTo>
                    <a:cubicBezTo>
                      <a:pt x="60" y="91"/>
                      <a:pt x="44" y="99"/>
                      <a:pt x="35" y="113"/>
                    </a:cubicBezTo>
                    <a:cubicBezTo>
                      <a:pt x="98" y="113"/>
                      <a:pt x="98" y="113"/>
                      <a:pt x="98" y="113"/>
                    </a:cubicBezTo>
                    <a:cubicBezTo>
                      <a:pt x="98" y="136"/>
                      <a:pt x="98" y="136"/>
                      <a:pt x="98" y="136"/>
                    </a:cubicBezTo>
                    <a:cubicBezTo>
                      <a:pt x="0" y="136"/>
                      <a:pt x="0" y="136"/>
                      <a:pt x="0" y="136"/>
                    </a:cubicBezTo>
                    <a:cubicBezTo>
                      <a:pt x="0" y="105"/>
                      <a:pt x="19" y="92"/>
                      <a:pt x="42" y="76"/>
                    </a:cubicBezTo>
                    <a:cubicBezTo>
                      <a:pt x="60" y="64"/>
                      <a:pt x="70" y="57"/>
                      <a:pt x="70" y="43"/>
                    </a:cubicBezTo>
                    <a:cubicBezTo>
                      <a:pt x="70" y="32"/>
                      <a:pt x="62" y="23"/>
                      <a:pt x="51" y="23"/>
                    </a:cubicBezTo>
                    <a:cubicBezTo>
                      <a:pt x="33" y="23"/>
                      <a:pt x="29" y="40"/>
                      <a:pt x="29" y="54"/>
                    </a:cubicBezTo>
                    <a:lnTo>
                      <a:pt x="3" y="54"/>
                    </a:lnTo>
                    <a:close/>
                  </a:path>
                </a:pathLst>
              </a:custGeom>
              <a:solidFill>
                <a:schemeClr val="bg2"/>
              </a:solidFill>
              <a:ln>
                <a:noFill/>
              </a:ln>
            </p:spPr>
            <p:txBody>
              <a:bodyPr anchor="ctr"/>
              <a:lstStyle/>
              <a:p>
                <a:pPr algn="ctr"/>
              </a:p>
            </p:txBody>
          </p:sp>
        </p:grpSp>
        <p:grpSp>
          <p:nvGrpSpPr>
            <p:cNvPr id="24" name="Group 105"/>
            <p:cNvGrpSpPr/>
            <p:nvPr/>
          </p:nvGrpSpPr>
          <p:grpSpPr>
            <a:xfrm>
              <a:off x="14341" y="3475"/>
              <a:ext cx="1276" cy="1382"/>
              <a:chOff x="5863054" y="2068463"/>
              <a:chExt cx="1080574" cy="1170118"/>
            </a:xfrm>
          </p:grpSpPr>
          <p:sp>
            <p:nvSpPr>
              <p:cNvPr id="81" name="Freeform: Shape 106"/>
              <p:cNvSpPr/>
              <p:nvPr>
                <p:custDataLst>
                  <p:tags r:id="rId80"/>
                </p:custDataLst>
              </p:nvPr>
            </p:nvSpPr>
            <p:spPr bwMode="auto">
              <a:xfrm>
                <a:off x="5966062" y="2094047"/>
                <a:ext cx="977566" cy="1144534"/>
              </a:xfrm>
              <a:custGeom>
                <a:avLst/>
                <a:gdLst>
                  <a:gd name="T0" fmla="*/ 307 w 614"/>
                  <a:gd name="T1" fmla="*/ 0 h 719"/>
                  <a:gd name="T2" fmla="*/ 0 w 614"/>
                  <a:gd name="T3" fmla="*/ 307 h 719"/>
                  <a:gd name="T4" fmla="*/ 307 w 614"/>
                  <a:gd name="T5" fmla="*/ 615 h 719"/>
                  <a:gd name="T6" fmla="*/ 321 w 614"/>
                  <a:gd name="T7" fmla="*/ 614 h 719"/>
                  <a:gd name="T8" fmla="*/ 445 w 614"/>
                  <a:gd name="T9" fmla="*/ 719 h 719"/>
                  <a:gd name="T10" fmla="*/ 458 w 614"/>
                  <a:gd name="T11" fmla="*/ 575 h 719"/>
                  <a:gd name="T12" fmla="*/ 614 w 614"/>
                  <a:gd name="T13" fmla="*/ 307 h 719"/>
                  <a:gd name="T14" fmla="*/ 307 w 614"/>
                  <a:gd name="T15" fmla="*/ 0 h 7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4" h="719">
                    <a:moveTo>
                      <a:pt x="307" y="0"/>
                    </a:moveTo>
                    <a:cubicBezTo>
                      <a:pt x="137" y="0"/>
                      <a:pt x="0" y="138"/>
                      <a:pt x="0" y="307"/>
                    </a:cubicBezTo>
                    <a:cubicBezTo>
                      <a:pt x="0" y="477"/>
                      <a:pt x="137" y="615"/>
                      <a:pt x="307" y="615"/>
                    </a:cubicBezTo>
                    <a:cubicBezTo>
                      <a:pt x="312" y="615"/>
                      <a:pt x="316" y="615"/>
                      <a:pt x="321" y="614"/>
                    </a:cubicBezTo>
                    <a:cubicBezTo>
                      <a:pt x="445" y="719"/>
                      <a:pt x="445" y="719"/>
                      <a:pt x="445" y="719"/>
                    </a:cubicBezTo>
                    <a:cubicBezTo>
                      <a:pt x="458" y="575"/>
                      <a:pt x="458" y="575"/>
                      <a:pt x="458" y="575"/>
                    </a:cubicBezTo>
                    <a:cubicBezTo>
                      <a:pt x="551" y="522"/>
                      <a:pt x="614" y="422"/>
                      <a:pt x="614" y="307"/>
                    </a:cubicBezTo>
                    <a:cubicBezTo>
                      <a:pt x="614" y="138"/>
                      <a:pt x="477" y="0"/>
                      <a:pt x="30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82" name="Freeform: Shape 107"/>
              <p:cNvSpPr/>
              <p:nvPr>
                <p:custDataLst>
                  <p:tags r:id="rId81"/>
                </p:custDataLst>
              </p:nvPr>
            </p:nvSpPr>
            <p:spPr bwMode="auto">
              <a:xfrm>
                <a:off x="5863054" y="2068463"/>
                <a:ext cx="977566" cy="1144534"/>
              </a:xfrm>
              <a:custGeom>
                <a:avLst/>
                <a:gdLst>
                  <a:gd name="T0" fmla="*/ 614 w 614"/>
                  <a:gd name="T1" fmla="*/ 307 h 719"/>
                  <a:gd name="T2" fmla="*/ 307 w 614"/>
                  <a:gd name="T3" fmla="*/ 0 h 719"/>
                  <a:gd name="T4" fmla="*/ 0 w 614"/>
                  <a:gd name="T5" fmla="*/ 307 h 719"/>
                  <a:gd name="T6" fmla="*/ 307 w 614"/>
                  <a:gd name="T7" fmla="*/ 614 h 719"/>
                  <a:gd name="T8" fmla="*/ 321 w 614"/>
                  <a:gd name="T9" fmla="*/ 614 h 719"/>
                  <a:gd name="T10" fmla="*/ 445 w 614"/>
                  <a:gd name="T11" fmla="*/ 719 h 719"/>
                  <a:gd name="T12" fmla="*/ 458 w 614"/>
                  <a:gd name="T13" fmla="*/ 575 h 719"/>
                  <a:gd name="T14" fmla="*/ 614 w 614"/>
                  <a:gd name="T15" fmla="*/ 307 h 7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14" h="719">
                    <a:moveTo>
                      <a:pt x="614" y="307"/>
                    </a:moveTo>
                    <a:cubicBezTo>
                      <a:pt x="614" y="138"/>
                      <a:pt x="477" y="0"/>
                      <a:pt x="307" y="0"/>
                    </a:cubicBezTo>
                    <a:cubicBezTo>
                      <a:pt x="137" y="0"/>
                      <a:pt x="0" y="138"/>
                      <a:pt x="0" y="307"/>
                    </a:cubicBezTo>
                    <a:cubicBezTo>
                      <a:pt x="0" y="477"/>
                      <a:pt x="137" y="614"/>
                      <a:pt x="307" y="614"/>
                    </a:cubicBezTo>
                    <a:cubicBezTo>
                      <a:pt x="312" y="614"/>
                      <a:pt x="316" y="614"/>
                      <a:pt x="321" y="614"/>
                    </a:cubicBezTo>
                    <a:cubicBezTo>
                      <a:pt x="445" y="719"/>
                      <a:pt x="445" y="719"/>
                      <a:pt x="445" y="719"/>
                    </a:cubicBezTo>
                    <a:cubicBezTo>
                      <a:pt x="458" y="575"/>
                      <a:pt x="458" y="575"/>
                      <a:pt x="458" y="575"/>
                    </a:cubicBezTo>
                    <a:cubicBezTo>
                      <a:pt x="551" y="522"/>
                      <a:pt x="614" y="422"/>
                      <a:pt x="614" y="307"/>
                    </a:cubicBezTo>
                    <a:close/>
                  </a:path>
                </a:pathLst>
              </a:custGeom>
              <a:solidFill>
                <a:schemeClr val="accent4"/>
              </a:solidFill>
              <a:ln>
                <a:noFill/>
              </a:ln>
            </p:spPr>
            <p:txBody>
              <a:bodyPr anchor="ctr"/>
              <a:lstStyle/>
              <a:p>
                <a:pPr algn="ctr"/>
              </a:p>
            </p:txBody>
          </p:sp>
          <p:sp>
            <p:nvSpPr>
              <p:cNvPr id="83" name="Freeform: Shape 108"/>
              <p:cNvSpPr/>
              <p:nvPr>
                <p:custDataLst>
                  <p:tags r:id="rId82"/>
                </p:custDataLst>
              </p:nvPr>
            </p:nvSpPr>
            <p:spPr bwMode="auto">
              <a:xfrm>
                <a:off x="6063684" y="2215232"/>
                <a:ext cx="486763" cy="555436"/>
              </a:xfrm>
              <a:custGeom>
                <a:avLst/>
                <a:gdLst>
                  <a:gd name="T0" fmla="*/ 0 w 723"/>
                  <a:gd name="T1" fmla="*/ 338 h 825"/>
                  <a:gd name="T2" fmla="*/ 305 w 723"/>
                  <a:gd name="T3" fmla="*/ 825 h 825"/>
                  <a:gd name="T4" fmla="*/ 723 w 723"/>
                  <a:gd name="T5" fmla="*/ 0 h 825"/>
                  <a:gd name="T6" fmla="*/ 0 w 723"/>
                  <a:gd name="T7" fmla="*/ 338 h 825"/>
                  <a:gd name="T8" fmla="*/ 198 w 723"/>
                  <a:gd name="T9" fmla="*/ 383 h 825"/>
                  <a:gd name="T10" fmla="*/ 482 w 723"/>
                  <a:gd name="T11" fmla="*/ 250 h 825"/>
                  <a:gd name="T12" fmla="*/ 319 w 723"/>
                  <a:gd name="T13" fmla="*/ 574 h 825"/>
                  <a:gd name="T14" fmla="*/ 198 w 723"/>
                  <a:gd name="T15" fmla="*/ 383 h 8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3" h="825">
                    <a:moveTo>
                      <a:pt x="0" y="338"/>
                    </a:moveTo>
                    <a:lnTo>
                      <a:pt x="305" y="825"/>
                    </a:lnTo>
                    <a:lnTo>
                      <a:pt x="723" y="0"/>
                    </a:lnTo>
                    <a:lnTo>
                      <a:pt x="0" y="338"/>
                    </a:lnTo>
                    <a:close/>
                    <a:moveTo>
                      <a:pt x="198" y="383"/>
                    </a:moveTo>
                    <a:lnTo>
                      <a:pt x="482" y="250"/>
                    </a:lnTo>
                    <a:lnTo>
                      <a:pt x="319" y="574"/>
                    </a:lnTo>
                    <a:lnTo>
                      <a:pt x="198" y="383"/>
                    </a:lnTo>
                    <a:close/>
                  </a:path>
                </a:pathLst>
              </a:custGeom>
              <a:solidFill>
                <a:schemeClr val="bg2"/>
              </a:solidFill>
              <a:ln>
                <a:noFill/>
              </a:ln>
            </p:spPr>
            <p:txBody>
              <a:bodyPr anchor="ctr"/>
              <a:lstStyle/>
              <a:p>
                <a:pPr algn="ctr"/>
              </a:p>
            </p:txBody>
          </p:sp>
          <p:sp>
            <p:nvSpPr>
              <p:cNvPr id="84" name="Freeform: Shape 109"/>
              <p:cNvSpPr/>
              <p:nvPr>
                <p:custDataLst>
                  <p:tags r:id="rId83"/>
                </p:custDataLst>
              </p:nvPr>
            </p:nvSpPr>
            <p:spPr bwMode="auto">
              <a:xfrm>
                <a:off x="6383480" y="2531662"/>
                <a:ext cx="200630" cy="207363"/>
              </a:xfrm>
              <a:custGeom>
                <a:avLst/>
                <a:gdLst>
                  <a:gd name="T0" fmla="*/ 0 w 298"/>
                  <a:gd name="T1" fmla="*/ 194 h 308"/>
                  <a:gd name="T2" fmla="*/ 184 w 298"/>
                  <a:gd name="T3" fmla="*/ 0 h 308"/>
                  <a:gd name="T4" fmla="*/ 298 w 298"/>
                  <a:gd name="T5" fmla="*/ 116 h 308"/>
                  <a:gd name="T6" fmla="*/ 113 w 298"/>
                  <a:gd name="T7" fmla="*/ 308 h 308"/>
                  <a:gd name="T8" fmla="*/ 0 w 298"/>
                  <a:gd name="T9" fmla="*/ 194 h 308"/>
                </a:gdLst>
                <a:ahLst/>
                <a:cxnLst>
                  <a:cxn ang="0">
                    <a:pos x="T0" y="T1"/>
                  </a:cxn>
                  <a:cxn ang="0">
                    <a:pos x="T2" y="T3"/>
                  </a:cxn>
                  <a:cxn ang="0">
                    <a:pos x="T4" y="T5"/>
                  </a:cxn>
                  <a:cxn ang="0">
                    <a:pos x="T6" y="T7"/>
                  </a:cxn>
                  <a:cxn ang="0">
                    <a:pos x="T8" y="T9"/>
                  </a:cxn>
                </a:cxnLst>
                <a:rect l="0" t="0" r="r" b="b"/>
                <a:pathLst>
                  <a:path w="298" h="308">
                    <a:moveTo>
                      <a:pt x="0" y="194"/>
                    </a:moveTo>
                    <a:lnTo>
                      <a:pt x="184" y="0"/>
                    </a:lnTo>
                    <a:lnTo>
                      <a:pt x="298" y="116"/>
                    </a:lnTo>
                    <a:lnTo>
                      <a:pt x="113" y="308"/>
                    </a:lnTo>
                    <a:lnTo>
                      <a:pt x="0" y="194"/>
                    </a:lnTo>
                    <a:close/>
                  </a:path>
                </a:pathLst>
              </a:custGeom>
              <a:solidFill>
                <a:schemeClr val="bg2"/>
              </a:solidFill>
              <a:ln>
                <a:noFill/>
              </a:ln>
            </p:spPr>
            <p:txBody>
              <a:bodyPr anchor="ctr"/>
              <a:lstStyle/>
              <a:p>
                <a:pPr algn="ctr"/>
              </a:p>
            </p:txBody>
          </p:sp>
          <p:sp>
            <p:nvSpPr>
              <p:cNvPr id="85" name="Freeform: Shape 110"/>
              <p:cNvSpPr/>
              <p:nvPr>
                <p:custDataLst>
                  <p:tags r:id="rId84"/>
                </p:custDataLst>
              </p:nvPr>
            </p:nvSpPr>
            <p:spPr bwMode="auto">
              <a:xfrm>
                <a:off x="6351837" y="2675066"/>
                <a:ext cx="94929" cy="87523"/>
              </a:xfrm>
              <a:custGeom>
                <a:avLst/>
                <a:gdLst>
                  <a:gd name="T0" fmla="*/ 16 w 60"/>
                  <a:gd name="T1" fmla="*/ 0 h 55"/>
                  <a:gd name="T2" fmla="*/ 60 w 60"/>
                  <a:gd name="T3" fmla="*/ 45 h 55"/>
                  <a:gd name="T4" fmla="*/ 0 w 60"/>
                  <a:gd name="T5" fmla="*/ 55 h 55"/>
                  <a:gd name="T6" fmla="*/ 16 w 60"/>
                  <a:gd name="T7" fmla="*/ 0 h 55"/>
                </a:gdLst>
                <a:ahLst/>
                <a:cxnLst>
                  <a:cxn ang="0">
                    <a:pos x="T0" y="T1"/>
                  </a:cxn>
                  <a:cxn ang="0">
                    <a:pos x="T2" y="T3"/>
                  </a:cxn>
                  <a:cxn ang="0">
                    <a:pos x="T4" y="T5"/>
                  </a:cxn>
                  <a:cxn ang="0">
                    <a:pos x="T6" y="T7"/>
                  </a:cxn>
                </a:cxnLst>
                <a:rect l="0" t="0" r="r" b="b"/>
                <a:pathLst>
                  <a:path w="60" h="55">
                    <a:moveTo>
                      <a:pt x="16" y="0"/>
                    </a:moveTo>
                    <a:cubicBezTo>
                      <a:pt x="17" y="1"/>
                      <a:pt x="60" y="45"/>
                      <a:pt x="60" y="45"/>
                    </a:cubicBezTo>
                    <a:cubicBezTo>
                      <a:pt x="0" y="55"/>
                      <a:pt x="0" y="55"/>
                      <a:pt x="0" y="55"/>
                    </a:cubicBezTo>
                    <a:lnTo>
                      <a:pt x="16" y="0"/>
                    </a:lnTo>
                    <a:close/>
                  </a:path>
                </a:pathLst>
              </a:custGeom>
              <a:solidFill>
                <a:schemeClr val="bg2"/>
              </a:solidFill>
              <a:ln>
                <a:noFill/>
              </a:ln>
            </p:spPr>
            <p:txBody>
              <a:bodyPr anchor="ctr"/>
              <a:lstStyle/>
              <a:p>
                <a:pPr algn="ctr"/>
              </a:p>
            </p:txBody>
          </p:sp>
          <p:sp>
            <p:nvSpPr>
              <p:cNvPr id="86" name="Freeform: Shape 111"/>
              <p:cNvSpPr/>
              <p:nvPr>
                <p:custDataLst>
                  <p:tags r:id="rId85"/>
                </p:custDataLst>
              </p:nvPr>
            </p:nvSpPr>
            <p:spPr bwMode="auto">
              <a:xfrm>
                <a:off x="6502646" y="2476455"/>
                <a:ext cx="135324" cy="133305"/>
              </a:xfrm>
              <a:custGeom>
                <a:avLst/>
                <a:gdLst>
                  <a:gd name="T0" fmla="*/ 156 w 201"/>
                  <a:gd name="T1" fmla="*/ 198 h 198"/>
                  <a:gd name="T2" fmla="*/ 0 w 201"/>
                  <a:gd name="T3" fmla="*/ 44 h 198"/>
                  <a:gd name="T4" fmla="*/ 45 w 201"/>
                  <a:gd name="T5" fmla="*/ 0 h 198"/>
                  <a:gd name="T6" fmla="*/ 201 w 201"/>
                  <a:gd name="T7" fmla="*/ 153 h 198"/>
                  <a:gd name="T8" fmla="*/ 156 w 201"/>
                  <a:gd name="T9" fmla="*/ 198 h 198"/>
                </a:gdLst>
                <a:ahLst/>
                <a:cxnLst>
                  <a:cxn ang="0">
                    <a:pos x="T0" y="T1"/>
                  </a:cxn>
                  <a:cxn ang="0">
                    <a:pos x="T2" y="T3"/>
                  </a:cxn>
                  <a:cxn ang="0">
                    <a:pos x="T4" y="T5"/>
                  </a:cxn>
                  <a:cxn ang="0">
                    <a:pos x="T6" y="T7"/>
                  </a:cxn>
                  <a:cxn ang="0">
                    <a:pos x="T8" y="T9"/>
                  </a:cxn>
                </a:cxnLst>
                <a:rect l="0" t="0" r="r" b="b"/>
                <a:pathLst>
                  <a:path w="201" h="198">
                    <a:moveTo>
                      <a:pt x="156" y="198"/>
                    </a:moveTo>
                    <a:lnTo>
                      <a:pt x="0" y="44"/>
                    </a:lnTo>
                    <a:lnTo>
                      <a:pt x="45" y="0"/>
                    </a:lnTo>
                    <a:lnTo>
                      <a:pt x="201" y="153"/>
                    </a:lnTo>
                    <a:lnTo>
                      <a:pt x="156" y="198"/>
                    </a:lnTo>
                    <a:close/>
                  </a:path>
                </a:pathLst>
              </a:custGeom>
              <a:solidFill>
                <a:schemeClr val="bg2"/>
              </a:solidFill>
              <a:ln>
                <a:noFill/>
              </a:ln>
            </p:spPr>
            <p:txBody>
              <a:bodyPr anchor="ctr"/>
              <a:lstStyle/>
              <a:p>
                <a:pPr algn="ctr"/>
              </a:p>
            </p:txBody>
          </p:sp>
          <p:sp>
            <p:nvSpPr>
              <p:cNvPr id="87" name="Rectangle 112"/>
              <p:cNvSpPr/>
              <p:nvPr>
                <p:custDataLst>
                  <p:tags r:id="rId86"/>
                </p:custDataLst>
              </p:nvPr>
            </p:nvSpPr>
            <p:spPr bwMode="auto">
              <a:xfrm>
                <a:off x="6200355" y="2799618"/>
                <a:ext cx="311717" cy="31643"/>
              </a:xfrm>
              <a:prstGeom prst="rect">
                <a:avLst/>
              </a:prstGeom>
              <a:solidFill>
                <a:schemeClr val="bg2"/>
              </a:solidFill>
              <a:ln>
                <a:noFill/>
              </a:ln>
            </p:spPr>
            <p:txBody>
              <a:bodyPr anchor="ctr"/>
              <a:lstStyle/>
              <a:p>
                <a:pPr algn="ctr"/>
              </a:p>
            </p:txBody>
          </p:sp>
        </p:grpSp>
        <p:grpSp>
          <p:nvGrpSpPr>
            <p:cNvPr id="33" name="Group 113"/>
            <p:cNvGrpSpPr/>
            <p:nvPr/>
          </p:nvGrpSpPr>
          <p:grpSpPr>
            <a:xfrm>
              <a:off x="12257" y="6074"/>
              <a:ext cx="1149" cy="1252"/>
              <a:chOff x="4098452" y="4268661"/>
              <a:chExt cx="972853" cy="1059703"/>
            </a:xfrm>
          </p:grpSpPr>
          <p:sp>
            <p:nvSpPr>
              <p:cNvPr id="74" name="Freeform: Shape 114"/>
              <p:cNvSpPr/>
              <p:nvPr>
                <p:custDataLst>
                  <p:tags r:id="rId87"/>
                </p:custDataLst>
              </p:nvPr>
            </p:nvSpPr>
            <p:spPr bwMode="auto">
              <a:xfrm>
                <a:off x="4354962" y="4408698"/>
                <a:ext cx="334608" cy="624108"/>
              </a:xfrm>
              <a:custGeom>
                <a:avLst/>
                <a:gdLst>
                  <a:gd name="T0" fmla="*/ 210 w 210"/>
                  <a:gd name="T1" fmla="*/ 261 h 392"/>
                  <a:gd name="T2" fmla="*/ 204 w 210"/>
                  <a:gd name="T3" fmla="*/ 290 h 392"/>
                  <a:gd name="T4" fmla="*/ 187 w 210"/>
                  <a:gd name="T5" fmla="*/ 318 h 392"/>
                  <a:gd name="T6" fmla="*/ 159 w 210"/>
                  <a:gd name="T7" fmla="*/ 341 h 392"/>
                  <a:gd name="T8" fmla="*/ 123 w 210"/>
                  <a:gd name="T9" fmla="*/ 355 h 392"/>
                  <a:gd name="T10" fmla="*/ 123 w 210"/>
                  <a:gd name="T11" fmla="*/ 392 h 392"/>
                  <a:gd name="T12" fmla="*/ 96 w 210"/>
                  <a:gd name="T13" fmla="*/ 392 h 392"/>
                  <a:gd name="T14" fmla="*/ 96 w 210"/>
                  <a:gd name="T15" fmla="*/ 358 h 392"/>
                  <a:gd name="T16" fmla="*/ 94 w 210"/>
                  <a:gd name="T17" fmla="*/ 358 h 392"/>
                  <a:gd name="T18" fmla="*/ 91 w 210"/>
                  <a:gd name="T19" fmla="*/ 358 h 392"/>
                  <a:gd name="T20" fmla="*/ 64 w 210"/>
                  <a:gd name="T21" fmla="*/ 357 h 392"/>
                  <a:gd name="T22" fmla="*/ 41 w 210"/>
                  <a:gd name="T23" fmla="*/ 352 h 392"/>
                  <a:gd name="T24" fmla="*/ 20 w 210"/>
                  <a:gd name="T25" fmla="*/ 345 h 392"/>
                  <a:gd name="T26" fmla="*/ 0 w 210"/>
                  <a:gd name="T27" fmla="*/ 335 h 392"/>
                  <a:gd name="T28" fmla="*/ 15 w 210"/>
                  <a:gd name="T29" fmla="*/ 288 h 392"/>
                  <a:gd name="T30" fmla="*/ 31 w 210"/>
                  <a:gd name="T31" fmla="*/ 297 h 392"/>
                  <a:gd name="T32" fmla="*/ 51 w 210"/>
                  <a:gd name="T33" fmla="*/ 306 h 392"/>
                  <a:gd name="T34" fmla="*/ 74 w 210"/>
                  <a:gd name="T35" fmla="*/ 314 h 392"/>
                  <a:gd name="T36" fmla="*/ 96 w 210"/>
                  <a:gd name="T37" fmla="*/ 318 h 392"/>
                  <a:gd name="T38" fmla="*/ 96 w 210"/>
                  <a:gd name="T39" fmla="*/ 219 h 392"/>
                  <a:gd name="T40" fmla="*/ 66 w 210"/>
                  <a:gd name="T41" fmla="*/ 206 h 392"/>
                  <a:gd name="T42" fmla="*/ 39 w 210"/>
                  <a:gd name="T43" fmla="*/ 188 h 392"/>
                  <a:gd name="T44" fmla="*/ 19 w 210"/>
                  <a:gd name="T45" fmla="*/ 160 h 392"/>
                  <a:gd name="T46" fmla="*/ 11 w 210"/>
                  <a:gd name="T47" fmla="*/ 119 h 392"/>
                  <a:gd name="T48" fmla="*/ 17 w 210"/>
                  <a:gd name="T49" fmla="*/ 94 h 392"/>
                  <a:gd name="T50" fmla="*/ 33 w 210"/>
                  <a:gd name="T51" fmla="*/ 69 h 392"/>
                  <a:gd name="T52" fmla="*/ 60 w 210"/>
                  <a:gd name="T53" fmla="*/ 48 h 392"/>
                  <a:gd name="T54" fmla="*/ 96 w 210"/>
                  <a:gd name="T55" fmla="*/ 35 h 392"/>
                  <a:gd name="T56" fmla="*/ 96 w 210"/>
                  <a:gd name="T57" fmla="*/ 0 h 392"/>
                  <a:gd name="T58" fmla="*/ 123 w 210"/>
                  <a:gd name="T59" fmla="*/ 0 h 392"/>
                  <a:gd name="T60" fmla="*/ 123 w 210"/>
                  <a:gd name="T61" fmla="*/ 32 h 392"/>
                  <a:gd name="T62" fmla="*/ 123 w 210"/>
                  <a:gd name="T63" fmla="*/ 32 h 392"/>
                  <a:gd name="T64" fmla="*/ 161 w 210"/>
                  <a:gd name="T65" fmla="*/ 34 h 392"/>
                  <a:gd name="T66" fmla="*/ 196 w 210"/>
                  <a:gd name="T67" fmla="*/ 40 h 392"/>
                  <a:gd name="T68" fmla="*/ 187 w 210"/>
                  <a:gd name="T69" fmla="*/ 87 h 392"/>
                  <a:gd name="T70" fmla="*/ 155 w 210"/>
                  <a:gd name="T71" fmla="*/ 77 h 392"/>
                  <a:gd name="T72" fmla="*/ 123 w 210"/>
                  <a:gd name="T73" fmla="*/ 72 h 392"/>
                  <a:gd name="T74" fmla="*/ 123 w 210"/>
                  <a:gd name="T75" fmla="*/ 159 h 392"/>
                  <a:gd name="T76" fmla="*/ 153 w 210"/>
                  <a:gd name="T77" fmla="*/ 172 h 392"/>
                  <a:gd name="T78" fmla="*/ 181 w 210"/>
                  <a:gd name="T79" fmla="*/ 191 h 392"/>
                  <a:gd name="T80" fmla="*/ 202 w 210"/>
                  <a:gd name="T81" fmla="*/ 219 h 392"/>
                  <a:gd name="T82" fmla="*/ 210 w 210"/>
                  <a:gd name="T83" fmla="*/ 261 h 392"/>
                  <a:gd name="T84" fmla="*/ 65 w 210"/>
                  <a:gd name="T85" fmla="*/ 110 h 392"/>
                  <a:gd name="T86" fmla="*/ 74 w 210"/>
                  <a:gd name="T87" fmla="*/ 133 h 392"/>
                  <a:gd name="T88" fmla="*/ 96 w 210"/>
                  <a:gd name="T89" fmla="*/ 148 h 392"/>
                  <a:gd name="T90" fmla="*/ 96 w 210"/>
                  <a:gd name="T91" fmla="*/ 73 h 392"/>
                  <a:gd name="T92" fmla="*/ 77 w 210"/>
                  <a:gd name="T93" fmla="*/ 79 h 392"/>
                  <a:gd name="T94" fmla="*/ 68 w 210"/>
                  <a:gd name="T95" fmla="*/ 90 h 392"/>
                  <a:gd name="T96" fmla="*/ 65 w 210"/>
                  <a:gd name="T97" fmla="*/ 110 h 392"/>
                  <a:gd name="T98" fmla="*/ 155 w 210"/>
                  <a:gd name="T99" fmla="*/ 269 h 392"/>
                  <a:gd name="T100" fmla="*/ 146 w 210"/>
                  <a:gd name="T101" fmla="*/ 246 h 392"/>
                  <a:gd name="T102" fmla="*/ 123 w 210"/>
                  <a:gd name="T103" fmla="*/ 230 h 392"/>
                  <a:gd name="T104" fmla="*/ 123 w 210"/>
                  <a:gd name="T105" fmla="*/ 316 h 392"/>
                  <a:gd name="T106" fmla="*/ 132 w 210"/>
                  <a:gd name="T107" fmla="*/ 314 h 392"/>
                  <a:gd name="T108" fmla="*/ 140 w 210"/>
                  <a:gd name="T109" fmla="*/ 311 h 392"/>
                  <a:gd name="T110" fmla="*/ 151 w 210"/>
                  <a:gd name="T111" fmla="*/ 298 h 392"/>
                  <a:gd name="T112" fmla="*/ 155 w 210"/>
                  <a:gd name="T113" fmla="*/ 269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392">
                    <a:moveTo>
                      <a:pt x="210" y="261"/>
                    </a:moveTo>
                    <a:cubicBezTo>
                      <a:pt x="210" y="271"/>
                      <a:pt x="208" y="281"/>
                      <a:pt x="204" y="290"/>
                    </a:cubicBezTo>
                    <a:cubicBezTo>
                      <a:pt x="200" y="300"/>
                      <a:pt x="194" y="310"/>
                      <a:pt x="187" y="318"/>
                    </a:cubicBezTo>
                    <a:cubicBezTo>
                      <a:pt x="179" y="327"/>
                      <a:pt x="170" y="334"/>
                      <a:pt x="159" y="341"/>
                    </a:cubicBezTo>
                    <a:cubicBezTo>
                      <a:pt x="148" y="347"/>
                      <a:pt x="136" y="352"/>
                      <a:pt x="123" y="355"/>
                    </a:cubicBezTo>
                    <a:cubicBezTo>
                      <a:pt x="123" y="392"/>
                      <a:pt x="123" y="392"/>
                      <a:pt x="123" y="392"/>
                    </a:cubicBezTo>
                    <a:cubicBezTo>
                      <a:pt x="96" y="392"/>
                      <a:pt x="96" y="392"/>
                      <a:pt x="96" y="392"/>
                    </a:cubicBezTo>
                    <a:cubicBezTo>
                      <a:pt x="96" y="358"/>
                      <a:pt x="96" y="358"/>
                      <a:pt x="96" y="358"/>
                    </a:cubicBezTo>
                    <a:cubicBezTo>
                      <a:pt x="95" y="358"/>
                      <a:pt x="94" y="358"/>
                      <a:pt x="94" y="358"/>
                    </a:cubicBezTo>
                    <a:cubicBezTo>
                      <a:pt x="93" y="358"/>
                      <a:pt x="92" y="358"/>
                      <a:pt x="91" y="358"/>
                    </a:cubicBezTo>
                    <a:cubicBezTo>
                      <a:pt x="82" y="358"/>
                      <a:pt x="73" y="358"/>
                      <a:pt x="64" y="357"/>
                    </a:cubicBezTo>
                    <a:cubicBezTo>
                      <a:pt x="56" y="356"/>
                      <a:pt x="48" y="354"/>
                      <a:pt x="41" y="352"/>
                    </a:cubicBezTo>
                    <a:cubicBezTo>
                      <a:pt x="34" y="350"/>
                      <a:pt x="27" y="348"/>
                      <a:pt x="20" y="345"/>
                    </a:cubicBezTo>
                    <a:cubicBezTo>
                      <a:pt x="13" y="342"/>
                      <a:pt x="7" y="339"/>
                      <a:pt x="0" y="335"/>
                    </a:cubicBezTo>
                    <a:cubicBezTo>
                      <a:pt x="15" y="288"/>
                      <a:pt x="15" y="288"/>
                      <a:pt x="15" y="288"/>
                    </a:cubicBezTo>
                    <a:cubicBezTo>
                      <a:pt x="19" y="291"/>
                      <a:pt x="25" y="294"/>
                      <a:pt x="31" y="297"/>
                    </a:cubicBezTo>
                    <a:cubicBezTo>
                      <a:pt x="37" y="301"/>
                      <a:pt x="44" y="304"/>
                      <a:pt x="51" y="306"/>
                    </a:cubicBezTo>
                    <a:cubicBezTo>
                      <a:pt x="59" y="309"/>
                      <a:pt x="66" y="312"/>
                      <a:pt x="74" y="314"/>
                    </a:cubicBezTo>
                    <a:cubicBezTo>
                      <a:pt x="82" y="316"/>
                      <a:pt x="89" y="317"/>
                      <a:pt x="96" y="318"/>
                    </a:cubicBezTo>
                    <a:cubicBezTo>
                      <a:pt x="96" y="219"/>
                      <a:pt x="96" y="219"/>
                      <a:pt x="96" y="219"/>
                    </a:cubicBezTo>
                    <a:cubicBezTo>
                      <a:pt x="86" y="215"/>
                      <a:pt x="76" y="211"/>
                      <a:pt x="66" y="206"/>
                    </a:cubicBezTo>
                    <a:cubicBezTo>
                      <a:pt x="56" y="201"/>
                      <a:pt x="47" y="195"/>
                      <a:pt x="39" y="188"/>
                    </a:cubicBezTo>
                    <a:cubicBezTo>
                      <a:pt x="30" y="180"/>
                      <a:pt x="24" y="171"/>
                      <a:pt x="19" y="160"/>
                    </a:cubicBezTo>
                    <a:cubicBezTo>
                      <a:pt x="13" y="149"/>
                      <a:pt x="11" y="136"/>
                      <a:pt x="11" y="119"/>
                    </a:cubicBezTo>
                    <a:cubicBezTo>
                      <a:pt x="11" y="111"/>
                      <a:pt x="13" y="103"/>
                      <a:pt x="17" y="94"/>
                    </a:cubicBezTo>
                    <a:cubicBezTo>
                      <a:pt x="21" y="85"/>
                      <a:pt x="26" y="77"/>
                      <a:pt x="33" y="69"/>
                    </a:cubicBezTo>
                    <a:cubicBezTo>
                      <a:pt x="41" y="61"/>
                      <a:pt x="50" y="54"/>
                      <a:pt x="60" y="48"/>
                    </a:cubicBezTo>
                    <a:cubicBezTo>
                      <a:pt x="71" y="42"/>
                      <a:pt x="83" y="37"/>
                      <a:pt x="96" y="35"/>
                    </a:cubicBezTo>
                    <a:cubicBezTo>
                      <a:pt x="96" y="0"/>
                      <a:pt x="96" y="0"/>
                      <a:pt x="96" y="0"/>
                    </a:cubicBezTo>
                    <a:cubicBezTo>
                      <a:pt x="123" y="0"/>
                      <a:pt x="123" y="0"/>
                      <a:pt x="123" y="0"/>
                    </a:cubicBezTo>
                    <a:cubicBezTo>
                      <a:pt x="123" y="32"/>
                      <a:pt x="123" y="32"/>
                      <a:pt x="123" y="32"/>
                    </a:cubicBezTo>
                    <a:cubicBezTo>
                      <a:pt x="123" y="32"/>
                      <a:pt x="123" y="32"/>
                      <a:pt x="123" y="32"/>
                    </a:cubicBezTo>
                    <a:cubicBezTo>
                      <a:pt x="137" y="32"/>
                      <a:pt x="149" y="33"/>
                      <a:pt x="161" y="34"/>
                    </a:cubicBezTo>
                    <a:cubicBezTo>
                      <a:pt x="172" y="36"/>
                      <a:pt x="184" y="38"/>
                      <a:pt x="196" y="40"/>
                    </a:cubicBezTo>
                    <a:cubicBezTo>
                      <a:pt x="187" y="87"/>
                      <a:pt x="187" y="87"/>
                      <a:pt x="187" y="87"/>
                    </a:cubicBezTo>
                    <a:cubicBezTo>
                      <a:pt x="176" y="83"/>
                      <a:pt x="166" y="80"/>
                      <a:pt x="155" y="77"/>
                    </a:cubicBezTo>
                    <a:cubicBezTo>
                      <a:pt x="143" y="74"/>
                      <a:pt x="133" y="73"/>
                      <a:pt x="123" y="72"/>
                    </a:cubicBezTo>
                    <a:cubicBezTo>
                      <a:pt x="123" y="159"/>
                      <a:pt x="123" y="159"/>
                      <a:pt x="123" y="159"/>
                    </a:cubicBezTo>
                    <a:cubicBezTo>
                      <a:pt x="132" y="163"/>
                      <a:pt x="143" y="168"/>
                      <a:pt x="153" y="172"/>
                    </a:cubicBezTo>
                    <a:cubicBezTo>
                      <a:pt x="163" y="177"/>
                      <a:pt x="173" y="183"/>
                      <a:pt x="181" y="191"/>
                    </a:cubicBezTo>
                    <a:cubicBezTo>
                      <a:pt x="190" y="198"/>
                      <a:pt x="197" y="208"/>
                      <a:pt x="202" y="219"/>
                    </a:cubicBezTo>
                    <a:cubicBezTo>
                      <a:pt x="207" y="230"/>
                      <a:pt x="210" y="244"/>
                      <a:pt x="210" y="261"/>
                    </a:cubicBezTo>
                    <a:moveTo>
                      <a:pt x="65" y="110"/>
                    </a:moveTo>
                    <a:cubicBezTo>
                      <a:pt x="65" y="119"/>
                      <a:pt x="68" y="127"/>
                      <a:pt x="74" y="133"/>
                    </a:cubicBezTo>
                    <a:cubicBezTo>
                      <a:pt x="80" y="139"/>
                      <a:pt x="87" y="144"/>
                      <a:pt x="96" y="148"/>
                    </a:cubicBezTo>
                    <a:cubicBezTo>
                      <a:pt x="96" y="73"/>
                      <a:pt x="96" y="73"/>
                      <a:pt x="96" y="73"/>
                    </a:cubicBezTo>
                    <a:cubicBezTo>
                      <a:pt x="88" y="74"/>
                      <a:pt x="82" y="76"/>
                      <a:pt x="77" y="79"/>
                    </a:cubicBezTo>
                    <a:cubicBezTo>
                      <a:pt x="73" y="81"/>
                      <a:pt x="70" y="85"/>
                      <a:pt x="68" y="90"/>
                    </a:cubicBezTo>
                    <a:cubicBezTo>
                      <a:pt x="66" y="95"/>
                      <a:pt x="65" y="102"/>
                      <a:pt x="65" y="110"/>
                    </a:cubicBezTo>
                    <a:moveTo>
                      <a:pt x="155" y="269"/>
                    </a:moveTo>
                    <a:cubicBezTo>
                      <a:pt x="155" y="260"/>
                      <a:pt x="152" y="252"/>
                      <a:pt x="146" y="246"/>
                    </a:cubicBezTo>
                    <a:cubicBezTo>
                      <a:pt x="140" y="240"/>
                      <a:pt x="132" y="235"/>
                      <a:pt x="123" y="230"/>
                    </a:cubicBezTo>
                    <a:cubicBezTo>
                      <a:pt x="123" y="316"/>
                      <a:pt x="123" y="316"/>
                      <a:pt x="123" y="316"/>
                    </a:cubicBezTo>
                    <a:cubicBezTo>
                      <a:pt x="126" y="316"/>
                      <a:pt x="129" y="315"/>
                      <a:pt x="132" y="314"/>
                    </a:cubicBezTo>
                    <a:cubicBezTo>
                      <a:pt x="134" y="313"/>
                      <a:pt x="137" y="312"/>
                      <a:pt x="140" y="311"/>
                    </a:cubicBezTo>
                    <a:cubicBezTo>
                      <a:pt x="144" y="309"/>
                      <a:pt x="148" y="305"/>
                      <a:pt x="151" y="298"/>
                    </a:cubicBezTo>
                    <a:cubicBezTo>
                      <a:pt x="154" y="290"/>
                      <a:pt x="155" y="281"/>
                      <a:pt x="155" y="269"/>
                    </a:cubicBezTo>
                  </a:path>
                </a:pathLst>
              </a:custGeom>
              <a:solidFill>
                <a:schemeClr val="bg2"/>
              </a:solidFill>
              <a:ln>
                <a:noFill/>
              </a:ln>
            </p:spPr>
            <p:txBody>
              <a:bodyPr anchor="ctr"/>
              <a:lstStyle/>
              <a:p>
                <a:pPr algn="ctr"/>
              </a:p>
            </p:txBody>
          </p:sp>
          <p:sp>
            <p:nvSpPr>
              <p:cNvPr id="75" name="Freeform: Shape 115"/>
              <p:cNvSpPr/>
              <p:nvPr>
                <p:custDataLst>
                  <p:tags r:id="rId88"/>
                </p:custDataLst>
              </p:nvPr>
            </p:nvSpPr>
            <p:spPr bwMode="auto">
              <a:xfrm>
                <a:off x="4183282" y="4288858"/>
                <a:ext cx="888023" cy="1039506"/>
              </a:xfrm>
              <a:custGeom>
                <a:avLst/>
                <a:gdLst>
                  <a:gd name="T0" fmla="*/ 231 w 558"/>
                  <a:gd name="T1" fmla="*/ 391 h 653"/>
                  <a:gd name="T2" fmla="*/ 248 w 558"/>
                  <a:gd name="T3" fmla="*/ 386 h 653"/>
                  <a:gd name="T4" fmla="*/ 263 w 558"/>
                  <a:gd name="T5" fmla="*/ 344 h 653"/>
                  <a:gd name="T6" fmla="*/ 231 w 558"/>
                  <a:gd name="T7" fmla="*/ 305 h 653"/>
                  <a:gd name="T8" fmla="*/ 185 w 558"/>
                  <a:gd name="T9" fmla="*/ 154 h 653"/>
                  <a:gd name="T10" fmla="*/ 173 w 558"/>
                  <a:gd name="T11" fmla="*/ 185 h 653"/>
                  <a:gd name="T12" fmla="*/ 204 w 558"/>
                  <a:gd name="T13" fmla="*/ 223 h 653"/>
                  <a:gd name="T14" fmla="*/ 204 w 558"/>
                  <a:gd name="T15" fmla="*/ 393 h 653"/>
                  <a:gd name="T16" fmla="*/ 174 w 558"/>
                  <a:gd name="T17" fmla="*/ 281 h 653"/>
                  <a:gd name="T18" fmla="*/ 127 w 558"/>
                  <a:gd name="T19" fmla="*/ 235 h 653"/>
                  <a:gd name="T20" fmla="*/ 125 w 558"/>
                  <a:gd name="T21" fmla="*/ 169 h 653"/>
                  <a:gd name="T22" fmla="*/ 168 w 558"/>
                  <a:gd name="T23" fmla="*/ 123 h 653"/>
                  <a:gd name="T24" fmla="*/ 204 w 558"/>
                  <a:gd name="T25" fmla="*/ 75 h 653"/>
                  <a:gd name="T26" fmla="*/ 231 w 558"/>
                  <a:gd name="T27" fmla="*/ 107 h 653"/>
                  <a:gd name="T28" fmla="*/ 269 w 558"/>
                  <a:gd name="T29" fmla="*/ 109 h 653"/>
                  <a:gd name="T30" fmla="*/ 295 w 558"/>
                  <a:gd name="T31" fmla="*/ 162 h 653"/>
                  <a:gd name="T32" fmla="*/ 231 w 558"/>
                  <a:gd name="T33" fmla="*/ 147 h 653"/>
                  <a:gd name="T34" fmla="*/ 261 w 558"/>
                  <a:gd name="T35" fmla="*/ 247 h 653"/>
                  <a:gd name="T36" fmla="*/ 310 w 558"/>
                  <a:gd name="T37" fmla="*/ 294 h 653"/>
                  <a:gd name="T38" fmla="*/ 312 w 558"/>
                  <a:gd name="T39" fmla="*/ 365 h 653"/>
                  <a:gd name="T40" fmla="*/ 267 w 558"/>
                  <a:gd name="T41" fmla="*/ 416 h 653"/>
                  <a:gd name="T42" fmla="*/ 231 w 558"/>
                  <a:gd name="T43" fmla="*/ 467 h 653"/>
                  <a:gd name="T44" fmla="*/ 204 w 558"/>
                  <a:gd name="T45" fmla="*/ 433 h 653"/>
                  <a:gd name="T46" fmla="*/ 199 w 558"/>
                  <a:gd name="T47" fmla="*/ 433 h 653"/>
                  <a:gd name="T48" fmla="*/ 149 w 558"/>
                  <a:gd name="T49" fmla="*/ 427 h 653"/>
                  <a:gd name="T50" fmla="*/ 108 w 558"/>
                  <a:gd name="T51" fmla="*/ 410 h 653"/>
                  <a:gd name="T52" fmla="*/ 139 w 558"/>
                  <a:gd name="T53" fmla="*/ 372 h 653"/>
                  <a:gd name="T54" fmla="*/ 182 w 558"/>
                  <a:gd name="T55" fmla="*/ 389 h 653"/>
                  <a:gd name="T56" fmla="*/ 279 w 558"/>
                  <a:gd name="T57" fmla="*/ 0 h 653"/>
                  <a:gd name="T58" fmla="*/ 279 w 558"/>
                  <a:gd name="T59" fmla="*/ 558 h 653"/>
                  <a:gd name="T60" fmla="*/ 405 w 558"/>
                  <a:gd name="T61" fmla="*/ 653 h 653"/>
                  <a:gd name="T62" fmla="*/ 558 w 558"/>
                  <a:gd name="T63" fmla="*/ 279 h 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558" h="653">
                    <a:moveTo>
                      <a:pt x="231" y="305"/>
                    </a:moveTo>
                    <a:cubicBezTo>
                      <a:pt x="231" y="391"/>
                      <a:pt x="231" y="391"/>
                      <a:pt x="231" y="391"/>
                    </a:cubicBezTo>
                    <a:cubicBezTo>
                      <a:pt x="234" y="391"/>
                      <a:pt x="237" y="390"/>
                      <a:pt x="240" y="389"/>
                    </a:cubicBezTo>
                    <a:cubicBezTo>
                      <a:pt x="242" y="388"/>
                      <a:pt x="245" y="387"/>
                      <a:pt x="248" y="386"/>
                    </a:cubicBezTo>
                    <a:cubicBezTo>
                      <a:pt x="252" y="384"/>
                      <a:pt x="256" y="380"/>
                      <a:pt x="259" y="373"/>
                    </a:cubicBezTo>
                    <a:cubicBezTo>
                      <a:pt x="262" y="365"/>
                      <a:pt x="263" y="356"/>
                      <a:pt x="263" y="344"/>
                    </a:cubicBezTo>
                    <a:cubicBezTo>
                      <a:pt x="263" y="335"/>
                      <a:pt x="260" y="327"/>
                      <a:pt x="254" y="321"/>
                    </a:cubicBezTo>
                    <a:cubicBezTo>
                      <a:pt x="248" y="315"/>
                      <a:pt x="240" y="310"/>
                      <a:pt x="231" y="305"/>
                    </a:cubicBezTo>
                    <a:moveTo>
                      <a:pt x="204" y="148"/>
                    </a:moveTo>
                    <a:cubicBezTo>
                      <a:pt x="196" y="149"/>
                      <a:pt x="190" y="151"/>
                      <a:pt x="185" y="154"/>
                    </a:cubicBezTo>
                    <a:cubicBezTo>
                      <a:pt x="181" y="156"/>
                      <a:pt x="178" y="160"/>
                      <a:pt x="176" y="165"/>
                    </a:cubicBezTo>
                    <a:cubicBezTo>
                      <a:pt x="174" y="170"/>
                      <a:pt x="173" y="177"/>
                      <a:pt x="173" y="185"/>
                    </a:cubicBezTo>
                    <a:cubicBezTo>
                      <a:pt x="173" y="194"/>
                      <a:pt x="176" y="202"/>
                      <a:pt x="182" y="208"/>
                    </a:cubicBezTo>
                    <a:cubicBezTo>
                      <a:pt x="188" y="214"/>
                      <a:pt x="195" y="219"/>
                      <a:pt x="204" y="223"/>
                    </a:cubicBezTo>
                    <a:cubicBezTo>
                      <a:pt x="204" y="148"/>
                      <a:pt x="204" y="148"/>
                      <a:pt x="204" y="148"/>
                    </a:cubicBezTo>
                    <a:moveTo>
                      <a:pt x="204" y="393"/>
                    </a:moveTo>
                    <a:cubicBezTo>
                      <a:pt x="204" y="294"/>
                      <a:pt x="204" y="294"/>
                      <a:pt x="204" y="294"/>
                    </a:cubicBezTo>
                    <a:cubicBezTo>
                      <a:pt x="194" y="290"/>
                      <a:pt x="184" y="286"/>
                      <a:pt x="174" y="281"/>
                    </a:cubicBezTo>
                    <a:cubicBezTo>
                      <a:pt x="164" y="276"/>
                      <a:pt x="155" y="270"/>
                      <a:pt x="147" y="263"/>
                    </a:cubicBezTo>
                    <a:cubicBezTo>
                      <a:pt x="138" y="255"/>
                      <a:pt x="132" y="246"/>
                      <a:pt x="127" y="235"/>
                    </a:cubicBezTo>
                    <a:cubicBezTo>
                      <a:pt x="121" y="224"/>
                      <a:pt x="119" y="211"/>
                      <a:pt x="119" y="194"/>
                    </a:cubicBezTo>
                    <a:cubicBezTo>
                      <a:pt x="119" y="186"/>
                      <a:pt x="121" y="178"/>
                      <a:pt x="125" y="169"/>
                    </a:cubicBezTo>
                    <a:cubicBezTo>
                      <a:pt x="129" y="160"/>
                      <a:pt x="134" y="152"/>
                      <a:pt x="141" y="144"/>
                    </a:cubicBezTo>
                    <a:cubicBezTo>
                      <a:pt x="149" y="136"/>
                      <a:pt x="158" y="129"/>
                      <a:pt x="168" y="123"/>
                    </a:cubicBezTo>
                    <a:cubicBezTo>
                      <a:pt x="179" y="117"/>
                      <a:pt x="191" y="112"/>
                      <a:pt x="204" y="110"/>
                    </a:cubicBezTo>
                    <a:cubicBezTo>
                      <a:pt x="204" y="75"/>
                      <a:pt x="204" y="75"/>
                      <a:pt x="204" y="75"/>
                    </a:cubicBezTo>
                    <a:cubicBezTo>
                      <a:pt x="231" y="75"/>
                      <a:pt x="231" y="75"/>
                      <a:pt x="231" y="75"/>
                    </a:cubicBezTo>
                    <a:cubicBezTo>
                      <a:pt x="231" y="107"/>
                      <a:pt x="231" y="107"/>
                      <a:pt x="231" y="107"/>
                    </a:cubicBezTo>
                    <a:cubicBezTo>
                      <a:pt x="231" y="107"/>
                      <a:pt x="231" y="107"/>
                      <a:pt x="231" y="107"/>
                    </a:cubicBezTo>
                    <a:cubicBezTo>
                      <a:pt x="245" y="107"/>
                      <a:pt x="257" y="108"/>
                      <a:pt x="269" y="109"/>
                    </a:cubicBezTo>
                    <a:cubicBezTo>
                      <a:pt x="280" y="111"/>
                      <a:pt x="292" y="113"/>
                      <a:pt x="304" y="115"/>
                    </a:cubicBezTo>
                    <a:cubicBezTo>
                      <a:pt x="295" y="162"/>
                      <a:pt x="295" y="162"/>
                      <a:pt x="295" y="162"/>
                    </a:cubicBezTo>
                    <a:cubicBezTo>
                      <a:pt x="284" y="158"/>
                      <a:pt x="274" y="155"/>
                      <a:pt x="263" y="152"/>
                    </a:cubicBezTo>
                    <a:cubicBezTo>
                      <a:pt x="251" y="149"/>
                      <a:pt x="241" y="148"/>
                      <a:pt x="231" y="147"/>
                    </a:cubicBezTo>
                    <a:cubicBezTo>
                      <a:pt x="231" y="234"/>
                      <a:pt x="231" y="234"/>
                      <a:pt x="231" y="234"/>
                    </a:cubicBezTo>
                    <a:cubicBezTo>
                      <a:pt x="240" y="238"/>
                      <a:pt x="251" y="243"/>
                      <a:pt x="261" y="247"/>
                    </a:cubicBezTo>
                    <a:cubicBezTo>
                      <a:pt x="271" y="252"/>
                      <a:pt x="281" y="258"/>
                      <a:pt x="289" y="266"/>
                    </a:cubicBezTo>
                    <a:cubicBezTo>
                      <a:pt x="298" y="273"/>
                      <a:pt x="305" y="283"/>
                      <a:pt x="310" y="294"/>
                    </a:cubicBezTo>
                    <a:cubicBezTo>
                      <a:pt x="315" y="305"/>
                      <a:pt x="318" y="319"/>
                      <a:pt x="318" y="336"/>
                    </a:cubicBezTo>
                    <a:cubicBezTo>
                      <a:pt x="318" y="346"/>
                      <a:pt x="316" y="356"/>
                      <a:pt x="312" y="365"/>
                    </a:cubicBezTo>
                    <a:cubicBezTo>
                      <a:pt x="308" y="375"/>
                      <a:pt x="302" y="385"/>
                      <a:pt x="295" y="393"/>
                    </a:cubicBezTo>
                    <a:cubicBezTo>
                      <a:pt x="287" y="402"/>
                      <a:pt x="278" y="409"/>
                      <a:pt x="267" y="416"/>
                    </a:cubicBezTo>
                    <a:cubicBezTo>
                      <a:pt x="256" y="422"/>
                      <a:pt x="244" y="427"/>
                      <a:pt x="231" y="430"/>
                    </a:cubicBezTo>
                    <a:cubicBezTo>
                      <a:pt x="231" y="467"/>
                      <a:pt x="231" y="467"/>
                      <a:pt x="231" y="467"/>
                    </a:cubicBezTo>
                    <a:cubicBezTo>
                      <a:pt x="204" y="467"/>
                      <a:pt x="204" y="467"/>
                      <a:pt x="204" y="467"/>
                    </a:cubicBezTo>
                    <a:cubicBezTo>
                      <a:pt x="204" y="433"/>
                      <a:pt x="204" y="433"/>
                      <a:pt x="204" y="433"/>
                    </a:cubicBezTo>
                    <a:cubicBezTo>
                      <a:pt x="203" y="433"/>
                      <a:pt x="202" y="433"/>
                      <a:pt x="202" y="433"/>
                    </a:cubicBezTo>
                    <a:cubicBezTo>
                      <a:pt x="201" y="433"/>
                      <a:pt x="200" y="433"/>
                      <a:pt x="199" y="433"/>
                    </a:cubicBezTo>
                    <a:cubicBezTo>
                      <a:pt x="190" y="433"/>
                      <a:pt x="181" y="433"/>
                      <a:pt x="172" y="432"/>
                    </a:cubicBezTo>
                    <a:cubicBezTo>
                      <a:pt x="164" y="431"/>
                      <a:pt x="156" y="429"/>
                      <a:pt x="149" y="427"/>
                    </a:cubicBezTo>
                    <a:cubicBezTo>
                      <a:pt x="142" y="425"/>
                      <a:pt x="135" y="423"/>
                      <a:pt x="128" y="420"/>
                    </a:cubicBezTo>
                    <a:cubicBezTo>
                      <a:pt x="121" y="417"/>
                      <a:pt x="115" y="414"/>
                      <a:pt x="108" y="410"/>
                    </a:cubicBezTo>
                    <a:cubicBezTo>
                      <a:pt x="123" y="363"/>
                      <a:pt x="123" y="363"/>
                      <a:pt x="123" y="363"/>
                    </a:cubicBezTo>
                    <a:cubicBezTo>
                      <a:pt x="127" y="366"/>
                      <a:pt x="133" y="369"/>
                      <a:pt x="139" y="372"/>
                    </a:cubicBezTo>
                    <a:cubicBezTo>
                      <a:pt x="145" y="376"/>
                      <a:pt x="152" y="379"/>
                      <a:pt x="159" y="381"/>
                    </a:cubicBezTo>
                    <a:cubicBezTo>
                      <a:pt x="167" y="384"/>
                      <a:pt x="174" y="387"/>
                      <a:pt x="182" y="389"/>
                    </a:cubicBezTo>
                    <a:cubicBezTo>
                      <a:pt x="190" y="391"/>
                      <a:pt x="197" y="392"/>
                      <a:pt x="204" y="393"/>
                    </a:cubicBezTo>
                    <a:moveTo>
                      <a:pt x="279" y="0"/>
                    </a:moveTo>
                    <a:cubicBezTo>
                      <a:pt x="125" y="0"/>
                      <a:pt x="0" y="125"/>
                      <a:pt x="0" y="279"/>
                    </a:cubicBezTo>
                    <a:cubicBezTo>
                      <a:pt x="0" y="433"/>
                      <a:pt x="125" y="558"/>
                      <a:pt x="279" y="558"/>
                    </a:cubicBezTo>
                    <a:cubicBezTo>
                      <a:pt x="284" y="558"/>
                      <a:pt x="288" y="558"/>
                      <a:pt x="292" y="558"/>
                    </a:cubicBezTo>
                    <a:cubicBezTo>
                      <a:pt x="405" y="653"/>
                      <a:pt x="405" y="653"/>
                      <a:pt x="405" y="653"/>
                    </a:cubicBezTo>
                    <a:cubicBezTo>
                      <a:pt x="417" y="522"/>
                      <a:pt x="417" y="522"/>
                      <a:pt x="417" y="522"/>
                    </a:cubicBezTo>
                    <a:cubicBezTo>
                      <a:pt x="501" y="474"/>
                      <a:pt x="558" y="383"/>
                      <a:pt x="558" y="279"/>
                    </a:cubicBezTo>
                    <a:cubicBezTo>
                      <a:pt x="558" y="125"/>
                      <a:pt x="433" y="0"/>
                      <a:pt x="279"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76" name="Freeform: Shape 116"/>
              <p:cNvSpPr/>
              <p:nvPr>
                <p:custDataLst>
                  <p:tags r:id="rId89"/>
                </p:custDataLst>
              </p:nvPr>
            </p:nvSpPr>
            <p:spPr bwMode="auto">
              <a:xfrm>
                <a:off x="4354962" y="4408698"/>
                <a:ext cx="334608" cy="624108"/>
              </a:xfrm>
              <a:custGeom>
                <a:avLst/>
                <a:gdLst>
                  <a:gd name="T0" fmla="*/ 123 w 210"/>
                  <a:gd name="T1" fmla="*/ 316 h 392"/>
                  <a:gd name="T2" fmla="*/ 123 w 210"/>
                  <a:gd name="T3" fmla="*/ 230 h 392"/>
                  <a:gd name="T4" fmla="*/ 146 w 210"/>
                  <a:gd name="T5" fmla="*/ 246 h 392"/>
                  <a:gd name="T6" fmla="*/ 155 w 210"/>
                  <a:gd name="T7" fmla="*/ 269 h 392"/>
                  <a:gd name="T8" fmla="*/ 151 w 210"/>
                  <a:gd name="T9" fmla="*/ 298 h 392"/>
                  <a:gd name="T10" fmla="*/ 140 w 210"/>
                  <a:gd name="T11" fmla="*/ 311 h 392"/>
                  <a:gd name="T12" fmla="*/ 132 w 210"/>
                  <a:gd name="T13" fmla="*/ 314 h 392"/>
                  <a:gd name="T14" fmla="*/ 123 w 210"/>
                  <a:gd name="T15" fmla="*/ 316 h 392"/>
                  <a:gd name="T16" fmla="*/ 96 w 210"/>
                  <a:gd name="T17" fmla="*/ 148 h 392"/>
                  <a:gd name="T18" fmla="*/ 74 w 210"/>
                  <a:gd name="T19" fmla="*/ 133 h 392"/>
                  <a:gd name="T20" fmla="*/ 65 w 210"/>
                  <a:gd name="T21" fmla="*/ 110 h 392"/>
                  <a:gd name="T22" fmla="*/ 68 w 210"/>
                  <a:gd name="T23" fmla="*/ 90 h 392"/>
                  <a:gd name="T24" fmla="*/ 77 w 210"/>
                  <a:gd name="T25" fmla="*/ 79 h 392"/>
                  <a:gd name="T26" fmla="*/ 96 w 210"/>
                  <a:gd name="T27" fmla="*/ 73 h 392"/>
                  <a:gd name="T28" fmla="*/ 96 w 210"/>
                  <a:gd name="T29" fmla="*/ 148 h 392"/>
                  <a:gd name="T30" fmla="*/ 123 w 210"/>
                  <a:gd name="T31" fmla="*/ 0 h 392"/>
                  <a:gd name="T32" fmla="*/ 96 w 210"/>
                  <a:gd name="T33" fmla="*/ 0 h 392"/>
                  <a:gd name="T34" fmla="*/ 96 w 210"/>
                  <a:gd name="T35" fmla="*/ 35 h 392"/>
                  <a:gd name="T36" fmla="*/ 60 w 210"/>
                  <a:gd name="T37" fmla="*/ 48 h 392"/>
                  <a:gd name="T38" fmla="*/ 33 w 210"/>
                  <a:gd name="T39" fmla="*/ 69 h 392"/>
                  <a:gd name="T40" fmla="*/ 17 w 210"/>
                  <a:gd name="T41" fmla="*/ 94 h 392"/>
                  <a:gd name="T42" fmla="*/ 11 w 210"/>
                  <a:gd name="T43" fmla="*/ 119 h 392"/>
                  <a:gd name="T44" fmla="*/ 19 w 210"/>
                  <a:gd name="T45" fmla="*/ 160 h 392"/>
                  <a:gd name="T46" fmla="*/ 39 w 210"/>
                  <a:gd name="T47" fmla="*/ 188 h 392"/>
                  <a:gd name="T48" fmla="*/ 66 w 210"/>
                  <a:gd name="T49" fmla="*/ 206 h 392"/>
                  <a:gd name="T50" fmla="*/ 96 w 210"/>
                  <a:gd name="T51" fmla="*/ 219 h 392"/>
                  <a:gd name="T52" fmla="*/ 96 w 210"/>
                  <a:gd name="T53" fmla="*/ 318 h 392"/>
                  <a:gd name="T54" fmla="*/ 74 w 210"/>
                  <a:gd name="T55" fmla="*/ 314 h 392"/>
                  <a:gd name="T56" fmla="*/ 51 w 210"/>
                  <a:gd name="T57" fmla="*/ 306 h 392"/>
                  <a:gd name="T58" fmla="*/ 31 w 210"/>
                  <a:gd name="T59" fmla="*/ 297 h 392"/>
                  <a:gd name="T60" fmla="*/ 15 w 210"/>
                  <a:gd name="T61" fmla="*/ 288 h 392"/>
                  <a:gd name="T62" fmla="*/ 0 w 210"/>
                  <a:gd name="T63" fmla="*/ 335 h 392"/>
                  <a:gd name="T64" fmla="*/ 20 w 210"/>
                  <a:gd name="T65" fmla="*/ 345 h 392"/>
                  <a:gd name="T66" fmla="*/ 41 w 210"/>
                  <a:gd name="T67" fmla="*/ 352 h 392"/>
                  <a:gd name="T68" fmla="*/ 64 w 210"/>
                  <a:gd name="T69" fmla="*/ 357 h 392"/>
                  <a:gd name="T70" fmla="*/ 91 w 210"/>
                  <a:gd name="T71" fmla="*/ 358 h 392"/>
                  <a:gd name="T72" fmla="*/ 94 w 210"/>
                  <a:gd name="T73" fmla="*/ 358 h 392"/>
                  <a:gd name="T74" fmla="*/ 96 w 210"/>
                  <a:gd name="T75" fmla="*/ 358 h 392"/>
                  <a:gd name="T76" fmla="*/ 96 w 210"/>
                  <a:gd name="T77" fmla="*/ 392 h 392"/>
                  <a:gd name="T78" fmla="*/ 123 w 210"/>
                  <a:gd name="T79" fmla="*/ 392 h 392"/>
                  <a:gd name="T80" fmla="*/ 123 w 210"/>
                  <a:gd name="T81" fmla="*/ 355 h 392"/>
                  <a:gd name="T82" fmla="*/ 159 w 210"/>
                  <a:gd name="T83" fmla="*/ 341 h 392"/>
                  <a:gd name="T84" fmla="*/ 187 w 210"/>
                  <a:gd name="T85" fmla="*/ 318 h 392"/>
                  <a:gd name="T86" fmla="*/ 204 w 210"/>
                  <a:gd name="T87" fmla="*/ 290 h 392"/>
                  <a:gd name="T88" fmla="*/ 210 w 210"/>
                  <a:gd name="T89" fmla="*/ 261 h 392"/>
                  <a:gd name="T90" fmla="*/ 202 w 210"/>
                  <a:gd name="T91" fmla="*/ 219 h 392"/>
                  <a:gd name="T92" fmla="*/ 181 w 210"/>
                  <a:gd name="T93" fmla="*/ 191 h 392"/>
                  <a:gd name="T94" fmla="*/ 153 w 210"/>
                  <a:gd name="T95" fmla="*/ 172 h 392"/>
                  <a:gd name="T96" fmla="*/ 123 w 210"/>
                  <a:gd name="T97" fmla="*/ 159 h 392"/>
                  <a:gd name="T98" fmla="*/ 123 w 210"/>
                  <a:gd name="T99" fmla="*/ 72 h 392"/>
                  <a:gd name="T100" fmla="*/ 155 w 210"/>
                  <a:gd name="T101" fmla="*/ 77 h 392"/>
                  <a:gd name="T102" fmla="*/ 187 w 210"/>
                  <a:gd name="T103" fmla="*/ 87 h 392"/>
                  <a:gd name="T104" fmla="*/ 196 w 210"/>
                  <a:gd name="T105" fmla="*/ 40 h 392"/>
                  <a:gd name="T106" fmla="*/ 161 w 210"/>
                  <a:gd name="T107" fmla="*/ 34 h 392"/>
                  <a:gd name="T108" fmla="*/ 123 w 210"/>
                  <a:gd name="T109" fmla="*/ 32 h 392"/>
                  <a:gd name="T110" fmla="*/ 123 w 210"/>
                  <a:gd name="T111" fmla="*/ 32 h 392"/>
                  <a:gd name="T112" fmla="*/ 123 w 210"/>
                  <a:gd name="T113" fmla="*/ 0 h 3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10" h="392">
                    <a:moveTo>
                      <a:pt x="123" y="316"/>
                    </a:moveTo>
                    <a:cubicBezTo>
                      <a:pt x="123" y="230"/>
                      <a:pt x="123" y="230"/>
                      <a:pt x="123" y="230"/>
                    </a:cubicBezTo>
                    <a:cubicBezTo>
                      <a:pt x="132" y="235"/>
                      <a:pt x="140" y="240"/>
                      <a:pt x="146" y="246"/>
                    </a:cubicBezTo>
                    <a:cubicBezTo>
                      <a:pt x="152" y="252"/>
                      <a:pt x="155" y="260"/>
                      <a:pt x="155" y="269"/>
                    </a:cubicBezTo>
                    <a:cubicBezTo>
                      <a:pt x="155" y="281"/>
                      <a:pt x="154" y="290"/>
                      <a:pt x="151" y="298"/>
                    </a:cubicBezTo>
                    <a:cubicBezTo>
                      <a:pt x="148" y="305"/>
                      <a:pt x="144" y="309"/>
                      <a:pt x="140" y="311"/>
                    </a:cubicBezTo>
                    <a:cubicBezTo>
                      <a:pt x="137" y="312"/>
                      <a:pt x="134" y="313"/>
                      <a:pt x="132" y="314"/>
                    </a:cubicBezTo>
                    <a:cubicBezTo>
                      <a:pt x="129" y="315"/>
                      <a:pt x="126" y="316"/>
                      <a:pt x="123" y="316"/>
                    </a:cubicBezTo>
                    <a:moveTo>
                      <a:pt x="96" y="148"/>
                    </a:moveTo>
                    <a:cubicBezTo>
                      <a:pt x="87" y="144"/>
                      <a:pt x="80" y="139"/>
                      <a:pt x="74" y="133"/>
                    </a:cubicBezTo>
                    <a:cubicBezTo>
                      <a:pt x="68" y="127"/>
                      <a:pt x="65" y="119"/>
                      <a:pt x="65" y="110"/>
                    </a:cubicBezTo>
                    <a:cubicBezTo>
                      <a:pt x="65" y="102"/>
                      <a:pt x="66" y="95"/>
                      <a:pt x="68" y="90"/>
                    </a:cubicBezTo>
                    <a:cubicBezTo>
                      <a:pt x="70" y="85"/>
                      <a:pt x="73" y="81"/>
                      <a:pt x="77" y="79"/>
                    </a:cubicBezTo>
                    <a:cubicBezTo>
                      <a:pt x="82" y="76"/>
                      <a:pt x="88" y="74"/>
                      <a:pt x="96" y="73"/>
                    </a:cubicBezTo>
                    <a:cubicBezTo>
                      <a:pt x="96" y="148"/>
                      <a:pt x="96" y="148"/>
                      <a:pt x="96" y="148"/>
                    </a:cubicBezTo>
                    <a:moveTo>
                      <a:pt x="123" y="0"/>
                    </a:moveTo>
                    <a:cubicBezTo>
                      <a:pt x="96" y="0"/>
                      <a:pt x="96" y="0"/>
                      <a:pt x="96" y="0"/>
                    </a:cubicBezTo>
                    <a:cubicBezTo>
                      <a:pt x="96" y="35"/>
                      <a:pt x="96" y="35"/>
                      <a:pt x="96" y="35"/>
                    </a:cubicBezTo>
                    <a:cubicBezTo>
                      <a:pt x="83" y="37"/>
                      <a:pt x="71" y="42"/>
                      <a:pt x="60" y="48"/>
                    </a:cubicBezTo>
                    <a:cubicBezTo>
                      <a:pt x="50" y="54"/>
                      <a:pt x="41" y="61"/>
                      <a:pt x="33" y="69"/>
                    </a:cubicBezTo>
                    <a:cubicBezTo>
                      <a:pt x="26" y="77"/>
                      <a:pt x="21" y="85"/>
                      <a:pt x="17" y="94"/>
                    </a:cubicBezTo>
                    <a:cubicBezTo>
                      <a:pt x="13" y="103"/>
                      <a:pt x="11" y="111"/>
                      <a:pt x="11" y="119"/>
                    </a:cubicBezTo>
                    <a:cubicBezTo>
                      <a:pt x="11" y="136"/>
                      <a:pt x="13" y="149"/>
                      <a:pt x="19" y="160"/>
                    </a:cubicBezTo>
                    <a:cubicBezTo>
                      <a:pt x="24" y="171"/>
                      <a:pt x="30" y="180"/>
                      <a:pt x="39" y="188"/>
                    </a:cubicBezTo>
                    <a:cubicBezTo>
                      <a:pt x="47" y="195"/>
                      <a:pt x="56" y="201"/>
                      <a:pt x="66" y="206"/>
                    </a:cubicBezTo>
                    <a:cubicBezTo>
                      <a:pt x="76" y="211"/>
                      <a:pt x="86" y="215"/>
                      <a:pt x="96" y="219"/>
                    </a:cubicBezTo>
                    <a:cubicBezTo>
                      <a:pt x="96" y="318"/>
                      <a:pt x="96" y="318"/>
                      <a:pt x="96" y="318"/>
                    </a:cubicBezTo>
                    <a:cubicBezTo>
                      <a:pt x="89" y="317"/>
                      <a:pt x="82" y="316"/>
                      <a:pt x="74" y="314"/>
                    </a:cubicBezTo>
                    <a:cubicBezTo>
                      <a:pt x="66" y="312"/>
                      <a:pt x="59" y="309"/>
                      <a:pt x="51" y="306"/>
                    </a:cubicBezTo>
                    <a:cubicBezTo>
                      <a:pt x="44" y="304"/>
                      <a:pt x="37" y="301"/>
                      <a:pt x="31" y="297"/>
                    </a:cubicBezTo>
                    <a:cubicBezTo>
                      <a:pt x="25" y="294"/>
                      <a:pt x="19" y="291"/>
                      <a:pt x="15" y="288"/>
                    </a:cubicBezTo>
                    <a:cubicBezTo>
                      <a:pt x="0" y="335"/>
                      <a:pt x="0" y="335"/>
                      <a:pt x="0" y="335"/>
                    </a:cubicBezTo>
                    <a:cubicBezTo>
                      <a:pt x="7" y="339"/>
                      <a:pt x="13" y="342"/>
                      <a:pt x="20" y="345"/>
                    </a:cubicBezTo>
                    <a:cubicBezTo>
                      <a:pt x="27" y="348"/>
                      <a:pt x="34" y="350"/>
                      <a:pt x="41" y="352"/>
                    </a:cubicBezTo>
                    <a:cubicBezTo>
                      <a:pt x="48" y="354"/>
                      <a:pt x="56" y="356"/>
                      <a:pt x="64" y="357"/>
                    </a:cubicBezTo>
                    <a:cubicBezTo>
                      <a:pt x="73" y="358"/>
                      <a:pt x="82" y="358"/>
                      <a:pt x="91" y="358"/>
                    </a:cubicBezTo>
                    <a:cubicBezTo>
                      <a:pt x="92" y="358"/>
                      <a:pt x="93" y="358"/>
                      <a:pt x="94" y="358"/>
                    </a:cubicBezTo>
                    <a:cubicBezTo>
                      <a:pt x="94" y="358"/>
                      <a:pt x="95" y="358"/>
                      <a:pt x="96" y="358"/>
                    </a:cubicBezTo>
                    <a:cubicBezTo>
                      <a:pt x="96" y="392"/>
                      <a:pt x="96" y="392"/>
                      <a:pt x="96" y="392"/>
                    </a:cubicBezTo>
                    <a:cubicBezTo>
                      <a:pt x="123" y="392"/>
                      <a:pt x="123" y="392"/>
                      <a:pt x="123" y="392"/>
                    </a:cubicBezTo>
                    <a:cubicBezTo>
                      <a:pt x="123" y="355"/>
                      <a:pt x="123" y="355"/>
                      <a:pt x="123" y="355"/>
                    </a:cubicBezTo>
                    <a:cubicBezTo>
                      <a:pt x="136" y="352"/>
                      <a:pt x="148" y="347"/>
                      <a:pt x="159" y="341"/>
                    </a:cubicBezTo>
                    <a:cubicBezTo>
                      <a:pt x="170" y="334"/>
                      <a:pt x="179" y="327"/>
                      <a:pt x="187" y="318"/>
                    </a:cubicBezTo>
                    <a:cubicBezTo>
                      <a:pt x="194" y="310"/>
                      <a:pt x="200" y="300"/>
                      <a:pt x="204" y="290"/>
                    </a:cubicBezTo>
                    <a:cubicBezTo>
                      <a:pt x="208" y="281"/>
                      <a:pt x="210" y="271"/>
                      <a:pt x="210" y="261"/>
                    </a:cubicBezTo>
                    <a:cubicBezTo>
                      <a:pt x="210" y="244"/>
                      <a:pt x="207" y="230"/>
                      <a:pt x="202" y="219"/>
                    </a:cubicBezTo>
                    <a:cubicBezTo>
                      <a:pt x="197" y="208"/>
                      <a:pt x="190" y="198"/>
                      <a:pt x="181" y="191"/>
                    </a:cubicBezTo>
                    <a:cubicBezTo>
                      <a:pt x="173" y="183"/>
                      <a:pt x="163" y="177"/>
                      <a:pt x="153" y="172"/>
                    </a:cubicBezTo>
                    <a:cubicBezTo>
                      <a:pt x="143" y="168"/>
                      <a:pt x="132" y="163"/>
                      <a:pt x="123" y="159"/>
                    </a:cubicBezTo>
                    <a:cubicBezTo>
                      <a:pt x="123" y="72"/>
                      <a:pt x="123" y="72"/>
                      <a:pt x="123" y="72"/>
                    </a:cubicBezTo>
                    <a:cubicBezTo>
                      <a:pt x="133" y="73"/>
                      <a:pt x="143" y="74"/>
                      <a:pt x="155" y="77"/>
                    </a:cubicBezTo>
                    <a:cubicBezTo>
                      <a:pt x="166" y="80"/>
                      <a:pt x="176" y="83"/>
                      <a:pt x="187" y="87"/>
                    </a:cubicBezTo>
                    <a:cubicBezTo>
                      <a:pt x="196" y="40"/>
                      <a:pt x="196" y="40"/>
                      <a:pt x="196" y="40"/>
                    </a:cubicBezTo>
                    <a:cubicBezTo>
                      <a:pt x="184" y="38"/>
                      <a:pt x="172" y="36"/>
                      <a:pt x="161" y="34"/>
                    </a:cubicBezTo>
                    <a:cubicBezTo>
                      <a:pt x="149" y="33"/>
                      <a:pt x="137" y="32"/>
                      <a:pt x="123" y="32"/>
                    </a:cubicBezTo>
                    <a:cubicBezTo>
                      <a:pt x="123" y="32"/>
                      <a:pt x="123" y="32"/>
                      <a:pt x="123" y="32"/>
                    </a:cubicBezTo>
                    <a:cubicBezTo>
                      <a:pt x="123" y="0"/>
                      <a:pt x="123" y="0"/>
                      <a:pt x="123" y="0"/>
                    </a:cubicBezTo>
                  </a:path>
                </a:pathLst>
              </a:custGeom>
              <a:solidFill>
                <a:schemeClr val="bg2"/>
              </a:solidFill>
              <a:ln>
                <a:noFill/>
              </a:ln>
            </p:spPr>
            <p:txBody>
              <a:bodyPr anchor="ctr"/>
              <a:lstStyle/>
              <a:p>
                <a:pPr algn="ctr"/>
              </a:p>
            </p:txBody>
          </p:sp>
          <p:sp>
            <p:nvSpPr>
              <p:cNvPr id="77" name="Freeform: Shape 117"/>
              <p:cNvSpPr/>
              <p:nvPr>
                <p:custDataLst>
                  <p:tags r:id="rId90"/>
                </p:custDataLst>
              </p:nvPr>
            </p:nvSpPr>
            <p:spPr bwMode="auto">
              <a:xfrm>
                <a:off x="4098452" y="4268661"/>
                <a:ext cx="888697" cy="1039506"/>
              </a:xfrm>
              <a:custGeom>
                <a:avLst/>
                <a:gdLst>
                  <a:gd name="T0" fmla="*/ 558 w 558"/>
                  <a:gd name="T1" fmla="*/ 279 h 653"/>
                  <a:gd name="T2" fmla="*/ 279 w 558"/>
                  <a:gd name="T3" fmla="*/ 0 h 653"/>
                  <a:gd name="T4" fmla="*/ 0 w 558"/>
                  <a:gd name="T5" fmla="*/ 279 h 653"/>
                  <a:gd name="T6" fmla="*/ 279 w 558"/>
                  <a:gd name="T7" fmla="*/ 558 h 653"/>
                  <a:gd name="T8" fmla="*/ 292 w 558"/>
                  <a:gd name="T9" fmla="*/ 558 h 653"/>
                  <a:gd name="T10" fmla="*/ 404 w 558"/>
                  <a:gd name="T11" fmla="*/ 653 h 653"/>
                  <a:gd name="T12" fmla="*/ 416 w 558"/>
                  <a:gd name="T13" fmla="*/ 522 h 653"/>
                  <a:gd name="T14" fmla="*/ 558 w 558"/>
                  <a:gd name="T15" fmla="*/ 279 h 65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58" h="653">
                    <a:moveTo>
                      <a:pt x="558" y="279"/>
                    </a:moveTo>
                    <a:cubicBezTo>
                      <a:pt x="558" y="125"/>
                      <a:pt x="433" y="0"/>
                      <a:pt x="279" y="0"/>
                    </a:cubicBezTo>
                    <a:cubicBezTo>
                      <a:pt x="125" y="0"/>
                      <a:pt x="0" y="125"/>
                      <a:pt x="0" y="279"/>
                    </a:cubicBezTo>
                    <a:cubicBezTo>
                      <a:pt x="0" y="433"/>
                      <a:pt x="125" y="558"/>
                      <a:pt x="279" y="558"/>
                    </a:cubicBezTo>
                    <a:cubicBezTo>
                      <a:pt x="283" y="558"/>
                      <a:pt x="287" y="558"/>
                      <a:pt x="292" y="558"/>
                    </a:cubicBezTo>
                    <a:cubicBezTo>
                      <a:pt x="404" y="653"/>
                      <a:pt x="404" y="653"/>
                      <a:pt x="404" y="653"/>
                    </a:cubicBezTo>
                    <a:cubicBezTo>
                      <a:pt x="416" y="522"/>
                      <a:pt x="416" y="522"/>
                      <a:pt x="416" y="522"/>
                    </a:cubicBezTo>
                    <a:cubicBezTo>
                      <a:pt x="501" y="474"/>
                      <a:pt x="558" y="383"/>
                      <a:pt x="558" y="279"/>
                    </a:cubicBezTo>
                    <a:close/>
                  </a:path>
                </a:pathLst>
              </a:custGeom>
              <a:solidFill>
                <a:schemeClr val="accent1"/>
              </a:solidFill>
              <a:ln>
                <a:noFill/>
              </a:ln>
            </p:spPr>
            <p:txBody>
              <a:bodyPr anchor="ctr"/>
              <a:lstStyle/>
              <a:p>
                <a:pPr algn="ctr"/>
              </a:p>
            </p:txBody>
          </p:sp>
          <p:sp>
            <p:nvSpPr>
              <p:cNvPr id="78" name="Freeform: Shape 118"/>
              <p:cNvSpPr/>
              <p:nvPr>
                <p:custDataLst>
                  <p:tags r:id="rId91"/>
                </p:custDataLst>
              </p:nvPr>
            </p:nvSpPr>
            <p:spPr bwMode="auto">
              <a:xfrm>
                <a:off x="4291003" y="4558160"/>
                <a:ext cx="206016" cy="245065"/>
              </a:xfrm>
              <a:custGeom>
                <a:avLst/>
                <a:gdLst>
                  <a:gd name="T0" fmla="*/ 37 w 129"/>
                  <a:gd name="T1" fmla="*/ 106 h 154"/>
                  <a:gd name="T2" fmla="*/ 21 w 129"/>
                  <a:gd name="T3" fmla="*/ 154 h 154"/>
                  <a:gd name="T4" fmla="*/ 0 w 129"/>
                  <a:gd name="T5" fmla="*/ 154 h 154"/>
                  <a:gd name="T6" fmla="*/ 53 w 129"/>
                  <a:gd name="T7" fmla="*/ 0 h 154"/>
                  <a:gd name="T8" fmla="*/ 77 w 129"/>
                  <a:gd name="T9" fmla="*/ 0 h 154"/>
                  <a:gd name="T10" fmla="*/ 129 w 129"/>
                  <a:gd name="T11" fmla="*/ 154 h 154"/>
                  <a:gd name="T12" fmla="*/ 108 w 129"/>
                  <a:gd name="T13" fmla="*/ 154 h 154"/>
                  <a:gd name="T14" fmla="*/ 92 w 129"/>
                  <a:gd name="T15" fmla="*/ 106 h 154"/>
                  <a:gd name="T16" fmla="*/ 37 w 129"/>
                  <a:gd name="T17" fmla="*/ 106 h 154"/>
                  <a:gd name="T18" fmla="*/ 88 w 129"/>
                  <a:gd name="T19" fmla="*/ 90 h 154"/>
                  <a:gd name="T20" fmla="*/ 72 w 129"/>
                  <a:gd name="T21" fmla="*/ 46 h 154"/>
                  <a:gd name="T22" fmla="*/ 64 w 129"/>
                  <a:gd name="T23" fmla="*/ 18 h 154"/>
                  <a:gd name="T24" fmla="*/ 64 w 129"/>
                  <a:gd name="T25" fmla="*/ 18 h 154"/>
                  <a:gd name="T26" fmla="*/ 56 w 129"/>
                  <a:gd name="T27" fmla="*/ 45 h 154"/>
                  <a:gd name="T28" fmla="*/ 41 w 129"/>
                  <a:gd name="T29" fmla="*/ 90 h 154"/>
                  <a:gd name="T30" fmla="*/ 88 w 129"/>
                  <a:gd name="T31" fmla="*/ 9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29" h="154">
                    <a:moveTo>
                      <a:pt x="37" y="106"/>
                    </a:moveTo>
                    <a:cubicBezTo>
                      <a:pt x="21" y="154"/>
                      <a:pt x="21" y="154"/>
                      <a:pt x="21" y="154"/>
                    </a:cubicBezTo>
                    <a:cubicBezTo>
                      <a:pt x="0" y="154"/>
                      <a:pt x="0" y="154"/>
                      <a:pt x="0" y="154"/>
                    </a:cubicBezTo>
                    <a:cubicBezTo>
                      <a:pt x="53" y="0"/>
                      <a:pt x="53" y="0"/>
                      <a:pt x="53" y="0"/>
                    </a:cubicBezTo>
                    <a:cubicBezTo>
                      <a:pt x="77" y="0"/>
                      <a:pt x="77" y="0"/>
                      <a:pt x="77" y="0"/>
                    </a:cubicBezTo>
                    <a:cubicBezTo>
                      <a:pt x="129" y="154"/>
                      <a:pt x="129" y="154"/>
                      <a:pt x="129" y="154"/>
                    </a:cubicBezTo>
                    <a:cubicBezTo>
                      <a:pt x="108" y="154"/>
                      <a:pt x="108" y="154"/>
                      <a:pt x="108" y="154"/>
                    </a:cubicBezTo>
                    <a:cubicBezTo>
                      <a:pt x="92" y="106"/>
                      <a:pt x="92" y="106"/>
                      <a:pt x="92" y="106"/>
                    </a:cubicBezTo>
                    <a:lnTo>
                      <a:pt x="37" y="106"/>
                    </a:lnTo>
                    <a:close/>
                    <a:moveTo>
                      <a:pt x="88" y="90"/>
                    </a:moveTo>
                    <a:cubicBezTo>
                      <a:pt x="72" y="46"/>
                      <a:pt x="72" y="46"/>
                      <a:pt x="72" y="46"/>
                    </a:cubicBezTo>
                    <a:cubicBezTo>
                      <a:pt x="69" y="36"/>
                      <a:pt x="67" y="26"/>
                      <a:pt x="64" y="18"/>
                    </a:cubicBezTo>
                    <a:cubicBezTo>
                      <a:pt x="64" y="18"/>
                      <a:pt x="64" y="18"/>
                      <a:pt x="64" y="18"/>
                    </a:cubicBezTo>
                    <a:cubicBezTo>
                      <a:pt x="62" y="26"/>
                      <a:pt x="59" y="36"/>
                      <a:pt x="56" y="45"/>
                    </a:cubicBezTo>
                    <a:cubicBezTo>
                      <a:pt x="41" y="90"/>
                      <a:pt x="41" y="90"/>
                      <a:pt x="41" y="90"/>
                    </a:cubicBezTo>
                    <a:lnTo>
                      <a:pt x="88" y="90"/>
                    </a:lnTo>
                    <a:close/>
                  </a:path>
                </a:pathLst>
              </a:custGeom>
              <a:solidFill>
                <a:schemeClr val="bg2"/>
              </a:solidFill>
              <a:ln>
                <a:noFill/>
              </a:ln>
            </p:spPr>
            <p:txBody>
              <a:bodyPr anchor="ctr"/>
              <a:lstStyle/>
              <a:p>
                <a:pPr algn="ctr"/>
              </a:p>
            </p:txBody>
          </p:sp>
          <p:sp>
            <p:nvSpPr>
              <p:cNvPr id="79" name="Freeform: Shape 119"/>
              <p:cNvSpPr/>
              <p:nvPr>
                <p:custDataLst>
                  <p:tags r:id="rId92"/>
                </p:custDataLst>
              </p:nvPr>
            </p:nvSpPr>
            <p:spPr bwMode="auto">
              <a:xfrm>
                <a:off x="4528662" y="4427549"/>
                <a:ext cx="156195" cy="248431"/>
              </a:xfrm>
              <a:custGeom>
                <a:avLst/>
                <a:gdLst>
                  <a:gd name="T0" fmla="*/ 0 w 98"/>
                  <a:gd name="T1" fmla="*/ 3 h 156"/>
                  <a:gd name="T2" fmla="*/ 37 w 98"/>
                  <a:gd name="T3" fmla="*/ 0 h 156"/>
                  <a:gd name="T4" fmla="*/ 79 w 98"/>
                  <a:gd name="T5" fmla="*/ 11 h 156"/>
                  <a:gd name="T6" fmla="*/ 92 w 98"/>
                  <a:gd name="T7" fmla="*/ 38 h 156"/>
                  <a:gd name="T8" fmla="*/ 66 w 98"/>
                  <a:gd name="T9" fmla="*/ 72 h 156"/>
                  <a:gd name="T10" fmla="*/ 66 w 98"/>
                  <a:gd name="T11" fmla="*/ 73 h 156"/>
                  <a:gd name="T12" fmla="*/ 98 w 98"/>
                  <a:gd name="T13" fmla="*/ 111 h 156"/>
                  <a:gd name="T14" fmla="*/ 84 w 98"/>
                  <a:gd name="T15" fmla="*/ 142 h 156"/>
                  <a:gd name="T16" fmla="*/ 31 w 98"/>
                  <a:gd name="T17" fmla="*/ 156 h 156"/>
                  <a:gd name="T18" fmla="*/ 0 w 98"/>
                  <a:gd name="T19" fmla="*/ 155 h 156"/>
                  <a:gd name="T20" fmla="*/ 0 w 98"/>
                  <a:gd name="T21" fmla="*/ 3 h 156"/>
                  <a:gd name="T22" fmla="*/ 20 w 98"/>
                  <a:gd name="T23" fmla="*/ 66 h 156"/>
                  <a:gd name="T24" fmla="*/ 38 w 98"/>
                  <a:gd name="T25" fmla="*/ 66 h 156"/>
                  <a:gd name="T26" fmla="*/ 72 w 98"/>
                  <a:gd name="T27" fmla="*/ 40 h 156"/>
                  <a:gd name="T28" fmla="*/ 38 w 98"/>
                  <a:gd name="T29" fmla="*/ 15 h 156"/>
                  <a:gd name="T30" fmla="*/ 20 w 98"/>
                  <a:gd name="T31" fmla="*/ 16 h 156"/>
                  <a:gd name="T32" fmla="*/ 20 w 98"/>
                  <a:gd name="T33" fmla="*/ 66 h 156"/>
                  <a:gd name="T34" fmla="*/ 20 w 98"/>
                  <a:gd name="T35" fmla="*/ 140 h 156"/>
                  <a:gd name="T36" fmla="*/ 37 w 98"/>
                  <a:gd name="T37" fmla="*/ 141 h 156"/>
                  <a:gd name="T38" fmla="*/ 77 w 98"/>
                  <a:gd name="T39" fmla="*/ 111 h 156"/>
                  <a:gd name="T40" fmla="*/ 37 w 98"/>
                  <a:gd name="T41" fmla="*/ 81 h 156"/>
                  <a:gd name="T42" fmla="*/ 20 w 98"/>
                  <a:gd name="T43" fmla="*/ 81 h 156"/>
                  <a:gd name="T44" fmla="*/ 20 w 98"/>
                  <a:gd name="T45" fmla="*/ 14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98" h="156">
                    <a:moveTo>
                      <a:pt x="0" y="3"/>
                    </a:moveTo>
                    <a:cubicBezTo>
                      <a:pt x="9" y="1"/>
                      <a:pt x="23" y="0"/>
                      <a:pt x="37" y="0"/>
                    </a:cubicBezTo>
                    <a:cubicBezTo>
                      <a:pt x="57" y="0"/>
                      <a:pt x="69" y="3"/>
                      <a:pt x="79" y="11"/>
                    </a:cubicBezTo>
                    <a:cubicBezTo>
                      <a:pt x="87" y="17"/>
                      <a:pt x="92" y="26"/>
                      <a:pt x="92" y="38"/>
                    </a:cubicBezTo>
                    <a:cubicBezTo>
                      <a:pt x="92" y="53"/>
                      <a:pt x="82" y="66"/>
                      <a:pt x="66" y="72"/>
                    </a:cubicBezTo>
                    <a:cubicBezTo>
                      <a:pt x="66" y="73"/>
                      <a:pt x="66" y="73"/>
                      <a:pt x="66" y="73"/>
                    </a:cubicBezTo>
                    <a:cubicBezTo>
                      <a:pt x="80" y="76"/>
                      <a:pt x="98" y="88"/>
                      <a:pt x="98" y="111"/>
                    </a:cubicBezTo>
                    <a:cubicBezTo>
                      <a:pt x="98" y="124"/>
                      <a:pt x="92" y="134"/>
                      <a:pt x="84" y="142"/>
                    </a:cubicBezTo>
                    <a:cubicBezTo>
                      <a:pt x="74" y="152"/>
                      <a:pt x="56" y="156"/>
                      <a:pt x="31" y="156"/>
                    </a:cubicBezTo>
                    <a:cubicBezTo>
                      <a:pt x="18" y="156"/>
                      <a:pt x="7" y="156"/>
                      <a:pt x="0" y="155"/>
                    </a:cubicBezTo>
                    <a:lnTo>
                      <a:pt x="0" y="3"/>
                    </a:lnTo>
                    <a:close/>
                    <a:moveTo>
                      <a:pt x="20" y="66"/>
                    </a:moveTo>
                    <a:cubicBezTo>
                      <a:pt x="38" y="66"/>
                      <a:pt x="38" y="66"/>
                      <a:pt x="38" y="66"/>
                    </a:cubicBezTo>
                    <a:cubicBezTo>
                      <a:pt x="59" y="66"/>
                      <a:pt x="72" y="55"/>
                      <a:pt x="72" y="40"/>
                    </a:cubicBezTo>
                    <a:cubicBezTo>
                      <a:pt x="72" y="22"/>
                      <a:pt x="58" y="15"/>
                      <a:pt x="38" y="15"/>
                    </a:cubicBezTo>
                    <a:cubicBezTo>
                      <a:pt x="29" y="15"/>
                      <a:pt x="23" y="16"/>
                      <a:pt x="20" y="16"/>
                    </a:cubicBezTo>
                    <a:lnTo>
                      <a:pt x="20" y="66"/>
                    </a:lnTo>
                    <a:close/>
                    <a:moveTo>
                      <a:pt x="20" y="140"/>
                    </a:moveTo>
                    <a:cubicBezTo>
                      <a:pt x="24" y="141"/>
                      <a:pt x="30" y="141"/>
                      <a:pt x="37" y="141"/>
                    </a:cubicBezTo>
                    <a:cubicBezTo>
                      <a:pt x="58" y="141"/>
                      <a:pt x="77" y="133"/>
                      <a:pt x="77" y="111"/>
                    </a:cubicBezTo>
                    <a:cubicBezTo>
                      <a:pt x="77" y="90"/>
                      <a:pt x="58" y="81"/>
                      <a:pt x="37" y="81"/>
                    </a:cubicBezTo>
                    <a:cubicBezTo>
                      <a:pt x="20" y="81"/>
                      <a:pt x="20" y="81"/>
                      <a:pt x="20" y="81"/>
                    </a:cubicBezTo>
                    <a:lnTo>
                      <a:pt x="20" y="140"/>
                    </a:lnTo>
                    <a:close/>
                  </a:path>
                </a:pathLst>
              </a:custGeom>
              <a:solidFill>
                <a:schemeClr val="bg2"/>
              </a:solidFill>
              <a:ln>
                <a:noFill/>
              </a:ln>
            </p:spPr>
            <p:txBody>
              <a:bodyPr anchor="ctr"/>
              <a:lstStyle/>
              <a:p>
                <a:pPr algn="ctr"/>
              </a:p>
            </p:txBody>
          </p:sp>
          <p:sp>
            <p:nvSpPr>
              <p:cNvPr id="80" name="Freeform: Shape 120"/>
              <p:cNvSpPr/>
              <p:nvPr>
                <p:custDataLst>
                  <p:tags r:id="rId93"/>
                </p:custDataLst>
              </p:nvPr>
            </p:nvSpPr>
            <p:spPr bwMode="auto">
              <a:xfrm>
                <a:off x="4552226" y="4741286"/>
                <a:ext cx="157542" cy="213422"/>
              </a:xfrm>
              <a:custGeom>
                <a:avLst/>
                <a:gdLst>
                  <a:gd name="T0" fmla="*/ 99 w 99"/>
                  <a:gd name="T1" fmla="*/ 128 h 134"/>
                  <a:gd name="T2" fmla="*/ 64 w 99"/>
                  <a:gd name="T3" fmla="*/ 134 h 134"/>
                  <a:gd name="T4" fmla="*/ 0 w 99"/>
                  <a:gd name="T5" fmla="*/ 68 h 134"/>
                  <a:gd name="T6" fmla="*/ 68 w 99"/>
                  <a:gd name="T7" fmla="*/ 0 h 134"/>
                  <a:gd name="T8" fmla="*/ 99 w 99"/>
                  <a:gd name="T9" fmla="*/ 5 h 134"/>
                  <a:gd name="T10" fmla="*/ 95 w 99"/>
                  <a:gd name="T11" fmla="*/ 19 h 134"/>
                  <a:gd name="T12" fmla="*/ 69 w 99"/>
                  <a:gd name="T13" fmla="*/ 14 h 134"/>
                  <a:gd name="T14" fmla="*/ 18 w 99"/>
                  <a:gd name="T15" fmla="*/ 67 h 134"/>
                  <a:gd name="T16" fmla="*/ 68 w 99"/>
                  <a:gd name="T17" fmla="*/ 119 h 134"/>
                  <a:gd name="T18" fmla="*/ 95 w 99"/>
                  <a:gd name="T19" fmla="*/ 114 h 134"/>
                  <a:gd name="T20" fmla="*/ 99 w 99"/>
                  <a:gd name="T21" fmla="*/ 128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9" h="134">
                    <a:moveTo>
                      <a:pt x="99" y="128"/>
                    </a:moveTo>
                    <a:cubicBezTo>
                      <a:pt x="93" y="131"/>
                      <a:pt x="80" y="134"/>
                      <a:pt x="64" y="134"/>
                    </a:cubicBezTo>
                    <a:cubicBezTo>
                      <a:pt x="28" y="134"/>
                      <a:pt x="0" y="111"/>
                      <a:pt x="0" y="68"/>
                    </a:cubicBezTo>
                    <a:cubicBezTo>
                      <a:pt x="0" y="27"/>
                      <a:pt x="28" y="0"/>
                      <a:pt x="68" y="0"/>
                    </a:cubicBezTo>
                    <a:cubicBezTo>
                      <a:pt x="84" y="0"/>
                      <a:pt x="95" y="3"/>
                      <a:pt x="99" y="5"/>
                    </a:cubicBezTo>
                    <a:cubicBezTo>
                      <a:pt x="95" y="19"/>
                      <a:pt x="95" y="19"/>
                      <a:pt x="95" y="19"/>
                    </a:cubicBezTo>
                    <a:cubicBezTo>
                      <a:pt x="89" y="16"/>
                      <a:pt x="80" y="14"/>
                      <a:pt x="69" y="14"/>
                    </a:cubicBezTo>
                    <a:cubicBezTo>
                      <a:pt x="38" y="14"/>
                      <a:pt x="18" y="33"/>
                      <a:pt x="18" y="67"/>
                    </a:cubicBezTo>
                    <a:cubicBezTo>
                      <a:pt x="18" y="99"/>
                      <a:pt x="36" y="119"/>
                      <a:pt x="68" y="119"/>
                    </a:cubicBezTo>
                    <a:cubicBezTo>
                      <a:pt x="78" y="119"/>
                      <a:pt x="89" y="117"/>
                      <a:pt x="95" y="114"/>
                    </a:cubicBezTo>
                    <a:lnTo>
                      <a:pt x="99" y="128"/>
                    </a:lnTo>
                    <a:close/>
                  </a:path>
                </a:pathLst>
              </a:custGeom>
              <a:solidFill>
                <a:schemeClr val="bg2"/>
              </a:solidFill>
              <a:ln>
                <a:noFill/>
              </a:ln>
            </p:spPr>
            <p:txBody>
              <a:bodyPr anchor="ctr"/>
              <a:lstStyle/>
              <a:p>
                <a:pPr algn="ctr"/>
              </a:p>
            </p:txBody>
          </p:sp>
        </p:grpSp>
        <p:grpSp>
          <p:nvGrpSpPr>
            <p:cNvPr id="35" name="Group 121"/>
            <p:cNvGrpSpPr/>
            <p:nvPr/>
          </p:nvGrpSpPr>
          <p:grpSpPr>
            <a:xfrm>
              <a:off x="12044" y="4425"/>
              <a:ext cx="1011" cy="1136"/>
              <a:chOff x="3918693" y="2872329"/>
              <a:chExt cx="856381" cy="961409"/>
            </a:xfrm>
          </p:grpSpPr>
          <p:sp>
            <p:nvSpPr>
              <p:cNvPr id="60" name="Freeform: Shape 122"/>
              <p:cNvSpPr/>
              <p:nvPr>
                <p:custDataLst>
                  <p:tags r:id="rId94"/>
                </p:custDataLst>
              </p:nvPr>
            </p:nvSpPr>
            <p:spPr bwMode="auto">
              <a:xfrm>
                <a:off x="3988712" y="2912052"/>
                <a:ext cx="786362" cy="921686"/>
              </a:xfrm>
              <a:custGeom>
                <a:avLst/>
                <a:gdLst>
                  <a:gd name="T0" fmla="*/ 247 w 494"/>
                  <a:gd name="T1" fmla="*/ 0 h 579"/>
                  <a:gd name="T2" fmla="*/ 0 w 494"/>
                  <a:gd name="T3" fmla="*/ 247 h 579"/>
                  <a:gd name="T4" fmla="*/ 247 w 494"/>
                  <a:gd name="T5" fmla="*/ 494 h 579"/>
                  <a:gd name="T6" fmla="*/ 258 w 494"/>
                  <a:gd name="T7" fmla="*/ 494 h 579"/>
                  <a:gd name="T8" fmla="*/ 358 w 494"/>
                  <a:gd name="T9" fmla="*/ 579 h 579"/>
                  <a:gd name="T10" fmla="*/ 368 w 494"/>
                  <a:gd name="T11" fmla="*/ 462 h 579"/>
                  <a:gd name="T12" fmla="*/ 494 w 494"/>
                  <a:gd name="T13" fmla="*/ 247 h 579"/>
                  <a:gd name="T14" fmla="*/ 247 w 494"/>
                  <a:gd name="T15" fmla="*/ 0 h 57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4" h="579">
                    <a:moveTo>
                      <a:pt x="247" y="0"/>
                    </a:moveTo>
                    <a:cubicBezTo>
                      <a:pt x="110" y="0"/>
                      <a:pt x="0" y="111"/>
                      <a:pt x="0" y="247"/>
                    </a:cubicBezTo>
                    <a:cubicBezTo>
                      <a:pt x="0" y="384"/>
                      <a:pt x="110" y="494"/>
                      <a:pt x="247" y="494"/>
                    </a:cubicBezTo>
                    <a:cubicBezTo>
                      <a:pt x="251" y="494"/>
                      <a:pt x="254" y="494"/>
                      <a:pt x="258" y="494"/>
                    </a:cubicBezTo>
                    <a:cubicBezTo>
                      <a:pt x="358" y="579"/>
                      <a:pt x="358" y="579"/>
                      <a:pt x="358" y="579"/>
                    </a:cubicBezTo>
                    <a:cubicBezTo>
                      <a:pt x="368" y="462"/>
                      <a:pt x="368" y="462"/>
                      <a:pt x="368" y="462"/>
                    </a:cubicBezTo>
                    <a:cubicBezTo>
                      <a:pt x="443" y="420"/>
                      <a:pt x="494" y="340"/>
                      <a:pt x="494" y="247"/>
                    </a:cubicBezTo>
                    <a:cubicBezTo>
                      <a:pt x="494" y="111"/>
                      <a:pt x="383" y="0"/>
                      <a:pt x="247"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61" name="Freeform: Shape 123"/>
              <p:cNvSpPr/>
              <p:nvPr>
                <p:custDataLst>
                  <p:tags r:id="rId95"/>
                </p:custDataLst>
              </p:nvPr>
            </p:nvSpPr>
            <p:spPr bwMode="auto">
              <a:xfrm>
                <a:off x="3918693" y="2872329"/>
                <a:ext cx="788382" cy="920340"/>
              </a:xfrm>
              <a:custGeom>
                <a:avLst/>
                <a:gdLst>
                  <a:gd name="T0" fmla="*/ 495 w 495"/>
                  <a:gd name="T1" fmla="*/ 247 h 578"/>
                  <a:gd name="T2" fmla="*/ 248 w 495"/>
                  <a:gd name="T3" fmla="*/ 0 h 578"/>
                  <a:gd name="T4" fmla="*/ 0 w 495"/>
                  <a:gd name="T5" fmla="*/ 247 h 578"/>
                  <a:gd name="T6" fmla="*/ 248 w 495"/>
                  <a:gd name="T7" fmla="*/ 494 h 578"/>
                  <a:gd name="T8" fmla="*/ 259 w 495"/>
                  <a:gd name="T9" fmla="*/ 494 h 578"/>
                  <a:gd name="T10" fmla="*/ 359 w 495"/>
                  <a:gd name="T11" fmla="*/ 578 h 578"/>
                  <a:gd name="T12" fmla="*/ 369 w 495"/>
                  <a:gd name="T13" fmla="*/ 462 h 578"/>
                  <a:gd name="T14" fmla="*/ 495 w 495"/>
                  <a:gd name="T15" fmla="*/ 247 h 57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95" h="578">
                    <a:moveTo>
                      <a:pt x="495" y="247"/>
                    </a:moveTo>
                    <a:cubicBezTo>
                      <a:pt x="495" y="110"/>
                      <a:pt x="384" y="0"/>
                      <a:pt x="248" y="0"/>
                    </a:cubicBezTo>
                    <a:cubicBezTo>
                      <a:pt x="111" y="0"/>
                      <a:pt x="0" y="110"/>
                      <a:pt x="0" y="247"/>
                    </a:cubicBezTo>
                    <a:cubicBezTo>
                      <a:pt x="0" y="383"/>
                      <a:pt x="111" y="494"/>
                      <a:pt x="248" y="494"/>
                    </a:cubicBezTo>
                    <a:cubicBezTo>
                      <a:pt x="251" y="494"/>
                      <a:pt x="255" y="494"/>
                      <a:pt x="259" y="494"/>
                    </a:cubicBezTo>
                    <a:cubicBezTo>
                      <a:pt x="359" y="578"/>
                      <a:pt x="359" y="578"/>
                      <a:pt x="359" y="578"/>
                    </a:cubicBezTo>
                    <a:cubicBezTo>
                      <a:pt x="369" y="462"/>
                      <a:pt x="369" y="462"/>
                      <a:pt x="369" y="462"/>
                    </a:cubicBezTo>
                    <a:cubicBezTo>
                      <a:pt x="444" y="419"/>
                      <a:pt x="495" y="339"/>
                      <a:pt x="495" y="247"/>
                    </a:cubicBezTo>
                    <a:close/>
                  </a:path>
                </a:pathLst>
              </a:custGeom>
              <a:solidFill>
                <a:schemeClr val="accent1"/>
              </a:solidFill>
              <a:ln>
                <a:noFill/>
              </a:ln>
            </p:spPr>
            <p:txBody>
              <a:bodyPr anchor="ctr"/>
              <a:lstStyle/>
              <a:p>
                <a:pPr algn="ctr"/>
              </a:p>
            </p:txBody>
          </p:sp>
          <p:sp>
            <p:nvSpPr>
              <p:cNvPr id="62" name="Freeform: Shape 124"/>
              <p:cNvSpPr/>
              <p:nvPr>
                <p:custDataLst>
                  <p:tags r:id="rId96"/>
                </p:custDataLst>
              </p:nvPr>
            </p:nvSpPr>
            <p:spPr bwMode="auto">
              <a:xfrm>
                <a:off x="4149620" y="3238580"/>
                <a:ext cx="235639" cy="235639"/>
              </a:xfrm>
              <a:custGeom>
                <a:avLst/>
                <a:gdLst>
                  <a:gd name="T0" fmla="*/ 148 w 148"/>
                  <a:gd name="T1" fmla="*/ 145 h 148"/>
                  <a:gd name="T2" fmla="*/ 145 w 148"/>
                  <a:gd name="T3" fmla="*/ 148 h 148"/>
                  <a:gd name="T4" fmla="*/ 3 w 148"/>
                  <a:gd name="T5" fmla="*/ 148 h 148"/>
                  <a:gd name="T6" fmla="*/ 0 w 148"/>
                  <a:gd name="T7" fmla="*/ 145 h 148"/>
                  <a:gd name="T8" fmla="*/ 0 w 148"/>
                  <a:gd name="T9" fmla="*/ 3 h 148"/>
                  <a:gd name="T10" fmla="*/ 3 w 148"/>
                  <a:gd name="T11" fmla="*/ 0 h 148"/>
                  <a:gd name="T12" fmla="*/ 145 w 148"/>
                  <a:gd name="T13" fmla="*/ 0 h 148"/>
                  <a:gd name="T14" fmla="*/ 148 w 148"/>
                  <a:gd name="T15" fmla="*/ 3 h 148"/>
                  <a:gd name="T16" fmla="*/ 148 w 148"/>
                  <a:gd name="T17" fmla="*/ 145 h 148"/>
                  <a:gd name="T18" fmla="*/ 4 w 148"/>
                  <a:gd name="T19" fmla="*/ 140 h 148"/>
                  <a:gd name="T20" fmla="*/ 144 w 148"/>
                  <a:gd name="T21" fmla="*/ 140 h 148"/>
                  <a:gd name="T22" fmla="*/ 144 w 148"/>
                  <a:gd name="T23" fmla="*/ 8 h 148"/>
                  <a:gd name="T24" fmla="*/ 4 w 148"/>
                  <a:gd name="T25" fmla="*/ 8 h 148"/>
                  <a:gd name="T26" fmla="*/ 4 w 148"/>
                  <a:gd name="T27" fmla="*/ 140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8" h="148">
                    <a:moveTo>
                      <a:pt x="148" y="145"/>
                    </a:moveTo>
                    <a:cubicBezTo>
                      <a:pt x="148" y="147"/>
                      <a:pt x="147" y="148"/>
                      <a:pt x="145" y="148"/>
                    </a:cubicBezTo>
                    <a:cubicBezTo>
                      <a:pt x="3" y="148"/>
                      <a:pt x="3" y="148"/>
                      <a:pt x="3" y="148"/>
                    </a:cubicBezTo>
                    <a:cubicBezTo>
                      <a:pt x="1" y="148"/>
                      <a:pt x="0" y="147"/>
                      <a:pt x="0" y="145"/>
                    </a:cubicBezTo>
                    <a:cubicBezTo>
                      <a:pt x="0" y="3"/>
                      <a:pt x="0" y="3"/>
                      <a:pt x="0" y="3"/>
                    </a:cubicBezTo>
                    <a:cubicBezTo>
                      <a:pt x="0" y="1"/>
                      <a:pt x="1" y="0"/>
                      <a:pt x="3" y="0"/>
                    </a:cubicBezTo>
                    <a:cubicBezTo>
                      <a:pt x="145" y="0"/>
                      <a:pt x="145" y="0"/>
                      <a:pt x="145" y="0"/>
                    </a:cubicBezTo>
                    <a:cubicBezTo>
                      <a:pt x="147" y="0"/>
                      <a:pt x="148" y="1"/>
                      <a:pt x="148" y="3"/>
                    </a:cubicBezTo>
                    <a:lnTo>
                      <a:pt x="148" y="145"/>
                    </a:lnTo>
                    <a:close/>
                    <a:moveTo>
                      <a:pt x="4" y="140"/>
                    </a:moveTo>
                    <a:cubicBezTo>
                      <a:pt x="144" y="140"/>
                      <a:pt x="144" y="140"/>
                      <a:pt x="144" y="140"/>
                    </a:cubicBezTo>
                    <a:cubicBezTo>
                      <a:pt x="144" y="8"/>
                      <a:pt x="144" y="8"/>
                      <a:pt x="144" y="8"/>
                    </a:cubicBezTo>
                    <a:cubicBezTo>
                      <a:pt x="4" y="8"/>
                      <a:pt x="4" y="8"/>
                      <a:pt x="4" y="8"/>
                    </a:cubicBezTo>
                    <a:lnTo>
                      <a:pt x="4" y="140"/>
                    </a:lnTo>
                    <a:close/>
                  </a:path>
                </a:pathLst>
              </a:custGeom>
              <a:solidFill>
                <a:schemeClr val="bg2"/>
              </a:solidFill>
              <a:ln>
                <a:noFill/>
              </a:ln>
            </p:spPr>
            <p:txBody>
              <a:bodyPr anchor="ctr"/>
              <a:lstStyle/>
              <a:p>
                <a:pPr algn="ctr"/>
              </a:p>
            </p:txBody>
          </p:sp>
          <p:sp>
            <p:nvSpPr>
              <p:cNvPr id="63" name="Freeform: Shape 125"/>
              <p:cNvSpPr/>
              <p:nvPr>
                <p:custDataLst>
                  <p:tags r:id="rId97"/>
                </p:custDataLst>
              </p:nvPr>
            </p:nvSpPr>
            <p:spPr bwMode="auto">
              <a:xfrm>
                <a:off x="4152986" y="3154423"/>
                <a:ext cx="316430" cy="93582"/>
              </a:xfrm>
              <a:custGeom>
                <a:avLst/>
                <a:gdLst>
                  <a:gd name="T0" fmla="*/ 144 w 199"/>
                  <a:gd name="T1" fmla="*/ 59 h 59"/>
                  <a:gd name="T2" fmla="*/ 142 w 199"/>
                  <a:gd name="T3" fmla="*/ 59 h 59"/>
                  <a:gd name="T4" fmla="*/ 142 w 199"/>
                  <a:gd name="T5" fmla="*/ 55 h 59"/>
                  <a:gd name="T6" fmla="*/ 190 w 199"/>
                  <a:gd name="T7" fmla="*/ 5 h 59"/>
                  <a:gd name="T8" fmla="*/ 55 w 199"/>
                  <a:gd name="T9" fmla="*/ 5 h 59"/>
                  <a:gd name="T10" fmla="*/ 5 w 199"/>
                  <a:gd name="T11" fmla="*/ 58 h 59"/>
                  <a:gd name="T12" fmla="*/ 1 w 199"/>
                  <a:gd name="T13" fmla="*/ 58 h 59"/>
                  <a:gd name="T14" fmla="*/ 1 w 199"/>
                  <a:gd name="T15" fmla="*/ 54 h 59"/>
                  <a:gd name="T16" fmla="*/ 52 w 199"/>
                  <a:gd name="T17" fmla="*/ 1 h 59"/>
                  <a:gd name="T18" fmla="*/ 54 w 199"/>
                  <a:gd name="T19" fmla="*/ 1 h 59"/>
                  <a:gd name="T20" fmla="*/ 196 w 199"/>
                  <a:gd name="T21" fmla="*/ 1 h 59"/>
                  <a:gd name="T22" fmla="*/ 199 w 199"/>
                  <a:gd name="T23" fmla="*/ 2 h 59"/>
                  <a:gd name="T24" fmla="*/ 198 w 199"/>
                  <a:gd name="T25" fmla="*/ 4 h 59"/>
                  <a:gd name="T26" fmla="*/ 146 w 199"/>
                  <a:gd name="T27" fmla="*/ 59 h 59"/>
                  <a:gd name="T28" fmla="*/ 144 w 199"/>
                  <a:gd name="T29" fmla="*/ 59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9" h="59">
                    <a:moveTo>
                      <a:pt x="144" y="59"/>
                    </a:moveTo>
                    <a:cubicBezTo>
                      <a:pt x="144" y="59"/>
                      <a:pt x="143" y="59"/>
                      <a:pt x="142" y="59"/>
                    </a:cubicBezTo>
                    <a:cubicBezTo>
                      <a:pt x="141" y="58"/>
                      <a:pt x="141" y="56"/>
                      <a:pt x="142" y="55"/>
                    </a:cubicBezTo>
                    <a:cubicBezTo>
                      <a:pt x="190" y="5"/>
                      <a:pt x="190" y="5"/>
                      <a:pt x="190" y="5"/>
                    </a:cubicBezTo>
                    <a:cubicBezTo>
                      <a:pt x="55" y="5"/>
                      <a:pt x="55" y="5"/>
                      <a:pt x="55" y="5"/>
                    </a:cubicBezTo>
                    <a:cubicBezTo>
                      <a:pt x="5" y="58"/>
                      <a:pt x="5" y="58"/>
                      <a:pt x="5" y="58"/>
                    </a:cubicBezTo>
                    <a:cubicBezTo>
                      <a:pt x="4" y="59"/>
                      <a:pt x="2" y="59"/>
                      <a:pt x="1" y="58"/>
                    </a:cubicBezTo>
                    <a:cubicBezTo>
                      <a:pt x="0" y="57"/>
                      <a:pt x="0" y="55"/>
                      <a:pt x="1" y="54"/>
                    </a:cubicBezTo>
                    <a:cubicBezTo>
                      <a:pt x="52" y="1"/>
                      <a:pt x="52" y="1"/>
                      <a:pt x="52" y="1"/>
                    </a:cubicBezTo>
                    <a:cubicBezTo>
                      <a:pt x="52" y="0"/>
                      <a:pt x="53" y="1"/>
                      <a:pt x="54" y="1"/>
                    </a:cubicBezTo>
                    <a:cubicBezTo>
                      <a:pt x="196" y="1"/>
                      <a:pt x="196" y="1"/>
                      <a:pt x="196" y="1"/>
                    </a:cubicBezTo>
                    <a:cubicBezTo>
                      <a:pt x="197" y="1"/>
                      <a:pt x="198" y="1"/>
                      <a:pt x="199" y="2"/>
                    </a:cubicBezTo>
                    <a:cubicBezTo>
                      <a:pt x="199" y="3"/>
                      <a:pt x="199" y="3"/>
                      <a:pt x="198" y="4"/>
                    </a:cubicBezTo>
                    <a:cubicBezTo>
                      <a:pt x="146" y="59"/>
                      <a:pt x="146" y="59"/>
                      <a:pt x="146" y="59"/>
                    </a:cubicBezTo>
                    <a:cubicBezTo>
                      <a:pt x="146" y="59"/>
                      <a:pt x="145" y="59"/>
                      <a:pt x="144" y="59"/>
                    </a:cubicBezTo>
                    <a:close/>
                  </a:path>
                </a:pathLst>
              </a:custGeom>
              <a:solidFill>
                <a:schemeClr val="bg2"/>
              </a:solidFill>
              <a:ln>
                <a:noFill/>
              </a:ln>
            </p:spPr>
            <p:txBody>
              <a:bodyPr anchor="ctr"/>
              <a:lstStyle/>
              <a:p>
                <a:pPr algn="ctr"/>
              </a:p>
            </p:txBody>
          </p:sp>
          <p:sp>
            <p:nvSpPr>
              <p:cNvPr id="64" name="Freeform: Shape 126"/>
              <p:cNvSpPr/>
              <p:nvPr>
                <p:custDataLst>
                  <p:tags r:id="rId98"/>
                </p:custDataLst>
              </p:nvPr>
            </p:nvSpPr>
            <p:spPr bwMode="auto">
              <a:xfrm>
                <a:off x="4379199" y="3155770"/>
                <a:ext cx="93582" cy="318450"/>
              </a:xfrm>
              <a:custGeom>
                <a:avLst/>
                <a:gdLst>
                  <a:gd name="T0" fmla="*/ 3 w 59"/>
                  <a:gd name="T1" fmla="*/ 200 h 200"/>
                  <a:gd name="T2" fmla="*/ 1 w 59"/>
                  <a:gd name="T3" fmla="*/ 199 h 200"/>
                  <a:gd name="T4" fmla="*/ 1 w 59"/>
                  <a:gd name="T5" fmla="*/ 195 h 200"/>
                  <a:gd name="T6" fmla="*/ 53 w 59"/>
                  <a:gd name="T7" fmla="*/ 138 h 200"/>
                  <a:gd name="T8" fmla="*/ 52 w 59"/>
                  <a:gd name="T9" fmla="*/ 2 h 200"/>
                  <a:gd name="T10" fmla="*/ 54 w 59"/>
                  <a:gd name="T11" fmla="*/ 0 h 200"/>
                  <a:gd name="T12" fmla="*/ 57 w 59"/>
                  <a:gd name="T13" fmla="*/ 2 h 200"/>
                  <a:gd name="T14" fmla="*/ 59 w 59"/>
                  <a:gd name="T15" fmla="*/ 139 h 200"/>
                  <a:gd name="T16" fmla="*/ 58 w 59"/>
                  <a:gd name="T17" fmla="*/ 141 h 200"/>
                  <a:gd name="T18" fmla="*/ 5 w 59"/>
                  <a:gd name="T19" fmla="*/ 199 h 200"/>
                  <a:gd name="T20" fmla="*/ 3 w 59"/>
                  <a:gd name="T21" fmla="*/ 200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200">
                    <a:moveTo>
                      <a:pt x="3" y="200"/>
                    </a:moveTo>
                    <a:cubicBezTo>
                      <a:pt x="2" y="200"/>
                      <a:pt x="2" y="199"/>
                      <a:pt x="1" y="199"/>
                    </a:cubicBezTo>
                    <a:cubicBezTo>
                      <a:pt x="0" y="198"/>
                      <a:pt x="0" y="196"/>
                      <a:pt x="1" y="195"/>
                    </a:cubicBezTo>
                    <a:cubicBezTo>
                      <a:pt x="53" y="138"/>
                      <a:pt x="53" y="138"/>
                      <a:pt x="53" y="138"/>
                    </a:cubicBezTo>
                    <a:cubicBezTo>
                      <a:pt x="52" y="2"/>
                      <a:pt x="52" y="2"/>
                      <a:pt x="52" y="2"/>
                    </a:cubicBezTo>
                    <a:cubicBezTo>
                      <a:pt x="52" y="1"/>
                      <a:pt x="53" y="0"/>
                      <a:pt x="54" y="0"/>
                    </a:cubicBezTo>
                    <a:cubicBezTo>
                      <a:pt x="56" y="0"/>
                      <a:pt x="57" y="1"/>
                      <a:pt x="57" y="2"/>
                    </a:cubicBezTo>
                    <a:cubicBezTo>
                      <a:pt x="59" y="139"/>
                      <a:pt x="59" y="139"/>
                      <a:pt x="59" y="139"/>
                    </a:cubicBezTo>
                    <a:cubicBezTo>
                      <a:pt x="59" y="140"/>
                      <a:pt x="59" y="140"/>
                      <a:pt x="58" y="141"/>
                    </a:cubicBezTo>
                    <a:cubicBezTo>
                      <a:pt x="5" y="199"/>
                      <a:pt x="5" y="199"/>
                      <a:pt x="5" y="199"/>
                    </a:cubicBezTo>
                    <a:cubicBezTo>
                      <a:pt x="4" y="199"/>
                      <a:pt x="4" y="200"/>
                      <a:pt x="3" y="200"/>
                    </a:cubicBezTo>
                    <a:close/>
                  </a:path>
                </a:pathLst>
              </a:custGeom>
              <a:solidFill>
                <a:schemeClr val="bg2"/>
              </a:solidFill>
              <a:ln>
                <a:noFill/>
              </a:ln>
            </p:spPr>
            <p:txBody>
              <a:bodyPr anchor="ctr"/>
              <a:lstStyle/>
              <a:p>
                <a:pPr algn="ctr"/>
              </a:p>
            </p:txBody>
          </p:sp>
          <p:sp>
            <p:nvSpPr>
              <p:cNvPr id="65" name="Freeform: Shape 127"/>
              <p:cNvSpPr/>
              <p:nvPr>
                <p:custDataLst>
                  <p:tags r:id="rId99"/>
                </p:custDataLst>
              </p:nvPr>
            </p:nvSpPr>
            <p:spPr bwMode="auto">
              <a:xfrm>
                <a:off x="4235796" y="3154423"/>
                <a:ext cx="9426" cy="20198"/>
              </a:xfrm>
              <a:custGeom>
                <a:avLst/>
                <a:gdLst>
                  <a:gd name="T0" fmla="*/ 3 w 6"/>
                  <a:gd name="T1" fmla="*/ 13 h 13"/>
                  <a:gd name="T2" fmla="*/ 0 w 6"/>
                  <a:gd name="T3" fmla="*/ 9 h 13"/>
                  <a:gd name="T4" fmla="*/ 0 w 6"/>
                  <a:gd name="T5" fmla="*/ 4 h 13"/>
                  <a:gd name="T6" fmla="*/ 3 w 6"/>
                  <a:gd name="T7" fmla="*/ 1 h 13"/>
                  <a:gd name="T8" fmla="*/ 6 w 6"/>
                  <a:gd name="T9" fmla="*/ 3 h 13"/>
                  <a:gd name="T10" fmla="*/ 6 w 6"/>
                  <a:gd name="T11" fmla="*/ 9 h 13"/>
                  <a:gd name="T12" fmla="*/ 3 w 6"/>
                  <a:gd name="T13" fmla="*/ 13 h 13"/>
                </a:gdLst>
                <a:ahLst/>
                <a:cxnLst>
                  <a:cxn ang="0">
                    <a:pos x="T0" y="T1"/>
                  </a:cxn>
                  <a:cxn ang="0">
                    <a:pos x="T2" y="T3"/>
                  </a:cxn>
                  <a:cxn ang="0">
                    <a:pos x="T4" y="T5"/>
                  </a:cxn>
                  <a:cxn ang="0">
                    <a:pos x="T6" y="T7"/>
                  </a:cxn>
                  <a:cxn ang="0">
                    <a:pos x="T8" y="T9"/>
                  </a:cxn>
                  <a:cxn ang="0">
                    <a:pos x="T10" y="T11"/>
                  </a:cxn>
                  <a:cxn ang="0">
                    <a:pos x="T12" y="T13"/>
                  </a:cxn>
                </a:cxnLst>
                <a:rect l="0" t="0" r="r" b="b"/>
                <a:pathLst>
                  <a:path w="6" h="13">
                    <a:moveTo>
                      <a:pt x="3" y="13"/>
                    </a:moveTo>
                    <a:cubicBezTo>
                      <a:pt x="1" y="13"/>
                      <a:pt x="0" y="11"/>
                      <a:pt x="0" y="9"/>
                    </a:cubicBezTo>
                    <a:cubicBezTo>
                      <a:pt x="0" y="4"/>
                      <a:pt x="0" y="4"/>
                      <a:pt x="0" y="4"/>
                    </a:cubicBezTo>
                    <a:cubicBezTo>
                      <a:pt x="0" y="2"/>
                      <a:pt x="1" y="1"/>
                      <a:pt x="3" y="1"/>
                    </a:cubicBezTo>
                    <a:cubicBezTo>
                      <a:pt x="4" y="0"/>
                      <a:pt x="6" y="2"/>
                      <a:pt x="6" y="3"/>
                    </a:cubicBezTo>
                    <a:cubicBezTo>
                      <a:pt x="6" y="9"/>
                      <a:pt x="6" y="9"/>
                      <a:pt x="6" y="9"/>
                    </a:cubicBezTo>
                    <a:cubicBezTo>
                      <a:pt x="6" y="11"/>
                      <a:pt x="4" y="13"/>
                      <a:pt x="3" y="13"/>
                    </a:cubicBezTo>
                    <a:close/>
                  </a:path>
                </a:pathLst>
              </a:custGeom>
              <a:solidFill>
                <a:schemeClr val="bg2"/>
              </a:solidFill>
              <a:ln>
                <a:noFill/>
              </a:ln>
            </p:spPr>
            <p:txBody>
              <a:bodyPr anchor="ctr"/>
              <a:lstStyle/>
              <a:p>
                <a:pPr algn="ctr"/>
              </a:p>
            </p:txBody>
          </p:sp>
          <p:sp>
            <p:nvSpPr>
              <p:cNvPr id="66" name="Freeform: Shape 128"/>
              <p:cNvSpPr/>
              <p:nvPr>
                <p:custDataLst>
                  <p:tags r:id="rId100"/>
                </p:custDataLst>
              </p:nvPr>
            </p:nvSpPr>
            <p:spPr bwMode="auto">
              <a:xfrm>
                <a:off x="4171837" y="3180007"/>
                <a:ext cx="74731" cy="273342"/>
              </a:xfrm>
              <a:custGeom>
                <a:avLst/>
                <a:gdLst>
                  <a:gd name="T0" fmla="*/ 1 w 47"/>
                  <a:gd name="T1" fmla="*/ 171 h 172"/>
                  <a:gd name="T2" fmla="*/ 8 w 47"/>
                  <a:gd name="T3" fmla="*/ 159 h 172"/>
                  <a:gd name="T4" fmla="*/ 12 w 47"/>
                  <a:gd name="T5" fmla="*/ 163 h 172"/>
                  <a:gd name="T6" fmla="*/ 3 w 47"/>
                  <a:gd name="T7" fmla="*/ 172 h 172"/>
                  <a:gd name="T8" fmla="*/ 15 w 47"/>
                  <a:gd name="T9" fmla="*/ 155 h 172"/>
                  <a:gd name="T10" fmla="*/ 22 w 47"/>
                  <a:gd name="T11" fmla="*/ 144 h 172"/>
                  <a:gd name="T12" fmla="*/ 26 w 47"/>
                  <a:gd name="T13" fmla="*/ 147 h 172"/>
                  <a:gd name="T14" fmla="*/ 17 w 47"/>
                  <a:gd name="T15" fmla="*/ 156 h 172"/>
                  <a:gd name="T16" fmla="*/ 30 w 47"/>
                  <a:gd name="T17" fmla="*/ 139 h 172"/>
                  <a:gd name="T18" fmla="*/ 37 w 47"/>
                  <a:gd name="T19" fmla="*/ 128 h 172"/>
                  <a:gd name="T20" fmla="*/ 41 w 47"/>
                  <a:gd name="T21" fmla="*/ 131 h 172"/>
                  <a:gd name="T22" fmla="*/ 32 w 47"/>
                  <a:gd name="T23" fmla="*/ 140 h 172"/>
                  <a:gd name="T24" fmla="*/ 42 w 47"/>
                  <a:gd name="T25" fmla="*/ 122 h 172"/>
                  <a:gd name="T26" fmla="*/ 45 w 47"/>
                  <a:gd name="T27" fmla="*/ 108 h 172"/>
                  <a:gd name="T28" fmla="*/ 47 w 47"/>
                  <a:gd name="T29" fmla="*/ 122 h 172"/>
                  <a:gd name="T30" fmla="*/ 44 w 47"/>
                  <a:gd name="T31" fmla="*/ 105 h 172"/>
                  <a:gd name="T32" fmla="*/ 42 w 47"/>
                  <a:gd name="T33" fmla="*/ 90 h 172"/>
                  <a:gd name="T34" fmla="*/ 47 w 47"/>
                  <a:gd name="T35" fmla="*/ 89 h 172"/>
                  <a:gd name="T36" fmla="*/ 44 w 47"/>
                  <a:gd name="T37" fmla="*/ 105 h 172"/>
                  <a:gd name="T38" fmla="*/ 41 w 47"/>
                  <a:gd name="T39" fmla="*/ 80 h 172"/>
                  <a:gd name="T40" fmla="*/ 44 w 47"/>
                  <a:gd name="T41" fmla="*/ 65 h 172"/>
                  <a:gd name="T42" fmla="*/ 47 w 47"/>
                  <a:gd name="T43" fmla="*/ 80 h 172"/>
                  <a:gd name="T44" fmla="*/ 44 w 47"/>
                  <a:gd name="T45" fmla="*/ 61 h 172"/>
                  <a:gd name="T46" fmla="*/ 41 w 47"/>
                  <a:gd name="T47" fmla="*/ 47 h 172"/>
                  <a:gd name="T48" fmla="*/ 46 w 47"/>
                  <a:gd name="T49" fmla="*/ 46 h 172"/>
                  <a:gd name="T50" fmla="*/ 44 w 47"/>
                  <a:gd name="T51" fmla="*/ 61 h 172"/>
                  <a:gd name="T52" fmla="*/ 41 w 47"/>
                  <a:gd name="T53" fmla="*/ 35 h 172"/>
                  <a:gd name="T54" fmla="*/ 43 w 47"/>
                  <a:gd name="T55" fmla="*/ 22 h 172"/>
                  <a:gd name="T56" fmla="*/ 46 w 47"/>
                  <a:gd name="T57" fmla="*/ 35 h 172"/>
                  <a:gd name="T58" fmla="*/ 43 w 47"/>
                  <a:gd name="T59" fmla="*/ 37 h 172"/>
                  <a:gd name="T60" fmla="*/ 40 w 47"/>
                  <a:gd name="T61" fmla="*/ 12 h 172"/>
                  <a:gd name="T62" fmla="*/ 43 w 47"/>
                  <a:gd name="T63" fmla="*/ 0 h 172"/>
                  <a:gd name="T64" fmla="*/ 46 w 47"/>
                  <a:gd name="T65" fmla="*/ 12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7" h="172">
                    <a:moveTo>
                      <a:pt x="3" y="172"/>
                    </a:moveTo>
                    <a:cubicBezTo>
                      <a:pt x="2" y="172"/>
                      <a:pt x="1" y="172"/>
                      <a:pt x="1" y="171"/>
                    </a:cubicBezTo>
                    <a:cubicBezTo>
                      <a:pt x="0" y="170"/>
                      <a:pt x="0" y="168"/>
                      <a:pt x="1" y="167"/>
                    </a:cubicBezTo>
                    <a:cubicBezTo>
                      <a:pt x="8" y="159"/>
                      <a:pt x="8" y="159"/>
                      <a:pt x="8" y="159"/>
                    </a:cubicBezTo>
                    <a:cubicBezTo>
                      <a:pt x="9" y="158"/>
                      <a:pt x="11" y="158"/>
                      <a:pt x="12" y="159"/>
                    </a:cubicBezTo>
                    <a:cubicBezTo>
                      <a:pt x="13" y="160"/>
                      <a:pt x="13" y="162"/>
                      <a:pt x="12" y="163"/>
                    </a:cubicBezTo>
                    <a:cubicBezTo>
                      <a:pt x="5" y="171"/>
                      <a:pt x="5" y="171"/>
                      <a:pt x="5" y="171"/>
                    </a:cubicBezTo>
                    <a:cubicBezTo>
                      <a:pt x="4" y="171"/>
                      <a:pt x="3" y="172"/>
                      <a:pt x="3" y="172"/>
                    </a:cubicBezTo>
                    <a:close/>
                    <a:moveTo>
                      <a:pt x="17" y="156"/>
                    </a:moveTo>
                    <a:cubicBezTo>
                      <a:pt x="16" y="156"/>
                      <a:pt x="16" y="156"/>
                      <a:pt x="15" y="155"/>
                    </a:cubicBezTo>
                    <a:cubicBezTo>
                      <a:pt x="14" y="154"/>
                      <a:pt x="14" y="153"/>
                      <a:pt x="15" y="151"/>
                    </a:cubicBezTo>
                    <a:cubicBezTo>
                      <a:pt x="22" y="144"/>
                      <a:pt x="22" y="144"/>
                      <a:pt x="22" y="144"/>
                    </a:cubicBezTo>
                    <a:cubicBezTo>
                      <a:pt x="23" y="142"/>
                      <a:pt x="25" y="142"/>
                      <a:pt x="26" y="143"/>
                    </a:cubicBezTo>
                    <a:cubicBezTo>
                      <a:pt x="27" y="144"/>
                      <a:pt x="27" y="146"/>
                      <a:pt x="26" y="147"/>
                    </a:cubicBezTo>
                    <a:cubicBezTo>
                      <a:pt x="19" y="155"/>
                      <a:pt x="19" y="155"/>
                      <a:pt x="19" y="155"/>
                    </a:cubicBezTo>
                    <a:cubicBezTo>
                      <a:pt x="19" y="156"/>
                      <a:pt x="18" y="156"/>
                      <a:pt x="17" y="156"/>
                    </a:cubicBezTo>
                    <a:close/>
                    <a:moveTo>
                      <a:pt x="32" y="140"/>
                    </a:moveTo>
                    <a:cubicBezTo>
                      <a:pt x="31" y="140"/>
                      <a:pt x="30" y="140"/>
                      <a:pt x="30" y="139"/>
                    </a:cubicBezTo>
                    <a:cubicBezTo>
                      <a:pt x="29" y="138"/>
                      <a:pt x="29" y="137"/>
                      <a:pt x="30" y="136"/>
                    </a:cubicBezTo>
                    <a:cubicBezTo>
                      <a:pt x="37" y="128"/>
                      <a:pt x="37" y="128"/>
                      <a:pt x="37" y="128"/>
                    </a:cubicBezTo>
                    <a:cubicBezTo>
                      <a:pt x="38" y="127"/>
                      <a:pt x="40" y="127"/>
                      <a:pt x="41" y="128"/>
                    </a:cubicBezTo>
                    <a:cubicBezTo>
                      <a:pt x="42" y="129"/>
                      <a:pt x="42" y="130"/>
                      <a:pt x="41" y="131"/>
                    </a:cubicBezTo>
                    <a:cubicBezTo>
                      <a:pt x="34" y="139"/>
                      <a:pt x="34" y="139"/>
                      <a:pt x="34" y="139"/>
                    </a:cubicBezTo>
                    <a:cubicBezTo>
                      <a:pt x="33" y="140"/>
                      <a:pt x="32" y="140"/>
                      <a:pt x="32" y="140"/>
                    </a:cubicBezTo>
                    <a:close/>
                    <a:moveTo>
                      <a:pt x="45" y="125"/>
                    </a:moveTo>
                    <a:cubicBezTo>
                      <a:pt x="43" y="125"/>
                      <a:pt x="42" y="123"/>
                      <a:pt x="42" y="122"/>
                    </a:cubicBezTo>
                    <a:cubicBezTo>
                      <a:pt x="42" y="111"/>
                      <a:pt x="42" y="111"/>
                      <a:pt x="42" y="111"/>
                    </a:cubicBezTo>
                    <a:cubicBezTo>
                      <a:pt x="42" y="109"/>
                      <a:pt x="43" y="108"/>
                      <a:pt x="45" y="108"/>
                    </a:cubicBezTo>
                    <a:cubicBezTo>
                      <a:pt x="46" y="108"/>
                      <a:pt x="47" y="109"/>
                      <a:pt x="47" y="110"/>
                    </a:cubicBezTo>
                    <a:cubicBezTo>
                      <a:pt x="47" y="122"/>
                      <a:pt x="47" y="122"/>
                      <a:pt x="47" y="122"/>
                    </a:cubicBezTo>
                    <a:cubicBezTo>
                      <a:pt x="47" y="123"/>
                      <a:pt x="46" y="125"/>
                      <a:pt x="45" y="125"/>
                    </a:cubicBezTo>
                    <a:close/>
                    <a:moveTo>
                      <a:pt x="44" y="105"/>
                    </a:moveTo>
                    <a:cubicBezTo>
                      <a:pt x="43" y="105"/>
                      <a:pt x="42" y="103"/>
                      <a:pt x="42" y="101"/>
                    </a:cubicBezTo>
                    <a:cubicBezTo>
                      <a:pt x="42" y="90"/>
                      <a:pt x="42" y="90"/>
                      <a:pt x="42" y="90"/>
                    </a:cubicBezTo>
                    <a:cubicBezTo>
                      <a:pt x="42" y="88"/>
                      <a:pt x="43" y="87"/>
                      <a:pt x="44" y="87"/>
                    </a:cubicBezTo>
                    <a:cubicBezTo>
                      <a:pt x="46" y="86"/>
                      <a:pt x="47" y="88"/>
                      <a:pt x="47" y="89"/>
                    </a:cubicBezTo>
                    <a:cubicBezTo>
                      <a:pt x="47" y="101"/>
                      <a:pt x="47" y="101"/>
                      <a:pt x="47" y="101"/>
                    </a:cubicBezTo>
                    <a:cubicBezTo>
                      <a:pt x="47" y="103"/>
                      <a:pt x="46" y="105"/>
                      <a:pt x="44" y="105"/>
                    </a:cubicBezTo>
                    <a:close/>
                    <a:moveTo>
                      <a:pt x="44" y="85"/>
                    </a:moveTo>
                    <a:cubicBezTo>
                      <a:pt x="43" y="85"/>
                      <a:pt x="41" y="82"/>
                      <a:pt x="41" y="80"/>
                    </a:cubicBezTo>
                    <a:cubicBezTo>
                      <a:pt x="41" y="69"/>
                      <a:pt x="41" y="69"/>
                      <a:pt x="41" y="69"/>
                    </a:cubicBezTo>
                    <a:cubicBezTo>
                      <a:pt x="41" y="67"/>
                      <a:pt x="42" y="65"/>
                      <a:pt x="44" y="65"/>
                    </a:cubicBezTo>
                    <a:cubicBezTo>
                      <a:pt x="45" y="65"/>
                      <a:pt x="47" y="66"/>
                      <a:pt x="47" y="68"/>
                    </a:cubicBezTo>
                    <a:cubicBezTo>
                      <a:pt x="47" y="80"/>
                      <a:pt x="47" y="80"/>
                      <a:pt x="47" y="80"/>
                    </a:cubicBezTo>
                    <a:cubicBezTo>
                      <a:pt x="47" y="82"/>
                      <a:pt x="46" y="85"/>
                      <a:pt x="44" y="85"/>
                    </a:cubicBezTo>
                    <a:close/>
                    <a:moveTo>
                      <a:pt x="44" y="61"/>
                    </a:moveTo>
                    <a:cubicBezTo>
                      <a:pt x="42" y="61"/>
                      <a:pt x="41" y="59"/>
                      <a:pt x="41" y="58"/>
                    </a:cubicBezTo>
                    <a:cubicBezTo>
                      <a:pt x="41" y="47"/>
                      <a:pt x="41" y="47"/>
                      <a:pt x="41" y="47"/>
                    </a:cubicBezTo>
                    <a:cubicBezTo>
                      <a:pt x="41" y="45"/>
                      <a:pt x="42" y="44"/>
                      <a:pt x="44" y="44"/>
                    </a:cubicBezTo>
                    <a:cubicBezTo>
                      <a:pt x="45" y="43"/>
                      <a:pt x="46" y="45"/>
                      <a:pt x="46" y="46"/>
                    </a:cubicBezTo>
                    <a:cubicBezTo>
                      <a:pt x="47" y="58"/>
                      <a:pt x="47" y="58"/>
                      <a:pt x="47" y="58"/>
                    </a:cubicBezTo>
                    <a:cubicBezTo>
                      <a:pt x="47" y="59"/>
                      <a:pt x="45" y="61"/>
                      <a:pt x="44" y="61"/>
                    </a:cubicBezTo>
                    <a:close/>
                    <a:moveTo>
                      <a:pt x="43" y="37"/>
                    </a:moveTo>
                    <a:cubicBezTo>
                      <a:pt x="42" y="37"/>
                      <a:pt x="41" y="36"/>
                      <a:pt x="41" y="35"/>
                    </a:cubicBezTo>
                    <a:cubicBezTo>
                      <a:pt x="41" y="24"/>
                      <a:pt x="41" y="24"/>
                      <a:pt x="41" y="24"/>
                    </a:cubicBezTo>
                    <a:cubicBezTo>
                      <a:pt x="41" y="23"/>
                      <a:pt x="42" y="22"/>
                      <a:pt x="43" y="22"/>
                    </a:cubicBezTo>
                    <a:cubicBezTo>
                      <a:pt x="45" y="22"/>
                      <a:pt x="46" y="23"/>
                      <a:pt x="46" y="25"/>
                    </a:cubicBezTo>
                    <a:cubicBezTo>
                      <a:pt x="46" y="35"/>
                      <a:pt x="46" y="35"/>
                      <a:pt x="46" y="35"/>
                    </a:cubicBezTo>
                    <a:cubicBezTo>
                      <a:pt x="46" y="36"/>
                      <a:pt x="45" y="37"/>
                      <a:pt x="44" y="37"/>
                    </a:cubicBezTo>
                    <a:lnTo>
                      <a:pt x="43" y="37"/>
                    </a:lnTo>
                    <a:close/>
                    <a:moveTo>
                      <a:pt x="43" y="13"/>
                    </a:moveTo>
                    <a:cubicBezTo>
                      <a:pt x="42" y="13"/>
                      <a:pt x="40" y="14"/>
                      <a:pt x="40" y="12"/>
                    </a:cubicBezTo>
                    <a:cubicBezTo>
                      <a:pt x="40" y="2"/>
                      <a:pt x="40" y="2"/>
                      <a:pt x="40" y="2"/>
                    </a:cubicBezTo>
                    <a:cubicBezTo>
                      <a:pt x="40" y="1"/>
                      <a:pt x="41" y="0"/>
                      <a:pt x="43" y="0"/>
                    </a:cubicBezTo>
                    <a:cubicBezTo>
                      <a:pt x="44" y="0"/>
                      <a:pt x="46" y="1"/>
                      <a:pt x="46" y="3"/>
                    </a:cubicBezTo>
                    <a:cubicBezTo>
                      <a:pt x="46" y="12"/>
                      <a:pt x="46" y="12"/>
                      <a:pt x="46" y="12"/>
                    </a:cubicBezTo>
                    <a:cubicBezTo>
                      <a:pt x="46" y="13"/>
                      <a:pt x="45" y="13"/>
                      <a:pt x="43" y="13"/>
                    </a:cubicBezTo>
                    <a:close/>
                  </a:path>
                </a:pathLst>
              </a:custGeom>
              <a:solidFill>
                <a:schemeClr val="bg2"/>
              </a:solidFill>
              <a:ln>
                <a:noFill/>
              </a:ln>
            </p:spPr>
            <p:txBody>
              <a:bodyPr anchor="ctr"/>
              <a:lstStyle/>
              <a:p>
                <a:pPr algn="ctr"/>
              </a:p>
            </p:txBody>
          </p:sp>
          <p:sp>
            <p:nvSpPr>
              <p:cNvPr id="67" name="Freeform: Shape 129"/>
              <p:cNvSpPr/>
              <p:nvPr>
                <p:custDataLst>
                  <p:tags r:id="rId101"/>
                </p:custDataLst>
              </p:nvPr>
            </p:nvSpPr>
            <p:spPr bwMode="auto">
              <a:xfrm>
                <a:off x="4154332" y="3456715"/>
                <a:ext cx="14138" cy="16158"/>
              </a:xfrm>
              <a:custGeom>
                <a:avLst/>
                <a:gdLst>
                  <a:gd name="T0" fmla="*/ 3 w 9"/>
                  <a:gd name="T1" fmla="*/ 10 h 10"/>
                  <a:gd name="T2" fmla="*/ 1 w 9"/>
                  <a:gd name="T3" fmla="*/ 9 h 10"/>
                  <a:gd name="T4" fmla="*/ 1 w 9"/>
                  <a:gd name="T5" fmla="*/ 5 h 10"/>
                  <a:gd name="T6" fmla="*/ 4 w 9"/>
                  <a:gd name="T7" fmla="*/ 1 h 10"/>
                  <a:gd name="T8" fmla="*/ 8 w 9"/>
                  <a:gd name="T9" fmla="*/ 1 h 10"/>
                  <a:gd name="T10" fmla="*/ 8 w 9"/>
                  <a:gd name="T11" fmla="*/ 5 h 10"/>
                  <a:gd name="T12" fmla="*/ 5 w 9"/>
                  <a:gd name="T13" fmla="*/ 9 h 10"/>
                  <a:gd name="T14" fmla="*/ 3 w 9"/>
                  <a:gd name="T15" fmla="*/ 10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0">
                    <a:moveTo>
                      <a:pt x="3" y="10"/>
                    </a:moveTo>
                    <a:cubicBezTo>
                      <a:pt x="2" y="10"/>
                      <a:pt x="1" y="9"/>
                      <a:pt x="1" y="9"/>
                    </a:cubicBezTo>
                    <a:cubicBezTo>
                      <a:pt x="0" y="8"/>
                      <a:pt x="0" y="6"/>
                      <a:pt x="1" y="5"/>
                    </a:cubicBezTo>
                    <a:cubicBezTo>
                      <a:pt x="4" y="1"/>
                      <a:pt x="4" y="1"/>
                      <a:pt x="4" y="1"/>
                    </a:cubicBezTo>
                    <a:cubicBezTo>
                      <a:pt x="5" y="0"/>
                      <a:pt x="7" y="0"/>
                      <a:pt x="8" y="1"/>
                    </a:cubicBezTo>
                    <a:cubicBezTo>
                      <a:pt x="9" y="2"/>
                      <a:pt x="9" y="4"/>
                      <a:pt x="8" y="5"/>
                    </a:cubicBezTo>
                    <a:cubicBezTo>
                      <a:pt x="5" y="9"/>
                      <a:pt x="5" y="9"/>
                      <a:pt x="5" y="9"/>
                    </a:cubicBezTo>
                    <a:cubicBezTo>
                      <a:pt x="4" y="9"/>
                      <a:pt x="3" y="10"/>
                      <a:pt x="3" y="10"/>
                    </a:cubicBezTo>
                    <a:close/>
                  </a:path>
                </a:pathLst>
              </a:custGeom>
              <a:solidFill>
                <a:schemeClr val="bg2"/>
              </a:solidFill>
              <a:ln>
                <a:noFill/>
              </a:ln>
            </p:spPr>
            <p:txBody>
              <a:bodyPr anchor="ctr"/>
              <a:lstStyle/>
              <a:p>
                <a:pPr algn="ctr"/>
              </a:p>
            </p:txBody>
          </p:sp>
          <p:sp>
            <p:nvSpPr>
              <p:cNvPr id="68" name="Freeform: Shape 130"/>
              <p:cNvSpPr/>
              <p:nvPr>
                <p:custDataLst>
                  <p:tags r:id="rId102"/>
                </p:custDataLst>
              </p:nvPr>
            </p:nvSpPr>
            <p:spPr bwMode="auto">
              <a:xfrm>
                <a:off x="4238489" y="3372558"/>
                <a:ext cx="17505" cy="6059"/>
              </a:xfrm>
              <a:custGeom>
                <a:avLst/>
                <a:gdLst>
                  <a:gd name="T0" fmla="*/ 8 w 11"/>
                  <a:gd name="T1" fmla="*/ 4 h 4"/>
                  <a:gd name="T2" fmla="*/ 8 w 11"/>
                  <a:gd name="T3" fmla="*/ 4 h 4"/>
                  <a:gd name="T4" fmla="*/ 3 w 11"/>
                  <a:gd name="T5" fmla="*/ 4 h 4"/>
                  <a:gd name="T6" fmla="*/ 0 w 11"/>
                  <a:gd name="T7" fmla="*/ 2 h 4"/>
                  <a:gd name="T8" fmla="*/ 3 w 11"/>
                  <a:gd name="T9" fmla="*/ 0 h 4"/>
                  <a:gd name="T10" fmla="*/ 3 w 11"/>
                  <a:gd name="T11" fmla="*/ 0 h 4"/>
                  <a:gd name="T12" fmla="*/ 8 w 11"/>
                  <a:gd name="T13" fmla="*/ 0 h 4"/>
                  <a:gd name="T14" fmla="*/ 11 w 11"/>
                  <a:gd name="T15" fmla="*/ 2 h 4"/>
                  <a:gd name="T16" fmla="*/ 8 w 11"/>
                  <a:gd name="T17" fmla="*/ 4 h 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4">
                    <a:moveTo>
                      <a:pt x="8" y="4"/>
                    </a:moveTo>
                    <a:cubicBezTo>
                      <a:pt x="8" y="4"/>
                      <a:pt x="8" y="4"/>
                      <a:pt x="8" y="4"/>
                    </a:cubicBezTo>
                    <a:cubicBezTo>
                      <a:pt x="3" y="4"/>
                      <a:pt x="3" y="4"/>
                      <a:pt x="3" y="4"/>
                    </a:cubicBezTo>
                    <a:cubicBezTo>
                      <a:pt x="1" y="4"/>
                      <a:pt x="0" y="4"/>
                      <a:pt x="0" y="2"/>
                    </a:cubicBezTo>
                    <a:cubicBezTo>
                      <a:pt x="0" y="1"/>
                      <a:pt x="1" y="0"/>
                      <a:pt x="3" y="0"/>
                    </a:cubicBezTo>
                    <a:cubicBezTo>
                      <a:pt x="3" y="0"/>
                      <a:pt x="3" y="0"/>
                      <a:pt x="3" y="0"/>
                    </a:cubicBezTo>
                    <a:cubicBezTo>
                      <a:pt x="8" y="0"/>
                      <a:pt x="8" y="0"/>
                      <a:pt x="8" y="0"/>
                    </a:cubicBezTo>
                    <a:cubicBezTo>
                      <a:pt x="10" y="0"/>
                      <a:pt x="11" y="0"/>
                      <a:pt x="11" y="2"/>
                    </a:cubicBezTo>
                    <a:cubicBezTo>
                      <a:pt x="11" y="3"/>
                      <a:pt x="10" y="4"/>
                      <a:pt x="8" y="4"/>
                    </a:cubicBezTo>
                    <a:close/>
                  </a:path>
                </a:pathLst>
              </a:custGeom>
              <a:solidFill>
                <a:schemeClr val="bg2"/>
              </a:solidFill>
              <a:ln>
                <a:noFill/>
              </a:ln>
            </p:spPr>
            <p:txBody>
              <a:bodyPr anchor="ctr"/>
              <a:lstStyle/>
              <a:p>
                <a:pPr algn="ctr"/>
              </a:p>
            </p:txBody>
          </p:sp>
          <p:sp>
            <p:nvSpPr>
              <p:cNvPr id="69" name="Freeform: Shape 131"/>
              <p:cNvSpPr/>
              <p:nvPr>
                <p:custDataLst>
                  <p:tags r:id="rId103"/>
                </p:custDataLst>
              </p:nvPr>
            </p:nvSpPr>
            <p:spPr bwMode="auto">
              <a:xfrm>
                <a:off x="4266093" y="3365826"/>
                <a:ext cx="175046" cy="14138"/>
              </a:xfrm>
              <a:custGeom>
                <a:avLst/>
                <a:gdLst>
                  <a:gd name="T0" fmla="*/ 108 w 110"/>
                  <a:gd name="T1" fmla="*/ 8 h 9"/>
                  <a:gd name="T2" fmla="*/ 107 w 110"/>
                  <a:gd name="T3" fmla="*/ 8 h 9"/>
                  <a:gd name="T4" fmla="*/ 96 w 110"/>
                  <a:gd name="T5" fmla="*/ 9 h 9"/>
                  <a:gd name="T6" fmla="*/ 93 w 110"/>
                  <a:gd name="T7" fmla="*/ 6 h 9"/>
                  <a:gd name="T8" fmla="*/ 96 w 110"/>
                  <a:gd name="T9" fmla="*/ 4 h 9"/>
                  <a:gd name="T10" fmla="*/ 108 w 110"/>
                  <a:gd name="T11" fmla="*/ 4 h 9"/>
                  <a:gd name="T12" fmla="*/ 110 w 110"/>
                  <a:gd name="T13" fmla="*/ 6 h 9"/>
                  <a:gd name="T14" fmla="*/ 108 w 110"/>
                  <a:gd name="T15" fmla="*/ 8 h 9"/>
                  <a:gd name="T16" fmla="*/ 84 w 110"/>
                  <a:gd name="T17" fmla="*/ 8 h 9"/>
                  <a:gd name="T18" fmla="*/ 84 w 110"/>
                  <a:gd name="T19" fmla="*/ 8 h 9"/>
                  <a:gd name="T20" fmla="*/ 73 w 110"/>
                  <a:gd name="T21" fmla="*/ 9 h 9"/>
                  <a:gd name="T22" fmla="*/ 70 w 110"/>
                  <a:gd name="T23" fmla="*/ 4 h 9"/>
                  <a:gd name="T24" fmla="*/ 73 w 110"/>
                  <a:gd name="T25" fmla="*/ 0 h 9"/>
                  <a:gd name="T26" fmla="*/ 73 w 110"/>
                  <a:gd name="T27" fmla="*/ 0 h 9"/>
                  <a:gd name="T28" fmla="*/ 84 w 110"/>
                  <a:gd name="T29" fmla="*/ 2 h 9"/>
                  <a:gd name="T30" fmla="*/ 87 w 110"/>
                  <a:gd name="T31" fmla="*/ 5 h 9"/>
                  <a:gd name="T32" fmla="*/ 84 w 110"/>
                  <a:gd name="T33" fmla="*/ 8 h 9"/>
                  <a:gd name="T34" fmla="*/ 61 w 110"/>
                  <a:gd name="T35" fmla="*/ 8 h 9"/>
                  <a:gd name="T36" fmla="*/ 61 w 110"/>
                  <a:gd name="T37" fmla="*/ 8 h 9"/>
                  <a:gd name="T38" fmla="*/ 49 w 110"/>
                  <a:gd name="T39" fmla="*/ 9 h 9"/>
                  <a:gd name="T40" fmla="*/ 47 w 110"/>
                  <a:gd name="T41" fmla="*/ 4 h 9"/>
                  <a:gd name="T42" fmla="*/ 49 w 110"/>
                  <a:gd name="T43" fmla="*/ 0 h 9"/>
                  <a:gd name="T44" fmla="*/ 49 w 110"/>
                  <a:gd name="T45" fmla="*/ 0 h 9"/>
                  <a:gd name="T46" fmla="*/ 61 w 110"/>
                  <a:gd name="T47" fmla="*/ 2 h 9"/>
                  <a:gd name="T48" fmla="*/ 64 w 110"/>
                  <a:gd name="T49" fmla="*/ 5 h 9"/>
                  <a:gd name="T50" fmla="*/ 61 w 110"/>
                  <a:gd name="T51" fmla="*/ 8 h 9"/>
                  <a:gd name="T52" fmla="*/ 38 w 110"/>
                  <a:gd name="T53" fmla="*/ 8 h 9"/>
                  <a:gd name="T54" fmla="*/ 38 w 110"/>
                  <a:gd name="T55" fmla="*/ 8 h 9"/>
                  <a:gd name="T56" fmla="*/ 26 w 110"/>
                  <a:gd name="T57" fmla="*/ 8 h 9"/>
                  <a:gd name="T58" fmla="*/ 23 w 110"/>
                  <a:gd name="T59" fmla="*/ 4 h 9"/>
                  <a:gd name="T60" fmla="*/ 26 w 110"/>
                  <a:gd name="T61" fmla="*/ 0 h 9"/>
                  <a:gd name="T62" fmla="*/ 26 w 110"/>
                  <a:gd name="T63" fmla="*/ 0 h 9"/>
                  <a:gd name="T64" fmla="*/ 38 w 110"/>
                  <a:gd name="T65" fmla="*/ 2 h 9"/>
                  <a:gd name="T66" fmla="*/ 40 w 110"/>
                  <a:gd name="T67" fmla="*/ 5 h 9"/>
                  <a:gd name="T68" fmla="*/ 38 w 110"/>
                  <a:gd name="T69" fmla="*/ 8 h 9"/>
                  <a:gd name="T70" fmla="*/ 14 w 110"/>
                  <a:gd name="T71" fmla="*/ 8 h 9"/>
                  <a:gd name="T72" fmla="*/ 14 w 110"/>
                  <a:gd name="T73" fmla="*/ 8 h 9"/>
                  <a:gd name="T74" fmla="*/ 3 w 110"/>
                  <a:gd name="T75" fmla="*/ 8 h 9"/>
                  <a:gd name="T76" fmla="*/ 0 w 110"/>
                  <a:gd name="T77" fmla="*/ 4 h 9"/>
                  <a:gd name="T78" fmla="*/ 3 w 110"/>
                  <a:gd name="T79" fmla="*/ 0 h 9"/>
                  <a:gd name="T80" fmla="*/ 3 w 110"/>
                  <a:gd name="T81" fmla="*/ 0 h 9"/>
                  <a:gd name="T82" fmla="*/ 15 w 110"/>
                  <a:gd name="T83" fmla="*/ 2 h 9"/>
                  <a:gd name="T84" fmla="*/ 17 w 110"/>
                  <a:gd name="T85" fmla="*/ 5 h 9"/>
                  <a:gd name="T86" fmla="*/ 14 w 110"/>
                  <a:gd name="T87" fmla="*/ 8 h 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0" h="9">
                    <a:moveTo>
                      <a:pt x="108" y="8"/>
                    </a:moveTo>
                    <a:cubicBezTo>
                      <a:pt x="107" y="8"/>
                      <a:pt x="107" y="8"/>
                      <a:pt x="107" y="8"/>
                    </a:cubicBezTo>
                    <a:cubicBezTo>
                      <a:pt x="96" y="9"/>
                      <a:pt x="96" y="9"/>
                      <a:pt x="96" y="9"/>
                    </a:cubicBezTo>
                    <a:cubicBezTo>
                      <a:pt x="94" y="9"/>
                      <a:pt x="93" y="8"/>
                      <a:pt x="93" y="6"/>
                    </a:cubicBezTo>
                    <a:cubicBezTo>
                      <a:pt x="93" y="5"/>
                      <a:pt x="94" y="4"/>
                      <a:pt x="96" y="4"/>
                    </a:cubicBezTo>
                    <a:cubicBezTo>
                      <a:pt x="108" y="4"/>
                      <a:pt x="108" y="4"/>
                      <a:pt x="108" y="4"/>
                    </a:cubicBezTo>
                    <a:cubicBezTo>
                      <a:pt x="109" y="4"/>
                      <a:pt x="110" y="4"/>
                      <a:pt x="110" y="6"/>
                    </a:cubicBezTo>
                    <a:cubicBezTo>
                      <a:pt x="110" y="8"/>
                      <a:pt x="109" y="8"/>
                      <a:pt x="108" y="8"/>
                    </a:cubicBezTo>
                    <a:close/>
                    <a:moveTo>
                      <a:pt x="84" y="8"/>
                    </a:moveTo>
                    <a:cubicBezTo>
                      <a:pt x="84" y="8"/>
                      <a:pt x="84" y="8"/>
                      <a:pt x="84" y="8"/>
                    </a:cubicBezTo>
                    <a:cubicBezTo>
                      <a:pt x="73" y="9"/>
                      <a:pt x="73" y="9"/>
                      <a:pt x="73" y="9"/>
                    </a:cubicBezTo>
                    <a:cubicBezTo>
                      <a:pt x="71" y="9"/>
                      <a:pt x="70" y="6"/>
                      <a:pt x="70" y="4"/>
                    </a:cubicBezTo>
                    <a:cubicBezTo>
                      <a:pt x="70" y="3"/>
                      <a:pt x="71" y="0"/>
                      <a:pt x="73" y="0"/>
                    </a:cubicBezTo>
                    <a:cubicBezTo>
                      <a:pt x="73" y="0"/>
                      <a:pt x="73" y="0"/>
                      <a:pt x="73" y="0"/>
                    </a:cubicBezTo>
                    <a:cubicBezTo>
                      <a:pt x="84" y="2"/>
                      <a:pt x="84" y="2"/>
                      <a:pt x="84" y="2"/>
                    </a:cubicBezTo>
                    <a:cubicBezTo>
                      <a:pt x="86" y="2"/>
                      <a:pt x="87" y="3"/>
                      <a:pt x="87" y="5"/>
                    </a:cubicBezTo>
                    <a:cubicBezTo>
                      <a:pt x="87" y="6"/>
                      <a:pt x="86" y="8"/>
                      <a:pt x="84" y="8"/>
                    </a:cubicBezTo>
                    <a:close/>
                    <a:moveTo>
                      <a:pt x="61" y="8"/>
                    </a:moveTo>
                    <a:cubicBezTo>
                      <a:pt x="61" y="8"/>
                      <a:pt x="61" y="8"/>
                      <a:pt x="61" y="8"/>
                    </a:cubicBezTo>
                    <a:cubicBezTo>
                      <a:pt x="49" y="9"/>
                      <a:pt x="49" y="9"/>
                      <a:pt x="49" y="9"/>
                    </a:cubicBezTo>
                    <a:cubicBezTo>
                      <a:pt x="48" y="9"/>
                      <a:pt x="47" y="6"/>
                      <a:pt x="47" y="4"/>
                    </a:cubicBezTo>
                    <a:cubicBezTo>
                      <a:pt x="47" y="3"/>
                      <a:pt x="48" y="0"/>
                      <a:pt x="49" y="0"/>
                    </a:cubicBezTo>
                    <a:cubicBezTo>
                      <a:pt x="49" y="0"/>
                      <a:pt x="49" y="0"/>
                      <a:pt x="49" y="0"/>
                    </a:cubicBezTo>
                    <a:cubicBezTo>
                      <a:pt x="61" y="2"/>
                      <a:pt x="61" y="2"/>
                      <a:pt x="61" y="2"/>
                    </a:cubicBezTo>
                    <a:cubicBezTo>
                      <a:pt x="63" y="2"/>
                      <a:pt x="64" y="3"/>
                      <a:pt x="64" y="5"/>
                    </a:cubicBezTo>
                    <a:cubicBezTo>
                      <a:pt x="64" y="6"/>
                      <a:pt x="63" y="8"/>
                      <a:pt x="61" y="8"/>
                    </a:cubicBezTo>
                    <a:close/>
                    <a:moveTo>
                      <a:pt x="38" y="8"/>
                    </a:moveTo>
                    <a:cubicBezTo>
                      <a:pt x="38" y="8"/>
                      <a:pt x="38" y="8"/>
                      <a:pt x="38" y="8"/>
                    </a:cubicBezTo>
                    <a:cubicBezTo>
                      <a:pt x="26" y="8"/>
                      <a:pt x="26" y="8"/>
                      <a:pt x="26" y="8"/>
                    </a:cubicBezTo>
                    <a:cubicBezTo>
                      <a:pt x="25" y="8"/>
                      <a:pt x="23" y="6"/>
                      <a:pt x="23" y="4"/>
                    </a:cubicBezTo>
                    <a:cubicBezTo>
                      <a:pt x="23" y="3"/>
                      <a:pt x="25" y="0"/>
                      <a:pt x="26" y="0"/>
                    </a:cubicBezTo>
                    <a:cubicBezTo>
                      <a:pt x="26" y="0"/>
                      <a:pt x="26" y="0"/>
                      <a:pt x="26" y="0"/>
                    </a:cubicBezTo>
                    <a:cubicBezTo>
                      <a:pt x="38" y="2"/>
                      <a:pt x="38" y="2"/>
                      <a:pt x="38" y="2"/>
                    </a:cubicBezTo>
                    <a:cubicBezTo>
                      <a:pt x="39" y="2"/>
                      <a:pt x="40" y="3"/>
                      <a:pt x="40" y="5"/>
                    </a:cubicBezTo>
                    <a:cubicBezTo>
                      <a:pt x="40" y="6"/>
                      <a:pt x="39" y="8"/>
                      <a:pt x="38" y="8"/>
                    </a:cubicBezTo>
                    <a:close/>
                    <a:moveTo>
                      <a:pt x="14" y="8"/>
                    </a:moveTo>
                    <a:cubicBezTo>
                      <a:pt x="14" y="8"/>
                      <a:pt x="14" y="8"/>
                      <a:pt x="14" y="8"/>
                    </a:cubicBezTo>
                    <a:cubicBezTo>
                      <a:pt x="3" y="8"/>
                      <a:pt x="3" y="8"/>
                      <a:pt x="3" y="8"/>
                    </a:cubicBezTo>
                    <a:cubicBezTo>
                      <a:pt x="1" y="8"/>
                      <a:pt x="0" y="6"/>
                      <a:pt x="0" y="4"/>
                    </a:cubicBezTo>
                    <a:cubicBezTo>
                      <a:pt x="0" y="3"/>
                      <a:pt x="1" y="0"/>
                      <a:pt x="3" y="0"/>
                    </a:cubicBezTo>
                    <a:cubicBezTo>
                      <a:pt x="3" y="0"/>
                      <a:pt x="3" y="0"/>
                      <a:pt x="3" y="0"/>
                    </a:cubicBezTo>
                    <a:cubicBezTo>
                      <a:pt x="15" y="2"/>
                      <a:pt x="15" y="2"/>
                      <a:pt x="15" y="2"/>
                    </a:cubicBezTo>
                    <a:cubicBezTo>
                      <a:pt x="16" y="2"/>
                      <a:pt x="17" y="3"/>
                      <a:pt x="17" y="5"/>
                    </a:cubicBezTo>
                    <a:cubicBezTo>
                      <a:pt x="17" y="6"/>
                      <a:pt x="16" y="8"/>
                      <a:pt x="14" y="8"/>
                    </a:cubicBezTo>
                    <a:close/>
                  </a:path>
                </a:pathLst>
              </a:custGeom>
              <a:solidFill>
                <a:schemeClr val="bg2"/>
              </a:solidFill>
              <a:ln>
                <a:noFill/>
              </a:ln>
            </p:spPr>
            <p:txBody>
              <a:bodyPr anchor="ctr"/>
              <a:lstStyle/>
              <a:p>
                <a:pPr algn="ctr"/>
              </a:p>
            </p:txBody>
          </p:sp>
          <p:sp>
            <p:nvSpPr>
              <p:cNvPr id="70" name="Freeform: Shape 132"/>
              <p:cNvSpPr/>
              <p:nvPr>
                <p:custDataLst>
                  <p:tags r:id="rId104"/>
                </p:custDataLst>
              </p:nvPr>
            </p:nvSpPr>
            <p:spPr bwMode="auto">
              <a:xfrm>
                <a:off x="4450565" y="3372558"/>
                <a:ext cx="17505" cy="7406"/>
              </a:xfrm>
              <a:custGeom>
                <a:avLst/>
                <a:gdLst>
                  <a:gd name="T0" fmla="*/ 9 w 11"/>
                  <a:gd name="T1" fmla="*/ 4 h 5"/>
                  <a:gd name="T2" fmla="*/ 9 w 11"/>
                  <a:gd name="T3" fmla="*/ 4 h 5"/>
                  <a:gd name="T4" fmla="*/ 3 w 11"/>
                  <a:gd name="T5" fmla="*/ 5 h 5"/>
                  <a:gd name="T6" fmla="*/ 0 w 11"/>
                  <a:gd name="T7" fmla="*/ 2 h 5"/>
                  <a:gd name="T8" fmla="*/ 3 w 11"/>
                  <a:gd name="T9" fmla="*/ 0 h 5"/>
                  <a:gd name="T10" fmla="*/ 3 w 11"/>
                  <a:gd name="T11" fmla="*/ 0 h 5"/>
                  <a:gd name="T12" fmla="*/ 9 w 11"/>
                  <a:gd name="T13" fmla="*/ 0 h 5"/>
                  <a:gd name="T14" fmla="*/ 11 w 11"/>
                  <a:gd name="T15" fmla="*/ 2 h 5"/>
                  <a:gd name="T16" fmla="*/ 9 w 11"/>
                  <a:gd name="T17"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5">
                    <a:moveTo>
                      <a:pt x="9" y="4"/>
                    </a:moveTo>
                    <a:cubicBezTo>
                      <a:pt x="9" y="4"/>
                      <a:pt x="9" y="4"/>
                      <a:pt x="9" y="4"/>
                    </a:cubicBezTo>
                    <a:cubicBezTo>
                      <a:pt x="3" y="5"/>
                      <a:pt x="3" y="5"/>
                      <a:pt x="3" y="5"/>
                    </a:cubicBezTo>
                    <a:cubicBezTo>
                      <a:pt x="2" y="5"/>
                      <a:pt x="0" y="4"/>
                      <a:pt x="0" y="2"/>
                    </a:cubicBezTo>
                    <a:cubicBezTo>
                      <a:pt x="0" y="1"/>
                      <a:pt x="2" y="0"/>
                      <a:pt x="3" y="0"/>
                    </a:cubicBezTo>
                    <a:cubicBezTo>
                      <a:pt x="3" y="0"/>
                      <a:pt x="3" y="0"/>
                      <a:pt x="3" y="0"/>
                    </a:cubicBezTo>
                    <a:cubicBezTo>
                      <a:pt x="9" y="0"/>
                      <a:pt x="9" y="0"/>
                      <a:pt x="9" y="0"/>
                    </a:cubicBezTo>
                    <a:cubicBezTo>
                      <a:pt x="10" y="0"/>
                      <a:pt x="11" y="0"/>
                      <a:pt x="11" y="2"/>
                    </a:cubicBezTo>
                    <a:cubicBezTo>
                      <a:pt x="11" y="3"/>
                      <a:pt x="10" y="4"/>
                      <a:pt x="9" y="4"/>
                    </a:cubicBezTo>
                    <a:close/>
                  </a:path>
                </a:pathLst>
              </a:custGeom>
              <a:solidFill>
                <a:schemeClr val="bg2"/>
              </a:solidFill>
              <a:ln>
                <a:noFill/>
              </a:ln>
            </p:spPr>
            <p:txBody>
              <a:bodyPr anchor="ctr"/>
              <a:lstStyle/>
              <a:p>
                <a:pPr algn="ctr"/>
              </a:p>
            </p:txBody>
          </p:sp>
          <p:sp>
            <p:nvSpPr>
              <p:cNvPr id="71" name="Freeform: Shape 133"/>
              <p:cNvSpPr/>
              <p:nvPr>
                <p:custDataLst>
                  <p:tags r:id="rId105"/>
                </p:custDataLst>
              </p:nvPr>
            </p:nvSpPr>
            <p:spPr bwMode="auto">
              <a:xfrm>
                <a:off x="4085660" y="3155770"/>
                <a:ext cx="65306" cy="53860"/>
              </a:xfrm>
              <a:custGeom>
                <a:avLst/>
                <a:gdLst>
                  <a:gd name="T0" fmla="*/ 2 w 41"/>
                  <a:gd name="T1" fmla="*/ 11 h 34"/>
                  <a:gd name="T2" fmla="*/ 21 w 41"/>
                  <a:gd name="T3" fmla="*/ 0 h 34"/>
                  <a:gd name="T4" fmla="*/ 39 w 41"/>
                  <a:gd name="T5" fmla="*/ 11 h 34"/>
                  <a:gd name="T6" fmla="*/ 39 w 41"/>
                  <a:gd name="T7" fmla="*/ 27 h 34"/>
                  <a:gd name="T8" fmla="*/ 41 w 41"/>
                  <a:gd name="T9" fmla="*/ 33 h 34"/>
                  <a:gd name="T10" fmla="*/ 30 w 41"/>
                  <a:gd name="T11" fmla="*/ 33 h 34"/>
                  <a:gd name="T12" fmla="*/ 29 w 41"/>
                  <a:gd name="T13" fmla="*/ 30 h 34"/>
                  <a:gd name="T14" fmla="*/ 14 w 41"/>
                  <a:gd name="T15" fmla="*/ 34 h 34"/>
                  <a:gd name="T16" fmla="*/ 0 w 41"/>
                  <a:gd name="T17" fmla="*/ 24 h 34"/>
                  <a:gd name="T18" fmla="*/ 13 w 41"/>
                  <a:gd name="T19" fmla="*/ 14 h 34"/>
                  <a:gd name="T20" fmla="*/ 24 w 41"/>
                  <a:gd name="T21" fmla="*/ 13 h 34"/>
                  <a:gd name="T22" fmla="*/ 29 w 41"/>
                  <a:gd name="T23" fmla="*/ 10 h 34"/>
                  <a:gd name="T24" fmla="*/ 20 w 41"/>
                  <a:gd name="T25" fmla="*/ 6 h 34"/>
                  <a:gd name="T26" fmla="*/ 12 w 41"/>
                  <a:gd name="T27" fmla="*/ 11 h 34"/>
                  <a:gd name="T28" fmla="*/ 2 w 41"/>
                  <a:gd name="T29" fmla="*/ 11 h 34"/>
                  <a:gd name="T30" fmla="*/ 29 w 41"/>
                  <a:gd name="T31" fmla="*/ 17 h 34"/>
                  <a:gd name="T32" fmla="*/ 23 w 41"/>
                  <a:gd name="T33" fmla="*/ 19 h 34"/>
                  <a:gd name="T34" fmla="*/ 17 w 41"/>
                  <a:gd name="T35" fmla="*/ 19 h 34"/>
                  <a:gd name="T36" fmla="*/ 11 w 41"/>
                  <a:gd name="T37" fmla="*/ 24 h 34"/>
                  <a:gd name="T38" fmla="*/ 18 w 41"/>
                  <a:gd name="T39" fmla="*/ 28 h 34"/>
                  <a:gd name="T40" fmla="*/ 29 w 41"/>
                  <a:gd name="T41" fmla="*/ 20 h 34"/>
                  <a:gd name="T42" fmla="*/ 29 w 41"/>
                  <a:gd name="T43" fmla="*/ 1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1" h="34">
                    <a:moveTo>
                      <a:pt x="2" y="11"/>
                    </a:moveTo>
                    <a:cubicBezTo>
                      <a:pt x="3" y="1"/>
                      <a:pt x="12" y="0"/>
                      <a:pt x="21" y="0"/>
                    </a:cubicBezTo>
                    <a:cubicBezTo>
                      <a:pt x="36" y="0"/>
                      <a:pt x="39" y="5"/>
                      <a:pt x="39" y="11"/>
                    </a:cubicBezTo>
                    <a:cubicBezTo>
                      <a:pt x="39" y="27"/>
                      <a:pt x="39" y="27"/>
                      <a:pt x="39" y="27"/>
                    </a:cubicBezTo>
                    <a:cubicBezTo>
                      <a:pt x="39" y="29"/>
                      <a:pt x="40" y="31"/>
                      <a:pt x="41" y="33"/>
                    </a:cubicBezTo>
                    <a:cubicBezTo>
                      <a:pt x="30" y="33"/>
                      <a:pt x="30" y="33"/>
                      <a:pt x="30" y="33"/>
                    </a:cubicBezTo>
                    <a:cubicBezTo>
                      <a:pt x="30" y="32"/>
                      <a:pt x="29" y="31"/>
                      <a:pt x="29" y="30"/>
                    </a:cubicBezTo>
                    <a:cubicBezTo>
                      <a:pt x="26" y="33"/>
                      <a:pt x="19" y="34"/>
                      <a:pt x="14" y="34"/>
                    </a:cubicBezTo>
                    <a:cubicBezTo>
                      <a:pt x="6" y="34"/>
                      <a:pt x="0" y="31"/>
                      <a:pt x="0" y="24"/>
                    </a:cubicBezTo>
                    <a:cubicBezTo>
                      <a:pt x="0" y="16"/>
                      <a:pt x="7" y="14"/>
                      <a:pt x="13" y="14"/>
                    </a:cubicBezTo>
                    <a:cubicBezTo>
                      <a:pt x="24" y="13"/>
                      <a:pt x="24" y="13"/>
                      <a:pt x="24" y="13"/>
                    </a:cubicBezTo>
                    <a:cubicBezTo>
                      <a:pt x="28" y="13"/>
                      <a:pt x="29" y="12"/>
                      <a:pt x="29" y="10"/>
                    </a:cubicBezTo>
                    <a:cubicBezTo>
                      <a:pt x="29" y="7"/>
                      <a:pt x="27" y="6"/>
                      <a:pt x="20" y="6"/>
                    </a:cubicBezTo>
                    <a:cubicBezTo>
                      <a:pt x="16" y="6"/>
                      <a:pt x="14" y="6"/>
                      <a:pt x="12" y="11"/>
                    </a:cubicBezTo>
                    <a:lnTo>
                      <a:pt x="2" y="11"/>
                    </a:lnTo>
                    <a:close/>
                    <a:moveTo>
                      <a:pt x="29" y="17"/>
                    </a:moveTo>
                    <a:cubicBezTo>
                      <a:pt x="27" y="18"/>
                      <a:pt x="25" y="19"/>
                      <a:pt x="23" y="19"/>
                    </a:cubicBezTo>
                    <a:cubicBezTo>
                      <a:pt x="17" y="19"/>
                      <a:pt x="17" y="19"/>
                      <a:pt x="17" y="19"/>
                    </a:cubicBezTo>
                    <a:cubicBezTo>
                      <a:pt x="13" y="20"/>
                      <a:pt x="11" y="21"/>
                      <a:pt x="11" y="24"/>
                    </a:cubicBezTo>
                    <a:cubicBezTo>
                      <a:pt x="11" y="26"/>
                      <a:pt x="14" y="28"/>
                      <a:pt x="18" y="28"/>
                    </a:cubicBezTo>
                    <a:cubicBezTo>
                      <a:pt x="23" y="28"/>
                      <a:pt x="29" y="25"/>
                      <a:pt x="29" y="20"/>
                    </a:cubicBezTo>
                    <a:lnTo>
                      <a:pt x="29" y="17"/>
                    </a:lnTo>
                    <a:close/>
                  </a:path>
                </a:pathLst>
              </a:custGeom>
              <a:solidFill>
                <a:schemeClr val="bg2"/>
              </a:solidFill>
              <a:ln>
                <a:noFill/>
              </a:ln>
            </p:spPr>
            <p:txBody>
              <a:bodyPr anchor="ctr"/>
              <a:lstStyle/>
              <a:p>
                <a:pPr algn="ctr"/>
              </a:p>
            </p:txBody>
          </p:sp>
          <p:sp>
            <p:nvSpPr>
              <p:cNvPr id="72" name="Freeform: Shape 134"/>
              <p:cNvSpPr/>
              <p:nvPr>
                <p:custDataLst>
                  <p:tags r:id="rId106"/>
                </p:custDataLst>
              </p:nvPr>
            </p:nvSpPr>
            <p:spPr bwMode="auto">
              <a:xfrm>
                <a:off x="4219638" y="3041317"/>
                <a:ext cx="66652" cy="71365"/>
              </a:xfrm>
              <a:custGeom>
                <a:avLst/>
                <a:gdLst>
                  <a:gd name="T0" fmla="*/ 0 w 42"/>
                  <a:gd name="T1" fmla="*/ 0 h 45"/>
                  <a:gd name="T2" fmla="*/ 11 w 42"/>
                  <a:gd name="T3" fmla="*/ 0 h 45"/>
                  <a:gd name="T4" fmla="*/ 11 w 42"/>
                  <a:gd name="T5" fmla="*/ 15 h 45"/>
                  <a:gd name="T6" fmla="*/ 11 w 42"/>
                  <a:gd name="T7" fmla="*/ 15 h 45"/>
                  <a:gd name="T8" fmla="*/ 24 w 42"/>
                  <a:gd name="T9" fmla="*/ 11 h 45"/>
                  <a:gd name="T10" fmla="*/ 42 w 42"/>
                  <a:gd name="T11" fmla="*/ 28 h 45"/>
                  <a:gd name="T12" fmla="*/ 23 w 42"/>
                  <a:gd name="T13" fmla="*/ 45 h 45"/>
                  <a:gd name="T14" fmla="*/ 11 w 42"/>
                  <a:gd name="T15" fmla="*/ 40 h 45"/>
                  <a:gd name="T16" fmla="*/ 11 w 42"/>
                  <a:gd name="T17" fmla="*/ 40 h 45"/>
                  <a:gd name="T18" fmla="*/ 11 w 42"/>
                  <a:gd name="T19" fmla="*/ 44 h 45"/>
                  <a:gd name="T20" fmla="*/ 0 w 42"/>
                  <a:gd name="T21" fmla="*/ 44 h 45"/>
                  <a:gd name="T22" fmla="*/ 0 w 42"/>
                  <a:gd name="T23" fmla="*/ 0 h 45"/>
                  <a:gd name="T24" fmla="*/ 21 w 42"/>
                  <a:gd name="T25" fmla="*/ 37 h 45"/>
                  <a:gd name="T26" fmla="*/ 31 w 42"/>
                  <a:gd name="T27" fmla="*/ 28 h 45"/>
                  <a:gd name="T28" fmla="*/ 21 w 42"/>
                  <a:gd name="T29" fmla="*/ 18 h 45"/>
                  <a:gd name="T30" fmla="*/ 11 w 42"/>
                  <a:gd name="T31" fmla="*/ 28 h 45"/>
                  <a:gd name="T32" fmla="*/ 21 w 42"/>
                  <a:gd name="T33" fmla="*/ 3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45">
                    <a:moveTo>
                      <a:pt x="0" y="0"/>
                    </a:moveTo>
                    <a:cubicBezTo>
                      <a:pt x="11" y="0"/>
                      <a:pt x="11" y="0"/>
                      <a:pt x="11" y="0"/>
                    </a:cubicBezTo>
                    <a:cubicBezTo>
                      <a:pt x="11" y="15"/>
                      <a:pt x="11" y="15"/>
                      <a:pt x="11" y="15"/>
                    </a:cubicBezTo>
                    <a:cubicBezTo>
                      <a:pt x="11" y="15"/>
                      <a:pt x="11" y="15"/>
                      <a:pt x="11" y="15"/>
                    </a:cubicBezTo>
                    <a:cubicBezTo>
                      <a:pt x="13" y="13"/>
                      <a:pt x="18" y="11"/>
                      <a:pt x="24" y="11"/>
                    </a:cubicBezTo>
                    <a:cubicBezTo>
                      <a:pt x="34" y="11"/>
                      <a:pt x="42" y="17"/>
                      <a:pt x="42" y="28"/>
                    </a:cubicBezTo>
                    <a:cubicBezTo>
                      <a:pt x="42" y="39"/>
                      <a:pt x="33" y="45"/>
                      <a:pt x="23" y="45"/>
                    </a:cubicBezTo>
                    <a:cubicBezTo>
                      <a:pt x="18" y="45"/>
                      <a:pt x="15" y="44"/>
                      <a:pt x="11" y="40"/>
                    </a:cubicBezTo>
                    <a:cubicBezTo>
                      <a:pt x="11" y="40"/>
                      <a:pt x="11" y="40"/>
                      <a:pt x="11" y="40"/>
                    </a:cubicBezTo>
                    <a:cubicBezTo>
                      <a:pt x="11" y="44"/>
                      <a:pt x="11" y="44"/>
                      <a:pt x="11" y="44"/>
                    </a:cubicBezTo>
                    <a:cubicBezTo>
                      <a:pt x="0" y="44"/>
                      <a:pt x="0" y="44"/>
                      <a:pt x="0" y="44"/>
                    </a:cubicBezTo>
                    <a:lnTo>
                      <a:pt x="0" y="0"/>
                    </a:lnTo>
                    <a:close/>
                    <a:moveTo>
                      <a:pt x="21" y="37"/>
                    </a:moveTo>
                    <a:cubicBezTo>
                      <a:pt x="26" y="37"/>
                      <a:pt x="31" y="34"/>
                      <a:pt x="31" y="28"/>
                    </a:cubicBezTo>
                    <a:cubicBezTo>
                      <a:pt x="31" y="22"/>
                      <a:pt x="26" y="18"/>
                      <a:pt x="21" y="18"/>
                    </a:cubicBezTo>
                    <a:cubicBezTo>
                      <a:pt x="15" y="18"/>
                      <a:pt x="11" y="22"/>
                      <a:pt x="11" y="28"/>
                    </a:cubicBezTo>
                    <a:cubicBezTo>
                      <a:pt x="11" y="34"/>
                      <a:pt x="15" y="37"/>
                      <a:pt x="21" y="37"/>
                    </a:cubicBezTo>
                    <a:close/>
                  </a:path>
                </a:pathLst>
              </a:custGeom>
              <a:solidFill>
                <a:schemeClr val="bg2"/>
              </a:solidFill>
              <a:ln>
                <a:noFill/>
              </a:ln>
            </p:spPr>
            <p:txBody>
              <a:bodyPr anchor="ctr"/>
              <a:lstStyle/>
              <a:p>
                <a:pPr algn="ctr"/>
              </a:p>
            </p:txBody>
          </p:sp>
          <p:sp>
            <p:nvSpPr>
              <p:cNvPr id="73" name="Freeform: Shape 135"/>
              <p:cNvSpPr/>
              <p:nvPr>
                <p:custDataLst>
                  <p:tags r:id="rId107"/>
                </p:custDataLst>
              </p:nvPr>
            </p:nvSpPr>
            <p:spPr bwMode="auto">
              <a:xfrm>
                <a:off x="4469416" y="3076326"/>
                <a:ext cx="65306" cy="55880"/>
              </a:xfrm>
              <a:custGeom>
                <a:avLst/>
                <a:gdLst>
                  <a:gd name="T0" fmla="*/ 30 w 41"/>
                  <a:gd name="T1" fmla="*/ 13 h 35"/>
                  <a:gd name="T2" fmla="*/ 21 w 41"/>
                  <a:gd name="T3" fmla="*/ 8 h 35"/>
                  <a:gd name="T4" fmla="*/ 11 w 41"/>
                  <a:gd name="T5" fmla="*/ 17 h 35"/>
                  <a:gd name="T6" fmla="*/ 21 w 41"/>
                  <a:gd name="T7" fmla="*/ 27 h 35"/>
                  <a:gd name="T8" fmla="*/ 30 w 41"/>
                  <a:gd name="T9" fmla="*/ 21 h 35"/>
                  <a:gd name="T10" fmla="*/ 41 w 41"/>
                  <a:gd name="T11" fmla="*/ 21 h 35"/>
                  <a:gd name="T12" fmla="*/ 20 w 41"/>
                  <a:gd name="T13" fmla="*/ 35 h 35"/>
                  <a:gd name="T14" fmla="*/ 0 w 41"/>
                  <a:gd name="T15" fmla="*/ 17 h 35"/>
                  <a:gd name="T16" fmla="*/ 21 w 41"/>
                  <a:gd name="T17" fmla="*/ 0 h 35"/>
                  <a:gd name="T18" fmla="*/ 41 w 41"/>
                  <a:gd name="T19" fmla="*/ 13 h 35"/>
                  <a:gd name="T20" fmla="*/ 30 w 41"/>
                  <a:gd name="T21" fmla="*/ 1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1" h="35">
                    <a:moveTo>
                      <a:pt x="30" y="13"/>
                    </a:moveTo>
                    <a:cubicBezTo>
                      <a:pt x="29" y="9"/>
                      <a:pt x="25" y="8"/>
                      <a:pt x="21" y="8"/>
                    </a:cubicBezTo>
                    <a:cubicBezTo>
                      <a:pt x="14" y="8"/>
                      <a:pt x="11" y="11"/>
                      <a:pt x="11" y="17"/>
                    </a:cubicBezTo>
                    <a:cubicBezTo>
                      <a:pt x="11" y="24"/>
                      <a:pt x="14" y="27"/>
                      <a:pt x="21" y="27"/>
                    </a:cubicBezTo>
                    <a:cubicBezTo>
                      <a:pt x="26" y="27"/>
                      <a:pt x="29" y="25"/>
                      <a:pt x="30" y="21"/>
                    </a:cubicBezTo>
                    <a:cubicBezTo>
                      <a:pt x="41" y="21"/>
                      <a:pt x="41" y="21"/>
                      <a:pt x="41" y="21"/>
                    </a:cubicBezTo>
                    <a:cubicBezTo>
                      <a:pt x="39" y="32"/>
                      <a:pt x="31" y="35"/>
                      <a:pt x="20" y="35"/>
                    </a:cubicBezTo>
                    <a:cubicBezTo>
                      <a:pt x="8" y="35"/>
                      <a:pt x="0" y="30"/>
                      <a:pt x="0" y="17"/>
                    </a:cubicBezTo>
                    <a:cubicBezTo>
                      <a:pt x="0" y="5"/>
                      <a:pt x="8" y="0"/>
                      <a:pt x="21" y="0"/>
                    </a:cubicBezTo>
                    <a:cubicBezTo>
                      <a:pt x="29" y="0"/>
                      <a:pt x="39" y="2"/>
                      <a:pt x="41" y="13"/>
                    </a:cubicBezTo>
                    <a:lnTo>
                      <a:pt x="30" y="13"/>
                    </a:lnTo>
                    <a:close/>
                  </a:path>
                </a:pathLst>
              </a:custGeom>
              <a:solidFill>
                <a:schemeClr val="bg2"/>
              </a:solidFill>
              <a:ln>
                <a:noFill/>
              </a:ln>
            </p:spPr>
            <p:txBody>
              <a:bodyPr anchor="ctr"/>
              <a:lstStyle/>
              <a:p>
                <a:pPr algn="ctr"/>
              </a:p>
            </p:txBody>
          </p:sp>
        </p:grpSp>
        <p:grpSp>
          <p:nvGrpSpPr>
            <p:cNvPr id="38" name="Group 136"/>
            <p:cNvGrpSpPr/>
            <p:nvPr/>
          </p:nvGrpSpPr>
          <p:grpSpPr>
            <a:xfrm>
              <a:off x="12774" y="3348"/>
              <a:ext cx="874" cy="1030"/>
              <a:chOff x="4536741" y="1960742"/>
              <a:chExt cx="739908" cy="871865"/>
            </a:xfrm>
          </p:grpSpPr>
          <p:sp>
            <p:nvSpPr>
              <p:cNvPr id="47" name="Freeform: Shape 137"/>
              <p:cNvSpPr/>
              <p:nvPr>
                <p:custDataLst>
                  <p:tags r:id="rId108"/>
                </p:custDataLst>
              </p:nvPr>
            </p:nvSpPr>
            <p:spPr bwMode="auto">
              <a:xfrm>
                <a:off x="4562325" y="1998444"/>
                <a:ext cx="714324" cy="834163"/>
              </a:xfrm>
              <a:custGeom>
                <a:avLst/>
                <a:gdLst>
                  <a:gd name="T0" fmla="*/ 225 w 449"/>
                  <a:gd name="T1" fmla="*/ 0 h 524"/>
                  <a:gd name="T2" fmla="*/ 0 w 449"/>
                  <a:gd name="T3" fmla="*/ 224 h 524"/>
                  <a:gd name="T4" fmla="*/ 225 w 449"/>
                  <a:gd name="T5" fmla="*/ 448 h 524"/>
                  <a:gd name="T6" fmla="*/ 235 w 449"/>
                  <a:gd name="T7" fmla="*/ 448 h 524"/>
                  <a:gd name="T8" fmla="*/ 325 w 449"/>
                  <a:gd name="T9" fmla="*/ 524 h 524"/>
                  <a:gd name="T10" fmla="*/ 335 w 449"/>
                  <a:gd name="T11" fmla="*/ 419 h 524"/>
                  <a:gd name="T12" fmla="*/ 449 w 449"/>
                  <a:gd name="T13" fmla="*/ 224 h 524"/>
                  <a:gd name="T14" fmla="*/ 225 w 449"/>
                  <a:gd name="T15" fmla="*/ 0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524">
                    <a:moveTo>
                      <a:pt x="225" y="0"/>
                    </a:moveTo>
                    <a:cubicBezTo>
                      <a:pt x="101" y="0"/>
                      <a:pt x="0" y="100"/>
                      <a:pt x="0" y="224"/>
                    </a:cubicBezTo>
                    <a:cubicBezTo>
                      <a:pt x="0" y="348"/>
                      <a:pt x="101" y="448"/>
                      <a:pt x="225" y="448"/>
                    </a:cubicBezTo>
                    <a:cubicBezTo>
                      <a:pt x="228" y="448"/>
                      <a:pt x="231" y="448"/>
                      <a:pt x="235" y="448"/>
                    </a:cubicBezTo>
                    <a:cubicBezTo>
                      <a:pt x="325" y="524"/>
                      <a:pt x="325" y="524"/>
                      <a:pt x="325" y="524"/>
                    </a:cubicBezTo>
                    <a:cubicBezTo>
                      <a:pt x="335" y="419"/>
                      <a:pt x="335" y="419"/>
                      <a:pt x="335" y="419"/>
                    </a:cubicBezTo>
                    <a:cubicBezTo>
                      <a:pt x="403" y="380"/>
                      <a:pt x="449" y="307"/>
                      <a:pt x="449" y="224"/>
                    </a:cubicBezTo>
                    <a:cubicBezTo>
                      <a:pt x="449" y="100"/>
                      <a:pt x="348" y="0"/>
                      <a:pt x="225" y="0"/>
                    </a:cubicBezTo>
                  </a:path>
                </a:pathLst>
              </a:custGeom>
              <a:solidFill>
                <a:srgbClr val="C7C4C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p>
            </p:txBody>
          </p:sp>
          <p:sp>
            <p:nvSpPr>
              <p:cNvPr id="48" name="Freeform: Shape 138"/>
              <p:cNvSpPr/>
              <p:nvPr>
                <p:custDataLst>
                  <p:tags r:id="rId109"/>
                </p:custDataLst>
              </p:nvPr>
            </p:nvSpPr>
            <p:spPr bwMode="auto">
              <a:xfrm>
                <a:off x="4536741" y="1960742"/>
                <a:ext cx="714324" cy="833490"/>
              </a:xfrm>
              <a:custGeom>
                <a:avLst/>
                <a:gdLst>
                  <a:gd name="T0" fmla="*/ 449 w 449"/>
                  <a:gd name="T1" fmla="*/ 224 h 524"/>
                  <a:gd name="T2" fmla="*/ 225 w 449"/>
                  <a:gd name="T3" fmla="*/ 0 h 524"/>
                  <a:gd name="T4" fmla="*/ 0 w 449"/>
                  <a:gd name="T5" fmla="*/ 224 h 524"/>
                  <a:gd name="T6" fmla="*/ 225 w 449"/>
                  <a:gd name="T7" fmla="*/ 448 h 524"/>
                  <a:gd name="T8" fmla="*/ 235 w 449"/>
                  <a:gd name="T9" fmla="*/ 448 h 524"/>
                  <a:gd name="T10" fmla="*/ 325 w 449"/>
                  <a:gd name="T11" fmla="*/ 524 h 524"/>
                  <a:gd name="T12" fmla="*/ 335 w 449"/>
                  <a:gd name="T13" fmla="*/ 419 h 524"/>
                  <a:gd name="T14" fmla="*/ 449 w 449"/>
                  <a:gd name="T15" fmla="*/ 224 h 52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49" h="524">
                    <a:moveTo>
                      <a:pt x="449" y="224"/>
                    </a:moveTo>
                    <a:cubicBezTo>
                      <a:pt x="449" y="100"/>
                      <a:pt x="348" y="0"/>
                      <a:pt x="225" y="0"/>
                    </a:cubicBezTo>
                    <a:cubicBezTo>
                      <a:pt x="101" y="0"/>
                      <a:pt x="0" y="100"/>
                      <a:pt x="0" y="224"/>
                    </a:cubicBezTo>
                    <a:cubicBezTo>
                      <a:pt x="0" y="348"/>
                      <a:pt x="101" y="448"/>
                      <a:pt x="225" y="448"/>
                    </a:cubicBezTo>
                    <a:cubicBezTo>
                      <a:pt x="228" y="448"/>
                      <a:pt x="231" y="448"/>
                      <a:pt x="235" y="448"/>
                    </a:cubicBezTo>
                    <a:cubicBezTo>
                      <a:pt x="325" y="524"/>
                      <a:pt x="325" y="524"/>
                      <a:pt x="325" y="524"/>
                    </a:cubicBezTo>
                    <a:cubicBezTo>
                      <a:pt x="335" y="419"/>
                      <a:pt x="335" y="419"/>
                      <a:pt x="335" y="419"/>
                    </a:cubicBezTo>
                    <a:cubicBezTo>
                      <a:pt x="403" y="380"/>
                      <a:pt x="449" y="307"/>
                      <a:pt x="449" y="224"/>
                    </a:cubicBezTo>
                    <a:close/>
                  </a:path>
                </a:pathLst>
              </a:custGeom>
              <a:solidFill>
                <a:schemeClr val="accent3"/>
              </a:solidFill>
              <a:ln>
                <a:noFill/>
              </a:ln>
            </p:spPr>
            <p:txBody>
              <a:bodyPr anchor="ctr"/>
              <a:lstStyle/>
              <a:p>
                <a:pPr algn="ctr"/>
              </a:p>
            </p:txBody>
          </p:sp>
          <p:sp>
            <p:nvSpPr>
              <p:cNvPr id="49" name="Freeform: Shape 139"/>
              <p:cNvSpPr/>
              <p:nvPr>
                <p:custDataLst>
                  <p:tags r:id="rId110"/>
                </p:custDataLst>
              </p:nvPr>
            </p:nvSpPr>
            <p:spPr bwMode="auto">
              <a:xfrm>
                <a:off x="4649848" y="2145214"/>
                <a:ext cx="508981" cy="379043"/>
              </a:xfrm>
              <a:custGeom>
                <a:avLst/>
                <a:gdLst>
                  <a:gd name="T0" fmla="*/ 318 w 320"/>
                  <a:gd name="T1" fmla="*/ 85 h 238"/>
                  <a:gd name="T2" fmla="*/ 50 w 320"/>
                  <a:gd name="T3" fmla="*/ 237 h 238"/>
                  <a:gd name="T4" fmla="*/ 44 w 320"/>
                  <a:gd name="T5" fmla="*/ 235 h 238"/>
                  <a:gd name="T6" fmla="*/ 1 w 320"/>
                  <a:gd name="T7" fmla="*/ 158 h 238"/>
                  <a:gd name="T8" fmla="*/ 2 w 320"/>
                  <a:gd name="T9" fmla="*/ 153 h 238"/>
                  <a:gd name="T10" fmla="*/ 270 w 320"/>
                  <a:gd name="T11" fmla="*/ 1 h 238"/>
                  <a:gd name="T12" fmla="*/ 276 w 320"/>
                  <a:gd name="T13" fmla="*/ 3 h 238"/>
                  <a:gd name="T14" fmla="*/ 319 w 320"/>
                  <a:gd name="T15" fmla="*/ 80 h 238"/>
                  <a:gd name="T16" fmla="*/ 318 w 320"/>
                  <a:gd name="T17" fmla="*/ 85 h 238"/>
                  <a:gd name="T18" fmla="*/ 49 w 320"/>
                  <a:gd name="T19" fmla="*/ 228 h 238"/>
                  <a:gd name="T20" fmla="*/ 310 w 320"/>
                  <a:gd name="T21" fmla="*/ 80 h 238"/>
                  <a:gd name="T22" fmla="*/ 271 w 320"/>
                  <a:gd name="T23" fmla="*/ 10 h 238"/>
                  <a:gd name="T24" fmla="*/ 10 w 320"/>
                  <a:gd name="T25" fmla="*/ 158 h 238"/>
                  <a:gd name="T26" fmla="*/ 49 w 320"/>
                  <a:gd name="T27" fmla="*/ 228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0" h="238">
                    <a:moveTo>
                      <a:pt x="318" y="85"/>
                    </a:moveTo>
                    <a:cubicBezTo>
                      <a:pt x="50" y="237"/>
                      <a:pt x="50" y="237"/>
                      <a:pt x="50" y="237"/>
                    </a:cubicBezTo>
                    <a:cubicBezTo>
                      <a:pt x="48" y="238"/>
                      <a:pt x="45" y="237"/>
                      <a:pt x="44" y="235"/>
                    </a:cubicBezTo>
                    <a:cubicBezTo>
                      <a:pt x="1" y="158"/>
                      <a:pt x="1" y="158"/>
                      <a:pt x="1" y="158"/>
                    </a:cubicBezTo>
                    <a:cubicBezTo>
                      <a:pt x="0" y="157"/>
                      <a:pt x="0" y="154"/>
                      <a:pt x="2" y="153"/>
                    </a:cubicBezTo>
                    <a:cubicBezTo>
                      <a:pt x="270" y="1"/>
                      <a:pt x="270" y="1"/>
                      <a:pt x="270" y="1"/>
                    </a:cubicBezTo>
                    <a:cubicBezTo>
                      <a:pt x="272" y="0"/>
                      <a:pt x="275" y="1"/>
                      <a:pt x="276" y="3"/>
                    </a:cubicBezTo>
                    <a:cubicBezTo>
                      <a:pt x="319" y="80"/>
                      <a:pt x="319" y="80"/>
                      <a:pt x="319" y="80"/>
                    </a:cubicBezTo>
                    <a:cubicBezTo>
                      <a:pt x="320" y="81"/>
                      <a:pt x="320" y="84"/>
                      <a:pt x="318" y="85"/>
                    </a:cubicBezTo>
                    <a:close/>
                    <a:moveTo>
                      <a:pt x="49" y="228"/>
                    </a:moveTo>
                    <a:cubicBezTo>
                      <a:pt x="310" y="80"/>
                      <a:pt x="310" y="80"/>
                      <a:pt x="310" y="80"/>
                    </a:cubicBezTo>
                    <a:cubicBezTo>
                      <a:pt x="271" y="10"/>
                      <a:pt x="271" y="10"/>
                      <a:pt x="271" y="10"/>
                    </a:cubicBezTo>
                    <a:cubicBezTo>
                      <a:pt x="10" y="158"/>
                      <a:pt x="10" y="158"/>
                      <a:pt x="10" y="158"/>
                    </a:cubicBezTo>
                    <a:lnTo>
                      <a:pt x="49" y="228"/>
                    </a:lnTo>
                    <a:close/>
                  </a:path>
                </a:pathLst>
              </a:custGeom>
              <a:solidFill>
                <a:schemeClr val="bg2"/>
              </a:solidFill>
              <a:ln>
                <a:noFill/>
              </a:ln>
            </p:spPr>
            <p:txBody>
              <a:bodyPr anchor="ctr"/>
              <a:lstStyle/>
              <a:p>
                <a:pPr algn="ctr"/>
              </a:p>
            </p:txBody>
          </p:sp>
          <p:sp>
            <p:nvSpPr>
              <p:cNvPr id="50" name="Freeform: Shape 140"/>
              <p:cNvSpPr/>
              <p:nvPr>
                <p:custDataLst>
                  <p:tags r:id="rId111"/>
                </p:custDataLst>
              </p:nvPr>
            </p:nvSpPr>
            <p:spPr bwMode="auto">
              <a:xfrm>
                <a:off x="4698996" y="2358636"/>
                <a:ext cx="45781" cy="70019"/>
              </a:xfrm>
              <a:custGeom>
                <a:avLst/>
                <a:gdLst>
                  <a:gd name="T0" fmla="*/ 26 w 29"/>
                  <a:gd name="T1" fmla="*/ 43 h 44"/>
                  <a:gd name="T2" fmla="*/ 21 w 29"/>
                  <a:gd name="T3" fmla="*/ 42 h 44"/>
                  <a:gd name="T4" fmla="*/ 1 w 29"/>
                  <a:gd name="T5" fmla="*/ 7 h 44"/>
                  <a:gd name="T6" fmla="*/ 3 w 29"/>
                  <a:gd name="T7" fmla="*/ 1 h 44"/>
                  <a:gd name="T8" fmla="*/ 8 w 29"/>
                  <a:gd name="T9" fmla="*/ 3 h 44"/>
                  <a:gd name="T10" fmla="*/ 28 w 29"/>
                  <a:gd name="T11" fmla="*/ 38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3"/>
                      <a:pt x="21" y="42"/>
                    </a:cubicBezTo>
                    <a:cubicBezTo>
                      <a:pt x="1" y="7"/>
                      <a:pt x="1" y="7"/>
                      <a:pt x="1" y="7"/>
                    </a:cubicBezTo>
                    <a:cubicBezTo>
                      <a:pt x="0" y="5"/>
                      <a:pt x="1" y="2"/>
                      <a:pt x="3" y="1"/>
                    </a:cubicBezTo>
                    <a:cubicBezTo>
                      <a:pt x="5" y="0"/>
                      <a:pt x="7" y="1"/>
                      <a:pt x="8" y="3"/>
                    </a:cubicBezTo>
                    <a:cubicBezTo>
                      <a:pt x="28" y="38"/>
                      <a:pt x="28" y="38"/>
                      <a:pt x="28" y="38"/>
                    </a:cubicBezTo>
                    <a:cubicBezTo>
                      <a:pt x="29" y="40"/>
                      <a:pt x="28" y="42"/>
                      <a:pt x="26" y="43"/>
                    </a:cubicBezTo>
                    <a:close/>
                  </a:path>
                </a:pathLst>
              </a:custGeom>
              <a:solidFill>
                <a:schemeClr val="bg2"/>
              </a:solidFill>
              <a:ln>
                <a:noFill/>
              </a:ln>
            </p:spPr>
            <p:txBody>
              <a:bodyPr anchor="ctr"/>
              <a:lstStyle/>
              <a:p>
                <a:pPr algn="ctr"/>
              </a:p>
            </p:txBody>
          </p:sp>
          <p:sp>
            <p:nvSpPr>
              <p:cNvPr id="51" name="Freeform: Shape 141"/>
              <p:cNvSpPr/>
              <p:nvPr>
                <p:custDataLst>
                  <p:tags r:id="rId112"/>
                </p:custDataLst>
              </p:nvPr>
            </p:nvSpPr>
            <p:spPr bwMode="auto">
              <a:xfrm>
                <a:off x="4765648" y="2321607"/>
                <a:ext cx="46455" cy="70019"/>
              </a:xfrm>
              <a:custGeom>
                <a:avLst/>
                <a:gdLst>
                  <a:gd name="T0" fmla="*/ 26 w 29"/>
                  <a:gd name="T1" fmla="*/ 42 h 44"/>
                  <a:gd name="T2" fmla="*/ 21 w 29"/>
                  <a:gd name="T3" fmla="*/ 41 h 44"/>
                  <a:gd name="T4" fmla="*/ 1 w 29"/>
                  <a:gd name="T5" fmla="*/ 6 h 44"/>
                  <a:gd name="T6" fmla="*/ 2 w 29"/>
                  <a:gd name="T7" fmla="*/ 1 h 44"/>
                  <a:gd name="T8" fmla="*/ 8 w 29"/>
                  <a:gd name="T9" fmla="*/ 2 h 44"/>
                  <a:gd name="T10" fmla="*/ 28 w 29"/>
                  <a:gd name="T11" fmla="*/ 37 h 44"/>
                  <a:gd name="T12" fmla="*/ 26 w 29"/>
                  <a:gd name="T13" fmla="*/ 42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2"/>
                    </a:moveTo>
                    <a:cubicBezTo>
                      <a:pt x="24" y="44"/>
                      <a:pt x="22" y="43"/>
                      <a:pt x="21" y="41"/>
                    </a:cubicBezTo>
                    <a:cubicBezTo>
                      <a:pt x="1" y="6"/>
                      <a:pt x="1" y="6"/>
                      <a:pt x="1" y="6"/>
                    </a:cubicBezTo>
                    <a:cubicBezTo>
                      <a:pt x="0" y="4"/>
                      <a:pt x="1" y="2"/>
                      <a:pt x="2" y="1"/>
                    </a:cubicBezTo>
                    <a:cubicBezTo>
                      <a:pt x="4" y="0"/>
                      <a:pt x="7" y="0"/>
                      <a:pt x="8" y="2"/>
                    </a:cubicBezTo>
                    <a:cubicBezTo>
                      <a:pt x="28" y="37"/>
                      <a:pt x="28" y="37"/>
                      <a:pt x="28" y="37"/>
                    </a:cubicBezTo>
                    <a:cubicBezTo>
                      <a:pt x="29" y="39"/>
                      <a:pt x="28" y="41"/>
                      <a:pt x="26" y="42"/>
                    </a:cubicBezTo>
                    <a:close/>
                  </a:path>
                </a:pathLst>
              </a:custGeom>
              <a:solidFill>
                <a:schemeClr val="bg2"/>
              </a:solidFill>
              <a:ln>
                <a:noFill/>
              </a:ln>
            </p:spPr>
            <p:txBody>
              <a:bodyPr anchor="ctr"/>
              <a:lstStyle/>
              <a:p>
                <a:pPr algn="ctr"/>
              </a:p>
            </p:txBody>
          </p:sp>
          <p:sp>
            <p:nvSpPr>
              <p:cNvPr id="40" name="Freeform: Shape 142"/>
              <p:cNvSpPr/>
              <p:nvPr>
                <p:custDataLst>
                  <p:tags r:id="rId113"/>
                </p:custDataLst>
              </p:nvPr>
            </p:nvSpPr>
            <p:spPr bwMode="auto">
              <a:xfrm>
                <a:off x="4840379" y="2285251"/>
                <a:ext cx="46455" cy="70019"/>
              </a:xfrm>
              <a:custGeom>
                <a:avLst/>
                <a:gdLst>
                  <a:gd name="T0" fmla="*/ 26 w 29"/>
                  <a:gd name="T1" fmla="*/ 43 h 44"/>
                  <a:gd name="T2" fmla="*/ 21 w 29"/>
                  <a:gd name="T3" fmla="*/ 42 h 44"/>
                  <a:gd name="T4" fmla="*/ 1 w 29"/>
                  <a:gd name="T5" fmla="*/ 7 h 44"/>
                  <a:gd name="T6" fmla="*/ 3 w 29"/>
                  <a:gd name="T7" fmla="*/ 2 h 44"/>
                  <a:gd name="T8" fmla="*/ 8 w 29"/>
                  <a:gd name="T9" fmla="*/ 3 h 44"/>
                  <a:gd name="T10" fmla="*/ 28 w 29"/>
                  <a:gd name="T11" fmla="*/ 38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4"/>
                      <a:pt x="21" y="42"/>
                    </a:cubicBezTo>
                    <a:cubicBezTo>
                      <a:pt x="1" y="7"/>
                      <a:pt x="1" y="7"/>
                      <a:pt x="1" y="7"/>
                    </a:cubicBezTo>
                    <a:cubicBezTo>
                      <a:pt x="0" y="5"/>
                      <a:pt x="1" y="3"/>
                      <a:pt x="3" y="2"/>
                    </a:cubicBezTo>
                    <a:cubicBezTo>
                      <a:pt x="5" y="0"/>
                      <a:pt x="7" y="1"/>
                      <a:pt x="8" y="3"/>
                    </a:cubicBezTo>
                    <a:cubicBezTo>
                      <a:pt x="28" y="38"/>
                      <a:pt x="28" y="38"/>
                      <a:pt x="28" y="38"/>
                    </a:cubicBezTo>
                    <a:cubicBezTo>
                      <a:pt x="29" y="40"/>
                      <a:pt x="28" y="42"/>
                      <a:pt x="26" y="43"/>
                    </a:cubicBezTo>
                    <a:close/>
                  </a:path>
                </a:pathLst>
              </a:custGeom>
              <a:solidFill>
                <a:schemeClr val="bg2"/>
              </a:solidFill>
              <a:ln>
                <a:noFill/>
              </a:ln>
            </p:spPr>
            <p:txBody>
              <a:bodyPr anchor="ctr"/>
              <a:lstStyle/>
              <a:p>
                <a:pPr algn="ctr"/>
              </a:p>
            </p:txBody>
          </p:sp>
          <p:sp>
            <p:nvSpPr>
              <p:cNvPr id="41" name="Freeform: Shape 143"/>
              <p:cNvSpPr/>
              <p:nvPr>
                <p:custDataLst>
                  <p:tags r:id="rId114"/>
                </p:custDataLst>
              </p:nvPr>
            </p:nvSpPr>
            <p:spPr bwMode="auto">
              <a:xfrm>
                <a:off x="4732658" y="2339111"/>
                <a:ext cx="55207" cy="87523"/>
              </a:xfrm>
              <a:custGeom>
                <a:avLst/>
                <a:gdLst>
                  <a:gd name="T0" fmla="*/ 32 w 35"/>
                  <a:gd name="T1" fmla="*/ 54 h 55"/>
                  <a:gd name="T2" fmla="*/ 27 w 35"/>
                  <a:gd name="T3" fmla="*/ 52 h 55"/>
                  <a:gd name="T4" fmla="*/ 1 w 35"/>
                  <a:gd name="T5" fmla="*/ 7 h 55"/>
                  <a:gd name="T6" fmla="*/ 3 w 35"/>
                  <a:gd name="T7" fmla="*/ 1 h 55"/>
                  <a:gd name="T8" fmla="*/ 8 w 35"/>
                  <a:gd name="T9" fmla="*/ 3 h 55"/>
                  <a:gd name="T10" fmla="*/ 34 w 35"/>
                  <a:gd name="T11" fmla="*/ 48 h 55"/>
                  <a:gd name="T12" fmla="*/ 32 w 35"/>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35" h="55">
                    <a:moveTo>
                      <a:pt x="32" y="54"/>
                    </a:moveTo>
                    <a:cubicBezTo>
                      <a:pt x="30" y="55"/>
                      <a:pt x="28" y="54"/>
                      <a:pt x="27" y="52"/>
                    </a:cubicBezTo>
                    <a:cubicBezTo>
                      <a:pt x="1" y="7"/>
                      <a:pt x="1" y="7"/>
                      <a:pt x="1" y="7"/>
                    </a:cubicBezTo>
                    <a:cubicBezTo>
                      <a:pt x="0" y="5"/>
                      <a:pt x="1" y="3"/>
                      <a:pt x="3" y="1"/>
                    </a:cubicBezTo>
                    <a:cubicBezTo>
                      <a:pt x="4" y="0"/>
                      <a:pt x="7" y="1"/>
                      <a:pt x="8" y="3"/>
                    </a:cubicBezTo>
                    <a:cubicBezTo>
                      <a:pt x="34" y="48"/>
                      <a:pt x="34" y="48"/>
                      <a:pt x="34" y="48"/>
                    </a:cubicBezTo>
                    <a:cubicBezTo>
                      <a:pt x="35" y="50"/>
                      <a:pt x="34" y="53"/>
                      <a:pt x="32" y="54"/>
                    </a:cubicBezTo>
                    <a:close/>
                  </a:path>
                </a:pathLst>
              </a:custGeom>
              <a:solidFill>
                <a:schemeClr val="bg2"/>
              </a:solidFill>
              <a:ln>
                <a:noFill/>
              </a:ln>
            </p:spPr>
            <p:txBody>
              <a:bodyPr anchor="ctr"/>
              <a:lstStyle/>
              <a:p>
                <a:pPr algn="ctr"/>
              </a:p>
            </p:txBody>
          </p:sp>
          <p:sp>
            <p:nvSpPr>
              <p:cNvPr id="42" name="Freeform: Shape 144"/>
              <p:cNvSpPr/>
              <p:nvPr>
                <p:custDataLst>
                  <p:tags r:id="rId115"/>
                </p:custDataLst>
              </p:nvPr>
            </p:nvSpPr>
            <p:spPr bwMode="auto">
              <a:xfrm>
                <a:off x="4802677" y="2307468"/>
                <a:ext cx="53860" cy="87523"/>
              </a:xfrm>
              <a:custGeom>
                <a:avLst/>
                <a:gdLst>
                  <a:gd name="T0" fmla="*/ 32 w 34"/>
                  <a:gd name="T1" fmla="*/ 54 h 55"/>
                  <a:gd name="T2" fmla="*/ 26 w 34"/>
                  <a:gd name="T3" fmla="*/ 52 h 55"/>
                  <a:gd name="T4" fmla="*/ 1 w 34"/>
                  <a:gd name="T5" fmla="*/ 7 h 55"/>
                  <a:gd name="T6" fmla="*/ 2 w 34"/>
                  <a:gd name="T7" fmla="*/ 1 h 55"/>
                  <a:gd name="T8" fmla="*/ 8 w 34"/>
                  <a:gd name="T9" fmla="*/ 3 h 55"/>
                  <a:gd name="T10" fmla="*/ 33 w 34"/>
                  <a:gd name="T11" fmla="*/ 48 h 55"/>
                  <a:gd name="T12" fmla="*/ 32 w 34"/>
                  <a:gd name="T13" fmla="*/ 54 h 55"/>
                </a:gdLst>
                <a:ahLst/>
                <a:cxnLst>
                  <a:cxn ang="0">
                    <a:pos x="T0" y="T1"/>
                  </a:cxn>
                  <a:cxn ang="0">
                    <a:pos x="T2" y="T3"/>
                  </a:cxn>
                  <a:cxn ang="0">
                    <a:pos x="T4" y="T5"/>
                  </a:cxn>
                  <a:cxn ang="0">
                    <a:pos x="T6" y="T7"/>
                  </a:cxn>
                  <a:cxn ang="0">
                    <a:pos x="T8" y="T9"/>
                  </a:cxn>
                  <a:cxn ang="0">
                    <a:pos x="T10" y="T11"/>
                  </a:cxn>
                  <a:cxn ang="0">
                    <a:pos x="T12" y="T13"/>
                  </a:cxn>
                </a:cxnLst>
                <a:rect l="0" t="0" r="r" b="b"/>
                <a:pathLst>
                  <a:path w="34" h="55">
                    <a:moveTo>
                      <a:pt x="32" y="54"/>
                    </a:moveTo>
                    <a:cubicBezTo>
                      <a:pt x="30" y="55"/>
                      <a:pt x="27" y="54"/>
                      <a:pt x="26" y="52"/>
                    </a:cubicBezTo>
                    <a:cubicBezTo>
                      <a:pt x="1" y="7"/>
                      <a:pt x="1" y="7"/>
                      <a:pt x="1" y="7"/>
                    </a:cubicBezTo>
                    <a:cubicBezTo>
                      <a:pt x="0" y="5"/>
                      <a:pt x="0" y="2"/>
                      <a:pt x="2" y="1"/>
                    </a:cubicBezTo>
                    <a:cubicBezTo>
                      <a:pt x="4" y="0"/>
                      <a:pt x="7" y="1"/>
                      <a:pt x="8" y="3"/>
                    </a:cubicBezTo>
                    <a:cubicBezTo>
                      <a:pt x="33" y="48"/>
                      <a:pt x="33" y="48"/>
                      <a:pt x="33" y="48"/>
                    </a:cubicBezTo>
                    <a:cubicBezTo>
                      <a:pt x="34" y="50"/>
                      <a:pt x="34" y="52"/>
                      <a:pt x="32" y="54"/>
                    </a:cubicBezTo>
                    <a:close/>
                  </a:path>
                </a:pathLst>
              </a:custGeom>
              <a:solidFill>
                <a:schemeClr val="bg2"/>
              </a:solidFill>
              <a:ln>
                <a:noFill/>
              </a:ln>
            </p:spPr>
            <p:txBody>
              <a:bodyPr anchor="ctr"/>
              <a:lstStyle/>
              <a:p>
                <a:pPr algn="ctr"/>
              </a:p>
            </p:txBody>
          </p:sp>
          <p:sp>
            <p:nvSpPr>
              <p:cNvPr id="43" name="Freeform: Shape 145"/>
              <p:cNvSpPr/>
              <p:nvPr>
                <p:custDataLst>
                  <p:tags r:id="rId116"/>
                </p:custDataLst>
              </p:nvPr>
            </p:nvSpPr>
            <p:spPr bwMode="auto">
              <a:xfrm>
                <a:off x="4918477" y="2242163"/>
                <a:ext cx="46455" cy="70019"/>
              </a:xfrm>
              <a:custGeom>
                <a:avLst/>
                <a:gdLst>
                  <a:gd name="T0" fmla="*/ 26 w 29"/>
                  <a:gd name="T1" fmla="*/ 43 h 44"/>
                  <a:gd name="T2" fmla="*/ 21 w 29"/>
                  <a:gd name="T3" fmla="*/ 41 h 44"/>
                  <a:gd name="T4" fmla="*/ 1 w 29"/>
                  <a:gd name="T5" fmla="*/ 6 h 44"/>
                  <a:gd name="T6" fmla="*/ 2 w 29"/>
                  <a:gd name="T7" fmla="*/ 1 h 44"/>
                  <a:gd name="T8" fmla="*/ 8 w 29"/>
                  <a:gd name="T9" fmla="*/ 3 h 44"/>
                  <a:gd name="T10" fmla="*/ 28 w 29"/>
                  <a:gd name="T11" fmla="*/ 37 h 44"/>
                  <a:gd name="T12" fmla="*/ 26 w 29"/>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9" h="44">
                    <a:moveTo>
                      <a:pt x="26" y="43"/>
                    </a:moveTo>
                    <a:cubicBezTo>
                      <a:pt x="24" y="44"/>
                      <a:pt x="22" y="43"/>
                      <a:pt x="21" y="41"/>
                    </a:cubicBezTo>
                    <a:cubicBezTo>
                      <a:pt x="1" y="6"/>
                      <a:pt x="1" y="6"/>
                      <a:pt x="1" y="6"/>
                    </a:cubicBezTo>
                    <a:cubicBezTo>
                      <a:pt x="0" y="5"/>
                      <a:pt x="1" y="2"/>
                      <a:pt x="2" y="1"/>
                    </a:cubicBezTo>
                    <a:cubicBezTo>
                      <a:pt x="4" y="0"/>
                      <a:pt x="7" y="1"/>
                      <a:pt x="8" y="3"/>
                    </a:cubicBezTo>
                    <a:cubicBezTo>
                      <a:pt x="28" y="37"/>
                      <a:pt x="28" y="37"/>
                      <a:pt x="28" y="37"/>
                    </a:cubicBezTo>
                    <a:cubicBezTo>
                      <a:pt x="29" y="39"/>
                      <a:pt x="28" y="42"/>
                      <a:pt x="26" y="43"/>
                    </a:cubicBezTo>
                    <a:close/>
                  </a:path>
                </a:pathLst>
              </a:custGeom>
              <a:solidFill>
                <a:schemeClr val="bg2"/>
              </a:solidFill>
              <a:ln>
                <a:noFill/>
              </a:ln>
            </p:spPr>
            <p:txBody>
              <a:bodyPr anchor="ctr"/>
              <a:lstStyle/>
              <a:p>
                <a:pPr algn="ctr"/>
              </a:p>
            </p:txBody>
          </p:sp>
          <p:sp>
            <p:nvSpPr>
              <p:cNvPr id="56" name="Freeform: Shape 146"/>
              <p:cNvSpPr/>
              <p:nvPr>
                <p:custDataLst>
                  <p:tags r:id="rId117"/>
                </p:custDataLst>
              </p:nvPr>
            </p:nvSpPr>
            <p:spPr bwMode="auto">
              <a:xfrm>
                <a:off x="4878755" y="2264380"/>
                <a:ext cx="55880" cy="86177"/>
              </a:xfrm>
              <a:custGeom>
                <a:avLst/>
                <a:gdLst>
                  <a:gd name="T0" fmla="*/ 33 w 35"/>
                  <a:gd name="T1" fmla="*/ 53 h 54"/>
                  <a:gd name="T2" fmla="*/ 27 w 35"/>
                  <a:gd name="T3" fmla="*/ 51 h 54"/>
                  <a:gd name="T4" fmla="*/ 2 w 35"/>
                  <a:gd name="T5" fmla="*/ 6 h 54"/>
                  <a:gd name="T6" fmla="*/ 3 w 35"/>
                  <a:gd name="T7" fmla="*/ 1 h 54"/>
                  <a:gd name="T8" fmla="*/ 9 w 35"/>
                  <a:gd name="T9" fmla="*/ 2 h 54"/>
                  <a:gd name="T10" fmla="*/ 34 w 35"/>
                  <a:gd name="T11" fmla="*/ 48 h 54"/>
                  <a:gd name="T12" fmla="*/ 33 w 35"/>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5" h="54">
                    <a:moveTo>
                      <a:pt x="33" y="53"/>
                    </a:moveTo>
                    <a:cubicBezTo>
                      <a:pt x="31" y="54"/>
                      <a:pt x="28" y="53"/>
                      <a:pt x="27" y="51"/>
                    </a:cubicBezTo>
                    <a:cubicBezTo>
                      <a:pt x="2" y="6"/>
                      <a:pt x="2" y="6"/>
                      <a:pt x="2" y="6"/>
                    </a:cubicBezTo>
                    <a:cubicBezTo>
                      <a:pt x="0" y="4"/>
                      <a:pt x="1" y="2"/>
                      <a:pt x="3" y="1"/>
                    </a:cubicBezTo>
                    <a:cubicBezTo>
                      <a:pt x="5" y="0"/>
                      <a:pt x="7" y="0"/>
                      <a:pt x="9" y="2"/>
                    </a:cubicBezTo>
                    <a:cubicBezTo>
                      <a:pt x="34" y="48"/>
                      <a:pt x="34" y="48"/>
                      <a:pt x="34" y="48"/>
                    </a:cubicBezTo>
                    <a:cubicBezTo>
                      <a:pt x="35" y="49"/>
                      <a:pt x="35" y="52"/>
                      <a:pt x="33" y="53"/>
                    </a:cubicBezTo>
                    <a:close/>
                  </a:path>
                </a:pathLst>
              </a:custGeom>
              <a:solidFill>
                <a:schemeClr val="bg2"/>
              </a:solidFill>
              <a:ln>
                <a:noFill/>
              </a:ln>
            </p:spPr>
            <p:txBody>
              <a:bodyPr anchor="ctr"/>
              <a:lstStyle/>
              <a:p>
                <a:pPr algn="ctr"/>
              </a:p>
            </p:txBody>
          </p:sp>
          <p:sp>
            <p:nvSpPr>
              <p:cNvPr id="57" name="Freeform: Shape 147"/>
              <p:cNvSpPr/>
              <p:nvPr>
                <p:custDataLst>
                  <p:tags r:id="rId118"/>
                </p:custDataLst>
              </p:nvPr>
            </p:nvSpPr>
            <p:spPr bwMode="auto">
              <a:xfrm>
                <a:off x="4996574" y="2197728"/>
                <a:ext cx="44435" cy="70019"/>
              </a:xfrm>
              <a:custGeom>
                <a:avLst/>
                <a:gdLst>
                  <a:gd name="T0" fmla="*/ 26 w 28"/>
                  <a:gd name="T1" fmla="*/ 43 h 44"/>
                  <a:gd name="T2" fmla="*/ 20 w 28"/>
                  <a:gd name="T3" fmla="*/ 42 h 44"/>
                  <a:gd name="T4" fmla="*/ 1 w 28"/>
                  <a:gd name="T5" fmla="*/ 7 h 44"/>
                  <a:gd name="T6" fmla="*/ 2 w 28"/>
                  <a:gd name="T7" fmla="*/ 1 h 44"/>
                  <a:gd name="T8" fmla="*/ 8 w 28"/>
                  <a:gd name="T9" fmla="*/ 3 h 44"/>
                  <a:gd name="T10" fmla="*/ 27 w 28"/>
                  <a:gd name="T11" fmla="*/ 38 h 44"/>
                  <a:gd name="T12" fmla="*/ 26 w 28"/>
                  <a:gd name="T13" fmla="*/ 43 h 44"/>
                </a:gdLst>
                <a:ahLst/>
                <a:cxnLst>
                  <a:cxn ang="0">
                    <a:pos x="T0" y="T1"/>
                  </a:cxn>
                  <a:cxn ang="0">
                    <a:pos x="T2" y="T3"/>
                  </a:cxn>
                  <a:cxn ang="0">
                    <a:pos x="T4" y="T5"/>
                  </a:cxn>
                  <a:cxn ang="0">
                    <a:pos x="T6" y="T7"/>
                  </a:cxn>
                  <a:cxn ang="0">
                    <a:pos x="T8" y="T9"/>
                  </a:cxn>
                  <a:cxn ang="0">
                    <a:pos x="T10" y="T11"/>
                  </a:cxn>
                  <a:cxn ang="0">
                    <a:pos x="T12" y="T13"/>
                  </a:cxn>
                </a:cxnLst>
                <a:rect l="0" t="0" r="r" b="b"/>
                <a:pathLst>
                  <a:path w="28" h="44">
                    <a:moveTo>
                      <a:pt x="26" y="43"/>
                    </a:moveTo>
                    <a:cubicBezTo>
                      <a:pt x="24" y="44"/>
                      <a:pt x="21" y="44"/>
                      <a:pt x="20" y="42"/>
                    </a:cubicBezTo>
                    <a:cubicBezTo>
                      <a:pt x="1" y="7"/>
                      <a:pt x="1" y="7"/>
                      <a:pt x="1" y="7"/>
                    </a:cubicBezTo>
                    <a:cubicBezTo>
                      <a:pt x="0" y="5"/>
                      <a:pt x="0" y="3"/>
                      <a:pt x="2" y="1"/>
                    </a:cubicBezTo>
                    <a:cubicBezTo>
                      <a:pt x="4" y="0"/>
                      <a:pt x="7" y="1"/>
                      <a:pt x="8" y="3"/>
                    </a:cubicBezTo>
                    <a:cubicBezTo>
                      <a:pt x="27" y="38"/>
                      <a:pt x="27" y="38"/>
                      <a:pt x="27" y="38"/>
                    </a:cubicBezTo>
                    <a:cubicBezTo>
                      <a:pt x="28" y="40"/>
                      <a:pt x="28" y="42"/>
                      <a:pt x="26" y="43"/>
                    </a:cubicBezTo>
                    <a:close/>
                  </a:path>
                </a:pathLst>
              </a:custGeom>
              <a:solidFill>
                <a:schemeClr val="bg2"/>
              </a:solidFill>
              <a:ln>
                <a:noFill/>
              </a:ln>
            </p:spPr>
            <p:txBody>
              <a:bodyPr anchor="ctr"/>
              <a:lstStyle/>
              <a:p>
                <a:pPr algn="ctr"/>
              </a:p>
            </p:txBody>
          </p:sp>
          <p:sp>
            <p:nvSpPr>
              <p:cNvPr id="58" name="Freeform: Shape 148"/>
              <p:cNvSpPr/>
              <p:nvPr>
                <p:custDataLst>
                  <p:tags r:id="rId119"/>
                </p:custDataLst>
              </p:nvPr>
            </p:nvSpPr>
            <p:spPr bwMode="auto">
              <a:xfrm>
                <a:off x="4956852" y="2219945"/>
                <a:ext cx="55880" cy="87523"/>
              </a:xfrm>
              <a:custGeom>
                <a:avLst/>
                <a:gdLst>
                  <a:gd name="T0" fmla="*/ 32 w 35"/>
                  <a:gd name="T1" fmla="*/ 53 h 55"/>
                  <a:gd name="T2" fmla="*/ 27 w 35"/>
                  <a:gd name="T3" fmla="*/ 52 h 55"/>
                  <a:gd name="T4" fmla="*/ 1 w 35"/>
                  <a:gd name="T5" fmla="*/ 7 h 55"/>
                  <a:gd name="T6" fmla="*/ 3 w 35"/>
                  <a:gd name="T7" fmla="*/ 1 h 55"/>
                  <a:gd name="T8" fmla="*/ 8 w 35"/>
                  <a:gd name="T9" fmla="*/ 3 h 55"/>
                  <a:gd name="T10" fmla="*/ 34 w 35"/>
                  <a:gd name="T11" fmla="*/ 48 h 55"/>
                  <a:gd name="T12" fmla="*/ 32 w 35"/>
                  <a:gd name="T13" fmla="*/ 53 h 55"/>
                </a:gdLst>
                <a:ahLst/>
                <a:cxnLst>
                  <a:cxn ang="0">
                    <a:pos x="T0" y="T1"/>
                  </a:cxn>
                  <a:cxn ang="0">
                    <a:pos x="T2" y="T3"/>
                  </a:cxn>
                  <a:cxn ang="0">
                    <a:pos x="T4" y="T5"/>
                  </a:cxn>
                  <a:cxn ang="0">
                    <a:pos x="T6" y="T7"/>
                  </a:cxn>
                  <a:cxn ang="0">
                    <a:pos x="T8" y="T9"/>
                  </a:cxn>
                  <a:cxn ang="0">
                    <a:pos x="T10" y="T11"/>
                  </a:cxn>
                  <a:cxn ang="0">
                    <a:pos x="T12" y="T13"/>
                  </a:cxn>
                </a:cxnLst>
                <a:rect l="0" t="0" r="r" b="b"/>
                <a:pathLst>
                  <a:path w="35" h="55">
                    <a:moveTo>
                      <a:pt x="32" y="53"/>
                    </a:moveTo>
                    <a:cubicBezTo>
                      <a:pt x="30" y="55"/>
                      <a:pt x="28" y="54"/>
                      <a:pt x="27" y="52"/>
                    </a:cubicBezTo>
                    <a:cubicBezTo>
                      <a:pt x="1" y="7"/>
                      <a:pt x="1" y="7"/>
                      <a:pt x="1" y="7"/>
                    </a:cubicBezTo>
                    <a:cubicBezTo>
                      <a:pt x="0" y="5"/>
                      <a:pt x="1" y="2"/>
                      <a:pt x="3" y="1"/>
                    </a:cubicBezTo>
                    <a:cubicBezTo>
                      <a:pt x="5" y="0"/>
                      <a:pt x="7" y="1"/>
                      <a:pt x="8" y="3"/>
                    </a:cubicBezTo>
                    <a:cubicBezTo>
                      <a:pt x="34" y="48"/>
                      <a:pt x="34" y="48"/>
                      <a:pt x="34" y="48"/>
                    </a:cubicBezTo>
                    <a:cubicBezTo>
                      <a:pt x="35" y="50"/>
                      <a:pt x="34" y="52"/>
                      <a:pt x="32" y="53"/>
                    </a:cubicBezTo>
                    <a:close/>
                  </a:path>
                </a:pathLst>
              </a:custGeom>
              <a:solidFill>
                <a:schemeClr val="bg2"/>
              </a:solidFill>
              <a:ln>
                <a:noFill/>
              </a:ln>
            </p:spPr>
            <p:txBody>
              <a:bodyPr anchor="ctr"/>
              <a:lstStyle/>
              <a:p>
                <a:pPr algn="ctr"/>
              </a:p>
            </p:txBody>
          </p:sp>
          <p:sp>
            <p:nvSpPr>
              <p:cNvPr id="59" name="Freeform: Shape 149"/>
              <p:cNvSpPr/>
              <p:nvPr>
                <p:custDataLst>
                  <p:tags r:id="rId120"/>
                </p:custDataLst>
              </p:nvPr>
            </p:nvSpPr>
            <p:spPr bwMode="auto">
              <a:xfrm>
                <a:off x="5034950" y="2176857"/>
                <a:ext cx="55880" cy="86177"/>
              </a:xfrm>
              <a:custGeom>
                <a:avLst/>
                <a:gdLst>
                  <a:gd name="T0" fmla="*/ 32 w 35"/>
                  <a:gd name="T1" fmla="*/ 53 h 54"/>
                  <a:gd name="T2" fmla="*/ 27 w 35"/>
                  <a:gd name="T3" fmla="*/ 51 h 54"/>
                  <a:gd name="T4" fmla="*/ 1 w 35"/>
                  <a:gd name="T5" fmla="*/ 6 h 54"/>
                  <a:gd name="T6" fmla="*/ 3 w 35"/>
                  <a:gd name="T7" fmla="*/ 1 h 54"/>
                  <a:gd name="T8" fmla="*/ 8 w 35"/>
                  <a:gd name="T9" fmla="*/ 2 h 54"/>
                  <a:gd name="T10" fmla="*/ 34 w 35"/>
                  <a:gd name="T11" fmla="*/ 47 h 54"/>
                  <a:gd name="T12" fmla="*/ 32 w 35"/>
                  <a:gd name="T13" fmla="*/ 53 h 54"/>
                </a:gdLst>
                <a:ahLst/>
                <a:cxnLst>
                  <a:cxn ang="0">
                    <a:pos x="T0" y="T1"/>
                  </a:cxn>
                  <a:cxn ang="0">
                    <a:pos x="T2" y="T3"/>
                  </a:cxn>
                  <a:cxn ang="0">
                    <a:pos x="T4" y="T5"/>
                  </a:cxn>
                  <a:cxn ang="0">
                    <a:pos x="T6" y="T7"/>
                  </a:cxn>
                  <a:cxn ang="0">
                    <a:pos x="T8" y="T9"/>
                  </a:cxn>
                  <a:cxn ang="0">
                    <a:pos x="T10" y="T11"/>
                  </a:cxn>
                  <a:cxn ang="0">
                    <a:pos x="T12" y="T13"/>
                  </a:cxn>
                </a:cxnLst>
                <a:rect l="0" t="0" r="r" b="b"/>
                <a:pathLst>
                  <a:path w="35" h="54">
                    <a:moveTo>
                      <a:pt x="32" y="53"/>
                    </a:moveTo>
                    <a:cubicBezTo>
                      <a:pt x="30" y="54"/>
                      <a:pt x="28" y="53"/>
                      <a:pt x="27" y="51"/>
                    </a:cubicBezTo>
                    <a:cubicBezTo>
                      <a:pt x="1" y="6"/>
                      <a:pt x="1" y="6"/>
                      <a:pt x="1" y="6"/>
                    </a:cubicBezTo>
                    <a:cubicBezTo>
                      <a:pt x="0" y="4"/>
                      <a:pt x="1" y="2"/>
                      <a:pt x="3" y="1"/>
                    </a:cubicBezTo>
                    <a:cubicBezTo>
                      <a:pt x="4" y="0"/>
                      <a:pt x="7" y="0"/>
                      <a:pt x="8" y="2"/>
                    </a:cubicBezTo>
                    <a:cubicBezTo>
                      <a:pt x="34" y="47"/>
                      <a:pt x="34" y="47"/>
                      <a:pt x="34" y="47"/>
                    </a:cubicBezTo>
                    <a:cubicBezTo>
                      <a:pt x="35" y="49"/>
                      <a:pt x="34" y="52"/>
                      <a:pt x="32" y="53"/>
                    </a:cubicBezTo>
                    <a:close/>
                  </a:path>
                </a:pathLst>
              </a:custGeom>
              <a:solidFill>
                <a:schemeClr val="bg2"/>
              </a:solidFill>
              <a:ln>
                <a:noFill/>
              </a:ln>
            </p:spPr>
            <p:txBody>
              <a:bodyPr anchor="ctr"/>
              <a:lstStyle/>
              <a:p>
                <a:pPr algn="ctr"/>
              </a:p>
            </p:txBody>
          </p:sp>
        </p:gr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用户故事</a:t>
            </a:r>
            <a:endParaRPr lang="zh-CN" altLang="en-US" dirty="0"/>
          </a:p>
        </p:txBody>
      </p:sp>
      <p:sp>
        <p:nvSpPr>
          <p:cNvPr id="4" name="日期占位符 3"/>
          <p:cNvSpPr>
            <a:spLocks noGrp="1"/>
          </p:cNvSpPr>
          <p:nvPr>
            <p:ph type="dt" sz="half" idx="10"/>
          </p:nvPr>
        </p:nvSpPr>
        <p:spPr/>
        <p:txBody>
          <a:bodyPr/>
          <a:lstStyle/>
          <a:p>
            <a:fld id="{AB5604EB-87CD-4870-88BD-A9987371625F}"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smtClean="0"/>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pic>
        <p:nvPicPr>
          <p:cNvPr id="7" name="图片 6"/>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041225" y="769538"/>
            <a:ext cx="7379905" cy="3849965"/>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a:xfrm>
            <a:off x="768350" y="925195"/>
            <a:ext cx="8089900" cy="3806825"/>
          </a:xfrm>
        </p:spPr>
        <p:txBody>
          <a:bodyPr>
            <a:normAutofit fontScale="67500" lnSpcReduction="10000"/>
          </a:bodyPr>
          <a:lstStyle/>
          <a:p>
            <a:pPr fontAlgn="auto">
              <a:spcBef>
                <a:spcPts val="0"/>
              </a:spcBef>
            </a:pPr>
            <a:r>
              <a:rPr lang="en-US" altLang="zh-CN" dirty="0">
                <a:sym typeface="+mn-ea"/>
              </a:rPr>
              <a:t>4.Sprint Backlog </a:t>
            </a:r>
            <a:r>
              <a:rPr lang="zh-CN" altLang="en-US" dirty="0">
                <a:sym typeface="+mn-ea"/>
              </a:rPr>
              <a:t>是由 </a:t>
            </a:r>
            <a:r>
              <a:rPr lang="en-US" altLang="zh-CN" dirty="0">
                <a:sym typeface="+mn-ea"/>
              </a:rPr>
              <a:t>ST </a:t>
            </a:r>
            <a:r>
              <a:rPr lang="zh-CN" altLang="en-US" dirty="0">
                <a:sym typeface="+mn-ea"/>
              </a:rPr>
              <a:t>去完成的，每个成员根据</a:t>
            </a:r>
            <a:r>
              <a:rPr lang="en-US" altLang="zh-CN" dirty="0">
                <a:sym typeface="+mn-ea"/>
              </a:rPr>
              <a:t>Sprint Backlog</a:t>
            </a:r>
            <a:r>
              <a:rPr lang="zh-CN" altLang="en-US" dirty="0">
                <a:sym typeface="+mn-ea"/>
              </a:rPr>
              <a:t>再细化成更小的任务（细到每个任务的工作量在</a:t>
            </a:r>
            <a:r>
              <a:rPr lang="en-US" altLang="zh-CN" dirty="0">
                <a:sym typeface="+mn-ea"/>
              </a:rPr>
              <a:t>2</a:t>
            </a:r>
            <a:r>
              <a:rPr lang="zh-CN" altLang="en-US" dirty="0">
                <a:sym typeface="+mn-ea"/>
              </a:rPr>
              <a:t>天内能完成）。</a:t>
            </a:r>
            <a:endParaRPr lang="en-US" altLang="zh-CN" dirty="0">
              <a:effectLst/>
            </a:endParaRPr>
          </a:p>
          <a:p>
            <a:pPr fontAlgn="auto">
              <a:spcBef>
                <a:spcPts val="0"/>
              </a:spcBef>
            </a:pPr>
            <a:r>
              <a:rPr lang="en-US" altLang="zh-CN" dirty="0">
                <a:effectLst/>
              </a:rPr>
              <a:t>5.</a:t>
            </a:r>
            <a:r>
              <a:rPr lang="zh-CN" altLang="en-US" dirty="0">
                <a:effectLst/>
              </a:rPr>
              <a:t>在</a:t>
            </a:r>
            <a:r>
              <a:rPr lang="en-US" altLang="zh-CN" dirty="0">
                <a:effectLst/>
              </a:rPr>
              <a:t>Scrum Team</a:t>
            </a:r>
            <a:r>
              <a:rPr lang="zh-CN" altLang="en-US" dirty="0">
                <a:effectLst/>
              </a:rPr>
              <a:t>完成计划会议上选出的</a:t>
            </a:r>
            <a:r>
              <a:rPr lang="en-US" altLang="zh-CN" dirty="0">
                <a:effectLst/>
              </a:rPr>
              <a:t>Sprint Backlog</a:t>
            </a:r>
            <a:r>
              <a:rPr lang="zh-CN" altLang="en-US" dirty="0">
                <a:effectLst/>
              </a:rPr>
              <a:t>过程中，需要进行 </a:t>
            </a:r>
            <a:r>
              <a:rPr lang="en-US" altLang="zh-CN" dirty="0">
                <a:effectLst/>
              </a:rPr>
              <a:t>Daily Scrum Meeting</a:t>
            </a:r>
            <a:r>
              <a:rPr lang="zh-CN" altLang="en-US" dirty="0">
                <a:effectLst/>
              </a:rPr>
              <a:t>（每日站立会议），每次会议控制在</a:t>
            </a:r>
            <a:r>
              <a:rPr lang="en-US" altLang="zh-CN" dirty="0">
                <a:effectLst/>
              </a:rPr>
              <a:t>15</a:t>
            </a:r>
            <a:r>
              <a:rPr lang="zh-CN" altLang="en-US" dirty="0">
                <a:effectLst/>
              </a:rPr>
              <a:t>分钟左右，每个人都必须发言，并且要向所有成员当面汇报。</a:t>
            </a:r>
            <a:endParaRPr lang="en-US" altLang="zh-CN" dirty="0">
              <a:effectLst/>
            </a:endParaRPr>
          </a:p>
          <a:p>
            <a:pPr lvl="1" fontAlgn="auto">
              <a:spcBef>
                <a:spcPts val="0"/>
              </a:spcBef>
              <a:buFont typeface="Wingdings" panose="05000000000000000000" pitchFamily="2" charset="2"/>
              <a:buChar char="l"/>
            </a:pPr>
            <a:r>
              <a:rPr lang="zh-CN" altLang="en-US" dirty="0"/>
              <a:t>上次例会后</a:t>
            </a:r>
            <a:r>
              <a:rPr lang="zh-CN" altLang="en-US" dirty="0">
                <a:effectLst/>
              </a:rPr>
              <a:t>完成了什么</a:t>
            </a:r>
            <a:r>
              <a:rPr lang="zh-CN" altLang="en-US" dirty="0"/>
              <a:t>？</a:t>
            </a:r>
            <a:endParaRPr lang="en-US" altLang="zh-CN" dirty="0">
              <a:effectLst/>
            </a:endParaRPr>
          </a:p>
          <a:p>
            <a:pPr lvl="1" fontAlgn="auto">
              <a:spcBef>
                <a:spcPts val="0"/>
              </a:spcBef>
              <a:buFont typeface="Wingdings" panose="05000000000000000000" pitchFamily="2" charset="2"/>
              <a:buChar char="l"/>
            </a:pPr>
            <a:r>
              <a:rPr lang="zh-CN" altLang="en-US" dirty="0"/>
              <a:t>下次例会前计划做什么？</a:t>
            </a:r>
            <a:endParaRPr lang="en-US" altLang="zh-CN" dirty="0"/>
          </a:p>
          <a:p>
            <a:pPr lvl="1" fontAlgn="auto">
              <a:spcBef>
                <a:spcPts val="0"/>
              </a:spcBef>
              <a:buFont typeface="Wingdings" panose="05000000000000000000" pitchFamily="2" charset="2"/>
              <a:buChar char="l"/>
            </a:pPr>
            <a:r>
              <a:rPr lang="zh-CN" altLang="en-US" dirty="0">
                <a:effectLst/>
              </a:rPr>
              <a:t>遇到了什么困难？</a:t>
            </a:r>
            <a:endParaRPr lang="en-US" altLang="zh-CN" dirty="0">
              <a:effectLst/>
            </a:endParaRPr>
          </a:p>
          <a:p>
            <a:pPr marL="0" indent="0" fontAlgn="auto">
              <a:spcBef>
                <a:spcPts val="0"/>
              </a:spcBef>
              <a:buNone/>
            </a:pPr>
            <a:r>
              <a:rPr lang="zh-CN" altLang="en-US" dirty="0">
                <a:effectLst/>
              </a:rPr>
              <a:t>每个人回答完成后，要走到黑板前更新自己的 </a:t>
            </a:r>
            <a:r>
              <a:rPr lang="en-US" altLang="zh-CN" dirty="0">
                <a:effectLst/>
              </a:rPr>
              <a:t>Sprint burn down</a:t>
            </a:r>
            <a:r>
              <a:rPr lang="zh-CN" altLang="en-US" dirty="0">
                <a:effectLst/>
              </a:rPr>
              <a:t>（</a:t>
            </a:r>
            <a:r>
              <a:rPr lang="en-US" altLang="zh-CN" dirty="0">
                <a:effectLst/>
              </a:rPr>
              <a:t>Sprint</a:t>
            </a:r>
            <a:r>
              <a:rPr lang="zh-CN" altLang="en-US" dirty="0">
                <a:effectLst/>
              </a:rPr>
              <a:t>燃尽图）</a:t>
            </a:r>
            <a:endParaRPr lang="zh-CN" altLang="en-US" dirty="0">
              <a:effectLst/>
            </a:endParaRPr>
          </a:p>
          <a:p>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每日站立会议</a:t>
            </a:r>
            <a:endParaRPr lang="zh-CN" altLang="en-US" dirty="0"/>
          </a:p>
        </p:txBody>
      </p:sp>
      <p:pic>
        <p:nvPicPr>
          <p:cNvPr id="5" name="内容占位符 4"/>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4655128" y="1424933"/>
            <a:ext cx="4315282" cy="2733524"/>
          </a:xfrm>
        </p:spPr>
      </p:pic>
      <p:sp>
        <p:nvSpPr>
          <p:cNvPr id="4" name="日期占位符 3"/>
          <p:cNvSpPr>
            <a:spLocks noGrp="1"/>
          </p:cNvSpPr>
          <p:nvPr>
            <p:ph type="dt" sz="half" idx="10"/>
          </p:nvPr>
        </p:nvSpPr>
        <p:spPr/>
        <p:txBody>
          <a:bodyPr/>
          <a:lstStyle/>
          <a:p>
            <a:fld id="{494A8DB7-60A5-4872-A442-BDBBBC5863C5}"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
        <p:nvSpPr>
          <p:cNvPr id="3" name="灯片编号占位符 2"/>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7" name="文本框 6"/>
          <p:cNvSpPr txBox="1"/>
          <p:nvPr/>
        </p:nvSpPr>
        <p:spPr>
          <a:xfrm>
            <a:off x="655122" y="913488"/>
            <a:ext cx="3826122" cy="4006225"/>
          </a:xfrm>
          <a:prstGeom prst="rect">
            <a:avLst/>
          </a:prstGeom>
          <a:noFill/>
        </p:spPr>
        <p:txBody>
          <a:bodyPr wrap="square" rtlCol="0">
            <a:spAutoFit/>
          </a:bodyPr>
          <a:lstStyle/>
          <a:p>
            <a:pPr algn="just">
              <a:lnSpc>
                <a:spcPct val="110000"/>
              </a:lnSpc>
              <a:spcBef>
                <a:spcPts val="200"/>
              </a:spcBef>
            </a:pPr>
            <a:r>
              <a:rPr lang="zh-CN" altLang="en-US" sz="2000" b="1" dirty="0">
                <a:latin typeface="+mj-ea"/>
                <a:ea typeface="+mj-ea"/>
              </a:rPr>
              <a:t>会议目的： </a:t>
            </a:r>
            <a:endParaRPr lang="en-US" altLang="zh-CN" sz="2000" b="1" dirty="0" smtClean="0">
              <a:latin typeface="+mj-ea"/>
              <a:ea typeface="+mj-ea"/>
            </a:endParaRPr>
          </a:p>
          <a:p>
            <a:pPr marL="342900" indent="-342900" algn="just">
              <a:lnSpc>
                <a:spcPct val="110000"/>
              </a:lnSpc>
              <a:spcBef>
                <a:spcPts val="200"/>
              </a:spcBef>
              <a:buFont typeface="Arial" panose="020B0604020202020204" pitchFamily="34" charset="0"/>
              <a:buChar char="•"/>
            </a:pPr>
            <a:r>
              <a:rPr lang="zh-CN" altLang="en-US" dirty="0" smtClean="0">
                <a:latin typeface="+mj-ea"/>
                <a:ea typeface="+mj-ea"/>
              </a:rPr>
              <a:t>团队</a:t>
            </a:r>
            <a:r>
              <a:rPr lang="zh-CN" altLang="en-US" dirty="0">
                <a:latin typeface="+mj-ea"/>
                <a:ea typeface="+mj-ea"/>
              </a:rPr>
              <a:t>在会议中做计划，协调其每日活动，还可以报告和讨论遇到的障碍</a:t>
            </a:r>
            <a:r>
              <a:rPr lang="zh-CN" altLang="en-US" dirty="0" smtClean="0">
                <a:latin typeface="+mj-ea"/>
                <a:ea typeface="+mj-ea"/>
              </a:rPr>
              <a:t>。</a:t>
            </a:r>
            <a:endParaRPr lang="en-US" altLang="zh-CN" dirty="0" smtClean="0">
              <a:latin typeface="+mj-ea"/>
              <a:ea typeface="+mj-ea"/>
            </a:endParaRPr>
          </a:p>
          <a:p>
            <a:pPr marL="342900" indent="-342900" algn="just">
              <a:lnSpc>
                <a:spcPct val="110000"/>
              </a:lnSpc>
              <a:spcBef>
                <a:spcPts val="200"/>
              </a:spcBef>
              <a:buFont typeface="Arial" panose="020B0604020202020204" pitchFamily="34" charset="0"/>
              <a:buChar char="•"/>
            </a:pPr>
            <a:r>
              <a:rPr lang="zh-CN" altLang="en-US" dirty="0" smtClean="0">
                <a:latin typeface="+mj-ea"/>
                <a:ea typeface="+mj-ea"/>
              </a:rPr>
              <a:t>任务</a:t>
            </a:r>
            <a:r>
              <a:rPr lang="zh-CN" altLang="en-US" dirty="0">
                <a:latin typeface="+mj-ea"/>
                <a:ea typeface="+mj-ea"/>
              </a:rPr>
              <a:t>板帮助团队聚焦于每日活动上，应在这个时候更新任务板和燃尽图</a:t>
            </a:r>
            <a:r>
              <a:rPr lang="zh-CN" altLang="en-US" dirty="0" smtClean="0">
                <a:latin typeface="+mj-ea"/>
                <a:ea typeface="+mj-ea"/>
              </a:rPr>
              <a:t>。</a:t>
            </a:r>
            <a:endParaRPr lang="en-US" altLang="zh-CN" dirty="0" smtClean="0">
              <a:latin typeface="+mj-ea"/>
              <a:ea typeface="+mj-ea"/>
            </a:endParaRPr>
          </a:p>
          <a:p>
            <a:pPr algn="just">
              <a:lnSpc>
                <a:spcPct val="110000"/>
              </a:lnSpc>
              <a:spcBef>
                <a:spcPts val="200"/>
              </a:spcBef>
            </a:pPr>
            <a:r>
              <a:rPr lang="zh-CN" altLang="en-US" sz="2000" b="1" dirty="0">
                <a:latin typeface="+mj-ea"/>
                <a:ea typeface="+mj-ea"/>
              </a:rPr>
              <a:t>每个团队成员需要回答三个问题</a:t>
            </a:r>
            <a:r>
              <a:rPr lang="zh-CN" altLang="en-US" sz="2000" b="1" dirty="0" smtClean="0">
                <a:latin typeface="+mj-ea"/>
                <a:ea typeface="+mj-ea"/>
              </a:rPr>
              <a:t>：</a:t>
            </a:r>
            <a:endParaRPr lang="en-US" altLang="zh-CN" sz="2000" b="1" dirty="0">
              <a:latin typeface="+mj-ea"/>
              <a:ea typeface="+mj-ea"/>
            </a:endParaRPr>
          </a:p>
          <a:p>
            <a:pPr marL="457200" indent="-457200" algn="just">
              <a:lnSpc>
                <a:spcPct val="110000"/>
              </a:lnSpc>
              <a:spcBef>
                <a:spcPts val="200"/>
              </a:spcBef>
              <a:buFont typeface="+mj-lt"/>
              <a:buAutoNum type="arabicPeriod"/>
            </a:pPr>
            <a:r>
              <a:rPr lang="zh-CN" altLang="en-US" dirty="0" smtClean="0">
                <a:latin typeface="+mj-ea"/>
                <a:ea typeface="+mj-ea"/>
              </a:rPr>
              <a:t>上次</a:t>
            </a:r>
            <a:r>
              <a:rPr lang="zh-CN" altLang="en-US" dirty="0">
                <a:latin typeface="+mj-ea"/>
                <a:ea typeface="+mj-ea"/>
              </a:rPr>
              <a:t>例会后完成了什么？ </a:t>
            </a:r>
            <a:endParaRPr lang="en-US" altLang="zh-CN" dirty="0" smtClean="0">
              <a:latin typeface="+mj-ea"/>
              <a:ea typeface="+mj-ea"/>
            </a:endParaRPr>
          </a:p>
          <a:p>
            <a:pPr marL="457200" indent="-457200" algn="just">
              <a:lnSpc>
                <a:spcPct val="110000"/>
              </a:lnSpc>
              <a:spcBef>
                <a:spcPts val="200"/>
              </a:spcBef>
              <a:buFont typeface="+mj-lt"/>
              <a:buAutoNum type="arabicPeriod"/>
            </a:pPr>
            <a:r>
              <a:rPr lang="zh-CN" altLang="en-US" dirty="0" smtClean="0">
                <a:latin typeface="+mj-ea"/>
                <a:ea typeface="+mj-ea"/>
              </a:rPr>
              <a:t>遇到</a:t>
            </a:r>
            <a:r>
              <a:rPr lang="zh-CN" altLang="en-US" dirty="0">
                <a:latin typeface="+mj-ea"/>
                <a:ea typeface="+mj-ea"/>
              </a:rPr>
              <a:t>了什么困难（或障碍）？ </a:t>
            </a:r>
            <a:endParaRPr lang="en-US" altLang="zh-CN" dirty="0" smtClean="0">
              <a:latin typeface="+mj-ea"/>
              <a:ea typeface="+mj-ea"/>
            </a:endParaRPr>
          </a:p>
          <a:p>
            <a:pPr marL="457200" indent="-457200" algn="just">
              <a:lnSpc>
                <a:spcPct val="110000"/>
              </a:lnSpc>
              <a:spcBef>
                <a:spcPts val="200"/>
              </a:spcBef>
              <a:buFont typeface="+mj-lt"/>
              <a:buAutoNum type="arabicPeriod"/>
            </a:pPr>
            <a:r>
              <a:rPr lang="zh-CN" altLang="en-US" dirty="0" smtClean="0">
                <a:latin typeface="+mj-ea"/>
                <a:ea typeface="+mj-ea"/>
              </a:rPr>
              <a:t>下次</a:t>
            </a:r>
            <a:r>
              <a:rPr lang="zh-CN" altLang="en-US" dirty="0">
                <a:latin typeface="+mj-ea"/>
                <a:ea typeface="+mj-ea"/>
              </a:rPr>
              <a:t>例会前计划做什么？ </a:t>
            </a:r>
            <a:endParaRPr lang="en-US" altLang="zh-CN" dirty="0" smtClean="0">
              <a:latin typeface="+mj-ea"/>
              <a:ea typeface="+mj-ea"/>
            </a:endParaRPr>
          </a:p>
          <a:p>
            <a:pPr algn="just">
              <a:lnSpc>
                <a:spcPct val="110000"/>
              </a:lnSpc>
              <a:spcBef>
                <a:spcPts val="200"/>
              </a:spcBef>
            </a:pPr>
            <a:endParaRPr lang="zh-CN" altLang="en-US" sz="2000" dirty="0">
              <a:latin typeface="+mj-ea"/>
              <a:ea typeface="+mj-ea"/>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6" name="矩形 5"/>
          <p:cNvSpPr/>
          <p:nvPr/>
        </p:nvSpPr>
        <p:spPr>
          <a:xfrm>
            <a:off x="3925668" y="4353948"/>
            <a:ext cx="1654444" cy="461665"/>
          </a:xfrm>
          <a:prstGeom prst="rect">
            <a:avLst/>
          </a:prstGeom>
        </p:spPr>
        <p:txBody>
          <a:bodyPr wrap="square">
            <a:spAutoFit/>
          </a:bodyPr>
          <a:lstStyle/>
          <a:p>
            <a:r>
              <a:rPr lang="zh-CN" altLang="en-US" sz="2400" dirty="0"/>
              <a:t>任务看版</a:t>
            </a:r>
            <a:endParaRPr lang="zh-CN" altLang="en-US" sz="2400" dirty="0"/>
          </a:p>
        </p:txBody>
      </p:sp>
      <p:pic>
        <p:nvPicPr>
          <p:cNvPr id="7" name="内容占位符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836527" y="823224"/>
            <a:ext cx="7832725" cy="3530724"/>
          </a:xfr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effectLst/>
              </a:rPr>
              <a:t>Sprint</a:t>
            </a:r>
            <a:r>
              <a:rPr lang="zh-CN" altLang="en-US" dirty="0">
                <a:effectLst/>
              </a:rPr>
              <a:t>燃尽图</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3" name="日期占位符 2"/>
          <p:cNvSpPr>
            <a:spLocks noGrp="1"/>
          </p:cNvSpPr>
          <p:nvPr>
            <p:ph type="dt" sz="half" idx="10"/>
          </p:nvPr>
        </p:nvSpPr>
        <p:spPr/>
        <p:txBody>
          <a:bodyPr/>
          <a:lstStyle/>
          <a:p>
            <a:fld id="{15D62B6F-32BB-4DB8-9740-B77688ADB16C}"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pic>
        <p:nvPicPr>
          <p:cNvPr id="7" name="图片 6"/>
          <p:cNvPicPr>
            <a:picLocks noChangeAspect="1"/>
          </p:cNvPicPr>
          <p:nvPr/>
        </p:nvPicPr>
        <p:blipFill>
          <a:blip r:embed="rId1">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24791" y="937130"/>
            <a:ext cx="7731579" cy="3629751"/>
          </a:xfrm>
          <a:prstGeom prst="rect">
            <a:avLst/>
          </a:prstGeom>
        </p:spPr>
      </p:pic>
      <p:pic>
        <p:nvPicPr>
          <p:cNvPr id="5" name="图片 4"/>
          <p:cNvPicPr>
            <a:picLocks noChangeAspect="1"/>
          </p:cNvPicPr>
          <p:nvPr/>
        </p:nvPicPr>
        <p:blipFill>
          <a:blip r:embed="rId2"/>
          <a:stretch>
            <a:fillRect/>
          </a:stretch>
        </p:blipFill>
        <p:spPr>
          <a:xfrm>
            <a:off x="23750" y="3123209"/>
            <a:ext cx="3516230" cy="198305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400" dirty="0">
                <a:effectLst/>
              </a:rPr>
              <a:t>6.</a:t>
            </a:r>
            <a:r>
              <a:rPr lang="zh-CN" altLang="en-US" sz="2400" dirty="0">
                <a:effectLst/>
              </a:rPr>
              <a:t>做到每日集成，也就是每天都要有一个可以成功编译、并且可以演示的版本；很多人可能还没有用过自动化的每日集成，其实</a:t>
            </a:r>
            <a:r>
              <a:rPr lang="en-US" altLang="zh-CN" sz="2400" dirty="0">
                <a:effectLst/>
              </a:rPr>
              <a:t>TFS</a:t>
            </a:r>
            <a:r>
              <a:rPr lang="zh-CN" altLang="en-US" sz="2400" dirty="0">
                <a:effectLst/>
              </a:rPr>
              <a:t>就有这个功能，它可以支持每次有成员进行签入操作的时候，在服务器上自动获取最新版本，然后在服务器中编译，如果通过则马上再执行单元测试代码，如果也全部通过，则将该版本发布，这时一次正式的签入操作才保存到</a:t>
            </a:r>
            <a:r>
              <a:rPr lang="en-US" altLang="zh-CN" sz="2400" dirty="0">
                <a:effectLst/>
              </a:rPr>
              <a:t>TFS</a:t>
            </a:r>
            <a:r>
              <a:rPr lang="zh-CN" altLang="en-US" sz="2400" dirty="0">
                <a:effectLst/>
              </a:rPr>
              <a:t>中，中间有任何失败，都会用邮件通知项目管理人员</a:t>
            </a:r>
            <a:r>
              <a:rPr lang="en-US" altLang="zh-CN" sz="2400" dirty="0">
                <a:effectLst/>
              </a:rPr>
              <a:t>.</a:t>
            </a:r>
            <a:endParaRPr lang="zh-CN" altLang="en-US" sz="2400"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normAutofit/>
          </a:bodyPr>
          <a:lstStyle/>
          <a:p>
            <a:r>
              <a:rPr lang="en-US" altLang="zh-CN" sz="2400" dirty="0">
                <a:effectLst/>
              </a:rPr>
              <a:t>7.</a:t>
            </a:r>
            <a:r>
              <a:rPr lang="zh-CN" altLang="en-US" sz="2400" dirty="0">
                <a:effectLst/>
              </a:rPr>
              <a:t>当一个</a:t>
            </a:r>
            <a:r>
              <a:rPr lang="en-US" altLang="zh-CN" sz="2400" dirty="0">
                <a:effectLst/>
              </a:rPr>
              <a:t>Story</a:t>
            </a:r>
            <a:r>
              <a:rPr lang="zh-CN" altLang="en-US" sz="2400" dirty="0">
                <a:effectLst/>
              </a:rPr>
              <a:t>完成，也就是</a:t>
            </a:r>
            <a:r>
              <a:rPr lang="en-US" altLang="zh-CN" sz="2400" dirty="0">
                <a:effectLst/>
              </a:rPr>
              <a:t>Sprint Backlog</a:t>
            </a:r>
            <a:r>
              <a:rPr lang="zh-CN" altLang="en-US" sz="2400" dirty="0">
                <a:effectLst/>
              </a:rPr>
              <a:t>被完成，也就表示一次</a:t>
            </a:r>
            <a:r>
              <a:rPr lang="en-US" altLang="zh-CN" sz="2400" dirty="0">
                <a:effectLst/>
              </a:rPr>
              <a:t>Sprint</a:t>
            </a:r>
            <a:r>
              <a:rPr lang="zh-CN" altLang="en-US" sz="2400" dirty="0">
                <a:effectLst/>
              </a:rPr>
              <a:t>完成，这时，我们要进行 </a:t>
            </a:r>
            <a:r>
              <a:rPr lang="en-US" altLang="zh-CN" sz="2400" dirty="0" err="1">
                <a:effectLst/>
              </a:rPr>
              <a:t>Srpint</a:t>
            </a:r>
            <a:r>
              <a:rPr lang="en-US" altLang="zh-CN" sz="2400" dirty="0">
                <a:effectLst/>
              </a:rPr>
              <a:t> Review Meeting</a:t>
            </a:r>
            <a:r>
              <a:rPr lang="zh-CN" altLang="en-US" sz="2400" dirty="0">
                <a:effectLst/>
              </a:rPr>
              <a:t>（迭代评审会议），也称为评审会议，产品负责人和客户都要参加（最好本公司老板也参加），每一个</a:t>
            </a:r>
            <a:r>
              <a:rPr lang="en-US" altLang="zh-CN" sz="2400" dirty="0">
                <a:effectLst/>
              </a:rPr>
              <a:t>Scrum Team</a:t>
            </a:r>
            <a:r>
              <a:rPr lang="zh-CN" altLang="en-US" sz="2400" dirty="0">
                <a:effectLst/>
              </a:rPr>
              <a:t>的成员都要向他们演示自己完成的软件产品（这个会议非常重要，一定不能取消）</a:t>
            </a:r>
            <a:endParaRPr lang="zh-CN" altLang="en-US" sz="2400" b="1"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评审会议</a:t>
            </a:r>
            <a:endParaRPr lang="zh-CN" altLang="en-US" dirty="0"/>
          </a:p>
        </p:txBody>
      </p:sp>
      <p:pic>
        <p:nvPicPr>
          <p:cNvPr id="7" name="内容占位符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685223" y="983786"/>
            <a:ext cx="7832725" cy="3413189"/>
          </a:xfrm>
        </p:spPr>
      </p:pic>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en-US" altLang="zh-CN" dirty="0">
                <a:effectLst/>
              </a:rPr>
              <a:t>8.</a:t>
            </a:r>
            <a:r>
              <a:rPr lang="zh-CN" altLang="en-US" dirty="0">
                <a:effectLst/>
              </a:rPr>
              <a:t>最后就是 </a:t>
            </a:r>
            <a:r>
              <a:rPr lang="en-US" altLang="zh-CN" dirty="0">
                <a:effectLst/>
              </a:rPr>
              <a:t>Sprint Retrospective Meeting</a:t>
            </a:r>
            <a:r>
              <a:rPr lang="zh-CN" altLang="en-US" dirty="0">
                <a:effectLst/>
              </a:rPr>
              <a:t>（回顾会议），也称为总结会议，以轮流发言方式进行，每个人都要发言，总结并讨论改进的地方，放入下一轮</a:t>
            </a:r>
            <a:r>
              <a:rPr lang="en-US" altLang="zh-CN" dirty="0">
                <a:effectLst/>
              </a:rPr>
              <a:t>Sprint</a:t>
            </a:r>
            <a:r>
              <a:rPr lang="zh-CN" altLang="en-US" dirty="0">
                <a:effectLst/>
              </a:rPr>
              <a:t>的产品需求中</a:t>
            </a:r>
            <a:r>
              <a:rPr lang="en-US" altLang="zh-CN" dirty="0">
                <a:effectLst/>
              </a:rPr>
              <a:t>.</a:t>
            </a:r>
            <a:endParaRPr lang="zh-CN" altLang="en-US" dirty="0"/>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迭代回顾会议</a:t>
            </a:r>
            <a:endParaRPr lang="zh-CN" altLang="en-US" dirty="0"/>
          </a:p>
        </p:txBody>
      </p:sp>
      <p:pic>
        <p:nvPicPr>
          <p:cNvPr id="7" name="内容占位符 6"/>
          <p:cNvPicPr>
            <a:picLocks noGrp="1" noChangeAspect="1"/>
          </p:cNvPicPr>
          <p:nvPr>
            <p:ph idx="1"/>
          </p:nvPr>
        </p:nvPicPr>
        <p:blipFill>
          <a:blip r:embed="rId1">
            <a:extLst>
              <a:ext uri="{28A0092B-C50C-407E-A947-70E740481C1C}">
                <a14:useLocalDpi xmlns:a14="http://schemas.microsoft.com/office/drawing/2010/main" val="0"/>
              </a:ext>
            </a:extLst>
          </a:blip>
          <a:stretch>
            <a:fillRect/>
          </a:stretch>
        </p:blipFill>
        <p:spPr>
          <a:xfrm>
            <a:off x="573795" y="1177637"/>
            <a:ext cx="8207390" cy="3078899"/>
          </a:xfrm>
        </p:spPr>
      </p:pic>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p:cNvSpPr>
            <a:spLocks noGrp="1"/>
          </p:cNvSpPr>
          <p:nvPr>
            <p:ph type="ctrTitle"/>
          </p:nvPr>
        </p:nvSpPr>
        <p:spPr/>
        <p:txBody>
          <a:bodyPr>
            <a:normAutofit/>
          </a:bodyPr>
          <a:lstStyle/>
          <a:p>
            <a:r>
              <a:rPr lang="zh-CN" altLang="en-US" sz="4400" dirty="0">
                <a:solidFill>
                  <a:schemeClr val="tx1"/>
                </a:solidFill>
              </a:rPr>
              <a:t>敏捷开发之</a:t>
            </a:r>
            <a:r>
              <a:rPr lang="en-US" altLang="zh-CN" sz="4400" dirty="0" err="1">
                <a:solidFill>
                  <a:schemeClr val="tx1"/>
                </a:solidFill>
              </a:rPr>
              <a:t>xp</a:t>
            </a:r>
            <a:endParaRPr lang="zh-CN" altLang="en-US" sz="4400" cap="none" dirty="0">
              <a:solidFill>
                <a:schemeClr val="tx1"/>
              </a:solidFill>
            </a:endParaRPr>
          </a:p>
        </p:txBody>
      </p:sp>
      <p:sp>
        <p:nvSpPr>
          <p:cNvPr id="8" name="副标题 7"/>
          <p:cNvSpPr>
            <a:spLocks noGrp="1"/>
          </p:cNvSpPr>
          <p:nvPr>
            <p:ph type="subTitle" idx="1"/>
          </p:nvPr>
        </p:nvSpPr>
        <p:spPr/>
        <p:txBody>
          <a:bodyPr/>
          <a:lstStyle/>
          <a:p>
            <a:endParaRPr lang="zh-CN" altLang="en-US" dirty="0"/>
          </a:p>
        </p:txBody>
      </p:sp>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极限编程</a:t>
            </a:r>
            <a:endParaRPr lang="zh-CN" altLang="en-US" dirty="0"/>
          </a:p>
        </p:txBody>
      </p:sp>
      <p:sp>
        <p:nvSpPr>
          <p:cNvPr id="3" name="内容占位符 2"/>
          <p:cNvSpPr>
            <a:spLocks noGrp="1"/>
          </p:cNvSpPr>
          <p:nvPr>
            <p:ph idx="1"/>
          </p:nvPr>
        </p:nvSpPr>
        <p:spPr/>
        <p:txBody>
          <a:bodyPr>
            <a:normAutofit lnSpcReduction="10000"/>
          </a:bodyPr>
          <a:lstStyle/>
          <a:p>
            <a:pPr algn="just">
              <a:lnSpc>
                <a:spcPct val="120000"/>
              </a:lnSpc>
              <a:spcBef>
                <a:spcPts val="1200"/>
              </a:spcBef>
              <a:spcAft>
                <a:spcPts val="0"/>
              </a:spcAft>
            </a:pPr>
            <a:r>
              <a:rPr lang="zh-CN" altLang="en-US" sz="2200" b="1" dirty="0">
                <a:latin typeface="+mj-ea"/>
                <a:ea typeface="+mj-ea"/>
              </a:rPr>
              <a:t>极限编程</a:t>
            </a:r>
            <a:r>
              <a:rPr lang="en-US" altLang="zh-CN" sz="2200" b="1" dirty="0">
                <a:latin typeface="+mj-ea"/>
                <a:ea typeface="+mj-ea"/>
              </a:rPr>
              <a:t>(</a:t>
            </a:r>
            <a:r>
              <a:rPr lang="en-US" altLang="zh-CN" sz="2200" b="1" dirty="0">
                <a:solidFill>
                  <a:srgbClr val="FF0000"/>
                </a:solidFill>
                <a:latin typeface="+mj-ea"/>
                <a:ea typeface="+mj-ea"/>
              </a:rPr>
              <a:t>XP</a:t>
            </a:r>
            <a:r>
              <a:rPr lang="zh-CN" altLang="en-US" sz="2200" b="1" dirty="0">
                <a:latin typeface="+mj-ea"/>
                <a:ea typeface="+mj-ea"/>
              </a:rPr>
              <a:t>，</a:t>
            </a:r>
            <a:r>
              <a:rPr lang="en-US" altLang="zh-CN" sz="2200" b="1" dirty="0" err="1">
                <a:solidFill>
                  <a:srgbClr val="FF0000"/>
                </a:solidFill>
                <a:latin typeface="+mj-ea"/>
                <a:ea typeface="+mj-ea"/>
              </a:rPr>
              <a:t>eXtreme</a:t>
            </a:r>
            <a:r>
              <a:rPr lang="en-US" altLang="zh-CN" sz="2200" b="1" dirty="0">
                <a:solidFill>
                  <a:srgbClr val="FF0000"/>
                </a:solidFill>
                <a:latin typeface="+mj-ea"/>
                <a:ea typeface="+mj-ea"/>
              </a:rPr>
              <a:t> Programming</a:t>
            </a:r>
            <a:r>
              <a:rPr lang="en-US" altLang="zh-CN" sz="2200" b="1" dirty="0">
                <a:latin typeface="+mj-ea"/>
                <a:ea typeface="+mj-ea"/>
              </a:rPr>
              <a:t>)</a:t>
            </a:r>
            <a:r>
              <a:rPr lang="zh-CN" altLang="en-US" sz="2200" b="1" dirty="0">
                <a:latin typeface="+mj-ea"/>
                <a:ea typeface="+mj-ea"/>
              </a:rPr>
              <a:t>，是一种“轻量型”的以编码为核心任务的灵活软件开发方法</a:t>
            </a:r>
            <a:r>
              <a:rPr lang="zh-CN" altLang="en-US" sz="2200" dirty="0">
                <a:latin typeface="+mj-ea"/>
                <a:ea typeface="+mj-ea"/>
              </a:rPr>
              <a:t>。它是敏捷开发中最有名的一个</a:t>
            </a:r>
            <a:r>
              <a:rPr lang="en-US" altLang="zh-CN" sz="2200" dirty="0">
                <a:latin typeface="+mj-ea"/>
                <a:ea typeface="+mj-ea"/>
              </a:rPr>
              <a:t>, </a:t>
            </a:r>
            <a:r>
              <a:rPr lang="zh-CN" altLang="en-US" sz="2200" dirty="0">
                <a:latin typeface="+mj-ea"/>
                <a:ea typeface="+mj-ea"/>
              </a:rPr>
              <a:t>适用于经常面临需求不明确或快速变化的小型项目。</a:t>
            </a:r>
            <a:endParaRPr lang="en-US" altLang="zh-CN" sz="2200" b="1" dirty="0">
              <a:latin typeface="+mj-ea"/>
              <a:ea typeface="+mj-ea"/>
            </a:endParaRPr>
          </a:p>
          <a:p>
            <a:pPr algn="just">
              <a:lnSpc>
                <a:spcPct val="120000"/>
              </a:lnSpc>
              <a:spcBef>
                <a:spcPts val="1200"/>
              </a:spcBef>
              <a:spcAft>
                <a:spcPts val="0"/>
              </a:spcAft>
            </a:pPr>
            <a:r>
              <a:rPr lang="zh-CN" altLang="en-US" sz="2200" dirty="0">
                <a:latin typeface="+mj-ea"/>
                <a:ea typeface="+mj-ea"/>
              </a:rPr>
              <a:t>其主要特征是，要适应环境变化和需求变化，让客户全面参与软件的开发设计，充分发挥开发人员的主动精神，降低软件项目风险，改善业务变化的反应能力，提高开发期间的生产力。</a:t>
            </a:r>
            <a:endParaRPr lang="en-US" altLang="zh-CN" sz="2200" dirty="0">
              <a:latin typeface="+mj-ea"/>
              <a:ea typeface="+mj-ea"/>
            </a:endParaRPr>
          </a:p>
          <a:p>
            <a:pPr algn="just">
              <a:lnSpc>
                <a:spcPct val="120000"/>
              </a:lnSpc>
              <a:spcBef>
                <a:spcPts val="1200"/>
              </a:spcBef>
              <a:spcAft>
                <a:spcPts val="0"/>
              </a:spcAft>
            </a:pPr>
            <a:r>
              <a:rPr lang="en-US" altLang="zh-CN" sz="2200" b="1" dirty="0">
                <a:solidFill>
                  <a:srgbClr val="FF0000"/>
                </a:solidFill>
                <a:latin typeface="+mj-ea"/>
                <a:ea typeface="+mj-ea"/>
              </a:rPr>
              <a:t>XP</a:t>
            </a:r>
            <a:r>
              <a:rPr lang="zh-CN" altLang="en-US" sz="2200" b="1" dirty="0">
                <a:solidFill>
                  <a:srgbClr val="FF0000"/>
                </a:solidFill>
                <a:latin typeface="+mj-ea"/>
                <a:ea typeface="+mj-ea"/>
              </a:rPr>
              <a:t>的目标：</a:t>
            </a:r>
            <a:r>
              <a:rPr lang="zh-CN" altLang="en-US" sz="2200" b="1" dirty="0">
                <a:latin typeface="+mj-ea"/>
                <a:ea typeface="+mj-ea"/>
              </a:rPr>
              <a:t>在最短的时间内将较为模糊、变化较大的用户需求转化为符合用户要求的软件产品。</a:t>
            </a:r>
            <a:endParaRPr lang="zh-CN" altLang="en-US" sz="2200" b="1" dirty="0">
              <a:latin typeface="+mj-ea"/>
              <a:ea typeface="+mj-ea"/>
            </a:endParaRPr>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4" name="日期占位符 3"/>
          <p:cNvSpPr>
            <a:spLocks noGrp="1"/>
          </p:cNvSpPr>
          <p:nvPr>
            <p:ph type="dt" sz="half" idx="10"/>
          </p:nvPr>
        </p:nvSpPr>
        <p:spPr/>
        <p:txBody>
          <a:bodyPr/>
          <a:lstStyle/>
          <a:p>
            <a:fld id="{5F435A66-C684-449F-A242-673105785386}"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极限编程过程模型</a:t>
            </a:r>
            <a:endParaRPr lang="zh-CN" altLang="en-US" dirty="0"/>
          </a:p>
        </p:txBody>
      </p:sp>
      <p:sp>
        <p:nvSpPr>
          <p:cNvPr id="23" name="内容占位符 22"/>
          <p:cNvSpPr>
            <a:spLocks noGrp="1"/>
          </p:cNvSpPr>
          <p:nvPr>
            <p:ph idx="1"/>
          </p:nvPr>
        </p:nvSpPr>
        <p:spPr/>
        <p:txBody>
          <a:bodyPr>
            <a:normAutofit/>
          </a:bodyPr>
          <a:lstStyle/>
          <a:p>
            <a:pPr algn="just">
              <a:lnSpc>
                <a:spcPct val="120000"/>
              </a:lnSpc>
              <a:spcBef>
                <a:spcPts val="1200"/>
              </a:spcBef>
              <a:spcAft>
                <a:spcPts val="0"/>
              </a:spcAft>
            </a:pPr>
            <a:r>
              <a:rPr lang="en-US" altLang="zh-CN" sz="2400" dirty="0">
                <a:latin typeface="+mj-ea"/>
                <a:ea typeface="+mj-ea"/>
              </a:rPr>
              <a:t>XP</a:t>
            </a:r>
            <a:r>
              <a:rPr lang="zh-CN" altLang="en-US" sz="2400" dirty="0">
                <a:latin typeface="+mj-ea"/>
                <a:ea typeface="+mj-ea"/>
              </a:rPr>
              <a:t>把软件开发过程重新定义为聆听、测试、编码、设计的迭代循环过程。 </a:t>
            </a:r>
            <a:endParaRPr lang="zh-CN" altLang="en-US" sz="2400" dirty="0">
              <a:latin typeface="+mj-ea"/>
              <a:ea typeface="+mj-ea"/>
            </a:endParaRPr>
          </a:p>
          <a:p>
            <a:pPr algn="just">
              <a:lnSpc>
                <a:spcPct val="120000"/>
              </a:lnSpc>
              <a:spcBef>
                <a:spcPts val="1200"/>
              </a:spcBef>
              <a:spcAft>
                <a:spcPts val="0"/>
              </a:spcAft>
            </a:pPr>
            <a:endParaRPr lang="zh-CN" altLang="en-US" sz="2400" dirty="0">
              <a:latin typeface="+mj-ea"/>
              <a:ea typeface="+mj-ea"/>
            </a:endParaRPr>
          </a:p>
        </p:txBody>
      </p:sp>
      <p:sp>
        <p:nvSpPr>
          <p:cNvPr id="5" name="灯片编号占位符 4"/>
          <p:cNvSpPr>
            <a:spLocks noGrp="1"/>
          </p:cNvSpPr>
          <p:nvPr>
            <p:ph type="sldNum" sz="quarter" idx="12"/>
          </p:nvPr>
        </p:nvSpPr>
        <p:spPr/>
        <p:txBody>
          <a:bodyPr/>
          <a:lstStyle/>
          <a:p>
            <a:fld id="{AEC086C4-BB49-4EC5-803C-DF6C099D78ED}" type="slidenum">
              <a:rPr lang="ko-KR" altLang="en-US" smtClean="0"/>
            </a:fld>
            <a:endParaRPr lang="en-US" altLang="ko-KR"/>
          </a:p>
        </p:txBody>
      </p:sp>
      <p:grpSp>
        <p:nvGrpSpPr>
          <p:cNvPr id="6" name="Group 18"/>
          <p:cNvGrpSpPr>
            <a:grpSpLocks noChangeAspect="1"/>
          </p:cNvGrpSpPr>
          <p:nvPr/>
        </p:nvGrpSpPr>
        <p:grpSpPr bwMode="auto">
          <a:xfrm>
            <a:off x="1094321" y="1851620"/>
            <a:ext cx="7687199" cy="2705596"/>
            <a:chOff x="1898" y="1441"/>
            <a:chExt cx="9000" cy="3432"/>
          </a:xfrm>
        </p:grpSpPr>
        <p:sp>
          <p:nvSpPr>
            <p:cNvPr id="7" name="AutoShape 19"/>
            <p:cNvSpPr>
              <a:spLocks noChangeAspect="1" noChangeArrowheads="1" noTextEdit="1"/>
            </p:cNvSpPr>
            <p:nvPr/>
          </p:nvSpPr>
          <p:spPr bwMode="auto">
            <a:xfrm>
              <a:off x="1898" y="1441"/>
              <a:ext cx="9000" cy="34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p>
          </p:txBody>
        </p:sp>
        <p:sp>
          <p:nvSpPr>
            <p:cNvPr id="8" name="Rectangle 20"/>
            <p:cNvSpPr>
              <a:spLocks noChangeArrowheads="1"/>
            </p:cNvSpPr>
            <p:nvPr/>
          </p:nvSpPr>
          <p:spPr bwMode="auto">
            <a:xfrm>
              <a:off x="3518" y="2065"/>
              <a:ext cx="4860" cy="1872"/>
            </a:xfrm>
            <a:prstGeom prst="rect">
              <a:avLst/>
            </a:prstGeom>
            <a:solidFill>
              <a:srgbClr val="FFFFFF"/>
            </a:solidFill>
            <a:ln w="9525">
              <a:solidFill>
                <a:srgbClr val="000000"/>
              </a:solidFill>
              <a:prstDash val="lgDash"/>
              <a:miter lim="800000"/>
            </a:ln>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p>
          </p:txBody>
        </p:sp>
        <p:sp>
          <p:nvSpPr>
            <p:cNvPr id="9" name="Rectangle 21"/>
            <p:cNvSpPr>
              <a:spLocks noChangeArrowheads="1"/>
            </p:cNvSpPr>
            <p:nvPr/>
          </p:nvSpPr>
          <p:spPr bwMode="auto">
            <a:xfrm>
              <a:off x="4058" y="2220"/>
              <a:ext cx="900" cy="469"/>
            </a:xfrm>
            <a:prstGeom prst="rect">
              <a:avLst/>
            </a:prstGeom>
            <a:solidFill>
              <a:srgbClr val="FFFFFF"/>
            </a:solidFill>
            <a:ln w="9525">
              <a:solidFill>
                <a:srgbClr val="000000"/>
              </a:solidFill>
              <a:miter lim="800000"/>
            </a:ln>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eaLnBrk="0" hangingPunct="0"/>
              <a:r>
                <a:rPr lang="zh-CN" altLang="en-US" sz="1500" b="1" dirty="0">
                  <a:latin typeface="Times New Roman" panose="02020603050405020304" pitchFamily="18" charset="0"/>
                </a:rPr>
                <a:t>聆听</a:t>
              </a:r>
              <a:endParaRPr lang="zh-CN" altLang="en-US" sz="1500" b="1" dirty="0">
                <a:latin typeface="Times New Roman" panose="02020603050405020304" pitchFamily="18" charset="0"/>
              </a:endParaRPr>
            </a:p>
          </p:txBody>
        </p:sp>
        <p:sp>
          <p:nvSpPr>
            <p:cNvPr id="10" name="Rectangle 22"/>
            <p:cNvSpPr>
              <a:spLocks noChangeArrowheads="1"/>
            </p:cNvSpPr>
            <p:nvPr/>
          </p:nvSpPr>
          <p:spPr bwMode="auto">
            <a:xfrm>
              <a:off x="4958" y="2533"/>
              <a:ext cx="900" cy="469"/>
            </a:xfrm>
            <a:prstGeom prst="rect">
              <a:avLst/>
            </a:prstGeom>
            <a:solidFill>
              <a:srgbClr val="FFFFFF"/>
            </a:solidFill>
            <a:ln w="9525">
              <a:solidFill>
                <a:srgbClr val="000000"/>
              </a:solidFill>
              <a:miter lim="800000"/>
            </a:ln>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eaLnBrk="0" hangingPunct="0"/>
              <a:r>
                <a:rPr lang="zh-CN" altLang="en-US" sz="1500" b="1">
                  <a:latin typeface="Times New Roman" panose="02020603050405020304" pitchFamily="18" charset="0"/>
                </a:rPr>
                <a:t>测试</a:t>
              </a:r>
              <a:endParaRPr lang="zh-CN" altLang="en-US" sz="1500" b="1">
                <a:latin typeface="Times New Roman" panose="02020603050405020304" pitchFamily="18" charset="0"/>
              </a:endParaRPr>
            </a:p>
          </p:txBody>
        </p:sp>
        <p:sp>
          <p:nvSpPr>
            <p:cNvPr id="11" name="Rectangle 23"/>
            <p:cNvSpPr>
              <a:spLocks noChangeArrowheads="1"/>
            </p:cNvSpPr>
            <p:nvPr/>
          </p:nvSpPr>
          <p:spPr bwMode="auto">
            <a:xfrm>
              <a:off x="5858" y="3001"/>
              <a:ext cx="900" cy="469"/>
            </a:xfrm>
            <a:prstGeom prst="rect">
              <a:avLst/>
            </a:prstGeom>
            <a:solidFill>
              <a:srgbClr val="FFFFFF"/>
            </a:solidFill>
            <a:ln w="9525">
              <a:solidFill>
                <a:srgbClr val="000000"/>
              </a:solidFill>
              <a:miter lim="800000"/>
            </a:ln>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eaLnBrk="0" hangingPunct="0"/>
              <a:r>
                <a:rPr lang="zh-CN" altLang="en-US" sz="1500" b="1">
                  <a:latin typeface="Times New Roman" panose="02020603050405020304" pitchFamily="18" charset="0"/>
                </a:rPr>
                <a:t>编码</a:t>
              </a:r>
              <a:endParaRPr lang="zh-CN" altLang="en-US" sz="1500" b="1">
                <a:latin typeface="Times New Roman" panose="02020603050405020304" pitchFamily="18" charset="0"/>
              </a:endParaRPr>
            </a:p>
          </p:txBody>
        </p:sp>
        <p:sp>
          <p:nvSpPr>
            <p:cNvPr id="12" name="Rectangle 24"/>
            <p:cNvSpPr>
              <a:spLocks noChangeArrowheads="1"/>
            </p:cNvSpPr>
            <p:nvPr/>
          </p:nvSpPr>
          <p:spPr bwMode="auto">
            <a:xfrm>
              <a:off x="6758" y="3313"/>
              <a:ext cx="900" cy="469"/>
            </a:xfrm>
            <a:prstGeom prst="rect">
              <a:avLst/>
            </a:prstGeom>
            <a:solidFill>
              <a:srgbClr val="FFFFFF"/>
            </a:solidFill>
            <a:ln w="9525">
              <a:solidFill>
                <a:srgbClr val="000000"/>
              </a:solidFill>
              <a:miter lim="800000"/>
            </a:ln>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eaLnBrk="0" hangingPunct="0"/>
              <a:r>
                <a:rPr lang="zh-CN" altLang="en-US" sz="1500" b="1">
                  <a:latin typeface="Times New Roman" panose="02020603050405020304" pitchFamily="18" charset="0"/>
                </a:rPr>
                <a:t>设计</a:t>
              </a:r>
              <a:endParaRPr lang="zh-CN" altLang="en-US" sz="1500" b="1">
                <a:latin typeface="Times New Roman" panose="02020603050405020304" pitchFamily="18" charset="0"/>
              </a:endParaRPr>
            </a:p>
          </p:txBody>
        </p:sp>
        <p:sp>
          <p:nvSpPr>
            <p:cNvPr id="13" name="Line 25"/>
            <p:cNvSpPr>
              <a:spLocks noChangeShapeType="1"/>
            </p:cNvSpPr>
            <p:nvPr/>
          </p:nvSpPr>
          <p:spPr bwMode="auto">
            <a:xfrm>
              <a:off x="2078" y="2689"/>
              <a:ext cx="1440"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p>
          </p:txBody>
        </p:sp>
        <p:sp>
          <p:nvSpPr>
            <p:cNvPr id="14" name="Line 26"/>
            <p:cNvSpPr>
              <a:spLocks noChangeShapeType="1"/>
            </p:cNvSpPr>
            <p:nvPr/>
          </p:nvSpPr>
          <p:spPr bwMode="auto">
            <a:xfrm>
              <a:off x="8378" y="2689"/>
              <a:ext cx="1440"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p>
          </p:txBody>
        </p:sp>
        <p:sp>
          <p:nvSpPr>
            <p:cNvPr id="15" name="Line 27"/>
            <p:cNvSpPr>
              <a:spLocks noChangeShapeType="1"/>
            </p:cNvSpPr>
            <p:nvPr/>
          </p:nvSpPr>
          <p:spPr bwMode="auto">
            <a:xfrm>
              <a:off x="9098" y="2689"/>
              <a:ext cx="0" cy="202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p>
          </p:txBody>
        </p:sp>
        <p:sp>
          <p:nvSpPr>
            <p:cNvPr id="16" name="Line 28"/>
            <p:cNvSpPr>
              <a:spLocks noChangeShapeType="1"/>
            </p:cNvSpPr>
            <p:nvPr/>
          </p:nvSpPr>
          <p:spPr bwMode="auto">
            <a:xfrm flipH="1">
              <a:off x="2798" y="4717"/>
              <a:ext cx="6300"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p>
          </p:txBody>
        </p:sp>
        <p:sp>
          <p:nvSpPr>
            <p:cNvPr id="17" name="Line 29"/>
            <p:cNvSpPr>
              <a:spLocks noChangeShapeType="1"/>
            </p:cNvSpPr>
            <p:nvPr/>
          </p:nvSpPr>
          <p:spPr bwMode="auto">
            <a:xfrm flipV="1">
              <a:off x="2798" y="2689"/>
              <a:ext cx="0" cy="202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endParaRPr lang="zh-CN" altLang="en-US" sz="1500"/>
            </a:p>
          </p:txBody>
        </p:sp>
        <p:sp>
          <p:nvSpPr>
            <p:cNvPr id="18" name="Text Box 30"/>
            <p:cNvSpPr txBox="1">
              <a:spLocks noChangeArrowheads="1"/>
            </p:cNvSpPr>
            <p:nvPr/>
          </p:nvSpPr>
          <p:spPr bwMode="auto">
            <a:xfrm>
              <a:off x="5318" y="4093"/>
              <a:ext cx="900" cy="46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eaLnBrk="0" hangingPunct="0"/>
              <a:r>
                <a:rPr lang="zh-CN" altLang="en-US" sz="1500" b="1">
                  <a:latin typeface="Times New Roman" panose="02020603050405020304" pitchFamily="18" charset="0"/>
                </a:rPr>
                <a:t>反馈</a:t>
              </a:r>
              <a:endParaRPr lang="zh-CN" altLang="en-US" sz="1500" b="1">
                <a:latin typeface="Times New Roman" panose="02020603050405020304" pitchFamily="18" charset="0"/>
              </a:endParaRPr>
            </a:p>
          </p:txBody>
        </p:sp>
        <p:sp>
          <p:nvSpPr>
            <p:cNvPr id="19" name="Text Box 31"/>
            <p:cNvSpPr txBox="1">
              <a:spLocks noChangeArrowheads="1"/>
            </p:cNvSpPr>
            <p:nvPr/>
          </p:nvSpPr>
          <p:spPr bwMode="auto">
            <a:xfrm>
              <a:off x="5318" y="1441"/>
              <a:ext cx="900" cy="468"/>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a:lstStyle>
              <a:defPPr>
                <a:defRPr lang="zh-CN"/>
              </a:defPPr>
              <a:lvl1pPr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1pPr>
              <a:lvl2pPr marL="4572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2pPr>
              <a:lvl3pPr marL="9144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3pPr>
              <a:lvl4pPr marL="13716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4pPr>
              <a:lvl5pPr marL="1828800" algn="ctr" rtl="0" fontAlgn="base">
                <a:spcBef>
                  <a:spcPct val="0"/>
                </a:spcBef>
                <a:spcAft>
                  <a:spcPct val="0"/>
                </a:spcAft>
                <a:defRPr sz="14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sz="1400" kern="1200">
                  <a:solidFill>
                    <a:schemeClr val="tx1"/>
                  </a:solidFill>
                  <a:latin typeface="Arial" panose="020B0604020202020204" pitchFamily="34" charset="0"/>
                  <a:ea typeface="宋体" panose="02010600030101010101" pitchFamily="2" charset="-122"/>
                  <a:cs typeface="+mn-cs"/>
                </a:defRPr>
              </a:lvl9pPr>
            </a:lstStyle>
            <a:p>
              <a:pPr algn="just" eaLnBrk="0" hangingPunct="0"/>
              <a:r>
                <a:rPr lang="zh-CN" altLang="en-US" sz="1500" b="1" dirty="0">
                  <a:latin typeface="Times New Roman" panose="02020603050405020304" pitchFamily="18" charset="0"/>
                </a:rPr>
                <a:t>迭代</a:t>
              </a:r>
              <a:endParaRPr lang="zh-CN" altLang="en-US" sz="1500" b="1" dirty="0">
                <a:latin typeface="Times New Roman" panose="02020603050405020304" pitchFamily="18" charset="0"/>
              </a:endParaRPr>
            </a:p>
          </p:txBody>
        </p:sp>
      </p:grpSp>
      <p:sp>
        <p:nvSpPr>
          <p:cNvPr id="2" name="日期占位符 1"/>
          <p:cNvSpPr>
            <a:spLocks noGrp="1"/>
          </p:cNvSpPr>
          <p:nvPr>
            <p:ph type="dt" sz="half" idx="10"/>
          </p:nvPr>
        </p:nvSpPr>
        <p:spPr/>
        <p:txBody>
          <a:bodyPr/>
          <a:lstStyle/>
          <a:p>
            <a:fld id="{BC925CA3-BB3B-4DBB-A798-54A516614156}" type="datetime1">
              <a:rPr lang="zh-CN" altLang="en-US" smtClean="0"/>
            </a:fld>
            <a:endParaRPr lang="zh-CN" altLang="en-US" dirty="0"/>
          </a:p>
        </p:txBody>
      </p:sp>
      <p:sp>
        <p:nvSpPr>
          <p:cNvPr id="4" name="页脚占位符 3"/>
          <p:cNvSpPr>
            <a:spLocks noGrp="1"/>
          </p:cNvSpPr>
          <p:nvPr>
            <p:ph type="ftr" sz="quarter" idx="11"/>
          </p:nvPr>
        </p:nvSpPr>
        <p:spPr/>
        <p:txBody>
          <a:bodyPr/>
          <a:lstStyle/>
          <a:p>
            <a:r>
              <a:rPr lang="zh-CN" altLang="en-US"/>
              <a:t>软件工程</a:t>
            </a:r>
            <a:endParaRPr lang="zh-CN"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algn="l" fontAlgn="auto">
              <a:buNone/>
            </a:pPr>
            <a:br>
              <a:rPr lang="en-US" altLang="zh-CN" dirty="0"/>
            </a:br>
            <a:r>
              <a:rPr lang="en-US" altLang="zh-CN" dirty="0"/>
              <a:t>1</a:t>
            </a:r>
            <a:r>
              <a:rPr lang="en-US" altLang="zh-CN" dirty="0">
                <a:sym typeface="+mn-ea"/>
              </a:rPr>
              <a:t>.  </a:t>
            </a:r>
            <a:r>
              <a:rPr lang="zh-CN" altLang="en-US" dirty="0"/>
              <a:t>改善沟通</a:t>
            </a:r>
            <a:br>
              <a:rPr lang="zh-CN" altLang="en-US" dirty="0"/>
            </a:br>
            <a:r>
              <a:rPr lang="en-US" altLang="zh-CN" dirty="0"/>
              <a:t>2</a:t>
            </a:r>
            <a:r>
              <a:rPr lang="en-US" altLang="zh-CN" dirty="0">
                <a:sym typeface="+mn-ea"/>
              </a:rPr>
              <a:t>.  </a:t>
            </a:r>
            <a:r>
              <a:rPr lang="zh-CN" altLang="en-US" dirty="0"/>
              <a:t>寻求简单</a:t>
            </a:r>
            <a:br>
              <a:rPr lang="zh-CN" altLang="en-US" dirty="0"/>
            </a:br>
            <a:r>
              <a:rPr lang="en-US" altLang="zh-CN" dirty="0"/>
              <a:t>3.  </a:t>
            </a:r>
            <a:r>
              <a:rPr lang="zh-CN" altLang="en-US" dirty="0"/>
              <a:t>获得反馈</a:t>
            </a:r>
            <a:br>
              <a:rPr lang="zh-CN" altLang="en-US" dirty="0"/>
            </a:br>
            <a:r>
              <a:rPr lang="en-US" altLang="zh-CN" dirty="0"/>
              <a:t>4.  </a:t>
            </a:r>
            <a:r>
              <a:rPr lang="zh-CN" altLang="en-US" dirty="0"/>
              <a:t>富有勇气</a:t>
            </a:r>
            <a:br>
              <a:rPr lang="zh-CN" altLang="en-US" dirty="0"/>
            </a:br>
            <a:endParaRPr lang="en-US" altLang="zh-CN" dirty="0"/>
          </a:p>
          <a:p>
            <a:pPr algn="l" fontAlgn="auto">
              <a:buNone/>
            </a:pPr>
            <a:r>
              <a:rPr lang="zh-CN" altLang="en-US" dirty="0"/>
              <a:t>适用范围：具有有限资源及有限时间的小项目</a:t>
            </a:r>
            <a:endParaRPr lang="zh-CN" altLang="en-US" dirty="0"/>
          </a:p>
        </p:txBody>
      </p:sp>
      <p:sp>
        <p:nvSpPr>
          <p:cNvPr id="3" name="标题 2"/>
          <p:cNvSpPr>
            <a:spLocks noGrp="1"/>
          </p:cNvSpPr>
          <p:nvPr>
            <p:ph type="title"/>
          </p:nvPr>
        </p:nvSpPr>
        <p:spPr/>
        <p:txBody>
          <a:bodyPr/>
          <a:lstStyle/>
          <a:p>
            <a:r>
              <a:rPr lang="zh-CN" altLang="en-US" dirty="0"/>
              <a:t>四条基本价值观</a:t>
            </a:r>
            <a:endParaRPr lang="zh-CN" alt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2500"/>
          </a:bodyPr>
          <a:lstStyle/>
          <a:p>
            <a:pPr fontAlgn="auto">
              <a:spcBef>
                <a:spcPts val="0"/>
              </a:spcBef>
            </a:pPr>
            <a:r>
              <a:rPr lang="zh-CN" altLang="en-US" dirty="0"/>
              <a:t>极限编程加强开发者与用户的</a:t>
            </a:r>
            <a:r>
              <a:rPr lang="zh-CN" altLang="en-US" dirty="0">
                <a:solidFill>
                  <a:srgbClr val="FF0000"/>
                </a:solidFill>
              </a:rPr>
              <a:t>沟通</a:t>
            </a:r>
            <a:r>
              <a:rPr lang="zh-CN" altLang="en-US" dirty="0"/>
              <a:t>需求，让客户全面参与软件的开发设计，保证变化的需求及时得到修正。</a:t>
            </a:r>
            <a:endParaRPr lang="en-US" altLang="zh-CN" dirty="0"/>
          </a:p>
          <a:p>
            <a:pPr fontAlgn="auto">
              <a:spcBef>
                <a:spcPts val="0"/>
              </a:spcBef>
            </a:pPr>
            <a:r>
              <a:rPr lang="zh-CN" altLang="en-US" dirty="0"/>
              <a:t>极限编程注重用户</a:t>
            </a:r>
            <a:r>
              <a:rPr lang="zh-CN" altLang="en-US" dirty="0">
                <a:solidFill>
                  <a:srgbClr val="FF0000"/>
                </a:solidFill>
              </a:rPr>
              <a:t>反馈</a:t>
            </a:r>
            <a:r>
              <a:rPr lang="zh-CN" altLang="en-US" dirty="0"/>
              <a:t>与让客户加入开发是一致的，让客户参与就是随时反馈软件是否符合客户的要求。有了反馈，开发子过程变短，迭代也就很自然出现了，快速迭代，小版本发布都让开发过程变成更多的自反馈过程，有些象更加细化的快速模型法。</a:t>
            </a:r>
            <a:endParaRPr lang="zh-CN" altLang="en-US" dirty="0"/>
          </a:p>
        </p:txBody>
      </p:sp>
      <p:sp>
        <p:nvSpPr>
          <p:cNvPr id="3" name="标题 2"/>
          <p:cNvSpPr>
            <a:spLocks noGrp="1"/>
          </p:cNvSpPr>
          <p:nvPr>
            <p:ph type="title"/>
          </p:nvPr>
        </p:nvSpPr>
        <p:spPr/>
        <p:txBody>
          <a:bodyPr/>
          <a:lstStyle/>
          <a:p>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XP</a:t>
            </a:r>
            <a:r>
              <a:rPr lang="en-US" altLang="zh-CN" dirty="0"/>
              <a:t>—</a:t>
            </a:r>
            <a:r>
              <a:rPr lang="en-US" altLang="zh-CN" cap="none" dirty="0" err="1"/>
              <a:t>eX</a:t>
            </a:r>
            <a:r>
              <a:rPr lang="en-US" cap="none" dirty="0" err="1"/>
              <a:t>treme</a:t>
            </a:r>
            <a:r>
              <a:rPr lang="en-US" cap="none" dirty="0"/>
              <a:t> Programming</a:t>
            </a:r>
            <a:endParaRPr lang="en-US" cap="none" dirty="0"/>
          </a:p>
        </p:txBody>
      </p:sp>
      <p:sp>
        <p:nvSpPr>
          <p:cNvPr id="3" name="Content Placeholder 2"/>
          <p:cNvSpPr>
            <a:spLocks noGrp="1"/>
          </p:cNvSpPr>
          <p:nvPr>
            <p:ph idx="1"/>
          </p:nvPr>
        </p:nvSpPr>
        <p:spPr/>
        <p:txBody>
          <a:bodyPr>
            <a:normAutofit/>
          </a:bodyPr>
          <a:lstStyle/>
          <a:p>
            <a:r>
              <a:rPr lang="zh-CN" altLang="en-US" sz="2000" dirty="0"/>
              <a:t>把好办法</a:t>
            </a:r>
            <a:r>
              <a:rPr lang="en-US" altLang="zh-CN" sz="2000" dirty="0"/>
              <a:t>(best practice)</a:t>
            </a:r>
            <a:r>
              <a:rPr lang="zh-CN" altLang="en-US" sz="2000" dirty="0"/>
              <a:t>发挥到极致 </a:t>
            </a:r>
            <a:r>
              <a:rPr lang="en-US" altLang="zh-CN" sz="2000" dirty="0"/>
              <a:t>(</a:t>
            </a:r>
            <a:r>
              <a:rPr lang="en-US" sz="2000" dirty="0"/>
              <a:t>extreme)</a:t>
            </a:r>
            <a:endParaRPr lang="en-US" sz="2000" dirty="0"/>
          </a:p>
        </p:txBody>
      </p:sp>
      <p:graphicFrame>
        <p:nvGraphicFramePr>
          <p:cNvPr id="4" name="Table 3"/>
          <p:cNvGraphicFramePr>
            <a:graphicFrameLocks noGrp="1"/>
          </p:cNvGraphicFramePr>
          <p:nvPr/>
        </p:nvGraphicFramePr>
        <p:xfrm>
          <a:off x="807464" y="1349277"/>
          <a:ext cx="7793466" cy="3166844"/>
        </p:xfrm>
        <a:graphic>
          <a:graphicData uri="http://schemas.openxmlformats.org/drawingml/2006/table">
            <a:tbl>
              <a:tblPr>
                <a:tableStyleId>{5C22544A-7EE6-4342-B048-85BDC9FD1C3A}</a:tableStyleId>
              </a:tblPr>
              <a:tblGrid>
                <a:gridCol w="2901288"/>
                <a:gridCol w="4892178"/>
              </a:tblGrid>
              <a:tr h="396606">
                <a:tc>
                  <a:txBody>
                    <a:bodyPr/>
                    <a:lstStyle/>
                    <a:p>
                      <a:pPr marL="0" marR="0" algn="ctr">
                        <a:lnSpc>
                          <a:spcPts val="1700"/>
                        </a:lnSpc>
                        <a:spcBef>
                          <a:spcPts val="0"/>
                        </a:spcBef>
                        <a:spcAft>
                          <a:spcPts val="0"/>
                        </a:spcAft>
                      </a:pPr>
                      <a:r>
                        <a:rPr lang="zh-CN" sz="1800" b="1" kern="100" dirty="0">
                          <a:solidFill>
                            <a:srgbClr val="C00000"/>
                          </a:solidFill>
                          <a:effectLst/>
                          <a:latin typeface="+mj-ea"/>
                          <a:ea typeface="+mj-ea"/>
                        </a:rPr>
                        <a:t>如果……</a:t>
                      </a:r>
                      <a:endParaRPr lang="en-US" sz="2000" b="1" kern="100" dirty="0">
                        <a:solidFill>
                          <a:srgbClr val="C00000"/>
                        </a:solidFill>
                        <a:effectLst/>
                        <a:latin typeface="+mj-ea"/>
                        <a:ea typeface="+mj-ea"/>
                      </a:endParaRPr>
                    </a:p>
                  </a:txBody>
                  <a:tcPr marL="51435" marR="51435" marT="0" marB="0" anchor="ctr"/>
                </a:tc>
                <a:tc>
                  <a:txBody>
                    <a:bodyPr/>
                    <a:lstStyle/>
                    <a:p>
                      <a:pPr marL="0" marR="0" algn="ctr">
                        <a:lnSpc>
                          <a:spcPts val="1700"/>
                        </a:lnSpc>
                        <a:spcBef>
                          <a:spcPts val="0"/>
                        </a:spcBef>
                        <a:spcAft>
                          <a:spcPts val="0"/>
                        </a:spcAft>
                      </a:pPr>
                      <a:r>
                        <a:rPr lang="zh-CN" sz="1800" b="1" kern="100" dirty="0">
                          <a:solidFill>
                            <a:srgbClr val="C00000"/>
                          </a:solidFill>
                          <a:effectLst/>
                          <a:latin typeface="+mj-ea"/>
                          <a:ea typeface="+mj-ea"/>
                        </a:rPr>
                        <a:t>发挥到极致就变成……</a:t>
                      </a:r>
                      <a:endParaRPr lang="en-US" sz="2000" b="1" kern="100" dirty="0">
                        <a:solidFill>
                          <a:srgbClr val="C00000"/>
                        </a:solidFill>
                        <a:effectLst/>
                        <a:latin typeface="+mj-ea"/>
                        <a:ea typeface="+mj-ea"/>
                      </a:endParaRPr>
                    </a:p>
                  </a:txBody>
                  <a:tcPr marL="51435" marR="51435" marT="0" marB="0" anchor="ctr"/>
                </a:tc>
              </a:tr>
              <a:tr h="323850">
                <a:tc>
                  <a:txBody>
                    <a:bodyPr/>
                    <a:lstStyle/>
                    <a:p>
                      <a:pPr marL="0" marR="0" algn="just">
                        <a:lnSpc>
                          <a:spcPts val="1700"/>
                        </a:lnSpc>
                        <a:spcBef>
                          <a:spcPts val="0"/>
                        </a:spcBef>
                        <a:spcAft>
                          <a:spcPts val="0"/>
                        </a:spcAft>
                      </a:pPr>
                      <a:r>
                        <a:rPr lang="zh-CN" altLang="en-US" sz="1600" dirty="0">
                          <a:effectLst/>
                          <a:latin typeface="+mj-ea"/>
                          <a:ea typeface="+mj-ea"/>
                        </a:rPr>
                        <a:t>满足</a:t>
                      </a:r>
                      <a:r>
                        <a:rPr lang="zh-CN" sz="1600" dirty="0">
                          <a:effectLst/>
                          <a:latin typeface="+mj-ea"/>
                          <a:ea typeface="+mj-ea"/>
                        </a:rPr>
                        <a:t>顾客的需求很重要</a:t>
                      </a:r>
                      <a:endParaRPr lang="en-US" sz="1400" dirty="0">
                        <a:effectLst/>
                        <a:latin typeface="+mj-ea"/>
                        <a:ea typeface="+mj-ea"/>
                        <a:cs typeface="Times New Roman" panose="02020603050405020304"/>
                      </a:endParaRPr>
                    </a:p>
                  </a:txBody>
                  <a:tcPr marL="51435" marR="51435" marT="0" marB="0" anchor="ctr"/>
                </a:tc>
                <a:tc>
                  <a:txBody>
                    <a:bodyPr/>
                    <a:lstStyle/>
                    <a:p>
                      <a:pPr marL="0" marR="0" algn="just">
                        <a:lnSpc>
                          <a:spcPts val="1700"/>
                        </a:lnSpc>
                        <a:spcBef>
                          <a:spcPts val="150"/>
                        </a:spcBef>
                        <a:spcAft>
                          <a:spcPts val="150"/>
                        </a:spcAft>
                      </a:pPr>
                      <a:r>
                        <a:rPr lang="zh-CN" altLang="en-US" sz="1600" dirty="0">
                          <a:effectLst/>
                          <a:latin typeface="+mj-ea"/>
                          <a:ea typeface="+mj-ea"/>
                        </a:rPr>
                        <a:t>那就用顾客的语言和行为来指导功能的开发 </a:t>
                      </a:r>
                      <a:r>
                        <a:rPr lang="en-US" altLang="zh-CN" sz="1600" dirty="0">
                          <a:effectLst/>
                          <a:latin typeface="+mj-ea"/>
                          <a:ea typeface="+mj-ea"/>
                        </a:rPr>
                        <a:t>(Behavior Driven Development)</a:t>
                      </a:r>
                      <a:endParaRPr lang="en-US" sz="1400" dirty="0">
                        <a:effectLst/>
                        <a:latin typeface="+mj-ea"/>
                        <a:ea typeface="+mj-ea"/>
                        <a:cs typeface="Times New Roman" panose="02020603050405020304"/>
                      </a:endParaRPr>
                    </a:p>
                  </a:txBody>
                  <a:tcPr marL="51435" marR="51435" marT="0" marB="0" anchor="ctr"/>
                </a:tc>
              </a:tr>
              <a:tr h="261761">
                <a:tc>
                  <a:txBody>
                    <a:bodyPr/>
                    <a:lstStyle/>
                    <a:p>
                      <a:pPr marL="0" marR="0" lvl="0" indent="0" algn="just" defTabSz="914400" rtl="0" eaLnBrk="1" fontAlgn="auto" latinLnBrk="0" hangingPunct="1">
                        <a:lnSpc>
                          <a:spcPts val="17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solidFill>
                          <a:effectLst/>
                          <a:uLnTx/>
                          <a:uFillTx/>
                          <a:latin typeface="+mj-ea"/>
                          <a:ea typeface="+mj-ea"/>
                          <a:cs typeface="+mn-cs"/>
                        </a:rPr>
                        <a:t>顾客表达能力不强</a:t>
                      </a:r>
                      <a:endParaRPr kumimoji="0" lang="en-US" sz="1400" b="0" i="0" u="none" strike="noStrike" kern="1200" cap="none" spc="0" normalizeH="0" baseline="0" noProof="0" dirty="0">
                        <a:ln>
                          <a:noFill/>
                        </a:ln>
                        <a:solidFill>
                          <a:prstClr val="black"/>
                        </a:solidFill>
                        <a:effectLst/>
                        <a:uLnTx/>
                        <a:uFillTx/>
                        <a:latin typeface="+mj-ea"/>
                        <a:ea typeface="+mj-ea"/>
                        <a:cs typeface="Times New Roman" panose="02020603050405020304"/>
                      </a:endParaRPr>
                    </a:p>
                  </a:txBody>
                  <a:tcPr marL="51435" marR="51435" marT="0" marB="0" anchor="ctr"/>
                </a:tc>
                <a:tc>
                  <a:txBody>
                    <a:bodyPr/>
                    <a:lstStyle/>
                    <a:p>
                      <a:pPr marL="0" marR="0" algn="just">
                        <a:lnSpc>
                          <a:spcPts val="1700"/>
                        </a:lnSpc>
                        <a:spcBef>
                          <a:spcPts val="150"/>
                        </a:spcBef>
                        <a:spcAft>
                          <a:spcPts val="150"/>
                        </a:spcAft>
                      </a:pPr>
                      <a:r>
                        <a:rPr kumimoji="0" lang="zh-CN" altLang="en-US" sz="1600" b="0" i="0" u="none" strike="noStrike" kern="1200" cap="none" spc="0" normalizeH="0" baseline="0" noProof="0" dirty="0">
                          <a:ln>
                            <a:noFill/>
                          </a:ln>
                          <a:solidFill>
                            <a:prstClr val="black"/>
                          </a:solidFill>
                          <a:effectLst/>
                          <a:uLnTx/>
                          <a:uFillTx/>
                          <a:latin typeface="+mj-ea"/>
                          <a:ea typeface="+mj-ea"/>
                          <a:cs typeface="+mn-cs"/>
                        </a:rPr>
                        <a:t>那就请顾客代表和团队人员一起工作</a:t>
                      </a:r>
                      <a:endParaRPr lang="en-US" sz="1400" dirty="0">
                        <a:effectLst/>
                        <a:latin typeface="+mj-ea"/>
                        <a:ea typeface="+mj-ea"/>
                        <a:cs typeface="Times New Roman" panose="02020603050405020304"/>
                      </a:endParaRPr>
                    </a:p>
                  </a:txBody>
                  <a:tcPr marL="51435" marR="51435" marT="0" marB="0" anchor="ctr"/>
                </a:tc>
              </a:tr>
              <a:tr h="524885">
                <a:tc>
                  <a:txBody>
                    <a:bodyPr/>
                    <a:lstStyle/>
                    <a:p>
                      <a:pPr marL="0" marR="0" algn="just">
                        <a:lnSpc>
                          <a:spcPts val="1700"/>
                        </a:lnSpc>
                        <a:spcBef>
                          <a:spcPts val="0"/>
                        </a:spcBef>
                        <a:spcAft>
                          <a:spcPts val="0"/>
                        </a:spcAft>
                      </a:pPr>
                      <a:r>
                        <a:rPr lang="zh-CN" sz="1600" dirty="0">
                          <a:effectLst/>
                          <a:latin typeface="+mj-ea"/>
                          <a:ea typeface="+mj-ea"/>
                        </a:rPr>
                        <a:t>测试</a:t>
                      </a:r>
                      <a:r>
                        <a:rPr lang="en-US" sz="1600" dirty="0">
                          <a:effectLst/>
                          <a:latin typeface="+mj-ea"/>
                          <a:ea typeface="+mj-ea"/>
                        </a:rPr>
                        <a:t>/</a:t>
                      </a:r>
                      <a:r>
                        <a:rPr lang="zh-CN" sz="1600" dirty="0">
                          <a:effectLst/>
                          <a:latin typeface="+mj-ea"/>
                          <a:ea typeface="+mj-ea"/>
                        </a:rPr>
                        <a:t>单元测试能帮助提高质量</a:t>
                      </a:r>
                      <a:endParaRPr lang="en-US" sz="1400" dirty="0">
                        <a:effectLst/>
                        <a:latin typeface="+mj-ea"/>
                        <a:ea typeface="+mj-ea"/>
                        <a:cs typeface="Times New Roman" panose="02020603050405020304"/>
                      </a:endParaRPr>
                    </a:p>
                  </a:txBody>
                  <a:tcPr marL="51435" marR="51435" marT="0" marB="0" anchor="ctr"/>
                </a:tc>
                <a:tc>
                  <a:txBody>
                    <a:bodyPr/>
                    <a:lstStyle/>
                    <a:p>
                      <a:pPr marL="0" marR="0" algn="just">
                        <a:lnSpc>
                          <a:spcPts val="1700"/>
                        </a:lnSpc>
                        <a:spcBef>
                          <a:spcPts val="150"/>
                        </a:spcBef>
                        <a:spcAft>
                          <a:spcPts val="150"/>
                        </a:spcAft>
                      </a:pPr>
                      <a:r>
                        <a:rPr lang="zh-CN" sz="1600" dirty="0">
                          <a:effectLst/>
                          <a:latin typeface="+mj-ea"/>
                          <a:ea typeface="+mj-ea"/>
                        </a:rPr>
                        <a:t>那</a:t>
                      </a:r>
                      <a:r>
                        <a:rPr lang="zh-CN" sz="1600" spc="-10" dirty="0">
                          <a:effectLst/>
                          <a:latin typeface="+mj-ea"/>
                          <a:ea typeface="+mj-ea"/>
                        </a:rPr>
                        <a:t>就先写单元测试，从测试开始写程序</a:t>
                      </a:r>
                      <a:r>
                        <a:rPr lang="zh-CN" sz="1600" spc="-100" dirty="0">
                          <a:effectLst/>
                          <a:latin typeface="+mj-ea"/>
                          <a:ea typeface="+mj-ea"/>
                        </a:rPr>
                        <a:t>—</a:t>
                      </a:r>
                      <a:r>
                        <a:rPr lang="zh-CN" sz="1600" spc="-10" dirty="0">
                          <a:effectLst/>
                          <a:latin typeface="+mj-ea"/>
                          <a:ea typeface="+mj-ea"/>
                        </a:rPr>
                        <a:t>—</a:t>
                      </a:r>
                      <a:r>
                        <a:rPr lang="en-US" sz="1600" spc="-10" dirty="0">
                          <a:effectLst/>
                          <a:latin typeface="+mj-ea"/>
                          <a:ea typeface="+mj-ea"/>
                        </a:rPr>
                        <a:t>Test Driven Development</a:t>
                      </a:r>
                      <a:endParaRPr lang="en-US" sz="1400" dirty="0">
                        <a:effectLst/>
                        <a:latin typeface="+mj-ea"/>
                        <a:ea typeface="+mj-ea"/>
                        <a:cs typeface="Times New Roman" panose="02020603050405020304"/>
                      </a:endParaRPr>
                    </a:p>
                  </a:txBody>
                  <a:tcPr marL="51435" marR="51435" marT="0" marB="0" anchor="ctr"/>
                </a:tc>
              </a:tr>
              <a:tr h="517264">
                <a:tc>
                  <a:txBody>
                    <a:bodyPr/>
                    <a:lstStyle/>
                    <a:p>
                      <a:pPr marL="0" marR="0" algn="just">
                        <a:lnSpc>
                          <a:spcPts val="1700"/>
                        </a:lnSpc>
                        <a:spcBef>
                          <a:spcPts val="0"/>
                        </a:spcBef>
                        <a:spcAft>
                          <a:spcPts val="0"/>
                        </a:spcAft>
                      </a:pPr>
                      <a:r>
                        <a:rPr lang="zh-CN" sz="1600" dirty="0">
                          <a:effectLst/>
                          <a:latin typeface="+mj-ea"/>
                          <a:ea typeface="+mj-ea"/>
                        </a:rPr>
                        <a:t>代码复审可以找到错误</a:t>
                      </a:r>
                      <a:endParaRPr lang="en-US" sz="1400" dirty="0">
                        <a:effectLst/>
                        <a:latin typeface="+mj-ea"/>
                        <a:ea typeface="+mj-ea"/>
                        <a:cs typeface="Times New Roman" panose="02020603050405020304"/>
                      </a:endParaRPr>
                    </a:p>
                  </a:txBody>
                  <a:tcPr marL="51435" marR="51435" marT="0" marB="0" anchor="ctr"/>
                </a:tc>
                <a:tc>
                  <a:txBody>
                    <a:bodyPr/>
                    <a:lstStyle/>
                    <a:p>
                      <a:pPr marL="0" marR="0" algn="just">
                        <a:lnSpc>
                          <a:spcPts val="1700"/>
                        </a:lnSpc>
                        <a:spcBef>
                          <a:spcPts val="150"/>
                        </a:spcBef>
                        <a:spcAft>
                          <a:spcPts val="150"/>
                        </a:spcAft>
                      </a:pPr>
                      <a:r>
                        <a:rPr lang="zh-CN" sz="1600" dirty="0">
                          <a:effectLst/>
                          <a:latin typeface="+mj-ea"/>
                          <a:ea typeface="+mj-ea"/>
                        </a:rPr>
                        <a:t>从一开始就处于“复审”状态</a:t>
                      </a:r>
                      <a:r>
                        <a:rPr lang="zh-CN" altLang="en-US" sz="1600" dirty="0">
                          <a:effectLst/>
                          <a:latin typeface="+mj-ea"/>
                          <a:ea typeface="+mj-ea"/>
                        </a:rPr>
                        <a:t>：</a:t>
                      </a:r>
                      <a:r>
                        <a:rPr lang="zh-CN" sz="1600" dirty="0">
                          <a:effectLst/>
                          <a:latin typeface="+mj-ea"/>
                          <a:ea typeface="+mj-ea"/>
                        </a:rPr>
                        <a:t>结对编程</a:t>
                      </a:r>
                      <a:endParaRPr lang="en-US" sz="1400" dirty="0">
                        <a:effectLst/>
                        <a:latin typeface="+mj-ea"/>
                        <a:ea typeface="+mj-ea"/>
                        <a:cs typeface="Times New Roman" panose="02020603050405020304"/>
                      </a:endParaRPr>
                    </a:p>
                  </a:txBody>
                  <a:tcPr marL="51435" marR="51435" marT="0" marB="0" anchor="ctr"/>
                </a:tc>
              </a:tr>
              <a:tr h="517264">
                <a:tc>
                  <a:txBody>
                    <a:bodyPr/>
                    <a:lstStyle/>
                    <a:p>
                      <a:pPr marL="0" marR="0" algn="just">
                        <a:lnSpc>
                          <a:spcPts val="1700"/>
                        </a:lnSpc>
                        <a:spcBef>
                          <a:spcPts val="0"/>
                        </a:spcBef>
                        <a:spcAft>
                          <a:spcPts val="0"/>
                        </a:spcAft>
                      </a:pPr>
                      <a:r>
                        <a:rPr lang="zh-CN" sz="1600" dirty="0">
                          <a:effectLst/>
                          <a:latin typeface="+mj-ea"/>
                          <a:ea typeface="+mj-ea"/>
                        </a:rPr>
                        <a:t>计划没有变化快</a:t>
                      </a:r>
                      <a:endParaRPr lang="en-US" sz="1400" dirty="0">
                        <a:effectLst/>
                        <a:latin typeface="+mj-ea"/>
                        <a:ea typeface="+mj-ea"/>
                        <a:cs typeface="Times New Roman" panose="02020603050405020304"/>
                      </a:endParaRPr>
                    </a:p>
                  </a:txBody>
                  <a:tcPr marL="51435" marR="51435" marT="0" marB="0" anchor="ctr"/>
                </a:tc>
                <a:tc>
                  <a:txBody>
                    <a:bodyPr/>
                    <a:lstStyle/>
                    <a:p>
                      <a:pPr marL="0" marR="0" algn="just">
                        <a:lnSpc>
                          <a:spcPts val="1700"/>
                        </a:lnSpc>
                        <a:spcBef>
                          <a:spcPts val="150"/>
                        </a:spcBef>
                        <a:spcAft>
                          <a:spcPts val="150"/>
                        </a:spcAft>
                      </a:pPr>
                      <a:r>
                        <a:rPr lang="zh-CN" sz="1600" dirty="0">
                          <a:effectLst/>
                          <a:latin typeface="+mj-ea"/>
                          <a:ea typeface="+mj-ea"/>
                        </a:rPr>
                        <a:t>那就别做详细的设计，</a:t>
                      </a:r>
                      <a:r>
                        <a:rPr lang="zh-CN" altLang="en-US" sz="1600" dirty="0">
                          <a:effectLst/>
                          <a:latin typeface="+mj-ea"/>
                          <a:ea typeface="+mj-ea"/>
                        </a:rPr>
                        <a:t>和文档。通过</a:t>
                      </a:r>
                      <a:r>
                        <a:rPr lang="zh-CN" sz="1600" dirty="0">
                          <a:effectLst/>
                          <a:latin typeface="+mj-ea"/>
                          <a:ea typeface="+mj-ea"/>
                        </a:rPr>
                        <a:t>增量开发，重构和频繁地发布</a:t>
                      </a:r>
                      <a:r>
                        <a:rPr lang="zh-CN" altLang="en-US" sz="1600" dirty="0">
                          <a:effectLst/>
                          <a:latin typeface="+mj-ea"/>
                          <a:ea typeface="+mj-ea"/>
                        </a:rPr>
                        <a:t>来满足用户的需求</a:t>
                      </a:r>
                      <a:endParaRPr lang="en-US" sz="1400" dirty="0">
                        <a:effectLst/>
                        <a:latin typeface="+mj-ea"/>
                        <a:ea typeface="+mj-ea"/>
                        <a:cs typeface="Times New Roman" panose="02020603050405020304"/>
                      </a:endParaRPr>
                    </a:p>
                  </a:txBody>
                  <a:tcPr marL="51435" marR="51435" marT="0" marB="0" anchor="ctr"/>
                </a:tc>
              </a:tr>
              <a:tr h="517264">
                <a:tc>
                  <a:txBody>
                    <a:bodyPr/>
                    <a:lstStyle/>
                    <a:p>
                      <a:pPr marL="0" marR="0" algn="just">
                        <a:lnSpc>
                          <a:spcPts val="1700"/>
                        </a:lnSpc>
                        <a:spcBef>
                          <a:spcPts val="0"/>
                        </a:spcBef>
                        <a:spcAft>
                          <a:spcPts val="0"/>
                        </a:spcAft>
                      </a:pPr>
                      <a:r>
                        <a:rPr kumimoji="0" lang="zh-CN" altLang="en-US" sz="1600" kern="1200" dirty="0">
                          <a:solidFill>
                            <a:schemeClr val="dk1"/>
                          </a:solidFill>
                          <a:effectLst/>
                          <a:latin typeface="+mj-ea"/>
                          <a:ea typeface="+mj-ea"/>
                          <a:cs typeface="+mn-cs"/>
                        </a:rPr>
                        <a:t>代码重构会提高质量</a:t>
                      </a:r>
                      <a:endParaRPr kumimoji="0" lang="en-US" sz="1600" kern="1200" dirty="0">
                        <a:solidFill>
                          <a:schemeClr val="dk1"/>
                        </a:solidFill>
                        <a:effectLst/>
                        <a:latin typeface="+mj-ea"/>
                        <a:ea typeface="+mj-ea"/>
                        <a:cs typeface="+mn-cs"/>
                      </a:endParaRPr>
                    </a:p>
                  </a:txBody>
                  <a:tcPr marL="51435" marR="51435" marT="0" marB="0" anchor="ctr"/>
                </a:tc>
                <a:tc>
                  <a:txBody>
                    <a:bodyPr/>
                    <a:lstStyle/>
                    <a:p>
                      <a:pPr marL="0" marR="0" algn="just">
                        <a:lnSpc>
                          <a:spcPts val="1700"/>
                        </a:lnSpc>
                        <a:spcBef>
                          <a:spcPts val="150"/>
                        </a:spcBef>
                        <a:spcAft>
                          <a:spcPts val="150"/>
                        </a:spcAft>
                      </a:pPr>
                      <a:r>
                        <a:rPr kumimoji="0" lang="zh-CN" altLang="en-US" sz="1600" kern="1200" dirty="0">
                          <a:solidFill>
                            <a:schemeClr val="dk1"/>
                          </a:solidFill>
                          <a:effectLst/>
                          <a:latin typeface="+mj-ea"/>
                          <a:ea typeface="+mj-ea"/>
                          <a:cs typeface="+mn-cs"/>
                        </a:rPr>
                        <a:t>那就持续不断地重构</a:t>
                      </a:r>
                      <a:endParaRPr kumimoji="0" lang="en-US" sz="1600" kern="1200" dirty="0">
                        <a:solidFill>
                          <a:schemeClr val="dk1"/>
                        </a:solidFill>
                        <a:effectLst/>
                        <a:latin typeface="+mj-ea"/>
                        <a:ea typeface="+mj-ea"/>
                        <a:cs typeface="+mn-cs"/>
                      </a:endParaRPr>
                    </a:p>
                  </a:txBody>
                  <a:tcPr marL="51435" marR="51435" marT="0" marB="0" anchor="ctr"/>
                </a:tc>
              </a:tr>
            </a:tbl>
          </a:graphicData>
        </a:graphic>
      </p:graphicFrame>
      <p:sp>
        <p:nvSpPr>
          <p:cNvPr id="5" name="日期占位符 4"/>
          <p:cNvSpPr>
            <a:spLocks noGrp="1"/>
          </p:cNvSpPr>
          <p:nvPr>
            <p:ph type="dt" sz="half" idx="10"/>
          </p:nvPr>
        </p:nvSpPr>
        <p:spPr/>
        <p:txBody>
          <a:bodyPr/>
          <a:lstStyle/>
          <a:p>
            <a:fld id="{C365FC9B-09C9-49E6-A15A-6245AEFF8DCC}"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a:t>软件工程</a:t>
            </a:r>
            <a:endParaRPr lang="zh-CN" altLang="en-US" dirty="0"/>
          </a:p>
        </p:txBody>
      </p:sp>
      <p:sp>
        <p:nvSpPr>
          <p:cNvPr id="7" name="灯片编号占位符 6"/>
          <p:cNvSpPr>
            <a:spLocks noGrp="1"/>
          </p:cNvSpPr>
          <p:nvPr>
            <p:ph type="sldNum" sz="quarter" idx="12"/>
          </p:nvPr>
        </p:nvSpPr>
        <p:spPr/>
        <p:txBody>
          <a:bodyPr/>
          <a:lstStyle/>
          <a:p>
            <a:fld id="{F528F39D-B5E5-4CA7-906C-979D5A62978D}" type="slidenum">
              <a:rPr lang="zh-CN" altLang="en-US" smtClean="0"/>
            </a:fld>
            <a:endParaRPr lang="zh-CN" alt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极限编程过程模型</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9" name="文本框 8"/>
          <p:cNvSpPr txBox="1"/>
          <p:nvPr/>
        </p:nvSpPr>
        <p:spPr>
          <a:xfrm>
            <a:off x="832485" y="956310"/>
            <a:ext cx="7768590" cy="645160"/>
          </a:xfrm>
          <a:prstGeom prst="rect">
            <a:avLst/>
          </a:prstGeom>
          <a:noFill/>
        </p:spPr>
        <p:txBody>
          <a:bodyPr wrap="square" rtlCol="0">
            <a:spAutoFit/>
          </a:bodyPr>
          <a:p>
            <a:r>
              <a:rPr lang="zh-CN" altLang="en-US"/>
              <a:t>全过程是</a:t>
            </a:r>
            <a:r>
              <a:rPr lang="en-US" altLang="zh-CN"/>
              <a:t>5</a:t>
            </a:r>
            <a:r>
              <a:rPr lang="zh-CN" altLang="en-US"/>
              <a:t>种活动反复迭代的过程，包括体系结构定架、发布规划、迭代、验收测试和小发布。</a:t>
            </a:r>
            <a:endParaRPr lang="zh-CN" altLang="en-US"/>
          </a:p>
        </p:txBody>
      </p:sp>
      <p:pic>
        <p:nvPicPr>
          <p:cNvPr id="5" name="图片 4" descr="图片1"/>
          <p:cNvPicPr>
            <a:picLocks noChangeAspect="1"/>
          </p:cNvPicPr>
          <p:nvPr/>
        </p:nvPicPr>
        <p:blipFill>
          <a:blip r:embed="rId1"/>
          <a:stretch>
            <a:fillRect/>
          </a:stretch>
        </p:blipFill>
        <p:spPr>
          <a:xfrm>
            <a:off x="768350" y="1601470"/>
            <a:ext cx="8219440" cy="3051175"/>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极限编程</a:t>
            </a:r>
            <a:endParaRPr lang="zh-CN" altLang="en-US"/>
          </a:p>
        </p:txBody>
      </p:sp>
      <p:sp>
        <p:nvSpPr>
          <p:cNvPr id="3" name="内容占位符 2"/>
          <p:cNvSpPr>
            <a:spLocks noGrp="1"/>
          </p:cNvSpPr>
          <p:nvPr>
            <p:ph idx="1"/>
          </p:nvPr>
        </p:nvSpPr>
        <p:spPr/>
        <p:txBody>
          <a:bodyPr>
            <a:normAutofit lnSpcReduction="10000"/>
          </a:bodyPr>
          <a:p>
            <a:r>
              <a:rPr lang="zh-CN" altLang="en-US"/>
              <a:t>用户故事</a:t>
            </a:r>
            <a:endParaRPr lang="zh-CN" altLang="en-US"/>
          </a:p>
          <a:p>
            <a:pPr lvl="1"/>
            <a:r>
              <a:rPr lang="zh-CN" altLang="en-US"/>
              <a:t>收集用户故事是项目开发中始终要认真做的平行活动，是项目需求的来源。</a:t>
            </a:r>
            <a:endParaRPr lang="zh-CN" altLang="en-US"/>
          </a:p>
          <a:p>
            <a:pPr lvl="1"/>
            <a:r>
              <a:rPr lang="zh-CN" altLang="en-US"/>
              <a:t>用户故事类似于用例，但有区别，其服务于发布规划会议，用于估算开发时间，未来系统要做的事。</a:t>
            </a:r>
            <a:endParaRPr lang="zh-CN" altLang="en-US"/>
          </a:p>
          <a:p>
            <a:pPr lvl="0"/>
            <a:r>
              <a:rPr lang="zh-CN" altLang="en-US"/>
              <a:t>体系结构定架</a:t>
            </a:r>
            <a:endParaRPr lang="zh-CN" altLang="en-US"/>
          </a:p>
          <a:p>
            <a:pPr lvl="1"/>
            <a:r>
              <a:rPr lang="zh-CN" altLang="en-US"/>
              <a:t>将项目需求（用户故事）纳入到解决方案框架中。</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极限编程</a:t>
            </a:r>
            <a:endParaRPr lang="zh-CN" altLang="en-US"/>
          </a:p>
        </p:txBody>
      </p:sp>
      <p:sp>
        <p:nvSpPr>
          <p:cNvPr id="3" name="内容占位符 2"/>
          <p:cNvSpPr>
            <a:spLocks noGrp="1"/>
          </p:cNvSpPr>
          <p:nvPr>
            <p:ph idx="1"/>
          </p:nvPr>
        </p:nvSpPr>
        <p:spPr/>
        <p:txBody>
          <a:bodyPr/>
          <a:p>
            <a:r>
              <a:rPr lang="zh-CN" altLang="en-US"/>
              <a:t>发布规划</a:t>
            </a:r>
            <a:endParaRPr lang="zh-CN" altLang="en-US"/>
          </a:p>
          <a:p>
            <a:pPr lvl="1"/>
            <a:r>
              <a:rPr lang="zh-CN" altLang="en-US"/>
              <a:t>制定本次开发的发布计划，将未评估的定架经发布规划会评估，变成确信的定架纳入计划。发布计划给出了整个项目的布局，每个迭代计划的制定依据发布计划。</a:t>
            </a:r>
            <a:endParaRPr lang="zh-CN" altLang="en-US"/>
          </a:p>
          <a:p>
            <a:pPr lvl="1"/>
            <a:r>
              <a:rPr lang="zh-CN" altLang="en-US"/>
              <a:t>发布计划包括：完成哪些用户故事、有多少人参加、项目和小版本什么时候发布、什么样的软件能通过测试。</a:t>
            </a:r>
            <a:endParaRPr lang="zh-CN" altLang="en-US"/>
          </a:p>
          <a:p>
            <a:pPr lvl="0"/>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极限编程</a:t>
            </a:r>
            <a:endParaRPr lang="zh-CN" altLang="en-US"/>
          </a:p>
        </p:txBody>
      </p:sp>
      <p:sp>
        <p:nvSpPr>
          <p:cNvPr id="3" name="内容占位符 2"/>
          <p:cNvSpPr>
            <a:spLocks noGrp="1"/>
          </p:cNvSpPr>
          <p:nvPr>
            <p:ph idx="1"/>
          </p:nvPr>
        </p:nvSpPr>
        <p:spPr>
          <a:xfrm>
            <a:off x="768350" y="925195"/>
            <a:ext cx="3804285" cy="3806825"/>
          </a:xfrm>
        </p:spPr>
        <p:txBody>
          <a:bodyPr/>
          <a:p>
            <a:r>
              <a:rPr lang="zh-CN" altLang="en-US"/>
              <a:t>迭代开发</a:t>
            </a:r>
            <a:endParaRPr lang="zh-CN" altLang="en-US"/>
          </a:p>
          <a:p>
            <a:pPr lvl="1"/>
            <a:r>
              <a:rPr lang="zh-CN" altLang="en-US"/>
              <a:t>一般情况下，一个项目可以分为多次迭代，每次迭代</a:t>
            </a:r>
            <a:r>
              <a:rPr lang="en-US" altLang="zh-CN"/>
              <a:t>1-3</a:t>
            </a:r>
            <a:r>
              <a:rPr lang="zh-CN" altLang="en-US"/>
              <a:t>周，不先为编程任务确定进度，而先通过迭代规划会议确定每次迭代需要完成的任务。</a:t>
            </a:r>
            <a:endParaRPr lang="zh-CN" altLang="en-US"/>
          </a:p>
          <a:p>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8" name="图片 7" descr="图片1"/>
          <p:cNvPicPr>
            <a:picLocks noChangeAspect="1"/>
          </p:cNvPicPr>
          <p:nvPr/>
        </p:nvPicPr>
        <p:blipFill>
          <a:blip r:embed="rId1"/>
          <a:stretch>
            <a:fillRect/>
          </a:stretch>
        </p:blipFill>
        <p:spPr>
          <a:xfrm>
            <a:off x="4914265" y="828675"/>
            <a:ext cx="3864610" cy="365633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极限编程</a:t>
            </a:r>
            <a:endParaRPr lang="zh-CN" altLang="en-US"/>
          </a:p>
        </p:txBody>
      </p:sp>
      <p:sp>
        <p:nvSpPr>
          <p:cNvPr id="3" name="内容占位符 2"/>
          <p:cNvSpPr>
            <a:spLocks noGrp="1"/>
          </p:cNvSpPr>
          <p:nvPr>
            <p:ph idx="1"/>
          </p:nvPr>
        </p:nvSpPr>
        <p:spPr/>
        <p:txBody>
          <a:bodyPr/>
          <a:p>
            <a:r>
              <a:rPr lang="zh-CN" altLang="en-US"/>
              <a:t>验收测试</a:t>
            </a:r>
            <a:endParaRPr lang="zh-CN" altLang="en-US"/>
          </a:p>
          <a:p>
            <a:pPr lvl="1"/>
            <a:r>
              <a:rPr lang="zh-CN" altLang="en-US"/>
              <a:t>验收测试确认用户故事的需求。对于每次迭代，迭代规划会议均会选择一组用户故事，这些用户故事将被翻译为验收测试。客户向测试提供场景，以判断一个用户故事是否被正确的实现，一个用户故事可以有一个或多个验收测试，目的是确认功能是否正常，验收测试为黑盒测试。</a:t>
            </a:r>
            <a:endParaRPr lang="zh-CN" altLang="en-US"/>
          </a:p>
          <a:p>
            <a:pPr lvl="1"/>
            <a:r>
              <a:rPr lang="zh-CN" altLang="en-US"/>
              <a:t>一个用户故事只有通过了全部验收测试，才可以被认为完成。</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极限编程</a:t>
            </a:r>
            <a:endParaRPr lang="zh-CN" altLang="en-US"/>
          </a:p>
        </p:txBody>
      </p:sp>
      <p:sp>
        <p:nvSpPr>
          <p:cNvPr id="3" name="内容占位符 2"/>
          <p:cNvSpPr>
            <a:spLocks noGrp="1"/>
          </p:cNvSpPr>
          <p:nvPr>
            <p:ph idx="1"/>
          </p:nvPr>
        </p:nvSpPr>
        <p:spPr/>
        <p:txBody>
          <a:bodyPr/>
          <a:p>
            <a:r>
              <a:rPr lang="zh-CN" altLang="en-US"/>
              <a:t>小发布</a:t>
            </a:r>
            <a:endParaRPr lang="zh-CN" altLang="en-US"/>
          </a:p>
          <a:p>
            <a:pPr lvl="1"/>
            <a:r>
              <a:rPr lang="zh-CN" altLang="en-US"/>
              <a:t>当每次迭代最后的源代码通过验收测试后，如果集成若干最后版本并通过集成测试，则可按计划做一次小发布，且必须由客户认可。</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极限编程</a:t>
            </a:r>
            <a:r>
              <a:rPr lang="en-US" altLang="zh-CN"/>
              <a:t>——</a:t>
            </a:r>
            <a:r>
              <a:rPr lang="zh-CN" altLang="en-US"/>
              <a:t>迭代过程的细化</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3" name="内容占位符 2"/>
          <p:cNvSpPr/>
          <p:nvPr>
            <p:ph idx="1"/>
          </p:nvPr>
        </p:nvSpPr>
        <p:spPr/>
        <p:txBody>
          <a:bodyPr/>
          <a:p>
            <a:endParaRPr lang="zh-CN" altLang="en-US"/>
          </a:p>
        </p:txBody>
      </p:sp>
      <p:pic>
        <p:nvPicPr>
          <p:cNvPr id="8" name="图片 7" descr="图片1"/>
          <p:cNvPicPr>
            <a:picLocks noChangeAspect="1"/>
          </p:cNvPicPr>
          <p:nvPr/>
        </p:nvPicPr>
        <p:blipFill>
          <a:blip r:embed="rId1"/>
          <a:stretch>
            <a:fillRect/>
          </a:stretch>
        </p:blipFill>
        <p:spPr>
          <a:xfrm>
            <a:off x="631825" y="828675"/>
            <a:ext cx="8010525" cy="380238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极限编程</a:t>
            </a:r>
            <a:r>
              <a:rPr lang="en-US" altLang="zh-CN">
                <a:sym typeface="+mn-ea"/>
              </a:rPr>
              <a:t>——</a:t>
            </a:r>
            <a:r>
              <a:rPr lang="zh-CN" altLang="en-US">
                <a:sym typeface="+mn-ea"/>
              </a:rPr>
              <a:t>迭代过程的细化</a:t>
            </a:r>
            <a:endParaRPr lang="zh-CN" altLang="en-US"/>
          </a:p>
        </p:txBody>
      </p:sp>
      <p:sp>
        <p:nvSpPr>
          <p:cNvPr id="3" name="内容占位符 2"/>
          <p:cNvSpPr>
            <a:spLocks noGrp="1"/>
          </p:cNvSpPr>
          <p:nvPr>
            <p:ph idx="1"/>
          </p:nvPr>
        </p:nvSpPr>
        <p:spPr/>
        <p:txBody>
          <a:bodyPr/>
          <a:p>
            <a:r>
              <a:rPr lang="zh-CN" altLang="en-US"/>
              <a:t>迭代过程的输入：</a:t>
            </a:r>
            <a:endParaRPr lang="zh-CN" altLang="en-US"/>
          </a:p>
          <a:p>
            <a:pPr lvl="1"/>
            <a:r>
              <a:rPr lang="zh-CN" altLang="en-US"/>
              <a:t>发布计划，即其中列出了要完成的用户故事、时间、资源分配等。</a:t>
            </a:r>
            <a:endParaRPr lang="zh-CN" altLang="en-US"/>
          </a:p>
          <a:p>
            <a:pPr lvl="1"/>
            <a:r>
              <a:rPr lang="zh-CN" altLang="en-US"/>
              <a:t>下一次迭代，即项目速度中规定的尚未完成的任务数。</a:t>
            </a:r>
            <a:endParaRPr lang="zh-CN" altLang="en-US"/>
          </a:p>
          <a:p>
            <a:pPr lvl="1"/>
            <a:r>
              <a:rPr lang="zh-CN" altLang="en-US"/>
              <a:t>缺陷，即导致上次验收失败的多有缺陷。</a:t>
            </a:r>
            <a:endParaRPr lang="zh-CN" altLang="en-US"/>
          </a:p>
          <a:p>
            <a:pPr lvl="0"/>
            <a:r>
              <a:rPr lang="zh-CN" altLang="en-US"/>
              <a:t>迭代过程的输出：经过迭代开发得到的新功能，或缺陷得以修复的最后版本。（这里最后为相对概念。）</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极限编程</a:t>
            </a:r>
            <a:r>
              <a:rPr lang="en-US" altLang="zh-CN">
                <a:sym typeface="+mn-ea"/>
              </a:rPr>
              <a:t>——</a:t>
            </a:r>
            <a:r>
              <a:rPr lang="zh-CN" altLang="en-US">
                <a:sym typeface="+mn-ea"/>
              </a:rPr>
              <a:t>迭代过程的细化</a:t>
            </a:r>
            <a:endParaRPr lang="zh-CN" altLang="en-US"/>
          </a:p>
        </p:txBody>
      </p:sp>
      <p:sp>
        <p:nvSpPr>
          <p:cNvPr id="3" name="内容占位符 2"/>
          <p:cNvSpPr>
            <a:spLocks noGrp="1"/>
          </p:cNvSpPr>
          <p:nvPr>
            <p:ph idx="1"/>
          </p:nvPr>
        </p:nvSpPr>
        <p:spPr/>
        <p:txBody>
          <a:bodyPr/>
          <a:p>
            <a:r>
              <a:rPr lang="zh-CN" altLang="en-US" sz="2400"/>
              <a:t>迭代规划</a:t>
            </a:r>
            <a:endParaRPr lang="zh-CN" altLang="en-US" sz="2400"/>
          </a:p>
          <a:p>
            <a:pPr lvl="1"/>
            <a:r>
              <a:rPr lang="zh-CN" altLang="en-US" sz="2000"/>
              <a:t>以迭代规划会议的方式进行，每次会议定义编程任务，客户从发布计划汇总中选择用户故事的优先顺序，同时，客户明确程序是否已通过验收测试。</a:t>
            </a:r>
            <a:endParaRPr lang="zh-CN" altLang="en-US" sz="2000"/>
          </a:p>
          <a:p>
            <a:pPr lvl="1"/>
            <a:r>
              <a:rPr lang="zh-CN" altLang="en-US" sz="2000"/>
              <a:t>每个任务在</a:t>
            </a:r>
            <a:r>
              <a:rPr lang="en-US" altLang="zh-CN" sz="2000"/>
              <a:t>1-3</a:t>
            </a:r>
            <a:r>
              <a:rPr lang="zh-CN" altLang="en-US" sz="2000"/>
              <a:t>个编程日中完成。</a:t>
            </a:r>
            <a:endParaRPr lang="zh-CN" altLang="en-US" sz="2000"/>
          </a:p>
          <a:p>
            <a:pPr lvl="1"/>
            <a:r>
              <a:rPr lang="zh-CN" altLang="en-US" sz="2000"/>
              <a:t>项目组用项目速度来确定一次迭代任务的多少。可以对某次迭代增加用户故事数量。通常，每隔</a:t>
            </a:r>
            <a:r>
              <a:rPr lang="en-US" altLang="zh-CN" sz="2000"/>
              <a:t>3-5</a:t>
            </a:r>
            <a:r>
              <a:rPr lang="zh-CN" altLang="en-US" sz="2000"/>
              <a:t>次迭代，开发组需要重新预测所有的用户故事，并与客户协商发布计划。</a:t>
            </a:r>
            <a:endParaRPr lang="zh-CN" altLang="en-US" sz="2000"/>
          </a:p>
          <a:p>
            <a:endParaRPr lang="zh-CN" altLang="en-US" sz="2000"/>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极限编程</a:t>
            </a:r>
            <a:r>
              <a:rPr lang="en-US" altLang="zh-CN">
                <a:sym typeface="+mn-ea"/>
              </a:rPr>
              <a:t>——</a:t>
            </a:r>
            <a:r>
              <a:rPr lang="zh-CN" altLang="en-US">
                <a:sym typeface="+mn-ea"/>
              </a:rPr>
              <a:t>开发过程的细化</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3" name="内容占位符 2"/>
          <p:cNvSpPr/>
          <p:nvPr>
            <p:ph idx="1"/>
          </p:nvPr>
        </p:nvSpPr>
        <p:spPr/>
        <p:txBody>
          <a:bodyPr/>
          <a:p>
            <a:endParaRPr lang="zh-CN" altLang="en-US"/>
          </a:p>
        </p:txBody>
      </p:sp>
      <p:pic>
        <p:nvPicPr>
          <p:cNvPr id="8" name="图片 7" descr="图片1"/>
          <p:cNvPicPr>
            <a:picLocks noChangeAspect="1"/>
          </p:cNvPicPr>
          <p:nvPr/>
        </p:nvPicPr>
        <p:blipFill>
          <a:blip r:embed="rId1"/>
          <a:stretch>
            <a:fillRect/>
          </a:stretch>
        </p:blipFill>
        <p:spPr>
          <a:xfrm>
            <a:off x="768350" y="835025"/>
            <a:ext cx="7632700" cy="358775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极限编程</a:t>
            </a:r>
            <a:r>
              <a:rPr lang="en-US" altLang="zh-CN">
                <a:sym typeface="+mn-ea"/>
              </a:rPr>
              <a:t>——</a:t>
            </a:r>
            <a:r>
              <a:rPr lang="zh-CN" altLang="en-US">
                <a:sym typeface="+mn-ea"/>
              </a:rPr>
              <a:t>开发过程的细化</a:t>
            </a:r>
            <a:endParaRPr lang="zh-CN" altLang="en-US"/>
          </a:p>
        </p:txBody>
      </p:sp>
      <p:sp>
        <p:nvSpPr>
          <p:cNvPr id="3" name="内容占位符 2"/>
          <p:cNvSpPr>
            <a:spLocks noGrp="1"/>
          </p:cNvSpPr>
          <p:nvPr>
            <p:ph idx="1"/>
          </p:nvPr>
        </p:nvSpPr>
        <p:spPr/>
        <p:txBody>
          <a:bodyPr/>
          <a:p>
            <a:r>
              <a:rPr lang="zh-CN" altLang="en-US"/>
              <a:t>站着开会</a:t>
            </a:r>
            <a:endParaRPr lang="zh-CN" altLang="en-US"/>
          </a:p>
          <a:p>
            <a:pPr lvl="1"/>
            <a:r>
              <a:rPr lang="zh-CN" altLang="en-US"/>
              <a:t>每日站立会议，通常早晨举行，小组成员交流问题，聚焦努力方向。按迭代计划讨论当天的任务，或前一天未通过验收测试的任务，将太大而不能完成的任务反馈到迭代规划会议上。</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极限编程</a:t>
            </a:r>
            <a:r>
              <a:rPr lang="en-US" altLang="zh-CN">
                <a:sym typeface="+mn-ea"/>
              </a:rPr>
              <a:t>——</a:t>
            </a:r>
            <a:r>
              <a:rPr lang="zh-CN" altLang="en-US">
                <a:sym typeface="+mn-ea"/>
              </a:rPr>
              <a:t>开发过程的细化</a:t>
            </a:r>
            <a:endParaRPr lang="zh-CN" altLang="en-US"/>
          </a:p>
        </p:txBody>
      </p:sp>
      <p:sp>
        <p:nvSpPr>
          <p:cNvPr id="3" name="内容占位符 2"/>
          <p:cNvSpPr>
            <a:spLocks noGrp="1"/>
          </p:cNvSpPr>
          <p:nvPr>
            <p:ph idx="1"/>
          </p:nvPr>
        </p:nvSpPr>
        <p:spPr/>
        <p:txBody>
          <a:bodyPr/>
          <a:p>
            <a:r>
              <a:rPr lang="zh-CN" altLang="en-US"/>
              <a:t>集体拥有代码</a:t>
            </a:r>
            <a:endParaRPr lang="zh-CN" altLang="en-US"/>
          </a:p>
          <a:p>
            <a:pPr lvl="1"/>
            <a:r>
              <a:rPr lang="zh-CN" altLang="en-US"/>
              <a:t>任何开发人员都可以修改系统的代码，增加功能，修改错误或重构。</a:t>
            </a:r>
            <a:r>
              <a:rPr lang="en-US" altLang="zh-CN"/>
              <a:t>XP</a:t>
            </a:r>
            <a:r>
              <a:rPr lang="zh-CN" altLang="en-US"/>
              <a:t>认为，系统设计不能放在一个人心里，应该扎根于每个小组成员心里。</a:t>
            </a:r>
            <a:endParaRPr lang="zh-CN" altLang="en-US"/>
          </a:p>
          <a:p>
            <a:pPr lvl="1"/>
            <a:r>
              <a:rPr lang="zh-CN" altLang="en-US"/>
              <a:t>每个开发人员为自己的代码编写单元测试。所有代码的增加，修改及功能改变必须通过测试。</a:t>
            </a:r>
            <a:endParaRPr lang="zh-CN" altLang="en-US"/>
          </a:p>
          <a:p>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极限编程</a:t>
            </a:r>
            <a:r>
              <a:rPr lang="en-US" altLang="zh-CN">
                <a:sym typeface="+mn-ea"/>
              </a:rPr>
              <a:t>——</a:t>
            </a:r>
            <a:r>
              <a:rPr lang="zh-CN" altLang="en-US">
                <a:sym typeface="+mn-ea"/>
              </a:rPr>
              <a:t>开发过程的细化</a:t>
            </a:r>
            <a:endParaRPr lang="zh-CN" altLang="en-US"/>
          </a:p>
        </p:txBody>
      </p:sp>
      <p:sp>
        <p:nvSpPr>
          <p:cNvPr id="3" name="内容占位符 2"/>
          <p:cNvSpPr>
            <a:spLocks noGrp="1"/>
          </p:cNvSpPr>
          <p:nvPr>
            <p:ph idx="1"/>
          </p:nvPr>
        </p:nvSpPr>
        <p:spPr/>
        <p:txBody>
          <a:bodyPr/>
          <a:p>
            <a:r>
              <a:rPr lang="zh-CN" altLang="en-US"/>
              <a:t>双人编程（结对编程）</a:t>
            </a:r>
            <a:endParaRPr lang="zh-CN" altLang="en-US"/>
          </a:p>
          <a:p>
            <a:pPr lvl="1"/>
            <a:r>
              <a:rPr lang="zh-CN" altLang="en-US"/>
              <a:t>代码必须是</a:t>
            </a:r>
            <a:r>
              <a:rPr lang="en-US" altLang="zh-CN"/>
              <a:t>2</a:t>
            </a:r>
            <a:r>
              <a:rPr lang="zh-CN" altLang="en-US"/>
              <a:t>个人在同一台计算机前工作的结果。</a:t>
            </a:r>
            <a:endParaRPr lang="zh-CN" altLang="en-US"/>
          </a:p>
          <a:p>
            <a:pPr lvl="0"/>
            <a:r>
              <a:rPr lang="zh-CN" altLang="en-US"/>
              <a:t>单元测试</a:t>
            </a:r>
            <a:endParaRPr lang="zh-CN" altLang="en-US"/>
          </a:p>
          <a:p>
            <a:pPr lvl="1"/>
            <a:r>
              <a:rPr lang="zh-CN" altLang="en-US"/>
              <a:t>在编码前开发测试程序。开发小组可以创建或下载一个单元测试框架，即和编辑器、编译器一样的开发工具。所有代码发布前必须通过单元测试。</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极限编程</a:t>
            </a:r>
            <a:r>
              <a:rPr lang="en-US" altLang="zh-CN">
                <a:sym typeface="+mn-ea"/>
              </a:rPr>
              <a:t>——</a:t>
            </a:r>
            <a:r>
              <a:rPr lang="zh-CN" altLang="en-US">
                <a:sym typeface="+mn-ea"/>
              </a:rPr>
              <a:t>开发过程的细化</a:t>
            </a:r>
            <a:endParaRPr lang="zh-CN" altLang="en-US"/>
          </a:p>
        </p:txBody>
      </p:sp>
      <p:sp>
        <p:nvSpPr>
          <p:cNvPr id="3" name="内容占位符 2"/>
          <p:cNvSpPr>
            <a:spLocks noGrp="1"/>
          </p:cNvSpPr>
          <p:nvPr>
            <p:ph idx="1"/>
          </p:nvPr>
        </p:nvSpPr>
        <p:spPr/>
        <p:txBody>
          <a:bodyPr/>
          <a:p>
            <a:r>
              <a:rPr lang="zh-CN" altLang="en-US"/>
              <a:t>残酷重整</a:t>
            </a:r>
            <a:endParaRPr lang="zh-CN" altLang="en-US"/>
          </a:p>
          <a:p>
            <a:pPr lvl="1"/>
            <a:r>
              <a:rPr lang="en-US" altLang="zh-CN"/>
              <a:t>XP</a:t>
            </a:r>
            <a:r>
              <a:rPr lang="zh-CN" altLang="en-US"/>
              <a:t>倡导残酷的重整，去掉那些冗余的代码，删除不再使用的功能，抛弃陈旧的设计。</a:t>
            </a:r>
            <a:endParaRPr lang="zh-CN" altLang="en-US"/>
          </a:p>
          <a:p>
            <a:r>
              <a:rPr lang="zh-CN" altLang="en-US"/>
              <a:t>人员轮换</a:t>
            </a:r>
            <a:endParaRPr lang="zh-CN" altLang="en-US"/>
          </a:p>
          <a:p>
            <a:pPr lvl="1"/>
            <a:r>
              <a:rPr lang="en-US" altLang="zh-CN"/>
              <a:t>XP</a:t>
            </a:r>
            <a:r>
              <a:rPr lang="zh-CN" altLang="en-US"/>
              <a:t>鼓励每个成员在新的迭代中都涉及一部分他不熟悉的领域，使小组中每个人都了解系统的每个部分。</a:t>
            </a:r>
            <a:endParaRPr lang="en-US" altLang="zh-CN"/>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极限编程</a:t>
            </a:r>
            <a:r>
              <a:rPr lang="en-US" altLang="zh-CN">
                <a:sym typeface="+mn-ea"/>
              </a:rPr>
              <a:t>——</a:t>
            </a:r>
            <a:r>
              <a:rPr lang="zh-CN" altLang="en-US">
                <a:sym typeface="+mn-ea"/>
              </a:rPr>
              <a:t>开发过程的细化</a:t>
            </a:r>
            <a:endParaRPr lang="zh-CN" altLang="en-US"/>
          </a:p>
        </p:txBody>
      </p:sp>
      <p:sp>
        <p:nvSpPr>
          <p:cNvPr id="3" name="内容占位符 2"/>
          <p:cNvSpPr>
            <a:spLocks noGrp="1"/>
          </p:cNvSpPr>
          <p:nvPr>
            <p:ph idx="1"/>
          </p:nvPr>
        </p:nvSpPr>
        <p:spPr/>
        <p:txBody>
          <a:bodyPr/>
          <a:p>
            <a:r>
              <a:rPr lang="zh-CN" altLang="en-US"/>
              <a:t>使用</a:t>
            </a:r>
            <a:r>
              <a:rPr lang="en-US" altLang="zh-CN"/>
              <a:t>CRC</a:t>
            </a:r>
            <a:r>
              <a:rPr lang="zh-CN" altLang="en-US"/>
              <a:t>卡片模拟系统</a:t>
            </a:r>
            <a:endParaRPr lang="zh-CN" altLang="en-US"/>
          </a:p>
          <a:p>
            <a:pPr lvl="1"/>
            <a:r>
              <a:rPr lang="en-US" altLang="zh-CN"/>
              <a:t>CRC</a:t>
            </a:r>
            <a:r>
              <a:rPr lang="zh-CN" altLang="en-US"/>
              <a:t>（</a:t>
            </a:r>
            <a:r>
              <a:rPr lang="en-US" altLang="zh-CN"/>
              <a:t>useClase,Responsibilities, and Collaboration</a:t>
            </a:r>
            <a:r>
              <a:rPr lang="zh-CN" altLang="en-US"/>
              <a:t>）卡片，即类</a:t>
            </a:r>
            <a:r>
              <a:rPr lang="en-US" altLang="zh-CN"/>
              <a:t>-</a:t>
            </a:r>
            <a:r>
              <a:rPr lang="zh-CN" altLang="en-US"/>
              <a:t>职责</a:t>
            </a:r>
            <a:r>
              <a:rPr lang="en-US" altLang="zh-CN"/>
              <a:t>-</a:t>
            </a:r>
            <a:r>
              <a:rPr lang="zh-CN" altLang="en-US"/>
              <a:t>协作卡片，是面向对象设计中描述一个对象的卡片，对象的类写在卡片顶部，职责写在左部，协作类写在每个职责的右部。让开发人员抛弃过程思维，采用对象思维。</a:t>
            </a:r>
            <a:endParaRPr lang="en-US" altLang="zh-CN"/>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极限编程</a:t>
            </a:r>
            <a:r>
              <a:rPr lang="en-US" altLang="zh-CN">
                <a:sym typeface="+mn-ea"/>
              </a:rPr>
              <a:t>——</a:t>
            </a:r>
            <a:r>
              <a:rPr lang="zh-CN" altLang="en-US">
                <a:sym typeface="+mn-ea"/>
              </a:rPr>
              <a:t>集体拥有代码的过程细化</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3" name="内容占位符 2"/>
          <p:cNvSpPr/>
          <p:nvPr>
            <p:ph idx="1"/>
          </p:nvPr>
        </p:nvSpPr>
        <p:spPr/>
        <p:txBody>
          <a:bodyPr/>
          <a:p>
            <a:endParaRPr lang="zh-CN" altLang="en-US"/>
          </a:p>
        </p:txBody>
      </p:sp>
      <p:pic>
        <p:nvPicPr>
          <p:cNvPr id="8" name="图片 7" descr="图片1"/>
          <p:cNvPicPr>
            <a:picLocks noChangeAspect="1"/>
          </p:cNvPicPr>
          <p:nvPr/>
        </p:nvPicPr>
        <p:blipFill>
          <a:blip r:embed="rId1"/>
          <a:stretch>
            <a:fillRect/>
          </a:stretch>
        </p:blipFill>
        <p:spPr>
          <a:xfrm>
            <a:off x="497205" y="982980"/>
            <a:ext cx="7966710" cy="334772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极限编程</a:t>
            </a:r>
            <a:r>
              <a:rPr lang="en-US" altLang="zh-CN">
                <a:sym typeface="+mn-ea"/>
              </a:rPr>
              <a:t>——</a:t>
            </a:r>
            <a:r>
              <a:rPr lang="zh-CN" altLang="en-US">
                <a:sym typeface="+mn-ea"/>
              </a:rPr>
              <a:t>集体拥有代码的过程细化</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3" name="内容占位符 2"/>
          <p:cNvSpPr/>
          <p:nvPr>
            <p:ph idx="1"/>
          </p:nvPr>
        </p:nvSpPr>
        <p:spPr/>
        <p:txBody>
          <a:bodyPr>
            <a:normAutofit lnSpcReduction="20000"/>
          </a:bodyPr>
          <a:p>
            <a:r>
              <a:rPr lang="zh-CN" altLang="en-US" sz="2400"/>
              <a:t>输入：下次任务或验收测试失败的任务。</a:t>
            </a:r>
            <a:endParaRPr lang="zh-CN" altLang="en-US" sz="2400"/>
          </a:p>
          <a:p>
            <a:r>
              <a:rPr lang="zh-CN" altLang="en-US" sz="2400"/>
              <a:t>输出：通过单元测试和验收测试。</a:t>
            </a:r>
            <a:endParaRPr lang="zh-CN" altLang="en-US" sz="2400"/>
          </a:p>
          <a:p>
            <a:r>
              <a:rPr lang="zh-CN" altLang="en-US" sz="2400"/>
              <a:t>活动的内容：</a:t>
            </a:r>
            <a:endParaRPr lang="zh-CN" altLang="en-US" sz="2400"/>
          </a:p>
          <a:p>
            <a:pPr lvl="1"/>
            <a:r>
              <a:rPr lang="zh-CN" altLang="en-US" sz="2000"/>
              <a:t>单元测试如果失败，重编码仍返回单元测试，直至通过。</a:t>
            </a:r>
            <a:endParaRPr lang="zh-CN" altLang="en-US" sz="2000"/>
          </a:p>
          <a:p>
            <a:pPr lvl="1"/>
            <a:r>
              <a:rPr lang="zh-CN" altLang="en-US" sz="2000"/>
              <a:t>人员不能胜任，则进行人员轮换。</a:t>
            </a:r>
            <a:endParaRPr lang="zh-CN" altLang="en-US" sz="2000"/>
          </a:p>
          <a:p>
            <a:pPr lvl="1"/>
            <a:r>
              <a:rPr lang="zh-CN" altLang="en-US" sz="2000"/>
              <a:t>如果通过单元测试，则进行残酷重整，将代码简化，并进行新的单元测试。</a:t>
            </a:r>
            <a:endParaRPr lang="zh-CN" altLang="en-US" sz="2000"/>
          </a:p>
          <a:p>
            <a:pPr lvl="1"/>
            <a:r>
              <a:rPr lang="zh-CN" altLang="en-US" sz="2000"/>
              <a:t>全部通过单元测试后，将新单元核心功能代码转入不断集成，然后通过验收测试。</a:t>
            </a:r>
            <a:endParaRPr lang="zh-CN" altLang="en-US" sz="20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极限编程</a:t>
            </a:r>
            <a:r>
              <a:rPr lang="en-US" altLang="zh-CN">
                <a:sym typeface="+mn-ea"/>
              </a:rPr>
              <a:t>——</a:t>
            </a:r>
            <a:r>
              <a:rPr lang="zh-CN" altLang="en-US">
                <a:sym typeface="+mn-ea"/>
              </a:rPr>
              <a:t>集体拥有代码的过程细化</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3" name="内容占位符 2"/>
          <p:cNvSpPr/>
          <p:nvPr>
            <p:ph idx="1"/>
          </p:nvPr>
        </p:nvSpPr>
        <p:spPr/>
        <p:txBody>
          <a:bodyPr/>
          <a:p>
            <a:r>
              <a:rPr lang="zh-CN" altLang="en-US"/>
              <a:t>经常集成</a:t>
            </a:r>
            <a:endParaRPr lang="zh-CN" altLang="en-US"/>
          </a:p>
          <a:p>
            <a:pPr lvl="1"/>
            <a:r>
              <a:rPr lang="zh-CN" altLang="en-US"/>
              <a:t>如果可能，开发人员每隔几小时就集成和发布代码到代码仓储库中。</a:t>
            </a:r>
            <a:endParaRPr lang="zh-CN" altLang="en-US"/>
          </a:p>
          <a:p>
            <a:pPr lvl="1"/>
            <a:r>
              <a:rPr lang="zh-CN" altLang="en-US"/>
              <a:t>连续整合有助于在项目早起避免和发现兼容问题。如果不断的基础，在项目交付时就没有必要再花费数周时间进行艰难的集成工作。</a:t>
            </a:r>
            <a:endParaRPr lang="zh-CN" altLang="en-US"/>
          </a:p>
          <a:p>
            <a:endParaRPr lang="zh-CN" alt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极限编程</a:t>
            </a:r>
            <a:endParaRPr lang="zh-CN" altLang="en-US"/>
          </a:p>
        </p:txBody>
      </p:sp>
      <p:sp>
        <p:nvSpPr>
          <p:cNvPr id="4" name="日期占位符 3"/>
          <p:cNvSpPr>
            <a:spLocks noGrp="1"/>
          </p:cNvSpPr>
          <p:nvPr>
            <p:ph type="dt" sz="half" idx="10"/>
          </p:nvPr>
        </p:nvSpPr>
        <p:spPr/>
        <p:txBody>
          <a:bodyPr/>
          <a:p>
            <a:fld id="{6C677D33-B84E-43DD-8059-B0F498D8E1D0}" type="datetime1">
              <a:rPr lang="zh-CN" altLang="en-US" smtClean="0"/>
            </a:fld>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3" name="内容占位符 2"/>
          <p:cNvSpPr/>
          <p:nvPr>
            <p:ph idx="1"/>
          </p:nvPr>
        </p:nvSpPr>
        <p:spPr/>
        <p:txBody>
          <a:bodyPr>
            <a:normAutofit fontScale="80000"/>
          </a:bodyPr>
          <a:p>
            <a:r>
              <a:rPr lang="zh-CN" altLang="en-US"/>
              <a:t>极限编程不强调模型，突出编程和反复迭代测试。</a:t>
            </a:r>
            <a:endParaRPr lang="zh-CN" altLang="en-US"/>
          </a:p>
          <a:p>
            <a:pPr lvl="1"/>
            <a:r>
              <a:rPr lang="zh-CN" altLang="en-US"/>
              <a:t>结对编程。</a:t>
            </a:r>
            <a:endParaRPr lang="zh-CN" altLang="en-US"/>
          </a:p>
          <a:p>
            <a:pPr lvl="1"/>
            <a:r>
              <a:rPr lang="zh-CN" altLang="en-US"/>
              <a:t>编程之前先编写测试程序，以固定需求。</a:t>
            </a:r>
            <a:endParaRPr lang="zh-CN" altLang="en-US"/>
          </a:p>
          <a:p>
            <a:pPr lvl="1"/>
            <a:r>
              <a:rPr lang="zh-CN" altLang="en-US"/>
              <a:t>程序代码集体拥有，成员均可改，共同负责。</a:t>
            </a:r>
            <a:endParaRPr lang="zh-CN" altLang="en-US"/>
          </a:p>
          <a:p>
            <a:pPr lvl="1"/>
            <a:r>
              <a:rPr lang="zh-CN" altLang="en-US"/>
              <a:t>没有固定专职，成员都是多面手。</a:t>
            </a:r>
            <a:endParaRPr lang="zh-CN" altLang="en-US"/>
          </a:p>
          <a:p>
            <a:pPr lvl="1"/>
            <a:r>
              <a:rPr lang="zh-CN" altLang="en-US"/>
              <a:t>极度依赖客户介入，客户作为成员参与全过程，并负责写用户故事。</a:t>
            </a:r>
            <a:endParaRPr lang="zh-CN" altLang="en-US"/>
          </a:p>
          <a:p>
            <a:pPr lvl="1"/>
            <a:r>
              <a:rPr lang="zh-CN" altLang="en-US"/>
              <a:t>简单、朴素的开发，一个用户故事直接对应为少许多任务，马上编写单元测试并编码开发。</a:t>
            </a:r>
            <a:endParaRPr lang="zh-CN" altLang="en-US"/>
          </a:p>
          <a:p>
            <a:pPr lvl="1"/>
            <a:r>
              <a:rPr lang="zh-CN" altLang="en-US"/>
              <a:t>全部残酷重整和连续整合，有利于形成良好的体系结构软件。</a:t>
            </a:r>
            <a:endParaRPr lang="zh-CN" alt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2667000" y="4400550"/>
            <a:ext cx="2895600" cy="514350"/>
          </a:xfrm>
        </p:spPr>
        <p:txBody>
          <a:bodyPr/>
          <a:lstStyle/>
          <a:p>
            <a:pPr eaLnBrk="1" fontAlgn="auto" hangingPunct="1">
              <a:spcAft>
                <a:spcPts val="0"/>
              </a:spcAft>
              <a:defRPr/>
            </a:pPr>
            <a:r>
              <a:rPr lang="zh-CN" altLang="en-US" sz="1800" dirty="0"/>
              <a:t>图</a:t>
            </a:r>
            <a:r>
              <a:rPr lang="en-US" sz="1800" dirty="0"/>
              <a:t> XP</a:t>
            </a:r>
            <a:r>
              <a:rPr lang="zh-CN" altLang="en-US" sz="1800" dirty="0"/>
              <a:t>迭代开发过程</a:t>
            </a:r>
            <a:endParaRPr lang="zh-CN" altLang="en-US" sz="1800" dirty="0"/>
          </a:p>
        </p:txBody>
      </p:sp>
      <p:pic>
        <p:nvPicPr>
          <p:cNvPr id="83971" name="Picture 2" descr="tp3"/>
          <p:cNvPicPr>
            <a:picLocks noChangeAspect="1" noChangeArrowheads="1"/>
          </p:cNvPicPr>
          <p:nvPr/>
        </p:nvPicPr>
        <p:blipFill>
          <a:blip r:embed="rId1" cstate="print"/>
          <a:srcRect/>
          <a:stretch>
            <a:fillRect/>
          </a:stretch>
        </p:blipFill>
        <p:spPr bwMode="auto">
          <a:xfrm>
            <a:off x="188914" y="628650"/>
            <a:ext cx="6765925" cy="3829050"/>
          </a:xfrm>
          <a:prstGeom prst="rect">
            <a:avLst/>
          </a:prstGeom>
          <a:noFill/>
          <a:ln w="9525">
            <a:noFill/>
            <a:miter lim="800000"/>
            <a:headEnd/>
            <a:tailEnd/>
          </a:ln>
        </p:spPr>
      </p:pic>
      <p:sp>
        <p:nvSpPr>
          <p:cNvPr id="83972" name="矩形 4"/>
          <p:cNvSpPr>
            <a:spLocks noChangeArrowheads="1"/>
          </p:cNvSpPr>
          <p:nvPr/>
        </p:nvSpPr>
        <p:spPr bwMode="auto">
          <a:xfrm>
            <a:off x="7010400" y="685800"/>
            <a:ext cx="1905000" cy="1754326"/>
          </a:xfrm>
          <a:prstGeom prst="rect">
            <a:avLst/>
          </a:prstGeom>
          <a:noFill/>
          <a:ln w="9525">
            <a:noFill/>
            <a:miter lim="800000"/>
          </a:ln>
        </p:spPr>
        <p:txBody>
          <a:bodyPr>
            <a:spAutoFit/>
          </a:bodyPr>
          <a:lstStyle/>
          <a:p>
            <a:pPr eaLnBrk="0" hangingPunct="0"/>
            <a:r>
              <a:rPr lang="en-US" altLang="zh-CN" b="1"/>
              <a:t>XP values</a:t>
            </a:r>
            <a:endParaRPr lang="en-US" altLang="zh-CN">
              <a:hlinkClick r:id="" action="ppaction://noaction"/>
            </a:endParaRPr>
          </a:p>
          <a:p>
            <a:pPr eaLnBrk="0" hangingPunct="0"/>
            <a:r>
              <a:rPr lang="en-US" altLang="zh-CN">
                <a:hlinkClick r:id="" action="ppaction://noaction"/>
              </a:rPr>
              <a:t>Communication</a:t>
            </a:r>
            <a:endParaRPr lang="en-US" altLang="zh-CN"/>
          </a:p>
          <a:p>
            <a:pPr eaLnBrk="0" hangingPunct="0"/>
            <a:r>
              <a:rPr lang="en-US" altLang="zh-CN">
                <a:hlinkClick r:id="rId2" tooltip="Simplicity"/>
              </a:rPr>
              <a:t>Simplicity</a:t>
            </a:r>
            <a:endParaRPr lang="en-US" altLang="zh-CN"/>
          </a:p>
          <a:p>
            <a:pPr eaLnBrk="0" hangingPunct="0"/>
            <a:r>
              <a:rPr lang="en-US" altLang="zh-CN">
                <a:hlinkClick r:id="rId3" tooltip="Feedback"/>
              </a:rPr>
              <a:t>Feedback</a:t>
            </a:r>
            <a:endParaRPr lang="en-US" altLang="zh-CN"/>
          </a:p>
          <a:p>
            <a:pPr eaLnBrk="0" hangingPunct="0"/>
            <a:r>
              <a:rPr lang="en-US" altLang="zh-CN">
                <a:hlinkClick r:id="rId4" tooltip="Courage"/>
              </a:rPr>
              <a:t>Courage</a:t>
            </a:r>
            <a:endParaRPr lang="en-US" altLang="zh-CN"/>
          </a:p>
          <a:p>
            <a:pPr eaLnBrk="0" hangingPunct="0"/>
            <a:r>
              <a:rPr lang="en-US" altLang="zh-CN">
                <a:hlinkClick r:id="rId5" tooltip="Respect"/>
              </a:rPr>
              <a:t>Respect</a:t>
            </a:r>
            <a:endParaRPr lang="en-US" altLang="zh-CN"/>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XP</a:t>
            </a:r>
            <a:r>
              <a:rPr lang="zh-CN" altLang="en-US" dirty="0"/>
              <a:t>的</a:t>
            </a:r>
            <a:r>
              <a:rPr lang="en-US" altLang="zh-CN" dirty="0"/>
              <a:t>13</a:t>
            </a:r>
            <a:r>
              <a:rPr lang="zh-CN" altLang="en-US" dirty="0"/>
              <a:t>个实践</a:t>
            </a:r>
            <a:endParaRPr lang="zh-CN" altLang="en-US" dirty="0"/>
          </a:p>
        </p:txBody>
      </p:sp>
      <p:sp>
        <p:nvSpPr>
          <p:cNvPr id="3" name="内容占位符 2"/>
          <p:cNvSpPr>
            <a:spLocks noGrp="1"/>
          </p:cNvSpPr>
          <p:nvPr>
            <p:ph idx="1"/>
          </p:nvPr>
        </p:nvSpPr>
        <p:spPr>
          <a:xfrm>
            <a:off x="720596" y="1092477"/>
            <a:ext cx="8054527" cy="3496987"/>
          </a:xfrm>
        </p:spPr>
        <p:txBody>
          <a:bodyPr/>
          <a:lstStyle/>
          <a:p>
            <a:pPr algn="just">
              <a:lnSpc>
                <a:spcPct val="120000"/>
              </a:lnSpc>
              <a:spcBef>
                <a:spcPts val="1200"/>
              </a:spcBef>
              <a:spcAft>
                <a:spcPts val="0"/>
              </a:spcAft>
            </a:pPr>
            <a:r>
              <a:rPr lang="zh-CN" altLang="en-US" dirty="0">
                <a:latin typeface="+mj-ea"/>
                <a:ea typeface="+mj-ea"/>
              </a:rPr>
              <a:t>第一层面：</a:t>
            </a:r>
            <a:r>
              <a:rPr lang="en-US" altLang="zh-CN" dirty="0">
                <a:latin typeface="+mj-ea"/>
                <a:ea typeface="+mj-ea"/>
              </a:rPr>
              <a:t>XP</a:t>
            </a:r>
            <a:r>
              <a:rPr lang="zh-CN" altLang="en-US" dirty="0">
                <a:latin typeface="+mj-ea"/>
                <a:ea typeface="+mj-ea"/>
              </a:rPr>
              <a:t>的团队组织与需求响应，4个实践：</a:t>
            </a:r>
            <a:endParaRPr lang="zh-CN" altLang="en-US" dirty="0">
              <a:latin typeface="+mj-ea"/>
              <a:ea typeface="+mj-ea"/>
            </a:endParaRPr>
          </a:p>
          <a:p>
            <a:pPr marL="1108710" lvl="1" indent="-457200" algn="just">
              <a:lnSpc>
                <a:spcPct val="120000"/>
              </a:lnSpc>
              <a:spcBef>
                <a:spcPts val="1200"/>
              </a:spcBef>
              <a:spcAft>
                <a:spcPts val="0"/>
              </a:spcAft>
              <a:buClr>
                <a:schemeClr val="accent6"/>
              </a:buClr>
            </a:pPr>
            <a:r>
              <a:rPr lang="zh-CN" altLang="en-US" dirty="0">
                <a:latin typeface="+mj-ea"/>
                <a:ea typeface="+mj-ea"/>
              </a:rPr>
              <a:t>完整团队 (</a:t>
            </a:r>
            <a:r>
              <a:rPr lang="en-US" altLang="zh-CN" dirty="0">
                <a:latin typeface="+mj-ea"/>
                <a:ea typeface="+mj-ea"/>
              </a:rPr>
              <a:t>Whole Team)</a:t>
            </a:r>
            <a:endParaRPr lang="en-US" altLang="zh-CN" dirty="0">
              <a:latin typeface="+mj-ea"/>
              <a:ea typeface="+mj-ea"/>
            </a:endParaRPr>
          </a:p>
          <a:p>
            <a:pPr marL="1108710" lvl="1" indent="-457200" algn="just">
              <a:lnSpc>
                <a:spcPct val="120000"/>
              </a:lnSpc>
              <a:spcBef>
                <a:spcPts val="1200"/>
              </a:spcBef>
              <a:spcAft>
                <a:spcPts val="0"/>
              </a:spcAft>
              <a:buClr>
                <a:schemeClr val="accent6"/>
              </a:buClr>
            </a:pPr>
            <a:r>
              <a:rPr lang="zh-CN" altLang="en-US" dirty="0">
                <a:latin typeface="+mj-ea"/>
                <a:ea typeface="+mj-ea"/>
              </a:rPr>
              <a:t>现场客户(</a:t>
            </a:r>
            <a:r>
              <a:rPr lang="en-US" altLang="zh-CN" dirty="0">
                <a:latin typeface="+mj-ea"/>
                <a:ea typeface="+mj-ea"/>
              </a:rPr>
              <a:t>Customer Tests)</a:t>
            </a:r>
            <a:endParaRPr lang="en-US" altLang="zh-CN" dirty="0">
              <a:latin typeface="+mj-ea"/>
              <a:ea typeface="+mj-ea"/>
            </a:endParaRPr>
          </a:p>
          <a:p>
            <a:pPr marL="1108710" lvl="1" indent="-457200" algn="just">
              <a:lnSpc>
                <a:spcPct val="120000"/>
              </a:lnSpc>
              <a:spcBef>
                <a:spcPts val="1200"/>
              </a:spcBef>
              <a:spcAft>
                <a:spcPts val="0"/>
              </a:spcAft>
              <a:buClr>
                <a:schemeClr val="accent6"/>
              </a:buClr>
            </a:pPr>
            <a:r>
              <a:rPr lang="zh-CN" altLang="en-US" dirty="0">
                <a:latin typeface="+mj-ea"/>
                <a:ea typeface="+mj-ea"/>
              </a:rPr>
              <a:t>计划游戏(</a:t>
            </a:r>
            <a:r>
              <a:rPr lang="en-US" altLang="zh-CN" dirty="0">
                <a:latin typeface="+mj-ea"/>
                <a:ea typeface="+mj-ea"/>
              </a:rPr>
              <a:t>Planning Game)</a:t>
            </a:r>
            <a:endParaRPr lang="en-US" altLang="zh-CN" dirty="0">
              <a:latin typeface="+mj-ea"/>
              <a:ea typeface="+mj-ea"/>
            </a:endParaRPr>
          </a:p>
          <a:p>
            <a:pPr marL="1108710" lvl="1" indent="-457200" algn="just">
              <a:lnSpc>
                <a:spcPct val="120000"/>
              </a:lnSpc>
              <a:spcBef>
                <a:spcPts val="1200"/>
              </a:spcBef>
              <a:spcAft>
                <a:spcPts val="0"/>
              </a:spcAft>
              <a:buClr>
                <a:schemeClr val="accent6"/>
              </a:buClr>
            </a:pPr>
            <a:r>
              <a:rPr lang="zh-CN" altLang="en-US" dirty="0">
                <a:latin typeface="+mj-ea"/>
                <a:ea typeface="+mj-ea"/>
              </a:rPr>
              <a:t>小版本  (</a:t>
            </a:r>
            <a:r>
              <a:rPr lang="en-US" altLang="zh-CN" dirty="0">
                <a:latin typeface="+mj-ea"/>
                <a:ea typeface="+mj-ea"/>
              </a:rPr>
              <a:t>Small Releases)</a:t>
            </a:r>
            <a:endParaRPr lang="en-US" altLang="zh-CN" dirty="0">
              <a:latin typeface="+mj-ea"/>
              <a:ea typeface="+mj-ea"/>
            </a:endParaRPr>
          </a:p>
          <a:p>
            <a:pPr algn="just"/>
            <a:endParaRPr lang="zh-CN" altLang="en-US" dirty="0">
              <a:latin typeface="+mj-ea"/>
              <a:ea typeface="+mj-ea"/>
            </a:endParaRPr>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5" name="日期占位符 4"/>
          <p:cNvSpPr>
            <a:spLocks noGrp="1"/>
          </p:cNvSpPr>
          <p:nvPr>
            <p:ph type="dt" sz="half" idx="10"/>
          </p:nvPr>
        </p:nvSpPr>
        <p:spPr/>
        <p:txBody>
          <a:bodyPr/>
          <a:lstStyle/>
          <a:p>
            <a:fld id="{547A0B8C-9CB6-45AC-81BE-221CFE0967BB}"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XP</a:t>
            </a:r>
            <a:r>
              <a:rPr lang="zh-CN" altLang="en-US" dirty="0"/>
              <a:t>的</a:t>
            </a:r>
            <a:r>
              <a:rPr lang="en-US" altLang="zh-CN" dirty="0"/>
              <a:t>13</a:t>
            </a:r>
            <a:r>
              <a:rPr lang="zh-CN" altLang="en-US" dirty="0"/>
              <a:t>个实践</a:t>
            </a:r>
            <a:endParaRPr lang="zh-CN" altLang="en-US" dirty="0"/>
          </a:p>
        </p:txBody>
      </p:sp>
      <p:sp>
        <p:nvSpPr>
          <p:cNvPr id="3" name="内容占位符 2"/>
          <p:cNvSpPr>
            <a:spLocks noGrp="1"/>
          </p:cNvSpPr>
          <p:nvPr>
            <p:ph idx="1"/>
          </p:nvPr>
        </p:nvSpPr>
        <p:spPr/>
        <p:txBody>
          <a:bodyPr>
            <a:normAutofit lnSpcReduction="10000"/>
          </a:bodyPr>
          <a:lstStyle/>
          <a:p>
            <a:pPr algn="just">
              <a:lnSpc>
                <a:spcPct val="120000"/>
              </a:lnSpc>
              <a:spcBef>
                <a:spcPts val="1200"/>
              </a:spcBef>
              <a:spcAft>
                <a:spcPts val="0"/>
              </a:spcAft>
            </a:pPr>
            <a:r>
              <a:rPr lang="zh-CN" altLang="en-US" sz="2400" dirty="0">
                <a:solidFill>
                  <a:srgbClr val="2C2C2C"/>
                </a:solidFill>
                <a:latin typeface="+mj-ea"/>
                <a:ea typeface="+mj-ea"/>
              </a:rPr>
              <a:t>第二层面：开发环境。</a:t>
            </a:r>
            <a:r>
              <a:rPr lang="en-US" altLang="zh-CN" sz="2400" dirty="0">
                <a:latin typeface="+mj-ea"/>
                <a:ea typeface="+mj-ea"/>
                <a:cs typeface="Times New Roman" panose="02020603050405020304" pitchFamily="18" charset="0"/>
              </a:rPr>
              <a:t>XP</a:t>
            </a:r>
            <a:r>
              <a:rPr lang="zh-CN" altLang="en-US" sz="2400" dirty="0">
                <a:latin typeface="+mj-ea"/>
                <a:ea typeface="+mj-ea"/>
              </a:rPr>
              <a:t>之所以能实施以测试为驱动、以编码为核心，与它的</a:t>
            </a:r>
            <a:r>
              <a:rPr lang="zh-CN" altLang="en-US" sz="2400" dirty="0">
                <a:solidFill>
                  <a:srgbClr val="2C2C2C"/>
                </a:solidFill>
                <a:latin typeface="+mj-ea"/>
                <a:ea typeface="+mj-ea"/>
              </a:rPr>
              <a:t>开发</a:t>
            </a:r>
            <a:r>
              <a:rPr lang="zh-CN" altLang="en-US" sz="2400" dirty="0">
                <a:latin typeface="+mj-ea"/>
                <a:ea typeface="+mj-ea"/>
              </a:rPr>
              <a:t>环境有关。</a:t>
            </a:r>
            <a:r>
              <a:rPr lang="en-US" altLang="zh-CN" sz="2400" dirty="0">
                <a:solidFill>
                  <a:srgbClr val="2C2C2C"/>
                </a:solidFill>
                <a:latin typeface="+mj-ea"/>
                <a:ea typeface="+mj-ea"/>
                <a:cs typeface="Times New Roman" panose="02020603050405020304" pitchFamily="18" charset="0"/>
              </a:rPr>
              <a:t>XP</a:t>
            </a:r>
            <a:r>
              <a:rPr lang="zh-CN" altLang="en-US" sz="2400" dirty="0">
                <a:solidFill>
                  <a:srgbClr val="2C2C2C"/>
                </a:solidFill>
                <a:latin typeface="+mj-ea"/>
                <a:ea typeface="+mj-ea"/>
              </a:rPr>
              <a:t>环境建设有</a:t>
            </a:r>
            <a:r>
              <a:rPr lang="zh-CN" altLang="en-US" sz="2400" dirty="0">
                <a:solidFill>
                  <a:srgbClr val="2C2C2C"/>
                </a:solidFill>
                <a:latin typeface="+mj-ea"/>
                <a:ea typeface="+mj-ea"/>
                <a:cs typeface="Times New Roman" panose="02020603050405020304" pitchFamily="18" charset="0"/>
              </a:rPr>
              <a:t>5</a:t>
            </a:r>
            <a:r>
              <a:rPr lang="zh-CN" altLang="en-US" sz="2400" dirty="0">
                <a:solidFill>
                  <a:srgbClr val="2C2C2C"/>
                </a:solidFill>
                <a:latin typeface="+mj-ea"/>
                <a:ea typeface="+mj-ea"/>
              </a:rPr>
              <a:t>个实践：</a:t>
            </a:r>
            <a:r>
              <a:rPr lang="zh-CN" altLang="en-US" sz="2400" dirty="0">
                <a:latin typeface="+mj-ea"/>
                <a:ea typeface="+mj-ea"/>
              </a:rPr>
              <a:t> </a:t>
            </a:r>
            <a:endParaRPr lang="en-US" altLang="zh-CN" sz="2400" dirty="0">
              <a:latin typeface="+mj-ea"/>
              <a:ea typeface="+mj-ea"/>
            </a:endParaRPr>
          </a:p>
          <a:p>
            <a:pPr lvl="1" algn="just">
              <a:lnSpc>
                <a:spcPct val="120000"/>
              </a:lnSpc>
              <a:spcBef>
                <a:spcPts val="1000"/>
              </a:spcBef>
              <a:spcAft>
                <a:spcPts val="0"/>
              </a:spcAft>
              <a:buClr>
                <a:schemeClr val="accent6"/>
              </a:buClr>
            </a:pPr>
            <a:r>
              <a:rPr lang="en-US" altLang="zh-CN" sz="2000" dirty="0">
                <a:latin typeface="+mj-ea"/>
                <a:ea typeface="+mj-ea"/>
                <a:cs typeface="Times New Roman" panose="02020603050405020304" pitchFamily="18" charset="0"/>
              </a:rPr>
              <a:t> </a:t>
            </a:r>
            <a:r>
              <a:rPr lang="zh-CN" altLang="en-US" sz="2000" dirty="0">
                <a:latin typeface="+mj-ea"/>
                <a:ea typeface="+mj-ea"/>
              </a:rPr>
              <a:t>隐喻(</a:t>
            </a:r>
            <a:r>
              <a:rPr lang="en-US" altLang="zh-CN" sz="2000" dirty="0">
                <a:latin typeface="+mj-ea"/>
                <a:ea typeface="+mj-ea"/>
              </a:rPr>
              <a:t>Metaphor)</a:t>
            </a:r>
            <a:endParaRPr lang="en-US" altLang="zh-CN" sz="2000" dirty="0">
              <a:latin typeface="+mj-ea"/>
              <a:ea typeface="+mj-ea"/>
            </a:endParaRPr>
          </a:p>
          <a:p>
            <a:pPr lvl="1" algn="just">
              <a:lnSpc>
                <a:spcPct val="120000"/>
              </a:lnSpc>
              <a:spcBef>
                <a:spcPts val="1000"/>
              </a:spcBef>
              <a:spcAft>
                <a:spcPts val="0"/>
              </a:spcAft>
              <a:buClr>
                <a:schemeClr val="accent6"/>
              </a:buClr>
            </a:pPr>
            <a:r>
              <a:rPr lang="en-US" altLang="zh-CN" sz="2000" dirty="0">
                <a:latin typeface="+mj-ea"/>
                <a:ea typeface="+mj-ea"/>
                <a:cs typeface="Times New Roman" panose="02020603050405020304" pitchFamily="18" charset="0"/>
              </a:rPr>
              <a:t> </a:t>
            </a:r>
            <a:r>
              <a:rPr lang="zh-CN" altLang="en-US" sz="2000" dirty="0">
                <a:latin typeface="+mj-ea"/>
                <a:ea typeface="+mj-ea"/>
              </a:rPr>
              <a:t>持续集成(</a:t>
            </a:r>
            <a:r>
              <a:rPr lang="en-US" altLang="zh-CN" sz="2000" dirty="0">
                <a:latin typeface="+mj-ea"/>
                <a:ea typeface="+mj-ea"/>
              </a:rPr>
              <a:t>Continuous Integration)</a:t>
            </a:r>
            <a:endParaRPr lang="en-US" altLang="zh-CN" sz="2000" dirty="0">
              <a:latin typeface="+mj-ea"/>
              <a:ea typeface="+mj-ea"/>
            </a:endParaRPr>
          </a:p>
          <a:p>
            <a:pPr lvl="1" algn="just">
              <a:lnSpc>
                <a:spcPct val="120000"/>
              </a:lnSpc>
              <a:spcBef>
                <a:spcPts val="1000"/>
              </a:spcBef>
              <a:spcAft>
                <a:spcPts val="0"/>
              </a:spcAft>
              <a:buClr>
                <a:schemeClr val="accent6"/>
              </a:buClr>
            </a:pPr>
            <a:r>
              <a:rPr lang="en-US" altLang="zh-CN" sz="2000" dirty="0">
                <a:latin typeface="+mj-ea"/>
                <a:ea typeface="+mj-ea"/>
                <a:cs typeface="Times New Roman" panose="02020603050405020304" pitchFamily="18" charset="0"/>
              </a:rPr>
              <a:t> </a:t>
            </a:r>
            <a:r>
              <a:rPr lang="zh-CN" altLang="en-US" sz="2000" dirty="0">
                <a:latin typeface="+mj-ea"/>
                <a:ea typeface="+mj-ea"/>
              </a:rPr>
              <a:t>代码集体所有(</a:t>
            </a:r>
            <a:r>
              <a:rPr lang="en-US" altLang="zh-CN" sz="2000" dirty="0">
                <a:latin typeface="+mj-ea"/>
                <a:ea typeface="+mj-ea"/>
              </a:rPr>
              <a:t>Collective ownership)</a:t>
            </a:r>
            <a:endParaRPr lang="en-US" altLang="zh-CN" sz="2000" dirty="0">
              <a:latin typeface="+mj-ea"/>
              <a:ea typeface="+mj-ea"/>
            </a:endParaRPr>
          </a:p>
          <a:p>
            <a:pPr lvl="1" algn="just">
              <a:lnSpc>
                <a:spcPct val="120000"/>
              </a:lnSpc>
              <a:spcBef>
                <a:spcPts val="1000"/>
              </a:spcBef>
              <a:spcAft>
                <a:spcPts val="0"/>
              </a:spcAft>
              <a:buClr>
                <a:schemeClr val="accent6"/>
              </a:buClr>
            </a:pPr>
            <a:r>
              <a:rPr lang="en-US" altLang="zh-CN" sz="2000" dirty="0">
                <a:latin typeface="+mj-ea"/>
                <a:ea typeface="+mj-ea"/>
                <a:cs typeface="Times New Roman" panose="02020603050405020304" pitchFamily="18" charset="0"/>
              </a:rPr>
              <a:t> </a:t>
            </a:r>
            <a:r>
              <a:rPr lang="zh-CN" altLang="en-US" sz="2000" dirty="0">
                <a:latin typeface="+mj-ea"/>
                <a:ea typeface="+mj-ea"/>
              </a:rPr>
              <a:t>编码标准(</a:t>
            </a:r>
            <a:r>
              <a:rPr lang="en-US" altLang="zh-CN" sz="2000" dirty="0">
                <a:latin typeface="+mj-ea"/>
                <a:ea typeface="+mj-ea"/>
              </a:rPr>
              <a:t>Coding Standard)</a:t>
            </a:r>
            <a:endParaRPr lang="en-US" altLang="zh-CN" sz="2000" dirty="0">
              <a:latin typeface="+mj-ea"/>
              <a:ea typeface="+mj-ea"/>
            </a:endParaRPr>
          </a:p>
          <a:p>
            <a:pPr lvl="1" algn="just">
              <a:lnSpc>
                <a:spcPct val="120000"/>
              </a:lnSpc>
              <a:spcBef>
                <a:spcPts val="1000"/>
              </a:spcBef>
              <a:spcAft>
                <a:spcPts val="0"/>
              </a:spcAft>
              <a:buClr>
                <a:schemeClr val="accent6"/>
              </a:buClr>
            </a:pPr>
            <a:r>
              <a:rPr lang="zh-CN" altLang="en-US" sz="2000" dirty="0">
                <a:latin typeface="+mj-ea"/>
                <a:ea typeface="+mj-ea"/>
              </a:rPr>
              <a:t> 可持续发展步伐</a:t>
            </a:r>
            <a:r>
              <a:rPr lang="zh-CN" altLang="en-US" sz="2000" dirty="0">
                <a:latin typeface="+mj-ea"/>
                <a:ea typeface="+mj-ea"/>
                <a:cs typeface="Times New Roman" panose="02020603050405020304" pitchFamily="18" charset="0"/>
              </a:rPr>
              <a:t>(</a:t>
            </a:r>
            <a:r>
              <a:rPr lang="en-US" altLang="zh-CN" sz="2000" dirty="0">
                <a:latin typeface="+mj-ea"/>
                <a:ea typeface="+mj-ea"/>
                <a:cs typeface="Times New Roman" panose="02020603050405020304" pitchFamily="18" charset="0"/>
              </a:rPr>
              <a:t>Sustainable pace)</a:t>
            </a:r>
            <a:r>
              <a:rPr lang="en-US" altLang="zh-CN" sz="2000" dirty="0">
                <a:latin typeface="+mj-ea"/>
                <a:ea typeface="+mj-ea"/>
              </a:rPr>
              <a:t> </a:t>
            </a:r>
            <a:endParaRPr lang="zh-CN" altLang="en-US" sz="2000" dirty="0">
              <a:latin typeface="+mj-ea"/>
              <a:ea typeface="+mj-ea"/>
            </a:endParaRPr>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5" name="日期占位符 4"/>
          <p:cNvSpPr>
            <a:spLocks noGrp="1"/>
          </p:cNvSpPr>
          <p:nvPr>
            <p:ph type="dt" sz="half" idx="10"/>
          </p:nvPr>
        </p:nvSpPr>
        <p:spPr/>
        <p:txBody>
          <a:bodyPr/>
          <a:lstStyle/>
          <a:p>
            <a:fld id="{558B2DEA-12DF-49DA-B826-ADE3F159F03F}"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XP</a:t>
            </a:r>
            <a:r>
              <a:rPr lang="zh-CN" altLang="en-US" dirty="0"/>
              <a:t>的</a:t>
            </a:r>
            <a:r>
              <a:rPr lang="en-US" altLang="zh-CN" dirty="0"/>
              <a:t>13</a:t>
            </a:r>
            <a:r>
              <a:rPr lang="zh-CN" altLang="en-US" dirty="0"/>
              <a:t>个实践</a:t>
            </a:r>
            <a:endParaRPr lang="zh-CN" altLang="en-US" dirty="0"/>
          </a:p>
        </p:txBody>
      </p:sp>
      <p:sp>
        <p:nvSpPr>
          <p:cNvPr id="3" name="内容占位符 2"/>
          <p:cNvSpPr>
            <a:spLocks noGrp="1"/>
          </p:cNvSpPr>
          <p:nvPr>
            <p:ph idx="1"/>
          </p:nvPr>
        </p:nvSpPr>
        <p:spPr>
          <a:xfrm>
            <a:off x="878774" y="1187532"/>
            <a:ext cx="7722156" cy="2909454"/>
          </a:xfrm>
        </p:spPr>
        <p:txBody>
          <a:bodyPr>
            <a:normAutofit/>
          </a:bodyPr>
          <a:lstStyle/>
          <a:p>
            <a:pPr algn="just"/>
            <a:r>
              <a:rPr lang="zh-CN" altLang="en-US" dirty="0">
                <a:latin typeface="+mj-ea"/>
                <a:ea typeface="+mj-ea"/>
              </a:rPr>
              <a:t>第三层面：</a:t>
            </a:r>
            <a:r>
              <a:rPr lang="en-US" altLang="zh-CN" dirty="0">
                <a:latin typeface="+mj-ea"/>
                <a:ea typeface="+mj-ea"/>
                <a:cs typeface="Times New Roman" panose="02020603050405020304" pitchFamily="18" charset="0"/>
              </a:rPr>
              <a:t>XP</a:t>
            </a:r>
            <a:r>
              <a:rPr lang="zh-CN" altLang="en-US" dirty="0">
                <a:latin typeface="+mj-ea"/>
                <a:ea typeface="+mj-ea"/>
              </a:rPr>
              <a:t>的编程核心，</a:t>
            </a:r>
            <a:r>
              <a:rPr lang="zh-CN" altLang="en-US" dirty="0">
                <a:latin typeface="+mj-ea"/>
                <a:ea typeface="+mj-ea"/>
                <a:cs typeface="Times New Roman" panose="02020603050405020304" pitchFamily="18" charset="0"/>
              </a:rPr>
              <a:t>4</a:t>
            </a:r>
            <a:r>
              <a:rPr lang="zh-CN" altLang="en-US" dirty="0">
                <a:latin typeface="+mj-ea"/>
                <a:ea typeface="+mj-ea"/>
              </a:rPr>
              <a:t>个实践： </a:t>
            </a:r>
            <a:endParaRPr lang="en-US" altLang="zh-CN" dirty="0">
              <a:latin typeface="+mj-ea"/>
              <a:ea typeface="+mj-ea"/>
            </a:endParaRPr>
          </a:p>
          <a:p>
            <a:pPr lvl="1">
              <a:spcBef>
                <a:spcPts val="1350"/>
              </a:spcBef>
              <a:buClr>
                <a:schemeClr val="accent6"/>
              </a:buClr>
            </a:pPr>
            <a:r>
              <a:rPr lang="en-US" altLang="zh-CN" dirty="0">
                <a:latin typeface="+mj-ea"/>
                <a:ea typeface="+mj-ea"/>
                <a:cs typeface="Times New Roman" panose="02020603050405020304" pitchFamily="18" charset="0"/>
              </a:rPr>
              <a:t> </a:t>
            </a:r>
            <a:r>
              <a:rPr lang="zh-CN" altLang="en-US" dirty="0">
                <a:latin typeface="+mj-ea"/>
                <a:ea typeface="+mj-ea"/>
              </a:rPr>
              <a:t>测试驱动开发(</a:t>
            </a:r>
            <a:r>
              <a:rPr lang="en-US" altLang="zh-CN" dirty="0">
                <a:latin typeface="+mj-ea"/>
                <a:ea typeface="+mj-ea"/>
              </a:rPr>
              <a:t>Test-Driven Development)</a:t>
            </a:r>
            <a:endParaRPr lang="en-US" altLang="zh-CN" dirty="0">
              <a:latin typeface="+mj-ea"/>
              <a:ea typeface="+mj-ea"/>
            </a:endParaRPr>
          </a:p>
          <a:p>
            <a:pPr lvl="1">
              <a:spcBef>
                <a:spcPts val="1350"/>
              </a:spcBef>
              <a:buClr>
                <a:schemeClr val="accent6"/>
              </a:buClr>
            </a:pPr>
            <a:r>
              <a:rPr lang="en-US" altLang="zh-CN" dirty="0">
                <a:latin typeface="+mj-ea"/>
                <a:ea typeface="+mj-ea"/>
                <a:cs typeface="Times New Roman" panose="02020603050405020304" pitchFamily="18" charset="0"/>
              </a:rPr>
              <a:t> </a:t>
            </a:r>
            <a:r>
              <a:rPr lang="zh-CN" altLang="en-US" dirty="0">
                <a:latin typeface="+mj-ea"/>
                <a:ea typeface="+mj-ea"/>
              </a:rPr>
              <a:t>结对编程(</a:t>
            </a:r>
            <a:r>
              <a:rPr lang="en-US" altLang="zh-CN" dirty="0">
                <a:latin typeface="+mj-ea"/>
                <a:ea typeface="+mj-ea"/>
              </a:rPr>
              <a:t>Pair Programming)</a:t>
            </a:r>
            <a:endParaRPr lang="en-US" altLang="zh-CN" dirty="0">
              <a:latin typeface="+mj-ea"/>
              <a:ea typeface="+mj-ea"/>
            </a:endParaRPr>
          </a:p>
          <a:p>
            <a:pPr lvl="1">
              <a:spcBef>
                <a:spcPts val="1350"/>
              </a:spcBef>
              <a:buClr>
                <a:schemeClr val="accent6"/>
              </a:buClr>
            </a:pPr>
            <a:r>
              <a:rPr lang="en-US" altLang="zh-CN" dirty="0">
                <a:latin typeface="+mj-ea"/>
                <a:ea typeface="+mj-ea"/>
                <a:cs typeface="Times New Roman" panose="02020603050405020304" pitchFamily="18" charset="0"/>
              </a:rPr>
              <a:t> </a:t>
            </a:r>
            <a:r>
              <a:rPr lang="zh-CN" altLang="en-US" dirty="0">
                <a:latin typeface="+mj-ea"/>
                <a:ea typeface="+mj-ea"/>
              </a:rPr>
              <a:t>简单设计(</a:t>
            </a:r>
            <a:r>
              <a:rPr lang="en-US" altLang="zh-CN" dirty="0">
                <a:latin typeface="+mj-ea"/>
                <a:ea typeface="+mj-ea"/>
              </a:rPr>
              <a:t>Simple Design)</a:t>
            </a:r>
            <a:endParaRPr lang="en-US" altLang="zh-CN" dirty="0">
              <a:latin typeface="+mj-ea"/>
              <a:ea typeface="+mj-ea"/>
            </a:endParaRPr>
          </a:p>
          <a:p>
            <a:pPr lvl="1">
              <a:spcBef>
                <a:spcPts val="1350"/>
              </a:spcBef>
              <a:buClr>
                <a:schemeClr val="accent6"/>
              </a:buClr>
            </a:pPr>
            <a:r>
              <a:rPr lang="zh-CN" altLang="en-US" dirty="0">
                <a:latin typeface="+mj-ea"/>
                <a:ea typeface="+mj-ea"/>
              </a:rPr>
              <a:t> 重构(</a:t>
            </a:r>
            <a:r>
              <a:rPr lang="en-US" altLang="zh-CN" dirty="0">
                <a:latin typeface="+mj-ea"/>
                <a:ea typeface="+mj-ea"/>
              </a:rPr>
              <a:t>Refactoring/Design Improvement)</a:t>
            </a:r>
            <a:endParaRPr lang="en-US" altLang="zh-CN" dirty="0">
              <a:latin typeface="+mj-ea"/>
              <a:ea typeface="+mj-ea"/>
            </a:endParaRPr>
          </a:p>
          <a:p>
            <a:endParaRPr lang="zh-CN" altLang="en-US" dirty="0">
              <a:latin typeface="+mj-ea"/>
              <a:ea typeface="+mj-ea"/>
            </a:endParaRPr>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sp>
        <p:nvSpPr>
          <p:cNvPr id="5" name="日期占位符 4"/>
          <p:cNvSpPr>
            <a:spLocks noGrp="1"/>
          </p:cNvSpPr>
          <p:nvPr>
            <p:ph type="dt" sz="half" idx="10"/>
          </p:nvPr>
        </p:nvSpPr>
        <p:spPr/>
        <p:txBody>
          <a:bodyPr/>
          <a:lstStyle/>
          <a:p>
            <a:fld id="{84AD73C1-392C-4C14-A5BE-FA0498CB6A9D}" type="datetime1">
              <a:rPr lang="zh-CN" altLang="en-US" smtClean="0"/>
            </a:fld>
            <a:endParaRPr lang="zh-CN" altLang="en-US" dirty="0"/>
          </a:p>
        </p:txBody>
      </p:sp>
      <p:sp>
        <p:nvSpPr>
          <p:cNvPr id="6" name="页脚占位符 5"/>
          <p:cNvSpPr>
            <a:spLocks noGrp="1"/>
          </p:cNvSpPr>
          <p:nvPr>
            <p:ph type="ftr" sz="quarter" idx="11"/>
          </p:nvPr>
        </p:nvSpPr>
        <p:spPr/>
        <p:txBody>
          <a:bodyPr/>
          <a:lstStyle/>
          <a:p>
            <a:r>
              <a:rPr lang="zh-CN" altLang="en-US" smtClean="0"/>
              <a:t>软件工程</a:t>
            </a:r>
            <a:endParaRPr lang="zh-CN" altLang="en-US" dirty="0"/>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Autofit/>
          </a:bodyPr>
          <a:lstStyle/>
          <a:p>
            <a:pPr fontAlgn="auto">
              <a:spcBef>
                <a:spcPts val="200"/>
              </a:spcBef>
            </a:pPr>
            <a:r>
              <a:rPr lang="zh-CN" altLang="en-US" sz="2000" dirty="0">
                <a:solidFill>
                  <a:srgbClr val="FF0000"/>
                </a:solidFill>
                <a:latin typeface="华文楷体" panose="02010600040101010101" pitchFamily="2" charset="-122"/>
                <a:ea typeface="华文楷体" panose="02010600040101010101" pitchFamily="2" charset="-122"/>
              </a:rPr>
              <a:t>完整团队： </a:t>
            </a:r>
            <a:r>
              <a:rPr lang="en-US" altLang="zh-CN" sz="2000" dirty="0">
                <a:latin typeface="华文楷体" panose="02010600040101010101" pitchFamily="2" charset="-122"/>
                <a:ea typeface="华文楷体" panose="02010600040101010101" pitchFamily="2" charset="-122"/>
              </a:rPr>
              <a:t>XP</a:t>
            </a:r>
            <a:r>
              <a:rPr lang="zh-CN" altLang="en-US" sz="2000" dirty="0">
                <a:latin typeface="华文楷体" panose="02010600040101010101" pitchFamily="2" charset="-122"/>
                <a:ea typeface="华文楷体" panose="02010600040101010101" pitchFamily="2" charset="-122"/>
              </a:rPr>
              <a:t>项目的所有参与者（开发人员、客户、测试人员等）一起工作在一个开放的场所中，他们是同一个团队的成员。这个场所的墙壁上随意悬挂着大幅的、显著的图表以及其他一些显示他们进度的东西。 </a:t>
            </a:r>
            <a:endParaRPr lang="zh-CN" altLang="en-US" sz="2000" dirty="0">
              <a:latin typeface="华文楷体" panose="02010600040101010101" pitchFamily="2" charset="-122"/>
              <a:ea typeface="华文楷体" panose="02010600040101010101" pitchFamily="2" charset="-122"/>
            </a:endParaRPr>
          </a:p>
          <a:p>
            <a:pPr fontAlgn="auto">
              <a:spcBef>
                <a:spcPts val="200"/>
              </a:spcBef>
            </a:pPr>
            <a:r>
              <a:rPr lang="zh-CN" altLang="en-US" sz="2000" dirty="0">
                <a:solidFill>
                  <a:srgbClr val="FF0000"/>
                </a:solidFill>
                <a:latin typeface="华文楷体" panose="02010600040101010101" pitchFamily="2" charset="-122"/>
                <a:ea typeface="华文楷体" panose="02010600040101010101" pitchFamily="2" charset="-122"/>
              </a:rPr>
              <a:t>计划游戏： </a:t>
            </a:r>
            <a:r>
              <a:rPr lang="zh-CN" altLang="en-US" sz="2000" dirty="0">
                <a:latin typeface="华文楷体" panose="02010600040101010101" pitchFamily="2" charset="-122"/>
                <a:ea typeface="华文楷体" panose="02010600040101010101" pitchFamily="2" charset="-122"/>
              </a:rPr>
              <a:t>计划是持续的、循序渐进的。每</a:t>
            </a:r>
            <a:r>
              <a:rPr lang="en-US" altLang="zh-CN" sz="2000" dirty="0">
                <a:latin typeface="华文楷体" panose="02010600040101010101" pitchFamily="2" charset="-122"/>
                <a:ea typeface="华文楷体" panose="02010600040101010101" pitchFamily="2" charset="-122"/>
              </a:rPr>
              <a:t>2</a:t>
            </a:r>
            <a:r>
              <a:rPr lang="zh-CN" altLang="en-US" sz="2000" dirty="0">
                <a:latin typeface="华文楷体" panose="02010600040101010101" pitchFamily="2" charset="-122"/>
                <a:ea typeface="华文楷体" panose="02010600040101010101" pitchFamily="2" charset="-122"/>
              </a:rPr>
              <a:t>周，开发人员就为下</a:t>
            </a:r>
            <a:r>
              <a:rPr lang="en-US" altLang="zh-CN" sz="2000" dirty="0">
                <a:latin typeface="华文楷体" panose="02010600040101010101" pitchFamily="2" charset="-122"/>
                <a:ea typeface="华文楷体" panose="02010600040101010101" pitchFamily="2" charset="-122"/>
              </a:rPr>
              <a:t>2</a:t>
            </a:r>
            <a:r>
              <a:rPr lang="zh-CN" altLang="en-US" sz="2000" dirty="0">
                <a:latin typeface="华文楷体" panose="02010600040101010101" pitchFamily="2" charset="-122"/>
                <a:ea typeface="华文楷体" panose="02010600040101010101" pitchFamily="2" charset="-122"/>
              </a:rPr>
              <a:t>周估算候选特性的成本，而客户则根据成本和商务价值来选择要实现的特性。 </a:t>
            </a:r>
            <a:endParaRPr lang="zh-CN" altLang="en-US" sz="2000" dirty="0">
              <a:latin typeface="华文楷体" panose="02010600040101010101" pitchFamily="2" charset="-122"/>
              <a:ea typeface="华文楷体" panose="02010600040101010101" pitchFamily="2" charset="-122"/>
            </a:endParaRPr>
          </a:p>
          <a:p>
            <a:pPr fontAlgn="auto">
              <a:spcBef>
                <a:spcPts val="200"/>
              </a:spcBef>
            </a:pPr>
            <a:r>
              <a:rPr lang="zh-CN" altLang="en-US" sz="2000" dirty="0">
                <a:solidFill>
                  <a:srgbClr val="FF0000"/>
                </a:solidFill>
                <a:latin typeface="华文楷体" panose="02010600040101010101" pitchFamily="2" charset="-122"/>
                <a:ea typeface="华文楷体" panose="02010600040101010101" pitchFamily="2" charset="-122"/>
              </a:rPr>
              <a:t>客户测试： </a:t>
            </a:r>
            <a:r>
              <a:rPr lang="zh-CN" altLang="en-US" sz="2000" dirty="0">
                <a:latin typeface="华文楷体" panose="02010600040101010101" pitchFamily="2" charset="-122"/>
                <a:ea typeface="华文楷体" panose="02010600040101010101" pitchFamily="2" charset="-122"/>
              </a:rPr>
              <a:t>作为选择每个所期望的特性的一部分，客户可以根据脚本语言来定义出自动验收测试来表明该特性可以工作。 </a:t>
            </a:r>
            <a:endParaRPr lang="zh-CN" altLang="en-US" sz="2000" dirty="0">
              <a:latin typeface="华文楷体" panose="02010600040101010101" pitchFamily="2" charset="-122"/>
              <a:ea typeface="华文楷体" panose="02010600040101010101" pitchFamily="2" charset="-122"/>
            </a:endParaRPr>
          </a:p>
          <a:p>
            <a:pPr fontAlgn="auto">
              <a:spcBef>
                <a:spcPts val="200"/>
              </a:spcBef>
            </a:pPr>
            <a:r>
              <a:rPr lang="zh-CN" altLang="en-US" sz="2000" dirty="0">
                <a:solidFill>
                  <a:srgbClr val="FF0000"/>
                </a:solidFill>
                <a:latin typeface="华文楷体" panose="02010600040101010101" pitchFamily="2" charset="-122"/>
                <a:ea typeface="华文楷体" panose="02010600040101010101" pitchFamily="2" charset="-122"/>
              </a:rPr>
              <a:t>简单设计： </a:t>
            </a:r>
            <a:r>
              <a:rPr lang="zh-CN" altLang="en-US" sz="2000" dirty="0">
                <a:latin typeface="华文楷体" panose="02010600040101010101" pitchFamily="2" charset="-122"/>
                <a:ea typeface="华文楷体" panose="02010600040101010101" pitchFamily="2" charset="-122"/>
              </a:rPr>
              <a:t>团队保持设计恰好和当前的系统功能相匹配。它通过了所有的测试，不包含任何重复，表达出了编写者想表达的所有东西，并且包含尽可能少的代码。</a:t>
            </a:r>
            <a:endParaRPr lang="zh-CN" altLang="en-US" sz="2000" dirty="0">
              <a:latin typeface="华文楷体" panose="02010600040101010101" pitchFamily="2" charset="-122"/>
              <a:ea typeface="华文楷体" panose="02010600040101010101" pitchFamily="2" charset="-122"/>
            </a:endParaRPr>
          </a:p>
        </p:txBody>
      </p:sp>
      <p:sp>
        <p:nvSpPr>
          <p:cNvPr id="3" name="标题 2"/>
          <p:cNvSpPr>
            <a:spLocks noGrp="1"/>
          </p:cNvSpPr>
          <p:nvPr>
            <p:ph type="title"/>
          </p:nvPr>
        </p:nvSpPr>
        <p:spPr/>
        <p:txBody>
          <a:bodyPr/>
          <a:lstStyle/>
          <a:p>
            <a:r>
              <a:rPr lang="en-US" altLang="zh-CN" dirty="0"/>
              <a:t>12</a:t>
            </a:r>
            <a:r>
              <a:rPr lang="zh-CN" altLang="en-US" dirty="0"/>
              <a:t>条有效经验</a:t>
            </a:r>
            <a:endParaRPr lang="zh-CN" altLang="en-US"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90000" lnSpcReduction="20000"/>
          </a:bodyPr>
          <a:lstStyle/>
          <a:p>
            <a:pPr fontAlgn="auto">
              <a:spcBef>
                <a:spcPts val="0"/>
              </a:spcBef>
            </a:pPr>
            <a:r>
              <a:rPr lang="zh-CN" altLang="en-US" dirty="0">
                <a:solidFill>
                  <a:srgbClr val="FF0000"/>
                </a:solidFill>
                <a:latin typeface="华文楷体" panose="02010600040101010101" pitchFamily="2" charset="-122"/>
                <a:ea typeface="华文楷体" panose="02010600040101010101" pitchFamily="2" charset="-122"/>
              </a:rPr>
              <a:t>结对编程： </a:t>
            </a:r>
            <a:r>
              <a:rPr lang="zh-CN" altLang="en-US" sz="2400" dirty="0">
                <a:latin typeface="华文楷体" panose="02010600040101010101" pitchFamily="2" charset="-122"/>
                <a:ea typeface="华文楷体" panose="02010600040101010101" pitchFamily="2" charset="-122"/>
              </a:rPr>
              <a:t>所有的产品软件都是由两个程序员、并排坐在一起在同一台机器上构建的。</a:t>
            </a:r>
            <a:endParaRPr lang="en-US" altLang="zh-CN" sz="2400" dirty="0">
              <a:latin typeface="华文楷体" panose="02010600040101010101" pitchFamily="2" charset="-122"/>
              <a:ea typeface="华文楷体" panose="02010600040101010101" pitchFamily="2" charset="-122"/>
            </a:endParaRPr>
          </a:p>
          <a:p>
            <a:pPr fontAlgn="auto">
              <a:spcBef>
                <a:spcPts val="0"/>
              </a:spcBef>
            </a:pPr>
            <a:r>
              <a:rPr lang="zh-CN" altLang="en-US" dirty="0">
                <a:solidFill>
                  <a:srgbClr val="FF0000"/>
                </a:solidFill>
                <a:latin typeface="华文楷体" panose="02010600040101010101" pitchFamily="2" charset="-122"/>
                <a:ea typeface="华文楷体" panose="02010600040101010101" pitchFamily="2" charset="-122"/>
              </a:rPr>
              <a:t>测试驱动开发： </a:t>
            </a:r>
            <a:r>
              <a:rPr lang="zh-CN" altLang="en-US" sz="2400" dirty="0">
                <a:latin typeface="华文楷体" panose="02010600040101010101" pitchFamily="2" charset="-122"/>
                <a:ea typeface="华文楷体" panose="02010600040101010101" pitchFamily="2" charset="-122"/>
              </a:rPr>
              <a:t>编写单元测试是一个验证行为，更是一个设计行为。同样，它更是一种编写文档的行为。编写单元测试避免了相当数量的反馈循环，尤其是功功能能验证方面的反馈循环。程序员以非常短的循环周期工作，他们先增加一个失败的测试，然后使之通过。</a:t>
            </a:r>
            <a:endParaRPr lang="en-US" altLang="zh-CN" sz="2400" dirty="0">
              <a:latin typeface="华文楷体" panose="02010600040101010101" pitchFamily="2" charset="-122"/>
              <a:ea typeface="华文楷体" panose="02010600040101010101" pitchFamily="2" charset="-122"/>
            </a:endParaRPr>
          </a:p>
          <a:p>
            <a:pPr fontAlgn="auto">
              <a:spcBef>
                <a:spcPts val="0"/>
              </a:spcBef>
            </a:pPr>
            <a:r>
              <a:rPr lang="zh-CN" altLang="en-US" sz="2400" b="1" dirty="0">
                <a:solidFill>
                  <a:srgbClr val="FF0000"/>
                </a:solidFill>
                <a:latin typeface="华文楷体" panose="02010600040101010101" pitchFamily="2" charset="-122"/>
                <a:ea typeface="华文楷体" panose="02010600040101010101" pitchFamily="2" charset="-122"/>
              </a:rPr>
              <a:t>重构</a:t>
            </a:r>
            <a:r>
              <a:rPr lang="zh-CN" altLang="en-US" sz="2400" dirty="0">
                <a:solidFill>
                  <a:srgbClr val="FF0000"/>
                </a:solidFill>
                <a:latin typeface="华文楷体" panose="02010600040101010101" pitchFamily="2" charset="-122"/>
                <a:ea typeface="华文楷体" panose="02010600040101010101" pitchFamily="2" charset="-122"/>
              </a:rPr>
              <a:t>：</a:t>
            </a:r>
            <a:r>
              <a:rPr lang="zh-CN" altLang="en-US" sz="2400" dirty="0">
                <a:latin typeface="华文楷体" panose="02010600040101010101" pitchFamily="2" charset="-122"/>
                <a:ea typeface="华文楷体" panose="02010600040101010101" pitchFamily="2" charset="-122"/>
              </a:rPr>
              <a:t>随时利用重构方法改进已经腐化的代码，保持代码尽可能的干净、具有表达力。 </a:t>
            </a:r>
            <a:endParaRPr lang="zh-CN" altLang="en-US" sz="2400" dirty="0">
              <a:latin typeface="华文楷体" panose="02010600040101010101" pitchFamily="2" charset="-122"/>
              <a:ea typeface="华文楷体" panose="02010600040101010101" pitchFamily="2" charset="-122"/>
            </a:endParaRPr>
          </a:p>
          <a:p>
            <a:pPr fontAlgn="auto">
              <a:spcBef>
                <a:spcPts val="0"/>
              </a:spcBef>
            </a:pPr>
            <a:r>
              <a:rPr lang="zh-CN" altLang="en-US" sz="2400" b="1" dirty="0">
                <a:solidFill>
                  <a:srgbClr val="FF0000"/>
                </a:solidFill>
                <a:latin typeface="华文楷体" panose="02010600040101010101" pitchFamily="2" charset="-122"/>
                <a:ea typeface="华文楷体" panose="02010600040101010101" pitchFamily="2" charset="-122"/>
              </a:rPr>
              <a:t>持续集成</a:t>
            </a:r>
            <a:r>
              <a:rPr lang="zh-CN" altLang="en-US" sz="2400" dirty="0">
                <a:solidFill>
                  <a:srgbClr val="FF0000"/>
                </a:solidFill>
                <a:latin typeface="华文楷体" panose="02010600040101010101" pitchFamily="2" charset="-122"/>
                <a:ea typeface="华文楷体" panose="02010600040101010101" pitchFamily="2" charset="-122"/>
              </a:rPr>
              <a:t> ：</a:t>
            </a:r>
            <a:r>
              <a:rPr lang="zh-CN" altLang="en-US" sz="2400" dirty="0">
                <a:latin typeface="华文楷体" panose="02010600040101010101" pitchFamily="2" charset="-122"/>
                <a:ea typeface="华文楷体" panose="02010600040101010101" pitchFamily="2" charset="-122"/>
              </a:rPr>
              <a:t>团队总是使系统完整地被集成。一个人拆入（</a:t>
            </a:r>
            <a:r>
              <a:rPr lang="en-US" altLang="zh-CN" sz="2400" dirty="0">
                <a:latin typeface="华文楷体" panose="02010600040101010101" pitchFamily="2" charset="-122"/>
                <a:ea typeface="华文楷体" panose="02010600040101010101" pitchFamily="2" charset="-122"/>
              </a:rPr>
              <a:t>Check in</a:t>
            </a:r>
            <a:r>
              <a:rPr lang="zh-CN" altLang="en-US" sz="2400" dirty="0">
                <a:latin typeface="华文楷体" panose="02010600040101010101" pitchFamily="2" charset="-122"/>
                <a:ea typeface="华文楷体" panose="02010600040101010101" pitchFamily="2" charset="-122"/>
              </a:rPr>
              <a:t>）后，其它所有人责任代码集成。</a:t>
            </a:r>
            <a:endParaRPr lang="zh-CN" altLang="en-US" sz="2400" dirty="0">
              <a:latin typeface="华文楷体" panose="02010600040101010101" pitchFamily="2" charset="-122"/>
              <a:ea typeface="华文楷体" panose="02010600040101010101" pitchFamily="2" charset="-122"/>
            </a:endParaRPr>
          </a:p>
        </p:txBody>
      </p:sp>
      <p:sp>
        <p:nvSpPr>
          <p:cNvPr id="3" name="标题 2"/>
          <p:cNvSpPr>
            <a:spLocks noGrp="1"/>
          </p:cNvSpPr>
          <p:nvPr>
            <p:ph type="title"/>
          </p:nvPr>
        </p:nvSpPr>
        <p:spPr/>
        <p:txBody>
          <a:bodyPr/>
          <a:lstStyle/>
          <a:p>
            <a:r>
              <a:rPr lang="en-US" altLang="zh-CN" dirty="0"/>
              <a:t>12</a:t>
            </a:r>
            <a:r>
              <a:rPr lang="zh-CN" altLang="en-US" dirty="0"/>
              <a:t>条有效经验</a:t>
            </a:r>
            <a:endParaRPr lang="zh-CN" altLang="en-US"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normAutofit fontScale="75000" lnSpcReduction="20000"/>
          </a:bodyPr>
          <a:lstStyle/>
          <a:p>
            <a:pPr fontAlgn="auto">
              <a:spcBef>
                <a:spcPts val="0"/>
              </a:spcBef>
            </a:pPr>
            <a:r>
              <a:rPr lang="zh-CN" altLang="en-US" dirty="0">
                <a:solidFill>
                  <a:srgbClr val="FF0000"/>
                </a:solidFill>
                <a:latin typeface="华文楷体" panose="02010600040101010101" pitchFamily="2" charset="-122"/>
                <a:ea typeface="华文楷体" panose="02010600040101010101" pitchFamily="2" charset="-122"/>
              </a:rPr>
              <a:t>集体代码所有权： </a:t>
            </a:r>
            <a:r>
              <a:rPr lang="zh-CN" altLang="en-US" dirty="0">
                <a:latin typeface="华文楷体" panose="02010600040101010101" pitchFamily="2" charset="-122"/>
                <a:ea typeface="华文楷体" panose="02010600040101010101" pitchFamily="2" charset="-122"/>
              </a:rPr>
              <a:t>任何结对的程序员都可以在任何时候改进任何代码。没有程序员对任何一个特定的模块或技术单独负责，每个人都可以参与任何其它方面的开发。 </a:t>
            </a:r>
            <a:endParaRPr lang="zh-CN" altLang="en-US" dirty="0">
              <a:latin typeface="华文楷体" panose="02010600040101010101" pitchFamily="2" charset="-122"/>
              <a:ea typeface="华文楷体" panose="02010600040101010101" pitchFamily="2" charset="-122"/>
            </a:endParaRPr>
          </a:p>
          <a:p>
            <a:pPr fontAlgn="auto">
              <a:spcBef>
                <a:spcPts val="0"/>
              </a:spcBef>
            </a:pPr>
            <a:r>
              <a:rPr lang="zh-CN" altLang="en-US" dirty="0">
                <a:solidFill>
                  <a:srgbClr val="FF0000"/>
                </a:solidFill>
                <a:latin typeface="华文楷体" panose="02010600040101010101" pitchFamily="2" charset="-122"/>
                <a:ea typeface="华文楷体" panose="02010600040101010101" pitchFamily="2" charset="-122"/>
              </a:rPr>
              <a:t>编码标准： </a:t>
            </a:r>
            <a:r>
              <a:rPr lang="zh-CN" altLang="en-US" dirty="0">
                <a:latin typeface="华文楷体" panose="02010600040101010101" pitchFamily="2" charset="-122"/>
                <a:ea typeface="华文楷体" panose="02010600040101010101" pitchFamily="2" charset="-122"/>
              </a:rPr>
              <a:t>系统中所有的代码看起来就好像是被单独一人编写的。 </a:t>
            </a:r>
            <a:endParaRPr lang="zh-CN" altLang="en-US" dirty="0">
              <a:latin typeface="华文楷体" panose="02010600040101010101" pitchFamily="2" charset="-122"/>
              <a:ea typeface="华文楷体" panose="02010600040101010101" pitchFamily="2" charset="-122"/>
            </a:endParaRPr>
          </a:p>
          <a:p>
            <a:pPr fontAlgn="auto">
              <a:spcBef>
                <a:spcPts val="0"/>
              </a:spcBef>
            </a:pPr>
            <a:r>
              <a:rPr lang="zh-CN" altLang="en-US" dirty="0">
                <a:solidFill>
                  <a:srgbClr val="FF0000"/>
                </a:solidFill>
                <a:latin typeface="华文楷体" panose="02010600040101010101" pitchFamily="2" charset="-122"/>
                <a:ea typeface="华文楷体" panose="02010600040101010101" pitchFamily="2" charset="-122"/>
              </a:rPr>
              <a:t>隐喻：</a:t>
            </a:r>
            <a:r>
              <a:rPr lang="zh-CN" altLang="en-US" dirty="0">
                <a:latin typeface="华文楷体" panose="02010600040101010101" pitchFamily="2" charset="-122"/>
                <a:ea typeface="华文楷体" panose="02010600040101010101" pitchFamily="2" charset="-122"/>
              </a:rPr>
              <a:t> 将整个系统联系在一起的全局视图；它是系统的未来影像，是它使得所有单独模块的位置和外观变得明显直观。如果模块的外观与整个隐喻不符，那么你就知道该模块是错误的。 </a:t>
            </a:r>
            <a:endParaRPr lang="zh-CN" altLang="en-US" dirty="0">
              <a:latin typeface="华文楷体" panose="02010600040101010101" pitchFamily="2" charset="-122"/>
              <a:ea typeface="华文楷体" panose="02010600040101010101" pitchFamily="2" charset="-122"/>
            </a:endParaRPr>
          </a:p>
          <a:p>
            <a:pPr fontAlgn="auto">
              <a:spcBef>
                <a:spcPts val="0"/>
              </a:spcBef>
            </a:pPr>
            <a:r>
              <a:rPr lang="zh-CN" altLang="en-US" dirty="0">
                <a:solidFill>
                  <a:srgbClr val="FF0000"/>
                </a:solidFill>
                <a:latin typeface="华文楷体" panose="02010600040101010101" pitchFamily="2" charset="-122"/>
                <a:ea typeface="华文楷体" panose="02010600040101010101" pitchFamily="2" charset="-122"/>
              </a:rPr>
              <a:t>可持续的速度： </a:t>
            </a:r>
            <a:r>
              <a:rPr lang="zh-CN" altLang="en-US" dirty="0">
                <a:latin typeface="华文楷体" panose="02010600040101010101" pitchFamily="2" charset="-122"/>
                <a:ea typeface="华文楷体" panose="02010600040101010101" pitchFamily="2" charset="-122"/>
              </a:rPr>
              <a:t>团队只有持久才有获胜的希望。他们以能够长期维持的速度努力工作，他们保存精力，他们把项目看作是马拉松长跑，而不是全速短跑。</a:t>
            </a:r>
            <a:endParaRPr lang="zh-CN" altLang="en-US" dirty="0">
              <a:latin typeface="华文楷体" panose="02010600040101010101" pitchFamily="2" charset="-122"/>
              <a:ea typeface="华文楷体" panose="02010600040101010101" pitchFamily="2" charset="-122"/>
            </a:endParaRPr>
          </a:p>
        </p:txBody>
      </p:sp>
      <p:sp>
        <p:nvSpPr>
          <p:cNvPr id="3" name="标题 2"/>
          <p:cNvSpPr>
            <a:spLocks noGrp="1"/>
          </p:cNvSpPr>
          <p:nvPr>
            <p:ph type="title"/>
          </p:nvPr>
        </p:nvSpPr>
        <p:spPr/>
        <p:txBody>
          <a:bodyPr/>
          <a:lstStyle/>
          <a:p>
            <a:r>
              <a:rPr lang="en-US" altLang="zh-CN" dirty="0"/>
              <a:t>12</a:t>
            </a:r>
            <a:r>
              <a:rPr lang="zh-CN" altLang="en-US" dirty="0"/>
              <a:t>条有效经验</a:t>
            </a:r>
            <a:endParaRPr lang="zh-CN" alt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4" name="灯片编号占位符 3"/>
          <p:cNvSpPr>
            <a:spLocks noGrp="1"/>
          </p:cNvSpPr>
          <p:nvPr>
            <p:ph type="sldNum" sz="quarter" idx="12"/>
          </p:nvPr>
        </p:nvSpPr>
        <p:spPr/>
        <p:txBody>
          <a:bodyPr/>
          <a:lstStyle/>
          <a:p>
            <a:fld id="{AEC086C4-BB49-4EC5-803C-DF6C099D78ED}" type="slidenum">
              <a:rPr lang="ko-KR" altLang="en-US" smtClean="0"/>
            </a:fld>
            <a:endParaRPr lang="en-US" altLang="ko-KR"/>
          </a:p>
        </p:txBody>
      </p:sp>
      <p:pic>
        <p:nvPicPr>
          <p:cNvPr id="5" name="图片 4"/>
          <p:cNvPicPr>
            <a:picLocks noChangeAspect="1"/>
          </p:cNvPicPr>
          <p:nvPr/>
        </p:nvPicPr>
        <p:blipFill>
          <a:blip r:embed="rId1"/>
          <a:stretch>
            <a:fillRect/>
          </a:stretch>
        </p:blipFill>
        <p:spPr>
          <a:xfrm>
            <a:off x="1223628" y="62322"/>
            <a:ext cx="6665119" cy="2436019"/>
          </a:xfrm>
          <a:prstGeom prst="rect">
            <a:avLst/>
          </a:prstGeom>
        </p:spPr>
      </p:pic>
      <p:pic>
        <p:nvPicPr>
          <p:cNvPr id="6" name="内容占位符 5"/>
          <p:cNvPicPr>
            <a:picLocks noGrp="1" noChangeAspect="1"/>
          </p:cNvPicPr>
          <p:nvPr>
            <p:ph idx="1"/>
          </p:nvPr>
        </p:nvPicPr>
        <p:blipFill>
          <a:blip r:embed="rId2"/>
          <a:stretch>
            <a:fillRect/>
          </a:stretch>
        </p:blipFill>
        <p:spPr>
          <a:xfrm>
            <a:off x="1277635" y="1086259"/>
            <a:ext cx="5446358" cy="3805238"/>
          </a:xfrm>
          <a:prstGeom prst="rect">
            <a:avLst/>
          </a:prstGeom>
        </p:spPr>
      </p:pic>
      <p:pic>
        <p:nvPicPr>
          <p:cNvPr id="7" name="图片 6"/>
          <p:cNvPicPr>
            <a:picLocks noChangeAspect="1"/>
          </p:cNvPicPr>
          <p:nvPr/>
        </p:nvPicPr>
        <p:blipFill>
          <a:blip r:embed="rId3"/>
          <a:stretch>
            <a:fillRect/>
          </a:stretch>
        </p:blipFill>
        <p:spPr>
          <a:xfrm>
            <a:off x="1370075" y="387177"/>
            <a:ext cx="6372225" cy="4371975"/>
          </a:xfrm>
          <a:prstGeom prst="rect">
            <a:avLst/>
          </a:prstGeom>
        </p:spPr>
      </p:pic>
      <p:pic>
        <p:nvPicPr>
          <p:cNvPr id="8" name="图片 7"/>
          <p:cNvPicPr>
            <a:picLocks noChangeAspect="1"/>
          </p:cNvPicPr>
          <p:nvPr/>
        </p:nvPicPr>
        <p:blipFill>
          <a:blip r:embed="rId4"/>
          <a:stretch>
            <a:fillRect/>
          </a:stretch>
        </p:blipFill>
        <p:spPr>
          <a:xfrm>
            <a:off x="213893" y="828913"/>
            <a:ext cx="8684588" cy="3846130"/>
          </a:xfrm>
          <a:prstGeom prst="rect">
            <a:avLst/>
          </a:prstGeom>
        </p:spPr>
      </p:pic>
      <p:sp>
        <p:nvSpPr>
          <p:cNvPr id="3" name="日期占位符 2"/>
          <p:cNvSpPr>
            <a:spLocks noGrp="1"/>
          </p:cNvSpPr>
          <p:nvPr>
            <p:ph type="dt" sz="half" idx="10"/>
          </p:nvPr>
        </p:nvSpPr>
        <p:spPr/>
        <p:txBody>
          <a:bodyPr/>
          <a:lstStyle/>
          <a:p>
            <a:fld id="{2E78156C-6B1C-419D-988C-D79E72F09D14}" type="datetime1">
              <a:rPr lang="zh-CN" altLang="en-US" smtClean="0"/>
            </a:fld>
            <a:endParaRPr lang="zh-CN" altLang="en-US" dirty="0"/>
          </a:p>
        </p:txBody>
      </p:sp>
      <p:sp>
        <p:nvSpPr>
          <p:cNvPr id="9" name="页脚占位符 8"/>
          <p:cNvSpPr>
            <a:spLocks noGrp="1"/>
          </p:cNvSpPr>
          <p:nvPr>
            <p:ph type="ftr" sz="quarter" idx="11"/>
          </p:nvPr>
        </p:nvSpPr>
        <p:spPr/>
        <p:txBody>
          <a:bodyPr/>
          <a:lstStyle/>
          <a:p>
            <a:r>
              <a:rPr lang="zh-CN" altLang="en-US"/>
              <a:t>软件工程</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up)">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dirty="0">
                <a:latin typeface="微软雅黑" panose="020B0503020204020204" pitchFamily="34" charset="-122"/>
                <a:ea typeface="微软雅黑" panose="020B0503020204020204" pitchFamily="34" charset="-122"/>
                <a:sym typeface="+mn-ea"/>
              </a:rPr>
              <a:t>几种过程模型</a:t>
            </a:r>
            <a:r>
              <a:rPr lang="zh-CN" altLang="en-US" dirty="0" smtClean="0">
                <a:latin typeface="微软雅黑" panose="020B0503020204020204" pitchFamily="34" charset="-122"/>
                <a:ea typeface="微软雅黑" panose="020B0503020204020204" pitchFamily="34" charset="-122"/>
                <a:sym typeface="+mn-ea"/>
              </a:rPr>
              <a:t>的对比</a:t>
            </a:r>
            <a:endParaRPr lang="zh-CN" altLang="en-US"/>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graphicFrame>
        <p:nvGraphicFramePr>
          <p:cNvPr id="7" name="内容占位符 6"/>
          <p:cNvGraphicFramePr>
            <a:graphicFrameLocks noGrp="1"/>
          </p:cNvGraphicFramePr>
          <p:nvPr>
            <p:ph sz="half" idx="2"/>
            <p:custDataLst>
              <p:tags r:id="rId1"/>
            </p:custDataLst>
          </p:nvPr>
        </p:nvGraphicFramePr>
        <p:xfrm>
          <a:off x="180340" y="1484630"/>
          <a:ext cx="8783955" cy="2920365"/>
        </p:xfrm>
        <a:graphic>
          <a:graphicData uri="http://schemas.openxmlformats.org/drawingml/2006/table">
            <a:tbl>
              <a:tblPr firstRow="1">
                <a:tableStyleId>{BC68953D-F93C-4FE1-B9FD-C6D41156F62D}</a:tableStyleId>
              </a:tblPr>
              <a:tblGrid>
                <a:gridCol w="618490"/>
                <a:gridCol w="1507490"/>
                <a:gridCol w="2616835"/>
                <a:gridCol w="1854200"/>
                <a:gridCol w="2186940"/>
              </a:tblGrid>
              <a:tr h="431165">
                <a:tc>
                  <a:txBody>
                    <a:bodyPr/>
                    <a:p>
                      <a:pPr algn="ctr" fontAlgn="base">
                        <a:spcAft>
                          <a:spcPts val="0"/>
                        </a:spcAft>
                      </a:pPr>
                      <a:r>
                        <a:rPr lang="zh-CN" sz="1200" b="1" kern="1200">
                          <a:solidFill>
                            <a:schemeClr val="bg1"/>
                          </a:solidFill>
                          <a:effectLst/>
                          <a:latin typeface="微软雅黑" panose="020B0503020204020204" pitchFamily="34" charset="-122"/>
                          <a:ea typeface="微软雅黑" panose="020B0503020204020204" pitchFamily="34" charset="-122"/>
                        </a:rPr>
                        <a:t>序号</a:t>
                      </a:r>
                      <a:endParaRPr lang="zh-CN" sz="1200" b="1" kern="1200">
                        <a:solidFill>
                          <a:schemeClr val="bg1"/>
                        </a:solidFill>
                        <a:effectLst/>
                        <a:latin typeface="微软雅黑" panose="020B0503020204020204" pitchFamily="34" charset="-122"/>
                        <a:ea typeface="微软雅黑" panose="020B0503020204020204" pitchFamily="34" charset="-122"/>
                      </a:endParaRPr>
                    </a:p>
                  </a:txBody>
                  <a:tcPr marL="111844" marR="111844" marT="55922" marB="55922" anchor="ctr" anchorCtr="0">
                    <a:solidFill>
                      <a:schemeClr val="accent2"/>
                    </a:solidFill>
                  </a:tcPr>
                </a:tc>
                <a:tc>
                  <a:txBody>
                    <a:bodyPr/>
                    <a:p>
                      <a:pPr algn="ctr" fontAlgn="base">
                        <a:spcAft>
                          <a:spcPts val="0"/>
                        </a:spcAft>
                      </a:pPr>
                      <a:r>
                        <a:rPr lang="zh-CN" sz="1200" b="1" kern="1200">
                          <a:solidFill>
                            <a:schemeClr val="bg1"/>
                          </a:solidFill>
                          <a:effectLst/>
                          <a:latin typeface="微软雅黑" panose="020B0503020204020204" pitchFamily="34" charset="-122"/>
                          <a:ea typeface="微软雅黑" panose="020B0503020204020204" pitchFamily="34" charset="-122"/>
                        </a:rPr>
                        <a:t>模型名称</a:t>
                      </a:r>
                      <a:endParaRPr lang="zh-CN" sz="1200" b="1" kern="1200">
                        <a:solidFill>
                          <a:schemeClr val="bg1"/>
                        </a:solidFill>
                        <a:effectLst/>
                        <a:latin typeface="微软雅黑" panose="020B0503020204020204" pitchFamily="34" charset="-122"/>
                        <a:ea typeface="微软雅黑" panose="020B0503020204020204" pitchFamily="34" charset="-122"/>
                      </a:endParaRPr>
                    </a:p>
                  </a:txBody>
                  <a:tcPr marL="111844" marR="111844" marT="55922" marB="55922" anchor="ctr" anchorCtr="0">
                    <a:solidFill>
                      <a:schemeClr val="accent2"/>
                    </a:solidFill>
                  </a:tcPr>
                </a:tc>
                <a:tc>
                  <a:txBody>
                    <a:bodyPr/>
                    <a:p>
                      <a:pPr algn="ctr" fontAlgn="base">
                        <a:spcAft>
                          <a:spcPts val="0"/>
                        </a:spcAft>
                      </a:pPr>
                      <a:r>
                        <a:rPr lang="zh-CN" sz="1200" b="1" kern="1200">
                          <a:solidFill>
                            <a:schemeClr val="bg1"/>
                          </a:solidFill>
                          <a:effectLst/>
                          <a:latin typeface="微软雅黑" panose="020B0503020204020204" pitchFamily="34" charset="-122"/>
                          <a:ea typeface="微软雅黑" panose="020B0503020204020204" pitchFamily="34" charset="-122"/>
                        </a:rPr>
                        <a:t>优点</a:t>
                      </a:r>
                      <a:endParaRPr lang="zh-CN" sz="1200" b="1" kern="1200">
                        <a:solidFill>
                          <a:schemeClr val="bg1"/>
                        </a:solidFill>
                        <a:effectLst/>
                        <a:latin typeface="微软雅黑" panose="020B0503020204020204" pitchFamily="34" charset="-122"/>
                        <a:ea typeface="微软雅黑" panose="020B0503020204020204" pitchFamily="34" charset="-122"/>
                      </a:endParaRPr>
                    </a:p>
                  </a:txBody>
                  <a:tcPr marL="111844" marR="111844" marT="55922" marB="55922" anchor="ctr" anchorCtr="0">
                    <a:solidFill>
                      <a:schemeClr val="accent2"/>
                    </a:solidFill>
                  </a:tcPr>
                </a:tc>
                <a:tc>
                  <a:txBody>
                    <a:bodyPr/>
                    <a:p>
                      <a:pPr algn="ctr" fontAlgn="base">
                        <a:spcAft>
                          <a:spcPts val="0"/>
                        </a:spcAft>
                      </a:pPr>
                      <a:r>
                        <a:rPr lang="zh-CN" sz="1200" b="1" kern="1200">
                          <a:solidFill>
                            <a:schemeClr val="bg1"/>
                          </a:solidFill>
                          <a:effectLst/>
                          <a:latin typeface="微软雅黑" panose="020B0503020204020204" pitchFamily="34" charset="-122"/>
                          <a:ea typeface="微软雅黑" panose="020B0503020204020204" pitchFamily="34" charset="-122"/>
                        </a:rPr>
                        <a:t>缺点</a:t>
                      </a:r>
                      <a:endParaRPr lang="zh-CN" sz="1200" b="1" kern="1200">
                        <a:solidFill>
                          <a:schemeClr val="bg1"/>
                        </a:solidFill>
                        <a:effectLst/>
                        <a:latin typeface="微软雅黑" panose="020B0503020204020204" pitchFamily="34" charset="-122"/>
                        <a:ea typeface="微软雅黑" panose="020B0503020204020204" pitchFamily="34" charset="-122"/>
                      </a:endParaRPr>
                    </a:p>
                  </a:txBody>
                  <a:tcPr marL="111844" marR="111844" marT="55922" marB="55922" anchor="ctr" anchorCtr="0">
                    <a:solidFill>
                      <a:schemeClr val="accent2"/>
                    </a:solidFill>
                  </a:tcPr>
                </a:tc>
                <a:tc>
                  <a:txBody>
                    <a:bodyPr/>
                    <a:p>
                      <a:pPr algn="ctr" fontAlgn="base">
                        <a:spcAft>
                          <a:spcPts val="0"/>
                        </a:spcAft>
                      </a:pPr>
                      <a:r>
                        <a:rPr lang="zh-CN" sz="1200" b="1" kern="1200">
                          <a:solidFill>
                            <a:schemeClr val="bg1"/>
                          </a:solidFill>
                          <a:effectLst/>
                          <a:latin typeface="微软雅黑" panose="020B0503020204020204" pitchFamily="34" charset="-122"/>
                          <a:ea typeface="微软雅黑" panose="020B0503020204020204" pitchFamily="34" charset="-122"/>
                        </a:rPr>
                        <a:t>适用范围</a:t>
                      </a:r>
                      <a:endParaRPr lang="zh-CN" sz="1200" b="1" kern="1200">
                        <a:solidFill>
                          <a:schemeClr val="bg1"/>
                        </a:solidFill>
                        <a:effectLst/>
                        <a:latin typeface="微软雅黑" panose="020B0503020204020204" pitchFamily="34" charset="-122"/>
                        <a:ea typeface="微软雅黑" panose="020B0503020204020204" pitchFamily="34" charset="-122"/>
                      </a:endParaRPr>
                    </a:p>
                  </a:txBody>
                  <a:tcPr marL="111844" marR="111844" marT="55922" marB="55922" anchor="ctr" anchorCtr="0">
                    <a:solidFill>
                      <a:schemeClr val="accent2"/>
                    </a:solidFill>
                  </a:tcPr>
                </a:tc>
              </a:tr>
              <a:tr h="294640">
                <a:tc>
                  <a:txBody>
                    <a:bodyPr/>
                    <a:p>
                      <a:pPr algn="ctr" fontAlgn="base">
                        <a:spcAft>
                          <a:spcPts val="0"/>
                        </a:spcAft>
                      </a:pPr>
                      <a:r>
                        <a:rPr lang="en-US" sz="1400" kern="1200">
                          <a:effectLst/>
                          <a:latin typeface="微软雅黑" panose="020B0503020204020204" pitchFamily="34" charset="-122"/>
                          <a:ea typeface="微软雅黑" panose="020B0503020204020204" pitchFamily="34" charset="-122"/>
                        </a:rPr>
                        <a:t>1</a:t>
                      </a:r>
                      <a:endParaRPr lang="en-US"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ctr" fontAlgn="base">
                        <a:spcAft>
                          <a:spcPts val="0"/>
                        </a:spcAft>
                      </a:pPr>
                      <a:r>
                        <a:rPr lang="zh-CN" sz="1400" kern="1200">
                          <a:effectLst/>
                          <a:latin typeface="微软雅黑" panose="020B0503020204020204" pitchFamily="34" charset="-122"/>
                          <a:ea typeface="微软雅黑" panose="020B0503020204020204" pitchFamily="34" charset="-122"/>
                        </a:rPr>
                        <a:t>瀑布模型</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l" fontAlgn="base">
                        <a:spcAft>
                          <a:spcPts val="0"/>
                        </a:spcAft>
                      </a:pPr>
                      <a:r>
                        <a:rPr lang="en-US" sz="1400" kern="1200">
                          <a:effectLst/>
                          <a:latin typeface="微软雅黑" panose="020B0503020204020204" pitchFamily="34" charset="-122"/>
                          <a:ea typeface="微软雅黑" panose="020B0503020204020204" pitchFamily="34" charset="-122"/>
                          <a:cs typeface="微软雅黑" panose="020B0503020204020204" pitchFamily="34" charset="-122"/>
                        </a:rPr>
                        <a:t> </a:t>
                      </a:r>
                      <a:r>
                        <a:rPr lang="zh-CN" sz="1400" kern="1200">
                          <a:effectLst/>
                          <a:latin typeface="微软雅黑" panose="020B0503020204020204" pitchFamily="34" charset="-122"/>
                          <a:ea typeface="微软雅黑" panose="020B0503020204020204" pitchFamily="34" charset="-122"/>
                          <a:cs typeface="微软雅黑" panose="020B0503020204020204" pitchFamily="34" charset="-122"/>
                        </a:rPr>
                        <a:t>简单好学</a:t>
                      </a:r>
                      <a:endParaRPr lang="zh-CN" sz="1400" kern="120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111844" marR="111844" marT="55922" marB="55922" anchor="ctr" anchorCtr="0"/>
                </a:tc>
                <a:tc>
                  <a:txBody>
                    <a:bodyPr/>
                    <a:p>
                      <a:pPr algn="l" fontAlgn="base">
                        <a:spcAft>
                          <a:spcPts val="0"/>
                        </a:spcAft>
                      </a:pPr>
                      <a:r>
                        <a:rPr lang="zh-CN" sz="1400" kern="1200">
                          <a:effectLst/>
                          <a:latin typeface="微软雅黑" panose="020B0503020204020204" pitchFamily="34" charset="-122"/>
                          <a:ea typeface="微软雅黑" panose="020B0503020204020204" pitchFamily="34" charset="-122"/>
                        </a:rPr>
                        <a:t>逆转性差</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l" fontAlgn="base">
                        <a:spcAft>
                          <a:spcPts val="0"/>
                        </a:spcAft>
                      </a:pPr>
                      <a:r>
                        <a:rPr lang="zh-CN" sz="1400" kern="1200">
                          <a:effectLst/>
                          <a:latin typeface="微软雅黑" panose="020B0503020204020204" pitchFamily="34" charset="-122"/>
                          <a:ea typeface="微软雅黑" panose="020B0503020204020204" pitchFamily="34" charset="-122"/>
                        </a:rPr>
                        <a:t>需求不发生或变化</a:t>
                      </a:r>
                      <a:r>
                        <a:rPr lang="zh-CN" sz="1400">
                          <a:effectLst/>
                          <a:latin typeface="微软雅黑" panose="020B0503020204020204" pitchFamily="34" charset="-122"/>
                          <a:ea typeface="微软雅黑" panose="020B0503020204020204" pitchFamily="34" charset="-122"/>
                          <a:sym typeface="+mn-ea"/>
                        </a:rPr>
                        <a:t>很小</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r>
              <a:tr h="294640">
                <a:tc>
                  <a:txBody>
                    <a:bodyPr/>
                    <a:p>
                      <a:pPr algn="ctr" fontAlgn="base">
                        <a:spcAft>
                          <a:spcPts val="0"/>
                        </a:spcAft>
                      </a:pPr>
                      <a:r>
                        <a:rPr lang="en-US" sz="1400" kern="1200">
                          <a:effectLst/>
                          <a:latin typeface="微软雅黑" panose="020B0503020204020204" pitchFamily="34" charset="-122"/>
                          <a:ea typeface="微软雅黑" panose="020B0503020204020204" pitchFamily="34" charset="-122"/>
                        </a:rPr>
                        <a:t>2</a:t>
                      </a:r>
                      <a:endParaRPr lang="en-US"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ctr" fontAlgn="base">
                        <a:spcAft>
                          <a:spcPts val="0"/>
                        </a:spcAft>
                      </a:pPr>
                      <a:r>
                        <a:rPr lang="zh-CN" sz="1400" kern="1200">
                          <a:effectLst/>
                          <a:latin typeface="微软雅黑" panose="020B0503020204020204" pitchFamily="34" charset="-122"/>
                          <a:ea typeface="微软雅黑" panose="020B0503020204020204" pitchFamily="34" charset="-122"/>
                        </a:rPr>
                        <a:t>快速原型模型</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l" fontAlgn="base">
                        <a:spcAft>
                          <a:spcPts val="0"/>
                        </a:spcAft>
                      </a:pPr>
                      <a:r>
                        <a:rPr lang="en-US" sz="1400" kern="1200">
                          <a:effectLst/>
                          <a:latin typeface="微软雅黑" panose="020B0503020204020204" pitchFamily="34" charset="-122"/>
                          <a:ea typeface="微软雅黑" panose="020B0503020204020204" pitchFamily="34" charset="-122"/>
                          <a:cs typeface="微软雅黑" panose="020B0503020204020204" pitchFamily="34" charset="-122"/>
                        </a:rPr>
                        <a:t> </a:t>
                      </a:r>
                      <a:r>
                        <a:rPr lang="zh-CN" sz="1400" kern="1200">
                          <a:effectLst/>
                          <a:latin typeface="微软雅黑" panose="020B0503020204020204" pitchFamily="34" charset="-122"/>
                          <a:ea typeface="微软雅黑" panose="020B0503020204020204" pitchFamily="34" charset="-122"/>
                          <a:cs typeface="微软雅黑" panose="020B0503020204020204" pitchFamily="34" charset="-122"/>
                        </a:rPr>
                        <a:t>开发速度快</a:t>
                      </a:r>
                      <a:endParaRPr lang="zh-CN" sz="1400" kern="120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111844" marR="111844" marT="55922" marB="55922" anchor="ctr" anchorCtr="0"/>
                </a:tc>
                <a:tc>
                  <a:txBody>
                    <a:bodyPr/>
                    <a:p>
                      <a:pPr algn="l" fontAlgn="base">
                        <a:spcAft>
                          <a:spcPts val="0"/>
                        </a:spcAft>
                      </a:pPr>
                      <a:r>
                        <a:rPr lang="zh-CN" sz="1400" kern="1200">
                          <a:effectLst/>
                          <a:latin typeface="微软雅黑" panose="020B0503020204020204" pitchFamily="34" charset="-122"/>
                          <a:ea typeface="微软雅黑" panose="020B0503020204020204" pitchFamily="34" charset="-122"/>
                        </a:rPr>
                        <a:t>不利于创新</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l" fontAlgn="base">
                        <a:spcAft>
                          <a:spcPts val="0"/>
                        </a:spcAft>
                      </a:pPr>
                      <a:r>
                        <a:rPr lang="zh-CN" sz="1400" kern="1200">
                          <a:effectLst/>
                          <a:latin typeface="微软雅黑" panose="020B0503020204020204" pitchFamily="34" charset="-122"/>
                          <a:ea typeface="微软雅黑" panose="020B0503020204020204" pitchFamily="34" charset="-122"/>
                        </a:rPr>
                        <a:t>已有产品的原型</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r>
              <a:tr h="294640">
                <a:tc>
                  <a:txBody>
                    <a:bodyPr/>
                    <a:p>
                      <a:pPr algn="ctr" fontAlgn="base">
                        <a:spcAft>
                          <a:spcPts val="0"/>
                        </a:spcAft>
                      </a:pPr>
                      <a:r>
                        <a:rPr lang="en-US" sz="1400" kern="1200">
                          <a:effectLst/>
                          <a:latin typeface="微软雅黑" panose="020B0503020204020204" pitchFamily="34" charset="-122"/>
                          <a:ea typeface="微软雅黑" panose="020B0503020204020204" pitchFamily="34" charset="-122"/>
                        </a:rPr>
                        <a:t>3</a:t>
                      </a:r>
                      <a:endParaRPr lang="en-US"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ctr" fontAlgn="base">
                        <a:spcAft>
                          <a:spcPts val="0"/>
                        </a:spcAft>
                      </a:pPr>
                      <a:r>
                        <a:rPr lang="zh-CN" sz="1400" kern="1200">
                          <a:effectLst/>
                          <a:latin typeface="微软雅黑" panose="020B0503020204020204" pitchFamily="34" charset="-122"/>
                          <a:ea typeface="微软雅黑" panose="020B0503020204020204" pitchFamily="34" charset="-122"/>
                        </a:rPr>
                        <a:t>增量模型</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l" fontAlgn="base">
                        <a:spcAft>
                          <a:spcPts val="0"/>
                        </a:spcAft>
                      </a:pPr>
                      <a:r>
                        <a:rPr lang="en-US" sz="1400" kern="1200">
                          <a:effectLst/>
                          <a:latin typeface="微软雅黑" panose="020B0503020204020204" pitchFamily="34" charset="-122"/>
                          <a:ea typeface="微软雅黑" panose="020B0503020204020204" pitchFamily="34" charset="-122"/>
                          <a:cs typeface="微软雅黑" panose="020B0503020204020204" pitchFamily="34" charset="-122"/>
                        </a:rPr>
                        <a:t> </a:t>
                      </a:r>
                      <a:r>
                        <a:rPr lang="zh-CN" sz="1400" kern="1200">
                          <a:effectLst/>
                          <a:latin typeface="微软雅黑" panose="020B0503020204020204" pitchFamily="34" charset="-122"/>
                          <a:ea typeface="微软雅黑" panose="020B0503020204020204" pitchFamily="34" charset="-122"/>
                          <a:cs typeface="微软雅黑" panose="020B0503020204020204" pitchFamily="34" charset="-122"/>
                        </a:rPr>
                        <a:t>可以分阶段提交</a:t>
                      </a:r>
                      <a:endParaRPr lang="zh-CN" sz="1400" kern="120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111844" marR="111844" marT="55922" marB="55922" anchor="ctr" anchorCtr="0"/>
                </a:tc>
                <a:tc>
                  <a:txBody>
                    <a:bodyPr/>
                    <a:p>
                      <a:pPr algn="l" fontAlgn="base">
                        <a:spcAft>
                          <a:spcPts val="0"/>
                        </a:spcAft>
                      </a:pPr>
                      <a:r>
                        <a:rPr lang="zh-CN" sz="1400" kern="1200">
                          <a:effectLst/>
                          <a:latin typeface="微软雅黑" panose="020B0503020204020204" pitchFamily="34" charset="-122"/>
                          <a:ea typeface="微软雅黑" panose="020B0503020204020204" pitchFamily="34" charset="-122"/>
                        </a:rPr>
                        <a:t>有时用户不同意</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l" fontAlgn="base">
                        <a:spcAft>
                          <a:spcPts val="0"/>
                        </a:spcAft>
                      </a:pPr>
                      <a:r>
                        <a:rPr lang="zh-CN" sz="1400" kern="1200">
                          <a:effectLst/>
                          <a:latin typeface="微软雅黑" panose="020B0503020204020204" pitchFamily="34" charset="-122"/>
                          <a:ea typeface="微软雅黑" panose="020B0503020204020204" pitchFamily="34" charset="-122"/>
                        </a:rPr>
                        <a:t>系统可拆卸和组装</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r>
              <a:tr h="294640">
                <a:tc>
                  <a:txBody>
                    <a:bodyPr/>
                    <a:p>
                      <a:pPr algn="ctr" fontAlgn="base">
                        <a:spcAft>
                          <a:spcPts val="0"/>
                        </a:spcAft>
                      </a:pPr>
                      <a:r>
                        <a:rPr lang="en-US" sz="1400" kern="1200">
                          <a:effectLst/>
                          <a:latin typeface="微软雅黑" panose="020B0503020204020204" pitchFamily="34" charset="-122"/>
                          <a:ea typeface="微软雅黑" panose="020B0503020204020204" pitchFamily="34" charset="-122"/>
                        </a:rPr>
                        <a:t>4</a:t>
                      </a:r>
                      <a:endParaRPr lang="en-US"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ctr" fontAlgn="base">
                        <a:spcAft>
                          <a:spcPts val="0"/>
                        </a:spcAft>
                      </a:pPr>
                      <a:r>
                        <a:rPr lang="zh-CN" sz="1400" kern="1200">
                          <a:effectLst/>
                          <a:latin typeface="微软雅黑" panose="020B0503020204020204" pitchFamily="34" charset="-122"/>
                          <a:ea typeface="微软雅黑" panose="020B0503020204020204" pitchFamily="34" charset="-122"/>
                        </a:rPr>
                        <a:t>螺旋模型</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l" fontAlgn="base">
                        <a:spcAft>
                          <a:spcPts val="0"/>
                        </a:spcAft>
                        <a:buClrTx/>
                        <a:buSzTx/>
                        <a:buFontTx/>
                      </a:pPr>
                      <a:r>
                        <a:rPr lang="en-US" altLang="zh-CN" sz="1400">
                          <a:effectLst/>
                          <a:latin typeface="微软雅黑" panose="020B0503020204020204" pitchFamily="34" charset="-122"/>
                          <a:ea typeface="微软雅黑" panose="020B0503020204020204" pitchFamily="34" charset="-122"/>
                          <a:cs typeface="微软雅黑" panose="020B0503020204020204" pitchFamily="34" charset="-122"/>
                        </a:rPr>
                        <a:t> </a:t>
                      </a:r>
                      <a:r>
                        <a:rPr lang="zh-CN" sz="1400">
                          <a:effectLst/>
                          <a:latin typeface="微软雅黑" panose="020B0503020204020204" pitchFamily="34" charset="-122"/>
                          <a:ea typeface="微软雅黑" panose="020B0503020204020204" pitchFamily="34" charset="-122"/>
                          <a:cs typeface="微软雅黑" panose="020B0503020204020204" pitchFamily="34" charset="-122"/>
                        </a:rPr>
                        <a:t>将风险分析拓展到各个阶段中</a:t>
                      </a:r>
                      <a:endParaRPr lang="zh-CN" sz="140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111844" marR="111844" marT="55922" marB="55922" anchor="ctr" anchorCtr="0"/>
                </a:tc>
                <a:tc>
                  <a:txBody>
                    <a:bodyPr/>
                    <a:p>
                      <a:pPr algn="l" fontAlgn="base">
                        <a:spcAft>
                          <a:spcPts val="0"/>
                        </a:spcAft>
                        <a:buClrTx/>
                        <a:buSzTx/>
                        <a:buFontTx/>
                      </a:pPr>
                      <a:r>
                        <a:rPr lang="zh-CN" sz="1400" kern="1200">
                          <a:effectLst/>
                          <a:latin typeface="微软雅黑" panose="020B0503020204020204" pitchFamily="34" charset="-122"/>
                          <a:ea typeface="微软雅黑" panose="020B0503020204020204" pitchFamily="34" charset="-122"/>
                        </a:rPr>
                        <a:t>建设周期长</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l" fontAlgn="base">
                        <a:spcAft>
                          <a:spcPts val="0"/>
                        </a:spcAft>
                      </a:pPr>
                      <a:r>
                        <a:rPr lang="zh-CN" sz="1400" kern="1200">
                          <a:effectLst/>
                          <a:latin typeface="微软雅黑" panose="020B0503020204020204" pitchFamily="34" charset="-122"/>
                          <a:ea typeface="微软雅黑" panose="020B0503020204020204" pitchFamily="34" charset="-122"/>
                        </a:rPr>
                        <a:t>庞大、复杂、高风险项目</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r>
              <a:tr h="294640">
                <a:tc>
                  <a:txBody>
                    <a:bodyPr/>
                    <a:p>
                      <a:pPr algn="ctr" fontAlgn="base">
                        <a:spcAft>
                          <a:spcPts val="0"/>
                        </a:spcAft>
                      </a:pPr>
                      <a:r>
                        <a:rPr lang="en-US" sz="1400" kern="1200">
                          <a:effectLst/>
                          <a:latin typeface="微软雅黑" panose="020B0503020204020204" pitchFamily="34" charset="-122"/>
                          <a:ea typeface="微软雅黑" panose="020B0503020204020204" pitchFamily="34" charset="-122"/>
                        </a:rPr>
                        <a:t>5</a:t>
                      </a:r>
                      <a:endParaRPr lang="en-US"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ctr" fontAlgn="base">
                        <a:spcAft>
                          <a:spcPts val="0"/>
                        </a:spcAft>
                      </a:pPr>
                      <a:r>
                        <a:rPr lang="zh-CN" sz="1400" kern="1200">
                          <a:effectLst/>
                          <a:latin typeface="微软雅黑" panose="020B0503020204020204" pitchFamily="34" charset="-122"/>
                          <a:ea typeface="微软雅黑" panose="020B0503020204020204" pitchFamily="34" charset="-122"/>
                        </a:rPr>
                        <a:t>喷泉模型</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l" fontAlgn="base">
                        <a:spcAft>
                          <a:spcPts val="0"/>
                        </a:spcAft>
                      </a:pPr>
                      <a:r>
                        <a:rPr lang="en-US" altLang="zh-CN" sz="1400" kern="1200">
                          <a:effectLst/>
                          <a:latin typeface="微软雅黑" panose="020B0503020204020204" pitchFamily="34" charset="-122"/>
                          <a:ea typeface="微软雅黑" panose="020B0503020204020204" pitchFamily="34" charset="-122"/>
                          <a:cs typeface="微软雅黑" panose="020B0503020204020204" pitchFamily="34" charset="-122"/>
                        </a:rPr>
                        <a:t> </a:t>
                      </a:r>
                      <a:r>
                        <a:rPr lang="zh-CN" sz="1400" kern="1200">
                          <a:effectLst/>
                          <a:latin typeface="微软雅黑" panose="020B0503020204020204" pitchFamily="34" charset="-122"/>
                          <a:ea typeface="微软雅黑" panose="020B0503020204020204" pitchFamily="34" charset="-122"/>
                          <a:cs typeface="微软雅黑" panose="020B0503020204020204" pitchFamily="34" charset="-122"/>
                        </a:rPr>
                        <a:t>提高开发效率</a:t>
                      </a:r>
                      <a:endParaRPr lang="zh-CN" sz="1400" kern="120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111844" marR="111844" marT="55922" marB="55922" anchor="ctr" anchorCtr="0"/>
                </a:tc>
                <a:tc>
                  <a:txBody>
                    <a:bodyPr/>
                    <a:p>
                      <a:pPr algn="l" fontAlgn="base">
                        <a:spcAft>
                          <a:spcPts val="0"/>
                        </a:spcAft>
                      </a:pPr>
                      <a:r>
                        <a:rPr lang="zh-CN" sz="1400" kern="1200">
                          <a:effectLst/>
                          <a:latin typeface="微软雅黑" panose="020B0503020204020204" pitchFamily="34" charset="-122"/>
                          <a:ea typeface="微软雅黑" panose="020B0503020204020204" pitchFamily="34" charset="-122"/>
                        </a:rPr>
                        <a:t>不利于项目的管理</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l" fontAlgn="base">
                        <a:spcAft>
                          <a:spcPts val="0"/>
                        </a:spcAft>
                      </a:pPr>
                      <a:r>
                        <a:rPr lang="zh-CN" sz="1400" kern="1200">
                          <a:effectLst/>
                          <a:latin typeface="微软雅黑" panose="020B0503020204020204" pitchFamily="34" charset="-122"/>
                          <a:ea typeface="微软雅黑" panose="020B0503020204020204" pitchFamily="34" charset="-122"/>
                        </a:rPr>
                        <a:t>面向对象开发</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r>
              <a:tr h="294640">
                <a:tc>
                  <a:txBody>
                    <a:bodyPr/>
                    <a:p>
                      <a:pPr algn="ctr" fontAlgn="base">
                        <a:spcAft>
                          <a:spcPts val="0"/>
                        </a:spcAft>
                      </a:pPr>
                      <a:r>
                        <a:rPr lang="en-US" sz="1400" kern="1200">
                          <a:effectLst/>
                          <a:latin typeface="微软雅黑" panose="020B0503020204020204" pitchFamily="34" charset="-122"/>
                          <a:ea typeface="微软雅黑" panose="020B0503020204020204" pitchFamily="34" charset="-122"/>
                        </a:rPr>
                        <a:t>6</a:t>
                      </a:r>
                      <a:endParaRPr lang="en-US"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ctr" fontAlgn="base">
                        <a:spcAft>
                          <a:spcPts val="0"/>
                        </a:spcAft>
                      </a:pPr>
                      <a:r>
                        <a:rPr lang="zh-CN" sz="1400" kern="1200">
                          <a:effectLst/>
                          <a:latin typeface="微软雅黑" panose="020B0503020204020204" pitchFamily="34" charset="-122"/>
                          <a:ea typeface="微软雅黑" panose="020B0503020204020204" pitchFamily="34" charset="-122"/>
                        </a:rPr>
                        <a:t>统一过程模型</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l" fontAlgn="base">
                        <a:spcAft>
                          <a:spcPts val="0"/>
                        </a:spcAft>
                      </a:pPr>
                      <a:r>
                        <a:rPr lang="en-US" sz="1400" kern="1200">
                          <a:effectLst/>
                          <a:latin typeface="微软雅黑" panose="020B0503020204020204" pitchFamily="34" charset="-122"/>
                          <a:ea typeface="微软雅黑" panose="020B0503020204020204" pitchFamily="34" charset="-122"/>
                          <a:cs typeface="微软雅黑" panose="020B0503020204020204" pitchFamily="34" charset="-122"/>
                        </a:rPr>
                        <a:t> </a:t>
                      </a:r>
                      <a:r>
                        <a:rPr lang="zh-CN" sz="1400" kern="1200">
                          <a:effectLst/>
                          <a:latin typeface="微软雅黑" panose="020B0503020204020204" pitchFamily="34" charset="-122"/>
                          <a:ea typeface="微软雅黑" panose="020B0503020204020204" pitchFamily="34" charset="-122"/>
                          <a:cs typeface="微软雅黑" panose="020B0503020204020204" pitchFamily="34" charset="-122"/>
                        </a:rPr>
                        <a:t>需求可变</a:t>
                      </a:r>
                      <a:endParaRPr lang="zh-CN" sz="1400" kern="120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111844" marR="111844" marT="55922" marB="55922" anchor="ctr" anchorCtr="0"/>
                </a:tc>
                <a:tc>
                  <a:txBody>
                    <a:bodyPr/>
                    <a:p>
                      <a:pPr algn="l" fontAlgn="base">
                        <a:spcAft>
                          <a:spcPts val="0"/>
                        </a:spcAft>
                      </a:pPr>
                      <a:r>
                        <a:rPr lang="zh-CN" sz="1400" kern="1200">
                          <a:effectLst/>
                          <a:latin typeface="微软雅黑" panose="020B0503020204020204" pitchFamily="34" charset="-122"/>
                          <a:ea typeface="微软雅黑" panose="020B0503020204020204" pitchFamily="34" charset="-122"/>
                        </a:rPr>
                        <a:t>风险大</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l" fontAlgn="base">
                        <a:spcAft>
                          <a:spcPts val="0"/>
                        </a:spcAft>
                      </a:pPr>
                      <a:r>
                        <a:rPr lang="zh-CN" sz="1400" kern="1200">
                          <a:effectLst/>
                          <a:latin typeface="微软雅黑" panose="020B0503020204020204" pitchFamily="34" charset="-122"/>
                          <a:ea typeface="微软雅黑" panose="020B0503020204020204" pitchFamily="34" charset="-122"/>
                        </a:rPr>
                        <a:t>有高素质软件团队</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r>
              <a:tr h="477520">
                <a:tc>
                  <a:txBody>
                    <a:bodyPr/>
                    <a:p>
                      <a:pPr algn="ctr" fontAlgn="base">
                        <a:spcAft>
                          <a:spcPts val="0"/>
                        </a:spcAft>
                      </a:pPr>
                      <a:r>
                        <a:rPr lang="en-US" sz="1400" kern="1200">
                          <a:effectLst/>
                          <a:latin typeface="微软雅黑" panose="020B0503020204020204" pitchFamily="34" charset="-122"/>
                          <a:ea typeface="微软雅黑" panose="020B0503020204020204" pitchFamily="34" charset="-122"/>
                        </a:rPr>
                        <a:t>7</a:t>
                      </a:r>
                      <a:endParaRPr lang="en-US"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ctr" fontAlgn="base">
                        <a:spcAft>
                          <a:spcPts val="0"/>
                        </a:spcAft>
                      </a:pPr>
                      <a:r>
                        <a:rPr lang="zh-CN" sz="1400" kern="1200">
                          <a:effectLst/>
                          <a:latin typeface="微软雅黑" panose="020B0503020204020204" pitchFamily="34" charset="-122"/>
                          <a:ea typeface="微软雅黑" panose="020B0503020204020204" pitchFamily="34" charset="-122"/>
                        </a:rPr>
                        <a:t>敏捷模型</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l" fontAlgn="base">
                        <a:spcAft>
                          <a:spcPts val="0"/>
                        </a:spcAft>
                      </a:pPr>
                      <a:r>
                        <a:rPr lang="en-US" altLang="zh-CN" sz="1400" kern="1200">
                          <a:effectLst/>
                          <a:latin typeface="微软雅黑" panose="020B0503020204020204" pitchFamily="34" charset="-122"/>
                          <a:ea typeface="微软雅黑" panose="020B0503020204020204" pitchFamily="34" charset="-122"/>
                          <a:cs typeface="微软雅黑" panose="020B0503020204020204" pitchFamily="34" charset="-122"/>
                        </a:rPr>
                        <a:t> </a:t>
                      </a:r>
                      <a:r>
                        <a:rPr lang="zh-CN" sz="1400" kern="1200">
                          <a:effectLst/>
                          <a:latin typeface="微软雅黑" panose="020B0503020204020204" pitchFamily="34" charset="-122"/>
                          <a:ea typeface="微软雅黑" panose="020B0503020204020204" pitchFamily="34" charset="-122"/>
                          <a:cs typeface="微软雅黑" panose="020B0503020204020204" pitchFamily="34" charset="-122"/>
                        </a:rPr>
                        <a:t>提高开发效率</a:t>
                      </a:r>
                      <a:endParaRPr lang="zh-CN" sz="1400" kern="1200">
                        <a:effectLst/>
                        <a:latin typeface="微软雅黑" panose="020B0503020204020204" pitchFamily="34" charset="-122"/>
                        <a:ea typeface="微软雅黑" panose="020B0503020204020204" pitchFamily="34" charset="-122"/>
                        <a:cs typeface="微软雅黑" panose="020B0503020204020204" pitchFamily="34" charset="-122"/>
                      </a:endParaRPr>
                    </a:p>
                  </a:txBody>
                  <a:tcPr marL="111844" marR="111844" marT="55922" marB="55922" anchor="ctr" anchorCtr="0"/>
                </a:tc>
                <a:tc>
                  <a:txBody>
                    <a:bodyPr/>
                    <a:p>
                      <a:pPr algn="l" fontAlgn="base">
                        <a:spcAft>
                          <a:spcPts val="0"/>
                        </a:spcAft>
                      </a:pPr>
                      <a:r>
                        <a:rPr lang="zh-CN" sz="1400" kern="1200">
                          <a:effectLst/>
                          <a:latin typeface="微软雅黑" panose="020B0503020204020204" pitchFamily="34" charset="-122"/>
                          <a:ea typeface="微软雅黑" panose="020B0503020204020204" pitchFamily="34" charset="-122"/>
                        </a:rPr>
                        <a:t>不适合大团队、大项目</a:t>
                      </a:r>
                      <a:endParaRPr lang="zh-CN" sz="1400" kern="1200">
                        <a:effectLst/>
                        <a:latin typeface="微软雅黑" panose="020B0503020204020204" pitchFamily="34" charset="-122"/>
                        <a:ea typeface="微软雅黑" panose="020B0503020204020204" pitchFamily="34" charset="-122"/>
                      </a:endParaRPr>
                    </a:p>
                  </a:txBody>
                  <a:tcPr marL="111844" marR="111844" marT="55922" marB="55922" anchor="ctr" anchorCtr="0"/>
                </a:tc>
                <a:tc>
                  <a:txBody>
                    <a:bodyPr/>
                    <a:p>
                      <a:pPr algn="l" fontAlgn="base">
                        <a:spcAft>
                          <a:spcPts val="0"/>
                        </a:spcAft>
                      </a:pPr>
                      <a:r>
                        <a:rPr lang="zh-CN" sz="1400" kern="1200" dirty="0">
                          <a:effectLst/>
                          <a:latin typeface="微软雅黑" panose="020B0503020204020204" pitchFamily="34" charset="-122"/>
                          <a:ea typeface="微软雅黑" panose="020B0503020204020204" pitchFamily="34" charset="-122"/>
                        </a:rPr>
                        <a:t>小团队，小项目</a:t>
                      </a:r>
                      <a:endParaRPr lang="zh-CN" sz="1400" kern="1200" dirty="0">
                        <a:effectLst/>
                        <a:latin typeface="微软雅黑" panose="020B0503020204020204" pitchFamily="34" charset="-122"/>
                        <a:ea typeface="微软雅黑" panose="020B0503020204020204" pitchFamily="34" charset="-122"/>
                      </a:endParaRPr>
                    </a:p>
                  </a:txBody>
                  <a:tcPr marL="111844" marR="111844" marT="55922" marB="55922" anchor="ctr" anchorCtr="0"/>
                </a:tc>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规模化敏捷开发</a:t>
            </a:r>
            <a:endParaRPr lang="zh-CN" altLang="en-US"/>
          </a:p>
        </p:txBody>
      </p:sp>
      <p:sp>
        <p:nvSpPr>
          <p:cNvPr id="3" name="内容占位符 2"/>
          <p:cNvSpPr>
            <a:spLocks noGrp="1"/>
          </p:cNvSpPr>
          <p:nvPr>
            <p:ph idx="1"/>
          </p:nvPr>
        </p:nvSpPr>
        <p:spPr/>
        <p:txBody>
          <a:bodyPr>
            <a:normAutofit fontScale="90000" lnSpcReduction="10000"/>
          </a:bodyPr>
          <a:p>
            <a:r>
              <a:rPr lang="zh-CN" altLang="en-US"/>
              <a:t>敏捷开发必须发展变化以适应大规模软件开发。</a:t>
            </a:r>
            <a:endParaRPr lang="zh-CN" altLang="en-US"/>
          </a:p>
          <a:p>
            <a:r>
              <a:rPr lang="en-US" altLang="zh-CN"/>
              <a:t>Dean Leffingwell</a:t>
            </a:r>
            <a:r>
              <a:rPr lang="zh-CN" altLang="en-US"/>
              <a:t>开发了一种规模化敏捷框架（</a:t>
            </a:r>
            <a:r>
              <a:rPr lang="en-US" altLang="zh-CN"/>
              <a:t>Scaled Agile Framework, SAFe)</a:t>
            </a:r>
            <a:r>
              <a:rPr lang="zh-CN" altLang="en-US"/>
              <a:t>来支持大规模、多团队的软件开发。</a:t>
            </a:r>
            <a:endParaRPr lang="zh-CN" altLang="en-US"/>
          </a:p>
          <a:p>
            <a:r>
              <a:rPr lang="en-US" altLang="zh-CN"/>
              <a:t>IBM</a:t>
            </a:r>
            <a:r>
              <a:rPr lang="zh-CN" altLang="en-US"/>
              <a:t>也开发了一个用于敏捷方法的大模型使用框架，称为敏捷规模化模型（</a:t>
            </a:r>
            <a:r>
              <a:rPr lang="en-US" altLang="zh-CN"/>
              <a:t>Agile Scaling Model, ASM)</a:t>
            </a:r>
            <a:r>
              <a:rPr lang="zh-CN" altLang="en-US"/>
              <a:t>。</a:t>
            </a:r>
            <a:endParaRPr lang="zh-CN" altLang="en-US"/>
          </a:p>
          <a:p>
            <a:r>
              <a:rPr lang="zh-CN" altLang="en-US"/>
              <a:t>腾讯与</a:t>
            </a:r>
            <a:r>
              <a:rPr lang="en-US" altLang="zh-CN"/>
              <a:t>2006</a:t>
            </a:r>
            <a:r>
              <a:rPr lang="zh-CN" altLang="en-US"/>
              <a:t>年开发了自己的敏捷产品研发框架，（</a:t>
            </a:r>
            <a:r>
              <a:rPr lang="en-US" altLang="zh-CN"/>
              <a:t>Tencent Agile Product Development, TAPD).</a:t>
            </a:r>
            <a:endParaRPr lang="en-US" altLang="zh-CN"/>
          </a:p>
          <a:p>
            <a:endParaRPr lang="en-US" altLang="zh-CN"/>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429E00C-CBBF-432F-B221-A185D1B1818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文本框 7"/>
          <p:cNvSpPr txBox="1"/>
          <p:nvPr>
            <p:custDataLst>
              <p:tags r:id="rId1"/>
            </p:custDataLst>
          </p:nvPr>
        </p:nvSpPr>
        <p:spPr>
          <a:xfrm>
            <a:off x="914399" y="635000"/>
            <a:ext cx="7713133" cy="1607344"/>
          </a:xfrm>
          <a:prstGeom prst="rect">
            <a:avLst/>
          </a:prstGeom>
          <a:noFill/>
        </p:spPr>
        <p:txBody>
          <a:bodyPr vert="horz" wrap="square" rtlCol="0" anchor="ctr" anchorCtr="0">
            <a:noAutofit/>
          </a:bodyPr>
          <a:lstStyle/>
          <a:p>
            <a:r>
              <a:rPr lang="zh-CN" altLang="en-US" sz="2800" dirty="0"/>
              <a:t>下面关于敏捷开发的叙述，不正确的为（ ）。</a:t>
            </a:r>
            <a:endParaRPr lang="en-US" altLang="zh-CN" sz="2800" dirty="0"/>
          </a:p>
        </p:txBody>
      </p:sp>
      <p:sp>
        <p:nvSpPr>
          <p:cNvPr id="9" name="文本框 8"/>
          <p:cNvSpPr txBox="1"/>
          <p:nvPr>
            <p:custDataLst>
              <p:tags r:id="rId2"/>
            </p:custDataLst>
          </p:nvPr>
        </p:nvSpPr>
        <p:spPr>
          <a:xfrm>
            <a:off x="1828800" y="2089547"/>
            <a:ext cx="6400800" cy="482203"/>
          </a:xfrm>
          <a:prstGeom prst="rect">
            <a:avLst/>
          </a:prstGeom>
          <a:noFill/>
        </p:spPr>
        <p:txBody>
          <a:bodyPr vert="horz" rtlCol="0" anchor="ctr" anchorCtr="0">
            <a:noAutofit/>
          </a:bodyPr>
          <a:lstStyle/>
          <a:p>
            <a:r>
              <a:rPr lang="zh-CN" altLang="en-US" sz="2000" dirty="0"/>
              <a:t>敏捷方法以人为本，依靠程序员的自我管理提高效率</a:t>
            </a:r>
            <a:endParaRPr lang="en-US" altLang="zh-CN" sz="2000" dirty="0"/>
          </a:p>
        </p:txBody>
      </p:sp>
      <p:sp>
        <p:nvSpPr>
          <p:cNvPr id="10" name="文本框 9"/>
          <p:cNvSpPr txBox="1"/>
          <p:nvPr>
            <p:custDataLst>
              <p:tags r:id="rId3"/>
            </p:custDataLst>
          </p:nvPr>
        </p:nvSpPr>
        <p:spPr>
          <a:xfrm>
            <a:off x="1828800" y="2732484"/>
            <a:ext cx="6400800" cy="482203"/>
          </a:xfrm>
          <a:prstGeom prst="rect">
            <a:avLst/>
          </a:prstGeom>
          <a:noFill/>
        </p:spPr>
        <p:txBody>
          <a:bodyPr vert="horz" rtlCol="0" anchor="ctr" anchorCtr="0">
            <a:noAutofit/>
          </a:bodyPr>
          <a:lstStyle/>
          <a:p>
            <a:r>
              <a:rPr lang="zh-CN" altLang="en-US" sz="2000" dirty="0"/>
              <a:t>可以工作的软件和全面的文档是首要的进度度量标准</a:t>
            </a:r>
            <a:endParaRPr lang="en-US" altLang="zh-CN" sz="2000" dirty="0"/>
          </a:p>
        </p:txBody>
      </p:sp>
      <p:sp>
        <p:nvSpPr>
          <p:cNvPr id="11" name="文本框 10"/>
          <p:cNvSpPr txBox="1"/>
          <p:nvPr>
            <p:custDataLst>
              <p:tags r:id="rId4"/>
            </p:custDataLst>
          </p:nvPr>
        </p:nvSpPr>
        <p:spPr>
          <a:xfrm>
            <a:off x="1828800" y="3375422"/>
            <a:ext cx="6400800" cy="482203"/>
          </a:xfrm>
          <a:prstGeom prst="rect">
            <a:avLst/>
          </a:prstGeom>
          <a:noFill/>
        </p:spPr>
        <p:txBody>
          <a:bodyPr vert="horz" rtlCol="0" anchor="ctr" anchorCtr="0">
            <a:noAutofit/>
          </a:bodyPr>
          <a:lstStyle/>
          <a:p>
            <a:r>
              <a:rPr lang="zh-CN" altLang="en-US" sz="2000" dirty="0"/>
              <a:t>欢迎需求变化，并利用这种变化来提高用户的竞争优势</a:t>
            </a:r>
            <a:endParaRPr lang="en-US" altLang="zh-CN" sz="2000" dirty="0"/>
          </a:p>
        </p:txBody>
      </p:sp>
      <p:sp>
        <p:nvSpPr>
          <p:cNvPr id="12" name="文本框 11"/>
          <p:cNvSpPr txBox="1"/>
          <p:nvPr>
            <p:custDataLst>
              <p:tags r:id="rId5"/>
            </p:custDataLst>
          </p:nvPr>
        </p:nvSpPr>
        <p:spPr>
          <a:xfrm>
            <a:off x="1828800" y="4018359"/>
            <a:ext cx="6400800" cy="482203"/>
          </a:xfrm>
          <a:prstGeom prst="rect">
            <a:avLst/>
          </a:prstGeom>
          <a:noFill/>
        </p:spPr>
        <p:txBody>
          <a:bodyPr vert="horz" rtlCol="0" anchor="ctr" anchorCtr="0">
            <a:noAutofit/>
          </a:bodyPr>
          <a:lstStyle/>
          <a:p>
            <a:r>
              <a:rPr lang="zh-CN" altLang="en-US" sz="2000" dirty="0"/>
              <a:t>团队提倡面对面交谈，业务人员和开发人员必须天天在一起工作</a:t>
            </a:r>
            <a:endParaRPr lang="en-US" altLang="zh-CN" sz="2000" dirty="0"/>
          </a:p>
        </p:txBody>
      </p:sp>
      <p:sp>
        <p:nvSpPr>
          <p:cNvPr id="13" name="椭圆 12"/>
          <p:cNvSpPr>
            <a:spLocks noChangeAspect="1"/>
          </p:cNvSpPr>
          <p:nvPr>
            <p:custDataLst>
              <p:tags r:id="rId6"/>
            </p:custDataLst>
          </p:nvPr>
        </p:nvSpPr>
        <p:spPr>
          <a:xfrm>
            <a:off x="1178719" y="2137767"/>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7"/>
            </p:custDataLst>
          </p:nvPr>
        </p:nvSpPr>
        <p:spPr>
          <a:xfrm>
            <a:off x="1178719" y="2780705"/>
            <a:ext cx="385762" cy="385762"/>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a:spLocks noChangeAspect="1"/>
          </p:cNvSpPr>
          <p:nvPr>
            <p:custDataLst>
              <p:tags r:id="rId8"/>
            </p:custDataLst>
          </p:nvPr>
        </p:nvSpPr>
        <p:spPr>
          <a:xfrm>
            <a:off x="1178719" y="3423642"/>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椭圆 15"/>
          <p:cNvSpPr>
            <a:spLocks noChangeAspect="1"/>
          </p:cNvSpPr>
          <p:nvPr>
            <p:custDataLst>
              <p:tags r:id="rId9"/>
            </p:custDataLst>
          </p:nvPr>
        </p:nvSpPr>
        <p:spPr>
          <a:xfrm>
            <a:off x="1178719" y="4066580"/>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圆角矩形 16"/>
          <p:cNvSpPr/>
          <p:nvPr>
            <p:custDataLst>
              <p:tags r:id="rId10"/>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2" name="组合 21"/>
          <p:cNvGrpSpPr/>
          <p:nvPr>
            <p:custDataLst>
              <p:tags r:id="rId11"/>
            </p:custDataLst>
          </p:nvPr>
        </p:nvGrpSpPr>
        <p:grpSpPr>
          <a:xfrm>
            <a:off x="0" y="0"/>
            <a:ext cx="9144000" cy="635000"/>
            <a:chOff x="0" y="0"/>
            <a:chExt cx="9144000" cy="635000"/>
          </a:xfrm>
        </p:grpSpPr>
        <p:sp>
          <p:nvSpPr>
            <p:cNvPr id="18" name="TitleBackground"/>
            <p:cNvSpPr/>
            <p:nvPr>
              <p:custDataLst>
                <p:tags r:id="rId12"/>
              </p:custDataLst>
            </p:nvPr>
          </p:nvSpPr>
          <p:spPr>
            <a:xfrm>
              <a:off x="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olorBlock"/>
            <p:cNvSpPr/>
            <p:nvPr>
              <p:custDataLst>
                <p:tags r:id="rId13"/>
              </p:custDataLst>
            </p:nvPr>
          </p:nvSpPr>
          <p:spPr>
            <a:xfrm>
              <a:off x="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TipText"/>
            <p:cNvSpPr txBox="1"/>
            <p:nvPr>
              <p:custDataLst>
                <p:tags r:id="rId15"/>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7" name="图片 6"/>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429E00C-CBBF-432F-B221-A185D1B1818D}"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文本框 7"/>
          <p:cNvSpPr txBox="1"/>
          <p:nvPr>
            <p:custDataLst>
              <p:tags r:id="rId1"/>
            </p:custDataLst>
          </p:nvPr>
        </p:nvSpPr>
        <p:spPr>
          <a:xfrm>
            <a:off x="914399" y="635000"/>
            <a:ext cx="7738533" cy="1607344"/>
          </a:xfrm>
          <a:prstGeom prst="rect">
            <a:avLst/>
          </a:prstGeom>
          <a:noFill/>
        </p:spPr>
        <p:txBody>
          <a:bodyPr vert="horz" wrap="square" rtlCol="0" anchor="ctr" anchorCtr="0">
            <a:noAutofit/>
          </a:bodyPr>
          <a:lstStyle/>
          <a:p>
            <a:r>
              <a:rPr lang="zh-CN" altLang="en-US" sz="2800" dirty="0"/>
              <a:t>下面关于</a:t>
            </a:r>
            <a:r>
              <a:rPr lang="en-US" altLang="zh-CN" sz="2800" dirty="0"/>
              <a:t>Scrum</a:t>
            </a:r>
            <a:r>
              <a:rPr lang="zh-CN" altLang="en-US" sz="2800" dirty="0"/>
              <a:t>开发方法的叙述，不正确的为（ ）。</a:t>
            </a:r>
            <a:endParaRPr lang="en-US" altLang="zh-CN" sz="2800" dirty="0"/>
          </a:p>
        </p:txBody>
      </p:sp>
      <p:sp>
        <p:nvSpPr>
          <p:cNvPr id="9" name="文本框 8"/>
          <p:cNvSpPr txBox="1"/>
          <p:nvPr>
            <p:custDataLst>
              <p:tags r:id="rId2"/>
            </p:custDataLst>
          </p:nvPr>
        </p:nvSpPr>
        <p:spPr>
          <a:xfrm>
            <a:off x="1828800" y="2089547"/>
            <a:ext cx="6400800" cy="482203"/>
          </a:xfrm>
          <a:prstGeom prst="rect">
            <a:avLst/>
          </a:prstGeom>
          <a:noFill/>
        </p:spPr>
        <p:txBody>
          <a:bodyPr vert="horz" rtlCol="0" anchor="ctr" anchorCtr="0">
            <a:noAutofit/>
          </a:bodyPr>
          <a:lstStyle/>
          <a:p>
            <a:r>
              <a:rPr lang="en-US" altLang="zh-CN" sz="2400" dirty="0"/>
              <a:t>Scrum</a:t>
            </a:r>
            <a:r>
              <a:rPr lang="zh-CN" altLang="en-US" sz="2400" dirty="0"/>
              <a:t>方法偏重于项目管理</a:t>
            </a:r>
            <a:endParaRPr lang="en-US" altLang="zh-CN" sz="2400" dirty="0"/>
          </a:p>
        </p:txBody>
      </p:sp>
      <p:sp>
        <p:nvSpPr>
          <p:cNvPr id="10" name="文本框 9"/>
          <p:cNvSpPr txBox="1"/>
          <p:nvPr>
            <p:custDataLst>
              <p:tags r:id="rId3"/>
            </p:custDataLst>
          </p:nvPr>
        </p:nvSpPr>
        <p:spPr>
          <a:xfrm>
            <a:off x="1828800" y="2732484"/>
            <a:ext cx="6400800" cy="482203"/>
          </a:xfrm>
          <a:prstGeom prst="rect">
            <a:avLst/>
          </a:prstGeom>
          <a:noFill/>
        </p:spPr>
        <p:txBody>
          <a:bodyPr vert="horz" rtlCol="0" anchor="ctr" anchorCtr="0">
            <a:noAutofit/>
          </a:bodyPr>
          <a:lstStyle/>
          <a:p>
            <a:r>
              <a:rPr lang="zh-CN" altLang="en-US" sz="2400" dirty="0"/>
              <a:t>将软件开发周期分为多个小的迭代周期</a:t>
            </a:r>
            <a:endParaRPr lang="en-US" altLang="zh-CN" sz="2400" dirty="0"/>
          </a:p>
        </p:txBody>
      </p:sp>
      <p:sp>
        <p:nvSpPr>
          <p:cNvPr id="11" name="文本框 10"/>
          <p:cNvSpPr txBox="1"/>
          <p:nvPr>
            <p:custDataLst>
              <p:tags r:id="rId4"/>
            </p:custDataLst>
          </p:nvPr>
        </p:nvSpPr>
        <p:spPr>
          <a:xfrm>
            <a:off x="1828800" y="3375422"/>
            <a:ext cx="6400800" cy="482203"/>
          </a:xfrm>
          <a:prstGeom prst="rect">
            <a:avLst/>
          </a:prstGeom>
          <a:noFill/>
        </p:spPr>
        <p:txBody>
          <a:bodyPr vert="horz" rtlCol="0" anchor="ctr" anchorCtr="0">
            <a:noAutofit/>
          </a:bodyPr>
          <a:lstStyle/>
          <a:p>
            <a:r>
              <a:rPr lang="zh-CN" altLang="en-US" sz="2400" dirty="0"/>
              <a:t>一个迭代周期针对一个或多个用户故事</a:t>
            </a:r>
            <a:endParaRPr lang="en-US" altLang="zh-CN" sz="2400" dirty="0"/>
          </a:p>
        </p:txBody>
      </p:sp>
      <p:sp>
        <p:nvSpPr>
          <p:cNvPr id="12" name="文本框 11"/>
          <p:cNvSpPr txBox="1"/>
          <p:nvPr>
            <p:custDataLst>
              <p:tags r:id="rId5"/>
            </p:custDataLst>
          </p:nvPr>
        </p:nvSpPr>
        <p:spPr>
          <a:xfrm>
            <a:off x="1828800" y="4018359"/>
            <a:ext cx="6400800" cy="482203"/>
          </a:xfrm>
          <a:prstGeom prst="rect">
            <a:avLst/>
          </a:prstGeom>
          <a:noFill/>
        </p:spPr>
        <p:txBody>
          <a:bodyPr vert="horz" rtlCol="0" anchor="ctr" anchorCtr="0">
            <a:noAutofit/>
          </a:bodyPr>
          <a:lstStyle/>
          <a:p>
            <a:r>
              <a:rPr lang="zh-CN" altLang="en-US" sz="2400" dirty="0"/>
              <a:t>每个迭代周期中不允许需求发生变化</a:t>
            </a:r>
            <a:endParaRPr lang="en-US" altLang="zh-CN" sz="2400" dirty="0"/>
          </a:p>
        </p:txBody>
      </p:sp>
      <p:sp>
        <p:nvSpPr>
          <p:cNvPr id="13" name="椭圆 12"/>
          <p:cNvSpPr>
            <a:spLocks noChangeAspect="1"/>
          </p:cNvSpPr>
          <p:nvPr>
            <p:custDataLst>
              <p:tags r:id="rId6"/>
            </p:custDataLst>
          </p:nvPr>
        </p:nvSpPr>
        <p:spPr>
          <a:xfrm>
            <a:off x="1178719" y="2137767"/>
            <a:ext cx="385762" cy="385763"/>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A</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4" name="椭圆 13"/>
          <p:cNvSpPr>
            <a:spLocks noChangeAspect="1"/>
          </p:cNvSpPr>
          <p:nvPr>
            <p:custDataLst>
              <p:tags r:id="rId7"/>
            </p:custDataLst>
          </p:nvPr>
        </p:nvSpPr>
        <p:spPr>
          <a:xfrm>
            <a:off x="1178719" y="2780705"/>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B</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5" name="椭圆 14"/>
          <p:cNvSpPr>
            <a:spLocks noChangeAspect="1"/>
          </p:cNvSpPr>
          <p:nvPr>
            <p:custDataLst>
              <p:tags r:id="rId8"/>
            </p:custDataLst>
          </p:nvPr>
        </p:nvSpPr>
        <p:spPr>
          <a:xfrm>
            <a:off x="1178719" y="3423642"/>
            <a:ext cx="385762" cy="385763"/>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C</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椭圆 15"/>
          <p:cNvSpPr>
            <a:spLocks noChangeAspect="1"/>
          </p:cNvSpPr>
          <p:nvPr>
            <p:custDataLst>
              <p:tags r:id="rId9"/>
            </p:custDataLst>
          </p:nvPr>
        </p:nvSpPr>
        <p:spPr>
          <a:xfrm>
            <a:off x="1178719" y="4066580"/>
            <a:ext cx="385762" cy="385762"/>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D</a:t>
            </a:r>
            <a:endParaRPr lang="en-US" altLang="zh-CN"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7" name="圆角矩形 16"/>
          <p:cNvSpPr/>
          <p:nvPr>
            <p:custDataLst>
              <p:tags r:id="rId10"/>
            </p:custDataLst>
          </p:nvPr>
        </p:nvSpPr>
        <p:spPr>
          <a:xfrm>
            <a:off x="6686550" y="4661297"/>
            <a:ext cx="1157288"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2" name="组合 21"/>
          <p:cNvGrpSpPr/>
          <p:nvPr>
            <p:custDataLst>
              <p:tags r:id="rId11"/>
            </p:custDataLst>
          </p:nvPr>
        </p:nvGrpSpPr>
        <p:grpSpPr>
          <a:xfrm>
            <a:off x="0" y="0"/>
            <a:ext cx="9144000" cy="635000"/>
            <a:chOff x="0" y="0"/>
            <a:chExt cx="9144000" cy="635000"/>
          </a:xfrm>
        </p:grpSpPr>
        <p:sp>
          <p:nvSpPr>
            <p:cNvPr id="18" name="TitleBackground"/>
            <p:cNvSpPr/>
            <p:nvPr>
              <p:custDataLst>
                <p:tags r:id="rId12"/>
              </p:custDataLst>
            </p:nvPr>
          </p:nvSpPr>
          <p:spPr>
            <a:xfrm>
              <a:off x="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olorBlock"/>
            <p:cNvSpPr/>
            <p:nvPr>
              <p:custDataLst>
                <p:tags r:id="rId13"/>
              </p:custDataLst>
            </p:nvPr>
          </p:nvSpPr>
          <p:spPr>
            <a:xfrm>
              <a:off x="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ypeText"/>
            <p:cNvSpPr txBox="1"/>
            <p:nvPr>
              <p:custDataLst>
                <p:tags r:id="rId14"/>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1" name="TipText"/>
            <p:cNvSpPr txBox="1"/>
            <p:nvPr>
              <p:custDataLst>
                <p:tags r:id="rId15"/>
              </p:custDataLst>
            </p:nvPr>
          </p:nvSpPr>
          <p:spPr>
            <a:xfrm>
              <a:off x="1427480" y="109220"/>
              <a:ext cx="2286000" cy="508000"/>
            </a:xfrm>
            <a:prstGeom prst="rect">
              <a:avLst/>
            </a:prstGeom>
            <a:noFill/>
          </p:spPr>
          <p:txBody>
            <a:bodyPr vert="horz" wrap="none" rtlCol="0" anchor="ctr" anchorCtr="0">
              <a:noAutofit/>
            </a:bodyPr>
            <a:lstStyle/>
            <a:p>
              <a:r>
                <a:rPr lang="en-US" altLang="zh-CN"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1</a:t>
              </a:r>
              <a:r>
                <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rPr>
                <a:t>分</a:t>
              </a:r>
              <a:endParaRPr lang="zh-CN" altLang="en-US" sz="2000">
                <a:solidFill>
                  <a:srgbClr val="808080"/>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pic>
        <p:nvPicPr>
          <p:cNvPr id="7" name="图片 6"/>
          <p:cNvPicPr/>
          <p:nvPr>
            <p:custDataLst>
              <p:tags r:id="rId16"/>
            </p:custDataLst>
          </p:nvPr>
        </p:nvPicPr>
        <p:blipFill>
          <a:blip r:embed="rId17">
            <a:extLst>
              <a:ext uri="{28A0092B-C50C-407E-A947-70E740481C1C}">
                <a14:useLocalDpi xmlns:a14="http://schemas.microsoft.com/office/drawing/2010/main" val="0"/>
              </a:ext>
            </a:extLst>
          </a:blip>
          <a:stretch>
            <a:fillRect/>
          </a:stretch>
        </p:blipFill>
        <p:spPr>
          <a:xfrm>
            <a:off x="7594600" y="63500"/>
            <a:ext cx="1422400" cy="508000"/>
          </a:xfrm>
          <a:prstGeom prst="rect">
            <a:avLst/>
          </a:prstGeom>
        </p:spPr>
      </p:pic>
    </p:spTree>
    <p:custDataLst>
      <p:tags r:id="rId18"/>
    </p:custData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日期占位符 3"/>
          <p:cNvSpPr>
            <a:spLocks noGrp="1"/>
          </p:cNvSpPr>
          <p:nvPr>
            <p:ph type="dt" sz="half" idx="10"/>
          </p:nvPr>
        </p:nvSpPr>
        <p:spPr/>
        <p:txBody>
          <a:bodyPr/>
          <a:lstStyle/>
          <a:p>
            <a:fld id="{7A38CC13-F115-49C4-BDBD-1B3691C87A4C}" type="datetime1">
              <a:rPr lang="zh-CN" altLang="en-US" smtClean="0"/>
            </a:fld>
            <a:endParaRPr lang="zh-CN" altLang="en-US" dirty="0"/>
          </a:p>
        </p:txBody>
      </p:sp>
      <p:sp>
        <p:nvSpPr>
          <p:cNvPr id="5" name="页脚占位符 4"/>
          <p:cNvSpPr>
            <a:spLocks noGrp="1"/>
          </p:cNvSpPr>
          <p:nvPr>
            <p:ph type="ftr" sz="quarter" idx="11"/>
          </p:nvPr>
        </p:nvSpPr>
        <p:spPr/>
        <p:txBody>
          <a:bodyPr/>
          <a:lstStyle/>
          <a:p>
            <a:r>
              <a:rPr lang="zh-CN" altLang="en-US"/>
              <a:t>软件工程</a:t>
            </a:r>
            <a:endParaRPr lang="zh-CN" altLang="en-US" dirty="0"/>
          </a:p>
        </p:txBody>
      </p:sp>
      <p:sp>
        <p:nvSpPr>
          <p:cNvPr id="6" name="灯片编号占位符 5"/>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8" name="文本框 7"/>
          <p:cNvSpPr txBox="1"/>
          <p:nvPr>
            <p:custDataLst>
              <p:tags r:id="rId1"/>
            </p:custDataLst>
          </p:nvPr>
        </p:nvSpPr>
        <p:spPr>
          <a:xfrm>
            <a:off x="914400" y="635000"/>
            <a:ext cx="7315200" cy="1607185"/>
          </a:xfrm>
          <a:prstGeom prst="rect">
            <a:avLst/>
          </a:prstGeom>
          <a:noFill/>
        </p:spPr>
        <p:txBody>
          <a:bodyPr wrap="square" rtlCol="0" anchor="ctr" anchorCtr="0">
            <a:noAutofit/>
          </a:bodyPr>
          <a:lstStyle/>
          <a:p>
            <a:pPr lvl="0" algn="l">
              <a:buNone/>
            </a:pPr>
            <a:r>
              <a:rPr lang="zh-CN" altLang="en-US" sz="2600" dirty="0">
                <a:sym typeface="+mn-ea"/>
              </a:rPr>
              <a:t>以下关于极限编程</a:t>
            </a:r>
            <a:r>
              <a:rPr lang="en-US" altLang="zh-CN" sz="2600" dirty="0">
                <a:sym typeface="+mn-ea"/>
              </a:rPr>
              <a:t>(XP) </a:t>
            </a:r>
            <a:r>
              <a:rPr lang="zh-CN" altLang="en-US" sz="2600" dirty="0">
                <a:sym typeface="+mn-ea"/>
              </a:rPr>
              <a:t>中结对编程的叙述中，不正确的是</a:t>
            </a:r>
            <a:r>
              <a:rPr lang="en-US" altLang="zh-CN" sz="2600" dirty="0">
                <a:sym typeface="+mn-ea"/>
              </a:rPr>
              <a:t>(</a:t>
            </a:r>
            <a:r>
              <a:rPr lang="zh-CN" altLang="en-US" sz="2600" dirty="0">
                <a:sym typeface="+mn-ea"/>
              </a:rPr>
              <a:t> </a:t>
            </a:r>
            <a:r>
              <a:rPr lang="en-US" altLang="zh-CN" sz="2600" b="1" dirty="0">
                <a:sym typeface="+mn-ea"/>
              </a:rPr>
              <a:t> </a:t>
            </a:r>
            <a:r>
              <a:rPr lang="en-US" altLang="zh-CN" sz="2600" dirty="0">
                <a:sym typeface="+mn-ea"/>
              </a:rPr>
              <a:t>)</a:t>
            </a:r>
            <a:r>
              <a:rPr lang="zh-CN" altLang="en-US" sz="2600" dirty="0">
                <a:sym typeface="+mn-ea"/>
              </a:rPr>
              <a:t>。</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2"/>
            </p:custDataLst>
          </p:nvPr>
        </p:nvSpPr>
        <p:spPr>
          <a:xfrm>
            <a:off x="1828800" y="2089150"/>
            <a:ext cx="6400800" cy="481965"/>
          </a:xfrm>
          <a:prstGeom prst="rect">
            <a:avLst/>
          </a:prstGeom>
          <a:noFill/>
        </p:spPr>
        <p:txBody>
          <a:bodyPr wrap="square" rtlCol="0" anchor="ctr" anchorCtr="0">
            <a:noAutofit/>
          </a:bodyPr>
          <a:lstStyle/>
          <a:p>
            <a:pPr lvl="0" algn="l">
              <a:buNone/>
            </a:pPr>
            <a:r>
              <a:rPr lang="zh-CN" altLang="en-US" sz="2600" dirty="0">
                <a:sym typeface="+mn-ea"/>
              </a:rPr>
              <a:t>支持共同代码拥有和共同对系统负责</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3"/>
            </p:custDataLst>
          </p:nvPr>
        </p:nvSpPr>
        <p:spPr>
          <a:xfrm>
            <a:off x="1828800" y="2732405"/>
            <a:ext cx="6400800" cy="481965"/>
          </a:xfrm>
          <a:prstGeom prst="rect">
            <a:avLst/>
          </a:prstGeom>
          <a:noFill/>
        </p:spPr>
        <p:txBody>
          <a:bodyPr wrap="square" rtlCol="0" anchor="ctr" anchorCtr="0">
            <a:noAutofit/>
          </a:bodyPr>
          <a:lstStyle/>
          <a:p>
            <a:pPr lvl="0" algn="l">
              <a:buNone/>
            </a:pPr>
            <a:r>
              <a:rPr lang="zh-CN" altLang="en-US" sz="2600" dirty="0">
                <a:sym typeface="+mn-ea"/>
              </a:rPr>
              <a:t>承担了非正式的代码审查过程 </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1" name="文本框 10"/>
          <p:cNvSpPr txBox="1"/>
          <p:nvPr>
            <p:custDataLst>
              <p:tags r:id="rId4"/>
            </p:custDataLst>
          </p:nvPr>
        </p:nvSpPr>
        <p:spPr>
          <a:xfrm>
            <a:off x="1828800" y="3375025"/>
            <a:ext cx="6400800" cy="481965"/>
          </a:xfrm>
          <a:prstGeom prst="rect">
            <a:avLst/>
          </a:prstGeom>
          <a:noFill/>
        </p:spPr>
        <p:txBody>
          <a:bodyPr wrap="square" rtlCol="0" anchor="ctr" anchorCtr="0">
            <a:noAutofit/>
          </a:bodyPr>
          <a:lstStyle/>
          <a:p>
            <a:pPr lvl="0" algn="l">
              <a:buNone/>
            </a:pPr>
            <a:r>
              <a:rPr lang="zh-CN" altLang="en-US" sz="2600" dirty="0">
                <a:sym typeface="+mn-ea"/>
              </a:rPr>
              <a:t>代码质量更高</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2" name="文本框 11"/>
          <p:cNvSpPr txBox="1"/>
          <p:nvPr>
            <p:custDataLst>
              <p:tags r:id="rId5"/>
            </p:custDataLst>
          </p:nvPr>
        </p:nvSpPr>
        <p:spPr>
          <a:xfrm>
            <a:off x="1828800" y="4018280"/>
            <a:ext cx="6400800" cy="481965"/>
          </a:xfrm>
          <a:prstGeom prst="rect">
            <a:avLst/>
          </a:prstGeom>
          <a:noFill/>
        </p:spPr>
        <p:txBody>
          <a:bodyPr wrap="square" rtlCol="0" anchor="ctr" anchorCtr="0">
            <a:noAutofit/>
          </a:bodyPr>
          <a:lstStyle/>
          <a:p>
            <a:pPr lvl="0" algn="l">
              <a:buNone/>
            </a:pPr>
            <a:r>
              <a:rPr lang="zh-CN" altLang="en-US" sz="2600" dirty="0">
                <a:sym typeface="+mn-ea"/>
              </a:rPr>
              <a:t>编码速度更快</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3" name="椭圆 12"/>
          <p:cNvSpPr>
            <a:spLocks noChangeAspect="1"/>
          </p:cNvSpPr>
          <p:nvPr>
            <p:custDataLst>
              <p:tags r:id="rId6"/>
            </p:custDataLst>
          </p:nvPr>
        </p:nvSpPr>
        <p:spPr>
          <a:xfrm>
            <a:off x="1178560" y="2137410"/>
            <a:ext cx="385445" cy="3860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4" name="椭圆 13"/>
          <p:cNvSpPr>
            <a:spLocks noChangeAspect="1"/>
          </p:cNvSpPr>
          <p:nvPr>
            <p:custDataLst>
              <p:tags r:id="rId7"/>
            </p:custDataLst>
          </p:nvPr>
        </p:nvSpPr>
        <p:spPr>
          <a:xfrm>
            <a:off x="1178560" y="2780665"/>
            <a:ext cx="385445" cy="385445"/>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5" name="椭圆 14"/>
          <p:cNvSpPr>
            <a:spLocks noChangeAspect="1"/>
          </p:cNvSpPr>
          <p:nvPr>
            <p:custDataLst>
              <p:tags r:id="rId8"/>
            </p:custDataLst>
          </p:nvPr>
        </p:nvSpPr>
        <p:spPr>
          <a:xfrm>
            <a:off x="1178560" y="3423285"/>
            <a:ext cx="385445" cy="3860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6" name="椭圆 15"/>
          <p:cNvSpPr>
            <a:spLocks noChangeAspect="1"/>
          </p:cNvSpPr>
          <p:nvPr>
            <p:custDataLst>
              <p:tags r:id="rId9"/>
            </p:custDataLst>
          </p:nvPr>
        </p:nvSpPr>
        <p:spPr>
          <a:xfrm>
            <a:off x="1178560" y="4066540"/>
            <a:ext cx="385445" cy="385445"/>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7" name="圆角矩形 16"/>
          <p:cNvSpPr/>
          <p:nvPr>
            <p:custDataLst>
              <p:tags r:id="rId10"/>
            </p:custDataLst>
          </p:nvPr>
        </p:nvSpPr>
        <p:spPr>
          <a:xfrm>
            <a:off x="6686550" y="4660900"/>
            <a:ext cx="1156970"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22" name="组合 21"/>
          <p:cNvGrpSpPr/>
          <p:nvPr>
            <p:custDataLst>
              <p:tags r:id="rId11"/>
            </p:custDataLst>
          </p:nvPr>
        </p:nvGrpSpPr>
        <p:grpSpPr>
          <a:xfrm>
            <a:off x="0" y="0"/>
            <a:ext cx="9144000" cy="635000"/>
            <a:chOff x="0" y="0"/>
            <a:chExt cx="14400" cy="1000"/>
          </a:xfrm>
        </p:grpSpPr>
        <p:sp>
          <p:nvSpPr>
            <p:cNvPr id="18" name="TitleBackground"/>
            <p:cNvSpPr/>
            <p:nvPr>
              <p:custDataLst>
                <p:tags r:id="rId12"/>
              </p:custDataLst>
            </p:nvPr>
          </p:nvSpPr>
          <p:spPr>
            <a:xfrm>
              <a:off x="0" y="0"/>
              <a:ext cx="14400" cy="1000"/>
            </a:xfrm>
            <a:prstGeom prst="rect">
              <a:avLst/>
            </a:prstGeom>
            <a:solidFill>
              <a:srgbClr val="F6F7F8"/>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ColorBlock"/>
            <p:cNvSpPr/>
            <p:nvPr>
              <p:custDataLst>
                <p:tags r:id="rId13"/>
              </p:custDataLst>
            </p:nvPr>
          </p:nvSpPr>
          <p:spPr>
            <a:xfrm>
              <a:off x="0" y="0"/>
              <a:ext cx="300" cy="1000"/>
            </a:xfrm>
            <a:prstGeom prst="rect">
              <a:avLst/>
            </a:prstGeom>
            <a:solidFill>
              <a:srgbClr val="639EF4"/>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21" name="TipText"/>
            <p:cNvSpPr txBox="1"/>
            <p:nvPr>
              <p:custDataLst>
                <p:tags r:id="rId15"/>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endPar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7" name="图片 6" descr="tmp91B3"/>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23AB57F-88F4-41E5-AFB1-FFC3DFCDB211}"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6" name="文本框 5"/>
          <p:cNvSpPr txBox="1"/>
          <p:nvPr>
            <p:custDataLst>
              <p:tags r:id="rId1"/>
            </p:custDataLst>
          </p:nvPr>
        </p:nvSpPr>
        <p:spPr>
          <a:xfrm>
            <a:off x="914400" y="635000"/>
            <a:ext cx="7315200" cy="1607185"/>
          </a:xfrm>
          <a:prstGeom prst="rect">
            <a:avLst/>
          </a:prstGeom>
          <a:noFill/>
        </p:spPr>
        <p:txBody>
          <a:bodyPr wrap="square" rtlCol="0" anchor="ctr" anchorCtr="0">
            <a:noAutofit/>
          </a:bodyPr>
          <a:lstStyle/>
          <a:p>
            <a:pPr lvl="0" algn="l">
              <a:buNone/>
            </a:pPr>
            <a:r>
              <a:rPr lang="zh-CN" altLang="en-US" sz="2600" dirty="0">
                <a:sym typeface="+mn-ea"/>
              </a:rPr>
              <a:t>以下关于极限编程（</a:t>
            </a:r>
            <a:r>
              <a:rPr lang="en-US" altLang="zh-CN" sz="2600" dirty="0">
                <a:sym typeface="+mn-ea"/>
              </a:rPr>
              <a:t>XP</a:t>
            </a:r>
            <a:r>
              <a:rPr lang="zh-CN" altLang="en-US" sz="2600" dirty="0">
                <a:sym typeface="+mn-ea"/>
              </a:rPr>
              <a:t>）的最佳实践的叙述中，不正确的是（ ）</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7" name="文本框 6"/>
          <p:cNvSpPr txBox="1"/>
          <p:nvPr>
            <p:custDataLst>
              <p:tags r:id="rId2"/>
            </p:custDataLst>
          </p:nvPr>
        </p:nvSpPr>
        <p:spPr>
          <a:xfrm>
            <a:off x="1828800" y="2089150"/>
            <a:ext cx="6400800" cy="481965"/>
          </a:xfrm>
          <a:prstGeom prst="rect">
            <a:avLst/>
          </a:prstGeom>
          <a:noFill/>
        </p:spPr>
        <p:txBody>
          <a:bodyPr wrap="square" rtlCol="0" anchor="ctr" anchorCtr="0">
            <a:noAutofit/>
          </a:bodyPr>
          <a:lstStyle/>
          <a:p>
            <a:pPr lvl="0" algn="l">
              <a:buNone/>
            </a:pPr>
            <a:r>
              <a:rPr lang="zh-CN" altLang="en-US" sz="2600" dirty="0">
                <a:sym typeface="+mn-ea"/>
              </a:rPr>
              <a:t>只处理当前的需求，使设计保持简单</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3"/>
            </p:custDataLst>
          </p:nvPr>
        </p:nvSpPr>
        <p:spPr>
          <a:xfrm>
            <a:off x="1828800" y="2732405"/>
            <a:ext cx="6400800" cy="481965"/>
          </a:xfrm>
          <a:prstGeom prst="rect">
            <a:avLst/>
          </a:prstGeom>
          <a:noFill/>
        </p:spPr>
        <p:txBody>
          <a:bodyPr wrap="square" rtlCol="0" anchor="ctr" anchorCtr="0">
            <a:noAutofit/>
          </a:bodyPr>
          <a:lstStyle/>
          <a:p>
            <a:pPr lvl="0" algn="l">
              <a:buNone/>
            </a:pPr>
            <a:r>
              <a:rPr lang="zh-CN" altLang="en-US" sz="2600" dirty="0">
                <a:sym typeface="+mn-ea"/>
              </a:rPr>
              <a:t>编写完程序之后编写测试代码</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4"/>
            </p:custDataLst>
          </p:nvPr>
        </p:nvSpPr>
        <p:spPr>
          <a:xfrm>
            <a:off x="1828800" y="3375025"/>
            <a:ext cx="6400800" cy="481965"/>
          </a:xfrm>
          <a:prstGeom prst="rect">
            <a:avLst/>
          </a:prstGeom>
          <a:noFill/>
        </p:spPr>
        <p:txBody>
          <a:bodyPr wrap="square" rtlCol="0" anchor="ctr" anchorCtr="0">
            <a:noAutofit/>
          </a:bodyPr>
          <a:lstStyle/>
          <a:p>
            <a:pPr lvl="0" algn="l">
              <a:buNone/>
            </a:pPr>
            <a:r>
              <a:rPr lang="zh-CN" altLang="en-US" sz="2600" dirty="0">
                <a:sym typeface="+mn-ea"/>
              </a:rPr>
              <a:t>可以按日甚至按小时为客户提供可运行的版本</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5"/>
            </p:custDataLst>
          </p:nvPr>
        </p:nvSpPr>
        <p:spPr>
          <a:xfrm>
            <a:off x="1828800" y="4018280"/>
            <a:ext cx="6400800" cy="481965"/>
          </a:xfrm>
          <a:prstGeom prst="rect">
            <a:avLst/>
          </a:prstGeom>
          <a:noFill/>
        </p:spPr>
        <p:txBody>
          <a:bodyPr wrap="square" rtlCol="0" anchor="ctr" anchorCtr="0">
            <a:noAutofit/>
          </a:bodyPr>
          <a:lstStyle/>
          <a:p>
            <a:pPr lvl="0" algn="l">
              <a:buNone/>
            </a:pPr>
            <a:r>
              <a:rPr lang="zh-CN" altLang="en-US" sz="2600" dirty="0">
                <a:sym typeface="+mn-ea"/>
              </a:rPr>
              <a:t>系统最终用户代表应该全程配合</a:t>
            </a:r>
            <a:r>
              <a:rPr lang="en-US" altLang="zh-CN" sz="2600" dirty="0">
                <a:sym typeface="+mn-ea"/>
              </a:rPr>
              <a:t>XP</a:t>
            </a:r>
            <a:r>
              <a:rPr lang="zh-CN" altLang="en-US" sz="2600" dirty="0">
                <a:sym typeface="+mn-ea"/>
              </a:rPr>
              <a:t>团队</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1" name="椭圆 10"/>
          <p:cNvSpPr>
            <a:spLocks noChangeAspect="1"/>
          </p:cNvSpPr>
          <p:nvPr>
            <p:custDataLst>
              <p:tags r:id="rId6"/>
            </p:custDataLst>
          </p:nvPr>
        </p:nvSpPr>
        <p:spPr>
          <a:xfrm>
            <a:off x="1178560" y="2137410"/>
            <a:ext cx="385445" cy="3860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2" name="椭圆 11"/>
          <p:cNvSpPr>
            <a:spLocks noChangeAspect="1"/>
          </p:cNvSpPr>
          <p:nvPr>
            <p:custDataLst>
              <p:tags r:id="rId7"/>
            </p:custDataLst>
          </p:nvPr>
        </p:nvSpPr>
        <p:spPr>
          <a:xfrm>
            <a:off x="1178560" y="2780665"/>
            <a:ext cx="385445" cy="385445"/>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3" name="椭圆 12"/>
          <p:cNvSpPr>
            <a:spLocks noChangeAspect="1"/>
          </p:cNvSpPr>
          <p:nvPr>
            <p:custDataLst>
              <p:tags r:id="rId8"/>
            </p:custDataLst>
          </p:nvPr>
        </p:nvSpPr>
        <p:spPr>
          <a:xfrm>
            <a:off x="1178560" y="3423285"/>
            <a:ext cx="385445" cy="38608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4" name="椭圆 13"/>
          <p:cNvSpPr>
            <a:spLocks noChangeAspect="1"/>
          </p:cNvSpPr>
          <p:nvPr>
            <p:custDataLst>
              <p:tags r:id="rId9"/>
            </p:custDataLst>
          </p:nvPr>
        </p:nvSpPr>
        <p:spPr>
          <a:xfrm>
            <a:off x="1178560" y="4066540"/>
            <a:ext cx="385445" cy="385445"/>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5" name="圆角矩形 14"/>
          <p:cNvSpPr/>
          <p:nvPr>
            <p:custDataLst>
              <p:tags r:id="rId10"/>
            </p:custDataLst>
          </p:nvPr>
        </p:nvSpPr>
        <p:spPr>
          <a:xfrm>
            <a:off x="6686550" y="4660900"/>
            <a:ext cx="1156970"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20" name="组合 19"/>
          <p:cNvGrpSpPr/>
          <p:nvPr>
            <p:custDataLst>
              <p:tags r:id="rId11"/>
            </p:custDataLst>
          </p:nvPr>
        </p:nvGrpSpPr>
        <p:grpSpPr>
          <a:xfrm>
            <a:off x="0" y="0"/>
            <a:ext cx="9144000" cy="635000"/>
            <a:chOff x="0" y="0"/>
            <a:chExt cx="14400" cy="1000"/>
          </a:xfrm>
        </p:grpSpPr>
        <p:sp>
          <p:nvSpPr>
            <p:cNvPr id="16" name="TitleBackground"/>
            <p:cNvSpPr/>
            <p:nvPr>
              <p:custDataLst>
                <p:tags r:id="rId12"/>
              </p:custDataLst>
            </p:nvPr>
          </p:nvSpPr>
          <p:spPr>
            <a:xfrm>
              <a:off x="0" y="0"/>
              <a:ext cx="14400" cy="1000"/>
            </a:xfrm>
            <a:prstGeom prst="rect">
              <a:avLst/>
            </a:prstGeom>
            <a:solidFill>
              <a:srgbClr val="F6F7F8"/>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300" cy="1000"/>
            </a:xfrm>
            <a:prstGeom prst="rect">
              <a:avLst/>
            </a:prstGeom>
            <a:solidFill>
              <a:srgbClr val="639EF4"/>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9" name="TipText"/>
            <p:cNvSpPr txBox="1"/>
            <p:nvPr>
              <p:custDataLst>
                <p:tags r:id="rId15"/>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endPar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5" name="图片 4" descr="tmp91B3"/>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23AB57F-88F4-41E5-AFB1-FFC3DFCDB211}" type="datetime1">
              <a:rPr lang="zh-CN" altLang="en-US" smtClean="0"/>
            </a:fld>
            <a:endParaRPr lang="zh-CN" altLang="en-US"/>
          </a:p>
        </p:txBody>
      </p:sp>
      <p:sp>
        <p:nvSpPr>
          <p:cNvPr id="3" name="页脚占位符 2"/>
          <p:cNvSpPr>
            <a:spLocks noGrp="1"/>
          </p:cNvSpPr>
          <p:nvPr>
            <p:ph type="ftr" sz="quarter" idx="11"/>
          </p:nvPr>
        </p:nvSpPr>
        <p:spPr/>
        <p:txBody>
          <a:bodyPr/>
          <a:lstStyle/>
          <a:p>
            <a:r>
              <a:rPr lang="zh-CN" altLang="en-US"/>
              <a:t>软件工程</a:t>
            </a:r>
            <a:endParaRPr lang="zh-CN" altLang="en-US"/>
          </a:p>
        </p:txBody>
      </p:sp>
      <p:sp>
        <p:nvSpPr>
          <p:cNvPr id="4" name="灯片编号占位符 3"/>
          <p:cNvSpPr>
            <a:spLocks noGrp="1"/>
          </p:cNvSpPr>
          <p:nvPr>
            <p:ph type="sldNum" sz="quarter" idx="12"/>
          </p:nvPr>
        </p:nvSpPr>
        <p:spPr/>
        <p:txBody>
          <a:bodyPr/>
          <a:lstStyle/>
          <a:p>
            <a:fld id="{F528F39D-B5E5-4CA7-906C-979D5A62978D}" type="slidenum">
              <a:rPr lang="zh-CN" altLang="en-US" smtClean="0"/>
            </a:fld>
            <a:endParaRPr lang="zh-CN" altLang="en-US"/>
          </a:p>
        </p:txBody>
      </p:sp>
      <p:sp>
        <p:nvSpPr>
          <p:cNvPr id="6" name="文本框 5"/>
          <p:cNvSpPr txBox="1"/>
          <p:nvPr>
            <p:custDataLst>
              <p:tags r:id="rId1"/>
            </p:custDataLst>
          </p:nvPr>
        </p:nvSpPr>
        <p:spPr>
          <a:xfrm>
            <a:off x="914400" y="635000"/>
            <a:ext cx="7315200" cy="1607185"/>
          </a:xfrm>
          <a:prstGeom prst="rect">
            <a:avLst/>
          </a:prstGeom>
          <a:noFill/>
        </p:spPr>
        <p:txBody>
          <a:bodyPr wrap="square" rtlCol="0" anchor="ctr" anchorCtr="0">
            <a:noAutofit/>
          </a:bodyPr>
          <a:lstStyle/>
          <a:p>
            <a:pPr lvl="0" algn="l">
              <a:buNone/>
            </a:pPr>
            <a:r>
              <a:rPr lang="zh-CN" altLang="zh-CN" sz="2600" dirty="0">
                <a:sym typeface="+mn-ea"/>
              </a:rPr>
              <a:t>极限编程（</a:t>
            </a:r>
            <a:r>
              <a:rPr lang="en-US" altLang="zh-CN" sz="2600" dirty="0">
                <a:sym typeface="+mn-ea"/>
              </a:rPr>
              <a:t>XP</a:t>
            </a:r>
            <a:r>
              <a:rPr lang="zh-CN" altLang="zh-CN" sz="2600" dirty="0">
                <a:sym typeface="+mn-ea"/>
              </a:rPr>
              <a:t>）的十二个最佳实践不包括（</a:t>
            </a:r>
            <a:r>
              <a:rPr lang="en-US" altLang="zh-CN" sz="2600" dirty="0">
                <a:sym typeface="+mn-ea"/>
              </a:rPr>
              <a:t>  </a:t>
            </a:r>
            <a:r>
              <a:rPr lang="zh-CN" altLang="zh-CN" sz="2600" dirty="0">
                <a:sym typeface="+mn-ea"/>
              </a:rPr>
              <a:t>）</a:t>
            </a:r>
            <a:endParaRPr lang="zh-CN" altLang="zh-CN" sz="2600" dirty="0"/>
          </a:p>
          <a:p>
            <a:pPr lvl="0" algn="l">
              <a:buNone/>
            </a:pP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7" name="文本框 6"/>
          <p:cNvSpPr txBox="1"/>
          <p:nvPr>
            <p:custDataLst>
              <p:tags r:id="rId2"/>
            </p:custDataLst>
          </p:nvPr>
        </p:nvSpPr>
        <p:spPr>
          <a:xfrm>
            <a:off x="1828800" y="2089150"/>
            <a:ext cx="6400800" cy="481965"/>
          </a:xfrm>
          <a:prstGeom prst="rect">
            <a:avLst/>
          </a:prstGeom>
          <a:noFill/>
        </p:spPr>
        <p:txBody>
          <a:bodyPr wrap="square" rtlCol="0" anchor="ctr" anchorCtr="0">
            <a:noAutofit/>
          </a:bodyPr>
          <a:lstStyle/>
          <a:p>
            <a:pPr lvl="0" algn="l">
              <a:buNone/>
            </a:pPr>
            <a:r>
              <a:rPr lang="zh-CN" altLang="zh-CN" sz="2600" dirty="0">
                <a:sym typeface="+mn-ea"/>
              </a:rPr>
              <a:t>小型发布</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8" name="文本框 7"/>
          <p:cNvSpPr txBox="1"/>
          <p:nvPr>
            <p:custDataLst>
              <p:tags r:id="rId3"/>
            </p:custDataLst>
          </p:nvPr>
        </p:nvSpPr>
        <p:spPr>
          <a:xfrm>
            <a:off x="1828800" y="2732405"/>
            <a:ext cx="6400800" cy="481965"/>
          </a:xfrm>
          <a:prstGeom prst="rect">
            <a:avLst/>
          </a:prstGeom>
          <a:noFill/>
        </p:spPr>
        <p:txBody>
          <a:bodyPr wrap="square" rtlCol="0" anchor="ctr" anchorCtr="0">
            <a:noAutofit/>
          </a:bodyPr>
          <a:lstStyle/>
          <a:p>
            <a:pPr lvl="0" algn="l">
              <a:buNone/>
            </a:pPr>
            <a:r>
              <a:rPr lang="zh-CN" altLang="zh-CN" sz="2600" dirty="0">
                <a:sym typeface="+mn-ea"/>
              </a:rPr>
              <a:t>结对编程</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9" name="文本框 8"/>
          <p:cNvSpPr txBox="1"/>
          <p:nvPr>
            <p:custDataLst>
              <p:tags r:id="rId4"/>
            </p:custDataLst>
          </p:nvPr>
        </p:nvSpPr>
        <p:spPr>
          <a:xfrm>
            <a:off x="1828800" y="3375025"/>
            <a:ext cx="6400800" cy="481965"/>
          </a:xfrm>
          <a:prstGeom prst="rect">
            <a:avLst/>
          </a:prstGeom>
          <a:noFill/>
        </p:spPr>
        <p:txBody>
          <a:bodyPr wrap="square" rtlCol="0" anchor="ctr" anchorCtr="0">
            <a:noAutofit/>
          </a:bodyPr>
          <a:lstStyle/>
          <a:p>
            <a:pPr lvl="0" algn="l">
              <a:buNone/>
            </a:pPr>
            <a:r>
              <a:rPr lang="zh-CN" altLang="zh-CN" sz="2600" dirty="0">
                <a:sym typeface="+mn-ea"/>
              </a:rPr>
              <a:t>持续集成</a:t>
            </a:r>
            <a:r>
              <a:rPr lang="en-US" altLang="zh-CN" sz="2600" dirty="0">
                <a:sym typeface="+mn-ea"/>
              </a:rPr>
              <a:t> </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0" name="文本框 9"/>
          <p:cNvSpPr txBox="1"/>
          <p:nvPr>
            <p:custDataLst>
              <p:tags r:id="rId5"/>
            </p:custDataLst>
          </p:nvPr>
        </p:nvSpPr>
        <p:spPr>
          <a:xfrm>
            <a:off x="1828800" y="4018280"/>
            <a:ext cx="6400800" cy="481965"/>
          </a:xfrm>
          <a:prstGeom prst="rect">
            <a:avLst/>
          </a:prstGeom>
          <a:noFill/>
        </p:spPr>
        <p:txBody>
          <a:bodyPr wrap="square" rtlCol="0" anchor="ctr" anchorCtr="0">
            <a:noAutofit/>
          </a:bodyPr>
          <a:lstStyle/>
          <a:p>
            <a:pPr lvl="0" algn="l">
              <a:buNone/>
            </a:pPr>
            <a:r>
              <a:rPr lang="zh-CN" altLang="zh-CN" sz="2600" dirty="0">
                <a:sym typeface="+mn-ea"/>
              </a:rPr>
              <a:t>精心设计</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1" name="椭圆 10"/>
          <p:cNvSpPr>
            <a:spLocks noChangeAspect="1"/>
          </p:cNvSpPr>
          <p:nvPr>
            <p:custDataLst>
              <p:tags r:id="rId6"/>
            </p:custDataLst>
          </p:nvPr>
        </p:nvSpPr>
        <p:spPr>
          <a:xfrm>
            <a:off x="1178560" y="2137410"/>
            <a:ext cx="385445" cy="3860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A</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2" name="椭圆 11"/>
          <p:cNvSpPr>
            <a:spLocks noChangeAspect="1"/>
          </p:cNvSpPr>
          <p:nvPr>
            <p:custDataLst>
              <p:tags r:id="rId7"/>
            </p:custDataLst>
          </p:nvPr>
        </p:nvSpPr>
        <p:spPr>
          <a:xfrm>
            <a:off x="1178560" y="2780665"/>
            <a:ext cx="385445" cy="385445"/>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B</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3" name="椭圆 12"/>
          <p:cNvSpPr>
            <a:spLocks noChangeAspect="1"/>
          </p:cNvSpPr>
          <p:nvPr>
            <p:custDataLst>
              <p:tags r:id="rId8"/>
            </p:custDataLst>
          </p:nvPr>
        </p:nvSpPr>
        <p:spPr>
          <a:xfrm>
            <a:off x="1178560" y="3423285"/>
            <a:ext cx="385445" cy="38608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C</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4" name="椭圆 13"/>
          <p:cNvSpPr>
            <a:spLocks noChangeAspect="1"/>
          </p:cNvSpPr>
          <p:nvPr>
            <p:custDataLst>
              <p:tags r:id="rId9"/>
            </p:custDataLst>
          </p:nvPr>
        </p:nvSpPr>
        <p:spPr>
          <a:xfrm>
            <a:off x="1178560" y="4066540"/>
            <a:ext cx="385445" cy="385445"/>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D</a:t>
            </a:r>
            <a:endParaRPr lang="zh-CN" altLang="en-US" sz="1600">
              <a:solidFill>
                <a:srgbClr val="FFFFFF"/>
              </a:solidFill>
              <a:latin typeface="微软雅黑" panose="020B0503020204020204" pitchFamily="34" charset="-122"/>
              <a:ea typeface="微软雅黑" panose="020B0503020204020204" pitchFamily="34" charset="-122"/>
            </a:endParaRPr>
          </a:p>
        </p:txBody>
      </p:sp>
      <p:sp>
        <p:nvSpPr>
          <p:cNvPr id="15" name="圆角矩形 14"/>
          <p:cNvSpPr/>
          <p:nvPr>
            <p:custDataLst>
              <p:tags r:id="rId10"/>
            </p:custDataLst>
          </p:nvPr>
        </p:nvSpPr>
        <p:spPr>
          <a:xfrm>
            <a:off x="6686550" y="4660900"/>
            <a:ext cx="1156970" cy="30861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noAutofit/>
          </a:bodyPr>
          <a:lstStyle/>
          <a:p>
            <a:pPr algn="ctr"/>
            <a:r>
              <a:rPr lang="zh-CN" altLang="en-US" sz="1600">
                <a:solidFill>
                  <a:srgbClr val="FFFFFF"/>
                </a:solidFill>
                <a:latin typeface="微软雅黑" panose="020B0503020204020204" pitchFamily="34" charset="-122"/>
                <a:ea typeface="微软雅黑" panose="020B0503020204020204" pitchFamily="34" charset="-122"/>
              </a:rPr>
              <a:t>提交</a:t>
            </a:r>
            <a:endParaRPr lang="zh-CN" altLang="en-US" sz="1600">
              <a:solidFill>
                <a:srgbClr val="FFFFFF"/>
              </a:solidFill>
              <a:latin typeface="微软雅黑" panose="020B0503020204020204" pitchFamily="34" charset="-122"/>
              <a:ea typeface="微软雅黑" panose="020B0503020204020204" pitchFamily="34" charset="-122"/>
            </a:endParaRPr>
          </a:p>
        </p:txBody>
      </p:sp>
      <p:grpSp>
        <p:nvGrpSpPr>
          <p:cNvPr id="20" name="组合 19"/>
          <p:cNvGrpSpPr/>
          <p:nvPr>
            <p:custDataLst>
              <p:tags r:id="rId11"/>
            </p:custDataLst>
          </p:nvPr>
        </p:nvGrpSpPr>
        <p:grpSpPr>
          <a:xfrm>
            <a:off x="0" y="0"/>
            <a:ext cx="9144000" cy="635000"/>
            <a:chOff x="0" y="0"/>
            <a:chExt cx="14400" cy="1000"/>
          </a:xfrm>
        </p:grpSpPr>
        <p:sp>
          <p:nvSpPr>
            <p:cNvPr id="16" name="TitleBackground"/>
            <p:cNvSpPr/>
            <p:nvPr>
              <p:custDataLst>
                <p:tags r:id="rId12"/>
              </p:custDataLst>
            </p:nvPr>
          </p:nvSpPr>
          <p:spPr>
            <a:xfrm>
              <a:off x="0" y="0"/>
              <a:ext cx="14400" cy="1000"/>
            </a:xfrm>
            <a:prstGeom prst="rect">
              <a:avLst/>
            </a:prstGeom>
            <a:solidFill>
              <a:srgbClr val="F6F7F8"/>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ColorBlock"/>
            <p:cNvSpPr/>
            <p:nvPr>
              <p:custDataLst>
                <p:tags r:id="rId13"/>
              </p:custDataLst>
            </p:nvPr>
          </p:nvSpPr>
          <p:spPr>
            <a:xfrm>
              <a:off x="0" y="0"/>
              <a:ext cx="300" cy="1000"/>
            </a:xfrm>
            <a:prstGeom prst="rect">
              <a:avLst/>
            </a:prstGeom>
            <a:solidFill>
              <a:srgbClr val="639EF4"/>
            </a:solidFill>
            <a:ln w="15875" cap="flat" cmpd="sng" algn="ctr">
              <a:noFill/>
              <a:prstDash val="solid"/>
            </a:ln>
            <a:extLst>
              <a:ext uri="{91240B29-F687-4F45-9708-019B960494DF}">
                <a14:hiddenLine xmlns:a14="http://schemas.microsoft.com/office/drawing/2010/main" w="15875">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ypeText"/>
            <p:cNvSpPr txBox="1"/>
            <p:nvPr>
              <p:custDataLst>
                <p:tags r:id="rId14"/>
              </p:custDataLst>
            </p:nvPr>
          </p:nvSpPr>
          <p:spPr>
            <a:xfrm>
              <a:off x="400" y="0"/>
              <a:ext cx="3000" cy="1000"/>
            </a:xfrm>
            <a:prstGeom prst="rect">
              <a:avLst/>
            </a:prstGeom>
            <a:noFill/>
          </p:spPr>
          <p:txBody>
            <a:bodyPr wrap="none" rtlCol="0" anchor="ctr" anchorCtr="0">
              <a:noAutofit/>
            </a:bodyPr>
            <a:lstStyle/>
            <a:p>
              <a:pPr lvl="0" algn="l">
                <a:buNone/>
              </a:pPr>
              <a:r>
                <a:rPr lang="zh-CN" altLang="en-US" sz="2600">
                  <a:solidFill>
                    <a:srgbClr val="000000"/>
                  </a:solidFill>
                  <a:latin typeface="微软雅黑" panose="020B0503020204020204" pitchFamily="34" charset="-122"/>
                  <a:ea typeface="微软雅黑" panose="020B0503020204020204" pitchFamily="34" charset="-122"/>
                </a:rPr>
                <a:t>单选题</a:t>
              </a:r>
              <a:endParaRPr lang="zh-CN" altLang="en-US" sz="2600">
                <a:solidFill>
                  <a:srgbClr val="000000"/>
                </a:solidFill>
                <a:latin typeface="微软雅黑" panose="020B0503020204020204" pitchFamily="34" charset="-122"/>
                <a:ea typeface="微软雅黑" panose="020B0503020204020204" pitchFamily="34" charset="-122"/>
              </a:endParaRPr>
            </a:p>
          </p:txBody>
        </p:sp>
        <p:sp>
          <p:nvSpPr>
            <p:cNvPr id="19" name="TipText"/>
            <p:cNvSpPr txBox="1"/>
            <p:nvPr>
              <p:custDataLst>
                <p:tags r:id="rId15"/>
              </p:custDataLst>
            </p:nvPr>
          </p:nvSpPr>
          <p:spPr>
            <a:xfrm>
              <a:off x="2248" y="172"/>
              <a:ext cx="3600" cy="800"/>
            </a:xfrm>
            <a:prstGeom prst="rect">
              <a:avLst/>
            </a:prstGeom>
            <a:noFill/>
          </p:spPr>
          <p:txBody>
            <a:bodyPr wrap="none" rtlCol="0" anchor="ctr" anchorCtr="0">
              <a:noAutofit/>
            </a:bodyPr>
            <a:lstStyle/>
            <a:p>
              <a:pPr lvl="0" algn="l">
                <a:buNone/>
              </a:pPr>
              <a:r>
                <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rPr>
                <a:t>1分</a:t>
              </a:r>
              <a:endParaRPr lang="zh-CN" altLang="en-US" sz="2000">
                <a:solidFill>
                  <a:srgbClr val="808080"/>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5" name="图片 4" descr="tmp91B3"/>
          <p:cNvPicPr>
            <a:picLocks noChangeAspect="1"/>
          </p:cNvPicPr>
          <p:nvPr>
            <p:custDataLst>
              <p:tags r:id="rId16"/>
            </p:custDataLst>
          </p:nvPr>
        </p:nvPicPr>
        <p:blipFill>
          <a:blip r:embed="rId17"/>
          <a:stretch>
            <a:fillRect/>
          </a:stretch>
        </p:blipFill>
        <p:spPr>
          <a:xfrm>
            <a:off x="7594600" y="63500"/>
            <a:ext cx="1422400" cy="508000"/>
          </a:xfrm>
          <a:prstGeom prst="rect">
            <a:avLst/>
          </a:prstGeom>
        </p:spPr>
      </p:pic>
    </p:spTree>
    <p:custDataLst>
      <p:tags r:id="rId18"/>
    </p:custData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dirty="0">
                <a:sym typeface="+mn-ea"/>
              </a:rPr>
              <a:t>DevOps概述</a:t>
            </a:r>
            <a:endParaRPr lang="zh-CN" altLang="en-US"/>
          </a:p>
        </p:txBody>
      </p:sp>
      <p:sp>
        <p:nvSpPr>
          <p:cNvPr id="3" name="内容占位符 2"/>
          <p:cNvSpPr>
            <a:spLocks noGrp="1"/>
          </p:cNvSpPr>
          <p:nvPr>
            <p:ph idx="1"/>
          </p:nvPr>
        </p:nvSpPr>
        <p:spPr>
          <a:xfrm>
            <a:off x="768350" y="894080"/>
            <a:ext cx="4772660" cy="3542665"/>
          </a:xfrm>
        </p:spPr>
        <p:txBody>
          <a:bodyPr>
            <a:noAutofit/>
          </a:bodyPr>
          <a:p>
            <a:pPr marL="0" lvl="1" fontAlgn="auto">
              <a:lnSpc>
                <a:spcPct val="100000"/>
              </a:lnSpc>
            </a:pPr>
            <a:r>
              <a:rPr lang="zh-CN" altLang="zh-CN" sz="2000" dirty="0">
                <a:sym typeface="+mn-ea"/>
              </a:rPr>
              <a:t>DevOps（Development开发和Operations运维的组合）是</a:t>
            </a:r>
            <a:r>
              <a:rPr lang="zh-CN" altLang="zh-CN" sz="2000" dirty="0">
                <a:solidFill>
                  <a:srgbClr val="FF0000"/>
                </a:solidFill>
                <a:sym typeface="+mn-ea"/>
              </a:rPr>
              <a:t>一组过程、方法与系统的统称</a:t>
            </a:r>
            <a:r>
              <a:rPr lang="zh-CN" altLang="zh-CN" sz="2000" dirty="0">
                <a:sym typeface="+mn-ea"/>
              </a:rPr>
              <a:t>，用于促进开发(应用程序/软件工程)、技术运营和质量保障(QA)部门之间的沟通、协作与整合，打破传统开发和运维之间壁垒。</a:t>
            </a:r>
            <a:endParaRPr lang="zh-CN" altLang="zh-CN" sz="2000" dirty="0">
              <a:sym typeface="+mn-ea"/>
            </a:endParaRPr>
          </a:p>
          <a:p>
            <a:pPr marL="0" lvl="1" fontAlgn="auto">
              <a:lnSpc>
                <a:spcPct val="100000"/>
              </a:lnSpc>
            </a:pPr>
            <a:r>
              <a:rPr lang="zh-CN" altLang="zh-CN" sz="2000" dirty="0">
                <a:sym typeface="+mn-ea"/>
              </a:rPr>
              <a:t>是从敏捷发展起来的，它添加了新的过程和工具，将CI/CD的持续迭代和自动化扩展到软件交付生命周期的其余部分。</a:t>
            </a:r>
            <a:endParaRPr lang="zh-CN" altLang="zh-CN" sz="2000" dirty="0">
              <a:sym typeface="+mn-ea"/>
            </a:endParaRPr>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106" name="图片 105"/>
          <p:cNvPicPr/>
          <p:nvPr/>
        </p:nvPicPr>
        <p:blipFill>
          <a:blip r:embed="rId1"/>
          <a:stretch>
            <a:fillRect/>
          </a:stretch>
        </p:blipFill>
        <p:spPr>
          <a:xfrm>
            <a:off x="5853430" y="1397635"/>
            <a:ext cx="3004820" cy="2783840"/>
          </a:xfrm>
          <a:prstGeom prst="rect">
            <a:avLst/>
          </a:prstGeom>
          <a:noFill/>
          <a:ln w="9525">
            <a:noFill/>
          </a:ln>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敏捷开发与</a:t>
            </a:r>
            <a:r>
              <a:rPr lang="en-US" altLang="zh-CN"/>
              <a:t>DevOps</a:t>
            </a:r>
            <a:endParaRPr lang="en-US" altLang="zh-CN"/>
          </a:p>
        </p:txBody>
      </p:sp>
      <p:pic>
        <p:nvPicPr>
          <p:cNvPr id="7" name="内容占位符 6"/>
          <p:cNvPicPr>
            <a:picLocks noChangeAspect="1"/>
          </p:cNvPicPr>
          <p:nvPr>
            <p:ph idx="1"/>
          </p:nvPr>
        </p:nvPicPr>
        <p:blipFill>
          <a:blip r:embed="rId1"/>
          <a:stretch>
            <a:fillRect/>
          </a:stretch>
        </p:blipFill>
        <p:spPr>
          <a:xfrm>
            <a:off x="1271905" y="828675"/>
            <a:ext cx="6085205" cy="3118485"/>
          </a:xfrm>
          <a:prstGeom prst="rect">
            <a:avLst/>
          </a:prstGeom>
        </p:spPr>
      </p:pic>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8" name="文本框 7"/>
          <p:cNvSpPr txBox="1"/>
          <p:nvPr/>
        </p:nvSpPr>
        <p:spPr>
          <a:xfrm>
            <a:off x="843915" y="4043680"/>
            <a:ext cx="7673975" cy="645160"/>
          </a:xfrm>
          <a:prstGeom prst="rect">
            <a:avLst/>
          </a:prstGeom>
          <a:noFill/>
        </p:spPr>
        <p:txBody>
          <a:bodyPr wrap="square" rtlCol="0" anchor="t">
            <a:spAutoFit/>
          </a:bodyPr>
          <a:p>
            <a:r>
              <a:rPr lang="en-US" altLang="zh-CN">
                <a:sym typeface="+mn-ea"/>
              </a:rPr>
              <a:t>DevOps</a:t>
            </a:r>
            <a:r>
              <a:rPr lang="zh-CN" altLang="en-US">
                <a:sym typeface="+mn-ea"/>
              </a:rPr>
              <a:t>模式通过自动化流程实现应用的持续集成与持续部署，在保证质量的前提下，满足用户不断变化的需求，快速交付高品质的软件迭代版本。</a:t>
            </a:r>
            <a:endParaRPr lang="zh-CN" altLang="en-US">
              <a:sym typeface="+mn-ea"/>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9" name="内容占位符 8"/>
          <p:cNvPicPr>
            <a:picLocks noChangeAspect="1"/>
          </p:cNvPicPr>
          <p:nvPr>
            <p:ph idx="1"/>
          </p:nvPr>
        </p:nvPicPr>
        <p:blipFill>
          <a:blip r:embed="rId1"/>
          <a:stretch>
            <a:fillRect/>
          </a:stretch>
        </p:blipFill>
        <p:spPr>
          <a:xfrm>
            <a:off x="768350" y="1044575"/>
            <a:ext cx="7832725" cy="3388995"/>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dirty="0">
                <a:sym typeface="+mn-ea"/>
              </a:rPr>
              <a:t>DevOps概述</a:t>
            </a:r>
            <a:endParaRPr lang="zh-CN" altLang="en-US"/>
          </a:p>
        </p:txBody>
      </p:sp>
      <p:sp>
        <p:nvSpPr>
          <p:cNvPr id="3" name="内容占位符 2"/>
          <p:cNvSpPr>
            <a:spLocks noGrp="1"/>
          </p:cNvSpPr>
          <p:nvPr>
            <p:ph idx="1"/>
          </p:nvPr>
        </p:nvSpPr>
        <p:spPr>
          <a:xfrm>
            <a:off x="768350" y="944245"/>
            <a:ext cx="4917440" cy="3787775"/>
          </a:xfrm>
        </p:spPr>
        <p:txBody>
          <a:bodyPr>
            <a:normAutofit lnSpcReduction="10000"/>
          </a:bodyPr>
          <a:p>
            <a:pPr marL="342900" indent="-342900">
              <a:lnSpc>
                <a:spcPct val="150000"/>
              </a:lnSpc>
            </a:pPr>
            <a:r>
              <a:rPr lang="zh-CN" altLang="en-US" sz="2000"/>
              <a:t>在缺乏DevOps能力的组织中，开发与运营之间存在着信息"鸿沟"。</a:t>
            </a:r>
            <a:r>
              <a:rPr lang="zh-CN" altLang="en-US" sz="2000">
                <a:sym typeface="+mn-ea"/>
              </a:rPr>
              <a:t>这种信息鸿沟就是最常出问题的地方。</a:t>
            </a:r>
            <a:endParaRPr lang="zh-CN" altLang="en-US" sz="2000"/>
          </a:p>
          <a:p>
            <a:pPr marL="342900" indent="-342900">
              <a:lnSpc>
                <a:spcPct val="150000"/>
              </a:lnSpc>
            </a:pPr>
            <a:r>
              <a:rPr lang="zh-CN" altLang="en-US" sz="2000"/>
              <a:t>例如运营人员要求更好的可靠性和安全性，开发人员则希望基础设施响应更快，而业务用户的需求则是更快地将更多的特性发布给最终用户使用。</a:t>
            </a:r>
            <a:endParaRPr lang="zh-CN" altLang="en-US" sz="2000"/>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105" name="图片 104"/>
          <p:cNvPicPr/>
          <p:nvPr/>
        </p:nvPicPr>
        <p:blipFill>
          <a:blip r:embed="rId1"/>
          <a:stretch>
            <a:fillRect/>
          </a:stretch>
        </p:blipFill>
        <p:spPr>
          <a:xfrm>
            <a:off x="6001513" y="0"/>
            <a:ext cx="2996945" cy="5143500"/>
          </a:xfrm>
          <a:prstGeom prst="rect">
            <a:avLst/>
          </a:prstGeom>
          <a:noFill/>
          <a:ln w="9525">
            <a:noFill/>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pic>
        <p:nvPicPr>
          <p:cNvPr id="7" name="内容占位符 6" descr="1dev"/>
          <p:cNvPicPr>
            <a:picLocks noChangeAspect="1"/>
          </p:cNvPicPr>
          <p:nvPr>
            <p:ph idx="1"/>
          </p:nvPr>
        </p:nvPicPr>
        <p:blipFill>
          <a:blip r:embed="rId1"/>
          <a:stretch>
            <a:fillRect/>
          </a:stretch>
        </p:blipFill>
        <p:spPr>
          <a:xfrm>
            <a:off x="632460" y="897255"/>
            <a:ext cx="4126230" cy="3016250"/>
          </a:xfrm>
          <a:prstGeom prst="rect">
            <a:avLst/>
          </a:prstGeom>
        </p:spPr>
      </p:pic>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8" name="图片 7" descr="2dev"/>
          <p:cNvPicPr>
            <a:picLocks noChangeAspect="1"/>
          </p:cNvPicPr>
          <p:nvPr/>
        </p:nvPicPr>
        <p:blipFill>
          <a:blip r:embed="rId2"/>
          <a:stretch>
            <a:fillRect/>
          </a:stretch>
        </p:blipFill>
        <p:spPr>
          <a:xfrm>
            <a:off x="3976370" y="897255"/>
            <a:ext cx="4881880" cy="2893060"/>
          </a:xfrm>
          <a:prstGeom prst="rect">
            <a:avLst/>
          </a:prstGeom>
        </p:spPr>
      </p:pic>
      <p:sp>
        <p:nvSpPr>
          <p:cNvPr id="9" name="文本框 8"/>
          <p:cNvSpPr txBox="1"/>
          <p:nvPr/>
        </p:nvSpPr>
        <p:spPr>
          <a:xfrm>
            <a:off x="390525" y="3858895"/>
            <a:ext cx="8362950" cy="922020"/>
          </a:xfrm>
          <a:prstGeom prst="rect">
            <a:avLst/>
          </a:prstGeom>
          <a:noFill/>
        </p:spPr>
        <p:txBody>
          <a:bodyPr wrap="square" rtlCol="0" anchor="t">
            <a:spAutoFit/>
          </a:bodyPr>
          <a:p>
            <a:r>
              <a:rPr lang="zh-CN" altLang="en-US"/>
              <a:t>开发团队的工程师需要知道运维团队的同事是如何进行操作的。为了让开发和运维无缝地衔接</a:t>
            </a:r>
            <a:r>
              <a:rPr lang="en-US" altLang="zh-CN"/>
              <a:t>,让开发直接迁移到运维时的环境，不需要进行什么变化。这便是DevOps的目标所在.</a:t>
            </a:r>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dirty="0">
                <a:sym typeface="+mn-ea"/>
              </a:rPr>
              <a:t>DevOps概述</a:t>
            </a:r>
            <a:endParaRPr lang="zh-CN" altLang="en-US"/>
          </a:p>
        </p:txBody>
      </p:sp>
      <p:sp>
        <p:nvSpPr>
          <p:cNvPr id="3" name="内容占位符 2"/>
          <p:cNvSpPr>
            <a:spLocks noGrp="1"/>
          </p:cNvSpPr>
          <p:nvPr>
            <p:ph idx="1"/>
          </p:nvPr>
        </p:nvSpPr>
        <p:spPr>
          <a:xfrm>
            <a:off x="768350" y="925195"/>
            <a:ext cx="7935595" cy="3806825"/>
          </a:xfrm>
        </p:spPr>
        <p:txBody>
          <a:bodyPr/>
          <a:p>
            <a:pPr>
              <a:lnSpc>
                <a:spcPct val="150000"/>
              </a:lnSpc>
            </a:pPr>
            <a:r>
              <a:rPr lang="zh-CN" altLang="en-US" sz="2400">
                <a:sym typeface="+mn-ea"/>
              </a:rPr>
              <a:t>DevOps是为了填补开发端和运维端之间的信息鸿沟，改善团队之间的协作关系，可以高效交付。</a:t>
            </a:r>
            <a:endParaRPr lang="zh-CN" altLang="en-US" sz="2400">
              <a:sym typeface="+mn-ea"/>
            </a:endParaRPr>
          </a:p>
          <a:p>
            <a:pPr>
              <a:lnSpc>
                <a:spcPct val="150000"/>
              </a:lnSpc>
            </a:pPr>
            <a:r>
              <a:rPr lang="zh-CN" altLang="en-US" sz="2400">
                <a:sym typeface="+mn-ea"/>
              </a:rPr>
              <a:t>在具备DevOps能力的组织中，应用程序发布的风险很低。由于团队间协作关系的改善，整个组织的效率因此得到提升，伴随频繁变化而来的生产环境的风险就能得到降低。</a:t>
            </a:r>
            <a:endParaRPr lang="zh-CN" altLang="en-US" sz="2400"/>
          </a:p>
          <a:p>
            <a:endParaRPr lang="zh-CN" altLang="en-US" sz="2400"/>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思考</a:t>
            </a:r>
            <a:endParaRPr lang="zh-CN" altLang="en-US"/>
          </a:p>
        </p:txBody>
      </p:sp>
      <p:sp>
        <p:nvSpPr>
          <p:cNvPr id="3" name="内容占位符 2"/>
          <p:cNvSpPr>
            <a:spLocks noGrp="1"/>
          </p:cNvSpPr>
          <p:nvPr>
            <p:ph idx="1"/>
          </p:nvPr>
        </p:nvSpPr>
        <p:spPr/>
        <p:txBody>
          <a:bodyPr>
            <a:normAutofit fontScale="90000" lnSpcReduction="20000"/>
          </a:bodyPr>
          <a:p>
            <a:pPr>
              <a:lnSpc>
                <a:spcPct val="140000"/>
              </a:lnSpc>
            </a:pPr>
            <a:r>
              <a:rPr lang="zh-CN" altLang="en-US" sz="2400"/>
              <a:t>快速部署同时提高IT稳定性。这难道不矛盾吗？</a:t>
            </a:r>
            <a:endParaRPr lang="zh-CN" altLang="en-US" sz="2400"/>
          </a:p>
          <a:p>
            <a:pPr>
              <a:lnSpc>
                <a:spcPct val="140000"/>
              </a:lnSpc>
            </a:pPr>
            <a:r>
              <a:rPr lang="zh-CN" altLang="en-US" sz="2400"/>
              <a:t>快速的部署其实可以帮助更快地发现问题，产品被更快地交付到用户手中，团队可以更快地得到用户的反馈，从而进行更快地响应。而且，DevOps小步快跑的形式带来的变化是比较小的，出现问题的偏差每次都不会太大，修复起来也会相对容易一些。</a:t>
            </a:r>
            <a:endParaRPr lang="zh-CN" altLang="en-US" sz="2400"/>
          </a:p>
          <a:p>
            <a:pPr>
              <a:lnSpc>
                <a:spcPct val="140000"/>
              </a:lnSpc>
            </a:pPr>
            <a:r>
              <a:rPr lang="zh-CN" altLang="en-US" sz="2400"/>
              <a:t>因为滞后软件服务的发布也并不一定会完全地避免问题，在竞争日益激烈的IT行业，这反而可能错失了软件的发布时机</a:t>
            </a:r>
            <a:endParaRPr lang="zh-CN" altLang="en-US" sz="2400"/>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dirty="0">
                <a:sym typeface="+mn-ea"/>
              </a:rPr>
              <a:t>引入DevOps的条件</a:t>
            </a:r>
            <a:endParaRPr lang="zh-CN" altLang="en-US"/>
          </a:p>
        </p:txBody>
      </p:sp>
      <p:sp>
        <p:nvSpPr>
          <p:cNvPr id="3" name="内容占位符 2"/>
          <p:cNvSpPr>
            <a:spLocks noGrp="1"/>
          </p:cNvSpPr>
          <p:nvPr>
            <p:ph idx="1"/>
          </p:nvPr>
        </p:nvSpPr>
        <p:spPr/>
        <p:txBody>
          <a:bodyPr/>
          <a:p>
            <a:pPr marL="342900" indent="-342900">
              <a:lnSpc>
                <a:spcPct val="140000"/>
              </a:lnSpc>
            </a:pPr>
            <a:r>
              <a:rPr lang="zh-CN" altLang="en-US" sz="2400"/>
              <a:t>使用敏捷或其他软件开发过程与方法</a:t>
            </a:r>
            <a:endParaRPr lang="zh-CN" altLang="en-US" sz="2400"/>
          </a:p>
          <a:p>
            <a:pPr marL="342900" indent="-342900">
              <a:lnSpc>
                <a:spcPct val="140000"/>
              </a:lnSpc>
            </a:pPr>
            <a:r>
              <a:rPr lang="zh-CN" altLang="en-US" sz="2400"/>
              <a:t>业务负责人要求加快产品交付的速率</a:t>
            </a:r>
            <a:endParaRPr lang="zh-CN" altLang="en-US" sz="2400"/>
          </a:p>
          <a:p>
            <a:pPr marL="342900" indent="-342900">
              <a:lnSpc>
                <a:spcPct val="140000"/>
              </a:lnSpc>
            </a:pPr>
            <a:r>
              <a:rPr lang="zh-CN" altLang="en-US" sz="2400"/>
              <a:t>虚拟化和云计算基础设施(可能来自内部或外部供应商)日益普遍</a:t>
            </a:r>
            <a:endParaRPr lang="zh-CN" altLang="en-US" sz="2400"/>
          </a:p>
          <a:p>
            <a:pPr marL="342900" indent="-342900">
              <a:lnSpc>
                <a:spcPct val="140000"/>
              </a:lnSpc>
            </a:pPr>
            <a:r>
              <a:rPr lang="zh-CN" altLang="en-US" sz="2400"/>
              <a:t>数据中心自动化技术和配置管理工具的普及</a:t>
            </a:r>
            <a:endParaRPr lang="zh-CN" altLang="en-US" sz="2400"/>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dirty="0">
                <a:sym typeface="+mn-ea"/>
              </a:rPr>
              <a:t>DevOps的原则</a:t>
            </a:r>
            <a:endParaRPr lang="zh-CN" altLang="zh-CN" dirty="0">
              <a:sym typeface="+mn-ea"/>
            </a:endParaRPr>
          </a:p>
        </p:txBody>
      </p:sp>
      <p:sp>
        <p:nvSpPr>
          <p:cNvPr id="3" name="内容占位符 2"/>
          <p:cNvSpPr>
            <a:spLocks noGrp="1"/>
          </p:cNvSpPr>
          <p:nvPr>
            <p:ph idx="1"/>
          </p:nvPr>
        </p:nvSpPr>
        <p:spPr>
          <a:xfrm>
            <a:off x="768350" y="913765"/>
            <a:ext cx="7971790" cy="3818255"/>
          </a:xfrm>
        </p:spPr>
        <p:txBody>
          <a:bodyPr>
            <a:noAutofit/>
          </a:bodyPr>
          <a:p>
            <a:pPr marL="342900" lvl="1" indent="-342900" algn="just" fontAlgn="auto">
              <a:lnSpc>
                <a:spcPct val="120000"/>
              </a:lnSpc>
              <a:spcBef>
                <a:spcPts val="0"/>
              </a:spcBef>
              <a:buSzPct val="80000"/>
              <a:buAutoNum type="arabicPeriod"/>
            </a:pPr>
            <a:r>
              <a:rPr lang="zh-CN" altLang="en-US" sz="1800">
                <a:sym typeface="+mn-ea"/>
              </a:rPr>
              <a:t>以客户为中心的行动： DevOps团队必须采取以客户为中心的行动，因为他们应该不断投资于产品和服务。</a:t>
            </a:r>
            <a:endParaRPr lang="zh-CN" altLang="en-US" sz="1800">
              <a:sym typeface="+mn-ea"/>
            </a:endParaRPr>
          </a:p>
          <a:p>
            <a:pPr marL="342900" lvl="1" indent="-342900" algn="just" fontAlgn="auto">
              <a:lnSpc>
                <a:spcPct val="120000"/>
              </a:lnSpc>
              <a:spcBef>
                <a:spcPts val="0"/>
              </a:spcBef>
              <a:buSzPct val="80000"/>
              <a:buAutoNum type="arabicPeriod"/>
            </a:pPr>
            <a:r>
              <a:rPr lang="zh-CN" altLang="en-US" sz="1800">
                <a:sym typeface="+mn-ea"/>
              </a:rPr>
              <a:t>端到端的责任： DevOps团队需要提供性能支持，直到它们终止为止。这提高了产品的责任水平和质量。</a:t>
            </a:r>
            <a:endParaRPr lang="zh-CN" altLang="en-US" sz="1800">
              <a:sym typeface="+mn-ea"/>
            </a:endParaRPr>
          </a:p>
          <a:p>
            <a:pPr marL="342900" lvl="1" indent="-342900" algn="just" fontAlgn="auto">
              <a:lnSpc>
                <a:spcPct val="120000"/>
              </a:lnSpc>
              <a:spcBef>
                <a:spcPts val="0"/>
              </a:spcBef>
              <a:buSzPct val="80000"/>
              <a:buAutoNum type="arabicPeriod"/>
            </a:pPr>
            <a:r>
              <a:rPr lang="zh-CN" altLang="en-US" sz="1800">
                <a:sym typeface="+mn-ea"/>
              </a:rPr>
              <a:t>持续改进： DevOps文化专注于持续改进，以尽量减少浪费。它不断加快提供的产品或服务的改进。</a:t>
            </a:r>
            <a:endParaRPr lang="zh-CN" altLang="en-US" sz="1800">
              <a:sym typeface="+mn-ea"/>
            </a:endParaRPr>
          </a:p>
          <a:p>
            <a:pPr marL="342900" lvl="1" indent="-342900" algn="just" fontAlgn="auto">
              <a:lnSpc>
                <a:spcPct val="120000"/>
              </a:lnSpc>
              <a:spcBef>
                <a:spcPts val="0"/>
              </a:spcBef>
              <a:buSzPct val="80000"/>
              <a:buAutoNum type="arabicPeriod"/>
            </a:pPr>
            <a:r>
              <a:rPr lang="zh-CN" altLang="en-US" sz="1800">
                <a:sym typeface="+mn-ea"/>
              </a:rPr>
              <a:t>自动化一切：自动化是DevOps流程的重要原则。这不仅适用于软件开发，也适用于整个基础架构环境。</a:t>
            </a:r>
            <a:endParaRPr lang="zh-CN" altLang="en-US" sz="1800">
              <a:sym typeface="+mn-ea"/>
            </a:endParaRPr>
          </a:p>
          <a:p>
            <a:pPr marL="342900" lvl="1" indent="-342900" algn="just" fontAlgn="auto">
              <a:lnSpc>
                <a:spcPct val="120000"/>
              </a:lnSpc>
              <a:spcBef>
                <a:spcPts val="0"/>
              </a:spcBef>
              <a:buSzPct val="80000"/>
              <a:buAutoNum type="arabicPeriod"/>
            </a:pPr>
            <a:r>
              <a:rPr lang="zh-CN" altLang="en-US" sz="1800">
                <a:sym typeface="+mn-ea"/>
              </a:rPr>
              <a:t>作为一个团队工作：在DevOps文化角色中，设计人员，开发人员和测试人员已经定义，他们所需要做的就是作为一个团队完成合作。</a:t>
            </a:r>
            <a:endParaRPr lang="zh-CN" altLang="en-US" sz="1800">
              <a:sym typeface="+mn-ea"/>
            </a:endParaRPr>
          </a:p>
          <a:p>
            <a:pPr marL="342900" lvl="1" indent="-342900" algn="just" fontAlgn="auto">
              <a:lnSpc>
                <a:spcPct val="120000"/>
              </a:lnSpc>
              <a:spcBef>
                <a:spcPts val="0"/>
              </a:spcBef>
              <a:buSzPct val="80000"/>
              <a:buAutoNum type="arabicPeriod"/>
            </a:pPr>
            <a:r>
              <a:rPr lang="zh-CN" altLang="en-US" sz="1800">
                <a:sym typeface="+mn-ea"/>
              </a:rPr>
              <a:t>监控和测试所有内容： DevOps团队拥有强大的监控和测试程序非常重要。</a:t>
            </a:r>
            <a:endParaRPr lang="zh-CN" altLang="en-US" sz="1800">
              <a:sym typeface="+mn-ea"/>
            </a:endParaRPr>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zh-CN" dirty="0">
                <a:sym typeface="+mn-ea"/>
              </a:rPr>
              <a:t>DevOps生命周期</a:t>
            </a:r>
            <a:endParaRPr lang="zh-CN" altLang="en-US"/>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7" name="图片 6"/>
          <p:cNvPicPr>
            <a:picLocks noChangeAspect="1"/>
          </p:cNvPicPr>
          <p:nvPr>
            <p:custDataLst>
              <p:tags r:id="rId1"/>
            </p:custDataLst>
          </p:nvPr>
        </p:nvPicPr>
        <p:blipFill>
          <a:blip r:embed="rId2">
            <a:extLst>
              <a:ext uri="{28A0092B-C50C-407E-A947-70E740481C1C}">
                <a14:useLocalDpi xmlns:a14="http://schemas.microsoft.com/office/drawing/2010/main" val="0"/>
              </a:ext>
            </a:extLst>
          </a:blip>
          <a:srcRect l="544" t="863" r="-544" b="11090"/>
          <a:stretch>
            <a:fillRect/>
          </a:stretch>
        </p:blipFill>
        <p:spPr>
          <a:xfrm>
            <a:off x="3726815" y="1363345"/>
            <a:ext cx="5417185" cy="3004185"/>
          </a:xfrm>
          <a:prstGeom prst="rect">
            <a:avLst/>
          </a:prstGeom>
        </p:spPr>
      </p:pic>
      <p:sp>
        <p:nvSpPr>
          <p:cNvPr id="8" name="文本框 7"/>
          <p:cNvSpPr txBox="1"/>
          <p:nvPr/>
        </p:nvSpPr>
        <p:spPr>
          <a:xfrm>
            <a:off x="640715" y="1007745"/>
            <a:ext cx="3171825" cy="3550920"/>
          </a:xfrm>
          <a:prstGeom prst="rect">
            <a:avLst/>
          </a:prstGeom>
          <a:noFill/>
        </p:spPr>
        <p:txBody>
          <a:bodyPr wrap="square" rtlCol="0" anchor="t">
            <a:noAutofit/>
          </a:bodyPr>
          <a:p>
            <a:pPr marL="0" lvl="1" algn="just" fontAlgn="auto">
              <a:lnSpc>
                <a:spcPct val="130000"/>
              </a:lnSpc>
            </a:pPr>
            <a:r>
              <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DevOps生命周期（当以线性方式描述时称为持续交付管道）是一系列迭代的、自动化的开发过程，或工作流，在一个更大的、自动化的、迭代的开发生命周期中执行，能够优化高质量软件的快速交付。</a:t>
            </a:r>
            <a:endParaRPr lang="zh-CN"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a:t>DevOps</a:t>
            </a:r>
            <a:r>
              <a:rPr lang="zh-CN" altLang="en-US"/>
              <a:t>流水线</a:t>
            </a:r>
            <a:endParaRPr lang="zh-CN" altLang="en-US"/>
          </a:p>
        </p:txBody>
      </p:sp>
      <p:pic>
        <p:nvPicPr>
          <p:cNvPr id="7" name="内容占位符 6"/>
          <p:cNvPicPr>
            <a:picLocks noChangeAspect="1"/>
          </p:cNvPicPr>
          <p:nvPr>
            <p:ph idx="1"/>
          </p:nvPr>
        </p:nvPicPr>
        <p:blipFill>
          <a:blip r:embed="rId1"/>
          <a:stretch>
            <a:fillRect/>
          </a:stretch>
        </p:blipFill>
        <p:spPr>
          <a:xfrm>
            <a:off x="768350" y="1156970"/>
            <a:ext cx="7832725" cy="2551430"/>
          </a:xfrm>
          <a:prstGeom prst="rect">
            <a:avLst/>
          </a:prstGeom>
        </p:spPr>
      </p:pic>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
        <p:nvSpPr>
          <p:cNvPr id="8" name="文本框 7"/>
          <p:cNvSpPr txBox="1"/>
          <p:nvPr/>
        </p:nvSpPr>
        <p:spPr>
          <a:xfrm>
            <a:off x="2383790" y="3897630"/>
            <a:ext cx="4572000" cy="368300"/>
          </a:xfrm>
          <a:prstGeom prst="rect">
            <a:avLst/>
          </a:prstGeom>
          <a:noFill/>
        </p:spPr>
        <p:txBody>
          <a:bodyPr wrap="square" rtlCol="0" anchor="t">
            <a:spAutoFit/>
          </a:bodyPr>
          <a:p>
            <a:r>
              <a:rPr lang="zh-CN" altLang="en-US">
                <a:sym typeface="+mn-ea"/>
              </a:rPr>
              <a:t>软件开发过程流水线中常见的开源软件</a:t>
            </a:r>
            <a:endParaRPr lang="zh-CN" altLang="en-US">
              <a:sym typeface="+mn-ea"/>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sym typeface="+mn-ea"/>
              </a:rPr>
              <a:t>CI/CD</a:t>
            </a:r>
            <a:r>
              <a:rPr lang="zh-CN" altLang="en-US" dirty="0">
                <a:sym typeface="+mn-ea"/>
              </a:rPr>
              <a:t>概述</a:t>
            </a:r>
            <a:endParaRPr lang="zh-CN" altLang="en-US"/>
          </a:p>
        </p:txBody>
      </p:sp>
      <p:sp>
        <p:nvSpPr>
          <p:cNvPr id="3" name="内容占位符 2"/>
          <p:cNvSpPr>
            <a:spLocks noGrp="1"/>
          </p:cNvSpPr>
          <p:nvPr>
            <p:ph idx="1"/>
          </p:nvPr>
        </p:nvSpPr>
        <p:spPr>
          <a:xfrm>
            <a:off x="768350" y="909320"/>
            <a:ext cx="7832725" cy="3759835"/>
          </a:xfrm>
        </p:spPr>
        <p:txBody>
          <a:bodyPr>
            <a:noAutofit/>
          </a:bodyPr>
          <a:p>
            <a:pPr marL="0" lvl="1" fontAlgn="auto">
              <a:lnSpc>
                <a:spcPct val="100000"/>
              </a:lnSpc>
              <a:spcBef>
                <a:spcPts val="1200"/>
              </a:spcBef>
            </a:pPr>
            <a:r>
              <a:rPr lang="zh-CN" altLang="zh-CN" sz="2000" dirty="0">
                <a:sym typeface="+mn-ea"/>
              </a:rPr>
              <a:t>CI/CD 是一套使软件开发的构建、测试和部署阶段自动化的</a:t>
            </a:r>
            <a:r>
              <a:rPr lang="zh-CN" altLang="en-US" sz="2000" dirty="0">
                <a:sym typeface="+mn-ea"/>
              </a:rPr>
              <a:t>方法</a:t>
            </a:r>
            <a:r>
              <a:rPr lang="zh-CN" altLang="zh-CN" sz="2000" dirty="0">
                <a:sym typeface="+mn-ea"/>
              </a:rPr>
              <a:t>。自动化可缩短交付时间，并提高整个开发生命周期的可靠性</a:t>
            </a:r>
            <a:r>
              <a:rPr lang="zh-CN" altLang="en-US" sz="2000"/>
              <a:t>。</a:t>
            </a:r>
            <a:endParaRPr lang="zh-CN" altLang="en-US" sz="2000"/>
          </a:p>
          <a:p>
            <a:pPr marL="0" lvl="1" fontAlgn="auto">
              <a:lnSpc>
                <a:spcPct val="100000"/>
              </a:lnSpc>
              <a:spcBef>
                <a:spcPts val="1200"/>
              </a:spcBef>
            </a:pPr>
            <a:r>
              <a:rPr lang="zh-CN" altLang="zh-CN" sz="2000" dirty="0">
                <a:sym typeface="+mn-ea"/>
              </a:rPr>
              <a:t>CI/CD 中的 CI （</a:t>
            </a:r>
            <a:r>
              <a:rPr lang="en-US" altLang="zh-CN" sz="2000" dirty="0">
                <a:sym typeface="+mn-ea"/>
              </a:rPr>
              <a:t>Continuous Integration)</a:t>
            </a:r>
            <a:r>
              <a:rPr lang="zh-CN" altLang="zh-CN" sz="2000" dirty="0">
                <a:sym typeface="+mn-ea"/>
              </a:rPr>
              <a:t>代表持续集成。CD</a:t>
            </a:r>
            <a:r>
              <a:rPr lang="en-US" altLang="zh-CN" sz="2000" dirty="0">
                <a:sym typeface="+mn-ea"/>
              </a:rPr>
              <a:t>(continuous Delivery)</a:t>
            </a:r>
            <a:r>
              <a:rPr lang="zh-CN" altLang="zh-CN" sz="2000" dirty="0">
                <a:sym typeface="+mn-ea"/>
              </a:rPr>
              <a:t> 是指连续交付或连续部署，具体取决于团队选择如何推动代码更改以进行生产。持续集成和持续交付是</a:t>
            </a:r>
            <a:r>
              <a:rPr lang="en-US" altLang="zh-CN" sz="2000" dirty="0">
                <a:sym typeface="+mn-ea"/>
              </a:rPr>
              <a:t> CI/CD </a:t>
            </a:r>
            <a:r>
              <a:rPr lang="zh-CN" altLang="en-US" sz="2000" dirty="0">
                <a:sym typeface="+mn-ea"/>
              </a:rPr>
              <a:t>中的两个不同流程，具有不同的用途：</a:t>
            </a:r>
            <a:endParaRPr lang="zh-CN" altLang="en-US" sz="2000">
              <a:solidFill>
                <a:srgbClr val="000000"/>
              </a:solidFill>
            </a:endParaRPr>
          </a:p>
          <a:p>
            <a:pPr marL="457200" lvl="2" indent="-228600" fontAlgn="auto">
              <a:lnSpc>
                <a:spcPct val="100000"/>
              </a:lnSpc>
              <a:spcBef>
                <a:spcPts val="600"/>
              </a:spcBef>
              <a:buFont typeface="Arial" panose="020B0604020202020204" pitchFamily="34" charset="0"/>
              <a:buChar char="•"/>
            </a:pPr>
            <a:r>
              <a:rPr lang="en-US" altLang="zh-CN" dirty="0">
                <a:sym typeface="+mn-ea"/>
              </a:rPr>
              <a:t>CI</a:t>
            </a:r>
            <a:r>
              <a:rPr lang="zh-CN" altLang="en-US" dirty="0">
                <a:sym typeface="+mn-ea"/>
              </a:rPr>
              <a:t>完成自动构建和测试步骤，以确保代码更改能够可靠合理地合并到代码仓库中</a:t>
            </a:r>
            <a:endParaRPr lang="zh-CN" altLang="en-US" dirty="0">
              <a:sym typeface="+mn-ea"/>
            </a:endParaRPr>
          </a:p>
          <a:p>
            <a:pPr marL="457200" lvl="2" indent="-228600" fontAlgn="auto">
              <a:lnSpc>
                <a:spcPct val="100000"/>
              </a:lnSpc>
              <a:spcBef>
                <a:spcPts val="600"/>
              </a:spcBef>
              <a:buFont typeface="Arial" panose="020B0604020202020204" pitchFamily="34" charset="0"/>
              <a:buChar char="•"/>
            </a:pPr>
            <a:r>
              <a:rPr lang="en-US" altLang="zh-CN" dirty="0">
                <a:sym typeface="+mn-ea"/>
              </a:rPr>
              <a:t>CD</a:t>
            </a:r>
            <a:r>
              <a:rPr lang="zh-CN" altLang="en-US" dirty="0">
                <a:sym typeface="+mn-ea"/>
              </a:rPr>
              <a:t>提供了向最终用户交付代码地快速无缝方法</a:t>
            </a:r>
            <a:endParaRPr lang="zh-CN" altLang="en-US" sz="2000"/>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sym typeface="+mn-ea"/>
              </a:rPr>
              <a:t>CI/CD</a:t>
            </a:r>
            <a:r>
              <a:rPr lang="zh-CN" altLang="en-US" dirty="0">
                <a:sym typeface="+mn-ea"/>
              </a:rPr>
              <a:t>概述</a:t>
            </a:r>
            <a:endParaRPr lang="zh-CN" altLang="en-US"/>
          </a:p>
        </p:txBody>
      </p:sp>
      <p:sp>
        <p:nvSpPr>
          <p:cNvPr id="3" name="内容占位符 2"/>
          <p:cNvSpPr>
            <a:spLocks noGrp="1"/>
          </p:cNvSpPr>
          <p:nvPr>
            <p:ph idx="1"/>
          </p:nvPr>
        </p:nvSpPr>
        <p:spPr/>
        <p:txBody>
          <a:bodyPr>
            <a:normAutofit fontScale="90000"/>
          </a:bodyPr>
          <a:p>
            <a:pPr marL="342900" lvl="1" indent="-342900" fontAlgn="auto">
              <a:lnSpc>
                <a:spcPct val="140000"/>
              </a:lnSpc>
              <a:spcBef>
                <a:spcPts val="600"/>
              </a:spcBef>
            </a:pPr>
            <a:r>
              <a:rPr lang="zh-CN" altLang="zh-CN" sz="2000" dirty="0">
                <a:sym typeface="+mn-ea"/>
              </a:rPr>
              <a:t>持续集成</a:t>
            </a:r>
            <a:r>
              <a:rPr lang="en-US" altLang="zh-CN" sz="2000" dirty="0">
                <a:sym typeface="+mn-ea"/>
              </a:rPr>
              <a:t>CI</a:t>
            </a:r>
            <a:r>
              <a:rPr lang="zh-CN" altLang="en-US" sz="2000" dirty="0">
                <a:sym typeface="+mn-ea"/>
              </a:rPr>
              <a:t>：</a:t>
            </a:r>
            <a:r>
              <a:rPr lang="zh-CN" altLang="zh-CN" sz="2000" dirty="0">
                <a:sym typeface="+mn-ea"/>
              </a:rPr>
              <a:t>是不断将更新集成到代码库的</a:t>
            </a:r>
            <a:r>
              <a:rPr lang="zh-CN" altLang="en-US" sz="2000" dirty="0">
                <a:sym typeface="+mn-ea"/>
              </a:rPr>
              <a:t>方法，</a:t>
            </a:r>
            <a:r>
              <a:rPr lang="zh-CN" altLang="zh-CN" sz="2000" dirty="0">
                <a:sym typeface="+mn-ea"/>
              </a:rPr>
              <a:t>CI 提供一个一致的自动化流程，包括构建、</a:t>
            </a:r>
            <a:r>
              <a:rPr lang="zh-CN" altLang="en-US" sz="2000" dirty="0">
                <a:sym typeface="+mn-ea"/>
              </a:rPr>
              <a:t>测试和合并</a:t>
            </a:r>
            <a:r>
              <a:rPr lang="zh-CN" altLang="zh-CN" sz="2000" dirty="0">
                <a:sym typeface="+mn-ea"/>
              </a:rPr>
              <a:t>新软件</a:t>
            </a:r>
            <a:r>
              <a:rPr lang="zh-CN" altLang="en-US" sz="2000" dirty="0">
                <a:sym typeface="+mn-ea"/>
              </a:rPr>
              <a:t>；</a:t>
            </a:r>
            <a:endParaRPr lang="zh-CN" altLang="en-US" sz="2000" dirty="0">
              <a:sym typeface="+mn-ea"/>
            </a:endParaRPr>
          </a:p>
          <a:p>
            <a:pPr marL="285750" lvl="1" indent="-285750" fontAlgn="auto">
              <a:lnSpc>
                <a:spcPct val="140000"/>
              </a:lnSpc>
              <a:spcBef>
                <a:spcPts val="600"/>
              </a:spcBef>
            </a:pPr>
            <a:r>
              <a:rPr lang="zh-CN" altLang="zh-CN" sz="2000" dirty="0">
                <a:sym typeface="+mn-ea"/>
              </a:rPr>
              <a:t>持续交付</a:t>
            </a:r>
            <a:r>
              <a:rPr lang="en-US" altLang="zh-CN" sz="2000" dirty="0">
                <a:sym typeface="+mn-ea"/>
              </a:rPr>
              <a:t>CD</a:t>
            </a:r>
            <a:r>
              <a:rPr lang="zh-CN" altLang="en-US" sz="2000" dirty="0">
                <a:sym typeface="+mn-ea"/>
              </a:rPr>
              <a:t>：持续交付是指持续地将各类更改</a:t>
            </a:r>
            <a:r>
              <a:rPr lang="en-US" altLang="zh-CN" sz="2000" dirty="0">
                <a:sym typeface="+mn-ea"/>
              </a:rPr>
              <a:t>(</a:t>
            </a:r>
            <a:r>
              <a:rPr lang="zh-CN" altLang="en-US" sz="2000" dirty="0">
                <a:sym typeface="+mn-ea"/>
              </a:rPr>
              <a:t>包括新功能、缺陷修复、配置变化等</a:t>
            </a:r>
            <a:r>
              <a:rPr lang="en-US" altLang="zh-CN" sz="2000" dirty="0">
                <a:sym typeface="+mn-ea"/>
              </a:rPr>
              <a:t>)</a:t>
            </a:r>
            <a:r>
              <a:rPr lang="zh-CN" altLang="en-US" sz="2000" dirty="0">
                <a:sym typeface="+mn-ea"/>
              </a:rPr>
              <a:t>安全、快速、高质量地落实到生产环境或用户手中的能力。</a:t>
            </a:r>
            <a:r>
              <a:rPr lang="zh-CN" altLang="zh-CN" sz="2000" dirty="0">
                <a:sym typeface="+mn-ea"/>
              </a:rPr>
              <a:t>持续交付从持续集成结束的地方开始。所有进入 CD 过程的代码必须首先通过 CI。CD 使开发人员能够随时向不同的环境和最终用户部署常规软件更改。</a:t>
            </a:r>
            <a:endParaRPr lang="zh-CN" altLang="zh-CN" sz="2000" dirty="0">
              <a:sym typeface="+mn-ea"/>
            </a:endParaRPr>
          </a:p>
          <a:p>
            <a:pPr marL="342900" lvl="1" indent="-342900" fontAlgn="auto">
              <a:lnSpc>
                <a:spcPct val="140000"/>
              </a:lnSpc>
              <a:spcBef>
                <a:spcPts val="600"/>
              </a:spcBef>
            </a:pPr>
            <a:r>
              <a:rPr lang="zh-CN" altLang="zh-CN" sz="2000" dirty="0">
                <a:sym typeface="+mn-ea"/>
              </a:rPr>
              <a:t>持续测试：持续测试是运行自动测试的</a:t>
            </a:r>
            <a:r>
              <a:rPr lang="zh-CN" altLang="en-US" sz="2000" dirty="0">
                <a:sym typeface="+mn-ea"/>
              </a:rPr>
              <a:t>方法</a:t>
            </a:r>
            <a:r>
              <a:rPr lang="zh-CN" altLang="zh-CN" sz="2000" dirty="0">
                <a:sym typeface="+mn-ea"/>
              </a:rPr>
              <a:t>，而代码更改则通过 CI 和 CD 进行。</a:t>
            </a:r>
            <a:endParaRPr lang="zh-CN" altLang="zh-CN" sz="2000" dirty="0">
              <a:sym typeface="+mn-ea"/>
            </a:endParaRPr>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sym typeface="+mn-ea"/>
              </a:rPr>
              <a:t>CI/CD</a:t>
            </a:r>
            <a:r>
              <a:rPr lang="zh-CN" altLang="en-US" dirty="0">
                <a:sym typeface="+mn-ea"/>
              </a:rPr>
              <a:t>概述</a:t>
            </a:r>
            <a:endParaRPr lang="zh-CN" altLang="en-US"/>
          </a:p>
        </p:txBody>
      </p:sp>
      <p:sp>
        <p:nvSpPr>
          <p:cNvPr id="3" name="内容占位符 2"/>
          <p:cNvSpPr>
            <a:spLocks noGrp="1"/>
          </p:cNvSpPr>
          <p:nvPr>
            <p:ph idx="1"/>
          </p:nvPr>
        </p:nvSpPr>
        <p:spPr/>
        <p:txBody>
          <a:bodyPr>
            <a:noAutofit/>
          </a:bodyPr>
          <a:p>
            <a:pPr marL="285750" lvl="1" indent="-285750" fontAlgn="auto">
              <a:lnSpc>
                <a:spcPct val="130000"/>
              </a:lnSpc>
              <a:spcBef>
                <a:spcPts val="600"/>
              </a:spcBef>
            </a:pPr>
            <a:r>
              <a:rPr lang="zh-CN" altLang="en-US" sz="2000">
                <a:sym typeface="+mn-ea"/>
              </a:rPr>
              <a:t>CI/CD 可让持续自动化和持续监控贯穿于应用的整个生命周期（从集成和测试阶段，到交付和部署）。</a:t>
            </a:r>
            <a:endParaRPr lang="zh-CN" altLang="en-US" sz="2000">
              <a:sym typeface="+mn-ea"/>
            </a:endParaRPr>
          </a:p>
          <a:p>
            <a:pPr marL="0" lvl="1" indent="-285750" fontAlgn="auto">
              <a:lnSpc>
                <a:spcPct val="130000"/>
              </a:lnSpc>
              <a:spcBef>
                <a:spcPts val="600"/>
              </a:spcBef>
            </a:pPr>
            <a:r>
              <a:rPr lang="en-US" altLang="zh-CN" sz="2000" dirty="0">
                <a:sym typeface="+mn-ea"/>
              </a:rPr>
              <a:t>CI/</a:t>
            </a:r>
            <a:r>
              <a:rPr lang="en-US" altLang="zh-CN" sz="2000" dirty="0">
                <a:sym typeface="+mn-ea"/>
              </a:rPr>
              <a:t>CD</a:t>
            </a:r>
            <a:r>
              <a:rPr lang="zh-CN" altLang="en-US" sz="2000" dirty="0">
                <a:sym typeface="+mn-ea"/>
              </a:rPr>
              <a:t>的目标是帮助开发人员以速度和效率交付软件。团队不断将代码交付到生产中，运行新功能和错误修复的持续流程。</a:t>
            </a:r>
            <a:endParaRPr lang="zh-CN" altLang="en-US" sz="2000" dirty="0">
              <a:sym typeface="+mn-ea"/>
            </a:endParaRPr>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7" name="图片 6" descr="C:\Users\lyx\AppData\Local\Temp\WeChat Files\537e497f6dbc22369ea39786752d86d.jpg"/>
          <p:cNvPicPr/>
          <p:nvPr>
            <p:custDataLst>
              <p:tags r:id="rId1"/>
            </p:custDataLst>
          </p:nvPr>
        </p:nvPicPr>
        <p:blipFill>
          <a:blip r:embed="rId2" cstate="print">
            <a:extLst>
              <a:ext uri="{28A0092B-C50C-407E-A947-70E740481C1C}">
                <a14:useLocalDpi xmlns:a14="http://schemas.microsoft.com/office/drawing/2010/main" val="0"/>
              </a:ext>
            </a:extLst>
          </a:blip>
          <a:srcRect/>
          <a:stretch>
            <a:fillRect/>
          </a:stretch>
        </p:blipFill>
        <p:spPr bwMode="auto">
          <a:xfrm>
            <a:off x="380365" y="3016885"/>
            <a:ext cx="8382635" cy="1186180"/>
          </a:xfrm>
          <a:prstGeom prst="rect">
            <a:avLst/>
          </a:prstGeom>
          <a:noFill/>
          <a:ln>
            <a:noFill/>
          </a:ln>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en-US" altLang="zh-CN" dirty="0">
                <a:sym typeface="+mn-ea"/>
              </a:rPr>
              <a:t>CI/CD</a:t>
            </a:r>
            <a:r>
              <a:rPr lang="zh-CN" altLang="en-US" dirty="0">
                <a:sym typeface="+mn-ea"/>
              </a:rPr>
              <a:t>的优势</a:t>
            </a:r>
            <a:endParaRPr lang="zh-CN" altLang="en-US"/>
          </a:p>
        </p:txBody>
      </p:sp>
      <p:sp>
        <p:nvSpPr>
          <p:cNvPr id="3" name="内容占位符 2"/>
          <p:cNvSpPr>
            <a:spLocks noGrp="1"/>
          </p:cNvSpPr>
          <p:nvPr>
            <p:ph idx="1"/>
          </p:nvPr>
        </p:nvSpPr>
        <p:spPr>
          <a:xfrm>
            <a:off x="768350" y="975360"/>
            <a:ext cx="7832725" cy="3756660"/>
          </a:xfrm>
        </p:spPr>
        <p:txBody>
          <a:bodyPr>
            <a:normAutofit/>
          </a:bodyPr>
          <a:p>
            <a:pPr marL="0" lvl="1" fontAlgn="auto">
              <a:lnSpc>
                <a:spcPct val="130000"/>
              </a:lnSpc>
            </a:pPr>
            <a:r>
              <a:rPr lang="zh-CN" altLang="zh-CN" dirty="0">
                <a:sym typeface="+mn-ea"/>
              </a:rPr>
              <a:t>更快、更可靠的版本发布</a:t>
            </a:r>
            <a:endParaRPr lang="zh-CN" altLang="zh-CN" dirty="0"/>
          </a:p>
          <a:p>
            <a:pPr marL="0" lvl="1" fontAlgn="auto">
              <a:lnSpc>
                <a:spcPct val="130000"/>
              </a:lnSpc>
            </a:pPr>
            <a:r>
              <a:rPr lang="zh-CN" altLang="zh-CN" dirty="0">
                <a:sym typeface="+mn-ea"/>
              </a:rPr>
              <a:t>更高的可见性</a:t>
            </a:r>
            <a:endParaRPr lang="zh-CN" altLang="zh-CN" dirty="0">
              <a:sym typeface="+mn-ea"/>
            </a:endParaRPr>
          </a:p>
          <a:p>
            <a:pPr marL="0" lvl="1" fontAlgn="auto">
              <a:lnSpc>
                <a:spcPct val="130000"/>
              </a:lnSpc>
            </a:pPr>
            <a:r>
              <a:rPr lang="zh-CN" altLang="zh-CN" dirty="0">
                <a:sym typeface="+mn-ea"/>
              </a:rPr>
              <a:t>早期错误检测</a:t>
            </a:r>
            <a:endParaRPr lang="zh-CN" altLang="zh-CN" dirty="0"/>
          </a:p>
          <a:p>
            <a:pPr marL="0" lvl="1" fontAlgn="auto">
              <a:lnSpc>
                <a:spcPct val="130000"/>
              </a:lnSpc>
            </a:pPr>
            <a:r>
              <a:rPr lang="zh-CN" altLang="zh-CN" dirty="0">
                <a:sym typeface="+mn-ea"/>
              </a:rPr>
              <a:t>快速反馈循环</a:t>
            </a:r>
            <a:endParaRPr lang="zh-CN" altLang="zh-CN" dirty="0">
              <a:sym typeface="+mn-ea"/>
            </a:endParaRPr>
          </a:p>
          <a:p>
            <a:pPr marL="0" lvl="1" fontAlgn="auto">
              <a:lnSpc>
                <a:spcPct val="130000"/>
              </a:lnSpc>
            </a:pPr>
            <a:r>
              <a:rPr lang="zh-CN" altLang="zh-CN" dirty="0">
                <a:sym typeface="+mn-ea"/>
              </a:rPr>
              <a:t>更快乐的开发和运维团队</a:t>
            </a:r>
            <a:endParaRPr lang="zh-CN" altLang="en-US" dirty="0">
              <a:solidFill>
                <a:srgbClr val="000000"/>
              </a:solidFill>
            </a:endParaRPr>
          </a:p>
          <a:p>
            <a:endParaRPr lang="zh-CN" altLang="en-US" dirty="0">
              <a:solidFill>
                <a:srgbClr val="000000"/>
              </a:solidFill>
            </a:endParaRPr>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sym typeface="+mn-ea"/>
              </a:rPr>
              <a:t>Gitlab CI/CD</a:t>
            </a:r>
            <a:endParaRPr lang="zh-CN" altLang="en-US"/>
          </a:p>
        </p:txBody>
      </p:sp>
      <p:pic>
        <p:nvPicPr>
          <p:cNvPr id="8" name="内容占位符 7" descr="5a88029e143142cebbb502066767f225"/>
          <p:cNvPicPr>
            <a:picLocks noChangeAspect="1"/>
          </p:cNvPicPr>
          <p:nvPr>
            <p:ph idx="1"/>
          </p:nvPr>
        </p:nvPicPr>
        <p:blipFill>
          <a:blip r:embed="rId1"/>
          <a:stretch>
            <a:fillRect/>
          </a:stretch>
        </p:blipFill>
        <p:spPr>
          <a:xfrm>
            <a:off x="768350" y="1107440"/>
            <a:ext cx="7832725" cy="3441700"/>
          </a:xfrm>
          <a:prstGeom prst="rect">
            <a:avLst/>
          </a:prstGeom>
        </p:spPr>
      </p:pic>
      <p:sp>
        <p:nvSpPr>
          <p:cNvPr id="4" name="日期占位符 3"/>
          <p:cNvSpPr>
            <a:spLocks noGrp="1"/>
          </p:cNvSpPr>
          <p:nvPr>
            <p:ph type="dt" sz="half" idx="10"/>
          </p:nvPr>
        </p:nvSpPr>
        <p:spPr/>
        <p:txBody>
          <a:bodyPr/>
          <a:p>
            <a:fld id="{D7326FFE-7CCA-4C0D-B453-625569992FBB}"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dirty="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100" name="图片 99"/>
          <p:cNvPicPr/>
          <p:nvPr/>
        </p:nvPicPr>
        <p:blipFill>
          <a:blip r:embed="rId1"/>
          <a:stretch>
            <a:fillRect/>
          </a:stretch>
        </p:blipFill>
        <p:spPr>
          <a:xfrm>
            <a:off x="990600" y="161290"/>
            <a:ext cx="7867650" cy="4413250"/>
          </a:xfrm>
          <a:prstGeom prst="rect">
            <a:avLst/>
          </a:prstGeom>
          <a:noFill/>
          <a:ln w="9525">
            <a:noFill/>
          </a:ln>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101" name="图片 100"/>
          <p:cNvPicPr/>
          <p:nvPr/>
        </p:nvPicPr>
        <p:blipFill>
          <a:blip r:embed="rId1"/>
          <a:stretch>
            <a:fillRect/>
          </a:stretch>
        </p:blipFill>
        <p:spPr>
          <a:xfrm>
            <a:off x="984885" y="227965"/>
            <a:ext cx="7981950" cy="4228465"/>
          </a:xfrm>
          <a:prstGeom prst="rect">
            <a:avLst/>
          </a:prstGeom>
          <a:noFill/>
          <a:ln w="9525">
            <a:noFill/>
          </a:ln>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102" name="图片 101"/>
          <p:cNvPicPr/>
          <p:nvPr/>
        </p:nvPicPr>
        <p:blipFill>
          <a:blip r:embed="rId1"/>
          <a:srcRect l="1479" r="1072"/>
          <a:stretch>
            <a:fillRect/>
          </a:stretch>
        </p:blipFill>
        <p:spPr>
          <a:xfrm>
            <a:off x="1094105" y="189865"/>
            <a:ext cx="7680325" cy="4356735"/>
          </a:xfrm>
          <a:prstGeom prst="rect">
            <a:avLst/>
          </a:prstGeom>
          <a:noFill/>
          <a:ln w="9525">
            <a:noFill/>
          </a:ln>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103" name="图片 102"/>
          <p:cNvPicPr/>
          <p:nvPr/>
        </p:nvPicPr>
        <p:blipFill>
          <a:blip r:embed="rId1"/>
          <a:stretch>
            <a:fillRect/>
          </a:stretch>
        </p:blipFill>
        <p:spPr>
          <a:xfrm>
            <a:off x="1094105" y="182880"/>
            <a:ext cx="7626985" cy="4293870"/>
          </a:xfrm>
          <a:prstGeom prst="rect">
            <a:avLst/>
          </a:prstGeom>
          <a:noFill/>
          <a:ln w="9525">
            <a:noFill/>
          </a:ln>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endParaRPr lang="zh-CN" altLang="en-US"/>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104" name="图片 103"/>
          <p:cNvPicPr/>
          <p:nvPr/>
        </p:nvPicPr>
        <p:blipFill>
          <a:blip r:embed="rId1"/>
          <a:stretch>
            <a:fillRect/>
          </a:stretch>
        </p:blipFill>
        <p:spPr>
          <a:xfrm>
            <a:off x="1094105" y="179705"/>
            <a:ext cx="7727315" cy="4300220"/>
          </a:xfrm>
          <a:prstGeom prst="rect">
            <a:avLst/>
          </a:prstGeom>
          <a:noFill/>
          <a:ln w="9525">
            <a:noFill/>
          </a:ln>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dirty="0">
                <a:sym typeface="+mn-ea"/>
              </a:rPr>
              <a:t>敏捷开发、CI-CD和DevOps</a:t>
            </a:r>
            <a:endParaRPr lang="zh-CN" altLang="en-US"/>
          </a:p>
        </p:txBody>
      </p:sp>
      <p:sp>
        <p:nvSpPr>
          <p:cNvPr id="3" name="内容占位符 2"/>
          <p:cNvSpPr>
            <a:spLocks noGrp="1"/>
          </p:cNvSpPr>
          <p:nvPr>
            <p:ph idx="1"/>
          </p:nvPr>
        </p:nvSpPr>
        <p:spPr>
          <a:xfrm>
            <a:off x="704850" y="944245"/>
            <a:ext cx="5476875" cy="3787775"/>
          </a:xfrm>
        </p:spPr>
        <p:txBody>
          <a:bodyPr>
            <a:normAutofit fontScale="70000"/>
          </a:bodyPr>
          <a:p>
            <a:pPr marL="0" lvl="1" fontAlgn="auto">
              <a:lnSpc>
                <a:spcPct val="120000"/>
              </a:lnSpc>
              <a:spcBef>
                <a:spcPts val="600"/>
              </a:spcBef>
            </a:pPr>
            <a:r>
              <a:rPr lang="zh-CN" altLang="zh-CN" sz="2800" dirty="0">
                <a:sym typeface="+mn-ea"/>
              </a:rPr>
              <a:t>敏捷开发和DevOps的理念相似，都是为了更好更快地发布产品，但又不完全相同，而CI/CD是实现这两者理念的一种方法。</a:t>
            </a:r>
            <a:endParaRPr lang="zh-CN" altLang="zh-CN" sz="2800" dirty="0">
              <a:sym typeface="+mn-ea"/>
            </a:endParaRPr>
          </a:p>
          <a:p>
            <a:pPr marL="0" lvl="1" fontAlgn="auto">
              <a:lnSpc>
                <a:spcPct val="120000"/>
              </a:lnSpc>
              <a:spcBef>
                <a:spcPts val="600"/>
              </a:spcBef>
            </a:pPr>
            <a:r>
              <a:rPr lang="zh-CN" altLang="zh-CN" sz="2800" dirty="0">
                <a:sym typeface="+mn-ea"/>
              </a:rPr>
              <a:t>敏捷开发的核心是，拥抱变化与快速迭代</a:t>
            </a:r>
            <a:endParaRPr lang="zh-CN" altLang="zh-CN" sz="2800" dirty="0">
              <a:sym typeface="+mn-ea"/>
            </a:endParaRPr>
          </a:p>
          <a:p>
            <a:pPr marL="0" lvl="1" fontAlgn="auto">
              <a:lnSpc>
                <a:spcPct val="120000"/>
              </a:lnSpc>
              <a:spcBef>
                <a:spcPts val="600"/>
              </a:spcBef>
            </a:pPr>
            <a:r>
              <a:rPr lang="zh-CN" altLang="zh-CN" sz="2800" dirty="0">
                <a:sym typeface="+mn-ea"/>
              </a:rPr>
              <a:t>持续集成（CI）、持续交付和持续部署（CD）提供了一个优秀的 DevOps 环境，对于整个团队来说，好处与挑战并行。无论如何，频繁部署、快速交付以及开发测试流程自动化都将成为未来软件工程的重要组成部分。</a:t>
            </a:r>
            <a:endParaRPr lang="zh-CN" altLang="en-US" sz="2800">
              <a:solidFill>
                <a:srgbClr val="000000"/>
              </a:solidFill>
            </a:endParaRPr>
          </a:p>
          <a:p>
            <a:endParaRPr lang="zh-CN" altLang="en-US"/>
          </a:p>
        </p:txBody>
      </p:sp>
      <p:sp>
        <p:nvSpPr>
          <p:cNvPr id="4" name="日期占位符 3"/>
          <p:cNvSpPr>
            <a:spLocks noGrp="1"/>
          </p:cNvSpPr>
          <p:nvPr>
            <p:ph type="dt" sz="half" idx="10"/>
          </p:nvPr>
        </p:nvSpPr>
        <p:spPr/>
        <p:txBody>
          <a:bodyPr/>
          <a:p>
            <a:fld id="{F9DA2862-9299-42BE-86B6-6EA3D66394CC}" type="datetime1">
              <a:rPr lang="zh-CN" altLang="en-US" smtClean="0"/>
            </a:fld>
            <a:endParaRPr lang="zh-CN" altLang="en-US" dirty="0"/>
          </a:p>
        </p:txBody>
      </p:sp>
      <p:sp>
        <p:nvSpPr>
          <p:cNvPr id="5" name="页脚占位符 4"/>
          <p:cNvSpPr>
            <a:spLocks noGrp="1"/>
          </p:cNvSpPr>
          <p:nvPr>
            <p:ph type="ftr" sz="quarter" idx="11"/>
          </p:nvPr>
        </p:nvSpPr>
        <p:spPr/>
        <p:txBody>
          <a:bodyPr/>
          <a:p>
            <a:r>
              <a:rPr lang="zh-CN" altLang="en-US" smtClean="0"/>
              <a:t>软件工程</a:t>
            </a:r>
            <a:endParaRPr lang="zh-CN" altLang="en-US" dirty="0"/>
          </a:p>
        </p:txBody>
      </p:sp>
      <p:sp>
        <p:nvSpPr>
          <p:cNvPr id="6" name="灯片编号占位符 5"/>
          <p:cNvSpPr>
            <a:spLocks noGrp="1"/>
          </p:cNvSpPr>
          <p:nvPr>
            <p:ph type="sldNum" sz="quarter" idx="12"/>
          </p:nvPr>
        </p:nvSpPr>
        <p:spPr/>
        <p:txBody>
          <a:bodyPr/>
          <a:p>
            <a:fld id="{F528F39D-B5E5-4CA7-906C-979D5A62978D}" type="slidenum">
              <a:rPr lang="zh-CN" altLang="en-US" smtClean="0"/>
            </a:fld>
            <a:endParaRPr lang="zh-CN" altLang="en-US"/>
          </a:p>
        </p:txBody>
      </p:sp>
      <p:pic>
        <p:nvPicPr>
          <p:cNvPr id="7" name="图片 6"/>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6245225" y="1138555"/>
            <a:ext cx="2895600" cy="3405505"/>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855980" y="1024255"/>
            <a:ext cx="3985895" cy="4754245"/>
          </a:xfrm>
          <a:prstGeom prst="rect">
            <a:avLst/>
          </a:prstGeom>
        </p:spPr>
        <p:txBody>
          <a:bodyPr wrap="square">
            <a:spAutoFit/>
          </a:bodyPr>
          <a:lstStyle/>
          <a:p>
            <a:pPr marL="342900" indent="-342900">
              <a:spcBef>
                <a:spcPts val="400"/>
              </a:spcBef>
              <a:buFont typeface="Arial" panose="020B0604020202020204" pitchFamily="34" charset="0"/>
              <a:buChar char="•"/>
            </a:pPr>
            <a:r>
              <a:rPr lang="zh-CN" altLang="en-US" sz="2000" b="1" dirty="0">
                <a:latin typeface="+mj-ea"/>
                <a:ea typeface="+mj-ea"/>
                <a:sym typeface="+mn-ea"/>
              </a:rPr>
              <a:t>软件过程模型</a:t>
            </a:r>
            <a:endParaRPr lang="en-US" altLang="ko-KR" sz="2000" b="1" dirty="0">
              <a:latin typeface="+mj-ea"/>
              <a:ea typeface="+mj-ea"/>
            </a:endParaRPr>
          </a:p>
          <a:p>
            <a:pPr>
              <a:spcBef>
                <a:spcPts val="400"/>
              </a:spcBef>
              <a:spcAft>
                <a:spcPts val="600"/>
              </a:spcAft>
              <a:buFontTx/>
              <a:buNone/>
            </a:pPr>
            <a:r>
              <a:rPr lang="en-US" altLang="ko-KR" sz="2000" b="1" dirty="0">
                <a:latin typeface="+mj-ea"/>
                <a:ea typeface="+mj-ea"/>
                <a:sym typeface="+mn-ea"/>
              </a:rPr>
              <a:t>    </a:t>
            </a:r>
            <a:r>
              <a:rPr lang="zh-CN" altLang="en-US" sz="2000" dirty="0">
                <a:solidFill>
                  <a:srgbClr val="FF0000"/>
                </a:solidFill>
                <a:latin typeface="+mj-ea"/>
                <a:ea typeface="+mj-ea"/>
                <a:sym typeface="+mn-ea"/>
              </a:rPr>
              <a:t>优缺点</a:t>
            </a:r>
            <a:r>
              <a:rPr lang="zh-CN" altLang="en-US" sz="2000" dirty="0" smtClean="0">
                <a:latin typeface="+mj-ea"/>
                <a:ea typeface="+mj-ea"/>
                <a:sym typeface="+mn-ea"/>
              </a:rPr>
              <a:t>、</a:t>
            </a:r>
            <a:r>
              <a:rPr lang="zh-CN" altLang="en-US" sz="2000" dirty="0" smtClean="0">
                <a:solidFill>
                  <a:srgbClr val="C00000"/>
                </a:solidFill>
                <a:latin typeface="+mj-ea"/>
                <a:ea typeface="+mj-ea"/>
                <a:sym typeface="+mn-ea"/>
              </a:rPr>
              <a:t>适应项目特点</a:t>
            </a:r>
            <a:endParaRPr lang="zh-CN" altLang="en-US" sz="2000" dirty="0" smtClean="0">
              <a:solidFill>
                <a:srgbClr val="C00000"/>
              </a:solidFill>
              <a:latin typeface="+mj-ea"/>
              <a:ea typeface="+mj-ea"/>
              <a:sym typeface="+mn-ea"/>
            </a:endParaRPr>
          </a:p>
          <a:p>
            <a:pPr marL="342900" indent="-342900">
              <a:lnSpc>
                <a:spcPct val="130000"/>
              </a:lnSpc>
              <a:spcBef>
                <a:spcPts val="1200"/>
              </a:spcBef>
              <a:spcAft>
                <a:spcPts val="600"/>
              </a:spcAft>
              <a:buFont typeface="Arial" panose="020B0604020202020204" pitchFamily="34" charset="0"/>
              <a:buChar char="•"/>
            </a:pPr>
            <a:r>
              <a:rPr lang="zh-CN" altLang="en-US" sz="2000" b="1" dirty="0" smtClean="0">
                <a:solidFill>
                  <a:schemeClr val="tx2"/>
                </a:solidFill>
                <a:latin typeface="+mj-ea"/>
                <a:ea typeface="+mj-ea"/>
                <a:sym typeface="+mn-ea"/>
              </a:rPr>
              <a:t>敏捷</a:t>
            </a:r>
            <a:r>
              <a:rPr lang="zh-CN" altLang="en-US" sz="2000" b="1" dirty="0">
                <a:solidFill>
                  <a:schemeClr val="tx2"/>
                </a:solidFill>
                <a:latin typeface="+mj-ea"/>
                <a:ea typeface="+mj-ea"/>
                <a:sym typeface="+mn-ea"/>
              </a:rPr>
              <a:t>开发</a:t>
            </a:r>
            <a:endParaRPr lang="en-US" altLang="zh-CN" sz="2000" b="1" dirty="0" smtClean="0">
              <a:solidFill>
                <a:schemeClr val="tx2"/>
              </a:solidFill>
              <a:latin typeface="+mj-ea"/>
              <a:ea typeface="+mj-ea"/>
            </a:endParaRPr>
          </a:p>
          <a:p>
            <a:pPr lvl="1">
              <a:lnSpc>
                <a:spcPct val="130000"/>
              </a:lnSpc>
            </a:pPr>
            <a:r>
              <a:rPr lang="zh-CN" altLang="en-US" sz="2000" dirty="0" smtClean="0">
                <a:solidFill>
                  <a:srgbClr val="FF0000"/>
                </a:solidFill>
                <a:latin typeface="+mj-ea"/>
                <a:ea typeface="+mj-ea"/>
                <a:sym typeface="+mn-ea"/>
              </a:rPr>
              <a:t>特点</a:t>
            </a:r>
            <a:r>
              <a:rPr lang="zh-CN" altLang="en-US" sz="2000" dirty="0">
                <a:solidFill>
                  <a:srgbClr val="FF0000"/>
                </a:solidFill>
                <a:latin typeface="+mj-ea"/>
                <a:ea typeface="+mj-ea"/>
                <a:sym typeface="+mn-ea"/>
              </a:rPr>
              <a:t>、四条基本价值观、开发模型的特点、开发流程、</a:t>
            </a:r>
            <a:r>
              <a:rPr lang="en-US" altLang="zh-CN" sz="2000" dirty="0">
                <a:solidFill>
                  <a:srgbClr val="FF0000"/>
                </a:solidFill>
                <a:latin typeface="+mj-ea"/>
                <a:ea typeface="+mj-ea"/>
                <a:sym typeface="+mn-ea"/>
              </a:rPr>
              <a:t>Scrum</a:t>
            </a:r>
            <a:r>
              <a:rPr lang="zh-CN" altLang="en-US" sz="2000" dirty="0">
                <a:solidFill>
                  <a:srgbClr val="FF0000"/>
                </a:solidFill>
                <a:latin typeface="+mj-ea"/>
                <a:ea typeface="+mj-ea"/>
                <a:sym typeface="+mn-ea"/>
              </a:rPr>
              <a:t>和极限编程的特点</a:t>
            </a:r>
            <a:r>
              <a:rPr lang="zh-CN" altLang="en-US" sz="2000" dirty="0" smtClean="0">
                <a:solidFill>
                  <a:srgbClr val="FF0000"/>
                </a:solidFill>
                <a:latin typeface="+mj-ea"/>
                <a:ea typeface="+mj-ea"/>
                <a:sym typeface="+mn-ea"/>
              </a:rPr>
              <a:t>等</a:t>
            </a:r>
            <a:endParaRPr lang="zh-CN" altLang="en-US" sz="2000" dirty="0">
              <a:solidFill>
                <a:srgbClr val="FF0000"/>
              </a:solidFill>
              <a:latin typeface="+mj-ea"/>
              <a:ea typeface="+mj-ea"/>
            </a:endParaRPr>
          </a:p>
          <a:p>
            <a:pPr marL="342900" lvl="0" indent="-342900" algn="l">
              <a:lnSpc>
                <a:spcPct val="140000"/>
              </a:lnSpc>
              <a:buClrTx/>
              <a:buSzTx/>
              <a:buFont typeface="Arial" panose="020B0604020202020204" pitchFamily="34" charset="0"/>
              <a:buChar char="•"/>
            </a:pPr>
            <a:r>
              <a:rPr lang="en-US" altLang="zh-CN" sz="2000" b="1" dirty="0" smtClean="0">
                <a:solidFill>
                  <a:schemeClr val="tx2"/>
                </a:solidFill>
                <a:latin typeface="+mj-ea"/>
                <a:ea typeface="+mj-ea"/>
                <a:sym typeface="+mn-ea"/>
              </a:rPr>
              <a:t>DevOps</a:t>
            </a:r>
            <a:endParaRPr lang="en-US" altLang="zh-CN" sz="2000" b="1" dirty="0" smtClean="0">
              <a:solidFill>
                <a:schemeClr val="tx2"/>
              </a:solidFill>
              <a:latin typeface="+mj-ea"/>
              <a:ea typeface="+mj-ea"/>
              <a:sym typeface="+mn-ea"/>
            </a:endParaRPr>
          </a:p>
          <a:p>
            <a:pPr marL="342900" lvl="0" indent="-342900" algn="l">
              <a:lnSpc>
                <a:spcPct val="140000"/>
              </a:lnSpc>
              <a:buClrTx/>
              <a:buSzTx/>
              <a:buFont typeface="Arial" panose="020B0604020202020204" pitchFamily="34" charset="0"/>
              <a:buChar char="•"/>
            </a:pPr>
            <a:r>
              <a:rPr lang="en-US" altLang="zh-CN" sz="2000" b="1" dirty="0" smtClean="0">
                <a:solidFill>
                  <a:schemeClr val="tx2"/>
                </a:solidFill>
                <a:latin typeface="+mj-ea"/>
                <a:ea typeface="+mj-ea"/>
                <a:sym typeface="+mn-ea"/>
              </a:rPr>
              <a:t>CI/CD</a:t>
            </a:r>
            <a:endParaRPr lang="en-US" altLang="zh-CN" sz="2000" b="1" dirty="0" smtClean="0">
              <a:solidFill>
                <a:schemeClr val="tx2"/>
              </a:solidFill>
              <a:latin typeface="+mj-ea"/>
              <a:ea typeface="+mj-ea"/>
            </a:endParaRPr>
          </a:p>
          <a:p>
            <a:pPr marL="342900" lvl="0" indent="-342900" algn="l">
              <a:lnSpc>
                <a:spcPct val="140000"/>
              </a:lnSpc>
              <a:buClrTx/>
              <a:buSzTx/>
              <a:buFont typeface="Arial" panose="020B0604020202020204" pitchFamily="34" charset="0"/>
              <a:buChar char="•"/>
            </a:pPr>
            <a:endParaRPr lang="en-US" altLang="zh-CN" sz="2000" b="1" dirty="0" smtClean="0">
              <a:solidFill>
                <a:schemeClr val="tx2"/>
              </a:solidFill>
              <a:latin typeface="+mj-ea"/>
              <a:ea typeface="+mj-ea"/>
            </a:endParaRPr>
          </a:p>
          <a:p>
            <a:pPr>
              <a:spcBef>
                <a:spcPts val="400"/>
              </a:spcBef>
              <a:spcAft>
                <a:spcPts val="600"/>
              </a:spcAft>
              <a:buFontTx/>
              <a:buNone/>
            </a:pPr>
            <a:endParaRPr lang="en-US" altLang="ko-KR" sz="2000" b="1" dirty="0">
              <a:solidFill>
                <a:srgbClr val="C00000"/>
              </a:solidFill>
              <a:latin typeface="+mj-ea"/>
              <a:ea typeface="+mj-ea"/>
            </a:endParaRPr>
          </a:p>
          <a:p>
            <a:pPr>
              <a:spcBef>
                <a:spcPts val="400"/>
              </a:spcBef>
              <a:spcAft>
                <a:spcPts val="600"/>
              </a:spcAft>
              <a:buFontTx/>
              <a:buNone/>
            </a:pPr>
            <a:endParaRPr lang="en-US" altLang="ko-KR" sz="2000" b="1" dirty="0">
              <a:solidFill>
                <a:srgbClr val="C00000"/>
              </a:solidFill>
              <a:latin typeface="+mj-ea"/>
              <a:ea typeface="+mj-ea"/>
            </a:endParaRPr>
          </a:p>
        </p:txBody>
      </p:sp>
      <p:sp>
        <p:nvSpPr>
          <p:cNvPr id="4" name="标题 3"/>
          <p:cNvSpPr>
            <a:spLocks noGrp="1"/>
          </p:cNvSpPr>
          <p:nvPr>
            <p:ph type="title"/>
          </p:nvPr>
        </p:nvSpPr>
        <p:spPr/>
        <p:txBody>
          <a:bodyPr/>
          <a:lstStyle/>
          <a:p>
            <a:r>
              <a:rPr lang="zh-CN" altLang="en-US" kern="100" dirty="0">
                <a:latin typeface="+mn-ea"/>
                <a:cs typeface="Times New Roman" panose="02020603050405020304" pitchFamily="18" charset="0"/>
              </a:rPr>
              <a:t>本课</a:t>
            </a:r>
            <a:r>
              <a:rPr lang="zh-CN" altLang="en-US" kern="100" dirty="0" smtClean="0">
                <a:latin typeface="+mn-ea"/>
                <a:cs typeface="Times New Roman" panose="02020603050405020304" pitchFamily="18" charset="0"/>
              </a:rPr>
              <a:t>小结</a:t>
            </a:r>
            <a:endParaRPr lang="zh-CN" altLang="en-US" dirty="0"/>
          </a:p>
        </p:txBody>
      </p:sp>
      <p:sp>
        <p:nvSpPr>
          <p:cNvPr id="6" name="日期占位符 5"/>
          <p:cNvSpPr>
            <a:spLocks noGrp="1"/>
          </p:cNvSpPr>
          <p:nvPr>
            <p:ph type="dt" sz="half" idx="10"/>
          </p:nvPr>
        </p:nvSpPr>
        <p:spPr/>
        <p:txBody>
          <a:bodyPr/>
          <a:lstStyle/>
          <a:p>
            <a:fld id="{1DDEE44E-7DE0-40A9-9871-6103FC3C9129}" type="datetime1">
              <a:rPr lang="zh-CN" altLang="en-US" smtClean="0"/>
            </a:fld>
            <a:endParaRPr lang="zh-CN" altLang="en-US" dirty="0"/>
          </a:p>
        </p:txBody>
      </p:sp>
      <p:sp>
        <p:nvSpPr>
          <p:cNvPr id="7" name="页脚占位符 6"/>
          <p:cNvSpPr>
            <a:spLocks noGrp="1"/>
          </p:cNvSpPr>
          <p:nvPr>
            <p:ph type="ftr" sz="quarter" idx="11"/>
          </p:nvPr>
        </p:nvSpPr>
        <p:spPr/>
        <p:txBody>
          <a:bodyPr/>
          <a:lstStyle/>
          <a:p>
            <a:r>
              <a:rPr lang="zh-CN" altLang="en-US" smtClean="0"/>
              <a:t>软件工程</a:t>
            </a:r>
            <a:endParaRPr lang="zh-CN" altLang="en-US" dirty="0"/>
          </a:p>
        </p:txBody>
      </p:sp>
      <p:sp>
        <p:nvSpPr>
          <p:cNvPr id="8" name="灯片编号占位符 7"/>
          <p:cNvSpPr>
            <a:spLocks noGrp="1"/>
          </p:cNvSpPr>
          <p:nvPr>
            <p:ph type="sldNum" sz="quarter" idx="12"/>
          </p:nvPr>
        </p:nvSpPr>
        <p:spPr/>
        <p:txBody>
          <a:bodyPr/>
          <a:lstStyle/>
          <a:p>
            <a:fld id="{F528F39D-B5E5-4CA7-906C-979D5A62978D}" type="slidenum">
              <a:rPr lang="zh-CN" altLang="en-US" smtClean="0"/>
            </a:fld>
            <a:endParaRPr lang="zh-CN" altLang="en-US"/>
          </a:p>
        </p:txBody>
      </p:sp>
      <p:grpSp>
        <p:nvGrpSpPr>
          <p:cNvPr id="9" name="Group 6"/>
          <p:cNvGrpSpPr/>
          <p:nvPr/>
        </p:nvGrpSpPr>
        <p:grpSpPr>
          <a:xfrm>
            <a:off x="5220998" y="1111665"/>
            <a:ext cx="3477017" cy="3542780"/>
            <a:chOff x="3827463" y="1565275"/>
            <a:chExt cx="1195388" cy="1271588"/>
          </a:xfrm>
          <a:solidFill>
            <a:srgbClr val="92D050"/>
          </a:solidFill>
        </p:grpSpPr>
        <p:sp>
          <p:nvSpPr>
            <p:cNvPr id="10" name="Freeform 70"/>
            <p:cNvSpPr/>
            <p:nvPr/>
          </p:nvSpPr>
          <p:spPr bwMode="auto">
            <a:xfrm>
              <a:off x="4010026" y="1708150"/>
              <a:ext cx="835025" cy="1128713"/>
            </a:xfrm>
            <a:custGeom>
              <a:avLst/>
              <a:gdLst/>
              <a:ahLst/>
              <a:cxnLst>
                <a:cxn ang="0">
                  <a:pos x="104" y="385"/>
                </a:cxn>
                <a:cxn ang="0">
                  <a:pos x="112" y="230"/>
                </a:cxn>
                <a:cxn ang="0">
                  <a:pos x="6" y="164"/>
                </a:cxn>
                <a:cxn ang="0">
                  <a:pos x="121" y="191"/>
                </a:cxn>
                <a:cxn ang="0">
                  <a:pos x="126" y="93"/>
                </a:cxn>
                <a:cxn ang="0">
                  <a:pos x="76" y="29"/>
                </a:cxn>
                <a:cxn ang="0">
                  <a:pos x="132" y="61"/>
                </a:cxn>
                <a:cxn ang="0">
                  <a:pos x="174" y="5"/>
                </a:cxn>
                <a:cxn ang="0">
                  <a:pos x="149" y="79"/>
                </a:cxn>
                <a:cxn ang="0">
                  <a:pos x="171" y="196"/>
                </a:cxn>
                <a:cxn ang="0">
                  <a:pos x="277" y="149"/>
                </a:cxn>
                <a:cxn ang="0">
                  <a:pos x="177" y="228"/>
                </a:cxn>
                <a:cxn ang="0">
                  <a:pos x="178" y="385"/>
                </a:cxn>
                <a:cxn ang="0">
                  <a:pos x="104" y="385"/>
                </a:cxn>
              </a:cxnLst>
              <a:rect l="0" t="0" r="r" b="b"/>
              <a:pathLst>
                <a:path w="285" h="385">
                  <a:moveTo>
                    <a:pt x="104" y="385"/>
                  </a:moveTo>
                  <a:cubicBezTo>
                    <a:pt x="104" y="385"/>
                    <a:pt x="139" y="260"/>
                    <a:pt x="112" y="230"/>
                  </a:cubicBezTo>
                  <a:cubicBezTo>
                    <a:pt x="64" y="179"/>
                    <a:pt x="0" y="166"/>
                    <a:pt x="6" y="164"/>
                  </a:cubicBezTo>
                  <a:cubicBezTo>
                    <a:pt x="44" y="154"/>
                    <a:pt x="105" y="205"/>
                    <a:pt x="121" y="191"/>
                  </a:cubicBezTo>
                  <a:cubicBezTo>
                    <a:pt x="134" y="180"/>
                    <a:pt x="136" y="117"/>
                    <a:pt x="126" y="93"/>
                  </a:cubicBezTo>
                  <a:cubicBezTo>
                    <a:pt x="107" y="46"/>
                    <a:pt x="60" y="29"/>
                    <a:pt x="76" y="29"/>
                  </a:cubicBezTo>
                  <a:cubicBezTo>
                    <a:pt x="98" y="29"/>
                    <a:pt x="128" y="66"/>
                    <a:pt x="132" y="61"/>
                  </a:cubicBezTo>
                  <a:cubicBezTo>
                    <a:pt x="137" y="57"/>
                    <a:pt x="164" y="0"/>
                    <a:pt x="174" y="5"/>
                  </a:cubicBezTo>
                  <a:cubicBezTo>
                    <a:pt x="177" y="7"/>
                    <a:pt x="149" y="36"/>
                    <a:pt x="149" y="79"/>
                  </a:cubicBezTo>
                  <a:cubicBezTo>
                    <a:pt x="149" y="121"/>
                    <a:pt x="154" y="206"/>
                    <a:pt x="171" y="196"/>
                  </a:cubicBezTo>
                  <a:cubicBezTo>
                    <a:pt x="200" y="178"/>
                    <a:pt x="257" y="147"/>
                    <a:pt x="277" y="149"/>
                  </a:cubicBezTo>
                  <a:cubicBezTo>
                    <a:pt x="285" y="150"/>
                    <a:pt x="196" y="185"/>
                    <a:pt x="177" y="228"/>
                  </a:cubicBezTo>
                  <a:cubicBezTo>
                    <a:pt x="161" y="264"/>
                    <a:pt x="170" y="373"/>
                    <a:pt x="178" y="385"/>
                  </a:cubicBezTo>
                  <a:lnTo>
                    <a:pt x="104" y="385"/>
                  </a:lnTo>
                  <a:close/>
                </a:path>
              </a:pathLst>
            </a:custGeom>
            <a:solidFill>
              <a:srgbClr val="B65310"/>
            </a:solid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1" name="Freeform 71"/>
            <p:cNvSpPr/>
            <p:nvPr/>
          </p:nvSpPr>
          <p:spPr bwMode="auto">
            <a:xfrm>
              <a:off x="4495801" y="2089150"/>
              <a:ext cx="166688" cy="114300"/>
            </a:xfrm>
            <a:custGeom>
              <a:avLst/>
              <a:gdLst/>
              <a:ahLst/>
              <a:cxnLst>
                <a:cxn ang="0">
                  <a:pos x="27" y="39"/>
                </a:cxn>
                <a:cxn ang="0">
                  <a:pos x="20" y="0"/>
                </a:cxn>
                <a:cxn ang="0">
                  <a:pos x="27" y="39"/>
                </a:cxn>
              </a:cxnLst>
              <a:rect l="0" t="0" r="r" b="b"/>
              <a:pathLst>
                <a:path w="57" h="39">
                  <a:moveTo>
                    <a:pt x="27" y="39"/>
                  </a:moveTo>
                  <a:cubicBezTo>
                    <a:pt x="27" y="39"/>
                    <a:pt x="0" y="36"/>
                    <a:pt x="20" y="0"/>
                  </a:cubicBezTo>
                  <a:cubicBezTo>
                    <a:pt x="20" y="0"/>
                    <a:pt x="57" y="26"/>
                    <a:pt x="27" y="3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2" name="Freeform 72"/>
            <p:cNvSpPr/>
            <p:nvPr/>
          </p:nvSpPr>
          <p:spPr bwMode="auto">
            <a:xfrm>
              <a:off x="4621213" y="2025650"/>
              <a:ext cx="161925" cy="117475"/>
            </a:xfrm>
            <a:custGeom>
              <a:avLst/>
              <a:gdLst/>
              <a:ahLst/>
              <a:cxnLst>
                <a:cxn ang="0">
                  <a:pos x="23" y="40"/>
                </a:cxn>
                <a:cxn ang="0">
                  <a:pos x="27" y="0"/>
                </a:cxn>
                <a:cxn ang="0">
                  <a:pos x="23" y="40"/>
                </a:cxn>
              </a:cxnLst>
              <a:rect l="0" t="0" r="r" b="b"/>
              <a:pathLst>
                <a:path w="55" h="40">
                  <a:moveTo>
                    <a:pt x="23" y="40"/>
                  </a:moveTo>
                  <a:cubicBezTo>
                    <a:pt x="23" y="40"/>
                    <a:pt x="0" y="32"/>
                    <a:pt x="27" y="0"/>
                  </a:cubicBezTo>
                  <a:cubicBezTo>
                    <a:pt x="27" y="0"/>
                    <a:pt x="55" y="35"/>
                    <a:pt x="23" y="4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3" name="Freeform 73"/>
            <p:cNvSpPr/>
            <p:nvPr/>
          </p:nvSpPr>
          <p:spPr bwMode="auto">
            <a:xfrm>
              <a:off x="4718051" y="1971675"/>
              <a:ext cx="173038" cy="138113"/>
            </a:xfrm>
            <a:custGeom>
              <a:avLst/>
              <a:gdLst/>
              <a:ahLst/>
              <a:cxnLst>
                <a:cxn ang="0">
                  <a:pos x="22" y="47"/>
                </a:cxn>
                <a:cxn ang="0">
                  <a:pos x="40" y="0"/>
                </a:cxn>
                <a:cxn ang="0">
                  <a:pos x="22" y="47"/>
                </a:cxn>
              </a:cxnLst>
              <a:rect l="0" t="0" r="r" b="b"/>
              <a:pathLst>
                <a:path w="59" h="47">
                  <a:moveTo>
                    <a:pt x="22" y="47"/>
                  </a:moveTo>
                  <a:cubicBezTo>
                    <a:pt x="22" y="47"/>
                    <a:pt x="0" y="25"/>
                    <a:pt x="40" y="0"/>
                  </a:cubicBezTo>
                  <a:cubicBezTo>
                    <a:pt x="40" y="0"/>
                    <a:pt x="59" y="43"/>
                    <a:pt x="22" y="4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4" name="Freeform 74"/>
            <p:cNvSpPr/>
            <p:nvPr/>
          </p:nvSpPr>
          <p:spPr bwMode="auto">
            <a:xfrm>
              <a:off x="4873626" y="2009775"/>
              <a:ext cx="149225" cy="117475"/>
            </a:xfrm>
            <a:custGeom>
              <a:avLst/>
              <a:gdLst/>
              <a:ahLst/>
              <a:cxnLst>
                <a:cxn ang="0">
                  <a:pos x="4" y="24"/>
                </a:cxn>
                <a:cxn ang="0">
                  <a:pos x="51" y="10"/>
                </a:cxn>
                <a:cxn ang="0">
                  <a:pos x="39" y="25"/>
                </a:cxn>
                <a:cxn ang="0">
                  <a:pos x="4" y="24"/>
                </a:cxn>
              </a:cxnLst>
              <a:rect l="0" t="0" r="r" b="b"/>
              <a:pathLst>
                <a:path w="51" h="40">
                  <a:moveTo>
                    <a:pt x="4" y="24"/>
                  </a:moveTo>
                  <a:cubicBezTo>
                    <a:pt x="4" y="24"/>
                    <a:pt x="0" y="0"/>
                    <a:pt x="51" y="10"/>
                  </a:cubicBezTo>
                  <a:cubicBezTo>
                    <a:pt x="51" y="10"/>
                    <a:pt x="46" y="15"/>
                    <a:pt x="39" y="25"/>
                  </a:cubicBezTo>
                  <a:cubicBezTo>
                    <a:pt x="32" y="34"/>
                    <a:pt x="11" y="40"/>
                    <a:pt x="4"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5" name="Freeform 75"/>
            <p:cNvSpPr/>
            <p:nvPr/>
          </p:nvSpPr>
          <p:spPr bwMode="auto">
            <a:xfrm>
              <a:off x="4827588" y="2165350"/>
              <a:ext cx="131763" cy="92075"/>
            </a:xfrm>
            <a:custGeom>
              <a:avLst/>
              <a:gdLst/>
              <a:ahLst/>
              <a:cxnLst>
                <a:cxn ang="0">
                  <a:pos x="14" y="0"/>
                </a:cxn>
                <a:cxn ang="0">
                  <a:pos x="45" y="20"/>
                </a:cxn>
                <a:cxn ang="0">
                  <a:pos x="9" y="16"/>
                </a:cxn>
                <a:cxn ang="0">
                  <a:pos x="14" y="0"/>
                </a:cxn>
              </a:cxnLst>
              <a:rect l="0" t="0" r="r" b="b"/>
              <a:pathLst>
                <a:path w="45" h="31">
                  <a:moveTo>
                    <a:pt x="14" y="0"/>
                  </a:moveTo>
                  <a:cubicBezTo>
                    <a:pt x="14" y="0"/>
                    <a:pt x="40" y="3"/>
                    <a:pt x="45" y="20"/>
                  </a:cubicBezTo>
                  <a:cubicBezTo>
                    <a:pt x="45" y="20"/>
                    <a:pt x="28" y="31"/>
                    <a:pt x="9" y="16"/>
                  </a:cubicBezTo>
                  <a:cubicBezTo>
                    <a:pt x="0" y="8"/>
                    <a:pt x="6" y="1"/>
                    <a:pt x="14" y="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6" name="Freeform 76"/>
            <p:cNvSpPr/>
            <p:nvPr/>
          </p:nvSpPr>
          <p:spPr bwMode="auto">
            <a:xfrm>
              <a:off x="4751388" y="2212975"/>
              <a:ext cx="104775" cy="111125"/>
            </a:xfrm>
            <a:custGeom>
              <a:avLst/>
              <a:gdLst/>
              <a:ahLst/>
              <a:cxnLst>
                <a:cxn ang="0">
                  <a:pos x="6" y="8"/>
                </a:cxn>
                <a:cxn ang="0">
                  <a:pos x="27" y="11"/>
                </a:cxn>
                <a:cxn ang="0">
                  <a:pos x="36" y="38"/>
                </a:cxn>
                <a:cxn ang="0">
                  <a:pos x="5" y="23"/>
                </a:cxn>
                <a:cxn ang="0">
                  <a:pos x="6" y="8"/>
                </a:cxn>
              </a:cxnLst>
              <a:rect l="0" t="0" r="r" b="b"/>
              <a:pathLst>
                <a:path w="36" h="38">
                  <a:moveTo>
                    <a:pt x="6" y="8"/>
                  </a:moveTo>
                  <a:cubicBezTo>
                    <a:pt x="6" y="8"/>
                    <a:pt x="17" y="0"/>
                    <a:pt x="27" y="11"/>
                  </a:cubicBezTo>
                  <a:cubicBezTo>
                    <a:pt x="36" y="21"/>
                    <a:pt x="34" y="33"/>
                    <a:pt x="36" y="38"/>
                  </a:cubicBezTo>
                  <a:cubicBezTo>
                    <a:pt x="36" y="38"/>
                    <a:pt x="14" y="35"/>
                    <a:pt x="5" y="23"/>
                  </a:cubicBezTo>
                  <a:cubicBezTo>
                    <a:pt x="0" y="16"/>
                    <a:pt x="4" y="11"/>
                    <a:pt x="6" y="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7" name="Freeform 77"/>
            <p:cNvSpPr/>
            <p:nvPr/>
          </p:nvSpPr>
          <p:spPr bwMode="auto">
            <a:xfrm>
              <a:off x="4638676" y="2279650"/>
              <a:ext cx="138113" cy="111125"/>
            </a:xfrm>
            <a:custGeom>
              <a:avLst/>
              <a:gdLst/>
              <a:ahLst/>
              <a:cxnLst>
                <a:cxn ang="0">
                  <a:pos x="15" y="5"/>
                </a:cxn>
                <a:cxn ang="0">
                  <a:pos x="39" y="12"/>
                </a:cxn>
                <a:cxn ang="0">
                  <a:pos x="47" y="35"/>
                </a:cxn>
                <a:cxn ang="0">
                  <a:pos x="15" y="5"/>
                </a:cxn>
              </a:cxnLst>
              <a:rect l="0" t="0" r="r" b="b"/>
              <a:pathLst>
                <a:path w="47" h="38">
                  <a:moveTo>
                    <a:pt x="15" y="5"/>
                  </a:moveTo>
                  <a:cubicBezTo>
                    <a:pt x="15" y="5"/>
                    <a:pt x="31" y="0"/>
                    <a:pt x="39" y="12"/>
                  </a:cubicBezTo>
                  <a:cubicBezTo>
                    <a:pt x="47" y="23"/>
                    <a:pt x="44" y="31"/>
                    <a:pt x="47" y="35"/>
                  </a:cubicBezTo>
                  <a:cubicBezTo>
                    <a:pt x="47" y="35"/>
                    <a:pt x="0" y="38"/>
                    <a:pt x="15" y="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8" name="Freeform 78"/>
            <p:cNvSpPr/>
            <p:nvPr/>
          </p:nvSpPr>
          <p:spPr bwMode="auto">
            <a:xfrm>
              <a:off x="4132263" y="2089150"/>
              <a:ext cx="123825" cy="117475"/>
            </a:xfrm>
            <a:custGeom>
              <a:avLst/>
              <a:gdLst/>
              <a:ahLst/>
              <a:cxnLst>
                <a:cxn ang="0">
                  <a:pos x="22" y="35"/>
                </a:cxn>
                <a:cxn ang="0">
                  <a:pos x="40" y="0"/>
                </a:cxn>
                <a:cxn ang="0">
                  <a:pos x="40" y="17"/>
                </a:cxn>
                <a:cxn ang="0">
                  <a:pos x="22" y="35"/>
                </a:cxn>
              </a:cxnLst>
              <a:rect l="0" t="0" r="r" b="b"/>
              <a:pathLst>
                <a:path w="42" h="40">
                  <a:moveTo>
                    <a:pt x="22" y="35"/>
                  </a:moveTo>
                  <a:cubicBezTo>
                    <a:pt x="22" y="35"/>
                    <a:pt x="0" y="19"/>
                    <a:pt x="40" y="0"/>
                  </a:cubicBezTo>
                  <a:cubicBezTo>
                    <a:pt x="40" y="0"/>
                    <a:pt x="39" y="8"/>
                    <a:pt x="40" y="17"/>
                  </a:cubicBezTo>
                  <a:cubicBezTo>
                    <a:pt x="42" y="25"/>
                    <a:pt x="36" y="40"/>
                    <a:pt x="22" y="35"/>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19" name="Freeform 79"/>
            <p:cNvSpPr/>
            <p:nvPr/>
          </p:nvSpPr>
          <p:spPr bwMode="auto">
            <a:xfrm>
              <a:off x="4067176" y="2036763"/>
              <a:ext cx="112713" cy="123825"/>
            </a:xfrm>
            <a:custGeom>
              <a:avLst/>
              <a:gdLst/>
              <a:ahLst/>
              <a:cxnLst>
                <a:cxn ang="0">
                  <a:pos x="11" y="36"/>
                </a:cxn>
                <a:cxn ang="0">
                  <a:pos x="17" y="6"/>
                </a:cxn>
                <a:cxn ang="0">
                  <a:pos x="28" y="0"/>
                </a:cxn>
                <a:cxn ang="0">
                  <a:pos x="25" y="39"/>
                </a:cxn>
                <a:cxn ang="0">
                  <a:pos x="11" y="36"/>
                </a:cxn>
              </a:cxnLst>
              <a:rect l="0" t="0" r="r" b="b"/>
              <a:pathLst>
                <a:path w="38" h="42">
                  <a:moveTo>
                    <a:pt x="11" y="36"/>
                  </a:moveTo>
                  <a:cubicBezTo>
                    <a:pt x="11" y="36"/>
                    <a:pt x="0" y="21"/>
                    <a:pt x="17" y="6"/>
                  </a:cubicBezTo>
                  <a:cubicBezTo>
                    <a:pt x="21" y="3"/>
                    <a:pt x="28" y="0"/>
                    <a:pt x="28" y="0"/>
                  </a:cubicBezTo>
                  <a:cubicBezTo>
                    <a:pt x="28" y="0"/>
                    <a:pt x="38" y="31"/>
                    <a:pt x="25" y="39"/>
                  </a:cubicBezTo>
                  <a:cubicBezTo>
                    <a:pt x="20" y="42"/>
                    <a:pt x="14" y="41"/>
                    <a:pt x="11" y="36"/>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0" name="Freeform 80"/>
            <p:cNvSpPr/>
            <p:nvPr/>
          </p:nvSpPr>
          <p:spPr bwMode="auto">
            <a:xfrm>
              <a:off x="3956051" y="2019300"/>
              <a:ext cx="109538" cy="125413"/>
            </a:xfrm>
            <a:custGeom>
              <a:avLst/>
              <a:gdLst/>
              <a:ahLst/>
              <a:cxnLst>
                <a:cxn ang="0">
                  <a:pos x="19" y="42"/>
                </a:cxn>
                <a:cxn ang="0">
                  <a:pos x="9" y="15"/>
                </a:cxn>
                <a:cxn ang="0">
                  <a:pos x="17" y="0"/>
                </a:cxn>
                <a:cxn ang="0">
                  <a:pos x="24" y="11"/>
                </a:cxn>
                <a:cxn ang="0">
                  <a:pos x="19" y="42"/>
                </a:cxn>
              </a:cxnLst>
              <a:rect l="0" t="0" r="r" b="b"/>
              <a:pathLst>
                <a:path w="37" h="43">
                  <a:moveTo>
                    <a:pt x="19" y="42"/>
                  </a:moveTo>
                  <a:cubicBezTo>
                    <a:pt x="9" y="43"/>
                    <a:pt x="0" y="30"/>
                    <a:pt x="9" y="15"/>
                  </a:cubicBezTo>
                  <a:cubicBezTo>
                    <a:pt x="17" y="0"/>
                    <a:pt x="17" y="0"/>
                    <a:pt x="17" y="0"/>
                  </a:cubicBezTo>
                  <a:cubicBezTo>
                    <a:pt x="17" y="0"/>
                    <a:pt x="21" y="7"/>
                    <a:pt x="24" y="11"/>
                  </a:cubicBezTo>
                  <a:cubicBezTo>
                    <a:pt x="30" y="20"/>
                    <a:pt x="37" y="42"/>
                    <a:pt x="19"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1" name="Freeform 81"/>
            <p:cNvSpPr/>
            <p:nvPr/>
          </p:nvSpPr>
          <p:spPr bwMode="auto">
            <a:xfrm>
              <a:off x="3827463" y="2106613"/>
              <a:ext cx="146050" cy="100013"/>
            </a:xfrm>
            <a:custGeom>
              <a:avLst/>
              <a:gdLst/>
              <a:ahLst/>
              <a:cxnLst>
                <a:cxn ang="0">
                  <a:pos x="49" y="24"/>
                </a:cxn>
                <a:cxn ang="0">
                  <a:pos x="9" y="12"/>
                </a:cxn>
                <a:cxn ang="0">
                  <a:pos x="0" y="19"/>
                </a:cxn>
                <a:cxn ang="0">
                  <a:pos x="23" y="33"/>
                </a:cxn>
                <a:cxn ang="0">
                  <a:pos x="49" y="24"/>
                </a:cxn>
              </a:cxnLst>
              <a:rect l="0" t="0" r="r" b="b"/>
              <a:pathLst>
                <a:path w="50" h="34">
                  <a:moveTo>
                    <a:pt x="49" y="24"/>
                  </a:moveTo>
                  <a:cubicBezTo>
                    <a:pt x="49" y="24"/>
                    <a:pt x="30" y="0"/>
                    <a:pt x="9" y="12"/>
                  </a:cubicBezTo>
                  <a:cubicBezTo>
                    <a:pt x="9" y="12"/>
                    <a:pt x="3" y="17"/>
                    <a:pt x="0" y="19"/>
                  </a:cubicBezTo>
                  <a:cubicBezTo>
                    <a:pt x="0" y="19"/>
                    <a:pt x="10" y="32"/>
                    <a:pt x="23" y="33"/>
                  </a:cubicBezTo>
                  <a:cubicBezTo>
                    <a:pt x="35" y="34"/>
                    <a:pt x="50" y="33"/>
                    <a:pt x="49" y="2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2" name="Freeform 82"/>
            <p:cNvSpPr/>
            <p:nvPr/>
          </p:nvSpPr>
          <p:spPr bwMode="auto">
            <a:xfrm>
              <a:off x="3948113" y="2220913"/>
              <a:ext cx="119063" cy="109538"/>
            </a:xfrm>
            <a:custGeom>
              <a:avLst/>
              <a:gdLst/>
              <a:ahLst/>
              <a:cxnLst>
                <a:cxn ang="0">
                  <a:pos x="28" y="1"/>
                </a:cxn>
                <a:cxn ang="0">
                  <a:pos x="7" y="19"/>
                </a:cxn>
                <a:cxn ang="0">
                  <a:pos x="0" y="37"/>
                </a:cxn>
                <a:cxn ang="0">
                  <a:pos x="38" y="20"/>
                </a:cxn>
                <a:cxn ang="0">
                  <a:pos x="28" y="1"/>
                </a:cxn>
              </a:cxnLst>
              <a:rect l="0" t="0" r="r" b="b"/>
              <a:pathLst>
                <a:path w="41" h="37">
                  <a:moveTo>
                    <a:pt x="28" y="1"/>
                  </a:moveTo>
                  <a:cubicBezTo>
                    <a:pt x="23" y="1"/>
                    <a:pt x="8" y="5"/>
                    <a:pt x="7" y="19"/>
                  </a:cubicBezTo>
                  <a:cubicBezTo>
                    <a:pt x="5" y="32"/>
                    <a:pt x="0" y="37"/>
                    <a:pt x="0" y="37"/>
                  </a:cubicBezTo>
                  <a:cubicBezTo>
                    <a:pt x="0" y="37"/>
                    <a:pt x="35" y="35"/>
                    <a:pt x="38" y="20"/>
                  </a:cubicBezTo>
                  <a:cubicBezTo>
                    <a:pt x="41" y="4"/>
                    <a:pt x="33" y="0"/>
                    <a:pt x="28" y="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3" name="Freeform 83"/>
            <p:cNvSpPr/>
            <p:nvPr/>
          </p:nvSpPr>
          <p:spPr bwMode="auto">
            <a:xfrm>
              <a:off x="4056063" y="2265363"/>
              <a:ext cx="179388" cy="128588"/>
            </a:xfrm>
            <a:custGeom>
              <a:avLst/>
              <a:gdLst/>
              <a:ahLst/>
              <a:cxnLst>
                <a:cxn ang="0">
                  <a:pos x="30" y="7"/>
                </a:cxn>
                <a:cxn ang="0">
                  <a:pos x="10" y="44"/>
                </a:cxn>
                <a:cxn ang="0">
                  <a:pos x="30" y="7"/>
                </a:cxn>
              </a:cxnLst>
              <a:rect l="0" t="0" r="r" b="b"/>
              <a:pathLst>
                <a:path w="61" h="44">
                  <a:moveTo>
                    <a:pt x="30" y="7"/>
                  </a:moveTo>
                  <a:cubicBezTo>
                    <a:pt x="18" y="0"/>
                    <a:pt x="0" y="12"/>
                    <a:pt x="10" y="44"/>
                  </a:cubicBezTo>
                  <a:cubicBezTo>
                    <a:pt x="10" y="44"/>
                    <a:pt x="61" y="26"/>
                    <a:pt x="30" y="7"/>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4" name="Freeform 84"/>
            <p:cNvSpPr/>
            <p:nvPr/>
          </p:nvSpPr>
          <p:spPr bwMode="auto">
            <a:xfrm>
              <a:off x="4457701" y="1565275"/>
              <a:ext cx="138113" cy="155575"/>
            </a:xfrm>
            <a:custGeom>
              <a:avLst/>
              <a:gdLst/>
              <a:ahLst/>
              <a:cxnLst>
                <a:cxn ang="0">
                  <a:pos x="23" y="44"/>
                </a:cxn>
                <a:cxn ang="0">
                  <a:pos x="42" y="0"/>
                </a:cxn>
                <a:cxn ang="0">
                  <a:pos x="46" y="17"/>
                </a:cxn>
                <a:cxn ang="0">
                  <a:pos x="23" y="44"/>
                </a:cxn>
              </a:cxnLst>
              <a:rect l="0" t="0" r="r" b="b"/>
              <a:pathLst>
                <a:path w="47" h="53">
                  <a:moveTo>
                    <a:pt x="23" y="44"/>
                  </a:moveTo>
                  <a:cubicBezTo>
                    <a:pt x="23" y="44"/>
                    <a:pt x="0" y="21"/>
                    <a:pt x="42" y="0"/>
                  </a:cubicBezTo>
                  <a:cubicBezTo>
                    <a:pt x="42" y="0"/>
                    <a:pt x="45" y="8"/>
                    <a:pt x="46" y="17"/>
                  </a:cubicBezTo>
                  <a:cubicBezTo>
                    <a:pt x="47" y="26"/>
                    <a:pt x="43" y="53"/>
                    <a:pt x="23"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5" name="Freeform 85"/>
            <p:cNvSpPr/>
            <p:nvPr/>
          </p:nvSpPr>
          <p:spPr bwMode="auto">
            <a:xfrm>
              <a:off x="4398963" y="1609725"/>
              <a:ext cx="103188" cy="133350"/>
            </a:xfrm>
            <a:custGeom>
              <a:avLst/>
              <a:gdLst/>
              <a:ahLst/>
              <a:cxnLst>
                <a:cxn ang="0">
                  <a:pos x="24" y="41"/>
                </a:cxn>
                <a:cxn ang="0">
                  <a:pos x="14" y="11"/>
                </a:cxn>
                <a:cxn ang="0">
                  <a:pos x="1" y="0"/>
                </a:cxn>
                <a:cxn ang="0">
                  <a:pos x="1" y="19"/>
                </a:cxn>
                <a:cxn ang="0">
                  <a:pos x="10" y="43"/>
                </a:cxn>
                <a:cxn ang="0">
                  <a:pos x="24" y="41"/>
                </a:cxn>
              </a:cxnLst>
              <a:rect l="0" t="0" r="r" b="b"/>
              <a:pathLst>
                <a:path w="35" h="46">
                  <a:moveTo>
                    <a:pt x="24" y="41"/>
                  </a:moveTo>
                  <a:cubicBezTo>
                    <a:pt x="24" y="41"/>
                    <a:pt x="35" y="25"/>
                    <a:pt x="14" y="11"/>
                  </a:cubicBezTo>
                  <a:cubicBezTo>
                    <a:pt x="3" y="3"/>
                    <a:pt x="1" y="0"/>
                    <a:pt x="1" y="0"/>
                  </a:cubicBezTo>
                  <a:cubicBezTo>
                    <a:pt x="1" y="0"/>
                    <a:pt x="0" y="14"/>
                    <a:pt x="1" y="19"/>
                  </a:cubicBezTo>
                  <a:cubicBezTo>
                    <a:pt x="1" y="24"/>
                    <a:pt x="0" y="38"/>
                    <a:pt x="10" y="43"/>
                  </a:cubicBezTo>
                  <a:cubicBezTo>
                    <a:pt x="17" y="46"/>
                    <a:pt x="24" y="41"/>
                    <a:pt x="2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6" name="Freeform 86"/>
            <p:cNvSpPr/>
            <p:nvPr/>
          </p:nvSpPr>
          <p:spPr bwMode="auto">
            <a:xfrm>
              <a:off x="4527551" y="1682750"/>
              <a:ext cx="138113" cy="131763"/>
            </a:xfrm>
            <a:custGeom>
              <a:avLst/>
              <a:gdLst/>
              <a:ahLst/>
              <a:cxnLst>
                <a:cxn ang="0">
                  <a:pos x="6" y="21"/>
                </a:cxn>
                <a:cxn ang="0">
                  <a:pos x="47" y="34"/>
                </a:cxn>
                <a:cxn ang="0">
                  <a:pos x="9" y="35"/>
                </a:cxn>
                <a:cxn ang="0">
                  <a:pos x="6" y="21"/>
                </a:cxn>
              </a:cxnLst>
              <a:rect l="0" t="0" r="r" b="b"/>
              <a:pathLst>
                <a:path w="47" h="45">
                  <a:moveTo>
                    <a:pt x="6" y="21"/>
                  </a:moveTo>
                  <a:cubicBezTo>
                    <a:pt x="6" y="21"/>
                    <a:pt x="31" y="0"/>
                    <a:pt x="47" y="34"/>
                  </a:cubicBezTo>
                  <a:cubicBezTo>
                    <a:pt x="47" y="34"/>
                    <a:pt x="28" y="45"/>
                    <a:pt x="9" y="35"/>
                  </a:cubicBezTo>
                  <a:cubicBezTo>
                    <a:pt x="0" y="31"/>
                    <a:pt x="6" y="23"/>
                    <a:pt x="6" y="2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7" name="Freeform 87"/>
            <p:cNvSpPr/>
            <p:nvPr/>
          </p:nvSpPr>
          <p:spPr bwMode="auto">
            <a:xfrm>
              <a:off x="4475163" y="1814513"/>
              <a:ext cx="138113" cy="117475"/>
            </a:xfrm>
            <a:custGeom>
              <a:avLst/>
              <a:gdLst/>
              <a:ahLst/>
              <a:cxnLst>
                <a:cxn ang="0">
                  <a:pos x="1" y="20"/>
                </a:cxn>
                <a:cxn ang="0">
                  <a:pos x="47" y="14"/>
                </a:cxn>
                <a:cxn ang="0">
                  <a:pos x="33" y="24"/>
                </a:cxn>
                <a:cxn ang="0">
                  <a:pos x="1" y="20"/>
                </a:cxn>
              </a:cxnLst>
              <a:rect l="0" t="0" r="r" b="b"/>
              <a:pathLst>
                <a:path w="47" h="40">
                  <a:moveTo>
                    <a:pt x="1" y="20"/>
                  </a:moveTo>
                  <a:cubicBezTo>
                    <a:pt x="0" y="15"/>
                    <a:pt x="9" y="0"/>
                    <a:pt x="47" y="14"/>
                  </a:cubicBezTo>
                  <a:cubicBezTo>
                    <a:pt x="47" y="14"/>
                    <a:pt x="38" y="21"/>
                    <a:pt x="33" y="24"/>
                  </a:cubicBezTo>
                  <a:cubicBezTo>
                    <a:pt x="28" y="28"/>
                    <a:pt x="2" y="40"/>
                    <a:pt x="1" y="20"/>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8" name="Freeform 88"/>
            <p:cNvSpPr/>
            <p:nvPr/>
          </p:nvSpPr>
          <p:spPr bwMode="auto">
            <a:xfrm>
              <a:off x="4481513" y="1946275"/>
              <a:ext cx="122238" cy="111125"/>
            </a:xfrm>
            <a:custGeom>
              <a:avLst/>
              <a:gdLst/>
              <a:ahLst/>
              <a:cxnLst>
                <a:cxn ang="0">
                  <a:pos x="1" y="19"/>
                </a:cxn>
                <a:cxn ang="0">
                  <a:pos x="35" y="0"/>
                </a:cxn>
                <a:cxn ang="0">
                  <a:pos x="42" y="0"/>
                </a:cxn>
                <a:cxn ang="0">
                  <a:pos x="24" y="31"/>
                </a:cxn>
                <a:cxn ang="0">
                  <a:pos x="1" y="19"/>
                </a:cxn>
              </a:cxnLst>
              <a:rect l="0" t="0" r="r" b="b"/>
              <a:pathLst>
                <a:path w="42" h="38">
                  <a:moveTo>
                    <a:pt x="1" y="19"/>
                  </a:moveTo>
                  <a:cubicBezTo>
                    <a:pt x="0" y="14"/>
                    <a:pt x="2" y="0"/>
                    <a:pt x="35" y="0"/>
                  </a:cubicBezTo>
                  <a:cubicBezTo>
                    <a:pt x="35" y="0"/>
                    <a:pt x="40" y="1"/>
                    <a:pt x="42" y="0"/>
                  </a:cubicBezTo>
                  <a:cubicBezTo>
                    <a:pt x="42" y="0"/>
                    <a:pt x="36" y="23"/>
                    <a:pt x="24" y="31"/>
                  </a:cubicBezTo>
                  <a:cubicBezTo>
                    <a:pt x="12" y="38"/>
                    <a:pt x="2" y="27"/>
                    <a:pt x="1" y="19"/>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29" name="Freeform 89"/>
            <p:cNvSpPr/>
            <p:nvPr/>
          </p:nvSpPr>
          <p:spPr bwMode="auto">
            <a:xfrm>
              <a:off x="4232276" y="1990725"/>
              <a:ext cx="139700" cy="93663"/>
            </a:xfrm>
            <a:custGeom>
              <a:avLst/>
              <a:gdLst/>
              <a:ahLst/>
              <a:cxnLst>
                <a:cxn ang="0">
                  <a:pos x="46" y="18"/>
                </a:cxn>
                <a:cxn ang="0">
                  <a:pos x="15" y="3"/>
                </a:cxn>
                <a:cxn ang="0">
                  <a:pos x="0" y="5"/>
                </a:cxn>
                <a:cxn ang="0">
                  <a:pos x="24" y="30"/>
                </a:cxn>
                <a:cxn ang="0">
                  <a:pos x="46" y="18"/>
                </a:cxn>
              </a:cxnLst>
              <a:rect l="0" t="0" r="r" b="b"/>
              <a:pathLst>
                <a:path w="48" h="32">
                  <a:moveTo>
                    <a:pt x="46" y="18"/>
                  </a:moveTo>
                  <a:cubicBezTo>
                    <a:pt x="46" y="18"/>
                    <a:pt x="44" y="0"/>
                    <a:pt x="15" y="3"/>
                  </a:cubicBezTo>
                  <a:cubicBezTo>
                    <a:pt x="15" y="3"/>
                    <a:pt x="2" y="6"/>
                    <a:pt x="0" y="5"/>
                  </a:cubicBezTo>
                  <a:cubicBezTo>
                    <a:pt x="0" y="5"/>
                    <a:pt x="10" y="27"/>
                    <a:pt x="24" y="30"/>
                  </a:cubicBezTo>
                  <a:cubicBezTo>
                    <a:pt x="38" y="32"/>
                    <a:pt x="48" y="27"/>
                    <a:pt x="46" y="1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0" name="Freeform 90"/>
            <p:cNvSpPr/>
            <p:nvPr/>
          </p:nvSpPr>
          <p:spPr bwMode="auto">
            <a:xfrm>
              <a:off x="4170363" y="1870075"/>
              <a:ext cx="131763" cy="87313"/>
            </a:xfrm>
            <a:custGeom>
              <a:avLst/>
              <a:gdLst/>
              <a:ahLst/>
              <a:cxnLst>
                <a:cxn ang="0">
                  <a:pos x="41" y="11"/>
                </a:cxn>
                <a:cxn ang="0">
                  <a:pos x="7" y="8"/>
                </a:cxn>
                <a:cxn ang="0">
                  <a:pos x="0" y="18"/>
                </a:cxn>
                <a:cxn ang="0">
                  <a:pos x="19" y="24"/>
                </a:cxn>
                <a:cxn ang="0">
                  <a:pos x="41" y="11"/>
                </a:cxn>
              </a:cxnLst>
              <a:rect l="0" t="0" r="r" b="b"/>
              <a:pathLst>
                <a:path w="45" h="30">
                  <a:moveTo>
                    <a:pt x="41" y="11"/>
                  </a:moveTo>
                  <a:cubicBezTo>
                    <a:pt x="37" y="5"/>
                    <a:pt x="22" y="0"/>
                    <a:pt x="7" y="8"/>
                  </a:cubicBezTo>
                  <a:cubicBezTo>
                    <a:pt x="1" y="12"/>
                    <a:pt x="0" y="18"/>
                    <a:pt x="0" y="18"/>
                  </a:cubicBezTo>
                  <a:cubicBezTo>
                    <a:pt x="0" y="18"/>
                    <a:pt x="13" y="21"/>
                    <a:pt x="19" y="24"/>
                  </a:cubicBezTo>
                  <a:cubicBezTo>
                    <a:pt x="32" y="30"/>
                    <a:pt x="45" y="18"/>
                    <a:pt x="41" y="1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1" name="Freeform 91"/>
            <p:cNvSpPr/>
            <p:nvPr/>
          </p:nvSpPr>
          <p:spPr bwMode="auto">
            <a:xfrm>
              <a:off x="4122738" y="1682750"/>
              <a:ext cx="120650" cy="114300"/>
            </a:xfrm>
            <a:custGeom>
              <a:avLst/>
              <a:gdLst/>
              <a:ahLst/>
              <a:cxnLst>
                <a:cxn ang="0">
                  <a:pos x="30" y="34"/>
                </a:cxn>
                <a:cxn ang="0">
                  <a:pos x="23" y="9"/>
                </a:cxn>
                <a:cxn ang="0">
                  <a:pos x="8" y="0"/>
                </a:cxn>
                <a:cxn ang="0">
                  <a:pos x="9" y="27"/>
                </a:cxn>
                <a:cxn ang="0">
                  <a:pos x="30" y="34"/>
                </a:cxn>
              </a:cxnLst>
              <a:rect l="0" t="0" r="r" b="b"/>
              <a:pathLst>
                <a:path w="41" h="39">
                  <a:moveTo>
                    <a:pt x="30" y="34"/>
                  </a:moveTo>
                  <a:cubicBezTo>
                    <a:pt x="30" y="34"/>
                    <a:pt x="41" y="17"/>
                    <a:pt x="23" y="9"/>
                  </a:cubicBezTo>
                  <a:cubicBezTo>
                    <a:pt x="10" y="3"/>
                    <a:pt x="8" y="0"/>
                    <a:pt x="8" y="0"/>
                  </a:cubicBezTo>
                  <a:cubicBezTo>
                    <a:pt x="8" y="0"/>
                    <a:pt x="0" y="15"/>
                    <a:pt x="9" y="27"/>
                  </a:cubicBezTo>
                  <a:cubicBezTo>
                    <a:pt x="18" y="39"/>
                    <a:pt x="27" y="35"/>
                    <a:pt x="30" y="3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2" name="Freeform 92"/>
            <p:cNvSpPr/>
            <p:nvPr/>
          </p:nvSpPr>
          <p:spPr bwMode="auto">
            <a:xfrm>
              <a:off x="4246563" y="1670050"/>
              <a:ext cx="125413" cy="134938"/>
            </a:xfrm>
            <a:custGeom>
              <a:avLst/>
              <a:gdLst/>
              <a:ahLst/>
              <a:cxnLst>
                <a:cxn ang="0">
                  <a:pos x="14" y="41"/>
                </a:cxn>
                <a:cxn ang="0">
                  <a:pos x="12" y="17"/>
                </a:cxn>
                <a:cxn ang="0">
                  <a:pos x="31" y="0"/>
                </a:cxn>
                <a:cxn ang="0">
                  <a:pos x="35" y="38"/>
                </a:cxn>
                <a:cxn ang="0">
                  <a:pos x="14" y="41"/>
                </a:cxn>
              </a:cxnLst>
              <a:rect l="0" t="0" r="r" b="b"/>
              <a:pathLst>
                <a:path w="43" h="46">
                  <a:moveTo>
                    <a:pt x="14" y="41"/>
                  </a:moveTo>
                  <a:cubicBezTo>
                    <a:pt x="14" y="41"/>
                    <a:pt x="0" y="28"/>
                    <a:pt x="12" y="17"/>
                  </a:cubicBezTo>
                  <a:cubicBezTo>
                    <a:pt x="24" y="5"/>
                    <a:pt x="31" y="4"/>
                    <a:pt x="31" y="0"/>
                  </a:cubicBezTo>
                  <a:cubicBezTo>
                    <a:pt x="31" y="0"/>
                    <a:pt x="43" y="30"/>
                    <a:pt x="35" y="38"/>
                  </a:cubicBezTo>
                  <a:cubicBezTo>
                    <a:pt x="28" y="46"/>
                    <a:pt x="19" y="44"/>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3" name="Freeform 93"/>
            <p:cNvSpPr/>
            <p:nvPr/>
          </p:nvSpPr>
          <p:spPr bwMode="auto">
            <a:xfrm>
              <a:off x="4654551" y="1831975"/>
              <a:ext cx="128588" cy="134938"/>
            </a:xfrm>
            <a:custGeom>
              <a:avLst/>
              <a:gdLst/>
              <a:ahLst/>
              <a:cxnLst>
                <a:cxn ang="0">
                  <a:pos x="8" y="38"/>
                </a:cxn>
                <a:cxn ang="0">
                  <a:pos x="16" y="12"/>
                </a:cxn>
                <a:cxn ang="0">
                  <a:pos x="38" y="0"/>
                </a:cxn>
                <a:cxn ang="0">
                  <a:pos x="35" y="39"/>
                </a:cxn>
                <a:cxn ang="0">
                  <a:pos x="8" y="38"/>
                </a:cxn>
              </a:cxnLst>
              <a:rect l="0" t="0" r="r" b="b"/>
              <a:pathLst>
                <a:path w="44" h="46">
                  <a:moveTo>
                    <a:pt x="8" y="38"/>
                  </a:moveTo>
                  <a:cubicBezTo>
                    <a:pt x="8" y="38"/>
                    <a:pt x="0" y="19"/>
                    <a:pt x="16" y="12"/>
                  </a:cubicBezTo>
                  <a:cubicBezTo>
                    <a:pt x="33" y="5"/>
                    <a:pt x="38" y="0"/>
                    <a:pt x="38" y="0"/>
                  </a:cubicBezTo>
                  <a:cubicBezTo>
                    <a:pt x="38" y="0"/>
                    <a:pt x="44" y="32"/>
                    <a:pt x="35" y="39"/>
                  </a:cubicBezTo>
                  <a:cubicBezTo>
                    <a:pt x="25" y="45"/>
                    <a:pt x="13" y="46"/>
                    <a:pt x="8"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4" name="Freeform 94"/>
            <p:cNvSpPr/>
            <p:nvPr/>
          </p:nvSpPr>
          <p:spPr bwMode="auto">
            <a:xfrm>
              <a:off x="4668838" y="1649413"/>
              <a:ext cx="84138" cy="120650"/>
            </a:xfrm>
            <a:custGeom>
              <a:avLst/>
              <a:gdLst/>
              <a:ahLst/>
              <a:cxnLst>
                <a:cxn ang="0">
                  <a:pos x="14" y="41"/>
                </a:cxn>
                <a:cxn ang="0">
                  <a:pos x="2" y="21"/>
                </a:cxn>
                <a:cxn ang="0">
                  <a:pos x="15" y="0"/>
                </a:cxn>
                <a:cxn ang="0">
                  <a:pos x="27" y="20"/>
                </a:cxn>
                <a:cxn ang="0">
                  <a:pos x="14" y="41"/>
                </a:cxn>
              </a:cxnLst>
              <a:rect l="0" t="0" r="r" b="b"/>
              <a:pathLst>
                <a:path w="29" h="41">
                  <a:moveTo>
                    <a:pt x="14" y="41"/>
                  </a:moveTo>
                  <a:cubicBezTo>
                    <a:pt x="14" y="41"/>
                    <a:pt x="0" y="31"/>
                    <a:pt x="2" y="21"/>
                  </a:cubicBezTo>
                  <a:cubicBezTo>
                    <a:pt x="4" y="11"/>
                    <a:pt x="15" y="3"/>
                    <a:pt x="15" y="0"/>
                  </a:cubicBezTo>
                  <a:cubicBezTo>
                    <a:pt x="15" y="0"/>
                    <a:pt x="26" y="13"/>
                    <a:pt x="27" y="20"/>
                  </a:cubicBezTo>
                  <a:cubicBezTo>
                    <a:pt x="29" y="26"/>
                    <a:pt x="27" y="40"/>
                    <a:pt x="14" y="41"/>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5" name="Freeform 95"/>
            <p:cNvSpPr/>
            <p:nvPr/>
          </p:nvSpPr>
          <p:spPr bwMode="auto">
            <a:xfrm>
              <a:off x="3976688" y="1876425"/>
              <a:ext cx="141288" cy="122238"/>
            </a:xfrm>
            <a:custGeom>
              <a:avLst/>
              <a:gdLst/>
              <a:ahLst/>
              <a:cxnLst>
                <a:cxn ang="0">
                  <a:pos x="31" y="42"/>
                </a:cxn>
                <a:cxn ang="0">
                  <a:pos x="23" y="0"/>
                </a:cxn>
                <a:cxn ang="0">
                  <a:pos x="34" y="11"/>
                </a:cxn>
                <a:cxn ang="0">
                  <a:pos x="31" y="42"/>
                </a:cxn>
              </a:cxnLst>
              <a:rect l="0" t="0" r="r" b="b"/>
              <a:pathLst>
                <a:path w="48" h="42">
                  <a:moveTo>
                    <a:pt x="31" y="42"/>
                  </a:moveTo>
                  <a:cubicBezTo>
                    <a:pt x="31" y="42"/>
                    <a:pt x="0" y="34"/>
                    <a:pt x="23" y="0"/>
                  </a:cubicBezTo>
                  <a:cubicBezTo>
                    <a:pt x="23" y="0"/>
                    <a:pt x="27" y="6"/>
                    <a:pt x="34" y="11"/>
                  </a:cubicBezTo>
                  <a:cubicBezTo>
                    <a:pt x="41" y="16"/>
                    <a:pt x="48" y="42"/>
                    <a:pt x="31" y="42"/>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6" name="Freeform 96"/>
            <p:cNvSpPr/>
            <p:nvPr/>
          </p:nvSpPr>
          <p:spPr bwMode="auto">
            <a:xfrm>
              <a:off x="3830638" y="1901825"/>
              <a:ext cx="169863" cy="128588"/>
            </a:xfrm>
            <a:custGeom>
              <a:avLst/>
              <a:gdLst/>
              <a:ahLst/>
              <a:cxnLst>
                <a:cxn ang="0">
                  <a:pos x="26" y="44"/>
                </a:cxn>
                <a:cxn ang="0">
                  <a:pos x="20" y="0"/>
                </a:cxn>
                <a:cxn ang="0">
                  <a:pos x="28" y="7"/>
                </a:cxn>
                <a:cxn ang="0">
                  <a:pos x="26" y="44"/>
                </a:cxn>
              </a:cxnLst>
              <a:rect l="0" t="0" r="r" b="b"/>
              <a:pathLst>
                <a:path w="58" h="44">
                  <a:moveTo>
                    <a:pt x="26" y="44"/>
                  </a:moveTo>
                  <a:cubicBezTo>
                    <a:pt x="26" y="44"/>
                    <a:pt x="0" y="31"/>
                    <a:pt x="20" y="0"/>
                  </a:cubicBezTo>
                  <a:cubicBezTo>
                    <a:pt x="20" y="0"/>
                    <a:pt x="24" y="5"/>
                    <a:pt x="28" y="7"/>
                  </a:cubicBezTo>
                  <a:cubicBezTo>
                    <a:pt x="41" y="15"/>
                    <a:pt x="58" y="35"/>
                    <a:pt x="26" y="44"/>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sp>
          <p:nvSpPr>
            <p:cNvPr id="37" name="Freeform 97"/>
            <p:cNvSpPr/>
            <p:nvPr/>
          </p:nvSpPr>
          <p:spPr bwMode="auto">
            <a:xfrm>
              <a:off x="3997326" y="1724025"/>
              <a:ext cx="146050" cy="111125"/>
            </a:xfrm>
            <a:custGeom>
              <a:avLst/>
              <a:gdLst/>
              <a:ahLst/>
              <a:cxnLst>
                <a:cxn ang="0">
                  <a:pos x="30" y="38"/>
                </a:cxn>
                <a:cxn ang="0">
                  <a:pos x="18" y="0"/>
                </a:cxn>
                <a:cxn ang="0">
                  <a:pos x="26" y="9"/>
                </a:cxn>
                <a:cxn ang="0">
                  <a:pos x="30" y="38"/>
                </a:cxn>
              </a:cxnLst>
              <a:rect l="0" t="0" r="r" b="b"/>
              <a:pathLst>
                <a:path w="50" h="38">
                  <a:moveTo>
                    <a:pt x="30" y="38"/>
                  </a:moveTo>
                  <a:cubicBezTo>
                    <a:pt x="30" y="38"/>
                    <a:pt x="0" y="38"/>
                    <a:pt x="18" y="0"/>
                  </a:cubicBezTo>
                  <a:cubicBezTo>
                    <a:pt x="18" y="0"/>
                    <a:pt x="22" y="7"/>
                    <a:pt x="26" y="9"/>
                  </a:cubicBezTo>
                  <a:cubicBezTo>
                    <a:pt x="30" y="11"/>
                    <a:pt x="50" y="31"/>
                    <a:pt x="30" y="38"/>
                  </a:cubicBezTo>
                  <a:close/>
                </a:path>
              </a:pathLst>
            </a:custGeom>
            <a:grpFill/>
            <a:ln w="9525">
              <a:noFill/>
              <a:round/>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smtClean="0">
                <a:ln>
                  <a:noFill/>
                </a:ln>
                <a:solidFill>
                  <a:prstClr val="black"/>
                </a:solidFill>
                <a:effectLst/>
                <a:uLnTx/>
                <a:uFillTx/>
              </a:endParaRPr>
            </a:p>
          </p:txBody>
        </p:sp>
      </p:grpSp>
    </p:spTree>
  </p:cSld>
  <p:clrMapOvr>
    <a:masterClrMapping/>
  </p:clrMapOvr>
  <mc:AlternateContent xmlns:mc="http://schemas.openxmlformats.org/markup-compatibility/2006">
    <mc:Choice xmlns:p14="http://schemas.microsoft.com/office/powerpoint/2010/main" Requires="p14">
      <p:transition spd="med">
        <p14:pan/>
      </p:transition>
    </mc:Choice>
    <mc:Fallback>
      <p:transition spd="med">
        <p:fade/>
      </p:transition>
    </mc:Fallback>
  </mc:AlternateContent>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F3DF2C6-2EA2-4C9B-BD5F-101B8F3B5F3B}" type="datetime1">
              <a:rPr lang="zh-CN" altLang="en-US" smtClean="0"/>
            </a:fld>
            <a:endParaRPr lang="zh-CN" altLang="en-US" dirty="0"/>
          </a:p>
        </p:txBody>
      </p:sp>
      <p:sp>
        <p:nvSpPr>
          <p:cNvPr id="3" name="页脚占位符 2"/>
          <p:cNvSpPr>
            <a:spLocks noGrp="1"/>
          </p:cNvSpPr>
          <p:nvPr>
            <p:ph type="ftr" sz="quarter" idx="11"/>
          </p:nvPr>
        </p:nvSpPr>
        <p:spPr/>
        <p:txBody>
          <a:bodyPr/>
          <a:lstStyle/>
          <a:p>
            <a:r>
              <a:rPr lang="zh-CN" altLang="en-US" smtClean="0"/>
              <a:t>软件工程</a:t>
            </a:r>
            <a:endParaRPr lang="zh-CN" altLang="en-US" dirty="0"/>
          </a:p>
        </p:txBody>
      </p:sp>
      <p:sp>
        <p:nvSpPr>
          <p:cNvPr id="4" name="灯片编号占位符 3"/>
          <p:cNvSpPr>
            <a:spLocks noGrp="1"/>
          </p:cNvSpPr>
          <p:nvPr>
            <p:ph type="sldNum" sz="quarter" idx="12"/>
          </p:nvPr>
        </p:nvSpPr>
        <p:spPr/>
        <p:txBody>
          <a:bodyPr/>
          <a:lstStyle/>
          <a:p>
            <a:fld id="{233B410F-ED3A-420F-9009-9AC68EA6698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par>
    </p:tnLst>
  </p:timing>
</p:sld>
</file>

<file path=ppt/tags/tag1.xml><?xml version="1.0" encoding="utf-8"?>
<p:tagLst xmlns:p="http://schemas.openxmlformats.org/presentationml/2006/main">
  <p:tag name="MH" val="20160830110146"/>
  <p:tag name="MH_LIBRARY" val="CONTENTS"/>
  <p:tag name="MH_TYPE" val="OTHERS"/>
  <p:tag name="ID" val="553512"/>
</p:tagLst>
</file>

<file path=ppt/tags/tag2.xml><?xml version="1.0" encoding="utf-8"?>
<p:tagLst xmlns:p="http://schemas.openxmlformats.org/presentationml/2006/main">
  <p:tag name="MH" val="20160830110146"/>
  <p:tag name="MH_LIBRARY" val="CONTENTS"/>
  <p:tag name="MH_TYPE" val="OTHERS"/>
  <p:tag name="ID" val="553512"/>
</p:tagLst>
</file>

<file path=ppt/tags/tag3.xml><?xml version="1.0" encoding="utf-8"?>
<p:tagLst xmlns:p="http://schemas.openxmlformats.org/presentationml/2006/main">
  <p:tag name="KSO_WM_BEAUTIFY_FLAG" val=""/>
  <p:tag name="KSO_WM_UNIT_PLACING_PICTURE_USER_VIEWPORT" val="{&quot;height&quot;:7773,&quot;width&quot;:11772}"/>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TABLE_ENDDRAG_ORIGIN_RECT" val="698*223"/>
  <p:tag name="TABLE_ENDDRAG_RECT" val="10*82*698*223"/>
</p:tagLst>
</file>

<file path=ppt/tags/tag124.xml><?xml version="1.0" encoding="utf-8"?>
<p:tagLst xmlns:p="http://schemas.openxmlformats.org/presentationml/2006/main">
  <p:tag name="RAINPROBLEM" val="ProblemBody"/>
</p:tagLst>
</file>

<file path=ppt/tags/tag125.xml><?xml version="1.0" encoding="utf-8"?>
<p:tagLst xmlns:p="http://schemas.openxmlformats.org/presentationml/2006/main">
  <p:tag name="RAINPROBLEM" val="ProblemItem"/>
</p:tagLst>
</file>

<file path=ppt/tags/tag126.xml><?xml version="1.0" encoding="utf-8"?>
<p:tagLst xmlns:p="http://schemas.openxmlformats.org/presentationml/2006/main">
  <p:tag name="RAINPROBLEM" val="ProblemItem"/>
</p:tagLst>
</file>

<file path=ppt/tags/tag127.xml><?xml version="1.0" encoding="utf-8"?>
<p:tagLst xmlns:p="http://schemas.openxmlformats.org/presentationml/2006/main">
  <p:tag name="RAINPROBLEM" val="ProblemItem"/>
</p:tagLst>
</file>

<file path=ppt/tags/tag128.xml><?xml version="1.0" encoding="utf-8"?>
<p:tagLst xmlns:p="http://schemas.openxmlformats.org/presentationml/2006/main">
  <p:tag name="RAINPROBLEM" val="ProblemItem"/>
</p:tagLst>
</file>

<file path=ppt/tags/tag129.xml><?xml version="1.0" encoding="utf-8"?>
<p:tagLst xmlns:p="http://schemas.openxmlformats.org/presentationml/2006/main">
  <p:tag name="RAINPROBLEM" val="ProblemBullet"/>
  <p:tag name="RAINPROBLEMTYPE" val="MultipleChoice"/>
  <p:tag name="RAINBULLET" val="Wrong"/>
</p:tagLst>
</file>

<file path=ppt/tags/tag130.xml><?xml version="1.0" encoding="utf-8"?>
<p:tagLst xmlns:p="http://schemas.openxmlformats.org/presentationml/2006/main">
  <p:tag name="RAINPROBLEM" val="ProblemBullet"/>
  <p:tag name="RAINPROBLEMTYPE" val="MultipleChoice"/>
  <p:tag name="RAINBULLET" val="Correct"/>
</p:tagLst>
</file>

<file path=ppt/tags/tag131.xml><?xml version="1.0" encoding="utf-8"?>
<p:tagLst xmlns:p="http://schemas.openxmlformats.org/presentationml/2006/main">
  <p:tag name="RAINPROBLEM" val="ProblemBullet"/>
  <p:tag name="RAINPROBLEMTYPE" val="MultipleChoice"/>
  <p:tag name="RAINBULLET" val="Wrong"/>
</p:tagLst>
</file>

<file path=ppt/tags/tag132.xml><?xml version="1.0" encoding="utf-8"?>
<p:tagLst xmlns:p="http://schemas.openxmlformats.org/presentationml/2006/main">
  <p:tag name="RAINPROBLEM" val="ProblemBullet"/>
  <p:tag name="RAINPROBLEMTYPE" val="MultipleChoice"/>
  <p:tag name="RAINBULLET" val="Wrong"/>
</p:tagLst>
</file>

<file path=ppt/tags/tag133.xml><?xml version="1.0" encoding="utf-8"?>
<p:tagLst xmlns:p="http://schemas.openxmlformats.org/presentationml/2006/main">
  <p:tag name="RAINPROBLEM" val="ProblemSubmit"/>
  <p:tag name="RAINPROBLEMTYPE" val="MultipleChoice"/>
</p:tagLst>
</file>

<file path=ppt/tags/tag134.xml><?xml version="1.0" encoding="utf-8"?>
<p:tagLst xmlns:p="http://schemas.openxmlformats.org/presentationml/2006/main">
  <p:tag name="RAINPROBLEMTYPE" val="ProblemTypeMarker"/>
</p:tagLst>
</file>

<file path=ppt/tags/tag135.xml><?xml version="1.0" encoding="utf-8"?>
<p:tagLst xmlns:p="http://schemas.openxmlformats.org/presentationml/2006/main">
  <p:tag name="RAINPROBLEMTYPE" val="ProblemTypeMarker"/>
</p:tagLst>
</file>

<file path=ppt/tags/tag136.xml><?xml version="1.0" encoding="utf-8"?>
<p:tagLst xmlns:p="http://schemas.openxmlformats.org/presentationml/2006/main">
  <p:tag name="RAINPROBLEMTYPE" val="ProblemTypeMarker"/>
</p:tagLst>
</file>

<file path=ppt/tags/tag137.xml><?xml version="1.0" encoding="utf-8"?>
<p:tagLst xmlns:p="http://schemas.openxmlformats.org/presentationml/2006/main">
  <p:tag name="RAINPROBLEMTYPE" val="ProblemTypeMarker"/>
</p:tagLst>
</file>

<file path=ppt/tags/tag138.xml><?xml version="1.0" encoding="utf-8"?>
<p:tagLst xmlns:p="http://schemas.openxmlformats.org/presentationml/2006/main">
  <p:tag name="RAINPROBLEMTYPE" val="ProblemTypeMarker"/>
</p:tagLst>
</file>

<file path=ppt/tags/tag139.xml><?xml version="1.0" encoding="utf-8"?>
<p:tagLst xmlns:p="http://schemas.openxmlformats.org/presentationml/2006/main">
  <p:tag name="RAINPROBLEM" val="ProblemSetting"/>
  <p:tag name="RAINPROBLEMTYPE" val="MultipleChoice"/>
</p:tagLst>
</file>

<file path=ppt/tags/tag140.xml><?xml version="1.0" encoding="utf-8"?>
<p:tagLst xmlns:p="http://schemas.openxmlformats.org/presentationml/2006/main">
  <p:tag name="RAINPROBLEM" val="MultipleChoice"/>
  <p:tag name="PROBLEMSCORE" val="1.0"/>
</p:tagLst>
</file>

<file path=ppt/tags/tag141.xml><?xml version="1.0" encoding="utf-8"?>
<p:tagLst xmlns:p="http://schemas.openxmlformats.org/presentationml/2006/main">
  <p:tag name="RAINPROBLEM" val="ProblemBody"/>
</p:tagLst>
</file>

<file path=ppt/tags/tag142.xml><?xml version="1.0" encoding="utf-8"?>
<p:tagLst xmlns:p="http://schemas.openxmlformats.org/presentationml/2006/main">
  <p:tag name="RAINPROBLEM" val="ProblemItem"/>
</p:tagLst>
</file>

<file path=ppt/tags/tag143.xml><?xml version="1.0" encoding="utf-8"?>
<p:tagLst xmlns:p="http://schemas.openxmlformats.org/presentationml/2006/main">
  <p:tag name="RAINPROBLEM" val="ProblemItem"/>
</p:tagLst>
</file>

<file path=ppt/tags/tag144.xml><?xml version="1.0" encoding="utf-8"?>
<p:tagLst xmlns:p="http://schemas.openxmlformats.org/presentationml/2006/main">
  <p:tag name="RAINPROBLEM" val="ProblemItem"/>
</p:tagLst>
</file>

<file path=ppt/tags/tag145.xml><?xml version="1.0" encoding="utf-8"?>
<p:tagLst xmlns:p="http://schemas.openxmlformats.org/presentationml/2006/main">
  <p:tag name="RAINPROBLEM" val="ProblemItem"/>
</p:tagLst>
</file>

<file path=ppt/tags/tag146.xml><?xml version="1.0" encoding="utf-8"?>
<p:tagLst xmlns:p="http://schemas.openxmlformats.org/presentationml/2006/main">
  <p:tag name="RAINPROBLEM" val="ProblemBullet"/>
  <p:tag name="RAINPROBLEMTYPE" val="MultipleChoice"/>
  <p:tag name="RAINBULLET" val="Wrong"/>
</p:tagLst>
</file>

<file path=ppt/tags/tag147.xml><?xml version="1.0" encoding="utf-8"?>
<p:tagLst xmlns:p="http://schemas.openxmlformats.org/presentationml/2006/main">
  <p:tag name="RAINPROBLEM" val="ProblemBullet"/>
  <p:tag name="RAINPROBLEMTYPE" val="MultipleChoice"/>
  <p:tag name="RAINBULLET" val="Wrong"/>
</p:tagLst>
</file>

<file path=ppt/tags/tag148.xml><?xml version="1.0" encoding="utf-8"?>
<p:tagLst xmlns:p="http://schemas.openxmlformats.org/presentationml/2006/main">
  <p:tag name="RAINPROBLEM" val="ProblemBullet"/>
  <p:tag name="RAINPROBLEMTYPE" val="MultipleChoice"/>
  <p:tag name="RAINBULLET" val="Correct"/>
</p:tagLst>
</file>

<file path=ppt/tags/tag149.xml><?xml version="1.0" encoding="utf-8"?>
<p:tagLst xmlns:p="http://schemas.openxmlformats.org/presentationml/2006/main">
  <p:tag name="RAINPROBLEM" val="ProblemBullet"/>
  <p:tag name="RAINPROBLEMTYPE" val="MultipleChoice"/>
  <p:tag name="RAINBULLET" val="Wrong"/>
</p:tagLst>
</file>

<file path=ppt/tags/tag150.xml><?xml version="1.0" encoding="utf-8"?>
<p:tagLst xmlns:p="http://schemas.openxmlformats.org/presentationml/2006/main">
  <p:tag name="RAINPROBLEM" val="ProblemSubmit"/>
  <p:tag name="RAINPROBLEMTYPE" val="MultipleChoice"/>
</p:tagLst>
</file>

<file path=ppt/tags/tag151.xml><?xml version="1.0" encoding="utf-8"?>
<p:tagLst xmlns:p="http://schemas.openxmlformats.org/presentationml/2006/main">
  <p:tag name="RAINPROBLEMTYPE" val="ProblemTypeMarker"/>
</p:tagLst>
</file>

<file path=ppt/tags/tag152.xml><?xml version="1.0" encoding="utf-8"?>
<p:tagLst xmlns:p="http://schemas.openxmlformats.org/presentationml/2006/main">
  <p:tag name="RAINPROBLEMTYPE" val="ProblemTypeMarker"/>
</p:tagLst>
</file>

<file path=ppt/tags/tag153.xml><?xml version="1.0" encoding="utf-8"?>
<p:tagLst xmlns:p="http://schemas.openxmlformats.org/presentationml/2006/main">
  <p:tag name="RAINPROBLEMTYPE" val="ProblemTypeMarker"/>
</p:tagLst>
</file>

<file path=ppt/tags/tag154.xml><?xml version="1.0" encoding="utf-8"?>
<p:tagLst xmlns:p="http://schemas.openxmlformats.org/presentationml/2006/main">
  <p:tag name="RAINPROBLEMTYPE" val="ProblemTypeMarker"/>
</p:tagLst>
</file>

<file path=ppt/tags/tag155.xml><?xml version="1.0" encoding="utf-8"?>
<p:tagLst xmlns:p="http://schemas.openxmlformats.org/presentationml/2006/main">
  <p:tag name="RAINPROBLEMTYPE" val="ProblemTypeMarker"/>
</p:tagLst>
</file>

<file path=ppt/tags/tag156.xml><?xml version="1.0" encoding="utf-8"?>
<p:tagLst xmlns:p="http://schemas.openxmlformats.org/presentationml/2006/main">
  <p:tag name="RAINPROBLEM" val="ProblemSetting"/>
  <p:tag name="RAINPROBLEMTYPE" val="MultipleChoice"/>
</p:tagLst>
</file>

<file path=ppt/tags/tag157.xml><?xml version="1.0" encoding="utf-8"?>
<p:tagLst xmlns:p="http://schemas.openxmlformats.org/presentationml/2006/main">
  <p:tag name="RAINPROBLEM" val="MultipleChoice"/>
  <p:tag name="PROBLEMSCORE" val="1.0"/>
</p:tagLst>
</file>

<file path=ppt/tags/tag158.xml><?xml version="1.0" encoding="utf-8"?>
<p:tagLst xmlns:p="http://schemas.openxmlformats.org/presentationml/2006/main">
  <p:tag name="RAINPROBLEM" val="ProblemBody"/>
</p:tagLst>
</file>

<file path=ppt/tags/tag159.xml><?xml version="1.0" encoding="utf-8"?>
<p:tagLst xmlns:p="http://schemas.openxmlformats.org/presentationml/2006/main">
  <p:tag name="RAINPROBLEM" val="ProblemItem"/>
</p:tagLst>
</file>

<file path=ppt/tags/tag160.xml><?xml version="1.0" encoding="utf-8"?>
<p:tagLst xmlns:p="http://schemas.openxmlformats.org/presentationml/2006/main">
  <p:tag name="RAINPROBLEM" val="ProblemItem"/>
</p:tagLst>
</file>

<file path=ppt/tags/tag161.xml><?xml version="1.0" encoding="utf-8"?>
<p:tagLst xmlns:p="http://schemas.openxmlformats.org/presentationml/2006/main">
  <p:tag name="RAINPROBLEM" val="ProblemItem"/>
</p:tagLst>
</file>

<file path=ppt/tags/tag162.xml><?xml version="1.0" encoding="utf-8"?>
<p:tagLst xmlns:p="http://schemas.openxmlformats.org/presentationml/2006/main">
  <p:tag name="RAINPROBLEM" val="ProblemItem"/>
</p:tagLst>
</file>

<file path=ppt/tags/tag163.xml><?xml version="1.0" encoding="utf-8"?>
<p:tagLst xmlns:p="http://schemas.openxmlformats.org/presentationml/2006/main">
  <p:tag name="RAINPROBLEM" val="ProblemBullet"/>
  <p:tag name="RAINPROBLEMTYPE" val="MultipleChoice"/>
  <p:tag name="RAINBULLET" val="Wrong"/>
</p:tagLst>
</file>

<file path=ppt/tags/tag164.xml><?xml version="1.0" encoding="utf-8"?>
<p:tagLst xmlns:p="http://schemas.openxmlformats.org/presentationml/2006/main">
  <p:tag name="RAINPROBLEM" val="ProblemBullet"/>
  <p:tag name="RAINPROBLEMTYPE" val="MultipleChoice"/>
  <p:tag name="RAINBULLET" val="Wrong"/>
</p:tagLst>
</file>

<file path=ppt/tags/tag165.xml><?xml version="1.0" encoding="utf-8"?>
<p:tagLst xmlns:p="http://schemas.openxmlformats.org/presentationml/2006/main">
  <p:tag name="RAINPROBLEM" val="ProblemBullet"/>
  <p:tag name="RAINPROBLEMTYPE" val="MultipleChoice"/>
  <p:tag name="RAINBULLET" val="Wrong"/>
</p:tagLst>
</file>

<file path=ppt/tags/tag166.xml><?xml version="1.0" encoding="utf-8"?>
<p:tagLst xmlns:p="http://schemas.openxmlformats.org/presentationml/2006/main">
  <p:tag name="RAINPROBLEM" val="ProblemBullet"/>
  <p:tag name="RAINPROBLEMTYPE" val="MultipleChoice"/>
  <p:tag name="RAINBULLET" val="Correct"/>
</p:tagLst>
</file>

<file path=ppt/tags/tag167.xml><?xml version="1.0" encoding="utf-8"?>
<p:tagLst xmlns:p="http://schemas.openxmlformats.org/presentationml/2006/main">
  <p:tag name="RAINPROBLEM" val="ProblemSubmit"/>
  <p:tag name="RAINPROBLEMTYPE" val="MultipleChoice"/>
</p:tagLst>
</file>

<file path=ppt/tags/tag168.xml><?xml version="1.0" encoding="utf-8"?>
<p:tagLst xmlns:p="http://schemas.openxmlformats.org/presentationml/2006/main">
  <p:tag name="RAINPROBLEMTYPE" val="ProblemTypeMarker"/>
</p:tagLst>
</file>

<file path=ppt/tags/tag169.xml><?xml version="1.0" encoding="utf-8"?>
<p:tagLst xmlns:p="http://schemas.openxmlformats.org/presentationml/2006/main">
  <p:tag name="RAINPROBLEMTYPE" val="ProblemTypeMarker"/>
</p:tagLst>
</file>

<file path=ppt/tags/tag170.xml><?xml version="1.0" encoding="utf-8"?>
<p:tagLst xmlns:p="http://schemas.openxmlformats.org/presentationml/2006/main">
  <p:tag name="RAINPROBLEMTYPE" val="ProblemTypeMarker"/>
</p:tagLst>
</file>

<file path=ppt/tags/tag171.xml><?xml version="1.0" encoding="utf-8"?>
<p:tagLst xmlns:p="http://schemas.openxmlformats.org/presentationml/2006/main">
  <p:tag name="RAINPROBLEMTYPE" val="ProblemTypeMarker"/>
</p:tagLst>
</file>

<file path=ppt/tags/tag172.xml><?xml version="1.0" encoding="utf-8"?>
<p:tagLst xmlns:p="http://schemas.openxmlformats.org/presentationml/2006/main">
  <p:tag name="RAINPROBLEMTYPE" val="ProblemTypeMarker"/>
</p:tagLst>
</file>

<file path=ppt/tags/tag173.xml><?xml version="1.0" encoding="utf-8"?>
<p:tagLst xmlns:p="http://schemas.openxmlformats.org/presentationml/2006/main">
  <p:tag name="RAINPROBLEM" val="ProblemSetting"/>
  <p:tag name="RAINPROBLEMTYPE" val="MultipleChoice"/>
</p:tagLst>
</file>

<file path=ppt/tags/tag174.xml><?xml version="1.0" encoding="utf-8"?>
<p:tagLst xmlns:p="http://schemas.openxmlformats.org/presentationml/2006/main">
  <p:tag name="RAINPROBLEM" val="MultipleChoice"/>
  <p:tag name="PROBLEMSCORE" val="1.0"/>
</p:tagLst>
</file>

<file path=ppt/tags/tag175.xml><?xml version="1.0" encoding="utf-8"?>
<p:tagLst xmlns:p="http://schemas.openxmlformats.org/presentationml/2006/main">
  <p:tag name="RAINPROBLEM" val="ProblemBody"/>
</p:tagLst>
</file>

<file path=ppt/tags/tag176.xml><?xml version="1.0" encoding="utf-8"?>
<p:tagLst xmlns:p="http://schemas.openxmlformats.org/presentationml/2006/main">
  <p:tag name="RAINPROBLEM" val="ProblemItem"/>
</p:tagLst>
</file>

<file path=ppt/tags/tag177.xml><?xml version="1.0" encoding="utf-8"?>
<p:tagLst xmlns:p="http://schemas.openxmlformats.org/presentationml/2006/main">
  <p:tag name="RAINPROBLEM" val="ProblemItem"/>
</p:tagLst>
</file>

<file path=ppt/tags/tag178.xml><?xml version="1.0" encoding="utf-8"?>
<p:tagLst xmlns:p="http://schemas.openxmlformats.org/presentationml/2006/main">
  <p:tag name="RAINPROBLEM" val="ProblemItem"/>
</p:tagLst>
</file>

<file path=ppt/tags/tag179.xml><?xml version="1.0" encoding="utf-8"?>
<p:tagLst xmlns:p="http://schemas.openxmlformats.org/presentationml/2006/main">
  <p:tag name="RAINPROBLEM" val="ProblemItem"/>
</p:tagLst>
</file>

<file path=ppt/tags/tag180.xml><?xml version="1.0" encoding="utf-8"?>
<p:tagLst xmlns:p="http://schemas.openxmlformats.org/presentationml/2006/main">
  <p:tag name="RAINPROBLEM" val="ProblemBullet"/>
  <p:tag name="RAINPROBLEMTYPE" val="MultipleChoice"/>
  <p:tag name="RAINBULLET" val="Wrong"/>
</p:tagLst>
</file>

<file path=ppt/tags/tag181.xml><?xml version="1.0" encoding="utf-8"?>
<p:tagLst xmlns:p="http://schemas.openxmlformats.org/presentationml/2006/main">
  <p:tag name="RAINPROBLEM" val="ProblemBullet"/>
  <p:tag name="RAINPROBLEMTYPE" val="MultipleChoice"/>
  <p:tag name="RAINBULLET" val="Wrong"/>
</p:tagLst>
</file>

<file path=ppt/tags/tag182.xml><?xml version="1.0" encoding="utf-8"?>
<p:tagLst xmlns:p="http://schemas.openxmlformats.org/presentationml/2006/main">
  <p:tag name="RAINPROBLEM" val="ProblemBullet"/>
  <p:tag name="RAINPROBLEMTYPE" val="MultipleChoice"/>
  <p:tag name="RAINBULLET" val="Correct"/>
</p:tagLst>
</file>

<file path=ppt/tags/tag183.xml><?xml version="1.0" encoding="utf-8"?>
<p:tagLst xmlns:p="http://schemas.openxmlformats.org/presentationml/2006/main">
  <p:tag name="RAINPROBLEM" val="ProblemBullet"/>
  <p:tag name="RAINPROBLEMTYPE" val="MultipleChoice"/>
  <p:tag name="RAINBULLET" val="Wrong"/>
</p:tagLst>
</file>

<file path=ppt/tags/tag184.xml><?xml version="1.0" encoding="utf-8"?>
<p:tagLst xmlns:p="http://schemas.openxmlformats.org/presentationml/2006/main">
  <p:tag name="RAINPROBLEM" val="ProblemSubmit"/>
  <p:tag name="RAINPROBLEMTYPE" val="MultipleChoice"/>
</p:tagLst>
</file>

<file path=ppt/tags/tag185.xml><?xml version="1.0" encoding="utf-8"?>
<p:tagLst xmlns:p="http://schemas.openxmlformats.org/presentationml/2006/main">
  <p:tag name="RAINPROBLEMTYPE" val="ProblemTypeMarker"/>
</p:tagLst>
</file>

<file path=ppt/tags/tag186.xml><?xml version="1.0" encoding="utf-8"?>
<p:tagLst xmlns:p="http://schemas.openxmlformats.org/presentationml/2006/main">
  <p:tag name="RAINPROBLEMTYPE" val="ProblemTypeMarker"/>
</p:tagLst>
</file>

<file path=ppt/tags/tag187.xml><?xml version="1.0" encoding="utf-8"?>
<p:tagLst xmlns:p="http://schemas.openxmlformats.org/presentationml/2006/main">
  <p:tag name="RAINPROBLEMTYPE" val="ProblemTypeMarker"/>
</p:tagLst>
</file>

<file path=ppt/tags/tag188.xml><?xml version="1.0" encoding="utf-8"?>
<p:tagLst xmlns:p="http://schemas.openxmlformats.org/presentationml/2006/main">
  <p:tag name="RAINPROBLEMTYPE" val="ProblemTypeMarker"/>
</p:tagLst>
</file>

<file path=ppt/tags/tag189.xml><?xml version="1.0" encoding="utf-8"?>
<p:tagLst xmlns:p="http://schemas.openxmlformats.org/presentationml/2006/main">
  <p:tag name="RAINPROBLEMTYPE" val="ProblemTypeMarker"/>
</p:tagLst>
</file>

<file path=ppt/tags/tag190.xml><?xml version="1.0" encoding="utf-8"?>
<p:tagLst xmlns:p="http://schemas.openxmlformats.org/presentationml/2006/main">
  <p:tag name="RAINPROBLEM" val="ProblemSetting"/>
  <p:tag name="RAINPROBLEMTYPE" val="MultipleChoice"/>
</p:tagLst>
</file>

<file path=ppt/tags/tag191.xml><?xml version="1.0" encoding="utf-8"?>
<p:tagLst xmlns:p="http://schemas.openxmlformats.org/presentationml/2006/main">
  <p:tag name="RAINPROBLEM" val="MultipleChoice"/>
  <p:tag name="PROBLEMSCORE" val="1.0"/>
</p:tagLst>
</file>

<file path=ppt/tags/tag192.xml><?xml version="1.0" encoding="utf-8"?>
<p:tagLst xmlns:p="http://schemas.openxmlformats.org/presentationml/2006/main">
  <p:tag name="RAINPROBLEM" val="ProblemBody"/>
</p:tagLst>
</file>

<file path=ppt/tags/tag193.xml><?xml version="1.0" encoding="utf-8"?>
<p:tagLst xmlns:p="http://schemas.openxmlformats.org/presentationml/2006/main">
  <p:tag name="RAINPROBLEM" val="ProblemItem"/>
</p:tagLst>
</file>

<file path=ppt/tags/tag194.xml><?xml version="1.0" encoding="utf-8"?>
<p:tagLst xmlns:p="http://schemas.openxmlformats.org/presentationml/2006/main">
  <p:tag name="RAINPROBLEM" val="ProblemItem"/>
</p:tagLst>
</file>

<file path=ppt/tags/tag195.xml><?xml version="1.0" encoding="utf-8"?>
<p:tagLst xmlns:p="http://schemas.openxmlformats.org/presentationml/2006/main">
  <p:tag name="RAINPROBLEM" val="ProblemItem"/>
</p:tagLst>
</file>

<file path=ppt/tags/tag196.xml><?xml version="1.0" encoding="utf-8"?>
<p:tagLst xmlns:p="http://schemas.openxmlformats.org/presentationml/2006/main">
  <p:tag name="RAINPROBLEM" val="ProblemItem"/>
</p:tagLst>
</file>

<file path=ppt/tags/tag197.xml><?xml version="1.0" encoding="utf-8"?>
<p:tagLst xmlns:p="http://schemas.openxmlformats.org/presentationml/2006/main">
  <p:tag name="RAINPROBLEM" val="ProblemBullet"/>
  <p:tag name="RAINPROBLEMTYPE" val="MultipleChoice"/>
  <p:tag name="RAINBULLET" val="Wrong"/>
</p:tagLst>
</file>

<file path=ppt/tags/tag198.xml><?xml version="1.0" encoding="utf-8"?>
<p:tagLst xmlns:p="http://schemas.openxmlformats.org/presentationml/2006/main">
  <p:tag name="RAINPROBLEM" val="ProblemBullet"/>
  <p:tag name="RAINPROBLEMTYPE" val="MultipleChoice"/>
  <p:tag name="RAINBULLET" val="Wrong"/>
</p:tagLst>
</file>

<file path=ppt/tags/tag199.xml><?xml version="1.0" encoding="utf-8"?>
<p:tagLst xmlns:p="http://schemas.openxmlformats.org/presentationml/2006/main">
  <p:tag name="RAINPROBLEM" val="ProblemBullet"/>
  <p:tag name="RAINPROBLEMTYPE" val="MultipleChoice"/>
  <p:tag name="RAINBULLET" val="Wrong"/>
</p:tagLst>
</file>

<file path=ppt/tags/tag200.xml><?xml version="1.0" encoding="utf-8"?>
<p:tagLst xmlns:p="http://schemas.openxmlformats.org/presentationml/2006/main">
  <p:tag name="RAINPROBLEM" val="ProblemBullet"/>
  <p:tag name="RAINPROBLEMTYPE" val="MultipleChoice"/>
  <p:tag name="RAINBULLET" val="Correct"/>
</p:tagLst>
</file>

<file path=ppt/tags/tag201.xml><?xml version="1.0" encoding="utf-8"?>
<p:tagLst xmlns:p="http://schemas.openxmlformats.org/presentationml/2006/main">
  <p:tag name="RAINPROBLEM" val="ProblemSubmit"/>
  <p:tag name="RAINPROBLEMTYPE" val="MultipleChoice"/>
</p:tagLst>
</file>

<file path=ppt/tags/tag202.xml><?xml version="1.0" encoding="utf-8"?>
<p:tagLst xmlns:p="http://schemas.openxmlformats.org/presentationml/2006/main">
  <p:tag name="RAINPROBLEMTYPE" val="ProblemTypeMarker"/>
</p:tagLst>
</file>

<file path=ppt/tags/tag203.xml><?xml version="1.0" encoding="utf-8"?>
<p:tagLst xmlns:p="http://schemas.openxmlformats.org/presentationml/2006/main">
  <p:tag name="RAINPROBLEMTYPE" val="ProblemTypeMarker"/>
</p:tagLst>
</file>

<file path=ppt/tags/tag204.xml><?xml version="1.0" encoding="utf-8"?>
<p:tagLst xmlns:p="http://schemas.openxmlformats.org/presentationml/2006/main">
  <p:tag name="RAINPROBLEMTYPE" val="ProblemTypeMarker"/>
</p:tagLst>
</file>

<file path=ppt/tags/tag205.xml><?xml version="1.0" encoding="utf-8"?>
<p:tagLst xmlns:p="http://schemas.openxmlformats.org/presentationml/2006/main">
  <p:tag name="RAINPROBLEMTYPE" val="ProblemTypeMarker"/>
</p:tagLst>
</file>

<file path=ppt/tags/tag206.xml><?xml version="1.0" encoding="utf-8"?>
<p:tagLst xmlns:p="http://schemas.openxmlformats.org/presentationml/2006/main">
  <p:tag name="RAINPROBLEMTYPE" val="ProblemTypeMarker"/>
</p:tagLst>
</file>

<file path=ppt/tags/tag207.xml><?xml version="1.0" encoding="utf-8"?>
<p:tagLst xmlns:p="http://schemas.openxmlformats.org/presentationml/2006/main">
  <p:tag name="RAINPROBLEM" val="ProblemSetting"/>
  <p:tag name="RAINPROBLEMTYPE" val="MultipleChoice"/>
</p:tagLst>
</file>

<file path=ppt/tags/tag208.xml><?xml version="1.0" encoding="utf-8"?>
<p:tagLst xmlns:p="http://schemas.openxmlformats.org/presentationml/2006/main">
  <p:tag name="RAINPROBLEM" val="MultipleChoice"/>
  <p:tag name="PROBLEMSCORE" val="1.0"/>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PP_MARK_KEY" val="c1a56755-7a4e-4dd4-a45a-b5cf36d9aec7"/>
  <p:tag name="COMMONDATA" val="eyJoZGlkIjoiZDhmZjM3ZTZiYzVhZjRkYzFlNzUwYmM2YTkxODQ5OTUifQ=="/>
</p:tagLst>
</file>

<file path=ppt/theme/_rels/theme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image" Target="../media/image4.jpeg"/></Relationships>
</file>

<file path=ppt/theme/theme1.xml><?xml version="1.0" encoding="utf-8"?>
<a:theme xmlns:a="http://schemas.openxmlformats.org/drawingml/2006/main" name="积分">
  <a:themeElements>
    <a:clrScheme name="蓝色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Arial Black-Arial">
      <a:majorFont>
        <a:latin typeface="Arial Black"/>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积分">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12140</Words>
  <Application>WPS 演示</Application>
  <PresentationFormat>全屏显示(16:9)</PresentationFormat>
  <Paragraphs>1288</Paragraphs>
  <Slides>107</Slides>
  <Notes>31</Notes>
  <HiddenSlides>1</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107</vt:i4>
      </vt:variant>
    </vt:vector>
  </HeadingPairs>
  <TitlesOfParts>
    <vt:vector size="128" baseType="lpstr">
      <vt:lpstr>Arial</vt:lpstr>
      <vt:lpstr>宋体</vt:lpstr>
      <vt:lpstr>Wingdings</vt:lpstr>
      <vt:lpstr>Wingdings 3</vt:lpstr>
      <vt:lpstr>微软雅黑</vt:lpstr>
      <vt:lpstr>华康俪金黑W8(P)</vt:lpstr>
      <vt:lpstr>黑体</vt:lpstr>
      <vt:lpstr>经典繁仿黑</vt:lpstr>
      <vt:lpstr>华文中宋</vt:lpstr>
      <vt:lpstr>Arial Black</vt:lpstr>
      <vt:lpstr>Arial Unicode MS</vt:lpstr>
      <vt:lpstr>等线</vt:lpstr>
      <vt:lpstr>Times New Roman</vt:lpstr>
      <vt:lpstr>Times New Roman</vt:lpstr>
      <vt:lpstr>华文楷体</vt:lpstr>
      <vt:lpstr>Wingdings</vt:lpstr>
      <vt:lpstr>굴림</vt:lpstr>
      <vt:lpstr>Segoe Print</vt:lpstr>
      <vt:lpstr>Malgun Gothic</vt:lpstr>
      <vt:lpstr>等线 Light</vt:lpstr>
      <vt:lpstr>积分</vt:lpstr>
      <vt:lpstr>软件工程 敏捷开发</vt:lpstr>
      <vt:lpstr>前情回顾</vt:lpstr>
      <vt:lpstr>本次课程速递</vt:lpstr>
      <vt:lpstr>案例一</vt:lpstr>
      <vt:lpstr>案例二</vt:lpstr>
      <vt:lpstr> 传统开发方法VS敏捷开发方法</vt:lpstr>
      <vt:lpstr>传统开发方法VS敏捷开发方法</vt:lpstr>
      <vt:lpstr>敏捷宣言</vt:lpstr>
      <vt:lpstr>敏捷宣言</vt:lpstr>
      <vt:lpstr>敏捷宣言</vt:lpstr>
      <vt:lpstr>敏捷宣言（四条基本价值观）</vt:lpstr>
      <vt:lpstr>What is Agile? （什么是敏捷）</vt:lpstr>
      <vt:lpstr>（7） 敏捷(灵活)开发</vt:lpstr>
      <vt:lpstr>敏捷方法的特征</vt:lpstr>
      <vt:lpstr>敏捷方法：适应而非预测 </vt:lpstr>
      <vt:lpstr>敏捷方法如何保证开发进度，开发效率，开发质量？</vt:lpstr>
      <vt:lpstr>敏捷对团队的要求</vt:lpstr>
      <vt:lpstr>何时选择敏捷？</vt:lpstr>
      <vt:lpstr>敏捷开发流程</vt:lpstr>
      <vt:lpstr>敏捷开发的代表方法</vt:lpstr>
      <vt:lpstr>敏捷开发方法</vt:lpstr>
      <vt:lpstr>敏捷开发之Scrum</vt:lpstr>
      <vt:lpstr>Scrum</vt:lpstr>
      <vt:lpstr>Scrum框架</vt:lpstr>
      <vt:lpstr> Scrum团队角色</vt:lpstr>
      <vt:lpstr>Scrum制品 </vt:lpstr>
      <vt:lpstr>Scrum</vt:lpstr>
      <vt:lpstr>PowerPoint 演示文稿</vt:lpstr>
      <vt:lpstr>如何进行 Scrum 的开发?</vt:lpstr>
      <vt:lpstr>BackLog</vt:lpstr>
      <vt:lpstr>迭代计划会议 </vt:lpstr>
      <vt:lpstr>用户故事Story</vt:lpstr>
      <vt:lpstr>实际开发记录举例</vt:lpstr>
      <vt:lpstr>用户故事</vt:lpstr>
      <vt:lpstr>PowerPoint 演示文稿</vt:lpstr>
      <vt:lpstr>每日站立会议</vt:lpstr>
      <vt:lpstr>PowerPoint 演示文稿</vt:lpstr>
      <vt:lpstr>Sprint燃尽图</vt:lpstr>
      <vt:lpstr>PowerPoint 演示文稿</vt:lpstr>
      <vt:lpstr>PowerPoint 演示文稿</vt:lpstr>
      <vt:lpstr>评审会议</vt:lpstr>
      <vt:lpstr>PowerPoint 演示文稿</vt:lpstr>
      <vt:lpstr>迭代回顾会议</vt:lpstr>
      <vt:lpstr>敏捷开发之xp</vt:lpstr>
      <vt:lpstr>极限编程</vt:lpstr>
      <vt:lpstr>极限编程过程模型</vt:lpstr>
      <vt:lpstr>四条基本价值观</vt:lpstr>
      <vt:lpstr>PowerPoint 演示文稿</vt:lpstr>
      <vt:lpstr>XP—eXtreme Programming</vt:lpstr>
      <vt:lpstr>极限编程过程模型</vt:lpstr>
      <vt:lpstr>极限编程</vt:lpstr>
      <vt:lpstr>极限编程</vt:lpstr>
      <vt:lpstr>极限编程</vt:lpstr>
      <vt:lpstr>极限编程</vt:lpstr>
      <vt:lpstr>极限编程</vt:lpstr>
      <vt:lpstr>极限编程——迭代过程的细化</vt:lpstr>
      <vt:lpstr>极限编程——迭代过程的细化</vt:lpstr>
      <vt:lpstr>极限编程——迭代过程的细化</vt:lpstr>
      <vt:lpstr>极限编程——开发过程的细化</vt:lpstr>
      <vt:lpstr>极限编程——开发过程的细化</vt:lpstr>
      <vt:lpstr>极限编程——开发过程的细化</vt:lpstr>
      <vt:lpstr>极限编程——开发过程的细化</vt:lpstr>
      <vt:lpstr>极限编程——开发过程的细化</vt:lpstr>
      <vt:lpstr>极限编程——开发过程的细化</vt:lpstr>
      <vt:lpstr>极限编程——集体拥有代码的过程细化</vt:lpstr>
      <vt:lpstr>极限编程——集体拥有代码的过程细化</vt:lpstr>
      <vt:lpstr>极限编程——集体拥有代码的过程细化</vt:lpstr>
      <vt:lpstr>极限编程</vt:lpstr>
      <vt:lpstr>图 XP迭代开发过程</vt:lpstr>
      <vt:lpstr>XP的13个实践</vt:lpstr>
      <vt:lpstr>XP的13个实践</vt:lpstr>
      <vt:lpstr>XP的13个实践</vt:lpstr>
      <vt:lpstr>12条有效经验</vt:lpstr>
      <vt:lpstr>12条有效经验</vt:lpstr>
      <vt:lpstr>12条有效经验</vt:lpstr>
      <vt:lpstr>PowerPoint 演示文稿</vt:lpstr>
      <vt:lpstr>几种过程模型的对比</vt:lpstr>
      <vt:lpstr>规模化敏捷开发</vt:lpstr>
      <vt:lpstr>PowerPoint 演示文稿</vt:lpstr>
      <vt:lpstr>PowerPoint 演示文稿</vt:lpstr>
      <vt:lpstr>PowerPoint 演示文稿</vt:lpstr>
      <vt:lpstr>PowerPoint 演示文稿</vt:lpstr>
      <vt:lpstr>PowerPoint 演示文稿</vt:lpstr>
      <vt:lpstr>DevOps概述</vt:lpstr>
      <vt:lpstr>敏捷开发与DevOps</vt:lpstr>
      <vt:lpstr>PowerPoint 演示文稿</vt:lpstr>
      <vt:lpstr>DevOps概述</vt:lpstr>
      <vt:lpstr>PowerPoint 演示文稿</vt:lpstr>
      <vt:lpstr>DevOps概述</vt:lpstr>
      <vt:lpstr>思考</vt:lpstr>
      <vt:lpstr>引入DevOps的条件</vt:lpstr>
      <vt:lpstr>DevOps的原则</vt:lpstr>
      <vt:lpstr>DevOps生命周期</vt:lpstr>
      <vt:lpstr>DevOps流水线</vt:lpstr>
      <vt:lpstr>CI/CD概述</vt:lpstr>
      <vt:lpstr>CI/CD概述</vt:lpstr>
      <vt:lpstr>CI/CD概述</vt:lpstr>
      <vt:lpstr>CI/CD的优势</vt:lpstr>
      <vt:lpstr>Gitlab CI/CD</vt:lpstr>
      <vt:lpstr>PowerPoint 演示文稿</vt:lpstr>
      <vt:lpstr>PowerPoint 演示文稿</vt:lpstr>
      <vt:lpstr>PowerPoint 演示文稿</vt:lpstr>
      <vt:lpstr>PowerPoint 演示文稿</vt:lpstr>
      <vt:lpstr>PowerPoint 演示文稿</vt:lpstr>
      <vt:lpstr>敏捷开发、CI-CD和DevOps</vt:lpstr>
      <vt:lpstr>本课小结</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试播内容</dc:title>
  <dc:creator>HUAWEI</dc:creator>
  <cp:lastModifiedBy>lingdang</cp:lastModifiedBy>
  <cp:revision>807</cp:revision>
  <dcterms:created xsi:type="dcterms:W3CDTF">2020-02-07T06:58:00Z</dcterms:created>
  <dcterms:modified xsi:type="dcterms:W3CDTF">2025-03-11T14:01:04Z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AE5A9C4BBB614168B9BB362C37037F5E_13</vt:lpwstr>
  </property>
  <property fmtid="{D5CDD505-2E9C-101B-9397-08002B2CF9AE}" pid="3" name="KSOProductBuildVer">
    <vt:lpwstr>2052-12.1.0.20305</vt:lpwstr>
  </property>
</Properties>
</file>