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av" ContentType="audio/x-wav"/>
  <Default Extension="png" ContentType="image/png"/>
  <Default Extension="wdp" ContentType="image/vnd.ms-photo"/>
  <Default Extension="jpeg" ContentType="image/jpeg"/>
  <Default Extension="JPG" ContentType="image/.jp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11"/>
  </p:handoutMasterIdLst>
  <p:sldIdLst>
    <p:sldId id="938" r:id="rId3"/>
    <p:sldId id="1171" r:id="rId5"/>
    <p:sldId id="1022" r:id="rId6"/>
    <p:sldId id="1023" r:id="rId7"/>
    <p:sldId id="1024" r:id="rId8"/>
    <p:sldId id="1025" r:id="rId9"/>
    <p:sldId id="1026" r:id="rId10"/>
    <p:sldId id="1027" r:id="rId11"/>
    <p:sldId id="1028" r:id="rId12"/>
    <p:sldId id="1029" r:id="rId13"/>
    <p:sldId id="1030" r:id="rId14"/>
    <p:sldId id="1031" r:id="rId15"/>
    <p:sldId id="1032" r:id="rId16"/>
    <p:sldId id="1033" r:id="rId17"/>
    <p:sldId id="1034" r:id="rId18"/>
    <p:sldId id="1035" r:id="rId19"/>
    <p:sldId id="1036" r:id="rId20"/>
    <p:sldId id="1037" r:id="rId21"/>
    <p:sldId id="1038" r:id="rId22"/>
    <p:sldId id="1039" r:id="rId23"/>
    <p:sldId id="1040" r:id="rId24"/>
    <p:sldId id="1041" r:id="rId25"/>
    <p:sldId id="1042" r:id="rId26"/>
    <p:sldId id="1043" r:id="rId27"/>
    <p:sldId id="1044" r:id="rId28"/>
    <p:sldId id="1045" r:id="rId29"/>
    <p:sldId id="1046" r:id="rId30"/>
    <p:sldId id="1047" r:id="rId31"/>
    <p:sldId id="1048" r:id="rId32"/>
    <p:sldId id="1049" r:id="rId33"/>
    <p:sldId id="1172" r:id="rId34"/>
    <p:sldId id="1230" r:id="rId35"/>
    <p:sldId id="1231" r:id="rId36"/>
    <p:sldId id="1232" r:id="rId37"/>
    <p:sldId id="1233" r:id="rId38"/>
    <p:sldId id="1234" r:id="rId39"/>
    <p:sldId id="1235" r:id="rId40"/>
    <p:sldId id="1226" r:id="rId41"/>
    <p:sldId id="1227" r:id="rId42"/>
    <p:sldId id="1228" r:id="rId43"/>
    <p:sldId id="1173" r:id="rId44"/>
    <p:sldId id="1174" r:id="rId45"/>
    <p:sldId id="1229" r:id="rId46"/>
    <p:sldId id="1175" r:id="rId47"/>
    <p:sldId id="1176" r:id="rId48"/>
    <p:sldId id="1177" r:id="rId49"/>
    <p:sldId id="1178" r:id="rId50"/>
    <p:sldId id="1179" r:id="rId51"/>
    <p:sldId id="1180" r:id="rId52"/>
    <p:sldId id="1181" r:id="rId53"/>
    <p:sldId id="1182" r:id="rId54"/>
    <p:sldId id="1183" r:id="rId55"/>
    <p:sldId id="1184" r:id="rId56"/>
    <p:sldId id="1185" r:id="rId57"/>
    <p:sldId id="1186" r:id="rId58"/>
    <p:sldId id="1187" r:id="rId59"/>
    <p:sldId id="1188" r:id="rId60"/>
    <p:sldId id="1189" r:id="rId61"/>
    <p:sldId id="1190" r:id="rId62"/>
    <p:sldId id="1191" r:id="rId63"/>
    <p:sldId id="1192" r:id="rId64"/>
    <p:sldId id="1193" r:id="rId65"/>
    <p:sldId id="1194" r:id="rId66"/>
    <p:sldId id="1195" r:id="rId67"/>
    <p:sldId id="1196" r:id="rId68"/>
    <p:sldId id="1197" r:id="rId69"/>
    <p:sldId id="1236" r:id="rId70"/>
    <p:sldId id="1198" r:id="rId71"/>
    <p:sldId id="1199" r:id="rId72"/>
    <p:sldId id="1200" r:id="rId73"/>
    <p:sldId id="1201" r:id="rId74"/>
    <p:sldId id="1202" r:id="rId75"/>
    <p:sldId id="1203" r:id="rId76"/>
    <p:sldId id="1204" r:id="rId77"/>
    <p:sldId id="1205" r:id="rId78"/>
    <p:sldId id="1206" r:id="rId79"/>
    <p:sldId id="1207" r:id="rId80"/>
    <p:sldId id="1208" r:id="rId81"/>
    <p:sldId id="1209" r:id="rId82"/>
    <p:sldId id="1210" r:id="rId83"/>
    <p:sldId id="1211" r:id="rId84"/>
    <p:sldId id="1212" r:id="rId85"/>
    <p:sldId id="1213" r:id="rId86"/>
    <p:sldId id="1214" r:id="rId87"/>
    <p:sldId id="1215" r:id="rId88"/>
    <p:sldId id="1216" r:id="rId89"/>
    <p:sldId id="1217" r:id="rId90"/>
    <p:sldId id="1218" r:id="rId91"/>
    <p:sldId id="1219" r:id="rId92"/>
    <p:sldId id="1220" r:id="rId93"/>
    <p:sldId id="1221" r:id="rId94"/>
    <p:sldId id="1237" r:id="rId95"/>
    <p:sldId id="1238" r:id="rId96"/>
    <p:sldId id="1239" r:id="rId97"/>
    <p:sldId id="1240" r:id="rId98"/>
    <p:sldId id="1241" r:id="rId99"/>
    <p:sldId id="1242" r:id="rId100"/>
    <p:sldId id="1243" r:id="rId101"/>
    <p:sldId id="1222" r:id="rId102"/>
    <p:sldId id="1223" r:id="rId103"/>
    <p:sldId id="1224" r:id="rId104"/>
    <p:sldId id="1246" r:id="rId105"/>
    <p:sldId id="1247" r:id="rId106"/>
    <p:sldId id="1248" r:id="rId107"/>
    <p:sldId id="1050" r:id="rId108"/>
    <p:sldId id="1051" r:id="rId109"/>
    <p:sldId id="1052" r:id="rId110"/>
  </p:sldIdLst>
  <p:sldSz cx="9144000" cy="5143500" type="screen16x9"/>
  <p:notesSz cx="6858000" cy="9144000"/>
  <p:custDataLst>
    <p:tags r:id="rId11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70938" autoAdjust="0"/>
  </p:normalViewPr>
  <p:slideViewPr>
    <p:cSldViewPr snapToGrid="0" showGuides="1">
      <p:cViewPr varScale="1">
        <p:scale>
          <a:sx n="94" d="100"/>
          <a:sy n="94" d="100"/>
        </p:scale>
        <p:origin x="1336" y="56"/>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1" d="100"/>
          <a:sy n="51" d="100"/>
        </p:scale>
        <p:origin x="776" y="5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5" Type="http://schemas.openxmlformats.org/officeDocument/2006/relationships/tags" Target="tags/tag109.xml"/><Relationship Id="rId114" Type="http://schemas.openxmlformats.org/officeDocument/2006/relationships/tableStyles" Target="tableStyles.xml"/><Relationship Id="rId113" Type="http://schemas.openxmlformats.org/officeDocument/2006/relationships/viewProps" Target="viewProps.xml"/><Relationship Id="rId112" Type="http://schemas.openxmlformats.org/officeDocument/2006/relationships/presProps" Target="presProps.xml"/><Relationship Id="rId111" Type="http://schemas.openxmlformats.org/officeDocument/2006/relationships/handoutMaster" Target="handoutMasters/handoutMaster1.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C65E5F76-5A56-4747-8743-6D9AB211E486}" type="doc">
      <dgm:prSet loTypeId="urn:microsoft.com/office/officeart/2005/8/layout/lProcess2" loCatId="list" qsTypeId="urn:microsoft.com/office/officeart/2005/8/quickstyle/3d1#1" qsCatId="3D" csTypeId="urn:microsoft.com/office/officeart/2005/8/colors/accent2_2#1" csCatId="accent2" phldr="1"/>
      <dgm:spPr/>
      <dgm:t>
        <a:bodyPr/>
        <a:lstStyle/>
        <a:p>
          <a:endParaRPr lang="zh-CN" altLang="en-US"/>
        </a:p>
      </dgm:t>
    </dgm:pt>
    <dgm:pt modelId="{BFE24462-F5CC-4D50-94B4-1B02A0C52CB9}">
      <dgm:prSet phldrT="[文本]" custT="1"/>
      <dgm:spPr/>
      <dgm:t>
        <a:bodyPr/>
        <a:lstStyle/>
        <a:p>
          <a:r>
            <a:rPr lang="zh-CN" altLang="en-US" sz="2000" b="1" dirty="0">
              <a:effectLst/>
            </a:rPr>
            <a:t>制定计划</a:t>
          </a:r>
          <a:endParaRPr lang="zh-CN" altLang="en-US" sz="2000" dirty="0">
            <a:effectLst/>
          </a:endParaRPr>
        </a:p>
      </dgm:t>
    </dgm:pt>
    <dgm:pt modelId="{F4EA5632-34EE-4F8B-91A0-4D7706399CBE}" cxnId="{2D23C88A-E67F-4D06-954F-461F4F7F1526}" type="parTrans">
      <dgm:prSet/>
      <dgm:spPr/>
      <dgm:t>
        <a:bodyPr/>
        <a:lstStyle/>
        <a:p>
          <a:endParaRPr lang="zh-CN" altLang="en-US">
            <a:effectLst/>
          </a:endParaRPr>
        </a:p>
      </dgm:t>
    </dgm:pt>
    <dgm:pt modelId="{DAB84BA6-67D4-4ABA-8DA5-90545131FEB5}" cxnId="{2D23C88A-E67F-4D06-954F-461F4F7F1526}" type="sibTrans">
      <dgm:prSet/>
      <dgm:spPr/>
      <dgm:t>
        <a:bodyPr/>
        <a:lstStyle/>
        <a:p>
          <a:endParaRPr lang="zh-CN" altLang="en-US">
            <a:effectLst/>
          </a:endParaRPr>
        </a:p>
      </dgm:t>
    </dgm:pt>
    <dgm:pt modelId="{A3685CA9-4505-4F49-944A-BF824727118D}">
      <dgm:prSet phldrT="[文本]" custT="1"/>
      <dgm:spPr/>
      <dgm:t>
        <a:bodyPr/>
        <a:lstStyle/>
        <a:p>
          <a:r>
            <a:rPr lang="zh-CN" altLang="en-US" sz="2000" b="1" dirty="0">
              <a:effectLst/>
            </a:rPr>
            <a:t>风险分析</a:t>
          </a:r>
          <a:endParaRPr lang="zh-CN" altLang="en-US" sz="2000" dirty="0">
            <a:effectLst/>
          </a:endParaRPr>
        </a:p>
      </dgm:t>
    </dgm:pt>
    <dgm:pt modelId="{88112B08-82AA-4F65-881A-65CA336CF4CC}" cxnId="{7F49EEC4-C060-47D0-9EE5-319B04D24FEB}" type="parTrans">
      <dgm:prSet/>
      <dgm:spPr/>
      <dgm:t>
        <a:bodyPr/>
        <a:lstStyle/>
        <a:p>
          <a:endParaRPr lang="zh-CN" altLang="en-US">
            <a:effectLst/>
          </a:endParaRPr>
        </a:p>
      </dgm:t>
    </dgm:pt>
    <dgm:pt modelId="{F2857FAB-DFD7-4AF1-B046-5361BD05FEA2}" cxnId="{7F49EEC4-C060-47D0-9EE5-319B04D24FEB}" type="sibTrans">
      <dgm:prSet/>
      <dgm:spPr/>
      <dgm:t>
        <a:bodyPr/>
        <a:lstStyle/>
        <a:p>
          <a:endParaRPr lang="zh-CN" altLang="en-US">
            <a:effectLst/>
          </a:endParaRPr>
        </a:p>
      </dgm:t>
    </dgm:pt>
    <dgm:pt modelId="{51E6620B-46A2-4DCF-AE1E-64A6C93CACBC}">
      <dgm:prSet phldrT="[文本]" custT="1"/>
      <dgm:spPr/>
      <dgm:t>
        <a:bodyPr/>
        <a:lstStyle/>
        <a:p>
          <a:r>
            <a:rPr lang="zh-CN" altLang="en-US" sz="2000" b="1" dirty="0">
              <a:effectLst/>
            </a:rPr>
            <a:t>实施工程</a:t>
          </a:r>
          <a:endParaRPr lang="zh-CN" altLang="en-US" sz="2000" dirty="0">
            <a:effectLst/>
          </a:endParaRPr>
        </a:p>
      </dgm:t>
    </dgm:pt>
    <dgm:pt modelId="{0DA119DF-23C8-48CC-B2B5-26859B3CE4C3}" cxnId="{78C781D6-4C89-44F4-AC82-54756483D466}" type="parTrans">
      <dgm:prSet/>
      <dgm:spPr/>
      <dgm:t>
        <a:bodyPr/>
        <a:lstStyle/>
        <a:p>
          <a:endParaRPr lang="zh-CN" altLang="en-US">
            <a:effectLst/>
          </a:endParaRPr>
        </a:p>
      </dgm:t>
    </dgm:pt>
    <dgm:pt modelId="{C8BCED4B-1DBE-4BBD-8888-5711B56866D5}" cxnId="{78C781D6-4C89-44F4-AC82-54756483D466}" type="sibTrans">
      <dgm:prSet/>
      <dgm:spPr/>
      <dgm:t>
        <a:bodyPr/>
        <a:lstStyle/>
        <a:p>
          <a:endParaRPr lang="zh-CN" altLang="en-US">
            <a:effectLst/>
          </a:endParaRPr>
        </a:p>
      </dgm:t>
    </dgm:pt>
    <dgm:pt modelId="{55716EFC-2507-475E-A21D-8D5657D0E502}">
      <dgm:prSet custT="1"/>
      <dgm:spPr/>
      <dgm:t>
        <a:bodyPr/>
        <a:lstStyle/>
        <a:p>
          <a:r>
            <a:rPr lang="zh-CN" altLang="en-US" sz="2000" b="1" dirty="0">
              <a:effectLst/>
            </a:rPr>
            <a:t>客户评估</a:t>
          </a:r>
          <a:endParaRPr lang="zh-CN" altLang="en-US" sz="2000" dirty="0">
            <a:effectLst/>
          </a:endParaRPr>
        </a:p>
      </dgm:t>
    </dgm:pt>
    <dgm:pt modelId="{7404531F-948B-4235-9941-149AEF15CC10}" cxnId="{F88DE4FD-6F6C-49C6-81C6-26571481898E}" type="parTrans">
      <dgm:prSet/>
      <dgm:spPr/>
      <dgm:t>
        <a:bodyPr/>
        <a:lstStyle/>
        <a:p>
          <a:endParaRPr lang="zh-CN" altLang="en-US">
            <a:effectLst/>
          </a:endParaRPr>
        </a:p>
      </dgm:t>
    </dgm:pt>
    <dgm:pt modelId="{1782FC12-CC5C-4F9E-B97D-DF41833BC871}" cxnId="{F88DE4FD-6F6C-49C6-81C6-26571481898E}" type="sibTrans">
      <dgm:prSet/>
      <dgm:spPr/>
      <dgm:t>
        <a:bodyPr/>
        <a:lstStyle/>
        <a:p>
          <a:endParaRPr lang="zh-CN" altLang="en-US">
            <a:effectLst/>
          </a:endParaRPr>
        </a:p>
      </dgm:t>
    </dgm:pt>
    <dgm:pt modelId="{868CCC34-993D-4B1B-B960-231637D66DFF}">
      <dgm:prSet custT="1"/>
      <dgm:spPr/>
      <dgm:t>
        <a:bodyPr/>
        <a:lstStyle/>
        <a:p>
          <a:r>
            <a:rPr lang="zh-CN" altLang="en-US" sz="1800" dirty="0">
              <a:effectLst>
                <a:outerShdw blurRad="38100" dist="38100" dir="2700000" algn="tl">
                  <a:srgbClr val="000000">
                    <a:alpha val="43137"/>
                  </a:srgbClr>
                </a:outerShdw>
              </a:effectLst>
            </a:rPr>
            <a:t>要确定软件系统的目标，了解各种资源限制，并选定合适的开发方案</a:t>
          </a:r>
        </a:p>
      </dgm:t>
    </dgm:pt>
    <dgm:pt modelId="{0F57D50F-DAA6-43B2-994E-1D67F73C3D2B}" cxnId="{2B44F6A8-4073-4F5F-AF1B-79C1A6F03854}" type="parTrans">
      <dgm:prSet/>
      <dgm:spPr/>
      <dgm:t>
        <a:bodyPr/>
        <a:lstStyle/>
        <a:p>
          <a:endParaRPr lang="zh-CN" altLang="en-US">
            <a:effectLst/>
          </a:endParaRPr>
        </a:p>
      </dgm:t>
    </dgm:pt>
    <dgm:pt modelId="{E14D18EE-007F-4D4E-9C27-A361A31CDBEF}" cxnId="{2B44F6A8-4073-4F5F-AF1B-79C1A6F03854}" type="sibTrans">
      <dgm:prSet/>
      <dgm:spPr/>
      <dgm:t>
        <a:bodyPr/>
        <a:lstStyle/>
        <a:p>
          <a:endParaRPr lang="zh-CN" altLang="en-US">
            <a:effectLst/>
          </a:endParaRPr>
        </a:p>
      </dgm:t>
    </dgm:pt>
    <dgm:pt modelId="{D64B3852-E5D2-47A8-B7E0-5F82C88DA274}">
      <dgm:prSet custT="1"/>
      <dgm:spPr/>
      <dgm:t>
        <a:bodyPr/>
        <a:lstStyle/>
        <a:p>
          <a:r>
            <a:rPr lang="zh-CN" altLang="en-US" sz="1800">
              <a:effectLst>
                <a:outerShdw blurRad="38100" dist="38100" dir="2700000" algn="tl">
                  <a:srgbClr val="000000">
                    <a:alpha val="43137"/>
                  </a:srgbClr>
                </a:outerShdw>
              </a:effectLst>
            </a:rPr>
            <a:t>旨在对所选方案进行评价，识别潜在的风险，并制定消除风险的机制</a:t>
          </a:r>
        </a:p>
      </dgm:t>
    </dgm:pt>
    <dgm:pt modelId="{D10D7083-16D8-467F-B7C2-748F6EF9259D}" cxnId="{FB0F847D-3FEE-4E00-B77D-D5B0103FC705}" type="parTrans">
      <dgm:prSet/>
      <dgm:spPr/>
      <dgm:t>
        <a:bodyPr/>
        <a:lstStyle/>
        <a:p>
          <a:endParaRPr lang="zh-CN" altLang="en-US">
            <a:effectLst/>
          </a:endParaRPr>
        </a:p>
      </dgm:t>
    </dgm:pt>
    <dgm:pt modelId="{3A908000-83B6-4BBC-AF41-0B0227C96245}" cxnId="{FB0F847D-3FEE-4E00-B77D-D5B0103FC705}" type="sibTrans">
      <dgm:prSet/>
      <dgm:spPr/>
      <dgm:t>
        <a:bodyPr/>
        <a:lstStyle/>
        <a:p>
          <a:endParaRPr lang="zh-CN" altLang="en-US">
            <a:effectLst/>
          </a:endParaRPr>
        </a:p>
      </dgm:t>
    </dgm:pt>
    <dgm:pt modelId="{2F8EC2E3-D759-4E20-A770-E136606DD85B}">
      <dgm:prSet custT="1"/>
      <dgm:spPr/>
      <dgm:t>
        <a:bodyPr/>
        <a:lstStyle/>
        <a:p>
          <a:r>
            <a:rPr lang="zh-CN" altLang="en-US" sz="1800" dirty="0">
              <a:effectLst>
                <a:outerShdw blurRad="38100" dist="38100" dir="2700000" algn="tl">
                  <a:srgbClr val="000000">
                    <a:alpha val="43137"/>
                  </a:srgbClr>
                </a:outerShdw>
              </a:effectLst>
            </a:rPr>
            <a:t>渗透了瀑布模型的各个阶段，开发人员对下一版本的软件产品进行开发和验证。</a:t>
          </a:r>
        </a:p>
      </dgm:t>
    </dgm:pt>
    <dgm:pt modelId="{47589451-E51C-40D8-8E6F-5D5CB2149E43}" cxnId="{9C9F51AA-9BA4-459E-9E68-D06A4CA441DE}" type="parTrans">
      <dgm:prSet/>
      <dgm:spPr/>
      <dgm:t>
        <a:bodyPr/>
        <a:lstStyle/>
        <a:p>
          <a:endParaRPr lang="zh-CN" altLang="en-US">
            <a:effectLst/>
          </a:endParaRPr>
        </a:p>
      </dgm:t>
    </dgm:pt>
    <dgm:pt modelId="{DC735E8A-676A-4DC1-AE01-3754C57F3226}" cxnId="{9C9F51AA-9BA4-459E-9E68-D06A4CA441DE}" type="sibTrans">
      <dgm:prSet/>
      <dgm:spPr/>
      <dgm:t>
        <a:bodyPr/>
        <a:lstStyle/>
        <a:p>
          <a:endParaRPr lang="zh-CN" altLang="en-US">
            <a:effectLst/>
          </a:endParaRPr>
        </a:p>
      </dgm:t>
    </dgm:pt>
    <dgm:pt modelId="{701C8645-F201-4E27-B999-5452CFCF21D8}">
      <dgm:prSet custT="1"/>
      <dgm:spPr/>
      <dgm:t>
        <a:bodyPr/>
        <a:lstStyle/>
        <a:p>
          <a:r>
            <a:rPr lang="zh-CN" altLang="en-US" sz="1800">
              <a:effectLst>
                <a:outerShdw blurRad="38100" dist="38100" dir="2700000" algn="tl">
                  <a:srgbClr val="000000">
                    <a:alpha val="43137"/>
                  </a:srgbClr>
                </a:outerShdw>
              </a:effectLst>
            </a:rPr>
            <a:t>是获取客户意见的重要活动。</a:t>
          </a:r>
        </a:p>
      </dgm:t>
    </dgm:pt>
    <dgm:pt modelId="{2FC214B6-0A3D-4622-A16E-8ECF35442089}" cxnId="{47A2C09D-4B5E-468F-A26D-8183F9ED74F1}" type="parTrans">
      <dgm:prSet/>
      <dgm:spPr/>
      <dgm:t>
        <a:bodyPr/>
        <a:lstStyle/>
        <a:p>
          <a:endParaRPr lang="zh-CN" altLang="en-US">
            <a:effectLst/>
          </a:endParaRPr>
        </a:p>
      </dgm:t>
    </dgm:pt>
    <dgm:pt modelId="{FCE6CFB2-CD57-4136-A02F-74F711108D04}" cxnId="{47A2C09D-4B5E-468F-A26D-8183F9ED74F1}" type="sibTrans">
      <dgm:prSet/>
      <dgm:spPr/>
      <dgm:t>
        <a:bodyPr/>
        <a:lstStyle/>
        <a:p>
          <a:endParaRPr lang="zh-CN" altLang="en-US">
            <a:effectLst/>
          </a:endParaRPr>
        </a:p>
      </dgm:t>
    </dgm:pt>
    <dgm:pt modelId="{0CC6935A-14A7-451C-ADD2-14860B70FC27}" type="pres">
      <dgm:prSet presAssocID="{C65E5F76-5A56-4747-8743-6D9AB211E486}" presName="theList" presStyleCnt="0">
        <dgm:presLayoutVars>
          <dgm:dir/>
          <dgm:animLvl val="lvl"/>
          <dgm:resizeHandles val="exact"/>
        </dgm:presLayoutVars>
      </dgm:prSet>
      <dgm:spPr/>
    </dgm:pt>
    <dgm:pt modelId="{FA39110B-BAED-42CE-9A4E-ADABDD638E91}" type="pres">
      <dgm:prSet presAssocID="{BFE24462-F5CC-4D50-94B4-1B02A0C52CB9}" presName="compNode" presStyleCnt="0"/>
      <dgm:spPr/>
    </dgm:pt>
    <dgm:pt modelId="{705DB3CB-585A-489A-B754-275CE80B9551}" type="pres">
      <dgm:prSet presAssocID="{BFE24462-F5CC-4D50-94B4-1B02A0C52CB9}" presName="aNode" presStyleLbl="bgShp" presStyleIdx="0" presStyleCnt="4"/>
      <dgm:spPr/>
    </dgm:pt>
    <dgm:pt modelId="{DBA779FC-2AF5-4F42-B49B-E5314FC89060}" type="pres">
      <dgm:prSet presAssocID="{BFE24462-F5CC-4D50-94B4-1B02A0C52CB9}" presName="textNode" presStyleLbl="bgShp" presStyleIdx="0" presStyleCnt="4"/>
      <dgm:spPr/>
    </dgm:pt>
    <dgm:pt modelId="{B2C8088B-4412-49AD-B13E-F78BFB2E490F}" type="pres">
      <dgm:prSet presAssocID="{BFE24462-F5CC-4D50-94B4-1B02A0C52CB9}" presName="compChildNode" presStyleCnt="0"/>
      <dgm:spPr/>
    </dgm:pt>
    <dgm:pt modelId="{5B82F00B-B933-43A2-AB5C-23A44D45693F}" type="pres">
      <dgm:prSet presAssocID="{BFE24462-F5CC-4D50-94B4-1B02A0C52CB9}" presName="theInnerList" presStyleCnt="0"/>
      <dgm:spPr/>
    </dgm:pt>
    <dgm:pt modelId="{83B35182-5240-4CAB-A064-4022BD6D7553}" type="pres">
      <dgm:prSet presAssocID="{868CCC34-993D-4B1B-B960-231637D66DFF}" presName="childNode" presStyleLbl="node1" presStyleIdx="0" presStyleCnt="4" custScaleY="116171">
        <dgm:presLayoutVars>
          <dgm:bulletEnabled val="1"/>
        </dgm:presLayoutVars>
      </dgm:prSet>
      <dgm:spPr/>
    </dgm:pt>
    <dgm:pt modelId="{C5352590-319D-4C73-9BF0-9F324905D1E4}" type="pres">
      <dgm:prSet presAssocID="{BFE24462-F5CC-4D50-94B4-1B02A0C52CB9}" presName="aSpace" presStyleCnt="0"/>
      <dgm:spPr/>
    </dgm:pt>
    <dgm:pt modelId="{B4D82803-94F4-4812-BE22-66FD77B35E08}" type="pres">
      <dgm:prSet presAssocID="{A3685CA9-4505-4F49-944A-BF824727118D}" presName="compNode" presStyleCnt="0"/>
      <dgm:spPr/>
    </dgm:pt>
    <dgm:pt modelId="{3E603EB7-386F-42E6-ACF8-6C7A26C9456C}" type="pres">
      <dgm:prSet presAssocID="{A3685CA9-4505-4F49-944A-BF824727118D}" presName="aNode" presStyleLbl="bgShp" presStyleIdx="1" presStyleCnt="4"/>
      <dgm:spPr/>
    </dgm:pt>
    <dgm:pt modelId="{71D408C8-9225-4104-BE0E-BBE63CF5E320}" type="pres">
      <dgm:prSet presAssocID="{A3685CA9-4505-4F49-944A-BF824727118D}" presName="textNode" presStyleLbl="bgShp" presStyleIdx="1" presStyleCnt="4"/>
      <dgm:spPr/>
    </dgm:pt>
    <dgm:pt modelId="{5CD408A7-B0C7-4963-972C-B9C769C50699}" type="pres">
      <dgm:prSet presAssocID="{A3685CA9-4505-4F49-944A-BF824727118D}" presName="compChildNode" presStyleCnt="0"/>
      <dgm:spPr/>
    </dgm:pt>
    <dgm:pt modelId="{B7FE07D1-E78B-4F78-875B-9BCCF158BDE6}" type="pres">
      <dgm:prSet presAssocID="{A3685CA9-4505-4F49-944A-BF824727118D}" presName="theInnerList" presStyleCnt="0"/>
      <dgm:spPr/>
    </dgm:pt>
    <dgm:pt modelId="{0665FCDF-84BF-4715-95E8-BADFB64820F5}" type="pres">
      <dgm:prSet presAssocID="{D64B3852-E5D2-47A8-B7E0-5F82C88DA274}" presName="childNode" presStyleLbl="node1" presStyleIdx="1" presStyleCnt="4" custScaleY="116171">
        <dgm:presLayoutVars>
          <dgm:bulletEnabled val="1"/>
        </dgm:presLayoutVars>
      </dgm:prSet>
      <dgm:spPr/>
    </dgm:pt>
    <dgm:pt modelId="{6B5162CC-5CD8-4242-BC51-A423745717C7}" type="pres">
      <dgm:prSet presAssocID="{A3685CA9-4505-4F49-944A-BF824727118D}" presName="aSpace" presStyleCnt="0"/>
      <dgm:spPr/>
    </dgm:pt>
    <dgm:pt modelId="{83C7A4DA-B3BB-4111-B8AE-E1982410A46C}" type="pres">
      <dgm:prSet presAssocID="{51E6620B-46A2-4DCF-AE1E-64A6C93CACBC}" presName="compNode" presStyleCnt="0"/>
      <dgm:spPr/>
    </dgm:pt>
    <dgm:pt modelId="{543C62CA-F0A8-421D-A2D9-A521F4EA4ED8}" type="pres">
      <dgm:prSet presAssocID="{51E6620B-46A2-4DCF-AE1E-64A6C93CACBC}" presName="aNode" presStyleLbl="bgShp" presStyleIdx="2" presStyleCnt="4"/>
      <dgm:spPr/>
    </dgm:pt>
    <dgm:pt modelId="{2DA9D1C9-8061-44D3-8CC1-5DCE45C86EB0}" type="pres">
      <dgm:prSet presAssocID="{51E6620B-46A2-4DCF-AE1E-64A6C93CACBC}" presName="textNode" presStyleLbl="bgShp" presStyleIdx="2" presStyleCnt="4"/>
      <dgm:spPr/>
    </dgm:pt>
    <dgm:pt modelId="{ADE1F9D4-57B3-4F64-B590-012E0C85DC8B}" type="pres">
      <dgm:prSet presAssocID="{51E6620B-46A2-4DCF-AE1E-64A6C93CACBC}" presName="compChildNode" presStyleCnt="0"/>
      <dgm:spPr/>
    </dgm:pt>
    <dgm:pt modelId="{EC731CE9-74FF-426E-A97F-F2F9FB2ADDA1}" type="pres">
      <dgm:prSet presAssocID="{51E6620B-46A2-4DCF-AE1E-64A6C93CACBC}" presName="theInnerList" presStyleCnt="0"/>
      <dgm:spPr/>
    </dgm:pt>
    <dgm:pt modelId="{46059778-6F75-4F82-99EF-71325631218F}" type="pres">
      <dgm:prSet presAssocID="{2F8EC2E3-D759-4E20-A770-E136606DD85B}" presName="childNode" presStyleLbl="node1" presStyleIdx="2" presStyleCnt="4" custScaleY="116171">
        <dgm:presLayoutVars>
          <dgm:bulletEnabled val="1"/>
        </dgm:presLayoutVars>
      </dgm:prSet>
      <dgm:spPr/>
    </dgm:pt>
    <dgm:pt modelId="{23904B6D-2312-4986-8267-9D2699E8FD77}" type="pres">
      <dgm:prSet presAssocID="{51E6620B-46A2-4DCF-AE1E-64A6C93CACBC}" presName="aSpace" presStyleCnt="0"/>
      <dgm:spPr/>
    </dgm:pt>
    <dgm:pt modelId="{CF63A68A-0A50-432F-B881-743E05A78525}" type="pres">
      <dgm:prSet presAssocID="{55716EFC-2507-475E-A21D-8D5657D0E502}" presName="compNode" presStyleCnt="0"/>
      <dgm:spPr/>
    </dgm:pt>
    <dgm:pt modelId="{05D83FBB-D4D0-4CB6-A869-0324336965C8}" type="pres">
      <dgm:prSet presAssocID="{55716EFC-2507-475E-A21D-8D5657D0E502}" presName="aNode" presStyleLbl="bgShp" presStyleIdx="3" presStyleCnt="4"/>
      <dgm:spPr/>
    </dgm:pt>
    <dgm:pt modelId="{63030D4E-B44D-49CB-9D33-C42D1329F78A}" type="pres">
      <dgm:prSet presAssocID="{55716EFC-2507-475E-A21D-8D5657D0E502}" presName="textNode" presStyleLbl="bgShp" presStyleIdx="3" presStyleCnt="4"/>
      <dgm:spPr/>
    </dgm:pt>
    <dgm:pt modelId="{1A60085D-AD1C-40C6-80AA-76584EAE93BA}" type="pres">
      <dgm:prSet presAssocID="{55716EFC-2507-475E-A21D-8D5657D0E502}" presName="compChildNode" presStyleCnt="0"/>
      <dgm:spPr/>
    </dgm:pt>
    <dgm:pt modelId="{90BA01E9-9740-458B-B90C-4995E2EF8953}" type="pres">
      <dgm:prSet presAssocID="{55716EFC-2507-475E-A21D-8D5657D0E502}" presName="theInnerList" presStyleCnt="0"/>
      <dgm:spPr/>
    </dgm:pt>
    <dgm:pt modelId="{A493D97B-1025-40D7-BD24-F8AF184B0EEE}" type="pres">
      <dgm:prSet presAssocID="{701C8645-F201-4E27-B999-5452CFCF21D8}" presName="childNode" presStyleLbl="node1" presStyleIdx="3" presStyleCnt="4" custScaleY="116171">
        <dgm:presLayoutVars>
          <dgm:bulletEnabled val="1"/>
        </dgm:presLayoutVars>
      </dgm:prSet>
      <dgm:spPr/>
    </dgm:pt>
  </dgm:ptLst>
  <dgm:cxnLst>
    <dgm:cxn modelId="{AABA7B00-F858-464A-8944-8D5875227C52}" type="presOf" srcId="{A3685CA9-4505-4F49-944A-BF824727118D}" destId="{71D408C8-9225-4104-BE0E-BBE63CF5E320}" srcOrd="1" destOrd="0" presId="urn:microsoft.com/office/officeart/2005/8/layout/lProcess2"/>
    <dgm:cxn modelId="{A022910D-C0C4-43FE-A0BE-82826A74F7B9}" type="presOf" srcId="{51E6620B-46A2-4DCF-AE1E-64A6C93CACBC}" destId="{543C62CA-F0A8-421D-A2D9-A521F4EA4ED8}" srcOrd="0" destOrd="0" presId="urn:microsoft.com/office/officeart/2005/8/layout/lProcess2"/>
    <dgm:cxn modelId="{552BD215-4116-4F1B-86E9-F2B6E65B40EE}" type="presOf" srcId="{C65E5F76-5A56-4747-8743-6D9AB211E486}" destId="{0CC6935A-14A7-451C-ADD2-14860B70FC27}" srcOrd="0" destOrd="0" presId="urn:microsoft.com/office/officeart/2005/8/layout/lProcess2"/>
    <dgm:cxn modelId="{E88B3525-15E0-4BCE-8187-1CE186ED243C}" type="presOf" srcId="{BFE24462-F5CC-4D50-94B4-1B02A0C52CB9}" destId="{DBA779FC-2AF5-4F42-B49B-E5314FC89060}" srcOrd="1" destOrd="0" presId="urn:microsoft.com/office/officeart/2005/8/layout/lProcess2"/>
    <dgm:cxn modelId="{79A3425C-3D65-45E6-AB76-8424B2B74286}" type="presOf" srcId="{D64B3852-E5D2-47A8-B7E0-5F82C88DA274}" destId="{0665FCDF-84BF-4715-95E8-BADFB64820F5}" srcOrd="0" destOrd="0" presId="urn:microsoft.com/office/officeart/2005/8/layout/lProcess2"/>
    <dgm:cxn modelId="{B7555E4A-7876-4507-8147-8F700FE9E60D}" type="presOf" srcId="{BFE24462-F5CC-4D50-94B4-1B02A0C52CB9}" destId="{705DB3CB-585A-489A-B754-275CE80B9551}" srcOrd="0" destOrd="0" presId="urn:microsoft.com/office/officeart/2005/8/layout/lProcess2"/>
    <dgm:cxn modelId="{0B95474A-D1FC-4D74-A67D-C54DF12BD102}" type="presOf" srcId="{701C8645-F201-4E27-B999-5452CFCF21D8}" destId="{A493D97B-1025-40D7-BD24-F8AF184B0EEE}" srcOrd="0" destOrd="0" presId="urn:microsoft.com/office/officeart/2005/8/layout/lProcess2"/>
    <dgm:cxn modelId="{FB0F847D-3FEE-4E00-B77D-D5B0103FC705}" srcId="{A3685CA9-4505-4F49-944A-BF824727118D}" destId="{D64B3852-E5D2-47A8-B7E0-5F82C88DA274}" srcOrd="0" destOrd="0" parTransId="{D10D7083-16D8-467F-B7C2-748F6EF9259D}" sibTransId="{3A908000-83B6-4BBC-AF41-0B0227C96245}"/>
    <dgm:cxn modelId="{656D6E7E-22F6-48F8-801B-1200E2590BA5}" type="presOf" srcId="{2F8EC2E3-D759-4E20-A770-E136606DD85B}" destId="{46059778-6F75-4F82-99EF-71325631218F}" srcOrd="0" destOrd="0" presId="urn:microsoft.com/office/officeart/2005/8/layout/lProcess2"/>
    <dgm:cxn modelId="{BA08648A-4A2A-4FE7-A3B7-00E4C8A0B0CB}" type="presOf" srcId="{A3685CA9-4505-4F49-944A-BF824727118D}" destId="{3E603EB7-386F-42E6-ACF8-6C7A26C9456C}" srcOrd="0" destOrd="0" presId="urn:microsoft.com/office/officeart/2005/8/layout/lProcess2"/>
    <dgm:cxn modelId="{2D23C88A-E67F-4D06-954F-461F4F7F1526}" srcId="{C65E5F76-5A56-4747-8743-6D9AB211E486}" destId="{BFE24462-F5CC-4D50-94B4-1B02A0C52CB9}" srcOrd="0" destOrd="0" parTransId="{F4EA5632-34EE-4F8B-91A0-4D7706399CBE}" sibTransId="{DAB84BA6-67D4-4ABA-8DA5-90545131FEB5}"/>
    <dgm:cxn modelId="{553C9699-0F4E-4AFF-9009-EE154D9947C6}" type="presOf" srcId="{55716EFC-2507-475E-A21D-8D5657D0E502}" destId="{05D83FBB-D4D0-4CB6-A869-0324336965C8}" srcOrd="0" destOrd="0" presId="urn:microsoft.com/office/officeart/2005/8/layout/lProcess2"/>
    <dgm:cxn modelId="{47A2C09D-4B5E-468F-A26D-8183F9ED74F1}" srcId="{55716EFC-2507-475E-A21D-8D5657D0E502}" destId="{701C8645-F201-4E27-B999-5452CFCF21D8}" srcOrd="0" destOrd="0" parTransId="{2FC214B6-0A3D-4622-A16E-8ECF35442089}" sibTransId="{FCE6CFB2-CD57-4136-A02F-74F711108D04}"/>
    <dgm:cxn modelId="{DB3A6DA1-FA0B-480C-B7BA-3E8EC4F70596}" type="presOf" srcId="{51E6620B-46A2-4DCF-AE1E-64A6C93CACBC}" destId="{2DA9D1C9-8061-44D3-8CC1-5DCE45C86EB0}" srcOrd="1" destOrd="0" presId="urn:microsoft.com/office/officeart/2005/8/layout/lProcess2"/>
    <dgm:cxn modelId="{2B44F6A8-4073-4F5F-AF1B-79C1A6F03854}" srcId="{BFE24462-F5CC-4D50-94B4-1B02A0C52CB9}" destId="{868CCC34-993D-4B1B-B960-231637D66DFF}" srcOrd="0" destOrd="0" parTransId="{0F57D50F-DAA6-43B2-994E-1D67F73C3D2B}" sibTransId="{E14D18EE-007F-4D4E-9C27-A361A31CDBEF}"/>
    <dgm:cxn modelId="{9C9F51AA-9BA4-459E-9E68-D06A4CA441DE}" srcId="{51E6620B-46A2-4DCF-AE1E-64A6C93CACBC}" destId="{2F8EC2E3-D759-4E20-A770-E136606DD85B}" srcOrd="0" destOrd="0" parTransId="{47589451-E51C-40D8-8E6F-5D5CB2149E43}" sibTransId="{DC735E8A-676A-4DC1-AE01-3754C57F3226}"/>
    <dgm:cxn modelId="{7F49EEC4-C060-47D0-9EE5-319B04D24FEB}" srcId="{C65E5F76-5A56-4747-8743-6D9AB211E486}" destId="{A3685CA9-4505-4F49-944A-BF824727118D}" srcOrd="1" destOrd="0" parTransId="{88112B08-82AA-4F65-881A-65CA336CF4CC}" sibTransId="{F2857FAB-DFD7-4AF1-B046-5361BD05FEA2}"/>
    <dgm:cxn modelId="{78C781D6-4C89-44F4-AC82-54756483D466}" srcId="{C65E5F76-5A56-4747-8743-6D9AB211E486}" destId="{51E6620B-46A2-4DCF-AE1E-64A6C93CACBC}" srcOrd="2" destOrd="0" parTransId="{0DA119DF-23C8-48CC-B2B5-26859B3CE4C3}" sibTransId="{C8BCED4B-1DBE-4BBD-8888-5711B56866D5}"/>
    <dgm:cxn modelId="{605CDAE6-2941-49EE-8E44-D5CA621AF950}" type="presOf" srcId="{868CCC34-993D-4B1B-B960-231637D66DFF}" destId="{83B35182-5240-4CAB-A064-4022BD6D7553}" srcOrd="0" destOrd="0" presId="urn:microsoft.com/office/officeart/2005/8/layout/lProcess2"/>
    <dgm:cxn modelId="{4CD72EFB-AA35-4319-AA39-B20DEAD481DC}" type="presOf" srcId="{55716EFC-2507-475E-A21D-8D5657D0E502}" destId="{63030D4E-B44D-49CB-9D33-C42D1329F78A}" srcOrd="1" destOrd="0" presId="urn:microsoft.com/office/officeart/2005/8/layout/lProcess2"/>
    <dgm:cxn modelId="{F88DE4FD-6F6C-49C6-81C6-26571481898E}" srcId="{C65E5F76-5A56-4747-8743-6D9AB211E486}" destId="{55716EFC-2507-475E-A21D-8D5657D0E502}" srcOrd="3" destOrd="0" parTransId="{7404531F-948B-4235-9941-149AEF15CC10}" sibTransId="{1782FC12-CC5C-4F9E-B97D-DF41833BC871}"/>
    <dgm:cxn modelId="{E2B25A9C-CEA1-4938-92E8-10891B063A19}" type="presParOf" srcId="{0CC6935A-14A7-451C-ADD2-14860B70FC27}" destId="{FA39110B-BAED-42CE-9A4E-ADABDD638E91}" srcOrd="0" destOrd="0" presId="urn:microsoft.com/office/officeart/2005/8/layout/lProcess2"/>
    <dgm:cxn modelId="{533D62E2-A6E0-4856-BADD-5309F4BF9CA3}" type="presParOf" srcId="{FA39110B-BAED-42CE-9A4E-ADABDD638E91}" destId="{705DB3CB-585A-489A-B754-275CE80B9551}" srcOrd="0" destOrd="0" presId="urn:microsoft.com/office/officeart/2005/8/layout/lProcess2"/>
    <dgm:cxn modelId="{1B03D7AD-42DD-40A5-801A-E39E2C5CB8DE}" type="presParOf" srcId="{FA39110B-BAED-42CE-9A4E-ADABDD638E91}" destId="{DBA779FC-2AF5-4F42-B49B-E5314FC89060}" srcOrd="1" destOrd="0" presId="urn:microsoft.com/office/officeart/2005/8/layout/lProcess2"/>
    <dgm:cxn modelId="{35BD3E3E-4697-4E09-9BE2-1F14AC60AC73}" type="presParOf" srcId="{FA39110B-BAED-42CE-9A4E-ADABDD638E91}" destId="{B2C8088B-4412-49AD-B13E-F78BFB2E490F}" srcOrd="2" destOrd="0" presId="urn:microsoft.com/office/officeart/2005/8/layout/lProcess2"/>
    <dgm:cxn modelId="{1E0F14F2-D418-4A36-863A-AA90C2E91275}" type="presParOf" srcId="{B2C8088B-4412-49AD-B13E-F78BFB2E490F}" destId="{5B82F00B-B933-43A2-AB5C-23A44D45693F}" srcOrd="0" destOrd="0" presId="urn:microsoft.com/office/officeart/2005/8/layout/lProcess2"/>
    <dgm:cxn modelId="{2E5A5707-DAD7-41DB-A8AC-5E9149CA525D}" type="presParOf" srcId="{5B82F00B-B933-43A2-AB5C-23A44D45693F}" destId="{83B35182-5240-4CAB-A064-4022BD6D7553}" srcOrd="0" destOrd="0" presId="urn:microsoft.com/office/officeart/2005/8/layout/lProcess2"/>
    <dgm:cxn modelId="{138EB7B4-DC6E-4B36-B61A-F911310E9BD1}" type="presParOf" srcId="{0CC6935A-14A7-451C-ADD2-14860B70FC27}" destId="{C5352590-319D-4C73-9BF0-9F324905D1E4}" srcOrd="1" destOrd="0" presId="urn:microsoft.com/office/officeart/2005/8/layout/lProcess2"/>
    <dgm:cxn modelId="{66335575-9AC0-47D1-A51B-97CC1D6E8D2B}" type="presParOf" srcId="{0CC6935A-14A7-451C-ADD2-14860B70FC27}" destId="{B4D82803-94F4-4812-BE22-66FD77B35E08}" srcOrd="2" destOrd="0" presId="urn:microsoft.com/office/officeart/2005/8/layout/lProcess2"/>
    <dgm:cxn modelId="{9E9F4F23-2AC0-409E-AAB1-47738B3DACD5}" type="presParOf" srcId="{B4D82803-94F4-4812-BE22-66FD77B35E08}" destId="{3E603EB7-386F-42E6-ACF8-6C7A26C9456C}" srcOrd="0" destOrd="0" presId="urn:microsoft.com/office/officeart/2005/8/layout/lProcess2"/>
    <dgm:cxn modelId="{04D853C5-580A-4132-8F14-7E9ABE236A69}" type="presParOf" srcId="{B4D82803-94F4-4812-BE22-66FD77B35E08}" destId="{71D408C8-9225-4104-BE0E-BBE63CF5E320}" srcOrd="1" destOrd="0" presId="urn:microsoft.com/office/officeart/2005/8/layout/lProcess2"/>
    <dgm:cxn modelId="{73C72A55-70F7-4221-8DD5-961FDE4847CD}" type="presParOf" srcId="{B4D82803-94F4-4812-BE22-66FD77B35E08}" destId="{5CD408A7-B0C7-4963-972C-B9C769C50699}" srcOrd="2" destOrd="0" presId="urn:microsoft.com/office/officeart/2005/8/layout/lProcess2"/>
    <dgm:cxn modelId="{F6C82BE0-AF31-4998-98DB-99451959861B}" type="presParOf" srcId="{5CD408A7-B0C7-4963-972C-B9C769C50699}" destId="{B7FE07D1-E78B-4F78-875B-9BCCF158BDE6}" srcOrd="0" destOrd="0" presId="urn:microsoft.com/office/officeart/2005/8/layout/lProcess2"/>
    <dgm:cxn modelId="{8568534B-3F0B-465D-92F9-E3882B0FE464}" type="presParOf" srcId="{B7FE07D1-E78B-4F78-875B-9BCCF158BDE6}" destId="{0665FCDF-84BF-4715-95E8-BADFB64820F5}" srcOrd="0" destOrd="0" presId="urn:microsoft.com/office/officeart/2005/8/layout/lProcess2"/>
    <dgm:cxn modelId="{6C7C44C2-A0F9-44F4-9C70-427EC387785F}" type="presParOf" srcId="{0CC6935A-14A7-451C-ADD2-14860B70FC27}" destId="{6B5162CC-5CD8-4242-BC51-A423745717C7}" srcOrd="3" destOrd="0" presId="urn:microsoft.com/office/officeart/2005/8/layout/lProcess2"/>
    <dgm:cxn modelId="{8110867E-BC2A-4F30-B7A9-9FAD2F4769F8}" type="presParOf" srcId="{0CC6935A-14A7-451C-ADD2-14860B70FC27}" destId="{83C7A4DA-B3BB-4111-B8AE-E1982410A46C}" srcOrd="4" destOrd="0" presId="urn:microsoft.com/office/officeart/2005/8/layout/lProcess2"/>
    <dgm:cxn modelId="{7A439B81-B50D-4A06-819C-514CCCFD36CF}" type="presParOf" srcId="{83C7A4DA-B3BB-4111-B8AE-E1982410A46C}" destId="{543C62CA-F0A8-421D-A2D9-A521F4EA4ED8}" srcOrd="0" destOrd="0" presId="urn:microsoft.com/office/officeart/2005/8/layout/lProcess2"/>
    <dgm:cxn modelId="{35201692-D009-4EC7-8DA2-FEE0DC052B8B}" type="presParOf" srcId="{83C7A4DA-B3BB-4111-B8AE-E1982410A46C}" destId="{2DA9D1C9-8061-44D3-8CC1-5DCE45C86EB0}" srcOrd="1" destOrd="0" presId="urn:microsoft.com/office/officeart/2005/8/layout/lProcess2"/>
    <dgm:cxn modelId="{8D3F8C94-2F6B-4931-BED4-B7101A90C38A}" type="presParOf" srcId="{83C7A4DA-B3BB-4111-B8AE-E1982410A46C}" destId="{ADE1F9D4-57B3-4F64-B590-012E0C85DC8B}" srcOrd="2" destOrd="0" presId="urn:microsoft.com/office/officeart/2005/8/layout/lProcess2"/>
    <dgm:cxn modelId="{AED0CE73-418A-44FD-8309-7683B811F284}" type="presParOf" srcId="{ADE1F9D4-57B3-4F64-B590-012E0C85DC8B}" destId="{EC731CE9-74FF-426E-A97F-F2F9FB2ADDA1}" srcOrd="0" destOrd="0" presId="urn:microsoft.com/office/officeart/2005/8/layout/lProcess2"/>
    <dgm:cxn modelId="{633FD449-6E64-4073-BA11-3C00E0EE47A8}" type="presParOf" srcId="{EC731CE9-74FF-426E-A97F-F2F9FB2ADDA1}" destId="{46059778-6F75-4F82-99EF-71325631218F}" srcOrd="0" destOrd="0" presId="urn:microsoft.com/office/officeart/2005/8/layout/lProcess2"/>
    <dgm:cxn modelId="{CA2810DC-B54A-44FD-AC11-35BFB460012E}" type="presParOf" srcId="{0CC6935A-14A7-451C-ADD2-14860B70FC27}" destId="{23904B6D-2312-4986-8267-9D2699E8FD77}" srcOrd="5" destOrd="0" presId="urn:microsoft.com/office/officeart/2005/8/layout/lProcess2"/>
    <dgm:cxn modelId="{6255FEF8-E8F0-4883-9E51-F59A57D2B7F9}" type="presParOf" srcId="{0CC6935A-14A7-451C-ADD2-14860B70FC27}" destId="{CF63A68A-0A50-432F-B881-743E05A78525}" srcOrd="6" destOrd="0" presId="urn:microsoft.com/office/officeart/2005/8/layout/lProcess2"/>
    <dgm:cxn modelId="{42088066-F8FC-47F5-9A71-7088528A692B}" type="presParOf" srcId="{CF63A68A-0A50-432F-B881-743E05A78525}" destId="{05D83FBB-D4D0-4CB6-A869-0324336965C8}" srcOrd="0" destOrd="0" presId="urn:microsoft.com/office/officeart/2005/8/layout/lProcess2"/>
    <dgm:cxn modelId="{50845A31-7CB9-45A6-95A9-3EDF1F77EC63}" type="presParOf" srcId="{CF63A68A-0A50-432F-B881-743E05A78525}" destId="{63030D4E-B44D-49CB-9D33-C42D1329F78A}" srcOrd="1" destOrd="0" presId="urn:microsoft.com/office/officeart/2005/8/layout/lProcess2"/>
    <dgm:cxn modelId="{8CD935DC-B739-4ED4-B9DD-4F35238920D4}" type="presParOf" srcId="{CF63A68A-0A50-432F-B881-743E05A78525}" destId="{1A60085D-AD1C-40C6-80AA-76584EAE93BA}" srcOrd="2" destOrd="0" presId="urn:microsoft.com/office/officeart/2005/8/layout/lProcess2"/>
    <dgm:cxn modelId="{A0C05699-2EDC-4722-BF71-97A4CB7CA77C}" type="presParOf" srcId="{1A60085D-AD1C-40C6-80AA-76584EAE93BA}" destId="{90BA01E9-9740-458B-B90C-4995E2EF8953}" srcOrd="0" destOrd="0" presId="urn:microsoft.com/office/officeart/2005/8/layout/lProcess2"/>
    <dgm:cxn modelId="{B7089B97-3255-4EB1-81A4-C6013B10CFC1}" type="presParOf" srcId="{90BA01E9-9740-458B-B90C-4995E2EF8953}" destId="{A493D97B-1025-40D7-BD24-F8AF184B0EEE}" srcOrd="0" destOrd="0" presId="urn:microsoft.com/office/officeart/2005/8/layout/lProcess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003968" cy="2764724"/>
        <a:chOff x="0" y="0"/>
        <a:chExt cx="8003968" cy="2764724"/>
      </a:xfrm>
    </dsp:grpSpPr>
    <dsp:sp modelId="{705DB3CB-585A-489A-B754-275CE80B9551}">
      <dsp:nvSpPr>
        <dsp:cNvPr id="3" name="圆角矩形 2"/>
        <dsp:cNvSpPr/>
      </dsp:nvSpPr>
      <dsp:spPr bwMode="white">
        <a:xfrm>
          <a:off x="0" y="0"/>
          <a:ext cx="1894430" cy="2764724"/>
        </a:xfrm>
        <a:prstGeom prst="roundRect">
          <a:avLst>
            <a:gd name="adj" fmla="val 10000"/>
          </a:avLst>
        </a:prstGeom>
        <a:sp3d z="-190500" extrusionH="12700" prstMaterial="plastic">
          <a:bevelT w="50800" h="50800"/>
        </a:sp3d>
      </dsp:spPr>
      <dsp:style>
        <a:lnRef idx="0">
          <a:schemeClr val="accent2"/>
        </a:lnRef>
        <a:fillRef idx="3">
          <a:schemeClr val="accent2">
            <a:tint val="40000"/>
          </a:schemeClr>
        </a:fillRef>
        <a:effectRef idx="0">
          <a:scrgbClr r="0" g="0" b="0"/>
        </a:effectRef>
        <a:fontRef idx="minor"/>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a:solidFill>
                <a:schemeClr val="dk1"/>
              </a:solidFill>
              <a:effectLst/>
            </a:rPr>
            <a:t>制定计划</a:t>
          </a:r>
          <a:endParaRPr lang="zh-CN" altLang="en-US" sz="2000" dirty="0">
            <a:solidFill>
              <a:schemeClr val="dk1"/>
            </a:solidFill>
            <a:effectLst/>
          </a:endParaRPr>
        </a:p>
      </dsp:txBody>
      <dsp:txXfrm>
        <a:off x="0" y="0"/>
        <a:ext cx="1894430" cy="2764724"/>
      </dsp:txXfrm>
    </dsp:sp>
    <dsp:sp modelId="{83B35182-5240-4CAB-A064-4022BD6D7553}">
      <dsp:nvSpPr>
        <dsp:cNvPr id="4" name="圆角矩形 3"/>
        <dsp:cNvSpPr/>
      </dsp:nvSpPr>
      <dsp:spPr bwMode="white">
        <a:xfrm>
          <a:off x="189443" y="829417"/>
          <a:ext cx="1515544" cy="1797071"/>
        </a:xfrm>
        <a:prstGeom prst="roundRect">
          <a:avLst>
            <a:gd name="adj" fmla="val 10000"/>
          </a:avLst>
        </a:prstGeom>
        <a:sp3d prstMaterial="plastic">
          <a:bevelT w="120900" h="88900"/>
          <a:bevelB w="88900" h="31750" prst="angle"/>
        </a:sp3d>
      </dsp:spPr>
      <dsp:style>
        <a:lnRef idx="0">
          <a:schemeClr val="lt1"/>
        </a:lnRef>
        <a:fillRef idx="3">
          <a:schemeClr val="accent2"/>
        </a:fillRef>
        <a:effectRef idx="2">
          <a:scrgbClr r="0" g="0" b="0"/>
        </a:effectRef>
        <a:fontRef idx="minor">
          <a:schemeClr val="lt1"/>
        </a:fontRef>
      </dsp:style>
      <dsp:txBody>
        <a:bodyPr lIns="45720" tIns="34290" rIns="4572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dirty="0">
              <a:effectLst>
                <a:outerShdw blurRad="38100" dist="38100" dir="2700000" algn="tl">
                  <a:srgbClr val="000000">
                    <a:alpha val="43137"/>
                  </a:srgbClr>
                </a:outerShdw>
              </a:effectLst>
            </a:rPr>
            <a:t>要确定软件系统的目标，了解各种资源限制，并选定合适的开发方案</a:t>
          </a:r>
        </a:p>
      </dsp:txBody>
      <dsp:txXfrm>
        <a:off x="189443" y="829417"/>
        <a:ext cx="1515544" cy="1797071"/>
      </dsp:txXfrm>
    </dsp:sp>
    <dsp:sp modelId="{3E603EB7-386F-42E6-ACF8-6C7A26C9456C}">
      <dsp:nvSpPr>
        <dsp:cNvPr id="5" name="圆角矩形 4"/>
        <dsp:cNvSpPr/>
      </dsp:nvSpPr>
      <dsp:spPr bwMode="white">
        <a:xfrm>
          <a:off x="2036513" y="0"/>
          <a:ext cx="1894430" cy="2764724"/>
        </a:xfrm>
        <a:prstGeom prst="roundRect">
          <a:avLst>
            <a:gd name="adj" fmla="val 10000"/>
          </a:avLst>
        </a:prstGeom>
        <a:sp3d z="-190500" extrusionH="12700" prstMaterial="plastic">
          <a:bevelT w="50800" h="50800"/>
        </a:sp3d>
      </dsp:spPr>
      <dsp:style>
        <a:lnRef idx="0">
          <a:schemeClr val="accent2"/>
        </a:lnRef>
        <a:fillRef idx="3">
          <a:schemeClr val="accent2">
            <a:tint val="40000"/>
          </a:schemeClr>
        </a:fillRef>
        <a:effectRef idx="0">
          <a:scrgbClr r="0" g="0" b="0"/>
        </a:effectRef>
        <a:fontRef idx="minor"/>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a:solidFill>
                <a:schemeClr val="dk1"/>
              </a:solidFill>
              <a:effectLst/>
            </a:rPr>
            <a:t>风险分析</a:t>
          </a:r>
          <a:endParaRPr lang="zh-CN" altLang="en-US" sz="2000" dirty="0">
            <a:solidFill>
              <a:schemeClr val="dk1"/>
            </a:solidFill>
            <a:effectLst/>
          </a:endParaRPr>
        </a:p>
      </dsp:txBody>
      <dsp:txXfrm>
        <a:off x="2036513" y="0"/>
        <a:ext cx="1894430" cy="2764724"/>
      </dsp:txXfrm>
    </dsp:sp>
    <dsp:sp modelId="{0665FCDF-84BF-4715-95E8-BADFB64820F5}">
      <dsp:nvSpPr>
        <dsp:cNvPr id="6" name="圆角矩形 5"/>
        <dsp:cNvSpPr/>
      </dsp:nvSpPr>
      <dsp:spPr bwMode="white">
        <a:xfrm>
          <a:off x="2225956" y="829417"/>
          <a:ext cx="1515544" cy="1797071"/>
        </a:xfrm>
        <a:prstGeom prst="roundRect">
          <a:avLst>
            <a:gd name="adj" fmla="val 10000"/>
          </a:avLst>
        </a:prstGeom>
        <a:sp3d prstMaterial="plastic">
          <a:bevelT w="120900" h="88900"/>
          <a:bevelB w="88900" h="31750" prst="angle"/>
        </a:sp3d>
      </dsp:spPr>
      <dsp:style>
        <a:lnRef idx="0">
          <a:schemeClr val="lt1"/>
        </a:lnRef>
        <a:fillRef idx="3">
          <a:schemeClr val="accent2"/>
        </a:fillRef>
        <a:effectRef idx="2">
          <a:scrgbClr r="0" g="0" b="0"/>
        </a:effectRef>
        <a:fontRef idx="minor">
          <a:schemeClr val="lt1"/>
        </a:fontRef>
      </dsp:style>
      <dsp:txBody>
        <a:bodyPr lIns="45720" tIns="34290" rIns="4572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a:effectLst>
                <a:outerShdw blurRad="38100" dist="38100" dir="2700000" algn="tl">
                  <a:srgbClr val="000000">
                    <a:alpha val="43137"/>
                  </a:srgbClr>
                </a:outerShdw>
              </a:effectLst>
            </a:rPr>
            <a:t>旨在对所选方案进行评价，识别潜在的风险，并制定消除风险的机制</a:t>
          </a:r>
        </a:p>
      </dsp:txBody>
      <dsp:txXfrm>
        <a:off x="2225956" y="829417"/>
        <a:ext cx="1515544" cy="1797071"/>
      </dsp:txXfrm>
    </dsp:sp>
    <dsp:sp modelId="{543C62CA-F0A8-421D-A2D9-A521F4EA4ED8}">
      <dsp:nvSpPr>
        <dsp:cNvPr id="7" name="圆角矩形 6"/>
        <dsp:cNvSpPr/>
      </dsp:nvSpPr>
      <dsp:spPr bwMode="white">
        <a:xfrm>
          <a:off x="4073025" y="0"/>
          <a:ext cx="1894430" cy="2764724"/>
        </a:xfrm>
        <a:prstGeom prst="roundRect">
          <a:avLst>
            <a:gd name="adj" fmla="val 10000"/>
          </a:avLst>
        </a:prstGeom>
        <a:sp3d z="-190500" extrusionH="12700" prstMaterial="plastic">
          <a:bevelT w="50800" h="50800"/>
        </a:sp3d>
      </dsp:spPr>
      <dsp:style>
        <a:lnRef idx="0">
          <a:schemeClr val="accent2"/>
        </a:lnRef>
        <a:fillRef idx="3">
          <a:schemeClr val="accent2">
            <a:tint val="40000"/>
          </a:schemeClr>
        </a:fillRef>
        <a:effectRef idx="0">
          <a:scrgbClr r="0" g="0" b="0"/>
        </a:effectRef>
        <a:fontRef idx="minor"/>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a:solidFill>
                <a:schemeClr val="dk1"/>
              </a:solidFill>
              <a:effectLst/>
            </a:rPr>
            <a:t>实施工程</a:t>
          </a:r>
          <a:endParaRPr lang="zh-CN" altLang="en-US" sz="2000" dirty="0">
            <a:solidFill>
              <a:schemeClr val="dk1"/>
            </a:solidFill>
            <a:effectLst/>
          </a:endParaRPr>
        </a:p>
      </dsp:txBody>
      <dsp:txXfrm>
        <a:off x="4073025" y="0"/>
        <a:ext cx="1894430" cy="2764724"/>
      </dsp:txXfrm>
    </dsp:sp>
    <dsp:sp modelId="{46059778-6F75-4F82-99EF-71325631218F}">
      <dsp:nvSpPr>
        <dsp:cNvPr id="8" name="圆角矩形 7"/>
        <dsp:cNvSpPr/>
      </dsp:nvSpPr>
      <dsp:spPr bwMode="white">
        <a:xfrm>
          <a:off x="4262468" y="829417"/>
          <a:ext cx="1515544" cy="1797071"/>
        </a:xfrm>
        <a:prstGeom prst="roundRect">
          <a:avLst>
            <a:gd name="adj" fmla="val 10000"/>
          </a:avLst>
        </a:prstGeom>
        <a:sp3d prstMaterial="plastic">
          <a:bevelT w="120900" h="88900"/>
          <a:bevelB w="88900" h="31750" prst="angle"/>
        </a:sp3d>
      </dsp:spPr>
      <dsp:style>
        <a:lnRef idx="0">
          <a:schemeClr val="lt1"/>
        </a:lnRef>
        <a:fillRef idx="3">
          <a:schemeClr val="accent2"/>
        </a:fillRef>
        <a:effectRef idx="2">
          <a:scrgbClr r="0" g="0" b="0"/>
        </a:effectRef>
        <a:fontRef idx="minor">
          <a:schemeClr val="lt1"/>
        </a:fontRef>
      </dsp:style>
      <dsp:txBody>
        <a:bodyPr lIns="45720" tIns="34290" rIns="4572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dirty="0">
              <a:effectLst>
                <a:outerShdw blurRad="38100" dist="38100" dir="2700000" algn="tl">
                  <a:srgbClr val="000000">
                    <a:alpha val="43137"/>
                  </a:srgbClr>
                </a:outerShdw>
              </a:effectLst>
            </a:rPr>
            <a:t>渗透了瀑布模型的各个阶段，开发人员对下一版本的软件产品进行开发和验证。</a:t>
          </a:r>
        </a:p>
      </dsp:txBody>
      <dsp:txXfrm>
        <a:off x="4262468" y="829417"/>
        <a:ext cx="1515544" cy="1797071"/>
      </dsp:txXfrm>
    </dsp:sp>
    <dsp:sp modelId="{05D83FBB-D4D0-4CB6-A869-0324336965C8}">
      <dsp:nvSpPr>
        <dsp:cNvPr id="9" name="圆角矩形 8"/>
        <dsp:cNvSpPr/>
      </dsp:nvSpPr>
      <dsp:spPr bwMode="white">
        <a:xfrm>
          <a:off x="6109538" y="0"/>
          <a:ext cx="1894430" cy="2764724"/>
        </a:xfrm>
        <a:prstGeom prst="roundRect">
          <a:avLst>
            <a:gd name="adj" fmla="val 10000"/>
          </a:avLst>
        </a:prstGeom>
        <a:sp3d z="-190500" extrusionH="12700" prstMaterial="plastic">
          <a:bevelT w="50800" h="50800"/>
        </a:sp3d>
      </dsp:spPr>
      <dsp:style>
        <a:lnRef idx="0">
          <a:schemeClr val="accent2"/>
        </a:lnRef>
        <a:fillRef idx="3">
          <a:schemeClr val="accent2">
            <a:tint val="40000"/>
          </a:schemeClr>
        </a:fillRef>
        <a:effectRef idx="0">
          <a:scrgbClr r="0" g="0" b="0"/>
        </a:effectRef>
        <a:fontRef idx="minor"/>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b="1" dirty="0">
              <a:solidFill>
                <a:schemeClr val="dk1"/>
              </a:solidFill>
              <a:effectLst/>
            </a:rPr>
            <a:t>客户评估</a:t>
          </a:r>
          <a:endParaRPr lang="zh-CN" altLang="en-US" sz="2000" dirty="0">
            <a:solidFill>
              <a:schemeClr val="dk1"/>
            </a:solidFill>
            <a:effectLst/>
          </a:endParaRPr>
        </a:p>
      </dsp:txBody>
      <dsp:txXfrm>
        <a:off x="6109538" y="0"/>
        <a:ext cx="1894430" cy="2764724"/>
      </dsp:txXfrm>
    </dsp:sp>
    <dsp:sp modelId="{A493D97B-1025-40D7-BD24-F8AF184B0EEE}">
      <dsp:nvSpPr>
        <dsp:cNvPr id="10" name="圆角矩形 9"/>
        <dsp:cNvSpPr/>
      </dsp:nvSpPr>
      <dsp:spPr bwMode="white">
        <a:xfrm>
          <a:off x="6298981" y="829417"/>
          <a:ext cx="1515544" cy="1797071"/>
        </a:xfrm>
        <a:prstGeom prst="roundRect">
          <a:avLst>
            <a:gd name="adj" fmla="val 10000"/>
          </a:avLst>
        </a:prstGeom>
        <a:sp3d prstMaterial="plastic">
          <a:bevelT w="120900" h="88900"/>
          <a:bevelB w="88900" h="31750" prst="angle"/>
        </a:sp3d>
      </dsp:spPr>
      <dsp:style>
        <a:lnRef idx="0">
          <a:schemeClr val="lt1"/>
        </a:lnRef>
        <a:fillRef idx="3">
          <a:schemeClr val="accent2"/>
        </a:fillRef>
        <a:effectRef idx="2">
          <a:scrgbClr r="0" g="0" b="0"/>
        </a:effectRef>
        <a:fontRef idx="minor">
          <a:schemeClr val="lt1"/>
        </a:fontRef>
      </dsp:style>
      <dsp:txBody>
        <a:bodyPr lIns="45720" tIns="34290" rIns="4572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a:effectLst>
                <a:outerShdw blurRad="38100" dist="38100" dir="2700000" algn="tl">
                  <a:srgbClr val="000000">
                    <a:alpha val="43137"/>
                  </a:srgbClr>
                </a:outerShdw>
              </a:effectLst>
            </a:rPr>
            <a:t>是获取客户意见的重要活动。</a:t>
          </a:r>
        </a:p>
      </dsp:txBody>
      <dsp:txXfrm>
        <a:off x="6298981" y="829417"/>
        <a:ext cx="1515544" cy="1797071"/>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B55A7A-C502-46B6-855A-4BBB11597EE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8659B1-BC94-4B1F-9D70-551345BF8F3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18A599-32F8-4B61-A0CD-2608407245F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849A97-A90C-496F-AD26-75D9C1389A1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514350" rtl="0" eaLnBrk="1" latinLnBrk="0" hangingPunct="1">
      <a:defRPr sz="675" kern="1200">
        <a:solidFill>
          <a:schemeClr val="tx1"/>
        </a:solidFill>
        <a:latin typeface="+mn-lt"/>
        <a:ea typeface="+mn-ea"/>
        <a:cs typeface="+mn-cs"/>
      </a:defRPr>
    </a:lvl1pPr>
    <a:lvl2pPr marL="257175" algn="l" defTabSz="514350" rtl="0" eaLnBrk="1" latinLnBrk="0" hangingPunct="1">
      <a:defRPr sz="675" kern="1200">
        <a:solidFill>
          <a:schemeClr val="tx1"/>
        </a:solidFill>
        <a:latin typeface="+mn-lt"/>
        <a:ea typeface="+mn-ea"/>
        <a:cs typeface="+mn-cs"/>
      </a:defRPr>
    </a:lvl2pPr>
    <a:lvl3pPr marL="514350" algn="l" defTabSz="514350" rtl="0" eaLnBrk="1" latinLnBrk="0" hangingPunct="1">
      <a:defRPr sz="675" kern="1200">
        <a:solidFill>
          <a:schemeClr val="tx1"/>
        </a:solidFill>
        <a:latin typeface="+mn-lt"/>
        <a:ea typeface="+mn-ea"/>
        <a:cs typeface="+mn-cs"/>
      </a:defRPr>
    </a:lvl3pPr>
    <a:lvl4pPr marL="771525" algn="l" defTabSz="514350" rtl="0" eaLnBrk="1" latinLnBrk="0" hangingPunct="1">
      <a:defRPr sz="675" kern="1200">
        <a:solidFill>
          <a:schemeClr val="tx1"/>
        </a:solidFill>
        <a:latin typeface="+mn-lt"/>
        <a:ea typeface="+mn-ea"/>
        <a:cs typeface="+mn-cs"/>
      </a:defRPr>
    </a:lvl4pPr>
    <a:lvl5pPr marL="1028700" algn="l" defTabSz="514350" rtl="0" eaLnBrk="1" latinLnBrk="0" hangingPunct="1">
      <a:defRPr sz="675" kern="1200">
        <a:solidFill>
          <a:schemeClr val="tx1"/>
        </a:solidFill>
        <a:latin typeface="+mn-lt"/>
        <a:ea typeface="+mn-ea"/>
        <a:cs typeface="+mn-cs"/>
      </a:defRPr>
    </a:lvl5pPr>
    <a:lvl6pPr marL="1285875" algn="l" defTabSz="514350" rtl="0" eaLnBrk="1" latinLnBrk="0" hangingPunct="1">
      <a:defRPr sz="675" kern="1200">
        <a:solidFill>
          <a:schemeClr val="tx1"/>
        </a:solidFill>
        <a:latin typeface="+mn-lt"/>
        <a:ea typeface="+mn-ea"/>
        <a:cs typeface="+mn-cs"/>
      </a:defRPr>
    </a:lvl6pPr>
    <a:lvl7pPr marL="1543050" algn="l" defTabSz="514350" rtl="0" eaLnBrk="1" latinLnBrk="0" hangingPunct="1">
      <a:defRPr sz="675" kern="1200">
        <a:solidFill>
          <a:schemeClr val="tx1"/>
        </a:solidFill>
        <a:latin typeface="+mn-lt"/>
        <a:ea typeface="+mn-ea"/>
        <a:cs typeface="+mn-cs"/>
      </a:defRPr>
    </a:lvl7pPr>
    <a:lvl8pPr marL="1800225" algn="l" defTabSz="514350" rtl="0" eaLnBrk="1" latinLnBrk="0" hangingPunct="1">
      <a:defRPr sz="675" kern="1200">
        <a:solidFill>
          <a:schemeClr val="tx1"/>
        </a:solidFill>
        <a:latin typeface="+mn-lt"/>
        <a:ea typeface="+mn-ea"/>
        <a:cs typeface="+mn-cs"/>
      </a:defRPr>
    </a:lvl8pPr>
    <a:lvl9pPr marL="2057400" algn="l" defTabSz="514350" rtl="0" eaLnBrk="1" latinLnBrk="0" hangingPunct="1">
      <a:defRPr sz="67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47.xml.rels><?xml version="1.0" encoding="UTF-8" standalone="yes"?>
<Relationships xmlns="http://schemas.openxmlformats.org/package/2006/relationships"><Relationship Id="rId3" Type="http://schemas.openxmlformats.org/officeDocument/2006/relationships/hyperlink" Target="https://baike.sogou.com/lemma/ShowInnerLink.htm?lemmaId=297589&amp;ss_c=ssc.citiao.link" TargetMode="External"/><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生命期对大家来说应该都不陌生，任何生物都是有生命期的，植物、动物和人。</a:t>
            </a:r>
            <a:endParaRPr lang="en-US" altLang="zh-CN" dirty="0" smtClean="0"/>
          </a:p>
          <a:p>
            <a:endParaRPr lang="en-US" altLang="zh-CN" dirty="0" smtClean="0"/>
          </a:p>
          <a:p>
            <a:r>
              <a:rPr lang="zh-CN" altLang="en-US" dirty="0" smtClean="0"/>
              <a:t>那么对于没有生命的物品，或者一些不是实际存在的事物有没有生命期呢？可以提问学生，回答看看</a:t>
            </a:r>
            <a:endParaRPr lang="en-US" altLang="zh-CN" dirty="0" smtClean="0"/>
          </a:p>
          <a:p>
            <a:endParaRPr lang="en-US" altLang="zh-CN" dirty="0" smtClean="0"/>
          </a:p>
          <a:p>
            <a:r>
              <a:rPr lang="zh-CN" altLang="en-US" dirty="0" smtClean="0"/>
              <a:t>这个问题的答案是肯定的，因为马克思主义唯物辩证法中就有关于事物发展的理论，就是事物的发展观，世界上的万事万物都是在不断发展变化的，而且变化的过程是在上升和提高的过程，也就是不断的进化，完善的过程。</a:t>
            </a:r>
            <a:endParaRPr lang="en-US" altLang="zh-CN" dirty="0" smtClean="0"/>
          </a:p>
          <a:p>
            <a:endParaRPr lang="en-US" altLang="zh-CN" dirty="0" smtClean="0"/>
          </a:p>
          <a:p>
            <a:r>
              <a:rPr lang="zh-CN" altLang="en-US" dirty="0" smtClean="0"/>
              <a:t>比如，一个电脑，它有生产、出售、使用、维修、报废的过程，汽车、家用电器也是一样。</a:t>
            </a:r>
            <a:endParaRPr lang="en-US" altLang="zh-CN" dirty="0" smtClean="0"/>
          </a:p>
          <a:p>
            <a:r>
              <a:rPr lang="zh-CN" altLang="en-US" dirty="0" smtClean="0"/>
              <a:t>人类社会也是由原始社会、奴隶社会、封建社会、资本主义社会到社会主义社会的阶段进行发展的。</a:t>
            </a:r>
            <a:endParaRPr lang="en-US" altLang="zh-CN" dirty="0" smtClean="0"/>
          </a:p>
          <a:p>
            <a:r>
              <a:rPr lang="zh-CN" altLang="en-US" dirty="0" smtClean="0"/>
              <a:t>也就是说，任何事物都是有生命期的。包括电脑中的软件。</a:t>
            </a:r>
            <a:endParaRPr lang="en-US" altLang="zh-CN" dirty="0" smtClean="0"/>
          </a:p>
          <a:p>
            <a:r>
              <a:rPr lang="zh-CN" altLang="en-US" dirty="0" smtClean="0"/>
              <a:t>那我们用的软件的生命周期是怎么定义的？</a:t>
            </a:r>
            <a:endParaRPr lang="zh-CN" altLang="en-US"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514350" rtl="0" eaLnBrk="1" fontAlgn="auto" latinLnBrk="0" hangingPunct="1">
              <a:lnSpc>
                <a:spcPct val="100000"/>
              </a:lnSpc>
              <a:spcBef>
                <a:spcPts val="0"/>
              </a:spcBef>
              <a:spcAft>
                <a:spcPts val="0"/>
              </a:spcAft>
              <a:buClrTx/>
              <a:buSzTx/>
              <a:buFontTx/>
              <a:buNone/>
              <a:defRPr/>
            </a:pPr>
            <a:r>
              <a:rPr lang="zh-CN" altLang="en-US" dirty="0" smtClean="0"/>
              <a:t>这里面，要注意的是软件的发展过程中，是从软件在人的思维中存在开始的，到该软件已经不再使用了为止。</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软件的生命周期首先分为三个大的阶段</a:t>
            </a:r>
            <a:r>
              <a:rPr lang="en-US" altLang="zh-CN" smtClean="0"/>
              <a:t>——</a:t>
            </a:r>
            <a:endParaRPr lang="en-US" altLang="zh-CN" smtClean="0"/>
          </a:p>
          <a:p>
            <a:endParaRPr lang="en-US" altLang="zh-CN" smtClean="0"/>
          </a:p>
          <a:p>
            <a:r>
              <a:rPr lang="zh-CN" altLang="en-US" smtClean="0"/>
              <a:t>其中，软件定义阶段包括</a:t>
            </a:r>
            <a:r>
              <a:rPr lang="en-US" altLang="zh-CN" smtClean="0"/>
              <a:t>——</a:t>
            </a:r>
            <a:r>
              <a:rPr lang="zh-CN" altLang="en-US" smtClean="0"/>
              <a:t>，这是软件生产的前期准备工作，是很重要的阶段，它决定了软件到底能不能做，做成什么样。</a:t>
            </a:r>
            <a:endParaRPr lang="en-US" altLang="zh-CN" smtClean="0"/>
          </a:p>
          <a:p>
            <a:endParaRPr lang="en-US" altLang="zh-CN" smtClean="0"/>
          </a:p>
          <a:p>
            <a:r>
              <a:rPr lang="zh-CN" altLang="en-US" smtClean="0"/>
              <a:t>软件开发阶段包括</a:t>
            </a:r>
            <a:r>
              <a:rPr lang="en-US" altLang="zh-CN" smtClean="0"/>
              <a:t>——</a:t>
            </a:r>
            <a:r>
              <a:rPr lang="zh-CN" altLang="en-US" smtClean="0"/>
              <a:t>，这是软件生产的主要阶段。</a:t>
            </a:r>
            <a:endParaRPr lang="en-US" altLang="zh-CN" smtClean="0"/>
          </a:p>
          <a:p>
            <a:endParaRPr lang="en-US" altLang="zh-CN" smtClean="0"/>
          </a:p>
          <a:p>
            <a:r>
              <a:rPr lang="zh-CN" altLang="en-US" smtClean="0"/>
              <a:t>运行和维护阶段主要是在软件产品的使用过程中的一些工作，这个阶段虽然工作不是很多，但是可能会持续很长的时间。</a:t>
            </a:r>
            <a:endParaRPr lang="zh-CN" altLang="en-US"/>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ISO 12207为软件从构思到报废的寿命周期过程提供了框架。共</a:t>
            </a:r>
            <a:r>
              <a:rPr lang="en-US" altLang="zh-CN"/>
              <a:t>3</a:t>
            </a:r>
            <a:r>
              <a:rPr lang="zh-CN" altLang="en-US"/>
              <a:t>类</a:t>
            </a:r>
            <a:r>
              <a:rPr lang="en-US" altLang="zh-CN"/>
              <a:t>17</a:t>
            </a:r>
            <a:r>
              <a:rPr lang="zh-CN" altLang="en-US"/>
              <a:t>个过程。</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提问学生，思考回答问题</a:t>
            </a:r>
            <a:endParaRPr lang="zh-CN" altLang="en-US"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B</a:t>
            </a:r>
            <a:r>
              <a:rPr lang="zh-CN" altLang="en-US" dirty="0" smtClean="0"/>
              <a:t>公司通过可行性研究，得到该项目是可行的。</a:t>
            </a:r>
            <a:endParaRPr lang="zh-CN" altLang="en-US"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这一步是整个系统开发的关键，决定了开发的内容和方向</a:t>
            </a:r>
            <a:endParaRPr lang="en-US" altLang="zh-CN" dirty="0" smtClean="0"/>
          </a:p>
          <a:p>
            <a:endParaRPr lang="en-US" altLang="zh-CN" dirty="0" smtClean="0"/>
          </a:p>
          <a:p>
            <a:r>
              <a:rPr lang="zh-CN" altLang="en-US" dirty="0" smtClean="0"/>
              <a:t>通过需求分析，能够使开发者了解清楚目标系统的功能范围、用户、性能要求、条件和限制等，对于后续的开发工作起到决定性的基础作用。</a:t>
            </a:r>
            <a:endParaRPr lang="en-US" altLang="zh-CN" dirty="0" smtClean="0"/>
          </a:p>
          <a:p>
            <a:endParaRPr lang="en-US" altLang="zh-CN" dirty="0" smtClean="0"/>
          </a:p>
          <a:p>
            <a:pPr>
              <a:lnSpc>
                <a:spcPct val="150000"/>
              </a:lnSpc>
            </a:pPr>
            <a:r>
              <a:rPr lang="zh-CN" altLang="en-US" sz="800" dirty="0" smtClean="0"/>
              <a:t>需求是指，为了解决用户提出的问题，目标系统需要做什么。</a:t>
            </a:r>
            <a:endParaRPr lang="en-US" altLang="zh-CN" sz="800" dirty="0" smtClean="0"/>
          </a:p>
          <a:p>
            <a:pPr>
              <a:lnSpc>
                <a:spcPct val="150000"/>
              </a:lnSpc>
            </a:pPr>
            <a:r>
              <a:rPr lang="zh-CN" altLang="en-US" sz="800" dirty="0" smtClean="0"/>
              <a:t>需求分析是否准确和成功，直接关系到后续的软件开发的成败。</a:t>
            </a:r>
            <a:endParaRPr lang="en-US" altLang="zh-CN" sz="800" dirty="0" smtClean="0"/>
          </a:p>
          <a:p>
            <a:pPr>
              <a:lnSpc>
                <a:spcPct val="150000"/>
              </a:lnSpc>
            </a:pPr>
            <a:r>
              <a:rPr lang="zh-CN" altLang="en-US" sz="800" dirty="0" smtClean="0"/>
              <a:t>通过各种途径对需求进行获取，得到正确和详尽的需求。</a:t>
            </a:r>
            <a:endParaRPr lang="en-US" altLang="zh-CN" sz="800" dirty="0" smtClean="0"/>
          </a:p>
          <a:p>
            <a:pPr>
              <a:lnSpc>
                <a:spcPct val="150000"/>
              </a:lnSpc>
            </a:pPr>
            <a:r>
              <a:rPr lang="zh-CN" altLang="en-US" sz="800" dirty="0" smtClean="0"/>
              <a:t>对原始的需求进行抽象与概括，从功能、性能、界面和接口等诸多方面对需求进行详细的描述，并最终反映到软件需求规格说明书中。</a:t>
            </a:r>
            <a:endParaRPr lang="zh-CN" altLang="zh-CN" sz="800" dirty="0" smtClean="0"/>
          </a:p>
          <a:p>
            <a:endParaRPr lang="en-US" altLang="zh-CN" dirty="0" smtClean="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这一步是根据前面需求分析的结果，进行系统设计，首先从总体方面开始设计，如：系统架构的设计、模块的划分、数据库设计、用户界面的设计等。</a:t>
            </a:r>
            <a:endParaRPr lang="en-US" altLang="zh-CN" dirty="0" smtClean="0"/>
          </a:p>
          <a:p>
            <a:endParaRPr lang="en-US" altLang="zh-CN" dirty="0" smtClean="0"/>
          </a:p>
          <a:p>
            <a:r>
              <a:rPr lang="zh-CN" altLang="en-US" dirty="0" smtClean="0"/>
              <a:t>还未涉及到模块的内部细节。</a:t>
            </a:r>
            <a:endParaRPr lang="zh-CN" altLang="en-US"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这一步就是设计系统的细节内容了，包括模块内部的算法流程和数据结构，特别是业务逻辑部分的算法设计，使得系统更加的具体。</a:t>
            </a:r>
            <a:endParaRPr lang="zh-CN" altLang="en-US"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经过前面的设计工作，整个系统的模型、骨架、基础数据和各模块的细节都已经完成，需要用程序代码来实现。</a:t>
            </a:r>
            <a:endParaRPr lang="en-US" altLang="zh-CN" dirty="0" smtClean="0"/>
          </a:p>
          <a:p>
            <a:r>
              <a:rPr lang="zh-CN" altLang="en-US" dirty="0" smtClean="0"/>
              <a:t>编码的过程就是把详细设计文档中对每个模块实现过程的算法描述转换为能用某种程序设计语言来实现的程序。</a:t>
            </a:r>
            <a:endParaRPr lang="zh-CN" altLang="en-US" dirty="0" smtClean="0"/>
          </a:p>
          <a:p>
            <a:r>
              <a:rPr lang="zh-CN" altLang="en-US" dirty="0" smtClean="0"/>
              <a:t>在规范的软件开发过程中，编码必须遵守一定的标准，这样有助于团队开发，同时能够提高代码的质量。</a:t>
            </a:r>
            <a:endParaRPr lang="zh-CN" altLang="en-US" dirty="0" smtClean="0"/>
          </a:p>
          <a:p>
            <a:endParaRPr lang="en-US" altLang="zh-CN" dirty="0" smtClean="0"/>
          </a:p>
          <a:p>
            <a:r>
              <a:rPr lang="zh-CN" altLang="en-US" dirty="0" smtClean="0"/>
              <a:t>设计工作做的好，编码会比较容易，但是编程的时候还需要注意很多问题。</a:t>
            </a:r>
            <a:endParaRPr lang="en-US" altLang="zh-CN" dirty="0" smtClean="0"/>
          </a:p>
          <a:p>
            <a:r>
              <a:rPr lang="zh-CN" altLang="en-US" dirty="0" smtClean="0"/>
              <a:t>编程也是我们前期课程中的内容，大家已经学过一些基础了，但是，那只是一些比较小的程序段，实现简单的功能，现在要做的是一个整体，一个系统，包括很多的功能，需要学习很多实际开发的技术，比如框架的使用，如何编写易理解、易维护的代码。编码的风格和习惯，以及设计模式的使用等。这些内容在大家需要在本学期的高级编程课程中学习，也可以根据自己的需要借助网络资源学习。</a:t>
            </a:r>
            <a:endParaRPr lang="en-US" altLang="zh-CN" dirty="0" smtClean="0"/>
          </a:p>
          <a:p>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smtClean="0"/>
              <a:t>这是一个日积月累的过程，在编写程序的过程中出现了错误是正常的，需要多动手勤思考，培养良好的编程习惯，总结经验教训，逐步提高。借用一个名句“</a:t>
            </a:r>
            <a:r>
              <a:rPr lang="zh-CN" altLang="zh-CN" sz="1200" kern="1200" dirty="0" smtClean="0">
                <a:solidFill>
                  <a:schemeClr val="tx1"/>
                </a:solidFill>
                <a:effectLst/>
                <a:latin typeface="+mn-lt"/>
                <a:ea typeface="+mn-ea"/>
                <a:cs typeface="+mn-cs"/>
              </a:rPr>
              <a:t>不积跬步，无以致千里；不积小流，无以成江海。骐骥一跃，不能十步，驽马十驾，功在不舍。</a:t>
            </a:r>
            <a:r>
              <a:rPr lang="zh-CN" altLang="en-US" dirty="0" smtClean="0"/>
              <a:t>”不要小看或者忽略软件中存在的小错误，如果不关注并改正，可能在今后会留下很大的隐患。</a:t>
            </a:r>
            <a:r>
              <a:rPr lang="zh-CN" altLang="en-US" b="1" dirty="0" smtClean="0"/>
              <a:t>这在历史上的例子也是不少的，比如，卫星的轨道计算只是小数点以后几位的一个数字错误，导致整个卫星报废等。这也是辩证法的量变引起质变的规律的印证。</a:t>
            </a:r>
            <a:endParaRPr lang="en-US" altLang="zh-CN" b="1" dirty="0" smtClean="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smtClean="0"/>
          </a:p>
          <a:p>
            <a:r>
              <a:rPr lang="zh-CN" altLang="en-US" dirty="0" smtClean="0"/>
              <a:t>编码过程中还要进行单元测试，保证自己编写的模块能够正确运行。</a:t>
            </a:r>
            <a:endParaRPr lang="zh-CN" altLang="en-US"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这一阶段是要将已经通过单元测试的代码组装之后进行测试，可以使用专门的测试工具，按照专门的测试方法进行测试，通过测试的软件可以让用户进行验收。</a:t>
            </a:r>
            <a:endParaRPr lang="en-US" altLang="zh-CN" dirty="0" smtClean="0"/>
          </a:p>
          <a:p>
            <a:endParaRPr lang="en-US" altLang="zh-CN" dirty="0" smtClean="0"/>
          </a:p>
          <a:p>
            <a:r>
              <a:rPr lang="zh-CN" altLang="en-US" dirty="0" smtClean="0"/>
              <a:t>验收完成后即可交付使用。</a:t>
            </a:r>
            <a:endParaRPr lang="zh-CN" altLang="en-US"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系统的维护工作是在系统投入使用的整个过程中持续进行的工作，前期主要是进行改正性和适应性维护，慢慢转向完善性维护。</a:t>
            </a:r>
            <a:endParaRPr lang="zh-CN" altLang="en-US"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通过提问的方式总结，让学生有深刻的印象</a:t>
            </a:r>
            <a:endParaRPr lang="en-US" altLang="zh-CN" smtClean="0"/>
          </a:p>
          <a:p>
            <a:endParaRPr lang="en-US" altLang="zh-CN" smtClean="0"/>
          </a:p>
          <a:p>
            <a:r>
              <a:rPr lang="zh-CN" altLang="en-US" smtClean="0"/>
              <a:t>这</a:t>
            </a:r>
            <a:r>
              <a:rPr lang="zh-CN" altLang="en-US" dirty="0" smtClean="0"/>
              <a:t>是对整个软件生命周期的总结，以及涉及的人员，可以看到前期的分析和设计工作和后期的具体实现、测试、维护的工作是由不同角色的开发</a:t>
            </a:r>
            <a:r>
              <a:rPr lang="zh-CN" altLang="en-US" smtClean="0"/>
              <a:t>人员参与的</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通过这些问题的思考，大家应该对软件生命周期各阶段的任务有了比较明确的认识了。那么我们来布置一下课程实习的相关任务。</a:t>
            </a:r>
            <a:endParaRPr lang="en-US" altLang="zh-CN" dirty="0" smtClean="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此外，还有喷泉模型、增量模型等</a:t>
            </a:r>
            <a:endParaRPr lang="zh-CN" altLang="en-US" dirty="0"/>
          </a:p>
        </p:txBody>
      </p:sp>
      <p:sp>
        <p:nvSpPr>
          <p:cNvPr id="4" name="灯片编号占位符 3"/>
          <p:cNvSpPr>
            <a:spLocks noGrp="1"/>
          </p:cNvSpPr>
          <p:nvPr>
            <p:ph type="sldNum" sz="quarter" idx="5"/>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TextEdit="1"/>
          </p:cNvSpPr>
          <p:nvPr>
            <p:ph type="sldImg"/>
          </p:nvPr>
        </p:nvSpPr>
        <p:spPr bwMode="auto">
          <a:noFill/>
          <a:ln>
            <a:solidFill>
              <a:srgbClr val="000000"/>
            </a:solidFill>
            <a:miter lim="800000"/>
          </a:ln>
        </p:spPr>
      </p:sp>
      <p:sp>
        <p:nvSpPr>
          <p:cNvPr id="104451" name="Rectangle 3"/>
          <p:cNvSpPr>
            <a:spLocks noGrp="1"/>
          </p:cNvSpPr>
          <p:nvPr>
            <p:ph type="body" idx="1"/>
          </p:nvPr>
        </p:nvSpPr>
        <p:spPr bwMode="auto">
          <a:noFill/>
        </p:spPr>
        <p:txBody>
          <a:bodyPr wrap="square" numCol="1" anchor="t" anchorCtr="0" compatLnSpc="1"/>
          <a:lstStyle/>
          <a:p>
            <a:pPr marL="457200" indent="-457200">
              <a:spcBef>
                <a:spcPct val="50000"/>
              </a:spcBef>
              <a:buClr>
                <a:srgbClr val="FF3300"/>
              </a:buClr>
              <a:buFont typeface="Arial" panose="020B0604020202020204" pitchFamily="34" charset="0"/>
              <a:buChar char="•"/>
              <a:defRPr/>
            </a:pPr>
            <a:r>
              <a:rPr kumimoji="0" lang="zh-CN" altLang="en-US" b="0" dirty="0">
                <a:solidFill>
                  <a:srgbClr val="000000"/>
                </a:solidFill>
                <a:effectLst/>
                <a:latin typeface="Arial" panose="020B0604020202020204" pitchFamily="34" charset="0"/>
                <a:ea typeface="楷体_GB2312" pitchFamily="49" charset="-122"/>
              </a:rPr>
              <a:t>瀑布模型的缺陷：</a:t>
            </a:r>
            <a:endParaRPr kumimoji="0" lang="en-US" altLang="zh-CN" b="0" dirty="0">
              <a:solidFill>
                <a:srgbClr val="000000"/>
              </a:solidFill>
              <a:effectLst/>
              <a:latin typeface="Arial" panose="020B0604020202020204" pitchFamily="34" charset="0"/>
              <a:ea typeface="楷体_GB2312" pitchFamily="49" charset="-122"/>
            </a:endParaRPr>
          </a:p>
          <a:p>
            <a:pPr marL="657225" lvl="0" indent="-457200">
              <a:spcBef>
                <a:spcPct val="50000"/>
              </a:spcBef>
              <a:buClr>
                <a:srgbClr val="FF3300"/>
              </a:buClr>
              <a:buFont typeface="Wingdings 2" panose="05020102010507070707" pitchFamily="18" charset="2"/>
              <a:buAutoNum type="circleNumDbPlain"/>
              <a:defRPr/>
            </a:pPr>
            <a:r>
              <a:rPr kumimoji="0" lang="zh-CN" altLang="en-US" b="0" dirty="0">
                <a:solidFill>
                  <a:srgbClr val="000000"/>
                </a:solidFill>
                <a:effectLst/>
                <a:latin typeface="Arial" panose="020B0604020202020204" pitchFamily="34" charset="0"/>
                <a:ea typeface="楷体_GB2312" pitchFamily="49" charset="-122"/>
              </a:rPr>
              <a:t>由于开发模型呈线性，所以当开发成果尚未经过测试时，用户无法看到软件的效果。这样软件与用户见面的时间间隔较长，也增加了一定的风险。</a:t>
            </a:r>
            <a:endParaRPr kumimoji="0" lang="zh-CN" altLang="en-US" b="0" dirty="0">
              <a:solidFill>
                <a:srgbClr val="000000"/>
              </a:solidFill>
              <a:effectLst/>
              <a:latin typeface="Arial" panose="020B0604020202020204" pitchFamily="34" charset="0"/>
              <a:ea typeface="楷体_GB2312" pitchFamily="49" charset="-122"/>
            </a:endParaRPr>
          </a:p>
          <a:p>
            <a:pPr marL="657225" lvl="0" indent="-457200">
              <a:spcBef>
                <a:spcPct val="50000"/>
              </a:spcBef>
              <a:buClr>
                <a:srgbClr val="FF3300"/>
              </a:buClr>
              <a:buFont typeface="Wingdings 2" panose="05020102010507070707" pitchFamily="18" charset="2"/>
              <a:buAutoNum type="circleNumDbPlain"/>
              <a:defRPr/>
            </a:pPr>
            <a:r>
              <a:rPr kumimoji="0" lang="zh-CN" altLang="en-US" b="0" dirty="0">
                <a:solidFill>
                  <a:srgbClr val="000000"/>
                </a:solidFill>
                <a:effectLst/>
                <a:latin typeface="Arial" panose="020B0604020202020204" pitchFamily="34" charset="0"/>
                <a:ea typeface="楷体_GB2312" pitchFamily="49" charset="-122"/>
              </a:rPr>
              <a:t>在软件需求分析阶段，完全确定用户的所有需求是比较困难的，甚至可以说是不太可能的。 </a:t>
            </a:r>
            <a:endParaRPr kumimoji="0" lang="zh-CN" altLang="en-US" b="0" dirty="0">
              <a:solidFill>
                <a:srgbClr val="000000"/>
              </a:solidFill>
              <a:effectLst/>
              <a:latin typeface="Arial" panose="020B0604020202020204" pitchFamily="34" charset="0"/>
              <a:ea typeface="楷体_GB2312" pitchFamily="49"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TextEdit="1"/>
          </p:cNvSpPr>
          <p:nvPr>
            <p:ph type="sldImg"/>
          </p:nvPr>
        </p:nvSpPr>
        <p:spPr bwMode="auto">
          <a:noFill/>
          <a:ln>
            <a:solidFill>
              <a:srgbClr val="000000"/>
            </a:solidFill>
            <a:miter lim="800000"/>
          </a:ln>
        </p:spPr>
      </p:sp>
      <p:sp>
        <p:nvSpPr>
          <p:cNvPr id="105475" name="Rectangle 3"/>
          <p:cNvSpPr>
            <a:spLocks noGrp="1"/>
          </p:cNvSpPr>
          <p:nvPr>
            <p:ph type="body" idx="1"/>
          </p:nvPr>
        </p:nvSpPr>
        <p:spPr bwMode="auto">
          <a:noFill/>
        </p:spPr>
        <p:txBody>
          <a:bodyPr wrap="square" numCol="1" anchor="t" anchorCtr="0" compatLnSpc="1"/>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sz="1200" b="0" dirty="0">
                <a:solidFill>
                  <a:srgbClr val="000000"/>
                </a:solidFill>
                <a:ea typeface="楷体_GB2312" pitchFamily="49" charset="-122"/>
              </a:rPr>
              <a:t>原型是指模拟某种产品的原始模型。</a:t>
            </a:r>
            <a:endParaRPr lang="en-US" altLang="zh-CN" sz="1200" b="0" dirty="0">
              <a:solidFill>
                <a:srgbClr val="000000"/>
              </a:solidFill>
              <a:ea typeface="楷体_GB2312" pitchFamily="49" charset="-122"/>
            </a:endParaRPr>
          </a:p>
          <a:p>
            <a:pPr marL="0" marR="0" lvl="0" indent="0" algn="l" defTabSz="914400" rtl="0" eaLnBrk="1" fontAlgn="base" latinLnBrk="0" hangingPunct="1">
              <a:lnSpc>
                <a:spcPct val="100000"/>
              </a:lnSpc>
              <a:spcBef>
                <a:spcPct val="30000"/>
              </a:spcBef>
              <a:spcAft>
                <a:spcPct val="0"/>
              </a:spcAft>
              <a:buClrTx/>
              <a:buSzTx/>
              <a:buFontTx/>
              <a:buNone/>
              <a:defRPr/>
            </a:pPr>
            <a:r>
              <a:rPr lang="zh-CN" altLang="en-US" sz="1200" b="0" dirty="0">
                <a:solidFill>
                  <a:srgbClr val="000000"/>
                </a:solidFill>
                <a:ea typeface="楷体_GB2312" pitchFamily="49" charset="-122"/>
              </a:rPr>
              <a:t>而在软件开发中，原型是软件的一个早期可运行版本。</a:t>
            </a:r>
            <a:endParaRPr lang="en-US" altLang="zh-CN" sz="1200" b="0" dirty="0">
              <a:solidFill>
                <a:srgbClr val="000000"/>
              </a:solidFill>
              <a:ea typeface="楷体_GB2312" pitchFamily="49" charset="-122"/>
            </a:endParaRPr>
          </a:p>
          <a:p>
            <a:pPr marL="0" marR="0" lvl="0" indent="0" algn="l" defTabSz="914400" rtl="0" eaLnBrk="1" fontAlgn="base" latinLnBrk="0" hangingPunct="1">
              <a:lnSpc>
                <a:spcPct val="100000"/>
              </a:lnSpc>
              <a:spcBef>
                <a:spcPct val="30000"/>
              </a:spcBef>
              <a:spcAft>
                <a:spcPct val="0"/>
              </a:spcAft>
              <a:buClrTx/>
              <a:buSzTx/>
              <a:buFontTx/>
              <a:buNone/>
              <a:defRPr/>
            </a:pPr>
            <a:r>
              <a:rPr lang="zh-CN" altLang="en-US" sz="1200" b="0" dirty="0">
                <a:solidFill>
                  <a:srgbClr val="000000"/>
                </a:solidFill>
                <a:ea typeface="楷体_GB2312" pitchFamily="49" charset="-122"/>
              </a:rPr>
              <a:t>快速原型法是根据软件需求迅速地产生软件产品的系统的一个原型，该原型能够表现出目标系统的功能和行为特性，但不一定符合其全部的实现需求。</a:t>
            </a:r>
            <a:endParaRPr lang="en-US" altLang="zh-CN" sz="1200" b="0" dirty="0">
              <a:solidFill>
                <a:srgbClr val="000000"/>
              </a:solidFill>
              <a:ea typeface="楷体_GB2312" pitchFamily="49" charset="-122"/>
            </a:endParaRPr>
          </a:p>
          <a:p>
            <a:pPr marL="0" marR="0" lvl="0" indent="0" algn="l" defTabSz="914400" rtl="0" eaLnBrk="1" fontAlgn="base" latinLnBrk="0" hangingPunct="1">
              <a:lnSpc>
                <a:spcPct val="100000"/>
              </a:lnSpc>
              <a:spcBef>
                <a:spcPct val="30000"/>
              </a:spcBef>
              <a:spcAft>
                <a:spcPct val="0"/>
              </a:spcAft>
              <a:buClrTx/>
              <a:buSzTx/>
              <a:buFontTx/>
              <a:buNone/>
              <a:defRPr/>
            </a:pPr>
            <a:r>
              <a:rPr lang="zh-CN" altLang="en-US" sz="1200" b="0" dirty="0">
                <a:solidFill>
                  <a:srgbClr val="000000"/>
                </a:solidFill>
                <a:ea typeface="楷体_GB2312" pitchFamily="49" charset="-122"/>
              </a:rPr>
              <a:t>用户可通过原型作出评价，开发者根据用户的意见对原型加以修改，这样能够尽早的获得更完整、更准确的需求和设计。</a:t>
            </a:r>
            <a:endParaRPr lang="zh-CN" altLang="en-US" sz="1200" b="0" dirty="0">
              <a:solidFill>
                <a:srgbClr val="000000"/>
              </a:solidFill>
              <a:ea typeface="楷体_GB2312" pitchFamily="49" charset="-122"/>
            </a:endParaRPr>
          </a:p>
          <a:p>
            <a:endParaRPr lang="zh-CN" altLang="en-US" b="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D2B12BBF-56D5-4E6D-A723-2C2A21E54C5A}" type="slidenum">
              <a:rPr lang="zh-CN" altLang="en-US" sz="1200" smtClean="0">
                <a:solidFill>
                  <a:prstClr val="black"/>
                </a:solidFill>
                <a:latin typeface="Times New Roman" panose="02020603050405020304" pitchFamily="18" charset="0"/>
              </a:rPr>
            </a:fld>
            <a:endParaRPr lang="en-US" altLang="zh-CN" sz="1200">
              <a:solidFill>
                <a:prstClr val="black"/>
              </a:solidFill>
              <a:latin typeface="Times New Roman" panose="02020603050405020304" pitchFamily="18" charset="0"/>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TextEdit="1"/>
          </p:cNvSpPr>
          <p:nvPr>
            <p:ph type="sldImg"/>
          </p:nvPr>
        </p:nvSpPr>
        <p:spPr bwMode="auto">
          <a:noFill/>
          <a:ln>
            <a:solidFill>
              <a:srgbClr val="000000"/>
            </a:solidFill>
            <a:miter lim="800000"/>
          </a:ln>
        </p:spPr>
      </p:sp>
      <p:sp>
        <p:nvSpPr>
          <p:cNvPr id="106499" name="Rectangle 3"/>
          <p:cNvSpPr>
            <a:spLocks noGrp="1"/>
          </p:cNvSpPr>
          <p:nvPr>
            <p:ph type="body" idx="1"/>
          </p:nvPr>
        </p:nvSpPr>
        <p:spPr bwMode="auto">
          <a:noFill/>
        </p:spPr>
        <p:txBody>
          <a:bodyPr wrap="square" numCol="1" anchor="t" anchorCtr="0" compatLnSpc="1"/>
          <a:lstStyle/>
          <a:p>
            <a:endParaRPr lang="zh-CN" altLang="en-US" b="1">
              <a:solidFill>
                <a:srgbClr val="0033CC"/>
              </a:solidFill>
              <a:latin typeface="隶书" panose="02010509060101010101" pitchFamily="49" charset="-122"/>
              <a:ea typeface="隶书" panose="02010509060101010101" pitchFamily="49"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TextEdit="1"/>
          </p:cNvSpPr>
          <p:nvPr>
            <p:ph type="sldImg"/>
          </p:nvPr>
        </p:nvSpPr>
        <p:spPr bwMode="auto">
          <a:noFill/>
          <a:ln>
            <a:solidFill>
              <a:srgbClr val="000000"/>
            </a:solidFill>
            <a:miter lim="800000"/>
          </a:ln>
        </p:spPr>
      </p:sp>
      <p:sp>
        <p:nvSpPr>
          <p:cNvPr id="106499" name="Rectangle 3"/>
          <p:cNvSpPr>
            <a:spLocks noGrp="1"/>
          </p:cNvSpPr>
          <p:nvPr>
            <p:ph type="body" idx="1"/>
          </p:nvPr>
        </p:nvSpPr>
        <p:spPr bwMode="auto">
          <a:noFill/>
        </p:spPr>
        <p:txBody>
          <a:bodyPr wrap="square" numCol="1" anchor="t" anchorCtr="0" compatLnSpc="1"/>
          <a:lstStyle/>
          <a:p>
            <a:endParaRPr lang="zh-CN" altLang="en-US" b="1">
              <a:solidFill>
                <a:srgbClr val="0033CC"/>
              </a:solidFill>
              <a:latin typeface="隶书" panose="02010509060101010101" pitchFamily="49" charset="-122"/>
              <a:ea typeface="隶书" panose="02010509060101010101" pitchFamily="49"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TextEdit="1"/>
          </p:cNvSpPr>
          <p:nvPr>
            <p:ph type="sldImg"/>
          </p:nvPr>
        </p:nvSpPr>
        <p:spPr bwMode="auto">
          <a:noFill/>
          <a:ln>
            <a:solidFill>
              <a:srgbClr val="000000"/>
            </a:solidFill>
            <a:miter lim="800000"/>
          </a:ln>
        </p:spPr>
      </p:sp>
      <p:sp>
        <p:nvSpPr>
          <p:cNvPr id="106499" name="Rectangle 3"/>
          <p:cNvSpPr>
            <a:spLocks noGrp="1"/>
          </p:cNvSpPr>
          <p:nvPr>
            <p:ph type="body" idx="1"/>
          </p:nvPr>
        </p:nvSpPr>
        <p:spPr bwMode="auto">
          <a:noFill/>
        </p:spPr>
        <p:txBody>
          <a:bodyPr wrap="square" numCol="1" anchor="t" anchorCtr="0" compatLnSpc="1"/>
          <a:lstStyle/>
          <a:p>
            <a:endParaRPr lang="zh-CN" altLang="en-US" b="1">
              <a:solidFill>
                <a:srgbClr val="0033CC"/>
              </a:solidFill>
              <a:latin typeface="隶书" panose="02010509060101010101" pitchFamily="49" charset="-122"/>
              <a:ea typeface="隶书" panose="02010509060101010101" pitchFamily="49"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瀑布模型</a:t>
            </a:r>
            <a:endParaRPr lang="zh-CN" altLang="en-US" dirty="0"/>
          </a:p>
        </p:txBody>
      </p:sp>
      <p:sp>
        <p:nvSpPr>
          <p:cNvPr id="4" name="灯片编号占位符 3"/>
          <p:cNvSpPr>
            <a:spLocks noGrp="1"/>
          </p:cNvSpPr>
          <p:nvPr>
            <p:ph type="sldNum" sz="quarter" idx="5"/>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快速原型模型</a:t>
            </a:r>
            <a:endParaRPr lang="zh-CN" altLang="en-US" dirty="0"/>
          </a:p>
        </p:txBody>
      </p:sp>
      <p:sp>
        <p:nvSpPr>
          <p:cNvPr id="4" name="灯片编号占位符 3"/>
          <p:cNvSpPr>
            <a:spLocks noGrp="1"/>
          </p:cNvSpPr>
          <p:nvPr>
            <p:ph type="sldNum" sz="quarter" idx="5"/>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effectLst/>
                <a:sym typeface="+mn-ea"/>
              </a:rPr>
              <a:t>1</a:t>
            </a:r>
            <a:r>
              <a:rPr lang="zh-CN" altLang="zh-CN" dirty="0">
                <a:effectLst/>
                <a:sym typeface="+mn-ea"/>
              </a:rPr>
              <a:t>、原型方法适用于用户需求不清、需求经常变化的情况，可以帮助导出系统需求并验证需求的有效性；</a:t>
            </a:r>
            <a:endParaRPr lang="zh-CN" altLang="zh-CN" kern="1200" dirty="0">
              <a:solidFill>
                <a:schemeClr val="tx1"/>
              </a:solidFill>
              <a:effectLst/>
              <a:latin typeface="+mn-lt"/>
              <a:ea typeface="+mn-ea"/>
              <a:cs typeface="+mn-cs"/>
            </a:endParaRPr>
          </a:p>
          <a:p>
            <a:r>
              <a:rPr lang="en-US" altLang="zh-CN" dirty="0">
                <a:effectLst/>
                <a:sym typeface="+mn-ea"/>
              </a:rPr>
              <a:t>2</a:t>
            </a:r>
            <a:r>
              <a:rPr lang="zh-CN" altLang="zh-CN" dirty="0">
                <a:effectLst/>
                <a:sym typeface="+mn-ea"/>
              </a:rPr>
              <a:t>、探索型原型的目的是弄清目标的要求，确定所希望的特性，并探讨多种方案的可行性，可以用来探索特殊的软件解决方案；</a:t>
            </a:r>
            <a:endParaRPr lang="zh-CN" altLang="zh-CN" kern="1200" dirty="0">
              <a:solidFill>
                <a:schemeClr val="tx1"/>
              </a:solidFill>
              <a:effectLst/>
              <a:latin typeface="+mn-lt"/>
              <a:ea typeface="+mn-ea"/>
              <a:cs typeface="+mn-cs"/>
            </a:endParaRPr>
          </a:p>
          <a:p>
            <a:r>
              <a:rPr lang="en-US" altLang="zh-CN" dirty="0">
                <a:effectLst/>
                <a:sym typeface="+mn-ea"/>
              </a:rPr>
              <a:t>3</a:t>
            </a:r>
            <a:r>
              <a:rPr lang="zh-CN" altLang="zh-CN" dirty="0">
                <a:effectLst/>
                <a:sym typeface="+mn-ea"/>
              </a:rPr>
              <a:t>、原型法能够迅速地开发出一个让用户看得见的系统框架，可以用来支持用户界面设计。</a:t>
            </a:r>
            <a:endParaRPr lang="zh-CN" altLang="zh-CN" kern="1200" dirty="0">
              <a:solidFill>
                <a:schemeClr val="tx1"/>
              </a:solidFill>
              <a:effectLst/>
              <a:latin typeface="+mn-lt"/>
              <a:ea typeface="+mn-ea"/>
              <a:cs typeface="+mn-cs"/>
            </a:endParaRPr>
          </a:p>
          <a:p>
            <a:r>
              <a:rPr lang="zh-CN" altLang="zh-CN" dirty="0">
                <a:effectLst/>
                <a:sym typeface="+mn-ea"/>
              </a:rPr>
              <a:t>原型法不能用来指导代码优化。</a:t>
            </a:r>
            <a:endParaRPr lang="zh-CN" altLang="zh-CN" kern="1200" dirty="0">
              <a:solidFill>
                <a:schemeClr val="tx1"/>
              </a:solidFill>
              <a:effectLst/>
              <a:latin typeface="+mn-lt"/>
              <a:ea typeface="+mn-ea"/>
              <a:cs typeface="+mn-cs"/>
            </a:endParaRPr>
          </a:p>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TextEdit="1"/>
          </p:cNvSpPr>
          <p:nvPr>
            <p:ph type="sldImg"/>
          </p:nvPr>
        </p:nvSpPr>
        <p:spPr bwMode="auto">
          <a:noFill/>
          <a:ln>
            <a:solidFill>
              <a:srgbClr val="000000"/>
            </a:solidFill>
            <a:miter lim="800000"/>
          </a:ln>
        </p:spPr>
      </p:sp>
      <p:sp>
        <p:nvSpPr>
          <p:cNvPr id="107523" name="Rectangle 3"/>
          <p:cNvSpPr>
            <a:spLocks noGrp="1"/>
          </p:cNvSpPr>
          <p:nvPr>
            <p:ph type="body" idx="1"/>
          </p:nvPr>
        </p:nvSpPr>
        <p:spPr bwMode="auto">
          <a:noFill/>
        </p:spPr>
        <p:txBody>
          <a:bodyPr wrap="square" numCol="1" anchor="t" anchorCtr="0" compatLnSpc="1"/>
          <a:lstStyle/>
          <a:p>
            <a:pPr marL="0" marR="0" lvl="0" indent="0" algn="l" defTabSz="514350" rtl="0" eaLnBrk="1" fontAlgn="auto" latinLnBrk="0" hangingPunct="1">
              <a:lnSpc>
                <a:spcPct val="100000"/>
              </a:lnSpc>
              <a:spcBef>
                <a:spcPts val="0"/>
              </a:spcBef>
              <a:spcAft>
                <a:spcPts val="0"/>
              </a:spcAft>
              <a:buClrTx/>
              <a:buSzTx/>
              <a:buFontTx/>
              <a:buNone/>
              <a:defRPr/>
            </a:pPr>
            <a:r>
              <a:rPr lang="zh-CN" altLang="zh-CN" sz="800" dirty="0"/>
              <a:t>相对于瀑布模型而言，采用增量模型进行开发，开发人员不需要一次性地把整个软件产品提交给用户，而是可以分批次进行提交。</a:t>
            </a:r>
            <a:endParaRPr lang="zh-CN" altLang="zh-CN" sz="800" dirty="0"/>
          </a:p>
          <a:p>
            <a:endParaRPr lang="zh-CN" altLang="en-US" b="1"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indent="-342900">
              <a:spcBef>
                <a:spcPct val="40000"/>
              </a:spcBef>
              <a:buClr>
                <a:srgbClr val="FF0000"/>
              </a:buClr>
              <a:buFont typeface="Arial" panose="020B0604020202020204" pitchFamily="34" charset="0"/>
              <a:buChar char="•"/>
              <a:defRPr/>
            </a:pPr>
            <a:r>
              <a:rPr lang="zh-CN" altLang="en-US" sz="1200" b="0" dirty="0">
                <a:solidFill>
                  <a:schemeClr val="hlink"/>
                </a:solidFill>
                <a:effectLst>
                  <a:outerShdw blurRad="38100" dist="38100" dir="2700000" algn="tl">
                    <a:srgbClr val="C0C0C0"/>
                  </a:outerShdw>
                </a:effectLst>
                <a:latin typeface="华文行楷" panose="02010800040101010101" pitchFamily="2" charset="-122"/>
                <a:ea typeface="华文行楷" panose="02010800040101010101" pitchFamily="2" charset="-122"/>
              </a:rPr>
              <a:t>增量模型的构建原理：</a:t>
            </a:r>
            <a:endParaRPr lang="en-US" altLang="zh-CN" b="0" dirty="0">
              <a:solidFill>
                <a:srgbClr val="000000"/>
              </a:solidFill>
              <a:ea typeface="楷体_GB2312" pitchFamily="49" charset="-122"/>
            </a:endParaRPr>
          </a:p>
          <a:p>
            <a:pPr marL="342900" indent="-342900">
              <a:spcBef>
                <a:spcPct val="40000"/>
              </a:spcBef>
              <a:buClr>
                <a:srgbClr val="FF0000"/>
              </a:buClr>
              <a:buFont typeface="+mj-lt"/>
              <a:buAutoNum type="arabicPeriod"/>
              <a:defRPr/>
            </a:pPr>
            <a:r>
              <a:rPr lang="zh-CN" altLang="en-US" b="0" dirty="0">
                <a:solidFill>
                  <a:srgbClr val="000000"/>
                </a:solidFill>
                <a:ea typeface="楷体_GB2312" pitchFamily="49" charset="-122"/>
              </a:rPr>
              <a:t>融合了线性顺序模型的基本成份和原型实现模型的迭代特征。</a:t>
            </a:r>
            <a:endParaRPr lang="zh-CN" altLang="en-US" b="0" dirty="0">
              <a:solidFill>
                <a:srgbClr val="000000"/>
              </a:solidFill>
              <a:ea typeface="楷体_GB2312" pitchFamily="49" charset="-122"/>
            </a:endParaRPr>
          </a:p>
          <a:p>
            <a:pPr marL="342900" indent="-342900">
              <a:spcBef>
                <a:spcPct val="40000"/>
              </a:spcBef>
              <a:buClr>
                <a:srgbClr val="FF0000"/>
              </a:buClr>
              <a:buFont typeface="+mj-lt"/>
              <a:buAutoNum type="arabicPeriod"/>
              <a:defRPr/>
            </a:pPr>
            <a:r>
              <a:rPr lang="zh-CN" altLang="en-US" b="0" dirty="0">
                <a:solidFill>
                  <a:srgbClr val="000000"/>
                </a:solidFill>
                <a:ea typeface="楷体_GB2312" pitchFamily="49" charset="-122"/>
              </a:rPr>
              <a:t>增量模型采用随着日程时间的进展而交错的线性序列。每一个线性序列产生软件的一个可发布的</a:t>
            </a:r>
            <a:r>
              <a:rPr lang="zh-CN" altLang="en-US" b="0" dirty="0">
                <a:solidFill>
                  <a:srgbClr val="000000"/>
                </a:solidFill>
                <a:latin typeface="Times New Roman" panose="02020603050405020304"/>
                <a:ea typeface="楷体_GB2312" pitchFamily="49" charset="-122"/>
              </a:rPr>
              <a:t>“</a:t>
            </a:r>
            <a:r>
              <a:rPr lang="zh-CN" altLang="en-US" b="0" dirty="0">
                <a:solidFill>
                  <a:srgbClr val="000000"/>
                </a:solidFill>
                <a:ea typeface="楷体_GB2312" pitchFamily="49" charset="-122"/>
              </a:rPr>
              <a:t>增量</a:t>
            </a:r>
            <a:r>
              <a:rPr lang="zh-CN" altLang="en-US" b="0" dirty="0">
                <a:solidFill>
                  <a:srgbClr val="000000"/>
                </a:solidFill>
                <a:latin typeface="Times New Roman" panose="02020603050405020304"/>
                <a:ea typeface="楷体_GB2312" pitchFamily="49" charset="-122"/>
              </a:rPr>
              <a:t>”</a:t>
            </a:r>
            <a:r>
              <a:rPr lang="zh-CN" altLang="en-US" b="0" dirty="0">
                <a:solidFill>
                  <a:srgbClr val="000000"/>
                </a:solidFill>
                <a:ea typeface="楷体_GB2312" pitchFamily="49" charset="-122"/>
              </a:rPr>
              <a:t>。</a:t>
            </a:r>
            <a:endParaRPr lang="zh-CN" altLang="en-US" b="0" dirty="0">
              <a:solidFill>
                <a:srgbClr val="000000"/>
              </a:solidFill>
              <a:ea typeface="楷体_GB2312" pitchFamily="49" charset="-122"/>
            </a:endParaRPr>
          </a:p>
          <a:p>
            <a:pPr marL="342900" indent="-342900">
              <a:spcBef>
                <a:spcPct val="40000"/>
              </a:spcBef>
              <a:buClr>
                <a:srgbClr val="FF0000"/>
              </a:buClr>
              <a:buFont typeface="+mj-lt"/>
              <a:buAutoNum type="arabicPeriod"/>
              <a:defRPr/>
            </a:pPr>
            <a:r>
              <a:rPr lang="zh-CN" altLang="en-US" b="0" dirty="0">
                <a:solidFill>
                  <a:srgbClr val="000000"/>
                </a:solidFill>
                <a:ea typeface="楷体_GB2312" pitchFamily="49" charset="-122"/>
              </a:rPr>
              <a:t>增量模型强调每一个增量均发布一个可操作产品。早期的增量是最终产品的</a:t>
            </a:r>
            <a:r>
              <a:rPr lang="zh-CN" altLang="en-US" b="0" dirty="0">
                <a:solidFill>
                  <a:srgbClr val="000000"/>
                </a:solidFill>
                <a:latin typeface="Times New Roman" panose="02020603050405020304"/>
                <a:ea typeface="楷体_GB2312" pitchFamily="49" charset="-122"/>
              </a:rPr>
              <a:t>“</a:t>
            </a:r>
            <a:r>
              <a:rPr lang="zh-CN" altLang="en-US" b="0" dirty="0">
                <a:solidFill>
                  <a:srgbClr val="000000"/>
                </a:solidFill>
                <a:ea typeface="楷体_GB2312" pitchFamily="49" charset="-122"/>
              </a:rPr>
              <a:t>可拆卸</a:t>
            </a:r>
            <a:r>
              <a:rPr lang="zh-CN" altLang="en-US" b="0" dirty="0">
                <a:solidFill>
                  <a:srgbClr val="000000"/>
                </a:solidFill>
                <a:latin typeface="Times New Roman" panose="02020603050405020304"/>
                <a:ea typeface="楷体_GB2312" pitchFamily="49" charset="-122"/>
              </a:rPr>
              <a:t>”</a:t>
            </a:r>
            <a:r>
              <a:rPr lang="zh-CN" altLang="en-US" b="0" dirty="0">
                <a:solidFill>
                  <a:srgbClr val="000000"/>
                </a:solidFill>
                <a:ea typeface="楷体_GB2312" pitchFamily="49" charset="-122"/>
              </a:rPr>
              <a:t>版本，但他们确实提供了给用户服务的功能，并且提供了给用户评估的平台。</a:t>
            </a:r>
            <a:endParaRPr lang="en-US" altLang="zh-CN" b="0" dirty="0">
              <a:solidFill>
                <a:srgbClr val="000000"/>
              </a:solidFill>
              <a:ea typeface="楷体_GB2312" pitchFamily="49" charset="-122"/>
            </a:endParaRPr>
          </a:p>
          <a:p>
            <a:pPr marL="342900" indent="-342900">
              <a:spcBef>
                <a:spcPct val="40000"/>
              </a:spcBef>
              <a:buClr>
                <a:srgbClr val="FF0000"/>
              </a:buClr>
              <a:buFont typeface="+mj-lt"/>
              <a:buAutoNum type="arabicPeriod"/>
              <a:defRPr/>
            </a:pPr>
            <a:r>
              <a:rPr lang="zh-CN" altLang="en-US" b="0" dirty="0">
                <a:solidFill>
                  <a:srgbClr val="000000"/>
                </a:solidFill>
                <a:effectLst>
                  <a:outerShdw blurRad="38100" dist="38100" dir="2700000" algn="tl">
                    <a:srgbClr val="C0C0C0"/>
                  </a:outerShdw>
                </a:effectLst>
                <a:latin typeface="仿宋_GB2312" pitchFamily="49" charset="-122"/>
                <a:ea typeface="楷体_GB2312" pitchFamily="49" charset="-122"/>
              </a:rPr>
              <a:t>将软件产品看作一组增量构件，每次设计、实现、集成、测试和交付一块构件，直到所有构件全部实现为止。</a:t>
            </a:r>
            <a:endParaRPr lang="zh-CN" altLang="en-US" b="0" dirty="0">
              <a:solidFill>
                <a:srgbClr val="000000"/>
              </a:solidFill>
              <a:effectLst>
                <a:outerShdw blurRad="38100" dist="38100" dir="2700000" algn="tl">
                  <a:srgbClr val="C0C0C0"/>
                </a:outerShdw>
              </a:effectLst>
              <a:latin typeface="仿宋_GB2312" pitchFamily="49" charset="-122"/>
              <a:ea typeface="楷体_GB2312" pitchFamily="49" charset="-122"/>
            </a:endParaRPr>
          </a:p>
          <a:p>
            <a:endParaRPr lang="zh-CN" altLang="en-US" b="0" dirty="0"/>
          </a:p>
        </p:txBody>
      </p:sp>
      <p:sp>
        <p:nvSpPr>
          <p:cNvPr id="4" name="灯片编号占位符 3"/>
          <p:cNvSpPr>
            <a:spLocks noGrp="1"/>
          </p:cNvSpPr>
          <p:nvPr>
            <p:ph type="sldNum" sz="quarter" idx="5"/>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TextEdit="1"/>
          </p:cNvSpPr>
          <p:nvPr>
            <p:ph type="sldImg"/>
          </p:nvPr>
        </p:nvSpPr>
        <p:spPr bwMode="auto">
          <a:noFill/>
          <a:ln>
            <a:solidFill>
              <a:srgbClr val="000000"/>
            </a:solidFill>
            <a:miter lim="800000"/>
          </a:ln>
        </p:spPr>
      </p:sp>
      <p:sp>
        <p:nvSpPr>
          <p:cNvPr id="108547" name="Rectangle 3"/>
          <p:cNvSpPr>
            <a:spLocks noGrp="1"/>
          </p:cNvSpPr>
          <p:nvPr>
            <p:ph type="body" idx="1"/>
          </p:nvPr>
        </p:nvSpPr>
        <p:spPr bwMode="auto">
          <a:noFill/>
        </p:spPr>
        <p:txBody>
          <a:bodyPr wrap="square" numCol="1" anchor="t" anchorCtr="0" compatLnSpc="1"/>
          <a:lstStyle/>
          <a:p>
            <a:pPr marL="228600" indent="-228600"/>
            <a:endParaRPr lang="zh-CN" altLang="en-US">
              <a:latin typeface="华文新魏" panose="02010800040101010101" pitchFamily="2" charset="-122"/>
              <a:ea typeface="华文新魏" panose="02010800040101010101" pitchFamily="2" charset="-122"/>
            </a:endParaRPr>
          </a:p>
          <a:p>
            <a:pPr marL="228600" indent="-228600"/>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TextEdit="1"/>
          </p:cNvSpPr>
          <p:nvPr>
            <p:ph type="sldImg"/>
          </p:nvPr>
        </p:nvSpPr>
        <p:spPr bwMode="auto">
          <a:noFill/>
          <a:ln>
            <a:solidFill>
              <a:srgbClr val="000000"/>
            </a:solidFill>
            <a:miter lim="800000"/>
          </a:ln>
        </p:spPr>
      </p:sp>
      <p:sp>
        <p:nvSpPr>
          <p:cNvPr id="109571" name="Rectangle 3"/>
          <p:cNvSpPr>
            <a:spLocks noGrp="1"/>
          </p:cNvSpPr>
          <p:nvPr>
            <p:ph type="body" idx="1"/>
          </p:nvPr>
        </p:nvSpPr>
        <p:spPr bwMode="auto">
          <a:noFill/>
        </p:spPr>
        <p:txBody>
          <a:bodyPr wrap="square" numCol="1" anchor="t" anchorCtr="0" compatLnSpc="1"/>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TextEdit="1"/>
          </p:cNvSpPr>
          <p:nvPr>
            <p:ph type="sldImg"/>
          </p:nvPr>
        </p:nvSpPr>
        <p:spPr bwMode="auto">
          <a:noFill/>
          <a:ln>
            <a:solidFill>
              <a:srgbClr val="000000"/>
            </a:solidFill>
            <a:miter lim="800000"/>
          </a:ln>
        </p:spPr>
      </p:sp>
      <p:sp>
        <p:nvSpPr>
          <p:cNvPr id="110595" name="Rectangle 3"/>
          <p:cNvSpPr>
            <a:spLocks noGrp="1"/>
          </p:cNvSpPr>
          <p:nvPr>
            <p:ph type="body" idx="1"/>
          </p:nvPr>
        </p:nvSpPr>
        <p:spPr bwMode="auto">
          <a:noFill/>
        </p:spPr>
        <p:txBody>
          <a:bodyPr wrap="square" numCol="1" anchor="t" anchorCtr="0" compatLnSpc="1"/>
          <a:lstStyle/>
          <a:p>
            <a:r>
              <a:rPr lang="zh-CN" altLang="en-US" sz="1200" b="1" dirty="0"/>
              <a:t>在开发阶段之前引入非常严格的风险识别、风险分析、风险控制，直到采取了消除风险的措施后才开始计划下一阶段的工作。否则，项目就很可能被取消。</a:t>
            </a:r>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eaLnBrk="1" hangingPunct="1">
              <a:lnSpc>
                <a:spcPct val="90000"/>
              </a:lnSpc>
            </a:pPr>
            <a:r>
              <a:rPr lang="zh-CN" altLang="en-US" sz="2200" dirty="0">
                <a:ea typeface="+mn-ea"/>
              </a:rPr>
              <a:t>沿着螺线旋转（一个螺旋式周期 ），在四个象限上分别表达四个方面的活动：</a:t>
            </a:r>
            <a:endParaRPr lang="zh-CN" altLang="en-US" sz="2200" dirty="0">
              <a:ea typeface="+mn-ea"/>
            </a:endParaRPr>
          </a:p>
          <a:p>
            <a:pPr marL="457200" lvl="0" indent="-457200" eaLnBrk="1" hangingPunct="1">
              <a:lnSpc>
                <a:spcPct val="90000"/>
              </a:lnSpc>
              <a:buFont typeface="+mj-lt"/>
              <a:buAutoNum type="arabicPeriod"/>
            </a:pPr>
            <a:r>
              <a:rPr lang="zh-CN" altLang="en-US" sz="2200" dirty="0">
                <a:ea typeface="+mn-ea"/>
              </a:rPr>
              <a:t>制定计划：</a:t>
            </a:r>
            <a:r>
              <a:rPr lang="zh-CN" altLang="en-US" sz="2000" dirty="0">
                <a:ea typeface="+mn-ea"/>
              </a:rPr>
              <a:t>确定软件目标，选定实施方案，弄清项目开发的限制，选定完成目标的策略。</a:t>
            </a:r>
            <a:endParaRPr lang="zh-CN" altLang="en-US" sz="2000" dirty="0">
              <a:ea typeface="+mn-ea"/>
            </a:endParaRPr>
          </a:p>
          <a:p>
            <a:pPr marL="457200" lvl="0" indent="-457200" eaLnBrk="1" hangingPunct="1">
              <a:lnSpc>
                <a:spcPct val="90000"/>
              </a:lnSpc>
              <a:buFont typeface="+mj-lt"/>
              <a:buAutoNum type="arabicPeriod"/>
            </a:pPr>
            <a:r>
              <a:rPr lang="zh-CN" altLang="en-US" sz="2200" dirty="0">
                <a:ea typeface="+mn-ea"/>
              </a:rPr>
              <a:t>风险分析：</a:t>
            </a:r>
            <a:r>
              <a:rPr lang="zh-CN" altLang="en-US" sz="2000" dirty="0">
                <a:ea typeface="+mn-ea"/>
              </a:rPr>
              <a:t>分析所选方案，考虑如何识别和消除风险，风险角度分析该</a:t>
            </a:r>
            <a:r>
              <a:rPr lang="zh-CN" altLang="en-US" sz="2000" b="0" dirty="0">
                <a:ea typeface="+mn-ea"/>
              </a:rPr>
              <a:t>策略</a:t>
            </a:r>
            <a:r>
              <a:rPr lang="zh-CN" altLang="en-US" sz="2000" b="0" dirty="0">
                <a:latin typeface="Times New Roman" panose="02020603050405020304" pitchFamily="18" charset="0"/>
              </a:rPr>
              <a:t>，必要时做出对应的原型，可确定、修改或终止项目；</a:t>
            </a:r>
            <a:endParaRPr lang="zh-CN" altLang="en-US" sz="2000" b="0" dirty="0">
              <a:ea typeface="+mn-ea"/>
            </a:endParaRPr>
          </a:p>
          <a:p>
            <a:pPr marL="457200" lvl="0" indent="-457200" eaLnBrk="1" hangingPunct="1">
              <a:lnSpc>
                <a:spcPct val="90000"/>
              </a:lnSpc>
              <a:buFont typeface="+mj-lt"/>
              <a:buAutoNum type="arabicPeriod"/>
            </a:pPr>
            <a:r>
              <a:rPr lang="zh-CN" altLang="en-US" sz="2200" dirty="0">
                <a:ea typeface="+mn-ea"/>
              </a:rPr>
              <a:t>实施工程：</a:t>
            </a:r>
            <a:r>
              <a:rPr lang="zh-CN" altLang="en-US" sz="2000" dirty="0">
                <a:ea typeface="+mn-ea"/>
              </a:rPr>
              <a:t>实施软件开发，启动一个开发阶段 。</a:t>
            </a:r>
            <a:r>
              <a:rPr lang="zh-CN" altLang="en-US" sz="2000" b="0" dirty="0">
                <a:latin typeface="Times New Roman" panose="02020603050405020304" pitchFamily="18" charset="0"/>
              </a:rPr>
              <a:t>对应该圈的具体任务实施。如在分析圈，风险评估通过后，就可以实施需求分析活动；</a:t>
            </a:r>
            <a:endParaRPr lang="zh-CN" altLang="en-US" sz="2000" b="0" dirty="0">
              <a:ea typeface="+mn-ea"/>
            </a:endParaRPr>
          </a:p>
          <a:p>
            <a:pPr marL="457200" lvl="0" indent="-457200" eaLnBrk="1" hangingPunct="1">
              <a:lnSpc>
                <a:spcPct val="90000"/>
              </a:lnSpc>
              <a:buFont typeface="+mj-lt"/>
              <a:buAutoNum type="arabicPeriod"/>
            </a:pPr>
            <a:r>
              <a:rPr lang="zh-CN" altLang="en-US" sz="2200" dirty="0">
                <a:ea typeface="+mn-ea"/>
              </a:rPr>
              <a:t>客户评估：</a:t>
            </a:r>
            <a:r>
              <a:rPr lang="zh-CN" altLang="en-US" sz="2000" dirty="0">
                <a:ea typeface="+mn-ea"/>
              </a:rPr>
              <a:t>评价前一步开发工作，提出修正建议，计划下一轮的工作。</a:t>
            </a:r>
            <a:endParaRPr lang="en-US" altLang="zh-CN" sz="2000" dirty="0">
              <a:ea typeface="+mn-ea"/>
            </a:endParaRPr>
          </a:p>
          <a:p>
            <a:pPr marL="457200" lvl="0" indent="-457200" eaLnBrk="1" hangingPunct="1">
              <a:lnSpc>
                <a:spcPct val="90000"/>
              </a:lnSpc>
              <a:buFont typeface="+mj-lt"/>
              <a:buAutoNum type="arabicPeriod"/>
            </a:pPr>
            <a:endParaRPr lang="en-US" altLang="zh-CN" sz="2000" dirty="0">
              <a:ea typeface="+mn-ea"/>
            </a:endParaRPr>
          </a:p>
          <a:p>
            <a:pPr marL="457200" lvl="0" indent="-457200" eaLnBrk="1" hangingPunct="1">
              <a:lnSpc>
                <a:spcPct val="90000"/>
              </a:lnSpc>
              <a:buFont typeface="Arial" panose="020B0604020202020204" pitchFamily="34" charset="0"/>
              <a:buChar char="•"/>
            </a:pPr>
            <a:endParaRPr lang="zh-CN" altLang="en-US" sz="2000" dirty="0">
              <a:ea typeface="+mn-ea"/>
            </a:endParaRPr>
          </a:p>
          <a:p>
            <a:endParaRPr lang="zh-CN" altLang="en-US" dirty="0"/>
          </a:p>
        </p:txBody>
      </p:sp>
      <p:sp>
        <p:nvSpPr>
          <p:cNvPr id="4" name="灯片编号占位符 3"/>
          <p:cNvSpPr>
            <a:spLocks noGrp="1"/>
          </p:cNvSpPr>
          <p:nvPr>
            <p:ph type="sldNum" sz="quarter" idx="5"/>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TextEdit="1"/>
          </p:cNvSpPr>
          <p:nvPr>
            <p:ph type="sldImg"/>
          </p:nvPr>
        </p:nvSpPr>
        <p:spPr bwMode="auto">
          <a:noFill/>
          <a:ln>
            <a:solidFill>
              <a:srgbClr val="000000"/>
            </a:solidFill>
            <a:miter lim="800000"/>
          </a:ln>
        </p:spPr>
      </p:sp>
      <p:sp>
        <p:nvSpPr>
          <p:cNvPr id="111619" name="Rectangle 3"/>
          <p:cNvSpPr>
            <a:spLocks noGrp="1"/>
          </p:cNvSpPr>
          <p:nvPr>
            <p:ph type="body" idx="1"/>
          </p:nvPr>
        </p:nvSpPr>
        <p:spPr bwMode="auto">
          <a:noFill/>
        </p:spPr>
        <p:txBody>
          <a:bodyPr wrap="square" numCol="1" anchor="t" anchorCtr="0" compatLnSpc="1"/>
          <a:lstStyle/>
          <a:p>
            <a:pPr eaLnBrk="1" hangingPunct="1">
              <a:lnSpc>
                <a:spcPct val="90000"/>
              </a:lnSpc>
            </a:pPr>
            <a:r>
              <a:rPr lang="zh-CN" altLang="en-US" sz="2400" dirty="0">
                <a:ea typeface="+mn-ea"/>
              </a:rPr>
              <a:t>特点：</a:t>
            </a:r>
            <a:endParaRPr lang="zh-CN" altLang="en-US" sz="2400" dirty="0">
              <a:ea typeface="+mn-ea"/>
            </a:endParaRPr>
          </a:p>
          <a:p>
            <a:pPr marL="914400" lvl="1" indent="-457200" eaLnBrk="1" hangingPunct="1">
              <a:lnSpc>
                <a:spcPct val="90000"/>
              </a:lnSpc>
              <a:buFont typeface="+mj-lt"/>
              <a:buAutoNum type="arabicPeriod"/>
            </a:pPr>
            <a:r>
              <a:rPr lang="zh-CN" altLang="en-US" sz="2200" dirty="0">
                <a:ea typeface="+mn-ea"/>
              </a:rPr>
              <a:t>迭代过程：</a:t>
            </a:r>
            <a:endParaRPr lang="en-US" altLang="zh-CN" sz="2200" dirty="0">
              <a:ea typeface="+mn-ea"/>
            </a:endParaRPr>
          </a:p>
          <a:p>
            <a:pPr marL="457200" marR="0" lvl="1" indent="0" algn="l" defTabSz="914400" rtl="0" eaLnBrk="1" fontAlgn="base" latinLnBrk="0" hangingPunct="1">
              <a:lnSpc>
                <a:spcPct val="100000"/>
              </a:lnSpc>
              <a:spcBef>
                <a:spcPct val="30000"/>
              </a:spcBef>
              <a:spcAft>
                <a:spcPct val="0"/>
              </a:spcAft>
              <a:buClrTx/>
              <a:buSzTx/>
              <a:buFontTx/>
              <a:buNone/>
              <a:defRPr/>
            </a:pPr>
            <a:r>
              <a:rPr lang="zh-CN" altLang="en-US" dirty="0"/>
              <a:t>螺旋模型较早地提出了迭代的概念，为后来出现的迭代式开发提供了思路，引出</a:t>
            </a:r>
            <a:r>
              <a:rPr lang="en-US" altLang="zh-CN" dirty="0"/>
              <a:t>RUP</a:t>
            </a:r>
            <a:r>
              <a:rPr lang="zh-CN" altLang="en-US" dirty="0"/>
              <a:t>是迭代思想的具体应用。</a:t>
            </a:r>
            <a:endParaRPr lang="en-US" altLang="zh-CN" dirty="0"/>
          </a:p>
          <a:p>
            <a:pPr marL="814705" lvl="1" indent="-357505">
              <a:spcBef>
                <a:spcPct val="40000"/>
              </a:spcBef>
              <a:buClr>
                <a:srgbClr val="FF0000"/>
              </a:buClr>
              <a:buFont typeface="+mj-lt"/>
              <a:buAutoNum type="arabicPeriod" startAt="2"/>
              <a:defRPr/>
            </a:pPr>
            <a:r>
              <a:rPr lang="zh-CN" altLang="en-US" b="0" dirty="0">
                <a:solidFill>
                  <a:srgbClr val="000000"/>
                </a:solidFill>
                <a:ea typeface="楷体_GB2312" pitchFamily="49" charset="-122"/>
              </a:rPr>
              <a:t>保留了瀑布模型中系统地、按阶段逐步地进行软件开发和“边开发、边评审”的风格。</a:t>
            </a:r>
            <a:endParaRPr lang="zh-CN" altLang="en-US" b="0" dirty="0">
              <a:solidFill>
                <a:srgbClr val="000000"/>
              </a:solidFill>
              <a:ea typeface="楷体_GB2312" pitchFamily="49" charset="-122"/>
            </a:endParaRPr>
          </a:p>
          <a:p>
            <a:pPr marL="814705" lvl="1" indent="-357505">
              <a:spcBef>
                <a:spcPct val="40000"/>
              </a:spcBef>
              <a:buClr>
                <a:srgbClr val="FF0000"/>
              </a:buClr>
              <a:buFont typeface="+mj-lt"/>
              <a:buAutoNum type="arabicPeriod" startAt="2"/>
              <a:defRPr/>
            </a:pPr>
            <a:r>
              <a:rPr lang="zh-CN" altLang="en-US" b="0" dirty="0">
                <a:solidFill>
                  <a:srgbClr val="000000"/>
                </a:solidFill>
                <a:ea typeface="楷体_GB2312" pitchFamily="49" charset="-122"/>
              </a:rPr>
              <a:t>引入了风险分析，把制作原型作为风险分析的主要措施。</a:t>
            </a:r>
            <a:endParaRPr lang="zh-CN" altLang="en-US" b="0" dirty="0">
              <a:solidFill>
                <a:srgbClr val="000000"/>
              </a:solidFill>
              <a:ea typeface="楷体_GB2312" pitchFamily="49" charset="-122"/>
            </a:endParaRPr>
          </a:p>
          <a:p>
            <a:pPr marL="814705" lvl="1" indent="-357505">
              <a:spcBef>
                <a:spcPct val="40000"/>
              </a:spcBef>
              <a:buClr>
                <a:srgbClr val="FF0000"/>
              </a:buClr>
              <a:buFont typeface="+mj-lt"/>
              <a:buAutoNum type="arabicPeriod" startAt="2"/>
              <a:defRPr/>
            </a:pPr>
            <a:r>
              <a:rPr lang="zh-CN" altLang="en-US" b="0" dirty="0">
                <a:solidFill>
                  <a:srgbClr val="000000"/>
                </a:solidFill>
                <a:ea typeface="楷体_GB2312" pitchFamily="49" charset="-122"/>
              </a:rPr>
              <a:t>螺旋模型的使用需要具有相当丰富的风险评估经验和专门知识，而且费用昂贵，所以只适合大型软件的开发。</a:t>
            </a:r>
            <a:endParaRPr lang="zh-CN" altLang="en-US" b="0" dirty="0">
              <a:solidFill>
                <a:srgbClr val="000000"/>
              </a:solidFill>
              <a:ea typeface="楷体_GB2312" pitchFamily="49"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TextEdit="1"/>
          </p:cNvSpPr>
          <p:nvPr>
            <p:ph type="sldImg"/>
          </p:nvPr>
        </p:nvSpPr>
        <p:spPr bwMode="auto">
          <a:noFill/>
          <a:ln>
            <a:solidFill>
              <a:srgbClr val="000000"/>
            </a:solidFill>
            <a:miter lim="800000"/>
          </a:ln>
        </p:spPr>
      </p:sp>
      <p:sp>
        <p:nvSpPr>
          <p:cNvPr id="111619" name="Rectangle 3"/>
          <p:cNvSpPr>
            <a:spLocks noGrp="1"/>
          </p:cNvSpPr>
          <p:nvPr>
            <p:ph type="body" idx="1"/>
          </p:nvPr>
        </p:nvSpPr>
        <p:spPr bwMode="auto">
          <a:noFill/>
        </p:spPr>
        <p:txBody>
          <a:bodyPr wrap="square" numCol="1" anchor="t" anchorCtr="0" compatLnSpc="1"/>
          <a:lstStyle/>
          <a:p>
            <a:pPr eaLnBrk="1" hangingPunct="1">
              <a:lnSpc>
                <a:spcPct val="90000"/>
              </a:lnSpc>
            </a:pPr>
            <a:endParaRPr lang="zh-CN" altLang="en-US" b="0" dirty="0">
              <a:solidFill>
                <a:srgbClr val="000000"/>
              </a:solidFill>
              <a:ea typeface="楷体_GB2312" pitchFamily="49"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effectLst/>
                <a:sym typeface="+mn-ea"/>
              </a:rPr>
              <a:t>一般认为风险保护两个特性：不确定性和损失。不确定性是指风险可能发生也可能不发生；损失是指如果风险发生，就会产生恶性后果。</a:t>
            </a:r>
            <a:br>
              <a:rPr lang="zh-CN" altLang="en-US" dirty="0">
                <a:sym typeface="+mn-ea"/>
              </a:rPr>
            </a:br>
            <a:r>
              <a:rPr lang="zh-CN" altLang="en-US" dirty="0">
                <a:effectLst/>
                <a:sym typeface="+mn-ea"/>
              </a:rPr>
              <a:t>本题选项“客户不清楚想要开发什么样的软件”是已经发生的事件，没有不确定性，因此不是一个风险。</a:t>
            </a:r>
            <a:endParaRPr lang="zh-CN" altLang="en-US" dirty="0"/>
          </a:p>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TextEdit="1"/>
          </p:cNvSpPr>
          <p:nvPr>
            <p:ph type="sldImg"/>
          </p:nvPr>
        </p:nvSpPr>
        <p:spPr bwMode="auto">
          <a:noFill/>
          <a:ln>
            <a:solidFill>
              <a:srgbClr val="000000"/>
            </a:solidFill>
            <a:miter lim="800000"/>
          </a:ln>
        </p:spPr>
      </p:sp>
      <p:sp>
        <p:nvSpPr>
          <p:cNvPr id="112643" name="Rectangle 3"/>
          <p:cNvSpPr>
            <a:spLocks noGrp="1"/>
          </p:cNvSpPr>
          <p:nvPr>
            <p:ph type="body" idx="1"/>
          </p:nvPr>
        </p:nvSpPr>
        <p:spPr bwMode="auto">
          <a:noFill/>
        </p:spPr>
        <p:txBody>
          <a:bodyPr wrap="square" numCol="1" anchor="t" anchorCtr="0" compatLnSpc="1"/>
          <a:lstStyle/>
          <a:p>
            <a:r>
              <a:rPr kumimoji="1" lang="zh-CN" altLang="en-US" b="0" dirty="0"/>
              <a:t>该模型认为软件开发过程自下而上周期的各阶段是相互重叠和多次反复的，就像喷泉的水喷上去，落下来一样。特点是各项活动之间没有明显的界限。而面向对象方法学在概念和表示方法上的一致性，保证了各个开发活动之间的无缝过渡。</a:t>
            </a:r>
            <a:endParaRPr kumimoji="1" lang="en-US" altLang="zh-CN" b="0" dirty="0"/>
          </a:p>
          <a:p>
            <a:endParaRPr kumimoji="1" lang="en-US" altLang="zh-CN" b="0" dirty="0"/>
          </a:p>
          <a:p>
            <a:r>
              <a:rPr kumimoji="1" lang="zh-CN" altLang="en-US" b="0" dirty="0"/>
              <a:t>该模型重视软件研发工作的重复与渐进，通过相关对象的反复迭代并在迭代中充实扩展，实现了开发工作的迭代和无间隙。</a:t>
            </a:r>
            <a:endParaRPr kumimoji="1" lang="zh-CN" altLang="en-US" b="0"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effectLst/>
                <a:sym typeface="+mn-ea"/>
              </a:rPr>
              <a:t>本题要求尽量投入使用，并可以再使用过程中不断完善，对于原型模型和演化（迭代）模型，演化模型更合适，原型模型更适用于需求不明确时用以获取需求。</a:t>
            </a:r>
            <a:endParaRPr lang="zh-CN" altLang="en-US" dirty="0"/>
          </a:p>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螺旋模型是一种演化软件开发过程模型，它兼顾了快速原型的迭代的特征以及瀑布模型的系统化与严格监控。螺旋模型最大的特点在于引入了其他模型不具备的风险分析，使软件在无法排除重大风险时有机会停止，以减小损失。同时，在每个迭代阶段构建原型是螺旋模型用以减小风险的途径。螺旋模型更适合大型的昂贵的系统级的软件应用。</a:t>
            </a:r>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bwMode="auto">
          <a:noFill/>
          <a:ln>
            <a:solidFill>
              <a:srgbClr val="000000"/>
            </a:solidFill>
            <a:miter lim="800000"/>
          </a:ln>
        </p:spPr>
      </p:sp>
      <p:sp>
        <p:nvSpPr>
          <p:cNvPr id="113667" name="备注占位符 2"/>
          <p:cNvSpPr>
            <a:spLocks noGrp="1"/>
          </p:cNvSpPr>
          <p:nvPr>
            <p:ph type="body" idx="1"/>
          </p:nvPr>
        </p:nvSpPr>
        <p:spPr bwMode="auto">
          <a:noFill/>
        </p:spPr>
        <p:txBody>
          <a:bodyPr wrap="square" numCol="1" anchor="t" anchorCtr="0" compatLnSpc="1"/>
          <a:lstStyle/>
          <a:p>
            <a:pPr algn="just" eaLnBrk="1" hangingPunct="1">
              <a:spcBef>
                <a:spcPct val="20000"/>
              </a:spcBef>
            </a:pPr>
            <a:r>
              <a:rPr lang="en-US" altLang="zh-CN" sz="2000" b="0" dirty="0">
                <a:latin typeface="Times New Roman" panose="02020603050405020304" pitchFamily="18" charset="0"/>
                <a:cs typeface="Times New Roman" panose="02020603050405020304" pitchFamily="18" charset="0"/>
              </a:rPr>
              <a:t>RUP</a:t>
            </a:r>
            <a:r>
              <a:rPr lang="zh-CN" altLang="en-US" sz="2000" b="0" dirty="0">
                <a:latin typeface="宋体" panose="02010600030101010101" pitchFamily="2" charset="-122"/>
              </a:rPr>
              <a:t>分为时间轴</a:t>
            </a:r>
            <a:r>
              <a:rPr lang="zh-CN" altLang="en-US" sz="2000" b="0" dirty="0">
                <a:latin typeface="Times New Roman" panose="02020603050405020304" pitchFamily="18" charset="0"/>
                <a:cs typeface="Times New Roman" panose="02020603050405020304" pitchFamily="18" charset="0"/>
              </a:rPr>
              <a:t>(</a:t>
            </a:r>
            <a:r>
              <a:rPr lang="zh-CN" altLang="en-US" sz="2000" b="0" dirty="0">
                <a:latin typeface="宋体" panose="02010600030101010101" pitchFamily="2" charset="-122"/>
              </a:rPr>
              <a:t>横轴</a:t>
            </a:r>
            <a:r>
              <a:rPr lang="zh-CN" altLang="en-US" sz="2000" b="0" dirty="0">
                <a:latin typeface="Times New Roman" panose="02020603050405020304" pitchFamily="18" charset="0"/>
                <a:cs typeface="Times New Roman" panose="02020603050405020304" pitchFamily="18" charset="0"/>
              </a:rPr>
              <a:t>)</a:t>
            </a:r>
            <a:r>
              <a:rPr lang="zh-CN" altLang="en-US" sz="2000" b="0" dirty="0">
                <a:latin typeface="宋体" panose="02010600030101010101" pitchFamily="2" charset="-122"/>
              </a:rPr>
              <a:t>和活动内容轴</a:t>
            </a:r>
            <a:r>
              <a:rPr lang="zh-CN" altLang="en-US" sz="2000" b="0" dirty="0">
                <a:latin typeface="Times New Roman" panose="02020603050405020304" pitchFamily="18" charset="0"/>
                <a:cs typeface="Times New Roman" panose="02020603050405020304" pitchFamily="18" charset="0"/>
              </a:rPr>
              <a:t>(</a:t>
            </a:r>
            <a:r>
              <a:rPr lang="zh-CN" altLang="en-US" sz="2000" b="0" dirty="0">
                <a:latin typeface="宋体" panose="02010600030101010101" pitchFamily="2" charset="-122"/>
              </a:rPr>
              <a:t>纵轴</a:t>
            </a:r>
            <a:r>
              <a:rPr lang="zh-CN" altLang="en-US" sz="2000" b="0" dirty="0">
                <a:latin typeface="Times New Roman" panose="02020603050405020304" pitchFamily="18" charset="0"/>
                <a:cs typeface="Times New Roman" panose="02020603050405020304" pitchFamily="18" charset="0"/>
              </a:rPr>
              <a:t>)</a:t>
            </a:r>
            <a:r>
              <a:rPr lang="zh-CN" altLang="en-US" sz="2000" b="0" dirty="0">
                <a:latin typeface="宋体" panose="02010600030101010101" pitchFamily="2" charset="-122"/>
              </a:rPr>
              <a:t>。</a:t>
            </a:r>
            <a:endParaRPr lang="zh-CN" altLang="en-US" sz="2000" b="0" dirty="0">
              <a:latin typeface="宋体" panose="02010600030101010101" pitchFamily="2" charset="-122"/>
            </a:endParaRPr>
          </a:p>
          <a:p>
            <a:pPr marL="342900" lvl="0" indent="-342900" algn="just" eaLnBrk="1" hangingPunct="1">
              <a:spcBef>
                <a:spcPct val="20000"/>
              </a:spcBef>
              <a:buFont typeface="Arial" panose="020B0604020202020204" pitchFamily="34" charset="0"/>
              <a:buChar char="•"/>
            </a:pPr>
            <a:r>
              <a:rPr lang="zh-CN" altLang="en-US" sz="2000" b="0" dirty="0">
                <a:latin typeface="宋体" panose="02010600030101010101" pitchFamily="2" charset="-122"/>
              </a:rPr>
              <a:t>横轴是过程展开的生命周期特征，体现开发过程的动态结构，用来描述它的术语主要包括周期</a:t>
            </a:r>
            <a:r>
              <a:rPr lang="zh-CN" altLang="en-US" sz="2000" b="0" dirty="0">
                <a:solidFill>
                  <a:srgbClr val="000000"/>
                </a:solidFill>
                <a:latin typeface="Times New Roman" panose="02020603050405020304" pitchFamily="18" charset="0"/>
                <a:cs typeface="Times New Roman" panose="02020603050405020304" pitchFamily="18" charset="0"/>
              </a:rPr>
              <a:t>(</a:t>
            </a:r>
            <a:r>
              <a:rPr lang="en-US" altLang="zh-CN" sz="2000" b="0" dirty="0">
                <a:solidFill>
                  <a:srgbClr val="000000"/>
                </a:solidFill>
                <a:latin typeface="Times New Roman" panose="02020603050405020304" pitchFamily="18" charset="0"/>
                <a:cs typeface="Times New Roman" panose="02020603050405020304" pitchFamily="18" charset="0"/>
              </a:rPr>
              <a:t>Cycle)</a:t>
            </a:r>
            <a:r>
              <a:rPr lang="en-US" altLang="zh-CN" sz="2000" b="0" dirty="0">
                <a:latin typeface="宋体" panose="02010600030101010101" pitchFamily="2" charset="-122"/>
              </a:rPr>
              <a:t>、</a:t>
            </a:r>
            <a:r>
              <a:rPr lang="zh-CN" altLang="en-US" sz="2000" b="0" dirty="0">
                <a:latin typeface="宋体" panose="02010600030101010101" pitchFamily="2" charset="-122"/>
              </a:rPr>
              <a:t>阶段</a:t>
            </a:r>
            <a:r>
              <a:rPr lang="zh-CN" altLang="en-US" sz="2000" b="0" dirty="0">
                <a:solidFill>
                  <a:srgbClr val="000000"/>
                </a:solidFill>
                <a:latin typeface="Times New Roman" panose="02020603050405020304" pitchFamily="18" charset="0"/>
                <a:cs typeface="Times New Roman" panose="02020603050405020304" pitchFamily="18" charset="0"/>
              </a:rPr>
              <a:t>(</a:t>
            </a:r>
            <a:r>
              <a:rPr lang="en-US" altLang="zh-CN" sz="2000" b="0" dirty="0">
                <a:solidFill>
                  <a:srgbClr val="000000"/>
                </a:solidFill>
                <a:latin typeface="Times New Roman" panose="02020603050405020304" pitchFamily="18" charset="0"/>
                <a:cs typeface="Times New Roman" panose="02020603050405020304" pitchFamily="18" charset="0"/>
              </a:rPr>
              <a:t>Phase)</a:t>
            </a:r>
            <a:r>
              <a:rPr lang="en-US" altLang="zh-CN" sz="2000" b="0" dirty="0">
                <a:latin typeface="宋体" panose="02010600030101010101" pitchFamily="2" charset="-122"/>
              </a:rPr>
              <a:t>、</a:t>
            </a:r>
            <a:r>
              <a:rPr lang="zh-CN" altLang="en-US" sz="2000" b="0" dirty="0">
                <a:latin typeface="宋体" panose="02010600030101010101" pitchFamily="2" charset="-122"/>
              </a:rPr>
              <a:t>迭代</a:t>
            </a:r>
            <a:r>
              <a:rPr lang="zh-CN" altLang="en-US" sz="2000" b="0" dirty="0">
                <a:solidFill>
                  <a:srgbClr val="000000"/>
                </a:solidFill>
                <a:latin typeface="Times New Roman" panose="02020603050405020304" pitchFamily="18" charset="0"/>
                <a:cs typeface="Times New Roman" panose="02020603050405020304" pitchFamily="18" charset="0"/>
              </a:rPr>
              <a:t>(</a:t>
            </a:r>
            <a:r>
              <a:rPr lang="en-US" altLang="zh-CN" sz="2000" b="0" dirty="0">
                <a:solidFill>
                  <a:srgbClr val="000000"/>
                </a:solidFill>
                <a:latin typeface="Times New Roman" panose="02020603050405020304" pitchFamily="18" charset="0"/>
                <a:cs typeface="Times New Roman" panose="02020603050405020304" pitchFamily="18" charset="0"/>
              </a:rPr>
              <a:t>Iteration)</a:t>
            </a:r>
            <a:r>
              <a:rPr lang="zh-CN" altLang="en-US" sz="2000" b="0" dirty="0">
                <a:solidFill>
                  <a:srgbClr val="000000"/>
                </a:solidFill>
                <a:latin typeface="Times New Roman" panose="02020603050405020304" pitchFamily="18" charset="0"/>
                <a:cs typeface="Times New Roman" panose="02020603050405020304" pitchFamily="18" charset="0"/>
              </a:rPr>
              <a:t>、基线（</a:t>
            </a:r>
            <a:r>
              <a:rPr lang="en-US" altLang="zh-CN" sz="2000" b="0" dirty="0" err="1">
                <a:solidFill>
                  <a:srgbClr val="000000"/>
                </a:solidFill>
                <a:latin typeface="Times New Roman" panose="02020603050405020304" pitchFamily="18" charset="0"/>
                <a:cs typeface="Times New Roman" panose="02020603050405020304" pitchFamily="18" charset="0"/>
              </a:rPr>
              <a:t>BaseLine</a:t>
            </a:r>
            <a:r>
              <a:rPr lang="zh-CN" altLang="en-US" sz="2000" b="0" dirty="0">
                <a:solidFill>
                  <a:srgbClr val="000000"/>
                </a:solidFill>
                <a:latin typeface="Times New Roman" panose="02020603050405020304" pitchFamily="18" charset="0"/>
                <a:cs typeface="Times New Roman" panose="02020603050405020304" pitchFamily="18" charset="0"/>
              </a:rPr>
              <a:t>）</a:t>
            </a:r>
            <a:r>
              <a:rPr lang="zh-CN" altLang="en-US" sz="2000" b="0" dirty="0">
                <a:latin typeface="宋体" panose="02010600030101010101" pitchFamily="2" charset="-122"/>
              </a:rPr>
              <a:t>和里程碑</a:t>
            </a:r>
            <a:r>
              <a:rPr lang="zh-CN" altLang="en-US" sz="2000" b="0" dirty="0">
                <a:solidFill>
                  <a:srgbClr val="000000"/>
                </a:solidFill>
                <a:latin typeface="Times New Roman" panose="02020603050405020304" pitchFamily="18" charset="0"/>
                <a:cs typeface="Times New Roman" panose="02020603050405020304" pitchFamily="18" charset="0"/>
              </a:rPr>
              <a:t>(</a:t>
            </a:r>
            <a:r>
              <a:rPr lang="en-US" altLang="zh-CN" sz="2000" b="0" dirty="0">
                <a:solidFill>
                  <a:srgbClr val="000000"/>
                </a:solidFill>
                <a:latin typeface="Times New Roman" panose="02020603050405020304" pitchFamily="18" charset="0"/>
                <a:cs typeface="Times New Roman" panose="02020603050405020304" pitchFamily="18" charset="0"/>
              </a:rPr>
              <a:t>Milestone)</a:t>
            </a:r>
            <a:r>
              <a:rPr lang="en-US" altLang="zh-CN" sz="2000" b="0" dirty="0">
                <a:latin typeface="宋体" panose="02010600030101010101" pitchFamily="2" charset="-122"/>
              </a:rPr>
              <a:t>；</a:t>
            </a:r>
            <a:endParaRPr lang="en-US" altLang="zh-CN" sz="2000" b="0" dirty="0">
              <a:latin typeface="宋体" panose="02010600030101010101" pitchFamily="2" charset="-122"/>
            </a:endParaRPr>
          </a:p>
          <a:p>
            <a:pPr marL="342900" lvl="0" indent="-342900" algn="just" eaLnBrk="1" hangingPunct="1">
              <a:spcBef>
                <a:spcPct val="20000"/>
              </a:spcBef>
              <a:buFont typeface="Arial" panose="020B0604020202020204" pitchFamily="34" charset="0"/>
              <a:buChar char="•"/>
            </a:pPr>
            <a:r>
              <a:rPr lang="zh-CN" altLang="en-US" sz="2000" b="0" dirty="0">
                <a:latin typeface="宋体" panose="02010600030101010101" pitchFamily="2" charset="-122"/>
              </a:rPr>
              <a:t>纵轴是开发活动，体现开发过程的静态结构，用来描述它的术语主要包括活动</a:t>
            </a:r>
            <a:r>
              <a:rPr lang="zh-CN" altLang="en-US" sz="2000" b="0" dirty="0">
                <a:solidFill>
                  <a:srgbClr val="000000"/>
                </a:solidFill>
                <a:latin typeface="Times New Roman" panose="02020603050405020304" pitchFamily="18" charset="0"/>
                <a:cs typeface="Times New Roman" panose="02020603050405020304" pitchFamily="18" charset="0"/>
              </a:rPr>
              <a:t>(</a:t>
            </a:r>
            <a:r>
              <a:rPr lang="en-US" altLang="zh-CN" sz="2000" b="0" dirty="0">
                <a:solidFill>
                  <a:srgbClr val="000000"/>
                </a:solidFill>
                <a:latin typeface="Times New Roman" panose="02020603050405020304" pitchFamily="18" charset="0"/>
                <a:cs typeface="Times New Roman" panose="02020603050405020304" pitchFamily="18" charset="0"/>
              </a:rPr>
              <a:t>Activity)</a:t>
            </a:r>
            <a:r>
              <a:rPr lang="en-US" altLang="zh-CN" sz="2000" b="0" dirty="0">
                <a:latin typeface="宋体" panose="02010600030101010101" pitchFamily="2" charset="-122"/>
              </a:rPr>
              <a:t>、</a:t>
            </a:r>
            <a:r>
              <a:rPr lang="zh-CN" altLang="en-US" sz="2000" b="0" dirty="0">
                <a:latin typeface="宋体" panose="02010600030101010101" pitchFamily="2" charset="-122"/>
              </a:rPr>
              <a:t>产物</a:t>
            </a:r>
            <a:r>
              <a:rPr lang="zh-CN" altLang="en-US" sz="2000" b="0" dirty="0">
                <a:solidFill>
                  <a:srgbClr val="000000"/>
                </a:solidFill>
                <a:latin typeface="Times New Roman" panose="02020603050405020304" pitchFamily="18" charset="0"/>
                <a:cs typeface="Times New Roman" panose="02020603050405020304" pitchFamily="18" charset="0"/>
              </a:rPr>
              <a:t>(</a:t>
            </a:r>
            <a:r>
              <a:rPr lang="en-US" altLang="zh-CN" sz="2000" b="0" dirty="0">
                <a:solidFill>
                  <a:srgbClr val="000000"/>
                </a:solidFill>
                <a:latin typeface="Times New Roman" panose="02020603050405020304" pitchFamily="18" charset="0"/>
                <a:cs typeface="Times New Roman" panose="02020603050405020304" pitchFamily="18" charset="0"/>
              </a:rPr>
              <a:t>Artifact)</a:t>
            </a:r>
            <a:r>
              <a:rPr lang="en-US" altLang="zh-CN" sz="2000" b="0" dirty="0">
                <a:latin typeface="宋体" panose="02010600030101010101" pitchFamily="2" charset="-122"/>
              </a:rPr>
              <a:t>、</a:t>
            </a:r>
            <a:r>
              <a:rPr lang="zh-CN" altLang="en-US" sz="2000" b="0" dirty="0">
                <a:latin typeface="宋体" panose="02010600030101010101" pitchFamily="2" charset="-122"/>
              </a:rPr>
              <a:t>工作者</a:t>
            </a:r>
            <a:r>
              <a:rPr lang="zh-CN" altLang="en-US" sz="2000" b="0" dirty="0">
                <a:solidFill>
                  <a:srgbClr val="000000"/>
                </a:solidFill>
                <a:latin typeface="Times New Roman" panose="02020603050405020304" pitchFamily="18" charset="0"/>
                <a:cs typeface="Times New Roman" panose="02020603050405020304" pitchFamily="18" charset="0"/>
              </a:rPr>
              <a:t>(</a:t>
            </a:r>
            <a:r>
              <a:rPr lang="en-US" altLang="zh-CN" sz="2000" b="0" dirty="0">
                <a:solidFill>
                  <a:srgbClr val="000000"/>
                </a:solidFill>
                <a:latin typeface="Times New Roman" panose="02020603050405020304" pitchFamily="18" charset="0"/>
                <a:cs typeface="Times New Roman" panose="02020603050405020304" pitchFamily="18" charset="0"/>
              </a:rPr>
              <a:t>Worker)</a:t>
            </a:r>
            <a:r>
              <a:rPr lang="zh-CN" altLang="en-US" sz="2000" b="0" dirty="0">
                <a:latin typeface="宋体" panose="02010600030101010101" pitchFamily="2" charset="-122"/>
              </a:rPr>
              <a:t>和工作流</a:t>
            </a:r>
            <a:r>
              <a:rPr lang="zh-CN" altLang="en-US" sz="2000" b="0" dirty="0">
                <a:solidFill>
                  <a:srgbClr val="000000"/>
                </a:solidFill>
                <a:latin typeface="Times New Roman" panose="02020603050405020304" pitchFamily="18" charset="0"/>
                <a:cs typeface="Times New Roman" panose="02020603050405020304" pitchFamily="18" charset="0"/>
              </a:rPr>
              <a:t>(</a:t>
            </a:r>
            <a:r>
              <a:rPr lang="en-US" altLang="zh-CN" sz="2000" b="0" dirty="0">
                <a:solidFill>
                  <a:srgbClr val="000000"/>
                </a:solidFill>
                <a:latin typeface="Times New Roman" panose="02020603050405020304" pitchFamily="18" charset="0"/>
                <a:cs typeface="Times New Roman" panose="02020603050405020304" pitchFamily="18" charset="0"/>
              </a:rPr>
              <a:t>Workflow)</a:t>
            </a:r>
            <a:r>
              <a:rPr lang="en-US" altLang="zh-CN" sz="2000" b="0" dirty="0">
                <a:latin typeface="宋体" panose="02010600030101010101" pitchFamily="2" charset="-122"/>
              </a:rPr>
              <a:t> </a:t>
            </a:r>
            <a:endParaRPr lang="zh-CN" altLang="en-US" sz="2000" b="0" dirty="0">
              <a:latin typeface="宋体" panose="02010600030101010101" pitchFamily="2" charset="-122"/>
            </a:endParaRPr>
          </a:p>
          <a:p>
            <a:endParaRPr lang="en-US" altLang="zh-CN" dirty="0"/>
          </a:p>
          <a:p>
            <a:r>
              <a:rPr lang="zh-CN" altLang="en-US" dirty="0"/>
              <a:t>纵轴表示的是在每次迭代过程中都要经历的工作流程（有一定顺序的活动）。核心过程工作流程中描述了软件生命周期过程中的各个阶段。核心支持工作流程则是一直贯穿于生命周期活动中的管理部分的内容。</a:t>
            </a:r>
            <a:endParaRPr lang="en-US" altLang="zh-CN" dirty="0"/>
          </a:p>
          <a:p>
            <a:endParaRPr lang="en-US" altLang="zh-CN" dirty="0"/>
          </a:p>
          <a:p>
            <a:r>
              <a:rPr lang="zh-CN" altLang="en-US" dirty="0"/>
              <a:t>横轴表示整个软件开发生命周期分为多个迭代，每个迭代生成产品的一个新版本，整个软件开发生命周期由</a:t>
            </a:r>
            <a:r>
              <a:rPr lang="en-US" altLang="zh-CN" dirty="0"/>
              <a:t>4</a:t>
            </a:r>
            <a:r>
              <a:rPr lang="zh-CN" altLang="en-US" dirty="0"/>
              <a:t>个连续阶段组成。</a:t>
            </a:r>
            <a:endParaRPr lang="en-US" altLang="zh-CN" dirty="0"/>
          </a:p>
          <a:p>
            <a:endParaRPr lang="en-US" altLang="zh-CN" dirty="0"/>
          </a:p>
          <a:p>
            <a:r>
              <a:rPr lang="zh-CN" altLang="en-US" sz="1200" b="0" i="0" kern="1200" dirty="0">
                <a:solidFill>
                  <a:schemeClr val="tx1"/>
                </a:solidFill>
                <a:effectLst/>
                <a:latin typeface="Arial" panose="020B0604020202020204" pitchFamily="34" charset="0"/>
                <a:ea typeface="+mn-ea"/>
                <a:cs typeface="+mn-cs"/>
              </a:rPr>
              <a:t>尽管</a:t>
            </a:r>
            <a:r>
              <a:rPr lang="en-US" altLang="zh-CN" sz="1200" b="0" i="0" kern="1200" dirty="0">
                <a:solidFill>
                  <a:schemeClr val="tx1"/>
                </a:solidFill>
                <a:effectLst/>
                <a:latin typeface="Arial" panose="020B0604020202020204" pitchFamily="34" charset="0"/>
                <a:ea typeface="+mn-ea"/>
                <a:cs typeface="+mn-cs"/>
              </a:rPr>
              <a:t>6</a:t>
            </a:r>
            <a:r>
              <a:rPr lang="zh-CN" altLang="en-US" sz="1200" b="0" i="0" kern="1200" dirty="0">
                <a:solidFill>
                  <a:schemeClr val="tx1"/>
                </a:solidFill>
                <a:effectLst/>
                <a:latin typeface="Arial" panose="020B0604020202020204" pitchFamily="34" charset="0"/>
                <a:ea typeface="+mn-ea"/>
                <a:cs typeface="+mn-cs"/>
              </a:rPr>
              <a:t>个核心过程工作流可能使人想起传统</a:t>
            </a:r>
            <a:r>
              <a:rPr lang="zh-CN" altLang="en-US" sz="1200" b="0" i="0" u="none" strike="noStrike" kern="1200" dirty="0">
                <a:solidFill>
                  <a:schemeClr val="tx1"/>
                </a:solidFill>
                <a:effectLst/>
                <a:latin typeface="Arial" panose="020B0604020202020204" pitchFamily="34" charset="0"/>
                <a:ea typeface="+mn-ea"/>
                <a:cs typeface="+mn-cs"/>
                <a:hlinkClick r:id="rId3"/>
              </a:rPr>
              <a:t>瀑布模型</a:t>
            </a:r>
            <a:r>
              <a:rPr lang="zh-CN" altLang="en-US" sz="1200" b="0" i="0" kern="1200" dirty="0">
                <a:solidFill>
                  <a:schemeClr val="tx1"/>
                </a:solidFill>
                <a:effectLst/>
                <a:latin typeface="Arial" panose="020B0604020202020204" pitchFamily="34" charset="0"/>
                <a:ea typeface="+mn-ea"/>
                <a:cs typeface="+mn-cs"/>
              </a:rPr>
              <a:t>中的几个阶段，但应注意迭代过程中的阶段是完全不同的，这些工作流在整个生命周期中一次又一次被访问。</a:t>
            </a:r>
            <a:r>
              <a:rPr lang="en-US" altLang="zh-CN" sz="1200" b="0" i="0" kern="1200" dirty="0">
                <a:solidFill>
                  <a:schemeClr val="tx1"/>
                </a:solidFill>
                <a:effectLst/>
                <a:latin typeface="Arial" panose="020B0604020202020204" pitchFamily="34" charset="0"/>
                <a:ea typeface="+mn-ea"/>
                <a:cs typeface="+mn-cs"/>
              </a:rPr>
              <a:t>9</a:t>
            </a:r>
            <a:r>
              <a:rPr lang="zh-CN" altLang="en-US" sz="1200" b="0" i="0" kern="1200" dirty="0">
                <a:solidFill>
                  <a:schemeClr val="tx1"/>
                </a:solidFill>
                <a:effectLst/>
                <a:latin typeface="Arial" panose="020B0604020202020204" pitchFamily="34" charset="0"/>
                <a:ea typeface="+mn-ea"/>
                <a:cs typeface="+mn-cs"/>
              </a:rPr>
              <a:t>个核心工作流在项目中轮流被使用，在每一次迭代中以不同的重点和强度重复。</a:t>
            </a:r>
            <a:endParaRPr lang="zh-CN" altLang="en-US" dirty="0"/>
          </a:p>
        </p:txBody>
      </p:sp>
      <p:sp>
        <p:nvSpPr>
          <p:cNvPr id="4" name="灯片编号占位符 3"/>
          <p:cNvSpPr>
            <a:spLocks noGrp="1"/>
          </p:cNvSpPr>
          <p:nvPr>
            <p:ph type="sldNum" sz="quarter" idx="5"/>
          </p:nvPr>
        </p:nvSpPr>
        <p:spPr/>
        <p:txBody>
          <a:bodyPr/>
          <a:lstStyle/>
          <a:p>
            <a:pPr>
              <a:defRPr/>
            </a:pPr>
            <a:fld id="{1550AEDE-BB0D-47C4-9C6C-EB3DCEB346E2}"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TextEdit="1"/>
          </p:cNvSpPr>
          <p:nvPr>
            <p:ph type="sldImg"/>
          </p:nvPr>
        </p:nvSpPr>
        <p:spPr bwMode="auto">
          <a:noFill/>
          <a:ln>
            <a:solidFill>
              <a:srgbClr val="000000"/>
            </a:solidFill>
            <a:miter lim="800000"/>
          </a:ln>
        </p:spPr>
      </p:sp>
      <p:sp>
        <p:nvSpPr>
          <p:cNvPr id="114691" name="备注占位符 2"/>
          <p:cNvSpPr>
            <a:spLocks noGrp="1"/>
          </p:cNvSpPr>
          <p:nvPr>
            <p:ph type="body" idx="1"/>
          </p:nvPr>
        </p:nvSpPr>
        <p:spPr bwMode="auto">
          <a:noFill/>
        </p:spPr>
        <p:txBody>
          <a:bodyPr wrap="square" numCol="1" anchor="t" anchorCtr="0" compatLnSpc="1"/>
          <a:lstStyle/>
          <a:p>
            <a:r>
              <a:rPr lang="zh-CN" altLang="en-US" dirty="0"/>
              <a:t>初始阶段主要是定义最终产品视图和业务模型，确定系统范围。关注整个项目的业务需求。第一个阶段不需要完成所有需求或建立可靠预算和计划，这些内容是在细化的过程中逐步完成的，大部分的需求分析是在细化阶段进行的，并且伴以具有产品品质的早期编程和测试。大多数项目的初始阶段持续时间相对较短。该段的里程碑是生命周期目标，就是确定软件目标，评价软件项目的基本生存能力。</a:t>
            </a:r>
            <a:endParaRPr lang="en-US" altLang="zh-CN" dirty="0"/>
          </a:p>
          <a:p>
            <a:endParaRPr lang="en-US" altLang="zh-CN" dirty="0"/>
          </a:p>
          <a:p>
            <a:r>
              <a:rPr lang="zh-CN" altLang="en-US" dirty="0"/>
              <a:t>细化阶段主要设计、确定系统的体系结构，制订工作计划及资源要求，定义大部分的功能和性能需求，解决高风险元素，建立需求模型。通常由两个或多个迭代组成，建议每次迭代的时间为</a:t>
            </a:r>
            <a:r>
              <a:rPr lang="en-US" altLang="zh-CN" dirty="0"/>
              <a:t>2~6</a:t>
            </a:r>
            <a:r>
              <a:rPr lang="zh-CN" altLang="en-US" dirty="0"/>
              <a:t>周。该阶段不是设计阶段，不是要完成所有模型的开发，也不是创建可以丢弃的原型，所产生的代码和设计是具有产品品质的最终系统的一部分。该段的里程碑是生命周期结构，也就是构造软件结构。</a:t>
            </a:r>
            <a:endParaRPr lang="en-US" altLang="zh-CN" dirty="0"/>
          </a:p>
          <a:p>
            <a:endParaRPr lang="en-US" altLang="zh-CN" dirty="0"/>
          </a:p>
          <a:p>
            <a:r>
              <a:rPr lang="zh-CN" altLang="en-US" dirty="0"/>
              <a:t>构造阶段构造产品并继续演进需求，体系结构，计划直至产品提交，包括程序重构，设计模式。该段的里程碑是初始功能，此时的版本被称为</a:t>
            </a:r>
            <a:r>
              <a:rPr lang="en-US" altLang="zh-CN" dirty="0"/>
              <a:t>beta</a:t>
            </a:r>
            <a:r>
              <a:rPr lang="zh-CN" altLang="en-US" dirty="0"/>
              <a:t>版。</a:t>
            </a:r>
            <a:endParaRPr lang="en-US" altLang="zh-CN" dirty="0"/>
          </a:p>
          <a:p>
            <a:endParaRPr lang="en-US" altLang="zh-CN" dirty="0"/>
          </a:p>
          <a:p>
            <a:r>
              <a:rPr lang="zh-CN" altLang="en-US" dirty="0"/>
              <a:t>交付阶段把产品提交给用户使用，不能再开发新的功能（除了个别小功能或者非常基本的以外），而只是集中精力进行纠错工作，优化工作。该段的里程碑是产品发布。</a:t>
            </a:r>
            <a:endParaRPr lang="en-US" altLang="zh-CN" dirty="0"/>
          </a:p>
          <a:p>
            <a:endParaRPr lang="en-US" altLang="zh-CN" dirty="0"/>
          </a:p>
          <a:p>
            <a:r>
              <a:rPr lang="zh-CN" altLang="en-US" sz="1200" b="1" dirty="0">
                <a:effectLst/>
              </a:rPr>
              <a:t> </a:t>
            </a:r>
            <a:r>
              <a:rPr lang="zh-CN" altLang="en-US" sz="1200" b="0" dirty="0">
                <a:effectLst/>
              </a:rPr>
              <a:t>在每个阶段的每次迭代的最后，用例模型、分析模型、设计模型、实现模型都会增量，每个阶段结束的里程碑处，管理层做出是否继续、进度、预算、是否给下一阶段提供资助等决定。</a:t>
            </a:r>
            <a:endParaRPr lang="zh-CN" altLang="en-US" b="0" dirty="0"/>
          </a:p>
        </p:txBody>
      </p:sp>
      <p:sp>
        <p:nvSpPr>
          <p:cNvPr id="4" name="灯片编号占位符 3"/>
          <p:cNvSpPr>
            <a:spLocks noGrp="1"/>
          </p:cNvSpPr>
          <p:nvPr>
            <p:ph type="sldNum" sz="quarter" idx="5"/>
          </p:nvPr>
        </p:nvSpPr>
        <p:spPr/>
        <p:txBody>
          <a:bodyPr/>
          <a:lstStyle/>
          <a:p>
            <a:pPr>
              <a:defRPr/>
            </a:pPr>
            <a:fld id="{5D3F460F-C3A4-4511-B983-EE9B5BEC3B49}"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四个阶段每个都有可能经历从需求分析开始的各个步骤，只是每个步骤的高峰期会发生在相应的阶段。例如，开发实现的高峰期发生在构造阶段。实际上这样的一个开发方法论是一个二维模型。这种迭代模型的实现在很大程度上提供了及早发现隐患和错误的机会，因此被现代大型信息技术项目所采用。</a:t>
            </a:r>
            <a:endParaRPr lang="en-US" altLang="zh-CN" dirty="0"/>
          </a:p>
          <a:p>
            <a:endParaRPr lang="en-US" altLang="zh-CN" dirty="0"/>
          </a:p>
          <a:p>
            <a:r>
              <a:rPr lang="zh-CN" altLang="en-US" dirty="0"/>
              <a:t>用例是</a:t>
            </a:r>
            <a:r>
              <a:rPr lang="en-US" altLang="zh-CN" dirty="0"/>
              <a:t>RUP</a:t>
            </a:r>
            <a:r>
              <a:rPr lang="zh-CN" altLang="en-US" dirty="0"/>
              <a:t>方法论中一个非常重要的概念，一个用例就是系统的一个功能。把一个复杂的庞大的系统分割开，定义成一个个小的单元，以每个小的单元为对象进行开发。用例贯穿整个软件开发的生命周期中。</a:t>
            </a:r>
            <a:endParaRPr lang="en-US" altLang="zh-CN" dirty="0"/>
          </a:p>
          <a:p>
            <a:endParaRPr lang="en-US" altLang="zh-CN" dirty="0"/>
          </a:p>
          <a:p>
            <a:r>
              <a:rPr lang="zh-CN" altLang="en-US" dirty="0"/>
              <a:t>架构设计是系统设计的一个重要组成部分，要完成对技术和运行平台的选取，整个项目基础框架的设计，完成对公共组件的设计，如审计系统、日志系统、错误处理系统、安全系统等。设计师要对系统的可扩展性、安全性、可维护性、可延拓性、可重用性和运行速度等提出可行的解决方案。</a:t>
            </a:r>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Font typeface="+mj-lt"/>
              <a:buAutoNum type="arabicPeriod"/>
            </a:pPr>
            <a:r>
              <a:rPr lang="zh-CN" altLang="en-US" dirty="0"/>
              <a:t>每个阶段内是各种活动同时进行，即活动重叠，但是工作的重点 不一样，这是传统模型无法表达的。重叠展现了团队工作、 并行开发、各种活动之间的关系，描述了在什么时候、都有什么角色在做什么。</a:t>
            </a:r>
            <a:endParaRPr lang="en-US" altLang="zh-CN" dirty="0"/>
          </a:p>
          <a:p>
            <a:pPr marL="228600" indent="-228600">
              <a:buFont typeface="+mj-lt"/>
              <a:buAutoNum type="arabicPeriod"/>
            </a:pPr>
            <a:r>
              <a:rPr lang="en-US" altLang="zh-CN" dirty="0"/>
              <a:t>4</a:t>
            </a:r>
            <a:r>
              <a:rPr lang="zh-CN" altLang="en-US" dirty="0"/>
              <a:t>个阶段模糊了生命周期中各个阶段的活动内容的界限，更加合理。</a:t>
            </a:r>
            <a:endParaRPr lang="en-US" altLang="zh-CN" dirty="0"/>
          </a:p>
          <a:p>
            <a:pPr marL="228600" indent="-228600">
              <a:buFont typeface="+mj-lt"/>
              <a:buAutoNum type="arabicPeriod"/>
            </a:pPr>
            <a:r>
              <a:rPr lang="zh-CN" altLang="en-US" dirty="0"/>
              <a:t>表面上看缺少了软件的运行和维护阶段，但是实际上</a:t>
            </a:r>
            <a:r>
              <a:rPr lang="en-US" altLang="zh-CN" dirty="0"/>
              <a:t>RUP</a:t>
            </a:r>
            <a:r>
              <a:rPr lang="zh-CN" altLang="en-US" dirty="0"/>
              <a:t>模型中的“配置和变更管理”就是针对软件维护的，软件维护就是一次开发过程的迭代。</a:t>
            </a:r>
            <a:endParaRPr lang="en-US" altLang="zh-CN" dirty="0"/>
          </a:p>
          <a:p>
            <a:pPr marL="228600" indent="-228600">
              <a:buFont typeface="+mj-lt"/>
              <a:buAutoNum type="arabicPeriod"/>
            </a:pPr>
            <a:r>
              <a:rPr lang="zh-CN" altLang="en-US" dirty="0"/>
              <a:t>按时间组织经过初始、细化、构造、交付四个阶段的迭代是一个大的迭代，迭代的增量是提交一个新的软件版本，在各个阶段内各个活动还可能经过若干次小的迭代，这是辅助迭代，产生一个增量，通过迭代逐步逼近里程碑。迭代可以适应需求的变化，通过不断的细化来加深对问题的理解。阶段内的每次迭代可以采用瀑布或者原型法，也可以采用</a:t>
            </a:r>
            <a:r>
              <a:rPr lang="en-US" altLang="zh-CN" dirty="0"/>
              <a:t>XP</a:t>
            </a:r>
            <a:r>
              <a:rPr lang="zh-CN" altLang="en-US" dirty="0"/>
              <a:t>方法，迭代的内容是可计划的，可控的，由项目的管理者决定迭代的次数、每次迭代的内容、目标。</a:t>
            </a:r>
            <a:endParaRPr lang="en-US" altLang="zh-CN" dirty="0"/>
          </a:p>
          <a:p>
            <a:pPr marL="228600" indent="-228600">
              <a:buFont typeface="+mj-lt"/>
              <a:buAutoNum type="arabicPeriod"/>
            </a:pPr>
            <a:r>
              <a:rPr lang="zh-CN" altLang="en-US" dirty="0"/>
              <a:t>基线就是连续工作的分界点，得到上一个时期结束时刻点的“快照”，作为下一步开发的出发点和参考点。在“配置与变更管理”中具有重要的作用。里程碑是计划中确定的阶段性工作完成目标，要求提交阶段交付物，作为阶段评估的标准。决策者可根据评估的结果确定下一阶段工作的策略。基线是阶段的起点，为了建立参照点，里程碑是阶段的终点，是建立阶段性目标。</a:t>
            </a:r>
            <a:endParaRPr lang="en-US" altLang="zh-CN" dirty="0"/>
          </a:p>
          <a:p>
            <a:pPr marL="228600" indent="-228600">
              <a:buFont typeface="+mj-lt"/>
              <a:buAutoNum type="arabicPeriod"/>
            </a:pPr>
            <a:r>
              <a:rPr lang="en-US" altLang="zh-CN" dirty="0"/>
              <a:t>RUP</a:t>
            </a:r>
            <a:r>
              <a:rPr lang="zh-CN" altLang="en-US" dirty="0"/>
              <a:t>提供的不是规范，是一种参考模型，主要是融汇了迭代式开发，基线与里程碑、控制变更等管理思想，软件组织可根据实际需要进行裁剪，组成企业特点的软件过程模型。</a:t>
            </a:r>
            <a:endParaRPr lang="en-US" altLang="zh-CN" dirty="0"/>
          </a:p>
        </p:txBody>
      </p:sp>
      <p:sp>
        <p:nvSpPr>
          <p:cNvPr id="4" name="灯片编号占位符 3"/>
          <p:cNvSpPr>
            <a:spLocks noGrp="1"/>
          </p:cNvSpPr>
          <p:nvPr>
            <p:ph type="sldNum" sz="quarter" idx="5"/>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Rectangle 6"/>
          <p:cNvSpPr/>
          <p:nvPr userDrawn="1"/>
        </p:nvSpPr>
        <p:spPr>
          <a:xfrm>
            <a:off x="0" y="-1"/>
            <a:ext cx="9144000" cy="34290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3720103"/>
            <a:ext cx="5829300" cy="1097280"/>
          </a:xfrm>
        </p:spPr>
        <p:txBody>
          <a:bodyPr anchor="ctr">
            <a:normAutofit/>
          </a:bodyPr>
          <a:lstStyle>
            <a:lvl1pPr algn="r">
              <a:defRPr sz="3750" spc="150" baseline="0"/>
            </a:lvl1pPr>
          </a:lstStyle>
          <a:p>
            <a:r>
              <a:rPr lang="zh-CN" altLang="en-US" dirty="0"/>
              <a:t>单击此处编辑母版标题样式</a:t>
            </a:r>
            <a:endParaRPr lang="en-US" dirty="0"/>
          </a:p>
        </p:txBody>
      </p:sp>
      <p:sp>
        <p:nvSpPr>
          <p:cNvPr id="3" name="Subtitle 2"/>
          <p:cNvSpPr>
            <a:spLocks noGrp="1"/>
          </p:cNvSpPr>
          <p:nvPr>
            <p:ph type="subTitle" idx="1" hasCustomPrompt="1"/>
          </p:nvPr>
        </p:nvSpPr>
        <p:spPr>
          <a:xfrm>
            <a:off x="6457950" y="3720103"/>
            <a:ext cx="2400300" cy="1097280"/>
          </a:xfrm>
        </p:spPr>
        <p:txBody>
          <a:bodyPr lIns="91440" rIns="91440" anchor="ctr">
            <a:normAutofit/>
          </a:bodyPr>
          <a:lstStyle>
            <a:lvl1pPr marL="0" indent="0" algn="l">
              <a:lnSpc>
                <a:spcPct val="100000"/>
              </a:lnSpc>
              <a:spcBef>
                <a:spcPts val="0"/>
              </a:spcBef>
              <a:buNone/>
              <a:defRPr sz="1350">
                <a:solidFill>
                  <a:schemeClr val="tx1">
                    <a:lumMod val="90000"/>
                    <a:lumOff val="10000"/>
                  </a:schemeClr>
                </a:solidFill>
              </a:defRPr>
            </a:lvl1pPr>
            <a:lvl2pPr marL="342900" indent="0" algn="ctr">
              <a:buNone/>
              <a:defRPr sz="1350"/>
            </a:lvl2pPr>
            <a:lvl3pPr marL="685800" indent="0" algn="ctr">
              <a:buNone/>
              <a:defRPr sz="1350"/>
            </a:lvl3pPr>
            <a:lvl4pPr marL="1028700" indent="0" algn="ctr">
              <a:buNone/>
              <a:defRPr sz="1350"/>
            </a:lvl4pPr>
            <a:lvl5pPr marL="1371600" indent="0" algn="ctr">
              <a:buNone/>
              <a:defRPr sz="1350"/>
            </a:lvl5pPr>
            <a:lvl6pPr marL="1714500" indent="0" algn="ctr">
              <a:buNone/>
              <a:defRPr sz="1350"/>
            </a:lvl6pPr>
            <a:lvl7pPr marL="2057400" indent="0" algn="ctr">
              <a:buNone/>
              <a:defRPr sz="1350"/>
            </a:lvl7pPr>
            <a:lvl8pPr marL="2400300" indent="0" algn="ctr">
              <a:buNone/>
              <a:defRPr sz="1350"/>
            </a:lvl8pPr>
            <a:lvl9pPr marL="2743200" indent="0" algn="ctr">
              <a:buNone/>
              <a:defRPr sz="1350"/>
            </a:lvl9pPr>
          </a:lstStyle>
          <a:p>
            <a:r>
              <a:rPr lang="zh-CN" altLang="en-US" dirty="0"/>
              <a:t>单击以编辑母版副标题样式</a:t>
            </a:r>
            <a:endParaRPr lang="en-US" dirty="0"/>
          </a:p>
        </p:txBody>
      </p:sp>
      <p:sp>
        <p:nvSpPr>
          <p:cNvPr id="4" name="Date Placeholder 3"/>
          <p:cNvSpPr>
            <a:spLocks noGrp="1"/>
          </p:cNvSpPr>
          <p:nvPr>
            <p:ph type="dt" sz="half" idx="10"/>
          </p:nvPr>
        </p:nvSpPr>
        <p:spPr/>
        <p:txBody>
          <a:bodyPr/>
          <a:lstStyle>
            <a:lvl1pPr algn="ctr">
              <a:defRPr sz="1600">
                <a:latin typeface="+mn-lt"/>
              </a:defRPr>
            </a:lvl1pPr>
          </a:lstStyle>
          <a:p>
            <a:fld id="{60FB8FB2-9769-4F22-8580-D43F76E3F213}" type="datetime1">
              <a:rPr lang="zh-CN" altLang="en-US" smtClean="0"/>
            </a:fld>
            <a:endParaRPr lang="zh-CN" altLang="en-US" dirty="0"/>
          </a:p>
        </p:txBody>
      </p:sp>
      <p:sp>
        <p:nvSpPr>
          <p:cNvPr id="5" name="Footer Placeholder 4"/>
          <p:cNvSpPr>
            <a:spLocks noGrp="1"/>
          </p:cNvSpPr>
          <p:nvPr>
            <p:ph type="ftr" sz="quarter" idx="11"/>
          </p:nvPr>
        </p:nvSpPr>
        <p:spPr>
          <a:xfrm>
            <a:off x="2298032" y="4853028"/>
            <a:ext cx="5760261" cy="205740"/>
          </a:xfrm>
        </p:spPr>
        <p:txBody>
          <a:bodyPr/>
          <a:lstStyle>
            <a:lvl1pPr algn="ctr">
              <a:defRPr sz="1600">
                <a:latin typeface="+mn-lt"/>
              </a:defRPr>
            </a:lvl1pPr>
          </a:lstStyle>
          <a:p>
            <a:r>
              <a:rPr lang="zh-CN" altLang="en-US"/>
              <a:t>软件工程</a:t>
            </a:r>
            <a:endParaRPr lang="zh-CN" altLang="en-US" dirty="0"/>
          </a:p>
        </p:txBody>
      </p:sp>
      <p:sp>
        <p:nvSpPr>
          <p:cNvPr id="6" name="Slide Number Placeholder 5"/>
          <p:cNvSpPr>
            <a:spLocks noGrp="1"/>
          </p:cNvSpPr>
          <p:nvPr>
            <p:ph type="sldNum" sz="quarter" idx="12"/>
          </p:nvPr>
        </p:nvSpPr>
        <p:spPr/>
        <p:txBody>
          <a:bodyPr/>
          <a:lstStyle>
            <a:lvl1pPr algn="ctr">
              <a:defRPr sz="1600">
                <a:latin typeface="+mn-lt"/>
              </a:defRPr>
            </a:lvl1pPr>
          </a:lstStyle>
          <a:p>
            <a:fld id="{F528F39D-B5E5-4CA7-906C-979D5A62978D}" type="slidenum">
              <a:rPr lang="zh-CN" altLang="en-US" smtClean="0"/>
            </a:fld>
            <a:endParaRPr lang="zh-CN" altLang="en-US"/>
          </a:p>
        </p:txBody>
      </p:sp>
      <p:cxnSp>
        <p:nvCxnSpPr>
          <p:cNvPr id="8" name="Straight Connector 7"/>
          <p:cNvCxnSpPr/>
          <p:nvPr/>
        </p:nvCxnSpPr>
        <p:spPr>
          <a:xfrm flipV="1">
            <a:off x="6290132" y="3948080"/>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42900" y="114820"/>
            <a:ext cx="692368" cy="69236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hasCustomPrompt="1"/>
          </p:nvPr>
        </p:nvSpPr>
        <p:spPr/>
        <p:txBody>
          <a:bodyPr/>
          <a:lstStyle>
            <a:lvl3pPr marL="1080135" indent="-288290">
              <a:buFont typeface="Wingdings 3" panose="05040102010807070707" pitchFamily="18" charset="2"/>
              <a:buChar char=""/>
              <a:defRPr/>
            </a:lvl3pPr>
            <a:lvl4pPr marL="1259840" indent="-288290">
              <a:buFont typeface="Wingdings 3" panose="05040102010807070707" pitchFamily="18" charset="2"/>
              <a:buChar char=""/>
              <a:defRPr/>
            </a:lvl4pPr>
            <a:lvl5pPr marL="1440180" indent="-288290">
              <a:buFont typeface="Wingdings 3" panose="05040102010807070707" pitchFamily="18" charset="2"/>
              <a:buChar char=""/>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p:txBody>
          <a:bodyPr/>
          <a:lstStyle>
            <a:lvl1pPr algn="ctr">
              <a:defRPr sz="1600" b="0">
                <a:solidFill>
                  <a:schemeClr val="bg1"/>
                </a:solidFill>
                <a:latin typeface="+mn-lt"/>
              </a:defRPr>
            </a:lvl1pPr>
          </a:lstStyle>
          <a:p>
            <a:fld id="{D7326FFE-7CCA-4C0D-B453-625569992FBB}" type="datetime1">
              <a:rPr lang="zh-CN" altLang="en-US" smtClean="0"/>
            </a:fld>
            <a:endParaRPr lang="zh-CN" altLang="en-US" dirty="0"/>
          </a:p>
        </p:txBody>
      </p:sp>
      <p:sp>
        <p:nvSpPr>
          <p:cNvPr id="5" name="Footer Placeholder 4"/>
          <p:cNvSpPr>
            <a:spLocks noGrp="1"/>
          </p:cNvSpPr>
          <p:nvPr>
            <p:ph type="ftr" sz="quarter" idx="11"/>
          </p:nvPr>
        </p:nvSpPr>
        <p:spPr>
          <a:xfrm>
            <a:off x="2383703" y="4853028"/>
            <a:ext cx="5674590" cy="205740"/>
          </a:xfrm>
        </p:spPr>
        <p:txBody>
          <a:bodyPr/>
          <a:lstStyle>
            <a:lvl1pPr algn="ctr">
              <a:defRPr sz="1600" b="0">
                <a:solidFill>
                  <a:schemeClr val="bg1"/>
                </a:solidFill>
                <a:latin typeface="+mn-lt"/>
              </a:defRPr>
            </a:lvl1pPr>
          </a:lstStyle>
          <a:p>
            <a:r>
              <a:rPr lang="zh-CN" altLang="en-US" dirty="0"/>
              <a:t>软件工程</a:t>
            </a:r>
            <a:endParaRPr lang="zh-CN" altLang="en-US" dirty="0"/>
          </a:p>
        </p:txBody>
      </p:sp>
      <p:sp>
        <p:nvSpPr>
          <p:cNvPr id="6" name="Slide Number Placeholder 5"/>
          <p:cNvSpPr>
            <a:spLocks noGrp="1"/>
          </p:cNvSpPr>
          <p:nvPr>
            <p:ph type="sldNum" sz="quarter" idx="12"/>
          </p:nvPr>
        </p:nvSpPr>
        <p:spPr/>
        <p:txBody>
          <a:bodyPr/>
          <a:lstStyle>
            <a:lvl1pPr algn="ctr">
              <a:defRPr sz="1600" b="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095958" y="-12032"/>
            <a:ext cx="7882609" cy="860498"/>
          </a:xfrm>
        </p:spPr>
        <p:txBody>
          <a:bodyPr/>
          <a:lstStyle/>
          <a:p>
            <a:r>
              <a:rPr lang="zh-CN" altLang="en-US" dirty="0"/>
              <a:t>单击此处编辑母版标题样式</a:t>
            </a:r>
            <a:endParaRPr lang="en-US" dirty="0"/>
          </a:p>
        </p:txBody>
      </p:sp>
      <p:sp>
        <p:nvSpPr>
          <p:cNvPr id="3" name="Content Placeholder 2"/>
          <p:cNvSpPr>
            <a:spLocks noGrp="1"/>
          </p:cNvSpPr>
          <p:nvPr>
            <p:ph sz="half" idx="1" hasCustomPrompt="1"/>
          </p:nvPr>
        </p:nvSpPr>
        <p:spPr>
          <a:xfrm>
            <a:off x="768096" y="969475"/>
            <a:ext cx="3566160" cy="3762546"/>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Content Placeholder 3"/>
          <p:cNvSpPr>
            <a:spLocks noGrp="1"/>
          </p:cNvSpPr>
          <p:nvPr>
            <p:ph sz="half" idx="2" hasCustomPrompt="1"/>
          </p:nvPr>
        </p:nvSpPr>
        <p:spPr>
          <a:xfrm>
            <a:off x="4491990" y="969473"/>
            <a:ext cx="3566160" cy="3762547"/>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5" name="Date Placeholder 4"/>
          <p:cNvSpPr>
            <a:spLocks noGrp="1"/>
          </p:cNvSpPr>
          <p:nvPr>
            <p:ph type="dt" sz="half" idx="10"/>
          </p:nvPr>
        </p:nvSpPr>
        <p:spPr/>
        <p:txBody>
          <a:bodyPr/>
          <a:lstStyle>
            <a:lvl1pPr algn="ctr">
              <a:defRPr sz="1600">
                <a:solidFill>
                  <a:schemeClr val="bg1"/>
                </a:solidFill>
                <a:latin typeface="+mn-lt"/>
              </a:defRPr>
            </a:lvl1pPr>
          </a:lstStyle>
          <a:p>
            <a:fld id="{B74AB904-11F0-40D2-A521-063F99E152E4}" type="datetime1">
              <a:rPr lang="zh-CN" altLang="en-US" smtClean="0"/>
            </a:fld>
            <a:endParaRPr lang="zh-CN" altLang="en-US" dirty="0"/>
          </a:p>
        </p:txBody>
      </p:sp>
      <p:sp>
        <p:nvSpPr>
          <p:cNvPr id="6" name="Footer Placeholder 5"/>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7" name="Slide Number Placeholder 6"/>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80918" y="0"/>
            <a:ext cx="7290054" cy="848467"/>
          </a:xfrm>
        </p:spPr>
        <p:txBody>
          <a:bodyPr/>
          <a:lstStyle/>
          <a:p>
            <a:r>
              <a:rPr lang="zh-CN" altLang="en-US" dirty="0"/>
              <a:t>单击此处编辑母版标题样式</a:t>
            </a:r>
            <a:endParaRPr lang="en-US" dirty="0"/>
          </a:p>
        </p:txBody>
      </p:sp>
      <p:sp>
        <p:nvSpPr>
          <p:cNvPr id="3" name="Text Placeholder 2"/>
          <p:cNvSpPr>
            <a:spLocks noGrp="1"/>
          </p:cNvSpPr>
          <p:nvPr>
            <p:ph type="body" idx="1" hasCustomPrompt="1"/>
          </p:nvPr>
        </p:nvSpPr>
        <p:spPr>
          <a:xfrm>
            <a:off x="768096" y="993491"/>
            <a:ext cx="3566160" cy="617220"/>
          </a:xfrm>
        </p:spPr>
        <p:txBody>
          <a:bodyPr lIns="137160" rIns="137160" anchor="ctr">
            <a:normAutofit/>
          </a:bodyPr>
          <a:lstStyle>
            <a:lvl1pPr marL="0" indent="0">
              <a:spcBef>
                <a:spcPts val="0"/>
              </a:spcBef>
              <a:spcAft>
                <a:spcPts val="0"/>
              </a:spcAft>
              <a:buNone/>
              <a:defRPr sz="1725" b="0" cap="none" baseline="0">
                <a:solidFill>
                  <a:schemeClr val="accent2">
                    <a:lumMod val="75000"/>
                  </a:schemeClr>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768096" y="1584605"/>
            <a:ext cx="3566160" cy="2506179"/>
          </a:xfrm>
        </p:spPr>
        <p:txBody>
          <a:bodyPr lIns="45720" rIns="4572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4491990" y="993491"/>
            <a:ext cx="3566160" cy="617220"/>
          </a:xfrm>
        </p:spPr>
        <p:txBody>
          <a:bodyPr lIns="137160" rIns="137160" anchor="ctr">
            <a:normAutofit/>
          </a:bodyPr>
          <a:lstStyle>
            <a:lvl1pPr marL="0" indent="0">
              <a:spcBef>
                <a:spcPts val="0"/>
              </a:spcBef>
              <a:spcAft>
                <a:spcPts val="0"/>
              </a:spcAft>
              <a:buNone/>
              <a:defRPr lang="en-US" sz="1725" b="0" kern="1200" cap="none" baseline="0" dirty="0">
                <a:solidFill>
                  <a:schemeClr val="accent2">
                    <a:lumMod val="75000"/>
                  </a:schemeClr>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350"/>
              </a:spcBef>
              <a:buNone/>
            </a:pPr>
            <a:r>
              <a:rPr lang="zh-CN" altLang="en-US"/>
              <a:t>编辑母版文本样式</a:t>
            </a:r>
            <a:endParaRPr lang="zh-CN" altLang="en-US"/>
          </a:p>
        </p:txBody>
      </p:sp>
      <p:sp>
        <p:nvSpPr>
          <p:cNvPr id="6" name="Content Placeholder 5"/>
          <p:cNvSpPr>
            <a:spLocks noGrp="1"/>
          </p:cNvSpPr>
          <p:nvPr>
            <p:ph sz="quarter" idx="4" hasCustomPrompt="1"/>
          </p:nvPr>
        </p:nvSpPr>
        <p:spPr>
          <a:xfrm>
            <a:off x="4491990" y="1584605"/>
            <a:ext cx="3566160" cy="2506179"/>
          </a:xfrm>
        </p:spPr>
        <p:txBody>
          <a:bodyPr lIns="45720" rIns="4572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lvl1pPr algn="ctr">
              <a:defRPr sz="1600">
                <a:solidFill>
                  <a:schemeClr val="bg1"/>
                </a:solidFill>
                <a:latin typeface="+mn-lt"/>
              </a:defRPr>
            </a:lvl1pPr>
          </a:lstStyle>
          <a:p>
            <a:fld id="{0529599E-9530-48C5-9CAF-172E1B800D9B}" type="datetime1">
              <a:rPr lang="zh-CN" altLang="en-US" smtClean="0"/>
            </a:fld>
            <a:endParaRPr lang="zh-CN" altLang="en-US"/>
          </a:p>
        </p:txBody>
      </p:sp>
      <p:sp>
        <p:nvSpPr>
          <p:cNvPr id="8" name="Footer Placeholder 7"/>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9" name="Slide Number Placeholder 8"/>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algn="ctr">
              <a:defRPr sz="1600">
                <a:solidFill>
                  <a:schemeClr val="bg1"/>
                </a:solidFill>
                <a:latin typeface="+mn-lt"/>
              </a:defRPr>
            </a:lvl1pPr>
          </a:lstStyle>
          <a:p>
            <a:fld id="{5902FD77-8323-485D-87E2-91A0E9C84954}" type="datetime1">
              <a:rPr lang="zh-CN" altLang="en-US" smtClean="0"/>
            </a:fld>
            <a:endParaRPr lang="zh-CN" altLang="en-US"/>
          </a:p>
        </p:txBody>
      </p:sp>
      <p:sp>
        <p:nvSpPr>
          <p:cNvPr id="4" name="Footer Placeholder 3"/>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5" name="Slide Number Placeholder 4"/>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hasCustomPrompt="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F8EDE902-01B3-453F-A2EE-45228A659E9E}" type="datetime1">
              <a:rPr lang="zh-CN" altLang="en-US" smtClean="0"/>
            </a:fld>
            <a:endParaRPr lang="zh-CN" altLang="en-US"/>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1_节标题">
    <p:spTree>
      <p:nvGrpSpPr>
        <p:cNvPr id="1" name=""/>
        <p:cNvGrpSpPr/>
        <p:nvPr/>
      </p:nvGrpSpPr>
      <p:grpSpPr>
        <a:xfrm>
          <a:off x="0" y="0"/>
          <a:ext cx="0" cy="0"/>
          <a:chOff x="0" y="0"/>
          <a:chExt cx="0" cy="0"/>
        </a:xfrm>
      </p:grpSpPr>
      <p:sp>
        <p:nvSpPr>
          <p:cNvPr id="2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DAEA8122-0D78-4844-A578-3876484268E6}"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dirty="0"/>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8342" y="-14837"/>
            <a:ext cx="692368" cy="692368"/>
          </a:xfrm>
          <a:prstGeom prst="rect">
            <a:avLst/>
          </a:prstGeom>
        </p:spPr>
      </p:pic>
      <p:cxnSp>
        <p:nvCxnSpPr>
          <p:cNvPr id="9" name="Straight Connector 6"/>
          <p:cNvCxnSpPr/>
          <p:nvPr userDrawn="1"/>
        </p:nvCxnSpPr>
        <p:spPr>
          <a:xfrm flipV="1">
            <a:off x="574526" y="677531"/>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4223189" y="780125"/>
            <a:ext cx="0" cy="3867561"/>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3" name="椭圆 22"/>
          <p:cNvSpPr/>
          <p:nvPr userDrawn="1"/>
        </p:nvSpPr>
        <p:spPr>
          <a:xfrm>
            <a:off x="835829" y="1395230"/>
            <a:ext cx="1992037" cy="1992037"/>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4" name="MH_Others_1"/>
          <p:cNvSpPr txBox="1"/>
          <p:nvPr userDrawn="1">
            <p:custDataLst>
              <p:tags r:id="rId3"/>
            </p:custDataLst>
          </p:nvPr>
        </p:nvSpPr>
        <p:spPr>
          <a:xfrm>
            <a:off x="1448688" y="1467661"/>
            <a:ext cx="1286564" cy="1847174"/>
          </a:xfrm>
          <a:prstGeom prst="rect">
            <a:avLst/>
          </a:prstGeom>
          <a:noFill/>
        </p:spPr>
        <p:txBody>
          <a:bodyPr wrap="square" lIns="0" tIns="0" rIns="0" bIns="0" rtlCol="0" anchor="ctr" anchorCtr="0">
            <a:noAutofit/>
          </a:bodyPr>
          <a:lstStyle/>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目</a:t>
            </a:r>
            <a:endParaRPr lang="en-US" altLang="zh-CN"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录</a:t>
            </a:r>
            <a:endPar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25" name="MH_Others_2"/>
          <p:cNvSpPr txBox="1"/>
          <p:nvPr userDrawn="1">
            <p:custDataLst>
              <p:tags r:id="rId4"/>
            </p:custDataLst>
          </p:nvPr>
        </p:nvSpPr>
        <p:spPr>
          <a:xfrm rot="5400000">
            <a:off x="589962" y="2191193"/>
            <a:ext cx="1932333" cy="400110"/>
          </a:xfrm>
          <a:prstGeom prst="rect">
            <a:avLst/>
          </a:prstGeom>
          <a:noFill/>
        </p:spPr>
        <p:txBody>
          <a:bodyPr wrap="square">
            <a:spAutoFit/>
          </a:bodyPr>
          <a:lstStyle/>
          <a:p>
            <a:pPr algn="ctr">
              <a:defRPr/>
            </a:pPr>
            <a:r>
              <a:rPr lang="en-US" altLang="zh-CN" sz="2000"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userDrawn="1"/>
        </p:nvSpPr>
        <p:spPr>
          <a:xfrm>
            <a:off x="0" y="1342074"/>
            <a:ext cx="9144000" cy="38014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标题 1"/>
          <p:cNvSpPr>
            <a:spLocks noGrp="1"/>
          </p:cNvSpPr>
          <p:nvPr>
            <p:ph type="title" hasCustomPrompt="1"/>
          </p:nvPr>
        </p:nvSpPr>
        <p:spPr>
          <a:xfrm>
            <a:off x="952609" y="385011"/>
            <a:ext cx="7886700" cy="935851"/>
          </a:xfrm>
        </p:spPr>
        <p:txBody>
          <a:bodyPr anchor="b">
            <a:normAutofit/>
          </a:bodyPr>
          <a:lstStyle>
            <a:lvl1pPr>
              <a:defRPr sz="4000">
                <a:solidFill>
                  <a:schemeClr val="tx2"/>
                </a:solidFill>
              </a:defRPr>
            </a:lvl1pPr>
          </a:lstStyle>
          <a:p>
            <a:r>
              <a:rPr lang="zh-CN" altLang="en-US" dirty="0"/>
              <a:t>编辑母版标</a:t>
            </a:r>
            <a:endParaRPr lang="zh-CN" altLang="en-US" dirty="0"/>
          </a:p>
        </p:txBody>
      </p:sp>
      <p:sp>
        <p:nvSpPr>
          <p:cNvPr id="3" name="文本占位符 2"/>
          <p:cNvSpPr>
            <a:spLocks noGrp="1"/>
          </p:cNvSpPr>
          <p:nvPr>
            <p:ph type="body" idx="1" hasCustomPrompt="1"/>
          </p:nvPr>
        </p:nvSpPr>
        <p:spPr>
          <a:xfrm>
            <a:off x="768096" y="1506009"/>
            <a:ext cx="7886700" cy="3090054"/>
          </a:xfrm>
        </p:spPr>
        <p:txBody>
          <a:bodyPr>
            <a:normAutofit/>
          </a:bodyPr>
          <a:lstStyle>
            <a:lvl1pPr marL="0" indent="0">
              <a:lnSpc>
                <a:spcPct val="120000"/>
              </a:lnSpc>
              <a:spcBef>
                <a:spcPts val="1200"/>
              </a:spcBef>
              <a:spcAft>
                <a:spcPts val="0"/>
              </a:spcAft>
              <a:buNone/>
              <a:defRPr sz="2800" b="0">
                <a:solidFill>
                  <a:schemeClr val="bg1"/>
                </a:solidFill>
                <a:latin typeface="+mj-ea"/>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endParaRPr lang="zh-CN" altLang="en-US" dirty="0"/>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FE1C514A-AFAF-433D-949D-3F3495E7683C}"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60241" y="17062"/>
            <a:ext cx="692368" cy="692368"/>
          </a:xfrm>
          <a:prstGeom prst="rect">
            <a:avLst/>
          </a:prstGeom>
        </p:spPr>
      </p:pic>
      <p:cxnSp>
        <p:nvCxnSpPr>
          <p:cNvPr id="9" name="Straight Connector 6"/>
          <p:cNvCxnSpPr/>
          <p:nvPr userDrawn="1"/>
        </p:nvCxnSpPr>
        <p:spPr>
          <a:xfrm flipV="1">
            <a:off x="606425" y="649706"/>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lgn="ctr">
              <a:defRPr sz="1600">
                <a:solidFill>
                  <a:schemeClr val="bg1"/>
                </a:solidFill>
                <a:latin typeface="+mn-lt"/>
              </a:defRPr>
            </a:lvl1pPr>
          </a:lstStyle>
          <a:p>
            <a:fld id="{9865EC83-5FAA-4FE9-BB65-5544193D6B0B}" type="datetime1">
              <a:rPr lang="zh-CN" altLang="en-US" smtClean="0"/>
            </a:fld>
            <a:endParaRPr lang="zh-CN" altLang="en-US"/>
          </a:p>
        </p:txBody>
      </p:sp>
      <p:sp>
        <p:nvSpPr>
          <p:cNvPr id="3" name="页脚占位符 2"/>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120" name="文本框 119"/>
          <p:cNvSpPr txBox="1"/>
          <p:nvPr userDrawn="1"/>
        </p:nvSpPr>
        <p:spPr>
          <a:xfrm>
            <a:off x="4264202" y="2007508"/>
            <a:ext cx="4241369" cy="1223412"/>
          </a:xfrm>
          <a:prstGeom prst="rect">
            <a:avLst/>
          </a:prstGeom>
          <a:noFill/>
        </p:spPr>
        <p:txBody>
          <a:bodyPr wrap="square" rtlCol="0" anchor="ct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lvl="0">
              <a:defRPr sz="11500" spc="50">
                <a:ln w="11430"/>
                <a:solidFill>
                  <a:srgbClr val="008EE6"/>
                </a:solidFill>
                <a:effectLst>
                  <a:outerShdw blurRad="38100" dist="38100" dir="2700000" algn="tl">
                    <a:srgbClr val="000000">
                      <a:alpha val="43137"/>
                    </a:srgbClr>
                  </a:outerShdw>
                </a:effectLst>
                <a:latin typeface="华康俪金黑W8(P)" pitchFamily="34" charset="-122"/>
                <a:ea typeface="华康俪金黑W8(P)" pitchFamily="34" charset="-122"/>
                <a:cs typeface="经典繁仿黑" pitchFamily="49" charset="-122"/>
              </a:defRPr>
            </a:lvl1pPr>
          </a:lstStyle>
          <a:p>
            <a:pPr lvl="0"/>
            <a:r>
              <a:rPr lang="zh-CN" altLang="en-US" sz="7350" dirty="0">
                <a:solidFill>
                  <a:schemeClr val="tx1">
                    <a:lumMod val="65000"/>
                    <a:lumOff val="35000"/>
                  </a:schemeClr>
                </a:solidFill>
              </a:rPr>
              <a:t>谢谢聆听</a:t>
            </a:r>
            <a:endParaRPr lang="en-US" altLang="zh-CN" sz="7350" dirty="0">
              <a:solidFill>
                <a:schemeClr val="tx1">
                  <a:lumMod val="65000"/>
                  <a:lumOff val="35000"/>
                </a:schemeClr>
              </a:solidFill>
            </a:endParaRPr>
          </a:p>
        </p:txBody>
      </p:sp>
      <p:grpSp>
        <p:nvGrpSpPr>
          <p:cNvPr id="4" name="组合 3"/>
          <p:cNvGrpSpPr/>
          <p:nvPr userDrawn="1"/>
        </p:nvGrpSpPr>
        <p:grpSpPr>
          <a:xfrm>
            <a:off x="833860" y="1704155"/>
            <a:ext cx="3193793" cy="2085294"/>
            <a:chOff x="705272" y="1639861"/>
            <a:chExt cx="3193793" cy="2085294"/>
          </a:xfrm>
        </p:grpSpPr>
        <p:grpSp>
          <p:nvGrpSpPr>
            <p:cNvPr id="2" name="组合 1"/>
            <p:cNvGrpSpPr/>
            <p:nvPr userDrawn="1"/>
          </p:nvGrpSpPr>
          <p:grpSpPr>
            <a:xfrm>
              <a:off x="705272" y="1639861"/>
              <a:ext cx="3193793" cy="2085294"/>
              <a:chOff x="721633" y="1980294"/>
              <a:chExt cx="3233738" cy="2111375"/>
            </a:xfrm>
          </p:grpSpPr>
          <p:sp>
            <p:nvSpPr>
              <p:cNvPr id="9" name="Freeform 148"/>
              <p:cNvSpPr/>
              <p:nvPr userDrawn="1"/>
            </p:nvSpPr>
            <p:spPr bwMode="auto">
              <a:xfrm>
                <a:off x="721633" y="1980294"/>
                <a:ext cx="3233738" cy="2111375"/>
              </a:xfrm>
              <a:custGeom>
                <a:avLst/>
                <a:gdLst>
                  <a:gd name="T0" fmla="*/ 778 w 861"/>
                  <a:gd name="T1" fmla="*/ 437 h 562"/>
                  <a:gd name="T2" fmla="*/ 778 w 861"/>
                  <a:gd name="T3" fmla="*/ 21 h 562"/>
                  <a:gd name="T4" fmla="*/ 756 w 861"/>
                  <a:gd name="T5" fmla="*/ 0 h 562"/>
                  <a:gd name="T6" fmla="*/ 105 w 861"/>
                  <a:gd name="T7" fmla="*/ 0 h 562"/>
                  <a:gd name="T8" fmla="*/ 84 w 861"/>
                  <a:gd name="T9" fmla="*/ 21 h 562"/>
                  <a:gd name="T10" fmla="*/ 84 w 861"/>
                  <a:gd name="T11" fmla="*/ 436 h 562"/>
                  <a:gd name="T12" fmla="*/ 0 w 861"/>
                  <a:gd name="T13" fmla="*/ 530 h 562"/>
                  <a:gd name="T14" fmla="*/ 24 w 861"/>
                  <a:gd name="T15" fmla="*/ 562 h 562"/>
                  <a:gd name="T16" fmla="*/ 838 w 861"/>
                  <a:gd name="T17" fmla="*/ 562 h 562"/>
                  <a:gd name="T18" fmla="*/ 861 w 861"/>
                  <a:gd name="T19" fmla="*/ 530 h 562"/>
                  <a:gd name="T20" fmla="*/ 778 w 861"/>
                  <a:gd name="T21" fmla="*/ 437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61" h="562">
                    <a:moveTo>
                      <a:pt x="778" y="437"/>
                    </a:moveTo>
                    <a:cubicBezTo>
                      <a:pt x="778" y="21"/>
                      <a:pt x="778" y="21"/>
                      <a:pt x="778" y="21"/>
                    </a:cubicBezTo>
                    <a:cubicBezTo>
                      <a:pt x="778" y="9"/>
                      <a:pt x="768" y="0"/>
                      <a:pt x="756" y="0"/>
                    </a:cubicBezTo>
                    <a:cubicBezTo>
                      <a:pt x="105" y="0"/>
                      <a:pt x="105" y="0"/>
                      <a:pt x="105" y="0"/>
                    </a:cubicBezTo>
                    <a:cubicBezTo>
                      <a:pt x="93" y="0"/>
                      <a:pt x="84" y="9"/>
                      <a:pt x="84" y="21"/>
                    </a:cubicBezTo>
                    <a:cubicBezTo>
                      <a:pt x="84" y="436"/>
                      <a:pt x="84" y="436"/>
                      <a:pt x="84" y="436"/>
                    </a:cubicBezTo>
                    <a:cubicBezTo>
                      <a:pt x="0" y="530"/>
                      <a:pt x="0" y="530"/>
                      <a:pt x="0" y="530"/>
                    </a:cubicBezTo>
                    <a:cubicBezTo>
                      <a:pt x="0" y="543"/>
                      <a:pt x="11" y="562"/>
                      <a:pt x="24" y="562"/>
                    </a:cubicBezTo>
                    <a:cubicBezTo>
                      <a:pt x="838" y="562"/>
                      <a:pt x="838" y="562"/>
                      <a:pt x="838" y="562"/>
                    </a:cubicBezTo>
                    <a:cubicBezTo>
                      <a:pt x="851" y="562"/>
                      <a:pt x="861" y="543"/>
                      <a:pt x="861" y="530"/>
                    </a:cubicBezTo>
                    <a:lnTo>
                      <a:pt x="778" y="437"/>
                    </a:lnTo>
                    <a:close/>
                  </a:path>
                </a:pathLst>
              </a:custGeom>
              <a:solidFill>
                <a:srgbClr val="68686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0" name="Rectangle 149"/>
              <p:cNvSpPr>
                <a:spLocks noChangeArrowheads="1"/>
              </p:cNvSpPr>
              <p:nvPr userDrawn="1"/>
            </p:nvSpPr>
            <p:spPr bwMode="auto">
              <a:xfrm>
                <a:off x="1169308" y="2115231"/>
                <a:ext cx="2343150" cy="1404938"/>
              </a:xfrm>
              <a:prstGeom prst="rect">
                <a:avLst/>
              </a:prstGeom>
              <a:solidFill>
                <a:srgbClr val="F9F3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1" name="Freeform 150"/>
              <p:cNvSpPr/>
              <p:nvPr userDrawn="1"/>
            </p:nvSpPr>
            <p:spPr bwMode="auto">
              <a:xfrm>
                <a:off x="2118633" y="3975781"/>
                <a:ext cx="439738" cy="74613"/>
              </a:xfrm>
              <a:custGeom>
                <a:avLst/>
                <a:gdLst>
                  <a:gd name="T0" fmla="*/ 0 w 117"/>
                  <a:gd name="T1" fmla="*/ 0 h 20"/>
                  <a:gd name="T2" fmla="*/ 0 w 117"/>
                  <a:gd name="T3" fmla="*/ 0 h 20"/>
                  <a:gd name="T4" fmla="*/ 14 w 117"/>
                  <a:gd name="T5" fmla="*/ 20 h 20"/>
                  <a:gd name="T6" fmla="*/ 104 w 117"/>
                  <a:gd name="T7" fmla="*/ 20 h 20"/>
                  <a:gd name="T8" fmla="*/ 117 w 117"/>
                  <a:gd name="T9" fmla="*/ 0 h 20"/>
                  <a:gd name="T10" fmla="*/ 117 w 117"/>
                  <a:gd name="T11" fmla="*/ 0 h 20"/>
                  <a:gd name="T12" fmla="*/ 0 w 1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17" h="20">
                    <a:moveTo>
                      <a:pt x="0" y="0"/>
                    </a:moveTo>
                    <a:cubicBezTo>
                      <a:pt x="0" y="0"/>
                      <a:pt x="0" y="0"/>
                      <a:pt x="0" y="0"/>
                    </a:cubicBezTo>
                    <a:cubicBezTo>
                      <a:pt x="0" y="7"/>
                      <a:pt x="6" y="20"/>
                      <a:pt x="14" y="20"/>
                    </a:cubicBezTo>
                    <a:cubicBezTo>
                      <a:pt x="104" y="20"/>
                      <a:pt x="104" y="20"/>
                      <a:pt x="104" y="20"/>
                    </a:cubicBezTo>
                    <a:cubicBezTo>
                      <a:pt x="111" y="20"/>
                      <a:pt x="117" y="7"/>
                      <a:pt x="117" y="0"/>
                    </a:cubicBezTo>
                    <a:cubicBezTo>
                      <a:pt x="117" y="0"/>
                      <a:pt x="117" y="0"/>
                      <a:pt x="117" y="0"/>
                    </a:cubicBezTo>
                    <a:lnTo>
                      <a:pt x="0" y="0"/>
                    </a:lnTo>
                    <a:close/>
                  </a:path>
                </a:pathLst>
              </a:custGeom>
              <a:solidFill>
                <a:srgbClr val="F9F3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sp>
          <p:nvSpPr>
            <p:cNvPr id="108" name="矩形 107"/>
            <p:cNvSpPr/>
            <p:nvPr userDrawn="1"/>
          </p:nvSpPr>
          <p:spPr>
            <a:xfrm>
              <a:off x="2091447" y="2022227"/>
              <a:ext cx="1325371" cy="369332"/>
            </a:xfrm>
            <a:prstGeom prst="rect">
              <a:avLst/>
            </a:prstGeom>
          </p:spPr>
          <p:txBody>
            <a:bodyPr wrap="square">
              <a:spAutoFit/>
            </a:bodyPr>
            <a:lstStyle/>
            <a:p>
              <a:pPr algn="l">
                <a:lnSpc>
                  <a:spcPct val="120000"/>
                </a:lnSpc>
              </a:pPr>
              <a:r>
                <a:rPr lang="en-US" altLang="zh-CN" sz="1500" kern="1200" dirty="0">
                  <a:solidFill>
                    <a:schemeClr val="tx1">
                      <a:lumMod val="65000"/>
                      <a:lumOff val="35000"/>
                    </a:schemeClr>
                  </a:solidFill>
                  <a:latin typeface="+mj-ea"/>
                  <a:ea typeface="+mj-ea"/>
                  <a:cs typeface="+mn-cs"/>
                </a:rPr>
                <a:t>Thank You</a:t>
              </a:r>
              <a:r>
                <a:rPr lang="zh-CN" altLang="en-US" sz="1500" kern="1200" dirty="0">
                  <a:solidFill>
                    <a:schemeClr val="tx1">
                      <a:lumMod val="65000"/>
                      <a:lumOff val="35000"/>
                    </a:schemeClr>
                  </a:solidFill>
                  <a:latin typeface="+mj-ea"/>
                  <a:ea typeface="+mj-ea"/>
                  <a:cs typeface="+mn-cs"/>
                </a:rPr>
                <a:t>！</a:t>
              </a:r>
              <a:endParaRPr lang="zh-CN" altLang="en-US" sz="1500" kern="1200" dirty="0">
                <a:solidFill>
                  <a:schemeClr val="tx1">
                    <a:lumMod val="65000"/>
                    <a:lumOff val="35000"/>
                  </a:schemeClr>
                </a:solidFill>
                <a:latin typeface="+mj-ea"/>
                <a:ea typeface="+mj-ea"/>
                <a:cs typeface="+mn-cs"/>
              </a:endParaRPr>
            </a:p>
          </p:txBody>
        </p:sp>
        <p:grpSp>
          <p:nvGrpSpPr>
            <p:cNvPr id="114" name="组合 113"/>
            <p:cNvGrpSpPr/>
            <p:nvPr userDrawn="1"/>
          </p:nvGrpSpPr>
          <p:grpSpPr>
            <a:xfrm>
              <a:off x="2160453" y="2672657"/>
              <a:ext cx="1134000" cy="48600"/>
              <a:chOff x="0" y="4978400"/>
              <a:chExt cx="11157019" cy="406400"/>
            </a:xfrm>
          </p:grpSpPr>
          <p:sp>
            <p:nvSpPr>
              <p:cNvPr id="115" name="矩形 114"/>
              <p:cNvSpPr/>
              <p:nvPr userDrawn="1"/>
            </p:nvSpPr>
            <p:spPr>
              <a:xfrm>
                <a:off x="0" y="4978400"/>
                <a:ext cx="2788596" cy="406400"/>
              </a:xfrm>
              <a:prstGeom prst="rect">
                <a:avLst/>
              </a:prstGeom>
              <a:solidFill>
                <a:srgbClr val="9EC4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6" name="矩形 115"/>
              <p:cNvSpPr/>
              <p:nvPr userDrawn="1"/>
            </p:nvSpPr>
            <p:spPr>
              <a:xfrm>
                <a:off x="2788596" y="4978400"/>
                <a:ext cx="2788596" cy="406400"/>
              </a:xfrm>
              <a:prstGeom prst="rect">
                <a:avLst/>
              </a:prstGeom>
              <a:solidFill>
                <a:srgbClr val="CA0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7" name="矩形 116"/>
              <p:cNvSpPr/>
              <p:nvPr userDrawn="1"/>
            </p:nvSpPr>
            <p:spPr>
              <a:xfrm>
                <a:off x="5577192" y="4978400"/>
                <a:ext cx="2788596" cy="406400"/>
              </a:xfrm>
              <a:prstGeom prst="rect">
                <a:avLst/>
              </a:prstGeom>
              <a:solidFill>
                <a:srgbClr val="FF8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8" name="矩形 117"/>
              <p:cNvSpPr/>
              <p:nvPr userDrawn="1"/>
            </p:nvSpPr>
            <p:spPr>
              <a:xfrm>
                <a:off x="8368423" y="4978400"/>
                <a:ext cx="2788596" cy="406400"/>
              </a:xfrm>
              <a:prstGeom prst="rect">
                <a:avLst/>
              </a:prstGeom>
              <a:solidFill>
                <a:srgbClr val="008E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grpSp>
        <p:pic>
          <p:nvPicPr>
            <p:cNvPr id="110" name="Picture 2"/>
            <p:cNvPicPr>
              <a:picLocks noChangeAspect="1" noChangeArrowheads="1"/>
            </p:cNvPicPr>
            <p:nvPr userDrawn="1"/>
          </p:nvPicPr>
          <p:blipFill>
            <a:blip r:embed="rId2" cstate="print">
              <a:clrChange>
                <a:clrFrom>
                  <a:srgbClr val="FFFFFF"/>
                </a:clrFrom>
                <a:clrTo>
                  <a:srgbClr val="FFFFFF">
                    <a:alpha val="0"/>
                  </a:srgbClr>
                </a:clrTo>
              </a:clrChange>
              <a:extLst>
                <a:ext uri="{BEBA8EAE-BF5A-486C-A8C5-ECC9F3942E4B}">
                  <a14:imgProps xmlns:a14="http://schemas.microsoft.com/office/drawing/2010/main">
                    <a14:imgLayer r:embed="rId3">
                      <a14:imgEffect>
                        <a14:colorTemperature colorTemp="4700"/>
                      </a14:imgEffect>
                      <a14:imgEffect>
                        <a14:saturation sat="0"/>
                      </a14:imgEffect>
                    </a14:imgLayer>
                  </a14:imgProps>
                </a:ext>
              </a:extLst>
            </a:blip>
            <a:srcRect/>
            <a:stretch>
              <a:fillRect/>
            </a:stretch>
          </p:blipFill>
          <p:spPr bwMode="auto">
            <a:xfrm>
              <a:off x="1367669" y="2007508"/>
              <a:ext cx="675000" cy="675000"/>
            </a:xfrm>
            <a:prstGeom prst="rect">
              <a:avLst/>
            </a:prstGeom>
            <a:noFill/>
            <a:ln w="9525">
              <a:noFill/>
              <a:miter lim="800000"/>
              <a:headEnd/>
              <a:tailEnd/>
            </a:ln>
            <a:effectLst/>
          </p:spPr>
        </p:pic>
      </p:grpSp>
      <p:sp>
        <p:nvSpPr>
          <p:cNvPr id="20" name="日期占位符 3"/>
          <p:cNvSpPr>
            <a:spLocks noGrp="1"/>
          </p:cNvSpPr>
          <p:nvPr>
            <p:ph type="dt" sz="half" idx="10"/>
          </p:nvPr>
        </p:nvSpPr>
        <p:spPr>
          <a:xfrm>
            <a:off x="768096" y="4853028"/>
            <a:ext cx="1615607" cy="205740"/>
          </a:xfrm>
        </p:spPr>
        <p:txBody>
          <a:bodyPr/>
          <a:lstStyle>
            <a:lvl1pPr algn="ctr">
              <a:defRPr sz="1600">
                <a:solidFill>
                  <a:schemeClr val="bg1"/>
                </a:solidFill>
                <a:latin typeface="+mn-lt"/>
              </a:defRPr>
            </a:lvl1pPr>
          </a:lstStyle>
          <a:p>
            <a:fld id="{8F98B0E8-48B0-47D3-A6C8-7E041360F69C}" type="datetime1">
              <a:rPr lang="zh-CN" altLang="en-US" smtClean="0"/>
            </a:fld>
            <a:endParaRPr lang="zh-CN" altLang="en-US" dirty="0"/>
          </a:p>
        </p:txBody>
      </p:sp>
      <p:sp>
        <p:nvSpPr>
          <p:cNvPr id="21"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22" name="灯片编号占位符 5"/>
          <p:cNvSpPr>
            <a:spLocks noGrp="1"/>
          </p:cNvSpPr>
          <p:nvPr>
            <p:ph type="sldNum" sz="quarter" idx="12"/>
          </p:nvPr>
        </p:nvSpPr>
        <p:spPr>
          <a:xfrm>
            <a:off x="8128000" y="4853028"/>
            <a:ext cx="730250" cy="205740"/>
          </a:xfrm>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transition>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目录页">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6727032" y="4805958"/>
            <a:ext cx="1920240" cy="274320"/>
          </a:xfrm>
          <a:prstGeom prst="rect">
            <a:avLst/>
          </a:prstGeom>
        </p:spPr>
        <p:txBody>
          <a:bodyPr/>
          <a:lstStyle>
            <a:lvl1pPr>
              <a:defRPr sz="1050"/>
            </a:lvl1pPr>
          </a:lstStyle>
          <a:p>
            <a:fld id="{7C38504B-1AF3-4156-B61A-8DB24BEED060}" type="datetime1">
              <a:rPr lang="zh-CN" altLang="en-US" smtClean="0"/>
            </a:fld>
            <a:endParaRPr lang="zh-CN" altLang="en-US" dirty="0"/>
          </a:p>
        </p:txBody>
      </p:sp>
      <p:sp>
        <p:nvSpPr>
          <p:cNvPr id="5" name="页脚占位符 4"/>
          <p:cNvSpPr>
            <a:spLocks noGrp="1"/>
          </p:cNvSpPr>
          <p:nvPr>
            <p:ph type="ftr" sz="quarter" idx="11"/>
          </p:nvPr>
        </p:nvSpPr>
        <p:spPr>
          <a:xfrm>
            <a:off x="4380074" y="4805960"/>
            <a:ext cx="2350681" cy="273844"/>
          </a:xfrm>
          <a:prstGeom prst="rect">
            <a:avLst/>
          </a:prstGeom>
        </p:spPr>
        <p:txBody>
          <a:bodyPr/>
          <a:lstStyle>
            <a:lvl1pPr>
              <a:defRPr sz="1050"/>
            </a:lvl1pPr>
          </a:lstStyle>
          <a:p>
            <a:r>
              <a:rPr lang="zh-CN" altLang="en-US"/>
              <a:t>软件工程</a:t>
            </a:r>
            <a:endParaRPr lang="zh-CN" altLang="en-US" dirty="0"/>
          </a:p>
        </p:txBody>
      </p:sp>
      <p:sp>
        <p:nvSpPr>
          <p:cNvPr id="6" name="灯片编号占位符 5"/>
          <p:cNvSpPr>
            <a:spLocks noGrp="1"/>
          </p:cNvSpPr>
          <p:nvPr>
            <p:ph type="sldNum" sz="quarter" idx="12"/>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
        <p:nvSpPr>
          <p:cNvPr id="7" name="标题占位符"/>
          <p:cNvSpPr>
            <a:spLocks noGrp="1"/>
          </p:cNvSpPr>
          <p:nvPr>
            <p:ph type="body" sz="quarter" idx="13" hasCustomPrompt="1"/>
          </p:nvPr>
        </p:nvSpPr>
        <p:spPr>
          <a:xfrm>
            <a:off x="1052622" y="159755"/>
            <a:ext cx="6275277" cy="415498"/>
          </a:xfrm>
          <a:prstGeom prst="rect">
            <a:avLst/>
          </a:prstGeom>
        </p:spPr>
        <p:txBody>
          <a:bodyPr wrap="square" anchor="ctr">
            <a:spAutoFit/>
          </a:bodyPr>
          <a:lstStyle>
            <a:lvl1pPr marL="0" indent="0" algn="l">
              <a:lnSpc>
                <a:spcPct val="100000"/>
              </a:lnSpc>
              <a:buFontTx/>
              <a:buNone/>
              <a:defRPr lang="zh-CN" altLang="en-US" sz="2100" b="1" spc="169"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tmplLst>
          <p:tmpl lvl="0">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750"/>
                        <p:tgtEl>
                          <p:spTgt spid="7"/>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8" name="矩形"/>
          <p:cNvSpPr/>
          <p:nvPr/>
        </p:nvSpPr>
        <p:spPr>
          <a:xfrm>
            <a:off x="-3743" y="80319"/>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9" name="矩形"/>
          <p:cNvSpPr/>
          <p:nvPr/>
        </p:nvSpPr>
        <p:spPr>
          <a:xfrm>
            <a:off x="2284129" y="80319"/>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6" name="矩形"/>
          <p:cNvSpPr/>
          <p:nvPr userDrawn="1"/>
        </p:nvSpPr>
        <p:spPr>
          <a:xfrm>
            <a:off x="110557" y="309456"/>
            <a:ext cx="235878" cy="246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3" name="标题占位符"/>
          <p:cNvSpPr>
            <a:spLocks noGrp="1"/>
          </p:cNvSpPr>
          <p:nvPr>
            <p:ph type="body" sz="quarter" idx="10" hasCustomPrompt="1"/>
          </p:nvPr>
        </p:nvSpPr>
        <p:spPr>
          <a:xfrm>
            <a:off x="429992" y="234449"/>
            <a:ext cx="6897908" cy="415498"/>
          </a:xfrm>
          <a:prstGeom prst="rect">
            <a:avLst/>
          </a:prstGeom>
        </p:spPr>
        <p:txBody>
          <a:bodyPr wrap="square" anchor="ctr">
            <a:spAutoFit/>
          </a:bodyPr>
          <a:lstStyle>
            <a:lvl1pPr marL="0" indent="0" algn="l">
              <a:lnSpc>
                <a:spcPct val="100000"/>
              </a:lnSpc>
              <a:buFontTx/>
              <a:buNone/>
              <a:defRPr lang="zh-CN" altLang="en-US" sz="2100" b="1" spc="225"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
        <p:nvSpPr>
          <p:cNvPr id="4" name="文本占位符 3"/>
          <p:cNvSpPr>
            <a:spLocks noGrp="1"/>
          </p:cNvSpPr>
          <p:nvPr>
            <p:ph type="body" sz="quarter" idx="11"/>
          </p:nvPr>
        </p:nvSpPr>
        <p:spPr>
          <a:xfrm>
            <a:off x="627064" y="1009651"/>
            <a:ext cx="7615237" cy="3545681"/>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12"/>
          </p:nvPr>
        </p:nvSpPr>
        <p:spPr>
          <a:xfrm>
            <a:off x="6727032" y="4805958"/>
            <a:ext cx="1920240" cy="274320"/>
          </a:xfrm>
          <a:prstGeom prst="rect">
            <a:avLst/>
          </a:prstGeom>
        </p:spPr>
        <p:txBody>
          <a:bodyPr/>
          <a:lstStyle>
            <a:lvl1pPr>
              <a:defRPr sz="1200"/>
            </a:lvl1pPr>
          </a:lstStyle>
          <a:p>
            <a:endParaRPr lang="zh-CN" altLang="en-US"/>
          </a:p>
        </p:txBody>
      </p:sp>
      <p:sp>
        <p:nvSpPr>
          <p:cNvPr id="10" name="页脚占位符 4"/>
          <p:cNvSpPr>
            <a:spLocks noGrp="1"/>
          </p:cNvSpPr>
          <p:nvPr>
            <p:ph type="ftr" sz="quarter" idx="13"/>
          </p:nvPr>
        </p:nvSpPr>
        <p:spPr>
          <a:xfrm>
            <a:off x="4380074" y="4805960"/>
            <a:ext cx="2350681" cy="273844"/>
          </a:xfrm>
          <a:prstGeom prst="rect">
            <a:avLst/>
          </a:prstGeom>
        </p:spPr>
        <p:txBody>
          <a:bodyPr/>
          <a:lstStyle>
            <a:lvl1pPr>
              <a:defRPr sz="1200"/>
            </a:lvl1pPr>
          </a:lstStyle>
          <a:p>
            <a:endParaRPr lang="zh-CN" altLang="en-US" dirty="0"/>
          </a:p>
        </p:txBody>
      </p:sp>
      <p:sp>
        <p:nvSpPr>
          <p:cNvPr id="11" name="灯片编号占位符 5"/>
          <p:cNvSpPr>
            <a:spLocks noGrp="1"/>
          </p:cNvSpPr>
          <p:nvPr>
            <p:ph type="sldNum" sz="quarter" idx="14"/>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6" grpId="0" animBg="1"/>
      <p:bldP spid="3" grpId="0">
        <p:tmplLst>
          <p:tmpl lvl="0">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750"/>
                        <p:tgtEl>
                          <p:spTgt spid="3"/>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68097" y="925167"/>
            <a:ext cx="7832833" cy="3806854"/>
          </a:xfrm>
          <a:prstGeom prst="rect">
            <a:avLst/>
          </a:prstGeom>
        </p:spPr>
        <p:txBody>
          <a:bodyPr vert="horz" lIns="45720" tIns="45720" rIns="4572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Date Placeholder 3"/>
          <p:cNvSpPr>
            <a:spLocks noGrp="1"/>
          </p:cNvSpPr>
          <p:nvPr>
            <p:ph type="dt" sz="half" idx="2"/>
          </p:nvPr>
        </p:nvSpPr>
        <p:spPr>
          <a:xfrm>
            <a:off x="768096" y="4853028"/>
            <a:ext cx="1615607"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4F2F4983-3602-4E3E-983A-EBA4353A8448}" type="datetime1">
              <a:rPr lang="zh-CN" altLang="en-US" smtClean="0"/>
            </a:fld>
            <a:endParaRPr lang="zh-CN" altLang="en-US"/>
          </a:p>
        </p:txBody>
      </p:sp>
      <p:sp>
        <p:nvSpPr>
          <p:cNvPr id="5" name="Footer Placeholder 4"/>
          <p:cNvSpPr>
            <a:spLocks noGrp="1"/>
          </p:cNvSpPr>
          <p:nvPr>
            <p:ph type="ftr" sz="quarter" idx="3"/>
          </p:nvPr>
        </p:nvSpPr>
        <p:spPr>
          <a:xfrm>
            <a:off x="3632199" y="4853028"/>
            <a:ext cx="4426094" cy="205740"/>
          </a:xfrm>
          <a:prstGeom prst="rect">
            <a:avLst/>
          </a:prstGeom>
        </p:spPr>
        <p:txBody>
          <a:bodyPr vert="horz" lIns="91440" tIns="45720" rIns="91440" bIns="45720" rtlCol="0" anchor="ctr"/>
          <a:lstStyle>
            <a:lvl1pPr algn="r">
              <a:defRPr sz="750" cap="all" baseline="0">
                <a:solidFill>
                  <a:schemeClr val="tx1">
                    <a:lumMod val="90000"/>
                    <a:lumOff val="10000"/>
                  </a:schemeClr>
                </a:solidFill>
                <a:latin typeface="+mj-lt"/>
              </a:defRPr>
            </a:lvl1pPr>
          </a:lstStyle>
          <a:p>
            <a:r>
              <a:rPr lang="zh-CN" altLang="en-US"/>
              <a:t>软件工程</a:t>
            </a:r>
            <a:endParaRPr lang="zh-CN" altLang="en-US"/>
          </a:p>
        </p:txBody>
      </p:sp>
      <p:sp>
        <p:nvSpPr>
          <p:cNvPr id="6" name="Slide Number Placeholder 5"/>
          <p:cNvSpPr>
            <a:spLocks noGrp="1"/>
          </p:cNvSpPr>
          <p:nvPr>
            <p:ph type="sldNum" sz="quarter" idx="4"/>
          </p:nvPr>
        </p:nvSpPr>
        <p:spPr>
          <a:xfrm>
            <a:off x="8128000" y="4853028"/>
            <a:ext cx="730250"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F528F39D-B5E5-4CA7-906C-979D5A62978D}" type="slidenum">
              <a:rPr lang="zh-CN" altLang="en-US" smtClean="0"/>
            </a:fld>
            <a:endParaRPr lang="zh-CN" altLang="en-US"/>
          </a:p>
        </p:txBody>
      </p:sp>
      <p:cxnSp>
        <p:nvCxnSpPr>
          <p:cNvPr id="7" name="Straight Connector 6"/>
          <p:cNvCxnSpPr/>
          <p:nvPr/>
        </p:nvCxnSpPr>
        <p:spPr>
          <a:xfrm flipV="1">
            <a:off x="571500" y="61974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图片 9"/>
          <p:cNvPicPr>
            <a:picLocks noChangeAspect="1"/>
          </p:cNvPicPr>
          <p:nvPr userDrawn="1"/>
        </p:nvPicPr>
        <p:blipFill>
          <a:blip r:embed="rId1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5316" y="-9943"/>
            <a:ext cx="692368" cy="692368"/>
          </a:xfrm>
          <a:prstGeom prst="rect">
            <a:avLst/>
          </a:prstGeom>
        </p:spPr>
      </p:pic>
      <p:sp>
        <p:nvSpPr>
          <p:cNvPr id="2" name="Title Placeholder 1"/>
          <p:cNvSpPr>
            <a:spLocks noGrp="1"/>
          </p:cNvSpPr>
          <p:nvPr>
            <p:ph type="title"/>
          </p:nvPr>
        </p:nvSpPr>
        <p:spPr>
          <a:xfrm>
            <a:off x="1094321" y="0"/>
            <a:ext cx="7763929" cy="82891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685800" rtl="0" eaLnBrk="1" latinLnBrk="0" hangingPunct="1">
        <a:lnSpc>
          <a:spcPct val="80000"/>
        </a:lnSpc>
        <a:spcBef>
          <a:spcPct val="0"/>
        </a:spcBef>
        <a:buNone/>
        <a:defRPr sz="2800" b="1" kern="1200" cap="all" spc="75" baseline="0">
          <a:solidFill>
            <a:schemeClr val="bg1"/>
          </a:solidFill>
          <a:latin typeface="+mj-lt"/>
          <a:ea typeface="+mj-ea"/>
          <a:cs typeface="+mj-cs"/>
        </a:defRPr>
      </a:lvl1pPr>
    </p:titleStyle>
    <p:body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44577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58293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2" Type="http://schemas.openxmlformats.org/officeDocument/2006/relationships/slideLayout" Target="../slideLayouts/slideLayout7.xml"/><Relationship Id="rId21" Type="http://schemas.openxmlformats.org/officeDocument/2006/relationships/tags" Target="../tags/tag23.xml"/><Relationship Id="rId20" Type="http://schemas.openxmlformats.org/officeDocument/2006/relationships/tags" Target="../tags/tag22.xml"/><Relationship Id="rId2" Type="http://schemas.openxmlformats.org/officeDocument/2006/relationships/tags" Target="../tags/tag4.xml"/><Relationship Id="rId19" Type="http://schemas.openxmlformats.org/officeDocument/2006/relationships/tags" Target="../tags/tag21.xml"/><Relationship Id="rId18" Type="http://schemas.openxmlformats.org/officeDocument/2006/relationships/tags" Target="../tags/tag20.xml"/><Relationship Id="rId17" Type="http://schemas.openxmlformats.org/officeDocument/2006/relationships/tags" Target="../tags/tag19.xml"/><Relationship Id="rId16" Type="http://schemas.openxmlformats.org/officeDocument/2006/relationships/tags" Target="../tags/tag18.xml"/><Relationship Id="rId15" Type="http://schemas.openxmlformats.org/officeDocument/2006/relationships/tags" Target="../tags/tag17.xml"/><Relationship Id="rId14" Type="http://schemas.openxmlformats.org/officeDocument/2006/relationships/tags" Target="../tags/tag16.xml"/><Relationship Id="rId13" Type="http://schemas.openxmlformats.org/officeDocument/2006/relationships/tags" Target="../tags/tag15.xml"/><Relationship Id="rId12" Type="http://schemas.openxmlformats.org/officeDocument/2006/relationships/tags" Target="../tags/tag1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tags" Target="../tags/tag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audio" Target="../media/audio2.wav"/></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0" Type="http://schemas.openxmlformats.org/officeDocument/2006/relationships/notesSlide" Target="../notesSlides/notesSlide31.xml"/><Relationship Id="rId2" Type="http://schemas.openxmlformats.org/officeDocument/2006/relationships/tags" Target="../tags/tag25.xml"/><Relationship Id="rId19" Type="http://schemas.openxmlformats.org/officeDocument/2006/relationships/slideLayout" Target="../slideLayouts/slideLayout9.xml"/><Relationship Id="rId18" Type="http://schemas.openxmlformats.org/officeDocument/2006/relationships/tags" Target="../tags/tag40.xml"/><Relationship Id="rId17" Type="http://schemas.openxmlformats.org/officeDocument/2006/relationships/image" Target="../media/image24.png"/><Relationship Id="rId16" Type="http://schemas.openxmlformats.org/officeDocument/2006/relationships/tags" Target="../tags/tag39.xml"/><Relationship Id="rId15" Type="http://schemas.openxmlformats.org/officeDocument/2006/relationships/tags" Target="../tags/tag38.xml"/><Relationship Id="rId14" Type="http://schemas.openxmlformats.org/officeDocument/2006/relationships/tags" Target="../tags/tag37.xml"/><Relationship Id="rId13" Type="http://schemas.openxmlformats.org/officeDocument/2006/relationships/tags" Target="../tags/tag36.xml"/><Relationship Id="rId12" Type="http://schemas.openxmlformats.org/officeDocument/2006/relationships/tags" Target="../tags/tag35.xml"/><Relationship Id="rId11" Type="http://schemas.openxmlformats.org/officeDocument/2006/relationships/tags" Target="../tags/tag34.xml"/><Relationship Id="rId10" Type="http://schemas.openxmlformats.org/officeDocument/2006/relationships/tags" Target="../tags/tag33.xml"/><Relationship Id="rId1" Type="http://schemas.openxmlformats.org/officeDocument/2006/relationships/tags" Target="../tags/tag24.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0" Type="http://schemas.openxmlformats.org/officeDocument/2006/relationships/notesSlide" Target="../notesSlides/notesSlide36.xml"/><Relationship Id="rId2" Type="http://schemas.openxmlformats.org/officeDocument/2006/relationships/tags" Target="../tags/tag42.xml"/><Relationship Id="rId19" Type="http://schemas.openxmlformats.org/officeDocument/2006/relationships/slideLayout" Target="../slideLayouts/slideLayout9.xml"/><Relationship Id="rId18" Type="http://schemas.openxmlformats.org/officeDocument/2006/relationships/tags" Target="../tags/tag57.xml"/><Relationship Id="rId17" Type="http://schemas.openxmlformats.org/officeDocument/2006/relationships/image" Target="../media/image24.png"/><Relationship Id="rId16" Type="http://schemas.openxmlformats.org/officeDocument/2006/relationships/tags" Target="../tags/tag56.xml"/><Relationship Id="rId15" Type="http://schemas.openxmlformats.org/officeDocument/2006/relationships/tags" Target="../tags/tag55.xml"/><Relationship Id="rId14" Type="http://schemas.openxmlformats.org/officeDocument/2006/relationships/tags" Target="../tags/tag54.xml"/><Relationship Id="rId13" Type="http://schemas.openxmlformats.org/officeDocument/2006/relationships/tags" Target="../tags/tag53.xml"/><Relationship Id="rId12" Type="http://schemas.openxmlformats.org/officeDocument/2006/relationships/tags" Target="../tags/tag52.xml"/><Relationship Id="rId11" Type="http://schemas.openxmlformats.org/officeDocument/2006/relationships/tags" Target="../tags/tag51.xml"/><Relationship Id="rId10" Type="http://schemas.openxmlformats.org/officeDocument/2006/relationships/tags" Target="../tags/tag50.xml"/><Relationship Id="rId1" Type="http://schemas.openxmlformats.org/officeDocument/2006/relationships/tags" Target="../tags/tag4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png"/></Relationships>
</file>

<file path=ppt/slides/_rels/slide78.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9" Type="http://schemas.openxmlformats.org/officeDocument/2006/relationships/tags" Target="../tags/tag66.xml"/><Relationship Id="rId8" Type="http://schemas.openxmlformats.org/officeDocument/2006/relationships/tags" Target="../tags/tag65.xml"/><Relationship Id="rId7" Type="http://schemas.openxmlformats.org/officeDocument/2006/relationships/tags" Target="../tags/tag64.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0" Type="http://schemas.openxmlformats.org/officeDocument/2006/relationships/notesSlide" Target="../notesSlides/notesSlide41.xml"/><Relationship Id="rId2" Type="http://schemas.openxmlformats.org/officeDocument/2006/relationships/tags" Target="../tags/tag59.xml"/><Relationship Id="rId19" Type="http://schemas.openxmlformats.org/officeDocument/2006/relationships/slideLayout" Target="../slideLayouts/slideLayout9.xml"/><Relationship Id="rId18" Type="http://schemas.openxmlformats.org/officeDocument/2006/relationships/tags" Target="../tags/tag74.xml"/><Relationship Id="rId17" Type="http://schemas.openxmlformats.org/officeDocument/2006/relationships/image" Target="../media/image24.png"/><Relationship Id="rId16" Type="http://schemas.openxmlformats.org/officeDocument/2006/relationships/tags" Target="../tags/tag73.xml"/><Relationship Id="rId15" Type="http://schemas.openxmlformats.org/officeDocument/2006/relationships/tags" Target="../tags/tag72.xml"/><Relationship Id="rId14" Type="http://schemas.openxmlformats.org/officeDocument/2006/relationships/tags" Target="../tags/tag71.xml"/><Relationship Id="rId13" Type="http://schemas.openxmlformats.org/officeDocument/2006/relationships/tags" Target="../tags/tag70.xml"/><Relationship Id="rId12" Type="http://schemas.openxmlformats.org/officeDocument/2006/relationships/tags" Target="../tags/tag69.xml"/><Relationship Id="rId11" Type="http://schemas.openxmlformats.org/officeDocument/2006/relationships/tags" Target="../tags/tag68.xml"/><Relationship Id="rId10" Type="http://schemas.openxmlformats.org/officeDocument/2006/relationships/tags" Target="../tags/tag67.xml"/><Relationship Id="rId1" Type="http://schemas.openxmlformats.org/officeDocument/2006/relationships/tags" Target="../tags/tag58.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image" Target="../media/image30.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9" Type="http://schemas.openxmlformats.org/officeDocument/2006/relationships/tags" Target="../tags/tag83.xml"/><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0" Type="http://schemas.openxmlformats.org/officeDocument/2006/relationships/notesSlide" Target="../notesSlides/notesSlide44.xml"/><Relationship Id="rId2" Type="http://schemas.openxmlformats.org/officeDocument/2006/relationships/tags" Target="../tags/tag76.xml"/><Relationship Id="rId19" Type="http://schemas.openxmlformats.org/officeDocument/2006/relationships/slideLayout" Target="../slideLayouts/slideLayout9.xml"/><Relationship Id="rId18" Type="http://schemas.openxmlformats.org/officeDocument/2006/relationships/tags" Target="../tags/tag91.xml"/><Relationship Id="rId17" Type="http://schemas.openxmlformats.org/officeDocument/2006/relationships/image" Target="../media/image24.png"/><Relationship Id="rId16" Type="http://schemas.openxmlformats.org/officeDocument/2006/relationships/tags" Target="../tags/tag90.xml"/><Relationship Id="rId15" Type="http://schemas.openxmlformats.org/officeDocument/2006/relationships/tags" Target="../tags/tag89.xml"/><Relationship Id="rId14" Type="http://schemas.openxmlformats.org/officeDocument/2006/relationships/tags" Target="../tags/tag88.xml"/><Relationship Id="rId13" Type="http://schemas.openxmlformats.org/officeDocument/2006/relationships/tags" Target="../tags/tag87.xml"/><Relationship Id="rId12" Type="http://schemas.openxmlformats.org/officeDocument/2006/relationships/tags" Target="../tags/tag86.xml"/><Relationship Id="rId11" Type="http://schemas.openxmlformats.org/officeDocument/2006/relationships/tags" Target="../tags/tag85.xml"/><Relationship Id="rId10" Type="http://schemas.openxmlformats.org/officeDocument/2006/relationships/tags" Target="../tags/tag84.xml"/><Relationship Id="rId1" Type="http://schemas.openxmlformats.org/officeDocument/2006/relationships/tags" Target="../tags/tag75.xml"/></Relationships>
</file>

<file path=ppt/slides/_rels/slide86.xml.rels><?xml version="1.0" encoding="UTF-8" standalone="yes"?>
<Relationships xmlns="http://schemas.openxmlformats.org/package/2006/relationships"><Relationship Id="rId9" Type="http://schemas.openxmlformats.org/officeDocument/2006/relationships/tags" Target="../tags/tag100.xml"/><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tags" Target="../tags/tag94.xml"/><Relationship Id="rId20" Type="http://schemas.openxmlformats.org/officeDocument/2006/relationships/notesSlide" Target="../notesSlides/notesSlide45.xml"/><Relationship Id="rId2" Type="http://schemas.openxmlformats.org/officeDocument/2006/relationships/tags" Target="../tags/tag93.xml"/><Relationship Id="rId19" Type="http://schemas.openxmlformats.org/officeDocument/2006/relationships/slideLayout" Target="../slideLayouts/slideLayout9.xml"/><Relationship Id="rId18" Type="http://schemas.openxmlformats.org/officeDocument/2006/relationships/tags" Target="../tags/tag108.xml"/><Relationship Id="rId17" Type="http://schemas.openxmlformats.org/officeDocument/2006/relationships/image" Target="../media/image24.png"/><Relationship Id="rId16" Type="http://schemas.openxmlformats.org/officeDocument/2006/relationships/tags" Target="../tags/tag107.xml"/><Relationship Id="rId15" Type="http://schemas.openxmlformats.org/officeDocument/2006/relationships/tags" Target="../tags/tag106.xml"/><Relationship Id="rId14" Type="http://schemas.openxmlformats.org/officeDocument/2006/relationships/tags" Target="../tags/tag105.xml"/><Relationship Id="rId13" Type="http://schemas.openxmlformats.org/officeDocument/2006/relationships/tags" Target="../tags/tag104.xml"/><Relationship Id="rId12" Type="http://schemas.openxmlformats.org/officeDocument/2006/relationships/tags" Target="../tags/tag103.xml"/><Relationship Id="rId11" Type="http://schemas.openxmlformats.org/officeDocument/2006/relationships/tags" Target="../tags/tag102.xml"/><Relationship Id="rId10" Type="http://schemas.openxmlformats.org/officeDocument/2006/relationships/tags" Target="../tags/tag101.xml"/><Relationship Id="rId1" Type="http://schemas.openxmlformats.org/officeDocument/2006/relationships/tags" Target="../tags/tag9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5.xml"/><Relationship Id="rId1" Type="http://schemas.openxmlformats.org/officeDocument/2006/relationships/image" Target="../media/image32.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75645" y="987551"/>
            <a:ext cx="8582606" cy="2468645"/>
          </a:xfrm>
        </p:spPr>
        <p:txBody>
          <a:bodyPr>
            <a:normAutofit/>
          </a:bodyPr>
          <a:lstStyle/>
          <a:p>
            <a:pPr>
              <a:lnSpc>
                <a:spcPct val="100000"/>
              </a:lnSpc>
              <a:spcBef>
                <a:spcPts val="3600"/>
              </a:spcBef>
              <a:spcAft>
                <a:spcPts val="3600"/>
              </a:spcAft>
            </a:pPr>
            <a:r>
              <a:rPr lang="zh-CN" altLang="en-US" sz="4800" dirty="0">
                <a:solidFill>
                  <a:schemeClr val="bg1"/>
                </a:solidFill>
              </a:rPr>
              <a:t>软件工程</a:t>
            </a:r>
            <a:br>
              <a:rPr lang="en-US" altLang="zh-CN" sz="4800" dirty="0">
                <a:solidFill>
                  <a:schemeClr val="bg1"/>
                </a:solidFill>
              </a:rPr>
            </a:br>
            <a:r>
              <a:rPr lang="zh-CN" altLang="en-US" sz="3200" u="sng" cap="none" dirty="0" smtClean="0">
                <a:solidFill>
                  <a:schemeClr val="bg1"/>
                </a:solidFill>
                <a:effectLst>
                  <a:outerShdw blurRad="38100" dist="38100" dir="2700000" algn="tl">
                    <a:srgbClr val="000000">
                      <a:alpha val="43137"/>
                    </a:srgbClr>
                  </a:outerShdw>
                </a:effectLst>
                <a:ea typeface="华文中宋" panose="02010600040101010101" pitchFamily="2" charset="-122"/>
              </a:rPr>
              <a:t>生命周期和过程模型</a:t>
            </a:r>
            <a:endParaRPr lang="zh-CN" altLang="en-US" sz="3200" u="sng" cap="none" dirty="0" smtClean="0">
              <a:solidFill>
                <a:schemeClr val="bg1"/>
              </a:solidFill>
              <a:effectLst>
                <a:outerShdw blurRad="38100" dist="38100" dir="2700000" algn="tl">
                  <a:srgbClr val="000000">
                    <a:alpha val="43137"/>
                  </a:srgbClr>
                </a:outerShdw>
              </a:effectLst>
              <a:ea typeface="华文中宋" panose="02010600040101010101" pitchFamily="2" charset="-122"/>
            </a:endParaRPr>
          </a:p>
        </p:txBody>
      </p:sp>
      <p:sp>
        <p:nvSpPr>
          <p:cNvPr id="3" name="副标题 2"/>
          <p:cNvSpPr>
            <a:spLocks noGrp="1"/>
          </p:cNvSpPr>
          <p:nvPr>
            <p:ph type="subTitle" idx="1"/>
          </p:nvPr>
        </p:nvSpPr>
        <p:spPr>
          <a:xfrm>
            <a:off x="1958907" y="3620351"/>
            <a:ext cx="6899344" cy="1380882"/>
          </a:xfrm>
        </p:spPr>
        <p:txBody>
          <a:bodyPr>
            <a:normAutofit/>
          </a:bodyPr>
          <a:lstStyle/>
          <a:p>
            <a:r>
              <a:rPr lang="zh-CN" altLang="en-US" sz="1800" dirty="0">
                <a:latin typeface="+mj-ea"/>
                <a:ea typeface="+mj-ea"/>
              </a:rPr>
              <a:t>          </a:t>
            </a:r>
            <a:r>
              <a:rPr lang="zh-CN" altLang="en-US" sz="1800" dirty="0" smtClean="0">
                <a:latin typeface="+mj-ea"/>
                <a:ea typeface="+mj-ea"/>
              </a:rPr>
              <a:t>河南大学软件学院                                          楚广琳</a:t>
            </a:r>
            <a:endParaRPr lang="zh-CN" altLang="en-US" sz="18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EC0CAFA-DAAC-4005-AB4A-B93FEF29DF29}"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233B410F-ED3A-420F-9009-9AC68EA66982}" type="slidenum">
              <a:rPr lang="zh-CN" altLang="en-US" smtClean="0"/>
            </a:fld>
            <a:endParaRPr lang="zh-CN" altLang="en-US"/>
          </a:p>
        </p:txBody>
      </p:sp>
      <p:sp>
        <p:nvSpPr>
          <p:cNvPr id="5" name="椭圆 4"/>
          <p:cNvSpPr/>
          <p:nvPr/>
        </p:nvSpPr>
        <p:spPr>
          <a:xfrm>
            <a:off x="4146059" y="1175479"/>
            <a:ext cx="167616" cy="167616"/>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6" name="文本框 25"/>
          <p:cNvSpPr txBox="1">
            <a:spLocks noChangeArrowheads="1"/>
          </p:cNvSpPr>
          <p:nvPr/>
        </p:nvSpPr>
        <p:spPr bwMode="auto">
          <a:xfrm>
            <a:off x="3479198" y="1105418"/>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2"/>
                </a:solidFill>
                <a:latin typeface="Arial" panose="020B0604020202020204" pitchFamily="34" charset="0"/>
                <a:cs typeface="Arial" panose="020B0604020202020204" pitchFamily="34" charset="0"/>
                <a:sym typeface="Arial" panose="020B0604020202020204" pitchFamily="34" charset="0"/>
              </a:rPr>
              <a:t>01</a:t>
            </a:r>
            <a:endParaRPr lang="zh-CN" altLang="en-US" sz="2400" dirty="0">
              <a:solidFill>
                <a:schemeClr val="accent2"/>
              </a:solidFill>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p:nvSpPr>
        <p:spPr>
          <a:xfrm>
            <a:off x="4395022" y="1105418"/>
            <a:ext cx="3083937" cy="369332"/>
          </a:xfrm>
          <a:prstGeom prst="rect">
            <a:avLst/>
          </a:prstGeom>
          <a:noFill/>
        </p:spPr>
        <p:txBody>
          <a:bodyPr wrap="square" lIns="0" tIns="0" rIns="0" bIns="0">
            <a:spAutoFit/>
          </a:bodyPr>
          <a:lstStyle/>
          <a:p>
            <a:pPr>
              <a:defRPr/>
            </a:pPr>
            <a:r>
              <a:rPr lang="zh-CN" altLang="en-US" sz="2400" dirty="0" smtClean="0">
                <a:solidFill>
                  <a:schemeClr val="accent2"/>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软件的概念及本质特性</a:t>
            </a:r>
            <a:endParaRPr lang="zh-CN" altLang="en-US" sz="2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椭圆 7"/>
          <p:cNvSpPr/>
          <p:nvPr/>
        </p:nvSpPr>
        <p:spPr>
          <a:xfrm>
            <a:off x="4146059" y="1778892"/>
            <a:ext cx="167616" cy="167616"/>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9" name="文本框 28"/>
          <p:cNvSpPr txBox="1">
            <a:spLocks noChangeArrowheads="1"/>
          </p:cNvSpPr>
          <p:nvPr/>
        </p:nvSpPr>
        <p:spPr bwMode="auto">
          <a:xfrm>
            <a:off x="3479198" y="1688316"/>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1"/>
                </a:solidFill>
                <a:latin typeface="Arial" panose="020B0604020202020204" pitchFamily="34" charset="0"/>
                <a:cs typeface="Arial" panose="020B0604020202020204" pitchFamily="34" charset="0"/>
                <a:sym typeface="Arial" panose="020B0604020202020204" pitchFamily="34" charset="0"/>
              </a:rPr>
              <a:t>02</a:t>
            </a:r>
            <a:endParaRPr lang="zh-CN" altLang="en-US" sz="2400" dirty="0">
              <a:solidFill>
                <a:schemeClr val="accent1"/>
              </a:solidFill>
              <a:latin typeface="Arial" panose="020B0604020202020204" pitchFamily="34" charset="0"/>
              <a:cs typeface="Arial" panose="020B0604020202020204" pitchFamily="34" charset="0"/>
              <a:sym typeface="Arial" panose="020B0604020202020204" pitchFamily="34" charset="0"/>
            </a:endParaRPr>
          </a:p>
        </p:txBody>
      </p:sp>
      <p:sp>
        <p:nvSpPr>
          <p:cNvPr id="10" name="文本框 9"/>
          <p:cNvSpPr txBox="1"/>
          <p:nvPr/>
        </p:nvSpPr>
        <p:spPr>
          <a:xfrm>
            <a:off x="4395022" y="1708831"/>
            <a:ext cx="3083937" cy="369332"/>
          </a:xfrm>
          <a:prstGeom prst="rect">
            <a:avLst/>
          </a:prstGeom>
          <a:noFill/>
        </p:spPr>
        <p:txBody>
          <a:bodyPr wrap="square" lIns="0" tIns="0" rIns="0" bIns="0">
            <a:spAutoFit/>
          </a:bodyPr>
          <a:lstStyle/>
          <a:p>
            <a:pPr>
              <a:defRPr/>
            </a:pPr>
            <a:r>
              <a:rPr lang="zh-CN" altLang="en-US" sz="2400" dirty="0" smtClean="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软件的发展历程</a:t>
            </a:r>
            <a:endPar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椭圆 10"/>
          <p:cNvSpPr/>
          <p:nvPr/>
        </p:nvSpPr>
        <p:spPr>
          <a:xfrm>
            <a:off x="4146059" y="2425739"/>
            <a:ext cx="167616" cy="167616"/>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2" name="文本框 30"/>
          <p:cNvSpPr txBox="1">
            <a:spLocks noChangeArrowheads="1"/>
          </p:cNvSpPr>
          <p:nvPr/>
        </p:nvSpPr>
        <p:spPr bwMode="auto">
          <a:xfrm>
            <a:off x="3479198" y="2314648"/>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2"/>
                </a:solidFill>
                <a:latin typeface="Arial" panose="020B0604020202020204" pitchFamily="34" charset="0"/>
                <a:cs typeface="Arial" panose="020B0604020202020204" pitchFamily="34" charset="0"/>
                <a:sym typeface="Arial" panose="020B0604020202020204" pitchFamily="34" charset="0"/>
              </a:rPr>
              <a:t>03</a:t>
            </a:r>
            <a:endParaRPr lang="zh-CN" altLang="en-US" sz="2400" dirty="0">
              <a:solidFill>
                <a:schemeClr val="accent2"/>
              </a:solidFill>
              <a:latin typeface="Arial" panose="020B0604020202020204" pitchFamily="34" charset="0"/>
              <a:cs typeface="Arial" panose="020B0604020202020204" pitchFamily="34" charset="0"/>
              <a:sym typeface="Arial" panose="020B0604020202020204" pitchFamily="34" charset="0"/>
            </a:endParaRPr>
          </a:p>
        </p:txBody>
      </p:sp>
      <p:sp>
        <p:nvSpPr>
          <p:cNvPr id="13" name="文本框 12"/>
          <p:cNvSpPr txBox="1"/>
          <p:nvPr/>
        </p:nvSpPr>
        <p:spPr>
          <a:xfrm>
            <a:off x="4395022" y="2355679"/>
            <a:ext cx="3083937" cy="369332"/>
          </a:xfrm>
          <a:prstGeom prst="rect">
            <a:avLst/>
          </a:prstGeom>
          <a:noFill/>
        </p:spPr>
        <p:txBody>
          <a:bodyPr wrap="square" lIns="0" tIns="0" rIns="0" bIns="0">
            <a:spAutoFit/>
          </a:bodyPr>
          <a:lstStyle/>
          <a:p>
            <a:pPr>
              <a:defRPr/>
            </a:pPr>
            <a:r>
              <a:rPr lang="zh-CN" altLang="en-US" sz="2400" dirty="0" smtClean="0">
                <a:solidFill>
                  <a:schemeClr val="accent2"/>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软件危机的概念</a:t>
            </a:r>
            <a:endParaRPr lang="zh-CN" altLang="en-US" sz="2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椭圆 13"/>
          <p:cNvSpPr/>
          <p:nvPr/>
        </p:nvSpPr>
        <p:spPr>
          <a:xfrm>
            <a:off x="4146059" y="3020008"/>
            <a:ext cx="167616" cy="167616"/>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5" name="文本框 32"/>
          <p:cNvSpPr txBox="1">
            <a:spLocks noChangeArrowheads="1"/>
          </p:cNvSpPr>
          <p:nvPr/>
        </p:nvSpPr>
        <p:spPr bwMode="auto">
          <a:xfrm>
            <a:off x="3479198" y="2949948"/>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1"/>
                </a:solidFill>
                <a:latin typeface="Arial" panose="020B0604020202020204" pitchFamily="34" charset="0"/>
                <a:cs typeface="Arial" panose="020B0604020202020204" pitchFamily="34" charset="0"/>
                <a:sym typeface="Arial" panose="020B0604020202020204" pitchFamily="34" charset="0"/>
              </a:rPr>
              <a:t>04</a:t>
            </a:r>
            <a:endParaRPr lang="zh-CN" altLang="en-US" sz="2400" dirty="0">
              <a:solidFill>
                <a:schemeClr val="accent1"/>
              </a:solidFill>
              <a:latin typeface="Arial" panose="020B0604020202020204" pitchFamily="34" charset="0"/>
              <a:cs typeface="Arial" panose="020B0604020202020204" pitchFamily="34" charset="0"/>
              <a:sym typeface="Arial" panose="020B0604020202020204" pitchFamily="34" charset="0"/>
            </a:endParaRPr>
          </a:p>
        </p:txBody>
      </p:sp>
      <p:sp>
        <p:nvSpPr>
          <p:cNvPr id="16" name="文本框 15"/>
          <p:cNvSpPr txBox="1"/>
          <p:nvPr/>
        </p:nvSpPr>
        <p:spPr>
          <a:xfrm>
            <a:off x="4395022" y="2949948"/>
            <a:ext cx="3663271" cy="369332"/>
          </a:xfrm>
          <a:prstGeom prst="rect">
            <a:avLst/>
          </a:prstGeom>
          <a:noFill/>
        </p:spPr>
        <p:txBody>
          <a:bodyPr wrap="square" lIns="0" tIns="0" rIns="0" bIns="0">
            <a:spAutoFit/>
          </a:bodyPr>
          <a:lstStyle/>
          <a:p>
            <a:pPr>
              <a:defRPr/>
            </a:pPr>
            <a:r>
              <a:rPr lang="zh-CN" altLang="en-US" sz="2400" dirty="0" smtClean="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软件工程的概念和三要素</a:t>
            </a:r>
            <a:endPar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Title 1"/>
          <p:cNvSpPr txBox="1"/>
          <p:nvPr/>
        </p:nvSpPr>
        <p:spPr>
          <a:xfrm>
            <a:off x="1143000" y="83636"/>
            <a:ext cx="7552030" cy="656340"/>
          </a:xfrm>
          <a:prstGeom prst="rect">
            <a:avLst/>
          </a:prstGeom>
        </p:spPr>
        <p:txBody>
          <a:bodyPr vert="horz" lIns="91440" tIns="45720" rIns="91440" bIns="45720" rtlCol="0" anchor="ctr">
            <a:normAutofit/>
          </a:bodyPr>
          <a:lstStyle>
            <a:lvl1pPr algn="r" defTabSz="685800" rtl="0" eaLnBrk="1" latinLnBrk="0" hangingPunct="1">
              <a:lnSpc>
                <a:spcPct val="80000"/>
              </a:lnSpc>
              <a:spcBef>
                <a:spcPct val="0"/>
              </a:spcBef>
              <a:buNone/>
              <a:defRPr sz="3750" b="1" kern="1200" cap="all" spc="150" baseline="0">
                <a:solidFill>
                  <a:schemeClr val="bg1"/>
                </a:solidFill>
                <a:latin typeface="+mj-lt"/>
                <a:ea typeface="+mj-ea"/>
                <a:cs typeface="+mj-cs"/>
              </a:defRPr>
            </a:lvl1pPr>
          </a:lstStyle>
          <a:p>
            <a:pPr algn="l"/>
            <a:r>
              <a:rPr lang="zh-CN" altLang="en-US" sz="2800" dirty="0" smtClean="0"/>
              <a:t>第</a:t>
            </a:r>
            <a:r>
              <a:rPr lang="en-US" altLang="zh-CN" sz="2800" dirty="0" smtClean="0"/>
              <a:t>1</a:t>
            </a:r>
            <a:r>
              <a:rPr lang="zh-CN" altLang="en-US" sz="2800" dirty="0" smtClean="0"/>
              <a:t>章 软件工程概述</a:t>
            </a:r>
            <a:endParaRPr lang="en-US" sz="2800" dirty="0"/>
          </a:p>
        </p:txBody>
      </p:sp>
      <p:sp>
        <p:nvSpPr>
          <p:cNvPr id="18" name="椭圆 17"/>
          <p:cNvSpPr/>
          <p:nvPr/>
        </p:nvSpPr>
        <p:spPr>
          <a:xfrm>
            <a:off x="4146059" y="3602745"/>
            <a:ext cx="167616" cy="167616"/>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accent2"/>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9" name="文本框 32"/>
          <p:cNvSpPr txBox="1">
            <a:spLocks noChangeArrowheads="1"/>
          </p:cNvSpPr>
          <p:nvPr/>
        </p:nvSpPr>
        <p:spPr bwMode="auto">
          <a:xfrm>
            <a:off x="3479198" y="3532685"/>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smtClean="0">
                <a:solidFill>
                  <a:schemeClr val="accent2"/>
                </a:solidFill>
                <a:latin typeface="Arial" panose="020B0604020202020204" pitchFamily="34" charset="0"/>
                <a:cs typeface="Arial" panose="020B0604020202020204" pitchFamily="34" charset="0"/>
                <a:sym typeface="Arial" panose="020B0604020202020204" pitchFamily="34" charset="0"/>
              </a:rPr>
              <a:t>05</a:t>
            </a:r>
            <a:endParaRPr lang="zh-CN" altLang="en-US" sz="2400" dirty="0">
              <a:solidFill>
                <a:schemeClr val="accent2"/>
              </a:solidFill>
              <a:latin typeface="Arial" panose="020B0604020202020204" pitchFamily="34" charset="0"/>
              <a:cs typeface="Arial" panose="020B0604020202020204" pitchFamily="34" charset="0"/>
              <a:sym typeface="Arial" panose="020B0604020202020204" pitchFamily="34" charset="0"/>
            </a:endParaRPr>
          </a:p>
        </p:txBody>
      </p:sp>
      <p:sp>
        <p:nvSpPr>
          <p:cNvPr id="20" name="文本框 19"/>
          <p:cNvSpPr txBox="1"/>
          <p:nvPr/>
        </p:nvSpPr>
        <p:spPr>
          <a:xfrm>
            <a:off x="4395022" y="3532685"/>
            <a:ext cx="3663271" cy="369332"/>
          </a:xfrm>
          <a:prstGeom prst="rect">
            <a:avLst/>
          </a:prstGeom>
          <a:noFill/>
        </p:spPr>
        <p:txBody>
          <a:bodyPr wrap="square" lIns="0" tIns="0" rIns="0" bIns="0">
            <a:spAutoFit/>
          </a:bodyPr>
          <a:lstStyle/>
          <a:p>
            <a:pPr>
              <a:defRPr/>
            </a:pPr>
            <a:r>
              <a:rPr lang="zh-CN" altLang="en-US" sz="2400" dirty="0" smtClean="0">
                <a:solidFill>
                  <a:schemeClr val="accent2"/>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软件质量实现</a:t>
            </a:r>
            <a:endParaRPr lang="zh-CN" altLang="en-US" sz="2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21" name="椭圆 20"/>
          <p:cNvSpPr/>
          <p:nvPr/>
        </p:nvSpPr>
        <p:spPr>
          <a:xfrm>
            <a:off x="4146059" y="4209140"/>
            <a:ext cx="167616" cy="167616"/>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22" name="文本框 32"/>
          <p:cNvSpPr txBox="1">
            <a:spLocks noChangeArrowheads="1"/>
          </p:cNvSpPr>
          <p:nvPr/>
        </p:nvSpPr>
        <p:spPr bwMode="auto">
          <a:xfrm>
            <a:off x="3479198" y="4139080"/>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smtClean="0">
                <a:solidFill>
                  <a:schemeClr val="accent1"/>
                </a:solidFill>
                <a:latin typeface="Arial" panose="020B0604020202020204" pitchFamily="34" charset="0"/>
                <a:cs typeface="Arial" panose="020B0604020202020204" pitchFamily="34" charset="0"/>
                <a:sym typeface="Arial" panose="020B0604020202020204" pitchFamily="34" charset="0"/>
              </a:rPr>
              <a:t>06</a:t>
            </a:r>
            <a:endParaRPr lang="zh-CN" altLang="en-US" sz="2400" dirty="0">
              <a:solidFill>
                <a:schemeClr val="accent1"/>
              </a:solidFill>
              <a:latin typeface="Arial" panose="020B0604020202020204" pitchFamily="34" charset="0"/>
              <a:cs typeface="Arial" panose="020B0604020202020204" pitchFamily="34" charset="0"/>
              <a:sym typeface="Arial" panose="020B0604020202020204" pitchFamily="34" charset="0"/>
            </a:endParaRPr>
          </a:p>
        </p:txBody>
      </p:sp>
      <p:sp>
        <p:nvSpPr>
          <p:cNvPr id="23" name="文本框 22"/>
          <p:cNvSpPr txBox="1"/>
          <p:nvPr/>
        </p:nvSpPr>
        <p:spPr>
          <a:xfrm>
            <a:off x="4395022" y="4139080"/>
            <a:ext cx="3663271" cy="369332"/>
          </a:xfrm>
          <a:prstGeom prst="rect">
            <a:avLst/>
          </a:prstGeom>
          <a:noFill/>
        </p:spPr>
        <p:txBody>
          <a:bodyPr wrap="square" lIns="0" tIns="0" rIns="0" bIns="0">
            <a:spAutoFit/>
          </a:bodyPr>
          <a:lstStyle/>
          <a:p>
            <a:pPr>
              <a:defRPr/>
            </a:pPr>
            <a:r>
              <a:rPr lang="zh-CN" altLang="en-US" sz="2400" dirty="0" smtClean="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软件的生命周期</a:t>
            </a:r>
            <a:endPar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2231819" y="1377433"/>
            <a:ext cx="4905388" cy="3233672"/>
          </a:xfrm>
          <a:prstGeom prst="rect">
            <a:avLst/>
          </a:prstGeom>
        </p:spPr>
      </p:pic>
      <p:sp>
        <p:nvSpPr>
          <p:cNvPr id="7" name="标题 6"/>
          <p:cNvSpPr>
            <a:spLocks noGrp="1"/>
          </p:cNvSpPr>
          <p:nvPr>
            <p:ph type="title"/>
          </p:nvPr>
        </p:nvSpPr>
        <p:spPr/>
        <p:txBody>
          <a:bodyPr/>
          <a:lstStyle/>
          <a:p>
            <a:r>
              <a:rPr lang="en-US" altLang="zh-CN" dirty="0" smtClean="0"/>
              <a:t>1.6 </a:t>
            </a:r>
            <a:r>
              <a:rPr lang="zh-CN" altLang="en-US" dirty="0" smtClean="0"/>
              <a:t>软件生命周期的概念</a:t>
            </a:r>
            <a:endParaRPr lang="zh-CN" altLang="en-US" dirty="0"/>
          </a:p>
        </p:txBody>
      </p:sp>
      <p:sp>
        <p:nvSpPr>
          <p:cNvPr id="8" name="内容占位符 7"/>
          <p:cNvSpPr>
            <a:spLocks noGrp="1"/>
          </p:cNvSpPr>
          <p:nvPr>
            <p:ph idx="1"/>
          </p:nvPr>
        </p:nvSpPr>
        <p:spPr/>
        <p:txBody>
          <a:bodyPr>
            <a:normAutofit/>
          </a:bodyPr>
          <a:lstStyle/>
          <a:p>
            <a:r>
              <a:rPr lang="zh-CN" altLang="en-US" sz="2400" dirty="0">
                <a:solidFill>
                  <a:schemeClr val="tx1">
                    <a:lumMod val="65000"/>
                    <a:lumOff val="35000"/>
                  </a:schemeClr>
                </a:solidFill>
                <a:latin typeface="+mj-ea"/>
                <a:ea typeface="+mj-ea"/>
              </a:rPr>
              <a:t>人是有生命期的，那么软件呢？什么是软件生命周期</a:t>
            </a:r>
            <a:r>
              <a:rPr lang="zh-CN" altLang="en-US" sz="2400" dirty="0" smtClean="0">
                <a:solidFill>
                  <a:schemeClr val="tx1">
                    <a:lumMod val="65000"/>
                    <a:lumOff val="35000"/>
                  </a:schemeClr>
                </a:solidFill>
                <a:latin typeface="+mj-ea"/>
                <a:ea typeface="+mj-ea"/>
              </a:rPr>
              <a:t>？</a:t>
            </a:r>
            <a:endParaRPr lang="zh-CN" altLang="en-US" sz="2400" dirty="0">
              <a:solidFill>
                <a:schemeClr val="tx1">
                  <a:lumMod val="65000"/>
                  <a:lumOff val="35000"/>
                </a:schemeClr>
              </a:solidFill>
              <a:latin typeface="+mj-ea"/>
              <a:ea typeface="+mj-ea"/>
            </a:endParaRPr>
          </a:p>
        </p:txBody>
      </p:sp>
      <p:sp>
        <p:nvSpPr>
          <p:cNvPr id="9" name="日期占位符 8"/>
          <p:cNvSpPr>
            <a:spLocks noGrp="1"/>
          </p:cNvSpPr>
          <p:nvPr>
            <p:ph type="dt" sz="half" idx="10"/>
          </p:nvPr>
        </p:nvSpPr>
        <p:spPr/>
        <p:txBody>
          <a:bodyPr/>
          <a:lstStyle/>
          <a:p>
            <a:fld id="{54154AB8-C53E-478E-9494-17F97080F982}" type="datetime1">
              <a:rPr lang="zh-CN" altLang="en-US" smtClean="0"/>
            </a:fld>
            <a:endParaRPr lang="zh-CN" altLang="en-US" dirty="0"/>
          </a:p>
        </p:txBody>
      </p:sp>
      <p:sp>
        <p:nvSpPr>
          <p:cNvPr id="10" name="页脚占位符 9"/>
          <p:cNvSpPr>
            <a:spLocks noGrp="1"/>
          </p:cNvSpPr>
          <p:nvPr>
            <p:ph type="ftr" sz="quarter" idx="11"/>
          </p:nvPr>
        </p:nvSpPr>
        <p:spPr/>
        <p:txBody>
          <a:bodyPr/>
          <a:lstStyle/>
          <a:p>
            <a:r>
              <a:rPr lang="zh-CN" altLang="en-US" smtClean="0"/>
              <a:t>软件工程</a:t>
            </a:r>
            <a:endParaRPr lang="zh-CN" altLang="en-US" dirty="0"/>
          </a:p>
        </p:txBody>
      </p:sp>
      <p:sp>
        <p:nvSpPr>
          <p:cNvPr id="11" name="灯片编号占位符 10"/>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软件的生命周期</a:t>
            </a:r>
            <a:r>
              <a:rPr lang="zh-CN" altLang="en-US" dirty="0" smtClean="0"/>
              <a:t>是</a:t>
            </a:r>
            <a:endParaRPr lang="zh-CN" altLang="en-US" dirty="0"/>
          </a:p>
        </p:txBody>
      </p:sp>
      <p:sp>
        <p:nvSpPr>
          <p:cNvPr id="3" name="内容占位符 2"/>
          <p:cNvSpPr>
            <a:spLocks noGrp="1"/>
          </p:cNvSpPr>
          <p:nvPr>
            <p:ph idx="1"/>
          </p:nvPr>
        </p:nvSpPr>
        <p:spPr>
          <a:xfrm>
            <a:off x="768097" y="1257299"/>
            <a:ext cx="7832833" cy="3017521"/>
          </a:xfrm>
        </p:spPr>
        <p:txBody>
          <a:bodyPr/>
          <a:lstStyle/>
          <a:p>
            <a:pPr algn="just">
              <a:lnSpc>
                <a:spcPct val="120000"/>
              </a:lnSpc>
              <a:spcBef>
                <a:spcPts val="1200"/>
              </a:spcBef>
              <a:spcAft>
                <a:spcPts val="0"/>
              </a:spcAft>
            </a:pPr>
            <a:r>
              <a:rPr lang="zh-CN" altLang="en-US" dirty="0">
                <a:latin typeface="+mj-ea"/>
              </a:rPr>
              <a:t>软件从功能确定、设计到开发成功投入使用，并在使用中不断地修改、增补和完善，直到被新的需要所代替而停止使用该软件的全过程</a:t>
            </a:r>
            <a:r>
              <a:rPr lang="zh-CN" altLang="en-US" dirty="0" smtClean="0">
                <a:latin typeface="+mj-ea"/>
              </a:rPr>
              <a:t>。</a:t>
            </a:r>
            <a:endParaRPr lang="zh-CN" altLang="en-US" dirty="0">
              <a:latin typeface="+mj-ea"/>
            </a:endParaRPr>
          </a:p>
        </p:txBody>
      </p:sp>
      <p:sp>
        <p:nvSpPr>
          <p:cNvPr id="4" name="日期占位符 3"/>
          <p:cNvSpPr>
            <a:spLocks noGrp="1"/>
          </p:cNvSpPr>
          <p:nvPr>
            <p:ph type="dt" sz="half" idx="10"/>
          </p:nvPr>
        </p:nvSpPr>
        <p:spPr/>
        <p:txBody>
          <a:bodyPr/>
          <a:lstStyle/>
          <a:p>
            <a:fld id="{E273DD09-4DC8-479F-A005-22656EB64EBB}"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854291" y="465754"/>
            <a:ext cx="6448790" cy="4493538"/>
            <a:chOff x="1226146" y="414456"/>
            <a:chExt cx="6448790" cy="4493538"/>
          </a:xfrm>
        </p:grpSpPr>
        <p:sp>
          <p:nvSpPr>
            <p:cNvPr id="7" name="Rectangle 5"/>
            <p:cNvSpPr>
              <a:spLocks noChangeArrowheads="1"/>
            </p:cNvSpPr>
            <p:nvPr/>
          </p:nvSpPr>
          <p:spPr bwMode="auto">
            <a:xfrm>
              <a:off x="1226146" y="414456"/>
              <a:ext cx="6448790" cy="4493538"/>
            </a:xfrm>
            <a:prstGeom prst="rect">
              <a:avLst/>
            </a:prstGeom>
            <a:noFill/>
            <a:ln w="12700" cap="sq">
              <a:noFill/>
              <a:miter lim="800000"/>
              <a:headEnd type="none" w="sm" len="sm"/>
              <a:tailEnd type="none" w="sm" len="sm"/>
            </a:ln>
          </p:spPr>
          <p:txBody>
            <a:bodyPr wrap="square">
              <a:spAutoFit/>
            </a:bodyPr>
            <a:lstStyle/>
            <a:p>
              <a:pPr>
                <a:lnSpc>
                  <a:spcPct val="110000"/>
                </a:lnSpc>
              </a:pPr>
              <a:endParaRPr lang="zh-CN" altLang="en-US" sz="2000" dirty="0">
                <a:solidFill>
                  <a:schemeClr val="tx2"/>
                </a:solidFill>
                <a:latin typeface="+mj-ea"/>
                <a:ea typeface="+mj-ea"/>
              </a:endParaRPr>
            </a:p>
            <a:p>
              <a:pPr>
                <a:lnSpc>
                  <a:spcPct val="110000"/>
                </a:lnSpc>
              </a:pPr>
              <a:r>
                <a:rPr lang="zh-CN" altLang="en-US" sz="2000" dirty="0">
                  <a:solidFill>
                    <a:schemeClr val="tx2"/>
                  </a:solidFill>
                  <a:latin typeface="+mj-ea"/>
                  <a:ea typeface="+mj-ea"/>
                </a:rPr>
                <a:t>                                                </a:t>
              </a:r>
              <a:r>
                <a:rPr lang="zh-CN" altLang="en-US" sz="2000" dirty="0" smtClean="0">
                  <a:solidFill>
                    <a:schemeClr val="tx2"/>
                  </a:solidFill>
                  <a:latin typeface="+mj-ea"/>
                  <a:ea typeface="+mj-ea"/>
                </a:rPr>
                <a:t>问题定义</a:t>
              </a:r>
              <a:endParaRPr lang="en-US" altLang="zh-CN" sz="2000" dirty="0">
                <a:solidFill>
                  <a:schemeClr val="tx2"/>
                </a:solidFill>
                <a:latin typeface="+mj-ea"/>
                <a:ea typeface="+mj-ea"/>
              </a:endParaRPr>
            </a:p>
            <a:p>
              <a:pPr>
                <a:lnSpc>
                  <a:spcPct val="110000"/>
                </a:lnSpc>
              </a:pPr>
              <a:r>
                <a:rPr lang="zh-CN" altLang="en-US" sz="2000" dirty="0">
                  <a:solidFill>
                    <a:schemeClr val="tx2"/>
                  </a:solidFill>
                  <a:latin typeface="+mj-ea"/>
                  <a:ea typeface="+mj-ea"/>
                </a:rPr>
                <a:t>                          </a:t>
              </a:r>
              <a:r>
                <a:rPr lang="zh-CN" altLang="en-US" sz="2000" dirty="0" smtClean="0">
                  <a:solidFill>
                    <a:schemeClr val="tx2"/>
                  </a:solidFill>
                  <a:latin typeface="+mj-ea"/>
                  <a:ea typeface="+mj-ea"/>
                </a:rPr>
                <a:t>软件</a:t>
              </a:r>
              <a:r>
                <a:rPr lang="zh-CN" altLang="en-US" sz="2000" dirty="0">
                  <a:solidFill>
                    <a:schemeClr val="tx2"/>
                  </a:solidFill>
                  <a:latin typeface="+mj-ea"/>
                  <a:ea typeface="+mj-ea"/>
                </a:rPr>
                <a:t>定义         可行性研究</a:t>
              </a:r>
              <a:endParaRPr lang="en-US" altLang="zh-CN" sz="2000" dirty="0">
                <a:solidFill>
                  <a:schemeClr val="tx2"/>
                </a:solidFill>
                <a:latin typeface="+mj-ea"/>
                <a:ea typeface="+mj-ea"/>
              </a:endParaRPr>
            </a:p>
            <a:p>
              <a:pPr>
                <a:lnSpc>
                  <a:spcPct val="110000"/>
                </a:lnSpc>
              </a:pPr>
              <a:r>
                <a:rPr lang="en-US" altLang="zh-CN" sz="2000" dirty="0">
                  <a:solidFill>
                    <a:schemeClr val="tx2"/>
                  </a:solidFill>
                  <a:latin typeface="+mj-ea"/>
                  <a:ea typeface="+mj-ea"/>
                </a:rPr>
                <a:t>                                                </a:t>
              </a:r>
              <a:r>
                <a:rPr lang="zh-CN" altLang="en-US" sz="2000" dirty="0" smtClean="0">
                  <a:solidFill>
                    <a:schemeClr val="tx2"/>
                  </a:solidFill>
                  <a:latin typeface="+mj-ea"/>
                  <a:ea typeface="+mj-ea"/>
                </a:rPr>
                <a:t>需求分析</a:t>
              </a:r>
              <a:endParaRPr lang="zh-CN" altLang="en-US" sz="2000" dirty="0">
                <a:solidFill>
                  <a:schemeClr val="tx2"/>
                </a:solidFill>
                <a:latin typeface="+mj-ea"/>
                <a:ea typeface="+mj-ea"/>
              </a:endParaRPr>
            </a:p>
            <a:p>
              <a:pPr>
                <a:lnSpc>
                  <a:spcPct val="110000"/>
                </a:lnSpc>
              </a:pPr>
              <a:r>
                <a:rPr lang="zh-CN" altLang="en-US" sz="2000" dirty="0">
                  <a:solidFill>
                    <a:schemeClr val="tx2"/>
                  </a:solidFill>
                  <a:latin typeface="+mj-ea"/>
                  <a:ea typeface="+mj-ea"/>
                </a:rPr>
                <a:t>                                                          </a:t>
              </a:r>
              <a:endParaRPr lang="zh-CN" altLang="en-US" sz="2000" dirty="0">
                <a:solidFill>
                  <a:schemeClr val="tx2"/>
                </a:solidFill>
                <a:latin typeface="+mj-ea"/>
                <a:ea typeface="+mj-ea"/>
              </a:endParaRPr>
            </a:p>
            <a:p>
              <a:pPr>
                <a:lnSpc>
                  <a:spcPct val="110000"/>
                </a:lnSpc>
              </a:pPr>
              <a:r>
                <a:rPr lang="zh-CN" altLang="en-US" sz="2000" dirty="0">
                  <a:solidFill>
                    <a:schemeClr val="tx2"/>
                  </a:solidFill>
                  <a:latin typeface="+mj-ea"/>
                  <a:ea typeface="+mj-ea"/>
                </a:rPr>
                <a:t>                                                 </a:t>
              </a:r>
              <a:r>
                <a:rPr lang="zh-CN" altLang="en-US" sz="2000" dirty="0" smtClean="0">
                  <a:solidFill>
                    <a:schemeClr val="tx2"/>
                  </a:solidFill>
                  <a:latin typeface="+mj-ea"/>
                  <a:ea typeface="+mj-ea"/>
                </a:rPr>
                <a:t>总体设计</a:t>
              </a:r>
              <a:endParaRPr lang="en-US" altLang="zh-CN" sz="2000" dirty="0">
                <a:solidFill>
                  <a:schemeClr val="tx2"/>
                </a:solidFill>
                <a:latin typeface="+mj-ea"/>
                <a:ea typeface="+mj-ea"/>
              </a:endParaRPr>
            </a:p>
            <a:p>
              <a:pPr>
                <a:lnSpc>
                  <a:spcPct val="110000"/>
                </a:lnSpc>
              </a:pPr>
              <a:r>
                <a:rPr lang="zh-CN" altLang="en-US" sz="2000" dirty="0">
                  <a:solidFill>
                    <a:schemeClr val="tx2"/>
                  </a:solidFill>
                  <a:latin typeface="+mj-ea"/>
                  <a:ea typeface="+mj-ea"/>
                </a:rPr>
                <a:t>                                                 </a:t>
              </a:r>
              <a:r>
                <a:rPr lang="zh-CN" altLang="en-US" sz="2000" dirty="0" smtClean="0">
                  <a:solidFill>
                    <a:schemeClr val="tx2"/>
                  </a:solidFill>
                  <a:latin typeface="+mj-ea"/>
                  <a:ea typeface="+mj-ea"/>
                </a:rPr>
                <a:t>详细设计</a:t>
              </a:r>
              <a:endParaRPr lang="en-US" altLang="zh-CN" sz="2000" dirty="0">
                <a:solidFill>
                  <a:schemeClr val="tx2"/>
                </a:solidFill>
                <a:latin typeface="+mj-ea"/>
                <a:ea typeface="+mj-ea"/>
              </a:endParaRPr>
            </a:p>
            <a:p>
              <a:pPr>
                <a:lnSpc>
                  <a:spcPct val="110000"/>
                </a:lnSpc>
              </a:pPr>
              <a:r>
                <a:rPr lang="zh-CN" altLang="en-US" sz="2000" dirty="0">
                  <a:solidFill>
                    <a:schemeClr val="tx2"/>
                  </a:solidFill>
                  <a:latin typeface="+mj-ea"/>
                  <a:ea typeface="+mj-ea"/>
                </a:rPr>
                <a:t>软件生命周期      </a:t>
              </a:r>
              <a:r>
                <a:rPr lang="zh-CN" altLang="en-US" sz="2000" dirty="0" smtClean="0">
                  <a:solidFill>
                    <a:schemeClr val="tx2"/>
                  </a:solidFill>
                  <a:latin typeface="+mj-ea"/>
                  <a:ea typeface="+mj-ea"/>
                </a:rPr>
                <a:t>软件开发          </a:t>
              </a:r>
              <a:r>
                <a:rPr lang="zh-CN" altLang="en-US" sz="2000" dirty="0">
                  <a:solidFill>
                    <a:schemeClr val="tx2"/>
                  </a:solidFill>
                  <a:latin typeface="+mj-ea"/>
                  <a:ea typeface="+mj-ea"/>
                </a:rPr>
                <a:t>编码实现</a:t>
              </a:r>
              <a:endParaRPr lang="en-US" altLang="zh-CN" sz="2000" dirty="0">
                <a:solidFill>
                  <a:schemeClr val="tx2"/>
                </a:solidFill>
                <a:latin typeface="+mj-ea"/>
                <a:ea typeface="+mj-ea"/>
              </a:endParaRPr>
            </a:p>
            <a:p>
              <a:pPr>
                <a:lnSpc>
                  <a:spcPct val="110000"/>
                </a:lnSpc>
              </a:pPr>
              <a:r>
                <a:rPr lang="zh-CN" altLang="en-US" sz="2000" dirty="0">
                  <a:solidFill>
                    <a:schemeClr val="tx2"/>
                  </a:solidFill>
                  <a:latin typeface="+mj-ea"/>
                  <a:ea typeface="+mj-ea"/>
                </a:rPr>
                <a:t>                                                 </a:t>
              </a:r>
              <a:r>
                <a:rPr lang="zh-CN" altLang="en-US" sz="2000" dirty="0" smtClean="0">
                  <a:solidFill>
                    <a:schemeClr val="tx2"/>
                  </a:solidFill>
                  <a:latin typeface="+mj-ea"/>
                  <a:ea typeface="+mj-ea"/>
                </a:rPr>
                <a:t>单元测试</a:t>
              </a:r>
              <a:endParaRPr lang="en-US" altLang="zh-CN" sz="2000" dirty="0">
                <a:solidFill>
                  <a:schemeClr val="tx2"/>
                </a:solidFill>
                <a:latin typeface="+mj-ea"/>
                <a:ea typeface="+mj-ea"/>
              </a:endParaRPr>
            </a:p>
            <a:p>
              <a:pPr>
                <a:lnSpc>
                  <a:spcPct val="110000"/>
                </a:lnSpc>
              </a:pPr>
              <a:r>
                <a:rPr lang="zh-CN" altLang="en-US" sz="2000" dirty="0">
                  <a:solidFill>
                    <a:schemeClr val="tx2"/>
                  </a:solidFill>
                  <a:latin typeface="+mj-ea"/>
                  <a:ea typeface="+mj-ea"/>
                </a:rPr>
                <a:t>                                                 </a:t>
              </a:r>
              <a:r>
                <a:rPr lang="zh-CN" altLang="en-US" sz="2000" dirty="0" smtClean="0">
                  <a:solidFill>
                    <a:schemeClr val="tx2"/>
                  </a:solidFill>
                  <a:latin typeface="+mj-ea"/>
                  <a:ea typeface="+mj-ea"/>
                </a:rPr>
                <a:t>综合测试</a:t>
              </a:r>
              <a:endParaRPr lang="zh-CN" altLang="en-US" sz="2000" dirty="0">
                <a:solidFill>
                  <a:schemeClr val="tx2"/>
                </a:solidFill>
                <a:latin typeface="+mj-ea"/>
                <a:ea typeface="+mj-ea"/>
              </a:endParaRPr>
            </a:p>
            <a:p>
              <a:pPr>
                <a:lnSpc>
                  <a:spcPct val="110000"/>
                </a:lnSpc>
              </a:pPr>
              <a:endParaRPr lang="zh-CN" altLang="en-US" sz="2000" dirty="0">
                <a:solidFill>
                  <a:schemeClr val="tx2"/>
                </a:solidFill>
                <a:latin typeface="+mj-ea"/>
                <a:ea typeface="+mj-ea"/>
              </a:endParaRPr>
            </a:p>
            <a:p>
              <a:pPr>
                <a:lnSpc>
                  <a:spcPct val="110000"/>
                </a:lnSpc>
              </a:pPr>
              <a:r>
                <a:rPr lang="zh-CN" altLang="en-US" sz="2000" dirty="0">
                  <a:solidFill>
                    <a:schemeClr val="tx2"/>
                  </a:solidFill>
                  <a:latin typeface="+mj-ea"/>
                  <a:ea typeface="+mj-ea"/>
                </a:rPr>
                <a:t>                           </a:t>
              </a:r>
              <a:r>
                <a:rPr lang="zh-CN" altLang="en-US" sz="2000" dirty="0" smtClean="0">
                  <a:solidFill>
                    <a:schemeClr val="tx2"/>
                  </a:solidFill>
                  <a:latin typeface="+mj-ea"/>
                  <a:ea typeface="+mj-ea"/>
                </a:rPr>
                <a:t>运行</a:t>
              </a:r>
              <a:r>
                <a:rPr lang="zh-CN" altLang="en-US" sz="2000" dirty="0">
                  <a:solidFill>
                    <a:schemeClr val="tx2"/>
                  </a:solidFill>
                  <a:latin typeface="+mj-ea"/>
                  <a:ea typeface="+mj-ea"/>
                </a:rPr>
                <a:t>维护</a:t>
              </a:r>
              <a:r>
                <a:rPr lang="en-US" altLang="zh-CN" sz="2000" dirty="0">
                  <a:solidFill>
                    <a:schemeClr val="tx2"/>
                  </a:solidFill>
                  <a:latin typeface="+mj-ea"/>
                  <a:ea typeface="+mj-ea"/>
                </a:rPr>
                <a:t>         </a:t>
              </a:r>
              <a:r>
                <a:rPr lang="zh-CN" altLang="en-US" sz="2000" dirty="0">
                  <a:solidFill>
                    <a:schemeClr val="tx2"/>
                  </a:solidFill>
                  <a:latin typeface="+mj-ea"/>
                  <a:ea typeface="+mj-ea"/>
                </a:rPr>
                <a:t>持久满足用户需求</a:t>
              </a:r>
              <a:endParaRPr lang="en-US" altLang="zh-CN" sz="2000" dirty="0">
                <a:solidFill>
                  <a:schemeClr val="tx2"/>
                </a:solidFill>
                <a:latin typeface="+mj-ea"/>
                <a:ea typeface="+mj-ea"/>
              </a:endParaRPr>
            </a:p>
            <a:p>
              <a:pPr>
                <a:lnSpc>
                  <a:spcPct val="110000"/>
                </a:lnSpc>
              </a:pPr>
              <a:endParaRPr lang="zh-CN" altLang="en-US" sz="2000" dirty="0">
                <a:solidFill>
                  <a:schemeClr val="tx2"/>
                </a:solidFill>
                <a:latin typeface="+mj-ea"/>
                <a:ea typeface="+mj-ea"/>
              </a:endParaRPr>
            </a:p>
          </p:txBody>
        </p:sp>
        <p:sp>
          <p:nvSpPr>
            <p:cNvPr id="8" name="AutoShape 6"/>
            <p:cNvSpPr/>
            <p:nvPr/>
          </p:nvSpPr>
          <p:spPr bwMode="auto">
            <a:xfrm>
              <a:off x="2815091" y="1411724"/>
              <a:ext cx="398860" cy="2846785"/>
            </a:xfrm>
            <a:prstGeom prst="leftBrace">
              <a:avLst>
                <a:gd name="adj1" fmla="val 56612"/>
                <a:gd name="adj2" fmla="val 54015"/>
              </a:avLst>
            </a:prstGeom>
            <a:noFill/>
            <a:ln w="9525">
              <a:solidFill>
                <a:schemeClr val="tx1"/>
              </a:solidFill>
              <a:round/>
            </a:ln>
          </p:spPr>
          <p:txBody>
            <a:bodyPr wrap="none" anchor="ctr"/>
            <a:lstStyle/>
            <a:p>
              <a:pPr algn="ctr" eaLnBrk="0" hangingPunct="0"/>
              <a:endParaRPr lang="zh-CN" altLang="en-US" sz="1350"/>
            </a:p>
          </p:txBody>
        </p:sp>
        <p:sp>
          <p:nvSpPr>
            <p:cNvPr id="9" name="AutoShape 7"/>
            <p:cNvSpPr/>
            <p:nvPr/>
          </p:nvSpPr>
          <p:spPr bwMode="auto">
            <a:xfrm>
              <a:off x="4494206" y="857784"/>
              <a:ext cx="299445" cy="690563"/>
            </a:xfrm>
            <a:prstGeom prst="leftBrace">
              <a:avLst>
                <a:gd name="adj1" fmla="val 17835"/>
                <a:gd name="adj2" fmla="val 48317"/>
              </a:avLst>
            </a:prstGeom>
            <a:noFill/>
            <a:ln w="9525">
              <a:solidFill>
                <a:schemeClr val="tx1"/>
              </a:solidFill>
              <a:round/>
            </a:ln>
          </p:spPr>
          <p:txBody>
            <a:bodyPr wrap="none" anchor="ctr"/>
            <a:lstStyle/>
            <a:p>
              <a:pPr eaLnBrk="0" hangingPunct="0"/>
              <a:endParaRPr lang="zh-CN" altLang="en-US" sz="1350"/>
            </a:p>
          </p:txBody>
        </p:sp>
        <p:sp>
          <p:nvSpPr>
            <p:cNvPr id="10" name="AutoShape 8"/>
            <p:cNvSpPr/>
            <p:nvPr/>
          </p:nvSpPr>
          <p:spPr bwMode="auto">
            <a:xfrm>
              <a:off x="4472478" y="2332026"/>
              <a:ext cx="342900" cy="1137047"/>
            </a:xfrm>
            <a:prstGeom prst="leftBrace">
              <a:avLst>
                <a:gd name="adj1" fmla="val 27633"/>
                <a:gd name="adj2" fmla="val 50000"/>
              </a:avLst>
            </a:prstGeom>
            <a:noFill/>
            <a:ln w="9525">
              <a:solidFill>
                <a:schemeClr val="tx1"/>
              </a:solidFill>
              <a:round/>
            </a:ln>
          </p:spPr>
          <p:txBody>
            <a:bodyPr wrap="none" anchor="ctr"/>
            <a:lstStyle/>
            <a:p>
              <a:pPr eaLnBrk="0" hangingPunct="0"/>
              <a:endParaRPr lang="zh-CN" altLang="en-US" sz="1350"/>
            </a:p>
          </p:txBody>
        </p:sp>
        <p:sp>
          <p:nvSpPr>
            <p:cNvPr id="11" name="Line 9"/>
            <p:cNvSpPr>
              <a:spLocks noChangeShapeType="1"/>
            </p:cNvSpPr>
            <p:nvPr/>
          </p:nvSpPr>
          <p:spPr bwMode="auto">
            <a:xfrm>
              <a:off x="4572393" y="4258509"/>
              <a:ext cx="322659" cy="1190"/>
            </a:xfrm>
            <a:prstGeom prst="line">
              <a:avLst/>
            </a:prstGeom>
            <a:noFill/>
            <a:ln w="12700" cap="sq">
              <a:solidFill>
                <a:schemeClr val="tx1"/>
              </a:solidFill>
              <a:round/>
              <a:headEnd type="none" w="sm" len="sm"/>
              <a:tailEnd type="none" w="sm" len="sm"/>
            </a:ln>
          </p:spPr>
          <p:txBody>
            <a:bodyPr wrap="none"/>
            <a:lstStyle/>
            <a:p>
              <a:endParaRPr lang="zh-CN" altLang="en-US" sz="1350"/>
            </a:p>
          </p:txBody>
        </p:sp>
      </p:grpSp>
      <p:sp>
        <p:nvSpPr>
          <p:cNvPr id="2" name="标题 1"/>
          <p:cNvSpPr>
            <a:spLocks noGrp="1"/>
          </p:cNvSpPr>
          <p:nvPr>
            <p:ph type="title"/>
          </p:nvPr>
        </p:nvSpPr>
        <p:spPr/>
        <p:txBody>
          <a:bodyPr/>
          <a:lstStyle/>
          <a:p>
            <a:r>
              <a:rPr lang="zh-CN" altLang="en-US" dirty="0" smtClean="0"/>
              <a:t>阶段划分</a:t>
            </a:r>
            <a:endParaRPr lang="zh-CN" altLang="en-US" dirty="0"/>
          </a:p>
        </p:txBody>
      </p:sp>
      <p:sp>
        <p:nvSpPr>
          <p:cNvPr id="5" name="日期占位符 4"/>
          <p:cNvSpPr>
            <a:spLocks noGrp="1"/>
          </p:cNvSpPr>
          <p:nvPr>
            <p:ph type="dt" sz="half" idx="10"/>
          </p:nvPr>
        </p:nvSpPr>
        <p:spPr/>
        <p:txBody>
          <a:bodyPr/>
          <a:lstStyle/>
          <a:p>
            <a:fld id="{7C056E69-6D09-4578-B745-A14EBBC51F9F}"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a:p>
        </p:txBody>
      </p:sp>
      <p:sp>
        <p:nvSpPr>
          <p:cNvPr id="13" name="灯片编号占位符 12"/>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阶段划分</a:t>
            </a:r>
            <a:endParaRPr lang="zh-CN" altLang="en-US" dirty="0"/>
          </a:p>
        </p:txBody>
      </p:sp>
      <p:sp>
        <p:nvSpPr>
          <p:cNvPr id="3" name="日期占位符 2"/>
          <p:cNvSpPr>
            <a:spLocks noGrp="1"/>
          </p:cNvSpPr>
          <p:nvPr>
            <p:ph type="dt" sz="half" idx="10"/>
          </p:nvPr>
        </p:nvSpPr>
        <p:spPr/>
        <p:txBody>
          <a:bodyPr/>
          <a:lstStyle/>
          <a:p>
            <a:fld id="{5E06F6C4-7389-4ED5-A698-156078589CEF}"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6" name="Picture 7"/>
          <p:cNvPicPr>
            <a:picLocks noChangeAspect="1" noChangeArrowheads="1"/>
          </p:cNvPicPr>
          <p:nvPr/>
        </p:nvPicPr>
        <p:blipFill>
          <a:blip r:embed="rId1"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40319" y="1050914"/>
            <a:ext cx="8417931" cy="33057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软件生命周期</a:t>
            </a:r>
            <a:endParaRPr lang="zh-CN" altLang="en-US"/>
          </a:p>
        </p:txBody>
      </p:sp>
      <p:sp>
        <p:nvSpPr>
          <p:cNvPr id="3" name="内容占位符 2"/>
          <p:cNvSpPr>
            <a:spLocks noGrp="1"/>
          </p:cNvSpPr>
          <p:nvPr>
            <p:ph idx="1"/>
          </p:nvPr>
        </p:nvSpPr>
        <p:spPr/>
        <p:txBody>
          <a:bodyPr/>
          <a:p>
            <a:r>
              <a:rPr lang="en-US" altLang="zh-CN" sz="2400"/>
              <a:t>ISO</a:t>
            </a:r>
            <a:r>
              <a:rPr lang="zh-CN" altLang="en-US" sz="2400"/>
              <a:t>与</a:t>
            </a:r>
            <a:r>
              <a:rPr lang="en-US" altLang="zh-CN" sz="2400"/>
              <a:t>IEC</a:t>
            </a:r>
            <a:r>
              <a:rPr lang="zh-CN" altLang="en-US" sz="2400"/>
              <a:t>在</a:t>
            </a:r>
            <a:r>
              <a:rPr lang="en-US" altLang="zh-CN" sz="2400"/>
              <a:t>1995</a:t>
            </a:r>
            <a:r>
              <a:rPr lang="zh-CN" altLang="en-US" sz="2400"/>
              <a:t>年</a:t>
            </a:r>
            <a:r>
              <a:rPr lang="en-US" altLang="zh-CN" sz="2400"/>
              <a:t>8</a:t>
            </a:r>
            <a:r>
              <a:rPr lang="zh-CN" altLang="en-US" sz="2400"/>
              <a:t>月联合推出了</a:t>
            </a:r>
            <a:r>
              <a:rPr lang="en-US" altLang="zh-CN" sz="2400"/>
              <a:t>ISO/IEC 12207</a:t>
            </a:r>
            <a:r>
              <a:rPr lang="zh-CN" altLang="en-US" sz="2400"/>
              <a:t>软件生命周期过程标准</a:t>
            </a:r>
            <a:endParaRPr lang="zh-CN" altLang="en-US" sz="2400"/>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graphicFrame>
        <p:nvGraphicFramePr>
          <p:cNvPr id="5" name="对象 4"/>
          <p:cNvGraphicFramePr/>
          <p:nvPr/>
        </p:nvGraphicFramePr>
        <p:xfrm>
          <a:off x="2205355" y="1727835"/>
          <a:ext cx="5736590" cy="3234055"/>
        </p:xfrm>
        <a:graphic>
          <a:graphicData uri="http://schemas.openxmlformats.org/presentationml/2006/ole">
            <mc:AlternateContent xmlns:mc="http://schemas.openxmlformats.org/markup-compatibility/2006">
              <mc:Choice xmlns:v="urn:schemas-microsoft-com:vml" Requires="v">
                <p:oleObj spid="_x0000_s9" name="" r:id="rId1" imgW="8298180" imgH="4965065" progId="Visio.Drawing.11">
                  <p:embed/>
                </p:oleObj>
              </mc:Choice>
              <mc:Fallback>
                <p:oleObj name="" r:id="rId1" imgW="8298180" imgH="4965065" progId="Visio.Drawing.11">
                  <p:embed/>
                  <p:pic>
                    <p:nvPicPr>
                      <p:cNvPr id="0" name="图片 8"/>
                      <p:cNvPicPr/>
                      <p:nvPr/>
                    </p:nvPicPr>
                    <p:blipFill>
                      <a:blip r:embed="rId2"/>
                      <a:stretch>
                        <a:fillRect/>
                      </a:stretch>
                    </p:blipFill>
                    <p:spPr>
                      <a:xfrm>
                        <a:off x="2205355" y="1727835"/>
                        <a:ext cx="5736590" cy="3234055"/>
                      </a:xfrm>
                      <a:prstGeom prst="rect">
                        <a:avLst/>
                      </a:prstGeom>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软件生命周期</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9" name="内容占位符 8"/>
          <p:cNvSpPr/>
          <p:nvPr>
            <p:ph idx="1"/>
          </p:nvPr>
        </p:nvSpPr>
        <p:spPr/>
        <p:txBody>
          <a:bodyPr>
            <a:normAutofit fontScale="90000" lnSpcReduction="20000"/>
          </a:bodyPr>
          <a:p>
            <a:pPr fontAlgn="auto">
              <a:spcBef>
                <a:spcPts val="600"/>
              </a:spcBef>
            </a:pPr>
            <a:r>
              <a:rPr lang="zh-CN" altLang="en-US"/>
              <a:t>主过程</a:t>
            </a:r>
            <a:endParaRPr lang="zh-CN" altLang="en-US"/>
          </a:p>
          <a:p>
            <a:pPr lvl="1" fontAlgn="auto">
              <a:spcBef>
                <a:spcPts val="600"/>
              </a:spcBef>
            </a:pPr>
            <a:r>
              <a:rPr lang="zh-CN" altLang="en-US"/>
              <a:t>定义了软件生产直接相关的过程，即从软件从无到有到运营的过程，这些过程叫主过程。这些过程包括获取、供应、开发、运行和维护。</a:t>
            </a:r>
            <a:endParaRPr lang="zh-CN" altLang="en-US"/>
          </a:p>
          <a:p>
            <a:pPr fontAlgn="auto">
              <a:spcBef>
                <a:spcPts val="600"/>
              </a:spcBef>
            </a:pPr>
            <a:r>
              <a:rPr lang="zh-CN" altLang="en-US"/>
              <a:t>获取过程：获取方为得到一个软件系统或软件产品所进行的一系列活动。包括确定获取系统和产品的需求定义、投标准备、合同准备及验收。</a:t>
            </a:r>
            <a:endParaRPr lang="zh-CN" altLang="en-US"/>
          </a:p>
          <a:p>
            <a:pPr fontAlgn="auto">
              <a:spcBef>
                <a:spcPts val="600"/>
              </a:spcBef>
            </a:pPr>
            <a:r>
              <a:rPr lang="zh-CN" altLang="en-US"/>
              <a:t>供应过程：为获取方提供软件系统或软件产品所进行的一系列活动，包括理解需求、应标准备、合同签订、计划、评价及交付。</a:t>
            </a:r>
            <a:endParaRPr lang="zh-CN" altLang="en-US"/>
          </a:p>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软件生命周期</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9" name="内容占位符 8"/>
          <p:cNvSpPr/>
          <p:nvPr>
            <p:ph idx="1"/>
          </p:nvPr>
        </p:nvSpPr>
        <p:spPr/>
        <p:txBody>
          <a:bodyPr/>
          <a:p>
            <a:r>
              <a:rPr lang="zh-CN" altLang="en-US"/>
              <a:t>开发过程：软件开发组织开发软件所从事的一系列活动，包括需求、设计、编码、测试、安装及验收。</a:t>
            </a:r>
            <a:endParaRPr lang="zh-CN" altLang="en-US"/>
          </a:p>
          <a:p>
            <a:r>
              <a:rPr lang="zh-CN" altLang="en-US"/>
              <a:t>运行过程：操作员日常使用产品的过程。</a:t>
            </a:r>
            <a:endParaRPr lang="zh-CN" altLang="en-US"/>
          </a:p>
          <a:p>
            <a:r>
              <a:rPr lang="zh-CN" altLang="en-US"/>
              <a:t>维护过程：维护人员所从事的一系列活动，包括改正、适应和完善维护。</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软件生命周期</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9" name="内容占位符 8"/>
          <p:cNvSpPr/>
          <p:nvPr>
            <p:ph idx="1"/>
          </p:nvPr>
        </p:nvSpPr>
        <p:spPr/>
        <p:txBody>
          <a:bodyPr/>
          <a:p>
            <a:r>
              <a:rPr lang="zh-CN" altLang="en-US"/>
              <a:t>支持过程</a:t>
            </a:r>
            <a:endParaRPr lang="zh-CN" altLang="en-US"/>
          </a:p>
          <a:p>
            <a:r>
              <a:rPr lang="zh-CN" altLang="en-US"/>
              <a:t>指为了保证基本过程的正常运行、目标的实现和质量的提高所从事的一系列活动，他们可被主过程的各个过程部分或全部采用，并由使用它们的组织或一个独立组织负责实施，也可由用户负责实施。</a:t>
            </a:r>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软件生命周期</a:t>
            </a:r>
            <a:endParaRPr lang="zh-CN" altLang="en-US"/>
          </a:p>
        </p:txBody>
      </p:sp>
      <p:sp>
        <p:nvSpPr>
          <p:cNvPr id="3" name="内容占位符 2"/>
          <p:cNvSpPr>
            <a:spLocks noGrp="1"/>
          </p:cNvSpPr>
          <p:nvPr>
            <p:ph idx="1"/>
          </p:nvPr>
        </p:nvSpPr>
        <p:spPr/>
        <p:txBody>
          <a:bodyPr>
            <a:normAutofit fontScale="90000"/>
          </a:bodyPr>
          <a:p>
            <a:pPr fontAlgn="auto">
              <a:spcBef>
                <a:spcPts val="600"/>
              </a:spcBef>
            </a:pPr>
            <a:r>
              <a:rPr lang="zh-CN" altLang="en-US"/>
              <a:t>文档过程：用于记录任何其他过程所产生的特定信息。</a:t>
            </a:r>
            <a:endParaRPr lang="zh-CN" altLang="en-US"/>
          </a:p>
          <a:p>
            <a:pPr fontAlgn="auto">
              <a:spcBef>
                <a:spcPts val="600"/>
              </a:spcBef>
            </a:pPr>
            <a:r>
              <a:rPr lang="zh-CN" altLang="en-US"/>
              <a:t>配置管理过程：用于捕获和维护开发过程中所产生的信息和产品，便于后续开发和维护。</a:t>
            </a:r>
            <a:endParaRPr lang="zh-CN" altLang="en-US"/>
          </a:p>
          <a:p>
            <a:pPr fontAlgn="auto">
              <a:spcBef>
                <a:spcPts val="600"/>
              </a:spcBef>
            </a:pPr>
            <a:r>
              <a:rPr lang="zh-CN" altLang="en-US"/>
              <a:t>质量保证过程：用于客观的保证产品和相关过程与需求文档和计划保持一致。</a:t>
            </a:r>
            <a:endParaRPr lang="zh-CN" altLang="en-US"/>
          </a:p>
          <a:p>
            <a:pPr fontAlgn="auto">
              <a:spcBef>
                <a:spcPts val="600"/>
              </a:spcBef>
            </a:pPr>
            <a:r>
              <a:rPr lang="zh-CN" altLang="en-US"/>
              <a:t>验证过程：用于验证产品的活动，是依据实现的需求定义和产品规范，确定某项活动的软件产品是否满足所给的的需求的过程。</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软件生命周期</a:t>
            </a:r>
            <a:endParaRPr lang="zh-CN" altLang="en-US"/>
          </a:p>
        </p:txBody>
      </p:sp>
      <p:sp>
        <p:nvSpPr>
          <p:cNvPr id="3" name="内容占位符 2"/>
          <p:cNvSpPr>
            <a:spLocks noGrp="1"/>
          </p:cNvSpPr>
          <p:nvPr>
            <p:ph idx="1"/>
          </p:nvPr>
        </p:nvSpPr>
        <p:spPr/>
        <p:txBody>
          <a:bodyPr/>
          <a:p>
            <a:r>
              <a:rPr lang="zh-CN" altLang="en-US"/>
              <a:t>确认过程：用于确认产品的活动。确定需求和最终的、已建立的产品是否满足特定预期用途，是否满足客户实际需求的过程。</a:t>
            </a:r>
            <a:endParaRPr lang="zh-CN" altLang="en-US"/>
          </a:p>
          <a:p>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软件生命周期</a:t>
            </a:r>
            <a:endParaRPr lang="zh-CN" altLang="en-US"/>
          </a:p>
        </p:txBody>
      </p:sp>
      <p:sp>
        <p:nvSpPr>
          <p:cNvPr id="3" name="内容占位符 2"/>
          <p:cNvSpPr>
            <a:spLocks noGrp="1"/>
          </p:cNvSpPr>
          <p:nvPr>
            <p:ph idx="1"/>
          </p:nvPr>
        </p:nvSpPr>
        <p:spPr/>
        <p:txBody>
          <a:bodyPr/>
          <a:p>
            <a:r>
              <a:rPr lang="zh-CN" altLang="en-US"/>
              <a:t>问题解决过程：一组在分析和根除存在问题时所要执行的活动。</a:t>
            </a:r>
            <a:endParaRPr lang="zh-CN" altLang="en-US"/>
          </a:p>
          <a:p>
            <a:pPr lvl="1"/>
            <a:r>
              <a:rPr lang="zh-CN" altLang="en-US"/>
              <a:t>根据客户实际需求，确认所有产品相应的质量准则，并实施必要的确认活动。</a:t>
            </a:r>
            <a:endParaRPr lang="zh-CN" altLang="en-US"/>
          </a:p>
          <a:p>
            <a:pPr lvl="1"/>
            <a:r>
              <a:rPr lang="zh-CN" altLang="en-US"/>
              <a:t>提供有关证据，证明开发出的产品满足或适应指定的需求。</a:t>
            </a:r>
            <a:endParaRPr lang="zh-CN" altLang="en-US"/>
          </a:p>
          <a:p>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软件生命周期</a:t>
            </a:r>
            <a:endParaRPr lang="zh-CN" altLang="en-US"/>
          </a:p>
        </p:txBody>
      </p:sp>
      <p:sp>
        <p:nvSpPr>
          <p:cNvPr id="3" name="内容占位符 2"/>
          <p:cNvSpPr>
            <a:spLocks noGrp="1"/>
          </p:cNvSpPr>
          <p:nvPr>
            <p:ph idx="1"/>
          </p:nvPr>
        </p:nvSpPr>
        <p:spPr/>
        <p:txBody>
          <a:bodyPr/>
          <a:p>
            <a:r>
              <a:rPr lang="zh-CN" altLang="en-US">
                <a:sym typeface="+mn-ea"/>
              </a:rPr>
              <a:t>联合评审过程：由双方使用、评估其他活动的状态和产品的活动。</a:t>
            </a:r>
            <a:endParaRPr lang="zh-CN" altLang="en-US">
              <a:sym typeface="+mn-ea"/>
            </a:endParaRPr>
          </a:p>
          <a:p>
            <a:pPr lvl="1"/>
            <a:r>
              <a:rPr lang="zh-CN" altLang="en-US">
                <a:sym typeface="+mn-ea"/>
              </a:rPr>
              <a:t>与客户以及利益相关方对开发活动和产品进行评估。</a:t>
            </a:r>
            <a:endParaRPr lang="zh-CN" altLang="en-US">
              <a:sym typeface="+mn-ea"/>
            </a:endParaRPr>
          </a:p>
          <a:p>
            <a:pPr lvl="1"/>
            <a:r>
              <a:rPr lang="zh-CN" altLang="en-US">
                <a:sym typeface="+mn-ea"/>
              </a:rPr>
              <a:t>为联合评审的实施指定相应的计划与进度，跟踪评审活动，直至结束。</a:t>
            </a:r>
            <a:endParaRPr lang="zh-CN" altLang="en-US"/>
          </a:p>
          <a:p>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软件生命周期</a:t>
            </a:r>
            <a:endParaRPr lang="zh-CN" altLang="en-US"/>
          </a:p>
        </p:txBody>
      </p:sp>
      <p:sp>
        <p:nvSpPr>
          <p:cNvPr id="3" name="内容占位符 2"/>
          <p:cNvSpPr>
            <a:spLocks noGrp="1"/>
          </p:cNvSpPr>
          <p:nvPr>
            <p:ph idx="1"/>
          </p:nvPr>
        </p:nvSpPr>
        <p:spPr/>
        <p:txBody>
          <a:bodyPr/>
          <a:p>
            <a:r>
              <a:rPr lang="zh-CN" altLang="en-US">
                <a:sym typeface="+mn-ea"/>
              </a:rPr>
              <a:t>审核过程：用于确定项目与需求、计划与合同的符合程度。</a:t>
            </a:r>
            <a:endParaRPr lang="zh-CN" altLang="en-US">
              <a:sym typeface="+mn-ea"/>
            </a:endParaRPr>
          </a:p>
          <a:p>
            <a:pPr lvl="1"/>
            <a:r>
              <a:rPr lang="zh-CN" altLang="en-US"/>
              <a:t>判断是否与指定的需求，计划以及合同一致。</a:t>
            </a:r>
            <a:endParaRPr lang="zh-CN" altLang="en-US"/>
          </a:p>
          <a:p>
            <a:pPr lvl="1"/>
            <a:r>
              <a:rPr lang="zh-CN" altLang="en-US"/>
              <a:t>由适合的、独立的一方来安排对产品或过程的审核工作。</a:t>
            </a:r>
            <a:endParaRPr lang="zh-CN" altLang="en-US"/>
          </a:p>
          <a:p>
            <a:pPr lvl="1"/>
            <a:r>
              <a:rPr lang="zh-CN" altLang="en-US"/>
              <a:t>以确定其是否符合特定需求。</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软件生命周期</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9" name="内容占位符 8"/>
          <p:cNvSpPr/>
          <p:nvPr>
            <p:ph idx="1"/>
          </p:nvPr>
        </p:nvSpPr>
        <p:spPr/>
        <p:txBody>
          <a:bodyPr>
            <a:normAutofit lnSpcReduction="20000"/>
          </a:bodyPr>
          <a:p>
            <a:pPr fontAlgn="auto">
              <a:spcBef>
                <a:spcPts val="600"/>
              </a:spcBef>
            </a:pPr>
            <a:r>
              <a:rPr lang="zh-CN" altLang="en-US"/>
              <a:t>辅助过程</a:t>
            </a:r>
            <a:endParaRPr lang="zh-CN" altLang="en-US"/>
          </a:p>
          <a:p>
            <a:pPr fontAlgn="auto">
              <a:spcBef>
                <a:spcPts val="600"/>
              </a:spcBef>
            </a:pPr>
            <a:r>
              <a:rPr lang="zh-CN" altLang="en-US"/>
              <a:t>管理过程：指软件生命周期过程中管理者所从事的一系列活动和任务。软件管理过程包括：</a:t>
            </a:r>
            <a:endParaRPr lang="zh-CN" altLang="en-US"/>
          </a:p>
          <a:p>
            <a:pPr lvl="1" fontAlgn="auto">
              <a:spcBef>
                <a:spcPts val="600"/>
              </a:spcBef>
            </a:pPr>
            <a:r>
              <a:rPr lang="zh-CN" altLang="en-US"/>
              <a:t>项目管理：计划、跟踪和协调项目执行及生产所需资源的管理过程。</a:t>
            </a:r>
            <a:endParaRPr lang="zh-CN" altLang="en-US"/>
          </a:p>
          <a:p>
            <a:pPr lvl="1" fontAlgn="auto">
              <a:spcBef>
                <a:spcPts val="600"/>
              </a:spcBef>
            </a:pPr>
            <a:r>
              <a:rPr lang="zh-CN" altLang="en-US"/>
              <a:t>质量管理：对项目产品和服务的质量加以管理，从而获得最大的客户满意度。</a:t>
            </a:r>
            <a:endParaRPr lang="zh-CN" altLang="en-US"/>
          </a:p>
          <a:p>
            <a:pPr lvl="1" fontAlgn="auto">
              <a:spcBef>
                <a:spcPts val="600"/>
              </a:spcBef>
            </a:pPr>
            <a:r>
              <a:rPr lang="zh-CN" altLang="en-US"/>
              <a:t>风险管理：整个项目的生命周期中对风险识别、诊断和分析，回避、降低或消除风险。</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软件生命周期</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9" name="内容占位符 8"/>
          <p:cNvSpPr/>
          <p:nvPr>
            <p:ph idx="1"/>
          </p:nvPr>
        </p:nvSpPr>
        <p:spPr/>
        <p:txBody>
          <a:bodyPr/>
          <a:p>
            <a:r>
              <a:rPr lang="zh-CN" altLang="en-US">
                <a:sym typeface="+mn-ea"/>
              </a:rPr>
              <a:t>基础设施过程：指建立和维护其他过程所需的基础设施的过程。</a:t>
            </a:r>
            <a:endParaRPr lang="zh-CN" altLang="en-US"/>
          </a:p>
          <a:p>
            <a:r>
              <a:rPr lang="zh-CN" altLang="en-US">
                <a:sym typeface="+mn-ea"/>
              </a:rPr>
              <a:t>培训过程：为产品提供人员培训的过程。</a:t>
            </a:r>
            <a:endParaRPr lang="zh-CN" altLang="en-US"/>
          </a:p>
          <a:p>
            <a:r>
              <a:rPr lang="zh-CN" altLang="en-US">
                <a:sym typeface="+mn-ea"/>
              </a:rPr>
              <a:t>改进过程：建立、评估、度量、控制和改进软件生命周期过程的过程。</a:t>
            </a:r>
            <a:endParaRPr lang="zh-CN" altLang="en-US"/>
          </a:p>
          <a:p>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软件生命周期</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graphicFrame>
        <p:nvGraphicFramePr>
          <p:cNvPr id="3" name="内容占位符 2"/>
          <p:cNvGraphicFramePr>
            <a:graphicFrameLocks noChangeAspect="1"/>
          </p:cNvGraphicFramePr>
          <p:nvPr>
            <p:ph idx="1"/>
          </p:nvPr>
        </p:nvGraphicFramePr>
        <p:xfrm>
          <a:off x="2383790" y="715645"/>
          <a:ext cx="4465955" cy="3806825"/>
        </p:xfrm>
        <a:graphic>
          <a:graphicData uri="http://schemas.openxmlformats.org/presentationml/2006/ole">
            <mc:AlternateContent xmlns:mc="http://schemas.openxmlformats.org/markup-compatibility/2006">
              <mc:Choice xmlns:v="urn:schemas-microsoft-com:vml" Requires="v">
                <p:oleObj spid="_x0000_s5" name="" r:id="rId1" imgW="11677015" imgH="9953625" progId="Paint.Picture">
                  <p:embed/>
                </p:oleObj>
              </mc:Choice>
              <mc:Fallback>
                <p:oleObj name="" r:id="rId1" imgW="11677015" imgH="9953625" progId="Paint.Picture">
                  <p:embed/>
                  <p:pic>
                    <p:nvPicPr>
                      <p:cNvPr id="0" name="图片 4"/>
                      <p:cNvPicPr/>
                      <p:nvPr/>
                    </p:nvPicPr>
                    <p:blipFill>
                      <a:blip r:embed="rId2"/>
                      <a:stretch>
                        <a:fillRect/>
                      </a:stretch>
                    </p:blipFill>
                    <p:spPr>
                      <a:xfrm>
                        <a:off x="2383790" y="715645"/>
                        <a:ext cx="4465955" cy="3806825"/>
                      </a:xfrm>
                      <a:prstGeom prst="rect">
                        <a:avLst/>
                      </a:prstGeom>
                    </p:spPr>
                  </p:pic>
                </p:oleObj>
              </mc:Fallback>
            </mc:AlternateContent>
          </a:graphicData>
        </a:graphic>
      </p:graphicFrame>
      <p:sp>
        <p:nvSpPr>
          <p:cNvPr id="7" name="文本框 6"/>
          <p:cNvSpPr txBox="1"/>
          <p:nvPr/>
        </p:nvSpPr>
        <p:spPr>
          <a:xfrm>
            <a:off x="542925" y="1374775"/>
            <a:ext cx="1218565" cy="1476375"/>
          </a:xfrm>
          <a:prstGeom prst="rect">
            <a:avLst/>
          </a:prstGeom>
          <a:noFill/>
        </p:spPr>
        <p:txBody>
          <a:bodyPr wrap="square" rtlCol="0">
            <a:spAutoFit/>
          </a:bodyPr>
          <a:p>
            <a:r>
              <a:rPr lang="en-US" altLang="zh-CN"/>
              <a:t>ISO/IEC 12207</a:t>
            </a:r>
            <a:r>
              <a:rPr lang="zh-CN" altLang="en-US"/>
              <a:t>软件生命周期过程高层次视图</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753035" y="1314450"/>
            <a:ext cx="8014448" cy="273177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spcBef>
                <a:spcPts val="900"/>
              </a:spcBef>
              <a:spcAft>
                <a:spcPts val="900"/>
              </a:spcAft>
              <a:buNone/>
            </a:pPr>
            <a:r>
              <a:rPr lang="zh-CN" altLang="en-US" sz="2400" dirty="0">
                <a:solidFill>
                  <a:schemeClr val="tx2"/>
                </a:solidFill>
                <a:latin typeface="+mj-ea"/>
                <a:ea typeface="+mj-ea"/>
              </a:rPr>
              <a:t>       某电力公司</a:t>
            </a:r>
            <a:r>
              <a:rPr lang="en-US" altLang="zh-CN" sz="2400" dirty="0">
                <a:solidFill>
                  <a:schemeClr val="tx2"/>
                </a:solidFill>
                <a:latin typeface="+mj-ea"/>
                <a:ea typeface="+mj-ea"/>
              </a:rPr>
              <a:t>A</a:t>
            </a:r>
            <a:r>
              <a:rPr lang="zh-CN" altLang="en-US" sz="2400" dirty="0">
                <a:solidFill>
                  <a:schemeClr val="tx2"/>
                </a:solidFill>
                <a:latin typeface="+mj-ea"/>
                <a:ea typeface="+mj-ea"/>
              </a:rPr>
              <a:t>，希望软件公司</a:t>
            </a:r>
            <a:r>
              <a:rPr lang="en-US" altLang="zh-CN" sz="2400" dirty="0">
                <a:solidFill>
                  <a:schemeClr val="tx2"/>
                </a:solidFill>
                <a:latin typeface="+mj-ea"/>
                <a:ea typeface="+mj-ea"/>
              </a:rPr>
              <a:t>B</a:t>
            </a:r>
            <a:r>
              <a:rPr lang="zh-CN" altLang="en-US" sz="2400" dirty="0">
                <a:solidFill>
                  <a:schemeClr val="tx2"/>
                </a:solidFill>
                <a:latin typeface="+mj-ea"/>
                <a:ea typeface="+mj-ea"/>
              </a:rPr>
              <a:t>为他们制造一个“电费结算系统”，该系统用于结算每一户电表一个月期间应该缴纳的电费。</a:t>
            </a:r>
            <a:endParaRPr lang="zh-CN" altLang="en-US" sz="2400" dirty="0">
              <a:solidFill>
                <a:schemeClr val="tx2"/>
              </a:solidFill>
              <a:latin typeface="+mj-ea"/>
              <a:ea typeface="+mj-ea"/>
            </a:endParaRPr>
          </a:p>
          <a:p>
            <a:pPr marL="0" indent="0" algn="just">
              <a:lnSpc>
                <a:spcPct val="120000"/>
              </a:lnSpc>
              <a:spcBef>
                <a:spcPts val="900"/>
              </a:spcBef>
              <a:spcAft>
                <a:spcPts val="900"/>
              </a:spcAft>
              <a:buNone/>
            </a:pPr>
            <a:r>
              <a:rPr lang="en-US" altLang="zh-CN" sz="2400" dirty="0">
                <a:solidFill>
                  <a:schemeClr val="tx2"/>
                </a:solidFill>
                <a:latin typeface="+mj-ea"/>
                <a:ea typeface="+mj-ea"/>
              </a:rPr>
              <a:t>       B</a:t>
            </a:r>
            <a:r>
              <a:rPr lang="zh-CN" altLang="en-US" sz="2400" dirty="0">
                <a:solidFill>
                  <a:schemeClr val="tx2"/>
                </a:solidFill>
                <a:latin typeface="+mj-ea"/>
                <a:ea typeface="+mj-ea"/>
              </a:rPr>
              <a:t>公司得到电力公司</a:t>
            </a:r>
            <a:r>
              <a:rPr lang="en-US" altLang="zh-CN" sz="2400" dirty="0">
                <a:solidFill>
                  <a:schemeClr val="tx2"/>
                </a:solidFill>
                <a:latin typeface="+mj-ea"/>
                <a:ea typeface="+mj-ea"/>
              </a:rPr>
              <a:t>A</a:t>
            </a:r>
            <a:r>
              <a:rPr lang="zh-CN" altLang="en-US" sz="2400" dirty="0">
                <a:solidFill>
                  <a:schemeClr val="tx2"/>
                </a:solidFill>
                <a:latin typeface="+mj-ea"/>
                <a:ea typeface="+mj-ea"/>
              </a:rPr>
              <a:t>的这个要求之后，开始进入制作“电费结算系统”软件的生命周期。</a:t>
            </a:r>
            <a:endParaRPr lang="zh-CN" altLang="en-US" sz="2400" dirty="0">
              <a:solidFill>
                <a:schemeClr val="tx2"/>
              </a:solidFill>
              <a:latin typeface="+mj-ea"/>
              <a:ea typeface="+mj-ea"/>
            </a:endParaRPr>
          </a:p>
        </p:txBody>
      </p:sp>
      <p:sp>
        <p:nvSpPr>
          <p:cNvPr id="5" name="标题 4"/>
          <p:cNvSpPr>
            <a:spLocks noGrp="1"/>
          </p:cNvSpPr>
          <p:nvPr>
            <p:ph type="title"/>
          </p:nvPr>
        </p:nvSpPr>
        <p:spPr/>
        <p:txBody>
          <a:bodyPr/>
          <a:lstStyle/>
          <a:p>
            <a:r>
              <a:rPr lang="zh-CN" altLang="en-US" dirty="0" smtClean="0"/>
              <a:t>案例分析</a:t>
            </a:r>
            <a:endParaRPr lang="zh-CN" altLang="en-US" dirty="0"/>
          </a:p>
        </p:txBody>
      </p:sp>
      <p:sp>
        <p:nvSpPr>
          <p:cNvPr id="7" name="日期占位符 6"/>
          <p:cNvSpPr>
            <a:spLocks noGrp="1"/>
          </p:cNvSpPr>
          <p:nvPr>
            <p:ph type="dt" sz="half" idx="10"/>
          </p:nvPr>
        </p:nvSpPr>
        <p:spPr/>
        <p:txBody>
          <a:bodyPr/>
          <a:lstStyle/>
          <a:p>
            <a:fld id="{587823BC-E14F-4650-987F-3A12D4722441}"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smtClean="0"/>
              <a:t>软件工程</a:t>
            </a:r>
            <a:endParaRPr lang="zh-CN" altLang="en-US" dirty="0"/>
          </a:p>
        </p:txBody>
      </p:sp>
      <p:sp>
        <p:nvSpPr>
          <p:cNvPr id="9" name="灯片编号占位符 8"/>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1345008" y="1016000"/>
            <a:ext cx="7262553" cy="14859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zh-CN" altLang="en-US" sz="2400" dirty="0">
                <a:solidFill>
                  <a:schemeClr val="tx2"/>
                </a:solidFill>
                <a:latin typeface="+mj-ea"/>
                <a:ea typeface="+mj-ea"/>
              </a:rPr>
              <a:t>该阶段的关键任务是要明确：</a:t>
            </a:r>
            <a:endParaRPr lang="zh-CN" altLang="en-US" sz="2400" dirty="0">
              <a:solidFill>
                <a:schemeClr val="tx2"/>
              </a:solidFill>
              <a:latin typeface="+mj-ea"/>
              <a:ea typeface="+mj-ea"/>
            </a:endParaRPr>
          </a:p>
          <a:p>
            <a:pPr algn="ctr">
              <a:lnSpc>
                <a:spcPct val="120000"/>
              </a:lnSpc>
              <a:spcBef>
                <a:spcPts val="1350"/>
              </a:spcBef>
              <a:buNone/>
            </a:pPr>
            <a:r>
              <a:rPr lang="zh-CN" altLang="en-US" sz="3200" dirty="0">
                <a:solidFill>
                  <a:schemeClr val="tx2"/>
                </a:solidFill>
                <a:latin typeface="+mj-ea"/>
                <a:ea typeface="+mj-ea"/>
              </a:rPr>
              <a:t>      </a:t>
            </a:r>
            <a:r>
              <a:rPr lang="zh-CN" altLang="en-US" sz="3200" dirty="0">
                <a:solidFill>
                  <a:srgbClr val="C00000"/>
                </a:solidFill>
                <a:latin typeface="+mj-ea"/>
                <a:ea typeface="+mj-ea"/>
              </a:rPr>
              <a:t>要解决的问题是什么？</a:t>
            </a:r>
            <a:endParaRPr lang="zh-CN" altLang="en-US" sz="3200" dirty="0">
              <a:solidFill>
                <a:srgbClr val="C00000"/>
              </a:solidFill>
              <a:latin typeface="+mj-ea"/>
              <a:ea typeface="+mj-ea"/>
            </a:endParaRPr>
          </a:p>
        </p:txBody>
      </p:sp>
      <p:sp>
        <p:nvSpPr>
          <p:cNvPr id="5" name="Text Box 6"/>
          <p:cNvSpPr txBox="1">
            <a:spLocks noChangeArrowheads="1"/>
          </p:cNvSpPr>
          <p:nvPr/>
        </p:nvSpPr>
        <p:spPr bwMode="auto">
          <a:xfrm>
            <a:off x="438206" y="2239139"/>
            <a:ext cx="5960187" cy="2678725"/>
          </a:xfrm>
          <a:prstGeom prst="rect">
            <a:avLst/>
          </a:prstGeom>
        </p:spPr>
        <p:style>
          <a:lnRef idx="2">
            <a:schemeClr val="accent1"/>
          </a:lnRef>
          <a:fillRef idx="1">
            <a:schemeClr val="lt1"/>
          </a:fillRef>
          <a:effectRef idx="0">
            <a:schemeClr val="accent1"/>
          </a:effectRef>
          <a:fontRef idx="minor">
            <a:schemeClr val="dk1"/>
          </a:fontRef>
        </p:style>
        <p:txBody>
          <a:bodyPr lIns="67839" tIns="33920" rIns="67839" bIns="33920"/>
          <a:lstStyle/>
          <a:p>
            <a:pPr marL="254635" indent="-254635" defTabSz="678815">
              <a:lnSpc>
                <a:spcPct val="120000"/>
              </a:lnSpc>
              <a:spcBef>
                <a:spcPts val="900"/>
              </a:spcBef>
              <a:buClr>
                <a:srgbClr val="003366"/>
              </a:buClr>
            </a:pPr>
            <a:r>
              <a:rPr lang="zh-CN" altLang="en-US" sz="2000" dirty="0">
                <a:solidFill>
                  <a:schemeClr val="accent1"/>
                </a:solidFill>
                <a:latin typeface="+mj-ea"/>
                <a:ea typeface="+mj-ea"/>
              </a:rPr>
              <a:t>思考：以下几个选项中，哪个是</a:t>
            </a:r>
            <a:r>
              <a:rPr lang="en-US" altLang="zh-CN" sz="2000" dirty="0">
                <a:solidFill>
                  <a:schemeClr val="accent1"/>
                </a:solidFill>
                <a:latin typeface="+mj-ea"/>
                <a:ea typeface="+mj-ea"/>
              </a:rPr>
              <a:t>B</a:t>
            </a:r>
            <a:r>
              <a:rPr lang="zh-CN" altLang="en-US" sz="2000" dirty="0">
                <a:solidFill>
                  <a:schemeClr val="accent1"/>
                </a:solidFill>
                <a:latin typeface="+mj-ea"/>
                <a:ea typeface="+mj-ea"/>
              </a:rPr>
              <a:t>公司得出的结论：</a:t>
            </a:r>
            <a:endParaRPr lang="zh-CN" altLang="en-US" sz="2000" dirty="0">
              <a:solidFill>
                <a:schemeClr val="accent1"/>
              </a:solidFill>
              <a:latin typeface="+mj-ea"/>
              <a:ea typeface="+mj-ea"/>
            </a:endParaRPr>
          </a:p>
          <a:p>
            <a:pPr marL="254635" indent="-254635" defTabSz="678815">
              <a:lnSpc>
                <a:spcPct val="120000"/>
              </a:lnSpc>
              <a:spcBef>
                <a:spcPts val="900"/>
              </a:spcBef>
              <a:buClr>
                <a:srgbClr val="003366"/>
              </a:buClr>
            </a:pPr>
            <a:r>
              <a:rPr lang="en-US" altLang="zh-CN" sz="2000" dirty="0">
                <a:solidFill>
                  <a:schemeClr val="tx2"/>
                </a:solidFill>
                <a:latin typeface="+mj-ea"/>
                <a:ea typeface="+mj-ea"/>
              </a:rPr>
              <a:t>A.</a:t>
            </a:r>
            <a:r>
              <a:rPr lang="zh-CN" altLang="en-US" sz="2000" dirty="0">
                <a:solidFill>
                  <a:schemeClr val="tx2"/>
                </a:solidFill>
                <a:latin typeface="+mj-ea"/>
                <a:ea typeface="+mj-ea"/>
              </a:rPr>
              <a:t>要解决某小区用电总度数问题</a:t>
            </a:r>
            <a:endParaRPr lang="zh-CN" altLang="en-US" sz="2000" dirty="0">
              <a:solidFill>
                <a:schemeClr val="tx2"/>
              </a:solidFill>
              <a:latin typeface="+mj-ea"/>
              <a:ea typeface="+mj-ea"/>
            </a:endParaRPr>
          </a:p>
          <a:p>
            <a:pPr marL="254635" indent="-254635" defTabSz="678815">
              <a:lnSpc>
                <a:spcPct val="120000"/>
              </a:lnSpc>
              <a:spcBef>
                <a:spcPts val="900"/>
              </a:spcBef>
              <a:buClr>
                <a:srgbClr val="003366"/>
              </a:buClr>
            </a:pPr>
            <a:r>
              <a:rPr lang="en-US" altLang="zh-CN" sz="2000" dirty="0">
                <a:solidFill>
                  <a:schemeClr val="tx2"/>
                </a:solidFill>
                <a:latin typeface="+mj-ea"/>
                <a:ea typeface="+mj-ea"/>
              </a:rPr>
              <a:t>B.</a:t>
            </a:r>
            <a:r>
              <a:rPr lang="zh-CN" altLang="en-US" sz="2000" dirty="0">
                <a:solidFill>
                  <a:schemeClr val="tx2"/>
                </a:solidFill>
                <a:latin typeface="+mj-ea"/>
                <a:ea typeface="+mj-ea"/>
              </a:rPr>
              <a:t>要解决某小区总收电费问题</a:t>
            </a:r>
            <a:endParaRPr lang="zh-CN" altLang="en-US" sz="2000" dirty="0">
              <a:solidFill>
                <a:schemeClr val="tx2"/>
              </a:solidFill>
              <a:latin typeface="+mj-ea"/>
              <a:ea typeface="+mj-ea"/>
            </a:endParaRPr>
          </a:p>
          <a:p>
            <a:pPr marL="254635" indent="-254635" defTabSz="678815">
              <a:lnSpc>
                <a:spcPct val="120000"/>
              </a:lnSpc>
              <a:spcBef>
                <a:spcPts val="900"/>
              </a:spcBef>
              <a:buClr>
                <a:srgbClr val="003366"/>
              </a:buClr>
            </a:pPr>
            <a:r>
              <a:rPr lang="en-US" altLang="zh-CN" sz="2000" dirty="0">
                <a:solidFill>
                  <a:schemeClr val="tx2"/>
                </a:solidFill>
                <a:latin typeface="+mj-ea"/>
                <a:ea typeface="+mj-ea"/>
              </a:rPr>
              <a:t>C.</a:t>
            </a:r>
            <a:r>
              <a:rPr lang="zh-CN" altLang="en-US" sz="2000" dirty="0">
                <a:solidFill>
                  <a:schemeClr val="tx2"/>
                </a:solidFill>
                <a:latin typeface="+mj-ea"/>
                <a:ea typeface="+mj-ea"/>
              </a:rPr>
              <a:t>要解决电力公司</a:t>
            </a:r>
            <a:r>
              <a:rPr lang="en-US" altLang="zh-CN" sz="2000" dirty="0">
                <a:solidFill>
                  <a:schemeClr val="tx2"/>
                </a:solidFill>
                <a:latin typeface="+mj-ea"/>
                <a:ea typeface="+mj-ea"/>
              </a:rPr>
              <a:t>A</a:t>
            </a:r>
            <a:r>
              <a:rPr lang="zh-CN" altLang="en-US" sz="2000" dirty="0">
                <a:solidFill>
                  <a:schemeClr val="tx2"/>
                </a:solidFill>
                <a:latin typeface="+mj-ea"/>
                <a:ea typeface="+mj-ea"/>
              </a:rPr>
              <a:t>管辖范围内的所有电表每月每户电费结算问题</a:t>
            </a:r>
            <a:endParaRPr lang="zh-CN" altLang="en-US" sz="2000" dirty="0">
              <a:solidFill>
                <a:schemeClr val="tx2"/>
              </a:solidFill>
              <a:latin typeface="+mj-ea"/>
              <a:ea typeface="+mj-ea"/>
            </a:endParaRPr>
          </a:p>
          <a:p>
            <a:pPr marL="254635" indent="-254635" defTabSz="678815">
              <a:lnSpc>
                <a:spcPct val="120000"/>
              </a:lnSpc>
              <a:spcBef>
                <a:spcPts val="900"/>
              </a:spcBef>
              <a:buClr>
                <a:srgbClr val="003366"/>
              </a:buClr>
            </a:pPr>
            <a:r>
              <a:rPr lang="en-US" altLang="zh-CN" sz="2000" dirty="0">
                <a:solidFill>
                  <a:schemeClr val="tx2"/>
                </a:solidFill>
                <a:latin typeface="+mj-ea"/>
                <a:ea typeface="+mj-ea"/>
              </a:rPr>
              <a:t>D.</a:t>
            </a:r>
            <a:r>
              <a:rPr lang="zh-CN" altLang="en-US" sz="2000" dirty="0">
                <a:solidFill>
                  <a:schemeClr val="tx2"/>
                </a:solidFill>
                <a:latin typeface="+mj-ea"/>
                <a:ea typeface="+mj-ea"/>
              </a:rPr>
              <a:t>要解决全国区域内电表结算问题</a:t>
            </a:r>
            <a:endParaRPr lang="zh-CN" altLang="en-US" sz="2000" dirty="0">
              <a:solidFill>
                <a:schemeClr val="tx2"/>
              </a:solidFill>
              <a:latin typeface="+mj-ea"/>
              <a:ea typeface="+mj-ea"/>
            </a:endParaRPr>
          </a:p>
        </p:txBody>
      </p:sp>
      <p:pic>
        <p:nvPicPr>
          <p:cNvPr id="6" name="图片 5"/>
          <p:cNvPicPr>
            <a:picLocks noChangeAspect="1"/>
          </p:cNvPicPr>
          <p:nvPr/>
        </p:nvPicPr>
        <p:blipFill rotWithShape="1">
          <a:blip r:embed="rId1">
            <a:clrChange>
              <a:clrFrom>
                <a:srgbClr val="FFFFFF"/>
              </a:clrFrom>
              <a:clrTo>
                <a:srgbClr val="FFFFFF">
                  <a:alpha val="0"/>
                </a:srgbClr>
              </a:clrTo>
            </a:clrChange>
          </a:blip>
          <a:srcRect b="5529"/>
          <a:stretch>
            <a:fillRect/>
          </a:stretch>
        </p:blipFill>
        <p:spPr>
          <a:xfrm>
            <a:off x="6813942" y="2004088"/>
            <a:ext cx="2209168" cy="2497764"/>
          </a:xfrm>
          <a:prstGeom prst="rect">
            <a:avLst/>
          </a:prstGeom>
        </p:spPr>
      </p:pic>
      <p:sp>
        <p:nvSpPr>
          <p:cNvPr id="3" name="标题 2"/>
          <p:cNvSpPr>
            <a:spLocks noGrp="1"/>
          </p:cNvSpPr>
          <p:nvPr>
            <p:ph type="title"/>
          </p:nvPr>
        </p:nvSpPr>
        <p:spPr/>
        <p:txBody>
          <a:bodyPr/>
          <a:lstStyle/>
          <a:p>
            <a:r>
              <a:rPr lang="zh-CN" altLang="en-US" kern="100" dirty="0">
                <a:latin typeface="+mn-ea"/>
                <a:cs typeface="Times New Roman" panose="02020603050405020304" pitchFamily="18" charset="0"/>
              </a:rPr>
              <a:t>案例分析</a:t>
            </a:r>
            <a:r>
              <a:rPr lang="en-US" altLang="zh-CN" kern="100" dirty="0">
                <a:latin typeface="+mn-ea"/>
                <a:cs typeface="Times New Roman" panose="02020603050405020304" pitchFamily="18" charset="0"/>
              </a:rPr>
              <a:t>——</a:t>
            </a:r>
            <a:r>
              <a:rPr lang="zh-CN" altLang="en-US" kern="100" dirty="0">
                <a:latin typeface="+mn-ea"/>
                <a:cs typeface="Times New Roman" panose="02020603050405020304" pitchFamily="18" charset="0"/>
              </a:rPr>
              <a:t>问题定义</a:t>
            </a:r>
            <a:r>
              <a:rPr lang="zh-CN" altLang="en-US" kern="100" dirty="0" smtClean="0">
                <a:latin typeface="+mn-ea"/>
                <a:cs typeface="Times New Roman" panose="02020603050405020304" pitchFamily="18" charset="0"/>
              </a:rPr>
              <a:t>阶段</a:t>
            </a:r>
            <a:endParaRPr lang="zh-CN" altLang="en-US" dirty="0"/>
          </a:p>
        </p:txBody>
      </p:sp>
      <p:sp>
        <p:nvSpPr>
          <p:cNvPr id="8" name="日期占位符 7"/>
          <p:cNvSpPr>
            <a:spLocks noGrp="1"/>
          </p:cNvSpPr>
          <p:nvPr>
            <p:ph type="dt" sz="half" idx="10"/>
          </p:nvPr>
        </p:nvSpPr>
        <p:spPr/>
        <p:txBody>
          <a:bodyPr/>
          <a:lstStyle/>
          <a:p>
            <a:fld id="{E77605B2-E988-47FC-A38C-A84D4BDF8C8F}" type="datetime1">
              <a:rPr lang="zh-CN" altLang="en-US" smtClean="0"/>
            </a:fld>
            <a:endParaRPr lang="zh-CN" altLang="en-US" dirty="0"/>
          </a:p>
        </p:txBody>
      </p:sp>
      <p:sp>
        <p:nvSpPr>
          <p:cNvPr id="9" name="页脚占位符 8"/>
          <p:cNvSpPr>
            <a:spLocks noGrp="1"/>
          </p:cNvSpPr>
          <p:nvPr>
            <p:ph type="ftr" sz="quarter" idx="11"/>
          </p:nvPr>
        </p:nvSpPr>
        <p:spPr/>
        <p:txBody>
          <a:bodyPr/>
          <a:lstStyle/>
          <a:p>
            <a:r>
              <a:rPr lang="zh-CN" altLang="en-US" smtClean="0"/>
              <a:t>软件工程</a:t>
            </a:r>
            <a:endParaRPr lang="zh-CN" altLang="en-US" dirty="0"/>
          </a:p>
        </p:txBody>
      </p:sp>
      <p:sp>
        <p:nvSpPr>
          <p:cNvPr id="10" name="灯片编号占位符 9"/>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5">
                                            <p:txEl>
                                              <p:pRg st="2" end="2"/>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1244155" y="972923"/>
            <a:ext cx="7464259" cy="22731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900"/>
              </a:spcBef>
              <a:buNone/>
            </a:pPr>
            <a:r>
              <a:rPr lang="zh-CN" altLang="en-US" sz="2400" dirty="0">
                <a:solidFill>
                  <a:schemeClr val="tx2"/>
                </a:solidFill>
                <a:latin typeface="+mj-ea"/>
                <a:ea typeface="+mj-ea"/>
              </a:rPr>
              <a:t>该阶段的关键任务是要明确：</a:t>
            </a:r>
            <a:endParaRPr lang="zh-CN" altLang="en-US" sz="2400" dirty="0">
              <a:solidFill>
                <a:schemeClr val="tx2"/>
              </a:solidFill>
              <a:latin typeface="+mj-ea"/>
              <a:ea typeface="+mj-ea"/>
            </a:endParaRPr>
          </a:p>
          <a:p>
            <a:pPr algn="ctr">
              <a:lnSpc>
                <a:spcPct val="120000"/>
              </a:lnSpc>
              <a:spcBef>
                <a:spcPts val="900"/>
              </a:spcBef>
              <a:buNone/>
            </a:pPr>
            <a:r>
              <a:rPr lang="zh-CN" altLang="en-US" sz="3200" dirty="0">
                <a:solidFill>
                  <a:srgbClr val="C00000"/>
                </a:solidFill>
                <a:latin typeface="+mj-ea"/>
                <a:ea typeface="+mj-ea"/>
              </a:rPr>
              <a:t>做不做？</a:t>
            </a:r>
            <a:endParaRPr lang="zh-CN" altLang="en-US" sz="3200" dirty="0">
              <a:solidFill>
                <a:srgbClr val="C00000"/>
              </a:solidFill>
              <a:latin typeface="+mj-ea"/>
              <a:ea typeface="+mj-ea"/>
            </a:endParaRPr>
          </a:p>
          <a:p>
            <a:pPr>
              <a:lnSpc>
                <a:spcPct val="120000"/>
              </a:lnSpc>
              <a:spcBef>
                <a:spcPts val="900"/>
              </a:spcBef>
              <a:buNone/>
            </a:pPr>
            <a:r>
              <a:rPr lang="zh-CN" altLang="en-US" sz="2400" dirty="0">
                <a:solidFill>
                  <a:schemeClr val="tx2"/>
                </a:solidFill>
                <a:latin typeface="+mj-ea"/>
                <a:ea typeface="+mj-ea"/>
              </a:rPr>
              <a:t>		 用最小的代价在尽可能短的时间内从经济、技术、管理、社会因素等方面论证解决方案的可行性。</a:t>
            </a:r>
            <a:endParaRPr lang="zh-CN" altLang="en-US" sz="2400" dirty="0">
              <a:solidFill>
                <a:schemeClr val="tx2"/>
              </a:solidFill>
              <a:latin typeface="+mj-ea"/>
              <a:ea typeface="+mj-ea"/>
            </a:endParaRPr>
          </a:p>
        </p:txBody>
      </p:sp>
      <p:sp>
        <p:nvSpPr>
          <p:cNvPr id="5" name="Text Box 6"/>
          <p:cNvSpPr txBox="1">
            <a:spLocks noChangeArrowheads="1"/>
          </p:cNvSpPr>
          <p:nvPr/>
        </p:nvSpPr>
        <p:spPr bwMode="auto">
          <a:xfrm>
            <a:off x="2608951" y="3480133"/>
            <a:ext cx="5700659" cy="743069"/>
          </a:xfrm>
          <a:prstGeom prst="rect">
            <a:avLst/>
          </a:prstGeom>
        </p:spPr>
        <p:style>
          <a:lnRef idx="2">
            <a:schemeClr val="accent1"/>
          </a:lnRef>
          <a:fillRef idx="1">
            <a:schemeClr val="lt1"/>
          </a:fillRef>
          <a:effectRef idx="0">
            <a:schemeClr val="accent1"/>
          </a:effectRef>
          <a:fontRef idx="minor">
            <a:schemeClr val="dk1"/>
          </a:fontRef>
        </p:style>
        <p:txBody>
          <a:bodyPr lIns="67839" tIns="33920" rIns="67839" bIns="33920"/>
          <a:lstStyle/>
          <a:p>
            <a:pPr defTabSz="678815">
              <a:lnSpc>
                <a:spcPct val="120000"/>
              </a:lnSpc>
              <a:spcBef>
                <a:spcPts val="900"/>
              </a:spcBef>
              <a:buClr>
                <a:srgbClr val="003366"/>
              </a:buClr>
            </a:pPr>
            <a:r>
              <a:rPr lang="zh-CN" altLang="en-US" sz="2000" dirty="0">
                <a:solidFill>
                  <a:schemeClr val="tx2"/>
                </a:solidFill>
                <a:latin typeface="+mj-ea"/>
                <a:ea typeface="+mj-ea"/>
              </a:rPr>
              <a:t>思考：</a:t>
            </a:r>
            <a:r>
              <a:rPr lang="en-US" altLang="zh-CN" sz="2000" dirty="0">
                <a:solidFill>
                  <a:schemeClr val="tx2"/>
                </a:solidFill>
                <a:latin typeface="+mj-ea"/>
                <a:ea typeface="+mj-ea"/>
              </a:rPr>
              <a:t>B</a:t>
            </a:r>
            <a:r>
              <a:rPr lang="zh-CN" altLang="en-US" sz="2000" dirty="0">
                <a:solidFill>
                  <a:schemeClr val="tx2"/>
                </a:solidFill>
                <a:latin typeface="+mj-ea"/>
                <a:ea typeface="+mj-ea"/>
              </a:rPr>
              <a:t>公司在可行性分析阶段应该做些什么事情，会得出什么结论？</a:t>
            </a:r>
            <a:endParaRPr lang="zh-CN" altLang="en-US" sz="2000" dirty="0">
              <a:solidFill>
                <a:schemeClr val="tx2"/>
              </a:solidFill>
              <a:latin typeface="+mj-ea"/>
              <a:ea typeface="+mj-ea"/>
            </a:endParaRPr>
          </a:p>
        </p:txBody>
      </p:sp>
      <p:pic>
        <p:nvPicPr>
          <p:cNvPr id="3" name="图片 2"/>
          <p:cNvPicPr>
            <a:picLocks noChangeAspect="1"/>
          </p:cNvPicPr>
          <p:nvPr/>
        </p:nvPicPr>
        <p:blipFill rotWithShape="1">
          <a:blip r:embed="rId1">
            <a:clrChange>
              <a:clrFrom>
                <a:srgbClr val="FFFFFF"/>
              </a:clrFrom>
              <a:clrTo>
                <a:srgbClr val="FFFFFF">
                  <a:alpha val="0"/>
                </a:srgbClr>
              </a:clrTo>
            </a:clrChange>
          </a:blip>
          <a:srcRect l="19686" t="-221" r="21019" b="235"/>
          <a:stretch>
            <a:fillRect/>
          </a:stretch>
        </p:blipFill>
        <p:spPr>
          <a:xfrm>
            <a:off x="241402" y="2620673"/>
            <a:ext cx="1705837" cy="1922451"/>
          </a:xfrm>
          <a:prstGeom prst="rect">
            <a:avLst/>
          </a:prstGeom>
        </p:spPr>
      </p:pic>
      <p:sp>
        <p:nvSpPr>
          <p:cNvPr id="6" name="标题 5"/>
          <p:cNvSpPr>
            <a:spLocks noGrp="1"/>
          </p:cNvSpPr>
          <p:nvPr>
            <p:ph type="title"/>
          </p:nvPr>
        </p:nvSpPr>
        <p:spPr/>
        <p:txBody>
          <a:bodyPr/>
          <a:lstStyle/>
          <a:p>
            <a:r>
              <a:rPr lang="zh-CN" altLang="en-US" kern="100" dirty="0">
                <a:latin typeface="+mn-ea"/>
                <a:cs typeface="Times New Roman" panose="02020603050405020304" pitchFamily="18" charset="0"/>
              </a:rPr>
              <a:t>案例分析</a:t>
            </a:r>
            <a:r>
              <a:rPr lang="en-US" altLang="zh-CN" kern="100" dirty="0">
                <a:latin typeface="+mn-ea"/>
                <a:cs typeface="Times New Roman" panose="02020603050405020304" pitchFamily="18" charset="0"/>
              </a:rPr>
              <a:t>——</a:t>
            </a:r>
            <a:r>
              <a:rPr lang="zh-CN" altLang="en-US" kern="100" dirty="0">
                <a:latin typeface="+mn-ea"/>
                <a:cs typeface="Times New Roman" panose="02020603050405020304" pitchFamily="18" charset="0"/>
              </a:rPr>
              <a:t>可行性研究</a:t>
            </a:r>
            <a:r>
              <a:rPr lang="zh-CN" altLang="en-US" kern="100" dirty="0" smtClean="0">
                <a:latin typeface="+mn-ea"/>
                <a:cs typeface="Times New Roman" panose="02020603050405020304" pitchFamily="18" charset="0"/>
              </a:rPr>
              <a:t>阶段</a:t>
            </a:r>
            <a:endParaRPr lang="zh-CN" altLang="en-US" dirty="0"/>
          </a:p>
        </p:txBody>
      </p:sp>
      <p:sp>
        <p:nvSpPr>
          <p:cNvPr id="7" name="日期占位符 6"/>
          <p:cNvSpPr>
            <a:spLocks noGrp="1"/>
          </p:cNvSpPr>
          <p:nvPr>
            <p:ph type="dt" sz="half" idx="10"/>
          </p:nvPr>
        </p:nvSpPr>
        <p:spPr/>
        <p:txBody>
          <a:bodyPr/>
          <a:lstStyle/>
          <a:p>
            <a:fld id="{A0F6B1B0-6C82-462F-BDBC-4271C77518E4}"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smtClean="0"/>
              <a:t>软件工程</a:t>
            </a:r>
            <a:endParaRPr lang="zh-CN" altLang="en-US"/>
          </a:p>
        </p:txBody>
      </p:sp>
      <p:sp>
        <p:nvSpPr>
          <p:cNvPr id="9" name="灯片编号占位符 8"/>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1004044" y="988432"/>
            <a:ext cx="7584141" cy="27041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900"/>
              </a:spcBef>
              <a:buNone/>
            </a:pPr>
            <a:r>
              <a:rPr lang="zh-CN" altLang="en-US" sz="2400" dirty="0">
                <a:solidFill>
                  <a:schemeClr val="tx2"/>
                </a:solidFill>
                <a:latin typeface="+mj-ea"/>
                <a:ea typeface="+mj-ea"/>
              </a:rPr>
              <a:t>该阶段的关键任务是要明确：</a:t>
            </a:r>
            <a:endParaRPr lang="zh-CN" altLang="en-US" sz="2400" dirty="0">
              <a:solidFill>
                <a:schemeClr val="tx2"/>
              </a:solidFill>
              <a:latin typeface="+mj-ea"/>
              <a:ea typeface="+mj-ea"/>
            </a:endParaRPr>
          </a:p>
          <a:p>
            <a:pPr>
              <a:lnSpc>
                <a:spcPct val="120000"/>
              </a:lnSpc>
              <a:spcBef>
                <a:spcPts val="900"/>
              </a:spcBef>
              <a:buNone/>
            </a:pPr>
            <a:r>
              <a:rPr lang="zh-CN" altLang="en-US" sz="2400" dirty="0">
                <a:solidFill>
                  <a:schemeClr val="tx2"/>
                </a:solidFill>
                <a:latin typeface="+mj-ea"/>
                <a:ea typeface="+mj-ea"/>
              </a:rPr>
              <a:t>				</a:t>
            </a:r>
            <a:r>
              <a:rPr lang="zh-CN" altLang="en-US" sz="2400" dirty="0" smtClean="0">
                <a:solidFill>
                  <a:schemeClr val="tx2"/>
                </a:solidFill>
                <a:latin typeface="+mj-ea"/>
                <a:ea typeface="+mj-ea"/>
              </a:rPr>
              <a:t>    </a:t>
            </a:r>
            <a:r>
              <a:rPr lang="zh-CN" altLang="en-US" sz="3200" dirty="0" smtClean="0">
                <a:solidFill>
                  <a:srgbClr val="C00000"/>
                </a:solidFill>
                <a:latin typeface="+mj-ea"/>
                <a:ea typeface="+mj-ea"/>
              </a:rPr>
              <a:t>做</a:t>
            </a:r>
            <a:r>
              <a:rPr lang="zh-CN" altLang="en-US" sz="3200" dirty="0">
                <a:solidFill>
                  <a:srgbClr val="C00000"/>
                </a:solidFill>
                <a:latin typeface="+mj-ea"/>
                <a:ea typeface="+mj-ea"/>
              </a:rPr>
              <a:t>什么？</a:t>
            </a:r>
            <a:endParaRPr lang="en-US" altLang="zh-CN" sz="3200" dirty="0">
              <a:solidFill>
                <a:srgbClr val="C00000"/>
              </a:solidFill>
              <a:latin typeface="+mj-ea"/>
              <a:ea typeface="+mj-ea"/>
            </a:endParaRPr>
          </a:p>
          <a:p>
            <a:pPr marL="400050" indent="-400050">
              <a:lnSpc>
                <a:spcPct val="110000"/>
              </a:lnSpc>
              <a:buFontTx/>
              <a:buAutoNum type="arabicPeriod"/>
            </a:pPr>
            <a:r>
              <a:rPr lang="zh-CN" altLang="en-US" sz="2400" dirty="0">
                <a:solidFill>
                  <a:schemeClr val="tx2"/>
                </a:solidFill>
                <a:latin typeface="+mj-ea"/>
                <a:ea typeface="+mj-ea"/>
              </a:rPr>
              <a:t>通过与客户不断的讨论、协商，对目标系统提出完整、准确、清晰、具体的要求。</a:t>
            </a:r>
            <a:endParaRPr lang="en-US" altLang="zh-CN" sz="2400" dirty="0">
              <a:solidFill>
                <a:schemeClr val="tx2"/>
              </a:solidFill>
              <a:latin typeface="+mj-ea"/>
              <a:ea typeface="+mj-ea"/>
            </a:endParaRPr>
          </a:p>
          <a:p>
            <a:pPr marL="400050" indent="-400050">
              <a:lnSpc>
                <a:spcPct val="110000"/>
              </a:lnSpc>
              <a:buFontTx/>
              <a:buAutoNum type="arabicPeriod"/>
            </a:pPr>
            <a:r>
              <a:rPr lang="zh-CN" altLang="en-US" sz="2400" dirty="0">
                <a:solidFill>
                  <a:schemeClr val="tx2"/>
                </a:solidFill>
                <a:latin typeface="+mj-ea"/>
                <a:ea typeface="+mj-ea"/>
              </a:rPr>
              <a:t>用正式的文档准确地记录对目标系统的需求，形成软件需求规格说明书</a:t>
            </a:r>
            <a:r>
              <a:rPr lang="en-US" altLang="zh-CN" sz="2400" dirty="0">
                <a:solidFill>
                  <a:schemeClr val="tx2"/>
                </a:solidFill>
                <a:latin typeface="+mj-ea"/>
                <a:ea typeface="+mj-ea"/>
              </a:rPr>
              <a:t>(SRS)</a:t>
            </a:r>
            <a:r>
              <a:rPr lang="zh-CN" altLang="en-US" sz="2400" dirty="0">
                <a:solidFill>
                  <a:schemeClr val="tx2"/>
                </a:solidFill>
                <a:latin typeface="+mj-ea"/>
                <a:ea typeface="+mj-ea"/>
              </a:rPr>
              <a:t>。</a:t>
            </a:r>
            <a:endParaRPr lang="en-US" altLang="zh-CN" sz="2400" dirty="0">
              <a:solidFill>
                <a:schemeClr val="tx2"/>
              </a:solidFill>
              <a:latin typeface="+mj-ea"/>
              <a:ea typeface="+mj-ea"/>
            </a:endParaRPr>
          </a:p>
        </p:txBody>
      </p:sp>
      <p:sp>
        <p:nvSpPr>
          <p:cNvPr id="5" name="Text Box 6"/>
          <p:cNvSpPr txBox="1">
            <a:spLocks noChangeArrowheads="1"/>
          </p:cNvSpPr>
          <p:nvPr/>
        </p:nvSpPr>
        <p:spPr bwMode="auto">
          <a:xfrm>
            <a:off x="788671" y="2205488"/>
            <a:ext cx="8069580" cy="2297932"/>
          </a:xfrm>
          <a:prstGeom prst="rect">
            <a:avLst/>
          </a:prstGeom>
        </p:spPr>
        <p:style>
          <a:lnRef idx="2">
            <a:schemeClr val="accent1"/>
          </a:lnRef>
          <a:fillRef idx="1">
            <a:schemeClr val="lt1"/>
          </a:fillRef>
          <a:effectRef idx="0">
            <a:schemeClr val="accent1"/>
          </a:effectRef>
          <a:fontRef idx="minor">
            <a:schemeClr val="dk1"/>
          </a:fontRef>
        </p:style>
        <p:txBody>
          <a:bodyPr lIns="67839" tIns="33920" rIns="67839" bIns="33920"/>
          <a:lstStyle/>
          <a:p>
            <a:pPr defTabSz="678815">
              <a:lnSpc>
                <a:spcPct val="120000"/>
              </a:lnSpc>
              <a:spcBef>
                <a:spcPts val="900"/>
              </a:spcBef>
              <a:buClr>
                <a:srgbClr val="003366"/>
              </a:buClr>
            </a:pPr>
            <a:r>
              <a:rPr lang="en-US" altLang="zh-CN" sz="2000" dirty="0">
                <a:solidFill>
                  <a:schemeClr val="tx2"/>
                </a:solidFill>
                <a:latin typeface="+mj-ea"/>
                <a:ea typeface="+mj-ea"/>
              </a:rPr>
              <a:t>B</a:t>
            </a:r>
            <a:r>
              <a:rPr lang="zh-CN" altLang="en-US" sz="2000" dirty="0">
                <a:solidFill>
                  <a:schemeClr val="tx2"/>
                </a:solidFill>
                <a:latin typeface="+mj-ea"/>
                <a:ea typeface="+mj-ea"/>
              </a:rPr>
              <a:t>公司在这个阶段应该对用户的要求进行详细的调研与分析，需要去了解电费结算中需要涉及到信息、结算电费的标准与公式、这个电费结算系统的产出文档是什么</a:t>
            </a:r>
            <a:r>
              <a:rPr lang="en-US" altLang="zh-CN" sz="2000" dirty="0">
                <a:solidFill>
                  <a:schemeClr val="tx2"/>
                </a:solidFill>
                <a:latin typeface="+mj-ea"/>
                <a:ea typeface="+mj-ea"/>
              </a:rPr>
              <a:t>……</a:t>
            </a:r>
            <a:r>
              <a:rPr lang="zh-CN" altLang="en-US" sz="2000" dirty="0">
                <a:solidFill>
                  <a:schemeClr val="tx2"/>
                </a:solidFill>
                <a:latin typeface="+mj-ea"/>
                <a:ea typeface="+mj-ea"/>
              </a:rPr>
              <a:t>等内容，确定该系统需要实现的功能，例如：对使用电表的用户进行管理，对一个用户一个月的电费计算，能够生成结算单。最后以文档的形式描述出需求规格。这些是指导</a:t>
            </a:r>
            <a:r>
              <a:rPr lang="en-US" altLang="zh-CN" sz="2000" dirty="0">
                <a:solidFill>
                  <a:schemeClr val="tx2"/>
                </a:solidFill>
                <a:latin typeface="+mj-ea"/>
                <a:ea typeface="+mj-ea"/>
              </a:rPr>
              <a:t>B</a:t>
            </a:r>
            <a:r>
              <a:rPr lang="zh-CN" altLang="en-US" sz="2000" dirty="0">
                <a:solidFill>
                  <a:schemeClr val="tx2"/>
                </a:solidFill>
                <a:latin typeface="+mj-ea"/>
                <a:ea typeface="+mj-ea"/>
              </a:rPr>
              <a:t>公司进行下一步工作的依据。</a:t>
            </a:r>
            <a:endParaRPr lang="zh-CN" altLang="en-US" sz="2000" dirty="0">
              <a:solidFill>
                <a:schemeClr val="tx2"/>
              </a:solidFill>
              <a:latin typeface="+mj-ea"/>
              <a:ea typeface="+mj-ea"/>
            </a:endParaRPr>
          </a:p>
        </p:txBody>
      </p:sp>
      <p:sp>
        <p:nvSpPr>
          <p:cNvPr id="3" name="标题 2"/>
          <p:cNvSpPr>
            <a:spLocks noGrp="1"/>
          </p:cNvSpPr>
          <p:nvPr>
            <p:ph type="title"/>
          </p:nvPr>
        </p:nvSpPr>
        <p:spPr/>
        <p:txBody>
          <a:bodyPr/>
          <a:lstStyle/>
          <a:p>
            <a:r>
              <a:rPr lang="zh-CN" altLang="en-US" kern="100" dirty="0">
                <a:latin typeface="+mn-ea"/>
                <a:cs typeface="Times New Roman" panose="02020603050405020304" pitchFamily="18" charset="0"/>
              </a:rPr>
              <a:t>案例分析</a:t>
            </a:r>
            <a:r>
              <a:rPr lang="en-US" altLang="zh-CN" kern="100" dirty="0">
                <a:latin typeface="+mn-ea"/>
                <a:cs typeface="Times New Roman" panose="02020603050405020304" pitchFamily="18" charset="0"/>
              </a:rPr>
              <a:t>——</a:t>
            </a:r>
            <a:r>
              <a:rPr lang="zh-CN" altLang="en-US" kern="100" dirty="0">
                <a:latin typeface="+mn-ea"/>
                <a:cs typeface="Times New Roman" panose="02020603050405020304" pitchFamily="18" charset="0"/>
              </a:rPr>
              <a:t>需求分析</a:t>
            </a:r>
            <a:r>
              <a:rPr lang="zh-CN" altLang="en-US" kern="100" dirty="0" smtClean="0">
                <a:latin typeface="+mn-ea"/>
                <a:cs typeface="Times New Roman" panose="02020603050405020304" pitchFamily="18" charset="0"/>
              </a:rPr>
              <a:t>阶段</a:t>
            </a:r>
            <a:endParaRPr lang="zh-CN" altLang="en-US" dirty="0"/>
          </a:p>
        </p:txBody>
      </p:sp>
      <p:sp>
        <p:nvSpPr>
          <p:cNvPr id="6" name="日期占位符 5"/>
          <p:cNvSpPr>
            <a:spLocks noGrp="1"/>
          </p:cNvSpPr>
          <p:nvPr>
            <p:ph type="dt" sz="half" idx="10"/>
          </p:nvPr>
        </p:nvSpPr>
        <p:spPr/>
        <p:txBody>
          <a:bodyPr/>
          <a:lstStyle/>
          <a:p>
            <a:fld id="{97195106-BB9F-4242-898F-9F5A0EC30777}"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smtClean="0"/>
              <a:t>软件工程</a:t>
            </a:r>
            <a:endParaRPr lang="zh-CN" altLang="en-US"/>
          </a:p>
        </p:txBody>
      </p:sp>
      <p:sp>
        <p:nvSpPr>
          <p:cNvPr id="8" name="灯片编号占位符 7"/>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1051456" y="896732"/>
            <a:ext cx="7689132" cy="29192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900"/>
              </a:spcBef>
              <a:buNone/>
            </a:pPr>
            <a:r>
              <a:rPr lang="zh-CN" altLang="en-US" sz="2400" dirty="0">
                <a:solidFill>
                  <a:schemeClr val="tx2"/>
                </a:solidFill>
                <a:latin typeface="+mj-ea"/>
                <a:ea typeface="+mj-ea"/>
              </a:rPr>
              <a:t>该阶段的关键任务是要明确：</a:t>
            </a:r>
            <a:endParaRPr lang="zh-CN" altLang="en-US" sz="2400" dirty="0">
              <a:solidFill>
                <a:schemeClr val="tx2"/>
              </a:solidFill>
              <a:latin typeface="+mj-ea"/>
              <a:ea typeface="+mj-ea"/>
            </a:endParaRPr>
          </a:p>
          <a:p>
            <a:pPr>
              <a:lnSpc>
                <a:spcPct val="120000"/>
              </a:lnSpc>
              <a:spcBef>
                <a:spcPts val="900"/>
              </a:spcBef>
              <a:buNone/>
            </a:pPr>
            <a:r>
              <a:rPr lang="zh-CN" altLang="en-US" sz="2400" dirty="0">
                <a:solidFill>
                  <a:schemeClr val="tx2"/>
                </a:solidFill>
                <a:latin typeface="+mj-ea"/>
                <a:ea typeface="+mj-ea"/>
              </a:rPr>
              <a:t>				</a:t>
            </a:r>
            <a:r>
              <a:rPr lang="zh-CN" altLang="en-US" sz="2400" dirty="0">
                <a:solidFill>
                  <a:srgbClr val="C00000"/>
                </a:solidFill>
                <a:latin typeface="+mj-ea"/>
                <a:ea typeface="+mj-ea"/>
              </a:rPr>
              <a:t>    </a:t>
            </a:r>
            <a:r>
              <a:rPr lang="zh-CN" altLang="en-US" sz="3200" dirty="0" smtClean="0">
                <a:solidFill>
                  <a:srgbClr val="C00000"/>
                </a:solidFill>
                <a:latin typeface="+mj-ea"/>
                <a:ea typeface="+mj-ea"/>
              </a:rPr>
              <a:t>怎么</a:t>
            </a:r>
            <a:r>
              <a:rPr lang="zh-CN" altLang="en-US" sz="3200" dirty="0">
                <a:solidFill>
                  <a:srgbClr val="C00000"/>
                </a:solidFill>
                <a:latin typeface="+mj-ea"/>
                <a:ea typeface="+mj-ea"/>
              </a:rPr>
              <a:t>做？</a:t>
            </a:r>
            <a:endParaRPr lang="en-US" altLang="zh-CN" sz="3200" dirty="0">
              <a:solidFill>
                <a:srgbClr val="C00000"/>
              </a:solidFill>
              <a:latin typeface="+mj-ea"/>
              <a:ea typeface="+mj-ea"/>
            </a:endParaRPr>
          </a:p>
          <a:p>
            <a:pPr marL="400050" indent="-400050" algn="just">
              <a:lnSpc>
                <a:spcPct val="110000"/>
              </a:lnSpc>
              <a:buFontTx/>
              <a:buAutoNum type="arabicPeriod"/>
            </a:pPr>
            <a:r>
              <a:rPr lang="zh-CN" altLang="en-US" sz="2400" dirty="0">
                <a:solidFill>
                  <a:schemeClr val="tx2"/>
                </a:solidFill>
                <a:latin typeface="+mj-ea"/>
                <a:ea typeface="+mj-ea"/>
              </a:rPr>
              <a:t>提出实现目标系统的几种方案，制定最佳方案的详细计划。</a:t>
            </a:r>
            <a:endParaRPr lang="zh-CN" altLang="en-US" sz="2400" dirty="0">
              <a:solidFill>
                <a:schemeClr val="tx2"/>
              </a:solidFill>
              <a:latin typeface="+mj-ea"/>
              <a:ea typeface="+mj-ea"/>
            </a:endParaRPr>
          </a:p>
          <a:p>
            <a:pPr marL="400050" indent="-400050" algn="just">
              <a:lnSpc>
                <a:spcPct val="110000"/>
              </a:lnSpc>
              <a:buFontTx/>
              <a:buAutoNum type="arabicPeriod"/>
            </a:pPr>
            <a:r>
              <a:rPr lang="zh-CN" altLang="en-US" sz="2400" dirty="0">
                <a:solidFill>
                  <a:schemeClr val="tx2"/>
                </a:solidFill>
                <a:latin typeface="+mj-ea"/>
                <a:ea typeface="+mj-ea"/>
              </a:rPr>
              <a:t>系统的数据库设计、体系结构设计、</a:t>
            </a:r>
            <a:r>
              <a:rPr lang="en-US" altLang="zh-CN" sz="2400" dirty="0">
                <a:solidFill>
                  <a:schemeClr val="tx2"/>
                </a:solidFill>
                <a:latin typeface="+mj-ea"/>
                <a:ea typeface="+mj-ea"/>
              </a:rPr>
              <a:t>GUI</a:t>
            </a:r>
            <a:r>
              <a:rPr lang="zh-CN" altLang="en-US" sz="2400" dirty="0">
                <a:solidFill>
                  <a:schemeClr val="tx2"/>
                </a:solidFill>
                <a:latin typeface="+mj-ea"/>
                <a:ea typeface="+mj-ea"/>
              </a:rPr>
              <a:t>等。</a:t>
            </a:r>
            <a:endParaRPr lang="zh-CN" altLang="en-US" sz="2400" dirty="0">
              <a:solidFill>
                <a:schemeClr val="tx2"/>
              </a:solidFill>
              <a:latin typeface="+mj-ea"/>
              <a:ea typeface="+mj-ea"/>
            </a:endParaRPr>
          </a:p>
          <a:p>
            <a:pPr marL="400050" indent="-400050" algn="just">
              <a:lnSpc>
                <a:spcPct val="110000"/>
              </a:lnSpc>
              <a:buFontTx/>
              <a:buAutoNum type="arabicPeriod"/>
            </a:pPr>
            <a:r>
              <a:rPr lang="zh-CN" altLang="en-US" sz="2400" dirty="0">
                <a:solidFill>
                  <a:schemeClr val="tx2"/>
                </a:solidFill>
                <a:latin typeface="+mj-ea"/>
                <a:ea typeface="+mj-ea"/>
              </a:rPr>
              <a:t>阶段性成果：概要设计说明书、数据库或者数据结构说明书、组装测试计划等。</a:t>
            </a:r>
            <a:endParaRPr lang="zh-CN" altLang="en-US" sz="2400" dirty="0">
              <a:solidFill>
                <a:schemeClr val="tx2"/>
              </a:solidFill>
              <a:latin typeface="+mj-ea"/>
              <a:ea typeface="+mj-ea"/>
            </a:endParaRPr>
          </a:p>
        </p:txBody>
      </p:sp>
      <p:sp>
        <p:nvSpPr>
          <p:cNvPr id="5" name="Text Box 6"/>
          <p:cNvSpPr txBox="1">
            <a:spLocks noChangeArrowheads="1"/>
          </p:cNvSpPr>
          <p:nvPr/>
        </p:nvSpPr>
        <p:spPr bwMode="auto">
          <a:xfrm>
            <a:off x="902918" y="2920762"/>
            <a:ext cx="7986208" cy="1331198"/>
          </a:xfrm>
          <a:prstGeom prst="rect">
            <a:avLst/>
          </a:prstGeom>
        </p:spPr>
        <p:style>
          <a:lnRef idx="2">
            <a:schemeClr val="accent1"/>
          </a:lnRef>
          <a:fillRef idx="1">
            <a:schemeClr val="lt1"/>
          </a:fillRef>
          <a:effectRef idx="0">
            <a:schemeClr val="accent1"/>
          </a:effectRef>
          <a:fontRef idx="minor">
            <a:schemeClr val="dk1"/>
          </a:fontRef>
        </p:style>
        <p:txBody>
          <a:bodyPr lIns="67839" tIns="33920" rIns="67839" bIns="33920" anchor="ctr"/>
          <a:lstStyle/>
          <a:p>
            <a:pPr algn="just" defTabSz="678815">
              <a:lnSpc>
                <a:spcPct val="110000"/>
              </a:lnSpc>
              <a:spcBef>
                <a:spcPct val="20000"/>
              </a:spcBef>
              <a:buClr>
                <a:srgbClr val="003366"/>
              </a:buClr>
            </a:pPr>
            <a:r>
              <a:rPr lang="zh-CN" altLang="en-US" sz="2000" dirty="0">
                <a:solidFill>
                  <a:schemeClr val="tx2"/>
                </a:solidFill>
                <a:latin typeface="+mj-ea"/>
                <a:ea typeface="+mj-ea"/>
              </a:rPr>
              <a:t>根据上一步得到的需求规格说明书，将需求功能进行模块化分，</a:t>
            </a:r>
            <a:r>
              <a:rPr lang="en-US" altLang="zh-CN" sz="2000" dirty="0">
                <a:solidFill>
                  <a:schemeClr val="tx2"/>
                </a:solidFill>
                <a:latin typeface="+mj-ea"/>
                <a:ea typeface="+mj-ea"/>
              </a:rPr>
              <a:t>B</a:t>
            </a:r>
            <a:r>
              <a:rPr lang="zh-CN" altLang="en-US" sz="2000" dirty="0">
                <a:solidFill>
                  <a:schemeClr val="tx2"/>
                </a:solidFill>
                <a:latin typeface="+mj-ea"/>
                <a:ea typeface="+mj-ea"/>
              </a:rPr>
              <a:t>公司的设计人员开始了对“电费结算系统”的设计。例如，系统管理模块，电费计算模块，生成结算单模块等。</a:t>
            </a:r>
            <a:endParaRPr lang="zh-CN" altLang="en-US" sz="2000" dirty="0">
              <a:solidFill>
                <a:schemeClr val="tx2"/>
              </a:solidFill>
              <a:latin typeface="+mj-ea"/>
              <a:ea typeface="+mj-ea"/>
            </a:endParaRPr>
          </a:p>
        </p:txBody>
      </p:sp>
      <p:sp>
        <p:nvSpPr>
          <p:cNvPr id="3" name="标题 2"/>
          <p:cNvSpPr>
            <a:spLocks noGrp="1"/>
          </p:cNvSpPr>
          <p:nvPr>
            <p:ph type="title"/>
          </p:nvPr>
        </p:nvSpPr>
        <p:spPr/>
        <p:txBody>
          <a:bodyPr/>
          <a:lstStyle/>
          <a:p>
            <a:r>
              <a:rPr lang="zh-CN" altLang="en-US" kern="100" dirty="0">
                <a:latin typeface="+mn-ea"/>
                <a:cs typeface="Times New Roman" panose="02020603050405020304" pitchFamily="18" charset="0"/>
              </a:rPr>
              <a:t>案例分析</a:t>
            </a:r>
            <a:r>
              <a:rPr lang="en-US" altLang="zh-CN" kern="100" dirty="0">
                <a:latin typeface="+mn-ea"/>
                <a:cs typeface="Times New Roman" panose="02020603050405020304" pitchFamily="18" charset="0"/>
              </a:rPr>
              <a:t>——</a:t>
            </a:r>
            <a:r>
              <a:rPr lang="zh-CN" altLang="en-US" kern="100" dirty="0">
                <a:latin typeface="+mn-ea"/>
                <a:cs typeface="Times New Roman" panose="02020603050405020304" pitchFamily="18" charset="0"/>
              </a:rPr>
              <a:t>概要设计（总体设计）</a:t>
            </a:r>
            <a:r>
              <a:rPr lang="zh-CN" altLang="en-US" kern="100" dirty="0" smtClean="0">
                <a:latin typeface="+mn-ea"/>
                <a:cs typeface="Times New Roman" panose="02020603050405020304" pitchFamily="18" charset="0"/>
              </a:rPr>
              <a:t>阶段</a:t>
            </a:r>
            <a:endParaRPr lang="zh-CN" altLang="en-US" dirty="0"/>
          </a:p>
        </p:txBody>
      </p:sp>
      <p:sp>
        <p:nvSpPr>
          <p:cNvPr id="6" name="日期占位符 5"/>
          <p:cNvSpPr>
            <a:spLocks noGrp="1"/>
          </p:cNvSpPr>
          <p:nvPr>
            <p:ph type="dt" sz="half" idx="10"/>
          </p:nvPr>
        </p:nvSpPr>
        <p:spPr/>
        <p:txBody>
          <a:bodyPr/>
          <a:lstStyle/>
          <a:p>
            <a:fld id="{96512A2A-4C90-4734-9727-1A1C6CA29AF6}"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smtClean="0"/>
              <a:t>软件工程</a:t>
            </a:r>
            <a:endParaRPr lang="zh-CN" altLang="en-US"/>
          </a:p>
        </p:txBody>
      </p:sp>
      <p:sp>
        <p:nvSpPr>
          <p:cNvPr id="8" name="灯片编号占位符 7"/>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1094321" y="937335"/>
            <a:ext cx="7329788" cy="29192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900"/>
              </a:spcBef>
              <a:buNone/>
            </a:pPr>
            <a:r>
              <a:rPr lang="zh-CN" altLang="en-US" sz="2400" dirty="0">
                <a:solidFill>
                  <a:schemeClr val="tx2"/>
                </a:solidFill>
                <a:latin typeface="+mj-ea"/>
                <a:ea typeface="+mj-ea"/>
              </a:rPr>
              <a:t>该阶段的关键任务是要明确：</a:t>
            </a:r>
            <a:endParaRPr lang="zh-CN" altLang="en-US" sz="2400" dirty="0">
              <a:solidFill>
                <a:schemeClr val="tx2"/>
              </a:solidFill>
              <a:latin typeface="+mj-ea"/>
              <a:ea typeface="+mj-ea"/>
            </a:endParaRPr>
          </a:p>
          <a:p>
            <a:pPr>
              <a:lnSpc>
                <a:spcPct val="120000"/>
              </a:lnSpc>
              <a:spcBef>
                <a:spcPts val="900"/>
              </a:spcBef>
              <a:buNone/>
            </a:pPr>
            <a:r>
              <a:rPr lang="zh-CN" altLang="en-US" sz="2400" dirty="0">
                <a:solidFill>
                  <a:schemeClr val="tx2"/>
                </a:solidFill>
                <a:latin typeface="+mj-ea"/>
                <a:ea typeface="+mj-ea"/>
              </a:rPr>
              <a:t>				 </a:t>
            </a:r>
            <a:r>
              <a:rPr lang="zh-CN" altLang="en-US" sz="3200" dirty="0" smtClean="0">
                <a:solidFill>
                  <a:srgbClr val="C00000"/>
                </a:solidFill>
                <a:latin typeface="+mj-ea"/>
                <a:ea typeface="+mj-ea"/>
              </a:rPr>
              <a:t>具体</a:t>
            </a:r>
            <a:r>
              <a:rPr lang="zh-CN" altLang="en-US" sz="3200" dirty="0">
                <a:solidFill>
                  <a:srgbClr val="C00000"/>
                </a:solidFill>
                <a:latin typeface="+mj-ea"/>
                <a:ea typeface="+mj-ea"/>
              </a:rPr>
              <a:t>做法</a:t>
            </a:r>
            <a:endParaRPr lang="en-US" altLang="zh-CN" sz="3200" dirty="0">
              <a:solidFill>
                <a:srgbClr val="C00000"/>
              </a:solidFill>
              <a:latin typeface="+mj-ea"/>
              <a:ea typeface="+mj-ea"/>
            </a:endParaRPr>
          </a:p>
          <a:p>
            <a:pPr>
              <a:lnSpc>
                <a:spcPct val="120000"/>
              </a:lnSpc>
              <a:spcBef>
                <a:spcPts val="900"/>
              </a:spcBef>
              <a:buNone/>
            </a:pPr>
            <a:r>
              <a:rPr lang="zh-CN" altLang="en-US" sz="2400" dirty="0">
                <a:solidFill>
                  <a:schemeClr val="tx2"/>
                </a:solidFill>
                <a:latin typeface="+mj-ea"/>
                <a:ea typeface="+mj-ea"/>
              </a:rPr>
              <a:t>		  设计出程序的详细规格说明，即详细地设计每个模块，确定实现模块功能所需要的算法和数据结构。</a:t>
            </a:r>
            <a:endParaRPr lang="zh-CN" altLang="en-US" sz="2400" dirty="0">
              <a:solidFill>
                <a:schemeClr val="tx2"/>
              </a:solidFill>
              <a:latin typeface="+mj-ea"/>
              <a:ea typeface="+mj-ea"/>
            </a:endParaRPr>
          </a:p>
          <a:p>
            <a:pPr>
              <a:lnSpc>
                <a:spcPct val="120000"/>
              </a:lnSpc>
              <a:spcBef>
                <a:spcPts val="900"/>
              </a:spcBef>
              <a:buNone/>
            </a:pPr>
            <a:r>
              <a:rPr lang="zh-CN" altLang="en-US" sz="2400" dirty="0">
                <a:solidFill>
                  <a:schemeClr val="tx2"/>
                </a:solidFill>
                <a:latin typeface="+mj-ea"/>
                <a:ea typeface="+mj-ea"/>
              </a:rPr>
              <a:t>           阶段性成果：详细设计规格说明书和单元测试计划等。</a:t>
            </a:r>
            <a:endParaRPr lang="zh-CN" altLang="en-US" sz="2400" dirty="0">
              <a:solidFill>
                <a:schemeClr val="tx2"/>
              </a:solidFill>
              <a:latin typeface="+mj-ea"/>
              <a:ea typeface="+mj-ea"/>
            </a:endParaRPr>
          </a:p>
        </p:txBody>
      </p:sp>
      <p:sp>
        <p:nvSpPr>
          <p:cNvPr id="5" name="Text Box 6"/>
          <p:cNvSpPr txBox="1">
            <a:spLocks noChangeArrowheads="1"/>
          </p:cNvSpPr>
          <p:nvPr/>
        </p:nvSpPr>
        <p:spPr bwMode="auto">
          <a:xfrm>
            <a:off x="880358" y="3182744"/>
            <a:ext cx="7977892" cy="1347746"/>
          </a:xfrm>
          <a:prstGeom prst="rect">
            <a:avLst/>
          </a:prstGeom>
        </p:spPr>
        <p:style>
          <a:lnRef idx="2">
            <a:schemeClr val="accent1"/>
          </a:lnRef>
          <a:fillRef idx="1">
            <a:schemeClr val="lt1"/>
          </a:fillRef>
          <a:effectRef idx="0">
            <a:schemeClr val="accent1"/>
          </a:effectRef>
          <a:fontRef idx="minor">
            <a:schemeClr val="dk1"/>
          </a:fontRef>
        </p:style>
        <p:txBody>
          <a:bodyPr lIns="67839" tIns="33920" rIns="67839" bIns="33920" anchor="ctr"/>
          <a:lstStyle/>
          <a:p>
            <a:pPr algn="just" defTabSz="678815">
              <a:lnSpc>
                <a:spcPct val="110000"/>
              </a:lnSpc>
              <a:spcBef>
                <a:spcPct val="20000"/>
              </a:spcBef>
              <a:buClr>
                <a:srgbClr val="003366"/>
              </a:buClr>
            </a:pPr>
            <a:r>
              <a:rPr lang="zh-CN" altLang="en-US" sz="2000" dirty="0">
                <a:solidFill>
                  <a:schemeClr val="tx2"/>
                </a:solidFill>
                <a:latin typeface="+mj-ea"/>
                <a:ea typeface="+mj-ea"/>
              </a:rPr>
              <a:t>对每一个模块，设计它的实现算法和数据结构。例如，电费计算模块，需要根据计算公式进行电费的计算。</a:t>
            </a:r>
            <a:r>
              <a:rPr lang="en-US" altLang="zh-CN" sz="2000" dirty="0">
                <a:solidFill>
                  <a:schemeClr val="tx2"/>
                </a:solidFill>
                <a:latin typeface="+mj-ea"/>
                <a:ea typeface="+mj-ea"/>
              </a:rPr>
              <a:t>B</a:t>
            </a:r>
            <a:r>
              <a:rPr lang="zh-CN" altLang="en-US" sz="2000" dirty="0">
                <a:solidFill>
                  <a:schemeClr val="tx2"/>
                </a:solidFill>
                <a:latin typeface="+mj-ea"/>
                <a:ea typeface="+mj-ea"/>
              </a:rPr>
              <a:t>公司的设计人员开始了对“电费结算系统”的设计。</a:t>
            </a:r>
            <a:endParaRPr lang="zh-CN" altLang="en-US" sz="2000" dirty="0">
              <a:solidFill>
                <a:schemeClr val="tx2"/>
              </a:solidFill>
              <a:latin typeface="+mj-ea"/>
              <a:ea typeface="+mj-ea"/>
            </a:endParaRPr>
          </a:p>
        </p:txBody>
      </p:sp>
      <p:sp>
        <p:nvSpPr>
          <p:cNvPr id="3" name="标题 2"/>
          <p:cNvSpPr>
            <a:spLocks noGrp="1"/>
          </p:cNvSpPr>
          <p:nvPr>
            <p:ph type="title"/>
          </p:nvPr>
        </p:nvSpPr>
        <p:spPr/>
        <p:txBody>
          <a:bodyPr/>
          <a:lstStyle/>
          <a:p>
            <a:r>
              <a:rPr lang="zh-CN" altLang="en-US" kern="100" dirty="0">
                <a:latin typeface="+mn-ea"/>
                <a:cs typeface="Times New Roman" panose="02020603050405020304" pitchFamily="18" charset="0"/>
              </a:rPr>
              <a:t>案例分析</a:t>
            </a:r>
            <a:r>
              <a:rPr lang="en-US" altLang="zh-CN" kern="100" dirty="0">
                <a:latin typeface="+mn-ea"/>
                <a:cs typeface="Times New Roman" panose="02020603050405020304" pitchFamily="18" charset="0"/>
              </a:rPr>
              <a:t>——</a:t>
            </a:r>
            <a:r>
              <a:rPr lang="zh-CN" altLang="en-US" kern="100" dirty="0">
                <a:latin typeface="+mn-ea"/>
                <a:cs typeface="Times New Roman" panose="02020603050405020304" pitchFamily="18" charset="0"/>
              </a:rPr>
              <a:t>详细设计</a:t>
            </a:r>
            <a:r>
              <a:rPr lang="zh-CN" altLang="en-US" kern="100" dirty="0" smtClean="0">
                <a:latin typeface="+mn-ea"/>
                <a:cs typeface="Times New Roman" panose="02020603050405020304" pitchFamily="18" charset="0"/>
              </a:rPr>
              <a:t>阶段</a:t>
            </a:r>
            <a:endParaRPr lang="zh-CN" altLang="en-US" dirty="0"/>
          </a:p>
        </p:txBody>
      </p:sp>
      <p:sp>
        <p:nvSpPr>
          <p:cNvPr id="6" name="日期占位符 5"/>
          <p:cNvSpPr>
            <a:spLocks noGrp="1"/>
          </p:cNvSpPr>
          <p:nvPr>
            <p:ph type="dt" sz="half" idx="10"/>
          </p:nvPr>
        </p:nvSpPr>
        <p:spPr/>
        <p:txBody>
          <a:bodyPr/>
          <a:lstStyle/>
          <a:p>
            <a:fld id="{B1503257-2DBC-44B5-8E08-48ABD490E3B0}"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smtClean="0"/>
              <a:t>软件工程</a:t>
            </a:r>
            <a:endParaRPr lang="zh-CN" altLang="en-US"/>
          </a:p>
        </p:txBody>
      </p:sp>
      <p:sp>
        <p:nvSpPr>
          <p:cNvPr id="8" name="灯片编号占位符 7"/>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965125" y="960195"/>
            <a:ext cx="7763929" cy="29192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900"/>
              </a:spcBef>
              <a:buNone/>
            </a:pPr>
            <a:r>
              <a:rPr lang="zh-CN" altLang="en-US" sz="2400" dirty="0">
                <a:solidFill>
                  <a:schemeClr val="tx2"/>
                </a:solidFill>
                <a:latin typeface="+mj-ea"/>
                <a:ea typeface="+mj-ea"/>
              </a:rPr>
              <a:t>该阶段的关键任务是：</a:t>
            </a:r>
            <a:endParaRPr lang="zh-CN" altLang="en-US" sz="2400" dirty="0">
              <a:solidFill>
                <a:schemeClr val="tx2"/>
              </a:solidFill>
              <a:latin typeface="+mj-ea"/>
              <a:ea typeface="+mj-ea"/>
            </a:endParaRPr>
          </a:p>
          <a:p>
            <a:pPr>
              <a:lnSpc>
                <a:spcPct val="120000"/>
              </a:lnSpc>
              <a:spcBef>
                <a:spcPts val="900"/>
              </a:spcBef>
              <a:buNone/>
            </a:pPr>
            <a:r>
              <a:rPr lang="zh-CN" altLang="en-US" sz="2400" dirty="0">
                <a:solidFill>
                  <a:schemeClr val="tx2"/>
                </a:solidFill>
                <a:latin typeface="+mj-ea"/>
                <a:ea typeface="+mj-ea"/>
              </a:rPr>
              <a:t>		 </a:t>
            </a:r>
            <a:r>
              <a:rPr lang="zh-CN" altLang="en-US" sz="2400" dirty="0" smtClean="0">
                <a:solidFill>
                  <a:schemeClr val="tx2"/>
                </a:solidFill>
                <a:latin typeface="+mj-ea"/>
                <a:ea typeface="+mj-ea"/>
              </a:rPr>
              <a:t>                </a:t>
            </a:r>
            <a:r>
              <a:rPr lang="zh-CN" altLang="en-US" sz="3200" dirty="0" smtClean="0">
                <a:solidFill>
                  <a:srgbClr val="C00000"/>
                </a:solidFill>
                <a:latin typeface="+mj-ea"/>
                <a:ea typeface="+mj-ea"/>
              </a:rPr>
              <a:t>编码</a:t>
            </a:r>
            <a:r>
              <a:rPr lang="zh-CN" altLang="en-US" sz="3200" dirty="0">
                <a:solidFill>
                  <a:srgbClr val="C00000"/>
                </a:solidFill>
                <a:latin typeface="+mj-ea"/>
                <a:ea typeface="+mj-ea"/>
              </a:rPr>
              <a:t>和单元测试</a:t>
            </a:r>
            <a:endParaRPr lang="zh-CN" altLang="en-US" sz="3200" dirty="0">
              <a:solidFill>
                <a:srgbClr val="C00000"/>
              </a:solidFill>
              <a:latin typeface="+mj-ea"/>
              <a:ea typeface="+mj-ea"/>
            </a:endParaRPr>
          </a:p>
          <a:p>
            <a:pPr>
              <a:lnSpc>
                <a:spcPct val="120000"/>
              </a:lnSpc>
              <a:spcBef>
                <a:spcPts val="900"/>
              </a:spcBef>
              <a:buNone/>
            </a:pPr>
            <a:r>
              <a:rPr lang="zh-CN" altLang="en-US" sz="2400" dirty="0">
                <a:solidFill>
                  <a:schemeClr val="tx2"/>
                </a:solidFill>
                <a:latin typeface="+mj-ea"/>
                <a:ea typeface="+mj-ea"/>
              </a:rPr>
              <a:t>		编写出正确的、易理解的、易维护的程序模块。仔细测试编写出的每一个模块。</a:t>
            </a:r>
            <a:endParaRPr lang="zh-CN" altLang="en-US" sz="2400" dirty="0">
              <a:solidFill>
                <a:schemeClr val="tx2"/>
              </a:solidFill>
              <a:latin typeface="+mj-ea"/>
              <a:ea typeface="+mj-ea"/>
            </a:endParaRPr>
          </a:p>
          <a:p>
            <a:pPr>
              <a:lnSpc>
                <a:spcPct val="120000"/>
              </a:lnSpc>
              <a:spcBef>
                <a:spcPts val="900"/>
              </a:spcBef>
              <a:buNone/>
            </a:pPr>
            <a:r>
              <a:rPr lang="zh-CN" altLang="en-US" sz="2400" dirty="0">
                <a:solidFill>
                  <a:schemeClr val="tx2"/>
                </a:solidFill>
                <a:latin typeface="+mj-ea"/>
                <a:ea typeface="+mj-ea"/>
              </a:rPr>
              <a:t>         阶段成果：经过单元测试后的代码，单元测试报告等。</a:t>
            </a:r>
            <a:endParaRPr lang="zh-CN" altLang="en-US" sz="2400" dirty="0">
              <a:solidFill>
                <a:schemeClr val="tx2"/>
              </a:solidFill>
              <a:latin typeface="+mj-ea"/>
              <a:ea typeface="+mj-ea"/>
            </a:endParaRPr>
          </a:p>
        </p:txBody>
      </p:sp>
      <p:sp>
        <p:nvSpPr>
          <p:cNvPr id="5" name="Text Box 6"/>
          <p:cNvSpPr txBox="1">
            <a:spLocks noChangeArrowheads="1"/>
          </p:cNvSpPr>
          <p:nvPr/>
        </p:nvSpPr>
        <p:spPr bwMode="auto">
          <a:xfrm>
            <a:off x="760597" y="3181870"/>
            <a:ext cx="7968457" cy="1195820"/>
          </a:xfrm>
          <a:prstGeom prst="rect">
            <a:avLst/>
          </a:prstGeom>
        </p:spPr>
        <p:style>
          <a:lnRef idx="2">
            <a:schemeClr val="accent1"/>
          </a:lnRef>
          <a:fillRef idx="1">
            <a:schemeClr val="lt1"/>
          </a:fillRef>
          <a:effectRef idx="0">
            <a:schemeClr val="accent1"/>
          </a:effectRef>
          <a:fontRef idx="minor">
            <a:schemeClr val="dk1"/>
          </a:fontRef>
        </p:style>
        <p:txBody>
          <a:bodyPr lIns="67839" tIns="33920" rIns="67839" bIns="33920" anchor="ctr"/>
          <a:lstStyle/>
          <a:p>
            <a:pPr algn="just" defTabSz="678815">
              <a:lnSpc>
                <a:spcPct val="110000"/>
              </a:lnSpc>
              <a:spcBef>
                <a:spcPct val="20000"/>
              </a:spcBef>
              <a:buClr>
                <a:srgbClr val="003366"/>
              </a:buClr>
            </a:pPr>
            <a:r>
              <a:rPr lang="en-US" altLang="zh-CN" sz="2000" dirty="0">
                <a:solidFill>
                  <a:schemeClr val="tx2"/>
                </a:solidFill>
                <a:latin typeface="+mj-ea"/>
                <a:ea typeface="+mj-ea"/>
              </a:rPr>
              <a:t>B</a:t>
            </a:r>
            <a:r>
              <a:rPr lang="zh-CN" altLang="en-US" sz="2000" dirty="0">
                <a:solidFill>
                  <a:schemeClr val="tx2"/>
                </a:solidFill>
                <a:latin typeface="+mj-ea"/>
                <a:ea typeface="+mj-ea"/>
              </a:rPr>
              <a:t>公司程序员们开始对每个模块进行分工，各自负责一个或者多个模块，然后开始写代码，代码写好了，还需要对自己所写模块的代码进行测试，保证自己的正确性。</a:t>
            </a:r>
            <a:endParaRPr lang="zh-CN" altLang="en-US" sz="2000" dirty="0">
              <a:solidFill>
                <a:schemeClr val="tx2"/>
              </a:solidFill>
              <a:latin typeface="+mj-ea"/>
              <a:ea typeface="+mj-ea"/>
            </a:endParaRPr>
          </a:p>
        </p:txBody>
      </p:sp>
      <p:sp>
        <p:nvSpPr>
          <p:cNvPr id="3" name="标题 2"/>
          <p:cNvSpPr>
            <a:spLocks noGrp="1"/>
          </p:cNvSpPr>
          <p:nvPr>
            <p:ph type="title"/>
          </p:nvPr>
        </p:nvSpPr>
        <p:spPr/>
        <p:txBody>
          <a:bodyPr/>
          <a:lstStyle/>
          <a:p>
            <a:r>
              <a:rPr lang="zh-CN" altLang="en-US" kern="100" dirty="0">
                <a:latin typeface="+mn-ea"/>
                <a:cs typeface="Times New Roman" panose="02020603050405020304" pitchFamily="18" charset="0"/>
              </a:rPr>
              <a:t>案例分析</a:t>
            </a:r>
            <a:r>
              <a:rPr lang="en-US" altLang="zh-CN" kern="100" dirty="0">
                <a:latin typeface="+mn-ea"/>
                <a:cs typeface="Times New Roman" panose="02020603050405020304" pitchFamily="18" charset="0"/>
              </a:rPr>
              <a:t>——</a:t>
            </a:r>
            <a:r>
              <a:rPr lang="zh-CN" altLang="en-US" kern="100" dirty="0">
                <a:latin typeface="+mn-ea"/>
                <a:cs typeface="Times New Roman" panose="02020603050405020304" pitchFamily="18" charset="0"/>
              </a:rPr>
              <a:t>编码和单元测试</a:t>
            </a:r>
            <a:r>
              <a:rPr lang="zh-CN" altLang="en-US" kern="100" dirty="0" smtClean="0">
                <a:latin typeface="+mn-ea"/>
                <a:cs typeface="Times New Roman" panose="02020603050405020304" pitchFamily="18" charset="0"/>
              </a:rPr>
              <a:t>阶段</a:t>
            </a:r>
            <a:endParaRPr lang="zh-CN" altLang="en-US" dirty="0"/>
          </a:p>
        </p:txBody>
      </p:sp>
      <p:sp>
        <p:nvSpPr>
          <p:cNvPr id="6" name="日期占位符 5"/>
          <p:cNvSpPr>
            <a:spLocks noGrp="1"/>
          </p:cNvSpPr>
          <p:nvPr>
            <p:ph type="dt" sz="half" idx="10"/>
          </p:nvPr>
        </p:nvSpPr>
        <p:spPr/>
        <p:txBody>
          <a:bodyPr/>
          <a:lstStyle/>
          <a:p>
            <a:fld id="{4464B7FC-8181-4B39-9A0D-AB3F2C6749D3}"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smtClean="0"/>
              <a:t>软件工程</a:t>
            </a:r>
            <a:endParaRPr lang="zh-CN" altLang="en-US"/>
          </a:p>
        </p:txBody>
      </p:sp>
      <p:sp>
        <p:nvSpPr>
          <p:cNvPr id="8" name="灯片编号占位符 7"/>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594257" y="828913"/>
            <a:ext cx="8263993" cy="38679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900"/>
              </a:spcBef>
              <a:buNone/>
            </a:pPr>
            <a:r>
              <a:rPr lang="zh-CN" altLang="en-US" sz="2100" dirty="0">
                <a:solidFill>
                  <a:schemeClr val="tx2"/>
                </a:solidFill>
                <a:latin typeface="+mj-ea"/>
                <a:ea typeface="+mj-ea"/>
              </a:rPr>
              <a:t>         该阶段的关键任务是通过各种类型的测试（及调试）使软件达到预定的要求。</a:t>
            </a:r>
            <a:endParaRPr lang="zh-CN" altLang="en-US" sz="2100" dirty="0">
              <a:solidFill>
                <a:schemeClr val="tx2"/>
              </a:solidFill>
              <a:latin typeface="+mj-ea"/>
              <a:ea typeface="+mj-ea"/>
            </a:endParaRPr>
          </a:p>
          <a:p>
            <a:pPr marL="386080" indent="-386080">
              <a:lnSpc>
                <a:spcPct val="120000"/>
              </a:lnSpc>
              <a:spcBef>
                <a:spcPts val="900"/>
              </a:spcBef>
              <a:buFont typeface="+mj-lt"/>
              <a:buAutoNum type="arabicPeriod"/>
            </a:pPr>
            <a:r>
              <a:rPr lang="zh-CN" altLang="en-US" sz="2100" dirty="0">
                <a:solidFill>
                  <a:schemeClr val="tx2"/>
                </a:solidFill>
                <a:latin typeface="+mj-ea"/>
                <a:ea typeface="+mj-ea"/>
              </a:rPr>
              <a:t>组装（集成）测试：根据设计的软件结构，把经过单元测试检验的模块按某种策略装配起来，在装配过程中对程序进行必要的测试。</a:t>
            </a:r>
            <a:endParaRPr lang="zh-CN" altLang="en-US" sz="2100" dirty="0">
              <a:solidFill>
                <a:schemeClr val="tx2"/>
              </a:solidFill>
              <a:latin typeface="+mj-ea"/>
              <a:ea typeface="+mj-ea"/>
            </a:endParaRPr>
          </a:p>
          <a:p>
            <a:pPr marL="386080" indent="-386080">
              <a:lnSpc>
                <a:spcPct val="120000"/>
              </a:lnSpc>
              <a:spcBef>
                <a:spcPts val="900"/>
              </a:spcBef>
              <a:buFont typeface="+mj-lt"/>
              <a:buAutoNum type="arabicPeriod"/>
            </a:pPr>
            <a:r>
              <a:rPr lang="zh-CN" altLang="en-US" sz="2100" dirty="0">
                <a:solidFill>
                  <a:schemeClr val="tx2"/>
                </a:solidFill>
                <a:latin typeface="+mj-ea"/>
                <a:ea typeface="+mj-ea"/>
              </a:rPr>
              <a:t>验收测试：按照规格说明书的规定，由用户对目标系统进行验收，看其是否达到需求规格说明书中定义的全部功能和性能等方面的需求。</a:t>
            </a:r>
            <a:endParaRPr lang="zh-CN" altLang="en-US" sz="2100" dirty="0">
              <a:solidFill>
                <a:schemeClr val="tx2"/>
              </a:solidFill>
              <a:latin typeface="+mj-ea"/>
              <a:ea typeface="+mj-ea"/>
            </a:endParaRPr>
          </a:p>
          <a:p>
            <a:pPr marL="386080" indent="-386080">
              <a:lnSpc>
                <a:spcPct val="120000"/>
              </a:lnSpc>
              <a:spcBef>
                <a:spcPts val="900"/>
              </a:spcBef>
              <a:buFont typeface="+mj-lt"/>
              <a:buAutoNum type="arabicPeriod"/>
            </a:pPr>
            <a:r>
              <a:rPr lang="zh-CN" altLang="en-US" sz="2100" dirty="0">
                <a:solidFill>
                  <a:schemeClr val="tx2"/>
                </a:solidFill>
                <a:latin typeface="+mj-ea"/>
                <a:ea typeface="+mj-ea"/>
              </a:rPr>
              <a:t>验收测试结束后，经过评审的软件产品就可以投入使用了。</a:t>
            </a:r>
            <a:endParaRPr lang="zh-CN" altLang="en-US" sz="2100" dirty="0">
              <a:solidFill>
                <a:schemeClr val="tx2"/>
              </a:solidFill>
              <a:latin typeface="+mj-ea"/>
              <a:ea typeface="+mj-ea"/>
            </a:endParaRPr>
          </a:p>
        </p:txBody>
      </p:sp>
      <p:sp>
        <p:nvSpPr>
          <p:cNvPr id="5" name="Text Box 6"/>
          <p:cNvSpPr txBox="1">
            <a:spLocks noChangeArrowheads="1"/>
          </p:cNvSpPr>
          <p:nvPr/>
        </p:nvSpPr>
        <p:spPr bwMode="auto">
          <a:xfrm>
            <a:off x="594256" y="2762910"/>
            <a:ext cx="7942275" cy="1420470"/>
          </a:xfrm>
          <a:prstGeom prst="rect">
            <a:avLst/>
          </a:prstGeom>
        </p:spPr>
        <p:style>
          <a:lnRef idx="2">
            <a:schemeClr val="accent1"/>
          </a:lnRef>
          <a:fillRef idx="1">
            <a:schemeClr val="lt1"/>
          </a:fillRef>
          <a:effectRef idx="0">
            <a:schemeClr val="accent1"/>
          </a:effectRef>
          <a:fontRef idx="minor">
            <a:schemeClr val="dk1"/>
          </a:fontRef>
        </p:style>
        <p:txBody>
          <a:bodyPr lIns="67839" tIns="33920" rIns="67839" bIns="33920" anchor="ctr"/>
          <a:lstStyle/>
          <a:p>
            <a:pPr algn="just" defTabSz="678815">
              <a:lnSpc>
                <a:spcPct val="110000"/>
              </a:lnSpc>
              <a:spcBef>
                <a:spcPct val="20000"/>
              </a:spcBef>
              <a:buClr>
                <a:srgbClr val="003366"/>
              </a:buClr>
            </a:pPr>
            <a:r>
              <a:rPr lang="zh-CN" altLang="en-US" sz="2000" dirty="0">
                <a:solidFill>
                  <a:schemeClr val="tx2"/>
                </a:solidFill>
                <a:latin typeface="+mj-ea"/>
                <a:ea typeface="+mj-ea"/>
              </a:rPr>
              <a:t>经过上面的几个步骤，</a:t>
            </a:r>
            <a:r>
              <a:rPr lang="en-US" altLang="zh-CN" sz="2000" dirty="0">
                <a:solidFill>
                  <a:schemeClr val="tx2"/>
                </a:solidFill>
                <a:latin typeface="+mj-ea"/>
                <a:ea typeface="+mj-ea"/>
              </a:rPr>
              <a:t>B</a:t>
            </a:r>
            <a:r>
              <a:rPr lang="zh-CN" altLang="en-US" sz="2000" dirty="0">
                <a:solidFill>
                  <a:schemeClr val="tx2"/>
                </a:solidFill>
                <a:latin typeface="+mj-ea"/>
                <a:ea typeface="+mj-ea"/>
              </a:rPr>
              <a:t>公司的人员终于拿出了“电费结算系统”，他们需要对该系统进行各种测试，包括集成测试，系统测试，用户环境测试，验收测试等等，确保该系统能够平稳的运行在</a:t>
            </a:r>
            <a:r>
              <a:rPr lang="en-US" altLang="zh-CN" sz="2000" dirty="0">
                <a:solidFill>
                  <a:schemeClr val="tx2"/>
                </a:solidFill>
                <a:latin typeface="+mj-ea"/>
                <a:ea typeface="+mj-ea"/>
              </a:rPr>
              <a:t>A</a:t>
            </a:r>
            <a:r>
              <a:rPr lang="zh-CN" altLang="en-US" sz="2000" dirty="0">
                <a:solidFill>
                  <a:schemeClr val="tx2"/>
                </a:solidFill>
                <a:latin typeface="+mj-ea"/>
                <a:ea typeface="+mj-ea"/>
              </a:rPr>
              <a:t>公司中。</a:t>
            </a:r>
            <a:endParaRPr lang="zh-CN" altLang="en-US" sz="2000" dirty="0">
              <a:solidFill>
                <a:schemeClr val="tx2"/>
              </a:solidFill>
              <a:latin typeface="+mj-ea"/>
              <a:ea typeface="+mj-ea"/>
            </a:endParaRPr>
          </a:p>
        </p:txBody>
      </p:sp>
      <p:sp>
        <p:nvSpPr>
          <p:cNvPr id="3" name="标题 2"/>
          <p:cNvSpPr>
            <a:spLocks noGrp="1"/>
          </p:cNvSpPr>
          <p:nvPr>
            <p:ph type="title"/>
          </p:nvPr>
        </p:nvSpPr>
        <p:spPr/>
        <p:txBody>
          <a:bodyPr/>
          <a:lstStyle/>
          <a:p>
            <a:r>
              <a:rPr lang="zh-CN" altLang="en-US" dirty="0"/>
              <a:t>案例分析</a:t>
            </a:r>
            <a:r>
              <a:rPr lang="en-US" altLang="zh-CN" dirty="0"/>
              <a:t>——</a:t>
            </a:r>
            <a:r>
              <a:rPr lang="zh-CN" altLang="en-US" dirty="0"/>
              <a:t>综合测试</a:t>
            </a:r>
            <a:r>
              <a:rPr lang="zh-CN" altLang="en-US" dirty="0" smtClean="0"/>
              <a:t>阶段</a:t>
            </a:r>
            <a:endParaRPr lang="zh-CN" altLang="en-US" dirty="0"/>
          </a:p>
        </p:txBody>
      </p:sp>
      <p:sp>
        <p:nvSpPr>
          <p:cNvPr id="6" name="日期占位符 5"/>
          <p:cNvSpPr>
            <a:spLocks noGrp="1"/>
          </p:cNvSpPr>
          <p:nvPr>
            <p:ph type="dt" sz="half" idx="10"/>
          </p:nvPr>
        </p:nvSpPr>
        <p:spPr/>
        <p:txBody>
          <a:bodyPr/>
          <a:lstStyle/>
          <a:p>
            <a:fld id="{36B9F070-31EF-482A-A485-B4DBDE4A273B}"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a:p>
        </p:txBody>
      </p:sp>
      <p:sp>
        <p:nvSpPr>
          <p:cNvPr id="8" name="灯片编号占位符 7"/>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780097" y="937334"/>
            <a:ext cx="8078153" cy="34860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900"/>
              </a:spcBef>
              <a:buNone/>
            </a:pPr>
            <a:r>
              <a:rPr lang="zh-CN" altLang="en-US" sz="2400" dirty="0">
                <a:solidFill>
                  <a:schemeClr val="tx2"/>
                </a:solidFill>
                <a:latin typeface="+mj-ea"/>
                <a:ea typeface="+mj-ea"/>
              </a:rPr>
              <a:t>          该阶段的关键任务是通过各种必要的维护活动使系统持久地满足用户的要求。</a:t>
            </a:r>
            <a:endParaRPr lang="zh-CN" altLang="en-US" sz="2400" dirty="0">
              <a:solidFill>
                <a:schemeClr val="tx2"/>
              </a:solidFill>
              <a:latin typeface="+mj-ea"/>
              <a:ea typeface="+mj-ea"/>
            </a:endParaRPr>
          </a:p>
          <a:p>
            <a:pPr>
              <a:lnSpc>
                <a:spcPct val="120000"/>
              </a:lnSpc>
              <a:spcBef>
                <a:spcPts val="900"/>
              </a:spcBef>
              <a:buClr>
                <a:srgbClr val="008EE6"/>
              </a:buClr>
              <a:buFont typeface="Arial" panose="020B0604020202020204" pitchFamily="34" charset="0"/>
              <a:buChar char="♣"/>
            </a:pPr>
            <a:r>
              <a:rPr lang="zh-CN" altLang="en-US" sz="2400" dirty="0">
                <a:solidFill>
                  <a:schemeClr val="tx2"/>
                </a:solidFill>
                <a:latin typeface="+mj-ea"/>
                <a:ea typeface="+mj-ea"/>
              </a:rPr>
              <a:t>  改正性维护：诊断和改正在使用过程中发现的软件错误。</a:t>
            </a:r>
            <a:endParaRPr lang="zh-CN" altLang="en-US" sz="2400" dirty="0">
              <a:solidFill>
                <a:schemeClr val="tx2"/>
              </a:solidFill>
              <a:latin typeface="+mj-ea"/>
              <a:ea typeface="+mj-ea"/>
            </a:endParaRPr>
          </a:p>
          <a:p>
            <a:pPr>
              <a:lnSpc>
                <a:spcPct val="120000"/>
              </a:lnSpc>
              <a:spcBef>
                <a:spcPts val="900"/>
              </a:spcBef>
              <a:buClr>
                <a:srgbClr val="008EE6"/>
              </a:buClr>
              <a:buFont typeface="Arial" panose="020B0604020202020204" pitchFamily="34" charset="0"/>
              <a:buChar char="♣"/>
            </a:pPr>
            <a:r>
              <a:rPr lang="zh-CN" altLang="en-US" sz="2400" dirty="0">
                <a:solidFill>
                  <a:schemeClr val="tx2"/>
                </a:solidFill>
                <a:latin typeface="+mj-ea"/>
                <a:ea typeface="+mj-ea"/>
              </a:rPr>
              <a:t>  适应性维护：修改软件易适应环境的变化。</a:t>
            </a:r>
            <a:endParaRPr lang="zh-CN" altLang="en-US" sz="2400" dirty="0">
              <a:solidFill>
                <a:schemeClr val="tx2"/>
              </a:solidFill>
              <a:latin typeface="+mj-ea"/>
              <a:ea typeface="+mj-ea"/>
            </a:endParaRPr>
          </a:p>
          <a:p>
            <a:pPr>
              <a:lnSpc>
                <a:spcPct val="120000"/>
              </a:lnSpc>
              <a:spcBef>
                <a:spcPts val="900"/>
              </a:spcBef>
              <a:buClr>
                <a:srgbClr val="008EE6"/>
              </a:buClr>
              <a:buFont typeface="Arial" panose="020B0604020202020204" pitchFamily="34" charset="0"/>
              <a:buChar char="♣"/>
            </a:pPr>
            <a:r>
              <a:rPr lang="zh-CN" altLang="en-US" sz="2400" dirty="0">
                <a:solidFill>
                  <a:schemeClr val="tx2"/>
                </a:solidFill>
                <a:latin typeface="+mj-ea"/>
                <a:ea typeface="+mj-ea"/>
              </a:rPr>
              <a:t>  完善性维护：根据用户的要求改进或扩充软件使它更完善。</a:t>
            </a:r>
            <a:endParaRPr lang="zh-CN" altLang="en-US" sz="2400" dirty="0">
              <a:solidFill>
                <a:schemeClr val="tx2"/>
              </a:solidFill>
              <a:latin typeface="+mj-ea"/>
              <a:ea typeface="+mj-ea"/>
            </a:endParaRPr>
          </a:p>
          <a:p>
            <a:pPr>
              <a:lnSpc>
                <a:spcPct val="120000"/>
              </a:lnSpc>
              <a:spcBef>
                <a:spcPts val="900"/>
              </a:spcBef>
              <a:buClr>
                <a:srgbClr val="008EE6"/>
              </a:buClr>
              <a:buFont typeface="Arial" panose="020B0604020202020204" pitchFamily="34" charset="0"/>
              <a:buChar char="♣"/>
            </a:pPr>
            <a:r>
              <a:rPr lang="zh-CN" altLang="en-US" sz="2400" dirty="0">
                <a:solidFill>
                  <a:schemeClr val="tx2"/>
                </a:solidFill>
                <a:latin typeface="+mj-ea"/>
                <a:ea typeface="+mj-ea"/>
              </a:rPr>
              <a:t>  预防性维护：修改软件为将来的维护活动预先做准备。</a:t>
            </a:r>
            <a:endParaRPr lang="zh-CN" altLang="en-US" sz="2400" dirty="0">
              <a:solidFill>
                <a:schemeClr val="tx2"/>
              </a:solidFill>
              <a:latin typeface="+mj-ea"/>
              <a:ea typeface="+mj-ea"/>
            </a:endParaRPr>
          </a:p>
        </p:txBody>
      </p:sp>
      <p:sp>
        <p:nvSpPr>
          <p:cNvPr id="5" name="Text Box 6"/>
          <p:cNvSpPr txBox="1">
            <a:spLocks noChangeArrowheads="1"/>
          </p:cNvSpPr>
          <p:nvPr/>
        </p:nvSpPr>
        <p:spPr bwMode="auto">
          <a:xfrm>
            <a:off x="888284" y="2389777"/>
            <a:ext cx="7689132" cy="1991141"/>
          </a:xfrm>
          <a:prstGeom prst="rect">
            <a:avLst/>
          </a:prstGeom>
        </p:spPr>
        <p:style>
          <a:lnRef idx="2">
            <a:schemeClr val="accent1"/>
          </a:lnRef>
          <a:fillRef idx="1">
            <a:schemeClr val="lt1"/>
          </a:fillRef>
          <a:effectRef idx="0">
            <a:schemeClr val="accent1"/>
          </a:effectRef>
          <a:fontRef idx="minor">
            <a:schemeClr val="dk1"/>
          </a:fontRef>
        </p:style>
        <p:txBody>
          <a:bodyPr lIns="67839" tIns="33920" rIns="67839" bIns="33920" anchor="ctr"/>
          <a:lstStyle/>
          <a:p>
            <a:pPr algn="just" defTabSz="678815">
              <a:lnSpc>
                <a:spcPct val="110000"/>
              </a:lnSpc>
              <a:spcBef>
                <a:spcPct val="20000"/>
              </a:spcBef>
              <a:buClr>
                <a:srgbClr val="003366"/>
              </a:buClr>
            </a:pPr>
            <a:r>
              <a:rPr lang="zh-CN" altLang="en-US" sz="2000" dirty="0">
                <a:solidFill>
                  <a:schemeClr val="tx2"/>
                </a:solidFill>
                <a:latin typeface="+mj-ea"/>
                <a:ea typeface="+mj-ea"/>
              </a:rPr>
              <a:t>在电力公司</a:t>
            </a:r>
            <a:r>
              <a:rPr lang="en-US" altLang="zh-CN" sz="2000" dirty="0">
                <a:solidFill>
                  <a:schemeClr val="tx2"/>
                </a:solidFill>
                <a:latin typeface="+mj-ea"/>
                <a:ea typeface="+mj-ea"/>
              </a:rPr>
              <a:t>A</a:t>
            </a:r>
            <a:r>
              <a:rPr lang="zh-CN" altLang="en-US" sz="2000" dirty="0">
                <a:solidFill>
                  <a:schemeClr val="tx2"/>
                </a:solidFill>
                <a:latin typeface="+mj-ea"/>
                <a:ea typeface="+mj-ea"/>
              </a:rPr>
              <a:t>的实际使用当中，“电力结算系统”出现了一些问题，</a:t>
            </a:r>
            <a:r>
              <a:rPr lang="en-US" altLang="zh-CN" sz="2000" dirty="0">
                <a:solidFill>
                  <a:schemeClr val="tx2"/>
                </a:solidFill>
                <a:latin typeface="+mj-ea"/>
                <a:ea typeface="+mj-ea"/>
              </a:rPr>
              <a:t>B</a:t>
            </a:r>
            <a:r>
              <a:rPr lang="zh-CN" altLang="en-US" sz="2000" dirty="0">
                <a:solidFill>
                  <a:schemeClr val="tx2"/>
                </a:solidFill>
                <a:latin typeface="+mj-ea"/>
                <a:ea typeface="+mj-ea"/>
              </a:rPr>
              <a:t>公司需要派人员进行维护。</a:t>
            </a:r>
            <a:endParaRPr lang="zh-CN" altLang="en-US" sz="2000" dirty="0">
              <a:solidFill>
                <a:schemeClr val="tx2"/>
              </a:solidFill>
              <a:latin typeface="+mj-ea"/>
              <a:ea typeface="+mj-ea"/>
            </a:endParaRPr>
          </a:p>
          <a:p>
            <a:pPr algn="just" defTabSz="678815">
              <a:lnSpc>
                <a:spcPct val="110000"/>
              </a:lnSpc>
              <a:spcBef>
                <a:spcPct val="20000"/>
              </a:spcBef>
              <a:buClr>
                <a:srgbClr val="003366"/>
              </a:buClr>
            </a:pPr>
            <a:r>
              <a:rPr lang="zh-CN" altLang="en-US" sz="2000" dirty="0">
                <a:solidFill>
                  <a:schemeClr val="tx2"/>
                </a:solidFill>
                <a:latin typeface="+mj-ea"/>
                <a:ea typeface="+mj-ea"/>
              </a:rPr>
              <a:t>此外，</a:t>
            </a:r>
            <a:r>
              <a:rPr lang="en-US" altLang="zh-CN" sz="2000" dirty="0">
                <a:solidFill>
                  <a:schemeClr val="tx2"/>
                </a:solidFill>
                <a:latin typeface="+mj-ea"/>
                <a:ea typeface="+mj-ea"/>
              </a:rPr>
              <a:t>A</a:t>
            </a:r>
            <a:r>
              <a:rPr lang="zh-CN" altLang="en-US" sz="2000" dirty="0">
                <a:solidFill>
                  <a:schemeClr val="tx2"/>
                </a:solidFill>
                <a:latin typeface="+mj-ea"/>
                <a:ea typeface="+mj-ea"/>
              </a:rPr>
              <a:t>公司对</a:t>
            </a:r>
            <a:r>
              <a:rPr lang="en-US" altLang="zh-CN" sz="2000" dirty="0">
                <a:solidFill>
                  <a:schemeClr val="tx2"/>
                </a:solidFill>
                <a:latin typeface="+mj-ea"/>
                <a:ea typeface="+mj-ea"/>
              </a:rPr>
              <a:t>B</a:t>
            </a:r>
            <a:r>
              <a:rPr lang="zh-CN" altLang="en-US" sz="2000" dirty="0">
                <a:solidFill>
                  <a:schemeClr val="tx2"/>
                </a:solidFill>
                <a:latin typeface="+mj-ea"/>
                <a:ea typeface="+mj-ea"/>
              </a:rPr>
              <a:t>公司所开发的系统比较满意，愿意继续让</a:t>
            </a:r>
            <a:r>
              <a:rPr lang="en-US" altLang="zh-CN" sz="2000" dirty="0">
                <a:solidFill>
                  <a:schemeClr val="tx2"/>
                </a:solidFill>
                <a:latin typeface="+mj-ea"/>
                <a:ea typeface="+mj-ea"/>
              </a:rPr>
              <a:t>B</a:t>
            </a:r>
            <a:r>
              <a:rPr lang="zh-CN" altLang="en-US" sz="2000" dirty="0">
                <a:solidFill>
                  <a:schemeClr val="tx2"/>
                </a:solidFill>
                <a:latin typeface="+mj-ea"/>
                <a:ea typeface="+mj-ea"/>
              </a:rPr>
              <a:t>公司对其进行其他方面功能的扩充，例如：分小区进行用电量和电费收益的统计分析等。</a:t>
            </a:r>
            <a:endParaRPr lang="zh-CN" altLang="en-US" sz="2000" dirty="0">
              <a:solidFill>
                <a:schemeClr val="tx2"/>
              </a:solidFill>
              <a:latin typeface="+mj-ea"/>
              <a:ea typeface="+mj-ea"/>
            </a:endParaRPr>
          </a:p>
        </p:txBody>
      </p:sp>
      <p:sp>
        <p:nvSpPr>
          <p:cNvPr id="3" name="标题 2"/>
          <p:cNvSpPr>
            <a:spLocks noGrp="1"/>
          </p:cNvSpPr>
          <p:nvPr>
            <p:ph type="title"/>
          </p:nvPr>
        </p:nvSpPr>
        <p:spPr/>
        <p:txBody>
          <a:bodyPr/>
          <a:lstStyle/>
          <a:p>
            <a:r>
              <a:rPr lang="zh-CN" altLang="en-US" kern="100" dirty="0">
                <a:latin typeface="+mn-ea"/>
                <a:cs typeface="Times New Roman" panose="02020603050405020304" pitchFamily="18" charset="0"/>
              </a:rPr>
              <a:t>案例分析</a:t>
            </a:r>
            <a:r>
              <a:rPr lang="en-US" altLang="zh-CN" kern="100" dirty="0">
                <a:latin typeface="+mn-ea"/>
                <a:cs typeface="Times New Roman" panose="02020603050405020304" pitchFamily="18" charset="0"/>
              </a:rPr>
              <a:t>——</a:t>
            </a:r>
            <a:r>
              <a:rPr lang="zh-CN" altLang="en-US" kern="100" dirty="0">
                <a:latin typeface="+mn-ea"/>
                <a:cs typeface="Times New Roman" panose="02020603050405020304" pitchFamily="18" charset="0"/>
              </a:rPr>
              <a:t>软件维护</a:t>
            </a:r>
            <a:r>
              <a:rPr lang="zh-CN" altLang="en-US" kern="100" dirty="0" smtClean="0">
                <a:latin typeface="+mn-ea"/>
                <a:cs typeface="Times New Roman" panose="02020603050405020304" pitchFamily="18" charset="0"/>
              </a:rPr>
              <a:t>阶段</a:t>
            </a:r>
            <a:endParaRPr lang="zh-CN" altLang="en-US" dirty="0"/>
          </a:p>
        </p:txBody>
      </p:sp>
      <p:sp>
        <p:nvSpPr>
          <p:cNvPr id="6" name="日期占位符 5"/>
          <p:cNvSpPr>
            <a:spLocks noGrp="1"/>
          </p:cNvSpPr>
          <p:nvPr>
            <p:ph type="dt" sz="half" idx="10"/>
          </p:nvPr>
        </p:nvSpPr>
        <p:spPr/>
        <p:txBody>
          <a:bodyPr/>
          <a:lstStyle/>
          <a:p>
            <a:fld id="{B4244327-F23A-46F2-9E94-8F4C7DBE9F4A}"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smtClean="0"/>
              <a:t>软件工程</a:t>
            </a:r>
            <a:endParaRPr lang="zh-CN" altLang="en-US"/>
          </a:p>
        </p:txBody>
      </p:sp>
      <p:sp>
        <p:nvSpPr>
          <p:cNvPr id="8" name="灯片编号占位符 7"/>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13"/>
          <p:cNvSpPr>
            <a:spLocks noChangeAspect="1" noChangeArrowheads="1"/>
          </p:cNvSpPr>
          <p:nvPr/>
        </p:nvSpPr>
        <p:spPr bwMode="auto">
          <a:xfrm>
            <a:off x="1232206" y="927634"/>
            <a:ext cx="5886449" cy="3860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500">
              <a:solidFill>
                <a:schemeClr val="tx2"/>
              </a:solidFill>
              <a:latin typeface="+mj-ea"/>
              <a:ea typeface="+mj-ea"/>
            </a:endParaRPr>
          </a:p>
        </p:txBody>
      </p:sp>
      <p:sp>
        <p:nvSpPr>
          <p:cNvPr id="4" name="Line 14"/>
          <p:cNvSpPr>
            <a:spLocks noChangeShapeType="1"/>
          </p:cNvSpPr>
          <p:nvPr/>
        </p:nvSpPr>
        <p:spPr bwMode="auto">
          <a:xfrm>
            <a:off x="2291361" y="2983074"/>
            <a:ext cx="4656672" cy="0"/>
          </a:xfrm>
          <a:prstGeom prst="line">
            <a:avLst/>
          </a:prstGeom>
          <a:noFill/>
          <a:ln w="28575">
            <a:solidFill>
              <a:srgbClr val="0091EA"/>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anchor="ct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500">
              <a:solidFill>
                <a:schemeClr val="tx2"/>
              </a:solidFill>
              <a:latin typeface="+mj-ea"/>
              <a:ea typeface="+mj-ea"/>
            </a:endParaRPr>
          </a:p>
        </p:txBody>
      </p:sp>
      <p:sp>
        <p:nvSpPr>
          <p:cNvPr id="6" name="Line 16"/>
          <p:cNvSpPr>
            <a:spLocks noChangeShapeType="1"/>
          </p:cNvSpPr>
          <p:nvPr/>
        </p:nvSpPr>
        <p:spPr bwMode="auto">
          <a:xfrm>
            <a:off x="1445482" y="927634"/>
            <a:ext cx="5673173" cy="1047"/>
          </a:xfrm>
          <a:prstGeom prst="line">
            <a:avLst/>
          </a:prstGeom>
          <a:noFill/>
          <a:ln w="12700">
            <a:solidFill>
              <a:srgbClr val="0091EA"/>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500">
              <a:solidFill>
                <a:schemeClr val="tx2"/>
              </a:solidFill>
              <a:latin typeface="+mj-ea"/>
              <a:ea typeface="+mj-ea"/>
            </a:endParaRPr>
          </a:p>
        </p:txBody>
      </p:sp>
      <p:sp>
        <p:nvSpPr>
          <p:cNvPr id="7" name="Line 17"/>
          <p:cNvSpPr>
            <a:spLocks noChangeShapeType="1"/>
          </p:cNvSpPr>
          <p:nvPr/>
        </p:nvSpPr>
        <p:spPr bwMode="auto">
          <a:xfrm>
            <a:off x="1362340" y="4637438"/>
            <a:ext cx="5756315" cy="1047"/>
          </a:xfrm>
          <a:prstGeom prst="line">
            <a:avLst/>
          </a:prstGeom>
          <a:noFill/>
          <a:ln w="12700">
            <a:solidFill>
              <a:srgbClr val="0091EA"/>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500">
              <a:solidFill>
                <a:schemeClr val="tx2"/>
              </a:solidFill>
              <a:latin typeface="+mj-ea"/>
              <a:ea typeface="+mj-ea"/>
            </a:endParaRPr>
          </a:p>
        </p:txBody>
      </p:sp>
      <p:sp>
        <p:nvSpPr>
          <p:cNvPr id="8" name="Line 18"/>
          <p:cNvSpPr>
            <a:spLocks noChangeShapeType="1"/>
          </p:cNvSpPr>
          <p:nvPr/>
        </p:nvSpPr>
        <p:spPr bwMode="auto">
          <a:xfrm>
            <a:off x="1338483" y="2133870"/>
            <a:ext cx="1168325" cy="1047"/>
          </a:xfrm>
          <a:prstGeom prst="line">
            <a:avLst/>
          </a:prstGeom>
          <a:noFill/>
          <a:ln w="12700">
            <a:solidFill>
              <a:srgbClr val="0091EA"/>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500">
              <a:solidFill>
                <a:schemeClr val="tx2"/>
              </a:solidFill>
              <a:latin typeface="+mj-ea"/>
              <a:ea typeface="+mj-ea"/>
            </a:endParaRPr>
          </a:p>
        </p:txBody>
      </p:sp>
      <p:sp>
        <p:nvSpPr>
          <p:cNvPr id="9" name="Line 19"/>
          <p:cNvSpPr>
            <a:spLocks noChangeShapeType="1"/>
          </p:cNvSpPr>
          <p:nvPr/>
        </p:nvSpPr>
        <p:spPr bwMode="auto">
          <a:xfrm>
            <a:off x="1362341" y="3577793"/>
            <a:ext cx="1114825" cy="1047"/>
          </a:xfrm>
          <a:prstGeom prst="line">
            <a:avLst/>
          </a:prstGeom>
          <a:noFill/>
          <a:ln w="12700">
            <a:solidFill>
              <a:srgbClr val="0091EA"/>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500">
              <a:solidFill>
                <a:schemeClr val="tx2"/>
              </a:solidFill>
              <a:latin typeface="+mj-ea"/>
              <a:ea typeface="+mj-ea"/>
            </a:endParaRPr>
          </a:p>
        </p:txBody>
      </p:sp>
      <p:sp>
        <p:nvSpPr>
          <p:cNvPr id="10" name="Text Box 20"/>
          <p:cNvSpPr txBox="1">
            <a:spLocks noChangeArrowheads="1"/>
          </p:cNvSpPr>
          <p:nvPr/>
        </p:nvSpPr>
        <p:spPr bwMode="auto">
          <a:xfrm>
            <a:off x="1422347" y="2250097"/>
            <a:ext cx="441737" cy="1210424"/>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lIns="44577" tIns="22289" rIns="44577" bIns="22289" anchor="ct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r>
              <a:rPr lang="zh-CN" altLang="en-US" sz="1800" spc="225" dirty="0">
                <a:solidFill>
                  <a:schemeClr val="tx2"/>
                </a:solidFill>
                <a:latin typeface="+mj-ea"/>
                <a:ea typeface="+mj-ea"/>
              </a:rPr>
              <a:t>软件开发</a:t>
            </a:r>
            <a:endParaRPr lang="zh-CN" altLang="en-US" sz="1800" spc="225" dirty="0">
              <a:solidFill>
                <a:schemeClr val="tx2"/>
              </a:solidFill>
              <a:latin typeface="+mj-ea"/>
              <a:ea typeface="+mj-ea"/>
            </a:endParaRPr>
          </a:p>
        </p:txBody>
      </p:sp>
      <p:sp>
        <p:nvSpPr>
          <p:cNvPr id="11" name="Line 21"/>
          <p:cNvSpPr>
            <a:spLocks noChangeShapeType="1"/>
          </p:cNvSpPr>
          <p:nvPr/>
        </p:nvSpPr>
        <p:spPr bwMode="auto">
          <a:xfrm>
            <a:off x="2273287" y="2107693"/>
            <a:ext cx="723" cy="1470101"/>
          </a:xfrm>
          <a:prstGeom prst="line">
            <a:avLst/>
          </a:prstGeom>
          <a:noFill/>
          <a:ln w="57150">
            <a:solidFill>
              <a:srgbClr val="0091EA"/>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500">
              <a:solidFill>
                <a:schemeClr val="tx2"/>
              </a:solidFill>
              <a:latin typeface="+mj-ea"/>
              <a:ea typeface="+mj-ea"/>
            </a:endParaRPr>
          </a:p>
        </p:txBody>
      </p:sp>
      <p:sp>
        <p:nvSpPr>
          <p:cNvPr id="12" name="Line 22"/>
          <p:cNvSpPr>
            <a:spLocks noChangeShapeType="1"/>
          </p:cNvSpPr>
          <p:nvPr/>
        </p:nvSpPr>
        <p:spPr bwMode="auto">
          <a:xfrm>
            <a:off x="2255936" y="928681"/>
            <a:ext cx="17351" cy="1205189"/>
          </a:xfrm>
          <a:prstGeom prst="line">
            <a:avLst/>
          </a:prstGeom>
          <a:noFill/>
          <a:ln w="57150">
            <a:solidFill>
              <a:srgbClr val="0091EA"/>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500">
              <a:solidFill>
                <a:schemeClr val="tx2"/>
              </a:solidFill>
              <a:latin typeface="+mj-ea"/>
              <a:ea typeface="+mj-ea"/>
            </a:endParaRPr>
          </a:p>
        </p:txBody>
      </p:sp>
      <p:sp>
        <p:nvSpPr>
          <p:cNvPr id="13" name="Line 23"/>
          <p:cNvSpPr>
            <a:spLocks noChangeShapeType="1"/>
          </p:cNvSpPr>
          <p:nvPr/>
        </p:nvSpPr>
        <p:spPr bwMode="auto">
          <a:xfrm flipH="1">
            <a:off x="2255936" y="3577793"/>
            <a:ext cx="17351" cy="1059645"/>
          </a:xfrm>
          <a:prstGeom prst="line">
            <a:avLst/>
          </a:prstGeom>
          <a:noFill/>
          <a:ln w="57150">
            <a:solidFill>
              <a:srgbClr val="0091EA"/>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500">
              <a:solidFill>
                <a:schemeClr val="tx2"/>
              </a:solidFill>
              <a:latin typeface="+mj-ea"/>
              <a:ea typeface="+mj-ea"/>
            </a:endParaRPr>
          </a:p>
        </p:txBody>
      </p:sp>
      <p:sp>
        <p:nvSpPr>
          <p:cNvPr id="14" name="Text Box 24"/>
          <p:cNvSpPr txBox="1">
            <a:spLocks noChangeArrowheads="1"/>
          </p:cNvSpPr>
          <p:nvPr/>
        </p:nvSpPr>
        <p:spPr bwMode="auto">
          <a:xfrm>
            <a:off x="2717916" y="1035483"/>
            <a:ext cx="1808156" cy="84708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4577" tIns="22289" rIns="44577" bIns="22289"/>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pPr algn="just">
              <a:lnSpc>
                <a:spcPct val="112000"/>
              </a:lnSpc>
            </a:pPr>
            <a:r>
              <a:rPr lang="zh-CN" altLang="en-US" sz="1800" dirty="0">
                <a:solidFill>
                  <a:schemeClr val="tx2"/>
                </a:solidFill>
                <a:latin typeface="+mj-ea"/>
                <a:ea typeface="+mj-ea"/>
              </a:rPr>
              <a:t> </a:t>
            </a:r>
            <a:r>
              <a:rPr lang="en-US" altLang="zh-CN" sz="1800" dirty="0">
                <a:solidFill>
                  <a:schemeClr val="tx2"/>
                </a:solidFill>
                <a:latin typeface="+mj-ea"/>
                <a:ea typeface="+mj-ea"/>
              </a:rPr>
              <a:t>(1) </a:t>
            </a:r>
            <a:r>
              <a:rPr lang="zh-CN" altLang="en-US" sz="1800" dirty="0">
                <a:solidFill>
                  <a:schemeClr val="tx2"/>
                </a:solidFill>
                <a:latin typeface="+mj-ea"/>
                <a:ea typeface="+mj-ea"/>
              </a:rPr>
              <a:t>问题定义</a:t>
            </a:r>
            <a:endParaRPr lang="zh-CN" altLang="en-US" sz="1800" dirty="0">
              <a:solidFill>
                <a:schemeClr val="tx2"/>
              </a:solidFill>
              <a:latin typeface="+mj-ea"/>
              <a:ea typeface="+mj-ea"/>
            </a:endParaRPr>
          </a:p>
          <a:p>
            <a:pPr algn="just">
              <a:lnSpc>
                <a:spcPct val="112000"/>
              </a:lnSpc>
            </a:pPr>
            <a:r>
              <a:rPr lang="zh-CN" altLang="en-US" sz="1800" dirty="0">
                <a:solidFill>
                  <a:schemeClr val="tx2"/>
                </a:solidFill>
                <a:latin typeface="+mj-ea"/>
                <a:ea typeface="+mj-ea"/>
              </a:rPr>
              <a:t> </a:t>
            </a:r>
            <a:r>
              <a:rPr lang="en-US" altLang="zh-CN" sz="1800" dirty="0">
                <a:solidFill>
                  <a:schemeClr val="tx2"/>
                </a:solidFill>
                <a:latin typeface="+mj-ea"/>
                <a:ea typeface="+mj-ea"/>
              </a:rPr>
              <a:t>(2) </a:t>
            </a:r>
            <a:r>
              <a:rPr lang="zh-CN" altLang="en-US" sz="1800" dirty="0">
                <a:solidFill>
                  <a:schemeClr val="tx2"/>
                </a:solidFill>
                <a:latin typeface="+mj-ea"/>
                <a:ea typeface="+mj-ea"/>
              </a:rPr>
              <a:t>可行性研究</a:t>
            </a:r>
            <a:endParaRPr lang="zh-CN" altLang="en-US" sz="1800" dirty="0">
              <a:solidFill>
                <a:schemeClr val="tx2"/>
              </a:solidFill>
              <a:latin typeface="+mj-ea"/>
              <a:ea typeface="+mj-ea"/>
            </a:endParaRPr>
          </a:p>
        </p:txBody>
      </p:sp>
      <p:sp>
        <p:nvSpPr>
          <p:cNvPr id="15" name="Text Box 25"/>
          <p:cNvSpPr txBox="1">
            <a:spLocks noChangeArrowheads="1"/>
          </p:cNvSpPr>
          <p:nvPr/>
        </p:nvSpPr>
        <p:spPr bwMode="auto">
          <a:xfrm>
            <a:off x="2735267" y="2045916"/>
            <a:ext cx="2010589" cy="1586326"/>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4577" tIns="22289" rIns="44577" bIns="22289"/>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pPr algn="just">
              <a:lnSpc>
                <a:spcPct val="112000"/>
              </a:lnSpc>
            </a:pPr>
            <a:r>
              <a:rPr lang="en-US" altLang="zh-CN" sz="1800" dirty="0">
                <a:solidFill>
                  <a:schemeClr val="tx2"/>
                </a:solidFill>
                <a:latin typeface="+mj-ea"/>
                <a:ea typeface="+mj-ea"/>
              </a:rPr>
              <a:t>(3) </a:t>
            </a:r>
            <a:r>
              <a:rPr lang="zh-CN" altLang="en-US" sz="1800" dirty="0">
                <a:solidFill>
                  <a:schemeClr val="tx2"/>
                </a:solidFill>
                <a:latin typeface="+mj-ea"/>
                <a:ea typeface="+mj-ea"/>
              </a:rPr>
              <a:t>需求分析</a:t>
            </a:r>
            <a:endParaRPr lang="zh-CN" altLang="en-US" sz="1800" dirty="0">
              <a:solidFill>
                <a:schemeClr val="tx2"/>
              </a:solidFill>
              <a:latin typeface="+mj-ea"/>
              <a:ea typeface="+mj-ea"/>
            </a:endParaRPr>
          </a:p>
          <a:p>
            <a:pPr algn="just">
              <a:lnSpc>
                <a:spcPct val="112000"/>
              </a:lnSpc>
            </a:pPr>
            <a:r>
              <a:rPr lang="en-US" altLang="zh-CN" sz="1800" dirty="0">
                <a:solidFill>
                  <a:schemeClr val="tx2"/>
                </a:solidFill>
                <a:latin typeface="+mj-ea"/>
                <a:ea typeface="+mj-ea"/>
              </a:rPr>
              <a:t>(4) </a:t>
            </a:r>
            <a:r>
              <a:rPr lang="zh-CN" altLang="en-US" sz="1800" dirty="0">
                <a:solidFill>
                  <a:schemeClr val="tx2"/>
                </a:solidFill>
                <a:latin typeface="+mj-ea"/>
                <a:ea typeface="+mj-ea"/>
              </a:rPr>
              <a:t>总体设计 </a:t>
            </a:r>
            <a:endParaRPr lang="zh-CN" altLang="en-US" sz="1800" dirty="0">
              <a:solidFill>
                <a:schemeClr val="tx2"/>
              </a:solidFill>
              <a:latin typeface="+mj-ea"/>
              <a:ea typeface="+mj-ea"/>
            </a:endParaRPr>
          </a:p>
          <a:p>
            <a:pPr algn="just">
              <a:lnSpc>
                <a:spcPct val="112000"/>
              </a:lnSpc>
            </a:pPr>
            <a:r>
              <a:rPr lang="en-US" altLang="zh-CN" sz="1800" dirty="0">
                <a:solidFill>
                  <a:schemeClr val="tx2"/>
                </a:solidFill>
                <a:latin typeface="+mj-ea"/>
                <a:ea typeface="+mj-ea"/>
              </a:rPr>
              <a:t>(5) </a:t>
            </a:r>
            <a:r>
              <a:rPr lang="zh-CN" altLang="en-US" sz="1800" dirty="0">
                <a:solidFill>
                  <a:schemeClr val="tx2"/>
                </a:solidFill>
                <a:latin typeface="+mj-ea"/>
                <a:ea typeface="+mj-ea"/>
              </a:rPr>
              <a:t>详细设计</a:t>
            </a:r>
            <a:endParaRPr lang="en-US" altLang="zh-CN" sz="1800" dirty="0">
              <a:solidFill>
                <a:schemeClr val="tx2"/>
              </a:solidFill>
              <a:latin typeface="+mj-ea"/>
              <a:ea typeface="+mj-ea"/>
            </a:endParaRPr>
          </a:p>
          <a:p>
            <a:pPr algn="just">
              <a:lnSpc>
                <a:spcPct val="112000"/>
              </a:lnSpc>
            </a:pPr>
            <a:r>
              <a:rPr lang="en-US" altLang="zh-CN" sz="1800" dirty="0">
                <a:solidFill>
                  <a:schemeClr val="tx2"/>
                </a:solidFill>
                <a:latin typeface="+mj-ea"/>
                <a:ea typeface="+mj-ea"/>
              </a:rPr>
              <a:t>(6) </a:t>
            </a:r>
            <a:r>
              <a:rPr lang="zh-CN" altLang="en-US" sz="1800" dirty="0">
                <a:solidFill>
                  <a:schemeClr val="tx2"/>
                </a:solidFill>
                <a:latin typeface="+mj-ea"/>
                <a:ea typeface="+mj-ea"/>
              </a:rPr>
              <a:t>实现</a:t>
            </a:r>
            <a:endParaRPr lang="zh-CN" altLang="en-US" sz="1800" dirty="0">
              <a:solidFill>
                <a:schemeClr val="tx2"/>
              </a:solidFill>
              <a:latin typeface="+mj-ea"/>
              <a:ea typeface="+mj-ea"/>
            </a:endParaRPr>
          </a:p>
          <a:p>
            <a:pPr algn="just">
              <a:lnSpc>
                <a:spcPct val="112000"/>
              </a:lnSpc>
            </a:pPr>
            <a:r>
              <a:rPr lang="en-US" altLang="zh-CN" sz="1800" dirty="0">
                <a:solidFill>
                  <a:schemeClr val="tx2"/>
                </a:solidFill>
                <a:latin typeface="+mj-ea"/>
                <a:ea typeface="+mj-ea"/>
              </a:rPr>
              <a:t>(7) </a:t>
            </a:r>
            <a:r>
              <a:rPr lang="zh-CN" altLang="en-US" sz="1800" dirty="0">
                <a:solidFill>
                  <a:schemeClr val="tx2"/>
                </a:solidFill>
                <a:latin typeface="+mj-ea"/>
                <a:ea typeface="+mj-ea"/>
              </a:rPr>
              <a:t>测试</a:t>
            </a:r>
            <a:endParaRPr lang="zh-CN" altLang="en-US" sz="1800" dirty="0">
              <a:solidFill>
                <a:schemeClr val="tx2"/>
              </a:solidFill>
              <a:latin typeface="+mj-ea"/>
              <a:ea typeface="+mj-ea"/>
            </a:endParaRPr>
          </a:p>
        </p:txBody>
      </p:sp>
      <p:sp>
        <p:nvSpPr>
          <p:cNvPr id="16" name="Text Box 26"/>
          <p:cNvSpPr txBox="1">
            <a:spLocks noChangeArrowheads="1"/>
          </p:cNvSpPr>
          <p:nvPr/>
        </p:nvSpPr>
        <p:spPr bwMode="auto">
          <a:xfrm>
            <a:off x="2735267" y="3984060"/>
            <a:ext cx="2335927" cy="56856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4577" tIns="22289" rIns="44577" bIns="22289"/>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pPr algn="just"/>
            <a:r>
              <a:rPr lang="en-US" altLang="zh-CN" sz="1800" dirty="0">
                <a:solidFill>
                  <a:schemeClr val="tx2"/>
                </a:solidFill>
                <a:latin typeface="+mj-ea"/>
                <a:ea typeface="+mj-ea"/>
              </a:rPr>
              <a:t>(7) </a:t>
            </a:r>
            <a:r>
              <a:rPr lang="zh-CN" altLang="en-US" sz="1800" dirty="0">
                <a:solidFill>
                  <a:schemeClr val="tx2"/>
                </a:solidFill>
                <a:latin typeface="+mj-ea"/>
                <a:ea typeface="+mj-ea"/>
              </a:rPr>
              <a:t>运行和维护</a:t>
            </a:r>
            <a:endParaRPr lang="zh-CN" altLang="en-US" sz="1800" dirty="0">
              <a:solidFill>
                <a:schemeClr val="tx2"/>
              </a:solidFill>
              <a:latin typeface="+mj-ea"/>
              <a:ea typeface="+mj-ea"/>
            </a:endParaRPr>
          </a:p>
        </p:txBody>
      </p:sp>
      <p:grpSp>
        <p:nvGrpSpPr>
          <p:cNvPr id="24" name="组合 23"/>
          <p:cNvGrpSpPr/>
          <p:nvPr/>
        </p:nvGrpSpPr>
        <p:grpSpPr>
          <a:xfrm>
            <a:off x="5071194" y="2983075"/>
            <a:ext cx="2974313" cy="1654364"/>
            <a:chOff x="6959711" y="4266992"/>
            <a:chExt cx="3965751" cy="2205819"/>
          </a:xfrm>
        </p:grpSpPr>
        <p:sp>
          <p:nvSpPr>
            <p:cNvPr id="5" name="Line 15"/>
            <p:cNvSpPr>
              <a:spLocks noChangeShapeType="1"/>
            </p:cNvSpPr>
            <p:nvPr/>
          </p:nvSpPr>
          <p:spPr bwMode="auto">
            <a:xfrm>
              <a:off x="6959711" y="4266992"/>
              <a:ext cx="965" cy="2205819"/>
            </a:xfrm>
            <a:prstGeom prst="line">
              <a:avLst/>
            </a:prstGeom>
            <a:noFill/>
            <a:ln w="19050">
              <a:solidFill>
                <a:srgbClr val="0091EA"/>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anchor="ct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500">
                <a:solidFill>
                  <a:schemeClr val="tx2"/>
                </a:solidFill>
                <a:latin typeface="+mj-ea"/>
                <a:ea typeface="+mj-ea"/>
              </a:endParaRPr>
            </a:p>
          </p:txBody>
        </p:sp>
        <p:sp>
          <p:nvSpPr>
            <p:cNvPr id="18" name="Text Box 28"/>
            <p:cNvSpPr txBox="1">
              <a:spLocks noChangeArrowheads="1"/>
            </p:cNvSpPr>
            <p:nvPr/>
          </p:nvSpPr>
          <p:spPr bwMode="auto">
            <a:xfrm>
              <a:off x="7449406" y="4864496"/>
              <a:ext cx="3476056" cy="133049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4577" tIns="22289" rIns="44577" bIns="22289"/>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pPr algn="just"/>
              <a:r>
                <a:rPr lang="zh-CN" altLang="en-US" sz="1800" dirty="0">
                  <a:solidFill>
                    <a:schemeClr val="tx2"/>
                  </a:solidFill>
                  <a:latin typeface="+mj-ea"/>
                  <a:ea typeface="+mj-ea"/>
                </a:rPr>
                <a:t>下游</a:t>
              </a:r>
              <a:endParaRPr lang="zh-CN" altLang="en-US" sz="1800" dirty="0">
                <a:solidFill>
                  <a:schemeClr val="tx2"/>
                </a:solidFill>
                <a:latin typeface="+mj-ea"/>
                <a:ea typeface="+mj-ea"/>
              </a:endParaRPr>
            </a:p>
            <a:p>
              <a:pPr algn="just"/>
              <a:r>
                <a:rPr lang="en-US" altLang="zh-CN" sz="1800" dirty="0">
                  <a:solidFill>
                    <a:schemeClr val="tx2"/>
                  </a:solidFill>
                  <a:latin typeface="+mj-ea"/>
                  <a:ea typeface="+mj-ea"/>
                </a:rPr>
                <a:t>(</a:t>
              </a:r>
              <a:r>
                <a:rPr lang="zh-CN" altLang="en-US" sz="1800" dirty="0">
                  <a:solidFill>
                    <a:schemeClr val="tx2"/>
                  </a:solidFill>
                  <a:latin typeface="+mj-ea"/>
                  <a:ea typeface="+mj-ea"/>
                </a:rPr>
                <a:t>程序员和测试员的任务</a:t>
              </a:r>
              <a:r>
                <a:rPr lang="en-US" altLang="zh-CN" sz="1800" dirty="0">
                  <a:solidFill>
                    <a:schemeClr val="tx2"/>
                  </a:solidFill>
                  <a:latin typeface="+mj-ea"/>
                  <a:ea typeface="+mj-ea"/>
                </a:rPr>
                <a:t>)</a:t>
              </a:r>
              <a:endParaRPr lang="en-US" altLang="zh-CN" sz="1800" dirty="0">
                <a:solidFill>
                  <a:schemeClr val="tx2"/>
                </a:solidFill>
                <a:latin typeface="+mj-ea"/>
                <a:ea typeface="+mj-ea"/>
              </a:endParaRPr>
            </a:p>
          </p:txBody>
        </p:sp>
      </p:grpSp>
      <p:sp>
        <p:nvSpPr>
          <p:cNvPr id="19" name="Text Box 29"/>
          <p:cNvSpPr txBox="1">
            <a:spLocks noChangeArrowheads="1"/>
          </p:cNvSpPr>
          <p:nvPr/>
        </p:nvSpPr>
        <p:spPr bwMode="auto">
          <a:xfrm>
            <a:off x="1447651" y="970564"/>
            <a:ext cx="430892" cy="1163306"/>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lIns="44577" tIns="22289" rIns="44577" bIns="22289" anchor="ct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r>
              <a:rPr lang="zh-CN" altLang="en-US" sz="1800" spc="225" dirty="0">
                <a:solidFill>
                  <a:schemeClr val="tx2"/>
                </a:solidFill>
                <a:latin typeface="+mj-ea"/>
                <a:ea typeface="+mj-ea"/>
              </a:rPr>
              <a:t>软件定义</a:t>
            </a:r>
            <a:endParaRPr lang="zh-CN" altLang="en-US" sz="1800" spc="225" dirty="0">
              <a:solidFill>
                <a:schemeClr val="tx2"/>
              </a:solidFill>
              <a:latin typeface="+mj-ea"/>
              <a:ea typeface="+mj-ea"/>
            </a:endParaRPr>
          </a:p>
        </p:txBody>
      </p:sp>
      <p:sp>
        <p:nvSpPr>
          <p:cNvPr id="20" name="Text Box 30"/>
          <p:cNvSpPr txBox="1">
            <a:spLocks noChangeArrowheads="1"/>
          </p:cNvSpPr>
          <p:nvPr/>
        </p:nvSpPr>
        <p:spPr bwMode="auto">
          <a:xfrm>
            <a:off x="1436806" y="3577794"/>
            <a:ext cx="441737" cy="1210424"/>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lIns="44577" tIns="22289" rIns="44577" bIns="22289" anchor="ct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r>
              <a:rPr lang="zh-CN" altLang="en-US" sz="1800" spc="225" dirty="0">
                <a:solidFill>
                  <a:schemeClr val="tx2"/>
                </a:solidFill>
                <a:latin typeface="+mj-ea"/>
                <a:ea typeface="+mj-ea"/>
              </a:rPr>
              <a:t>运行维护</a:t>
            </a:r>
            <a:endParaRPr lang="zh-CN" altLang="en-US" sz="1800" spc="225" dirty="0">
              <a:solidFill>
                <a:schemeClr val="tx2"/>
              </a:solidFill>
              <a:latin typeface="+mj-ea"/>
              <a:ea typeface="+mj-ea"/>
            </a:endParaRPr>
          </a:p>
        </p:txBody>
      </p:sp>
      <p:grpSp>
        <p:nvGrpSpPr>
          <p:cNvPr id="23" name="组合 22"/>
          <p:cNvGrpSpPr/>
          <p:nvPr/>
        </p:nvGrpSpPr>
        <p:grpSpPr>
          <a:xfrm>
            <a:off x="5071193" y="928681"/>
            <a:ext cx="2879604" cy="2034476"/>
            <a:chOff x="6959711" y="1527801"/>
            <a:chExt cx="3839472" cy="2712635"/>
          </a:xfrm>
        </p:grpSpPr>
        <p:sp>
          <p:nvSpPr>
            <p:cNvPr id="17" name="Text Box 27"/>
            <p:cNvSpPr txBox="1">
              <a:spLocks noChangeArrowheads="1"/>
            </p:cNvSpPr>
            <p:nvPr/>
          </p:nvSpPr>
          <p:spPr bwMode="auto">
            <a:xfrm>
              <a:off x="7394460" y="2383614"/>
              <a:ext cx="3404723" cy="1357016"/>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4577" tIns="22289" rIns="44577" bIns="22289"/>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pPr algn="just"/>
              <a:r>
                <a:rPr lang="zh-CN" altLang="en-US" sz="1800" dirty="0">
                  <a:solidFill>
                    <a:schemeClr val="tx2"/>
                  </a:solidFill>
                  <a:latin typeface="+mj-ea"/>
                  <a:ea typeface="+mj-ea"/>
                </a:rPr>
                <a:t>上游 </a:t>
              </a:r>
              <a:endParaRPr lang="zh-CN" altLang="en-US" sz="1800" dirty="0">
                <a:solidFill>
                  <a:schemeClr val="tx2"/>
                </a:solidFill>
                <a:latin typeface="+mj-ea"/>
                <a:ea typeface="+mj-ea"/>
              </a:endParaRPr>
            </a:p>
            <a:p>
              <a:pPr algn="just"/>
              <a:r>
                <a:rPr lang="en-US" altLang="zh-CN" sz="1800" dirty="0">
                  <a:solidFill>
                    <a:schemeClr val="tx2"/>
                  </a:solidFill>
                  <a:latin typeface="+mj-ea"/>
                  <a:ea typeface="+mj-ea"/>
                </a:rPr>
                <a:t>(</a:t>
              </a:r>
              <a:r>
                <a:rPr lang="zh-CN" altLang="en-US" sz="1800" dirty="0">
                  <a:solidFill>
                    <a:schemeClr val="tx2"/>
                  </a:solidFill>
                  <a:latin typeface="+mj-ea"/>
                  <a:ea typeface="+mj-ea"/>
                </a:rPr>
                <a:t>分析师和设计师的任务</a:t>
              </a:r>
              <a:r>
                <a:rPr lang="en-US" altLang="zh-CN" sz="1800" dirty="0">
                  <a:solidFill>
                    <a:schemeClr val="tx2"/>
                  </a:solidFill>
                  <a:latin typeface="+mj-ea"/>
                  <a:ea typeface="+mj-ea"/>
                </a:rPr>
                <a:t>)</a:t>
              </a:r>
              <a:endParaRPr lang="en-US" altLang="zh-CN" sz="1800" dirty="0">
                <a:solidFill>
                  <a:schemeClr val="tx2"/>
                </a:solidFill>
                <a:latin typeface="+mj-ea"/>
                <a:ea typeface="+mj-ea"/>
              </a:endParaRPr>
            </a:p>
          </p:txBody>
        </p:sp>
        <p:sp>
          <p:nvSpPr>
            <p:cNvPr id="21" name="Line 31"/>
            <p:cNvSpPr>
              <a:spLocks noChangeShapeType="1"/>
            </p:cNvSpPr>
            <p:nvPr/>
          </p:nvSpPr>
          <p:spPr bwMode="auto">
            <a:xfrm flipH="1">
              <a:off x="6959711" y="1527801"/>
              <a:ext cx="965" cy="2712635"/>
            </a:xfrm>
            <a:prstGeom prst="line">
              <a:avLst/>
            </a:prstGeom>
            <a:noFill/>
            <a:ln w="19050">
              <a:solidFill>
                <a:srgbClr val="0091EA"/>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anchor="ct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500">
                <a:solidFill>
                  <a:schemeClr val="tx2"/>
                </a:solidFill>
                <a:latin typeface="+mj-ea"/>
                <a:ea typeface="+mj-ea"/>
              </a:endParaRPr>
            </a:p>
          </p:txBody>
        </p:sp>
      </p:grpSp>
      <p:sp>
        <p:nvSpPr>
          <p:cNvPr id="2" name="标题 1"/>
          <p:cNvSpPr>
            <a:spLocks noGrp="1"/>
          </p:cNvSpPr>
          <p:nvPr>
            <p:ph type="title"/>
          </p:nvPr>
        </p:nvSpPr>
        <p:spPr/>
        <p:txBody>
          <a:bodyPr/>
          <a:lstStyle/>
          <a:p>
            <a:r>
              <a:rPr lang="zh-CN" altLang="en-US" kern="100" dirty="0">
                <a:latin typeface="+mn-ea"/>
                <a:cs typeface="Times New Roman" panose="02020603050405020304" pitchFamily="18" charset="0"/>
              </a:rPr>
              <a:t>软件生命周期</a:t>
            </a:r>
            <a:r>
              <a:rPr lang="zh-CN" altLang="en-US" kern="100" dirty="0" smtClean="0">
                <a:latin typeface="+mn-ea"/>
                <a:cs typeface="Times New Roman" panose="02020603050405020304" pitchFamily="18" charset="0"/>
              </a:rPr>
              <a:t>总结</a:t>
            </a:r>
            <a:endParaRPr lang="zh-CN" altLang="en-US" dirty="0"/>
          </a:p>
        </p:txBody>
      </p:sp>
      <p:sp>
        <p:nvSpPr>
          <p:cNvPr id="25" name="日期占位符 24"/>
          <p:cNvSpPr>
            <a:spLocks noGrp="1"/>
          </p:cNvSpPr>
          <p:nvPr>
            <p:ph type="dt" sz="half" idx="10"/>
          </p:nvPr>
        </p:nvSpPr>
        <p:spPr/>
        <p:txBody>
          <a:bodyPr/>
          <a:lstStyle/>
          <a:p>
            <a:fld id="{403AFC35-BCD9-47EB-97CC-26ED02A3ECFF}" type="datetime1">
              <a:rPr lang="zh-CN" altLang="en-US" smtClean="0"/>
            </a:fld>
            <a:endParaRPr lang="zh-CN" altLang="en-US"/>
          </a:p>
        </p:txBody>
      </p:sp>
      <p:sp>
        <p:nvSpPr>
          <p:cNvPr id="26" name="页脚占位符 25"/>
          <p:cNvSpPr>
            <a:spLocks noGrp="1"/>
          </p:cNvSpPr>
          <p:nvPr>
            <p:ph type="ftr" sz="quarter" idx="11"/>
          </p:nvPr>
        </p:nvSpPr>
        <p:spPr/>
        <p:txBody>
          <a:bodyPr/>
          <a:lstStyle/>
          <a:p>
            <a:r>
              <a:rPr lang="zh-CN" altLang="en-US" smtClean="0"/>
              <a:t>软件工程</a:t>
            </a:r>
            <a:endParaRPr lang="zh-CN" altLang="en-US"/>
          </a:p>
        </p:txBody>
      </p:sp>
      <p:sp>
        <p:nvSpPr>
          <p:cNvPr id="27" name="灯片编号占位符 2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up)">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up)">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6" presetClass="entr" presetSubtype="42" fill="hold"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barn(outHorizontal)">
                                      <p:cBhvr>
                                        <p:cTn id="26" dur="5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42"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barn(outHorizontal)">
                                      <p:cBhvr>
                                        <p:cTn id="3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4" grpId="0" bldLvl="0" animBg="1"/>
      <p:bldP spid="15" grpId="0" bldLvl="0" animBg="1"/>
      <p:bldP spid="16"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638479" y="833522"/>
            <a:ext cx="8201025" cy="40147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900"/>
              </a:spcBef>
            </a:pPr>
            <a:r>
              <a:rPr lang="zh-CN" altLang="en-US" sz="2400" dirty="0">
                <a:solidFill>
                  <a:schemeClr val="tx2"/>
                </a:solidFill>
                <a:latin typeface="+mj-ea"/>
                <a:ea typeface="+mj-ea"/>
              </a:rPr>
              <a:t>软件生命周期中的哪个阶段可以实现以下任务？</a:t>
            </a:r>
            <a:endParaRPr lang="en-US" altLang="zh-CN" sz="2400" dirty="0">
              <a:solidFill>
                <a:schemeClr val="tx2"/>
              </a:solidFill>
              <a:latin typeface="+mj-ea"/>
              <a:ea typeface="+mj-ea"/>
            </a:endParaRPr>
          </a:p>
          <a:p>
            <a:pPr>
              <a:lnSpc>
                <a:spcPct val="100000"/>
              </a:lnSpc>
              <a:spcBef>
                <a:spcPts val="900"/>
              </a:spcBef>
              <a:buClr>
                <a:schemeClr val="accent6"/>
              </a:buClr>
              <a:buFont typeface="宋体" panose="02010600030101010101" pitchFamily="2" charset="-122"/>
              <a:buChar char="→"/>
            </a:pPr>
            <a:r>
              <a:rPr lang="zh-CN" altLang="en-US" sz="2000" dirty="0">
                <a:solidFill>
                  <a:schemeClr val="tx2"/>
                </a:solidFill>
                <a:latin typeface="+mj-ea"/>
                <a:ea typeface="+mj-ea"/>
              </a:rPr>
              <a:t>分析员正在为学生入学联系系统准备初步的进度表和预算，该系统最近才由指导委员会通过。</a:t>
            </a:r>
            <a:endParaRPr lang="en-US" altLang="zh-CN" sz="2000" dirty="0">
              <a:solidFill>
                <a:schemeClr val="tx2"/>
              </a:solidFill>
              <a:latin typeface="+mj-ea"/>
              <a:ea typeface="+mj-ea"/>
            </a:endParaRPr>
          </a:p>
          <a:p>
            <a:pPr>
              <a:lnSpc>
                <a:spcPct val="100000"/>
              </a:lnSpc>
              <a:spcBef>
                <a:spcPts val="900"/>
              </a:spcBef>
              <a:buClr>
                <a:schemeClr val="accent6"/>
              </a:buClr>
              <a:buFont typeface="宋体" panose="02010600030101010101" pitchFamily="2" charset="-122"/>
              <a:buChar char="→"/>
            </a:pPr>
            <a:r>
              <a:rPr lang="zh-CN" altLang="en-US" sz="2000" dirty="0">
                <a:solidFill>
                  <a:schemeClr val="tx2"/>
                </a:solidFill>
                <a:latin typeface="+mj-ea"/>
                <a:ea typeface="+mj-ea"/>
              </a:rPr>
              <a:t>分析员演示一个用于预订公司车辆的</a:t>
            </a:r>
            <a:r>
              <a:rPr lang="en-US" altLang="zh-CN" sz="2000" dirty="0">
                <a:solidFill>
                  <a:schemeClr val="tx2"/>
                </a:solidFill>
                <a:latin typeface="+mj-ea"/>
                <a:ea typeface="+mj-ea"/>
              </a:rPr>
              <a:t>Windows</a:t>
            </a:r>
            <a:r>
              <a:rPr lang="zh-CN" altLang="en-US" sz="2000" dirty="0">
                <a:solidFill>
                  <a:schemeClr val="tx2"/>
                </a:solidFill>
                <a:latin typeface="+mj-ea"/>
                <a:ea typeface="+mj-ea"/>
              </a:rPr>
              <a:t>用户界面原型。</a:t>
            </a:r>
            <a:endParaRPr lang="en-US" altLang="zh-CN" sz="2000" dirty="0">
              <a:solidFill>
                <a:schemeClr val="tx2"/>
              </a:solidFill>
              <a:latin typeface="+mj-ea"/>
              <a:ea typeface="+mj-ea"/>
            </a:endParaRPr>
          </a:p>
          <a:p>
            <a:pPr>
              <a:lnSpc>
                <a:spcPct val="100000"/>
              </a:lnSpc>
              <a:spcBef>
                <a:spcPts val="900"/>
              </a:spcBef>
              <a:buClr>
                <a:schemeClr val="accent6"/>
              </a:buClr>
              <a:buFont typeface="宋体" panose="02010600030101010101" pitchFamily="2" charset="-122"/>
              <a:buChar char="→"/>
            </a:pPr>
            <a:r>
              <a:rPr lang="zh-CN" altLang="en-US" sz="2000" dirty="0">
                <a:solidFill>
                  <a:schemeClr val="tx2"/>
                </a:solidFill>
                <a:latin typeface="+mj-ea"/>
                <a:ea typeface="+mj-ea"/>
              </a:rPr>
              <a:t>分析员观察订单输入职员的工作，以确定客户的订单是如何处理的。</a:t>
            </a:r>
            <a:endParaRPr lang="en-US" altLang="zh-CN" sz="2000" dirty="0">
              <a:solidFill>
                <a:schemeClr val="tx2"/>
              </a:solidFill>
              <a:latin typeface="+mj-ea"/>
              <a:ea typeface="+mj-ea"/>
            </a:endParaRPr>
          </a:p>
          <a:p>
            <a:pPr>
              <a:lnSpc>
                <a:spcPct val="100000"/>
              </a:lnSpc>
              <a:spcBef>
                <a:spcPts val="900"/>
              </a:spcBef>
              <a:buClr>
                <a:schemeClr val="accent6"/>
              </a:buClr>
              <a:buFont typeface="宋体" panose="02010600030101010101" pitchFamily="2" charset="-122"/>
              <a:buChar char="→"/>
            </a:pPr>
            <a:r>
              <a:rPr lang="zh-CN" altLang="en-US" sz="2000" dirty="0">
                <a:solidFill>
                  <a:schemeClr val="tx2"/>
                </a:solidFill>
                <a:latin typeface="+mj-ea"/>
                <a:ea typeface="+mj-ea"/>
              </a:rPr>
              <a:t>分析员回顾公司的组织结构图，确定由哪些人参与认可工资单和批准病假。</a:t>
            </a:r>
            <a:endParaRPr lang="en-US" altLang="zh-CN" sz="2000" dirty="0">
              <a:solidFill>
                <a:schemeClr val="tx2"/>
              </a:solidFill>
              <a:latin typeface="+mj-ea"/>
              <a:ea typeface="+mj-ea"/>
            </a:endParaRPr>
          </a:p>
          <a:p>
            <a:pPr>
              <a:lnSpc>
                <a:spcPct val="100000"/>
              </a:lnSpc>
              <a:spcBef>
                <a:spcPts val="900"/>
              </a:spcBef>
              <a:buClr>
                <a:schemeClr val="accent6"/>
              </a:buClr>
              <a:buFont typeface="宋体" panose="02010600030101010101" pitchFamily="2" charset="-122"/>
              <a:buChar char="→"/>
            </a:pPr>
            <a:r>
              <a:rPr lang="zh-CN" altLang="en-US" sz="2000" dirty="0">
                <a:solidFill>
                  <a:schemeClr val="tx2"/>
                </a:solidFill>
                <a:latin typeface="+mj-ea"/>
                <a:ea typeface="+mj-ea"/>
              </a:rPr>
              <a:t>分析员指定支持生产进度的数据库结构。</a:t>
            </a:r>
            <a:endParaRPr lang="en-US" altLang="zh-CN" sz="2000" dirty="0">
              <a:solidFill>
                <a:schemeClr val="tx2"/>
              </a:solidFill>
              <a:latin typeface="+mj-ea"/>
              <a:ea typeface="+mj-ea"/>
            </a:endParaRPr>
          </a:p>
          <a:p>
            <a:pPr>
              <a:lnSpc>
                <a:spcPct val="100000"/>
              </a:lnSpc>
              <a:spcBef>
                <a:spcPts val="900"/>
              </a:spcBef>
              <a:buClr>
                <a:schemeClr val="accent6"/>
              </a:buClr>
              <a:buFont typeface="宋体" panose="02010600030101010101" pitchFamily="2" charset="-122"/>
              <a:buChar char="→"/>
            </a:pPr>
            <a:r>
              <a:rPr lang="zh-CN" altLang="en-US" sz="2000" dirty="0">
                <a:solidFill>
                  <a:schemeClr val="tx2"/>
                </a:solidFill>
                <a:latin typeface="+mj-ea"/>
                <a:ea typeface="+mj-ea"/>
              </a:rPr>
              <a:t>分析员正在比较两个软件包的优点和缺点，这两个软件包都可以实现设备维护和翻修的管理需求。</a:t>
            </a:r>
            <a:endParaRPr lang="en-US" altLang="zh-CN" sz="2000" dirty="0">
              <a:solidFill>
                <a:schemeClr val="tx2"/>
              </a:solidFill>
              <a:latin typeface="+mj-ea"/>
              <a:ea typeface="+mj-ea"/>
            </a:endParaRPr>
          </a:p>
        </p:txBody>
      </p:sp>
      <p:sp>
        <p:nvSpPr>
          <p:cNvPr id="5" name="TextBox 1"/>
          <p:cNvSpPr txBox="1"/>
          <p:nvPr/>
        </p:nvSpPr>
        <p:spPr>
          <a:xfrm>
            <a:off x="3982823" y="1649452"/>
            <a:ext cx="1346844" cy="369332"/>
          </a:xfrm>
          <a:prstGeom prst="rect">
            <a:avLst/>
          </a:prstGeom>
          <a:noFill/>
        </p:spPr>
        <p:txBody>
          <a:bodyPr wrap="none" rtlCol="0">
            <a:spAutoFit/>
          </a:bodyPr>
          <a:lstStyle/>
          <a:p>
            <a:r>
              <a:rPr lang="zh-CN" altLang="en-US" b="1" dirty="0">
                <a:solidFill>
                  <a:srgbClr val="CA0098"/>
                </a:solidFill>
                <a:latin typeface="+mj-ea"/>
                <a:ea typeface="+mj-ea"/>
              </a:rPr>
              <a:t>可行性分析</a:t>
            </a:r>
            <a:endParaRPr lang="zh-CN" altLang="en-US" b="1" dirty="0">
              <a:solidFill>
                <a:srgbClr val="CA0098"/>
              </a:solidFill>
              <a:latin typeface="+mj-ea"/>
              <a:ea typeface="+mj-ea"/>
            </a:endParaRPr>
          </a:p>
        </p:txBody>
      </p:sp>
      <p:sp>
        <p:nvSpPr>
          <p:cNvPr id="6" name="TextBox 4"/>
          <p:cNvSpPr txBox="1"/>
          <p:nvPr/>
        </p:nvSpPr>
        <p:spPr>
          <a:xfrm>
            <a:off x="8189967" y="2118242"/>
            <a:ext cx="649537" cy="369332"/>
          </a:xfrm>
          <a:prstGeom prst="rect">
            <a:avLst/>
          </a:prstGeom>
          <a:noFill/>
        </p:spPr>
        <p:txBody>
          <a:bodyPr wrap="none" rtlCol="0">
            <a:spAutoFit/>
          </a:bodyPr>
          <a:lstStyle/>
          <a:p>
            <a:r>
              <a:rPr lang="zh-CN" altLang="en-US" b="1" dirty="0">
                <a:solidFill>
                  <a:srgbClr val="CA0098"/>
                </a:solidFill>
                <a:latin typeface="+mj-ea"/>
                <a:ea typeface="+mj-ea"/>
              </a:rPr>
              <a:t>需求</a:t>
            </a:r>
            <a:endParaRPr lang="zh-CN" altLang="en-US" b="1" dirty="0">
              <a:solidFill>
                <a:srgbClr val="CA0098"/>
              </a:solidFill>
              <a:latin typeface="+mj-ea"/>
              <a:ea typeface="+mj-ea"/>
            </a:endParaRPr>
          </a:p>
        </p:txBody>
      </p:sp>
      <p:sp>
        <p:nvSpPr>
          <p:cNvPr id="7" name="TextBox 5"/>
          <p:cNvSpPr txBox="1"/>
          <p:nvPr/>
        </p:nvSpPr>
        <p:spPr>
          <a:xfrm>
            <a:off x="8543836" y="2528734"/>
            <a:ext cx="649537" cy="369332"/>
          </a:xfrm>
          <a:prstGeom prst="rect">
            <a:avLst/>
          </a:prstGeom>
          <a:noFill/>
        </p:spPr>
        <p:txBody>
          <a:bodyPr wrap="none" rtlCol="0">
            <a:spAutoFit/>
          </a:bodyPr>
          <a:lstStyle/>
          <a:p>
            <a:r>
              <a:rPr lang="zh-CN" altLang="en-US" b="1" dirty="0">
                <a:solidFill>
                  <a:srgbClr val="CA0098"/>
                </a:solidFill>
                <a:latin typeface="+mj-ea"/>
                <a:ea typeface="+mj-ea"/>
              </a:rPr>
              <a:t>需求</a:t>
            </a:r>
            <a:endParaRPr lang="zh-CN" altLang="en-US" b="1" dirty="0">
              <a:solidFill>
                <a:srgbClr val="CA0098"/>
              </a:solidFill>
              <a:latin typeface="+mj-ea"/>
              <a:ea typeface="+mj-ea"/>
            </a:endParaRPr>
          </a:p>
        </p:txBody>
      </p:sp>
      <p:sp>
        <p:nvSpPr>
          <p:cNvPr id="8" name="TextBox 6"/>
          <p:cNvSpPr txBox="1"/>
          <p:nvPr/>
        </p:nvSpPr>
        <p:spPr>
          <a:xfrm>
            <a:off x="1948804" y="3213953"/>
            <a:ext cx="649537" cy="369332"/>
          </a:xfrm>
          <a:prstGeom prst="rect">
            <a:avLst/>
          </a:prstGeom>
          <a:noFill/>
        </p:spPr>
        <p:txBody>
          <a:bodyPr wrap="none" rtlCol="0">
            <a:spAutoFit/>
          </a:bodyPr>
          <a:lstStyle/>
          <a:p>
            <a:r>
              <a:rPr lang="zh-CN" altLang="en-US" b="1" dirty="0">
                <a:solidFill>
                  <a:srgbClr val="CA0098"/>
                </a:solidFill>
                <a:latin typeface="+mj-ea"/>
                <a:ea typeface="+mj-ea"/>
              </a:rPr>
              <a:t>需求</a:t>
            </a:r>
            <a:endParaRPr lang="zh-CN" altLang="en-US" b="1" dirty="0">
              <a:solidFill>
                <a:srgbClr val="CA0098"/>
              </a:solidFill>
              <a:latin typeface="+mj-ea"/>
              <a:ea typeface="+mj-ea"/>
            </a:endParaRPr>
          </a:p>
        </p:txBody>
      </p:sp>
      <p:sp>
        <p:nvSpPr>
          <p:cNvPr id="9" name="TextBox 7"/>
          <p:cNvSpPr txBox="1"/>
          <p:nvPr/>
        </p:nvSpPr>
        <p:spPr>
          <a:xfrm>
            <a:off x="5649707" y="3583285"/>
            <a:ext cx="649537" cy="369332"/>
          </a:xfrm>
          <a:prstGeom prst="rect">
            <a:avLst/>
          </a:prstGeom>
          <a:noFill/>
        </p:spPr>
        <p:txBody>
          <a:bodyPr wrap="none" rtlCol="0">
            <a:spAutoFit/>
          </a:bodyPr>
          <a:lstStyle/>
          <a:p>
            <a:r>
              <a:rPr lang="zh-CN" altLang="en-US" b="1" dirty="0">
                <a:solidFill>
                  <a:srgbClr val="CA0098"/>
                </a:solidFill>
                <a:latin typeface="+mj-ea"/>
                <a:ea typeface="+mj-ea"/>
              </a:rPr>
              <a:t>设计</a:t>
            </a:r>
            <a:endParaRPr lang="zh-CN" altLang="en-US" b="1" dirty="0">
              <a:solidFill>
                <a:srgbClr val="CA0098"/>
              </a:solidFill>
              <a:latin typeface="+mj-ea"/>
              <a:ea typeface="+mj-ea"/>
            </a:endParaRPr>
          </a:p>
        </p:txBody>
      </p:sp>
      <p:sp>
        <p:nvSpPr>
          <p:cNvPr id="10" name="TextBox 8"/>
          <p:cNvSpPr txBox="1"/>
          <p:nvPr/>
        </p:nvSpPr>
        <p:spPr>
          <a:xfrm>
            <a:off x="4414222" y="4353248"/>
            <a:ext cx="649537" cy="369332"/>
          </a:xfrm>
          <a:prstGeom prst="rect">
            <a:avLst/>
          </a:prstGeom>
          <a:noFill/>
        </p:spPr>
        <p:txBody>
          <a:bodyPr wrap="none" rtlCol="0">
            <a:spAutoFit/>
          </a:bodyPr>
          <a:lstStyle/>
          <a:p>
            <a:r>
              <a:rPr lang="zh-CN" altLang="en-US" b="1" dirty="0">
                <a:solidFill>
                  <a:srgbClr val="CA0098"/>
                </a:solidFill>
                <a:latin typeface="+mj-ea"/>
                <a:ea typeface="+mj-ea"/>
              </a:rPr>
              <a:t>设计</a:t>
            </a:r>
            <a:endParaRPr lang="zh-CN" altLang="en-US" b="1" dirty="0">
              <a:solidFill>
                <a:srgbClr val="CA0098"/>
              </a:solidFill>
              <a:latin typeface="+mj-ea"/>
              <a:ea typeface="+mj-ea"/>
            </a:endParaRPr>
          </a:p>
        </p:txBody>
      </p:sp>
      <p:sp>
        <p:nvSpPr>
          <p:cNvPr id="3" name="标题 2"/>
          <p:cNvSpPr>
            <a:spLocks noGrp="1"/>
          </p:cNvSpPr>
          <p:nvPr>
            <p:ph type="title"/>
          </p:nvPr>
        </p:nvSpPr>
        <p:spPr/>
        <p:txBody>
          <a:bodyPr/>
          <a:lstStyle/>
          <a:p>
            <a:r>
              <a:rPr lang="zh-CN" altLang="en-US" kern="100" dirty="0" smtClean="0">
                <a:latin typeface="+mn-ea"/>
                <a:cs typeface="Times New Roman" panose="02020603050405020304" pitchFamily="18" charset="0"/>
              </a:rPr>
              <a:t>学以致用</a:t>
            </a:r>
            <a:endParaRPr lang="zh-CN" altLang="en-US" dirty="0"/>
          </a:p>
        </p:txBody>
      </p:sp>
      <p:sp>
        <p:nvSpPr>
          <p:cNvPr id="11" name="日期占位符 10"/>
          <p:cNvSpPr>
            <a:spLocks noGrp="1"/>
          </p:cNvSpPr>
          <p:nvPr>
            <p:ph type="dt" sz="half" idx="10"/>
          </p:nvPr>
        </p:nvSpPr>
        <p:spPr/>
        <p:txBody>
          <a:bodyPr/>
          <a:lstStyle/>
          <a:p>
            <a:fld id="{88295A57-ABB7-4F29-A763-0B97C75E5C1C}" type="datetime1">
              <a:rPr lang="zh-CN" altLang="en-US" smtClean="0"/>
            </a:fld>
            <a:endParaRPr lang="zh-CN" altLang="en-US"/>
          </a:p>
        </p:txBody>
      </p:sp>
      <p:sp>
        <p:nvSpPr>
          <p:cNvPr id="12" name="页脚占位符 11"/>
          <p:cNvSpPr>
            <a:spLocks noGrp="1"/>
          </p:cNvSpPr>
          <p:nvPr>
            <p:ph type="ftr" sz="quarter" idx="11"/>
          </p:nvPr>
        </p:nvSpPr>
        <p:spPr/>
        <p:txBody>
          <a:bodyPr/>
          <a:lstStyle/>
          <a:p>
            <a:r>
              <a:rPr lang="zh-CN" altLang="en-US" smtClean="0"/>
              <a:t>软件工程</a:t>
            </a:r>
            <a:endParaRPr lang="zh-CN" altLang="en-US"/>
          </a:p>
        </p:txBody>
      </p:sp>
      <p:sp>
        <p:nvSpPr>
          <p:cNvPr id="13" name="灯片编号占位符 12"/>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up)">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wipe(up)">
                                      <p:cBhvr>
                                        <p:cTn id="18" dur="500"/>
                                        <p:tgtEl>
                                          <p:spTgt spid="4">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1+#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wipe(up)">
                                      <p:cBhvr>
                                        <p:cTn id="29" dur="500"/>
                                        <p:tgtEl>
                                          <p:spTgt spid="4">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additive="base">
                                        <p:cTn id="34" dur="500" fill="hold"/>
                                        <p:tgtEl>
                                          <p:spTgt spid="7"/>
                                        </p:tgtEl>
                                        <p:attrNameLst>
                                          <p:attrName>ppt_x</p:attrName>
                                        </p:attrNameLst>
                                      </p:cBhvr>
                                      <p:tavLst>
                                        <p:tav tm="0">
                                          <p:val>
                                            <p:strVal val="1+#ppt_w/2"/>
                                          </p:val>
                                        </p:tav>
                                        <p:tav tm="100000">
                                          <p:val>
                                            <p:strVal val="#ppt_x"/>
                                          </p:val>
                                        </p:tav>
                                      </p:tavLst>
                                    </p:anim>
                                    <p:anim calcmode="lin" valueType="num">
                                      <p:cBhvr additive="base">
                                        <p:cTn id="35"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4">
                                            <p:txEl>
                                              <p:pRg st="4" end="4"/>
                                            </p:txEl>
                                          </p:spTgt>
                                        </p:tgtEl>
                                        <p:attrNameLst>
                                          <p:attrName>style.visibility</p:attrName>
                                        </p:attrNameLst>
                                      </p:cBhvr>
                                      <p:to>
                                        <p:strVal val="visible"/>
                                      </p:to>
                                    </p:set>
                                    <p:animEffect transition="in" filter="wipe(up)">
                                      <p:cBhvr>
                                        <p:cTn id="40" dur="500"/>
                                        <p:tgtEl>
                                          <p:spTgt spid="4">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 calcmode="lin" valueType="num">
                                      <p:cBhvr additive="base">
                                        <p:cTn id="45" dur="500" fill="hold"/>
                                        <p:tgtEl>
                                          <p:spTgt spid="8"/>
                                        </p:tgtEl>
                                        <p:attrNameLst>
                                          <p:attrName>ppt_x</p:attrName>
                                        </p:attrNameLst>
                                      </p:cBhvr>
                                      <p:tavLst>
                                        <p:tav tm="0">
                                          <p:val>
                                            <p:strVal val="1+#ppt_w/2"/>
                                          </p:val>
                                        </p:tav>
                                        <p:tav tm="100000">
                                          <p:val>
                                            <p:strVal val="#ppt_x"/>
                                          </p:val>
                                        </p:tav>
                                      </p:tavLst>
                                    </p:anim>
                                    <p:anim calcmode="lin" valueType="num">
                                      <p:cBhvr additive="base">
                                        <p:cTn id="46"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4">
                                            <p:txEl>
                                              <p:pRg st="5" end="5"/>
                                            </p:txEl>
                                          </p:spTgt>
                                        </p:tgtEl>
                                        <p:attrNameLst>
                                          <p:attrName>style.visibility</p:attrName>
                                        </p:attrNameLst>
                                      </p:cBhvr>
                                      <p:to>
                                        <p:strVal val="visible"/>
                                      </p:to>
                                    </p:set>
                                    <p:animEffect transition="in" filter="wipe(up)">
                                      <p:cBhvr>
                                        <p:cTn id="51" dur="500"/>
                                        <p:tgtEl>
                                          <p:spTgt spid="4">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2" fill="hold" grpId="0" nodeType="clickEffect">
                                  <p:stCondLst>
                                    <p:cond delay="0"/>
                                  </p:stCondLst>
                                  <p:childTnLst>
                                    <p:set>
                                      <p:cBhvr>
                                        <p:cTn id="55" dur="1" fill="hold">
                                          <p:stCondLst>
                                            <p:cond delay="0"/>
                                          </p:stCondLst>
                                        </p:cTn>
                                        <p:tgtEl>
                                          <p:spTgt spid="9"/>
                                        </p:tgtEl>
                                        <p:attrNameLst>
                                          <p:attrName>style.visibility</p:attrName>
                                        </p:attrNameLst>
                                      </p:cBhvr>
                                      <p:to>
                                        <p:strVal val="visible"/>
                                      </p:to>
                                    </p:set>
                                    <p:anim calcmode="lin" valueType="num">
                                      <p:cBhvr additive="base">
                                        <p:cTn id="56" dur="500" fill="hold"/>
                                        <p:tgtEl>
                                          <p:spTgt spid="9"/>
                                        </p:tgtEl>
                                        <p:attrNameLst>
                                          <p:attrName>ppt_x</p:attrName>
                                        </p:attrNameLst>
                                      </p:cBhvr>
                                      <p:tavLst>
                                        <p:tav tm="0">
                                          <p:val>
                                            <p:strVal val="1+#ppt_w/2"/>
                                          </p:val>
                                        </p:tav>
                                        <p:tav tm="100000">
                                          <p:val>
                                            <p:strVal val="#ppt_x"/>
                                          </p:val>
                                        </p:tav>
                                      </p:tavLst>
                                    </p:anim>
                                    <p:anim calcmode="lin" valueType="num">
                                      <p:cBhvr additive="base">
                                        <p:cTn id="57"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4">
                                            <p:txEl>
                                              <p:pRg st="6" end="6"/>
                                            </p:txEl>
                                          </p:spTgt>
                                        </p:tgtEl>
                                        <p:attrNameLst>
                                          <p:attrName>style.visibility</p:attrName>
                                        </p:attrNameLst>
                                      </p:cBhvr>
                                      <p:to>
                                        <p:strVal val="visible"/>
                                      </p:to>
                                    </p:set>
                                    <p:animEffect transition="in" filter="wipe(up)">
                                      <p:cBhvr>
                                        <p:cTn id="62" dur="500"/>
                                        <p:tgtEl>
                                          <p:spTgt spid="4">
                                            <p:txEl>
                                              <p:pRg st="6" end="6"/>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10"/>
                                        </p:tgtEl>
                                        <p:attrNameLst>
                                          <p:attrName>style.visibility</p:attrName>
                                        </p:attrNameLst>
                                      </p:cBhvr>
                                      <p:to>
                                        <p:strVal val="visible"/>
                                      </p:to>
                                    </p:set>
                                    <p:anim calcmode="lin" valueType="num">
                                      <p:cBhvr additive="base">
                                        <p:cTn id="67" dur="500" fill="hold"/>
                                        <p:tgtEl>
                                          <p:spTgt spid="10"/>
                                        </p:tgtEl>
                                        <p:attrNameLst>
                                          <p:attrName>ppt_x</p:attrName>
                                        </p:attrNameLst>
                                      </p:cBhvr>
                                      <p:tavLst>
                                        <p:tav tm="0">
                                          <p:val>
                                            <p:strVal val="1+#ppt_w/2"/>
                                          </p:val>
                                        </p:tav>
                                        <p:tav tm="100000">
                                          <p:val>
                                            <p:strVal val="#ppt_x"/>
                                          </p:val>
                                        </p:tav>
                                      </p:tavLst>
                                    </p:anim>
                                    <p:anim calcmode="lin" valueType="num">
                                      <p:cBhvr additive="base">
                                        <p:cTn id="6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702946" y="838100"/>
            <a:ext cx="7958226" cy="40147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900"/>
              </a:spcBef>
            </a:pPr>
            <a:r>
              <a:rPr lang="zh-CN" altLang="en-US" sz="2400" dirty="0">
                <a:solidFill>
                  <a:schemeClr val="tx2"/>
                </a:solidFill>
                <a:latin typeface="+mj-ea"/>
                <a:ea typeface="+mj-ea"/>
              </a:rPr>
              <a:t>软件生命周期中的哪个阶段可以实现以下任务？</a:t>
            </a:r>
            <a:endParaRPr lang="en-US" altLang="zh-CN" sz="2400" dirty="0">
              <a:solidFill>
                <a:schemeClr val="tx2"/>
              </a:solidFill>
              <a:latin typeface="+mj-ea"/>
              <a:ea typeface="+mj-ea"/>
            </a:endParaRPr>
          </a:p>
          <a:p>
            <a:pPr algn="just">
              <a:lnSpc>
                <a:spcPct val="100000"/>
              </a:lnSpc>
              <a:spcBef>
                <a:spcPts val="900"/>
              </a:spcBef>
              <a:buClr>
                <a:schemeClr val="accent6"/>
              </a:buClr>
              <a:buFont typeface="宋体" panose="02010600030101010101" pitchFamily="2" charset="-122"/>
              <a:buChar char="→"/>
            </a:pPr>
            <a:r>
              <a:rPr lang="zh-CN" altLang="en-US" sz="2000" dirty="0">
                <a:solidFill>
                  <a:schemeClr val="tx2"/>
                </a:solidFill>
                <a:latin typeface="+mj-ea"/>
                <a:ea typeface="+mj-ea"/>
              </a:rPr>
              <a:t>分析员正在测试一个计算机程序的最新版本，这个程序将根据使用该材料生产产品的计划更快地确定缺货的材料。</a:t>
            </a:r>
            <a:endParaRPr lang="en-US" altLang="zh-CN" sz="2000" dirty="0">
              <a:solidFill>
                <a:schemeClr val="tx2"/>
              </a:solidFill>
              <a:latin typeface="+mj-ea"/>
              <a:ea typeface="+mj-ea"/>
            </a:endParaRPr>
          </a:p>
          <a:p>
            <a:pPr algn="just">
              <a:lnSpc>
                <a:spcPct val="100000"/>
              </a:lnSpc>
              <a:spcBef>
                <a:spcPts val="900"/>
              </a:spcBef>
              <a:buClr>
                <a:schemeClr val="accent6"/>
              </a:buClr>
              <a:buFont typeface="宋体" panose="02010600030101010101" pitchFamily="2" charset="-122"/>
              <a:buChar char="→"/>
            </a:pPr>
            <a:r>
              <a:rPr lang="zh-CN" altLang="en-US" sz="2000" dirty="0">
                <a:solidFill>
                  <a:schemeClr val="tx2"/>
                </a:solidFill>
                <a:latin typeface="+mj-ea"/>
                <a:ea typeface="+mj-ea"/>
              </a:rPr>
              <a:t>分析员正在安装运行零用现金管理系统所需的微机和数据库管理系统。</a:t>
            </a:r>
            <a:endParaRPr lang="en-US" altLang="zh-CN" sz="2000" dirty="0">
              <a:solidFill>
                <a:schemeClr val="tx2"/>
              </a:solidFill>
              <a:latin typeface="+mj-ea"/>
              <a:ea typeface="+mj-ea"/>
            </a:endParaRPr>
          </a:p>
          <a:p>
            <a:pPr algn="just">
              <a:lnSpc>
                <a:spcPct val="100000"/>
              </a:lnSpc>
              <a:spcBef>
                <a:spcPts val="900"/>
              </a:spcBef>
              <a:buClr>
                <a:schemeClr val="accent6"/>
              </a:buClr>
              <a:buFont typeface="宋体" panose="02010600030101010101" pitchFamily="2" charset="-122"/>
              <a:buChar char="→"/>
            </a:pPr>
            <a:r>
              <a:rPr lang="zh-CN" altLang="en-US" sz="2000" dirty="0">
                <a:solidFill>
                  <a:schemeClr val="tx2"/>
                </a:solidFill>
                <a:latin typeface="+mj-ea"/>
                <a:ea typeface="+mj-ea"/>
              </a:rPr>
              <a:t>分析员教工厂经理如何使用微机生成一份新的预定义报告。</a:t>
            </a:r>
            <a:endParaRPr lang="en-US" altLang="zh-CN" sz="2000" dirty="0">
              <a:solidFill>
                <a:schemeClr val="tx2"/>
              </a:solidFill>
              <a:latin typeface="+mj-ea"/>
              <a:ea typeface="+mj-ea"/>
            </a:endParaRPr>
          </a:p>
          <a:p>
            <a:pPr algn="just">
              <a:lnSpc>
                <a:spcPct val="100000"/>
              </a:lnSpc>
              <a:spcBef>
                <a:spcPts val="900"/>
              </a:spcBef>
              <a:buClr>
                <a:schemeClr val="accent6"/>
              </a:buClr>
              <a:buFont typeface="宋体" panose="02010600030101010101" pitchFamily="2" charset="-122"/>
              <a:buChar char="→"/>
            </a:pPr>
            <a:r>
              <a:rPr lang="zh-CN" altLang="en-US" sz="2000" dirty="0">
                <a:solidFill>
                  <a:schemeClr val="tx2"/>
                </a:solidFill>
                <a:latin typeface="+mj-ea"/>
                <a:ea typeface="+mj-ea"/>
              </a:rPr>
              <a:t>工厂主管描述一份新的采购报告的内容，这份采购报告将简化购买订单的跟踪过程。</a:t>
            </a:r>
            <a:endParaRPr lang="en-US" altLang="zh-CN" sz="2000" dirty="0">
              <a:solidFill>
                <a:schemeClr val="tx2"/>
              </a:solidFill>
              <a:latin typeface="+mj-ea"/>
              <a:ea typeface="+mj-ea"/>
            </a:endParaRPr>
          </a:p>
          <a:p>
            <a:pPr algn="just">
              <a:lnSpc>
                <a:spcPct val="100000"/>
              </a:lnSpc>
              <a:spcBef>
                <a:spcPts val="900"/>
              </a:spcBef>
              <a:buClr>
                <a:schemeClr val="accent6"/>
              </a:buClr>
              <a:buFont typeface="宋体" panose="02010600030101010101" pitchFamily="2" charset="-122"/>
              <a:buChar char="→"/>
            </a:pPr>
            <a:r>
              <a:rPr lang="zh-CN" altLang="en-US" sz="2000" dirty="0">
                <a:solidFill>
                  <a:schemeClr val="tx2"/>
                </a:solidFill>
                <a:latin typeface="+mj-ea"/>
                <a:ea typeface="+mj-ea"/>
              </a:rPr>
              <a:t>索赔调解员向一位分析员描述由于索赔处理系统的延误失去客户业务的后果。</a:t>
            </a:r>
            <a:endParaRPr lang="zh-CN" altLang="en-US" sz="2000" dirty="0">
              <a:solidFill>
                <a:schemeClr val="tx2"/>
              </a:solidFill>
              <a:latin typeface="+mj-ea"/>
              <a:ea typeface="+mj-ea"/>
            </a:endParaRPr>
          </a:p>
        </p:txBody>
      </p:sp>
      <p:sp>
        <p:nvSpPr>
          <p:cNvPr id="16" name="TextBox 3"/>
          <p:cNvSpPr txBox="1"/>
          <p:nvPr/>
        </p:nvSpPr>
        <p:spPr>
          <a:xfrm>
            <a:off x="1670069" y="2373483"/>
            <a:ext cx="1114408" cy="369332"/>
          </a:xfrm>
          <a:prstGeom prst="rect">
            <a:avLst/>
          </a:prstGeom>
          <a:noFill/>
        </p:spPr>
        <p:txBody>
          <a:bodyPr wrap="none" rtlCol="0">
            <a:spAutoFit/>
          </a:bodyPr>
          <a:lstStyle/>
          <a:p>
            <a:r>
              <a:rPr lang="zh-CN" altLang="en-US" b="1" dirty="0">
                <a:solidFill>
                  <a:srgbClr val="CA0098"/>
                </a:solidFill>
                <a:latin typeface="+mj-ea"/>
                <a:ea typeface="+mj-ea"/>
              </a:rPr>
              <a:t>实施运行</a:t>
            </a:r>
            <a:endParaRPr lang="zh-CN" altLang="en-US" b="1" dirty="0">
              <a:solidFill>
                <a:srgbClr val="CA0098"/>
              </a:solidFill>
              <a:latin typeface="+mj-ea"/>
              <a:ea typeface="+mj-ea"/>
            </a:endParaRPr>
          </a:p>
        </p:txBody>
      </p:sp>
      <p:sp>
        <p:nvSpPr>
          <p:cNvPr id="17" name="TextBox 4"/>
          <p:cNvSpPr txBox="1"/>
          <p:nvPr/>
        </p:nvSpPr>
        <p:spPr>
          <a:xfrm>
            <a:off x="7706677" y="2742815"/>
            <a:ext cx="649537" cy="369332"/>
          </a:xfrm>
          <a:prstGeom prst="rect">
            <a:avLst/>
          </a:prstGeom>
          <a:noFill/>
        </p:spPr>
        <p:txBody>
          <a:bodyPr wrap="none" rtlCol="0">
            <a:spAutoFit/>
          </a:bodyPr>
          <a:lstStyle/>
          <a:p>
            <a:r>
              <a:rPr lang="zh-CN" altLang="en-US" b="1" dirty="0">
                <a:solidFill>
                  <a:srgbClr val="CA0098"/>
                </a:solidFill>
                <a:latin typeface="+mj-ea"/>
                <a:ea typeface="+mj-ea"/>
              </a:rPr>
              <a:t>实施</a:t>
            </a:r>
            <a:endParaRPr lang="zh-CN" altLang="en-US" b="1" dirty="0">
              <a:solidFill>
                <a:srgbClr val="CA0098"/>
              </a:solidFill>
              <a:latin typeface="+mj-ea"/>
              <a:ea typeface="+mj-ea"/>
            </a:endParaRPr>
          </a:p>
        </p:txBody>
      </p:sp>
      <p:sp>
        <p:nvSpPr>
          <p:cNvPr id="18" name="TextBox 5"/>
          <p:cNvSpPr txBox="1"/>
          <p:nvPr/>
        </p:nvSpPr>
        <p:spPr>
          <a:xfrm>
            <a:off x="6577801" y="1642466"/>
            <a:ext cx="649537" cy="369332"/>
          </a:xfrm>
          <a:prstGeom prst="rect">
            <a:avLst/>
          </a:prstGeom>
          <a:noFill/>
        </p:spPr>
        <p:txBody>
          <a:bodyPr wrap="none" rtlCol="0">
            <a:spAutoFit/>
          </a:bodyPr>
          <a:lstStyle/>
          <a:p>
            <a:r>
              <a:rPr lang="zh-CN" altLang="en-US" b="1" dirty="0">
                <a:solidFill>
                  <a:srgbClr val="CA0098"/>
                </a:solidFill>
                <a:latin typeface="+mj-ea"/>
                <a:ea typeface="+mj-ea"/>
              </a:rPr>
              <a:t>测试</a:t>
            </a:r>
            <a:endParaRPr lang="zh-CN" altLang="en-US" b="1" dirty="0">
              <a:solidFill>
                <a:srgbClr val="CA0098"/>
              </a:solidFill>
              <a:latin typeface="+mj-ea"/>
              <a:ea typeface="+mj-ea"/>
            </a:endParaRPr>
          </a:p>
        </p:txBody>
      </p:sp>
      <p:sp>
        <p:nvSpPr>
          <p:cNvPr id="19" name="TextBox 6"/>
          <p:cNvSpPr txBox="1"/>
          <p:nvPr/>
        </p:nvSpPr>
        <p:spPr>
          <a:xfrm>
            <a:off x="3109245" y="3510506"/>
            <a:ext cx="649537" cy="369332"/>
          </a:xfrm>
          <a:prstGeom prst="rect">
            <a:avLst/>
          </a:prstGeom>
          <a:noFill/>
        </p:spPr>
        <p:txBody>
          <a:bodyPr wrap="none" rtlCol="0">
            <a:spAutoFit/>
          </a:bodyPr>
          <a:lstStyle/>
          <a:p>
            <a:r>
              <a:rPr lang="zh-CN" altLang="en-US" b="1" dirty="0">
                <a:solidFill>
                  <a:srgbClr val="CA0098"/>
                </a:solidFill>
                <a:latin typeface="+mj-ea"/>
                <a:ea typeface="+mj-ea"/>
              </a:rPr>
              <a:t>维护</a:t>
            </a:r>
            <a:endParaRPr lang="zh-CN" altLang="en-US" b="1" dirty="0">
              <a:solidFill>
                <a:srgbClr val="CA0098"/>
              </a:solidFill>
              <a:latin typeface="+mj-ea"/>
              <a:ea typeface="+mj-ea"/>
            </a:endParaRPr>
          </a:p>
        </p:txBody>
      </p:sp>
      <p:sp>
        <p:nvSpPr>
          <p:cNvPr id="20" name="TextBox 7"/>
          <p:cNvSpPr txBox="1"/>
          <p:nvPr/>
        </p:nvSpPr>
        <p:spPr>
          <a:xfrm>
            <a:off x="2590167" y="4278198"/>
            <a:ext cx="649537" cy="369332"/>
          </a:xfrm>
          <a:prstGeom prst="rect">
            <a:avLst/>
          </a:prstGeom>
          <a:noFill/>
        </p:spPr>
        <p:txBody>
          <a:bodyPr wrap="none" rtlCol="0">
            <a:spAutoFit/>
          </a:bodyPr>
          <a:lstStyle/>
          <a:p>
            <a:r>
              <a:rPr lang="zh-CN" altLang="en-US" b="1" dirty="0">
                <a:solidFill>
                  <a:srgbClr val="CA0098"/>
                </a:solidFill>
                <a:latin typeface="+mj-ea"/>
                <a:ea typeface="+mj-ea"/>
              </a:rPr>
              <a:t>维护</a:t>
            </a:r>
            <a:endParaRPr lang="zh-CN" altLang="en-US" b="1" dirty="0">
              <a:solidFill>
                <a:srgbClr val="CA0098"/>
              </a:solidFill>
              <a:latin typeface="+mj-ea"/>
              <a:ea typeface="+mj-ea"/>
            </a:endParaRPr>
          </a:p>
        </p:txBody>
      </p:sp>
      <p:sp>
        <p:nvSpPr>
          <p:cNvPr id="3" name="标题 2"/>
          <p:cNvSpPr>
            <a:spLocks noGrp="1"/>
          </p:cNvSpPr>
          <p:nvPr>
            <p:ph type="title"/>
          </p:nvPr>
        </p:nvSpPr>
        <p:spPr/>
        <p:txBody>
          <a:bodyPr/>
          <a:lstStyle/>
          <a:p>
            <a:r>
              <a:rPr lang="zh-CN" altLang="en-US" dirty="0" smtClean="0"/>
              <a:t>学以致用</a:t>
            </a:r>
            <a:endParaRPr lang="zh-CN" altLang="en-US" dirty="0"/>
          </a:p>
        </p:txBody>
      </p:sp>
      <p:sp>
        <p:nvSpPr>
          <p:cNvPr id="5" name="日期占位符 4"/>
          <p:cNvSpPr>
            <a:spLocks noGrp="1"/>
          </p:cNvSpPr>
          <p:nvPr>
            <p:ph type="dt" sz="half" idx="10"/>
          </p:nvPr>
        </p:nvSpPr>
        <p:spPr/>
        <p:txBody>
          <a:bodyPr/>
          <a:lstStyle/>
          <a:p>
            <a:fld id="{F887E8B3-59E5-492A-B05F-21AB769E25C0}"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1+#ppt_w/2"/>
                                          </p:val>
                                        </p:tav>
                                        <p:tav tm="100000">
                                          <p:val>
                                            <p:strVal val="#ppt_x"/>
                                          </p:val>
                                        </p:tav>
                                      </p:tavLst>
                                    </p:anim>
                                    <p:anim calcmode="lin" valueType="num">
                                      <p:cBhvr additive="base">
                                        <p:cTn id="1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1+#ppt_w/2"/>
                                          </p:val>
                                        </p:tav>
                                        <p:tav tm="100000">
                                          <p:val>
                                            <p:strVal val="#ppt_x"/>
                                          </p:val>
                                        </p:tav>
                                      </p:tavLst>
                                    </p:anim>
                                    <p:anim calcmode="lin" valueType="num">
                                      <p:cBhvr additive="base">
                                        <p:cTn id="20"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1+#ppt_w/2"/>
                                          </p:val>
                                        </p:tav>
                                        <p:tav tm="100000">
                                          <p:val>
                                            <p:strVal val="#ppt_x"/>
                                          </p:val>
                                        </p:tav>
                                      </p:tavLst>
                                    </p:anim>
                                    <p:anim calcmode="lin" valueType="num">
                                      <p:cBhvr additive="base">
                                        <p:cTn id="26"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1+#ppt_w/2"/>
                                          </p:val>
                                        </p:tav>
                                        <p:tav tm="100000">
                                          <p:val>
                                            <p:strVal val="#ppt_x"/>
                                          </p:val>
                                        </p:tav>
                                      </p:tavLst>
                                    </p:anim>
                                    <p:anim calcmode="lin" valueType="num">
                                      <p:cBhvr additive="base">
                                        <p:cTn id="32"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8A2B27C-F02F-4178-AC86-451B738E3ADA}"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233B410F-ED3A-420F-9009-9AC68EA66982}" type="slidenum">
              <a:rPr lang="zh-CN" altLang="en-US" smtClean="0"/>
            </a:fld>
            <a:endParaRPr lang="zh-CN" altLang="en-US"/>
          </a:p>
        </p:txBody>
      </p:sp>
      <p:sp>
        <p:nvSpPr>
          <p:cNvPr id="5" name="椭圆 4"/>
          <p:cNvSpPr/>
          <p:nvPr>
            <p:custDataLst>
              <p:tags r:id="rId1"/>
            </p:custDataLst>
          </p:nvPr>
        </p:nvSpPr>
        <p:spPr>
          <a:xfrm>
            <a:off x="4146059" y="1138903"/>
            <a:ext cx="167616" cy="167616"/>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6" name="文本框 25"/>
          <p:cNvSpPr txBox="1">
            <a:spLocks noChangeArrowheads="1"/>
          </p:cNvSpPr>
          <p:nvPr>
            <p:custDataLst>
              <p:tags r:id="rId2"/>
            </p:custDataLst>
          </p:nvPr>
        </p:nvSpPr>
        <p:spPr bwMode="auto">
          <a:xfrm>
            <a:off x="3479198" y="1068842"/>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2"/>
                </a:solidFill>
                <a:latin typeface="Arial" panose="020B0604020202020204" pitchFamily="34" charset="0"/>
                <a:cs typeface="Arial" panose="020B0604020202020204" pitchFamily="34" charset="0"/>
                <a:sym typeface="Arial" panose="020B0604020202020204" pitchFamily="34" charset="0"/>
              </a:rPr>
              <a:t>01</a:t>
            </a:r>
            <a:endParaRPr lang="zh-CN" altLang="en-US" sz="2400" dirty="0">
              <a:solidFill>
                <a:schemeClr val="accent2"/>
              </a:solidFill>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p:custDataLst>
              <p:tags r:id="rId3"/>
            </p:custDataLst>
          </p:nvPr>
        </p:nvSpPr>
        <p:spPr>
          <a:xfrm>
            <a:off x="4437807" y="1068842"/>
            <a:ext cx="3083937" cy="369332"/>
          </a:xfrm>
          <a:prstGeom prst="rect">
            <a:avLst/>
          </a:prstGeom>
          <a:noFill/>
        </p:spPr>
        <p:txBody>
          <a:bodyPr wrap="square" lIns="0" tIns="0" rIns="0" bIns="0">
            <a:spAutoFit/>
          </a:bodyPr>
          <a:lstStyle/>
          <a:p>
            <a:pPr>
              <a:defRPr/>
            </a:pPr>
            <a:r>
              <a:rPr lang="zh-CN" altLang="en-US" sz="2400" dirty="0">
                <a:solidFill>
                  <a:schemeClr val="accent2"/>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软件的概念及本质特性</a:t>
            </a:r>
            <a:endParaRPr lang="zh-CN" altLang="en-US" sz="2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椭圆 7"/>
          <p:cNvSpPr/>
          <p:nvPr>
            <p:custDataLst>
              <p:tags r:id="rId4"/>
            </p:custDataLst>
          </p:nvPr>
        </p:nvSpPr>
        <p:spPr>
          <a:xfrm>
            <a:off x="4146059" y="1622636"/>
            <a:ext cx="167616" cy="167616"/>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9" name="文本框 28"/>
          <p:cNvSpPr txBox="1">
            <a:spLocks noChangeArrowheads="1"/>
          </p:cNvSpPr>
          <p:nvPr>
            <p:custDataLst>
              <p:tags r:id="rId5"/>
            </p:custDataLst>
          </p:nvPr>
        </p:nvSpPr>
        <p:spPr bwMode="auto">
          <a:xfrm>
            <a:off x="3479198" y="1552575"/>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1"/>
                </a:solidFill>
                <a:latin typeface="Arial" panose="020B0604020202020204" pitchFamily="34" charset="0"/>
                <a:cs typeface="Arial" panose="020B0604020202020204" pitchFamily="34" charset="0"/>
                <a:sym typeface="Arial" panose="020B0604020202020204" pitchFamily="34" charset="0"/>
              </a:rPr>
              <a:t>02</a:t>
            </a:r>
            <a:endParaRPr lang="zh-CN" altLang="en-US" sz="2400" dirty="0">
              <a:solidFill>
                <a:schemeClr val="accent1"/>
              </a:solidFill>
              <a:latin typeface="Arial" panose="020B0604020202020204" pitchFamily="34" charset="0"/>
              <a:cs typeface="Arial" panose="020B0604020202020204" pitchFamily="34" charset="0"/>
              <a:sym typeface="Arial" panose="020B0604020202020204" pitchFamily="34" charset="0"/>
            </a:endParaRPr>
          </a:p>
        </p:txBody>
      </p:sp>
      <p:sp>
        <p:nvSpPr>
          <p:cNvPr id="10" name="文本框 9"/>
          <p:cNvSpPr txBox="1"/>
          <p:nvPr>
            <p:custDataLst>
              <p:tags r:id="rId6"/>
            </p:custDataLst>
          </p:nvPr>
        </p:nvSpPr>
        <p:spPr>
          <a:xfrm>
            <a:off x="4437807" y="1552575"/>
            <a:ext cx="3083937" cy="369332"/>
          </a:xfrm>
          <a:prstGeom prst="rect">
            <a:avLst/>
          </a:prstGeom>
          <a:noFill/>
        </p:spPr>
        <p:txBody>
          <a:bodyPr wrap="square" lIns="0" tIns="0" rIns="0" bIns="0">
            <a:spAutoFit/>
          </a:bodyPr>
          <a:lstStyle/>
          <a:p>
            <a:pPr>
              <a:defRPr/>
            </a:pPr>
            <a:r>
              <a:rPr lang="zh-CN" altLang="en-US" sz="2400" dirty="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软件的发展历程</a:t>
            </a:r>
            <a:endPar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椭圆 10"/>
          <p:cNvSpPr/>
          <p:nvPr>
            <p:custDataLst>
              <p:tags r:id="rId7"/>
            </p:custDataLst>
          </p:nvPr>
        </p:nvSpPr>
        <p:spPr>
          <a:xfrm>
            <a:off x="4146059" y="2106369"/>
            <a:ext cx="167616" cy="167616"/>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2" name="文本框 30"/>
          <p:cNvSpPr txBox="1">
            <a:spLocks noChangeArrowheads="1"/>
          </p:cNvSpPr>
          <p:nvPr>
            <p:custDataLst>
              <p:tags r:id="rId8"/>
            </p:custDataLst>
          </p:nvPr>
        </p:nvSpPr>
        <p:spPr bwMode="auto">
          <a:xfrm>
            <a:off x="3479198" y="2036308"/>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2"/>
                </a:solidFill>
                <a:latin typeface="Arial" panose="020B0604020202020204" pitchFamily="34" charset="0"/>
                <a:cs typeface="Arial" panose="020B0604020202020204" pitchFamily="34" charset="0"/>
                <a:sym typeface="Arial" panose="020B0604020202020204" pitchFamily="34" charset="0"/>
              </a:rPr>
              <a:t>03</a:t>
            </a:r>
            <a:endParaRPr lang="zh-CN" altLang="en-US" sz="2400" dirty="0">
              <a:solidFill>
                <a:schemeClr val="accent2"/>
              </a:solidFill>
              <a:latin typeface="Arial" panose="020B0604020202020204" pitchFamily="34" charset="0"/>
              <a:cs typeface="Arial" panose="020B0604020202020204" pitchFamily="34" charset="0"/>
              <a:sym typeface="Arial" panose="020B0604020202020204" pitchFamily="34" charset="0"/>
            </a:endParaRPr>
          </a:p>
        </p:txBody>
      </p:sp>
      <p:sp>
        <p:nvSpPr>
          <p:cNvPr id="13" name="文本框 12"/>
          <p:cNvSpPr txBox="1"/>
          <p:nvPr>
            <p:custDataLst>
              <p:tags r:id="rId9"/>
            </p:custDataLst>
          </p:nvPr>
        </p:nvSpPr>
        <p:spPr>
          <a:xfrm>
            <a:off x="4437807" y="2036308"/>
            <a:ext cx="3083937" cy="369332"/>
          </a:xfrm>
          <a:prstGeom prst="rect">
            <a:avLst/>
          </a:prstGeom>
          <a:noFill/>
        </p:spPr>
        <p:txBody>
          <a:bodyPr wrap="square" lIns="0" tIns="0" rIns="0" bIns="0">
            <a:spAutoFit/>
          </a:bodyPr>
          <a:lstStyle/>
          <a:p>
            <a:pPr>
              <a:defRPr/>
            </a:pPr>
            <a:r>
              <a:rPr lang="zh-CN" altLang="en-US" sz="2400" dirty="0">
                <a:solidFill>
                  <a:schemeClr val="accent2"/>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软件危机的概念</a:t>
            </a:r>
            <a:endParaRPr lang="zh-CN" altLang="en-US" sz="2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椭圆 13"/>
          <p:cNvSpPr/>
          <p:nvPr>
            <p:custDataLst>
              <p:tags r:id="rId10"/>
            </p:custDataLst>
          </p:nvPr>
        </p:nvSpPr>
        <p:spPr>
          <a:xfrm>
            <a:off x="4146059" y="2590102"/>
            <a:ext cx="167616" cy="167616"/>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5" name="文本框 32"/>
          <p:cNvSpPr txBox="1">
            <a:spLocks noChangeArrowheads="1"/>
          </p:cNvSpPr>
          <p:nvPr>
            <p:custDataLst>
              <p:tags r:id="rId11"/>
            </p:custDataLst>
          </p:nvPr>
        </p:nvSpPr>
        <p:spPr bwMode="auto">
          <a:xfrm>
            <a:off x="3479198" y="2520041"/>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1"/>
                </a:solidFill>
                <a:latin typeface="Arial" panose="020B0604020202020204" pitchFamily="34" charset="0"/>
                <a:cs typeface="Arial" panose="020B0604020202020204" pitchFamily="34" charset="0"/>
                <a:sym typeface="Arial" panose="020B0604020202020204" pitchFamily="34" charset="0"/>
              </a:rPr>
              <a:t>04</a:t>
            </a:r>
            <a:endParaRPr lang="zh-CN" altLang="en-US" sz="2400" dirty="0">
              <a:solidFill>
                <a:schemeClr val="accent1"/>
              </a:solidFill>
              <a:latin typeface="Arial" panose="020B0604020202020204" pitchFamily="34" charset="0"/>
              <a:cs typeface="Arial" panose="020B0604020202020204" pitchFamily="34" charset="0"/>
              <a:sym typeface="Arial" panose="020B0604020202020204" pitchFamily="34" charset="0"/>
            </a:endParaRPr>
          </a:p>
        </p:txBody>
      </p:sp>
      <p:sp>
        <p:nvSpPr>
          <p:cNvPr id="16" name="文本框 15"/>
          <p:cNvSpPr txBox="1"/>
          <p:nvPr>
            <p:custDataLst>
              <p:tags r:id="rId12"/>
            </p:custDataLst>
          </p:nvPr>
        </p:nvSpPr>
        <p:spPr>
          <a:xfrm>
            <a:off x="4437807" y="2520041"/>
            <a:ext cx="3663271" cy="369332"/>
          </a:xfrm>
          <a:prstGeom prst="rect">
            <a:avLst/>
          </a:prstGeom>
          <a:noFill/>
        </p:spPr>
        <p:txBody>
          <a:bodyPr wrap="square" lIns="0" tIns="0" rIns="0" bIns="0">
            <a:spAutoFit/>
          </a:bodyPr>
          <a:lstStyle/>
          <a:p>
            <a:pPr>
              <a:defRPr/>
            </a:pPr>
            <a:r>
              <a:rPr lang="zh-CN" altLang="en-US" sz="2400" dirty="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软件工程的概念和三要素</a:t>
            </a:r>
            <a:endPar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Title 1"/>
          <p:cNvSpPr txBox="1"/>
          <p:nvPr/>
        </p:nvSpPr>
        <p:spPr>
          <a:xfrm>
            <a:off x="1143000" y="83636"/>
            <a:ext cx="7552030" cy="656340"/>
          </a:xfrm>
          <a:prstGeom prst="rect">
            <a:avLst/>
          </a:prstGeom>
        </p:spPr>
        <p:txBody>
          <a:bodyPr vert="horz" lIns="91440" tIns="45720" rIns="91440" bIns="45720" rtlCol="0" anchor="ctr">
            <a:normAutofit/>
          </a:bodyPr>
          <a:lstStyle>
            <a:lvl1pPr algn="r" defTabSz="685800" rtl="0" eaLnBrk="1" latinLnBrk="0" hangingPunct="1">
              <a:lnSpc>
                <a:spcPct val="80000"/>
              </a:lnSpc>
              <a:spcBef>
                <a:spcPct val="0"/>
              </a:spcBef>
              <a:buNone/>
              <a:defRPr sz="3750" b="1" kern="1200" cap="all" spc="150" baseline="0">
                <a:solidFill>
                  <a:schemeClr val="bg1"/>
                </a:solidFill>
                <a:latin typeface="+mj-lt"/>
                <a:ea typeface="+mj-ea"/>
                <a:cs typeface="+mj-cs"/>
              </a:defRPr>
            </a:lvl1pPr>
          </a:lstStyle>
          <a:p>
            <a:pPr algn="l"/>
            <a:r>
              <a:rPr lang="zh-CN" altLang="en-US" sz="2800" dirty="0"/>
              <a:t>第</a:t>
            </a:r>
            <a:r>
              <a:rPr lang="en-US" altLang="zh-CN" sz="2800" dirty="0"/>
              <a:t>1</a:t>
            </a:r>
            <a:r>
              <a:rPr lang="zh-CN" altLang="en-US" sz="2800" dirty="0"/>
              <a:t>章 软件工程概述</a:t>
            </a:r>
            <a:endParaRPr lang="en-US" sz="2800" dirty="0"/>
          </a:p>
        </p:txBody>
      </p:sp>
      <p:sp>
        <p:nvSpPr>
          <p:cNvPr id="18" name="椭圆 17"/>
          <p:cNvSpPr/>
          <p:nvPr>
            <p:custDataLst>
              <p:tags r:id="rId13"/>
            </p:custDataLst>
          </p:nvPr>
        </p:nvSpPr>
        <p:spPr>
          <a:xfrm>
            <a:off x="4146059" y="3073835"/>
            <a:ext cx="167616" cy="167616"/>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accent2"/>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9" name="文本框 32"/>
          <p:cNvSpPr txBox="1">
            <a:spLocks noChangeArrowheads="1"/>
          </p:cNvSpPr>
          <p:nvPr>
            <p:custDataLst>
              <p:tags r:id="rId14"/>
            </p:custDataLst>
          </p:nvPr>
        </p:nvSpPr>
        <p:spPr bwMode="auto">
          <a:xfrm>
            <a:off x="3479198" y="3003774"/>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2"/>
                </a:solidFill>
                <a:latin typeface="Arial" panose="020B0604020202020204" pitchFamily="34" charset="0"/>
                <a:cs typeface="Arial" panose="020B0604020202020204" pitchFamily="34" charset="0"/>
                <a:sym typeface="Arial" panose="020B0604020202020204" pitchFamily="34" charset="0"/>
              </a:rPr>
              <a:t>05</a:t>
            </a:r>
            <a:endParaRPr lang="zh-CN" altLang="en-US" sz="2400" dirty="0">
              <a:solidFill>
                <a:schemeClr val="accent2"/>
              </a:solidFill>
              <a:latin typeface="Arial" panose="020B0604020202020204" pitchFamily="34" charset="0"/>
              <a:cs typeface="Arial" panose="020B0604020202020204" pitchFamily="34" charset="0"/>
              <a:sym typeface="Arial" panose="020B0604020202020204" pitchFamily="34" charset="0"/>
            </a:endParaRPr>
          </a:p>
        </p:txBody>
      </p:sp>
      <p:sp>
        <p:nvSpPr>
          <p:cNvPr id="20" name="文本框 19"/>
          <p:cNvSpPr txBox="1"/>
          <p:nvPr>
            <p:custDataLst>
              <p:tags r:id="rId15"/>
            </p:custDataLst>
          </p:nvPr>
        </p:nvSpPr>
        <p:spPr>
          <a:xfrm>
            <a:off x="4437807" y="3003774"/>
            <a:ext cx="3663271" cy="369332"/>
          </a:xfrm>
          <a:prstGeom prst="rect">
            <a:avLst/>
          </a:prstGeom>
          <a:noFill/>
        </p:spPr>
        <p:txBody>
          <a:bodyPr wrap="square" lIns="0" tIns="0" rIns="0" bIns="0">
            <a:spAutoFit/>
          </a:bodyPr>
          <a:lstStyle/>
          <a:p>
            <a:pPr>
              <a:defRPr/>
            </a:pPr>
            <a:r>
              <a:rPr lang="zh-CN" altLang="en-US" sz="2400" dirty="0">
                <a:solidFill>
                  <a:schemeClr val="accent2"/>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软件质量实现</a:t>
            </a:r>
            <a:endParaRPr lang="zh-CN" altLang="en-US" sz="24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21" name="椭圆 20"/>
          <p:cNvSpPr/>
          <p:nvPr>
            <p:custDataLst>
              <p:tags r:id="rId16"/>
            </p:custDataLst>
          </p:nvPr>
        </p:nvSpPr>
        <p:spPr>
          <a:xfrm>
            <a:off x="4146059" y="3557568"/>
            <a:ext cx="167616" cy="167616"/>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22" name="文本框 32"/>
          <p:cNvSpPr txBox="1">
            <a:spLocks noChangeArrowheads="1"/>
          </p:cNvSpPr>
          <p:nvPr>
            <p:custDataLst>
              <p:tags r:id="rId17"/>
            </p:custDataLst>
          </p:nvPr>
        </p:nvSpPr>
        <p:spPr bwMode="auto">
          <a:xfrm>
            <a:off x="3479198" y="3487507"/>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1"/>
                </a:solidFill>
                <a:latin typeface="Arial" panose="020B0604020202020204" pitchFamily="34" charset="0"/>
                <a:cs typeface="Arial" panose="020B0604020202020204" pitchFamily="34" charset="0"/>
                <a:sym typeface="Arial" panose="020B0604020202020204" pitchFamily="34" charset="0"/>
              </a:rPr>
              <a:t>06</a:t>
            </a:r>
            <a:endParaRPr lang="zh-CN" altLang="en-US" sz="2400" dirty="0">
              <a:solidFill>
                <a:schemeClr val="accent1"/>
              </a:solidFill>
              <a:latin typeface="Arial" panose="020B0604020202020204" pitchFamily="34" charset="0"/>
              <a:cs typeface="Arial" panose="020B0604020202020204" pitchFamily="34" charset="0"/>
              <a:sym typeface="Arial" panose="020B0604020202020204" pitchFamily="34" charset="0"/>
            </a:endParaRPr>
          </a:p>
        </p:txBody>
      </p:sp>
      <p:sp>
        <p:nvSpPr>
          <p:cNvPr id="23" name="文本框 22"/>
          <p:cNvSpPr txBox="1"/>
          <p:nvPr>
            <p:custDataLst>
              <p:tags r:id="rId18"/>
            </p:custDataLst>
          </p:nvPr>
        </p:nvSpPr>
        <p:spPr>
          <a:xfrm>
            <a:off x="4437807" y="3487507"/>
            <a:ext cx="3663271" cy="369332"/>
          </a:xfrm>
          <a:prstGeom prst="rect">
            <a:avLst/>
          </a:prstGeom>
          <a:noFill/>
        </p:spPr>
        <p:txBody>
          <a:bodyPr wrap="square" lIns="0" tIns="0" rIns="0" bIns="0">
            <a:spAutoFit/>
          </a:bodyPr>
          <a:lstStyle/>
          <a:p>
            <a:pPr>
              <a:defRPr/>
            </a:pPr>
            <a:r>
              <a:rPr lang="zh-CN" altLang="en-US" sz="2400" dirty="0">
                <a:solidFill>
                  <a:schemeClr val="accent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软件的生命周期</a:t>
            </a:r>
            <a:endPar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椭圆 23"/>
          <p:cNvSpPr/>
          <p:nvPr>
            <p:custDataLst>
              <p:tags r:id="rId19"/>
            </p:custDataLst>
          </p:nvPr>
        </p:nvSpPr>
        <p:spPr>
          <a:xfrm>
            <a:off x="4146059" y="4041300"/>
            <a:ext cx="167616" cy="167616"/>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b="1">
              <a:solidFill>
                <a:schemeClr val="accent2"/>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25" name="文本框 32"/>
          <p:cNvSpPr txBox="1">
            <a:spLocks noChangeArrowheads="1"/>
          </p:cNvSpPr>
          <p:nvPr>
            <p:custDataLst>
              <p:tags r:id="rId20"/>
            </p:custDataLst>
          </p:nvPr>
        </p:nvSpPr>
        <p:spPr bwMode="auto">
          <a:xfrm>
            <a:off x="3479198" y="3971240"/>
            <a:ext cx="542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r>
              <a:rPr lang="en-US" altLang="zh-CN" sz="2400" dirty="0">
                <a:solidFill>
                  <a:schemeClr val="accent2"/>
                </a:solidFill>
                <a:latin typeface="Arial" panose="020B0604020202020204" pitchFamily="34" charset="0"/>
                <a:cs typeface="Arial" panose="020B0604020202020204" pitchFamily="34" charset="0"/>
                <a:sym typeface="Arial" panose="020B0604020202020204" pitchFamily="34" charset="0"/>
              </a:rPr>
              <a:t>07</a:t>
            </a:r>
            <a:endParaRPr lang="zh-CN" altLang="en-US" sz="2400" dirty="0">
              <a:solidFill>
                <a:schemeClr val="accent2"/>
              </a:solidFill>
              <a:latin typeface="Arial" panose="020B0604020202020204" pitchFamily="34" charset="0"/>
              <a:cs typeface="Arial" panose="020B0604020202020204" pitchFamily="34" charset="0"/>
              <a:sym typeface="Arial" panose="020B0604020202020204" pitchFamily="34" charset="0"/>
            </a:endParaRPr>
          </a:p>
        </p:txBody>
      </p:sp>
      <p:sp>
        <p:nvSpPr>
          <p:cNvPr id="26" name="文本框 25"/>
          <p:cNvSpPr txBox="1"/>
          <p:nvPr>
            <p:custDataLst>
              <p:tags r:id="rId21"/>
            </p:custDataLst>
          </p:nvPr>
        </p:nvSpPr>
        <p:spPr>
          <a:xfrm>
            <a:off x="4437807" y="3971240"/>
            <a:ext cx="3663271" cy="369332"/>
          </a:xfrm>
          <a:prstGeom prst="rect">
            <a:avLst/>
          </a:prstGeom>
          <a:noFill/>
        </p:spPr>
        <p:txBody>
          <a:bodyPr wrap="square" lIns="0" tIns="0" rIns="0" bIns="0">
            <a:spAutoFit/>
          </a:bodyPr>
          <a:lstStyle/>
          <a:p>
            <a:pPr>
              <a:defRPr/>
            </a:pPr>
            <a:r>
              <a:rPr lang="zh-CN" altLang="en-US" sz="2400" dirty="0">
                <a:solidFill>
                  <a:srgbClr val="FF0000"/>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软件的过程模型</a:t>
            </a:r>
            <a:endParaRPr lang="zh-CN" altLang="en-US" sz="2400" dirty="0">
              <a:solidFill>
                <a:srgbClr val="FF0000"/>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1.7 </a:t>
            </a:r>
            <a:r>
              <a:rPr lang="zh-CN" altLang="en-US" dirty="0" smtClean="0"/>
              <a:t>软件过程模型</a:t>
            </a:r>
            <a:endParaRPr lang="zh-CN" altLang="en-US" dirty="0"/>
          </a:p>
        </p:txBody>
      </p:sp>
      <p:sp>
        <p:nvSpPr>
          <p:cNvPr id="3" name="内容占位符 2"/>
          <p:cNvSpPr>
            <a:spLocks noGrp="1"/>
          </p:cNvSpPr>
          <p:nvPr>
            <p:ph idx="1"/>
          </p:nvPr>
        </p:nvSpPr>
        <p:spPr>
          <a:xfrm>
            <a:off x="914400" y="1341912"/>
            <a:ext cx="7943850" cy="2517569"/>
          </a:xfrm>
        </p:spPr>
        <p:txBody>
          <a:bodyPr>
            <a:noAutofit/>
          </a:bodyPr>
          <a:lstStyle/>
          <a:p>
            <a:pPr algn="just">
              <a:lnSpc>
                <a:spcPct val="120000"/>
              </a:lnSpc>
              <a:spcBef>
                <a:spcPts val="1200"/>
              </a:spcBef>
              <a:spcAft>
                <a:spcPts val="0"/>
              </a:spcAft>
              <a:buSzPct val="70000"/>
            </a:pPr>
            <a:r>
              <a:rPr lang="zh-CN" altLang="en-US" sz="3200" dirty="0">
                <a:solidFill>
                  <a:srgbClr val="FF0000"/>
                </a:solidFill>
                <a:latin typeface="+mj-ea"/>
                <a:ea typeface="+mj-ea"/>
              </a:rPr>
              <a:t>什么是软件过程？</a:t>
            </a:r>
            <a:endParaRPr lang="en-US" altLang="zh-CN" sz="3200" dirty="0">
              <a:solidFill>
                <a:srgbClr val="FF0000"/>
              </a:solidFill>
              <a:latin typeface="+mj-ea"/>
              <a:ea typeface="+mj-ea"/>
            </a:endParaRPr>
          </a:p>
          <a:p>
            <a:pPr marL="0" indent="0" algn="just">
              <a:lnSpc>
                <a:spcPct val="120000"/>
              </a:lnSpc>
              <a:spcBef>
                <a:spcPts val="1200"/>
              </a:spcBef>
              <a:spcAft>
                <a:spcPts val="0"/>
              </a:spcAft>
              <a:buNone/>
            </a:pPr>
            <a:r>
              <a:rPr lang="zh-CN" altLang="en-US" dirty="0" smtClean="0">
                <a:latin typeface="+mj-ea"/>
                <a:ea typeface="+mj-ea"/>
              </a:rPr>
              <a:t>       软件</a:t>
            </a:r>
            <a:r>
              <a:rPr lang="zh-CN" altLang="en-US" dirty="0">
                <a:latin typeface="+mj-ea"/>
                <a:ea typeface="+mj-ea"/>
              </a:rPr>
              <a:t>过程(</a:t>
            </a:r>
            <a:r>
              <a:rPr lang="en-US" altLang="zh-CN" dirty="0">
                <a:latin typeface="+mj-ea"/>
                <a:ea typeface="+mj-ea"/>
              </a:rPr>
              <a:t>Software Procedure)：</a:t>
            </a:r>
            <a:r>
              <a:rPr lang="zh-CN" altLang="en-US" dirty="0">
                <a:latin typeface="+mj-ea"/>
                <a:ea typeface="+mj-ea"/>
              </a:rPr>
              <a:t>是为获得软件产品，在软件工具支持下由软件工程师完成的</a:t>
            </a:r>
            <a:r>
              <a:rPr lang="zh-CN" altLang="en-US" dirty="0">
                <a:solidFill>
                  <a:srgbClr val="FF0000"/>
                </a:solidFill>
                <a:latin typeface="+mj-ea"/>
                <a:ea typeface="+mj-ea"/>
              </a:rPr>
              <a:t>一系列软件工程活动 </a:t>
            </a:r>
            <a:r>
              <a:rPr lang="zh-CN" altLang="en-US" dirty="0" smtClean="0">
                <a:latin typeface="+mj-ea"/>
                <a:ea typeface="+mj-ea"/>
              </a:rPr>
              <a:t>。</a:t>
            </a:r>
            <a:endParaRPr lang="zh-CN" altLang="en-US" dirty="0" smtClean="0">
              <a:latin typeface="+mj-ea"/>
              <a:ea typeface="+mj-ea"/>
            </a:endParaRPr>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5" name="日期占位符 4"/>
          <p:cNvSpPr>
            <a:spLocks noGrp="1"/>
          </p:cNvSpPr>
          <p:nvPr>
            <p:ph type="dt" sz="half" idx="10"/>
          </p:nvPr>
        </p:nvSpPr>
        <p:spPr/>
        <p:txBody>
          <a:bodyPr/>
          <a:lstStyle/>
          <a:p>
            <a:fld id="{AC871033-1F16-4B6F-89A7-E8CCA2AE948E}"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1.7 </a:t>
            </a:r>
            <a:r>
              <a:rPr lang="zh-CN" altLang="en-US" dirty="0" smtClean="0"/>
              <a:t>软件过程模型</a:t>
            </a:r>
            <a:endParaRPr lang="zh-CN" altLang="en-US" dirty="0"/>
          </a:p>
        </p:txBody>
      </p:sp>
      <p:sp>
        <p:nvSpPr>
          <p:cNvPr id="3" name="内容占位符 2"/>
          <p:cNvSpPr>
            <a:spLocks noGrp="1"/>
          </p:cNvSpPr>
          <p:nvPr>
            <p:ph idx="1"/>
          </p:nvPr>
        </p:nvSpPr>
        <p:spPr>
          <a:xfrm>
            <a:off x="914400" y="1235033"/>
            <a:ext cx="7943850" cy="3004458"/>
          </a:xfrm>
        </p:spPr>
        <p:txBody>
          <a:bodyPr>
            <a:noAutofit/>
          </a:bodyPr>
          <a:lstStyle/>
          <a:p>
            <a:pPr algn="just">
              <a:lnSpc>
                <a:spcPct val="120000"/>
              </a:lnSpc>
              <a:spcBef>
                <a:spcPts val="1200"/>
              </a:spcBef>
              <a:spcAft>
                <a:spcPts val="0"/>
              </a:spcAft>
              <a:buFontTx/>
              <a:buChar char="֍"/>
            </a:pPr>
            <a:r>
              <a:rPr lang="zh-CN" altLang="en-US" sz="2400" dirty="0" smtClean="0">
                <a:latin typeface="+mj-ea"/>
                <a:ea typeface="+mj-ea"/>
              </a:rPr>
              <a:t>软件</a:t>
            </a:r>
            <a:r>
              <a:rPr lang="zh-CN" altLang="en-US" sz="2400" dirty="0">
                <a:latin typeface="+mj-ea"/>
                <a:ea typeface="+mj-ea"/>
              </a:rPr>
              <a:t>过程是研究软件开发的方法论，规范软件开发的活动集合和活动顺序。 </a:t>
            </a:r>
            <a:endParaRPr lang="en-US" altLang="zh-CN" sz="2400" dirty="0">
              <a:latin typeface="+mj-ea"/>
              <a:ea typeface="+mj-ea"/>
            </a:endParaRPr>
          </a:p>
          <a:p>
            <a:pPr algn="just">
              <a:lnSpc>
                <a:spcPct val="120000"/>
              </a:lnSpc>
              <a:spcBef>
                <a:spcPts val="1200"/>
              </a:spcBef>
              <a:spcAft>
                <a:spcPts val="0"/>
              </a:spcAft>
              <a:buFontTx/>
              <a:buChar char="֍"/>
            </a:pPr>
            <a:r>
              <a:rPr lang="zh-CN" altLang="en-US" sz="2400" dirty="0">
                <a:latin typeface="+mj-ea"/>
                <a:ea typeface="+mj-ea"/>
              </a:rPr>
              <a:t>软件过程的活动集合和活动顺序贯穿了软件开发的方法论。即把软件工程分阶段、分层次、逐步细化、基线与里程碑、阶段评审、变更管理、过程监控等基本原理贯穿在整个活动当中。  </a:t>
            </a:r>
            <a:endParaRPr lang="en-US" altLang="zh-CN" sz="2400" dirty="0">
              <a:latin typeface="+mj-ea"/>
              <a:ea typeface="+mj-ea"/>
            </a:endParaRPr>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5" name="日期占位符 4"/>
          <p:cNvSpPr>
            <a:spLocks noGrp="1"/>
          </p:cNvSpPr>
          <p:nvPr>
            <p:ph type="dt" sz="half" idx="10"/>
          </p:nvPr>
        </p:nvSpPr>
        <p:spPr/>
        <p:txBody>
          <a:bodyPr/>
          <a:lstStyle/>
          <a:p>
            <a:fld id="{209E6CCD-9714-40B8-B7AE-28C7D38B2CE8}"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sym typeface="+mn-ea"/>
              </a:rPr>
              <a:t>1.7 </a:t>
            </a:r>
            <a:r>
              <a:rPr lang="zh-CN" altLang="en-US" dirty="0" smtClean="0">
                <a:sym typeface="+mn-ea"/>
              </a:rPr>
              <a:t>软件过程模型</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9" name="内容占位符 8"/>
          <p:cNvSpPr/>
          <p:nvPr>
            <p:ph idx="1"/>
          </p:nvPr>
        </p:nvSpPr>
        <p:spPr/>
        <p:txBody>
          <a:bodyPr>
            <a:normAutofit lnSpcReduction="20000"/>
          </a:bodyPr>
          <a:p>
            <a:r>
              <a:rPr lang="en-US" altLang="zh-CN"/>
              <a:t>ISO/IEC 12207</a:t>
            </a:r>
            <a:r>
              <a:rPr lang="zh-CN" altLang="en-US"/>
              <a:t>标准中，软件生命周期模型是指一个包括软件产品开发、运行和维护中有关过程、活动和任务的框架，其中这些过程、活动和任务覆盖了从系统的需求定义到系统的使用终止。</a:t>
            </a:r>
            <a:endParaRPr lang="zh-CN" altLang="en-US"/>
          </a:p>
          <a:p>
            <a:r>
              <a:rPr lang="zh-CN" altLang="en-US"/>
              <a:t>所有模型主要特征：</a:t>
            </a:r>
            <a:endParaRPr lang="zh-CN" altLang="en-US"/>
          </a:p>
          <a:p>
            <a:pPr lvl="1"/>
            <a:r>
              <a:rPr lang="zh-CN" altLang="en-US"/>
              <a:t>描述了开发的主要阶段。</a:t>
            </a:r>
            <a:endParaRPr lang="zh-CN" altLang="en-US"/>
          </a:p>
          <a:p>
            <a:pPr lvl="1"/>
            <a:r>
              <a:rPr lang="zh-CN" altLang="en-US"/>
              <a:t>定义了每个阶段要完成的主要过程和活动。</a:t>
            </a:r>
            <a:endParaRPr lang="zh-CN" altLang="en-US"/>
          </a:p>
          <a:p>
            <a:pPr lvl="1"/>
            <a:r>
              <a:rPr lang="zh-CN" altLang="en-US"/>
              <a:t>规范了每个阶段输入和输出。</a:t>
            </a:r>
            <a:endParaRPr lang="zh-CN" altLang="en-US"/>
          </a:p>
          <a:p>
            <a:pPr lvl="1"/>
            <a:r>
              <a:rPr lang="zh-CN" altLang="en-US"/>
              <a:t>提供了一个框架，可以把必要的活动映射到该框架中。</a:t>
            </a: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过程的含义</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CCC219E2-292A-4B48-AE9D-F87929BD94B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6052" y="976185"/>
            <a:ext cx="8107183" cy="3389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软件过程</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CCC219E2-292A-4B48-AE9D-F87929BD94B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4271" y="989307"/>
            <a:ext cx="8355742" cy="3536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软件过程的组成</a:t>
            </a:r>
            <a:endParaRPr lang="zh-CN" altLang="en-US" dirty="0"/>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grpSp>
        <p:nvGrpSpPr>
          <p:cNvPr id="5" name="Group 113"/>
          <p:cNvGrpSpPr>
            <a:grpSpLocks noChangeAspect="1"/>
          </p:cNvGrpSpPr>
          <p:nvPr/>
        </p:nvGrpSpPr>
        <p:grpSpPr bwMode="auto">
          <a:xfrm>
            <a:off x="1436457" y="806990"/>
            <a:ext cx="6031823" cy="3593066"/>
            <a:chOff x="2204" y="10180"/>
            <a:chExt cx="9981" cy="4422"/>
          </a:xfrm>
        </p:grpSpPr>
        <p:sp>
          <p:nvSpPr>
            <p:cNvPr id="6" name="AutoShape 114"/>
            <p:cNvSpPr>
              <a:spLocks noChangeAspect="1" noChangeArrowheads="1" noTextEdit="1"/>
            </p:cNvSpPr>
            <p:nvPr/>
          </p:nvSpPr>
          <p:spPr bwMode="auto">
            <a:xfrm>
              <a:off x="2204" y="10180"/>
              <a:ext cx="9981" cy="4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en-US" sz="1350"/>
            </a:p>
          </p:txBody>
        </p:sp>
        <p:sp>
          <p:nvSpPr>
            <p:cNvPr id="7" name="Line 115"/>
            <p:cNvSpPr>
              <a:spLocks noChangeShapeType="1"/>
            </p:cNvSpPr>
            <p:nvPr/>
          </p:nvSpPr>
          <p:spPr bwMode="auto">
            <a:xfrm flipV="1">
              <a:off x="3630" y="10973"/>
              <a:ext cx="7213" cy="0"/>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anchor="ctr"/>
            <a:lstStyle/>
            <a:p>
              <a:pPr algn="ctr"/>
              <a:endParaRPr lang="zh-CN" altLang="en-US" sz="1350"/>
            </a:p>
          </p:txBody>
        </p:sp>
        <p:sp>
          <p:nvSpPr>
            <p:cNvPr id="8" name="Rectangle 116"/>
            <p:cNvSpPr>
              <a:spLocks noChangeArrowheads="1"/>
            </p:cNvSpPr>
            <p:nvPr/>
          </p:nvSpPr>
          <p:spPr bwMode="auto">
            <a:xfrm>
              <a:off x="6106" y="10180"/>
              <a:ext cx="2905" cy="550"/>
            </a:xfrm>
            <a:prstGeom prst="rect">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107763" dir="2700000" algn="ctr" rotWithShape="0">
                      <a:srgbClr val="FFFFFF"/>
                    </a:outerShdw>
                  </a:effectLst>
                </a14:hiddenEffects>
              </a:ext>
            </a:extLst>
          </p:spPr>
          <p:txBody>
            <a:bodyPr lIns="50063" tIns="25032" rIns="50063" bIns="25032" anchor="ctr"/>
            <a:lstStyle/>
            <a:p>
              <a:pPr algn="ctr" eaLnBrk="0" hangingPunct="0"/>
              <a:r>
                <a:rPr lang="zh-CN" altLang="en-US" sz="1350" b="1">
                  <a:solidFill>
                    <a:srgbClr val="000000"/>
                  </a:solidFill>
                  <a:latin typeface="Times New Roman" panose="02020603050405020304" pitchFamily="18" charset="0"/>
                </a:rPr>
                <a:t>软件开发过程</a:t>
              </a:r>
              <a:endParaRPr lang="zh-CN" altLang="en-US" sz="1350" b="1">
                <a:solidFill>
                  <a:srgbClr val="000000"/>
                </a:solidFill>
                <a:latin typeface="Times New Roman" panose="02020603050405020304" pitchFamily="18" charset="0"/>
              </a:endParaRPr>
            </a:p>
          </p:txBody>
        </p:sp>
        <p:sp>
          <p:nvSpPr>
            <p:cNvPr id="9" name="Rectangle 117"/>
            <p:cNvSpPr>
              <a:spLocks noChangeArrowheads="1"/>
            </p:cNvSpPr>
            <p:nvPr/>
          </p:nvSpPr>
          <p:spPr bwMode="auto">
            <a:xfrm>
              <a:off x="6230" y="11302"/>
              <a:ext cx="2433" cy="580"/>
            </a:xfrm>
            <a:prstGeom prst="rect">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107763" dir="2700000" algn="ctr" rotWithShape="0">
                      <a:srgbClr val="FFFFFF"/>
                    </a:outerShdw>
                  </a:effectLst>
                </a14:hiddenEffects>
              </a:ext>
            </a:extLst>
          </p:spPr>
          <p:txBody>
            <a:bodyPr lIns="50063" tIns="25032" rIns="50063" bIns="25032" anchor="ctr"/>
            <a:lstStyle/>
            <a:p>
              <a:pPr algn="ctr" eaLnBrk="0" hangingPunct="0"/>
              <a:r>
                <a:rPr lang="zh-CN" altLang="en-US" sz="1350" b="1">
                  <a:solidFill>
                    <a:srgbClr val="000000"/>
                  </a:solidFill>
                  <a:latin typeface="Times New Roman" panose="02020603050405020304" pitchFamily="18" charset="0"/>
                </a:rPr>
                <a:t>支持过程</a:t>
              </a:r>
              <a:endParaRPr lang="zh-CN" altLang="en-US" sz="1350" b="1">
                <a:solidFill>
                  <a:srgbClr val="000000"/>
                </a:solidFill>
                <a:latin typeface="Times New Roman" panose="02020603050405020304" pitchFamily="18" charset="0"/>
              </a:endParaRPr>
            </a:p>
          </p:txBody>
        </p:sp>
        <p:sp>
          <p:nvSpPr>
            <p:cNvPr id="10" name="Rectangle 118"/>
            <p:cNvSpPr>
              <a:spLocks noChangeArrowheads="1"/>
            </p:cNvSpPr>
            <p:nvPr/>
          </p:nvSpPr>
          <p:spPr bwMode="auto">
            <a:xfrm>
              <a:off x="9669" y="11302"/>
              <a:ext cx="2432" cy="580"/>
            </a:xfrm>
            <a:prstGeom prst="rect">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107763" dir="2700000" algn="ctr" rotWithShape="0">
                      <a:srgbClr val="FFFFFF"/>
                    </a:outerShdw>
                  </a:effectLst>
                </a14:hiddenEffects>
              </a:ext>
            </a:extLst>
          </p:spPr>
          <p:txBody>
            <a:bodyPr lIns="50063" tIns="25032" rIns="50063" bIns="25032" anchor="ctr"/>
            <a:lstStyle/>
            <a:p>
              <a:pPr algn="ctr" eaLnBrk="0" hangingPunct="0"/>
              <a:r>
                <a:rPr lang="zh-CN" altLang="en-US" sz="1350" b="1">
                  <a:solidFill>
                    <a:srgbClr val="000000"/>
                  </a:solidFill>
                  <a:latin typeface="Times New Roman" panose="02020603050405020304" pitchFamily="18" charset="0"/>
                </a:rPr>
                <a:t>组织过程</a:t>
              </a:r>
              <a:endParaRPr lang="zh-CN" altLang="en-US" sz="1350" b="1">
                <a:solidFill>
                  <a:srgbClr val="000000"/>
                </a:solidFill>
                <a:latin typeface="Times New Roman" panose="02020603050405020304" pitchFamily="18" charset="0"/>
              </a:endParaRPr>
            </a:p>
          </p:txBody>
        </p:sp>
        <p:sp>
          <p:nvSpPr>
            <p:cNvPr id="11" name="Rectangle 119"/>
            <p:cNvSpPr>
              <a:spLocks noChangeArrowheads="1"/>
            </p:cNvSpPr>
            <p:nvPr/>
          </p:nvSpPr>
          <p:spPr bwMode="auto">
            <a:xfrm>
              <a:off x="2372" y="11302"/>
              <a:ext cx="2432" cy="580"/>
            </a:xfrm>
            <a:prstGeom prst="rect">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107763" dir="2700000" algn="ctr" rotWithShape="0">
                      <a:srgbClr val="FFFFFF"/>
                    </a:outerShdw>
                  </a:effectLst>
                </a14:hiddenEffects>
              </a:ext>
            </a:extLst>
          </p:spPr>
          <p:txBody>
            <a:bodyPr lIns="50063" tIns="25032" rIns="50063" bIns="25032" anchor="ctr"/>
            <a:lstStyle/>
            <a:p>
              <a:pPr algn="ctr" eaLnBrk="0" hangingPunct="0"/>
              <a:r>
                <a:rPr lang="zh-CN" altLang="en-US" sz="1350" b="1">
                  <a:solidFill>
                    <a:srgbClr val="000000"/>
                  </a:solidFill>
                  <a:latin typeface="Times New Roman" panose="02020603050405020304" pitchFamily="18" charset="0"/>
                </a:rPr>
                <a:t>基本过程</a:t>
              </a:r>
              <a:endParaRPr lang="zh-CN" altLang="en-US" sz="1350" b="1">
                <a:solidFill>
                  <a:srgbClr val="000000"/>
                </a:solidFill>
                <a:latin typeface="Times New Roman" panose="02020603050405020304" pitchFamily="18" charset="0"/>
              </a:endParaRPr>
            </a:p>
          </p:txBody>
        </p:sp>
        <p:sp>
          <p:nvSpPr>
            <p:cNvPr id="12" name="Line 120"/>
            <p:cNvSpPr>
              <a:spLocks noChangeShapeType="1"/>
            </p:cNvSpPr>
            <p:nvPr/>
          </p:nvSpPr>
          <p:spPr bwMode="auto">
            <a:xfrm flipV="1">
              <a:off x="10843" y="10973"/>
              <a:ext cx="0" cy="329"/>
            </a:xfrm>
            <a:prstGeom prst="line">
              <a:avLst/>
            </a:prstGeom>
            <a:noFill/>
            <a:ln w="19050">
              <a:solidFill>
                <a:srgbClr val="000000"/>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p>
              <a:pPr algn="ctr"/>
              <a:endParaRPr lang="zh-CN" altLang="en-US" sz="1350"/>
            </a:p>
          </p:txBody>
        </p:sp>
        <p:sp>
          <p:nvSpPr>
            <p:cNvPr id="13" name="Line 121"/>
            <p:cNvSpPr>
              <a:spLocks noChangeShapeType="1"/>
            </p:cNvSpPr>
            <p:nvPr/>
          </p:nvSpPr>
          <p:spPr bwMode="auto">
            <a:xfrm flipH="1" flipV="1">
              <a:off x="7557" y="10730"/>
              <a:ext cx="0" cy="540"/>
            </a:xfrm>
            <a:prstGeom prst="line">
              <a:avLst/>
            </a:prstGeom>
            <a:noFill/>
            <a:ln w="19050">
              <a:solidFill>
                <a:srgbClr val="000000"/>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p>
              <a:pPr algn="ctr"/>
              <a:endParaRPr lang="zh-CN" altLang="en-US" sz="1350"/>
            </a:p>
          </p:txBody>
        </p:sp>
        <p:sp>
          <p:nvSpPr>
            <p:cNvPr id="14" name="Line 122"/>
            <p:cNvSpPr>
              <a:spLocks noChangeShapeType="1"/>
            </p:cNvSpPr>
            <p:nvPr/>
          </p:nvSpPr>
          <p:spPr bwMode="auto">
            <a:xfrm flipV="1">
              <a:off x="3630" y="10973"/>
              <a:ext cx="0" cy="329"/>
            </a:xfrm>
            <a:prstGeom prst="line">
              <a:avLst/>
            </a:prstGeom>
            <a:noFill/>
            <a:ln w="19050">
              <a:solidFill>
                <a:srgbClr val="000000"/>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p>
              <a:pPr algn="ctr"/>
              <a:endParaRPr lang="zh-CN" altLang="en-US" sz="1350"/>
            </a:p>
          </p:txBody>
        </p:sp>
        <p:sp>
          <p:nvSpPr>
            <p:cNvPr id="15" name="Line 123"/>
            <p:cNvSpPr>
              <a:spLocks noChangeShapeType="1"/>
            </p:cNvSpPr>
            <p:nvPr/>
          </p:nvSpPr>
          <p:spPr bwMode="auto">
            <a:xfrm flipV="1">
              <a:off x="7573" y="11882"/>
              <a:ext cx="0" cy="330"/>
            </a:xfrm>
            <a:prstGeom prst="line">
              <a:avLst/>
            </a:prstGeom>
            <a:noFill/>
            <a:ln w="19050">
              <a:solidFill>
                <a:srgbClr val="000000"/>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p>
              <a:pPr algn="ctr"/>
              <a:endParaRPr lang="zh-CN" altLang="en-US" sz="1350"/>
            </a:p>
          </p:txBody>
        </p:sp>
        <p:sp>
          <p:nvSpPr>
            <p:cNvPr id="16" name="Line 124"/>
            <p:cNvSpPr>
              <a:spLocks noChangeShapeType="1"/>
            </p:cNvSpPr>
            <p:nvPr/>
          </p:nvSpPr>
          <p:spPr bwMode="auto">
            <a:xfrm flipV="1">
              <a:off x="5474" y="12212"/>
              <a:ext cx="4111" cy="0"/>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anchor="ctr"/>
            <a:lstStyle/>
            <a:p>
              <a:pPr algn="ctr"/>
              <a:endParaRPr lang="zh-CN" altLang="en-US" sz="1350"/>
            </a:p>
          </p:txBody>
        </p:sp>
        <p:sp>
          <p:nvSpPr>
            <p:cNvPr id="17" name="Line 125"/>
            <p:cNvSpPr>
              <a:spLocks noChangeShapeType="1"/>
            </p:cNvSpPr>
            <p:nvPr/>
          </p:nvSpPr>
          <p:spPr bwMode="auto">
            <a:xfrm flipV="1">
              <a:off x="2456" y="12212"/>
              <a:ext cx="2348" cy="0"/>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anchor="ctr"/>
            <a:lstStyle/>
            <a:p>
              <a:pPr algn="ctr"/>
              <a:endParaRPr lang="zh-CN" altLang="en-US" sz="1350"/>
            </a:p>
          </p:txBody>
        </p:sp>
        <p:sp>
          <p:nvSpPr>
            <p:cNvPr id="18" name="Rectangle 126"/>
            <p:cNvSpPr>
              <a:spLocks noChangeArrowheads="1"/>
            </p:cNvSpPr>
            <p:nvPr/>
          </p:nvSpPr>
          <p:spPr bwMode="auto">
            <a:xfrm>
              <a:off x="2204" y="12543"/>
              <a:ext cx="420" cy="2059"/>
            </a:xfrm>
            <a:prstGeom prst="rect">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107763" dir="2700000" algn="ctr" rotWithShape="0">
                      <a:srgbClr val="FFFFFF"/>
                    </a:outerShdw>
                  </a:effectLst>
                </a14:hiddenEffects>
              </a:ext>
            </a:extLst>
          </p:spPr>
          <p:txBody>
            <a:bodyPr lIns="50063" tIns="25032" rIns="50063" bIns="25032" anchor="ctr"/>
            <a:lstStyle/>
            <a:p>
              <a:pPr algn="ctr" eaLnBrk="0" hangingPunct="0"/>
              <a:r>
                <a:rPr lang="zh-CN" altLang="en-US" sz="1350" b="1">
                  <a:solidFill>
                    <a:srgbClr val="000000"/>
                  </a:solidFill>
                  <a:latin typeface="Times New Roman" panose="02020603050405020304" pitchFamily="18" charset="0"/>
                </a:rPr>
                <a:t>获</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取</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过</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程</a:t>
              </a:r>
              <a:endParaRPr lang="zh-CN" altLang="en-US" sz="1350" b="1">
                <a:solidFill>
                  <a:srgbClr val="000000"/>
                </a:solidFill>
                <a:latin typeface="Times New Roman" panose="02020603050405020304" pitchFamily="18" charset="0"/>
              </a:endParaRPr>
            </a:p>
          </p:txBody>
        </p:sp>
        <p:sp>
          <p:nvSpPr>
            <p:cNvPr id="19" name="Rectangle 127"/>
            <p:cNvSpPr>
              <a:spLocks noChangeArrowheads="1"/>
            </p:cNvSpPr>
            <p:nvPr/>
          </p:nvSpPr>
          <p:spPr bwMode="auto">
            <a:xfrm>
              <a:off x="2792" y="12543"/>
              <a:ext cx="418" cy="2059"/>
            </a:xfrm>
            <a:prstGeom prst="rect">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107763" dir="2700000" algn="ctr" rotWithShape="0">
                      <a:srgbClr val="FFFFFF"/>
                    </a:outerShdw>
                  </a:effectLst>
                </a14:hiddenEffects>
              </a:ext>
            </a:extLst>
          </p:spPr>
          <p:txBody>
            <a:bodyPr lIns="50063" tIns="25032" rIns="50063" bIns="25032" anchor="ctr"/>
            <a:lstStyle/>
            <a:p>
              <a:pPr algn="ctr" eaLnBrk="0" hangingPunct="0"/>
              <a:r>
                <a:rPr lang="zh-CN" altLang="en-US" sz="1350" b="1">
                  <a:solidFill>
                    <a:srgbClr val="000000"/>
                  </a:solidFill>
                  <a:latin typeface="Times New Roman" panose="02020603050405020304" pitchFamily="18" charset="0"/>
                </a:rPr>
                <a:t>供</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应</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过</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程</a:t>
              </a:r>
              <a:endParaRPr lang="zh-CN" altLang="en-US" sz="1350" b="1">
                <a:solidFill>
                  <a:srgbClr val="000000"/>
                </a:solidFill>
                <a:latin typeface="Times New Roman" panose="02020603050405020304" pitchFamily="18" charset="0"/>
              </a:endParaRPr>
            </a:p>
          </p:txBody>
        </p:sp>
        <p:sp>
          <p:nvSpPr>
            <p:cNvPr id="20" name="Rectangle 128"/>
            <p:cNvSpPr>
              <a:spLocks noChangeArrowheads="1"/>
            </p:cNvSpPr>
            <p:nvPr/>
          </p:nvSpPr>
          <p:spPr bwMode="auto">
            <a:xfrm>
              <a:off x="3378" y="12543"/>
              <a:ext cx="420" cy="2059"/>
            </a:xfrm>
            <a:prstGeom prst="rect">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107763" dir="2700000" algn="ctr" rotWithShape="0">
                      <a:srgbClr val="FFFFFF"/>
                    </a:outerShdw>
                  </a:effectLst>
                </a14:hiddenEffects>
              </a:ext>
            </a:extLst>
          </p:spPr>
          <p:txBody>
            <a:bodyPr lIns="50063" tIns="25032" rIns="50063" bIns="25032" anchor="ctr"/>
            <a:lstStyle/>
            <a:p>
              <a:pPr algn="ctr" eaLnBrk="0" hangingPunct="0"/>
              <a:r>
                <a:rPr lang="zh-CN" altLang="en-US" sz="1350" b="1">
                  <a:solidFill>
                    <a:srgbClr val="000000"/>
                  </a:solidFill>
                  <a:latin typeface="Times New Roman" panose="02020603050405020304" pitchFamily="18" charset="0"/>
                </a:rPr>
                <a:t>开</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发</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过</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程</a:t>
              </a:r>
              <a:endParaRPr lang="zh-CN" altLang="en-US" sz="1350" b="1">
                <a:solidFill>
                  <a:srgbClr val="000000"/>
                </a:solidFill>
                <a:latin typeface="Times New Roman" panose="02020603050405020304" pitchFamily="18" charset="0"/>
              </a:endParaRPr>
            </a:p>
          </p:txBody>
        </p:sp>
        <p:sp>
          <p:nvSpPr>
            <p:cNvPr id="21" name="Rectangle 129"/>
            <p:cNvSpPr>
              <a:spLocks noChangeArrowheads="1"/>
            </p:cNvSpPr>
            <p:nvPr/>
          </p:nvSpPr>
          <p:spPr bwMode="auto">
            <a:xfrm>
              <a:off x="3966" y="12543"/>
              <a:ext cx="418" cy="2059"/>
            </a:xfrm>
            <a:prstGeom prst="rect">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107763" dir="2700000" algn="ctr" rotWithShape="0">
                      <a:srgbClr val="FFFFFF"/>
                    </a:outerShdw>
                  </a:effectLst>
                </a14:hiddenEffects>
              </a:ext>
            </a:extLst>
          </p:spPr>
          <p:txBody>
            <a:bodyPr lIns="50063" tIns="25032" rIns="50063" bIns="25032" anchor="ctr"/>
            <a:lstStyle/>
            <a:p>
              <a:pPr algn="ctr" eaLnBrk="0" hangingPunct="0"/>
              <a:r>
                <a:rPr lang="zh-CN" altLang="en-US" sz="1350" b="1">
                  <a:solidFill>
                    <a:srgbClr val="000000"/>
                  </a:solidFill>
                  <a:latin typeface="Times New Roman" panose="02020603050405020304" pitchFamily="18" charset="0"/>
                </a:rPr>
                <a:t>运</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作</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过</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程</a:t>
              </a:r>
              <a:endParaRPr lang="zh-CN" altLang="en-US" sz="1350" b="1">
                <a:solidFill>
                  <a:srgbClr val="000000"/>
                </a:solidFill>
                <a:latin typeface="Times New Roman" panose="02020603050405020304" pitchFamily="18" charset="0"/>
              </a:endParaRPr>
            </a:p>
          </p:txBody>
        </p:sp>
        <p:sp>
          <p:nvSpPr>
            <p:cNvPr id="22" name="Rectangle 130"/>
            <p:cNvSpPr>
              <a:spLocks noChangeArrowheads="1"/>
            </p:cNvSpPr>
            <p:nvPr/>
          </p:nvSpPr>
          <p:spPr bwMode="auto">
            <a:xfrm>
              <a:off x="4552" y="12543"/>
              <a:ext cx="420" cy="2059"/>
            </a:xfrm>
            <a:prstGeom prst="rect">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107763" dir="2700000" algn="ctr" rotWithShape="0">
                      <a:srgbClr val="FFFFFF"/>
                    </a:outerShdw>
                  </a:effectLst>
                </a14:hiddenEffects>
              </a:ext>
            </a:extLst>
          </p:spPr>
          <p:txBody>
            <a:bodyPr lIns="50063" tIns="25032" rIns="50063" bIns="25032" anchor="ctr"/>
            <a:lstStyle/>
            <a:p>
              <a:pPr algn="ctr" eaLnBrk="0" hangingPunct="0"/>
              <a:r>
                <a:rPr lang="zh-CN" altLang="en-US" sz="1350" b="1">
                  <a:solidFill>
                    <a:srgbClr val="000000"/>
                  </a:solidFill>
                  <a:latin typeface="Times New Roman" panose="02020603050405020304" pitchFamily="18" charset="0"/>
                </a:rPr>
                <a:t>维</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护</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过</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程</a:t>
              </a:r>
              <a:endParaRPr lang="zh-CN" altLang="en-US" sz="1350" b="1">
                <a:solidFill>
                  <a:srgbClr val="000000"/>
                </a:solidFill>
                <a:latin typeface="Times New Roman" panose="02020603050405020304" pitchFamily="18" charset="0"/>
              </a:endParaRPr>
            </a:p>
          </p:txBody>
        </p:sp>
        <p:sp>
          <p:nvSpPr>
            <p:cNvPr id="23" name="Rectangle 131"/>
            <p:cNvSpPr>
              <a:spLocks noChangeArrowheads="1"/>
            </p:cNvSpPr>
            <p:nvPr/>
          </p:nvSpPr>
          <p:spPr bwMode="auto">
            <a:xfrm>
              <a:off x="5224" y="12543"/>
              <a:ext cx="418" cy="2059"/>
            </a:xfrm>
            <a:prstGeom prst="rect">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107763" dir="2700000" algn="ctr" rotWithShape="0">
                      <a:srgbClr val="FFFFFF"/>
                    </a:outerShdw>
                  </a:effectLst>
                </a14:hiddenEffects>
              </a:ext>
            </a:extLst>
          </p:spPr>
          <p:txBody>
            <a:bodyPr lIns="50063" tIns="25032" rIns="50063" bIns="25032" anchor="ctr"/>
            <a:lstStyle/>
            <a:p>
              <a:pPr algn="ctr" eaLnBrk="0" hangingPunct="0"/>
              <a:r>
                <a:rPr lang="zh-CN" altLang="en-US" sz="1350" b="1">
                  <a:solidFill>
                    <a:srgbClr val="000000"/>
                  </a:solidFill>
                  <a:latin typeface="Times New Roman" panose="02020603050405020304" pitchFamily="18" charset="0"/>
                </a:rPr>
                <a:t>文</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档</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编</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制</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过</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程</a:t>
              </a:r>
              <a:endParaRPr lang="zh-CN" altLang="en-US" sz="1350" b="1">
                <a:solidFill>
                  <a:srgbClr val="000000"/>
                </a:solidFill>
                <a:latin typeface="Times New Roman" panose="02020603050405020304" pitchFamily="18" charset="0"/>
              </a:endParaRPr>
            </a:p>
          </p:txBody>
        </p:sp>
        <p:sp>
          <p:nvSpPr>
            <p:cNvPr id="24" name="Rectangle 132"/>
            <p:cNvSpPr>
              <a:spLocks noChangeArrowheads="1"/>
            </p:cNvSpPr>
            <p:nvPr/>
          </p:nvSpPr>
          <p:spPr bwMode="auto">
            <a:xfrm>
              <a:off x="5810" y="12543"/>
              <a:ext cx="420" cy="2059"/>
            </a:xfrm>
            <a:prstGeom prst="rect">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107763" dir="2700000" algn="ctr" rotWithShape="0">
                      <a:srgbClr val="FFFFFF"/>
                    </a:outerShdw>
                  </a:effectLst>
                </a14:hiddenEffects>
              </a:ext>
            </a:extLst>
          </p:spPr>
          <p:txBody>
            <a:bodyPr lIns="50063" tIns="25032" rIns="50063" bIns="25032" anchor="ctr"/>
            <a:lstStyle/>
            <a:p>
              <a:pPr algn="ctr" eaLnBrk="0" hangingPunct="0"/>
              <a:r>
                <a:rPr lang="zh-CN" altLang="en-US" sz="1350" b="1">
                  <a:solidFill>
                    <a:srgbClr val="000000"/>
                  </a:solidFill>
                  <a:latin typeface="Times New Roman" panose="02020603050405020304" pitchFamily="18" charset="0"/>
                </a:rPr>
                <a:t>配</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置</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管</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理</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过</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程</a:t>
              </a:r>
              <a:endParaRPr lang="zh-CN" altLang="en-US" sz="1350" b="1">
                <a:solidFill>
                  <a:srgbClr val="000000"/>
                </a:solidFill>
                <a:latin typeface="Times New Roman" panose="02020603050405020304" pitchFamily="18" charset="0"/>
              </a:endParaRPr>
            </a:p>
          </p:txBody>
        </p:sp>
        <p:sp>
          <p:nvSpPr>
            <p:cNvPr id="25" name="Rectangle 133"/>
            <p:cNvSpPr>
              <a:spLocks noChangeArrowheads="1"/>
            </p:cNvSpPr>
            <p:nvPr/>
          </p:nvSpPr>
          <p:spPr bwMode="auto">
            <a:xfrm>
              <a:off x="6398" y="12543"/>
              <a:ext cx="418" cy="2059"/>
            </a:xfrm>
            <a:prstGeom prst="rect">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107763" dir="2700000" algn="ctr" rotWithShape="0">
                      <a:srgbClr val="FFFFFF"/>
                    </a:outerShdw>
                  </a:effectLst>
                </a14:hiddenEffects>
              </a:ext>
            </a:extLst>
          </p:spPr>
          <p:txBody>
            <a:bodyPr lIns="50063" tIns="25032" rIns="50063" bIns="25032" anchor="ctr"/>
            <a:lstStyle/>
            <a:p>
              <a:pPr algn="ctr" eaLnBrk="0" hangingPunct="0"/>
              <a:r>
                <a:rPr lang="zh-CN" altLang="en-US" sz="1350" b="1">
                  <a:solidFill>
                    <a:srgbClr val="000000"/>
                  </a:solidFill>
                  <a:latin typeface="Times New Roman" panose="02020603050405020304" pitchFamily="18" charset="0"/>
                </a:rPr>
                <a:t>质</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量</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保</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证</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过</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程</a:t>
              </a:r>
              <a:endParaRPr lang="zh-CN" altLang="en-US" sz="1350" b="1">
                <a:solidFill>
                  <a:srgbClr val="000000"/>
                </a:solidFill>
                <a:latin typeface="Times New Roman" panose="02020603050405020304" pitchFamily="18" charset="0"/>
              </a:endParaRPr>
            </a:p>
          </p:txBody>
        </p:sp>
        <p:sp>
          <p:nvSpPr>
            <p:cNvPr id="26" name="Rectangle 134"/>
            <p:cNvSpPr>
              <a:spLocks noChangeArrowheads="1"/>
            </p:cNvSpPr>
            <p:nvPr/>
          </p:nvSpPr>
          <p:spPr bwMode="auto">
            <a:xfrm>
              <a:off x="6984" y="12543"/>
              <a:ext cx="421" cy="2059"/>
            </a:xfrm>
            <a:prstGeom prst="rect">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107763" dir="2700000" algn="ctr" rotWithShape="0">
                      <a:srgbClr val="FFFFFF"/>
                    </a:outerShdw>
                  </a:effectLst>
                </a14:hiddenEffects>
              </a:ext>
            </a:extLst>
          </p:spPr>
          <p:txBody>
            <a:bodyPr lIns="50063" tIns="25032" rIns="50063" bIns="25032" anchor="ctr"/>
            <a:lstStyle/>
            <a:p>
              <a:pPr algn="ctr" eaLnBrk="0" hangingPunct="0"/>
              <a:r>
                <a:rPr lang="zh-CN" altLang="en-US" sz="1350" b="1">
                  <a:solidFill>
                    <a:srgbClr val="000000"/>
                  </a:solidFill>
                  <a:latin typeface="Times New Roman" panose="02020603050405020304" pitchFamily="18" charset="0"/>
                </a:rPr>
                <a:t>验</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证</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过</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程</a:t>
              </a:r>
              <a:endParaRPr lang="zh-CN" altLang="en-US" sz="1350" b="1">
                <a:solidFill>
                  <a:srgbClr val="000000"/>
                </a:solidFill>
                <a:latin typeface="Times New Roman" panose="02020603050405020304" pitchFamily="18" charset="0"/>
              </a:endParaRPr>
            </a:p>
          </p:txBody>
        </p:sp>
        <p:sp>
          <p:nvSpPr>
            <p:cNvPr id="27" name="Rectangle 135"/>
            <p:cNvSpPr>
              <a:spLocks noChangeArrowheads="1"/>
            </p:cNvSpPr>
            <p:nvPr/>
          </p:nvSpPr>
          <p:spPr bwMode="auto">
            <a:xfrm>
              <a:off x="7573" y="12543"/>
              <a:ext cx="418" cy="2059"/>
            </a:xfrm>
            <a:prstGeom prst="rect">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107763" dir="2700000" algn="ctr" rotWithShape="0">
                      <a:srgbClr val="FFFFFF"/>
                    </a:outerShdw>
                  </a:effectLst>
                </a14:hiddenEffects>
              </a:ext>
            </a:extLst>
          </p:spPr>
          <p:txBody>
            <a:bodyPr lIns="50063" tIns="25032" rIns="50063" bIns="25032" anchor="ctr"/>
            <a:lstStyle/>
            <a:p>
              <a:pPr algn="ctr" eaLnBrk="0" hangingPunct="0"/>
              <a:r>
                <a:rPr lang="zh-CN" altLang="en-US" sz="1350" b="1">
                  <a:solidFill>
                    <a:srgbClr val="000000"/>
                  </a:solidFill>
                  <a:latin typeface="Times New Roman" panose="02020603050405020304" pitchFamily="18" charset="0"/>
                </a:rPr>
                <a:t>确</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认</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过</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程</a:t>
              </a:r>
              <a:endParaRPr lang="zh-CN" altLang="en-US" sz="1350" b="1">
                <a:solidFill>
                  <a:srgbClr val="000000"/>
                </a:solidFill>
                <a:latin typeface="Times New Roman" panose="02020603050405020304" pitchFamily="18" charset="0"/>
              </a:endParaRPr>
            </a:p>
          </p:txBody>
        </p:sp>
        <p:sp>
          <p:nvSpPr>
            <p:cNvPr id="28" name="Rectangle 136"/>
            <p:cNvSpPr>
              <a:spLocks noChangeArrowheads="1"/>
            </p:cNvSpPr>
            <p:nvPr/>
          </p:nvSpPr>
          <p:spPr bwMode="auto">
            <a:xfrm>
              <a:off x="8159" y="12543"/>
              <a:ext cx="420" cy="2059"/>
            </a:xfrm>
            <a:prstGeom prst="rect">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107763" dir="2700000" algn="ctr" rotWithShape="0">
                      <a:srgbClr val="FFFFFF"/>
                    </a:outerShdw>
                  </a:effectLst>
                </a14:hiddenEffects>
              </a:ext>
            </a:extLst>
          </p:spPr>
          <p:txBody>
            <a:bodyPr lIns="50063" tIns="25032" rIns="50063" bIns="25032" anchor="ctr"/>
            <a:lstStyle/>
            <a:p>
              <a:pPr algn="ctr" eaLnBrk="0" hangingPunct="0"/>
              <a:r>
                <a:rPr lang="zh-CN" altLang="en-US" sz="1350" b="1">
                  <a:solidFill>
                    <a:srgbClr val="000000"/>
                  </a:solidFill>
                  <a:latin typeface="Times New Roman" panose="02020603050405020304" pitchFamily="18" charset="0"/>
                </a:rPr>
                <a:t>联</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合</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评</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审</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过</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程</a:t>
              </a:r>
              <a:endParaRPr lang="zh-CN" altLang="en-US" sz="1350" b="1">
                <a:solidFill>
                  <a:srgbClr val="000000"/>
                </a:solidFill>
                <a:latin typeface="Times New Roman" panose="02020603050405020304" pitchFamily="18" charset="0"/>
              </a:endParaRPr>
            </a:p>
          </p:txBody>
        </p:sp>
        <p:sp>
          <p:nvSpPr>
            <p:cNvPr id="29" name="Rectangle 137"/>
            <p:cNvSpPr>
              <a:spLocks noChangeArrowheads="1"/>
            </p:cNvSpPr>
            <p:nvPr/>
          </p:nvSpPr>
          <p:spPr bwMode="auto">
            <a:xfrm>
              <a:off x="8747" y="12543"/>
              <a:ext cx="418" cy="2059"/>
            </a:xfrm>
            <a:prstGeom prst="rect">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107763" dir="2700000" algn="ctr" rotWithShape="0">
                      <a:srgbClr val="FFFFFF"/>
                    </a:outerShdw>
                  </a:effectLst>
                </a14:hiddenEffects>
              </a:ext>
            </a:extLst>
          </p:spPr>
          <p:txBody>
            <a:bodyPr lIns="50063" tIns="25032" rIns="50063" bIns="25032" anchor="ctr"/>
            <a:lstStyle/>
            <a:p>
              <a:pPr algn="ctr" eaLnBrk="0" hangingPunct="0"/>
              <a:r>
                <a:rPr lang="zh-CN" altLang="en-US" sz="1350" b="1">
                  <a:solidFill>
                    <a:srgbClr val="000000"/>
                  </a:solidFill>
                  <a:latin typeface="Times New Roman" panose="02020603050405020304" pitchFamily="18" charset="0"/>
                </a:rPr>
                <a:t>审</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核</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过</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程</a:t>
              </a:r>
              <a:endParaRPr lang="zh-CN" altLang="en-US" sz="1350" b="1">
                <a:solidFill>
                  <a:srgbClr val="000000"/>
                </a:solidFill>
                <a:latin typeface="Times New Roman" panose="02020603050405020304" pitchFamily="18" charset="0"/>
              </a:endParaRPr>
            </a:p>
          </p:txBody>
        </p:sp>
        <p:sp>
          <p:nvSpPr>
            <p:cNvPr id="30" name="Rectangle 138"/>
            <p:cNvSpPr>
              <a:spLocks noChangeArrowheads="1"/>
            </p:cNvSpPr>
            <p:nvPr/>
          </p:nvSpPr>
          <p:spPr bwMode="auto">
            <a:xfrm>
              <a:off x="9333" y="12543"/>
              <a:ext cx="420" cy="2059"/>
            </a:xfrm>
            <a:prstGeom prst="rect">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107763" dir="2700000" algn="ctr" rotWithShape="0">
                      <a:srgbClr val="FFFFFF"/>
                    </a:outerShdw>
                  </a:effectLst>
                </a14:hiddenEffects>
              </a:ext>
            </a:extLst>
          </p:spPr>
          <p:txBody>
            <a:bodyPr lIns="50063" tIns="25032" rIns="50063" bIns="25032" anchor="ctr"/>
            <a:lstStyle/>
            <a:p>
              <a:pPr algn="ctr" eaLnBrk="0" hangingPunct="0"/>
              <a:r>
                <a:rPr lang="zh-CN" altLang="en-US" sz="1350" b="1">
                  <a:solidFill>
                    <a:srgbClr val="000000"/>
                  </a:solidFill>
                  <a:latin typeface="Times New Roman" panose="02020603050405020304" pitchFamily="18" charset="0"/>
                </a:rPr>
                <a:t>问</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题</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解</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决</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过</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程</a:t>
              </a:r>
              <a:endParaRPr lang="zh-CN" altLang="en-US" sz="1350" b="1">
                <a:solidFill>
                  <a:srgbClr val="000000"/>
                </a:solidFill>
                <a:latin typeface="Times New Roman" panose="02020603050405020304" pitchFamily="18" charset="0"/>
              </a:endParaRPr>
            </a:p>
          </p:txBody>
        </p:sp>
        <p:sp>
          <p:nvSpPr>
            <p:cNvPr id="31" name="Rectangle 139"/>
            <p:cNvSpPr>
              <a:spLocks noChangeArrowheads="1"/>
            </p:cNvSpPr>
            <p:nvPr/>
          </p:nvSpPr>
          <p:spPr bwMode="auto">
            <a:xfrm>
              <a:off x="10005" y="12543"/>
              <a:ext cx="418" cy="2059"/>
            </a:xfrm>
            <a:prstGeom prst="rect">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107763" dir="2700000" algn="ctr" rotWithShape="0">
                      <a:srgbClr val="FFFFFF"/>
                    </a:outerShdw>
                  </a:effectLst>
                </a14:hiddenEffects>
              </a:ext>
            </a:extLst>
          </p:spPr>
          <p:txBody>
            <a:bodyPr lIns="50063" tIns="25032" rIns="50063" bIns="25032" anchor="ctr"/>
            <a:lstStyle/>
            <a:p>
              <a:pPr algn="ctr" eaLnBrk="0" hangingPunct="0"/>
              <a:r>
                <a:rPr lang="zh-CN" altLang="en-US" sz="1350" b="1">
                  <a:solidFill>
                    <a:srgbClr val="000000"/>
                  </a:solidFill>
                  <a:latin typeface="Times New Roman" panose="02020603050405020304" pitchFamily="18" charset="0"/>
                </a:rPr>
                <a:t>管</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理</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过</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程</a:t>
              </a:r>
              <a:endParaRPr lang="zh-CN" altLang="en-US" sz="1350" b="1">
                <a:solidFill>
                  <a:srgbClr val="000000"/>
                </a:solidFill>
                <a:latin typeface="Times New Roman" panose="02020603050405020304" pitchFamily="18" charset="0"/>
              </a:endParaRPr>
            </a:p>
          </p:txBody>
        </p:sp>
        <p:sp>
          <p:nvSpPr>
            <p:cNvPr id="32" name="Rectangle 140"/>
            <p:cNvSpPr>
              <a:spLocks noChangeArrowheads="1"/>
            </p:cNvSpPr>
            <p:nvPr/>
          </p:nvSpPr>
          <p:spPr bwMode="auto">
            <a:xfrm>
              <a:off x="10591" y="12543"/>
              <a:ext cx="420" cy="2059"/>
            </a:xfrm>
            <a:prstGeom prst="rect">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107763" dir="2700000" algn="ctr" rotWithShape="0">
                      <a:srgbClr val="FFFFFF"/>
                    </a:outerShdw>
                  </a:effectLst>
                </a14:hiddenEffects>
              </a:ext>
            </a:extLst>
          </p:spPr>
          <p:txBody>
            <a:bodyPr lIns="50063" tIns="25032" rIns="50063" bIns="25032" anchor="ctr"/>
            <a:lstStyle/>
            <a:p>
              <a:pPr algn="ctr" eaLnBrk="0" hangingPunct="0"/>
              <a:r>
                <a:rPr lang="zh-CN" altLang="en-US" sz="1350" b="1">
                  <a:solidFill>
                    <a:srgbClr val="000000"/>
                  </a:solidFill>
                  <a:latin typeface="Times New Roman" panose="02020603050405020304" pitchFamily="18" charset="0"/>
                </a:rPr>
                <a:t>基</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础</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设</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施</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过</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程</a:t>
              </a:r>
              <a:endParaRPr lang="zh-CN" altLang="en-US" sz="1350" b="1">
                <a:solidFill>
                  <a:srgbClr val="000000"/>
                </a:solidFill>
                <a:latin typeface="Times New Roman" panose="02020603050405020304" pitchFamily="18" charset="0"/>
              </a:endParaRPr>
            </a:p>
          </p:txBody>
        </p:sp>
        <p:sp>
          <p:nvSpPr>
            <p:cNvPr id="33" name="Rectangle 141"/>
            <p:cNvSpPr>
              <a:spLocks noChangeArrowheads="1"/>
            </p:cNvSpPr>
            <p:nvPr/>
          </p:nvSpPr>
          <p:spPr bwMode="auto">
            <a:xfrm>
              <a:off x="11179" y="12543"/>
              <a:ext cx="418" cy="2059"/>
            </a:xfrm>
            <a:prstGeom prst="rect">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107763" dir="2700000" algn="ctr" rotWithShape="0">
                      <a:srgbClr val="FFFFFF"/>
                    </a:outerShdw>
                  </a:effectLst>
                </a14:hiddenEffects>
              </a:ext>
            </a:extLst>
          </p:spPr>
          <p:txBody>
            <a:bodyPr lIns="50063" tIns="25032" rIns="50063" bIns="25032" anchor="ctr"/>
            <a:lstStyle/>
            <a:p>
              <a:pPr algn="ctr" eaLnBrk="0" hangingPunct="0"/>
              <a:r>
                <a:rPr lang="zh-CN" altLang="en-US" sz="1350" b="1">
                  <a:solidFill>
                    <a:srgbClr val="000000"/>
                  </a:solidFill>
                  <a:latin typeface="Times New Roman" panose="02020603050405020304" pitchFamily="18" charset="0"/>
                </a:rPr>
                <a:t>改</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进</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过</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程</a:t>
              </a:r>
              <a:endParaRPr lang="zh-CN" altLang="en-US" sz="1350" b="1">
                <a:solidFill>
                  <a:srgbClr val="000000"/>
                </a:solidFill>
                <a:latin typeface="Times New Roman" panose="02020603050405020304" pitchFamily="18" charset="0"/>
              </a:endParaRPr>
            </a:p>
          </p:txBody>
        </p:sp>
        <p:sp>
          <p:nvSpPr>
            <p:cNvPr id="34" name="Rectangle 142"/>
            <p:cNvSpPr>
              <a:spLocks noChangeArrowheads="1"/>
            </p:cNvSpPr>
            <p:nvPr/>
          </p:nvSpPr>
          <p:spPr bwMode="auto">
            <a:xfrm>
              <a:off x="11765" y="12543"/>
              <a:ext cx="420" cy="2059"/>
            </a:xfrm>
            <a:prstGeom prst="rect">
              <a:avLst/>
            </a:prstGeom>
            <a:noFill/>
            <a:ln w="12700">
              <a:solidFill>
                <a:srgbClr val="000000"/>
              </a:solidFill>
              <a:miter lim="800000"/>
              <a:headEnd type="none" w="sm" len="sm"/>
              <a:tailEnd type="none" w="sm" len="sm"/>
            </a:ln>
            <a:effectLst/>
            <a:extLst>
              <a:ext uri="{909E8E84-426E-40DD-AFC4-6F175D3DCCD1}">
                <a14:hiddenFill xmlns:a14="http://schemas.microsoft.com/office/drawing/2010/main">
                  <a:solidFill>
                    <a:srgbClr val="3399FF"/>
                  </a:solidFill>
                </a14:hiddenFill>
              </a:ext>
              <a:ext uri="{AF507438-7753-43E0-B8FC-AC1667EBCBE1}">
                <a14:hiddenEffects xmlns:a14="http://schemas.microsoft.com/office/drawing/2010/main">
                  <a:effectLst>
                    <a:outerShdw dist="107763" dir="2700000" algn="ctr" rotWithShape="0">
                      <a:srgbClr val="FFFFFF"/>
                    </a:outerShdw>
                  </a:effectLst>
                </a14:hiddenEffects>
              </a:ext>
            </a:extLst>
          </p:spPr>
          <p:txBody>
            <a:bodyPr lIns="50063" tIns="25032" rIns="50063" bIns="25032" anchor="ctr"/>
            <a:lstStyle/>
            <a:p>
              <a:pPr algn="ctr" eaLnBrk="0" hangingPunct="0"/>
              <a:r>
                <a:rPr lang="zh-CN" altLang="en-US" sz="1350" b="1">
                  <a:solidFill>
                    <a:srgbClr val="000000"/>
                  </a:solidFill>
                  <a:latin typeface="Times New Roman" panose="02020603050405020304" pitchFamily="18" charset="0"/>
                </a:rPr>
                <a:t>培</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训</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过</a:t>
              </a:r>
              <a:endParaRPr lang="zh-CN" altLang="en-US" sz="1350" b="1">
                <a:solidFill>
                  <a:srgbClr val="000000"/>
                </a:solidFill>
                <a:latin typeface="Times New Roman" panose="02020603050405020304" pitchFamily="18" charset="0"/>
              </a:endParaRPr>
            </a:p>
            <a:p>
              <a:pPr algn="ctr" eaLnBrk="0" hangingPunct="0"/>
              <a:r>
                <a:rPr lang="zh-CN" altLang="en-US" sz="1350" b="1">
                  <a:solidFill>
                    <a:srgbClr val="000000"/>
                  </a:solidFill>
                  <a:latin typeface="Times New Roman" panose="02020603050405020304" pitchFamily="18" charset="0"/>
                </a:rPr>
                <a:t>程</a:t>
              </a:r>
              <a:endParaRPr lang="zh-CN" altLang="en-US" sz="1350" b="1">
                <a:solidFill>
                  <a:srgbClr val="000000"/>
                </a:solidFill>
                <a:latin typeface="Times New Roman" panose="02020603050405020304" pitchFamily="18" charset="0"/>
              </a:endParaRPr>
            </a:p>
          </p:txBody>
        </p:sp>
        <p:sp>
          <p:nvSpPr>
            <p:cNvPr id="35" name="Line 143"/>
            <p:cNvSpPr>
              <a:spLocks noChangeShapeType="1"/>
            </p:cNvSpPr>
            <p:nvPr/>
          </p:nvSpPr>
          <p:spPr bwMode="auto">
            <a:xfrm flipV="1">
              <a:off x="2456" y="12212"/>
              <a:ext cx="0" cy="331"/>
            </a:xfrm>
            <a:prstGeom prst="line">
              <a:avLst/>
            </a:prstGeom>
            <a:noFill/>
            <a:ln w="19050">
              <a:solidFill>
                <a:srgbClr val="000000"/>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p>
              <a:pPr algn="ctr"/>
              <a:endParaRPr lang="zh-CN" altLang="en-US" sz="1350"/>
            </a:p>
          </p:txBody>
        </p:sp>
        <p:sp>
          <p:nvSpPr>
            <p:cNvPr id="36" name="Line 144"/>
            <p:cNvSpPr>
              <a:spLocks noChangeShapeType="1"/>
            </p:cNvSpPr>
            <p:nvPr/>
          </p:nvSpPr>
          <p:spPr bwMode="auto">
            <a:xfrm flipV="1">
              <a:off x="3042" y="12212"/>
              <a:ext cx="0" cy="331"/>
            </a:xfrm>
            <a:prstGeom prst="line">
              <a:avLst/>
            </a:prstGeom>
            <a:noFill/>
            <a:ln w="19050">
              <a:solidFill>
                <a:srgbClr val="000000"/>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p>
              <a:pPr algn="ctr"/>
              <a:endParaRPr lang="zh-CN" altLang="en-US" sz="1350"/>
            </a:p>
          </p:txBody>
        </p:sp>
        <p:sp>
          <p:nvSpPr>
            <p:cNvPr id="37" name="Line 145"/>
            <p:cNvSpPr>
              <a:spLocks noChangeShapeType="1"/>
            </p:cNvSpPr>
            <p:nvPr/>
          </p:nvSpPr>
          <p:spPr bwMode="auto">
            <a:xfrm flipV="1">
              <a:off x="3630" y="11882"/>
              <a:ext cx="0" cy="661"/>
            </a:xfrm>
            <a:prstGeom prst="line">
              <a:avLst/>
            </a:prstGeom>
            <a:noFill/>
            <a:ln w="19050">
              <a:solidFill>
                <a:srgbClr val="000000"/>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p>
              <a:pPr algn="ctr"/>
              <a:endParaRPr lang="zh-CN" altLang="en-US" sz="1350"/>
            </a:p>
          </p:txBody>
        </p:sp>
        <p:sp>
          <p:nvSpPr>
            <p:cNvPr id="38" name="Line 146"/>
            <p:cNvSpPr>
              <a:spLocks noChangeShapeType="1"/>
            </p:cNvSpPr>
            <p:nvPr/>
          </p:nvSpPr>
          <p:spPr bwMode="auto">
            <a:xfrm flipV="1">
              <a:off x="4216" y="12212"/>
              <a:ext cx="0" cy="331"/>
            </a:xfrm>
            <a:prstGeom prst="line">
              <a:avLst/>
            </a:prstGeom>
            <a:noFill/>
            <a:ln w="19050">
              <a:solidFill>
                <a:srgbClr val="000000"/>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p>
              <a:pPr algn="ctr"/>
              <a:endParaRPr lang="zh-CN" altLang="en-US" sz="1350"/>
            </a:p>
          </p:txBody>
        </p:sp>
        <p:sp>
          <p:nvSpPr>
            <p:cNvPr id="39" name="Line 147"/>
            <p:cNvSpPr>
              <a:spLocks noChangeShapeType="1"/>
            </p:cNvSpPr>
            <p:nvPr/>
          </p:nvSpPr>
          <p:spPr bwMode="auto">
            <a:xfrm flipV="1">
              <a:off x="4804" y="12212"/>
              <a:ext cx="0" cy="331"/>
            </a:xfrm>
            <a:prstGeom prst="line">
              <a:avLst/>
            </a:prstGeom>
            <a:noFill/>
            <a:ln w="19050">
              <a:solidFill>
                <a:srgbClr val="000000"/>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p>
              <a:pPr algn="ctr"/>
              <a:endParaRPr lang="zh-CN" altLang="en-US" sz="1350"/>
            </a:p>
          </p:txBody>
        </p:sp>
        <p:sp>
          <p:nvSpPr>
            <p:cNvPr id="40" name="Line 148"/>
            <p:cNvSpPr>
              <a:spLocks noChangeShapeType="1"/>
            </p:cNvSpPr>
            <p:nvPr/>
          </p:nvSpPr>
          <p:spPr bwMode="auto">
            <a:xfrm flipV="1">
              <a:off x="5474" y="12212"/>
              <a:ext cx="0" cy="331"/>
            </a:xfrm>
            <a:prstGeom prst="line">
              <a:avLst/>
            </a:prstGeom>
            <a:noFill/>
            <a:ln w="19050">
              <a:solidFill>
                <a:srgbClr val="000000"/>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p>
              <a:pPr algn="ctr"/>
              <a:endParaRPr lang="zh-CN" altLang="en-US" sz="1350"/>
            </a:p>
          </p:txBody>
        </p:sp>
        <p:sp>
          <p:nvSpPr>
            <p:cNvPr id="41" name="Line 149"/>
            <p:cNvSpPr>
              <a:spLocks noChangeShapeType="1"/>
            </p:cNvSpPr>
            <p:nvPr/>
          </p:nvSpPr>
          <p:spPr bwMode="auto">
            <a:xfrm flipV="1">
              <a:off x="6062" y="12212"/>
              <a:ext cx="0" cy="331"/>
            </a:xfrm>
            <a:prstGeom prst="line">
              <a:avLst/>
            </a:prstGeom>
            <a:noFill/>
            <a:ln w="19050">
              <a:solidFill>
                <a:srgbClr val="000000"/>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p>
              <a:pPr algn="ctr"/>
              <a:endParaRPr lang="zh-CN" altLang="en-US" sz="1350"/>
            </a:p>
          </p:txBody>
        </p:sp>
        <p:sp>
          <p:nvSpPr>
            <p:cNvPr id="42" name="Line 150"/>
            <p:cNvSpPr>
              <a:spLocks noChangeShapeType="1"/>
            </p:cNvSpPr>
            <p:nvPr/>
          </p:nvSpPr>
          <p:spPr bwMode="auto">
            <a:xfrm flipV="1">
              <a:off x="6648" y="12212"/>
              <a:ext cx="0" cy="331"/>
            </a:xfrm>
            <a:prstGeom prst="line">
              <a:avLst/>
            </a:prstGeom>
            <a:noFill/>
            <a:ln w="19050">
              <a:solidFill>
                <a:srgbClr val="000000"/>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p>
              <a:pPr algn="ctr"/>
              <a:endParaRPr lang="zh-CN" altLang="en-US" sz="1350"/>
            </a:p>
          </p:txBody>
        </p:sp>
        <p:sp>
          <p:nvSpPr>
            <p:cNvPr id="43" name="Line 151"/>
            <p:cNvSpPr>
              <a:spLocks noChangeShapeType="1"/>
            </p:cNvSpPr>
            <p:nvPr/>
          </p:nvSpPr>
          <p:spPr bwMode="auto">
            <a:xfrm flipV="1">
              <a:off x="7237" y="12212"/>
              <a:ext cx="0" cy="331"/>
            </a:xfrm>
            <a:prstGeom prst="line">
              <a:avLst/>
            </a:prstGeom>
            <a:noFill/>
            <a:ln w="19050">
              <a:solidFill>
                <a:srgbClr val="000000"/>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p>
              <a:pPr algn="ctr"/>
              <a:endParaRPr lang="zh-CN" altLang="en-US" sz="1350"/>
            </a:p>
          </p:txBody>
        </p:sp>
        <p:sp>
          <p:nvSpPr>
            <p:cNvPr id="44" name="Line 152"/>
            <p:cNvSpPr>
              <a:spLocks noChangeShapeType="1"/>
            </p:cNvSpPr>
            <p:nvPr/>
          </p:nvSpPr>
          <p:spPr bwMode="auto">
            <a:xfrm flipV="1">
              <a:off x="7823" y="12212"/>
              <a:ext cx="0" cy="331"/>
            </a:xfrm>
            <a:prstGeom prst="line">
              <a:avLst/>
            </a:prstGeom>
            <a:noFill/>
            <a:ln w="19050">
              <a:solidFill>
                <a:srgbClr val="000000"/>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p>
              <a:pPr algn="ctr"/>
              <a:endParaRPr lang="zh-CN" altLang="en-US" sz="1350"/>
            </a:p>
          </p:txBody>
        </p:sp>
        <p:sp>
          <p:nvSpPr>
            <p:cNvPr id="45" name="Line 153"/>
            <p:cNvSpPr>
              <a:spLocks noChangeShapeType="1"/>
            </p:cNvSpPr>
            <p:nvPr/>
          </p:nvSpPr>
          <p:spPr bwMode="auto">
            <a:xfrm flipV="1">
              <a:off x="8411" y="12212"/>
              <a:ext cx="0" cy="331"/>
            </a:xfrm>
            <a:prstGeom prst="line">
              <a:avLst/>
            </a:prstGeom>
            <a:noFill/>
            <a:ln w="19050">
              <a:solidFill>
                <a:srgbClr val="000000"/>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p>
              <a:pPr algn="ctr"/>
              <a:endParaRPr lang="zh-CN" altLang="en-US" sz="1350"/>
            </a:p>
          </p:txBody>
        </p:sp>
        <p:sp>
          <p:nvSpPr>
            <p:cNvPr id="46" name="Line 154"/>
            <p:cNvSpPr>
              <a:spLocks noChangeShapeType="1"/>
            </p:cNvSpPr>
            <p:nvPr/>
          </p:nvSpPr>
          <p:spPr bwMode="auto">
            <a:xfrm flipV="1">
              <a:off x="8999" y="12212"/>
              <a:ext cx="0" cy="331"/>
            </a:xfrm>
            <a:prstGeom prst="line">
              <a:avLst/>
            </a:prstGeom>
            <a:noFill/>
            <a:ln w="19050">
              <a:solidFill>
                <a:srgbClr val="000000"/>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p>
              <a:pPr algn="ctr"/>
              <a:endParaRPr lang="zh-CN" altLang="en-US" sz="1350"/>
            </a:p>
          </p:txBody>
        </p:sp>
        <p:sp>
          <p:nvSpPr>
            <p:cNvPr id="47" name="Line 155"/>
            <p:cNvSpPr>
              <a:spLocks noChangeShapeType="1"/>
            </p:cNvSpPr>
            <p:nvPr/>
          </p:nvSpPr>
          <p:spPr bwMode="auto">
            <a:xfrm flipV="1">
              <a:off x="9585" y="12212"/>
              <a:ext cx="0" cy="331"/>
            </a:xfrm>
            <a:prstGeom prst="line">
              <a:avLst/>
            </a:prstGeom>
            <a:noFill/>
            <a:ln w="19050">
              <a:solidFill>
                <a:srgbClr val="000000"/>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p>
              <a:pPr algn="ctr"/>
              <a:endParaRPr lang="zh-CN" altLang="en-US" sz="1350"/>
            </a:p>
          </p:txBody>
        </p:sp>
        <p:sp>
          <p:nvSpPr>
            <p:cNvPr id="48" name="Line 156"/>
            <p:cNvSpPr>
              <a:spLocks noChangeShapeType="1"/>
            </p:cNvSpPr>
            <p:nvPr/>
          </p:nvSpPr>
          <p:spPr bwMode="auto">
            <a:xfrm flipV="1">
              <a:off x="10257" y="12212"/>
              <a:ext cx="0" cy="331"/>
            </a:xfrm>
            <a:prstGeom prst="line">
              <a:avLst/>
            </a:prstGeom>
            <a:noFill/>
            <a:ln w="19050">
              <a:solidFill>
                <a:srgbClr val="000000"/>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p>
              <a:pPr algn="ctr"/>
              <a:endParaRPr lang="zh-CN" altLang="en-US" sz="1350"/>
            </a:p>
          </p:txBody>
        </p:sp>
        <p:sp>
          <p:nvSpPr>
            <p:cNvPr id="49" name="Line 157"/>
            <p:cNvSpPr>
              <a:spLocks noChangeShapeType="1"/>
            </p:cNvSpPr>
            <p:nvPr/>
          </p:nvSpPr>
          <p:spPr bwMode="auto">
            <a:xfrm flipV="1">
              <a:off x="10843" y="12212"/>
              <a:ext cx="0" cy="331"/>
            </a:xfrm>
            <a:prstGeom prst="line">
              <a:avLst/>
            </a:prstGeom>
            <a:noFill/>
            <a:ln w="19050">
              <a:solidFill>
                <a:srgbClr val="000000"/>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p>
              <a:pPr algn="ctr"/>
              <a:endParaRPr lang="zh-CN" altLang="en-US" sz="1350"/>
            </a:p>
          </p:txBody>
        </p:sp>
        <p:sp>
          <p:nvSpPr>
            <p:cNvPr id="50" name="Line 158"/>
            <p:cNvSpPr>
              <a:spLocks noChangeShapeType="1"/>
            </p:cNvSpPr>
            <p:nvPr/>
          </p:nvSpPr>
          <p:spPr bwMode="auto">
            <a:xfrm flipV="1">
              <a:off x="11431" y="12212"/>
              <a:ext cx="0" cy="331"/>
            </a:xfrm>
            <a:prstGeom prst="line">
              <a:avLst/>
            </a:prstGeom>
            <a:noFill/>
            <a:ln w="19050">
              <a:solidFill>
                <a:srgbClr val="000000"/>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p>
              <a:pPr algn="ctr"/>
              <a:endParaRPr lang="zh-CN" altLang="en-US" sz="1350"/>
            </a:p>
          </p:txBody>
        </p:sp>
        <p:sp>
          <p:nvSpPr>
            <p:cNvPr id="51" name="Line 159"/>
            <p:cNvSpPr>
              <a:spLocks noChangeShapeType="1"/>
            </p:cNvSpPr>
            <p:nvPr/>
          </p:nvSpPr>
          <p:spPr bwMode="auto">
            <a:xfrm flipV="1">
              <a:off x="12017" y="12212"/>
              <a:ext cx="0" cy="331"/>
            </a:xfrm>
            <a:prstGeom prst="line">
              <a:avLst/>
            </a:prstGeom>
            <a:noFill/>
            <a:ln w="19050">
              <a:solidFill>
                <a:srgbClr val="000000"/>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p>
              <a:pPr algn="ctr"/>
              <a:endParaRPr lang="zh-CN" altLang="en-US" sz="1350"/>
            </a:p>
          </p:txBody>
        </p:sp>
        <p:sp>
          <p:nvSpPr>
            <p:cNvPr id="52" name="Line 160"/>
            <p:cNvSpPr>
              <a:spLocks noChangeShapeType="1"/>
            </p:cNvSpPr>
            <p:nvPr/>
          </p:nvSpPr>
          <p:spPr bwMode="auto">
            <a:xfrm flipV="1">
              <a:off x="10257" y="12212"/>
              <a:ext cx="1760" cy="0"/>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anchor="ctr"/>
            <a:lstStyle/>
            <a:p>
              <a:pPr algn="ctr"/>
              <a:endParaRPr lang="zh-CN" altLang="en-US" sz="1350"/>
            </a:p>
          </p:txBody>
        </p:sp>
        <p:sp>
          <p:nvSpPr>
            <p:cNvPr id="53" name="Line 161"/>
            <p:cNvSpPr>
              <a:spLocks noChangeShapeType="1"/>
            </p:cNvSpPr>
            <p:nvPr/>
          </p:nvSpPr>
          <p:spPr bwMode="auto">
            <a:xfrm flipV="1">
              <a:off x="10843" y="11882"/>
              <a:ext cx="0" cy="330"/>
            </a:xfrm>
            <a:prstGeom prst="line">
              <a:avLst/>
            </a:prstGeom>
            <a:noFill/>
            <a:ln w="19050">
              <a:solidFill>
                <a:srgbClr val="000000"/>
              </a:solidFill>
              <a:round/>
              <a:headEnd type="none" w="sm" len="sm"/>
              <a:tailEnd type="none" w="sm" len="sm"/>
            </a:ln>
            <a:effectLst>
              <a:outerShdw dist="107763" dir="2700000" algn="ctr" rotWithShape="0">
                <a:srgbClr val="FFFFFF"/>
              </a:outerShdw>
            </a:effectLst>
            <a:extLst>
              <a:ext uri="{909E8E84-426E-40DD-AFC4-6F175D3DCCD1}">
                <a14:hiddenFill xmlns:a14="http://schemas.microsoft.com/office/drawing/2010/main">
                  <a:noFill/>
                </a14:hiddenFill>
              </a:ext>
            </a:extLst>
          </p:spPr>
          <p:txBody>
            <a:bodyPr/>
            <a:lstStyle/>
            <a:p>
              <a:pPr algn="ctr"/>
              <a:endParaRPr lang="zh-CN" altLang="en-US" sz="1350"/>
            </a:p>
          </p:txBody>
        </p:sp>
      </p:grpSp>
      <p:sp>
        <p:nvSpPr>
          <p:cNvPr id="54" name="TextBox 53"/>
          <p:cNvSpPr txBox="1"/>
          <p:nvPr/>
        </p:nvSpPr>
        <p:spPr>
          <a:xfrm>
            <a:off x="2522628" y="4515966"/>
            <a:ext cx="4416594" cy="32316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sz="1500" b="1" dirty="0">
                <a:latin typeface="宋体" panose="02010600030101010101" pitchFamily="2" charset="-122"/>
              </a:rPr>
              <a:t>软件过程≠软件工程，软件过程是软件工程的子集</a:t>
            </a:r>
            <a:endParaRPr lang="zh-CN" altLang="en-US" sz="1500" b="1" dirty="0">
              <a:latin typeface="宋体" panose="02010600030101010101" pitchFamily="2" charset="-122"/>
            </a:endParaRPr>
          </a:p>
        </p:txBody>
      </p:sp>
      <p:sp>
        <p:nvSpPr>
          <p:cNvPr id="3" name="日期占位符 2"/>
          <p:cNvSpPr>
            <a:spLocks noGrp="1"/>
          </p:cNvSpPr>
          <p:nvPr>
            <p:ph type="dt" sz="half" idx="10"/>
          </p:nvPr>
        </p:nvSpPr>
        <p:spPr/>
        <p:txBody>
          <a:bodyPr/>
          <a:lstStyle/>
          <a:p>
            <a:fld id="{9AD7CCB2-DC1A-4C06-A3BA-654613873B4D}" type="datetime1">
              <a:rPr lang="zh-CN" altLang="en-US" smtClean="0"/>
            </a:fld>
            <a:endParaRPr lang="zh-CN" altLang="en-US" dirty="0"/>
          </a:p>
        </p:txBody>
      </p:sp>
      <p:sp>
        <p:nvSpPr>
          <p:cNvPr id="55" name="页脚占位符 54"/>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麦当劳的过程管理</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CCC219E2-292A-4B48-AE9D-F87929BD94B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4836" y="1062681"/>
            <a:ext cx="8194938" cy="3248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麦当劳的过程管理</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CCC219E2-292A-4B48-AE9D-F87929BD94B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0194" y="1381852"/>
            <a:ext cx="8115557" cy="2541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麦当劳的过程管理</a:t>
            </a:r>
            <a:endParaRPr lang="zh-CN" altLang="en-US" dirty="0"/>
          </a:p>
        </p:txBody>
      </p:sp>
      <p:sp>
        <p:nvSpPr>
          <p:cNvPr id="4" name="日期占位符 3"/>
          <p:cNvSpPr>
            <a:spLocks noGrp="1"/>
          </p:cNvSpPr>
          <p:nvPr>
            <p:ph type="dt" sz="half" idx="10"/>
          </p:nvPr>
        </p:nvSpPr>
        <p:spPr/>
        <p:txBody>
          <a:bodyPr/>
          <a:lstStyle/>
          <a:p>
            <a:fld id="{3AE87505-D3CE-4BE9-94B0-86C9120A745F}"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17517" y="936990"/>
            <a:ext cx="8359486" cy="3468756"/>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常用的软件过程模型</a:t>
            </a:r>
            <a:endParaRPr lang="zh-CN" altLang="en-US" dirty="0"/>
          </a:p>
        </p:txBody>
      </p:sp>
      <p:sp>
        <p:nvSpPr>
          <p:cNvPr id="3" name="内容占位符 2"/>
          <p:cNvSpPr>
            <a:spLocks noGrp="1"/>
          </p:cNvSpPr>
          <p:nvPr>
            <p:ph idx="1"/>
          </p:nvPr>
        </p:nvSpPr>
        <p:spPr>
          <a:xfrm>
            <a:off x="768097" y="926785"/>
            <a:ext cx="7889016" cy="3828370"/>
          </a:xfrm>
        </p:spPr>
        <p:txBody>
          <a:bodyPr>
            <a:noAutofit/>
          </a:bodyPr>
          <a:lstStyle/>
          <a:p>
            <a:pPr>
              <a:lnSpc>
                <a:spcPct val="100000"/>
              </a:lnSpc>
              <a:spcAft>
                <a:spcPts val="0"/>
              </a:spcAft>
            </a:pPr>
            <a:r>
              <a:rPr lang="zh-CN" altLang="en-US" dirty="0">
                <a:latin typeface="+mj-ea"/>
                <a:ea typeface="+mj-ea"/>
              </a:rPr>
              <a:t>软件开发的这些阶段，是按什么样的顺序排列的呢？</a:t>
            </a:r>
            <a:endParaRPr lang="en-US" altLang="zh-CN" dirty="0">
              <a:latin typeface="+mj-ea"/>
              <a:ea typeface="+mj-ea"/>
            </a:endParaRPr>
          </a:p>
          <a:p>
            <a:pPr>
              <a:lnSpc>
                <a:spcPct val="100000"/>
              </a:lnSpc>
              <a:spcAft>
                <a:spcPts val="0"/>
              </a:spcAft>
            </a:pPr>
            <a:r>
              <a:rPr lang="zh-CN" altLang="en-US" dirty="0">
                <a:latin typeface="+mj-ea"/>
                <a:ea typeface="+mj-ea"/>
              </a:rPr>
              <a:t>经过软件工程领域科学家在实际项目的基础上不断研究和发现，总结出了一些可以遵循的规律</a:t>
            </a:r>
            <a:r>
              <a:rPr lang="en-US" altLang="zh-CN" dirty="0">
                <a:latin typeface="+mj-ea"/>
                <a:ea typeface="+mj-ea"/>
              </a:rPr>
              <a:t>——</a:t>
            </a:r>
            <a:r>
              <a:rPr lang="zh-CN" altLang="en-US" dirty="0">
                <a:solidFill>
                  <a:srgbClr val="FF0000"/>
                </a:solidFill>
                <a:latin typeface="+mj-ea"/>
                <a:ea typeface="+mj-ea"/>
              </a:rPr>
              <a:t>过程模型</a:t>
            </a:r>
            <a:r>
              <a:rPr lang="zh-CN" altLang="en-US" dirty="0">
                <a:latin typeface="+mj-ea"/>
                <a:ea typeface="+mj-ea"/>
              </a:rPr>
              <a:t>。</a:t>
            </a:r>
            <a:endParaRPr lang="en-US" altLang="zh-CN" dirty="0">
              <a:latin typeface="+mj-ea"/>
              <a:ea typeface="+mj-ea"/>
            </a:endParaRPr>
          </a:p>
        </p:txBody>
      </p:sp>
      <p:sp>
        <p:nvSpPr>
          <p:cNvPr id="6" name="灯片编号占位符 5"/>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4" name="日期占位符 3"/>
          <p:cNvSpPr>
            <a:spLocks noGrp="1"/>
          </p:cNvSpPr>
          <p:nvPr>
            <p:ph type="dt" sz="half" idx="10"/>
          </p:nvPr>
        </p:nvSpPr>
        <p:spPr/>
        <p:txBody>
          <a:bodyPr/>
          <a:lstStyle/>
          <a:p>
            <a:fld id="{B3D59C18-622E-4747-A2CF-E5457A70870E}"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a:lnSpc>
                <a:spcPct val="100000"/>
              </a:lnSpc>
              <a:spcAft>
                <a:spcPts val="0"/>
              </a:spcAft>
            </a:pPr>
            <a:r>
              <a:rPr lang="zh-CN" altLang="en-US" sz="2400" dirty="0">
                <a:latin typeface="+mj-ea"/>
              </a:rPr>
              <a:t>常用的开发过程模型：</a:t>
            </a:r>
            <a:endParaRPr lang="zh-CN" altLang="en-US" sz="2400" dirty="0">
              <a:latin typeface="+mj-ea"/>
            </a:endParaRPr>
          </a:p>
          <a:p>
            <a:pPr lvl="1">
              <a:lnSpc>
                <a:spcPct val="100000"/>
              </a:lnSpc>
              <a:spcAft>
                <a:spcPts val="0"/>
              </a:spcAft>
              <a:buClr>
                <a:schemeClr val="accent6"/>
              </a:buClr>
            </a:pPr>
            <a:r>
              <a:rPr lang="zh-CN" altLang="en-US" sz="2000" dirty="0">
                <a:latin typeface="+mj-ea"/>
              </a:rPr>
              <a:t> 瀑布模型</a:t>
            </a:r>
            <a:endParaRPr lang="zh-CN" altLang="en-US" sz="2000" dirty="0">
              <a:latin typeface="+mj-ea"/>
            </a:endParaRPr>
          </a:p>
          <a:p>
            <a:pPr lvl="1">
              <a:lnSpc>
                <a:spcPct val="100000"/>
              </a:lnSpc>
              <a:spcAft>
                <a:spcPts val="0"/>
              </a:spcAft>
              <a:buClr>
                <a:schemeClr val="accent6"/>
              </a:buClr>
            </a:pPr>
            <a:r>
              <a:rPr lang="zh-CN" altLang="en-US" sz="2000" dirty="0">
                <a:latin typeface="+mj-ea"/>
              </a:rPr>
              <a:t> 原型（演化）模型</a:t>
            </a:r>
            <a:endParaRPr lang="en-US" altLang="zh-CN" sz="2000" dirty="0">
              <a:latin typeface="+mj-ea"/>
            </a:endParaRPr>
          </a:p>
          <a:p>
            <a:pPr lvl="1">
              <a:lnSpc>
                <a:spcPct val="100000"/>
              </a:lnSpc>
              <a:spcAft>
                <a:spcPts val="0"/>
              </a:spcAft>
              <a:buClr>
                <a:schemeClr val="accent6"/>
              </a:buClr>
            </a:pPr>
            <a:r>
              <a:rPr lang="zh-CN" altLang="en-US" sz="2000" dirty="0">
                <a:latin typeface="+mj-ea"/>
              </a:rPr>
              <a:t>增量模型</a:t>
            </a:r>
            <a:endParaRPr lang="zh-CN" altLang="en-US" sz="2000" dirty="0">
              <a:latin typeface="+mj-ea"/>
            </a:endParaRPr>
          </a:p>
          <a:p>
            <a:pPr lvl="1">
              <a:lnSpc>
                <a:spcPct val="100000"/>
              </a:lnSpc>
              <a:spcAft>
                <a:spcPts val="0"/>
              </a:spcAft>
              <a:buClr>
                <a:schemeClr val="accent6"/>
              </a:buClr>
            </a:pPr>
            <a:r>
              <a:rPr lang="zh-CN" altLang="en-US" sz="2000" dirty="0">
                <a:latin typeface="+mj-ea"/>
              </a:rPr>
              <a:t> 螺旋模型</a:t>
            </a:r>
            <a:endParaRPr lang="en-US" altLang="zh-CN" sz="2000" dirty="0">
              <a:latin typeface="+mj-ea"/>
            </a:endParaRPr>
          </a:p>
          <a:p>
            <a:pPr lvl="1">
              <a:lnSpc>
                <a:spcPct val="100000"/>
              </a:lnSpc>
              <a:spcAft>
                <a:spcPts val="0"/>
              </a:spcAft>
              <a:buClr>
                <a:schemeClr val="accent6"/>
              </a:buClr>
            </a:pPr>
            <a:r>
              <a:rPr lang="zh-CN" altLang="en-US" sz="2000" dirty="0">
                <a:latin typeface="+mj-ea"/>
              </a:rPr>
              <a:t>喷泉模型</a:t>
            </a:r>
            <a:endParaRPr lang="zh-CN" altLang="en-US" sz="2000" dirty="0">
              <a:latin typeface="+mj-ea"/>
            </a:endParaRPr>
          </a:p>
          <a:p>
            <a:pPr lvl="1">
              <a:lnSpc>
                <a:spcPct val="100000"/>
              </a:lnSpc>
              <a:spcAft>
                <a:spcPts val="0"/>
              </a:spcAft>
              <a:buClr>
                <a:schemeClr val="accent6"/>
              </a:buClr>
            </a:pPr>
            <a:r>
              <a:rPr lang="zh-CN" altLang="en-US" sz="2000" dirty="0">
                <a:latin typeface="+mj-ea"/>
              </a:rPr>
              <a:t> 统一过程模型</a:t>
            </a:r>
            <a:r>
              <a:rPr lang="en-US" altLang="zh-CN" sz="2000" dirty="0">
                <a:latin typeface="+mj-ea"/>
              </a:rPr>
              <a:t>RUP</a:t>
            </a:r>
            <a:r>
              <a:rPr lang="zh-CN" altLang="en-US" sz="2000" dirty="0">
                <a:latin typeface="+mj-ea"/>
              </a:rPr>
              <a:t>（迭代式模型）</a:t>
            </a:r>
            <a:endParaRPr lang="en-US" altLang="zh-CN" sz="2000" dirty="0">
              <a:latin typeface="+mj-ea"/>
            </a:endParaRPr>
          </a:p>
          <a:p>
            <a:pPr lvl="1">
              <a:lnSpc>
                <a:spcPct val="100000"/>
              </a:lnSpc>
              <a:spcAft>
                <a:spcPts val="0"/>
              </a:spcAft>
              <a:buClr>
                <a:schemeClr val="accent6"/>
              </a:buClr>
            </a:pPr>
            <a:r>
              <a:rPr lang="zh-CN" altLang="en-US" sz="2000" dirty="0">
                <a:latin typeface="+mj-ea"/>
              </a:rPr>
              <a:t> 敏捷过程（</a:t>
            </a:r>
            <a:r>
              <a:rPr lang="en-US" altLang="zh-CN" sz="2000" dirty="0">
                <a:latin typeface="+mj-ea"/>
              </a:rPr>
              <a:t>XP, Scrum</a:t>
            </a:r>
            <a:r>
              <a:rPr lang="zh-CN" altLang="en-US" sz="2000" dirty="0">
                <a:latin typeface="+mj-ea"/>
              </a:rPr>
              <a:t>）</a:t>
            </a:r>
            <a:endParaRPr lang="en-US" altLang="zh-CN" sz="2000" dirty="0">
              <a:latin typeface="+mj-ea"/>
            </a:endParaRPr>
          </a:p>
          <a:p>
            <a:endParaRPr lang="zh-CN" altLang="en-US" dirty="0"/>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编码修正模型</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9" name="内容占位符 8"/>
          <p:cNvSpPr/>
          <p:nvPr>
            <p:ph idx="1"/>
          </p:nvPr>
        </p:nvSpPr>
        <p:spPr/>
        <p:txBody>
          <a:bodyPr/>
          <a:p>
            <a:r>
              <a:rPr lang="zh-CN" altLang="en-US"/>
              <a:t>最古老的模型，该模型将软件开发过程分成编码和测试两项活动。</a:t>
            </a:r>
            <a:endParaRPr lang="zh-CN" altLang="en-US"/>
          </a:p>
        </p:txBody>
      </p:sp>
      <p:pic>
        <p:nvPicPr>
          <p:cNvPr id="7" name="图片 6" descr="图片1"/>
          <p:cNvPicPr>
            <a:picLocks noChangeAspect="1"/>
          </p:cNvPicPr>
          <p:nvPr/>
        </p:nvPicPr>
        <p:blipFill>
          <a:blip r:embed="rId1"/>
          <a:stretch>
            <a:fillRect/>
          </a:stretch>
        </p:blipFill>
        <p:spPr>
          <a:xfrm>
            <a:off x="3133725" y="1724025"/>
            <a:ext cx="4259580" cy="286321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Text Box 3"/>
          <p:cNvSpPr txBox="1">
            <a:spLocks noChangeArrowheads="1"/>
          </p:cNvSpPr>
          <p:nvPr/>
        </p:nvSpPr>
        <p:spPr bwMode="auto">
          <a:xfrm>
            <a:off x="760020" y="935791"/>
            <a:ext cx="7992094" cy="3600986"/>
          </a:xfrm>
          <a:prstGeom prst="rect">
            <a:avLst/>
          </a:prstGeom>
          <a:noFill/>
          <a:ln w="25400">
            <a:noFill/>
            <a:miter lim="800000"/>
          </a:ln>
          <a:effectLst/>
        </p:spPr>
        <p:txBody>
          <a:bodyPr wrap="square">
            <a:spAutoFit/>
          </a:bodyPr>
          <a:lstStyle/>
          <a:p>
            <a:pPr algn="l" eaLnBrk="1" hangingPunct="1">
              <a:spcBef>
                <a:spcPts val="600"/>
              </a:spcBef>
            </a:pPr>
            <a:r>
              <a:rPr kumimoji="1" lang="en-US" altLang="zh-CN" b="1" dirty="0"/>
              <a:t>     </a:t>
            </a:r>
            <a:r>
              <a:rPr kumimoji="1" lang="zh-CN" altLang="en-US" b="1" dirty="0"/>
              <a:t>某个老师（</a:t>
            </a:r>
            <a:r>
              <a:rPr kumimoji="1" lang="en-US" altLang="zh-CN" b="1" dirty="0"/>
              <a:t>T</a:t>
            </a:r>
            <a:r>
              <a:rPr kumimoji="1" lang="zh-CN" altLang="en-US" b="1" dirty="0"/>
              <a:t>）想要考察一个同学（</a:t>
            </a:r>
            <a:r>
              <a:rPr kumimoji="1" lang="en-US" altLang="zh-CN" b="1" dirty="0"/>
              <a:t>S</a:t>
            </a:r>
            <a:r>
              <a:rPr kumimoji="1" lang="zh-CN" altLang="en-US" b="1" dirty="0"/>
              <a:t>）的学习情况和技术水平，于是交给该学生一个任务。</a:t>
            </a:r>
            <a:endParaRPr kumimoji="1" lang="zh-CN" altLang="en-US" b="1" dirty="0"/>
          </a:p>
          <a:p>
            <a:pPr algn="l" eaLnBrk="1" hangingPunct="1">
              <a:spcBef>
                <a:spcPts val="600"/>
              </a:spcBef>
            </a:pPr>
            <a:r>
              <a:rPr kumimoji="1" lang="zh-CN" altLang="en-US" b="1" dirty="0">
                <a:solidFill>
                  <a:srgbClr val="FF0000"/>
                </a:solidFill>
              </a:rPr>
              <a:t>    </a:t>
            </a:r>
            <a:r>
              <a:rPr kumimoji="1" lang="en-US" altLang="zh-CN" b="1" dirty="0">
                <a:solidFill>
                  <a:srgbClr val="FF0000"/>
                </a:solidFill>
              </a:rPr>
              <a:t>T :  </a:t>
            </a:r>
            <a:r>
              <a:rPr kumimoji="1" lang="zh-CN" altLang="en-US" b="1" dirty="0"/>
              <a:t>我有一个朋友想要一个图象浏览软件，能够查看多种格式的图象，包括</a:t>
            </a:r>
            <a:r>
              <a:rPr kumimoji="1" lang="en-US" altLang="zh-CN" b="1" dirty="0"/>
              <a:t>BMP</a:t>
            </a:r>
            <a:r>
              <a:rPr kumimoji="1" lang="zh-CN" altLang="en-US" b="1" dirty="0"/>
              <a:t>、</a:t>
            </a:r>
            <a:r>
              <a:rPr kumimoji="1" lang="en-US" altLang="zh-CN" b="1" dirty="0"/>
              <a:t>TIFF</a:t>
            </a:r>
            <a:r>
              <a:rPr kumimoji="1" lang="zh-CN" altLang="en-US" b="1" dirty="0"/>
              <a:t>、</a:t>
            </a:r>
            <a:r>
              <a:rPr kumimoji="1" lang="en-US" altLang="zh-CN" b="1" dirty="0"/>
              <a:t>JPG</a:t>
            </a:r>
            <a:r>
              <a:rPr kumimoji="1" lang="zh-CN" altLang="en-US" b="1" dirty="0"/>
              <a:t>、</a:t>
            </a:r>
            <a:r>
              <a:rPr kumimoji="1" lang="en-US" altLang="zh-CN" b="1" dirty="0"/>
              <a:t>PNG</a:t>
            </a:r>
            <a:r>
              <a:rPr kumimoji="1" lang="zh-CN" altLang="en-US" b="1" dirty="0"/>
              <a:t>，并且能够支持一般的放大、缩小、漫游。你能做这样一个软件吗？</a:t>
            </a:r>
            <a:endParaRPr kumimoji="1" lang="zh-CN" altLang="en-US" b="1" dirty="0"/>
          </a:p>
          <a:p>
            <a:pPr algn="l" eaLnBrk="1" hangingPunct="1">
              <a:spcBef>
                <a:spcPts val="600"/>
              </a:spcBef>
            </a:pPr>
            <a:r>
              <a:rPr kumimoji="1" lang="zh-CN" altLang="en-US" b="1" dirty="0">
                <a:solidFill>
                  <a:srgbClr val="009666"/>
                </a:solidFill>
              </a:rPr>
              <a:t>   </a:t>
            </a:r>
            <a:r>
              <a:rPr kumimoji="1" lang="en-US" altLang="zh-CN" b="1" dirty="0">
                <a:solidFill>
                  <a:srgbClr val="009666"/>
                </a:solidFill>
              </a:rPr>
              <a:t>S</a:t>
            </a:r>
            <a:r>
              <a:rPr kumimoji="1" lang="zh-CN" altLang="en-US" b="1" dirty="0">
                <a:solidFill>
                  <a:srgbClr val="009666"/>
                </a:solidFill>
              </a:rPr>
              <a:t>：就是类似</a:t>
            </a:r>
            <a:r>
              <a:rPr kumimoji="1" lang="en-US" altLang="zh-CN" b="1" dirty="0">
                <a:solidFill>
                  <a:srgbClr val="009666"/>
                </a:solidFill>
              </a:rPr>
              <a:t>ACDSEE</a:t>
            </a:r>
            <a:r>
              <a:rPr kumimoji="1" lang="zh-CN" altLang="en-US" b="1" dirty="0">
                <a:solidFill>
                  <a:srgbClr val="009666"/>
                </a:solidFill>
              </a:rPr>
              <a:t>这样的软件吗？</a:t>
            </a:r>
            <a:endParaRPr kumimoji="1" lang="zh-CN" altLang="en-US" b="1" dirty="0">
              <a:solidFill>
                <a:srgbClr val="009666"/>
              </a:solidFill>
            </a:endParaRPr>
          </a:p>
          <a:p>
            <a:pPr algn="l" eaLnBrk="1" hangingPunct="1">
              <a:spcBef>
                <a:spcPts val="600"/>
              </a:spcBef>
            </a:pPr>
            <a:r>
              <a:rPr kumimoji="1" lang="zh-CN" altLang="en-US" b="1" dirty="0">
                <a:solidFill>
                  <a:srgbClr val="FF0000"/>
                </a:solidFill>
              </a:rPr>
              <a:t>   </a:t>
            </a:r>
            <a:r>
              <a:rPr kumimoji="1" lang="en-US" altLang="zh-CN" b="1" dirty="0">
                <a:solidFill>
                  <a:srgbClr val="FF0000"/>
                </a:solidFill>
              </a:rPr>
              <a:t>T:  </a:t>
            </a:r>
            <a:r>
              <a:rPr kumimoji="1" lang="zh-CN" altLang="en-US" b="1" dirty="0"/>
              <a:t>差不多，不过不需要那么强大的功能，我这个朋友计算机是外行，最好能做的比较方便，傻瓜型的，例如象</a:t>
            </a:r>
            <a:r>
              <a:rPr kumimoji="1" lang="en-US" altLang="zh-CN" b="1" dirty="0"/>
              <a:t>ACDSEE</a:t>
            </a:r>
            <a:r>
              <a:rPr kumimoji="1" lang="zh-CN" altLang="en-US" b="1" dirty="0"/>
              <a:t>自动翻页这种功能还是要的。</a:t>
            </a:r>
            <a:endParaRPr kumimoji="1" lang="zh-CN" altLang="en-US" b="1" dirty="0"/>
          </a:p>
          <a:p>
            <a:pPr algn="l" eaLnBrk="1" hangingPunct="1">
              <a:spcBef>
                <a:spcPts val="600"/>
              </a:spcBef>
            </a:pPr>
            <a:r>
              <a:rPr kumimoji="1" lang="zh-CN" altLang="en-US" b="1" dirty="0">
                <a:solidFill>
                  <a:srgbClr val="00B050"/>
                </a:solidFill>
              </a:rPr>
              <a:t>   </a:t>
            </a:r>
            <a:r>
              <a:rPr kumimoji="1" lang="en-US" altLang="zh-CN" b="1" dirty="0">
                <a:solidFill>
                  <a:srgbClr val="009666"/>
                </a:solidFill>
              </a:rPr>
              <a:t>S</a:t>
            </a:r>
            <a:r>
              <a:rPr kumimoji="1" lang="zh-CN" altLang="en-US" b="1" dirty="0">
                <a:solidFill>
                  <a:srgbClr val="009666"/>
                </a:solidFill>
              </a:rPr>
              <a:t>：我以前学过</a:t>
            </a:r>
            <a:r>
              <a:rPr kumimoji="1" lang="en-US" altLang="zh-CN" b="1" dirty="0">
                <a:solidFill>
                  <a:srgbClr val="009666"/>
                </a:solidFill>
              </a:rPr>
              <a:t>BMP</a:t>
            </a:r>
            <a:r>
              <a:rPr kumimoji="1" lang="zh-CN" altLang="en-US" b="1" dirty="0">
                <a:solidFill>
                  <a:srgbClr val="009666"/>
                </a:solidFill>
              </a:rPr>
              <a:t>和</a:t>
            </a:r>
            <a:r>
              <a:rPr kumimoji="1" lang="en-US" altLang="zh-CN" b="1" dirty="0">
                <a:solidFill>
                  <a:srgbClr val="009666"/>
                </a:solidFill>
              </a:rPr>
              <a:t>JPG</a:t>
            </a:r>
            <a:r>
              <a:rPr kumimoji="1" lang="zh-CN" altLang="en-US" b="1" dirty="0">
                <a:solidFill>
                  <a:srgbClr val="009666"/>
                </a:solidFill>
              </a:rPr>
              <a:t>的图象格式解析，我想没有问题。</a:t>
            </a:r>
            <a:endParaRPr kumimoji="1" lang="zh-CN" altLang="en-US" b="1" dirty="0">
              <a:solidFill>
                <a:srgbClr val="009666"/>
              </a:solidFill>
            </a:endParaRPr>
          </a:p>
          <a:p>
            <a:pPr algn="l" eaLnBrk="1" hangingPunct="1">
              <a:spcBef>
                <a:spcPts val="600"/>
              </a:spcBef>
            </a:pPr>
            <a:r>
              <a:rPr kumimoji="1" lang="zh-CN" altLang="en-US" b="1" dirty="0">
                <a:solidFill>
                  <a:srgbClr val="FF0000"/>
                </a:solidFill>
              </a:rPr>
              <a:t>   </a:t>
            </a:r>
            <a:r>
              <a:rPr kumimoji="1" lang="en-US" altLang="zh-CN" b="1" dirty="0">
                <a:solidFill>
                  <a:srgbClr val="FF0000"/>
                </a:solidFill>
              </a:rPr>
              <a:t>T</a:t>
            </a:r>
            <a:r>
              <a:rPr kumimoji="1" lang="zh-CN" altLang="en-US" b="1" dirty="0">
                <a:solidFill>
                  <a:srgbClr val="FF0000"/>
                </a:solidFill>
              </a:rPr>
              <a:t>：</a:t>
            </a:r>
            <a:r>
              <a:rPr kumimoji="1" lang="zh-CN" altLang="en-US" b="1" dirty="0"/>
              <a:t>好的，给你</a:t>
            </a:r>
            <a:r>
              <a:rPr kumimoji="1" lang="en-US" altLang="zh-CN" b="1" dirty="0"/>
              <a:t>30</a:t>
            </a:r>
            <a:r>
              <a:rPr kumimoji="1" lang="zh-CN" altLang="en-US" b="1" dirty="0"/>
              <a:t>天时间，下周你再来一趟，跟我讲一下你的工作进度。</a:t>
            </a:r>
            <a:endParaRPr kumimoji="1" lang="zh-CN" altLang="en-US" b="1" dirty="0"/>
          </a:p>
          <a:p>
            <a:pPr algn="l" eaLnBrk="1" hangingPunct="1">
              <a:spcBef>
                <a:spcPts val="600"/>
              </a:spcBef>
            </a:pPr>
            <a:r>
              <a:rPr kumimoji="1" lang="zh-CN" altLang="en-US" b="1" dirty="0"/>
              <a:t>  这位同学非常明白老师的意图，回去后想了一下，并列出了一个清单。</a:t>
            </a:r>
            <a:endParaRPr kumimoji="1" lang="zh-CN" altLang="en-US" b="1" dirty="0"/>
          </a:p>
        </p:txBody>
      </p:sp>
      <p:sp>
        <p:nvSpPr>
          <p:cNvPr id="3" name="标题 2"/>
          <p:cNvSpPr>
            <a:spLocks noGrp="1"/>
          </p:cNvSpPr>
          <p:nvPr>
            <p:ph type="title"/>
          </p:nvPr>
        </p:nvSpPr>
        <p:spPr/>
        <p:txBody>
          <a:bodyPr/>
          <a:lstStyle/>
          <a:p>
            <a:r>
              <a:rPr kumimoji="1" lang="zh-CN" altLang="en-US" dirty="0">
                <a:latin typeface="Times New Roman" panose="02020603050405020304" pitchFamily="18" charset="0"/>
              </a:rPr>
              <a:t>案例</a:t>
            </a:r>
            <a:endParaRPr lang="zh-CN" altLang="en-US" dirty="0"/>
          </a:p>
        </p:txBody>
      </p:sp>
      <p:sp>
        <p:nvSpPr>
          <p:cNvPr id="5" name="灯片编号占位符 4"/>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2" name="日期占位符 1"/>
          <p:cNvSpPr>
            <a:spLocks noGrp="1"/>
          </p:cNvSpPr>
          <p:nvPr>
            <p:ph type="dt" sz="half" idx="10"/>
          </p:nvPr>
        </p:nvSpPr>
        <p:spPr/>
        <p:txBody>
          <a:bodyPr/>
          <a:lstStyle/>
          <a:p>
            <a:fld id="{59C4B137-DD45-435F-A5DE-BDC37B1F5364}"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5955"/>
                                        </p:tgtEl>
                                        <p:attrNameLst>
                                          <p:attrName>style.visibility</p:attrName>
                                        </p:attrNameLst>
                                      </p:cBhvr>
                                      <p:to>
                                        <p:strVal val="visible"/>
                                      </p:to>
                                    </p:set>
                                    <p:animEffect transition="in" filter="wipe(left)">
                                      <p:cBhvr>
                                        <p:cTn id="7" dur="500"/>
                                        <p:tgtEl>
                                          <p:spTgt spid="125955"/>
                                        </p:tgtEl>
                                      </p:cBhvr>
                                    </p:animEffect>
                                  </p:childTnLst>
                                  <p:subTnLst>
                                    <p:audio>
                                      <p:cMediaNode>
                                        <p:cTn display="0" masterRel="sameClick">
                                          <p:stCondLst>
                                            <p:cond evt="begin" delay="0">
                                              <p:tn val="5"/>
                                            </p:cond>
                                          </p:stCondLst>
                                          <p:endCondLst>
                                            <p:cond evt="onStopAudio" delay="0">
                                              <p:tgtEl>
                                                <p:sldTgt/>
                                              </p:tgtEl>
                                            </p:cond>
                                          </p:endCondLst>
                                        </p:cTn>
                                        <p:tgtEl>
                                          <p:sndTgt r:embed="rId1"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bldLvl="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ext Box 2"/>
          <p:cNvSpPr txBox="1">
            <a:spLocks noChangeArrowheads="1"/>
          </p:cNvSpPr>
          <p:nvPr/>
        </p:nvSpPr>
        <p:spPr bwMode="auto">
          <a:xfrm>
            <a:off x="2683822" y="0"/>
            <a:ext cx="6377050" cy="510909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l" eaLnBrk="1" hangingPunct="1">
              <a:spcBef>
                <a:spcPts val="600"/>
              </a:spcBef>
            </a:pPr>
            <a:r>
              <a:rPr kumimoji="1" lang="en-US" altLang="zh-CN" sz="1600" dirty="0">
                <a:solidFill>
                  <a:srgbClr val="FF0000"/>
                </a:solidFill>
                <a:latin typeface="+mj-ea"/>
                <a:ea typeface="+mj-ea"/>
              </a:rPr>
              <a:t>    </a:t>
            </a:r>
            <a:r>
              <a:rPr kumimoji="1" lang="zh-CN" altLang="en-US" sz="1600" dirty="0">
                <a:solidFill>
                  <a:srgbClr val="FF0000"/>
                </a:solidFill>
                <a:latin typeface="+mj-ea"/>
                <a:ea typeface="+mj-ea"/>
              </a:rPr>
              <a:t>一 功能：</a:t>
            </a:r>
            <a:endParaRPr kumimoji="1" lang="zh-CN" altLang="en-US" sz="1600" dirty="0">
              <a:solidFill>
                <a:srgbClr val="FF0000"/>
              </a:solidFill>
              <a:latin typeface="+mj-ea"/>
              <a:ea typeface="+mj-ea"/>
            </a:endParaRPr>
          </a:p>
          <a:p>
            <a:pPr algn="l" eaLnBrk="1" hangingPunct="1">
              <a:spcBef>
                <a:spcPts val="600"/>
              </a:spcBef>
            </a:pPr>
            <a:r>
              <a:rPr kumimoji="1" lang="zh-CN" altLang="en-US" sz="1600" dirty="0">
                <a:solidFill>
                  <a:srgbClr val="003300"/>
                </a:solidFill>
                <a:latin typeface="+mj-ea"/>
                <a:ea typeface="+mj-ea"/>
              </a:rPr>
              <a:t>   </a:t>
            </a:r>
            <a:r>
              <a:rPr kumimoji="1" lang="en-US" altLang="zh-CN" sz="1600" dirty="0">
                <a:solidFill>
                  <a:srgbClr val="003300"/>
                </a:solidFill>
                <a:latin typeface="+mj-ea"/>
                <a:ea typeface="+mj-ea"/>
              </a:rPr>
              <a:t>1. </a:t>
            </a:r>
            <a:r>
              <a:rPr kumimoji="1" lang="zh-CN" altLang="en-US" sz="1600" dirty="0">
                <a:solidFill>
                  <a:srgbClr val="003300"/>
                </a:solidFill>
                <a:latin typeface="+mj-ea"/>
                <a:ea typeface="+mj-ea"/>
              </a:rPr>
              <a:t>读取、显示、另存四种格式图片（ </a:t>
            </a:r>
            <a:r>
              <a:rPr kumimoji="1" lang="en-US" altLang="zh-CN" sz="1600" dirty="0">
                <a:solidFill>
                  <a:srgbClr val="003300"/>
                </a:solidFill>
                <a:latin typeface="+mj-ea"/>
                <a:ea typeface="+mj-ea"/>
              </a:rPr>
              <a:t>BMP</a:t>
            </a:r>
            <a:r>
              <a:rPr kumimoji="1" lang="zh-CN" altLang="en-US" sz="1600" dirty="0">
                <a:solidFill>
                  <a:srgbClr val="003300"/>
                </a:solidFill>
                <a:latin typeface="+mj-ea"/>
                <a:ea typeface="+mj-ea"/>
              </a:rPr>
              <a:t>、</a:t>
            </a:r>
            <a:r>
              <a:rPr kumimoji="1" lang="en-US" altLang="zh-CN" sz="1600" dirty="0">
                <a:solidFill>
                  <a:srgbClr val="003300"/>
                </a:solidFill>
                <a:latin typeface="+mj-ea"/>
                <a:ea typeface="+mj-ea"/>
              </a:rPr>
              <a:t>TIFF</a:t>
            </a:r>
            <a:r>
              <a:rPr kumimoji="1" lang="zh-CN" altLang="en-US" sz="1600" dirty="0">
                <a:solidFill>
                  <a:srgbClr val="003300"/>
                </a:solidFill>
                <a:latin typeface="+mj-ea"/>
                <a:ea typeface="+mj-ea"/>
              </a:rPr>
              <a:t>、</a:t>
            </a:r>
            <a:r>
              <a:rPr kumimoji="1" lang="en-US" altLang="zh-CN" sz="1600" dirty="0">
                <a:solidFill>
                  <a:srgbClr val="003300"/>
                </a:solidFill>
                <a:latin typeface="+mj-ea"/>
                <a:ea typeface="+mj-ea"/>
              </a:rPr>
              <a:t>JPG</a:t>
            </a:r>
            <a:r>
              <a:rPr kumimoji="1" lang="zh-CN" altLang="en-US" sz="1600" dirty="0">
                <a:solidFill>
                  <a:srgbClr val="003300"/>
                </a:solidFill>
                <a:latin typeface="+mj-ea"/>
                <a:ea typeface="+mj-ea"/>
              </a:rPr>
              <a:t>、</a:t>
            </a:r>
            <a:r>
              <a:rPr kumimoji="1" lang="en-US" altLang="zh-CN" sz="1600" dirty="0">
                <a:solidFill>
                  <a:srgbClr val="003300"/>
                </a:solidFill>
                <a:latin typeface="+mj-ea"/>
                <a:ea typeface="+mj-ea"/>
              </a:rPr>
              <a:t>PNG </a:t>
            </a:r>
            <a:r>
              <a:rPr kumimoji="1" lang="zh-CN" altLang="en-US" sz="1600" dirty="0">
                <a:solidFill>
                  <a:srgbClr val="003300"/>
                </a:solidFill>
                <a:latin typeface="+mj-ea"/>
                <a:ea typeface="+mj-ea"/>
              </a:rPr>
              <a:t>）。</a:t>
            </a:r>
            <a:endParaRPr kumimoji="1" lang="zh-CN" altLang="en-US" sz="1600" dirty="0">
              <a:solidFill>
                <a:srgbClr val="003300"/>
              </a:solidFill>
              <a:latin typeface="+mj-ea"/>
              <a:ea typeface="+mj-ea"/>
            </a:endParaRPr>
          </a:p>
          <a:p>
            <a:pPr algn="l" eaLnBrk="1" hangingPunct="1">
              <a:spcBef>
                <a:spcPts val="600"/>
              </a:spcBef>
            </a:pPr>
            <a:r>
              <a:rPr kumimoji="1" lang="zh-CN" altLang="en-US" sz="1600" dirty="0">
                <a:solidFill>
                  <a:srgbClr val="003300"/>
                </a:solidFill>
                <a:latin typeface="+mj-ea"/>
                <a:ea typeface="+mj-ea"/>
              </a:rPr>
              <a:t>   </a:t>
            </a:r>
            <a:r>
              <a:rPr kumimoji="1" lang="en-US" altLang="zh-CN" sz="1600" dirty="0">
                <a:solidFill>
                  <a:srgbClr val="003300"/>
                </a:solidFill>
                <a:latin typeface="+mj-ea"/>
                <a:ea typeface="+mj-ea"/>
              </a:rPr>
              <a:t>2. </a:t>
            </a:r>
            <a:r>
              <a:rPr kumimoji="1" lang="zh-CN" altLang="en-US" sz="1600" dirty="0">
                <a:solidFill>
                  <a:srgbClr val="003300"/>
                </a:solidFill>
                <a:latin typeface="+mj-ea"/>
                <a:ea typeface="+mj-ea"/>
              </a:rPr>
              <a:t> 放大、缩小、漫游。</a:t>
            </a:r>
            <a:endParaRPr kumimoji="1" lang="zh-CN" altLang="en-US" sz="1600" dirty="0">
              <a:solidFill>
                <a:srgbClr val="003300"/>
              </a:solidFill>
              <a:latin typeface="+mj-ea"/>
              <a:ea typeface="+mj-ea"/>
            </a:endParaRPr>
          </a:p>
          <a:p>
            <a:pPr algn="l" eaLnBrk="1" hangingPunct="1">
              <a:spcBef>
                <a:spcPts val="600"/>
              </a:spcBef>
            </a:pPr>
            <a:r>
              <a:rPr kumimoji="1" lang="zh-CN" altLang="en-US" sz="1600" dirty="0">
                <a:solidFill>
                  <a:srgbClr val="003300"/>
                </a:solidFill>
                <a:latin typeface="+mj-ea"/>
                <a:ea typeface="+mj-ea"/>
              </a:rPr>
              <a:t>   </a:t>
            </a:r>
            <a:r>
              <a:rPr kumimoji="1" lang="en-US" altLang="zh-CN" sz="1600" dirty="0">
                <a:solidFill>
                  <a:srgbClr val="003300"/>
                </a:solidFill>
                <a:latin typeface="+mj-ea"/>
                <a:ea typeface="+mj-ea"/>
              </a:rPr>
              <a:t>3. </a:t>
            </a:r>
            <a:r>
              <a:rPr kumimoji="1" lang="zh-CN" altLang="en-US" sz="1600" dirty="0">
                <a:solidFill>
                  <a:srgbClr val="003300"/>
                </a:solidFill>
                <a:latin typeface="+mj-ea"/>
                <a:ea typeface="+mj-ea"/>
              </a:rPr>
              <a:t>列出当前目录下所有四种格式图片文件名。</a:t>
            </a:r>
            <a:endParaRPr kumimoji="1" lang="zh-CN" altLang="en-US" sz="1600" dirty="0">
              <a:solidFill>
                <a:srgbClr val="003300"/>
              </a:solidFill>
              <a:latin typeface="+mj-ea"/>
              <a:ea typeface="+mj-ea"/>
            </a:endParaRPr>
          </a:p>
          <a:p>
            <a:pPr algn="l" eaLnBrk="1" hangingPunct="1">
              <a:spcBef>
                <a:spcPts val="600"/>
              </a:spcBef>
            </a:pPr>
            <a:r>
              <a:rPr kumimoji="1" lang="zh-CN" altLang="en-US" sz="1600" dirty="0">
                <a:solidFill>
                  <a:srgbClr val="003300"/>
                </a:solidFill>
                <a:latin typeface="+mj-ea"/>
                <a:ea typeface="+mj-ea"/>
              </a:rPr>
              <a:t>   </a:t>
            </a:r>
            <a:r>
              <a:rPr kumimoji="1" lang="en-US" altLang="zh-CN" sz="1600" dirty="0">
                <a:solidFill>
                  <a:srgbClr val="003300"/>
                </a:solidFill>
                <a:latin typeface="+mj-ea"/>
                <a:ea typeface="+mj-ea"/>
              </a:rPr>
              <a:t>4.  PAGEUP</a:t>
            </a:r>
            <a:r>
              <a:rPr kumimoji="1" lang="zh-CN" altLang="en-US" sz="1600" dirty="0">
                <a:solidFill>
                  <a:srgbClr val="003300"/>
                </a:solidFill>
                <a:latin typeface="+mj-ea"/>
                <a:ea typeface="+mj-ea"/>
              </a:rPr>
              <a:t>（</a:t>
            </a:r>
            <a:r>
              <a:rPr kumimoji="1" lang="en-US" altLang="zh-CN" sz="1600" dirty="0">
                <a:solidFill>
                  <a:srgbClr val="003300"/>
                </a:solidFill>
                <a:latin typeface="+mj-ea"/>
                <a:ea typeface="+mj-ea"/>
              </a:rPr>
              <a:t>PAGEDOWN</a:t>
            </a:r>
            <a:r>
              <a:rPr kumimoji="1" lang="zh-CN" altLang="en-US" sz="1600" dirty="0">
                <a:solidFill>
                  <a:srgbClr val="003300"/>
                </a:solidFill>
                <a:latin typeface="+mj-ea"/>
                <a:ea typeface="+mj-ea"/>
              </a:rPr>
              <a:t>）自动调出当前目录上一张（下一张）图片。</a:t>
            </a:r>
            <a:endParaRPr kumimoji="1" lang="zh-CN" altLang="en-US" sz="1600" dirty="0">
              <a:solidFill>
                <a:srgbClr val="003300"/>
              </a:solidFill>
              <a:latin typeface="+mj-ea"/>
              <a:ea typeface="+mj-ea"/>
            </a:endParaRPr>
          </a:p>
          <a:p>
            <a:pPr algn="l" eaLnBrk="1" hangingPunct="1">
              <a:spcBef>
                <a:spcPts val="600"/>
              </a:spcBef>
            </a:pPr>
            <a:r>
              <a:rPr kumimoji="1" lang="zh-CN" altLang="en-US" sz="1600" dirty="0">
                <a:solidFill>
                  <a:srgbClr val="FF0000"/>
                </a:solidFill>
                <a:latin typeface="+mj-ea"/>
                <a:ea typeface="+mj-ea"/>
              </a:rPr>
              <a:t>    二 其它说明：</a:t>
            </a:r>
            <a:endParaRPr kumimoji="1" lang="zh-CN" altLang="en-US" sz="1600" dirty="0">
              <a:solidFill>
                <a:srgbClr val="FF0000"/>
              </a:solidFill>
              <a:latin typeface="+mj-ea"/>
              <a:ea typeface="+mj-ea"/>
            </a:endParaRPr>
          </a:p>
          <a:p>
            <a:pPr algn="l" eaLnBrk="1" hangingPunct="1">
              <a:spcBef>
                <a:spcPts val="600"/>
              </a:spcBef>
            </a:pPr>
            <a:r>
              <a:rPr kumimoji="1" lang="zh-CN" altLang="en-US" sz="1600" dirty="0">
                <a:solidFill>
                  <a:srgbClr val="003300"/>
                </a:solidFill>
                <a:latin typeface="+mj-ea"/>
                <a:ea typeface="+mj-ea"/>
              </a:rPr>
              <a:t>   </a:t>
            </a:r>
            <a:r>
              <a:rPr kumimoji="1" lang="en-US" altLang="zh-CN" sz="1600" dirty="0">
                <a:solidFill>
                  <a:srgbClr val="003300"/>
                </a:solidFill>
                <a:latin typeface="+mj-ea"/>
                <a:ea typeface="+mj-ea"/>
              </a:rPr>
              <a:t>1. </a:t>
            </a:r>
            <a:r>
              <a:rPr kumimoji="1" lang="zh-CN" altLang="en-US" sz="1600" dirty="0">
                <a:solidFill>
                  <a:srgbClr val="003300"/>
                </a:solidFill>
                <a:latin typeface="+mj-ea"/>
                <a:ea typeface="+mj-ea"/>
              </a:rPr>
              <a:t>界面尽量简洁，容易操作。</a:t>
            </a:r>
            <a:endParaRPr kumimoji="1" lang="zh-CN" altLang="en-US" sz="1600" dirty="0">
              <a:solidFill>
                <a:srgbClr val="003300"/>
              </a:solidFill>
              <a:latin typeface="+mj-ea"/>
              <a:ea typeface="+mj-ea"/>
            </a:endParaRPr>
          </a:p>
          <a:p>
            <a:pPr algn="l" eaLnBrk="1" hangingPunct="1">
              <a:spcBef>
                <a:spcPts val="600"/>
              </a:spcBef>
            </a:pPr>
            <a:r>
              <a:rPr kumimoji="1" lang="zh-CN" altLang="en-US" sz="1600" dirty="0">
                <a:solidFill>
                  <a:srgbClr val="003300"/>
                </a:solidFill>
                <a:latin typeface="+mj-ea"/>
                <a:ea typeface="+mj-ea"/>
              </a:rPr>
              <a:t>   </a:t>
            </a:r>
            <a:r>
              <a:rPr kumimoji="1" lang="en-US" altLang="zh-CN" sz="1600" dirty="0">
                <a:solidFill>
                  <a:srgbClr val="003300"/>
                </a:solidFill>
                <a:latin typeface="+mj-ea"/>
                <a:ea typeface="+mj-ea"/>
              </a:rPr>
              <a:t>2. </a:t>
            </a:r>
            <a:r>
              <a:rPr kumimoji="1" lang="zh-CN" altLang="en-US" sz="1600" dirty="0">
                <a:solidFill>
                  <a:srgbClr val="003300"/>
                </a:solidFill>
                <a:latin typeface="+mj-ea"/>
                <a:ea typeface="+mj-ea"/>
              </a:rPr>
              <a:t>不要图片预览和打印。</a:t>
            </a:r>
            <a:endParaRPr kumimoji="1" lang="zh-CN" altLang="en-US" sz="1600" dirty="0">
              <a:solidFill>
                <a:srgbClr val="003300"/>
              </a:solidFill>
              <a:latin typeface="+mj-ea"/>
              <a:ea typeface="+mj-ea"/>
            </a:endParaRPr>
          </a:p>
          <a:p>
            <a:pPr algn="l" eaLnBrk="1" hangingPunct="1">
              <a:spcBef>
                <a:spcPts val="600"/>
              </a:spcBef>
            </a:pPr>
            <a:r>
              <a:rPr kumimoji="1" lang="zh-CN" altLang="en-US" sz="1600" dirty="0">
                <a:solidFill>
                  <a:srgbClr val="FF0000"/>
                </a:solidFill>
                <a:latin typeface="+mj-ea"/>
                <a:ea typeface="+mj-ea"/>
              </a:rPr>
              <a:t>   三 开发工具：</a:t>
            </a:r>
            <a:r>
              <a:rPr kumimoji="1" lang="en-US" altLang="zh-CN" sz="1600" dirty="0">
                <a:solidFill>
                  <a:srgbClr val="FF0000"/>
                </a:solidFill>
                <a:latin typeface="+mj-ea"/>
                <a:ea typeface="+mj-ea"/>
              </a:rPr>
              <a:t>VS2010</a:t>
            </a:r>
            <a:endParaRPr kumimoji="1" lang="en-US" altLang="zh-CN" sz="1600" dirty="0">
              <a:solidFill>
                <a:srgbClr val="FF0000"/>
              </a:solidFill>
              <a:latin typeface="+mj-ea"/>
              <a:ea typeface="+mj-ea"/>
            </a:endParaRPr>
          </a:p>
          <a:p>
            <a:pPr algn="l" eaLnBrk="1" hangingPunct="1">
              <a:spcBef>
                <a:spcPts val="600"/>
              </a:spcBef>
            </a:pPr>
            <a:r>
              <a:rPr kumimoji="1" lang="en-US" altLang="zh-CN" sz="1600" dirty="0">
                <a:solidFill>
                  <a:srgbClr val="FF0000"/>
                </a:solidFill>
                <a:latin typeface="+mj-ea"/>
                <a:ea typeface="+mj-ea"/>
              </a:rPr>
              <a:t>   </a:t>
            </a:r>
            <a:r>
              <a:rPr kumimoji="1" lang="zh-CN" altLang="en-US" sz="1600" dirty="0">
                <a:solidFill>
                  <a:srgbClr val="FF0000"/>
                </a:solidFill>
                <a:latin typeface="+mj-ea"/>
                <a:ea typeface="+mj-ea"/>
              </a:rPr>
              <a:t>四 开发环境：</a:t>
            </a:r>
            <a:r>
              <a:rPr kumimoji="1" lang="zh-CN" altLang="en-US" sz="1600" dirty="0">
                <a:solidFill>
                  <a:srgbClr val="003300"/>
                </a:solidFill>
                <a:latin typeface="+mj-ea"/>
                <a:ea typeface="+mj-ea"/>
              </a:rPr>
              <a:t>普通</a:t>
            </a:r>
            <a:r>
              <a:rPr kumimoji="1" lang="en-US" altLang="zh-CN" sz="1600" dirty="0">
                <a:solidFill>
                  <a:srgbClr val="003300"/>
                </a:solidFill>
                <a:latin typeface="+mj-ea"/>
                <a:ea typeface="+mj-ea"/>
              </a:rPr>
              <a:t>PC</a:t>
            </a:r>
            <a:r>
              <a:rPr kumimoji="1" lang="zh-CN" altLang="en-US" sz="1600" dirty="0">
                <a:solidFill>
                  <a:srgbClr val="003300"/>
                </a:solidFill>
                <a:latin typeface="+mj-ea"/>
                <a:ea typeface="+mj-ea"/>
              </a:rPr>
              <a:t>机；</a:t>
            </a:r>
            <a:r>
              <a:rPr kumimoji="1" lang="en-US" altLang="zh-CN" sz="1600" dirty="0">
                <a:solidFill>
                  <a:srgbClr val="003300"/>
                </a:solidFill>
                <a:latin typeface="+mj-ea"/>
                <a:ea typeface="+mj-ea"/>
              </a:rPr>
              <a:t>Window7</a:t>
            </a:r>
            <a:r>
              <a:rPr kumimoji="1" lang="zh-CN" altLang="en-US" sz="1600" dirty="0">
                <a:solidFill>
                  <a:srgbClr val="003300"/>
                </a:solidFill>
                <a:latin typeface="+mj-ea"/>
                <a:ea typeface="+mj-ea"/>
              </a:rPr>
              <a:t>及以上系统</a:t>
            </a:r>
            <a:endParaRPr kumimoji="1" lang="en-US" altLang="zh-CN" sz="1600" dirty="0">
              <a:solidFill>
                <a:srgbClr val="003300"/>
              </a:solidFill>
              <a:latin typeface="+mj-ea"/>
              <a:ea typeface="+mj-ea"/>
            </a:endParaRPr>
          </a:p>
          <a:p>
            <a:pPr algn="l" eaLnBrk="1" hangingPunct="1">
              <a:spcBef>
                <a:spcPts val="600"/>
              </a:spcBef>
            </a:pPr>
            <a:r>
              <a:rPr kumimoji="1" lang="en-US" altLang="zh-CN" sz="1600" dirty="0">
                <a:solidFill>
                  <a:srgbClr val="FF0000"/>
                </a:solidFill>
                <a:latin typeface="+mj-ea"/>
                <a:ea typeface="+mj-ea"/>
              </a:rPr>
              <a:t>   </a:t>
            </a:r>
            <a:r>
              <a:rPr kumimoji="1" lang="zh-CN" altLang="en-US" sz="1600" dirty="0">
                <a:solidFill>
                  <a:srgbClr val="FF0000"/>
                </a:solidFill>
                <a:latin typeface="+mj-ea"/>
                <a:ea typeface="+mj-ea"/>
              </a:rPr>
              <a:t>五 工作量：</a:t>
            </a:r>
            <a:endParaRPr kumimoji="1" lang="zh-CN" altLang="en-US" sz="1600" dirty="0">
              <a:solidFill>
                <a:srgbClr val="FF0000"/>
              </a:solidFill>
              <a:latin typeface="+mj-ea"/>
              <a:ea typeface="+mj-ea"/>
            </a:endParaRPr>
          </a:p>
          <a:p>
            <a:pPr algn="l" eaLnBrk="1" hangingPunct="1">
              <a:spcBef>
                <a:spcPts val="600"/>
              </a:spcBef>
            </a:pPr>
            <a:r>
              <a:rPr kumimoji="1" lang="zh-CN" altLang="en-US" sz="1600" dirty="0">
                <a:solidFill>
                  <a:srgbClr val="003300"/>
                </a:solidFill>
                <a:latin typeface="+mj-ea"/>
                <a:ea typeface="+mj-ea"/>
              </a:rPr>
              <a:t>    </a:t>
            </a:r>
            <a:r>
              <a:rPr kumimoji="1" lang="en-US" altLang="zh-CN" sz="1600" dirty="0">
                <a:solidFill>
                  <a:srgbClr val="003300"/>
                </a:solidFill>
                <a:latin typeface="+mj-ea"/>
                <a:ea typeface="+mj-ea"/>
              </a:rPr>
              <a:t>1. </a:t>
            </a:r>
            <a:r>
              <a:rPr kumimoji="1" lang="zh-CN" altLang="en-US" sz="1600" dirty="0">
                <a:solidFill>
                  <a:srgbClr val="003300"/>
                </a:solidFill>
                <a:latin typeface="+mj-ea"/>
                <a:ea typeface="+mj-ea"/>
              </a:rPr>
              <a:t>研究一下四种图片的格式。</a:t>
            </a:r>
            <a:endParaRPr kumimoji="1" lang="zh-CN" altLang="en-US" sz="1600" dirty="0">
              <a:solidFill>
                <a:srgbClr val="003300"/>
              </a:solidFill>
              <a:latin typeface="+mj-ea"/>
              <a:ea typeface="+mj-ea"/>
            </a:endParaRPr>
          </a:p>
          <a:p>
            <a:pPr algn="l" eaLnBrk="1" hangingPunct="1">
              <a:spcBef>
                <a:spcPts val="600"/>
              </a:spcBef>
            </a:pPr>
            <a:r>
              <a:rPr kumimoji="1" lang="zh-CN" altLang="en-US" sz="1600" dirty="0">
                <a:solidFill>
                  <a:srgbClr val="003300"/>
                </a:solidFill>
                <a:latin typeface="+mj-ea"/>
                <a:ea typeface="+mj-ea"/>
              </a:rPr>
              <a:t>    </a:t>
            </a:r>
            <a:r>
              <a:rPr kumimoji="1" lang="en-US" altLang="zh-CN" sz="1600" dirty="0">
                <a:solidFill>
                  <a:srgbClr val="003300"/>
                </a:solidFill>
                <a:latin typeface="+mj-ea"/>
                <a:ea typeface="+mj-ea"/>
              </a:rPr>
              <a:t>2. </a:t>
            </a:r>
            <a:r>
              <a:rPr kumimoji="1" lang="zh-CN" altLang="en-US" sz="1600" dirty="0">
                <a:solidFill>
                  <a:srgbClr val="003300"/>
                </a:solidFill>
                <a:latin typeface="+mj-ea"/>
                <a:ea typeface="+mj-ea"/>
              </a:rPr>
              <a:t>设计一个解析器类，解析这四种格式。</a:t>
            </a:r>
            <a:endParaRPr kumimoji="1" lang="zh-CN" altLang="en-US" sz="1600" dirty="0">
              <a:solidFill>
                <a:srgbClr val="003300"/>
              </a:solidFill>
              <a:latin typeface="+mj-ea"/>
              <a:ea typeface="+mj-ea"/>
            </a:endParaRPr>
          </a:p>
          <a:p>
            <a:pPr algn="l" eaLnBrk="1" hangingPunct="1">
              <a:spcBef>
                <a:spcPts val="600"/>
              </a:spcBef>
            </a:pPr>
            <a:r>
              <a:rPr kumimoji="1" lang="zh-CN" altLang="en-US" sz="1600" dirty="0">
                <a:solidFill>
                  <a:srgbClr val="003300"/>
                </a:solidFill>
                <a:latin typeface="+mj-ea"/>
                <a:ea typeface="+mj-ea"/>
              </a:rPr>
              <a:t>    </a:t>
            </a:r>
            <a:r>
              <a:rPr kumimoji="1" lang="en-US" altLang="zh-CN" sz="1600" dirty="0">
                <a:solidFill>
                  <a:srgbClr val="003300"/>
                </a:solidFill>
                <a:latin typeface="+mj-ea"/>
                <a:ea typeface="+mj-ea"/>
              </a:rPr>
              <a:t>3. </a:t>
            </a:r>
            <a:r>
              <a:rPr kumimoji="1" lang="zh-CN" altLang="en-US" sz="1600" dirty="0">
                <a:solidFill>
                  <a:srgbClr val="003300"/>
                </a:solidFill>
                <a:latin typeface="+mj-ea"/>
                <a:ea typeface="+mj-ea"/>
              </a:rPr>
              <a:t>设计一个文档类，实现读取、另存和目录浏览功能。</a:t>
            </a:r>
            <a:endParaRPr kumimoji="1" lang="zh-CN" altLang="en-US" sz="1600" dirty="0">
              <a:solidFill>
                <a:srgbClr val="003300"/>
              </a:solidFill>
              <a:latin typeface="+mj-ea"/>
              <a:ea typeface="+mj-ea"/>
            </a:endParaRPr>
          </a:p>
          <a:p>
            <a:pPr algn="l" eaLnBrk="1" hangingPunct="1">
              <a:spcBef>
                <a:spcPts val="600"/>
              </a:spcBef>
            </a:pPr>
            <a:r>
              <a:rPr kumimoji="1" lang="zh-CN" altLang="en-US" sz="1600" dirty="0">
                <a:solidFill>
                  <a:srgbClr val="003300"/>
                </a:solidFill>
                <a:latin typeface="+mj-ea"/>
                <a:ea typeface="+mj-ea"/>
              </a:rPr>
              <a:t>    </a:t>
            </a:r>
            <a:r>
              <a:rPr kumimoji="1" lang="en-US" altLang="zh-CN" sz="1600" dirty="0">
                <a:solidFill>
                  <a:srgbClr val="003300"/>
                </a:solidFill>
                <a:latin typeface="+mj-ea"/>
                <a:ea typeface="+mj-ea"/>
              </a:rPr>
              <a:t>4. </a:t>
            </a:r>
            <a:r>
              <a:rPr kumimoji="1" lang="zh-CN" altLang="en-US" sz="1600" dirty="0">
                <a:solidFill>
                  <a:srgbClr val="003300"/>
                </a:solidFill>
                <a:latin typeface="+mj-ea"/>
                <a:ea typeface="+mj-ea"/>
              </a:rPr>
              <a:t>设计一个视图类，实现显示、缩放、漫游功能。</a:t>
            </a:r>
            <a:endParaRPr kumimoji="1" lang="zh-CN" altLang="en-US" sz="1600" dirty="0">
              <a:solidFill>
                <a:srgbClr val="003300"/>
              </a:solidFill>
              <a:latin typeface="+mj-ea"/>
              <a:ea typeface="+mj-ea"/>
            </a:endParaRPr>
          </a:p>
        </p:txBody>
      </p:sp>
      <p:sp>
        <p:nvSpPr>
          <p:cNvPr id="5" name="标题 4"/>
          <p:cNvSpPr>
            <a:spLocks noGrp="1"/>
          </p:cNvSpPr>
          <p:nvPr>
            <p:ph type="title"/>
          </p:nvPr>
        </p:nvSpPr>
        <p:spPr/>
        <p:txBody>
          <a:bodyPr/>
          <a:lstStyle/>
          <a:p>
            <a:r>
              <a:rPr kumimoji="1" lang="zh-CN" altLang="en-US" dirty="0">
                <a:effectLst>
                  <a:outerShdw blurRad="38100" dist="38100" dir="2700000" algn="tl">
                    <a:srgbClr val="000000">
                      <a:alpha val="43137"/>
                    </a:srgbClr>
                  </a:outerShdw>
                </a:effectLst>
                <a:latin typeface="+mj-ea"/>
              </a:rPr>
              <a:t>工作清单</a:t>
            </a:r>
            <a:endParaRPr lang="zh-CN" altLang="en-US" dirty="0"/>
          </a:p>
        </p:txBody>
      </p:sp>
      <p:sp>
        <p:nvSpPr>
          <p:cNvPr id="4" name="灯片编号占位符 3"/>
          <p:cNvSpPr>
            <a:spLocks noGrp="1"/>
          </p:cNvSpPr>
          <p:nvPr>
            <p:ph type="sldNum" sz="quarter" idx="12"/>
          </p:nvPr>
        </p:nvSpPr>
        <p:spPr/>
        <p:txBody>
          <a:bodyPr/>
          <a:lstStyle/>
          <a:p>
            <a:fld id="{47CA9980-A6FB-42C0-B5E8-AA033557BCE0}" type="slidenum">
              <a:rPr lang="ko-KR" altLang="en-US" smtClean="0"/>
            </a:fld>
            <a:endParaRPr lang="en-US" altLang="ko-KR"/>
          </a:p>
        </p:txBody>
      </p:sp>
      <p:sp>
        <p:nvSpPr>
          <p:cNvPr id="6" name="日期占位符 5"/>
          <p:cNvSpPr>
            <a:spLocks noGrp="1"/>
          </p:cNvSpPr>
          <p:nvPr>
            <p:ph type="dt" sz="half" idx="10"/>
          </p:nvPr>
        </p:nvSpPr>
        <p:spPr/>
        <p:txBody>
          <a:bodyPr/>
          <a:lstStyle/>
          <a:p>
            <a:fld id="{AEB99BF8-AF20-47EB-A670-5D155DB21EA1}"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a:t>软件工程</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6978"/>
                                        </p:tgtEl>
                                        <p:attrNameLst>
                                          <p:attrName>style.visibility</p:attrName>
                                        </p:attrNameLst>
                                      </p:cBhvr>
                                      <p:to>
                                        <p:strVal val="visible"/>
                                      </p:to>
                                    </p:set>
                                    <p:animEffect transition="in" filter="wipe(left)">
                                      <p:cBhvr>
                                        <p:cTn id="7" dur="500"/>
                                        <p:tgtEl>
                                          <p:spTgt spid="126978"/>
                                        </p:tgtEl>
                                      </p:cBhvr>
                                    </p:animEffect>
                                  </p:childTnLst>
                                  <p:subTnLst>
                                    <p:audio>
                                      <p:cMediaNode>
                                        <p:cTn display="0" masterRel="sameClick">
                                          <p:stCondLst>
                                            <p:cond evt="begin" delay="0">
                                              <p:tn val="5"/>
                                            </p:cond>
                                          </p:stCondLst>
                                          <p:endCondLst>
                                            <p:cond evt="onStopAudio" delay="0">
                                              <p:tgtEl>
                                                <p:sldTgt/>
                                              </p:tgtEl>
                                            </p:cond>
                                          </p:endCondLst>
                                        </p:cTn>
                                        <p:tgtEl>
                                          <p:sndTgt r:embed="rId1"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8" grpId="0" bldLvl="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394217" y="681540"/>
            <a:ext cx="6528001" cy="3975906"/>
            <a:chOff x="-143258" y="762000"/>
            <a:chExt cx="9287258" cy="6096000"/>
          </a:xfrm>
        </p:grpSpPr>
        <p:sp>
          <p:nvSpPr>
            <p:cNvPr id="128004" name="Rectangle 4"/>
            <p:cNvSpPr>
              <a:spLocks noChangeArrowheads="1"/>
            </p:cNvSpPr>
            <p:nvPr/>
          </p:nvSpPr>
          <p:spPr bwMode="auto">
            <a:xfrm>
              <a:off x="1905000" y="762000"/>
              <a:ext cx="1524000" cy="457200"/>
            </a:xfrm>
            <a:prstGeom prst="rect">
              <a:avLst/>
            </a:prstGeom>
          </p:spPr>
          <p:style>
            <a:lnRef idx="3">
              <a:schemeClr val="lt1"/>
            </a:lnRef>
            <a:fillRef idx="1">
              <a:schemeClr val="accent2"/>
            </a:fillRef>
            <a:effectRef idx="1">
              <a:schemeClr val="accent2"/>
            </a:effectRef>
            <a:fontRef idx="minor">
              <a:schemeClr val="lt1"/>
            </a:fontRef>
          </p:style>
          <p:txBody>
            <a:bodyPr wrap="none" anchor="ctr"/>
            <a:lstStyle/>
            <a:p>
              <a:pPr algn="ctr" eaLnBrk="1" hangingPunct="1"/>
              <a:r>
                <a:rPr kumimoji="1" lang="zh-CN" altLang="en-US" sz="1500" b="1">
                  <a:latin typeface="+mn-ea"/>
                </a:rPr>
                <a:t>可行性分析</a:t>
              </a:r>
              <a:endParaRPr kumimoji="1" lang="zh-CN" altLang="en-US" sz="1500" b="1">
                <a:latin typeface="+mn-ea"/>
              </a:endParaRPr>
            </a:p>
          </p:txBody>
        </p:sp>
        <p:sp>
          <p:nvSpPr>
            <p:cNvPr id="128005" name="Rectangle 5"/>
            <p:cNvSpPr>
              <a:spLocks noChangeArrowheads="1"/>
            </p:cNvSpPr>
            <p:nvPr/>
          </p:nvSpPr>
          <p:spPr bwMode="auto">
            <a:xfrm>
              <a:off x="2743200" y="1524000"/>
              <a:ext cx="1524000" cy="457200"/>
            </a:xfrm>
            <a:prstGeom prst="rect">
              <a:avLst/>
            </a:prstGeom>
          </p:spPr>
          <p:style>
            <a:lnRef idx="3">
              <a:schemeClr val="lt1"/>
            </a:lnRef>
            <a:fillRef idx="1">
              <a:schemeClr val="accent2"/>
            </a:fillRef>
            <a:effectRef idx="1">
              <a:schemeClr val="accent2"/>
            </a:effectRef>
            <a:fontRef idx="minor">
              <a:schemeClr val="lt1"/>
            </a:fontRef>
          </p:style>
          <p:txBody>
            <a:bodyPr wrap="none" anchor="ctr"/>
            <a:lstStyle/>
            <a:p>
              <a:pPr algn="ctr" eaLnBrk="1" hangingPunct="1"/>
              <a:r>
                <a:rPr kumimoji="1" lang="zh-CN" altLang="en-US" sz="1500" b="1">
                  <a:latin typeface="+mn-ea"/>
                </a:rPr>
                <a:t>需求分析</a:t>
              </a:r>
              <a:endParaRPr kumimoji="1" lang="zh-CN" altLang="en-US" sz="1500" b="1">
                <a:latin typeface="+mn-ea"/>
              </a:endParaRPr>
            </a:p>
          </p:txBody>
        </p:sp>
        <p:sp>
          <p:nvSpPr>
            <p:cNvPr id="128006" name="Rectangle 6"/>
            <p:cNvSpPr>
              <a:spLocks noChangeArrowheads="1"/>
            </p:cNvSpPr>
            <p:nvPr/>
          </p:nvSpPr>
          <p:spPr bwMode="auto">
            <a:xfrm>
              <a:off x="3657600" y="2286000"/>
              <a:ext cx="1524000" cy="457200"/>
            </a:xfrm>
            <a:prstGeom prst="rect">
              <a:avLst/>
            </a:prstGeom>
          </p:spPr>
          <p:style>
            <a:lnRef idx="3">
              <a:schemeClr val="lt1"/>
            </a:lnRef>
            <a:fillRef idx="1">
              <a:schemeClr val="accent2"/>
            </a:fillRef>
            <a:effectRef idx="1">
              <a:schemeClr val="accent2"/>
            </a:effectRef>
            <a:fontRef idx="minor">
              <a:schemeClr val="lt1"/>
            </a:fontRef>
          </p:style>
          <p:txBody>
            <a:bodyPr wrap="none" anchor="ctr"/>
            <a:lstStyle/>
            <a:p>
              <a:pPr algn="ctr" eaLnBrk="1" hangingPunct="1"/>
              <a:r>
                <a:rPr kumimoji="1" lang="zh-CN" altLang="en-US" sz="1500" b="1" dirty="0">
                  <a:latin typeface="+mn-ea"/>
                </a:rPr>
                <a:t>概要设计</a:t>
              </a:r>
              <a:endParaRPr kumimoji="1" lang="zh-CN" altLang="en-US" sz="1500" b="1" dirty="0">
                <a:latin typeface="+mn-ea"/>
              </a:endParaRPr>
            </a:p>
          </p:txBody>
        </p:sp>
        <p:sp>
          <p:nvSpPr>
            <p:cNvPr id="128007" name="Rectangle 7"/>
            <p:cNvSpPr>
              <a:spLocks noChangeArrowheads="1"/>
            </p:cNvSpPr>
            <p:nvPr/>
          </p:nvSpPr>
          <p:spPr bwMode="auto">
            <a:xfrm>
              <a:off x="4648200" y="3048000"/>
              <a:ext cx="1524000" cy="457200"/>
            </a:xfrm>
            <a:prstGeom prst="rect">
              <a:avLst/>
            </a:prstGeom>
          </p:spPr>
          <p:style>
            <a:lnRef idx="3">
              <a:schemeClr val="lt1"/>
            </a:lnRef>
            <a:fillRef idx="1">
              <a:schemeClr val="accent2"/>
            </a:fillRef>
            <a:effectRef idx="1">
              <a:schemeClr val="accent2"/>
            </a:effectRef>
            <a:fontRef idx="minor">
              <a:schemeClr val="lt1"/>
            </a:fontRef>
          </p:style>
          <p:txBody>
            <a:bodyPr wrap="none" anchor="ctr"/>
            <a:lstStyle/>
            <a:p>
              <a:pPr algn="ctr" eaLnBrk="1" hangingPunct="1"/>
              <a:r>
                <a:rPr kumimoji="1" lang="zh-CN" altLang="en-US" sz="1500" b="1">
                  <a:latin typeface="+mn-ea"/>
                </a:rPr>
                <a:t>详细设计</a:t>
              </a:r>
              <a:endParaRPr kumimoji="1" lang="zh-CN" altLang="en-US" sz="1500" b="1">
                <a:latin typeface="+mn-ea"/>
              </a:endParaRPr>
            </a:p>
          </p:txBody>
        </p:sp>
        <p:sp>
          <p:nvSpPr>
            <p:cNvPr id="128008" name="Rectangle 8"/>
            <p:cNvSpPr>
              <a:spLocks noChangeArrowheads="1"/>
            </p:cNvSpPr>
            <p:nvPr/>
          </p:nvSpPr>
          <p:spPr bwMode="auto">
            <a:xfrm>
              <a:off x="5562600" y="3886200"/>
              <a:ext cx="1524000" cy="457200"/>
            </a:xfrm>
            <a:prstGeom prst="rect">
              <a:avLst/>
            </a:prstGeom>
          </p:spPr>
          <p:style>
            <a:lnRef idx="3">
              <a:schemeClr val="lt1"/>
            </a:lnRef>
            <a:fillRef idx="1">
              <a:schemeClr val="accent2"/>
            </a:fillRef>
            <a:effectRef idx="1">
              <a:schemeClr val="accent2"/>
            </a:effectRef>
            <a:fontRef idx="minor">
              <a:schemeClr val="lt1"/>
            </a:fontRef>
          </p:style>
          <p:txBody>
            <a:bodyPr wrap="none" anchor="ctr"/>
            <a:lstStyle/>
            <a:p>
              <a:pPr algn="ctr" eaLnBrk="1" hangingPunct="1"/>
              <a:r>
                <a:rPr kumimoji="1" lang="zh-CN" altLang="en-US" sz="1500" b="1">
                  <a:latin typeface="+mn-ea"/>
                </a:rPr>
                <a:t>编码</a:t>
              </a:r>
              <a:endParaRPr kumimoji="1" lang="zh-CN" altLang="en-US" sz="1500" b="1">
                <a:latin typeface="+mn-ea"/>
              </a:endParaRPr>
            </a:p>
          </p:txBody>
        </p:sp>
        <p:sp>
          <p:nvSpPr>
            <p:cNvPr id="128009" name="Rectangle 9"/>
            <p:cNvSpPr>
              <a:spLocks noChangeArrowheads="1"/>
            </p:cNvSpPr>
            <p:nvPr/>
          </p:nvSpPr>
          <p:spPr bwMode="auto">
            <a:xfrm>
              <a:off x="6400800" y="4724400"/>
              <a:ext cx="1524000" cy="457200"/>
            </a:xfrm>
            <a:prstGeom prst="rect">
              <a:avLst/>
            </a:prstGeom>
          </p:spPr>
          <p:style>
            <a:lnRef idx="3">
              <a:schemeClr val="lt1"/>
            </a:lnRef>
            <a:fillRef idx="1">
              <a:schemeClr val="accent2"/>
            </a:fillRef>
            <a:effectRef idx="1">
              <a:schemeClr val="accent2"/>
            </a:effectRef>
            <a:fontRef idx="minor">
              <a:schemeClr val="lt1"/>
            </a:fontRef>
          </p:style>
          <p:txBody>
            <a:bodyPr wrap="none" anchor="ctr"/>
            <a:lstStyle/>
            <a:p>
              <a:pPr algn="ctr" eaLnBrk="1" hangingPunct="1"/>
              <a:r>
                <a:rPr kumimoji="1" lang="zh-CN" altLang="en-US" sz="1500" b="1">
                  <a:latin typeface="+mn-ea"/>
                </a:rPr>
                <a:t>测试</a:t>
              </a:r>
              <a:endParaRPr kumimoji="1" lang="zh-CN" altLang="en-US" sz="1500" b="1">
                <a:latin typeface="+mn-ea"/>
              </a:endParaRPr>
            </a:p>
          </p:txBody>
        </p:sp>
        <p:sp>
          <p:nvSpPr>
            <p:cNvPr id="128010" name="Rectangle 10"/>
            <p:cNvSpPr>
              <a:spLocks noChangeArrowheads="1"/>
            </p:cNvSpPr>
            <p:nvPr/>
          </p:nvSpPr>
          <p:spPr bwMode="auto">
            <a:xfrm>
              <a:off x="7162800" y="5562600"/>
              <a:ext cx="1524000" cy="457200"/>
            </a:xfrm>
            <a:prstGeom prst="rect">
              <a:avLst/>
            </a:prstGeom>
          </p:spPr>
          <p:style>
            <a:lnRef idx="3">
              <a:schemeClr val="lt1"/>
            </a:lnRef>
            <a:fillRef idx="1">
              <a:schemeClr val="accent2"/>
            </a:fillRef>
            <a:effectRef idx="1">
              <a:schemeClr val="accent2"/>
            </a:effectRef>
            <a:fontRef idx="minor">
              <a:schemeClr val="lt1"/>
            </a:fontRef>
          </p:style>
          <p:txBody>
            <a:bodyPr wrap="none" anchor="ctr"/>
            <a:lstStyle/>
            <a:p>
              <a:pPr algn="ctr" eaLnBrk="1" hangingPunct="1"/>
              <a:r>
                <a:rPr kumimoji="1" lang="zh-CN" altLang="en-US" sz="1500" b="1">
                  <a:latin typeface="+mn-ea"/>
                </a:rPr>
                <a:t>交付</a:t>
              </a:r>
              <a:endParaRPr kumimoji="1" lang="zh-CN" altLang="en-US" sz="1500" b="1">
                <a:latin typeface="+mn-ea"/>
              </a:endParaRPr>
            </a:p>
          </p:txBody>
        </p:sp>
        <p:sp>
          <p:nvSpPr>
            <p:cNvPr id="128011" name="Rectangle 11"/>
            <p:cNvSpPr>
              <a:spLocks noChangeArrowheads="1"/>
            </p:cNvSpPr>
            <p:nvPr/>
          </p:nvSpPr>
          <p:spPr bwMode="auto">
            <a:xfrm>
              <a:off x="7620000" y="6400800"/>
              <a:ext cx="1524000" cy="457200"/>
            </a:xfrm>
            <a:prstGeom prst="rect">
              <a:avLst/>
            </a:prstGeom>
          </p:spPr>
          <p:style>
            <a:lnRef idx="3">
              <a:schemeClr val="lt1"/>
            </a:lnRef>
            <a:fillRef idx="1">
              <a:schemeClr val="accent2"/>
            </a:fillRef>
            <a:effectRef idx="1">
              <a:schemeClr val="accent2"/>
            </a:effectRef>
            <a:fontRef idx="minor">
              <a:schemeClr val="lt1"/>
            </a:fontRef>
          </p:style>
          <p:txBody>
            <a:bodyPr wrap="none" anchor="ctr"/>
            <a:lstStyle/>
            <a:p>
              <a:pPr algn="ctr" eaLnBrk="1" hangingPunct="1"/>
              <a:r>
                <a:rPr kumimoji="1" lang="zh-CN" altLang="en-US" sz="1500" b="1">
                  <a:latin typeface="+mn-ea"/>
                </a:rPr>
                <a:t>维护</a:t>
              </a:r>
              <a:endParaRPr kumimoji="1" lang="zh-CN" altLang="en-US" sz="1500" b="1">
                <a:latin typeface="+mn-ea"/>
              </a:endParaRPr>
            </a:p>
          </p:txBody>
        </p:sp>
        <p:sp>
          <p:nvSpPr>
            <p:cNvPr id="128012" name="Text Box 12"/>
            <p:cNvSpPr txBox="1">
              <a:spLocks noChangeArrowheads="1"/>
            </p:cNvSpPr>
            <p:nvPr/>
          </p:nvSpPr>
          <p:spPr bwMode="auto">
            <a:xfrm>
              <a:off x="-143258" y="830039"/>
              <a:ext cx="1430441" cy="495488"/>
            </a:xfrm>
            <a:prstGeom prst="rect">
              <a:avLst/>
            </a:prstGeom>
            <a:noFill/>
            <a:ln w="25400">
              <a:noFill/>
              <a:miter lim="800000"/>
            </a:ln>
            <a:effectLst/>
          </p:spPr>
          <p:txBody>
            <a:bodyPr wrap="square">
              <a:spAutoFit/>
            </a:bodyPr>
            <a:lstStyle/>
            <a:p>
              <a:pPr algn="l" eaLnBrk="1" hangingPunct="1">
                <a:spcBef>
                  <a:spcPct val="50000"/>
                </a:spcBef>
              </a:pPr>
              <a:r>
                <a:rPr kumimoji="1" lang="zh-CN" altLang="en-US" sz="1500" b="1" dirty="0">
                  <a:solidFill>
                    <a:srgbClr val="FF0000"/>
                  </a:solidFill>
                  <a:latin typeface="+mn-ea"/>
                </a:rPr>
                <a:t>对话过程</a:t>
              </a:r>
              <a:endParaRPr kumimoji="1" lang="zh-CN" altLang="en-US" sz="1500" b="1" dirty="0">
                <a:solidFill>
                  <a:srgbClr val="FF0000"/>
                </a:solidFill>
                <a:latin typeface="+mn-ea"/>
              </a:endParaRPr>
            </a:p>
          </p:txBody>
        </p:sp>
        <p:sp>
          <p:nvSpPr>
            <p:cNvPr id="128013" name="Line 13"/>
            <p:cNvSpPr>
              <a:spLocks noChangeShapeType="1"/>
            </p:cNvSpPr>
            <p:nvPr/>
          </p:nvSpPr>
          <p:spPr bwMode="auto">
            <a:xfrm>
              <a:off x="1143000" y="996950"/>
              <a:ext cx="685800" cy="0"/>
            </a:xfrm>
            <a:prstGeom prst="line">
              <a:avLst/>
            </a:prstGeom>
            <a:noFill/>
            <a:ln w="25400">
              <a:solidFill>
                <a:schemeClr val="tx1"/>
              </a:solidFill>
              <a:round/>
              <a:tailEnd type="triangle" w="med" len="med"/>
            </a:ln>
            <a:effectLst/>
          </p:spPr>
          <p:txBody>
            <a:bodyPr/>
            <a:lstStyle/>
            <a:p>
              <a:endParaRPr lang="zh-CN" altLang="en-US" sz="1350"/>
            </a:p>
          </p:txBody>
        </p:sp>
        <p:sp>
          <p:nvSpPr>
            <p:cNvPr id="128014" name="Text Box 14"/>
            <p:cNvSpPr txBox="1">
              <a:spLocks noChangeArrowheads="1"/>
            </p:cNvSpPr>
            <p:nvPr/>
          </p:nvSpPr>
          <p:spPr bwMode="auto">
            <a:xfrm>
              <a:off x="-143258" y="1484784"/>
              <a:ext cx="2211066" cy="495488"/>
            </a:xfrm>
            <a:prstGeom prst="rect">
              <a:avLst/>
            </a:prstGeom>
            <a:noFill/>
            <a:ln w="25400">
              <a:noFill/>
              <a:miter lim="800000"/>
            </a:ln>
            <a:effectLst/>
          </p:spPr>
          <p:txBody>
            <a:bodyPr wrap="square">
              <a:spAutoFit/>
            </a:bodyPr>
            <a:lstStyle/>
            <a:p>
              <a:pPr algn="l" eaLnBrk="1" hangingPunct="1">
                <a:spcBef>
                  <a:spcPct val="50000"/>
                </a:spcBef>
              </a:pPr>
              <a:r>
                <a:rPr kumimoji="1" lang="zh-CN" altLang="en-US" sz="1500" b="1" dirty="0">
                  <a:solidFill>
                    <a:srgbClr val="FF0000"/>
                  </a:solidFill>
                  <a:latin typeface="+mn-ea"/>
                </a:rPr>
                <a:t>工作清单一、二</a:t>
              </a:r>
              <a:endParaRPr kumimoji="1" lang="zh-CN" altLang="en-US" sz="1500" b="1" dirty="0">
                <a:solidFill>
                  <a:srgbClr val="FF0000"/>
                </a:solidFill>
                <a:latin typeface="+mn-ea"/>
              </a:endParaRPr>
            </a:p>
          </p:txBody>
        </p:sp>
        <p:sp>
          <p:nvSpPr>
            <p:cNvPr id="128015" name="Line 15"/>
            <p:cNvSpPr>
              <a:spLocks noChangeShapeType="1"/>
            </p:cNvSpPr>
            <p:nvPr/>
          </p:nvSpPr>
          <p:spPr bwMode="auto">
            <a:xfrm>
              <a:off x="1981200" y="1676400"/>
              <a:ext cx="685800" cy="0"/>
            </a:xfrm>
            <a:prstGeom prst="line">
              <a:avLst/>
            </a:prstGeom>
            <a:noFill/>
            <a:ln w="25400">
              <a:solidFill>
                <a:schemeClr val="tx1"/>
              </a:solidFill>
              <a:round/>
              <a:tailEnd type="triangle" w="med" len="med"/>
            </a:ln>
            <a:effectLst/>
          </p:spPr>
          <p:txBody>
            <a:bodyPr/>
            <a:lstStyle/>
            <a:p>
              <a:endParaRPr lang="zh-CN" altLang="en-US" sz="1350"/>
            </a:p>
          </p:txBody>
        </p:sp>
        <p:sp>
          <p:nvSpPr>
            <p:cNvPr id="128016" name="Text Box 16"/>
            <p:cNvSpPr txBox="1">
              <a:spLocks noChangeArrowheads="1"/>
            </p:cNvSpPr>
            <p:nvPr/>
          </p:nvSpPr>
          <p:spPr bwMode="auto">
            <a:xfrm>
              <a:off x="-67025" y="2284550"/>
              <a:ext cx="2778226" cy="495488"/>
            </a:xfrm>
            <a:prstGeom prst="rect">
              <a:avLst/>
            </a:prstGeom>
            <a:noFill/>
            <a:ln w="25400">
              <a:noFill/>
              <a:miter lim="800000"/>
            </a:ln>
            <a:effectLst/>
          </p:spPr>
          <p:txBody>
            <a:bodyPr wrap="square">
              <a:spAutoFit/>
            </a:bodyPr>
            <a:lstStyle/>
            <a:p>
              <a:pPr algn="l" eaLnBrk="1" hangingPunct="1">
                <a:spcBef>
                  <a:spcPct val="50000"/>
                </a:spcBef>
              </a:pPr>
              <a:r>
                <a:rPr kumimoji="1" lang="zh-CN" altLang="en-US" sz="1500" b="1" dirty="0">
                  <a:solidFill>
                    <a:srgbClr val="FF0000"/>
                  </a:solidFill>
                  <a:latin typeface="+mn-ea"/>
                </a:rPr>
                <a:t>工作清单三、四、五</a:t>
              </a:r>
              <a:endParaRPr kumimoji="1" lang="zh-CN" altLang="en-US" sz="1500" b="1" dirty="0">
                <a:solidFill>
                  <a:srgbClr val="FF0000"/>
                </a:solidFill>
                <a:latin typeface="+mn-ea"/>
              </a:endParaRPr>
            </a:p>
          </p:txBody>
        </p:sp>
        <p:sp>
          <p:nvSpPr>
            <p:cNvPr id="128017" name="Line 17"/>
            <p:cNvSpPr>
              <a:spLocks noChangeShapeType="1"/>
            </p:cNvSpPr>
            <p:nvPr/>
          </p:nvSpPr>
          <p:spPr bwMode="auto">
            <a:xfrm>
              <a:off x="2610754" y="2514600"/>
              <a:ext cx="914401" cy="0"/>
            </a:xfrm>
            <a:prstGeom prst="line">
              <a:avLst/>
            </a:prstGeom>
            <a:noFill/>
            <a:ln w="25400">
              <a:solidFill>
                <a:schemeClr val="tx1"/>
              </a:solidFill>
              <a:round/>
              <a:tailEnd type="triangle" w="med" len="med"/>
            </a:ln>
            <a:effectLst/>
          </p:spPr>
          <p:txBody>
            <a:bodyPr/>
            <a:lstStyle/>
            <a:p>
              <a:endParaRPr lang="zh-CN" altLang="en-US" sz="1350"/>
            </a:p>
          </p:txBody>
        </p:sp>
        <p:sp>
          <p:nvSpPr>
            <p:cNvPr id="128018" name="Text Box 18"/>
            <p:cNvSpPr txBox="1">
              <a:spLocks noChangeArrowheads="1"/>
            </p:cNvSpPr>
            <p:nvPr/>
          </p:nvSpPr>
          <p:spPr bwMode="auto">
            <a:xfrm>
              <a:off x="845855" y="3116143"/>
              <a:ext cx="2735559" cy="495488"/>
            </a:xfrm>
            <a:prstGeom prst="rect">
              <a:avLst/>
            </a:prstGeom>
            <a:noFill/>
            <a:ln w="25400">
              <a:noFill/>
              <a:miter lim="800000"/>
            </a:ln>
            <a:effectLst/>
          </p:spPr>
          <p:txBody>
            <a:bodyPr wrap="square">
              <a:spAutoFit/>
            </a:bodyPr>
            <a:lstStyle/>
            <a:p>
              <a:pPr algn="l" eaLnBrk="1" hangingPunct="1">
                <a:spcBef>
                  <a:spcPct val="50000"/>
                </a:spcBef>
              </a:pPr>
              <a:r>
                <a:rPr kumimoji="1" lang="zh-CN" altLang="en-US" sz="1500" b="1" dirty="0">
                  <a:solidFill>
                    <a:srgbClr val="FF0000"/>
                  </a:solidFill>
                  <a:latin typeface="+mn-ea"/>
                </a:rPr>
                <a:t>写代码前的思考过程</a:t>
              </a:r>
              <a:endParaRPr kumimoji="1" lang="zh-CN" altLang="en-US" sz="1500" b="1" dirty="0">
                <a:solidFill>
                  <a:srgbClr val="FF0000"/>
                </a:solidFill>
                <a:latin typeface="+mn-ea"/>
              </a:endParaRPr>
            </a:p>
          </p:txBody>
        </p:sp>
        <p:sp>
          <p:nvSpPr>
            <p:cNvPr id="128019" name="Line 19"/>
            <p:cNvSpPr>
              <a:spLocks noChangeShapeType="1"/>
            </p:cNvSpPr>
            <p:nvPr/>
          </p:nvSpPr>
          <p:spPr bwMode="auto">
            <a:xfrm>
              <a:off x="3582168" y="3276600"/>
              <a:ext cx="914400" cy="0"/>
            </a:xfrm>
            <a:prstGeom prst="line">
              <a:avLst/>
            </a:prstGeom>
            <a:noFill/>
            <a:ln w="25400">
              <a:solidFill>
                <a:schemeClr val="tx1"/>
              </a:solidFill>
              <a:prstDash val="dash"/>
              <a:round/>
              <a:tailEnd type="triangle" w="med" len="med"/>
            </a:ln>
            <a:effectLst/>
          </p:spPr>
          <p:txBody>
            <a:bodyPr/>
            <a:lstStyle/>
            <a:p>
              <a:endParaRPr lang="zh-CN" altLang="en-US" sz="1350"/>
            </a:p>
          </p:txBody>
        </p:sp>
        <p:sp>
          <p:nvSpPr>
            <p:cNvPr id="128020" name="Text Box 20"/>
            <p:cNvSpPr txBox="1">
              <a:spLocks noChangeArrowheads="1"/>
            </p:cNvSpPr>
            <p:nvPr/>
          </p:nvSpPr>
          <p:spPr bwMode="auto">
            <a:xfrm>
              <a:off x="3352799" y="3881041"/>
              <a:ext cx="1219200" cy="495488"/>
            </a:xfrm>
            <a:prstGeom prst="rect">
              <a:avLst/>
            </a:prstGeom>
            <a:noFill/>
            <a:ln w="25400">
              <a:noFill/>
              <a:miter lim="800000"/>
            </a:ln>
            <a:effectLst/>
          </p:spPr>
          <p:txBody>
            <a:bodyPr>
              <a:spAutoFit/>
            </a:bodyPr>
            <a:lstStyle/>
            <a:p>
              <a:pPr algn="l" eaLnBrk="1" hangingPunct="1">
                <a:spcBef>
                  <a:spcPct val="50000"/>
                </a:spcBef>
              </a:pPr>
              <a:r>
                <a:rPr kumimoji="1" lang="zh-CN" altLang="en-US" sz="1500" b="1">
                  <a:solidFill>
                    <a:srgbClr val="FF0000"/>
                  </a:solidFill>
                  <a:latin typeface="+mn-ea"/>
                </a:rPr>
                <a:t>写代码</a:t>
              </a:r>
              <a:endParaRPr kumimoji="1" lang="zh-CN" altLang="en-US" sz="1500" b="1">
                <a:solidFill>
                  <a:srgbClr val="FF0000"/>
                </a:solidFill>
                <a:latin typeface="+mn-ea"/>
              </a:endParaRPr>
            </a:p>
          </p:txBody>
        </p:sp>
        <p:sp>
          <p:nvSpPr>
            <p:cNvPr id="128021" name="Line 21"/>
            <p:cNvSpPr>
              <a:spLocks noChangeShapeType="1"/>
            </p:cNvSpPr>
            <p:nvPr/>
          </p:nvSpPr>
          <p:spPr bwMode="auto">
            <a:xfrm>
              <a:off x="4486282" y="4114800"/>
              <a:ext cx="914400" cy="0"/>
            </a:xfrm>
            <a:prstGeom prst="line">
              <a:avLst/>
            </a:prstGeom>
            <a:noFill/>
            <a:ln w="25400">
              <a:solidFill>
                <a:schemeClr val="tx1"/>
              </a:solidFill>
              <a:prstDash val="dash"/>
              <a:round/>
              <a:tailEnd type="triangle" w="med" len="med"/>
            </a:ln>
            <a:effectLst/>
          </p:spPr>
          <p:txBody>
            <a:bodyPr/>
            <a:lstStyle/>
            <a:p>
              <a:endParaRPr lang="zh-CN" altLang="en-US" sz="1350"/>
            </a:p>
          </p:txBody>
        </p:sp>
        <p:sp>
          <p:nvSpPr>
            <p:cNvPr id="128022" name="Line 22"/>
            <p:cNvSpPr>
              <a:spLocks noChangeShapeType="1"/>
            </p:cNvSpPr>
            <p:nvPr/>
          </p:nvSpPr>
          <p:spPr bwMode="auto">
            <a:xfrm>
              <a:off x="5302249" y="4952999"/>
              <a:ext cx="914400" cy="0"/>
            </a:xfrm>
            <a:prstGeom prst="line">
              <a:avLst/>
            </a:prstGeom>
            <a:noFill/>
            <a:ln w="25400">
              <a:solidFill>
                <a:schemeClr val="tx1"/>
              </a:solidFill>
              <a:prstDash val="dash"/>
              <a:round/>
              <a:tailEnd type="triangle" w="med" len="med"/>
            </a:ln>
            <a:effectLst/>
          </p:spPr>
          <p:txBody>
            <a:bodyPr/>
            <a:lstStyle/>
            <a:p>
              <a:endParaRPr lang="zh-CN" altLang="en-US" sz="1350"/>
            </a:p>
          </p:txBody>
        </p:sp>
        <p:sp>
          <p:nvSpPr>
            <p:cNvPr id="128023" name="Text Box 23"/>
            <p:cNvSpPr txBox="1">
              <a:spLocks noChangeArrowheads="1"/>
            </p:cNvSpPr>
            <p:nvPr/>
          </p:nvSpPr>
          <p:spPr bwMode="auto">
            <a:xfrm>
              <a:off x="3062590" y="4676056"/>
              <a:ext cx="2574319" cy="495488"/>
            </a:xfrm>
            <a:prstGeom prst="rect">
              <a:avLst/>
            </a:prstGeom>
            <a:noFill/>
            <a:ln w="25400">
              <a:noFill/>
              <a:miter lim="800000"/>
            </a:ln>
            <a:effectLst/>
          </p:spPr>
          <p:txBody>
            <a:bodyPr wrap="square">
              <a:spAutoFit/>
            </a:bodyPr>
            <a:lstStyle/>
            <a:p>
              <a:pPr algn="l" eaLnBrk="1" hangingPunct="1">
                <a:spcBef>
                  <a:spcPct val="50000"/>
                </a:spcBef>
              </a:pPr>
              <a:r>
                <a:rPr kumimoji="1" lang="zh-CN" altLang="en-US" sz="1500" b="1" dirty="0">
                  <a:solidFill>
                    <a:srgbClr val="FF0000"/>
                  </a:solidFill>
                  <a:latin typeface="+mn-ea"/>
                </a:rPr>
                <a:t>提交给老师检查</a:t>
              </a:r>
              <a:endParaRPr kumimoji="1" lang="zh-CN" altLang="en-US" sz="1500" b="1" dirty="0">
                <a:solidFill>
                  <a:srgbClr val="FF0000"/>
                </a:solidFill>
                <a:latin typeface="+mn-ea"/>
              </a:endParaRPr>
            </a:p>
          </p:txBody>
        </p:sp>
        <p:sp>
          <p:nvSpPr>
            <p:cNvPr id="128024" name="Text Box 24"/>
            <p:cNvSpPr txBox="1">
              <a:spLocks noChangeArrowheads="1"/>
            </p:cNvSpPr>
            <p:nvPr/>
          </p:nvSpPr>
          <p:spPr bwMode="auto">
            <a:xfrm>
              <a:off x="3103931" y="5547384"/>
              <a:ext cx="2992070" cy="495488"/>
            </a:xfrm>
            <a:prstGeom prst="rect">
              <a:avLst/>
            </a:prstGeom>
            <a:noFill/>
            <a:ln w="25400">
              <a:noFill/>
              <a:miter lim="800000"/>
            </a:ln>
            <a:effectLst/>
          </p:spPr>
          <p:txBody>
            <a:bodyPr wrap="square">
              <a:spAutoFit/>
            </a:bodyPr>
            <a:lstStyle/>
            <a:p>
              <a:pPr algn="l" eaLnBrk="1" hangingPunct="1">
                <a:spcBef>
                  <a:spcPct val="50000"/>
                </a:spcBef>
              </a:pPr>
              <a:r>
                <a:rPr kumimoji="1" lang="zh-CN" altLang="en-US" sz="1500" b="1" dirty="0">
                  <a:solidFill>
                    <a:srgbClr val="FF0000"/>
                  </a:solidFill>
                  <a:latin typeface="+mn-ea"/>
                </a:rPr>
                <a:t>给老师朋友安装、讲解</a:t>
              </a:r>
              <a:endParaRPr kumimoji="1" lang="zh-CN" altLang="en-US" sz="1500" b="1" dirty="0">
                <a:solidFill>
                  <a:srgbClr val="FF0000"/>
                </a:solidFill>
                <a:latin typeface="+mn-ea"/>
              </a:endParaRPr>
            </a:p>
          </p:txBody>
        </p:sp>
        <p:sp>
          <p:nvSpPr>
            <p:cNvPr id="128025" name="Line 25"/>
            <p:cNvSpPr>
              <a:spLocks noChangeShapeType="1"/>
            </p:cNvSpPr>
            <p:nvPr/>
          </p:nvSpPr>
          <p:spPr bwMode="auto">
            <a:xfrm>
              <a:off x="6172200" y="5837931"/>
              <a:ext cx="914400" cy="0"/>
            </a:xfrm>
            <a:prstGeom prst="line">
              <a:avLst/>
            </a:prstGeom>
            <a:noFill/>
            <a:ln w="25400">
              <a:solidFill>
                <a:schemeClr val="tx1"/>
              </a:solidFill>
              <a:prstDash val="dash"/>
              <a:round/>
              <a:tailEnd type="triangle" w="med" len="med"/>
            </a:ln>
            <a:effectLst/>
          </p:spPr>
          <p:txBody>
            <a:bodyPr/>
            <a:lstStyle/>
            <a:p>
              <a:endParaRPr lang="zh-CN" altLang="en-US" sz="1350"/>
            </a:p>
          </p:txBody>
        </p:sp>
        <p:sp>
          <p:nvSpPr>
            <p:cNvPr id="128026" name="Line 26"/>
            <p:cNvSpPr>
              <a:spLocks noChangeShapeType="1"/>
            </p:cNvSpPr>
            <p:nvPr/>
          </p:nvSpPr>
          <p:spPr bwMode="auto">
            <a:xfrm>
              <a:off x="6629400" y="6629399"/>
              <a:ext cx="914400" cy="0"/>
            </a:xfrm>
            <a:prstGeom prst="line">
              <a:avLst/>
            </a:prstGeom>
            <a:noFill/>
            <a:ln w="25400">
              <a:solidFill>
                <a:schemeClr val="tx1"/>
              </a:solidFill>
              <a:prstDash val="dash"/>
              <a:round/>
              <a:tailEnd type="triangle" w="med" len="med"/>
            </a:ln>
            <a:effectLst/>
          </p:spPr>
          <p:txBody>
            <a:bodyPr/>
            <a:lstStyle/>
            <a:p>
              <a:endParaRPr lang="zh-CN" altLang="en-US" sz="1350"/>
            </a:p>
          </p:txBody>
        </p:sp>
        <p:sp>
          <p:nvSpPr>
            <p:cNvPr id="128027" name="Text Box 27"/>
            <p:cNvSpPr txBox="1">
              <a:spLocks noChangeArrowheads="1"/>
            </p:cNvSpPr>
            <p:nvPr/>
          </p:nvSpPr>
          <p:spPr bwMode="auto">
            <a:xfrm>
              <a:off x="3309688" y="6362512"/>
              <a:ext cx="3319712" cy="495488"/>
            </a:xfrm>
            <a:prstGeom prst="rect">
              <a:avLst/>
            </a:prstGeom>
            <a:noFill/>
            <a:ln w="25400">
              <a:noFill/>
              <a:miter lim="800000"/>
            </a:ln>
            <a:effectLst/>
          </p:spPr>
          <p:txBody>
            <a:bodyPr wrap="square">
              <a:spAutoFit/>
            </a:bodyPr>
            <a:lstStyle/>
            <a:p>
              <a:pPr algn="l" eaLnBrk="1" hangingPunct="1">
                <a:spcBef>
                  <a:spcPct val="50000"/>
                </a:spcBef>
              </a:pPr>
              <a:r>
                <a:rPr kumimoji="1" lang="zh-CN" altLang="en-US" sz="1500" b="1" dirty="0">
                  <a:solidFill>
                    <a:srgbClr val="FF0000"/>
                  </a:solidFill>
                  <a:latin typeface="+mn-ea"/>
                </a:rPr>
                <a:t>修正问题、改进软件</a:t>
              </a:r>
              <a:r>
                <a:rPr kumimoji="1" lang="en-US" altLang="zh-CN" sz="1500" b="1" dirty="0">
                  <a:solidFill>
                    <a:srgbClr val="FF0000"/>
                  </a:solidFill>
                  <a:latin typeface="+mn-ea"/>
                </a:rPr>
                <a:t>……</a:t>
              </a:r>
              <a:endParaRPr kumimoji="1" lang="en-US" altLang="zh-CN" sz="1500" b="1" dirty="0">
                <a:solidFill>
                  <a:srgbClr val="FF0000"/>
                </a:solidFill>
                <a:latin typeface="+mn-ea"/>
              </a:endParaRPr>
            </a:p>
          </p:txBody>
        </p:sp>
        <p:cxnSp>
          <p:nvCxnSpPr>
            <p:cNvPr id="128028" name="AutoShape 28"/>
            <p:cNvCxnSpPr>
              <a:cxnSpLocks noChangeShapeType="1"/>
              <a:stCxn id="128004" idx="3"/>
              <a:endCxn id="128005" idx="0"/>
            </p:cNvCxnSpPr>
            <p:nvPr/>
          </p:nvCxnSpPr>
          <p:spPr bwMode="auto">
            <a:xfrm>
              <a:off x="3441700" y="990600"/>
              <a:ext cx="63500" cy="520700"/>
            </a:xfrm>
            <a:prstGeom prst="bentConnector2">
              <a:avLst/>
            </a:prstGeom>
            <a:noFill/>
            <a:ln w="25400">
              <a:solidFill>
                <a:schemeClr val="tx1"/>
              </a:solidFill>
              <a:miter lim="800000"/>
              <a:tailEnd type="triangle" w="med" len="med"/>
            </a:ln>
            <a:effectLst/>
          </p:spPr>
        </p:cxnSp>
        <p:cxnSp>
          <p:nvCxnSpPr>
            <p:cNvPr id="128029" name="AutoShape 29"/>
            <p:cNvCxnSpPr>
              <a:cxnSpLocks noChangeShapeType="1"/>
              <a:stCxn id="128005" idx="3"/>
              <a:endCxn id="128006" idx="0"/>
            </p:cNvCxnSpPr>
            <p:nvPr/>
          </p:nvCxnSpPr>
          <p:spPr bwMode="auto">
            <a:xfrm>
              <a:off x="4279900" y="1752600"/>
              <a:ext cx="139700" cy="520700"/>
            </a:xfrm>
            <a:prstGeom prst="bentConnector2">
              <a:avLst/>
            </a:prstGeom>
            <a:noFill/>
            <a:ln w="25400">
              <a:solidFill>
                <a:schemeClr val="tx1"/>
              </a:solidFill>
              <a:miter lim="800000"/>
              <a:tailEnd type="triangle" w="med" len="med"/>
            </a:ln>
            <a:effectLst/>
          </p:spPr>
        </p:cxnSp>
        <p:cxnSp>
          <p:nvCxnSpPr>
            <p:cNvPr id="128030" name="AutoShape 30"/>
            <p:cNvCxnSpPr>
              <a:cxnSpLocks noChangeShapeType="1"/>
              <a:stCxn id="128006" idx="3"/>
              <a:endCxn id="128007" idx="0"/>
            </p:cNvCxnSpPr>
            <p:nvPr/>
          </p:nvCxnSpPr>
          <p:spPr bwMode="auto">
            <a:xfrm>
              <a:off x="5194300" y="2514600"/>
              <a:ext cx="215900" cy="520700"/>
            </a:xfrm>
            <a:prstGeom prst="bentConnector2">
              <a:avLst/>
            </a:prstGeom>
            <a:noFill/>
            <a:ln w="25400">
              <a:solidFill>
                <a:schemeClr val="tx1"/>
              </a:solidFill>
              <a:miter lim="800000"/>
              <a:tailEnd type="triangle" w="med" len="med"/>
            </a:ln>
            <a:effectLst/>
          </p:spPr>
        </p:cxnSp>
        <p:cxnSp>
          <p:nvCxnSpPr>
            <p:cNvPr id="128031" name="AutoShape 31"/>
            <p:cNvCxnSpPr>
              <a:cxnSpLocks noChangeShapeType="1"/>
              <a:stCxn id="128007" idx="3"/>
              <a:endCxn id="128008" idx="0"/>
            </p:cNvCxnSpPr>
            <p:nvPr/>
          </p:nvCxnSpPr>
          <p:spPr bwMode="auto">
            <a:xfrm>
              <a:off x="6184900" y="3276600"/>
              <a:ext cx="139700" cy="596900"/>
            </a:xfrm>
            <a:prstGeom prst="bentConnector2">
              <a:avLst/>
            </a:prstGeom>
            <a:noFill/>
            <a:ln w="25400">
              <a:solidFill>
                <a:schemeClr val="tx1"/>
              </a:solidFill>
              <a:miter lim="800000"/>
              <a:tailEnd type="triangle" w="med" len="med"/>
            </a:ln>
            <a:effectLst/>
          </p:spPr>
        </p:cxnSp>
        <p:cxnSp>
          <p:nvCxnSpPr>
            <p:cNvPr id="128032" name="AutoShape 32"/>
            <p:cNvCxnSpPr>
              <a:cxnSpLocks noChangeShapeType="1"/>
              <a:stCxn id="128008" idx="3"/>
              <a:endCxn id="128009" idx="0"/>
            </p:cNvCxnSpPr>
            <p:nvPr/>
          </p:nvCxnSpPr>
          <p:spPr bwMode="auto">
            <a:xfrm>
              <a:off x="7099300" y="4114800"/>
              <a:ext cx="63500" cy="596900"/>
            </a:xfrm>
            <a:prstGeom prst="bentConnector2">
              <a:avLst/>
            </a:prstGeom>
            <a:noFill/>
            <a:ln w="25400">
              <a:solidFill>
                <a:schemeClr val="tx1"/>
              </a:solidFill>
              <a:miter lim="800000"/>
              <a:tailEnd type="triangle" w="med" len="med"/>
            </a:ln>
            <a:effectLst/>
          </p:spPr>
        </p:cxnSp>
        <p:cxnSp>
          <p:nvCxnSpPr>
            <p:cNvPr id="128033" name="AutoShape 33"/>
            <p:cNvCxnSpPr>
              <a:cxnSpLocks noChangeShapeType="1"/>
              <a:stCxn id="128009" idx="3"/>
              <a:endCxn id="128010" idx="0"/>
            </p:cNvCxnSpPr>
            <p:nvPr/>
          </p:nvCxnSpPr>
          <p:spPr bwMode="auto">
            <a:xfrm flipH="1">
              <a:off x="7924800" y="4953000"/>
              <a:ext cx="12700" cy="596900"/>
            </a:xfrm>
            <a:prstGeom prst="bentConnector4">
              <a:avLst>
                <a:gd name="adj1" fmla="val -1700000"/>
                <a:gd name="adj2" fmla="val 70213"/>
              </a:avLst>
            </a:prstGeom>
            <a:noFill/>
            <a:ln w="25400">
              <a:solidFill>
                <a:schemeClr val="tx1"/>
              </a:solidFill>
              <a:miter lim="800000"/>
              <a:tailEnd type="triangle" w="med" len="med"/>
            </a:ln>
            <a:effectLst/>
          </p:spPr>
        </p:cxnSp>
        <p:cxnSp>
          <p:nvCxnSpPr>
            <p:cNvPr id="128034" name="AutoShape 34"/>
            <p:cNvCxnSpPr>
              <a:cxnSpLocks noChangeShapeType="1"/>
              <a:stCxn id="128010" idx="3"/>
              <a:endCxn id="128011" idx="0"/>
            </p:cNvCxnSpPr>
            <p:nvPr/>
          </p:nvCxnSpPr>
          <p:spPr bwMode="auto">
            <a:xfrm flipH="1">
              <a:off x="8382000" y="5791200"/>
              <a:ext cx="317500" cy="596900"/>
            </a:xfrm>
            <a:prstGeom prst="bentConnector4">
              <a:avLst>
                <a:gd name="adj1" fmla="val -68000"/>
                <a:gd name="adj2" fmla="val 70213"/>
              </a:avLst>
            </a:prstGeom>
            <a:noFill/>
            <a:ln w="25400">
              <a:solidFill>
                <a:schemeClr val="tx1"/>
              </a:solidFill>
              <a:miter lim="800000"/>
              <a:tailEnd type="triangle" w="med" len="med"/>
            </a:ln>
            <a:effectLst/>
          </p:spPr>
        </p:cxnSp>
      </p:grpSp>
      <p:sp>
        <p:nvSpPr>
          <p:cNvPr id="3" name="标题 2"/>
          <p:cNvSpPr>
            <a:spLocks noGrp="1"/>
          </p:cNvSpPr>
          <p:nvPr>
            <p:ph type="title"/>
          </p:nvPr>
        </p:nvSpPr>
        <p:spPr/>
        <p:txBody>
          <a:bodyPr/>
          <a:lstStyle/>
          <a:p>
            <a:r>
              <a:rPr kumimoji="1" lang="zh-CN" altLang="en-US" dirty="0">
                <a:latin typeface="Times New Roman" panose="02020603050405020304" pitchFamily="18" charset="0"/>
              </a:rPr>
              <a:t>案例</a:t>
            </a:r>
            <a:r>
              <a:rPr kumimoji="1" lang="en-US" altLang="zh-CN" dirty="0">
                <a:latin typeface="Times New Roman" panose="02020603050405020304" pitchFamily="18" charset="0"/>
              </a:rPr>
              <a:t>——</a:t>
            </a:r>
            <a:r>
              <a:rPr kumimoji="1" lang="zh-CN" altLang="en-US" dirty="0">
                <a:latin typeface="Times New Roman" panose="02020603050405020304" pitchFamily="18" charset="0"/>
                <a:sym typeface="Wingdings" panose="05000000000000000000" pitchFamily="2" charset="2"/>
              </a:rPr>
              <a:t>软件制造的八个阶段</a:t>
            </a:r>
            <a:endParaRPr lang="zh-CN" altLang="en-US" dirty="0"/>
          </a:p>
        </p:txBody>
      </p:sp>
      <p:sp>
        <p:nvSpPr>
          <p:cNvPr id="6" name="灯片编号占位符 5"/>
          <p:cNvSpPr>
            <a:spLocks noGrp="1"/>
          </p:cNvSpPr>
          <p:nvPr>
            <p:ph type="sldNum" sz="quarter" idx="12"/>
          </p:nvPr>
        </p:nvSpPr>
        <p:spPr/>
        <p:txBody>
          <a:bodyPr/>
          <a:lstStyle/>
          <a:p>
            <a:fld id="{0A2FEC15-E8A8-49FB-BE65-FC3681B6690A}" type="slidenum">
              <a:rPr lang="ko-KR" altLang="en-US" smtClean="0"/>
            </a:fld>
            <a:endParaRPr lang="en-US" altLang="ko-KR"/>
          </a:p>
        </p:txBody>
      </p:sp>
      <p:sp>
        <p:nvSpPr>
          <p:cNvPr id="2" name="日期占位符 1"/>
          <p:cNvSpPr>
            <a:spLocks noGrp="1"/>
          </p:cNvSpPr>
          <p:nvPr>
            <p:ph type="dt" sz="half" idx="10"/>
          </p:nvPr>
        </p:nvSpPr>
        <p:spPr/>
        <p:txBody>
          <a:bodyPr/>
          <a:lstStyle/>
          <a:p>
            <a:fld id="{ECF106BC-542A-4E78-926D-43D63AD1FA5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7" name="Text Box 3"/>
          <p:cNvSpPr txBox="1">
            <a:spLocks noChangeArrowheads="1"/>
          </p:cNvSpPr>
          <p:nvPr/>
        </p:nvSpPr>
        <p:spPr bwMode="auto">
          <a:xfrm>
            <a:off x="980856" y="915869"/>
            <a:ext cx="7660662" cy="1754326"/>
          </a:xfrm>
          <a:prstGeom prst="rect">
            <a:avLst/>
          </a:prstGeom>
          <a:noFill/>
          <a:ln w="25400">
            <a:noFill/>
            <a:miter lim="800000"/>
          </a:ln>
          <a:effectLst/>
        </p:spPr>
        <p:txBody>
          <a:bodyPr wrap="square">
            <a:spAutoFit/>
          </a:bodyPr>
          <a:lstStyle/>
          <a:p>
            <a:pPr algn="just" eaLnBrk="1" hangingPunct="1">
              <a:spcBef>
                <a:spcPct val="50000"/>
              </a:spcBef>
            </a:pPr>
            <a:r>
              <a:rPr kumimoji="1" lang="zh-CN" altLang="en-US" sz="2400" dirty="0">
                <a:latin typeface="+mj-ea"/>
                <a:ea typeface="+mj-ea"/>
              </a:rPr>
              <a:t>实际情况</a:t>
            </a:r>
            <a:r>
              <a:rPr kumimoji="1" lang="en-US" altLang="zh-CN" sz="2400" dirty="0">
                <a:latin typeface="+mj-ea"/>
                <a:ea typeface="+mj-ea"/>
              </a:rPr>
              <a:t>1</a:t>
            </a:r>
            <a:endParaRPr kumimoji="1" lang="en-US" altLang="zh-CN" sz="2400" dirty="0">
              <a:latin typeface="+mj-ea"/>
              <a:ea typeface="+mj-ea"/>
            </a:endParaRPr>
          </a:p>
          <a:p>
            <a:pPr algn="just" eaLnBrk="1" hangingPunct="1">
              <a:spcBef>
                <a:spcPct val="50000"/>
              </a:spcBef>
            </a:pPr>
            <a:r>
              <a:rPr kumimoji="1" lang="zh-CN" altLang="en-US" sz="2400" dirty="0">
                <a:latin typeface="+mj-ea"/>
                <a:ea typeface="+mj-ea"/>
              </a:rPr>
              <a:t>一切顺利，学生</a:t>
            </a:r>
            <a:r>
              <a:rPr kumimoji="1" lang="en-US" altLang="zh-CN" sz="2400" dirty="0">
                <a:latin typeface="+mj-ea"/>
                <a:ea typeface="+mj-ea"/>
              </a:rPr>
              <a:t>S</a:t>
            </a:r>
            <a:r>
              <a:rPr kumimoji="1" lang="zh-CN" altLang="en-US" sz="2400" dirty="0">
                <a:latin typeface="+mj-ea"/>
                <a:ea typeface="+mj-ea"/>
              </a:rPr>
              <a:t>按期交付了软件，经过一两周的试用、修改、完善后，三方都比较满意，该软件在老师的朋友那里成为一个得心应手的工具。</a:t>
            </a:r>
            <a:endParaRPr kumimoji="1" lang="zh-CN" altLang="en-US" sz="2400" dirty="0">
              <a:latin typeface="+mj-ea"/>
              <a:ea typeface="+mj-ea"/>
            </a:endParaRPr>
          </a:p>
        </p:txBody>
      </p:sp>
      <p:sp>
        <p:nvSpPr>
          <p:cNvPr id="129028" name="AutoShape 4"/>
          <p:cNvSpPr>
            <a:spLocks noChangeArrowheads="1"/>
          </p:cNvSpPr>
          <p:nvPr/>
        </p:nvSpPr>
        <p:spPr bwMode="auto">
          <a:xfrm>
            <a:off x="4474575" y="2757151"/>
            <a:ext cx="336612" cy="1308720"/>
          </a:xfrm>
          <a:prstGeom prst="downArrow">
            <a:avLst>
              <a:gd name="adj1" fmla="val 50000"/>
              <a:gd name="adj2" fmla="val 191667"/>
            </a:avLst>
          </a:prstGeom>
          <a:noFill/>
          <a:ln w="25400">
            <a:solidFill>
              <a:schemeClr val="tx1"/>
            </a:solidFill>
            <a:miter lim="800000"/>
          </a:ln>
          <a:effectLst/>
        </p:spPr>
        <p:txBody>
          <a:bodyPr vert="eaVert" wrap="none" anchor="ctr"/>
          <a:lstStyle/>
          <a:p>
            <a:endParaRPr lang="zh-CN" altLang="en-US" sz="1350"/>
          </a:p>
        </p:txBody>
      </p:sp>
      <p:sp>
        <p:nvSpPr>
          <p:cNvPr id="129029" name="Text Box 5"/>
          <p:cNvSpPr txBox="1">
            <a:spLocks noChangeArrowheads="1"/>
          </p:cNvSpPr>
          <p:nvPr/>
        </p:nvSpPr>
        <p:spPr bwMode="auto">
          <a:xfrm>
            <a:off x="3325833" y="4065871"/>
            <a:ext cx="2800350" cy="415498"/>
          </a:xfrm>
          <a:prstGeom prst="rect">
            <a:avLst/>
          </a:prstGeom>
          <a:noFill/>
          <a:ln w="25400">
            <a:noFill/>
            <a:miter lim="800000"/>
          </a:ln>
          <a:effectLst/>
        </p:spPr>
        <p:txBody>
          <a:bodyPr>
            <a:spAutoFit/>
          </a:bodyPr>
          <a:lstStyle/>
          <a:p>
            <a:pPr algn="l" eaLnBrk="1" hangingPunct="1">
              <a:spcBef>
                <a:spcPct val="50000"/>
              </a:spcBef>
            </a:pPr>
            <a:r>
              <a:rPr kumimoji="1" lang="en-US" altLang="zh-CN" sz="2100" b="1" dirty="0">
                <a:solidFill>
                  <a:srgbClr val="FF0000"/>
                </a:solidFill>
                <a:latin typeface="+mj-ea"/>
                <a:ea typeface="+mj-ea"/>
              </a:rPr>
              <a:t>         </a:t>
            </a:r>
            <a:r>
              <a:rPr kumimoji="1" lang="zh-CN" altLang="en-US" sz="2100" b="1" dirty="0">
                <a:solidFill>
                  <a:srgbClr val="FF0000"/>
                </a:solidFill>
                <a:latin typeface="+mj-ea"/>
                <a:ea typeface="+mj-ea"/>
              </a:rPr>
              <a:t>瀑布模型</a:t>
            </a:r>
            <a:endParaRPr kumimoji="1" lang="zh-CN" altLang="en-US" sz="2100" b="1" dirty="0">
              <a:solidFill>
                <a:srgbClr val="FF0000"/>
              </a:solidFill>
              <a:latin typeface="+mj-ea"/>
              <a:ea typeface="+mj-ea"/>
            </a:endParaRPr>
          </a:p>
        </p:txBody>
      </p:sp>
      <p:sp>
        <p:nvSpPr>
          <p:cNvPr id="2" name="标题 1"/>
          <p:cNvSpPr>
            <a:spLocks noGrp="1"/>
          </p:cNvSpPr>
          <p:nvPr>
            <p:ph type="title"/>
          </p:nvPr>
        </p:nvSpPr>
        <p:spPr/>
        <p:txBody>
          <a:bodyPr/>
          <a:lstStyle/>
          <a:p>
            <a:r>
              <a:rPr kumimoji="1" lang="zh-CN" altLang="en-US" dirty="0">
                <a:latin typeface="Times New Roman" panose="02020603050405020304" pitchFamily="18" charset="0"/>
              </a:rPr>
              <a:t>案例</a:t>
            </a:r>
            <a:endParaRPr lang="zh-CN" altLang="en-US" dirty="0"/>
          </a:p>
        </p:txBody>
      </p:sp>
      <p:sp>
        <p:nvSpPr>
          <p:cNvPr id="4" name="灯片编号占位符 3"/>
          <p:cNvSpPr>
            <a:spLocks noGrp="1"/>
          </p:cNvSpPr>
          <p:nvPr>
            <p:ph type="sldNum" sz="quarter" idx="12"/>
          </p:nvPr>
        </p:nvSpPr>
        <p:spPr/>
        <p:txBody>
          <a:bodyPr/>
          <a:lstStyle/>
          <a:p>
            <a:fld id="{47CA9980-A6FB-42C0-B5E8-AA033557BCE0}" type="slidenum">
              <a:rPr lang="ko-KR" altLang="en-US" smtClean="0"/>
            </a:fld>
            <a:endParaRPr lang="en-US" altLang="ko-KR"/>
          </a:p>
        </p:txBody>
      </p:sp>
      <p:sp>
        <p:nvSpPr>
          <p:cNvPr id="3" name="日期占位符 2"/>
          <p:cNvSpPr>
            <a:spLocks noGrp="1"/>
          </p:cNvSpPr>
          <p:nvPr>
            <p:ph type="dt" sz="half" idx="10"/>
          </p:nvPr>
        </p:nvSpPr>
        <p:spPr/>
        <p:txBody>
          <a:bodyPr/>
          <a:lstStyle/>
          <a:p>
            <a:fld id="{A9D3E08D-1BD8-4CB4-BEA9-E4518EE5FD11}"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129028"/>
                                        </p:tgtEl>
                                        <p:attrNameLst>
                                          <p:attrName>style.visibility</p:attrName>
                                        </p:attrNameLst>
                                      </p:cBhvr>
                                      <p:to>
                                        <p:strVal val="visible"/>
                                      </p:to>
                                    </p:set>
                                    <p:anim calcmode="lin" valueType="num">
                                      <p:cBhvr>
                                        <p:cTn id="7" dur="500" fill="hold"/>
                                        <p:tgtEl>
                                          <p:spTgt spid="129028"/>
                                        </p:tgtEl>
                                        <p:attrNameLst>
                                          <p:attrName>ppt_x</p:attrName>
                                        </p:attrNameLst>
                                      </p:cBhvr>
                                      <p:tavLst>
                                        <p:tav tm="0">
                                          <p:val>
                                            <p:strVal val="#ppt_x"/>
                                          </p:val>
                                        </p:tav>
                                        <p:tav tm="100000">
                                          <p:val>
                                            <p:strVal val="#ppt_x"/>
                                          </p:val>
                                        </p:tav>
                                      </p:tavLst>
                                    </p:anim>
                                    <p:anim calcmode="lin" valueType="num">
                                      <p:cBhvr>
                                        <p:cTn id="8" dur="500" fill="hold"/>
                                        <p:tgtEl>
                                          <p:spTgt spid="129028"/>
                                        </p:tgtEl>
                                        <p:attrNameLst>
                                          <p:attrName>ppt_y</p:attrName>
                                        </p:attrNameLst>
                                      </p:cBhvr>
                                      <p:tavLst>
                                        <p:tav tm="0">
                                          <p:val>
                                            <p:strVal val="#ppt_y-#ppt_h/2"/>
                                          </p:val>
                                        </p:tav>
                                        <p:tav tm="100000">
                                          <p:val>
                                            <p:strVal val="#ppt_y"/>
                                          </p:val>
                                        </p:tav>
                                      </p:tavLst>
                                    </p:anim>
                                    <p:anim calcmode="lin" valueType="num">
                                      <p:cBhvr>
                                        <p:cTn id="9" dur="500" fill="hold"/>
                                        <p:tgtEl>
                                          <p:spTgt spid="129028"/>
                                        </p:tgtEl>
                                        <p:attrNameLst>
                                          <p:attrName>ppt_w</p:attrName>
                                        </p:attrNameLst>
                                      </p:cBhvr>
                                      <p:tavLst>
                                        <p:tav tm="0">
                                          <p:val>
                                            <p:strVal val="#ppt_w"/>
                                          </p:val>
                                        </p:tav>
                                        <p:tav tm="100000">
                                          <p:val>
                                            <p:strVal val="#ppt_w"/>
                                          </p:val>
                                        </p:tav>
                                      </p:tavLst>
                                    </p:anim>
                                    <p:anim calcmode="lin" valueType="num">
                                      <p:cBhvr>
                                        <p:cTn id="10" dur="500" fill="hold"/>
                                        <p:tgtEl>
                                          <p:spTgt spid="129028"/>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29029"/>
                                        </p:tgtEl>
                                        <p:attrNameLst>
                                          <p:attrName>style.visibility</p:attrName>
                                        </p:attrNameLst>
                                      </p:cBhvr>
                                      <p:to>
                                        <p:strVal val="visible"/>
                                      </p:to>
                                    </p:set>
                                    <p:animEffect transition="in" filter="dissolve">
                                      <p:cBhvr>
                                        <p:cTn id="15" dur="500"/>
                                        <p:tgtEl>
                                          <p:spTgt spid="129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8" grpId="0" bldLvl="0" animBg="1"/>
      <p:bldP spid="129029" grpId="0" bldLvl="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mj-ea"/>
              </a:rPr>
              <a:t>（</a:t>
            </a:r>
            <a:r>
              <a:rPr lang="en-US" altLang="zh-CN" dirty="0">
                <a:latin typeface="+mj-ea"/>
              </a:rPr>
              <a:t>1</a:t>
            </a:r>
            <a:r>
              <a:rPr lang="zh-CN" altLang="en-US" dirty="0">
                <a:latin typeface="+mj-ea"/>
              </a:rPr>
              <a:t>）</a:t>
            </a:r>
            <a:r>
              <a:rPr lang="zh-CN" altLang="zh-CN" dirty="0">
                <a:latin typeface="+mj-ea"/>
              </a:rPr>
              <a:t>瀑布模型</a:t>
            </a:r>
            <a:endParaRPr lang="zh-CN" altLang="en-US" dirty="0">
              <a:latin typeface="+mj-ea"/>
            </a:endParaRPr>
          </a:p>
        </p:txBody>
      </p:sp>
      <p:sp>
        <p:nvSpPr>
          <p:cNvPr id="6" name="灯片编号占位符 5"/>
          <p:cNvSpPr>
            <a:spLocks noGrp="1"/>
          </p:cNvSpPr>
          <p:nvPr>
            <p:ph type="sldNum" sz="quarter" idx="12"/>
          </p:nvPr>
        </p:nvSpPr>
        <p:spPr/>
        <p:txBody>
          <a:bodyPr/>
          <a:lstStyle/>
          <a:p>
            <a:fld id="{AEC086C4-BB49-4EC5-803C-DF6C099D78ED}" type="slidenum">
              <a:rPr lang="ko-KR" altLang="en-US" smtClean="0"/>
            </a:fld>
            <a:endParaRPr lang="en-US" altLang="ko-KR"/>
          </a:p>
        </p:txBody>
      </p:sp>
      <p:pic>
        <p:nvPicPr>
          <p:cNvPr id="7" name="图片 6"/>
          <p:cNvPicPr>
            <a:picLocks noChangeAspect="1"/>
          </p:cNvPicPr>
          <p:nvPr/>
        </p:nvPicPr>
        <p:blipFill>
          <a:blip r:embed="rId1">
            <a:clrChange>
              <a:clrFrom>
                <a:srgbClr val="FFFFFF"/>
              </a:clrFrom>
              <a:clrTo>
                <a:srgbClr val="FFFFFF">
                  <a:alpha val="0"/>
                </a:srgbClr>
              </a:clrTo>
            </a:clrChange>
          </a:blip>
          <a:stretch>
            <a:fillRect/>
          </a:stretch>
        </p:blipFill>
        <p:spPr>
          <a:xfrm>
            <a:off x="687572" y="956953"/>
            <a:ext cx="8276263" cy="3710049"/>
          </a:xfrm>
          <a:prstGeom prst="rect">
            <a:avLst/>
          </a:prstGeom>
        </p:spPr>
      </p:pic>
      <p:sp>
        <p:nvSpPr>
          <p:cNvPr id="8" name="日期占位符 7"/>
          <p:cNvSpPr>
            <a:spLocks noGrp="1"/>
          </p:cNvSpPr>
          <p:nvPr>
            <p:ph type="dt" sz="half" idx="10"/>
          </p:nvPr>
        </p:nvSpPr>
        <p:spPr/>
        <p:txBody>
          <a:bodyPr/>
          <a:lstStyle/>
          <a:p>
            <a:fld id="{A458EA88-E43E-4151-A2E0-6DE413DFE947}" type="datetime1">
              <a:rPr lang="zh-CN" altLang="en-US" smtClean="0"/>
            </a:fld>
            <a:endParaRPr lang="zh-CN" altLang="en-US" dirty="0"/>
          </a:p>
        </p:txBody>
      </p:sp>
      <p:sp>
        <p:nvSpPr>
          <p:cNvPr id="9" name="页脚占位符 8"/>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传统瀑布模型的特点</a:t>
            </a:r>
            <a:endParaRPr lang="zh-CN" altLang="en-US" dirty="0"/>
          </a:p>
        </p:txBody>
      </p:sp>
      <p:sp>
        <p:nvSpPr>
          <p:cNvPr id="65539" name="内容占位符 2"/>
          <p:cNvSpPr>
            <a:spLocks noGrp="1"/>
          </p:cNvSpPr>
          <p:nvPr>
            <p:ph sz="quarter" idx="1"/>
          </p:nvPr>
        </p:nvSpPr>
        <p:spPr>
          <a:xfrm>
            <a:off x="878775" y="938150"/>
            <a:ext cx="7861464" cy="3685827"/>
          </a:xfrm>
        </p:spPr>
        <p:txBody>
          <a:bodyPr>
            <a:noAutofit/>
          </a:bodyPr>
          <a:lstStyle/>
          <a:p>
            <a:pPr>
              <a:lnSpc>
                <a:spcPct val="110000"/>
              </a:lnSpc>
              <a:spcAft>
                <a:spcPts val="0"/>
              </a:spcAft>
            </a:pPr>
            <a:r>
              <a:rPr lang="zh-CN" altLang="en-US" sz="2400" dirty="0">
                <a:latin typeface="+mj-ea"/>
                <a:ea typeface="+mj-ea"/>
              </a:rPr>
              <a:t>瀑布模型又称线性顺序模型、生命周期模型，它强调开发的阶段性、早期计划和需求调查以及产品测试。是</a:t>
            </a:r>
            <a:r>
              <a:rPr lang="zh-CN" altLang="zh-CN" sz="2400" dirty="0">
                <a:latin typeface="+mj-ea"/>
                <a:ea typeface="+mj-ea"/>
              </a:rPr>
              <a:t>一种有效的面向过程的管理模式，但缺乏灵活性。</a:t>
            </a:r>
            <a:endParaRPr lang="en-US" altLang="zh-CN" sz="2400" dirty="0">
              <a:latin typeface="+mj-ea"/>
              <a:ea typeface="+mj-ea"/>
            </a:endParaRPr>
          </a:p>
          <a:p>
            <a:pPr marL="386080" indent="-386080">
              <a:lnSpc>
                <a:spcPct val="110000"/>
              </a:lnSpc>
              <a:spcAft>
                <a:spcPts val="0"/>
              </a:spcAft>
              <a:buFont typeface="+mj-lt"/>
              <a:buAutoNum type="arabicPeriod"/>
            </a:pPr>
            <a:r>
              <a:rPr lang="zh-CN" altLang="en-US" sz="2400" dirty="0">
                <a:latin typeface="+mj-ea"/>
                <a:ea typeface="+mj-ea"/>
              </a:rPr>
              <a:t>时间上具有顺序性和依赖性</a:t>
            </a:r>
            <a:endParaRPr lang="zh-CN" altLang="en-US" sz="2400" dirty="0">
              <a:latin typeface="+mj-ea"/>
              <a:ea typeface="+mj-ea"/>
            </a:endParaRPr>
          </a:p>
          <a:p>
            <a:pPr marL="386080" indent="-386080">
              <a:lnSpc>
                <a:spcPct val="110000"/>
              </a:lnSpc>
              <a:spcAft>
                <a:spcPts val="0"/>
              </a:spcAft>
              <a:buFont typeface="+mj-lt"/>
              <a:buAutoNum type="arabicPeriod"/>
            </a:pPr>
            <a:r>
              <a:rPr lang="zh-CN" altLang="en-US" sz="2400" dirty="0">
                <a:latin typeface="+mj-ea"/>
                <a:ea typeface="+mj-ea"/>
              </a:rPr>
              <a:t>推迟实现的观点</a:t>
            </a:r>
            <a:endParaRPr lang="en-US" altLang="zh-CN" sz="2400" dirty="0">
              <a:latin typeface="+mj-ea"/>
              <a:ea typeface="+mj-ea"/>
            </a:endParaRPr>
          </a:p>
          <a:p>
            <a:pPr marL="386080" indent="-386080">
              <a:lnSpc>
                <a:spcPct val="110000"/>
              </a:lnSpc>
              <a:spcAft>
                <a:spcPts val="0"/>
              </a:spcAft>
              <a:buFont typeface="+mj-lt"/>
              <a:buAutoNum type="arabicPeriod"/>
            </a:pPr>
            <a:r>
              <a:rPr lang="zh-CN" altLang="en-US" sz="2400" dirty="0">
                <a:latin typeface="+mj-ea"/>
                <a:ea typeface="+mj-ea"/>
              </a:rPr>
              <a:t>质量保证的观点</a:t>
            </a:r>
            <a:endParaRPr lang="en-US" altLang="zh-CN" sz="2400" dirty="0">
              <a:latin typeface="+mj-ea"/>
              <a:ea typeface="+mj-ea"/>
            </a:endParaRPr>
          </a:p>
          <a:p>
            <a:pPr>
              <a:lnSpc>
                <a:spcPct val="110000"/>
              </a:lnSpc>
              <a:spcAft>
                <a:spcPts val="0"/>
              </a:spcAft>
              <a:buNone/>
            </a:pPr>
            <a:r>
              <a:rPr lang="en-US" altLang="zh-CN" sz="2400" dirty="0">
                <a:latin typeface="+mj-ea"/>
                <a:ea typeface="+mj-ea"/>
              </a:rPr>
              <a:t>    1</a:t>
            </a:r>
            <a:r>
              <a:rPr lang="zh-CN" altLang="en-US" sz="2400" dirty="0">
                <a:latin typeface="+mj-ea"/>
                <a:ea typeface="+mj-ea"/>
              </a:rPr>
              <a:t>）审核机制</a:t>
            </a:r>
            <a:endParaRPr lang="en-US" altLang="zh-CN" sz="2400" dirty="0">
              <a:latin typeface="+mj-ea"/>
              <a:ea typeface="+mj-ea"/>
            </a:endParaRPr>
          </a:p>
          <a:p>
            <a:pPr>
              <a:lnSpc>
                <a:spcPct val="110000"/>
              </a:lnSpc>
              <a:spcAft>
                <a:spcPts val="0"/>
              </a:spcAft>
              <a:buNone/>
            </a:pPr>
            <a:r>
              <a:rPr lang="en-US" altLang="zh-CN" sz="2400" dirty="0">
                <a:latin typeface="+mj-ea"/>
                <a:ea typeface="+mj-ea"/>
              </a:rPr>
              <a:t>    2</a:t>
            </a:r>
            <a:r>
              <a:rPr lang="zh-CN" altLang="en-US" sz="2400" dirty="0">
                <a:latin typeface="+mj-ea"/>
                <a:ea typeface="+mj-ea"/>
              </a:rPr>
              <a:t>）文档齐全</a:t>
            </a:r>
            <a:endParaRPr lang="zh-CN" altLang="en-US" sz="2400" dirty="0">
              <a:latin typeface="+mj-ea"/>
              <a:ea typeface="+mj-ea"/>
            </a:endParaRPr>
          </a:p>
        </p:txBody>
      </p:sp>
      <p:sp>
        <p:nvSpPr>
          <p:cNvPr id="5" name="灯片编号占位符 4"/>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3" name="日期占位符 2"/>
          <p:cNvSpPr>
            <a:spLocks noGrp="1"/>
          </p:cNvSpPr>
          <p:nvPr>
            <p:ph type="dt" sz="half" idx="10"/>
          </p:nvPr>
        </p:nvSpPr>
        <p:spPr/>
        <p:txBody>
          <a:bodyPr/>
          <a:lstStyle/>
          <a:p>
            <a:fld id="{1360B2BF-70FE-49DD-925E-2056AAE9DE31}"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瀑布模型的优缺点</a:t>
            </a:r>
            <a:endParaRPr lang="zh-CN" altLang="en-US" dirty="0"/>
          </a:p>
        </p:txBody>
      </p:sp>
      <p:sp>
        <p:nvSpPr>
          <p:cNvPr id="66563" name="Rectangle 5"/>
          <p:cNvSpPr>
            <a:spLocks noGrp="1" noChangeArrowheads="1"/>
          </p:cNvSpPr>
          <p:nvPr>
            <p:ph idx="1"/>
          </p:nvPr>
        </p:nvSpPr>
        <p:spPr>
          <a:xfrm>
            <a:off x="999318" y="942085"/>
            <a:ext cx="7858932" cy="3910943"/>
          </a:xfrm>
        </p:spPr>
        <p:txBody>
          <a:bodyPr>
            <a:noAutofit/>
          </a:bodyPr>
          <a:lstStyle/>
          <a:p>
            <a:pPr algn="just" eaLnBrk="1" hangingPunct="1">
              <a:lnSpc>
                <a:spcPct val="105000"/>
              </a:lnSpc>
              <a:buClr>
                <a:schemeClr val="tx1"/>
              </a:buClr>
              <a:buFont typeface="Arial" panose="020B0604020202020204" pitchFamily="34" charset="0"/>
              <a:buChar char="•"/>
            </a:pPr>
            <a:r>
              <a:rPr lang="zh-CN" altLang="en-US" sz="2000" dirty="0">
                <a:latin typeface="+mj-ea"/>
                <a:ea typeface="+mj-ea"/>
              </a:rPr>
              <a:t>瀑布模型</a:t>
            </a:r>
            <a:r>
              <a:rPr lang="zh-CN" altLang="en-US" sz="2000" dirty="0">
                <a:solidFill>
                  <a:srgbClr val="FF0000"/>
                </a:solidFill>
                <a:latin typeface="+mj-ea"/>
                <a:ea typeface="+mj-ea"/>
              </a:rPr>
              <a:t>适合于用户需求明确、完整、无重大变化的软件项目</a:t>
            </a:r>
            <a:r>
              <a:rPr lang="zh-CN" altLang="en-US" sz="2000" dirty="0">
                <a:latin typeface="+mj-ea"/>
                <a:ea typeface="+mj-ea"/>
              </a:rPr>
              <a:t>开发。瀑布模型的成功在很大程度上是由于它基本上是一种文档驱动的模型。</a:t>
            </a:r>
            <a:endParaRPr lang="en-US" altLang="zh-CN" sz="2000" dirty="0">
              <a:latin typeface="+mj-ea"/>
              <a:ea typeface="+mj-ea"/>
            </a:endParaRPr>
          </a:p>
          <a:p>
            <a:pPr algn="just" eaLnBrk="1" hangingPunct="1">
              <a:buClr>
                <a:schemeClr val="tx1"/>
              </a:buClr>
              <a:buFont typeface="Arial" panose="020B0604020202020204" pitchFamily="34" charset="0"/>
              <a:buChar char="•"/>
            </a:pPr>
            <a:r>
              <a:rPr lang="zh-CN" altLang="en-US" sz="2000" dirty="0">
                <a:latin typeface="+mj-ea"/>
                <a:ea typeface="+mj-ea"/>
              </a:rPr>
              <a:t>“瀑布模型是由文档驱动的”这个事实也是它的一个主要缺点。</a:t>
            </a:r>
            <a:endParaRPr lang="zh-CN" altLang="en-US" sz="2000" dirty="0">
              <a:latin typeface="+mj-ea"/>
              <a:ea typeface="+mj-ea"/>
            </a:endParaRPr>
          </a:p>
          <a:p>
            <a:pPr lvl="1" indent="-257175" algn="just">
              <a:spcBef>
                <a:spcPts val="900"/>
              </a:spcBef>
              <a:buClr>
                <a:schemeClr val="accent6"/>
              </a:buClr>
              <a:buFontTx/>
              <a:buChar char="→"/>
            </a:pPr>
            <a:r>
              <a:rPr lang="zh-CN" altLang="en-US" sz="1800" dirty="0">
                <a:latin typeface="+mj-ea"/>
                <a:ea typeface="+mj-ea"/>
              </a:rPr>
              <a:t>实际项目很少按照该模型给出的顺序进行；</a:t>
            </a:r>
            <a:endParaRPr lang="zh-CN" altLang="en-US" sz="1800" dirty="0">
              <a:latin typeface="+mj-ea"/>
              <a:ea typeface="+mj-ea"/>
            </a:endParaRPr>
          </a:p>
          <a:p>
            <a:pPr lvl="1" indent="-257175" algn="just">
              <a:spcBef>
                <a:spcPts val="900"/>
              </a:spcBef>
              <a:buClr>
                <a:schemeClr val="accent6"/>
              </a:buClr>
              <a:buFontTx/>
              <a:buChar char="→"/>
            </a:pPr>
            <a:r>
              <a:rPr lang="zh-CN" altLang="en-US" sz="1800" dirty="0">
                <a:latin typeface="+mj-ea"/>
                <a:ea typeface="+mj-ea"/>
              </a:rPr>
              <a:t>用户常常难以清楚地给出所有需求；</a:t>
            </a:r>
            <a:endParaRPr lang="zh-CN" altLang="en-US" sz="1800" dirty="0">
              <a:latin typeface="+mj-ea"/>
              <a:ea typeface="+mj-ea"/>
            </a:endParaRPr>
          </a:p>
          <a:p>
            <a:pPr lvl="1" indent="-257175" algn="just">
              <a:spcBef>
                <a:spcPts val="900"/>
              </a:spcBef>
              <a:buClr>
                <a:schemeClr val="accent6"/>
              </a:buClr>
              <a:buFontTx/>
              <a:buChar char="→"/>
            </a:pPr>
            <a:r>
              <a:rPr lang="zh-CN" altLang="en-US" sz="1800" dirty="0">
                <a:latin typeface="+mj-ea"/>
                <a:ea typeface="+mj-ea"/>
              </a:rPr>
              <a:t>用户必须有耐心，等到系统开发完成；</a:t>
            </a:r>
            <a:endParaRPr lang="en-US" altLang="zh-CN" sz="1800" dirty="0">
              <a:latin typeface="+mj-ea"/>
              <a:ea typeface="+mj-ea"/>
            </a:endParaRPr>
          </a:p>
          <a:p>
            <a:pPr lvl="1" indent="-257175" algn="just">
              <a:spcBef>
                <a:spcPts val="900"/>
              </a:spcBef>
              <a:buClr>
                <a:schemeClr val="accent6"/>
              </a:buClr>
              <a:buFontTx/>
              <a:buChar char="→"/>
            </a:pPr>
            <a:r>
              <a:rPr lang="zh-CN" altLang="en-US" sz="1800" dirty="0">
                <a:latin typeface="+mj-ea"/>
                <a:ea typeface="+mj-ea"/>
              </a:rPr>
              <a:t>过分依赖于早期的需求调查，不能适应需求的变化；</a:t>
            </a:r>
            <a:endParaRPr lang="en-US" altLang="zh-CN" sz="1800" dirty="0">
              <a:latin typeface="+mj-ea"/>
              <a:ea typeface="+mj-ea"/>
            </a:endParaRPr>
          </a:p>
          <a:p>
            <a:pPr lvl="1" indent="-257175" algn="just">
              <a:spcBef>
                <a:spcPts val="900"/>
              </a:spcBef>
              <a:buClr>
                <a:schemeClr val="accent6"/>
              </a:buClr>
              <a:buFontTx/>
              <a:buChar char="→"/>
            </a:pPr>
            <a:r>
              <a:rPr lang="zh-CN" altLang="en-US" sz="1800" dirty="0">
                <a:latin typeface="+mj-ea"/>
                <a:ea typeface="+mj-ea"/>
              </a:rPr>
              <a:t>在软件开发前期末发现的错误传到后面的开发活动中时，可能会扩散，进而可能会造成整个软件项目开发失败。</a:t>
            </a:r>
            <a:endParaRPr lang="zh-CN" altLang="en-US" sz="1800" dirty="0">
              <a:latin typeface="+mj-ea"/>
              <a:ea typeface="+mj-ea"/>
            </a:endParaRPr>
          </a:p>
        </p:txBody>
      </p:sp>
      <p:sp>
        <p:nvSpPr>
          <p:cNvPr id="5" name="灯片编号占位符 4"/>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2" name="日期占位符 1"/>
          <p:cNvSpPr>
            <a:spLocks noGrp="1"/>
          </p:cNvSpPr>
          <p:nvPr>
            <p:ph type="dt" sz="half" idx="10"/>
          </p:nvPr>
        </p:nvSpPr>
        <p:spPr/>
        <p:txBody>
          <a:bodyPr/>
          <a:lstStyle/>
          <a:p>
            <a:fld id="{57108946-49BB-4352-BF13-B9F1432F805B}"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6563">
                                            <p:txEl>
                                              <p:pRg st="1" end="1"/>
                                            </p:txEl>
                                          </p:spTgt>
                                        </p:tgtEl>
                                        <p:attrNameLst>
                                          <p:attrName>style.visibility</p:attrName>
                                        </p:attrNameLst>
                                      </p:cBhvr>
                                      <p:to>
                                        <p:strVal val="visible"/>
                                      </p:to>
                                    </p:set>
                                    <p:animEffect transition="in" filter="randombar(horizontal)">
                                      <p:cBhvr>
                                        <p:cTn id="7" dur="500"/>
                                        <p:tgtEl>
                                          <p:spTgt spid="66563">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66563">
                                            <p:txEl>
                                              <p:pRg st="2" end="2"/>
                                            </p:txEl>
                                          </p:spTgt>
                                        </p:tgtEl>
                                        <p:attrNameLst>
                                          <p:attrName>style.visibility</p:attrName>
                                        </p:attrNameLst>
                                      </p:cBhvr>
                                      <p:to>
                                        <p:strVal val="visible"/>
                                      </p:to>
                                    </p:set>
                                    <p:animEffect transition="in" filter="randombar(horizontal)">
                                      <p:cBhvr>
                                        <p:cTn id="10" dur="500"/>
                                        <p:tgtEl>
                                          <p:spTgt spid="66563">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66563">
                                            <p:txEl>
                                              <p:pRg st="3" end="3"/>
                                            </p:txEl>
                                          </p:spTgt>
                                        </p:tgtEl>
                                        <p:attrNameLst>
                                          <p:attrName>style.visibility</p:attrName>
                                        </p:attrNameLst>
                                      </p:cBhvr>
                                      <p:to>
                                        <p:strVal val="visible"/>
                                      </p:to>
                                    </p:set>
                                    <p:animEffect transition="in" filter="randombar(horizontal)">
                                      <p:cBhvr>
                                        <p:cTn id="13" dur="500"/>
                                        <p:tgtEl>
                                          <p:spTgt spid="66563">
                                            <p:txEl>
                                              <p:pRg st="3" end="3"/>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66563">
                                            <p:txEl>
                                              <p:pRg st="4" end="4"/>
                                            </p:txEl>
                                          </p:spTgt>
                                        </p:tgtEl>
                                        <p:attrNameLst>
                                          <p:attrName>style.visibility</p:attrName>
                                        </p:attrNameLst>
                                      </p:cBhvr>
                                      <p:to>
                                        <p:strVal val="visible"/>
                                      </p:to>
                                    </p:set>
                                    <p:animEffect transition="in" filter="randombar(horizontal)">
                                      <p:cBhvr>
                                        <p:cTn id="16" dur="500"/>
                                        <p:tgtEl>
                                          <p:spTgt spid="66563">
                                            <p:txEl>
                                              <p:pRg st="4" end="4"/>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66563">
                                            <p:txEl>
                                              <p:pRg st="5" end="5"/>
                                            </p:txEl>
                                          </p:spTgt>
                                        </p:tgtEl>
                                        <p:attrNameLst>
                                          <p:attrName>style.visibility</p:attrName>
                                        </p:attrNameLst>
                                      </p:cBhvr>
                                      <p:to>
                                        <p:strVal val="visible"/>
                                      </p:to>
                                    </p:set>
                                    <p:animEffect transition="in" filter="randombar(horizontal)">
                                      <p:cBhvr>
                                        <p:cTn id="19" dur="500"/>
                                        <p:tgtEl>
                                          <p:spTgt spid="66563">
                                            <p:txEl>
                                              <p:pRg st="5" end="5"/>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66563">
                                            <p:txEl>
                                              <p:pRg st="6" end="6"/>
                                            </p:txEl>
                                          </p:spTgt>
                                        </p:tgtEl>
                                        <p:attrNameLst>
                                          <p:attrName>style.visibility</p:attrName>
                                        </p:attrNameLst>
                                      </p:cBhvr>
                                      <p:to>
                                        <p:strVal val="visible"/>
                                      </p:to>
                                    </p:set>
                                    <p:animEffect transition="in" filter="randombar(horizontal)">
                                      <p:cBhvr>
                                        <p:cTn id="22" dur="500"/>
                                        <p:tgtEl>
                                          <p:spTgt spid="6656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5" name="Picture 4" descr="rj3"/>
          <p:cNvPicPr>
            <a:picLocks noChangeAspect="1" noChangeArrowheads="1"/>
          </p:cNvPicPr>
          <p:nvPr/>
        </p:nvPicPr>
        <p:blipFill>
          <a:blip r:embed="rId1" cstate="print"/>
          <a:srcRect/>
          <a:stretch>
            <a:fillRect/>
          </a:stretch>
        </p:blipFill>
        <p:spPr bwMode="auto">
          <a:xfrm>
            <a:off x="4551395" y="83127"/>
            <a:ext cx="4306855" cy="4872771"/>
          </a:xfrm>
          <a:prstGeom prst="rect">
            <a:avLst/>
          </a:prstGeom>
        </p:spPr>
        <p:style>
          <a:lnRef idx="2">
            <a:schemeClr val="accent6"/>
          </a:lnRef>
          <a:fillRef idx="1">
            <a:schemeClr val="lt1"/>
          </a:fillRef>
          <a:effectRef idx="0">
            <a:schemeClr val="accent6"/>
          </a:effectRef>
          <a:fontRef idx="minor">
            <a:schemeClr val="dk1"/>
          </a:fontRef>
        </p:style>
      </p:pic>
      <p:sp>
        <p:nvSpPr>
          <p:cNvPr id="3" name="标题 2"/>
          <p:cNvSpPr>
            <a:spLocks noGrp="1"/>
          </p:cNvSpPr>
          <p:nvPr>
            <p:ph type="title"/>
          </p:nvPr>
        </p:nvSpPr>
        <p:spPr/>
        <p:txBody>
          <a:bodyPr/>
          <a:lstStyle/>
          <a:p>
            <a:r>
              <a:rPr lang="zh-CN" altLang="en-US" dirty="0"/>
              <a:t>实际的瀑布模型</a:t>
            </a:r>
            <a:endParaRPr lang="zh-CN" altLang="en-US" dirty="0"/>
          </a:p>
        </p:txBody>
      </p:sp>
      <p:sp>
        <p:nvSpPr>
          <p:cNvPr id="5" name="灯片编号占位符 4"/>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6" name="文本框 5"/>
          <p:cNvSpPr txBox="1"/>
          <p:nvPr/>
        </p:nvSpPr>
        <p:spPr>
          <a:xfrm>
            <a:off x="705083" y="1346862"/>
            <a:ext cx="3561168" cy="156966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2400" dirty="0">
                <a:latin typeface="+mj-ea"/>
                <a:ea typeface="+mj-ea"/>
              </a:rPr>
              <a:t>要对每项活动实施的工作进行评审，若得到确认则继续下一项活动，否则进行返工。</a:t>
            </a:r>
            <a:endParaRPr lang="zh-CN" altLang="en-US" sz="2400" dirty="0">
              <a:latin typeface="+mj-ea"/>
              <a:ea typeface="+mj-ea"/>
            </a:endParaRPr>
          </a:p>
        </p:txBody>
      </p:sp>
      <p:sp>
        <p:nvSpPr>
          <p:cNvPr id="8" name="文本框 7"/>
          <p:cNvSpPr txBox="1"/>
          <p:nvPr/>
        </p:nvSpPr>
        <p:spPr>
          <a:xfrm>
            <a:off x="705083" y="3134749"/>
            <a:ext cx="3561168" cy="120032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2400" dirty="0">
                <a:latin typeface="+mj-ea"/>
                <a:ea typeface="+mj-ea"/>
              </a:rPr>
              <a:t>强调开发的阶段性、早期计划和需求调查以及产品测试等环节。</a:t>
            </a:r>
            <a:endParaRPr lang="zh-CN" altLang="en-US" sz="2400" dirty="0">
              <a:latin typeface="+mj-ea"/>
              <a:ea typeface="+mj-ea"/>
            </a:endParaRPr>
          </a:p>
        </p:txBody>
      </p:sp>
      <p:sp>
        <p:nvSpPr>
          <p:cNvPr id="2" name="日期占位符 1"/>
          <p:cNvSpPr>
            <a:spLocks noGrp="1"/>
          </p:cNvSpPr>
          <p:nvPr>
            <p:ph type="dt" sz="half" idx="10"/>
          </p:nvPr>
        </p:nvSpPr>
        <p:spPr/>
        <p:txBody>
          <a:bodyPr/>
          <a:lstStyle/>
          <a:p>
            <a:fld id="{1E167926-AD57-4DA6-B9AB-54BF237C8D87}"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endParaRPr lang="zh-CN" altLang="en-US" dirty="0"/>
          </a:p>
        </p:txBody>
      </p:sp>
      <p:sp>
        <p:nvSpPr>
          <p:cNvPr id="3" name="内容占位符 2"/>
          <p:cNvSpPr>
            <a:spLocks noGrp="1"/>
          </p:cNvSpPr>
          <p:nvPr>
            <p:ph idx="1"/>
          </p:nvPr>
        </p:nvSpPr>
        <p:spPr>
          <a:xfrm>
            <a:off x="768097" y="1167063"/>
            <a:ext cx="7832833" cy="3564958"/>
          </a:xfrm>
        </p:spPr>
        <p:txBody>
          <a:bodyPr/>
          <a:lstStyle/>
          <a:p>
            <a:r>
              <a:rPr lang="zh-CN" altLang="en-US" dirty="0"/>
              <a:t>瀑布模型是否反映了实际的软件开发过程？</a:t>
            </a:r>
            <a:endParaRPr lang="en-US" altLang="zh-CN" dirty="0"/>
          </a:p>
          <a:p>
            <a:endParaRPr lang="en-US" altLang="zh-CN" dirty="0"/>
          </a:p>
          <a:p>
            <a:endParaRPr lang="en-US" altLang="zh-CN" dirty="0"/>
          </a:p>
          <a:p>
            <a:r>
              <a:rPr lang="zh-CN" altLang="en-US" dirty="0"/>
              <a:t>应当如何改进？</a:t>
            </a:r>
            <a:endParaRPr lang="zh-CN" altLang="en-US" dirty="0"/>
          </a:p>
        </p:txBody>
      </p:sp>
      <p:sp>
        <p:nvSpPr>
          <p:cNvPr id="4" name="日期占位符 3"/>
          <p:cNvSpPr>
            <a:spLocks noGrp="1"/>
          </p:cNvSpPr>
          <p:nvPr>
            <p:ph type="dt" sz="half" idx="10"/>
          </p:nvPr>
        </p:nvSpPr>
        <p:spPr/>
        <p:txBody>
          <a:bodyPr/>
          <a:lstStyle/>
          <a:p>
            <a:fld id="{2A6CB3F9-5D51-42BB-A876-E2DE766C10B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left)">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ext Box 2"/>
          <p:cNvSpPr txBox="1">
            <a:spLocks noChangeArrowheads="1"/>
          </p:cNvSpPr>
          <p:nvPr/>
        </p:nvSpPr>
        <p:spPr bwMode="auto">
          <a:xfrm>
            <a:off x="843148" y="731310"/>
            <a:ext cx="8098971" cy="3970318"/>
          </a:xfrm>
          <a:prstGeom prst="rect">
            <a:avLst/>
          </a:prstGeom>
          <a:noFill/>
          <a:ln w="25400">
            <a:noFill/>
            <a:miter lim="800000"/>
          </a:ln>
          <a:effectLst/>
        </p:spPr>
        <p:txBody>
          <a:bodyPr wrap="square">
            <a:spAutoFit/>
          </a:bodyPr>
          <a:lstStyle/>
          <a:p>
            <a:pPr eaLnBrk="1" hangingPunct="1">
              <a:spcBef>
                <a:spcPct val="50000"/>
              </a:spcBef>
            </a:pPr>
            <a:r>
              <a:rPr kumimoji="1" lang="zh-CN" altLang="en-US" b="1" dirty="0"/>
              <a:t>实际情况</a:t>
            </a:r>
            <a:r>
              <a:rPr kumimoji="1" lang="en-US" altLang="zh-CN" b="1" dirty="0"/>
              <a:t>2</a:t>
            </a:r>
            <a:endParaRPr kumimoji="1" lang="en-US" altLang="zh-CN" b="1" dirty="0"/>
          </a:p>
          <a:p>
            <a:pPr algn="l" eaLnBrk="1" hangingPunct="1">
              <a:spcBef>
                <a:spcPct val="50000"/>
              </a:spcBef>
            </a:pPr>
            <a:r>
              <a:rPr kumimoji="1" lang="en-US" altLang="zh-CN" b="1" dirty="0"/>
              <a:t>  </a:t>
            </a:r>
            <a:r>
              <a:rPr kumimoji="1" lang="zh-CN" altLang="en-US" b="1" dirty="0"/>
              <a:t>一周后，学生去见老师，并提交了工作清单，他发现老师的这位朋友（</a:t>
            </a:r>
            <a:r>
              <a:rPr kumimoji="1" lang="en-US" altLang="zh-CN" b="1" dirty="0"/>
              <a:t>C</a:t>
            </a:r>
            <a:r>
              <a:rPr kumimoji="1" lang="zh-CN" altLang="en-US" b="1" dirty="0"/>
              <a:t>）和老师在一起。</a:t>
            </a:r>
            <a:endParaRPr kumimoji="1" lang="zh-CN" altLang="en-US" b="1" dirty="0"/>
          </a:p>
          <a:p>
            <a:pPr algn="l" eaLnBrk="1" hangingPunct="1">
              <a:spcBef>
                <a:spcPct val="50000"/>
              </a:spcBef>
            </a:pPr>
            <a:r>
              <a:rPr kumimoji="1" lang="en-US" altLang="zh-CN" b="1" dirty="0">
                <a:solidFill>
                  <a:srgbClr val="009666"/>
                </a:solidFill>
              </a:rPr>
              <a:t>S:</a:t>
            </a:r>
            <a:r>
              <a:rPr kumimoji="1" lang="zh-CN" altLang="en-US" b="1" dirty="0">
                <a:solidFill>
                  <a:srgbClr val="009666"/>
                </a:solidFill>
              </a:rPr>
              <a:t>这是工作清单，我已经研究清楚了四种文件的格式，可以写代码了。</a:t>
            </a:r>
            <a:endParaRPr kumimoji="1" lang="zh-CN" altLang="en-US" b="1" dirty="0">
              <a:solidFill>
                <a:srgbClr val="009666"/>
              </a:solidFill>
            </a:endParaRPr>
          </a:p>
          <a:p>
            <a:pPr algn="l" eaLnBrk="1" hangingPunct="1">
              <a:spcBef>
                <a:spcPct val="50000"/>
              </a:spcBef>
            </a:pPr>
            <a:r>
              <a:rPr kumimoji="1" lang="en-US" altLang="zh-CN" b="1" dirty="0">
                <a:solidFill>
                  <a:srgbClr val="FF0000"/>
                </a:solidFill>
              </a:rPr>
              <a:t>T</a:t>
            </a:r>
            <a:r>
              <a:rPr kumimoji="1" lang="zh-CN" altLang="en-US" b="1" dirty="0">
                <a:solidFill>
                  <a:srgbClr val="FF0000"/>
                </a:solidFill>
              </a:rPr>
              <a:t>：</a:t>
            </a:r>
            <a:r>
              <a:rPr kumimoji="1" lang="zh-CN" altLang="en-US" b="1" dirty="0"/>
              <a:t>很好，不过我这位朋友有一些新想法，你不妨听听。</a:t>
            </a:r>
            <a:endParaRPr kumimoji="1" lang="zh-CN" altLang="en-US" b="1" dirty="0"/>
          </a:p>
          <a:p>
            <a:pPr algn="l" eaLnBrk="1" hangingPunct="1">
              <a:spcBef>
                <a:spcPct val="50000"/>
              </a:spcBef>
            </a:pPr>
            <a:r>
              <a:rPr kumimoji="1" lang="en-US" altLang="zh-CN" b="1" dirty="0">
                <a:solidFill>
                  <a:srgbClr val="0070C0"/>
                </a:solidFill>
              </a:rPr>
              <a:t>C: </a:t>
            </a:r>
            <a:r>
              <a:rPr kumimoji="1" lang="zh-CN" altLang="en-US" b="1" dirty="0"/>
              <a:t>你好。我新买了一个扫描仪，你的程序可不可以直接扫描图片进来。</a:t>
            </a:r>
            <a:endParaRPr kumimoji="1" lang="zh-CN" altLang="en-US" b="1" dirty="0"/>
          </a:p>
          <a:p>
            <a:pPr algn="l" eaLnBrk="1" hangingPunct="1">
              <a:spcBef>
                <a:spcPct val="50000"/>
              </a:spcBef>
            </a:pPr>
            <a:r>
              <a:rPr kumimoji="1" lang="en-US" altLang="zh-CN" b="1" dirty="0">
                <a:solidFill>
                  <a:srgbClr val="009666"/>
                </a:solidFill>
              </a:rPr>
              <a:t>S:</a:t>
            </a:r>
            <a:r>
              <a:rPr kumimoji="1" lang="zh-CN" altLang="en-US" b="1" dirty="0">
                <a:solidFill>
                  <a:srgbClr val="009666"/>
                </a:solidFill>
              </a:rPr>
              <a:t>你可以自己扫描呀，买扫描仪的时候一般都会送正版软件的。</a:t>
            </a:r>
            <a:endParaRPr kumimoji="1" lang="zh-CN" altLang="en-US" b="1" dirty="0">
              <a:solidFill>
                <a:srgbClr val="009666"/>
              </a:solidFill>
            </a:endParaRPr>
          </a:p>
          <a:p>
            <a:pPr algn="l" eaLnBrk="1" hangingPunct="1">
              <a:spcBef>
                <a:spcPct val="50000"/>
              </a:spcBef>
            </a:pPr>
            <a:r>
              <a:rPr kumimoji="1" lang="en-US" altLang="zh-CN" b="1" dirty="0">
                <a:solidFill>
                  <a:srgbClr val="0070C0"/>
                </a:solidFill>
              </a:rPr>
              <a:t>C</a:t>
            </a:r>
            <a:r>
              <a:rPr kumimoji="1" lang="zh-CN" altLang="en-US" b="1" dirty="0">
                <a:solidFill>
                  <a:srgbClr val="0070C0"/>
                </a:solidFill>
              </a:rPr>
              <a:t>：</a:t>
            </a:r>
            <a:r>
              <a:rPr kumimoji="1" lang="zh-CN" altLang="en-US" b="1" dirty="0"/>
              <a:t>是的，可是我一直不太会用，你知道我计算机水平不高，学一些新东西很累，也没有时间，如果你能直接链接扫描仪，我只要学会你的软件就行了，我愿意多支付一些费用</a:t>
            </a:r>
            <a:r>
              <a:rPr kumimoji="1" lang="en-US" altLang="zh-CN" b="1" dirty="0"/>
              <a:t>……</a:t>
            </a:r>
            <a:r>
              <a:rPr kumimoji="1" lang="zh-CN" altLang="en-US" b="1" dirty="0"/>
              <a:t>，还有，我想建一个图片库，你知道，我工作时需要上百个图片，经常找不到，最好还带模糊查询。</a:t>
            </a:r>
            <a:endParaRPr kumimoji="1" lang="zh-CN" altLang="en-US" b="1" dirty="0"/>
          </a:p>
        </p:txBody>
      </p:sp>
      <p:sp>
        <p:nvSpPr>
          <p:cNvPr id="3" name="灯片编号占位符 2"/>
          <p:cNvSpPr>
            <a:spLocks noGrp="1"/>
          </p:cNvSpPr>
          <p:nvPr>
            <p:ph type="sldNum" sz="quarter" idx="12"/>
          </p:nvPr>
        </p:nvSpPr>
        <p:spPr/>
        <p:txBody>
          <a:bodyPr/>
          <a:lstStyle/>
          <a:p>
            <a:fld id="{47CA9980-A6FB-42C0-B5E8-AA033557BCE0}" type="slidenum">
              <a:rPr lang="ko-KR" altLang="en-US" smtClean="0"/>
            </a:fld>
            <a:endParaRPr lang="en-US" altLang="ko-KR"/>
          </a:p>
        </p:txBody>
      </p:sp>
      <p:sp>
        <p:nvSpPr>
          <p:cNvPr id="5" name="标题 1"/>
          <p:cNvSpPr txBox="1"/>
          <p:nvPr/>
        </p:nvSpPr>
        <p:spPr>
          <a:xfrm>
            <a:off x="1094321" y="0"/>
            <a:ext cx="7763929" cy="828913"/>
          </a:xfrm>
          <a:prstGeom prst="rect">
            <a:avLst/>
          </a:prstGeom>
        </p:spPr>
        <p:txBody>
          <a:bodyPr anchor="ctr"/>
          <a:lstStyle>
            <a:lvl1pPr algn="l" defTabSz="685800" rtl="0" eaLnBrk="1" latinLnBrk="0" hangingPunct="1">
              <a:lnSpc>
                <a:spcPct val="80000"/>
              </a:lnSpc>
              <a:spcBef>
                <a:spcPct val="0"/>
              </a:spcBef>
              <a:buNone/>
              <a:defRPr sz="2800" b="1" kern="1200" cap="all" spc="75" baseline="0">
                <a:solidFill>
                  <a:schemeClr val="bg1"/>
                </a:solidFill>
                <a:latin typeface="+mj-lt"/>
                <a:ea typeface="+mj-ea"/>
                <a:cs typeface="+mj-cs"/>
              </a:defRPr>
            </a:lvl1pPr>
          </a:lstStyle>
          <a:p>
            <a:r>
              <a:rPr kumimoji="1" lang="zh-CN" altLang="en-US" dirty="0">
                <a:latin typeface="Times New Roman" panose="02020603050405020304" pitchFamily="18" charset="0"/>
              </a:rPr>
              <a:t>案例</a:t>
            </a:r>
            <a:endParaRPr lang="zh-CN" altLang="en-US" dirty="0"/>
          </a:p>
        </p:txBody>
      </p:sp>
      <p:sp>
        <p:nvSpPr>
          <p:cNvPr id="2" name="日期占位符 1"/>
          <p:cNvSpPr>
            <a:spLocks noGrp="1"/>
          </p:cNvSpPr>
          <p:nvPr>
            <p:ph type="dt" sz="half" idx="10"/>
          </p:nvPr>
        </p:nvSpPr>
        <p:spPr/>
        <p:txBody>
          <a:bodyPr/>
          <a:lstStyle/>
          <a:p>
            <a:fld id="{3DD43A55-44DE-4E05-B1D5-728F06E39284}"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3" name="Text Box 3"/>
          <p:cNvSpPr txBox="1">
            <a:spLocks noChangeArrowheads="1"/>
          </p:cNvSpPr>
          <p:nvPr/>
        </p:nvSpPr>
        <p:spPr bwMode="auto">
          <a:xfrm>
            <a:off x="711778" y="757684"/>
            <a:ext cx="8146472" cy="3954929"/>
          </a:xfrm>
          <a:prstGeom prst="rect">
            <a:avLst/>
          </a:prstGeom>
          <a:noFill/>
          <a:ln w="25400">
            <a:noFill/>
            <a:miter lim="800000"/>
          </a:ln>
          <a:effectLst/>
        </p:spPr>
        <p:txBody>
          <a:bodyPr wrap="square">
            <a:spAutoFit/>
          </a:bodyPr>
          <a:lstStyle/>
          <a:p>
            <a:pPr eaLnBrk="1" hangingPunct="1">
              <a:spcBef>
                <a:spcPts val="600"/>
              </a:spcBef>
            </a:pPr>
            <a:r>
              <a:rPr kumimoji="1" lang="zh-CN" altLang="en-US" b="1" dirty="0"/>
              <a:t>实际情况</a:t>
            </a:r>
            <a:r>
              <a:rPr kumimoji="1" lang="en-US" altLang="zh-CN" b="1" dirty="0"/>
              <a:t>2</a:t>
            </a:r>
            <a:r>
              <a:rPr kumimoji="1" lang="zh-CN" altLang="en-US" b="1" dirty="0"/>
              <a:t>（续）</a:t>
            </a:r>
            <a:endParaRPr kumimoji="1" lang="zh-CN" altLang="en-US" b="1" dirty="0"/>
          </a:p>
          <a:p>
            <a:pPr algn="l" eaLnBrk="1" hangingPunct="1">
              <a:spcBef>
                <a:spcPts val="600"/>
              </a:spcBef>
            </a:pPr>
            <a:r>
              <a:rPr kumimoji="1" lang="zh-CN" altLang="en-US" b="1" dirty="0">
                <a:solidFill>
                  <a:srgbClr val="009666"/>
                </a:solidFill>
              </a:rPr>
              <a:t>  </a:t>
            </a:r>
            <a:r>
              <a:rPr kumimoji="1" lang="en-US" altLang="zh-CN" b="1" dirty="0">
                <a:solidFill>
                  <a:srgbClr val="009666"/>
                </a:solidFill>
              </a:rPr>
              <a:t>S</a:t>
            </a:r>
            <a:r>
              <a:rPr kumimoji="1" lang="zh-CN" altLang="en-US" b="1" dirty="0">
                <a:solidFill>
                  <a:srgbClr val="009666"/>
                </a:solidFill>
              </a:rPr>
              <a:t>：</a:t>
            </a:r>
            <a:r>
              <a:rPr kumimoji="1" lang="en-US" altLang="zh-CN" b="1" dirty="0">
                <a:solidFill>
                  <a:srgbClr val="009666"/>
                </a:solidFill>
              </a:rPr>
              <a:t>………………..!!!!!</a:t>
            </a:r>
            <a:endParaRPr kumimoji="1" lang="en-US" altLang="zh-CN" b="1" dirty="0">
              <a:solidFill>
                <a:srgbClr val="009666"/>
              </a:solidFill>
            </a:endParaRPr>
          </a:p>
          <a:p>
            <a:pPr algn="l" eaLnBrk="1" hangingPunct="1">
              <a:spcBef>
                <a:spcPts val="600"/>
              </a:spcBef>
            </a:pPr>
            <a:r>
              <a:rPr kumimoji="1" lang="en-US" altLang="zh-CN" b="1" dirty="0">
                <a:solidFill>
                  <a:srgbClr val="0070C0"/>
                </a:solidFill>
              </a:rPr>
              <a:t>  C:</a:t>
            </a:r>
            <a:r>
              <a:rPr kumimoji="1" lang="zh-CN" altLang="en-US" b="1" dirty="0"/>
              <a:t>还有一些，现在一时想不起来，我想起来的话会再跟你联系，时间上可以长一些。</a:t>
            </a:r>
            <a:endParaRPr kumimoji="1" lang="zh-CN" altLang="en-US" b="1" dirty="0"/>
          </a:p>
          <a:p>
            <a:pPr algn="l" eaLnBrk="1" hangingPunct="1">
              <a:spcBef>
                <a:spcPts val="600"/>
              </a:spcBef>
            </a:pPr>
            <a:r>
              <a:rPr kumimoji="1" lang="zh-CN" altLang="en-US" b="1" dirty="0">
                <a:solidFill>
                  <a:srgbClr val="009666"/>
                </a:solidFill>
              </a:rPr>
              <a:t>  </a:t>
            </a:r>
            <a:r>
              <a:rPr kumimoji="1" lang="en-US" altLang="zh-CN" b="1" dirty="0">
                <a:solidFill>
                  <a:srgbClr val="009666"/>
                </a:solidFill>
              </a:rPr>
              <a:t>S:………………..!!!!! !!!!! !!!!!</a:t>
            </a:r>
            <a:endParaRPr kumimoji="1" lang="en-US" altLang="zh-CN" b="1" dirty="0">
              <a:solidFill>
                <a:srgbClr val="009666"/>
              </a:solidFill>
            </a:endParaRPr>
          </a:p>
          <a:p>
            <a:pPr algn="l" eaLnBrk="1" hangingPunct="1">
              <a:spcBef>
                <a:spcPts val="600"/>
              </a:spcBef>
            </a:pPr>
            <a:r>
              <a:rPr kumimoji="1" lang="en-US" altLang="zh-CN" b="1" dirty="0"/>
              <a:t>  </a:t>
            </a:r>
            <a:r>
              <a:rPr kumimoji="1" lang="en-US" altLang="zh-CN" b="1" dirty="0">
                <a:solidFill>
                  <a:srgbClr val="FF0000"/>
                </a:solidFill>
              </a:rPr>
              <a:t>T:</a:t>
            </a:r>
            <a:r>
              <a:rPr kumimoji="1" lang="zh-CN" altLang="en-US" b="1" dirty="0"/>
              <a:t>要不这样吧，你先做一个样子出来给</a:t>
            </a:r>
            <a:r>
              <a:rPr kumimoji="1" lang="en-US" altLang="zh-CN" b="1" dirty="0"/>
              <a:t>C</a:t>
            </a:r>
            <a:r>
              <a:rPr kumimoji="1" lang="zh-CN" altLang="en-US" b="1" dirty="0"/>
              <a:t>看看，一边做，一边改。</a:t>
            </a:r>
            <a:endParaRPr kumimoji="1" lang="zh-CN" altLang="en-US" b="1" dirty="0"/>
          </a:p>
          <a:p>
            <a:pPr algn="l" eaLnBrk="1" hangingPunct="1">
              <a:spcBef>
                <a:spcPts val="600"/>
              </a:spcBef>
            </a:pPr>
            <a:r>
              <a:rPr kumimoji="1" lang="zh-CN" altLang="en-US" b="1" dirty="0"/>
              <a:t> </a:t>
            </a:r>
            <a:r>
              <a:rPr kumimoji="1" lang="zh-CN" altLang="en-US" b="1" dirty="0">
                <a:solidFill>
                  <a:srgbClr val="0070C0"/>
                </a:solidFill>
              </a:rPr>
              <a:t> </a:t>
            </a:r>
            <a:r>
              <a:rPr kumimoji="1" lang="en-US" altLang="zh-CN" b="1" dirty="0">
                <a:solidFill>
                  <a:srgbClr val="0070C0"/>
                </a:solidFill>
              </a:rPr>
              <a:t>C:</a:t>
            </a:r>
            <a:r>
              <a:rPr kumimoji="1" lang="zh-CN" altLang="en-US" b="1" dirty="0"/>
              <a:t>这样最好，看见一个基本样子我就知道我想要什么了。</a:t>
            </a:r>
            <a:endParaRPr kumimoji="1" lang="zh-CN" altLang="en-US" b="1" dirty="0"/>
          </a:p>
          <a:p>
            <a:pPr algn="l" eaLnBrk="1" hangingPunct="1">
              <a:spcBef>
                <a:spcPts val="600"/>
              </a:spcBef>
            </a:pPr>
            <a:r>
              <a:rPr kumimoji="1" lang="zh-CN" altLang="en-US" b="1" dirty="0"/>
              <a:t>  事情就这样定下来了，</a:t>
            </a:r>
            <a:r>
              <a:rPr kumimoji="1" lang="en-US" altLang="zh-CN" b="1" dirty="0"/>
              <a:t>S</a:t>
            </a:r>
            <a:r>
              <a:rPr kumimoji="1" lang="zh-CN" altLang="en-US" b="1" dirty="0"/>
              <a:t>愤怒的撕掉了自己的工作清单</a:t>
            </a:r>
            <a:r>
              <a:rPr kumimoji="1" lang="en-US" altLang="zh-CN" b="1" dirty="0"/>
              <a:t>……..</a:t>
            </a:r>
            <a:r>
              <a:rPr kumimoji="1" lang="zh-CN" altLang="en-US" b="1" dirty="0"/>
              <a:t>，回去后</a:t>
            </a:r>
            <a:r>
              <a:rPr kumimoji="1" lang="en-US" altLang="zh-CN" b="1" dirty="0"/>
              <a:t>S</a:t>
            </a:r>
            <a:r>
              <a:rPr kumimoji="1" lang="zh-CN" altLang="en-US" b="1" dirty="0"/>
              <a:t>花一天时间用</a:t>
            </a:r>
            <a:r>
              <a:rPr kumimoji="1" lang="en-US" altLang="zh-CN" b="1" dirty="0" err="1"/>
              <a:t>Axure</a:t>
            </a:r>
            <a:r>
              <a:rPr kumimoji="1" lang="zh-CN" altLang="en-US" b="1" dirty="0"/>
              <a:t>做了个样子，</a:t>
            </a:r>
            <a:endParaRPr kumimoji="1" lang="zh-CN" altLang="en-US" b="1" dirty="0"/>
          </a:p>
          <a:p>
            <a:pPr algn="l" eaLnBrk="1" hangingPunct="1">
              <a:spcBef>
                <a:spcPts val="600"/>
              </a:spcBef>
            </a:pPr>
            <a:r>
              <a:rPr kumimoji="1" lang="zh-CN" altLang="en-US" b="1" dirty="0"/>
              <a:t>只能读</a:t>
            </a:r>
            <a:r>
              <a:rPr kumimoji="1" lang="en-US" altLang="zh-CN" b="1" dirty="0"/>
              <a:t>BMP</a:t>
            </a:r>
            <a:r>
              <a:rPr kumimoji="1" lang="zh-CN" altLang="en-US" b="1" dirty="0"/>
              <a:t>和</a:t>
            </a:r>
            <a:r>
              <a:rPr kumimoji="1" lang="en-US" altLang="zh-CN" b="1" dirty="0"/>
              <a:t>JPG</a:t>
            </a:r>
            <a:r>
              <a:rPr kumimoji="1" lang="zh-CN" altLang="en-US" b="1" dirty="0"/>
              <a:t>文件，做了些菜单和工具栏，用</a:t>
            </a:r>
            <a:r>
              <a:rPr kumimoji="1" lang="en-US" altLang="zh-CN" b="1" dirty="0"/>
              <a:t>ACCESS</a:t>
            </a:r>
            <a:r>
              <a:rPr kumimoji="1" lang="zh-CN" altLang="en-US" b="1" dirty="0"/>
              <a:t>建了一个图片库。就这个“假”的程序，</a:t>
            </a:r>
            <a:r>
              <a:rPr kumimoji="1" lang="en-US" altLang="zh-CN" b="1" dirty="0"/>
              <a:t>S</a:t>
            </a:r>
            <a:r>
              <a:rPr kumimoji="1" lang="zh-CN" altLang="en-US" b="1" dirty="0"/>
              <a:t>和</a:t>
            </a:r>
            <a:r>
              <a:rPr kumimoji="1" lang="en-US" altLang="zh-CN" b="1" dirty="0"/>
              <a:t>C</a:t>
            </a:r>
            <a:r>
              <a:rPr kumimoji="1" lang="zh-CN" altLang="en-US" b="1" dirty="0"/>
              <a:t>讨论了一天，</a:t>
            </a:r>
            <a:r>
              <a:rPr kumimoji="1" lang="en-US" altLang="zh-CN" b="1" dirty="0"/>
              <a:t>S</a:t>
            </a:r>
            <a:r>
              <a:rPr kumimoji="1" lang="zh-CN" altLang="en-US" b="1" dirty="0"/>
              <a:t>又修改了几次，又讨论了几次，一周后，这个“假”的程序表面看起来和真的一模一样。</a:t>
            </a:r>
            <a:endParaRPr kumimoji="1" lang="zh-CN" altLang="en-US" b="1" dirty="0"/>
          </a:p>
        </p:txBody>
      </p:sp>
      <p:sp>
        <p:nvSpPr>
          <p:cNvPr id="3" name="灯片编号占位符 2"/>
          <p:cNvSpPr>
            <a:spLocks noGrp="1"/>
          </p:cNvSpPr>
          <p:nvPr>
            <p:ph type="sldNum" sz="quarter" idx="12"/>
          </p:nvPr>
        </p:nvSpPr>
        <p:spPr/>
        <p:txBody>
          <a:bodyPr/>
          <a:lstStyle/>
          <a:p>
            <a:fld id="{47CA9980-A6FB-42C0-B5E8-AA033557BCE0}" type="slidenum">
              <a:rPr lang="ko-KR" altLang="en-US" smtClean="0"/>
            </a:fld>
            <a:endParaRPr lang="en-US" altLang="ko-KR"/>
          </a:p>
        </p:txBody>
      </p:sp>
      <p:sp>
        <p:nvSpPr>
          <p:cNvPr id="5" name="标题 1"/>
          <p:cNvSpPr txBox="1"/>
          <p:nvPr/>
        </p:nvSpPr>
        <p:spPr>
          <a:xfrm>
            <a:off x="1094321" y="0"/>
            <a:ext cx="7763929" cy="828913"/>
          </a:xfrm>
          <a:prstGeom prst="rect">
            <a:avLst/>
          </a:prstGeom>
        </p:spPr>
        <p:txBody>
          <a:bodyPr anchor="ctr"/>
          <a:lstStyle>
            <a:lvl1pPr algn="l" defTabSz="685800" rtl="0" eaLnBrk="1" latinLnBrk="0" hangingPunct="1">
              <a:lnSpc>
                <a:spcPct val="80000"/>
              </a:lnSpc>
              <a:spcBef>
                <a:spcPct val="0"/>
              </a:spcBef>
              <a:buNone/>
              <a:defRPr sz="2800" b="1" kern="1200" cap="all" spc="75" baseline="0">
                <a:solidFill>
                  <a:schemeClr val="bg1"/>
                </a:solidFill>
                <a:latin typeface="+mj-lt"/>
                <a:ea typeface="+mj-ea"/>
                <a:cs typeface="+mj-cs"/>
              </a:defRPr>
            </a:lvl1pPr>
          </a:lstStyle>
          <a:p>
            <a:r>
              <a:rPr kumimoji="1" lang="zh-CN" altLang="en-US" dirty="0">
                <a:latin typeface="Times New Roman" panose="02020603050405020304" pitchFamily="18" charset="0"/>
              </a:rPr>
              <a:t>案例</a:t>
            </a:r>
            <a:endParaRPr lang="zh-CN" altLang="en-US" dirty="0"/>
          </a:p>
        </p:txBody>
      </p:sp>
      <p:sp>
        <p:nvSpPr>
          <p:cNvPr id="2" name="日期占位符 1"/>
          <p:cNvSpPr>
            <a:spLocks noGrp="1"/>
          </p:cNvSpPr>
          <p:nvPr>
            <p:ph type="dt" sz="half" idx="10"/>
          </p:nvPr>
        </p:nvSpPr>
        <p:spPr/>
        <p:txBody>
          <a:bodyPr/>
          <a:lstStyle/>
          <a:p>
            <a:fld id="{74702EA5-5773-421F-8898-9E65DE6C93B8}"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ChangeArrowheads="1"/>
          </p:cNvSpPr>
          <p:nvPr/>
        </p:nvSpPr>
        <p:spPr bwMode="auto">
          <a:xfrm>
            <a:off x="878774" y="897564"/>
            <a:ext cx="7849590" cy="2246769"/>
          </a:xfrm>
          <a:prstGeom prst="rect">
            <a:avLst/>
          </a:prstGeom>
          <a:noFill/>
          <a:ln w="25400">
            <a:noFill/>
            <a:miter lim="800000"/>
          </a:ln>
          <a:effectLst/>
        </p:spPr>
        <p:txBody>
          <a:bodyPr wrap="square">
            <a:spAutoFit/>
          </a:bodyPr>
          <a:lstStyle/>
          <a:p>
            <a:pPr eaLnBrk="1" hangingPunct="1">
              <a:spcBef>
                <a:spcPct val="50000"/>
              </a:spcBef>
            </a:pPr>
            <a:r>
              <a:rPr kumimoji="1" lang="zh-CN" altLang="en-US" sz="2000" b="1" dirty="0">
                <a:solidFill>
                  <a:schemeClr val="tx2"/>
                </a:solidFill>
              </a:rPr>
              <a:t>实际情况</a:t>
            </a:r>
            <a:r>
              <a:rPr kumimoji="1" lang="en-US" altLang="zh-CN" sz="2000" b="1" dirty="0">
                <a:solidFill>
                  <a:schemeClr val="tx2"/>
                </a:solidFill>
              </a:rPr>
              <a:t>2</a:t>
            </a:r>
            <a:r>
              <a:rPr kumimoji="1" lang="zh-CN" altLang="en-US" sz="2000" b="1" dirty="0">
                <a:solidFill>
                  <a:schemeClr val="tx2"/>
                </a:solidFill>
              </a:rPr>
              <a:t>（续）</a:t>
            </a:r>
            <a:endParaRPr kumimoji="1" lang="zh-CN" altLang="en-US" sz="2000" b="1" dirty="0">
              <a:solidFill>
                <a:schemeClr val="tx2"/>
              </a:solidFill>
            </a:endParaRPr>
          </a:p>
          <a:p>
            <a:pPr algn="l" eaLnBrk="1" hangingPunct="1">
              <a:spcBef>
                <a:spcPct val="50000"/>
              </a:spcBef>
            </a:pPr>
            <a:r>
              <a:rPr kumimoji="1" lang="zh-CN" altLang="en-US" sz="2000" b="1" dirty="0">
                <a:solidFill>
                  <a:schemeClr val="tx2"/>
                </a:solidFill>
              </a:rPr>
              <a:t>       于是</a:t>
            </a:r>
            <a:r>
              <a:rPr kumimoji="1" lang="en-US" altLang="zh-CN" sz="2000" b="1" dirty="0">
                <a:solidFill>
                  <a:schemeClr val="tx2"/>
                </a:solidFill>
              </a:rPr>
              <a:t>S</a:t>
            </a:r>
            <a:r>
              <a:rPr kumimoji="1" lang="zh-CN" altLang="en-US" sz="2000" b="1" dirty="0">
                <a:solidFill>
                  <a:schemeClr val="tx2"/>
                </a:solidFill>
              </a:rPr>
              <a:t>打算用</a:t>
            </a:r>
            <a:r>
              <a:rPr kumimoji="1" lang="en-US" altLang="zh-CN" sz="2000" b="1" dirty="0">
                <a:solidFill>
                  <a:schemeClr val="tx2"/>
                </a:solidFill>
              </a:rPr>
              <a:t>VS</a:t>
            </a:r>
            <a:r>
              <a:rPr kumimoji="1" lang="zh-CN" altLang="en-US" sz="2000" b="1" dirty="0">
                <a:solidFill>
                  <a:schemeClr val="tx2"/>
                </a:solidFill>
              </a:rPr>
              <a:t>重写这个程序，于是</a:t>
            </a:r>
            <a:r>
              <a:rPr kumimoji="1" lang="en-US" altLang="zh-CN" sz="2000" b="1" dirty="0">
                <a:solidFill>
                  <a:schemeClr val="tx2"/>
                </a:solidFill>
              </a:rPr>
              <a:t>……</a:t>
            </a:r>
            <a:r>
              <a:rPr kumimoji="1" lang="zh-CN" altLang="en-US" sz="2000" b="1" dirty="0">
                <a:solidFill>
                  <a:schemeClr val="tx2"/>
                </a:solidFill>
              </a:rPr>
              <a:t>，两个月后，这个事情终于结束了。</a:t>
            </a:r>
            <a:endParaRPr kumimoji="1" lang="zh-CN" altLang="en-US" sz="2000" b="1" dirty="0">
              <a:solidFill>
                <a:schemeClr val="tx2"/>
              </a:solidFill>
            </a:endParaRPr>
          </a:p>
          <a:p>
            <a:pPr algn="l" eaLnBrk="1" hangingPunct="1">
              <a:spcBef>
                <a:spcPct val="50000"/>
              </a:spcBef>
            </a:pPr>
            <a:r>
              <a:rPr kumimoji="1" lang="zh-CN" altLang="en-US" sz="2000" b="1" dirty="0">
                <a:solidFill>
                  <a:schemeClr val="tx2"/>
                </a:solidFill>
              </a:rPr>
              <a:t>       </a:t>
            </a:r>
            <a:r>
              <a:rPr kumimoji="1" lang="en-US" altLang="zh-CN" sz="2000" b="1" dirty="0">
                <a:solidFill>
                  <a:schemeClr val="tx2"/>
                </a:solidFill>
              </a:rPr>
              <a:t>S</a:t>
            </a:r>
            <a:r>
              <a:rPr kumimoji="1" lang="zh-CN" altLang="en-US" sz="2000" b="1" dirty="0">
                <a:solidFill>
                  <a:schemeClr val="tx2"/>
                </a:solidFill>
              </a:rPr>
              <a:t>顺利的完成了他的毕业设计</a:t>
            </a:r>
            <a:r>
              <a:rPr kumimoji="1" lang="en-US" altLang="zh-CN" sz="2000" b="1" dirty="0">
                <a:solidFill>
                  <a:schemeClr val="tx2"/>
                </a:solidFill>
              </a:rPr>
              <a:t>《JPG</a:t>
            </a:r>
            <a:r>
              <a:rPr kumimoji="1" lang="zh-CN" altLang="en-US" sz="2000" b="1" dirty="0">
                <a:solidFill>
                  <a:schemeClr val="tx2"/>
                </a:solidFill>
              </a:rPr>
              <a:t>压缩优化算法设计</a:t>
            </a:r>
            <a:r>
              <a:rPr kumimoji="1" lang="en-US" altLang="zh-CN" sz="2000" b="1" dirty="0">
                <a:solidFill>
                  <a:schemeClr val="tx2"/>
                </a:solidFill>
              </a:rPr>
              <a:t>》</a:t>
            </a:r>
            <a:r>
              <a:rPr kumimoji="1" lang="zh-CN" altLang="en-US" sz="2000" b="1" dirty="0">
                <a:solidFill>
                  <a:schemeClr val="tx2"/>
                </a:solidFill>
              </a:rPr>
              <a:t>，</a:t>
            </a:r>
            <a:r>
              <a:rPr kumimoji="1" lang="en-US" altLang="zh-CN" sz="2000" b="1" dirty="0">
                <a:solidFill>
                  <a:schemeClr val="tx2"/>
                </a:solidFill>
              </a:rPr>
              <a:t>C</a:t>
            </a:r>
            <a:r>
              <a:rPr kumimoji="1" lang="zh-CN" altLang="en-US" sz="2000" b="1" dirty="0">
                <a:solidFill>
                  <a:schemeClr val="tx2"/>
                </a:solidFill>
              </a:rPr>
              <a:t>一直使用这个软件管理他的图片，并庆幸花了这么少的钱得到了这么有用的东西，而</a:t>
            </a:r>
            <a:r>
              <a:rPr kumimoji="1" lang="en-US" altLang="zh-CN" sz="2000" b="1" dirty="0">
                <a:solidFill>
                  <a:schemeClr val="tx2"/>
                </a:solidFill>
              </a:rPr>
              <a:t>T</a:t>
            </a:r>
            <a:r>
              <a:rPr kumimoji="1" lang="zh-CN" altLang="en-US" sz="2000" b="1" dirty="0">
                <a:solidFill>
                  <a:schemeClr val="tx2"/>
                </a:solidFill>
              </a:rPr>
              <a:t>，则正在考虑如何为他下一批学生分派任务。</a:t>
            </a:r>
            <a:endParaRPr kumimoji="1" lang="zh-CN" altLang="en-US" sz="2000" b="1" dirty="0">
              <a:solidFill>
                <a:schemeClr val="tx2"/>
              </a:solidFill>
            </a:endParaRPr>
          </a:p>
        </p:txBody>
      </p:sp>
      <p:sp>
        <p:nvSpPr>
          <p:cNvPr id="134148" name="AutoShape 4"/>
          <p:cNvSpPr>
            <a:spLocks noChangeArrowheads="1"/>
          </p:cNvSpPr>
          <p:nvPr/>
        </p:nvSpPr>
        <p:spPr bwMode="auto">
          <a:xfrm>
            <a:off x="4377238" y="3188222"/>
            <a:ext cx="295004" cy="731117"/>
          </a:xfrm>
          <a:prstGeom prst="downArrow">
            <a:avLst>
              <a:gd name="adj1" fmla="val 50000"/>
              <a:gd name="adj2" fmla="val 97569"/>
            </a:avLst>
          </a:prstGeom>
          <a:noFill/>
          <a:ln w="25400">
            <a:solidFill>
              <a:schemeClr val="tx1"/>
            </a:solidFill>
            <a:miter lim="800000"/>
          </a:ln>
          <a:effectLst/>
        </p:spPr>
        <p:txBody>
          <a:bodyPr vert="eaVert" wrap="none" anchor="ctr"/>
          <a:lstStyle/>
          <a:p>
            <a:endParaRPr lang="zh-CN" altLang="en-US" sz="1350"/>
          </a:p>
        </p:txBody>
      </p:sp>
      <p:sp>
        <p:nvSpPr>
          <p:cNvPr id="134149" name="Rectangle 5"/>
          <p:cNvSpPr>
            <a:spLocks noChangeArrowheads="1"/>
          </p:cNvSpPr>
          <p:nvPr/>
        </p:nvSpPr>
        <p:spPr bwMode="auto">
          <a:xfrm>
            <a:off x="3916881" y="3975906"/>
            <a:ext cx="1268296" cy="415498"/>
          </a:xfrm>
          <a:prstGeom prst="rect">
            <a:avLst/>
          </a:prstGeom>
          <a:noFill/>
          <a:ln w="25400">
            <a:noFill/>
            <a:miter lim="800000"/>
          </a:ln>
          <a:effectLst/>
        </p:spPr>
        <p:txBody>
          <a:bodyPr wrap="none">
            <a:spAutoFit/>
          </a:bodyPr>
          <a:lstStyle/>
          <a:p>
            <a:pPr algn="l" eaLnBrk="1" hangingPunct="1"/>
            <a:r>
              <a:rPr kumimoji="1" lang="zh-CN" altLang="en-US" sz="2100" b="1" dirty="0">
                <a:solidFill>
                  <a:srgbClr val="FF0000"/>
                </a:solidFill>
                <a:latin typeface="Arial" panose="020B0604020202020204" pitchFamily="34" charset="0"/>
              </a:rPr>
              <a:t>原型模型</a:t>
            </a:r>
            <a:endParaRPr kumimoji="1" lang="zh-CN" altLang="en-US" sz="2100" b="1" dirty="0">
              <a:solidFill>
                <a:srgbClr val="FF0000"/>
              </a:solidFill>
              <a:latin typeface="Arial" panose="020B0604020202020204" pitchFamily="34" charset="0"/>
            </a:endParaRPr>
          </a:p>
        </p:txBody>
      </p:sp>
      <p:sp>
        <p:nvSpPr>
          <p:cNvPr id="3" name="灯片编号占位符 2"/>
          <p:cNvSpPr>
            <a:spLocks noGrp="1"/>
          </p:cNvSpPr>
          <p:nvPr>
            <p:ph type="sldNum" sz="quarter" idx="12"/>
          </p:nvPr>
        </p:nvSpPr>
        <p:spPr/>
        <p:txBody>
          <a:bodyPr/>
          <a:lstStyle/>
          <a:p>
            <a:fld id="{47CA9980-A6FB-42C0-B5E8-AA033557BCE0}" type="slidenum">
              <a:rPr lang="ko-KR" altLang="en-US" smtClean="0"/>
            </a:fld>
            <a:endParaRPr lang="en-US" altLang="ko-KR"/>
          </a:p>
        </p:txBody>
      </p:sp>
      <p:sp>
        <p:nvSpPr>
          <p:cNvPr id="7" name="标题 1"/>
          <p:cNvSpPr txBox="1"/>
          <p:nvPr/>
        </p:nvSpPr>
        <p:spPr>
          <a:xfrm>
            <a:off x="1094321" y="0"/>
            <a:ext cx="7763929" cy="828913"/>
          </a:xfrm>
          <a:prstGeom prst="rect">
            <a:avLst/>
          </a:prstGeom>
        </p:spPr>
        <p:txBody>
          <a:bodyPr anchor="ctr"/>
          <a:lstStyle>
            <a:lvl1pPr algn="l" defTabSz="685800" rtl="0" eaLnBrk="1" latinLnBrk="0" hangingPunct="1">
              <a:lnSpc>
                <a:spcPct val="80000"/>
              </a:lnSpc>
              <a:spcBef>
                <a:spcPct val="0"/>
              </a:spcBef>
              <a:buNone/>
              <a:defRPr sz="2800" b="1" kern="1200" cap="all" spc="75" baseline="0">
                <a:solidFill>
                  <a:schemeClr val="bg1"/>
                </a:solidFill>
                <a:latin typeface="+mj-lt"/>
                <a:ea typeface="+mj-ea"/>
                <a:cs typeface="+mj-cs"/>
              </a:defRPr>
            </a:lvl1pPr>
          </a:lstStyle>
          <a:p>
            <a:r>
              <a:rPr kumimoji="1" lang="zh-CN" altLang="en-US" dirty="0">
                <a:latin typeface="Times New Roman" panose="02020603050405020304" pitchFamily="18" charset="0"/>
              </a:rPr>
              <a:t>案例</a:t>
            </a:r>
            <a:endParaRPr lang="zh-CN" altLang="en-US" dirty="0"/>
          </a:p>
        </p:txBody>
      </p:sp>
      <p:sp>
        <p:nvSpPr>
          <p:cNvPr id="2" name="日期占位符 1"/>
          <p:cNvSpPr>
            <a:spLocks noGrp="1"/>
          </p:cNvSpPr>
          <p:nvPr>
            <p:ph type="dt" sz="half" idx="10"/>
          </p:nvPr>
        </p:nvSpPr>
        <p:spPr/>
        <p:txBody>
          <a:bodyPr/>
          <a:lstStyle/>
          <a:p>
            <a:fld id="{BCC58233-8B07-4D37-B996-68CACFDB2B9E}"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134148"/>
                                        </p:tgtEl>
                                        <p:attrNameLst>
                                          <p:attrName>style.visibility</p:attrName>
                                        </p:attrNameLst>
                                      </p:cBhvr>
                                      <p:to>
                                        <p:strVal val="visible"/>
                                      </p:to>
                                    </p:set>
                                    <p:anim calcmode="lin" valueType="num">
                                      <p:cBhvr>
                                        <p:cTn id="7" dur="500" fill="hold"/>
                                        <p:tgtEl>
                                          <p:spTgt spid="134148"/>
                                        </p:tgtEl>
                                        <p:attrNameLst>
                                          <p:attrName>ppt_x</p:attrName>
                                        </p:attrNameLst>
                                      </p:cBhvr>
                                      <p:tavLst>
                                        <p:tav tm="0">
                                          <p:val>
                                            <p:strVal val="#ppt_x"/>
                                          </p:val>
                                        </p:tav>
                                        <p:tav tm="100000">
                                          <p:val>
                                            <p:strVal val="#ppt_x"/>
                                          </p:val>
                                        </p:tav>
                                      </p:tavLst>
                                    </p:anim>
                                    <p:anim calcmode="lin" valueType="num">
                                      <p:cBhvr>
                                        <p:cTn id="8" dur="500" fill="hold"/>
                                        <p:tgtEl>
                                          <p:spTgt spid="134148"/>
                                        </p:tgtEl>
                                        <p:attrNameLst>
                                          <p:attrName>ppt_y</p:attrName>
                                        </p:attrNameLst>
                                      </p:cBhvr>
                                      <p:tavLst>
                                        <p:tav tm="0">
                                          <p:val>
                                            <p:strVal val="#ppt_y-#ppt_h/2"/>
                                          </p:val>
                                        </p:tav>
                                        <p:tav tm="100000">
                                          <p:val>
                                            <p:strVal val="#ppt_y"/>
                                          </p:val>
                                        </p:tav>
                                      </p:tavLst>
                                    </p:anim>
                                    <p:anim calcmode="lin" valueType="num">
                                      <p:cBhvr>
                                        <p:cTn id="9" dur="500" fill="hold"/>
                                        <p:tgtEl>
                                          <p:spTgt spid="134148"/>
                                        </p:tgtEl>
                                        <p:attrNameLst>
                                          <p:attrName>ppt_w</p:attrName>
                                        </p:attrNameLst>
                                      </p:cBhvr>
                                      <p:tavLst>
                                        <p:tav tm="0">
                                          <p:val>
                                            <p:strVal val="#ppt_w"/>
                                          </p:val>
                                        </p:tav>
                                        <p:tav tm="100000">
                                          <p:val>
                                            <p:strVal val="#ppt_w"/>
                                          </p:val>
                                        </p:tav>
                                      </p:tavLst>
                                    </p:anim>
                                    <p:anim calcmode="lin" valueType="num">
                                      <p:cBhvr>
                                        <p:cTn id="10" dur="500" fill="hold"/>
                                        <p:tgtEl>
                                          <p:spTgt spid="134148"/>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34149"/>
                                        </p:tgtEl>
                                        <p:attrNameLst>
                                          <p:attrName>style.visibility</p:attrName>
                                        </p:attrNameLst>
                                      </p:cBhvr>
                                      <p:to>
                                        <p:strVal val="visible"/>
                                      </p:to>
                                    </p:set>
                                    <p:animEffect transition="in" filter="dissolve">
                                      <p:cBhvr>
                                        <p:cTn id="15" dur="500"/>
                                        <p:tgtEl>
                                          <p:spTgt spid="134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8" grpId="0" bldLvl="0" animBg="1"/>
      <p:bldP spid="134149" grpId="0" bldLvl="0" animBg="1"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0" name="Rectangle 5"/>
          <p:cNvSpPr>
            <a:spLocks noChangeArrowheads="1"/>
          </p:cNvSpPr>
          <p:nvPr/>
        </p:nvSpPr>
        <p:spPr bwMode="auto">
          <a:xfrm>
            <a:off x="753530" y="1081695"/>
            <a:ext cx="8104720" cy="3354765"/>
          </a:xfrm>
          <a:prstGeom prst="rect">
            <a:avLst/>
          </a:prstGeom>
          <a:noFill/>
          <a:ln w="9525">
            <a:noFill/>
            <a:miter lim="800000"/>
          </a:ln>
        </p:spPr>
        <p:txBody>
          <a:bodyPr wrap="square">
            <a:spAutoFit/>
          </a:bodyPr>
          <a:lstStyle/>
          <a:p>
            <a:pPr algn="just">
              <a:lnSpc>
                <a:spcPct val="120000"/>
              </a:lnSpc>
              <a:spcBef>
                <a:spcPts val="1200"/>
              </a:spcBef>
            </a:pPr>
            <a:r>
              <a:rPr lang="zh-CN" altLang="en-US" sz="2800" b="1" dirty="0">
                <a:solidFill>
                  <a:srgbClr val="FF0000"/>
                </a:solidFill>
                <a:latin typeface="+mj-ea"/>
                <a:ea typeface="+mj-ea"/>
              </a:rPr>
              <a:t>快速原型模型（</a:t>
            </a:r>
            <a:r>
              <a:rPr lang="en-US" altLang="zh-CN" sz="2800" b="1" dirty="0">
                <a:solidFill>
                  <a:srgbClr val="FF0000"/>
                </a:solidFill>
                <a:latin typeface="+mj-ea"/>
                <a:ea typeface="+mj-ea"/>
              </a:rPr>
              <a:t>Rapid Prototype Model</a:t>
            </a:r>
            <a:r>
              <a:rPr lang="zh-CN" altLang="en-US" sz="2800" b="1" dirty="0">
                <a:solidFill>
                  <a:srgbClr val="FF0000"/>
                </a:solidFill>
                <a:latin typeface="+mj-ea"/>
                <a:ea typeface="+mj-ea"/>
              </a:rPr>
              <a:t>）</a:t>
            </a:r>
            <a:endParaRPr lang="zh-CN" altLang="en-US" sz="2800" b="1" dirty="0">
              <a:solidFill>
                <a:srgbClr val="FF0000"/>
              </a:solidFill>
              <a:latin typeface="+mj-ea"/>
              <a:ea typeface="+mj-ea"/>
            </a:endParaRPr>
          </a:p>
          <a:p>
            <a:pPr algn="just" eaLnBrk="0" hangingPunct="0">
              <a:lnSpc>
                <a:spcPct val="120000"/>
              </a:lnSpc>
              <a:spcBef>
                <a:spcPts val="2400"/>
              </a:spcBef>
            </a:pPr>
            <a:r>
              <a:rPr lang="zh-CN" altLang="en-US" sz="2200" dirty="0">
                <a:latin typeface="+mj-ea"/>
                <a:ea typeface="+mj-ea"/>
              </a:rPr>
              <a:t>       在用户不能给出完整、准确的需求说明，或者开发者不能确定算法的有效性、操作系统的适应性或人机交互的形式等许多情况下，可以根据用户的一组基本需求，快速建造一个原型（</a:t>
            </a:r>
            <a:r>
              <a:rPr lang="zh-CN" altLang="en-US" sz="2200" dirty="0">
                <a:solidFill>
                  <a:srgbClr val="FF0000"/>
                </a:solidFill>
                <a:latin typeface="+mj-ea"/>
                <a:ea typeface="+mj-ea"/>
              </a:rPr>
              <a:t>可视化的软件样机，展示系统的主要功能和接口</a:t>
            </a:r>
            <a:r>
              <a:rPr lang="zh-CN" altLang="en-US" sz="2200" dirty="0">
                <a:latin typeface="+mj-ea"/>
                <a:ea typeface="+mj-ea"/>
              </a:rPr>
              <a:t>），然后进行评估，进一步精化、调整原型，使其满足用户的要求，也使开发者对将要做的事情有更好的理解。</a:t>
            </a:r>
            <a:endParaRPr lang="zh-CN" altLang="en-US" sz="2200" dirty="0">
              <a:latin typeface="+mj-ea"/>
              <a:ea typeface="+mj-ea"/>
            </a:endParaRPr>
          </a:p>
        </p:txBody>
      </p:sp>
      <p:sp>
        <p:nvSpPr>
          <p:cNvPr id="4" name="标题 3"/>
          <p:cNvSpPr>
            <a:spLocks noGrp="1"/>
          </p:cNvSpPr>
          <p:nvPr>
            <p:ph type="title"/>
          </p:nvPr>
        </p:nvSpPr>
        <p:spPr/>
        <p:txBody>
          <a:bodyPr/>
          <a:lstStyle/>
          <a:p>
            <a:r>
              <a:rPr lang="zh-CN" altLang="en-US" dirty="0">
                <a:effectLst>
                  <a:outerShdw blurRad="38100" dist="38100" dir="2700000" algn="tl">
                    <a:srgbClr val="000000">
                      <a:alpha val="43137"/>
                    </a:srgbClr>
                  </a:outerShdw>
                </a:effectLst>
              </a:rPr>
              <a:t>（</a:t>
            </a:r>
            <a:r>
              <a:rPr lang="en-US" altLang="zh-CN" dirty="0">
                <a:effectLst>
                  <a:outerShdw blurRad="38100" dist="38100" dir="2700000" algn="tl">
                    <a:srgbClr val="000000">
                      <a:alpha val="43137"/>
                    </a:srgbClr>
                  </a:outerShdw>
                </a:effectLst>
              </a:rPr>
              <a:t>2</a:t>
            </a:r>
            <a:r>
              <a:rPr lang="zh-CN" altLang="en-US" dirty="0">
                <a:effectLst>
                  <a:outerShdw blurRad="38100" dist="38100" dir="2700000" algn="tl">
                    <a:srgbClr val="000000">
                      <a:alpha val="43137"/>
                    </a:srgbClr>
                  </a:outerShdw>
                </a:effectLst>
              </a:rPr>
              <a:t>）原型模型</a:t>
            </a:r>
            <a:endParaRPr lang="zh-CN" altLang="en-US" dirty="0"/>
          </a:p>
        </p:txBody>
      </p:sp>
      <p:sp>
        <p:nvSpPr>
          <p:cNvPr id="5" name="灯片编号占位符 4"/>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7" name="日期占位符 6"/>
          <p:cNvSpPr>
            <a:spLocks noGrp="1"/>
          </p:cNvSpPr>
          <p:nvPr>
            <p:ph type="dt" sz="half" idx="10"/>
          </p:nvPr>
        </p:nvSpPr>
        <p:spPr/>
        <p:txBody>
          <a:bodyPr/>
          <a:lstStyle/>
          <a:p>
            <a:fld id="{8A293931-BC56-4689-8415-5BE2DCD604A0}"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原型实例</a:t>
            </a:r>
            <a:endParaRPr lang="zh-CN" altLang="en-US" dirty="0"/>
          </a:p>
        </p:txBody>
      </p:sp>
      <p:sp>
        <p:nvSpPr>
          <p:cNvPr id="4" name="日期占位符 3"/>
          <p:cNvSpPr>
            <a:spLocks noGrp="1"/>
          </p:cNvSpPr>
          <p:nvPr>
            <p:ph type="dt" sz="half" idx="10"/>
          </p:nvPr>
        </p:nvSpPr>
        <p:spPr/>
        <p:txBody>
          <a:bodyPr/>
          <a:lstStyle/>
          <a:p>
            <a:fld id="{5C114278-3D9E-4981-BF08-455A4A83A6BA}"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8" name="图片 7"/>
          <p:cNvPicPr>
            <a:picLocks noChangeAspect="1"/>
          </p:cNvPicPr>
          <p:nvPr/>
        </p:nvPicPr>
        <p:blipFill rotWithShape="1">
          <a:blip r:embed="rId1"/>
          <a:srcRect l="57048" t="19337" r="2095" b="4712"/>
          <a:stretch>
            <a:fillRect/>
          </a:stretch>
        </p:blipFill>
        <p:spPr>
          <a:xfrm>
            <a:off x="1101414" y="452230"/>
            <a:ext cx="2256312" cy="440079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pic>
        <p:nvPicPr>
          <p:cNvPr id="10" name="图片 9"/>
          <p:cNvPicPr>
            <a:picLocks noChangeAspect="1"/>
          </p:cNvPicPr>
          <p:nvPr/>
        </p:nvPicPr>
        <p:blipFill>
          <a:blip r:embed="rId2"/>
          <a:stretch>
            <a:fillRect/>
          </a:stretch>
        </p:blipFill>
        <p:spPr>
          <a:xfrm>
            <a:off x="3999310" y="86811"/>
            <a:ext cx="4657802" cy="4856007"/>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4"/>
          <p:cNvSpPr>
            <a:spLocks noGrp="1"/>
          </p:cNvSpPr>
          <p:nvPr>
            <p:ph type="sldNum" sz="quarter" idx="12"/>
          </p:nvPr>
        </p:nvSpPr>
        <p:spPr>
          <a:noFill/>
        </p:spPr>
        <p:txBody>
          <a:bodyPr/>
          <a:lstStyle>
            <a:lvl1pPr eaLnBrk="0" hangingPunct="0">
              <a:defRPr kumimoji="1" sz="1800">
                <a:solidFill>
                  <a:schemeClr val="tx1"/>
                </a:solidFill>
                <a:latin typeface="Tahoma" panose="020B0604030504040204" pitchFamily="34" charset="0"/>
                <a:ea typeface="宋体" panose="02010600030101010101" pitchFamily="2" charset="-122"/>
              </a:defRPr>
            </a:lvl1pPr>
            <a:lvl2pPr marL="557530" indent="-214630" eaLnBrk="0" hangingPunct="0">
              <a:defRPr kumimoji="1" sz="1800">
                <a:solidFill>
                  <a:schemeClr val="tx1"/>
                </a:solidFill>
                <a:latin typeface="Tahoma" panose="020B0604030504040204" pitchFamily="34" charset="0"/>
                <a:ea typeface="宋体" panose="02010600030101010101" pitchFamily="2" charset="-122"/>
              </a:defRPr>
            </a:lvl2pPr>
            <a:lvl3pPr marL="857250" indent="-171450" eaLnBrk="0" hangingPunct="0">
              <a:defRPr kumimoji="1" sz="1800">
                <a:solidFill>
                  <a:schemeClr val="tx1"/>
                </a:solidFill>
                <a:latin typeface="Tahoma" panose="020B0604030504040204" pitchFamily="34" charset="0"/>
                <a:ea typeface="宋体" panose="02010600030101010101" pitchFamily="2" charset="-122"/>
              </a:defRPr>
            </a:lvl3pPr>
            <a:lvl4pPr marL="1200150" indent="-171450" eaLnBrk="0" hangingPunct="0">
              <a:defRPr kumimoji="1" sz="1800">
                <a:solidFill>
                  <a:schemeClr val="tx1"/>
                </a:solidFill>
                <a:latin typeface="Tahoma" panose="020B0604030504040204" pitchFamily="34" charset="0"/>
                <a:ea typeface="宋体" panose="02010600030101010101" pitchFamily="2" charset="-122"/>
              </a:defRPr>
            </a:lvl4pPr>
            <a:lvl5pPr marL="1543050" indent="-171450" eaLnBrk="0" hangingPunct="0">
              <a:defRPr kumimoji="1" sz="1800">
                <a:solidFill>
                  <a:schemeClr val="tx1"/>
                </a:solidFill>
                <a:latin typeface="Tahoma" panose="020B0604030504040204" pitchFamily="34" charset="0"/>
                <a:ea typeface="宋体" panose="02010600030101010101" pitchFamily="2" charset="-122"/>
              </a:defRPr>
            </a:lvl5pPr>
            <a:lvl6pPr marL="1885950" indent="-171450" eaLnBrk="0" fontAlgn="base" hangingPunct="0">
              <a:spcBef>
                <a:spcPct val="0"/>
              </a:spcBef>
              <a:spcAft>
                <a:spcPct val="0"/>
              </a:spcAft>
              <a:defRPr kumimoji="1" sz="1800">
                <a:solidFill>
                  <a:schemeClr val="tx1"/>
                </a:solidFill>
                <a:latin typeface="Tahoma" panose="020B0604030504040204" pitchFamily="34" charset="0"/>
                <a:ea typeface="宋体" panose="02010600030101010101" pitchFamily="2" charset="-122"/>
              </a:defRPr>
            </a:lvl6pPr>
            <a:lvl7pPr marL="2228850" indent="-171450" eaLnBrk="0" fontAlgn="base" hangingPunct="0">
              <a:spcBef>
                <a:spcPct val="0"/>
              </a:spcBef>
              <a:spcAft>
                <a:spcPct val="0"/>
              </a:spcAft>
              <a:defRPr kumimoji="1" sz="1800">
                <a:solidFill>
                  <a:schemeClr val="tx1"/>
                </a:solidFill>
                <a:latin typeface="Tahoma" panose="020B0604030504040204" pitchFamily="34" charset="0"/>
                <a:ea typeface="宋体" panose="02010600030101010101" pitchFamily="2" charset="-122"/>
              </a:defRPr>
            </a:lvl7pPr>
            <a:lvl8pPr marL="2571750" indent="-171450" eaLnBrk="0" fontAlgn="base" hangingPunct="0">
              <a:spcBef>
                <a:spcPct val="0"/>
              </a:spcBef>
              <a:spcAft>
                <a:spcPct val="0"/>
              </a:spcAft>
              <a:defRPr kumimoji="1" sz="1800">
                <a:solidFill>
                  <a:schemeClr val="tx1"/>
                </a:solidFill>
                <a:latin typeface="Tahoma" panose="020B0604030504040204" pitchFamily="34" charset="0"/>
                <a:ea typeface="宋体" panose="02010600030101010101" pitchFamily="2" charset="-122"/>
              </a:defRPr>
            </a:lvl8pPr>
            <a:lvl9pPr marL="2914650" indent="-171450" eaLnBrk="0" fontAlgn="base" hangingPunct="0">
              <a:spcBef>
                <a:spcPct val="0"/>
              </a:spcBef>
              <a:spcAft>
                <a:spcPct val="0"/>
              </a:spcAft>
              <a:defRPr kumimoji="1" sz="1800">
                <a:solidFill>
                  <a:schemeClr val="tx1"/>
                </a:solidFill>
                <a:latin typeface="Tahoma" panose="020B0604030504040204" pitchFamily="34" charset="0"/>
                <a:ea typeface="宋体" panose="02010600030101010101" pitchFamily="2" charset="-122"/>
              </a:defRPr>
            </a:lvl9pPr>
          </a:lstStyle>
          <a:p>
            <a:pPr eaLnBrk="1" hangingPunct="1"/>
            <a:fld id="{7A4802E3-2B35-4270-8332-3D6F5E49EDF8}" type="slidenum">
              <a:rPr kumimoji="0" lang="zh-CN" altLang="en-US" sz="1050">
                <a:solidFill>
                  <a:schemeClr val="bg1">
                    <a:lumMod val="65000"/>
                  </a:schemeClr>
                </a:solidFill>
              </a:rPr>
            </a:fld>
            <a:endParaRPr kumimoji="0" lang="en-US" altLang="zh-CN" sz="1050" dirty="0">
              <a:solidFill>
                <a:schemeClr val="bg1">
                  <a:lumMod val="65000"/>
                </a:schemeClr>
              </a:solidFill>
            </a:endParaRPr>
          </a:p>
        </p:txBody>
      </p:sp>
      <p:sp>
        <p:nvSpPr>
          <p:cNvPr id="309251" name="Rectangle 3"/>
          <p:cNvSpPr>
            <a:spLocks noChangeArrowheads="1"/>
          </p:cNvSpPr>
          <p:nvPr/>
        </p:nvSpPr>
        <p:spPr bwMode="auto">
          <a:xfrm>
            <a:off x="1187293" y="699877"/>
            <a:ext cx="4069063" cy="4007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spcBef>
                <a:spcPct val="20000"/>
              </a:spcBef>
              <a:buClr>
                <a:srgbClr val="FF0000"/>
              </a:buClr>
              <a:buFontTx/>
              <a:buAutoNum type="circleNumDbPlain"/>
            </a:pPr>
            <a:r>
              <a:rPr lang="zh-CN" altLang="en-US" sz="2400" dirty="0">
                <a:solidFill>
                  <a:srgbClr val="000000"/>
                </a:solidFill>
                <a:latin typeface="+mj-ea"/>
                <a:ea typeface="+mj-ea"/>
              </a:rPr>
              <a:t>快速分析</a:t>
            </a:r>
            <a:endParaRPr lang="zh-CN" altLang="en-US" sz="2400" dirty="0">
              <a:solidFill>
                <a:srgbClr val="000000"/>
              </a:solidFill>
              <a:latin typeface="+mj-ea"/>
              <a:ea typeface="+mj-ea"/>
            </a:endParaRPr>
          </a:p>
          <a:p>
            <a:pPr marL="342900" indent="-342900">
              <a:spcBef>
                <a:spcPct val="20000"/>
              </a:spcBef>
              <a:buClr>
                <a:srgbClr val="FF0000"/>
              </a:buClr>
              <a:buFontTx/>
              <a:buAutoNum type="circleNumDbPlain"/>
            </a:pPr>
            <a:r>
              <a:rPr lang="zh-CN" altLang="en-US" sz="2400" dirty="0">
                <a:solidFill>
                  <a:srgbClr val="000000"/>
                </a:solidFill>
                <a:latin typeface="+mj-ea"/>
                <a:ea typeface="+mj-ea"/>
              </a:rPr>
              <a:t>构造原型</a:t>
            </a:r>
            <a:endParaRPr lang="zh-CN" altLang="en-US" sz="2400" dirty="0">
              <a:solidFill>
                <a:srgbClr val="000000"/>
              </a:solidFill>
              <a:latin typeface="+mj-ea"/>
              <a:ea typeface="+mj-ea"/>
            </a:endParaRPr>
          </a:p>
          <a:p>
            <a:pPr marL="342900" indent="-342900">
              <a:spcBef>
                <a:spcPct val="20000"/>
              </a:spcBef>
              <a:buClr>
                <a:srgbClr val="FF0000"/>
              </a:buClr>
              <a:buFontTx/>
              <a:buAutoNum type="circleNumDbPlain"/>
            </a:pPr>
            <a:r>
              <a:rPr lang="zh-CN" altLang="en-US" sz="2400" dirty="0">
                <a:solidFill>
                  <a:srgbClr val="000000"/>
                </a:solidFill>
                <a:latin typeface="+mj-ea"/>
                <a:ea typeface="+mj-ea"/>
              </a:rPr>
              <a:t>运行和评价原型</a:t>
            </a:r>
            <a:endParaRPr lang="zh-CN" altLang="en-US" sz="2400" dirty="0">
              <a:solidFill>
                <a:srgbClr val="000000"/>
              </a:solidFill>
              <a:latin typeface="+mj-ea"/>
              <a:ea typeface="+mj-ea"/>
            </a:endParaRPr>
          </a:p>
          <a:p>
            <a:pPr marL="342900" indent="-342900">
              <a:spcBef>
                <a:spcPct val="20000"/>
              </a:spcBef>
              <a:buClr>
                <a:srgbClr val="FF0000"/>
              </a:buClr>
              <a:buFontTx/>
              <a:buAutoNum type="circleNumDbPlain"/>
            </a:pPr>
            <a:r>
              <a:rPr lang="zh-CN" altLang="en-US" sz="2400" dirty="0">
                <a:solidFill>
                  <a:srgbClr val="000000"/>
                </a:solidFill>
                <a:latin typeface="+mj-ea"/>
                <a:ea typeface="+mj-ea"/>
              </a:rPr>
              <a:t>修正和改进</a:t>
            </a:r>
            <a:endParaRPr lang="zh-CN" altLang="en-US" sz="2400" dirty="0">
              <a:solidFill>
                <a:srgbClr val="000000"/>
              </a:solidFill>
              <a:latin typeface="+mj-ea"/>
              <a:ea typeface="+mj-ea"/>
            </a:endParaRPr>
          </a:p>
          <a:p>
            <a:pPr marL="342900" indent="-342900">
              <a:spcBef>
                <a:spcPct val="20000"/>
              </a:spcBef>
              <a:buClr>
                <a:srgbClr val="FF0000"/>
              </a:buClr>
              <a:buFontTx/>
              <a:buAutoNum type="circleNumDbPlain"/>
            </a:pPr>
            <a:r>
              <a:rPr lang="zh-CN" altLang="en-US" sz="2400" dirty="0">
                <a:solidFill>
                  <a:srgbClr val="000000"/>
                </a:solidFill>
                <a:latin typeface="+mj-ea"/>
                <a:ea typeface="+mj-ea"/>
              </a:rPr>
              <a:t>判定原型是否完成</a:t>
            </a:r>
            <a:endParaRPr lang="zh-CN" altLang="en-US" sz="2400" dirty="0">
              <a:solidFill>
                <a:srgbClr val="000000"/>
              </a:solidFill>
              <a:latin typeface="+mj-ea"/>
              <a:ea typeface="+mj-ea"/>
            </a:endParaRPr>
          </a:p>
          <a:p>
            <a:pPr marL="342900" indent="-342900">
              <a:spcBef>
                <a:spcPct val="20000"/>
              </a:spcBef>
              <a:buClr>
                <a:srgbClr val="FF0000"/>
              </a:buClr>
              <a:buFontTx/>
              <a:buAutoNum type="circleNumDbPlain"/>
            </a:pPr>
            <a:r>
              <a:rPr lang="zh-CN" altLang="en-US" sz="2400" dirty="0">
                <a:solidFill>
                  <a:srgbClr val="000000"/>
                </a:solidFill>
                <a:latin typeface="+mj-ea"/>
                <a:ea typeface="+mj-ea"/>
              </a:rPr>
              <a:t>判定原型细部是否说明    </a:t>
            </a:r>
            <a:endParaRPr lang="zh-CN" altLang="en-US" sz="2400" dirty="0">
              <a:solidFill>
                <a:srgbClr val="000000"/>
              </a:solidFill>
              <a:latin typeface="+mj-ea"/>
              <a:ea typeface="+mj-ea"/>
            </a:endParaRPr>
          </a:p>
          <a:p>
            <a:pPr marL="342900" indent="-342900">
              <a:spcBef>
                <a:spcPct val="20000"/>
              </a:spcBef>
              <a:buClr>
                <a:srgbClr val="FF0000"/>
              </a:buClr>
              <a:buFontTx/>
              <a:buAutoNum type="circleNumDbPlain"/>
            </a:pPr>
            <a:r>
              <a:rPr lang="zh-CN" altLang="en-US" sz="2400" dirty="0">
                <a:solidFill>
                  <a:srgbClr val="000000"/>
                </a:solidFill>
                <a:latin typeface="+mj-ea"/>
                <a:ea typeface="+mj-ea"/>
              </a:rPr>
              <a:t>对原型细部说明</a:t>
            </a:r>
            <a:endParaRPr lang="zh-CN" altLang="en-US" sz="2400" dirty="0">
              <a:solidFill>
                <a:srgbClr val="000000"/>
              </a:solidFill>
              <a:latin typeface="+mj-ea"/>
              <a:ea typeface="+mj-ea"/>
            </a:endParaRPr>
          </a:p>
          <a:p>
            <a:pPr marL="342900" indent="-342900">
              <a:spcBef>
                <a:spcPct val="20000"/>
              </a:spcBef>
              <a:buClr>
                <a:srgbClr val="FF0000"/>
              </a:buClr>
              <a:buFontTx/>
              <a:buAutoNum type="circleNumDbPlain"/>
            </a:pPr>
            <a:r>
              <a:rPr lang="zh-CN" altLang="en-US" sz="2400" dirty="0">
                <a:solidFill>
                  <a:srgbClr val="000000"/>
                </a:solidFill>
                <a:latin typeface="+mj-ea"/>
                <a:ea typeface="+mj-ea"/>
              </a:rPr>
              <a:t>判定原型效果</a:t>
            </a:r>
            <a:endParaRPr lang="zh-CN" altLang="en-US" sz="2400" dirty="0">
              <a:solidFill>
                <a:srgbClr val="000000"/>
              </a:solidFill>
              <a:latin typeface="+mj-ea"/>
              <a:ea typeface="+mj-ea"/>
            </a:endParaRPr>
          </a:p>
          <a:p>
            <a:pPr marL="342900" indent="-342900">
              <a:spcBef>
                <a:spcPct val="20000"/>
              </a:spcBef>
              <a:buClr>
                <a:srgbClr val="FF0000"/>
              </a:buClr>
              <a:buFontTx/>
              <a:buAutoNum type="circleNumDbPlain"/>
            </a:pPr>
            <a:r>
              <a:rPr lang="zh-CN" altLang="en-US" sz="2400" dirty="0">
                <a:solidFill>
                  <a:srgbClr val="000000"/>
                </a:solidFill>
                <a:latin typeface="+mj-ea"/>
                <a:ea typeface="+mj-ea"/>
              </a:rPr>
              <a:t>整理原型、提供文档</a:t>
            </a:r>
            <a:endParaRPr lang="zh-CN" altLang="en-US" sz="2400" dirty="0">
              <a:solidFill>
                <a:srgbClr val="000000"/>
              </a:solidFill>
              <a:latin typeface="+mj-ea"/>
              <a:ea typeface="+mj-ea"/>
            </a:endParaRPr>
          </a:p>
        </p:txBody>
      </p:sp>
      <p:sp>
        <p:nvSpPr>
          <p:cNvPr id="3" name="标题 2"/>
          <p:cNvSpPr>
            <a:spLocks noGrp="1"/>
          </p:cNvSpPr>
          <p:nvPr>
            <p:ph type="title"/>
          </p:nvPr>
        </p:nvSpPr>
        <p:spPr/>
        <p:txBody>
          <a:bodyPr/>
          <a:lstStyle/>
          <a:p>
            <a:r>
              <a:rPr lang="zh-CN" altLang="en-US" dirty="0"/>
              <a:t>快速原型模型的实现过程</a:t>
            </a:r>
            <a:endParaRPr lang="zh-CN" altLang="en-US" dirty="0"/>
          </a:p>
        </p:txBody>
      </p:sp>
      <p:sp>
        <p:nvSpPr>
          <p:cNvPr id="2" name="日期占位符 1"/>
          <p:cNvSpPr>
            <a:spLocks noGrp="1"/>
          </p:cNvSpPr>
          <p:nvPr>
            <p:ph type="dt" sz="half" idx="10"/>
          </p:nvPr>
        </p:nvSpPr>
        <p:spPr/>
        <p:txBody>
          <a:bodyPr/>
          <a:lstStyle/>
          <a:p>
            <a:fld id="{5C6E0331-5372-473D-8606-DFE8DBD55A84}"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grpSp>
        <p:nvGrpSpPr>
          <p:cNvPr id="7" name="Group 4"/>
          <p:cNvGrpSpPr/>
          <p:nvPr/>
        </p:nvGrpSpPr>
        <p:grpSpPr bwMode="auto">
          <a:xfrm>
            <a:off x="5256356" y="828913"/>
            <a:ext cx="3763737" cy="3706660"/>
            <a:chOff x="2770" y="11892"/>
            <a:chExt cx="5777" cy="4524"/>
          </a:xfrm>
        </p:grpSpPr>
        <p:sp>
          <p:nvSpPr>
            <p:cNvPr id="8" name="Line 5"/>
            <p:cNvSpPr>
              <a:spLocks noChangeShapeType="1"/>
            </p:cNvSpPr>
            <p:nvPr/>
          </p:nvSpPr>
          <p:spPr bwMode="auto">
            <a:xfrm>
              <a:off x="3960" y="12360"/>
              <a:ext cx="0" cy="624"/>
            </a:xfrm>
            <a:prstGeom prst="line">
              <a:avLst/>
            </a:prstGeom>
            <a:noFill/>
            <a:ln w="12700" cap="sq">
              <a:solidFill>
                <a:srgbClr val="000000"/>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a:solidFill>
                  <a:srgbClr val="000000"/>
                </a:solidFill>
              </a:endParaRPr>
            </a:p>
          </p:txBody>
        </p:sp>
        <p:sp>
          <p:nvSpPr>
            <p:cNvPr id="9" name="Line 6"/>
            <p:cNvSpPr>
              <a:spLocks noChangeShapeType="1"/>
            </p:cNvSpPr>
            <p:nvPr/>
          </p:nvSpPr>
          <p:spPr bwMode="auto">
            <a:xfrm>
              <a:off x="3960" y="13452"/>
              <a:ext cx="0" cy="468"/>
            </a:xfrm>
            <a:prstGeom prst="line">
              <a:avLst/>
            </a:prstGeom>
            <a:noFill/>
            <a:ln w="12700" cap="sq">
              <a:solidFill>
                <a:srgbClr val="000000"/>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a:solidFill>
                  <a:srgbClr val="000000"/>
                </a:solidFill>
              </a:endParaRPr>
            </a:p>
          </p:txBody>
        </p:sp>
        <p:sp>
          <p:nvSpPr>
            <p:cNvPr id="10" name="Line 7"/>
            <p:cNvSpPr>
              <a:spLocks noChangeShapeType="1"/>
            </p:cNvSpPr>
            <p:nvPr/>
          </p:nvSpPr>
          <p:spPr bwMode="auto">
            <a:xfrm>
              <a:off x="3960" y="14232"/>
              <a:ext cx="0" cy="468"/>
            </a:xfrm>
            <a:prstGeom prst="line">
              <a:avLst/>
            </a:prstGeom>
            <a:noFill/>
            <a:ln w="12700" cap="sq">
              <a:solidFill>
                <a:srgbClr val="000000"/>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a:solidFill>
                  <a:srgbClr val="000000"/>
                </a:solidFill>
              </a:endParaRPr>
            </a:p>
          </p:txBody>
        </p:sp>
        <p:sp>
          <p:nvSpPr>
            <p:cNvPr id="11" name="AutoShape 8"/>
            <p:cNvSpPr>
              <a:spLocks noChangeArrowheads="1"/>
            </p:cNvSpPr>
            <p:nvPr/>
          </p:nvSpPr>
          <p:spPr bwMode="auto">
            <a:xfrm>
              <a:off x="3098" y="14700"/>
              <a:ext cx="1690" cy="777"/>
            </a:xfrm>
            <a:prstGeom prst="flowChartDecision">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1400" b="1" dirty="0">
                  <a:solidFill>
                    <a:srgbClr val="000000"/>
                  </a:solidFill>
                  <a:latin typeface="Times New Roman" panose="02020603050405020304" pitchFamily="18" charset="0"/>
                </a:rPr>
                <a:t>用户满意？</a:t>
              </a:r>
              <a:endParaRPr lang="zh-CN" altLang="en-US" sz="1400" b="1" dirty="0">
                <a:solidFill>
                  <a:srgbClr val="000000"/>
                </a:solidFill>
                <a:latin typeface="Comic Sans MS" panose="030F0702030302020204" pitchFamily="66" charset="0"/>
              </a:endParaRPr>
            </a:p>
          </p:txBody>
        </p:sp>
        <p:sp>
          <p:nvSpPr>
            <p:cNvPr id="12" name="Line 9"/>
            <p:cNvSpPr>
              <a:spLocks noChangeShapeType="1"/>
            </p:cNvSpPr>
            <p:nvPr/>
          </p:nvSpPr>
          <p:spPr bwMode="auto">
            <a:xfrm>
              <a:off x="3960" y="15480"/>
              <a:ext cx="0" cy="444"/>
            </a:xfrm>
            <a:prstGeom prst="line">
              <a:avLst/>
            </a:prstGeom>
            <a:noFill/>
            <a:ln w="12700" cap="sq">
              <a:solidFill>
                <a:srgbClr val="000000"/>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a:solidFill>
                  <a:srgbClr val="000000"/>
                </a:solidFill>
              </a:endParaRPr>
            </a:p>
          </p:txBody>
        </p:sp>
        <p:sp>
          <p:nvSpPr>
            <p:cNvPr id="13" name="Rectangle 10"/>
            <p:cNvSpPr>
              <a:spLocks noChangeArrowheads="1"/>
            </p:cNvSpPr>
            <p:nvPr/>
          </p:nvSpPr>
          <p:spPr bwMode="auto">
            <a:xfrm>
              <a:off x="2770" y="15924"/>
              <a:ext cx="2810" cy="492"/>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b="1">
                  <a:solidFill>
                    <a:srgbClr val="000000"/>
                  </a:solidFill>
                  <a:latin typeface="Times New Roman" panose="02020603050405020304" pitchFamily="18" charset="0"/>
                </a:rPr>
                <a:t>软件维护与评价</a:t>
              </a:r>
              <a:endParaRPr lang="zh-CN" altLang="en-US" sz="1400" b="1">
                <a:solidFill>
                  <a:srgbClr val="000000"/>
                </a:solidFill>
                <a:latin typeface="Comic Sans MS" panose="030F0702030302020204" pitchFamily="66" charset="0"/>
              </a:endParaRPr>
            </a:p>
          </p:txBody>
        </p:sp>
        <p:sp>
          <p:nvSpPr>
            <p:cNvPr id="14" name="Line 11"/>
            <p:cNvSpPr>
              <a:spLocks noChangeShapeType="1"/>
            </p:cNvSpPr>
            <p:nvPr/>
          </p:nvSpPr>
          <p:spPr bwMode="auto">
            <a:xfrm>
              <a:off x="4763" y="15083"/>
              <a:ext cx="2327" cy="0"/>
            </a:xfrm>
            <a:prstGeom prst="line">
              <a:avLst/>
            </a:prstGeom>
            <a:noFill/>
            <a:ln w="12700" cap="sq">
              <a:solidFill>
                <a:srgbClr val="000000"/>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a:solidFill>
                  <a:srgbClr val="000000"/>
                </a:solidFill>
              </a:endParaRPr>
            </a:p>
          </p:txBody>
        </p:sp>
        <p:sp>
          <p:nvSpPr>
            <p:cNvPr id="15" name="Line 12"/>
            <p:cNvSpPr>
              <a:spLocks noChangeShapeType="1"/>
            </p:cNvSpPr>
            <p:nvPr/>
          </p:nvSpPr>
          <p:spPr bwMode="auto">
            <a:xfrm flipV="1">
              <a:off x="7807" y="13608"/>
              <a:ext cx="0" cy="965"/>
            </a:xfrm>
            <a:prstGeom prst="line">
              <a:avLst/>
            </a:prstGeom>
            <a:noFill/>
            <a:ln w="12700" cap="sq">
              <a:solidFill>
                <a:srgbClr val="00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a:solidFill>
                  <a:srgbClr val="000000"/>
                </a:solidFill>
              </a:endParaRPr>
            </a:p>
          </p:txBody>
        </p:sp>
        <p:sp>
          <p:nvSpPr>
            <p:cNvPr id="16" name="Line 13"/>
            <p:cNvSpPr>
              <a:spLocks noChangeShapeType="1"/>
            </p:cNvSpPr>
            <p:nvPr/>
          </p:nvSpPr>
          <p:spPr bwMode="auto">
            <a:xfrm flipH="1" flipV="1">
              <a:off x="3960" y="13608"/>
              <a:ext cx="3847" cy="0"/>
            </a:xfrm>
            <a:prstGeom prst="line">
              <a:avLst/>
            </a:prstGeom>
            <a:noFill/>
            <a:ln w="12700" cap="sq">
              <a:solidFill>
                <a:srgbClr val="000000"/>
              </a:solidFill>
              <a:miter lim="800000"/>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a:solidFill>
                  <a:srgbClr val="000000"/>
                </a:solidFill>
              </a:endParaRPr>
            </a:p>
          </p:txBody>
        </p:sp>
        <p:sp>
          <p:nvSpPr>
            <p:cNvPr id="17" name="Rectangle 14"/>
            <p:cNvSpPr>
              <a:spLocks noChangeArrowheads="1"/>
            </p:cNvSpPr>
            <p:nvPr/>
          </p:nvSpPr>
          <p:spPr bwMode="auto">
            <a:xfrm>
              <a:off x="4140" y="15480"/>
              <a:ext cx="623" cy="438"/>
            </a:xfrm>
            <a:prstGeom prst="rect">
              <a:avLst/>
            </a:prstGeom>
            <a:noFill/>
            <a:ln>
              <a:noFill/>
            </a:ln>
            <a:effectLst/>
            <a:extLst>
              <a:ext uri="{909E8E84-426E-40DD-AFC4-6F175D3DCCD1}">
                <a14:hiddenFill xmlns:a14="http://schemas.microsoft.com/office/drawing/2010/main">
                  <a:solidFill>
                    <a:srgbClr val="F9DBD3"/>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b="1">
                  <a:solidFill>
                    <a:srgbClr val="000000"/>
                  </a:solidFill>
                  <a:latin typeface="Times New Roman" panose="02020603050405020304" pitchFamily="18" charset="0"/>
                </a:rPr>
                <a:t>Y</a:t>
              </a:r>
              <a:endParaRPr lang="en-US" altLang="zh-CN" sz="1400" b="1">
                <a:solidFill>
                  <a:srgbClr val="000000"/>
                </a:solidFill>
                <a:latin typeface="Comic Sans MS" panose="030F0702030302020204" pitchFamily="66" charset="0"/>
              </a:endParaRPr>
            </a:p>
          </p:txBody>
        </p:sp>
        <p:sp>
          <p:nvSpPr>
            <p:cNvPr id="18" name="Rectangle 15"/>
            <p:cNvSpPr>
              <a:spLocks noChangeArrowheads="1"/>
            </p:cNvSpPr>
            <p:nvPr/>
          </p:nvSpPr>
          <p:spPr bwMode="auto">
            <a:xfrm>
              <a:off x="5220" y="14573"/>
              <a:ext cx="533" cy="439"/>
            </a:xfrm>
            <a:prstGeom prst="rect">
              <a:avLst/>
            </a:prstGeom>
            <a:noFill/>
            <a:ln>
              <a:noFill/>
            </a:ln>
            <a:effectLst/>
            <a:extLst>
              <a:ext uri="{909E8E84-426E-40DD-AFC4-6F175D3DCCD1}">
                <a14:hiddenFill xmlns:a14="http://schemas.microsoft.com/office/drawing/2010/main">
                  <a:solidFill>
                    <a:srgbClr val="F9DBD3"/>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b="1">
                  <a:solidFill>
                    <a:srgbClr val="000000"/>
                  </a:solidFill>
                  <a:latin typeface="Times New Roman" panose="02020603050405020304" pitchFamily="18" charset="0"/>
                </a:rPr>
                <a:t>N</a:t>
              </a:r>
              <a:endParaRPr lang="en-US" altLang="zh-CN" sz="1400" b="1">
                <a:solidFill>
                  <a:srgbClr val="000000"/>
                </a:solidFill>
                <a:latin typeface="Comic Sans MS" panose="030F0702030302020204" pitchFamily="66" charset="0"/>
              </a:endParaRPr>
            </a:p>
          </p:txBody>
        </p:sp>
        <p:sp>
          <p:nvSpPr>
            <p:cNvPr id="19" name="Rectangle 16"/>
            <p:cNvSpPr>
              <a:spLocks noChangeArrowheads="1"/>
            </p:cNvSpPr>
            <p:nvPr/>
          </p:nvSpPr>
          <p:spPr bwMode="auto">
            <a:xfrm>
              <a:off x="2770" y="12926"/>
              <a:ext cx="2773" cy="526"/>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b="1" dirty="0">
                  <a:solidFill>
                    <a:srgbClr val="000000"/>
                  </a:solidFill>
                  <a:latin typeface="Times New Roman" panose="02020603050405020304" pitchFamily="18" charset="0"/>
                </a:rPr>
                <a:t>构造初始模型</a:t>
              </a:r>
              <a:endParaRPr lang="zh-CN" altLang="en-US" sz="1400" b="1" dirty="0">
                <a:solidFill>
                  <a:srgbClr val="000000"/>
                </a:solidFill>
                <a:latin typeface="Comic Sans MS" panose="030F0702030302020204" pitchFamily="66" charset="0"/>
              </a:endParaRPr>
            </a:p>
          </p:txBody>
        </p:sp>
        <p:sp>
          <p:nvSpPr>
            <p:cNvPr id="20" name="Rectangle 17"/>
            <p:cNvSpPr>
              <a:spLocks noChangeArrowheads="1"/>
            </p:cNvSpPr>
            <p:nvPr/>
          </p:nvSpPr>
          <p:spPr bwMode="auto">
            <a:xfrm>
              <a:off x="2770" y="11892"/>
              <a:ext cx="2773" cy="468"/>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b="1" dirty="0">
                  <a:solidFill>
                    <a:srgbClr val="000000"/>
                  </a:solidFill>
                  <a:latin typeface="Times New Roman" panose="02020603050405020304" pitchFamily="18" charset="0"/>
                </a:rPr>
                <a:t>确定用户基本要求</a:t>
              </a:r>
              <a:endParaRPr lang="zh-CN" altLang="en-US" sz="1400" b="1" dirty="0">
                <a:solidFill>
                  <a:srgbClr val="000000"/>
                </a:solidFill>
                <a:latin typeface="Comic Sans MS" panose="030F0702030302020204" pitchFamily="66" charset="0"/>
              </a:endParaRPr>
            </a:p>
          </p:txBody>
        </p:sp>
        <p:sp>
          <p:nvSpPr>
            <p:cNvPr id="21" name="Rectangle 18"/>
            <p:cNvSpPr>
              <a:spLocks noChangeArrowheads="1"/>
            </p:cNvSpPr>
            <p:nvPr/>
          </p:nvSpPr>
          <p:spPr bwMode="auto">
            <a:xfrm>
              <a:off x="2770" y="13949"/>
              <a:ext cx="2810" cy="439"/>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b="1">
                  <a:solidFill>
                    <a:srgbClr val="000000"/>
                  </a:solidFill>
                  <a:latin typeface="Times New Roman" panose="02020603050405020304" pitchFamily="18" charset="0"/>
                </a:rPr>
                <a:t>评价、使用软件原型</a:t>
              </a:r>
              <a:endParaRPr lang="zh-CN" altLang="en-US" sz="1400" b="1">
                <a:solidFill>
                  <a:srgbClr val="000000"/>
                </a:solidFill>
                <a:latin typeface="Comic Sans MS" panose="030F0702030302020204" pitchFamily="66" charset="0"/>
              </a:endParaRPr>
            </a:p>
          </p:txBody>
        </p:sp>
        <p:sp>
          <p:nvSpPr>
            <p:cNvPr id="22" name="Rectangle 19"/>
            <p:cNvSpPr>
              <a:spLocks noChangeArrowheads="1"/>
            </p:cNvSpPr>
            <p:nvPr/>
          </p:nvSpPr>
          <p:spPr bwMode="auto">
            <a:xfrm>
              <a:off x="7051" y="14622"/>
              <a:ext cx="1496" cy="1248"/>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b="1" dirty="0">
                  <a:solidFill>
                    <a:srgbClr val="000000"/>
                  </a:solidFill>
                  <a:latin typeface="Times New Roman" panose="02020603050405020304" pitchFamily="18" charset="0"/>
                </a:rPr>
                <a:t>修改、完善软件原型</a:t>
              </a:r>
              <a:endParaRPr lang="zh-CN" altLang="en-US" sz="1400" b="1" dirty="0">
                <a:solidFill>
                  <a:srgbClr val="000000"/>
                </a:solidFill>
                <a:latin typeface="Comic Sans MS" panose="030F0702030302020204" pitchFamily="66"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09251"/>
                                        </p:tgtEl>
                                        <p:attrNameLst>
                                          <p:attrName>style.visibility</p:attrName>
                                        </p:attrNameLst>
                                      </p:cBhvr>
                                      <p:to>
                                        <p:strVal val="visible"/>
                                      </p:to>
                                    </p:set>
                                    <p:animEffect transition="in" filter="wipe(up)">
                                      <p:cBhvr>
                                        <p:cTn id="7" dur="500"/>
                                        <p:tgtEl>
                                          <p:spTgt spid="30925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1"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标题 41"/>
          <p:cNvSpPr>
            <a:spLocks noGrp="1"/>
          </p:cNvSpPr>
          <p:nvPr>
            <p:ph type="title"/>
          </p:nvPr>
        </p:nvSpPr>
        <p:spPr/>
        <p:txBody>
          <a:bodyPr/>
          <a:lstStyle/>
          <a:p>
            <a:r>
              <a:rPr lang="zh-CN" altLang="en-US" dirty="0"/>
              <a:t>快速原型模型的实现过程</a:t>
            </a:r>
            <a:endParaRPr lang="zh-CN" altLang="en-US" dirty="0"/>
          </a:p>
        </p:txBody>
      </p:sp>
      <p:sp>
        <p:nvSpPr>
          <p:cNvPr id="5" name="灯片编号占位符 4"/>
          <p:cNvSpPr>
            <a:spLocks noGrp="1"/>
          </p:cNvSpPr>
          <p:nvPr>
            <p:ph type="sldNum" sz="quarter" idx="12"/>
          </p:nvPr>
        </p:nvSpPr>
        <p:spPr/>
        <p:txBody>
          <a:bodyPr/>
          <a:lstStyle/>
          <a:p>
            <a:fld id="{AEC086C4-BB49-4EC5-803C-DF6C099D78ED}" type="slidenum">
              <a:rPr lang="ko-KR" altLang="en-US" smtClean="0"/>
            </a:fld>
            <a:endParaRPr lang="en-US" altLang="ko-KR"/>
          </a:p>
        </p:txBody>
      </p:sp>
      <p:pic>
        <p:nvPicPr>
          <p:cNvPr id="45" name="Picture 3" descr="a12"/>
          <p:cNvPicPr>
            <a:picLocks noChangeAspect="1" noChangeArrowheads="1"/>
          </p:cNvPicPr>
          <p:nvPr/>
        </p:nvPicPr>
        <p:blipFill>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81288" y="850557"/>
            <a:ext cx="4050506" cy="3915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p:cNvSpPr>
            <a:spLocks noGrp="1"/>
          </p:cNvSpPr>
          <p:nvPr>
            <p:ph type="dt" sz="half" idx="10"/>
          </p:nvPr>
        </p:nvSpPr>
        <p:spPr/>
        <p:txBody>
          <a:bodyPr/>
          <a:lstStyle/>
          <a:p>
            <a:fld id="{995247C2-1C1C-4E40-83AE-EEABACD0D883}"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pic>
        <p:nvPicPr>
          <p:cNvPr id="4" name="图片 3"/>
          <p:cNvPicPr>
            <a:picLocks noChangeAspect="1"/>
          </p:cNvPicPr>
          <p:nvPr/>
        </p:nvPicPr>
        <p:blipFill>
          <a:blip r:embed="rId2"/>
          <a:stretch>
            <a:fillRect/>
          </a:stretch>
        </p:blipFill>
        <p:spPr>
          <a:xfrm>
            <a:off x="1034321" y="763741"/>
            <a:ext cx="6885305" cy="39154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a:spLocks noChangeArrowheads="1"/>
          </p:cNvSpPr>
          <p:nvPr/>
        </p:nvSpPr>
        <p:spPr bwMode="auto">
          <a:xfrm>
            <a:off x="768096" y="1159957"/>
            <a:ext cx="7992093" cy="3215624"/>
          </a:xfrm>
          <a:prstGeom prst="rect">
            <a:avLst/>
          </a:prstGeom>
          <a:noFill/>
          <a:ln w="9525">
            <a:noFill/>
            <a:miter lim="800000"/>
          </a:ln>
        </p:spPr>
        <p:txBody>
          <a:bodyPr wrap="square">
            <a:spAutoFit/>
          </a:bodyPr>
          <a:lstStyle/>
          <a:p>
            <a:pPr marL="457200" indent="-457200" algn="just" eaLnBrk="0" hangingPunct="0">
              <a:lnSpc>
                <a:spcPct val="110000"/>
              </a:lnSpc>
              <a:spcBef>
                <a:spcPts val="1200"/>
              </a:spcBef>
              <a:buClr>
                <a:schemeClr val="accent1"/>
              </a:buClr>
              <a:buFont typeface="Arial" panose="020B0604020202020204" pitchFamily="34" charset="0"/>
              <a:buChar char="֍"/>
            </a:pPr>
            <a:r>
              <a:rPr lang="zh-CN" altLang="en-US" sz="2400" dirty="0">
                <a:latin typeface="+mj-ea"/>
                <a:ea typeface="+mj-ea"/>
              </a:rPr>
              <a:t>可视化，强化沟通，降低风险，节省后期变更成本，提高项目成功率。它比线性模型更符合人们认识事物的过程和规律，是一种较实用的开发框架。</a:t>
            </a:r>
            <a:endParaRPr lang="zh-CN" altLang="en-US" sz="2400" dirty="0">
              <a:latin typeface="+mj-ea"/>
              <a:ea typeface="+mj-ea"/>
            </a:endParaRPr>
          </a:p>
          <a:p>
            <a:pPr marL="457200" indent="-457200" algn="just" eaLnBrk="0" hangingPunct="0">
              <a:lnSpc>
                <a:spcPct val="110000"/>
              </a:lnSpc>
              <a:spcBef>
                <a:spcPts val="1200"/>
              </a:spcBef>
              <a:buClr>
                <a:schemeClr val="accent1"/>
              </a:buClr>
              <a:buFont typeface="Arial" panose="020B0604020202020204" pitchFamily="34" charset="0"/>
              <a:buChar char="֍"/>
            </a:pPr>
            <a:r>
              <a:rPr lang="zh-CN" altLang="en-US" sz="2400" dirty="0">
                <a:latin typeface="+mj-ea"/>
                <a:ea typeface="+mj-ea"/>
              </a:rPr>
              <a:t>建造原型仅是为了挖掘需求，之后就被抛弃（或被部分抛弃），实际的软件在充分考虑了质量和可维护性之后才被开发。</a:t>
            </a:r>
            <a:endParaRPr lang="en-US" altLang="zh-CN" sz="2400" dirty="0">
              <a:latin typeface="+mj-ea"/>
              <a:ea typeface="+mj-ea"/>
            </a:endParaRPr>
          </a:p>
          <a:p>
            <a:pPr marL="457200" indent="-457200" algn="just" eaLnBrk="0" hangingPunct="0">
              <a:lnSpc>
                <a:spcPct val="110000"/>
              </a:lnSpc>
              <a:spcBef>
                <a:spcPts val="1200"/>
              </a:spcBef>
              <a:buClr>
                <a:schemeClr val="accent1"/>
              </a:buClr>
              <a:buFont typeface="Arial" panose="020B0604020202020204" pitchFamily="34" charset="0"/>
              <a:buChar char="֍"/>
            </a:pPr>
            <a:r>
              <a:rPr lang="zh-CN" altLang="en-US" sz="2400" dirty="0">
                <a:latin typeface="+mj-ea"/>
                <a:ea typeface="+mj-ea"/>
              </a:rPr>
              <a:t>适合于那些不能预先确切定义需求的软件系统的开发。</a:t>
            </a:r>
            <a:endParaRPr lang="zh-CN" altLang="en-US" sz="2400" dirty="0">
              <a:latin typeface="+mj-ea"/>
              <a:ea typeface="+mj-ea"/>
            </a:endParaRPr>
          </a:p>
        </p:txBody>
      </p:sp>
      <p:sp>
        <p:nvSpPr>
          <p:cNvPr id="4" name="标题 3"/>
          <p:cNvSpPr>
            <a:spLocks noGrp="1"/>
          </p:cNvSpPr>
          <p:nvPr>
            <p:ph type="title"/>
          </p:nvPr>
        </p:nvSpPr>
        <p:spPr/>
        <p:txBody>
          <a:bodyPr/>
          <a:lstStyle/>
          <a:p>
            <a:r>
              <a:rPr lang="zh-CN" altLang="en-US" dirty="0"/>
              <a:t>原型模型的特点</a:t>
            </a:r>
            <a:endParaRPr lang="zh-CN" altLang="en-US" dirty="0"/>
          </a:p>
        </p:txBody>
      </p:sp>
      <p:sp>
        <p:nvSpPr>
          <p:cNvPr id="5" name="灯片编号占位符 4"/>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2" name="日期占位符 1"/>
          <p:cNvSpPr>
            <a:spLocks noGrp="1"/>
          </p:cNvSpPr>
          <p:nvPr>
            <p:ph type="dt" sz="half" idx="10"/>
          </p:nvPr>
        </p:nvSpPr>
        <p:spPr/>
        <p:txBody>
          <a:bodyPr/>
          <a:lstStyle/>
          <a:p>
            <a:fld id="{84E70DB6-1039-4EB8-9A78-140081E4EF33}"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原型的类型</a:t>
            </a:r>
            <a:endParaRPr lang="zh-CN" altLang="en-US" dirty="0"/>
          </a:p>
        </p:txBody>
      </p:sp>
      <p:sp>
        <p:nvSpPr>
          <p:cNvPr id="3" name="内容占位符 2"/>
          <p:cNvSpPr>
            <a:spLocks noGrp="1"/>
          </p:cNvSpPr>
          <p:nvPr>
            <p:ph idx="1"/>
          </p:nvPr>
        </p:nvSpPr>
        <p:spPr>
          <a:xfrm>
            <a:off x="807521" y="1175657"/>
            <a:ext cx="8134597" cy="3182588"/>
          </a:xfrm>
        </p:spPr>
        <p:txBody>
          <a:bodyPr>
            <a:normAutofit/>
          </a:bodyPr>
          <a:lstStyle/>
          <a:p>
            <a:r>
              <a:rPr lang="zh-CN" altLang="en-US" dirty="0">
                <a:solidFill>
                  <a:srgbClr val="FF0000"/>
                </a:solidFill>
                <a:latin typeface="+mj-ea"/>
                <a:ea typeface="+mj-ea"/>
              </a:rPr>
              <a:t>抛弃型（废弃型）</a:t>
            </a:r>
            <a:endParaRPr lang="en-US" altLang="zh-CN" dirty="0">
              <a:solidFill>
                <a:srgbClr val="FF0000"/>
              </a:solidFill>
              <a:latin typeface="+mj-ea"/>
              <a:ea typeface="+mj-ea"/>
            </a:endParaRPr>
          </a:p>
          <a:p>
            <a:pPr marL="582930" lvl="1" indent="-342900">
              <a:spcBef>
                <a:spcPts val="1350"/>
              </a:spcBef>
              <a:spcAft>
                <a:spcPts val="1350"/>
              </a:spcAft>
            </a:pPr>
            <a:r>
              <a:rPr lang="zh-CN" altLang="en-US" sz="2000" dirty="0">
                <a:latin typeface="+mj-ea"/>
                <a:ea typeface="+mj-ea"/>
              </a:rPr>
              <a:t>先构造一个功能简单质量要求不高的模型系统，对其进行反复分析修改，形成比较好的设计思想，系统构造完成后就被废弃。针对系统的某些功能进行实际验证，本质仍是瀑布模型。</a:t>
            </a:r>
            <a:endParaRPr lang="en-US" altLang="zh-CN" sz="2000" dirty="0">
              <a:latin typeface="+mj-ea"/>
              <a:ea typeface="+mj-ea"/>
            </a:endParaRPr>
          </a:p>
          <a:p>
            <a:r>
              <a:rPr lang="zh-CN" altLang="en-US" dirty="0">
                <a:solidFill>
                  <a:srgbClr val="FF0000"/>
                </a:solidFill>
                <a:latin typeface="+mj-ea"/>
                <a:ea typeface="+mj-ea"/>
              </a:rPr>
              <a:t>演化型（追加型）</a:t>
            </a:r>
            <a:endParaRPr lang="en-US" altLang="zh-CN" dirty="0">
              <a:solidFill>
                <a:srgbClr val="FF0000"/>
              </a:solidFill>
              <a:latin typeface="+mj-ea"/>
              <a:ea typeface="+mj-ea"/>
            </a:endParaRPr>
          </a:p>
          <a:p>
            <a:pPr lvl="1">
              <a:spcBef>
                <a:spcPts val="1350"/>
              </a:spcBef>
            </a:pPr>
            <a:r>
              <a:rPr lang="zh-CN" altLang="en-US" sz="2000" dirty="0">
                <a:latin typeface="+mj-ea"/>
                <a:ea typeface="+mj-ea"/>
              </a:rPr>
              <a:t>由一个功能简单的模型系统作为最终系统的核心，再不断扩充修改逐步追加新要求，最后发展成最终系统。</a:t>
            </a:r>
            <a:endParaRPr lang="zh-CN" altLang="en-US" sz="2000" dirty="0">
              <a:latin typeface="+mj-ea"/>
              <a:ea typeface="+mj-ea"/>
            </a:endParaRPr>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dirty="0"/>
          </a:p>
        </p:txBody>
      </p:sp>
      <p:sp>
        <p:nvSpPr>
          <p:cNvPr id="5" name="日期占位符 4"/>
          <p:cNvSpPr>
            <a:spLocks noGrp="1"/>
          </p:cNvSpPr>
          <p:nvPr>
            <p:ph type="dt" sz="half" idx="10"/>
          </p:nvPr>
        </p:nvSpPr>
        <p:spPr/>
        <p:txBody>
          <a:bodyPr/>
          <a:lstStyle/>
          <a:p>
            <a:fld id="{2D720223-ACAA-4FFF-B166-C35594C7D86D}"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a:spLocks noChangeArrowheads="1"/>
          </p:cNvSpPr>
          <p:nvPr/>
        </p:nvSpPr>
        <p:spPr bwMode="auto">
          <a:xfrm>
            <a:off x="878774" y="1140442"/>
            <a:ext cx="7861465" cy="3021725"/>
          </a:xfrm>
          <a:prstGeom prst="rect">
            <a:avLst/>
          </a:prstGeom>
          <a:noFill/>
          <a:ln w="9525">
            <a:noFill/>
            <a:miter lim="800000"/>
          </a:ln>
        </p:spPr>
        <p:txBody>
          <a:bodyPr wrap="square">
            <a:spAutoFit/>
          </a:bodyPr>
          <a:lstStyle/>
          <a:p>
            <a:pPr eaLnBrk="0" hangingPunct="0">
              <a:lnSpc>
                <a:spcPct val="120000"/>
              </a:lnSpc>
              <a:spcBef>
                <a:spcPts val="1200"/>
              </a:spcBef>
            </a:pPr>
            <a:r>
              <a:rPr lang="en-US" altLang="zh-CN" sz="2400" dirty="0">
                <a:latin typeface="+mj-ea"/>
                <a:ea typeface="+mj-ea"/>
              </a:rPr>
              <a:t>⑴  </a:t>
            </a:r>
            <a:r>
              <a:rPr lang="zh-CN" altLang="en-US" sz="2400" dirty="0">
                <a:latin typeface="+mj-ea"/>
                <a:ea typeface="+mj-ea"/>
              </a:rPr>
              <a:t>为了使原型尽快的工作，没有考虑软件的总体质量和长期的可维护性。</a:t>
            </a:r>
            <a:endParaRPr lang="zh-CN" altLang="en-US" sz="2400" dirty="0">
              <a:latin typeface="+mj-ea"/>
              <a:ea typeface="+mj-ea"/>
            </a:endParaRPr>
          </a:p>
          <a:p>
            <a:pPr eaLnBrk="0" hangingPunct="0">
              <a:lnSpc>
                <a:spcPct val="120000"/>
              </a:lnSpc>
              <a:spcBef>
                <a:spcPts val="1200"/>
              </a:spcBef>
            </a:pPr>
            <a:r>
              <a:rPr lang="en-US" altLang="zh-CN" sz="2400" dirty="0">
                <a:latin typeface="+mj-ea"/>
                <a:ea typeface="+mj-ea"/>
              </a:rPr>
              <a:t>⑵  </a:t>
            </a:r>
            <a:r>
              <a:rPr lang="zh-CN" altLang="en-US" sz="2400" dirty="0">
                <a:latin typeface="+mj-ea"/>
                <a:ea typeface="+mj-ea"/>
              </a:rPr>
              <a:t>为了演示，可能采用不合适的操作系统、编程语言、效率低的算法，这些不理想的选择成了系统的组成部分。</a:t>
            </a:r>
            <a:endParaRPr lang="zh-CN" altLang="en-US" sz="2400" dirty="0">
              <a:latin typeface="+mj-ea"/>
              <a:ea typeface="+mj-ea"/>
            </a:endParaRPr>
          </a:p>
          <a:p>
            <a:pPr eaLnBrk="0" hangingPunct="0">
              <a:lnSpc>
                <a:spcPct val="120000"/>
              </a:lnSpc>
              <a:spcBef>
                <a:spcPts val="1200"/>
              </a:spcBef>
            </a:pPr>
            <a:r>
              <a:rPr lang="en-US" altLang="zh-CN" sz="2400" dirty="0">
                <a:latin typeface="+mj-ea"/>
                <a:ea typeface="+mj-ea"/>
              </a:rPr>
              <a:t>⑶  </a:t>
            </a:r>
            <a:r>
              <a:rPr lang="zh-CN" altLang="en-US" sz="2400" dirty="0">
                <a:latin typeface="+mj-ea"/>
                <a:ea typeface="+mj-ea"/>
              </a:rPr>
              <a:t>在需求没有完全弄清楚，过程管理不够严格时会影响最终产品的性能。</a:t>
            </a:r>
            <a:endParaRPr lang="zh-CN" altLang="en-US" sz="2400" dirty="0">
              <a:latin typeface="+mj-ea"/>
              <a:ea typeface="+mj-ea"/>
            </a:endParaRPr>
          </a:p>
        </p:txBody>
      </p:sp>
      <p:sp>
        <p:nvSpPr>
          <p:cNvPr id="4" name="标题 3"/>
          <p:cNvSpPr>
            <a:spLocks noGrp="1"/>
          </p:cNvSpPr>
          <p:nvPr>
            <p:ph type="title"/>
          </p:nvPr>
        </p:nvSpPr>
        <p:spPr/>
        <p:txBody>
          <a:bodyPr/>
          <a:lstStyle/>
          <a:p>
            <a:r>
              <a:rPr lang="zh-CN" altLang="en-US" dirty="0">
                <a:latin typeface="+mj-ea"/>
              </a:rPr>
              <a:t>原型模型存在的问题</a:t>
            </a:r>
            <a:endParaRPr lang="zh-CN" altLang="en-US" dirty="0"/>
          </a:p>
        </p:txBody>
      </p:sp>
      <p:sp>
        <p:nvSpPr>
          <p:cNvPr id="5" name="灯片编号占位符 4"/>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2" name="日期占位符 1"/>
          <p:cNvSpPr>
            <a:spLocks noGrp="1"/>
          </p:cNvSpPr>
          <p:nvPr>
            <p:ph type="dt" sz="half" idx="10"/>
          </p:nvPr>
        </p:nvSpPr>
        <p:spPr/>
        <p:txBody>
          <a:bodyPr/>
          <a:lstStyle/>
          <a:p>
            <a:fld id="{6AEDB5FC-A78E-4AF0-B28D-9690BDAFC3B4}"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a:spLocks noChangeArrowheads="1"/>
          </p:cNvSpPr>
          <p:nvPr/>
        </p:nvSpPr>
        <p:spPr bwMode="auto">
          <a:xfrm>
            <a:off x="902525" y="1033564"/>
            <a:ext cx="7861465" cy="3083921"/>
          </a:xfrm>
          <a:prstGeom prst="rect">
            <a:avLst/>
          </a:prstGeom>
          <a:noFill/>
          <a:ln w="9525">
            <a:noFill/>
            <a:miter lim="800000"/>
          </a:ln>
        </p:spPr>
        <p:txBody>
          <a:bodyPr wrap="square">
            <a:spAutoFit/>
          </a:bodyPr>
          <a:lstStyle/>
          <a:p>
            <a:pPr marL="342900" indent="-342900" eaLnBrk="0" hangingPunct="0">
              <a:lnSpc>
                <a:spcPct val="120000"/>
              </a:lnSpc>
              <a:spcAft>
                <a:spcPct val="30000"/>
              </a:spcAft>
              <a:buClr>
                <a:schemeClr val="accent1"/>
              </a:buClr>
              <a:buFontTx/>
              <a:buChar char="֍"/>
            </a:pPr>
            <a:r>
              <a:rPr lang="zh-CN" altLang="en-US" sz="2400" dirty="0">
                <a:latin typeface="+mj-ea"/>
                <a:ea typeface="+mj-ea"/>
              </a:rPr>
              <a:t>体现主要的功能；</a:t>
            </a:r>
            <a:endParaRPr lang="en-US" altLang="zh-CN" sz="2400" dirty="0">
              <a:latin typeface="+mj-ea"/>
              <a:ea typeface="+mj-ea"/>
            </a:endParaRPr>
          </a:p>
          <a:p>
            <a:pPr marL="342900" indent="-342900" eaLnBrk="0" hangingPunct="0">
              <a:lnSpc>
                <a:spcPct val="120000"/>
              </a:lnSpc>
              <a:spcAft>
                <a:spcPct val="30000"/>
              </a:spcAft>
              <a:buClr>
                <a:schemeClr val="accent1"/>
              </a:buClr>
              <a:buFontTx/>
              <a:buChar char="֍"/>
            </a:pPr>
            <a:r>
              <a:rPr lang="zh-CN" altLang="en-US" sz="2400" dirty="0">
                <a:latin typeface="+mj-ea"/>
                <a:ea typeface="+mj-ea"/>
              </a:rPr>
              <a:t>提供基本的界面风格；</a:t>
            </a:r>
            <a:endParaRPr lang="en-US" altLang="zh-CN" sz="2400" dirty="0">
              <a:latin typeface="+mj-ea"/>
              <a:ea typeface="+mj-ea"/>
            </a:endParaRPr>
          </a:p>
          <a:p>
            <a:pPr marL="342900" indent="-342900" eaLnBrk="0" hangingPunct="0">
              <a:lnSpc>
                <a:spcPct val="120000"/>
              </a:lnSpc>
              <a:spcAft>
                <a:spcPct val="30000"/>
              </a:spcAft>
              <a:buClr>
                <a:schemeClr val="accent1"/>
              </a:buClr>
              <a:buFontTx/>
              <a:buChar char="֍"/>
            </a:pPr>
            <a:r>
              <a:rPr lang="zh-CN" altLang="en-US" sz="2400" dirty="0">
                <a:latin typeface="+mj-ea"/>
                <a:ea typeface="+mj-ea"/>
              </a:rPr>
              <a:t>展示比较模糊的部分，以便于确认或进一步明确，防患于未然；</a:t>
            </a:r>
            <a:endParaRPr lang="en-US" altLang="zh-CN" sz="2400" dirty="0">
              <a:latin typeface="+mj-ea"/>
              <a:ea typeface="+mj-ea"/>
            </a:endParaRPr>
          </a:p>
          <a:p>
            <a:pPr marL="342900" indent="-342900" eaLnBrk="0" hangingPunct="0">
              <a:lnSpc>
                <a:spcPct val="120000"/>
              </a:lnSpc>
              <a:spcAft>
                <a:spcPct val="30000"/>
              </a:spcAft>
              <a:buClr>
                <a:schemeClr val="accent1"/>
              </a:buClr>
              <a:buFontTx/>
              <a:buChar char="֍"/>
            </a:pPr>
            <a:r>
              <a:rPr lang="zh-CN" altLang="en-US" sz="2400" dirty="0">
                <a:latin typeface="+mj-ea"/>
                <a:ea typeface="+mj-ea"/>
              </a:rPr>
              <a:t>原型最好是可运行的，至少在各主要功能模块之间能够建立相互衔接。</a:t>
            </a:r>
            <a:endParaRPr lang="zh-CN" altLang="en-US" sz="2400" dirty="0">
              <a:latin typeface="+mj-ea"/>
              <a:ea typeface="+mj-ea"/>
            </a:endParaRPr>
          </a:p>
        </p:txBody>
      </p:sp>
      <p:sp>
        <p:nvSpPr>
          <p:cNvPr id="4" name="标题 3"/>
          <p:cNvSpPr>
            <a:spLocks noGrp="1"/>
          </p:cNvSpPr>
          <p:nvPr>
            <p:ph type="title"/>
          </p:nvPr>
        </p:nvSpPr>
        <p:spPr/>
        <p:txBody>
          <a:bodyPr/>
          <a:lstStyle/>
          <a:p>
            <a:r>
              <a:rPr lang="zh-CN" altLang="en-US" dirty="0"/>
              <a:t>对原型实现模型的基本要求</a:t>
            </a:r>
            <a:endParaRPr lang="zh-CN" altLang="en-US" dirty="0"/>
          </a:p>
        </p:txBody>
      </p:sp>
      <p:sp>
        <p:nvSpPr>
          <p:cNvPr id="5" name="灯片编号占位符 4"/>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2" name="日期占位符 1"/>
          <p:cNvSpPr>
            <a:spLocks noGrp="1"/>
          </p:cNvSpPr>
          <p:nvPr>
            <p:ph type="dt" sz="half" idx="10"/>
          </p:nvPr>
        </p:nvSpPr>
        <p:spPr/>
        <p:txBody>
          <a:bodyPr/>
          <a:lstStyle/>
          <a:p>
            <a:fld id="{5DF83F87-94FF-496A-982C-CFFD340B2C3F}"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zh-CN" altLang="en-US" dirty="0"/>
              <a:t>学以致用</a:t>
            </a:r>
            <a:endParaRPr lang="zh-CN" altLang="en-US" dirty="0"/>
          </a:p>
        </p:txBody>
      </p:sp>
      <p:sp>
        <p:nvSpPr>
          <p:cNvPr id="37891" name="Rectangle 3"/>
          <p:cNvSpPr>
            <a:spLocks noGrp="1" noChangeArrowheads="1"/>
          </p:cNvSpPr>
          <p:nvPr>
            <p:ph type="body" idx="1"/>
          </p:nvPr>
        </p:nvSpPr>
        <p:spPr>
          <a:xfrm>
            <a:off x="828916" y="1039408"/>
            <a:ext cx="7875697" cy="3354462"/>
          </a:xfrm>
        </p:spPr>
        <p:txBody>
          <a:bodyPr>
            <a:noAutofit/>
          </a:bodyPr>
          <a:lstStyle/>
          <a:p>
            <a:pPr algn="just">
              <a:lnSpc>
                <a:spcPct val="120000"/>
              </a:lnSpc>
              <a:spcBef>
                <a:spcPts val="1200"/>
              </a:spcBef>
              <a:spcAft>
                <a:spcPts val="0"/>
              </a:spcAft>
            </a:pPr>
            <a:r>
              <a:rPr lang="zh-CN" altLang="en-US" sz="2400" dirty="0">
                <a:latin typeface="+mj-ea"/>
                <a:ea typeface="+mj-ea"/>
              </a:rPr>
              <a:t>辅导员张老师为了方便管理学生，他委托学生小明帮助他开发一个学生管理系统，用来管理他所带的班级的学生信息，该系统仅供张老师一个人使用，系统功能不是很复杂。张老师对自己需要的系统功能有了明确的认识，并且他本身也对软件开发有一定程度的了解，与小明的沟通过程非常的顺利。</a:t>
            </a:r>
            <a:endParaRPr lang="en-US" altLang="zh-CN" sz="2400" dirty="0">
              <a:latin typeface="+mj-ea"/>
              <a:ea typeface="+mj-ea"/>
            </a:endParaRPr>
          </a:p>
          <a:p>
            <a:pPr algn="just">
              <a:lnSpc>
                <a:spcPct val="120000"/>
              </a:lnSpc>
              <a:spcBef>
                <a:spcPts val="1200"/>
              </a:spcBef>
              <a:spcAft>
                <a:spcPts val="0"/>
              </a:spcAft>
            </a:pPr>
            <a:r>
              <a:rPr lang="zh-CN" altLang="en-US" sz="2400" dirty="0">
                <a:latin typeface="+mj-ea"/>
                <a:ea typeface="+mj-ea"/>
              </a:rPr>
              <a:t>思考：如果你是小明，你会选用哪种过程模型？</a:t>
            </a:r>
            <a:endParaRPr lang="zh-CN" altLang="en-US" sz="2400" dirty="0">
              <a:latin typeface="+mj-ea"/>
              <a:ea typeface="+mj-ea"/>
            </a:endParaRPr>
          </a:p>
        </p:txBody>
      </p:sp>
      <p:sp>
        <p:nvSpPr>
          <p:cNvPr id="3" name="灯片编号占位符 2"/>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2" name="日期占位符 1"/>
          <p:cNvSpPr>
            <a:spLocks noGrp="1"/>
          </p:cNvSpPr>
          <p:nvPr>
            <p:ph type="dt" sz="half" idx="10"/>
          </p:nvPr>
        </p:nvSpPr>
        <p:spPr/>
        <p:txBody>
          <a:bodyPr/>
          <a:lstStyle/>
          <a:p>
            <a:fld id="{C6B45E99-997C-4361-A003-28F5C8A6ED8B}"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zh-CN" altLang="en-US" dirty="0"/>
              <a:t>学以致用</a:t>
            </a:r>
            <a:endParaRPr lang="zh-CN" altLang="en-US" dirty="0"/>
          </a:p>
        </p:txBody>
      </p:sp>
      <p:sp>
        <p:nvSpPr>
          <p:cNvPr id="38915" name="Rectangle 3"/>
          <p:cNvSpPr>
            <a:spLocks noGrp="1" noChangeArrowheads="1"/>
          </p:cNvSpPr>
          <p:nvPr>
            <p:ph type="body" idx="1"/>
          </p:nvPr>
        </p:nvSpPr>
        <p:spPr>
          <a:xfrm>
            <a:off x="854281" y="1127456"/>
            <a:ext cx="7943850" cy="3427028"/>
          </a:xfrm>
        </p:spPr>
        <p:txBody>
          <a:bodyPr>
            <a:normAutofit/>
          </a:bodyPr>
          <a:lstStyle/>
          <a:p>
            <a:pPr algn="just">
              <a:lnSpc>
                <a:spcPct val="120000"/>
              </a:lnSpc>
              <a:spcBef>
                <a:spcPts val="1200"/>
              </a:spcBef>
              <a:spcAft>
                <a:spcPts val="0"/>
              </a:spcAft>
            </a:pPr>
            <a:r>
              <a:rPr lang="zh-CN" altLang="en-US" sz="2400" dirty="0">
                <a:latin typeface="+mj-ea"/>
                <a:ea typeface="+mj-ea"/>
              </a:rPr>
              <a:t>张扬是某大学软件技术专业的学生，在寒假中，他为他的邻居开发了一个小型的超市管理系统。他的邻居从来不懂软件开发，也不知道超市管理系统应该是什么样的。</a:t>
            </a:r>
            <a:endParaRPr lang="en-US" altLang="zh-CN" sz="2400" dirty="0">
              <a:latin typeface="+mj-ea"/>
              <a:ea typeface="+mj-ea"/>
            </a:endParaRPr>
          </a:p>
          <a:p>
            <a:pPr algn="just">
              <a:lnSpc>
                <a:spcPct val="120000"/>
              </a:lnSpc>
              <a:spcBef>
                <a:spcPts val="1200"/>
              </a:spcBef>
              <a:spcAft>
                <a:spcPts val="0"/>
              </a:spcAft>
            </a:pPr>
            <a:r>
              <a:rPr lang="zh-CN" altLang="en-US" sz="2400" dirty="0">
                <a:latin typeface="+mj-ea"/>
                <a:ea typeface="+mj-ea"/>
              </a:rPr>
              <a:t>那么你建议张扬采用哪种过程模型呢 ？</a:t>
            </a:r>
            <a:endParaRPr lang="zh-CN" altLang="en-US" sz="2400" dirty="0">
              <a:latin typeface="+mj-ea"/>
              <a:ea typeface="+mj-ea"/>
            </a:endParaRPr>
          </a:p>
        </p:txBody>
      </p:sp>
      <p:sp>
        <p:nvSpPr>
          <p:cNvPr id="3" name="灯片编号占位符 2"/>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2" name="日期占位符 1"/>
          <p:cNvSpPr>
            <a:spLocks noGrp="1"/>
          </p:cNvSpPr>
          <p:nvPr>
            <p:ph type="dt" sz="half" idx="10"/>
          </p:nvPr>
        </p:nvSpPr>
        <p:spPr/>
        <p:txBody>
          <a:bodyPr/>
          <a:lstStyle/>
          <a:p>
            <a:fld id="{728ED1BB-D69E-472F-8B79-791BB6853E2D}"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8" name="文本框 7"/>
          <p:cNvSpPr txBox="1"/>
          <p:nvPr>
            <p:custDataLst>
              <p:tags r:id="rId1"/>
            </p:custDataLst>
          </p:nvPr>
        </p:nvSpPr>
        <p:spPr>
          <a:xfrm>
            <a:off x="914400" y="635000"/>
            <a:ext cx="7315200" cy="1607185"/>
          </a:xfrm>
          <a:prstGeom prst="rect">
            <a:avLst/>
          </a:prstGeom>
          <a:noFill/>
        </p:spPr>
        <p:txBody>
          <a:bodyPr wrap="square" rtlCol="0" anchor="ctr" anchorCtr="0">
            <a:noAutofit/>
          </a:bodyPr>
          <a:lstStyle/>
          <a:p>
            <a:pPr lvl="0" algn="l">
              <a:buNone/>
            </a:pPr>
            <a:r>
              <a:rPr lang="zh-CN" altLang="zh-CN" sz="2600" dirty="0">
                <a:sym typeface="+mn-ea"/>
              </a:rPr>
              <a:t>以下关于系统原型的叙述中，不正确的是（ ）</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2"/>
            </p:custDataLst>
          </p:nvPr>
        </p:nvSpPr>
        <p:spPr>
          <a:xfrm>
            <a:off x="1828800" y="2089150"/>
            <a:ext cx="6694170" cy="481965"/>
          </a:xfrm>
          <a:prstGeom prst="rect">
            <a:avLst/>
          </a:prstGeom>
          <a:noFill/>
        </p:spPr>
        <p:txBody>
          <a:bodyPr wrap="square" rtlCol="0" anchor="ctr" anchorCtr="0">
            <a:noAutofit/>
          </a:bodyPr>
          <a:lstStyle/>
          <a:p>
            <a:pPr lvl="0" algn="l">
              <a:buNone/>
            </a:pPr>
            <a:r>
              <a:rPr lang="zh-CN" altLang="zh-CN" sz="2600" dirty="0">
                <a:sym typeface="+mn-ea"/>
              </a:rPr>
              <a:t>可以帮助导出系统需求并验证需求的有效性</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3"/>
            </p:custDataLst>
          </p:nvPr>
        </p:nvSpPr>
        <p:spPr>
          <a:xfrm>
            <a:off x="1828800" y="2732405"/>
            <a:ext cx="6400800" cy="481965"/>
          </a:xfrm>
          <a:prstGeom prst="rect">
            <a:avLst/>
          </a:prstGeom>
          <a:noFill/>
        </p:spPr>
        <p:txBody>
          <a:bodyPr wrap="square" rtlCol="0" anchor="ctr" anchorCtr="0">
            <a:noAutofit/>
          </a:bodyPr>
          <a:lstStyle/>
          <a:p>
            <a:pPr lvl="0" algn="l">
              <a:buNone/>
            </a:pPr>
            <a:r>
              <a:rPr lang="zh-CN" altLang="zh-CN" sz="2600" dirty="0">
                <a:sym typeface="+mn-ea"/>
              </a:rPr>
              <a:t>可以用来探索特殊的软件解决方案</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1" name="文本框 10"/>
          <p:cNvSpPr txBox="1"/>
          <p:nvPr>
            <p:custDataLst>
              <p:tags r:id="rId4"/>
            </p:custDataLst>
          </p:nvPr>
        </p:nvSpPr>
        <p:spPr>
          <a:xfrm>
            <a:off x="1828800" y="3375025"/>
            <a:ext cx="6400800" cy="481965"/>
          </a:xfrm>
          <a:prstGeom prst="rect">
            <a:avLst/>
          </a:prstGeom>
          <a:noFill/>
        </p:spPr>
        <p:txBody>
          <a:bodyPr wrap="square" rtlCol="0" anchor="ctr" anchorCtr="0">
            <a:noAutofit/>
          </a:bodyPr>
          <a:lstStyle/>
          <a:p>
            <a:pPr lvl="0" algn="l">
              <a:buNone/>
            </a:pPr>
            <a:r>
              <a:rPr lang="zh-CN" altLang="zh-CN" sz="2600" dirty="0">
                <a:sym typeface="+mn-ea"/>
              </a:rPr>
              <a:t>可以用来指导代码优化</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2" name="文本框 11"/>
          <p:cNvSpPr txBox="1"/>
          <p:nvPr>
            <p:custDataLst>
              <p:tags r:id="rId5"/>
            </p:custDataLst>
          </p:nvPr>
        </p:nvSpPr>
        <p:spPr>
          <a:xfrm>
            <a:off x="1828800" y="4018280"/>
            <a:ext cx="6400800" cy="481965"/>
          </a:xfrm>
          <a:prstGeom prst="rect">
            <a:avLst/>
          </a:prstGeom>
          <a:noFill/>
        </p:spPr>
        <p:txBody>
          <a:bodyPr wrap="square" rtlCol="0" anchor="ctr" anchorCtr="0">
            <a:noAutofit/>
          </a:bodyPr>
          <a:lstStyle/>
          <a:p>
            <a:pPr lvl="0" algn="l">
              <a:buNone/>
            </a:pPr>
            <a:r>
              <a:rPr lang="zh-CN" altLang="zh-CN" sz="2600" dirty="0">
                <a:sym typeface="+mn-ea"/>
              </a:rPr>
              <a:t>可以用来支持用户界面设计</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3" name="椭圆 12"/>
          <p:cNvSpPr>
            <a:spLocks noChangeAspect="1"/>
          </p:cNvSpPr>
          <p:nvPr>
            <p:custDataLst>
              <p:tags r:id="rId6"/>
            </p:custDataLst>
          </p:nvPr>
        </p:nvSpPr>
        <p:spPr>
          <a:xfrm>
            <a:off x="1178560" y="2137410"/>
            <a:ext cx="385445" cy="3860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4" name="椭圆 13"/>
          <p:cNvSpPr>
            <a:spLocks noChangeAspect="1"/>
          </p:cNvSpPr>
          <p:nvPr>
            <p:custDataLst>
              <p:tags r:id="rId7"/>
            </p:custDataLst>
          </p:nvPr>
        </p:nvSpPr>
        <p:spPr>
          <a:xfrm>
            <a:off x="1178560" y="2780665"/>
            <a:ext cx="385445" cy="385445"/>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5" name="椭圆 14"/>
          <p:cNvSpPr>
            <a:spLocks noChangeAspect="1"/>
          </p:cNvSpPr>
          <p:nvPr>
            <p:custDataLst>
              <p:tags r:id="rId8"/>
            </p:custDataLst>
          </p:nvPr>
        </p:nvSpPr>
        <p:spPr>
          <a:xfrm>
            <a:off x="1178560" y="3423285"/>
            <a:ext cx="385445" cy="38608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6" name="椭圆 15"/>
          <p:cNvSpPr>
            <a:spLocks noChangeAspect="1"/>
          </p:cNvSpPr>
          <p:nvPr>
            <p:custDataLst>
              <p:tags r:id="rId9"/>
            </p:custDataLst>
          </p:nvPr>
        </p:nvSpPr>
        <p:spPr>
          <a:xfrm>
            <a:off x="1178560" y="4066540"/>
            <a:ext cx="385445" cy="385445"/>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7" name="圆角矩形 16"/>
          <p:cNvSpPr/>
          <p:nvPr>
            <p:custDataLst>
              <p:tags r:id="rId10"/>
            </p:custDataLst>
          </p:nvPr>
        </p:nvSpPr>
        <p:spPr>
          <a:xfrm>
            <a:off x="6686550" y="4660900"/>
            <a:ext cx="1156970"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endParaRPr>
          </a:p>
        </p:txBody>
      </p:sp>
      <p:grpSp>
        <p:nvGrpSpPr>
          <p:cNvPr id="22" name="组合 21"/>
          <p:cNvGrpSpPr/>
          <p:nvPr>
            <p:custDataLst>
              <p:tags r:id="rId11"/>
            </p:custDataLst>
          </p:nvPr>
        </p:nvGrpSpPr>
        <p:grpSpPr>
          <a:xfrm>
            <a:off x="0" y="0"/>
            <a:ext cx="9144000" cy="635000"/>
            <a:chOff x="0" y="0"/>
            <a:chExt cx="14400" cy="1000"/>
          </a:xfrm>
        </p:grpSpPr>
        <p:sp>
          <p:nvSpPr>
            <p:cNvPr id="18" name="TitleBackground"/>
            <p:cNvSpPr/>
            <p:nvPr>
              <p:custDataLst>
                <p:tags r:id="rId12"/>
              </p:custDataLst>
            </p:nvPr>
          </p:nvSpPr>
          <p:spPr>
            <a:xfrm>
              <a:off x="0" y="0"/>
              <a:ext cx="14400" cy="1000"/>
            </a:xfrm>
            <a:prstGeom prst="rect">
              <a:avLst/>
            </a:prstGeom>
            <a:solidFill>
              <a:srgbClr val="F6F7F8"/>
            </a:solidFill>
            <a:ln w="15875" cap="flat" cmpd="sng" algn="ctr">
              <a:noFill/>
              <a:prstDash val="solid"/>
            </a:ln>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ColorBlock"/>
            <p:cNvSpPr/>
            <p:nvPr>
              <p:custDataLst>
                <p:tags r:id="rId13"/>
              </p:custDataLst>
            </p:nvPr>
          </p:nvSpPr>
          <p:spPr>
            <a:xfrm>
              <a:off x="0" y="0"/>
              <a:ext cx="300" cy="1000"/>
            </a:xfrm>
            <a:prstGeom prst="rect">
              <a:avLst/>
            </a:prstGeom>
            <a:solidFill>
              <a:srgbClr val="639EF4"/>
            </a:solidFill>
            <a:ln w="15875" cap="flat" cmpd="sng" algn="ctr">
              <a:noFill/>
              <a:prstDash val="solid"/>
            </a:ln>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ypeText"/>
            <p:cNvSpPr txBox="1"/>
            <p:nvPr>
              <p:custDataLst>
                <p:tags r:id="rId14"/>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21" name="TipText"/>
            <p:cNvSpPr txBox="1"/>
            <p:nvPr>
              <p:custDataLst>
                <p:tags r:id="rId15"/>
              </p:custDataLst>
            </p:nvPr>
          </p:nvSpPr>
          <p:spPr>
            <a:xfrm>
              <a:off x="2248"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endPar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7" name="图片 6" descr="tmp91B3"/>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Tree>
    <p:custDataLst>
      <p:tags r:id="rId18"/>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V</a:t>
            </a:r>
            <a:r>
              <a:rPr lang="zh-CN" altLang="en-US">
                <a:sym typeface="+mn-ea"/>
              </a:rPr>
              <a:t>模型</a:t>
            </a:r>
            <a:endParaRPr lang="zh-CN" altLang="en-US">
              <a:sym typeface="+mn-ea"/>
            </a:endParaRPr>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7" name="文本框 6"/>
          <p:cNvSpPr txBox="1"/>
          <p:nvPr/>
        </p:nvSpPr>
        <p:spPr>
          <a:xfrm>
            <a:off x="170180" y="938530"/>
            <a:ext cx="3388360" cy="3663950"/>
          </a:xfrm>
          <a:prstGeom prst="rect">
            <a:avLst/>
          </a:prstGeom>
          <a:noFill/>
        </p:spPr>
        <p:txBody>
          <a:bodyPr wrap="square" rtlCol="0">
            <a:noAutofit/>
          </a:bodyPr>
          <a:p>
            <a:pPr marL="285750" indent="-285750" algn="l">
              <a:buFont typeface="Wingdings" panose="05000000000000000000" charset="0"/>
              <a:buChar char="l"/>
            </a:pPr>
            <a:r>
              <a:rPr lang="zh-CN" altLang="en-US"/>
              <a:t>瀑布模型的一个变体，在每个环节中都强调了测试，同时又在每个环节都做到了对实现者和测试者的分离。由于测试者相对于实现者的关系是监督、考察和评审，因此测试者相当于不断的做回顾和确认。</a:t>
            </a:r>
            <a:endParaRPr lang="zh-CN" altLang="en-US"/>
          </a:p>
          <a:p>
            <a:pPr marL="285750" lvl="1" indent="-285750">
              <a:buFont typeface="Wingdings" panose="05000000000000000000" charset="0"/>
              <a:buChar char="l"/>
            </a:pPr>
            <a:r>
              <a:rPr lang="zh-CN" altLang="en-US">
                <a:sym typeface="+mn-ea"/>
              </a:rPr>
              <a:t>质量保证活动和项目同时展开，如：项目启动，软件测试的工作也就启动，避免了瀑布模型中代码完成后才进行测试的弊端。</a:t>
            </a:r>
            <a:endParaRPr lang="zh-CN" altLang="en-US">
              <a:sym typeface="+mn-ea"/>
            </a:endParaRPr>
          </a:p>
          <a:p>
            <a:endParaRPr lang="zh-CN" altLang="en-US"/>
          </a:p>
        </p:txBody>
      </p:sp>
      <p:pic>
        <p:nvPicPr>
          <p:cNvPr id="9" name="图片 8" descr="图片1"/>
          <p:cNvPicPr>
            <a:picLocks noChangeAspect="1"/>
          </p:cNvPicPr>
          <p:nvPr/>
        </p:nvPicPr>
        <p:blipFill>
          <a:blip r:embed="rId1"/>
          <a:stretch>
            <a:fillRect/>
          </a:stretch>
        </p:blipFill>
        <p:spPr>
          <a:xfrm>
            <a:off x="3745230" y="772160"/>
            <a:ext cx="5113020" cy="3720465"/>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6"/>
          <p:cNvSpPr>
            <a:spLocks noChangeArrowheads="1"/>
          </p:cNvSpPr>
          <p:nvPr/>
        </p:nvSpPr>
        <p:spPr bwMode="auto">
          <a:xfrm>
            <a:off x="487861" y="1406525"/>
            <a:ext cx="3873951" cy="3164969"/>
          </a:xfrm>
          <a:prstGeom prst="rect">
            <a:avLst/>
          </a:prstGeom>
          <a:noFill/>
          <a:ln w="9525">
            <a:noFill/>
            <a:miter lim="800000"/>
          </a:ln>
        </p:spPr>
        <p:txBody>
          <a:bodyPr wrap="square">
            <a:spAutoFit/>
          </a:bodyPr>
          <a:lstStyle/>
          <a:p>
            <a:r>
              <a:rPr lang="zh-CN" altLang="en-US" sz="2800" b="1" dirty="0">
                <a:solidFill>
                  <a:srgbClr val="FF0000"/>
                </a:solidFill>
                <a:latin typeface="+mj-ea"/>
                <a:ea typeface="+mj-ea"/>
              </a:rPr>
              <a:t>增量模型</a:t>
            </a:r>
            <a:r>
              <a:rPr lang="en-US" altLang="zh-CN" sz="2800" b="1" dirty="0">
                <a:solidFill>
                  <a:srgbClr val="FF0000"/>
                </a:solidFill>
                <a:latin typeface="+mj-ea"/>
                <a:ea typeface="+mj-ea"/>
              </a:rPr>
              <a:t>(Incremental  Model)</a:t>
            </a:r>
            <a:endParaRPr lang="en-US" altLang="zh-CN" sz="2800" b="1" dirty="0">
              <a:solidFill>
                <a:srgbClr val="FF0000"/>
              </a:solidFill>
              <a:latin typeface="+mj-ea"/>
              <a:ea typeface="+mj-ea"/>
            </a:endParaRPr>
          </a:p>
          <a:p>
            <a:pPr>
              <a:spcBef>
                <a:spcPts val="1350"/>
              </a:spcBef>
            </a:pPr>
            <a:r>
              <a:rPr lang="zh-CN" altLang="en-US" sz="2000" b="1" dirty="0">
                <a:latin typeface="+mj-ea"/>
                <a:ea typeface="+mj-ea"/>
              </a:rPr>
              <a:t>        </a:t>
            </a:r>
            <a:r>
              <a:rPr lang="zh-CN" altLang="en-US" sz="2200" dirty="0">
                <a:latin typeface="+mj-ea"/>
                <a:ea typeface="+mj-ea"/>
              </a:rPr>
              <a:t>是渐进地开发逐步完善的软件版本的模型。</a:t>
            </a:r>
            <a:r>
              <a:rPr lang="zh-CN" altLang="zh-CN" sz="2200" dirty="0">
                <a:latin typeface="+mj-ea"/>
                <a:ea typeface="+mj-ea"/>
              </a:rPr>
              <a:t>把待开发的软件系统模块化，将每个模块作为一个增量组件，从而分批次地分析、设计、编码和测试这些增量组件。</a:t>
            </a:r>
            <a:endParaRPr lang="en-US" altLang="zh-CN" sz="2200" dirty="0">
              <a:latin typeface="+mj-ea"/>
              <a:ea typeface="+mj-ea"/>
            </a:endParaRPr>
          </a:p>
        </p:txBody>
      </p:sp>
      <p:grpSp>
        <p:nvGrpSpPr>
          <p:cNvPr id="3" name="组合 2"/>
          <p:cNvGrpSpPr/>
          <p:nvPr/>
        </p:nvGrpSpPr>
        <p:grpSpPr>
          <a:xfrm>
            <a:off x="3682185" y="998105"/>
            <a:ext cx="5274078" cy="3200400"/>
            <a:chOff x="521221" y="2120900"/>
            <a:chExt cx="7032104" cy="4267200"/>
          </a:xfrm>
        </p:grpSpPr>
        <p:sp>
          <p:nvSpPr>
            <p:cNvPr id="69637" name="Rectangle 7"/>
            <p:cNvSpPr>
              <a:spLocks noChangeArrowheads="1"/>
            </p:cNvSpPr>
            <p:nvPr/>
          </p:nvSpPr>
          <p:spPr bwMode="auto">
            <a:xfrm>
              <a:off x="521221" y="2120900"/>
              <a:ext cx="1295400" cy="304800"/>
            </a:xfrm>
            <a:prstGeom prst="rect">
              <a:avLst/>
            </a:prstGeom>
            <a:solidFill>
              <a:srgbClr val="CC00FF"/>
            </a:solidFill>
            <a:ln w="9525">
              <a:noFill/>
              <a:miter lim="800000"/>
            </a:ln>
          </p:spPr>
          <p:txBody>
            <a:bodyPr wrap="none" anchor="ctr"/>
            <a:lstStyle/>
            <a:p>
              <a:pPr algn="ctr"/>
              <a:r>
                <a:rPr lang="zh-CN" altLang="en-US" sz="1600" b="1" dirty="0">
                  <a:solidFill>
                    <a:schemeClr val="bg1"/>
                  </a:solidFill>
                  <a:latin typeface="Arial" panose="020B0604020202020204" pitchFamily="34" charset="0"/>
                </a:rPr>
                <a:t>需求分析</a:t>
              </a:r>
              <a:endParaRPr lang="zh-CN" altLang="en-US" sz="1600" b="1" dirty="0">
                <a:solidFill>
                  <a:schemeClr val="bg1"/>
                </a:solidFill>
                <a:latin typeface="Arial" panose="020B0604020202020204" pitchFamily="34" charset="0"/>
              </a:endParaRPr>
            </a:p>
          </p:txBody>
        </p:sp>
        <p:sp>
          <p:nvSpPr>
            <p:cNvPr id="69638" name="Rectangle 8"/>
            <p:cNvSpPr>
              <a:spLocks noChangeArrowheads="1"/>
            </p:cNvSpPr>
            <p:nvPr/>
          </p:nvSpPr>
          <p:spPr bwMode="auto">
            <a:xfrm>
              <a:off x="521221" y="2425700"/>
              <a:ext cx="1295400" cy="304800"/>
            </a:xfrm>
            <a:prstGeom prst="rect">
              <a:avLst/>
            </a:prstGeom>
            <a:solidFill>
              <a:schemeClr val="accent1"/>
            </a:solidFill>
            <a:ln w="9525">
              <a:noFill/>
              <a:miter lim="800000"/>
            </a:ln>
          </p:spPr>
          <p:txBody>
            <a:bodyPr wrap="none" anchor="ctr"/>
            <a:lstStyle/>
            <a:p>
              <a:pPr algn="ctr"/>
              <a:r>
                <a:rPr lang="zh-CN" altLang="en-US" sz="1600" b="1" dirty="0">
                  <a:latin typeface="Arial" panose="020B0604020202020204" pitchFamily="34" charset="0"/>
                </a:rPr>
                <a:t>验证</a:t>
              </a:r>
              <a:endParaRPr lang="zh-CN" altLang="en-US" sz="1600" b="1" dirty="0">
                <a:latin typeface="Arial" panose="020B0604020202020204" pitchFamily="34" charset="0"/>
              </a:endParaRPr>
            </a:p>
          </p:txBody>
        </p:sp>
        <p:sp>
          <p:nvSpPr>
            <p:cNvPr id="69639" name="Rectangle 9"/>
            <p:cNvSpPr>
              <a:spLocks noChangeArrowheads="1"/>
            </p:cNvSpPr>
            <p:nvPr/>
          </p:nvSpPr>
          <p:spPr bwMode="auto">
            <a:xfrm>
              <a:off x="2219325" y="2882900"/>
              <a:ext cx="1219200" cy="304800"/>
            </a:xfrm>
            <a:prstGeom prst="rect">
              <a:avLst/>
            </a:prstGeom>
            <a:solidFill>
              <a:srgbClr val="CC00FF"/>
            </a:solidFill>
            <a:ln w="9525">
              <a:noFill/>
              <a:miter lim="800000"/>
            </a:ln>
          </p:spPr>
          <p:txBody>
            <a:bodyPr wrap="none" anchor="ctr"/>
            <a:lstStyle/>
            <a:p>
              <a:pPr algn="ctr"/>
              <a:r>
                <a:rPr lang="zh-CN" altLang="en-US" sz="1600" b="1">
                  <a:solidFill>
                    <a:schemeClr val="bg1"/>
                  </a:solidFill>
                  <a:latin typeface="Arial" panose="020B0604020202020204" pitchFamily="34" charset="0"/>
                </a:rPr>
                <a:t>规格说明</a:t>
              </a:r>
              <a:endParaRPr lang="zh-CN" altLang="en-US" sz="1600" b="1">
                <a:solidFill>
                  <a:schemeClr val="bg1"/>
                </a:solidFill>
                <a:latin typeface="Arial" panose="020B0604020202020204" pitchFamily="34" charset="0"/>
              </a:endParaRPr>
            </a:p>
          </p:txBody>
        </p:sp>
        <p:sp>
          <p:nvSpPr>
            <p:cNvPr id="69640" name="Rectangle 10"/>
            <p:cNvSpPr>
              <a:spLocks noChangeArrowheads="1"/>
            </p:cNvSpPr>
            <p:nvPr/>
          </p:nvSpPr>
          <p:spPr bwMode="auto">
            <a:xfrm>
              <a:off x="2219325" y="3187700"/>
              <a:ext cx="1219200" cy="304800"/>
            </a:xfrm>
            <a:prstGeom prst="rect">
              <a:avLst/>
            </a:prstGeom>
            <a:solidFill>
              <a:schemeClr val="accent1"/>
            </a:solidFill>
            <a:ln w="9525">
              <a:noFill/>
              <a:miter lim="800000"/>
            </a:ln>
          </p:spPr>
          <p:txBody>
            <a:bodyPr wrap="none" anchor="ctr"/>
            <a:lstStyle/>
            <a:p>
              <a:pPr algn="ctr"/>
              <a:r>
                <a:rPr lang="zh-CN" altLang="en-US" sz="1600" b="1">
                  <a:latin typeface="Arial" panose="020B0604020202020204" pitchFamily="34" charset="0"/>
                </a:rPr>
                <a:t>验证</a:t>
              </a:r>
              <a:endParaRPr lang="zh-CN" altLang="en-US" sz="1600" b="1">
                <a:latin typeface="Arial" panose="020B0604020202020204" pitchFamily="34" charset="0"/>
              </a:endParaRPr>
            </a:p>
          </p:txBody>
        </p:sp>
        <p:sp>
          <p:nvSpPr>
            <p:cNvPr id="69641" name="Rectangle 11"/>
            <p:cNvSpPr>
              <a:spLocks noChangeArrowheads="1"/>
            </p:cNvSpPr>
            <p:nvPr/>
          </p:nvSpPr>
          <p:spPr bwMode="auto">
            <a:xfrm>
              <a:off x="2676525" y="3873500"/>
              <a:ext cx="1143000" cy="304800"/>
            </a:xfrm>
            <a:prstGeom prst="rect">
              <a:avLst/>
            </a:prstGeom>
            <a:solidFill>
              <a:srgbClr val="CC00FF"/>
            </a:solidFill>
            <a:ln w="9525">
              <a:noFill/>
              <a:miter lim="800000"/>
            </a:ln>
          </p:spPr>
          <p:txBody>
            <a:bodyPr wrap="none" anchor="ctr"/>
            <a:lstStyle/>
            <a:p>
              <a:pPr algn="ctr"/>
              <a:r>
                <a:rPr lang="zh-CN" altLang="en-US" sz="1600" b="1">
                  <a:solidFill>
                    <a:schemeClr val="bg1"/>
                  </a:solidFill>
                  <a:latin typeface="Arial" panose="020B0604020202020204" pitchFamily="34" charset="0"/>
                </a:rPr>
                <a:t>设计</a:t>
              </a:r>
              <a:endParaRPr lang="zh-CN" altLang="en-US" sz="1600" b="1">
                <a:solidFill>
                  <a:schemeClr val="bg1"/>
                </a:solidFill>
                <a:latin typeface="Arial" panose="020B0604020202020204" pitchFamily="34" charset="0"/>
              </a:endParaRPr>
            </a:p>
          </p:txBody>
        </p:sp>
        <p:sp>
          <p:nvSpPr>
            <p:cNvPr id="69642" name="Rectangle 12"/>
            <p:cNvSpPr>
              <a:spLocks noChangeArrowheads="1"/>
            </p:cNvSpPr>
            <p:nvPr/>
          </p:nvSpPr>
          <p:spPr bwMode="auto">
            <a:xfrm>
              <a:off x="2676525" y="4178300"/>
              <a:ext cx="1143000" cy="304800"/>
            </a:xfrm>
            <a:prstGeom prst="rect">
              <a:avLst/>
            </a:prstGeom>
            <a:solidFill>
              <a:schemeClr val="accent1"/>
            </a:solidFill>
            <a:ln w="9525">
              <a:noFill/>
              <a:miter lim="800000"/>
            </a:ln>
          </p:spPr>
          <p:txBody>
            <a:bodyPr wrap="none" anchor="ctr"/>
            <a:lstStyle/>
            <a:p>
              <a:pPr algn="ctr"/>
              <a:r>
                <a:rPr lang="zh-CN" altLang="en-US" sz="1600" b="1">
                  <a:latin typeface="Arial" panose="020B0604020202020204" pitchFamily="34" charset="0"/>
                </a:rPr>
                <a:t>验证</a:t>
              </a:r>
              <a:endParaRPr lang="zh-CN" altLang="en-US" sz="1600" b="1">
                <a:latin typeface="Arial" panose="020B0604020202020204" pitchFamily="34" charset="0"/>
              </a:endParaRPr>
            </a:p>
          </p:txBody>
        </p:sp>
        <p:sp>
          <p:nvSpPr>
            <p:cNvPr id="69643" name="Rectangle 13"/>
            <p:cNvSpPr>
              <a:spLocks noChangeArrowheads="1"/>
            </p:cNvSpPr>
            <p:nvPr/>
          </p:nvSpPr>
          <p:spPr bwMode="auto">
            <a:xfrm>
              <a:off x="6257925" y="6083300"/>
              <a:ext cx="1295400" cy="304800"/>
            </a:xfrm>
            <a:prstGeom prst="rect">
              <a:avLst/>
            </a:prstGeom>
            <a:solidFill>
              <a:srgbClr val="CC00FF"/>
            </a:solidFill>
            <a:ln w="9525">
              <a:noFill/>
              <a:miter lim="800000"/>
            </a:ln>
          </p:spPr>
          <p:txBody>
            <a:bodyPr wrap="none" anchor="ctr"/>
            <a:lstStyle/>
            <a:p>
              <a:pPr algn="ctr"/>
              <a:r>
                <a:rPr lang="zh-CN" altLang="en-US" sz="1600" b="1">
                  <a:solidFill>
                    <a:schemeClr val="bg1"/>
                  </a:solidFill>
                  <a:latin typeface="Arial" panose="020B0604020202020204" pitchFamily="34" charset="0"/>
                </a:rPr>
                <a:t>维护</a:t>
              </a:r>
              <a:endParaRPr lang="zh-CN" altLang="en-US" sz="1600" b="1">
                <a:solidFill>
                  <a:schemeClr val="bg1"/>
                </a:solidFill>
                <a:latin typeface="Arial" panose="020B0604020202020204" pitchFamily="34" charset="0"/>
              </a:endParaRPr>
            </a:p>
          </p:txBody>
        </p:sp>
        <p:sp>
          <p:nvSpPr>
            <p:cNvPr id="69645" name="Line 15"/>
            <p:cNvSpPr>
              <a:spLocks noChangeShapeType="1"/>
            </p:cNvSpPr>
            <p:nvPr/>
          </p:nvSpPr>
          <p:spPr bwMode="auto">
            <a:xfrm>
              <a:off x="3133725" y="3492500"/>
              <a:ext cx="0" cy="381000"/>
            </a:xfrm>
            <a:prstGeom prst="line">
              <a:avLst/>
            </a:prstGeom>
            <a:noFill/>
            <a:ln w="9525">
              <a:solidFill>
                <a:schemeClr val="tx1"/>
              </a:solidFill>
              <a:round/>
              <a:tailEnd type="triangle" w="med" len="med"/>
            </a:ln>
          </p:spPr>
          <p:txBody>
            <a:bodyPr/>
            <a:lstStyle/>
            <a:p>
              <a:pPr algn="ctr"/>
              <a:endParaRPr lang="zh-CN" altLang="en-US" sz="1600"/>
            </a:p>
          </p:txBody>
        </p:sp>
        <p:sp>
          <p:nvSpPr>
            <p:cNvPr id="69646" name="Rectangle 16"/>
            <p:cNvSpPr>
              <a:spLocks noChangeArrowheads="1"/>
            </p:cNvSpPr>
            <p:nvPr/>
          </p:nvSpPr>
          <p:spPr bwMode="auto">
            <a:xfrm>
              <a:off x="4048125" y="4483100"/>
              <a:ext cx="2133600" cy="1219200"/>
            </a:xfrm>
            <a:prstGeom prst="rect">
              <a:avLst/>
            </a:prstGeom>
            <a:solidFill>
              <a:schemeClr val="accent1"/>
            </a:solidFill>
            <a:ln w="9525">
              <a:noFill/>
              <a:miter lim="800000"/>
            </a:ln>
          </p:spPr>
          <p:txBody>
            <a:bodyPr wrap="none" anchor="ctr"/>
            <a:lstStyle/>
            <a:p>
              <a:pPr algn="ctr"/>
              <a:endParaRPr lang="zh-CN" altLang="en-US" sz="1600" b="1">
                <a:latin typeface="Arial" panose="020B0604020202020204" pitchFamily="34" charset="0"/>
              </a:endParaRPr>
            </a:p>
          </p:txBody>
        </p:sp>
        <p:sp>
          <p:nvSpPr>
            <p:cNvPr id="69647" name="Line 17"/>
            <p:cNvSpPr>
              <a:spLocks noChangeShapeType="1"/>
            </p:cNvSpPr>
            <p:nvPr/>
          </p:nvSpPr>
          <p:spPr bwMode="auto">
            <a:xfrm>
              <a:off x="3514725" y="4483100"/>
              <a:ext cx="0" cy="533400"/>
            </a:xfrm>
            <a:prstGeom prst="line">
              <a:avLst/>
            </a:prstGeom>
            <a:noFill/>
            <a:ln w="9525">
              <a:solidFill>
                <a:schemeClr val="tx1"/>
              </a:solidFill>
              <a:round/>
            </a:ln>
          </p:spPr>
          <p:txBody>
            <a:bodyPr/>
            <a:lstStyle/>
            <a:p>
              <a:pPr algn="ctr"/>
              <a:endParaRPr lang="zh-CN" altLang="en-US" sz="1600"/>
            </a:p>
          </p:txBody>
        </p:sp>
        <p:sp>
          <p:nvSpPr>
            <p:cNvPr id="69648" name="Line 18"/>
            <p:cNvSpPr>
              <a:spLocks noChangeShapeType="1"/>
            </p:cNvSpPr>
            <p:nvPr/>
          </p:nvSpPr>
          <p:spPr bwMode="auto">
            <a:xfrm>
              <a:off x="3514725" y="5016500"/>
              <a:ext cx="533400" cy="0"/>
            </a:xfrm>
            <a:prstGeom prst="line">
              <a:avLst/>
            </a:prstGeom>
            <a:noFill/>
            <a:ln w="9525">
              <a:solidFill>
                <a:schemeClr val="tx1"/>
              </a:solidFill>
              <a:round/>
              <a:tailEnd type="triangle" w="med" len="med"/>
            </a:ln>
          </p:spPr>
          <p:txBody>
            <a:bodyPr/>
            <a:lstStyle/>
            <a:p>
              <a:pPr algn="ctr"/>
              <a:endParaRPr lang="zh-CN" altLang="en-US" sz="1600"/>
            </a:p>
          </p:txBody>
        </p:sp>
        <p:sp>
          <p:nvSpPr>
            <p:cNvPr id="69649" name="Line 19"/>
            <p:cNvSpPr>
              <a:spLocks noChangeShapeType="1"/>
            </p:cNvSpPr>
            <p:nvPr/>
          </p:nvSpPr>
          <p:spPr bwMode="auto">
            <a:xfrm>
              <a:off x="5038725" y="5702300"/>
              <a:ext cx="0" cy="533400"/>
            </a:xfrm>
            <a:prstGeom prst="line">
              <a:avLst/>
            </a:prstGeom>
            <a:noFill/>
            <a:ln w="9525">
              <a:solidFill>
                <a:schemeClr val="tx1"/>
              </a:solidFill>
              <a:round/>
            </a:ln>
          </p:spPr>
          <p:txBody>
            <a:bodyPr/>
            <a:lstStyle/>
            <a:p>
              <a:pPr algn="ctr"/>
              <a:endParaRPr lang="zh-CN" altLang="en-US" sz="1600"/>
            </a:p>
          </p:txBody>
        </p:sp>
        <p:sp>
          <p:nvSpPr>
            <p:cNvPr id="69650" name="Line 20"/>
            <p:cNvSpPr>
              <a:spLocks noChangeShapeType="1"/>
            </p:cNvSpPr>
            <p:nvPr/>
          </p:nvSpPr>
          <p:spPr bwMode="auto">
            <a:xfrm>
              <a:off x="5038725" y="6235700"/>
              <a:ext cx="1219200" cy="0"/>
            </a:xfrm>
            <a:prstGeom prst="line">
              <a:avLst/>
            </a:prstGeom>
            <a:noFill/>
            <a:ln w="9525">
              <a:solidFill>
                <a:schemeClr val="tx1"/>
              </a:solidFill>
              <a:round/>
              <a:tailEnd type="triangle" w="med" len="med"/>
            </a:ln>
          </p:spPr>
          <p:txBody>
            <a:bodyPr/>
            <a:lstStyle/>
            <a:p>
              <a:pPr algn="ctr"/>
              <a:endParaRPr lang="zh-CN" altLang="en-US" sz="1600"/>
            </a:p>
          </p:txBody>
        </p:sp>
        <p:sp>
          <p:nvSpPr>
            <p:cNvPr id="69651" name="Line 21"/>
            <p:cNvSpPr>
              <a:spLocks noChangeShapeType="1"/>
            </p:cNvSpPr>
            <p:nvPr/>
          </p:nvSpPr>
          <p:spPr bwMode="auto">
            <a:xfrm>
              <a:off x="5800725" y="5702300"/>
              <a:ext cx="0" cy="152400"/>
            </a:xfrm>
            <a:prstGeom prst="line">
              <a:avLst/>
            </a:prstGeom>
            <a:noFill/>
            <a:ln w="9525">
              <a:solidFill>
                <a:schemeClr val="tx1"/>
              </a:solidFill>
              <a:round/>
            </a:ln>
          </p:spPr>
          <p:txBody>
            <a:bodyPr/>
            <a:lstStyle/>
            <a:p>
              <a:pPr algn="ctr"/>
              <a:endParaRPr lang="zh-CN" altLang="en-US" sz="1600"/>
            </a:p>
          </p:txBody>
        </p:sp>
        <p:sp>
          <p:nvSpPr>
            <p:cNvPr id="69652" name="Line 22"/>
            <p:cNvSpPr>
              <a:spLocks noChangeShapeType="1"/>
            </p:cNvSpPr>
            <p:nvPr/>
          </p:nvSpPr>
          <p:spPr bwMode="auto">
            <a:xfrm>
              <a:off x="5800725" y="5854700"/>
              <a:ext cx="685800" cy="0"/>
            </a:xfrm>
            <a:prstGeom prst="line">
              <a:avLst/>
            </a:prstGeom>
            <a:noFill/>
            <a:ln w="9525">
              <a:solidFill>
                <a:schemeClr val="tx1"/>
              </a:solidFill>
              <a:round/>
            </a:ln>
          </p:spPr>
          <p:txBody>
            <a:bodyPr/>
            <a:lstStyle/>
            <a:p>
              <a:pPr algn="ctr"/>
              <a:endParaRPr lang="zh-CN" altLang="en-US" sz="1600"/>
            </a:p>
          </p:txBody>
        </p:sp>
        <p:sp>
          <p:nvSpPr>
            <p:cNvPr id="69653" name="Line 23"/>
            <p:cNvSpPr>
              <a:spLocks noChangeShapeType="1"/>
            </p:cNvSpPr>
            <p:nvPr/>
          </p:nvSpPr>
          <p:spPr bwMode="auto">
            <a:xfrm flipV="1">
              <a:off x="6486525" y="5549900"/>
              <a:ext cx="0" cy="304800"/>
            </a:xfrm>
            <a:prstGeom prst="line">
              <a:avLst/>
            </a:prstGeom>
            <a:noFill/>
            <a:ln w="9525">
              <a:solidFill>
                <a:schemeClr val="tx1"/>
              </a:solidFill>
              <a:round/>
            </a:ln>
          </p:spPr>
          <p:txBody>
            <a:bodyPr/>
            <a:lstStyle/>
            <a:p>
              <a:pPr algn="ctr"/>
              <a:endParaRPr lang="zh-CN" altLang="en-US" sz="1600"/>
            </a:p>
          </p:txBody>
        </p:sp>
        <p:sp>
          <p:nvSpPr>
            <p:cNvPr id="69654" name="Line 24"/>
            <p:cNvSpPr>
              <a:spLocks noChangeShapeType="1"/>
            </p:cNvSpPr>
            <p:nvPr/>
          </p:nvSpPr>
          <p:spPr bwMode="auto">
            <a:xfrm flipH="1">
              <a:off x="6181725" y="5549900"/>
              <a:ext cx="304800" cy="0"/>
            </a:xfrm>
            <a:prstGeom prst="line">
              <a:avLst/>
            </a:prstGeom>
            <a:noFill/>
            <a:ln w="9525">
              <a:solidFill>
                <a:schemeClr val="tx1"/>
              </a:solidFill>
              <a:round/>
              <a:tailEnd type="triangle" w="med" len="med"/>
            </a:ln>
          </p:spPr>
          <p:txBody>
            <a:bodyPr/>
            <a:lstStyle/>
            <a:p>
              <a:pPr algn="ctr"/>
              <a:endParaRPr lang="zh-CN" altLang="en-US" sz="1600"/>
            </a:p>
          </p:txBody>
        </p:sp>
        <p:sp>
          <p:nvSpPr>
            <p:cNvPr id="69655" name="Line 25"/>
            <p:cNvSpPr>
              <a:spLocks noChangeShapeType="1"/>
            </p:cNvSpPr>
            <p:nvPr/>
          </p:nvSpPr>
          <p:spPr bwMode="auto">
            <a:xfrm flipV="1">
              <a:off x="7096125" y="5168900"/>
              <a:ext cx="0" cy="914400"/>
            </a:xfrm>
            <a:prstGeom prst="line">
              <a:avLst/>
            </a:prstGeom>
            <a:noFill/>
            <a:ln w="9525">
              <a:solidFill>
                <a:schemeClr val="tx1"/>
              </a:solidFill>
              <a:prstDash val="dash"/>
              <a:round/>
            </a:ln>
          </p:spPr>
          <p:txBody>
            <a:bodyPr/>
            <a:lstStyle/>
            <a:p>
              <a:pPr algn="ctr"/>
              <a:endParaRPr lang="zh-CN" altLang="en-US" sz="1600"/>
            </a:p>
          </p:txBody>
        </p:sp>
        <p:sp>
          <p:nvSpPr>
            <p:cNvPr id="69656" name="Line 26"/>
            <p:cNvSpPr>
              <a:spLocks noChangeShapeType="1"/>
            </p:cNvSpPr>
            <p:nvPr/>
          </p:nvSpPr>
          <p:spPr bwMode="auto">
            <a:xfrm flipH="1">
              <a:off x="6181725" y="5168900"/>
              <a:ext cx="914400" cy="0"/>
            </a:xfrm>
            <a:prstGeom prst="line">
              <a:avLst/>
            </a:prstGeom>
            <a:noFill/>
            <a:ln w="9525">
              <a:solidFill>
                <a:schemeClr val="tx1"/>
              </a:solidFill>
              <a:round/>
              <a:tailEnd type="triangle" w="med" len="med"/>
            </a:ln>
          </p:spPr>
          <p:txBody>
            <a:bodyPr/>
            <a:lstStyle/>
            <a:p>
              <a:pPr algn="ctr"/>
              <a:endParaRPr lang="zh-CN" altLang="en-US" sz="1600"/>
            </a:p>
          </p:txBody>
        </p:sp>
        <p:sp>
          <p:nvSpPr>
            <p:cNvPr id="69657" name="Text Box 27"/>
            <p:cNvSpPr txBox="1">
              <a:spLocks noChangeArrowheads="1"/>
            </p:cNvSpPr>
            <p:nvPr/>
          </p:nvSpPr>
          <p:spPr bwMode="auto">
            <a:xfrm>
              <a:off x="4048125" y="4483100"/>
              <a:ext cx="2133600" cy="1764585"/>
            </a:xfrm>
            <a:prstGeom prst="rect">
              <a:avLst/>
            </a:prstGeom>
            <a:solidFill>
              <a:schemeClr val="accent1"/>
            </a:solidFill>
            <a:ln w="9525">
              <a:noFill/>
              <a:miter lim="800000"/>
            </a:ln>
          </p:spPr>
          <p:txBody>
            <a:bodyPr>
              <a:spAutoFit/>
            </a:bodyPr>
            <a:lstStyle/>
            <a:p>
              <a:pPr algn="ctr">
                <a:spcBef>
                  <a:spcPct val="50000"/>
                </a:spcBef>
              </a:pPr>
              <a:r>
                <a:rPr lang="zh-CN" altLang="en-US" sz="1600" b="1" dirty="0">
                  <a:latin typeface="Arial" panose="020B0604020202020204" pitchFamily="34" charset="0"/>
                </a:rPr>
                <a:t>针对每个构件完成详细设计、编码和集成，经测试后交付给用户</a:t>
              </a:r>
              <a:endParaRPr lang="zh-CN" altLang="en-US" sz="1600" b="1" dirty="0">
                <a:latin typeface="Arial" panose="020B0604020202020204" pitchFamily="34" charset="0"/>
              </a:endParaRPr>
            </a:p>
          </p:txBody>
        </p:sp>
        <p:sp>
          <p:nvSpPr>
            <p:cNvPr id="69658" name="Line 28"/>
            <p:cNvSpPr>
              <a:spLocks noChangeShapeType="1"/>
            </p:cNvSpPr>
            <p:nvPr/>
          </p:nvSpPr>
          <p:spPr bwMode="auto">
            <a:xfrm flipV="1">
              <a:off x="4048125" y="4483100"/>
              <a:ext cx="0" cy="1219200"/>
            </a:xfrm>
            <a:prstGeom prst="line">
              <a:avLst/>
            </a:prstGeom>
            <a:noFill/>
            <a:ln w="9525">
              <a:noFill/>
              <a:round/>
            </a:ln>
          </p:spPr>
          <p:txBody>
            <a:bodyPr/>
            <a:lstStyle/>
            <a:p>
              <a:pPr algn="ctr"/>
              <a:endParaRPr lang="zh-CN" altLang="en-US" sz="1600"/>
            </a:p>
          </p:txBody>
        </p:sp>
        <p:sp>
          <p:nvSpPr>
            <p:cNvPr id="69659" name="Line 29"/>
            <p:cNvSpPr>
              <a:spLocks noChangeShapeType="1"/>
            </p:cNvSpPr>
            <p:nvPr/>
          </p:nvSpPr>
          <p:spPr bwMode="auto">
            <a:xfrm>
              <a:off x="4048125" y="4483100"/>
              <a:ext cx="2133600" cy="0"/>
            </a:xfrm>
            <a:prstGeom prst="line">
              <a:avLst/>
            </a:prstGeom>
            <a:noFill/>
            <a:ln w="9525">
              <a:noFill/>
              <a:round/>
            </a:ln>
          </p:spPr>
          <p:txBody>
            <a:bodyPr/>
            <a:lstStyle/>
            <a:p>
              <a:pPr algn="ctr"/>
              <a:endParaRPr lang="zh-CN" altLang="en-US" sz="1600"/>
            </a:p>
          </p:txBody>
        </p:sp>
        <p:sp>
          <p:nvSpPr>
            <p:cNvPr id="31" name="Line 17"/>
            <p:cNvSpPr>
              <a:spLocks noChangeShapeType="1"/>
            </p:cNvSpPr>
            <p:nvPr/>
          </p:nvSpPr>
          <p:spPr bwMode="auto">
            <a:xfrm>
              <a:off x="1241301" y="2730500"/>
              <a:ext cx="0" cy="419100"/>
            </a:xfrm>
            <a:prstGeom prst="line">
              <a:avLst/>
            </a:prstGeom>
            <a:noFill/>
            <a:ln w="9525">
              <a:solidFill>
                <a:schemeClr val="tx1"/>
              </a:solidFill>
              <a:round/>
            </a:ln>
          </p:spPr>
          <p:txBody>
            <a:bodyPr/>
            <a:lstStyle/>
            <a:p>
              <a:pPr algn="ctr"/>
              <a:endParaRPr lang="zh-CN" altLang="en-US" sz="1600"/>
            </a:p>
          </p:txBody>
        </p:sp>
        <p:sp>
          <p:nvSpPr>
            <p:cNvPr id="32" name="Line 18"/>
            <p:cNvSpPr>
              <a:spLocks noChangeShapeType="1"/>
            </p:cNvSpPr>
            <p:nvPr/>
          </p:nvSpPr>
          <p:spPr bwMode="auto">
            <a:xfrm>
              <a:off x="1241301" y="3149600"/>
              <a:ext cx="977510" cy="0"/>
            </a:xfrm>
            <a:prstGeom prst="line">
              <a:avLst/>
            </a:prstGeom>
            <a:noFill/>
            <a:ln w="9525">
              <a:solidFill>
                <a:schemeClr val="tx1"/>
              </a:solidFill>
              <a:round/>
              <a:tailEnd type="triangle" w="med" len="med"/>
            </a:ln>
          </p:spPr>
          <p:txBody>
            <a:bodyPr/>
            <a:lstStyle/>
            <a:p>
              <a:pPr algn="ctr"/>
              <a:endParaRPr lang="zh-CN" altLang="en-US" sz="1600"/>
            </a:p>
          </p:txBody>
        </p:sp>
      </p:grpSp>
      <p:sp>
        <p:nvSpPr>
          <p:cNvPr id="2" name="标题 1"/>
          <p:cNvSpPr>
            <a:spLocks noGrp="1"/>
          </p:cNvSpPr>
          <p:nvPr>
            <p:ph type="title"/>
          </p:nvPr>
        </p:nvSpPr>
        <p:spPr/>
        <p:txBody>
          <a:bodyPr/>
          <a:lstStyle/>
          <a:p>
            <a:r>
              <a:rPr lang="zh-CN" altLang="en-US" dirty="0">
                <a:effectLst>
                  <a:outerShdw blurRad="38100" dist="38100" dir="2700000" algn="tl">
                    <a:srgbClr val="000000">
                      <a:alpha val="43137"/>
                    </a:srgbClr>
                  </a:outerShdw>
                </a:effectLst>
              </a:rPr>
              <a:t>（</a:t>
            </a:r>
            <a:r>
              <a:rPr lang="en-US" altLang="zh-CN" dirty="0">
                <a:effectLst>
                  <a:outerShdw blurRad="38100" dist="38100" dir="2700000" algn="tl">
                    <a:srgbClr val="000000">
                      <a:alpha val="43137"/>
                    </a:srgbClr>
                  </a:outerShdw>
                </a:effectLst>
              </a:rPr>
              <a:t>3</a:t>
            </a:r>
            <a:r>
              <a:rPr lang="zh-CN" altLang="en-US" dirty="0">
                <a:effectLst>
                  <a:outerShdw blurRad="38100" dist="38100" dir="2700000" algn="tl">
                    <a:srgbClr val="000000">
                      <a:alpha val="43137"/>
                    </a:srgbClr>
                  </a:outerShdw>
                </a:effectLst>
              </a:rPr>
              <a:t>）增量模型</a:t>
            </a:r>
            <a:endParaRPr lang="zh-CN" altLang="en-US" dirty="0"/>
          </a:p>
        </p:txBody>
      </p:sp>
      <p:sp>
        <p:nvSpPr>
          <p:cNvPr id="5" name="灯片编号占位符 4"/>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6" name="日期占位符 5"/>
          <p:cNvSpPr>
            <a:spLocks noGrp="1"/>
          </p:cNvSpPr>
          <p:nvPr>
            <p:ph type="dt" sz="half" idx="10"/>
          </p:nvPr>
        </p:nvSpPr>
        <p:spPr/>
        <p:txBody>
          <a:bodyPr/>
          <a:lstStyle/>
          <a:p>
            <a:fld id="{BD26ECCB-365D-4D45-9406-DAA911072E90}"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934861" y="1158779"/>
            <a:ext cx="5972175" cy="3263087"/>
            <a:chOff x="625475" y="696913"/>
            <a:chExt cx="7962900" cy="4350782"/>
          </a:xfrm>
        </p:grpSpPr>
        <p:sp>
          <p:nvSpPr>
            <p:cNvPr id="70659" name="Rectangle 3"/>
            <p:cNvSpPr>
              <a:spLocks noChangeArrowheads="1"/>
            </p:cNvSpPr>
            <p:nvPr/>
          </p:nvSpPr>
          <p:spPr bwMode="auto">
            <a:xfrm>
              <a:off x="1593850" y="922338"/>
              <a:ext cx="762000" cy="457200"/>
            </a:xfrm>
            <a:prstGeom prst="rect">
              <a:avLst/>
            </a:prstGeom>
            <a:solidFill>
              <a:srgbClr val="FF0066"/>
            </a:solidFill>
            <a:ln w="9525">
              <a:miter lim="800000"/>
            </a:ln>
            <a:scene3d>
              <a:camera prst="legacyPerspectiveTopRight"/>
              <a:lightRig rig="legacyFlat3" dir="b"/>
            </a:scene3d>
            <a:sp3d extrusionH="887400" prstMaterial="legacyMatte">
              <a:bevelT w="13500" h="13500" prst="angle"/>
              <a:bevelB w="13500" h="13500" prst="angle"/>
              <a:extrusionClr>
                <a:srgbClr val="FF0066"/>
              </a:extrusionClr>
            </a:sp3d>
          </p:spPr>
          <p:txBody>
            <a:bodyPr wrap="none" anchor="ctr">
              <a:flatTx/>
            </a:bodyPr>
            <a:lstStyle/>
            <a:p>
              <a:pPr algn="ctr"/>
              <a:r>
                <a:rPr lang="zh-CN" altLang="en-US" sz="1600" dirty="0">
                  <a:solidFill>
                    <a:schemeClr val="bg1"/>
                  </a:solidFill>
                  <a:effectLst>
                    <a:outerShdw blurRad="38100" dist="38100" dir="2700000" algn="tl">
                      <a:srgbClr val="000000">
                        <a:alpha val="43137"/>
                      </a:srgbClr>
                    </a:outerShdw>
                  </a:effectLst>
                  <a:latin typeface="+mj-ea"/>
                  <a:ea typeface="+mj-ea"/>
                </a:rPr>
                <a:t>分析</a:t>
              </a:r>
              <a:endParaRPr lang="zh-CN" altLang="en-US" sz="1600" dirty="0">
                <a:solidFill>
                  <a:schemeClr val="bg1"/>
                </a:solidFill>
                <a:effectLst>
                  <a:outerShdw blurRad="38100" dist="38100" dir="2700000" algn="tl">
                    <a:srgbClr val="000000">
                      <a:alpha val="43137"/>
                    </a:srgbClr>
                  </a:outerShdw>
                </a:effectLst>
                <a:latin typeface="+mj-ea"/>
                <a:ea typeface="+mj-ea"/>
              </a:endParaRPr>
            </a:p>
          </p:txBody>
        </p:sp>
        <p:sp>
          <p:nvSpPr>
            <p:cNvPr id="70660" name="Rectangle 4"/>
            <p:cNvSpPr>
              <a:spLocks noChangeArrowheads="1"/>
            </p:cNvSpPr>
            <p:nvPr/>
          </p:nvSpPr>
          <p:spPr bwMode="auto">
            <a:xfrm>
              <a:off x="2659063" y="1930400"/>
              <a:ext cx="762000" cy="457200"/>
            </a:xfrm>
            <a:prstGeom prst="rect">
              <a:avLst/>
            </a:prstGeom>
            <a:solidFill>
              <a:srgbClr val="FF9900"/>
            </a:solidFill>
            <a:ln w="9525">
              <a:miter lim="800000"/>
            </a:ln>
            <a:scene3d>
              <a:camera prst="legacyPerspectiveTopRight"/>
              <a:lightRig rig="legacyFlat3" dir="b"/>
            </a:scene3d>
            <a:sp3d extrusionH="887400" prstMaterial="legacyMatte">
              <a:bevelT w="13500" h="13500" prst="angle"/>
              <a:bevelB w="13500" h="13500" prst="angle"/>
              <a:extrusionClr>
                <a:srgbClr val="FF9900"/>
              </a:extrusionClr>
            </a:sp3d>
          </p:spPr>
          <p:txBody>
            <a:bodyPr wrap="none" anchor="ctr">
              <a:flatTx/>
            </a:bodyPr>
            <a:lstStyle/>
            <a:p>
              <a:pPr algn="ctr"/>
              <a:r>
                <a:rPr lang="zh-CN" altLang="en-US" sz="1600">
                  <a:solidFill>
                    <a:schemeClr val="bg1"/>
                  </a:solidFill>
                  <a:effectLst>
                    <a:outerShdw blurRad="38100" dist="38100" dir="2700000" algn="tl">
                      <a:srgbClr val="000000">
                        <a:alpha val="43137"/>
                      </a:srgbClr>
                    </a:outerShdw>
                  </a:effectLst>
                  <a:latin typeface="+mj-ea"/>
                  <a:ea typeface="+mj-ea"/>
                </a:rPr>
                <a:t>分析</a:t>
              </a:r>
              <a:endParaRPr lang="zh-CN" altLang="en-US" sz="1600">
                <a:solidFill>
                  <a:schemeClr val="bg1"/>
                </a:solidFill>
                <a:effectLst>
                  <a:outerShdw blurRad="38100" dist="38100" dir="2700000" algn="tl">
                    <a:srgbClr val="000000">
                      <a:alpha val="43137"/>
                    </a:srgbClr>
                  </a:outerShdw>
                </a:effectLst>
                <a:latin typeface="+mj-ea"/>
                <a:ea typeface="+mj-ea"/>
              </a:endParaRPr>
            </a:p>
          </p:txBody>
        </p:sp>
        <p:sp>
          <p:nvSpPr>
            <p:cNvPr id="70661" name="Rectangle 5"/>
            <p:cNvSpPr>
              <a:spLocks noChangeArrowheads="1"/>
            </p:cNvSpPr>
            <p:nvPr/>
          </p:nvSpPr>
          <p:spPr bwMode="auto">
            <a:xfrm>
              <a:off x="3451225" y="2865438"/>
              <a:ext cx="762000" cy="457200"/>
            </a:xfrm>
            <a:prstGeom prst="rect">
              <a:avLst/>
            </a:prstGeom>
            <a:solidFill>
              <a:srgbClr val="00CC00"/>
            </a:solidFill>
            <a:ln w="9525">
              <a:miter lim="800000"/>
            </a:ln>
            <a:scene3d>
              <a:camera prst="legacyPerspectiveTopRight"/>
              <a:lightRig rig="legacyFlat3" dir="b"/>
            </a:scene3d>
            <a:sp3d extrusionH="887400" prstMaterial="legacyMatte">
              <a:bevelT w="13500" h="13500" prst="angle"/>
              <a:bevelB w="13500" h="13500" prst="angle"/>
              <a:extrusionClr>
                <a:srgbClr val="00CC00"/>
              </a:extrusionClr>
            </a:sp3d>
          </p:spPr>
          <p:txBody>
            <a:bodyPr wrap="none" anchor="ctr">
              <a:flatTx/>
            </a:bodyPr>
            <a:lstStyle/>
            <a:p>
              <a:pPr algn="ctr"/>
              <a:r>
                <a:rPr lang="zh-CN" altLang="en-US" sz="1600">
                  <a:solidFill>
                    <a:schemeClr val="bg1"/>
                  </a:solidFill>
                  <a:effectLst>
                    <a:outerShdw blurRad="38100" dist="38100" dir="2700000" algn="tl">
                      <a:srgbClr val="000000">
                        <a:alpha val="43137"/>
                      </a:srgbClr>
                    </a:outerShdw>
                  </a:effectLst>
                  <a:latin typeface="+mj-ea"/>
                  <a:ea typeface="+mj-ea"/>
                </a:rPr>
                <a:t>分析</a:t>
              </a:r>
              <a:endParaRPr lang="zh-CN" altLang="en-US" sz="1600">
                <a:solidFill>
                  <a:schemeClr val="bg1"/>
                </a:solidFill>
                <a:effectLst>
                  <a:outerShdw blurRad="38100" dist="38100" dir="2700000" algn="tl">
                    <a:srgbClr val="000000">
                      <a:alpha val="43137"/>
                    </a:srgbClr>
                  </a:outerShdw>
                </a:effectLst>
                <a:latin typeface="+mj-ea"/>
                <a:ea typeface="+mj-ea"/>
              </a:endParaRPr>
            </a:p>
          </p:txBody>
        </p:sp>
        <p:sp>
          <p:nvSpPr>
            <p:cNvPr id="70662" name="Rectangle 6"/>
            <p:cNvSpPr>
              <a:spLocks noChangeArrowheads="1"/>
            </p:cNvSpPr>
            <p:nvPr/>
          </p:nvSpPr>
          <p:spPr bwMode="auto">
            <a:xfrm>
              <a:off x="3884613" y="3946525"/>
              <a:ext cx="762000" cy="457200"/>
            </a:xfrm>
            <a:prstGeom prst="rect">
              <a:avLst/>
            </a:prstGeom>
            <a:solidFill>
              <a:schemeClr val="hlink"/>
            </a:solidFill>
            <a:ln w="9525">
              <a:miter lim="800000"/>
            </a:ln>
            <a:scene3d>
              <a:camera prst="legacyPerspectiveTopRight"/>
              <a:lightRig rig="legacyFlat3" dir="b"/>
            </a:scene3d>
            <a:sp3d extrusionH="887400" prstMaterial="legacyMatte">
              <a:bevelT w="13500" h="13500" prst="angle"/>
              <a:bevelB w="13500" h="13500" prst="angle"/>
              <a:extrusionClr>
                <a:schemeClr val="hlink"/>
              </a:extrusionClr>
            </a:sp3d>
          </p:spPr>
          <p:txBody>
            <a:bodyPr wrap="none" anchor="ctr">
              <a:flatTx/>
            </a:bodyPr>
            <a:lstStyle/>
            <a:p>
              <a:pPr algn="ctr"/>
              <a:r>
                <a:rPr lang="zh-CN" altLang="en-US" sz="1600">
                  <a:solidFill>
                    <a:schemeClr val="bg1"/>
                  </a:solidFill>
                  <a:effectLst>
                    <a:outerShdw blurRad="38100" dist="38100" dir="2700000" algn="tl">
                      <a:srgbClr val="000000">
                        <a:alpha val="43137"/>
                      </a:srgbClr>
                    </a:outerShdw>
                  </a:effectLst>
                  <a:latin typeface="+mj-ea"/>
                  <a:ea typeface="+mj-ea"/>
                </a:rPr>
                <a:t>分析</a:t>
              </a:r>
              <a:endParaRPr lang="zh-CN" altLang="en-US" sz="1600">
                <a:solidFill>
                  <a:schemeClr val="bg1"/>
                </a:solidFill>
                <a:effectLst>
                  <a:outerShdw blurRad="38100" dist="38100" dir="2700000" algn="tl">
                    <a:srgbClr val="000000">
                      <a:alpha val="43137"/>
                    </a:srgbClr>
                  </a:outerShdw>
                </a:effectLst>
                <a:latin typeface="+mj-ea"/>
                <a:ea typeface="+mj-ea"/>
              </a:endParaRPr>
            </a:p>
          </p:txBody>
        </p:sp>
        <p:sp>
          <p:nvSpPr>
            <p:cNvPr id="70663" name="Rectangle 7"/>
            <p:cNvSpPr>
              <a:spLocks noChangeArrowheads="1"/>
            </p:cNvSpPr>
            <p:nvPr/>
          </p:nvSpPr>
          <p:spPr bwMode="auto">
            <a:xfrm>
              <a:off x="2736850" y="922338"/>
              <a:ext cx="762000" cy="457200"/>
            </a:xfrm>
            <a:prstGeom prst="rect">
              <a:avLst/>
            </a:prstGeom>
            <a:solidFill>
              <a:srgbClr val="FF0066"/>
            </a:solidFill>
            <a:ln w="9525">
              <a:miter lim="800000"/>
            </a:ln>
            <a:scene3d>
              <a:camera prst="legacyPerspectiveTopRight"/>
              <a:lightRig rig="legacyFlat3" dir="b"/>
            </a:scene3d>
            <a:sp3d extrusionH="887400" prstMaterial="legacyMatte">
              <a:bevelT w="13500" h="13500" prst="angle"/>
              <a:bevelB w="13500" h="13500" prst="angle"/>
              <a:extrusionClr>
                <a:srgbClr val="FF0066"/>
              </a:extrusionClr>
            </a:sp3d>
          </p:spPr>
          <p:txBody>
            <a:bodyPr wrap="none" anchor="ctr">
              <a:flatTx/>
            </a:bodyPr>
            <a:lstStyle/>
            <a:p>
              <a:pPr algn="ctr"/>
              <a:r>
                <a:rPr lang="zh-CN" altLang="en-US" sz="1600">
                  <a:solidFill>
                    <a:schemeClr val="bg1"/>
                  </a:solidFill>
                  <a:effectLst>
                    <a:outerShdw blurRad="38100" dist="38100" dir="2700000" algn="tl">
                      <a:srgbClr val="000000">
                        <a:alpha val="43137"/>
                      </a:srgbClr>
                    </a:outerShdw>
                  </a:effectLst>
                  <a:latin typeface="+mj-ea"/>
                  <a:ea typeface="+mj-ea"/>
                </a:rPr>
                <a:t>设计</a:t>
              </a:r>
              <a:endParaRPr lang="zh-CN" altLang="en-US" sz="1600">
                <a:solidFill>
                  <a:schemeClr val="bg1"/>
                </a:solidFill>
                <a:effectLst>
                  <a:outerShdw blurRad="38100" dist="38100" dir="2700000" algn="tl">
                    <a:srgbClr val="000000">
                      <a:alpha val="43137"/>
                    </a:srgbClr>
                  </a:outerShdw>
                </a:effectLst>
                <a:latin typeface="+mj-ea"/>
                <a:ea typeface="+mj-ea"/>
              </a:endParaRPr>
            </a:p>
          </p:txBody>
        </p:sp>
        <p:sp>
          <p:nvSpPr>
            <p:cNvPr id="70664" name="Rectangle 8"/>
            <p:cNvSpPr>
              <a:spLocks noChangeArrowheads="1"/>
            </p:cNvSpPr>
            <p:nvPr/>
          </p:nvSpPr>
          <p:spPr bwMode="auto">
            <a:xfrm>
              <a:off x="3725863" y="1930400"/>
              <a:ext cx="762000" cy="457200"/>
            </a:xfrm>
            <a:prstGeom prst="rect">
              <a:avLst/>
            </a:prstGeom>
            <a:solidFill>
              <a:srgbClr val="FF9900"/>
            </a:solidFill>
            <a:ln w="9525">
              <a:miter lim="800000"/>
            </a:ln>
            <a:scene3d>
              <a:camera prst="legacyPerspectiveTopRight"/>
              <a:lightRig rig="legacyFlat3" dir="b"/>
            </a:scene3d>
            <a:sp3d extrusionH="887400" prstMaterial="legacyMatte">
              <a:bevelT w="13500" h="13500" prst="angle"/>
              <a:bevelB w="13500" h="13500" prst="angle"/>
              <a:extrusionClr>
                <a:srgbClr val="FF9900"/>
              </a:extrusionClr>
            </a:sp3d>
          </p:spPr>
          <p:txBody>
            <a:bodyPr wrap="none" anchor="ctr">
              <a:flatTx/>
            </a:bodyPr>
            <a:lstStyle/>
            <a:p>
              <a:pPr algn="ctr"/>
              <a:r>
                <a:rPr lang="zh-CN" altLang="en-US" sz="1600">
                  <a:solidFill>
                    <a:schemeClr val="bg1"/>
                  </a:solidFill>
                  <a:effectLst>
                    <a:outerShdw blurRad="38100" dist="38100" dir="2700000" algn="tl">
                      <a:srgbClr val="000000">
                        <a:alpha val="43137"/>
                      </a:srgbClr>
                    </a:outerShdw>
                  </a:effectLst>
                  <a:latin typeface="+mj-ea"/>
                  <a:ea typeface="+mj-ea"/>
                </a:rPr>
                <a:t>设计</a:t>
              </a:r>
              <a:endParaRPr lang="zh-CN" altLang="en-US" sz="1600">
                <a:solidFill>
                  <a:schemeClr val="bg1"/>
                </a:solidFill>
                <a:effectLst>
                  <a:outerShdw blurRad="38100" dist="38100" dir="2700000" algn="tl">
                    <a:srgbClr val="000000">
                      <a:alpha val="43137"/>
                    </a:srgbClr>
                  </a:outerShdw>
                </a:effectLst>
                <a:latin typeface="+mj-ea"/>
                <a:ea typeface="+mj-ea"/>
              </a:endParaRPr>
            </a:p>
          </p:txBody>
        </p:sp>
        <p:sp>
          <p:nvSpPr>
            <p:cNvPr id="70665" name="Rectangle 9"/>
            <p:cNvSpPr>
              <a:spLocks noChangeArrowheads="1"/>
            </p:cNvSpPr>
            <p:nvPr/>
          </p:nvSpPr>
          <p:spPr bwMode="auto">
            <a:xfrm>
              <a:off x="4518025" y="2865438"/>
              <a:ext cx="762000" cy="457200"/>
            </a:xfrm>
            <a:prstGeom prst="rect">
              <a:avLst/>
            </a:prstGeom>
            <a:solidFill>
              <a:srgbClr val="00CC00"/>
            </a:solidFill>
            <a:ln w="9525">
              <a:miter lim="800000"/>
            </a:ln>
            <a:scene3d>
              <a:camera prst="legacyPerspectiveTopRight"/>
              <a:lightRig rig="legacyFlat3" dir="b"/>
            </a:scene3d>
            <a:sp3d extrusionH="887400" prstMaterial="legacyMatte">
              <a:bevelT w="13500" h="13500" prst="angle"/>
              <a:bevelB w="13500" h="13500" prst="angle"/>
              <a:extrusionClr>
                <a:srgbClr val="00CC00"/>
              </a:extrusionClr>
            </a:sp3d>
          </p:spPr>
          <p:txBody>
            <a:bodyPr wrap="none" anchor="ctr">
              <a:flatTx/>
            </a:bodyPr>
            <a:lstStyle/>
            <a:p>
              <a:pPr algn="ctr"/>
              <a:r>
                <a:rPr lang="zh-CN" altLang="en-US" sz="1600">
                  <a:solidFill>
                    <a:schemeClr val="bg1"/>
                  </a:solidFill>
                  <a:effectLst>
                    <a:outerShdw blurRad="38100" dist="38100" dir="2700000" algn="tl">
                      <a:srgbClr val="000000">
                        <a:alpha val="43137"/>
                      </a:srgbClr>
                    </a:outerShdw>
                  </a:effectLst>
                  <a:latin typeface="+mj-ea"/>
                  <a:ea typeface="+mj-ea"/>
                </a:rPr>
                <a:t>设计</a:t>
              </a:r>
              <a:endParaRPr lang="zh-CN" altLang="en-US" sz="1600">
                <a:solidFill>
                  <a:schemeClr val="bg1"/>
                </a:solidFill>
                <a:effectLst>
                  <a:outerShdw blurRad="38100" dist="38100" dir="2700000" algn="tl">
                    <a:srgbClr val="000000">
                      <a:alpha val="43137"/>
                    </a:srgbClr>
                  </a:outerShdw>
                </a:effectLst>
                <a:latin typeface="+mj-ea"/>
                <a:ea typeface="+mj-ea"/>
              </a:endParaRPr>
            </a:p>
          </p:txBody>
        </p:sp>
        <p:sp>
          <p:nvSpPr>
            <p:cNvPr id="70666" name="Rectangle 10"/>
            <p:cNvSpPr>
              <a:spLocks noChangeArrowheads="1"/>
            </p:cNvSpPr>
            <p:nvPr/>
          </p:nvSpPr>
          <p:spPr bwMode="auto">
            <a:xfrm>
              <a:off x="4951413" y="3946525"/>
              <a:ext cx="762000" cy="457200"/>
            </a:xfrm>
            <a:prstGeom prst="rect">
              <a:avLst/>
            </a:prstGeom>
            <a:solidFill>
              <a:schemeClr val="hlink"/>
            </a:solidFill>
            <a:ln w="9525">
              <a:miter lim="800000"/>
            </a:ln>
            <a:scene3d>
              <a:camera prst="legacyPerspectiveTopRight"/>
              <a:lightRig rig="legacyFlat3" dir="b"/>
            </a:scene3d>
            <a:sp3d extrusionH="887400" prstMaterial="legacyMatte">
              <a:bevelT w="13500" h="13500" prst="angle"/>
              <a:bevelB w="13500" h="13500" prst="angle"/>
              <a:extrusionClr>
                <a:schemeClr val="hlink"/>
              </a:extrusionClr>
            </a:sp3d>
          </p:spPr>
          <p:txBody>
            <a:bodyPr wrap="none" anchor="ctr">
              <a:flatTx/>
            </a:bodyPr>
            <a:lstStyle/>
            <a:p>
              <a:pPr algn="ctr"/>
              <a:r>
                <a:rPr lang="zh-CN" altLang="en-US" sz="1600">
                  <a:solidFill>
                    <a:schemeClr val="bg1"/>
                  </a:solidFill>
                  <a:effectLst>
                    <a:outerShdw blurRad="38100" dist="38100" dir="2700000" algn="tl">
                      <a:srgbClr val="000000">
                        <a:alpha val="43137"/>
                      </a:srgbClr>
                    </a:outerShdw>
                  </a:effectLst>
                  <a:latin typeface="+mj-ea"/>
                  <a:ea typeface="+mj-ea"/>
                </a:rPr>
                <a:t>设计</a:t>
              </a:r>
              <a:endParaRPr lang="zh-CN" altLang="en-US" sz="1600">
                <a:solidFill>
                  <a:schemeClr val="bg1"/>
                </a:solidFill>
                <a:effectLst>
                  <a:outerShdw blurRad="38100" dist="38100" dir="2700000" algn="tl">
                    <a:srgbClr val="000000">
                      <a:alpha val="43137"/>
                    </a:srgbClr>
                  </a:outerShdw>
                </a:effectLst>
                <a:latin typeface="+mj-ea"/>
                <a:ea typeface="+mj-ea"/>
              </a:endParaRPr>
            </a:p>
          </p:txBody>
        </p:sp>
        <p:sp>
          <p:nvSpPr>
            <p:cNvPr id="70667" name="Rectangle 11"/>
            <p:cNvSpPr>
              <a:spLocks noChangeArrowheads="1"/>
            </p:cNvSpPr>
            <p:nvPr/>
          </p:nvSpPr>
          <p:spPr bwMode="auto">
            <a:xfrm>
              <a:off x="3879850" y="922338"/>
              <a:ext cx="685800" cy="457200"/>
            </a:xfrm>
            <a:prstGeom prst="rect">
              <a:avLst/>
            </a:prstGeom>
            <a:solidFill>
              <a:srgbClr val="FF0066"/>
            </a:solidFill>
            <a:ln w="9525">
              <a:miter lim="800000"/>
            </a:ln>
            <a:scene3d>
              <a:camera prst="legacyPerspectiveTopRight"/>
              <a:lightRig rig="legacyFlat3" dir="b"/>
            </a:scene3d>
            <a:sp3d extrusionH="887400" prstMaterial="legacyMatte">
              <a:bevelT w="13500" h="13500" prst="angle"/>
              <a:bevelB w="13500" h="13500" prst="angle"/>
              <a:extrusionClr>
                <a:srgbClr val="FF0066"/>
              </a:extrusionClr>
            </a:sp3d>
          </p:spPr>
          <p:txBody>
            <a:bodyPr wrap="none" anchor="ctr">
              <a:flatTx/>
            </a:bodyPr>
            <a:lstStyle/>
            <a:p>
              <a:pPr algn="ctr"/>
              <a:r>
                <a:rPr lang="zh-CN" altLang="en-US" sz="1600">
                  <a:solidFill>
                    <a:schemeClr val="bg1"/>
                  </a:solidFill>
                  <a:effectLst>
                    <a:outerShdw blurRad="38100" dist="38100" dir="2700000" algn="tl">
                      <a:srgbClr val="000000">
                        <a:alpha val="43137"/>
                      </a:srgbClr>
                    </a:outerShdw>
                  </a:effectLst>
                  <a:latin typeface="+mj-ea"/>
                  <a:ea typeface="+mj-ea"/>
                </a:rPr>
                <a:t>编码</a:t>
              </a:r>
              <a:endParaRPr lang="zh-CN" altLang="en-US" sz="1600">
                <a:solidFill>
                  <a:schemeClr val="bg1"/>
                </a:solidFill>
                <a:effectLst>
                  <a:outerShdw blurRad="38100" dist="38100" dir="2700000" algn="tl">
                    <a:srgbClr val="000000">
                      <a:alpha val="43137"/>
                    </a:srgbClr>
                  </a:outerShdw>
                </a:effectLst>
                <a:latin typeface="+mj-ea"/>
                <a:ea typeface="+mj-ea"/>
              </a:endParaRPr>
            </a:p>
          </p:txBody>
        </p:sp>
        <p:sp>
          <p:nvSpPr>
            <p:cNvPr id="70668" name="Rectangle 12"/>
            <p:cNvSpPr>
              <a:spLocks noChangeArrowheads="1"/>
            </p:cNvSpPr>
            <p:nvPr/>
          </p:nvSpPr>
          <p:spPr bwMode="auto">
            <a:xfrm>
              <a:off x="4792663" y="1930400"/>
              <a:ext cx="685800" cy="457200"/>
            </a:xfrm>
            <a:prstGeom prst="rect">
              <a:avLst/>
            </a:prstGeom>
            <a:solidFill>
              <a:srgbClr val="FF9900"/>
            </a:solidFill>
            <a:ln w="9525">
              <a:miter lim="800000"/>
            </a:ln>
            <a:scene3d>
              <a:camera prst="legacyPerspectiveTopRight"/>
              <a:lightRig rig="legacyFlat3" dir="b"/>
            </a:scene3d>
            <a:sp3d extrusionH="887400" prstMaterial="legacyMatte">
              <a:bevelT w="13500" h="13500" prst="angle"/>
              <a:bevelB w="13500" h="13500" prst="angle"/>
              <a:extrusionClr>
                <a:srgbClr val="FF9900"/>
              </a:extrusionClr>
            </a:sp3d>
          </p:spPr>
          <p:txBody>
            <a:bodyPr wrap="none" anchor="ctr">
              <a:flatTx/>
            </a:bodyPr>
            <a:lstStyle/>
            <a:p>
              <a:pPr algn="ctr"/>
              <a:r>
                <a:rPr lang="zh-CN" altLang="en-US" sz="1600">
                  <a:solidFill>
                    <a:schemeClr val="bg1"/>
                  </a:solidFill>
                  <a:effectLst>
                    <a:outerShdw blurRad="38100" dist="38100" dir="2700000" algn="tl">
                      <a:srgbClr val="000000">
                        <a:alpha val="43137"/>
                      </a:srgbClr>
                    </a:outerShdw>
                  </a:effectLst>
                  <a:latin typeface="+mj-ea"/>
                  <a:ea typeface="+mj-ea"/>
                </a:rPr>
                <a:t>编码</a:t>
              </a:r>
              <a:endParaRPr lang="zh-CN" altLang="en-US" sz="1600">
                <a:solidFill>
                  <a:schemeClr val="bg1"/>
                </a:solidFill>
                <a:effectLst>
                  <a:outerShdw blurRad="38100" dist="38100" dir="2700000" algn="tl">
                    <a:srgbClr val="000000">
                      <a:alpha val="43137"/>
                    </a:srgbClr>
                  </a:outerShdw>
                </a:effectLst>
                <a:latin typeface="+mj-ea"/>
                <a:ea typeface="+mj-ea"/>
              </a:endParaRPr>
            </a:p>
          </p:txBody>
        </p:sp>
        <p:sp>
          <p:nvSpPr>
            <p:cNvPr id="70669" name="Rectangle 13"/>
            <p:cNvSpPr>
              <a:spLocks noChangeArrowheads="1"/>
            </p:cNvSpPr>
            <p:nvPr/>
          </p:nvSpPr>
          <p:spPr bwMode="auto">
            <a:xfrm>
              <a:off x="5584825" y="2865438"/>
              <a:ext cx="685800" cy="457200"/>
            </a:xfrm>
            <a:prstGeom prst="rect">
              <a:avLst/>
            </a:prstGeom>
            <a:solidFill>
              <a:srgbClr val="00CC00"/>
            </a:solidFill>
            <a:ln w="9525">
              <a:miter lim="800000"/>
            </a:ln>
            <a:scene3d>
              <a:camera prst="legacyPerspectiveTopRight"/>
              <a:lightRig rig="legacyFlat3" dir="b"/>
            </a:scene3d>
            <a:sp3d extrusionH="887400" prstMaterial="legacyMatte">
              <a:bevelT w="13500" h="13500" prst="angle"/>
              <a:bevelB w="13500" h="13500" prst="angle"/>
              <a:extrusionClr>
                <a:srgbClr val="00CC00"/>
              </a:extrusionClr>
            </a:sp3d>
          </p:spPr>
          <p:txBody>
            <a:bodyPr wrap="none" anchor="ctr">
              <a:flatTx/>
            </a:bodyPr>
            <a:lstStyle/>
            <a:p>
              <a:pPr algn="ctr"/>
              <a:r>
                <a:rPr lang="zh-CN" altLang="en-US" sz="1600">
                  <a:solidFill>
                    <a:schemeClr val="bg1"/>
                  </a:solidFill>
                  <a:effectLst>
                    <a:outerShdw blurRad="38100" dist="38100" dir="2700000" algn="tl">
                      <a:srgbClr val="000000">
                        <a:alpha val="43137"/>
                      </a:srgbClr>
                    </a:outerShdw>
                  </a:effectLst>
                  <a:latin typeface="+mj-ea"/>
                  <a:ea typeface="+mj-ea"/>
                </a:rPr>
                <a:t>编码</a:t>
              </a:r>
              <a:endParaRPr lang="zh-CN" altLang="en-US" sz="1600">
                <a:solidFill>
                  <a:schemeClr val="bg1"/>
                </a:solidFill>
                <a:effectLst>
                  <a:outerShdw blurRad="38100" dist="38100" dir="2700000" algn="tl">
                    <a:srgbClr val="000000">
                      <a:alpha val="43137"/>
                    </a:srgbClr>
                  </a:outerShdw>
                </a:effectLst>
                <a:latin typeface="+mj-ea"/>
                <a:ea typeface="+mj-ea"/>
              </a:endParaRPr>
            </a:p>
          </p:txBody>
        </p:sp>
        <p:sp>
          <p:nvSpPr>
            <p:cNvPr id="70670" name="Rectangle 14"/>
            <p:cNvSpPr>
              <a:spLocks noChangeArrowheads="1"/>
            </p:cNvSpPr>
            <p:nvPr/>
          </p:nvSpPr>
          <p:spPr bwMode="auto">
            <a:xfrm>
              <a:off x="6018213" y="3946525"/>
              <a:ext cx="685800" cy="457200"/>
            </a:xfrm>
            <a:prstGeom prst="rect">
              <a:avLst/>
            </a:prstGeom>
            <a:solidFill>
              <a:schemeClr val="hlink"/>
            </a:solidFill>
            <a:ln w="9525">
              <a:miter lim="800000"/>
            </a:ln>
            <a:scene3d>
              <a:camera prst="legacyPerspectiveTopRight"/>
              <a:lightRig rig="legacyFlat3" dir="b"/>
            </a:scene3d>
            <a:sp3d extrusionH="887400" prstMaterial="legacyMatte">
              <a:bevelT w="13500" h="13500" prst="angle"/>
              <a:bevelB w="13500" h="13500" prst="angle"/>
              <a:extrusionClr>
                <a:schemeClr val="hlink"/>
              </a:extrusionClr>
            </a:sp3d>
          </p:spPr>
          <p:txBody>
            <a:bodyPr wrap="none" anchor="ctr">
              <a:flatTx/>
            </a:bodyPr>
            <a:lstStyle/>
            <a:p>
              <a:pPr algn="ctr"/>
              <a:r>
                <a:rPr lang="zh-CN" altLang="en-US" sz="1600">
                  <a:solidFill>
                    <a:schemeClr val="bg1"/>
                  </a:solidFill>
                  <a:effectLst>
                    <a:outerShdw blurRad="38100" dist="38100" dir="2700000" algn="tl">
                      <a:srgbClr val="000000">
                        <a:alpha val="43137"/>
                      </a:srgbClr>
                    </a:outerShdw>
                  </a:effectLst>
                  <a:latin typeface="+mj-ea"/>
                  <a:ea typeface="+mj-ea"/>
                </a:rPr>
                <a:t>编码</a:t>
              </a:r>
              <a:endParaRPr lang="zh-CN" altLang="en-US" sz="1600">
                <a:solidFill>
                  <a:schemeClr val="bg1"/>
                </a:solidFill>
                <a:effectLst>
                  <a:outerShdw blurRad="38100" dist="38100" dir="2700000" algn="tl">
                    <a:srgbClr val="000000">
                      <a:alpha val="43137"/>
                    </a:srgbClr>
                  </a:outerShdw>
                </a:effectLst>
                <a:latin typeface="+mj-ea"/>
                <a:ea typeface="+mj-ea"/>
              </a:endParaRPr>
            </a:p>
          </p:txBody>
        </p:sp>
        <p:sp>
          <p:nvSpPr>
            <p:cNvPr id="70671" name="Rectangle 15"/>
            <p:cNvSpPr>
              <a:spLocks noChangeArrowheads="1"/>
            </p:cNvSpPr>
            <p:nvPr/>
          </p:nvSpPr>
          <p:spPr bwMode="auto">
            <a:xfrm>
              <a:off x="5022850" y="922338"/>
              <a:ext cx="685800" cy="457200"/>
            </a:xfrm>
            <a:prstGeom prst="rect">
              <a:avLst/>
            </a:prstGeom>
            <a:solidFill>
              <a:srgbClr val="FF0066"/>
            </a:solidFill>
            <a:ln w="9525">
              <a:miter lim="800000"/>
            </a:ln>
            <a:scene3d>
              <a:camera prst="legacyPerspectiveTopRight"/>
              <a:lightRig rig="legacyFlat3" dir="b"/>
            </a:scene3d>
            <a:sp3d extrusionH="887400" prstMaterial="legacyMatte">
              <a:bevelT w="13500" h="13500" prst="angle"/>
              <a:bevelB w="13500" h="13500" prst="angle"/>
              <a:extrusionClr>
                <a:srgbClr val="FF0066"/>
              </a:extrusionClr>
            </a:sp3d>
          </p:spPr>
          <p:txBody>
            <a:bodyPr wrap="none" anchor="ctr">
              <a:flatTx/>
            </a:bodyPr>
            <a:lstStyle/>
            <a:p>
              <a:pPr algn="ctr"/>
              <a:r>
                <a:rPr lang="zh-CN" altLang="en-US" sz="1600">
                  <a:solidFill>
                    <a:schemeClr val="bg1"/>
                  </a:solidFill>
                  <a:effectLst>
                    <a:outerShdw blurRad="38100" dist="38100" dir="2700000" algn="tl">
                      <a:srgbClr val="000000">
                        <a:alpha val="43137"/>
                      </a:srgbClr>
                    </a:outerShdw>
                  </a:effectLst>
                  <a:latin typeface="+mj-ea"/>
                  <a:ea typeface="+mj-ea"/>
                </a:rPr>
                <a:t>测试</a:t>
              </a:r>
              <a:endParaRPr lang="zh-CN" altLang="en-US" sz="1600">
                <a:solidFill>
                  <a:schemeClr val="bg1"/>
                </a:solidFill>
                <a:effectLst>
                  <a:outerShdw blurRad="38100" dist="38100" dir="2700000" algn="tl">
                    <a:srgbClr val="000000">
                      <a:alpha val="43137"/>
                    </a:srgbClr>
                  </a:outerShdw>
                </a:effectLst>
                <a:latin typeface="+mj-ea"/>
                <a:ea typeface="+mj-ea"/>
              </a:endParaRPr>
            </a:p>
          </p:txBody>
        </p:sp>
        <p:sp>
          <p:nvSpPr>
            <p:cNvPr id="70672" name="Rectangle 16"/>
            <p:cNvSpPr>
              <a:spLocks noChangeArrowheads="1"/>
            </p:cNvSpPr>
            <p:nvPr/>
          </p:nvSpPr>
          <p:spPr bwMode="auto">
            <a:xfrm>
              <a:off x="5783263" y="1930400"/>
              <a:ext cx="685800" cy="457200"/>
            </a:xfrm>
            <a:prstGeom prst="rect">
              <a:avLst/>
            </a:prstGeom>
            <a:solidFill>
              <a:srgbClr val="FF9900"/>
            </a:solidFill>
            <a:ln w="9525">
              <a:miter lim="800000"/>
            </a:ln>
            <a:scene3d>
              <a:camera prst="legacyPerspectiveTopRight"/>
              <a:lightRig rig="legacyFlat3" dir="b"/>
            </a:scene3d>
            <a:sp3d extrusionH="887400" prstMaterial="legacyMatte">
              <a:bevelT w="13500" h="13500" prst="angle"/>
              <a:bevelB w="13500" h="13500" prst="angle"/>
              <a:extrusionClr>
                <a:srgbClr val="FF9900"/>
              </a:extrusionClr>
            </a:sp3d>
          </p:spPr>
          <p:txBody>
            <a:bodyPr wrap="none" anchor="ctr">
              <a:flatTx/>
            </a:bodyPr>
            <a:lstStyle/>
            <a:p>
              <a:pPr algn="ctr"/>
              <a:r>
                <a:rPr lang="zh-CN" altLang="en-US" sz="1600">
                  <a:solidFill>
                    <a:schemeClr val="bg1"/>
                  </a:solidFill>
                  <a:effectLst>
                    <a:outerShdw blurRad="38100" dist="38100" dir="2700000" algn="tl">
                      <a:srgbClr val="000000">
                        <a:alpha val="43137"/>
                      </a:srgbClr>
                    </a:outerShdw>
                  </a:effectLst>
                  <a:latin typeface="+mj-ea"/>
                  <a:ea typeface="+mj-ea"/>
                </a:rPr>
                <a:t>测试</a:t>
              </a:r>
              <a:endParaRPr lang="zh-CN" altLang="en-US" sz="1600">
                <a:solidFill>
                  <a:schemeClr val="bg1"/>
                </a:solidFill>
                <a:effectLst>
                  <a:outerShdw blurRad="38100" dist="38100" dir="2700000" algn="tl">
                    <a:srgbClr val="000000">
                      <a:alpha val="43137"/>
                    </a:srgbClr>
                  </a:outerShdw>
                </a:effectLst>
                <a:latin typeface="+mj-ea"/>
                <a:ea typeface="+mj-ea"/>
              </a:endParaRPr>
            </a:p>
          </p:txBody>
        </p:sp>
        <p:sp>
          <p:nvSpPr>
            <p:cNvPr id="70673" name="Rectangle 17"/>
            <p:cNvSpPr>
              <a:spLocks noChangeArrowheads="1"/>
            </p:cNvSpPr>
            <p:nvPr/>
          </p:nvSpPr>
          <p:spPr bwMode="auto">
            <a:xfrm>
              <a:off x="6575425" y="2865438"/>
              <a:ext cx="685800" cy="457200"/>
            </a:xfrm>
            <a:prstGeom prst="rect">
              <a:avLst/>
            </a:prstGeom>
            <a:solidFill>
              <a:srgbClr val="00CC00"/>
            </a:solidFill>
            <a:ln w="9525">
              <a:miter lim="800000"/>
            </a:ln>
            <a:scene3d>
              <a:camera prst="legacyPerspectiveTopRight"/>
              <a:lightRig rig="legacyFlat3" dir="b"/>
            </a:scene3d>
            <a:sp3d extrusionH="887400" prstMaterial="legacyMatte">
              <a:bevelT w="13500" h="13500" prst="angle"/>
              <a:bevelB w="13500" h="13500" prst="angle"/>
              <a:extrusionClr>
                <a:srgbClr val="00CC00"/>
              </a:extrusionClr>
            </a:sp3d>
          </p:spPr>
          <p:txBody>
            <a:bodyPr wrap="none" anchor="ctr">
              <a:flatTx/>
            </a:bodyPr>
            <a:lstStyle/>
            <a:p>
              <a:pPr algn="ctr"/>
              <a:r>
                <a:rPr lang="zh-CN" altLang="en-US" sz="1600">
                  <a:solidFill>
                    <a:schemeClr val="bg1"/>
                  </a:solidFill>
                  <a:effectLst>
                    <a:outerShdw blurRad="38100" dist="38100" dir="2700000" algn="tl">
                      <a:srgbClr val="000000">
                        <a:alpha val="43137"/>
                      </a:srgbClr>
                    </a:outerShdw>
                  </a:effectLst>
                  <a:latin typeface="+mj-ea"/>
                  <a:ea typeface="+mj-ea"/>
                </a:rPr>
                <a:t>测试</a:t>
              </a:r>
              <a:endParaRPr lang="zh-CN" altLang="en-US" sz="1600">
                <a:solidFill>
                  <a:schemeClr val="bg1"/>
                </a:solidFill>
                <a:effectLst>
                  <a:outerShdw blurRad="38100" dist="38100" dir="2700000" algn="tl">
                    <a:srgbClr val="000000">
                      <a:alpha val="43137"/>
                    </a:srgbClr>
                  </a:outerShdw>
                </a:effectLst>
                <a:latin typeface="+mj-ea"/>
                <a:ea typeface="+mj-ea"/>
              </a:endParaRPr>
            </a:p>
          </p:txBody>
        </p:sp>
        <p:sp>
          <p:nvSpPr>
            <p:cNvPr id="70674" name="Rectangle 18"/>
            <p:cNvSpPr>
              <a:spLocks noChangeArrowheads="1"/>
            </p:cNvSpPr>
            <p:nvPr/>
          </p:nvSpPr>
          <p:spPr bwMode="auto">
            <a:xfrm>
              <a:off x="6932613" y="3946525"/>
              <a:ext cx="685800" cy="457200"/>
            </a:xfrm>
            <a:prstGeom prst="rect">
              <a:avLst/>
            </a:prstGeom>
            <a:solidFill>
              <a:schemeClr val="hlink"/>
            </a:solidFill>
            <a:ln w="9525">
              <a:miter lim="800000"/>
            </a:ln>
            <a:scene3d>
              <a:camera prst="legacyPerspectiveTopRight"/>
              <a:lightRig rig="legacyFlat3" dir="b"/>
            </a:scene3d>
            <a:sp3d extrusionH="887400" prstMaterial="legacyMatte">
              <a:bevelT w="13500" h="13500" prst="angle"/>
              <a:bevelB w="13500" h="13500" prst="angle"/>
              <a:extrusionClr>
                <a:schemeClr val="hlink"/>
              </a:extrusionClr>
            </a:sp3d>
          </p:spPr>
          <p:txBody>
            <a:bodyPr wrap="none" anchor="ctr">
              <a:flatTx/>
            </a:bodyPr>
            <a:lstStyle/>
            <a:p>
              <a:pPr algn="ctr"/>
              <a:r>
                <a:rPr lang="zh-CN" altLang="en-US" sz="1600">
                  <a:solidFill>
                    <a:schemeClr val="bg1"/>
                  </a:solidFill>
                  <a:effectLst>
                    <a:outerShdw blurRad="38100" dist="38100" dir="2700000" algn="tl">
                      <a:srgbClr val="000000">
                        <a:alpha val="43137"/>
                      </a:srgbClr>
                    </a:outerShdw>
                  </a:effectLst>
                  <a:latin typeface="+mj-ea"/>
                  <a:ea typeface="+mj-ea"/>
                </a:rPr>
                <a:t>测试</a:t>
              </a:r>
              <a:endParaRPr lang="zh-CN" altLang="en-US" sz="1600">
                <a:solidFill>
                  <a:schemeClr val="bg1"/>
                </a:solidFill>
                <a:effectLst>
                  <a:outerShdw blurRad="38100" dist="38100" dir="2700000" algn="tl">
                    <a:srgbClr val="000000">
                      <a:alpha val="43137"/>
                    </a:srgbClr>
                  </a:outerShdw>
                </a:effectLst>
                <a:latin typeface="+mj-ea"/>
                <a:ea typeface="+mj-ea"/>
              </a:endParaRPr>
            </a:p>
          </p:txBody>
        </p:sp>
        <p:sp>
          <p:nvSpPr>
            <p:cNvPr id="70675" name="Line 19"/>
            <p:cNvSpPr>
              <a:spLocks noChangeShapeType="1"/>
            </p:cNvSpPr>
            <p:nvPr/>
          </p:nvSpPr>
          <p:spPr bwMode="auto">
            <a:xfrm flipV="1">
              <a:off x="625475" y="696913"/>
              <a:ext cx="0" cy="4249737"/>
            </a:xfrm>
            <a:prstGeom prst="line">
              <a:avLst/>
            </a:prstGeom>
            <a:noFill/>
            <a:ln w="28575">
              <a:solidFill>
                <a:schemeClr val="tx1"/>
              </a:solidFill>
              <a:round/>
            </a:ln>
          </p:spPr>
          <p:txBody>
            <a:bodyPr/>
            <a:lstStyle/>
            <a:p>
              <a:endParaRPr lang="zh-CN" altLang="en-US" sz="1600">
                <a:latin typeface="+mj-ea"/>
                <a:ea typeface="+mj-ea"/>
              </a:endParaRPr>
            </a:p>
          </p:txBody>
        </p:sp>
        <p:sp>
          <p:nvSpPr>
            <p:cNvPr id="70676" name="Text Box 20"/>
            <p:cNvSpPr txBox="1">
              <a:spLocks noChangeArrowheads="1"/>
            </p:cNvSpPr>
            <p:nvPr/>
          </p:nvSpPr>
          <p:spPr bwMode="auto">
            <a:xfrm>
              <a:off x="683751" y="933962"/>
              <a:ext cx="1035051" cy="451405"/>
            </a:xfrm>
            <a:prstGeom prst="rect">
              <a:avLst/>
            </a:prstGeom>
            <a:noFill/>
            <a:ln w="9525">
              <a:noFill/>
              <a:miter lim="800000"/>
            </a:ln>
          </p:spPr>
          <p:txBody>
            <a:bodyPr wrap="square">
              <a:spAutoFit/>
            </a:bodyPr>
            <a:lstStyle/>
            <a:p>
              <a:pPr>
                <a:spcBef>
                  <a:spcPct val="50000"/>
                </a:spcBef>
              </a:pPr>
              <a:r>
                <a:rPr lang="zh-CN" altLang="en-US" sz="1600" dirty="0">
                  <a:solidFill>
                    <a:srgbClr val="FF0000"/>
                  </a:solidFill>
                  <a:latin typeface="+mj-ea"/>
                  <a:ea typeface="+mj-ea"/>
                </a:rPr>
                <a:t>增量</a:t>
              </a:r>
              <a:r>
                <a:rPr lang="en-US" altLang="zh-CN" sz="1600" dirty="0">
                  <a:solidFill>
                    <a:srgbClr val="FF0000"/>
                  </a:solidFill>
                  <a:latin typeface="+mj-ea"/>
                  <a:ea typeface="+mj-ea"/>
                </a:rPr>
                <a:t>1</a:t>
              </a:r>
              <a:endParaRPr lang="en-US" altLang="zh-CN" sz="1600" dirty="0">
                <a:solidFill>
                  <a:srgbClr val="FF0000"/>
                </a:solidFill>
                <a:latin typeface="+mj-ea"/>
                <a:ea typeface="+mj-ea"/>
              </a:endParaRPr>
            </a:p>
          </p:txBody>
        </p:sp>
        <p:sp>
          <p:nvSpPr>
            <p:cNvPr id="70677" name="Line 21"/>
            <p:cNvSpPr>
              <a:spLocks noChangeShapeType="1"/>
            </p:cNvSpPr>
            <p:nvPr/>
          </p:nvSpPr>
          <p:spPr bwMode="auto">
            <a:xfrm>
              <a:off x="630238" y="4946650"/>
              <a:ext cx="7954962" cy="11113"/>
            </a:xfrm>
            <a:prstGeom prst="line">
              <a:avLst/>
            </a:prstGeom>
            <a:noFill/>
            <a:ln w="28575">
              <a:solidFill>
                <a:schemeClr val="tx1"/>
              </a:solidFill>
              <a:round/>
              <a:tailEnd type="triangle" w="med" len="med"/>
            </a:ln>
          </p:spPr>
          <p:txBody>
            <a:bodyPr/>
            <a:lstStyle/>
            <a:p>
              <a:endParaRPr lang="zh-CN" altLang="en-US" sz="1600">
                <a:latin typeface="+mj-ea"/>
                <a:ea typeface="+mj-ea"/>
              </a:endParaRPr>
            </a:p>
          </p:txBody>
        </p:sp>
        <p:sp>
          <p:nvSpPr>
            <p:cNvPr id="70678" name="Text Box 22"/>
            <p:cNvSpPr txBox="1">
              <a:spLocks noChangeArrowheads="1"/>
            </p:cNvSpPr>
            <p:nvPr/>
          </p:nvSpPr>
          <p:spPr bwMode="auto">
            <a:xfrm>
              <a:off x="1596564" y="1942023"/>
              <a:ext cx="1035051" cy="451405"/>
            </a:xfrm>
            <a:prstGeom prst="rect">
              <a:avLst/>
            </a:prstGeom>
            <a:noFill/>
            <a:ln w="9525">
              <a:noFill/>
              <a:miter lim="800000"/>
            </a:ln>
          </p:spPr>
          <p:txBody>
            <a:bodyPr wrap="square">
              <a:spAutoFit/>
            </a:bodyPr>
            <a:lstStyle/>
            <a:p>
              <a:pPr>
                <a:spcBef>
                  <a:spcPct val="50000"/>
                </a:spcBef>
              </a:pPr>
              <a:r>
                <a:rPr lang="zh-CN" altLang="en-US" sz="1600" dirty="0">
                  <a:solidFill>
                    <a:srgbClr val="FF0000"/>
                  </a:solidFill>
                  <a:latin typeface="+mj-ea"/>
                  <a:ea typeface="+mj-ea"/>
                </a:rPr>
                <a:t>增量</a:t>
              </a:r>
              <a:r>
                <a:rPr lang="en-US" altLang="zh-CN" sz="1600" dirty="0">
                  <a:solidFill>
                    <a:srgbClr val="FF0000"/>
                  </a:solidFill>
                  <a:latin typeface="+mj-ea"/>
                  <a:ea typeface="+mj-ea"/>
                </a:rPr>
                <a:t>2 </a:t>
              </a:r>
              <a:endParaRPr lang="en-US" altLang="zh-CN" sz="1600" dirty="0">
                <a:solidFill>
                  <a:srgbClr val="FF0000"/>
                </a:solidFill>
                <a:latin typeface="+mj-ea"/>
                <a:ea typeface="+mj-ea"/>
              </a:endParaRPr>
            </a:p>
          </p:txBody>
        </p:sp>
        <p:sp>
          <p:nvSpPr>
            <p:cNvPr id="70679" name="Text Box 23"/>
            <p:cNvSpPr txBox="1">
              <a:spLocks noChangeArrowheads="1"/>
            </p:cNvSpPr>
            <p:nvPr/>
          </p:nvSpPr>
          <p:spPr bwMode="auto">
            <a:xfrm>
              <a:off x="2430002" y="2873887"/>
              <a:ext cx="1035051" cy="451405"/>
            </a:xfrm>
            <a:prstGeom prst="rect">
              <a:avLst/>
            </a:prstGeom>
            <a:noFill/>
            <a:ln w="9525">
              <a:noFill/>
              <a:miter lim="800000"/>
            </a:ln>
          </p:spPr>
          <p:txBody>
            <a:bodyPr wrap="square">
              <a:spAutoFit/>
            </a:bodyPr>
            <a:lstStyle/>
            <a:p>
              <a:pPr>
                <a:spcBef>
                  <a:spcPct val="50000"/>
                </a:spcBef>
              </a:pPr>
              <a:r>
                <a:rPr lang="zh-CN" altLang="en-US" sz="1600" dirty="0">
                  <a:solidFill>
                    <a:srgbClr val="FF0000"/>
                  </a:solidFill>
                  <a:latin typeface="+mj-ea"/>
                  <a:ea typeface="+mj-ea"/>
                </a:rPr>
                <a:t>增量</a:t>
              </a:r>
              <a:r>
                <a:rPr lang="en-US" altLang="zh-CN" sz="1600" dirty="0">
                  <a:solidFill>
                    <a:srgbClr val="FF0000"/>
                  </a:solidFill>
                  <a:latin typeface="+mj-ea"/>
                  <a:ea typeface="+mj-ea"/>
                </a:rPr>
                <a:t>3</a:t>
              </a:r>
              <a:endParaRPr lang="en-US" altLang="zh-CN" sz="1600" dirty="0">
                <a:solidFill>
                  <a:srgbClr val="FF0000"/>
                </a:solidFill>
                <a:latin typeface="+mj-ea"/>
                <a:ea typeface="+mj-ea"/>
              </a:endParaRPr>
            </a:p>
          </p:txBody>
        </p:sp>
        <p:sp>
          <p:nvSpPr>
            <p:cNvPr id="70680" name="Text Box 24"/>
            <p:cNvSpPr txBox="1">
              <a:spLocks noChangeArrowheads="1"/>
            </p:cNvSpPr>
            <p:nvPr/>
          </p:nvSpPr>
          <p:spPr bwMode="auto">
            <a:xfrm>
              <a:off x="3006264" y="3953387"/>
              <a:ext cx="1035051" cy="451405"/>
            </a:xfrm>
            <a:prstGeom prst="rect">
              <a:avLst/>
            </a:prstGeom>
            <a:noFill/>
            <a:ln w="9525">
              <a:noFill/>
              <a:miter lim="800000"/>
            </a:ln>
          </p:spPr>
          <p:txBody>
            <a:bodyPr wrap="square">
              <a:spAutoFit/>
            </a:bodyPr>
            <a:lstStyle/>
            <a:p>
              <a:pPr>
                <a:spcBef>
                  <a:spcPct val="50000"/>
                </a:spcBef>
              </a:pPr>
              <a:r>
                <a:rPr lang="zh-CN" altLang="en-US" sz="1600">
                  <a:solidFill>
                    <a:srgbClr val="FF0000"/>
                  </a:solidFill>
                  <a:latin typeface="+mj-ea"/>
                  <a:ea typeface="+mj-ea"/>
                </a:rPr>
                <a:t>增量</a:t>
              </a:r>
              <a:r>
                <a:rPr lang="en-US" altLang="zh-CN" sz="1600">
                  <a:solidFill>
                    <a:srgbClr val="FF0000"/>
                  </a:solidFill>
                  <a:latin typeface="+mj-ea"/>
                  <a:ea typeface="+mj-ea"/>
                </a:rPr>
                <a:t>4 </a:t>
              </a:r>
              <a:endParaRPr lang="en-US" altLang="zh-CN" sz="1600">
                <a:solidFill>
                  <a:srgbClr val="FF0000"/>
                </a:solidFill>
                <a:latin typeface="+mj-ea"/>
                <a:ea typeface="+mj-ea"/>
              </a:endParaRPr>
            </a:p>
          </p:txBody>
        </p:sp>
        <p:sp>
          <p:nvSpPr>
            <p:cNvPr id="70681" name="Line 25"/>
            <p:cNvSpPr>
              <a:spLocks noChangeShapeType="1"/>
            </p:cNvSpPr>
            <p:nvPr/>
          </p:nvSpPr>
          <p:spPr bwMode="auto">
            <a:xfrm>
              <a:off x="2355850" y="1150938"/>
              <a:ext cx="381000" cy="0"/>
            </a:xfrm>
            <a:prstGeom prst="line">
              <a:avLst/>
            </a:prstGeom>
            <a:noFill/>
            <a:ln w="9525">
              <a:solidFill>
                <a:schemeClr val="tx1"/>
              </a:solidFill>
              <a:round/>
              <a:tailEnd type="triangle" w="med" len="med"/>
            </a:ln>
          </p:spPr>
          <p:txBody>
            <a:bodyPr/>
            <a:lstStyle/>
            <a:p>
              <a:endParaRPr lang="zh-CN" altLang="en-US" sz="1600">
                <a:latin typeface="+mj-ea"/>
                <a:ea typeface="+mj-ea"/>
              </a:endParaRPr>
            </a:p>
          </p:txBody>
        </p:sp>
        <p:sp>
          <p:nvSpPr>
            <p:cNvPr id="70682" name="Line 26"/>
            <p:cNvSpPr>
              <a:spLocks noChangeShapeType="1"/>
            </p:cNvSpPr>
            <p:nvPr/>
          </p:nvSpPr>
          <p:spPr bwMode="auto">
            <a:xfrm>
              <a:off x="3498850" y="1150938"/>
              <a:ext cx="381000" cy="0"/>
            </a:xfrm>
            <a:prstGeom prst="line">
              <a:avLst/>
            </a:prstGeom>
            <a:noFill/>
            <a:ln w="9525">
              <a:solidFill>
                <a:schemeClr val="tx1"/>
              </a:solidFill>
              <a:round/>
              <a:tailEnd type="triangle" w="med" len="med"/>
            </a:ln>
          </p:spPr>
          <p:txBody>
            <a:bodyPr/>
            <a:lstStyle/>
            <a:p>
              <a:endParaRPr lang="zh-CN" altLang="en-US" sz="1600">
                <a:latin typeface="+mj-ea"/>
                <a:ea typeface="+mj-ea"/>
              </a:endParaRPr>
            </a:p>
          </p:txBody>
        </p:sp>
        <p:sp>
          <p:nvSpPr>
            <p:cNvPr id="70683" name="Line 27"/>
            <p:cNvSpPr>
              <a:spLocks noChangeShapeType="1"/>
            </p:cNvSpPr>
            <p:nvPr/>
          </p:nvSpPr>
          <p:spPr bwMode="auto">
            <a:xfrm>
              <a:off x="4565650" y="1150938"/>
              <a:ext cx="457200" cy="0"/>
            </a:xfrm>
            <a:prstGeom prst="line">
              <a:avLst/>
            </a:prstGeom>
            <a:noFill/>
            <a:ln w="9525">
              <a:solidFill>
                <a:schemeClr val="tx1"/>
              </a:solidFill>
              <a:round/>
              <a:tailEnd type="triangle" w="med" len="med"/>
            </a:ln>
          </p:spPr>
          <p:txBody>
            <a:bodyPr/>
            <a:lstStyle/>
            <a:p>
              <a:endParaRPr lang="zh-CN" altLang="en-US" sz="1600">
                <a:latin typeface="+mj-ea"/>
                <a:ea typeface="+mj-ea"/>
              </a:endParaRPr>
            </a:p>
          </p:txBody>
        </p:sp>
        <p:sp>
          <p:nvSpPr>
            <p:cNvPr id="70684" name="Line 28"/>
            <p:cNvSpPr>
              <a:spLocks noChangeShapeType="1"/>
            </p:cNvSpPr>
            <p:nvPr/>
          </p:nvSpPr>
          <p:spPr bwMode="auto">
            <a:xfrm>
              <a:off x="3421063" y="2159000"/>
              <a:ext cx="304800" cy="0"/>
            </a:xfrm>
            <a:prstGeom prst="line">
              <a:avLst/>
            </a:prstGeom>
            <a:noFill/>
            <a:ln w="9525">
              <a:solidFill>
                <a:schemeClr val="tx1"/>
              </a:solidFill>
              <a:round/>
              <a:tailEnd type="triangle" w="med" len="med"/>
            </a:ln>
          </p:spPr>
          <p:txBody>
            <a:bodyPr/>
            <a:lstStyle/>
            <a:p>
              <a:endParaRPr lang="zh-CN" altLang="en-US" sz="1600">
                <a:latin typeface="+mj-ea"/>
                <a:ea typeface="+mj-ea"/>
              </a:endParaRPr>
            </a:p>
          </p:txBody>
        </p:sp>
        <p:sp>
          <p:nvSpPr>
            <p:cNvPr id="70685" name="Line 29"/>
            <p:cNvSpPr>
              <a:spLocks noChangeShapeType="1"/>
            </p:cNvSpPr>
            <p:nvPr/>
          </p:nvSpPr>
          <p:spPr bwMode="auto">
            <a:xfrm>
              <a:off x="5478463" y="2159000"/>
              <a:ext cx="304800" cy="0"/>
            </a:xfrm>
            <a:prstGeom prst="line">
              <a:avLst/>
            </a:prstGeom>
            <a:noFill/>
            <a:ln w="9525">
              <a:solidFill>
                <a:schemeClr val="tx1"/>
              </a:solidFill>
              <a:round/>
              <a:tailEnd type="triangle" w="med" len="med"/>
            </a:ln>
          </p:spPr>
          <p:txBody>
            <a:bodyPr/>
            <a:lstStyle/>
            <a:p>
              <a:endParaRPr lang="zh-CN" altLang="en-US" sz="1600">
                <a:latin typeface="+mj-ea"/>
                <a:ea typeface="+mj-ea"/>
              </a:endParaRPr>
            </a:p>
          </p:txBody>
        </p:sp>
        <p:sp>
          <p:nvSpPr>
            <p:cNvPr id="70686" name="Line 30"/>
            <p:cNvSpPr>
              <a:spLocks noChangeShapeType="1"/>
            </p:cNvSpPr>
            <p:nvPr/>
          </p:nvSpPr>
          <p:spPr bwMode="auto">
            <a:xfrm>
              <a:off x="4487863" y="2159000"/>
              <a:ext cx="304800" cy="0"/>
            </a:xfrm>
            <a:prstGeom prst="line">
              <a:avLst/>
            </a:prstGeom>
            <a:noFill/>
            <a:ln w="9525">
              <a:solidFill>
                <a:schemeClr val="tx1"/>
              </a:solidFill>
              <a:round/>
              <a:tailEnd type="triangle" w="med" len="med"/>
            </a:ln>
          </p:spPr>
          <p:txBody>
            <a:bodyPr/>
            <a:lstStyle/>
            <a:p>
              <a:endParaRPr lang="zh-CN" altLang="en-US" sz="1600">
                <a:latin typeface="+mj-ea"/>
                <a:ea typeface="+mj-ea"/>
              </a:endParaRPr>
            </a:p>
          </p:txBody>
        </p:sp>
        <p:sp>
          <p:nvSpPr>
            <p:cNvPr id="70687" name="Line 31"/>
            <p:cNvSpPr>
              <a:spLocks noChangeShapeType="1"/>
            </p:cNvSpPr>
            <p:nvPr/>
          </p:nvSpPr>
          <p:spPr bwMode="auto">
            <a:xfrm>
              <a:off x="4213225" y="3094038"/>
              <a:ext cx="304800" cy="0"/>
            </a:xfrm>
            <a:prstGeom prst="line">
              <a:avLst/>
            </a:prstGeom>
            <a:noFill/>
            <a:ln w="9525">
              <a:solidFill>
                <a:schemeClr val="tx1"/>
              </a:solidFill>
              <a:round/>
              <a:tailEnd type="triangle" w="med" len="med"/>
            </a:ln>
          </p:spPr>
          <p:txBody>
            <a:bodyPr/>
            <a:lstStyle/>
            <a:p>
              <a:endParaRPr lang="zh-CN" altLang="en-US" sz="1600">
                <a:latin typeface="+mj-ea"/>
                <a:ea typeface="+mj-ea"/>
              </a:endParaRPr>
            </a:p>
          </p:txBody>
        </p:sp>
        <p:sp>
          <p:nvSpPr>
            <p:cNvPr id="70688" name="Line 32"/>
            <p:cNvSpPr>
              <a:spLocks noChangeShapeType="1"/>
            </p:cNvSpPr>
            <p:nvPr/>
          </p:nvSpPr>
          <p:spPr bwMode="auto">
            <a:xfrm>
              <a:off x="5280025" y="3094038"/>
              <a:ext cx="304800" cy="0"/>
            </a:xfrm>
            <a:prstGeom prst="line">
              <a:avLst/>
            </a:prstGeom>
            <a:noFill/>
            <a:ln w="9525">
              <a:solidFill>
                <a:schemeClr val="tx1"/>
              </a:solidFill>
              <a:round/>
              <a:tailEnd type="triangle" w="med" len="med"/>
            </a:ln>
          </p:spPr>
          <p:txBody>
            <a:bodyPr/>
            <a:lstStyle/>
            <a:p>
              <a:endParaRPr lang="zh-CN" altLang="en-US" sz="1600">
                <a:latin typeface="+mj-ea"/>
                <a:ea typeface="+mj-ea"/>
              </a:endParaRPr>
            </a:p>
          </p:txBody>
        </p:sp>
        <p:sp>
          <p:nvSpPr>
            <p:cNvPr id="70689" name="Line 33"/>
            <p:cNvSpPr>
              <a:spLocks noChangeShapeType="1"/>
            </p:cNvSpPr>
            <p:nvPr/>
          </p:nvSpPr>
          <p:spPr bwMode="auto">
            <a:xfrm>
              <a:off x="6270625" y="3094038"/>
              <a:ext cx="304800" cy="0"/>
            </a:xfrm>
            <a:prstGeom prst="line">
              <a:avLst/>
            </a:prstGeom>
            <a:noFill/>
            <a:ln w="9525">
              <a:solidFill>
                <a:schemeClr val="tx1"/>
              </a:solidFill>
              <a:round/>
              <a:tailEnd type="triangle" w="med" len="med"/>
            </a:ln>
          </p:spPr>
          <p:txBody>
            <a:bodyPr/>
            <a:lstStyle/>
            <a:p>
              <a:endParaRPr lang="zh-CN" altLang="en-US" sz="1600">
                <a:latin typeface="+mj-ea"/>
                <a:ea typeface="+mj-ea"/>
              </a:endParaRPr>
            </a:p>
          </p:txBody>
        </p:sp>
        <p:sp>
          <p:nvSpPr>
            <p:cNvPr id="70690" name="Line 34"/>
            <p:cNvSpPr>
              <a:spLocks noChangeShapeType="1"/>
            </p:cNvSpPr>
            <p:nvPr/>
          </p:nvSpPr>
          <p:spPr bwMode="auto">
            <a:xfrm>
              <a:off x="4646613" y="4175125"/>
              <a:ext cx="304800" cy="0"/>
            </a:xfrm>
            <a:prstGeom prst="line">
              <a:avLst/>
            </a:prstGeom>
            <a:noFill/>
            <a:ln w="9525">
              <a:solidFill>
                <a:schemeClr val="tx1"/>
              </a:solidFill>
              <a:round/>
              <a:tailEnd type="triangle" w="med" len="med"/>
            </a:ln>
          </p:spPr>
          <p:txBody>
            <a:bodyPr/>
            <a:lstStyle/>
            <a:p>
              <a:endParaRPr lang="zh-CN" altLang="en-US" sz="1600">
                <a:latin typeface="+mj-ea"/>
                <a:ea typeface="+mj-ea"/>
              </a:endParaRPr>
            </a:p>
          </p:txBody>
        </p:sp>
        <p:sp>
          <p:nvSpPr>
            <p:cNvPr id="70691" name="Line 35"/>
            <p:cNvSpPr>
              <a:spLocks noChangeShapeType="1"/>
            </p:cNvSpPr>
            <p:nvPr/>
          </p:nvSpPr>
          <p:spPr bwMode="auto">
            <a:xfrm>
              <a:off x="5713413" y="4175125"/>
              <a:ext cx="304800" cy="0"/>
            </a:xfrm>
            <a:prstGeom prst="line">
              <a:avLst/>
            </a:prstGeom>
            <a:noFill/>
            <a:ln w="9525">
              <a:solidFill>
                <a:schemeClr val="tx1"/>
              </a:solidFill>
              <a:round/>
              <a:tailEnd type="triangle" w="med" len="med"/>
            </a:ln>
          </p:spPr>
          <p:txBody>
            <a:bodyPr/>
            <a:lstStyle/>
            <a:p>
              <a:endParaRPr lang="zh-CN" altLang="en-US" sz="1600">
                <a:latin typeface="+mj-ea"/>
                <a:ea typeface="+mj-ea"/>
              </a:endParaRPr>
            </a:p>
          </p:txBody>
        </p:sp>
        <p:sp>
          <p:nvSpPr>
            <p:cNvPr id="70692" name="Line 36"/>
            <p:cNvSpPr>
              <a:spLocks noChangeShapeType="1"/>
            </p:cNvSpPr>
            <p:nvPr/>
          </p:nvSpPr>
          <p:spPr bwMode="auto">
            <a:xfrm>
              <a:off x="6704013" y="4175125"/>
              <a:ext cx="228600" cy="0"/>
            </a:xfrm>
            <a:prstGeom prst="line">
              <a:avLst/>
            </a:prstGeom>
            <a:noFill/>
            <a:ln w="9525">
              <a:solidFill>
                <a:schemeClr val="tx1"/>
              </a:solidFill>
              <a:round/>
              <a:tailEnd type="triangle" w="med" len="med"/>
            </a:ln>
          </p:spPr>
          <p:txBody>
            <a:bodyPr/>
            <a:lstStyle/>
            <a:p>
              <a:endParaRPr lang="zh-CN" altLang="en-US" sz="1600">
                <a:latin typeface="+mj-ea"/>
                <a:ea typeface="+mj-ea"/>
              </a:endParaRPr>
            </a:p>
          </p:txBody>
        </p:sp>
        <p:sp>
          <p:nvSpPr>
            <p:cNvPr id="70693" name="Rectangle 37"/>
            <p:cNvSpPr>
              <a:spLocks noChangeArrowheads="1"/>
            </p:cNvSpPr>
            <p:nvPr/>
          </p:nvSpPr>
          <p:spPr bwMode="auto">
            <a:xfrm>
              <a:off x="6227763" y="927100"/>
              <a:ext cx="685800" cy="457200"/>
            </a:xfrm>
            <a:prstGeom prst="rect">
              <a:avLst/>
            </a:prstGeom>
            <a:solidFill>
              <a:srgbClr val="FF0066"/>
            </a:solidFill>
            <a:ln w="9525">
              <a:miter lim="800000"/>
            </a:ln>
            <a:scene3d>
              <a:camera prst="legacyPerspectiveTopRight"/>
              <a:lightRig rig="legacyFlat3" dir="b"/>
            </a:scene3d>
            <a:sp3d extrusionH="887400" prstMaterial="legacyMatte">
              <a:bevelT w="13500" h="13500" prst="angle"/>
              <a:bevelB w="13500" h="13500" prst="angle"/>
              <a:extrusionClr>
                <a:srgbClr val="FF0066"/>
              </a:extrusionClr>
            </a:sp3d>
          </p:spPr>
          <p:txBody>
            <a:bodyPr wrap="none" anchor="ctr">
              <a:flatTx/>
            </a:bodyPr>
            <a:lstStyle/>
            <a:p>
              <a:pPr algn="ctr"/>
              <a:r>
                <a:rPr lang="zh-CN" altLang="en-US" sz="1600">
                  <a:solidFill>
                    <a:schemeClr val="bg1"/>
                  </a:solidFill>
                  <a:effectLst>
                    <a:outerShdw blurRad="38100" dist="38100" dir="2700000" algn="tl">
                      <a:srgbClr val="000000">
                        <a:alpha val="43137"/>
                      </a:srgbClr>
                    </a:outerShdw>
                  </a:effectLst>
                  <a:latin typeface="+mj-ea"/>
                  <a:ea typeface="+mj-ea"/>
                </a:rPr>
                <a:t>交付</a:t>
              </a:r>
              <a:endParaRPr lang="zh-CN" altLang="en-US" sz="1600">
                <a:solidFill>
                  <a:schemeClr val="bg1"/>
                </a:solidFill>
                <a:effectLst>
                  <a:outerShdw blurRad="38100" dist="38100" dir="2700000" algn="tl">
                    <a:srgbClr val="000000">
                      <a:alpha val="43137"/>
                    </a:srgbClr>
                  </a:outerShdw>
                </a:effectLst>
                <a:latin typeface="+mj-ea"/>
                <a:ea typeface="+mj-ea"/>
              </a:endParaRPr>
            </a:p>
          </p:txBody>
        </p:sp>
        <p:sp>
          <p:nvSpPr>
            <p:cNvPr id="70694" name="Line 38"/>
            <p:cNvSpPr>
              <a:spLocks noChangeShapeType="1"/>
            </p:cNvSpPr>
            <p:nvPr/>
          </p:nvSpPr>
          <p:spPr bwMode="auto">
            <a:xfrm>
              <a:off x="5795963" y="1143000"/>
              <a:ext cx="457200" cy="0"/>
            </a:xfrm>
            <a:prstGeom prst="line">
              <a:avLst/>
            </a:prstGeom>
            <a:noFill/>
            <a:ln w="9525">
              <a:solidFill>
                <a:schemeClr val="tx1"/>
              </a:solidFill>
              <a:round/>
              <a:tailEnd type="triangle" w="med" len="med"/>
            </a:ln>
          </p:spPr>
          <p:txBody>
            <a:bodyPr/>
            <a:lstStyle/>
            <a:p>
              <a:endParaRPr lang="zh-CN" altLang="en-US" sz="1600">
                <a:latin typeface="+mj-ea"/>
                <a:ea typeface="+mj-ea"/>
              </a:endParaRPr>
            </a:p>
          </p:txBody>
        </p:sp>
        <p:sp>
          <p:nvSpPr>
            <p:cNvPr id="70695" name="Rectangle 39"/>
            <p:cNvSpPr>
              <a:spLocks noChangeArrowheads="1"/>
            </p:cNvSpPr>
            <p:nvPr/>
          </p:nvSpPr>
          <p:spPr bwMode="auto">
            <a:xfrm>
              <a:off x="6784975" y="1952625"/>
              <a:ext cx="685800" cy="457200"/>
            </a:xfrm>
            <a:prstGeom prst="rect">
              <a:avLst/>
            </a:prstGeom>
            <a:solidFill>
              <a:srgbClr val="FF9900"/>
            </a:solidFill>
            <a:ln w="9525">
              <a:miter lim="800000"/>
            </a:ln>
            <a:scene3d>
              <a:camera prst="legacyPerspectiveTopRight"/>
              <a:lightRig rig="legacyFlat3" dir="b"/>
            </a:scene3d>
            <a:sp3d extrusionH="887400" prstMaterial="legacyMatte">
              <a:bevelT w="13500" h="13500" prst="angle"/>
              <a:bevelB w="13500" h="13500" prst="angle"/>
              <a:extrusionClr>
                <a:srgbClr val="FF9900"/>
              </a:extrusionClr>
            </a:sp3d>
          </p:spPr>
          <p:txBody>
            <a:bodyPr wrap="none" anchor="ctr">
              <a:flatTx/>
            </a:bodyPr>
            <a:lstStyle/>
            <a:p>
              <a:pPr algn="ctr"/>
              <a:r>
                <a:rPr lang="zh-CN" altLang="en-US" sz="1600">
                  <a:solidFill>
                    <a:schemeClr val="bg1"/>
                  </a:solidFill>
                  <a:effectLst>
                    <a:outerShdw blurRad="38100" dist="38100" dir="2700000" algn="tl">
                      <a:srgbClr val="000000">
                        <a:alpha val="43137"/>
                      </a:srgbClr>
                    </a:outerShdw>
                  </a:effectLst>
                  <a:latin typeface="+mj-ea"/>
                  <a:ea typeface="+mj-ea"/>
                </a:rPr>
                <a:t>交付</a:t>
              </a:r>
              <a:endParaRPr lang="zh-CN" altLang="en-US" sz="1600">
                <a:solidFill>
                  <a:schemeClr val="bg1"/>
                </a:solidFill>
                <a:effectLst>
                  <a:outerShdw blurRad="38100" dist="38100" dir="2700000" algn="tl">
                    <a:srgbClr val="000000">
                      <a:alpha val="43137"/>
                    </a:srgbClr>
                  </a:outerShdw>
                </a:effectLst>
                <a:latin typeface="+mj-ea"/>
                <a:ea typeface="+mj-ea"/>
              </a:endParaRPr>
            </a:p>
          </p:txBody>
        </p:sp>
        <p:sp>
          <p:nvSpPr>
            <p:cNvPr id="70696" name="Line 40"/>
            <p:cNvSpPr>
              <a:spLocks noChangeShapeType="1"/>
            </p:cNvSpPr>
            <p:nvPr/>
          </p:nvSpPr>
          <p:spPr bwMode="auto">
            <a:xfrm>
              <a:off x="6497638" y="2168525"/>
              <a:ext cx="304800" cy="0"/>
            </a:xfrm>
            <a:prstGeom prst="line">
              <a:avLst/>
            </a:prstGeom>
            <a:noFill/>
            <a:ln w="9525">
              <a:solidFill>
                <a:schemeClr val="tx1"/>
              </a:solidFill>
              <a:round/>
              <a:tailEnd type="triangle" w="med" len="med"/>
            </a:ln>
          </p:spPr>
          <p:txBody>
            <a:bodyPr/>
            <a:lstStyle/>
            <a:p>
              <a:endParaRPr lang="zh-CN" altLang="en-US" sz="1600">
                <a:latin typeface="+mj-ea"/>
                <a:ea typeface="+mj-ea"/>
              </a:endParaRPr>
            </a:p>
          </p:txBody>
        </p:sp>
        <p:sp>
          <p:nvSpPr>
            <p:cNvPr id="70697" name="Rectangle 41"/>
            <p:cNvSpPr>
              <a:spLocks noChangeArrowheads="1"/>
            </p:cNvSpPr>
            <p:nvPr/>
          </p:nvSpPr>
          <p:spPr bwMode="auto">
            <a:xfrm>
              <a:off x="7602538" y="2852738"/>
              <a:ext cx="685800" cy="457200"/>
            </a:xfrm>
            <a:prstGeom prst="rect">
              <a:avLst/>
            </a:prstGeom>
            <a:solidFill>
              <a:srgbClr val="00CC00"/>
            </a:solidFill>
            <a:ln w="9525">
              <a:miter lim="800000"/>
            </a:ln>
            <a:scene3d>
              <a:camera prst="legacyPerspectiveTopRight"/>
              <a:lightRig rig="legacyFlat3" dir="b"/>
            </a:scene3d>
            <a:sp3d extrusionH="887400" prstMaterial="legacyMatte">
              <a:bevelT w="13500" h="13500" prst="angle"/>
              <a:bevelB w="13500" h="13500" prst="angle"/>
              <a:extrusionClr>
                <a:srgbClr val="00CC00"/>
              </a:extrusionClr>
            </a:sp3d>
          </p:spPr>
          <p:txBody>
            <a:bodyPr wrap="none" anchor="ctr">
              <a:flatTx/>
            </a:bodyPr>
            <a:lstStyle/>
            <a:p>
              <a:pPr algn="ctr"/>
              <a:r>
                <a:rPr lang="zh-CN" altLang="en-US" sz="1600">
                  <a:solidFill>
                    <a:schemeClr val="bg1"/>
                  </a:solidFill>
                  <a:effectLst>
                    <a:outerShdw blurRad="38100" dist="38100" dir="2700000" algn="tl">
                      <a:srgbClr val="000000">
                        <a:alpha val="43137"/>
                      </a:srgbClr>
                    </a:outerShdw>
                  </a:effectLst>
                  <a:latin typeface="+mj-ea"/>
                  <a:ea typeface="+mj-ea"/>
                </a:rPr>
                <a:t>交付</a:t>
              </a:r>
              <a:endParaRPr lang="zh-CN" altLang="en-US" sz="1600">
                <a:solidFill>
                  <a:schemeClr val="bg1"/>
                </a:solidFill>
                <a:effectLst>
                  <a:outerShdw blurRad="38100" dist="38100" dir="2700000" algn="tl">
                    <a:srgbClr val="000000">
                      <a:alpha val="43137"/>
                    </a:srgbClr>
                  </a:outerShdw>
                </a:effectLst>
                <a:latin typeface="+mj-ea"/>
                <a:ea typeface="+mj-ea"/>
              </a:endParaRPr>
            </a:p>
          </p:txBody>
        </p:sp>
        <p:sp>
          <p:nvSpPr>
            <p:cNvPr id="70698" name="Rectangle 42"/>
            <p:cNvSpPr>
              <a:spLocks noChangeArrowheads="1"/>
            </p:cNvSpPr>
            <p:nvPr/>
          </p:nvSpPr>
          <p:spPr bwMode="auto">
            <a:xfrm>
              <a:off x="7902575" y="3900488"/>
              <a:ext cx="685800" cy="457200"/>
            </a:xfrm>
            <a:prstGeom prst="rect">
              <a:avLst/>
            </a:prstGeom>
            <a:solidFill>
              <a:schemeClr val="hlink"/>
            </a:solidFill>
            <a:ln w="9525">
              <a:miter lim="800000"/>
            </a:ln>
            <a:scene3d>
              <a:camera prst="legacyPerspectiveTopRight"/>
              <a:lightRig rig="legacyFlat3" dir="b"/>
            </a:scene3d>
            <a:sp3d extrusionH="887400" prstMaterial="legacyMatte">
              <a:bevelT w="13500" h="13500" prst="angle"/>
              <a:bevelB w="13500" h="13500" prst="angle"/>
              <a:extrusionClr>
                <a:schemeClr val="hlink"/>
              </a:extrusionClr>
            </a:sp3d>
          </p:spPr>
          <p:txBody>
            <a:bodyPr wrap="none" anchor="ctr">
              <a:flatTx/>
            </a:bodyPr>
            <a:lstStyle/>
            <a:p>
              <a:pPr algn="ctr"/>
              <a:r>
                <a:rPr lang="zh-CN" altLang="en-US" sz="1600">
                  <a:solidFill>
                    <a:schemeClr val="bg1"/>
                  </a:solidFill>
                  <a:effectLst>
                    <a:outerShdw blurRad="38100" dist="38100" dir="2700000" algn="tl">
                      <a:srgbClr val="000000">
                        <a:alpha val="43137"/>
                      </a:srgbClr>
                    </a:outerShdw>
                  </a:effectLst>
                  <a:latin typeface="+mj-ea"/>
                  <a:ea typeface="+mj-ea"/>
                </a:rPr>
                <a:t>交付</a:t>
              </a:r>
              <a:endParaRPr lang="zh-CN" altLang="en-US" sz="1600">
                <a:solidFill>
                  <a:schemeClr val="bg1"/>
                </a:solidFill>
                <a:effectLst>
                  <a:outerShdw blurRad="38100" dist="38100" dir="2700000" algn="tl">
                    <a:srgbClr val="000000">
                      <a:alpha val="43137"/>
                    </a:srgbClr>
                  </a:outerShdw>
                </a:effectLst>
                <a:latin typeface="+mj-ea"/>
                <a:ea typeface="+mj-ea"/>
              </a:endParaRPr>
            </a:p>
          </p:txBody>
        </p:sp>
        <p:sp>
          <p:nvSpPr>
            <p:cNvPr id="70699" name="Line 43"/>
            <p:cNvSpPr>
              <a:spLocks noChangeShapeType="1"/>
            </p:cNvSpPr>
            <p:nvPr/>
          </p:nvSpPr>
          <p:spPr bwMode="auto">
            <a:xfrm>
              <a:off x="7254875" y="3081338"/>
              <a:ext cx="304800" cy="0"/>
            </a:xfrm>
            <a:prstGeom prst="line">
              <a:avLst/>
            </a:prstGeom>
            <a:noFill/>
            <a:ln w="9525">
              <a:solidFill>
                <a:schemeClr val="tx1"/>
              </a:solidFill>
              <a:round/>
              <a:tailEnd type="triangle" w="med" len="med"/>
            </a:ln>
          </p:spPr>
          <p:txBody>
            <a:bodyPr/>
            <a:lstStyle/>
            <a:p>
              <a:endParaRPr lang="zh-CN" altLang="en-US" sz="1600">
                <a:latin typeface="+mj-ea"/>
                <a:ea typeface="+mj-ea"/>
              </a:endParaRPr>
            </a:p>
          </p:txBody>
        </p:sp>
        <p:sp>
          <p:nvSpPr>
            <p:cNvPr id="70700" name="Line 44"/>
            <p:cNvSpPr>
              <a:spLocks noChangeShapeType="1"/>
            </p:cNvSpPr>
            <p:nvPr/>
          </p:nvSpPr>
          <p:spPr bwMode="auto">
            <a:xfrm>
              <a:off x="7615238" y="4162425"/>
              <a:ext cx="304800" cy="0"/>
            </a:xfrm>
            <a:prstGeom prst="line">
              <a:avLst/>
            </a:prstGeom>
            <a:noFill/>
            <a:ln w="9525">
              <a:solidFill>
                <a:schemeClr val="tx1"/>
              </a:solidFill>
              <a:round/>
              <a:tailEnd type="triangle" w="med" len="med"/>
            </a:ln>
          </p:spPr>
          <p:txBody>
            <a:bodyPr/>
            <a:lstStyle/>
            <a:p>
              <a:endParaRPr lang="zh-CN" altLang="en-US" sz="1600">
                <a:latin typeface="+mj-ea"/>
                <a:ea typeface="+mj-ea"/>
              </a:endParaRPr>
            </a:p>
          </p:txBody>
        </p:sp>
        <p:sp>
          <p:nvSpPr>
            <p:cNvPr id="70701" name="Rectangle 45"/>
            <p:cNvSpPr>
              <a:spLocks noChangeArrowheads="1"/>
            </p:cNvSpPr>
            <p:nvPr/>
          </p:nvSpPr>
          <p:spPr bwMode="auto">
            <a:xfrm>
              <a:off x="4427538" y="4678363"/>
              <a:ext cx="380875" cy="369332"/>
            </a:xfrm>
            <a:prstGeom prst="rect">
              <a:avLst/>
            </a:prstGeom>
            <a:noFill/>
            <a:ln w="12700" cap="sq">
              <a:noFill/>
              <a:miter lim="800000"/>
              <a:headEnd type="none" w="sm" len="sm"/>
              <a:tailEnd type="none" w="sm" len="sm"/>
            </a:ln>
          </p:spPr>
          <p:txBody>
            <a:bodyPr wrap="none">
              <a:spAutoFit/>
            </a:bodyPr>
            <a:lstStyle/>
            <a:p>
              <a:r>
                <a:rPr lang="zh-CN" altLang="en-US" sz="1200">
                  <a:latin typeface="+mj-ea"/>
                  <a:ea typeface="+mj-ea"/>
                </a:rPr>
                <a:t>●</a:t>
              </a:r>
              <a:endParaRPr lang="zh-CN" altLang="en-US" sz="1200">
                <a:latin typeface="+mj-ea"/>
                <a:ea typeface="+mj-ea"/>
              </a:endParaRPr>
            </a:p>
          </p:txBody>
        </p:sp>
        <p:sp>
          <p:nvSpPr>
            <p:cNvPr id="70702" name="Rectangle 46"/>
            <p:cNvSpPr>
              <a:spLocks noChangeArrowheads="1"/>
            </p:cNvSpPr>
            <p:nvPr/>
          </p:nvSpPr>
          <p:spPr bwMode="auto">
            <a:xfrm>
              <a:off x="3995738" y="4678363"/>
              <a:ext cx="380875" cy="369332"/>
            </a:xfrm>
            <a:prstGeom prst="rect">
              <a:avLst/>
            </a:prstGeom>
            <a:noFill/>
            <a:ln w="12700" cap="sq">
              <a:noFill/>
              <a:miter lim="800000"/>
              <a:headEnd type="none" w="sm" len="sm"/>
              <a:tailEnd type="none" w="sm" len="sm"/>
            </a:ln>
          </p:spPr>
          <p:txBody>
            <a:bodyPr wrap="none">
              <a:spAutoFit/>
            </a:bodyPr>
            <a:lstStyle/>
            <a:p>
              <a:r>
                <a:rPr lang="zh-CN" altLang="en-US" sz="1200">
                  <a:latin typeface="+mj-ea"/>
                  <a:ea typeface="+mj-ea"/>
                </a:rPr>
                <a:t>●</a:t>
              </a:r>
              <a:endParaRPr lang="zh-CN" altLang="en-US" sz="1200">
                <a:latin typeface="+mj-ea"/>
                <a:ea typeface="+mj-ea"/>
              </a:endParaRPr>
            </a:p>
          </p:txBody>
        </p:sp>
        <p:sp>
          <p:nvSpPr>
            <p:cNvPr id="70703" name="Rectangle 47"/>
            <p:cNvSpPr>
              <a:spLocks noChangeArrowheads="1"/>
            </p:cNvSpPr>
            <p:nvPr/>
          </p:nvSpPr>
          <p:spPr bwMode="auto">
            <a:xfrm>
              <a:off x="4859338" y="4678363"/>
              <a:ext cx="380875" cy="369332"/>
            </a:xfrm>
            <a:prstGeom prst="rect">
              <a:avLst/>
            </a:prstGeom>
            <a:noFill/>
            <a:ln w="12700" cap="sq">
              <a:noFill/>
              <a:miter lim="800000"/>
              <a:headEnd type="none" w="sm" len="sm"/>
              <a:tailEnd type="none" w="sm" len="sm"/>
            </a:ln>
          </p:spPr>
          <p:txBody>
            <a:bodyPr wrap="none">
              <a:spAutoFit/>
            </a:bodyPr>
            <a:lstStyle/>
            <a:p>
              <a:r>
                <a:rPr lang="zh-CN" altLang="en-US" sz="1200">
                  <a:latin typeface="+mj-ea"/>
                  <a:ea typeface="+mj-ea"/>
                </a:rPr>
                <a:t>●</a:t>
              </a:r>
              <a:endParaRPr lang="zh-CN" altLang="en-US" sz="1200">
                <a:latin typeface="+mj-ea"/>
                <a:ea typeface="+mj-ea"/>
              </a:endParaRPr>
            </a:p>
          </p:txBody>
        </p:sp>
        <p:sp>
          <p:nvSpPr>
            <p:cNvPr id="70704" name="Rectangle 48"/>
            <p:cNvSpPr>
              <a:spLocks noChangeArrowheads="1"/>
            </p:cNvSpPr>
            <p:nvPr/>
          </p:nvSpPr>
          <p:spPr bwMode="auto">
            <a:xfrm>
              <a:off x="5292726" y="4678363"/>
              <a:ext cx="380875" cy="369332"/>
            </a:xfrm>
            <a:prstGeom prst="rect">
              <a:avLst/>
            </a:prstGeom>
            <a:noFill/>
            <a:ln w="12700" cap="sq">
              <a:noFill/>
              <a:miter lim="800000"/>
              <a:headEnd type="none" w="sm" len="sm"/>
              <a:tailEnd type="none" w="sm" len="sm"/>
            </a:ln>
          </p:spPr>
          <p:txBody>
            <a:bodyPr wrap="none">
              <a:spAutoFit/>
            </a:bodyPr>
            <a:lstStyle/>
            <a:p>
              <a:r>
                <a:rPr lang="zh-CN" altLang="en-US" sz="1200">
                  <a:latin typeface="+mj-ea"/>
                  <a:ea typeface="+mj-ea"/>
                </a:rPr>
                <a:t>●</a:t>
              </a:r>
              <a:endParaRPr lang="zh-CN" altLang="en-US" sz="1200">
                <a:latin typeface="+mj-ea"/>
                <a:ea typeface="+mj-ea"/>
              </a:endParaRPr>
            </a:p>
          </p:txBody>
        </p:sp>
        <p:sp>
          <p:nvSpPr>
            <p:cNvPr id="70705" name="Rectangle 49"/>
            <p:cNvSpPr>
              <a:spLocks noChangeArrowheads="1"/>
            </p:cNvSpPr>
            <p:nvPr/>
          </p:nvSpPr>
          <p:spPr bwMode="auto">
            <a:xfrm>
              <a:off x="5724526" y="4678363"/>
              <a:ext cx="380875" cy="369332"/>
            </a:xfrm>
            <a:prstGeom prst="rect">
              <a:avLst/>
            </a:prstGeom>
            <a:noFill/>
            <a:ln w="12700" cap="sq">
              <a:noFill/>
              <a:miter lim="800000"/>
              <a:headEnd type="none" w="sm" len="sm"/>
              <a:tailEnd type="none" w="sm" len="sm"/>
            </a:ln>
          </p:spPr>
          <p:txBody>
            <a:bodyPr wrap="none">
              <a:spAutoFit/>
            </a:bodyPr>
            <a:lstStyle/>
            <a:p>
              <a:r>
                <a:rPr lang="zh-CN" altLang="en-US" sz="1200">
                  <a:latin typeface="+mj-ea"/>
                  <a:ea typeface="+mj-ea"/>
                </a:rPr>
                <a:t>●</a:t>
              </a:r>
              <a:endParaRPr lang="zh-CN" altLang="en-US" sz="1200">
                <a:latin typeface="+mj-ea"/>
                <a:ea typeface="+mj-ea"/>
              </a:endParaRPr>
            </a:p>
          </p:txBody>
        </p:sp>
      </p:grpSp>
      <p:sp>
        <p:nvSpPr>
          <p:cNvPr id="70706" name="Text Box 50"/>
          <p:cNvSpPr txBox="1">
            <a:spLocks noChangeArrowheads="1"/>
          </p:cNvSpPr>
          <p:nvPr/>
        </p:nvSpPr>
        <p:spPr bwMode="auto">
          <a:xfrm>
            <a:off x="202409" y="1158779"/>
            <a:ext cx="2720577" cy="3170099"/>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just" eaLnBrk="0" hangingPunct="0"/>
            <a:r>
              <a:rPr lang="en-US" altLang="zh-CN" sz="2000" dirty="0">
                <a:latin typeface="+mj-ea"/>
                <a:ea typeface="+mj-ea"/>
              </a:rPr>
              <a:t>• </a:t>
            </a:r>
            <a:r>
              <a:rPr lang="zh-CN" altLang="en-US" sz="2000" dirty="0">
                <a:latin typeface="+mj-ea"/>
                <a:ea typeface="+mj-ea"/>
              </a:rPr>
              <a:t>反复的应用瀑布模型的基本成分和原型模型的迭代特征，每一个线型过程产生一个“增量”的发布或提交，该增量均是一个可运行的产品。</a:t>
            </a:r>
            <a:endParaRPr lang="zh-CN" altLang="en-US" sz="2000" dirty="0">
              <a:latin typeface="+mj-ea"/>
              <a:ea typeface="+mj-ea"/>
            </a:endParaRPr>
          </a:p>
          <a:p>
            <a:pPr algn="just" eaLnBrk="0" hangingPunct="0"/>
            <a:r>
              <a:rPr lang="en-US" altLang="zh-CN" sz="2000" dirty="0">
                <a:latin typeface="+mj-ea"/>
                <a:ea typeface="+mj-ea"/>
              </a:rPr>
              <a:t>• </a:t>
            </a:r>
            <a:r>
              <a:rPr lang="zh-CN" altLang="en-US" sz="2000" dirty="0">
                <a:latin typeface="+mj-ea"/>
                <a:ea typeface="+mj-ea"/>
              </a:rPr>
              <a:t>早期的版本实现用户的基本需求，并提供给用户评估的平台。</a:t>
            </a:r>
            <a:endParaRPr lang="en-US" altLang="zh-CN" dirty="0">
              <a:latin typeface="+mj-ea"/>
              <a:ea typeface="+mj-ea"/>
            </a:endParaRPr>
          </a:p>
        </p:txBody>
      </p:sp>
      <p:sp>
        <p:nvSpPr>
          <p:cNvPr id="6" name="标题 5"/>
          <p:cNvSpPr>
            <a:spLocks noGrp="1"/>
          </p:cNvSpPr>
          <p:nvPr>
            <p:ph type="title"/>
          </p:nvPr>
        </p:nvSpPr>
        <p:spPr/>
        <p:txBody>
          <a:bodyPr/>
          <a:lstStyle/>
          <a:p>
            <a:r>
              <a:rPr lang="zh-CN" altLang="en-US" dirty="0"/>
              <a:t>增量模型</a:t>
            </a:r>
            <a:endParaRPr lang="zh-CN" altLang="en-US" dirty="0"/>
          </a:p>
        </p:txBody>
      </p:sp>
      <p:sp>
        <p:nvSpPr>
          <p:cNvPr id="5" name="灯片编号占位符 4"/>
          <p:cNvSpPr>
            <a:spLocks noGrp="1"/>
          </p:cNvSpPr>
          <p:nvPr>
            <p:ph type="sldNum" sz="quarter" idx="12"/>
          </p:nvPr>
        </p:nvSpPr>
        <p:spPr/>
        <p:txBody>
          <a:bodyPr/>
          <a:lstStyle/>
          <a:p>
            <a:fld id="{0A2FEC15-E8A8-49FB-BE65-FC3681B6690A}" type="slidenum">
              <a:rPr lang="ko-KR" altLang="en-US" smtClean="0"/>
            </a:fld>
            <a:endParaRPr lang="en-US" altLang="ko-KR"/>
          </a:p>
        </p:txBody>
      </p:sp>
      <p:sp>
        <p:nvSpPr>
          <p:cNvPr id="2" name="日期占位符 1"/>
          <p:cNvSpPr>
            <a:spLocks noGrp="1"/>
          </p:cNvSpPr>
          <p:nvPr>
            <p:ph type="dt" sz="half" idx="10"/>
          </p:nvPr>
        </p:nvSpPr>
        <p:spPr/>
        <p:txBody>
          <a:bodyPr/>
          <a:lstStyle/>
          <a:p>
            <a:fld id="{230BDC73-D0AE-4F3D-B6C2-4AE3C2ED23D6}"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zh-CN" altLang="en-US" sz="2000" dirty="0"/>
              <a:t>增量模型：在每一个新的发布中逐步增加功能指导构造全部功能。</a:t>
            </a:r>
            <a:endParaRPr lang="zh-CN" altLang="en-US" sz="2000" dirty="0"/>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30036" y="1473660"/>
            <a:ext cx="6665716" cy="1055064"/>
          </a:xfrm>
          <a:prstGeom prst="rect">
            <a:avLst/>
          </a:prstGeom>
        </p:spPr>
      </p:pic>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0036" y="2694979"/>
            <a:ext cx="7132401" cy="1853938"/>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3"/>
          <p:cNvSpPr>
            <a:spLocks noChangeArrowheads="1"/>
          </p:cNvSpPr>
          <p:nvPr/>
        </p:nvSpPr>
        <p:spPr bwMode="auto">
          <a:xfrm>
            <a:off x="792282" y="919994"/>
            <a:ext cx="8065967" cy="3746953"/>
          </a:xfrm>
          <a:prstGeom prst="rect">
            <a:avLst/>
          </a:prstGeom>
          <a:noFill/>
          <a:ln w="9525">
            <a:noFill/>
            <a:miter lim="800000"/>
          </a:ln>
        </p:spPr>
        <p:txBody>
          <a:bodyPr/>
          <a:lstStyle/>
          <a:p>
            <a:pPr marL="400050" indent="-400050" eaLnBrk="0" hangingPunct="0">
              <a:lnSpc>
                <a:spcPct val="110000"/>
              </a:lnSpc>
              <a:spcBef>
                <a:spcPts val="600"/>
              </a:spcBef>
              <a:buClr>
                <a:schemeClr val="tx1"/>
              </a:buClr>
              <a:buSzPct val="70000"/>
              <a:buFontTx/>
              <a:buAutoNum type="arabicPeriod"/>
            </a:pPr>
            <a:r>
              <a:rPr lang="zh-CN" altLang="en-US" sz="2000" dirty="0">
                <a:latin typeface="+mj-ea"/>
                <a:ea typeface="+mj-ea"/>
              </a:rPr>
              <a:t>整个产品被分解成许多个增量构件，开发人员可逐步开发。</a:t>
            </a:r>
            <a:endParaRPr lang="zh-CN" altLang="en-US" sz="2000" dirty="0">
              <a:latin typeface="+mj-ea"/>
              <a:ea typeface="+mj-ea"/>
            </a:endParaRPr>
          </a:p>
          <a:p>
            <a:pPr marL="400050" indent="-400050" eaLnBrk="0" hangingPunct="0">
              <a:lnSpc>
                <a:spcPct val="110000"/>
              </a:lnSpc>
              <a:spcBef>
                <a:spcPts val="600"/>
              </a:spcBef>
              <a:buClr>
                <a:schemeClr val="tx1"/>
              </a:buClr>
              <a:buSzPct val="70000"/>
              <a:buFontTx/>
              <a:buAutoNum type="arabicPeriod"/>
            </a:pPr>
            <a:r>
              <a:rPr lang="zh-CN" altLang="en-US" sz="2000" dirty="0">
                <a:latin typeface="+mj-ea"/>
                <a:ea typeface="+mj-ea"/>
              </a:rPr>
              <a:t>在较短时间内向用户提交可完成部分工作的产品，并分批、逐步地提交。从第一个构件交付之日起，用户就能做一些有用的工作。</a:t>
            </a:r>
            <a:endParaRPr lang="en-US" altLang="zh-CN" sz="2000" dirty="0">
              <a:latin typeface="+mj-ea"/>
              <a:ea typeface="+mj-ea"/>
            </a:endParaRPr>
          </a:p>
          <a:p>
            <a:pPr marL="400050" indent="-400050" eaLnBrk="0" hangingPunct="0">
              <a:lnSpc>
                <a:spcPct val="110000"/>
              </a:lnSpc>
              <a:spcBef>
                <a:spcPts val="600"/>
              </a:spcBef>
              <a:buClr>
                <a:schemeClr val="tx1"/>
              </a:buClr>
              <a:buSzPct val="70000"/>
              <a:buFontTx/>
              <a:buAutoNum type="arabicPeriod"/>
            </a:pPr>
            <a:r>
              <a:rPr lang="zh-CN" altLang="zh-CN" sz="2000" dirty="0">
                <a:latin typeface="+mj-ea"/>
                <a:ea typeface="+mj-ea"/>
              </a:rPr>
              <a:t>以组件为单位进行开发降低了软件开发的风险。一个开发周期内的错误不会影响到整个软件系统。</a:t>
            </a:r>
            <a:endParaRPr lang="en-US" altLang="zh-CN" sz="2000" dirty="0">
              <a:latin typeface="+mj-ea"/>
              <a:ea typeface="+mj-ea"/>
            </a:endParaRPr>
          </a:p>
          <a:p>
            <a:pPr marL="400050" indent="-400050" eaLnBrk="0" hangingPunct="0">
              <a:lnSpc>
                <a:spcPct val="110000"/>
              </a:lnSpc>
              <a:spcBef>
                <a:spcPts val="600"/>
              </a:spcBef>
              <a:buClr>
                <a:schemeClr val="tx1"/>
              </a:buClr>
              <a:buSzPct val="70000"/>
              <a:buFontTx/>
              <a:buAutoNum type="arabicPeriod"/>
            </a:pPr>
            <a:r>
              <a:rPr lang="zh-CN" altLang="zh-CN" sz="2000" dirty="0">
                <a:latin typeface="+mj-ea"/>
                <a:ea typeface="+mj-ea"/>
              </a:rPr>
              <a:t>开发顺序灵活。开发人员可以对组件的实现顺序进行优先级排序，先完成需求稳定的核心组件。当组件的优先级发生变化时，还能及时地对实现顺序进行调整。</a:t>
            </a:r>
            <a:endParaRPr lang="zh-CN" altLang="zh-CN" sz="2000" dirty="0">
              <a:latin typeface="+mj-ea"/>
              <a:ea typeface="+mj-ea"/>
            </a:endParaRPr>
          </a:p>
          <a:p>
            <a:pPr marL="400050" indent="-400050" eaLnBrk="0" hangingPunct="0">
              <a:lnSpc>
                <a:spcPct val="110000"/>
              </a:lnSpc>
              <a:spcBef>
                <a:spcPts val="600"/>
              </a:spcBef>
              <a:buClr>
                <a:schemeClr val="tx1"/>
              </a:buClr>
              <a:buSzPct val="70000"/>
              <a:buFontTx/>
              <a:buAutoNum type="arabicPeriod"/>
            </a:pPr>
            <a:r>
              <a:rPr lang="zh-CN" altLang="en-US" sz="2000" dirty="0">
                <a:latin typeface="+mj-ea"/>
                <a:ea typeface="+mj-ea"/>
              </a:rPr>
              <a:t>逐步增加产品功能可以使用户有较充裕的时间学习和适应新产品，从而减少一个全新的软件可能给客户组织带来的冲击。</a:t>
            </a:r>
            <a:endParaRPr lang="zh-CN" altLang="en-US" sz="2000" dirty="0">
              <a:latin typeface="+mj-ea"/>
              <a:ea typeface="+mj-ea"/>
            </a:endParaRPr>
          </a:p>
        </p:txBody>
      </p:sp>
      <p:sp>
        <p:nvSpPr>
          <p:cNvPr id="2" name="标题 1"/>
          <p:cNvSpPr>
            <a:spLocks noGrp="1"/>
          </p:cNvSpPr>
          <p:nvPr>
            <p:ph type="title"/>
          </p:nvPr>
        </p:nvSpPr>
        <p:spPr/>
        <p:txBody>
          <a:bodyPr/>
          <a:lstStyle/>
          <a:p>
            <a:r>
              <a:rPr lang="zh-CN" altLang="en-US" dirty="0"/>
              <a:t>增量模型的优点</a:t>
            </a:r>
            <a:endParaRPr lang="zh-CN" altLang="en-US" dirty="0"/>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6" name="日期占位符 5"/>
          <p:cNvSpPr>
            <a:spLocks noGrp="1"/>
          </p:cNvSpPr>
          <p:nvPr>
            <p:ph type="dt" sz="half" idx="10"/>
          </p:nvPr>
        </p:nvSpPr>
        <p:spPr/>
        <p:txBody>
          <a:bodyPr/>
          <a:lstStyle/>
          <a:p>
            <a:fld id="{884D6B70-3315-433A-BF5C-5F07D5565FEF}"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4"/>
          <p:cNvSpPr>
            <a:spLocks noChangeArrowheads="1"/>
          </p:cNvSpPr>
          <p:nvPr/>
        </p:nvSpPr>
        <p:spPr bwMode="auto">
          <a:xfrm>
            <a:off x="879298" y="992570"/>
            <a:ext cx="7978952" cy="3323474"/>
          </a:xfrm>
          <a:prstGeom prst="rect">
            <a:avLst/>
          </a:prstGeom>
          <a:noFill/>
          <a:ln w="9525">
            <a:noFill/>
            <a:miter lim="800000"/>
          </a:ln>
        </p:spPr>
        <p:txBody>
          <a:bodyPr wrap="square">
            <a:spAutoFit/>
          </a:bodyPr>
          <a:lstStyle/>
          <a:p>
            <a:pPr marL="257175" indent="-257175" algn="just" eaLnBrk="0" hangingPunct="0">
              <a:lnSpc>
                <a:spcPct val="120000"/>
              </a:lnSpc>
              <a:spcBef>
                <a:spcPts val="1200"/>
              </a:spcBef>
              <a:buFontTx/>
              <a:buAutoNum type="arabicPeriod"/>
            </a:pPr>
            <a:r>
              <a:rPr lang="zh-CN" altLang="en-US" sz="2000" dirty="0">
                <a:latin typeface="+mj-ea"/>
                <a:ea typeface="+mj-ea"/>
              </a:rPr>
              <a:t>在把每个新的增量构件集成到现有软件体系结构中时，必须不破坏原来已经开发出的产品。此外，必须把软件的体系结构设计得便于按这种方式进行扩充，向现有产品中加入新构件的过程必须简单、方便，也就是说，</a:t>
            </a:r>
            <a:r>
              <a:rPr lang="zh-CN" altLang="en-US" sz="2000" dirty="0">
                <a:solidFill>
                  <a:srgbClr val="FF0000"/>
                </a:solidFill>
                <a:latin typeface="+mj-ea"/>
                <a:ea typeface="+mj-ea"/>
              </a:rPr>
              <a:t>软件体系结构必须是开放的。</a:t>
            </a:r>
            <a:endParaRPr lang="zh-CN" altLang="en-US" sz="2000" dirty="0">
              <a:solidFill>
                <a:srgbClr val="FF0000"/>
              </a:solidFill>
              <a:latin typeface="+mj-ea"/>
              <a:ea typeface="+mj-ea"/>
            </a:endParaRPr>
          </a:p>
          <a:p>
            <a:pPr marL="257175" indent="-257175" algn="just" eaLnBrk="0" hangingPunct="0">
              <a:lnSpc>
                <a:spcPct val="120000"/>
              </a:lnSpc>
              <a:spcBef>
                <a:spcPts val="1200"/>
              </a:spcBef>
              <a:buFontTx/>
              <a:buAutoNum type="arabicPeriod"/>
            </a:pPr>
            <a:r>
              <a:rPr lang="zh-CN" altLang="en-US" sz="2000" dirty="0">
                <a:latin typeface="+mj-ea"/>
                <a:ea typeface="+mj-ea"/>
              </a:rPr>
              <a:t>开发人员既要把软件系统看作整体。又要看成可独立的构件，相互矛盾。多个构件并行开发，具有无法集成的风险。</a:t>
            </a:r>
            <a:endParaRPr lang="en-US" altLang="zh-CN" sz="2000" dirty="0">
              <a:latin typeface="+mj-ea"/>
              <a:ea typeface="+mj-ea"/>
            </a:endParaRPr>
          </a:p>
          <a:p>
            <a:pPr marL="257175" indent="-257175" algn="just" eaLnBrk="0" hangingPunct="0">
              <a:lnSpc>
                <a:spcPct val="120000"/>
              </a:lnSpc>
              <a:spcBef>
                <a:spcPts val="1200"/>
              </a:spcBef>
              <a:buFontTx/>
              <a:buAutoNum type="arabicPeriod"/>
            </a:pPr>
            <a:r>
              <a:rPr lang="zh-CN" altLang="en-US" sz="2000" dirty="0">
                <a:latin typeface="+mj-ea"/>
                <a:ea typeface="+mj-ea"/>
              </a:rPr>
              <a:t>采用增量模型比采用瀑布模型和快速原型模型需要更精心的设计，但在设计阶段多付出的劳动将在维护阶段获得回报。</a:t>
            </a:r>
            <a:endParaRPr lang="zh-CN" altLang="en-US" sz="2000" dirty="0">
              <a:latin typeface="+mj-ea"/>
              <a:ea typeface="+mj-ea"/>
            </a:endParaRPr>
          </a:p>
        </p:txBody>
      </p:sp>
      <p:sp>
        <p:nvSpPr>
          <p:cNvPr id="2" name="标题 1"/>
          <p:cNvSpPr>
            <a:spLocks noGrp="1"/>
          </p:cNvSpPr>
          <p:nvPr>
            <p:ph type="title"/>
          </p:nvPr>
        </p:nvSpPr>
        <p:spPr/>
        <p:txBody>
          <a:bodyPr/>
          <a:lstStyle/>
          <a:p>
            <a:r>
              <a:rPr lang="zh-CN" altLang="en-US" dirty="0"/>
              <a:t>增量模型的困难</a:t>
            </a:r>
            <a:endParaRPr lang="zh-CN" altLang="en-US" dirty="0"/>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6" name="日期占位符 5"/>
          <p:cNvSpPr>
            <a:spLocks noGrp="1"/>
          </p:cNvSpPr>
          <p:nvPr>
            <p:ph type="dt" sz="half" idx="10"/>
          </p:nvPr>
        </p:nvSpPr>
        <p:spPr/>
        <p:txBody>
          <a:bodyPr/>
          <a:lstStyle/>
          <a:p>
            <a:fld id="{E47FCFD0-54D4-4C17-A681-ACE09867EB2B}"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增量模型适用情况</a:t>
            </a:r>
            <a:endParaRPr lang="zh-CN" altLang="en-US" dirty="0"/>
          </a:p>
        </p:txBody>
      </p:sp>
      <p:sp>
        <p:nvSpPr>
          <p:cNvPr id="3" name="内容占位符 2"/>
          <p:cNvSpPr>
            <a:spLocks noGrp="1"/>
          </p:cNvSpPr>
          <p:nvPr>
            <p:ph idx="1"/>
          </p:nvPr>
        </p:nvSpPr>
        <p:spPr/>
        <p:txBody>
          <a:bodyPr/>
          <a:lstStyle/>
          <a:p>
            <a:pPr>
              <a:lnSpc>
                <a:spcPct val="120000"/>
              </a:lnSpc>
              <a:spcBef>
                <a:spcPts val="1200"/>
              </a:spcBef>
              <a:spcAft>
                <a:spcPts val="0"/>
              </a:spcAft>
            </a:pPr>
            <a:r>
              <a:rPr lang="zh-CN" altLang="en-US" dirty="0"/>
              <a:t>增量模型适用于具有以下特征的软件开发项目：</a:t>
            </a:r>
            <a:endParaRPr lang="zh-CN" altLang="en-US" dirty="0"/>
          </a:p>
          <a:p>
            <a:pPr lvl="1">
              <a:lnSpc>
                <a:spcPct val="120000"/>
              </a:lnSpc>
              <a:spcBef>
                <a:spcPts val="1200"/>
              </a:spcBef>
              <a:spcAft>
                <a:spcPts val="0"/>
              </a:spcAft>
            </a:pPr>
            <a:r>
              <a:rPr lang="zh-CN" altLang="en-US" dirty="0"/>
              <a:t>软件产品可以分批次地进行交付。</a:t>
            </a:r>
            <a:endParaRPr lang="zh-CN" altLang="en-US" dirty="0"/>
          </a:p>
          <a:p>
            <a:pPr lvl="1">
              <a:lnSpc>
                <a:spcPct val="120000"/>
              </a:lnSpc>
              <a:spcBef>
                <a:spcPts val="1200"/>
              </a:spcBef>
              <a:spcAft>
                <a:spcPts val="0"/>
              </a:spcAft>
            </a:pPr>
            <a:r>
              <a:rPr lang="zh-CN" altLang="en-US" dirty="0"/>
              <a:t>待开发的软件系统能够被模块化。</a:t>
            </a:r>
            <a:endParaRPr lang="zh-CN" altLang="en-US" dirty="0"/>
          </a:p>
          <a:p>
            <a:pPr lvl="1">
              <a:lnSpc>
                <a:spcPct val="120000"/>
              </a:lnSpc>
              <a:spcBef>
                <a:spcPts val="1200"/>
              </a:spcBef>
              <a:spcAft>
                <a:spcPts val="0"/>
              </a:spcAft>
            </a:pPr>
            <a:r>
              <a:rPr lang="zh-CN" altLang="en-US" dirty="0"/>
              <a:t>软件开发人员对应用领域不熟悉，难以一次性地进行系统开发。</a:t>
            </a:r>
            <a:endParaRPr lang="zh-CN" altLang="en-US" dirty="0"/>
          </a:p>
          <a:p>
            <a:pPr lvl="1">
              <a:lnSpc>
                <a:spcPct val="120000"/>
              </a:lnSpc>
              <a:spcBef>
                <a:spcPts val="1200"/>
              </a:spcBef>
              <a:spcAft>
                <a:spcPts val="0"/>
              </a:spcAft>
            </a:pPr>
            <a:r>
              <a:rPr lang="zh-CN" altLang="en-US" dirty="0"/>
              <a:t>项目管理人员把握全局的水平较高。</a:t>
            </a:r>
            <a:endParaRPr lang="zh-CN" altLang="en-US" dirty="0"/>
          </a:p>
        </p:txBody>
      </p:sp>
      <p:sp>
        <p:nvSpPr>
          <p:cNvPr id="4" name="日期占位符 3"/>
          <p:cNvSpPr>
            <a:spLocks noGrp="1"/>
          </p:cNvSpPr>
          <p:nvPr>
            <p:ph type="dt" sz="half" idx="10"/>
          </p:nvPr>
        </p:nvSpPr>
        <p:spPr/>
        <p:txBody>
          <a:bodyPr/>
          <a:lstStyle/>
          <a:p>
            <a:fld id="{F253A670-D307-4302-8C9C-E073B4CCA7A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8" name="文本框 7"/>
          <p:cNvSpPr txBox="1"/>
          <p:nvPr>
            <p:custDataLst>
              <p:tags r:id="rId1"/>
            </p:custDataLst>
          </p:nvPr>
        </p:nvSpPr>
        <p:spPr>
          <a:xfrm>
            <a:off x="914400" y="635000"/>
            <a:ext cx="7315200" cy="1607185"/>
          </a:xfrm>
          <a:prstGeom prst="rect">
            <a:avLst/>
          </a:prstGeom>
          <a:noFill/>
        </p:spPr>
        <p:txBody>
          <a:bodyPr wrap="square" rtlCol="0" anchor="ctr" anchorCtr="0">
            <a:noAutofit/>
          </a:bodyPr>
          <a:lstStyle/>
          <a:p>
            <a:pPr lvl="0" algn="l">
              <a:buNone/>
            </a:pPr>
            <a:r>
              <a:rPr lang="zh-CN" altLang="en-US" sz="2600" dirty="0">
                <a:sym typeface="+mn-ea"/>
              </a:rPr>
              <a:t>以下关于增量模型的叙述中，不正确的是（</a:t>
            </a:r>
            <a:r>
              <a:rPr lang="en-US" altLang="zh-CN" sz="2600" dirty="0">
                <a:sym typeface="+mn-ea"/>
              </a:rPr>
              <a:t>  </a:t>
            </a:r>
            <a:r>
              <a:rPr lang="zh-CN" altLang="en-US" sz="2600" dirty="0">
                <a:sym typeface="+mn-ea"/>
              </a:rPr>
              <a:t>）。</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2"/>
            </p:custDataLst>
          </p:nvPr>
        </p:nvSpPr>
        <p:spPr>
          <a:xfrm>
            <a:off x="1828800" y="2089150"/>
            <a:ext cx="6400800" cy="481965"/>
          </a:xfrm>
          <a:prstGeom prst="rect">
            <a:avLst/>
          </a:prstGeom>
          <a:noFill/>
        </p:spPr>
        <p:txBody>
          <a:bodyPr wrap="square" rtlCol="0" anchor="ctr" anchorCtr="0">
            <a:noAutofit/>
          </a:bodyPr>
          <a:lstStyle/>
          <a:p>
            <a:pPr lvl="0" algn="l">
              <a:buNone/>
            </a:pPr>
            <a:r>
              <a:rPr lang="zh-CN" altLang="en-US" sz="2600" dirty="0">
                <a:sym typeface="+mn-ea"/>
              </a:rPr>
              <a:t>容易理解，管理成本低</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3"/>
            </p:custDataLst>
          </p:nvPr>
        </p:nvSpPr>
        <p:spPr>
          <a:xfrm>
            <a:off x="1828800" y="2732405"/>
            <a:ext cx="7030085" cy="481965"/>
          </a:xfrm>
          <a:prstGeom prst="rect">
            <a:avLst/>
          </a:prstGeom>
          <a:noFill/>
        </p:spPr>
        <p:txBody>
          <a:bodyPr wrap="square" rtlCol="0" anchor="ctr" anchorCtr="0">
            <a:noAutofit/>
          </a:bodyPr>
          <a:lstStyle/>
          <a:p>
            <a:pPr lvl="0" algn="l">
              <a:buNone/>
            </a:pPr>
            <a:r>
              <a:rPr lang="zh-CN" altLang="en-US" sz="2000" dirty="0">
                <a:sym typeface="+mn-ea"/>
              </a:rPr>
              <a:t>核心的产品往往首先开发，因此经历最充分的“测试”</a:t>
            </a:r>
            <a:endParaRPr lang="zh-CN" altLang="en-US" sz="2000">
              <a:solidFill>
                <a:srgbClr val="000000"/>
              </a:solidFill>
              <a:latin typeface="微软雅黑" panose="020B0503020204020204" pitchFamily="34" charset="-122"/>
              <a:ea typeface="微软雅黑" panose="020B0503020204020204" pitchFamily="34" charset="-122"/>
            </a:endParaRPr>
          </a:p>
        </p:txBody>
      </p:sp>
      <p:sp>
        <p:nvSpPr>
          <p:cNvPr id="11" name="文本框 10"/>
          <p:cNvSpPr txBox="1"/>
          <p:nvPr>
            <p:custDataLst>
              <p:tags r:id="rId4"/>
            </p:custDataLst>
          </p:nvPr>
        </p:nvSpPr>
        <p:spPr>
          <a:xfrm>
            <a:off x="1828800" y="3375025"/>
            <a:ext cx="6891655" cy="481965"/>
          </a:xfrm>
          <a:prstGeom prst="rect">
            <a:avLst/>
          </a:prstGeom>
          <a:noFill/>
        </p:spPr>
        <p:txBody>
          <a:bodyPr wrap="square" rtlCol="0" anchor="ctr" anchorCtr="0">
            <a:noAutofit/>
          </a:bodyPr>
          <a:lstStyle/>
          <a:p>
            <a:pPr lvl="0" algn="l">
              <a:buNone/>
            </a:pPr>
            <a:r>
              <a:rPr lang="zh-CN" altLang="en-US" sz="2600" dirty="0">
                <a:sym typeface="+mn-ea"/>
              </a:rPr>
              <a:t>第一个可交付版本所需要的成本低，时间少</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2" name="文本框 11"/>
          <p:cNvSpPr txBox="1"/>
          <p:nvPr>
            <p:custDataLst>
              <p:tags r:id="rId5"/>
            </p:custDataLst>
          </p:nvPr>
        </p:nvSpPr>
        <p:spPr>
          <a:xfrm>
            <a:off x="1828800" y="4018280"/>
            <a:ext cx="6891655" cy="481965"/>
          </a:xfrm>
          <a:prstGeom prst="rect">
            <a:avLst/>
          </a:prstGeom>
          <a:noFill/>
        </p:spPr>
        <p:txBody>
          <a:bodyPr wrap="square" rtlCol="0" anchor="ctr" anchorCtr="0">
            <a:noAutofit/>
          </a:bodyPr>
          <a:lstStyle/>
          <a:p>
            <a:pPr lvl="0" algn="l">
              <a:buNone/>
            </a:pPr>
            <a:r>
              <a:rPr lang="zh-CN" altLang="en-US" sz="2000" dirty="0">
                <a:sym typeface="+mn-ea"/>
              </a:rPr>
              <a:t>即使一开始用户需求不清晰，对开发进度和质量也没有影响</a:t>
            </a:r>
            <a:endParaRPr lang="zh-CN" altLang="en-US" sz="2000" dirty="0"/>
          </a:p>
          <a:p>
            <a:pPr lvl="0" algn="l">
              <a:buNone/>
            </a:pPr>
            <a:endParaRPr lang="zh-CN" altLang="en-US" sz="2000">
              <a:solidFill>
                <a:srgbClr val="000000"/>
              </a:solidFill>
              <a:latin typeface="微软雅黑" panose="020B0503020204020204" pitchFamily="34" charset="-122"/>
              <a:ea typeface="微软雅黑" panose="020B0503020204020204" pitchFamily="34" charset="-122"/>
            </a:endParaRPr>
          </a:p>
        </p:txBody>
      </p:sp>
      <p:sp>
        <p:nvSpPr>
          <p:cNvPr id="13" name="椭圆 12"/>
          <p:cNvSpPr>
            <a:spLocks noChangeAspect="1"/>
          </p:cNvSpPr>
          <p:nvPr>
            <p:custDataLst>
              <p:tags r:id="rId6"/>
            </p:custDataLst>
          </p:nvPr>
        </p:nvSpPr>
        <p:spPr>
          <a:xfrm>
            <a:off x="1178560" y="2137410"/>
            <a:ext cx="385445" cy="38608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4" name="椭圆 13"/>
          <p:cNvSpPr>
            <a:spLocks noChangeAspect="1"/>
          </p:cNvSpPr>
          <p:nvPr>
            <p:custDataLst>
              <p:tags r:id="rId7"/>
            </p:custDataLst>
          </p:nvPr>
        </p:nvSpPr>
        <p:spPr>
          <a:xfrm>
            <a:off x="1178560" y="2780665"/>
            <a:ext cx="385445" cy="385445"/>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5" name="椭圆 14"/>
          <p:cNvSpPr>
            <a:spLocks noChangeAspect="1"/>
          </p:cNvSpPr>
          <p:nvPr>
            <p:custDataLst>
              <p:tags r:id="rId8"/>
            </p:custDataLst>
          </p:nvPr>
        </p:nvSpPr>
        <p:spPr>
          <a:xfrm>
            <a:off x="1178560" y="3423285"/>
            <a:ext cx="385445" cy="3860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6" name="椭圆 15"/>
          <p:cNvSpPr>
            <a:spLocks noChangeAspect="1"/>
          </p:cNvSpPr>
          <p:nvPr>
            <p:custDataLst>
              <p:tags r:id="rId9"/>
            </p:custDataLst>
          </p:nvPr>
        </p:nvSpPr>
        <p:spPr>
          <a:xfrm>
            <a:off x="1178560" y="4066540"/>
            <a:ext cx="385445" cy="385445"/>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7" name="圆角矩形 16"/>
          <p:cNvSpPr/>
          <p:nvPr>
            <p:custDataLst>
              <p:tags r:id="rId10"/>
            </p:custDataLst>
          </p:nvPr>
        </p:nvSpPr>
        <p:spPr>
          <a:xfrm>
            <a:off x="6686550" y="4660900"/>
            <a:ext cx="1156970"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endParaRPr>
          </a:p>
        </p:txBody>
      </p:sp>
      <p:grpSp>
        <p:nvGrpSpPr>
          <p:cNvPr id="22" name="组合 21"/>
          <p:cNvGrpSpPr/>
          <p:nvPr>
            <p:custDataLst>
              <p:tags r:id="rId11"/>
            </p:custDataLst>
          </p:nvPr>
        </p:nvGrpSpPr>
        <p:grpSpPr>
          <a:xfrm>
            <a:off x="0" y="0"/>
            <a:ext cx="9144000" cy="635000"/>
            <a:chOff x="0" y="0"/>
            <a:chExt cx="14400" cy="1000"/>
          </a:xfrm>
        </p:grpSpPr>
        <p:sp>
          <p:nvSpPr>
            <p:cNvPr id="18" name="TitleBackground"/>
            <p:cNvSpPr/>
            <p:nvPr>
              <p:custDataLst>
                <p:tags r:id="rId12"/>
              </p:custDataLst>
            </p:nvPr>
          </p:nvSpPr>
          <p:spPr>
            <a:xfrm>
              <a:off x="0" y="0"/>
              <a:ext cx="14400" cy="1000"/>
            </a:xfrm>
            <a:prstGeom prst="rect">
              <a:avLst/>
            </a:prstGeom>
            <a:solidFill>
              <a:srgbClr val="F6F7F8"/>
            </a:solidFill>
            <a:ln w="15875" cap="flat" cmpd="sng" algn="ctr">
              <a:noFill/>
              <a:prstDash val="solid"/>
            </a:ln>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ColorBlock"/>
            <p:cNvSpPr/>
            <p:nvPr>
              <p:custDataLst>
                <p:tags r:id="rId13"/>
              </p:custDataLst>
            </p:nvPr>
          </p:nvSpPr>
          <p:spPr>
            <a:xfrm>
              <a:off x="0" y="0"/>
              <a:ext cx="300" cy="1000"/>
            </a:xfrm>
            <a:prstGeom prst="rect">
              <a:avLst/>
            </a:prstGeom>
            <a:solidFill>
              <a:srgbClr val="639EF4"/>
            </a:solidFill>
            <a:ln w="15875" cap="flat" cmpd="sng" algn="ctr">
              <a:noFill/>
              <a:prstDash val="solid"/>
            </a:ln>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ypeText"/>
            <p:cNvSpPr txBox="1"/>
            <p:nvPr>
              <p:custDataLst>
                <p:tags r:id="rId14"/>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21" name="TipText"/>
            <p:cNvSpPr txBox="1"/>
            <p:nvPr>
              <p:custDataLst>
                <p:tags r:id="rId15"/>
              </p:custDataLst>
            </p:nvPr>
          </p:nvSpPr>
          <p:spPr>
            <a:xfrm>
              <a:off x="2248"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endPar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7" name="图片 6" descr="tmp91B3"/>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Tree>
    <p:custDataLst>
      <p:tags r:id="rId18"/>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3"/>
          <p:cNvSpPr>
            <a:spLocks noChangeArrowheads="1"/>
          </p:cNvSpPr>
          <p:nvPr/>
        </p:nvSpPr>
        <p:spPr bwMode="auto">
          <a:xfrm>
            <a:off x="1255646" y="828913"/>
            <a:ext cx="4297971" cy="523220"/>
          </a:xfrm>
          <a:prstGeom prst="rect">
            <a:avLst/>
          </a:prstGeom>
          <a:noFill/>
          <a:ln w="9525">
            <a:noFill/>
            <a:miter lim="800000"/>
          </a:ln>
        </p:spPr>
        <p:txBody>
          <a:bodyPr wrap="none">
            <a:spAutoFit/>
          </a:bodyPr>
          <a:lstStyle/>
          <a:p>
            <a:pPr eaLnBrk="0" hangingPunct="0"/>
            <a:r>
              <a:rPr lang="zh-CN" altLang="en-US" sz="2800" b="1" dirty="0">
                <a:solidFill>
                  <a:srgbClr val="FF0000"/>
                </a:solidFill>
                <a:latin typeface="+mj-ea"/>
                <a:ea typeface="+mj-ea"/>
              </a:rPr>
              <a:t>螺旋模型 </a:t>
            </a:r>
            <a:r>
              <a:rPr lang="en-US" altLang="zh-CN" sz="2800" b="1" dirty="0">
                <a:solidFill>
                  <a:srgbClr val="FF0000"/>
                </a:solidFill>
                <a:latin typeface="+mj-ea"/>
                <a:ea typeface="+mj-ea"/>
              </a:rPr>
              <a:t>(Spiral Model)</a:t>
            </a:r>
            <a:endParaRPr lang="zh-CN" altLang="en-US" sz="2800" b="1" dirty="0">
              <a:solidFill>
                <a:srgbClr val="FF0000"/>
              </a:solidFill>
              <a:latin typeface="+mj-ea"/>
              <a:ea typeface="+mj-ea"/>
            </a:endParaRPr>
          </a:p>
        </p:txBody>
      </p:sp>
      <p:sp>
        <p:nvSpPr>
          <p:cNvPr id="73732" name="Rectangle 4"/>
          <p:cNvSpPr>
            <a:spLocks noChangeArrowheads="1"/>
          </p:cNvSpPr>
          <p:nvPr/>
        </p:nvSpPr>
        <p:spPr bwMode="auto">
          <a:xfrm>
            <a:off x="818968" y="1426661"/>
            <a:ext cx="8039282" cy="2913618"/>
          </a:xfrm>
          <a:prstGeom prst="rect">
            <a:avLst/>
          </a:prstGeom>
          <a:noFill/>
          <a:ln w="9525">
            <a:noFill/>
            <a:miter lim="800000"/>
          </a:ln>
        </p:spPr>
        <p:txBody>
          <a:bodyPr wrap="square">
            <a:spAutoFit/>
          </a:bodyPr>
          <a:lstStyle/>
          <a:p>
            <a:pPr>
              <a:spcBef>
                <a:spcPts val="1350"/>
              </a:spcBef>
              <a:buClr>
                <a:schemeClr val="accent2"/>
              </a:buClr>
              <a:buSzPct val="80000"/>
            </a:pPr>
            <a:r>
              <a:rPr lang="zh-CN" altLang="en-US" sz="2000" dirty="0">
                <a:latin typeface="+mj-ea"/>
                <a:ea typeface="+mj-ea"/>
              </a:rPr>
              <a:t>       软件风险是任何软件开发项目中都普遍存在的实际问题，项目越大，软件越复杂，承担该项目所冒的风险也越大。</a:t>
            </a:r>
            <a:endParaRPr lang="zh-CN" altLang="en-US" sz="2000" dirty="0">
              <a:latin typeface="+mj-ea"/>
              <a:ea typeface="+mj-ea"/>
            </a:endParaRPr>
          </a:p>
          <a:p>
            <a:pPr>
              <a:spcBef>
                <a:spcPts val="1350"/>
              </a:spcBef>
              <a:buClr>
                <a:schemeClr val="accent2"/>
              </a:buClr>
              <a:buSzPct val="80000"/>
            </a:pPr>
            <a:r>
              <a:rPr lang="zh-CN" altLang="en-US" sz="2000" dirty="0">
                <a:latin typeface="+mj-ea"/>
                <a:ea typeface="+mj-ea"/>
              </a:rPr>
              <a:t>       对于复杂的大型软件，开发一个原型往往达不到要求。螺旋模型将瀑布模型和增量模型结合起来，加入了风险分析。在该模型中，软件开发是一系列的增量发布，早期的迭代中，发布的增量可能是一个纸上的模型或原型，在以后的迭代中，逐步产生系统更加完善的版本。</a:t>
            </a:r>
            <a:endParaRPr lang="zh-CN" altLang="en-US" sz="2000" dirty="0">
              <a:latin typeface="+mj-ea"/>
              <a:ea typeface="+mj-ea"/>
            </a:endParaRPr>
          </a:p>
          <a:p>
            <a:pPr>
              <a:spcBef>
                <a:spcPts val="1350"/>
              </a:spcBef>
              <a:buClr>
                <a:schemeClr val="accent2"/>
              </a:buClr>
              <a:buSzPct val="80000"/>
            </a:pPr>
            <a:r>
              <a:rPr lang="zh-CN" altLang="en-US" sz="2000" dirty="0">
                <a:latin typeface="+mj-ea"/>
                <a:ea typeface="+mj-ea"/>
              </a:rPr>
              <a:t>       螺旋模型的基本思想是</a:t>
            </a:r>
            <a:r>
              <a:rPr lang="zh-CN" altLang="en-US" sz="2000" dirty="0">
                <a:solidFill>
                  <a:srgbClr val="FF0000"/>
                </a:solidFill>
                <a:latin typeface="+mj-ea"/>
                <a:ea typeface="+mj-ea"/>
              </a:rPr>
              <a:t>降低风险</a:t>
            </a:r>
            <a:r>
              <a:rPr lang="zh-CN" altLang="en-US" sz="2000" dirty="0">
                <a:latin typeface="+mj-ea"/>
                <a:ea typeface="+mj-ea"/>
              </a:rPr>
              <a:t>。需要风险控制的一系列专门技术，因此投入较大，适用于</a:t>
            </a:r>
            <a:r>
              <a:rPr lang="zh-CN" altLang="en-US" sz="2000" dirty="0">
                <a:solidFill>
                  <a:srgbClr val="FF0000"/>
                </a:solidFill>
                <a:latin typeface="+mj-ea"/>
                <a:ea typeface="+mj-ea"/>
              </a:rPr>
              <a:t>规模较大的复杂系统</a:t>
            </a:r>
            <a:r>
              <a:rPr lang="zh-CN" altLang="en-US" sz="2000" dirty="0">
                <a:latin typeface="+mj-ea"/>
                <a:ea typeface="+mj-ea"/>
              </a:rPr>
              <a:t>。</a:t>
            </a:r>
            <a:endParaRPr lang="en-US" altLang="zh-CN" sz="2000" dirty="0">
              <a:latin typeface="+mj-ea"/>
              <a:ea typeface="+mj-ea"/>
            </a:endParaRPr>
          </a:p>
        </p:txBody>
      </p:sp>
      <p:sp>
        <p:nvSpPr>
          <p:cNvPr id="2" name="标题 1"/>
          <p:cNvSpPr>
            <a:spLocks noGrp="1"/>
          </p:cNvSpPr>
          <p:nvPr>
            <p:ph type="title"/>
          </p:nvPr>
        </p:nvSpPr>
        <p:spPr/>
        <p:txBody>
          <a:bodyPr/>
          <a:lstStyle/>
          <a:p>
            <a:r>
              <a:rPr lang="zh-CN" altLang="en-US" dirty="0"/>
              <a:t>（</a:t>
            </a:r>
            <a:r>
              <a:rPr lang="en-US" altLang="zh-CN" dirty="0"/>
              <a:t>4</a:t>
            </a:r>
            <a:r>
              <a:rPr lang="zh-CN" altLang="en-US" dirty="0"/>
              <a:t>）螺旋模型</a:t>
            </a:r>
            <a:endParaRPr lang="zh-CN" altLang="en-US" dirty="0"/>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3" name="日期占位符 2"/>
          <p:cNvSpPr>
            <a:spLocks noGrp="1"/>
          </p:cNvSpPr>
          <p:nvPr>
            <p:ph type="dt" sz="half" idx="10"/>
          </p:nvPr>
        </p:nvSpPr>
        <p:spPr/>
        <p:txBody>
          <a:bodyPr/>
          <a:lstStyle/>
          <a:p>
            <a:fld id="{40D61E02-804D-4B0C-AC74-8758B654A6E2}"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50" name="AutoShape 38"/>
          <p:cNvSpPr>
            <a:spLocks noChangeArrowheads="1"/>
          </p:cNvSpPr>
          <p:nvPr/>
        </p:nvSpPr>
        <p:spPr bwMode="auto">
          <a:xfrm>
            <a:off x="6001087" y="1812887"/>
            <a:ext cx="2525396" cy="1135485"/>
          </a:xfrm>
          <a:prstGeom prst="wedgeRoundRectCallout">
            <a:avLst>
              <a:gd name="adj1" fmla="val -73974"/>
              <a:gd name="adj2" fmla="val 13691"/>
              <a:gd name="adj3" fmla="val 16667"/>
            </a:avLst>
          </a:prstGeom>
        </p:spPr>
        <p:style>
          <a:lnRef idx="2">
            <a:schemeClr val="accent1"/>
          </a:lnRef>
          <a:fillRef idx="1">
            <a:schemeClr val="lt1"/>
          </a:fillRef>
          <a:effectRef idx="0">
            <a:schemeClr val="accent1"/>
          </a:effectRef>
          <a:fontRef idx="minor">
            <a:schemeClr val="dk1"/>
          </a:fontRef>
        </p:style>
        <p:txBody>
          <a:bodyPr/>
          <a:lstStyle/>
          <a:p>
            <a:pPr algn="ctr" eaLnBrk="0" hangingPunct="0"/>
            <a:endParaRPr lang="zh-CN" altLang="en-US" sz="1350"/>
          </a:p>
        </p:txBody>
      </p:sp>
      <p:grpSp>
        <p:nvGrpSpPr>
          <p:cNvPr id="4" name="组合 3"/>
          <p:cNvGrpSpPr/>
          <p:nvPr/>
        </p:nvGrpSpPr>
        <p:grpSpPr>
          <a:xfrm>
            <a:off x="1754785" y="706617"/>
            <a:ext cx="3737868" cy="4172155"/>
            <a:chOff x="1116013" y="1052513"/>
            <a:chExt cx="4572000" cy="5105400"/>
          </a:xfrm>
        </p:grpSpPr>
        <p:sp>
          <p:nvSpPr>
            <p:cNvPr id="74755" name="Rectangle 3"/>
            <p:cNvSpPr>
              <a:spLocks noChangeArrowheads="1"/>
            </p:cNvSpPr>
            <p:nvPr/>
          </p:nvSpPr>
          <p:spPr bwMode="auto">
            <a:xfrm>
              <a:off x="1116013" y="1281113"/>
              <a:ext cx="1295400" cy="228600"/>
            </a:xfrm>
            <a:prstGeom prst="rect">
              <a:avLst/>
            </a:prstGeom>
            <a:solidFill>
              <a:srgbClr val="CC00FF"/>
            </a:solidFill>
            <a:ln w="9525">
              <a:noFill/>
              <a:miter lim="800000"/>
            </a:ln>
          </p:spPr>
          <p:txBody>
            <a:bodyPr wrap="none" anchor="ctr"/>
            <a:lstStyle/>
            <a:p>
              <a:pPr algn="ctr"/>
              <a:r>
                <a:rPr lang="zh-CN" altLang="en-US" sz="1600" b="1">
                  <a:solidFill>
                    <a:schemeClr val="bg1"/>
                  </a:solidFill>
                  <a:latin typeface="Arial" panose="020B0604020202020204" pitchFamily="34" charset="0"/>
                </a:rPr>
                <a:t>快速原型</a:t>
              </a:r>
              <a:endParaRPr lang="en-US" altLang="zh-CN" sz="1600" b="1">
                <a:solidFill>
                  <a:schemeClr val="bg1"/>
                </a:solidFill>
                <a:latin typeface="Arial" panose="020B0604020202020204" pitchFamily="34" charset="0"/>
              </a:endParaRPr>
            </a:p>
          </p:txBody>
        </p:sp>
        <p:sp>
          <p:nvSpPr>
            <p:cNvPr id="74756" name="Rectangle 4"/>
            <p:cNvSpPr>
              <a:spLocks noChangeArrowheads="1"/>
            </p:cNvSpPr>
            <p:nvPr/>
          </p:nvSpPr>
          <p:spPr bwMode="auto">
            <a:xfrm>
              <a:off x="1116013" y="1509713"/>
              <a:ext cx="1295400" cy="228600"/>
            </a:xfrm>
            <a:prstGeom prst="rect">
              <a:avLst/>
            </a:prstGeom>
            <a:solidFill>
              <a:schemeClr val="accent1"/>
            </a:solidFill>
            <a:ln w="9525">
              <a:noFill/>
              <a:miter lim="800000"/>
            </a:ln>
          </p:spPr>
          <p:txBody>
            <a:bodyPr wrap="none" anchor="ctr"/>
            <a:lstStyle/>
            <a:p>
              <a:pPr algn="ctr"/>
              <a:r>
                <a:rPr lang="zh-CN" altLang="en-US" sz="1600" b="1">
                  <a:latin typeface="Arial" panose="020B0604020202020204" pitchFamily="34" charset="0"/>
                </a:rPr>
                <a:t>验证</a:t>
              </a:r>
              <a:endParaRPr lang="zh-CN" altLang="en-US" sz="1600" b="1">
                <a:latin typeface="Arial" panose="020B0604020202020204" pitchFamily="34" charset="0"/>
              </a:endParaRPr>
            </a:p>
          </p:txBody>
        </p:sp>
        <p:sp>
          <p:nvSpPr>
            <p:cNvPr id="74757" name="Rectangle 5"/>
            <p:cNvSpPr>
              <a:spLocks noChangeArrowheads="1"/>
            </p:cNvSpPr>
            <p:nvPr/>
          </p:nvSpPr>
          <p:spPr bwMode="auto">
            <a:xfrm>
              <a:off x="1878013" y="2347913"/>
              <a:ext cx="1219200" cy="228600"/>
            </a:xfrm>
            <a:prstGeom prst="rect">
              <a:avLst/>
            </a:prstGeom>
            <a:solidFill>
              <a:srgbClr val="CC00FF"/>
            </a:solidFill>
            <a:ln w="9525">
              <a:noFill/>
              <a:miter lim="800000"/>
            </a:ln>
          </p:spPr>
          <p:txBody>
            <a:bodyPr wrap="none" anchor="ctr"/>
            <a:lstStyle/>
            <a:p>
              <a:pPr algn="ctr"/>
              <a:r>
                <a:rPr lang="zh-CN" altLang="en-US" sz="1600" b="1">
                  <a:solidFill>
                    <a:schemeClr val="bg1"/>
                  </a:solidFill>
                  <a:latin typeface="Arial" panose="020B0604020202020204" pitchFamily="34" charset="0"/>
                </a:rPr>
                <a:t>规格说明</a:t>
              </a:r>
              <a:endParaRPr lang="zh-CN" altLang="en-US" sz="1600" b="1">
                <a:solidFill>
                  <a:schemeClr val="bg1"/>
                </a:solidFill>
                <a:latin typeface="Arial" panose="020B0604020202020204" pitchFamily="34" charset="0"/>
              </a:endParaRPr>
            </a:p>
          </p:txBody>
        </p:sp>
        <p:sp>
          <p:nvSpPr>
            <p:cNvPr id="74758" name="Rectangle 6"/>
            <p:cNvSpPr>
              <a:spLocks noChangeArrowheads="1"/>
            </p:cNvSpPr>
            <p:nvPr/>
          </p:nvSpPr>
          <p:spPr bwMode="auto">
            <a:xfrm>
              <a:off x="1878013" y="2576513"/>
              <a:ext cx="1219200" cy="228600"/>
            </a:xfrm>
            <a:prstGeom prst="rect">
              <a:avLst/>
            </a:prstGeom>
            <a:solidFill>
              <a:schemeClr val="accent1"/>
            </a:solidFill>
            <a:ln w="9525">
              <a:noFill/>
              <a:miter lim="800000"/>
            </a:ln>
          </p:spPr>
          <p:txBody>
            <a:bodyPr wrap="none" anchor="ctr"/>
            <a:lstStyle/>
            <a:p>
              <a:pPr algn="ctr"/>
              <a:r>
                <a:rPr lang="zh-CN" altLang="en-US" sz="1600" b="1">
                  <a:latin typeface="Arial" panose="020B0604020202020204" pitchFamily="34" charset="0"/>
                </a:rPr>
                <a:t>验证</a:t>
              </a:r>
              <a:endParaRPr lang="zh-CN" altLang="en-US" sz="1600" b="1">
                <a:latin typeface="Arial" panose="020B0604020202020204" pitchFamily="34" charset="0"/>
              </a:endParaRPr>
            </a:p>
          </p:txBody>
        </p:sp>
        <p:sp>
          <p:nvSpPr>
            <p:cNvPr id="74759" name="Rectangle 7"/>
            <p:cNvSpPr>
              <a:spLocks noChangeArrowheads="1"/>
            </p:cNvSpPr>
            <p:nvPr/>
          </p:nvSpPr>
          <p:spPr bwMode="auto">
            <a:xfrm>
              <a:off x="2487613" y="3338513"/>
              <a:ext cx="1143000" cy="228600"/>
            </a:xfrm>
            <a:prstGeom prst="rect">
              <a:avLst/>
            </a:prstGeom>
            <a:solidFill>
              <a:srgbClr val="CC00FF"/>
            </a:solidFill>
            <a:ln w="9525">
              <a:noFill/>
              <a:miter lim="800000"/>
            </a:ln>
          </p:spPr>
          <p:txBody>
            <a:bodyPr wrap="none" anchor="ctr"/>
            <a:lstStyle/>
            <a:p>
              <a:pPr algn="ctr"/>
              <a:r>
                <a:rPr lang="zh-CN" altLang="en-US" sz="1600" b="1">
                  <a:solidFill>
                    <a:schemeClr val="bg1"/>
                  </a:solidFill>
                  <a:latin typeface="Arial" panose="020B0604020202020204" pitchFamily="34" charset="0"/>
                </a:rPr>
                <a:t>设计</a:t>
              </a:r>
              <a:endParaRPr lang="zh-CN" altLang="en-US" sz="1600" b="1">
                <a:solidFill>
                  <a:schemeClr val="bg1"/>
                </a:solidFill>
                <a:latin typeface="Arial" panose="020B0604020202020204" pitchFamily="34" charset="0"/>
              </a:endParaRPr>
            </a:p>
          </p:txBody>
        </p:sp>
        <p:sp>
          <p:nvSpPr>
            <p:cNvPr id="74760" name="Rectangle 8"/>
            <p:cNvSpPr>
              <a:spLocks noChangeArrowheads="1"/>
            </p:cNvSpPr>
            <p:nvPr/>
          </p:nvSpPr>
          <p:spPr bwMode="auto">
            <a:xfrm>
              <a:off x="2487613" y="3567113"/>
              <a:ext cx="1143000" cy="228600"/>
            </a:xfrm>
            <a:prstGeom prst="rect">
              <a:avLst/>
            </a:prstGeom>
            <a:solidFill>
              <a:schemeClr val="accent1"/>
            </a:solidFill>
            <a:ln w="9525">
              <a:noFill/>
              <a:miter lim="800000"/>
            </a:ln>
          </p:spPr>
          <p:txBody>
            <a:bodyPr wrap="none" anchor="ctr"/>
            <a:lstStyle/>
            <a:p>
              <a:pPr algn="ctr"/>
              <a:r>
                <a:rPr lang="zh-CN" altLang="en-US" sz="1600" b="1">
                  <a:latin typeface="Arial" panose="020B0604020202020204" pitchFamily="34" charset="0"/>
                </a:rPr>
                <a:t>验证</a:t>
              </a:r>
              <a:endParaRPr lang="zh-CN" altLang="en-US" sz="1600" b="1">
                <a:latin typeface="Arial" panose="020B0604020202020204" pitchFamily="34" charset="0"/>
              </a:endParaRPr>
            </a:p>
          </p:txBody>
        </p:sp>
        <p:sp>
          <p:nvSpPr>
            <p:cNvPr id="74761" name="Rectangle 9"/>
            <p:cNvSpPr>
              <a:spLocks noChangeArrowheads="1"/>
            </p:cNvSpPr>
            <p:nvPr/>
          </p:nvSpPr>
          <p:spPr bwMode="auto">
            <a:xfrm>
              <a:off x="3173413" y="4329113"/>
              <a:ext cx="1143000" cy="228600"/>
            </a:xfrm>
            <a:prstGeom prst="rect">
              <a:avLst/>
            </a:prstGeom>
            <a:solidFill>
              <a:srgbClr val="CC00FF"/>
            </a:solidFill>
            <a:ln w="9525">
              <a:noFill/>
              <a:miter lim="800000"/>
            </a:ln>
          </p:spPr>
          <p:txBody>
            <a:bodyPr wrap="none" anchor="ctr"/>
            <a:lstStyle/>
            <a:p>
              <a:pPr algn="ctr"/>
              <a:r>
                <a:rPr lang="zh-CN" altLang="en-US" sz="1600" b="1">
                  <a:solidFill>
                    <a:schemeClr val="bg1"/>
                  </a:solidFill>
                  <a:latin typeface="Arial" panose="020B0604020202020204" pitchFamily="34" charset="0"/>
                </a:rPr>
                <a:t>编码</a:t>
              </a:r>
              <a:endParaRPr lang="zh-CN" altLang="en-US" sz="1600" b="1">
                <a:solidFill>
                  <a:schemeClr val="bg1"/>
                </a:solidFill>
                <a:latin typeface="Arial" panose="020B0604020202020204" pitchFamily="34" charset="0"/>
              </a:endParaRPr>
            </a:p>
          </p:txBody>
        </p:sp>
        <p:sp>
          <p:nvSpPr>
            <p:cNvPr id="74762" name="Rectangle 10"/>
            <p:cNvSpPr>
              <a:spLocks noChangeArrowheads="1"/>
            </p:cNvSpPr>
            <p:nvPr/>
          </p:nvSpPr>
          <p:spPr bwMode="auto">
            <a:xfrm>
              <a:off x="3173413" y="4557713"/>
              <a:ext cx="1143000" cy="228600"/>
            </a:xfrm>
            <a:prstGeom prst="rect">
              <a:avLst/>
            </a:prstGeom>
            <a:solidFill>
              <a:schemeClr val="accent1"/>
            </a:solidFill>
            <a:ln w="9525">
              <a:noFill/>
              <a:miter lim="800000"/>
            </a:ln>
          </p:spPr>
          <p:txBody>
            <a:bodyPr wrap="none" anchor="ctr"/>
            <a:lstStyle/>
            <a:p>
              <a:pPr algn="ctr"/>
              <a:r>
                <a:rPr lang="zh-CN" altLang="en-US" sz="1600" b="1">
                  <a:latin typeface="Arial" panose="020B0604020202020204" pitchFamily="34" charset="0"/>
                </a:rPr>
                <a:t>测试</a:t>
              </a:r>
              <a:endParaRPr lang="zh-CN" altLang="en-US" sz="1600" b="1">
                <a:latin typeface="Arial" panose="020B0604020202020204" pitchFamily="34" charset="0"/>
              </a:endParaRPr>
            </a:p>
          </p:txBody>
        </p:sp>
        <p:sp>
          <p:nvSpPr>
            <p:cNvPr id="74763" name="Rectangle 11"/>
            <p:cNvSpPr>
              <a:spLocks noChangeArrowheads="1"/>
            </p:cNvSpPr>
            <p:nvPr/>
          </p:nvSpPr>
          <p:spPr bwMode="auto">
            <a:xfrm>
              <a:off x="3783013" y="5243513"/>
              <a:ext cx="1143000" cy="381000"/>
            </a:xfrm>
            <a:prstGeom prst="rect">
              <a:avLst/>
            </a:prstGeom>
            <a:solidFill>
              <a:srgbClr val="CC00FF"/>
            </a:solidFill>
            <a:ln w="9525">
              <a:noFill/>
              <a:miter lim="800000"/>
            </a:ln>
          </p:spPr>
          <p:txBody>
            <a:bodyPr wrap="none" anchor="ctr"/>
            <a:lstStyle/>
            <a:p>
              <a:pPr algn="ctr"/>
              <a:r>
                <a:rPr lang="zh-CN" altLang="en-US" sz="1600" b="1">
                  <a:solidFill>
                    <a:schemeClr val="bg1"/>
                  </a:solidFill>
                  <a:latin typeface="Arial" panose="020B0604020202020204" pitchFamily="34" charset="0"/>
                </a:rPr>
                <a:t>综合测试</a:t>
              </a:r>
              <a:endParaRPr lang="zh-CN" altLang="en-US" sz="1600" b="1">
                <a:solidFill>
                  <a:schemeClr val="bg1"/>
                </a:solidFill>
                <a:latin typeface="Arial" panose="020B0604020202020204" pitchFamily="34" charset="0"/>
              </a:endParaRPr>
            </a:p>
          </p:txBody>
        </p:sp>
        <p:sp>
          <p:nvSpPr>
            <p:cNvPr id="74764" name="Rectangle 12"/>
            <p:cNvSpPr>
              <a:spLocks noChangeArrowheads="1"/>
            </p:cNvSpPr>
            <p:nvPr/>
          </p:nvSpPr>
          <p:spPr bwMode="auto">
            <a:xfrm>
              <a:off x="4392613" y="5853113"/>
              <a:ext cx="1295400" cy="304800"/>
            </a:xfrm>
            <a:prstGeom prst="rect">
              <a:avLst/>
            </a:prstGeom>
            <a:solidFill>
              <a:srgbClr val="CC00FF"/>
            </a:solidFill>
            <a:ln w="9525">
              <a:noFill/>
              <a:miter lim="800000"/>
            </a:ln>
          </p:spPr>
          <p:txBody>
            <a:bodyPr wrap="none" anchor="ctr"/>
            <a:lstStyle/>
            <a:p>
              <a:pPr algn="ctr"/>
              <a:r>
                <a:rPr lang="zh-CN" altLang="en-US" sz="1600" b="1">
                  <a:solidFill>
                    <a:schemeClr val="bg1"/>
                  </a:solidFill>
                  <a:latin typeface="Arial" panose="020B0604020202020204" pitchFamily="34" charset="0"/>
                </a:rPr>
                <a:t>维护</a:t>
              </a:r>
              <a:endParaRPr lang="zh-CN" altLang="en-US" sz="1600" b="1">
                <a:solidFill>
                  <a:schemeClr val="bg1"/>
                </a:solidFill>
                <a:latin typeface="Arial" panose="020B0604020202020204" pitchFamily="34" charset="0"/>
              </a:endParaRPr>
            </a:p>
          </p:txBody>
        </p:sp>
        <p:sp>
          <p:nvSpPr>
            <p:cNvPr id="74765" name="Rectangle 13"/>
            <p:cNvSpPr>
              <a:spLocks noChangeArrowheads="1"/>
            </p:cNvSpPr>
            <p:nvPr/>
          </p:nvSpPr>
          <p:spPr bwMode="auto">
            <a:xfrm>
              <a:off x="4164013" y="1509713"/>
              <a:ext cx="1295400" cy="304800"/>
            </a:xfrm>
            <a:prstGeom prst="rect">
              <a:avLst/>
            </a:prstGeom>
            <a:solidFill>
              <a:srgbClr val="6600FF"/>
            </a:solidFill>
            <a:ln w="9525">
              <a:noFill/>
              <a:miter lim="800000"/>
            </a:ln>
          </p:spPr>
          <p:txBody>
            <a:bodyPr wrap="none" anchor="ctr"/>
            <a:lstStyle/>
            <a:p>
              <a:pPr algn="ctr"/>
              <a:r>
                <a:rPr lang="zh-CN" altLang="en-US" sz="1600" b="1">
                  <a:solidFill>
                    <a:schemeClr val="bg1"/>
                  </a:solidFill>
                  <a:latin typeface="Arial" panose="020B0604020202020204" pitchFamily="34" charset="0"/>
                </a:rPr>
                <a:t>变化的需求</a:t>
              </a:r>
              <a:endParaRPr lang="zh-CN" altLang="en-US" sz="1600" b="1">
                <a:solidFill>
                  <a:schemeClr val="bg1"/>
                </a:solidFill>
                <a:latin typeface="Arial" panose="020B0604020202020204" pitchFamily="34" charset="0"/>
              </a:endParaRPr>
            </a:p>
          </p:txBody>
        </p:sp>
        <p:sp>
          <p:nvSpPr>
            <p:cNvPr id="74766" name="Rectangle 14"/>
            <p:cNvSpPr>
              <a:spLocks noChangeArrowheads="1"/>
            </p:cNvSpPr>
            <p:nvPr/>
          </p:nvSpPr>
          <p:spPr bwMode="auto">
            <a:xfrm>
              <a:off x="4164013" y="1814513"/>
              <a:ext cx="1295400" cy="304800"/>
            </a:xfrm>
            <a:prstGeom prst="rect">
              <a:avLst/>
            </a:prstGeom>
            <a:solidFill>
              <a:schemeClr val="accent1"/>
            </a:solidFill>
            <a:ln w="9525">
              <a:noFill/>
              <a:miter lim="800000"/>
            </a:ln>
          </p:spPr>
          <p:txBody>
            <a:bodyPr wrap="none" anchor="ctr"/>
            <a:lstStyle/>
            <a:p>
              <a:pPr algn="ctr"/>
              <a:r>
                <a:rPr lang="zh-CN" altLang="en-US" sz="1600" b="1">
                  <a:latin typeface="Arial" panose="020B0604020202020204" pitchFamily="34" charset="0"/>
                </a:rPr>
                <a:t>验证</a:t>
              </a:r>
              <a:endParaRPr lang="zh-CN" altLang="en-US" sz="1600" b="1">
                <a:latin typeface="Arial" panose="020B0604020202020204" pitchFamily="34" charset="0"/>
              </a:endParaRPr>
            </a:p>
          </p:txBody>
        </p:sp>
        <p:sp>
          <p:nvSpPr>
            <p:cNvPr id="74767" name="Line 15"/>
            <p:cNvSpPr>
              <a:spLocks noChangeShapeType="1"/>
            </p:cNvSpPr>
            <p:nvPr/>
          </p:nvSpPr>
          <p:spPr bwMode="auto">
            <a:xfrm flipH="1">
              <a:off x="5459413" y="1662113"/>
              <a:ext cx="152400" cy="0"/>
            </a:xfrm>
            <a:prstGeom prst="line">
              <a:avLst/>
            </a:prstGeom>
            <a:noFill/>
            <a:ln w="9525">
              <a:solidFill>
                <a:srgbClr val="FF0066"/>
              </a:solidFill>
              <a:round/>
              <a:tailEnd type="triangle" w="med" len="med"/>
            </a:ln>
          </p:spPr>
          <p:txBody>
            <a:bodyPr/>
            <a:lstStyle/>
            <a:p>
              <a:endParaRPr lang="zh-CN" altLang="en-US" sz="1600"/>
            </a:p>
          </p:txBody>
        </p:sp>
        <p:sp>
          <p:nvSpPr>
            <p:cNvPr id="74768" name="Line 16"/>
            <p:cNvSpPr>
              <a:spLocks noChangeShapeType="1"/>
            </p:cNvSpPr>
            <p:nvPr/>
          </p:nvSpPr>
          <p:spPr bwMode="auto">
            <a:xfrm>
              <a:off x="5611813" y="1662113"/>
              <a:ext cx="0" cy="4191000"/>
            </a:xfrm>
            <a:prstGeom prst="line">
              <a:avLst/>
            </a:prstGeom>
            <a:noFill/>
            <a:ln w="9525">
              <a:solidFill>
                <a:srgbClr val="FF0066"/>
              </a:solidFill>
              <a:round/>
            </a:ln>
          </p:spPr>
          <p:txBody>
            <a:bodyPr/>
            <a:lstStyle/>
            <a:p>
              <a:endParaRPr lang="zh-CN" altLang="en-US" sz="1600"/>
            </a:p>
          </p:txBody>
        </p:sp>
        <p:sp>
          <p:nvSpPr>
            <p:cNvPr id="74769" name="Line 17"/>
            <p:cNvSpPr>
              <a:spLocks noChangeShapeType="1"/>
            </p:cNvSpPr>
            <p:nvPr/>
          </p:nvSpPr>
          <p:spPr bwMode="auto">
            <a:xfrm flipV="1">
              <a:off x="5535613" y="2500313"/>
              <a:ext cx="0" cy="3352800"/>
            </a:xfrm>
            <a:prstGeom prst="line">
              <a:avLst/>
            </a:prstGeom>
            <a:noFill/>
            <a:ln w="9525">
              <a:solidFill>
                <a:srgbClr val="FF0066"/>
              </a:solidFill>
              <a:round/>
            </a:ln>
          </p:spPr>
          <p:txBody>
            <a:bodyPr/>
            <a:lstStyle/>
            <a:p>
              <a:endParaRPr lang="zh-CN" altLang="en-US" sz="1600"/>
            </a:p>
          </p:txBody>
        </p:sp>
        <p:sp>
          <p:nvSpPr>
            <p:cNvPr id="74770" name="Line 18"/>
            <p:cNvSpPr>
              <a:spLocks noChangeShapeType="1"/>
            </p:cNvSpPr>
            <p:nvPr/>
          </p:nvSpPr>
          <p:spPr bwMode="auto">
            <a:xfrm flipV="1">
              <a:off x="5459413" y="3414713"/>
              <a:ext cx="0" cy="2438400"/>
            </a:xfrm>
            <a:prstGeom prst="line">
              <a:avLst/>
            </a:prstGeom>
            <a:noFill/>
            <a:ln w="9525">
              <a:solidFill>
                <a:srgbClr val="FF0066"/>
              </a:solidFill>
              <a:round/>
            </a:ln>
          </p:spPr>
          <p:txBody>
            <a:bodyPr/>
            <a:lstStyle/>
            <a:p>
              <a:endParaRPr lang="zh-CN" altLang="en-US" sz="1600"/>
            </a:p>
          </p:txBody>
        </p:sp>
        <p:sp>
          <p:nvSpPr>
            <p:cNvPr id="74771" name="Line 19"/>
            <p:cNvSpPr>
              <a:spLocks noChangeShapeType="1"/>
            </p:cNvSpPr>
            <p:nvPr/>
          </p:nvSpPr>
          <p:spPr bwMode="auto">
            <a:xfrm flipV="1">
              <a:off x="5383213" y="4405313"/>
              <a:ext cx="0" cy="1447800"/>
            </a:xfrm>
            <a:prstGeom prst="line">
              <a:avLst/>
            </a:prstGeom>
            <a:noFill/>
            <a:ln w="9525">
              <a:solidFill>
                <a:srgbClr val="FF0066"/>
              </a:solidFill>
              <a:round/>
            </a:ln>
          </p:spPr>
          <p:txBody>
            <a:bodyPr/>
            <a:lstStyle/>
            <a:p>
              <a:endParaRPr lang="zh-CN" altLang="en-US" sz="1600"/>
            </a:p>
          </p:txBody>
        </p:sp>
        <p:sp>
          <p:nvSpPr>
            <p:cNvPr id="74772" name="Rectangle 20"/>
            <p:cNvSpPr>
              <a:spLocks noChangeArrowheads="1"/>
            </p:cNvSpPr>
            <p:nvPr/>
          </p:nvSpPr>
          <p:spPr bwMode="auto">
            <a:xfrm>
              <a:off x="1116013" y="1052513"/>
              <a:ext cx="1295400" cy="228600"/>
            </a:xfrm>
            <a:prstGeom prst="rect">
              <a:avLst/>
            </a:prstGeom>
            <a:solidFill>
              <a:schemeClr val="accent1"/>
            </a:solidFill>
            <a:ln w="9525">
              <a:noFill/>
              <a:miter lim="800000"/>
            </a:ln>
          </p:spPr>
          <p:txBody>
            <a:bodyPr wrap="none" anchor="ctr"/>
            <a:lstStyle/>
            <a:p>
              <a:pPr algn="ctr"/>
              <a:r>
                <a:rPr lang="zh-CN" altLang="en-US" sz="1600" b="1">
                  <a:latin typeface="Arial" panose="020B0604020202020204" pitchFamily="34" charset="0"/>
                </a:rPr>
                <a:t>风险分析</a:t>
              </a:r>
              <a:endParaRPr lang="zh-CN" altLang="en-US" sz="1600" b="1">
                <a:latin typeface="Arial" panose="020B0604020202020204" pitchFamily="34" charset="0"/>
              </a:endParaRPr>
            </a:p>
          </p:txBody>
        </p:sp>
        <p:sp>
          <p:nvSpPr>
            <p:cNvPr id="74773" name="Rectangle 21"/>
            <p:cNvSpPr>
              <a:spLocks noChangeArrowheads="1"/>
            </p:cNvSpPr>
            <p:nvPr/>
          </p:nvSpPr>
          <p:spPr bwMode="auto">
            <a:xfrm>
              <a:off x="4164013" y="1204913"/>
              <a:ext cx="1295400" cy="304800"/>
            </a:xfrm>
            <a:prstGeom prst="rect">
              <a:avLst/>
            </a:prstGeom>
            <a:solidFill>
              <a:schemeClr val="accent1"/>
            </a:solidFill>
            <a:ln w="9525">
              <a:noFill/>
              <a:miter lim="800000"/>
            </a:ln>
          </p:spPr>
          <p:txBody>
            <a:bodyPr wrap="none" anchor="ctr"/>
            <a:lstStyle/>
            <a:p>
              <a:pPr algn="ctr"/>
              <a:r>
                <a:rPr lang="zh-CN" altLang="en-US" sz="1600" b="1">
                  <a:latin typeface="Arial" panose="020B0604020202020204" pitchFamily="34" charset="0"/>
                </a:rPr>
                <a:t>风险分析</a:t>
              </a:r>
              <a:endParaRPr lang="zh-CN" altLang="en-US" sz="1600" b="1">
                <a:latin typeface="Arial" panose="020B0604020202020204" pitchFamily="34" charset="0"/>
              </a:endParaRPr>
            </a:p>
          </p:txBody>
        </p:sp>
        <p:sp>
          <p:nvSpPr>
            <p:cNvPr id="74774" name="Rectangle 22"/>
            <p:cNvSpPr>
              <a:spLocks noChangeArrowheads="1"/>
            </p:cNvSpPr>
            <p:nvPr/>
          </p:nvSpPr>
          <p:spPr bwMode="auto">
            <a:xfrm>
              <a:off x="1878013" y="2119313"/>
              <a:ext cx="1219200" cy="228600"/>
            </a:xfrm>
            <a:prstGeom prst="rect">
              <a:avLst/>
            </a:prstGeom>
            <a:solidFill>
              <a:schemeClr val="accent1"/>
            </a:solidFill>
            <a:ln w="9525">
              <a:noFill/>
              <a:miter lim="800000"/>
            </a:ln>
          </p:spPr>
          <p:txBody>
            <a:bodyPr wrap="none" anchor="ctr"/>
            <a:lstStyle/>
            <a:p>
              <a:pPr algn="ctr"/>
              <a:r>
                <a:rPr lang="zh-CN" altLang="en-US" sz="1600" b="1">
                  <a:latin typeface="Arial" panose="020B0604020202020204" pitchFamily="34" charset="0"/>
                </a:rPr>
                <a:t>风险分析</a:t>
              </a:r>
              <a:endParaRPr lang="zh-CN" altLang="en-US" sz="1600" b="1">
                <a:latin typeface="Arial" panose="020B0604020202020204" pitchFamily="34" charset="0"/>
              </a:endParaRPr>
            </a:p>
          </p:txBody>
        </p:sp>
        <p:sp>
          <p:nvSpPr>
            <p:cNvPr id="74775" name="Rectangle 23"/>
            <p:cNvSpPr>
              <a:spLocks noChangeArrowheads="1"/>
            </p:cNvSpPr>
            <p:nvPr/>
          </p:nvSpPr>
          <p:spPr bwMode="auto">
            <a:xfrm>
              <a:off x="2487613" y="3109913"/>
              <a:ext cx="1143000" cy="228600"/>
            </a:xfrm>
            <a:prstGeom prst="rect">
              <a:avLst/>
            </a:prstGeom>
            <a:solidFill>
              <a:schemeClr val="accent1"/>
            </a:solidFill>
            <a:ln w="9525">
              <a:noFill/>
              <a:miter lim="800000"/>
            </a:ln>
          </p:spPr>
          <p:txBody>
            <a:bodyPr wrap="none" anchor="ctr"/>
            <a:lstStyle/>
            <a:p>
              <a:pPr algn="ctr"/>
              <a:r>
                <a:rPr lang="zh-CN" altLang="en-US" sz="1600" b="1">
                  <a:latin typeface="Arial" panose="020B0604020202020204" pitchFamily="34" charset="0"/>
                </a:rPr>
                <a:t>风险分析</a:t>
              </a:r>
              <a:endParaRPr lang="zh-CN" altLang="en-US" sz="1600" b="1">
                <a:latin typeface="Arial" panose="020B0604020202020204" pitchFamily="34" charset="0"/>
              </a:endParaRPr>
            </a:p>
          </p:txBody>
        </p:sp>
        <p:sp>
          <p:nvSpPr>
            <p:cNvPr id="74776" name="Rectangle 24"/>
            <p:cNvSpPr>
              <a:spLocks noChangeArrowheads="1"/>
            </p:cNvSpPr>
            <p:nvPr/>
          </p:nvSpPr>
          <p:spPr bwMode="auto">
            <a:xfrm>
              <a:off x="3173413" y="4100513"/>
              <a:ext cx="1143000" cy="228600"/>
            </a:xfrm>
            <a:prstGeom prst="rect">
              <a:avLst/>
            </a:prstGeom>
            <a:solidFill>
              <a:schemeClr val="accent1"/>
            </a:solidFill>
            <a:ln w="9525">
              <a:noFill/>
              <a:miter lim="800000"/>
            </a:ln>
          </p:spPr>
          <p:txBody>
            <a:bodyPr wrap="none" anchor="ctr"/>
            <a:lstStyle/>
            <a:p>
              <a:pPr algn="ctr"/>
              <a:r>
                <a:rPr lang="zh-CN" altLang="en-US" sz="1600" b="1">
                  <a:latin typeface="Arial" panose="020B0604020202020204" pitchFamily="34" charset="0"/>
                </a:rPr>
                <a:t>风险分析</a:t>
              </a:r>
              <a:endParaRPr lang="zh-CN" altLang="en-US" sz="1600" b="1">
                <a:latin typeface="Arial" panose="020B0604020202020204" pitchFamily="34" charset="0"/>
              </a:endParaRPr>
            </a:p>
          </p:txBody>
        </p:sp>
        <p:sp>
          <p:nvSpPr>
            <p:cNvPr id="74777" name="Rectangle 25"/>
            <p:cNvSpPr>
              <a:spLocks noChangeArrowheads="1"/>
            </p:cNvSpPr>
            <p:nvPr/>
          </p:nvSpPr>
          <p:spPr bwMode="auto">
            <a:xfrm>
              <a:off x="3783013" y="5014913"/>
              <a:ext cx="1143000" cy="304800"/>
            </a:xfrm>
            <a:prstGeom prst="rect">
              <a:avLst/>
            </a:prstGeom>
            <a:solidFill>
              <a:schemeClr val="accent1"/>
            </a:solidFill>
            <a:ln w="9525">
              <a:noFill/>
              <a:miter lim="800000"/>
            </a:ln>
          </p:spPr>
          <p:txBody>
            <a:bodyPr wrap="none" anchor="ctr"/>
            <a:lstStyle/>
            <a:p>
              <a:pPr algn="ctr"/>
              <a:r>
                <a:rPr lang="zh-CN" altLang="en-US" sz="1600" b="1">
                  <a:latin typeface="Arial" panose="020B0604020202020204" pitchFamily="34" charset="0"/>
                </a:rPr>
                <a:t>风险分析</a:t>
              </a:r>
              <a:endParaRPr lang="zh-CN" altLang="en-US" sz="1600" b="1">
                <a:latin typeface="Arial" panose="020B0604020202020204" pitchFamily="34" charset="0"/>
              </a:endParaRPr>
            </a:p>
          </p:txBody>
        </p:sp>
        <p:sp>
          <p:nvSpPr>
            <p:cNvPr id="74778" name="Line 26"/>
            <p:cNvSpPr>
              <a:spLocks noChangeShapeType="1"/>
            </p:cNvSpPr>
            <p:nvPr/>
          </p:nvSpPr>
          <p:spPr bwMode="auto">
            <a:xfrm flipH="1">
              <a:off x="3097213" y="2500313"/>
              <a:ext cx="2438400" cy="0"/>
            </a:xfrm>
            <a:prstGeom prst="line">
              <a:avLst/>
            </a:prstGeom>
            <a:noFill/>
            <a:ln w="9525">
              <a:solidFill>
                <a:schemeClr val="tx1"/>
              </a:solidFill>
              <a:round/>
              <a:tailEnd type="triangle" w="med" len="med"/>
            </a:ln>
          </p:spPr>
          <p:txBody>
            <a:bodyPr/>
            <a:lstStyle/>
            <a:p>
              <a:endParaRPr lang="zh-CN" altLang="en-US" sz="1600"/>
            </a:p>
          </p:txBody>
        </p:sp>
        <p:sp>
          <p:nvSpPr>
            <p:cNvPr id="74779" name="Line 27"/>
            <p:cNvSpPr>
              <a:spLocks noChangeShapeType="1"/>
            </p:cNvSpPr>
            <p:nvPr/>
          </p:nvSpPr>
          <p:spPr bwMode="auto">
            <a:xfrm flipH="1">
              <a:off x="3630613" y="3414713"/>
              <a:ext cx="1828800" cy="0"/>
            </a:xfrm>
            <a:prstGeom prst="line">
              <a:avLst/>
            </a:prstGeom>
            <a:noFill/>
            <a:ln w="9525">
              <a:solidFill>
                <a:schemeClr val="tx1"/>
              </a:solidFill>
              <a:round/>
              <a:tailEnd type="triangle" w="med" len="med"/>
            </a:ln>
          </p:spPr>
          <p:txBody>
            <a:bodyPr/>
            <a:lstStyle/>
            <a:p>
              <a:endParaRPr lang="zh-CN" altLang="en-US" sz="1600"/>
            </a:p>
          </p:txBody>
        </p:sp>
        <p:sp>
          <p:nvSpPr>
            <p:cNvPr id="74780" name="Line 28"/>
            <p:cNvSpPr>
              <a:spLocks noChangeShapeType="1"/>
            </p:cNvSpPr>
            <p:nvPr/>
          </p:nvSpPr>
          <p:spPr bwMode="auto">
            <a:xfrm flipH="1">
              <a:off x="4316413" y="4405313"/>
              <a:ext cx="1066800" cy="0"/>
            </a:xfrm>
            <a:prstGeom prst="line">
              <a:avLst/>
            </a:prstGeom>
            <a:noFill/>
            <a:ln w="9525">
              <a:solidFill>
                <a:schemeClr val="tx1"/>
              </a:solidFill>
              <a:round/>
              <a:tailEnd type="triangle" w="med" len="med"/>
            </a:ln>
          </p:spPr>
          <p:txBody>
            <a:bodyPr/>
            <a:lstStyle/>
            <a:p>
              <a:endParaRPr lang="zh-CN" altLang="en-US" sz="1600"/>
            </a:p>
          </p:txBody>
        </p:sp>
        <p:sp>
          <p:nvSpPr>
            <p:cNvPr id="74781" name="Line 29"/>
            <p:cNvSpPr>
              <a:spLocks noChangeShapeType="1"/>
            </p:cNvSpPr>
            <p:nvPr/>
          </p:nvSpPr>
          <p:spPr bwMode="auto">
            <a:xfrm>
              <a:off x="4697413" y="5624513"/>
              <a:ext cx="0" cy="228600"/>
            </a:xfrm>
            <a:prstGeom prst="line">
              <a:avLst/>
            </a:prstGeom>
            <a:noFill/>
            <a:ln w="9525">
              <a:solidFill>
                <a:schemeClr val="tx1"/>
              </a:solidFill>
              <a:round/>
              <a:tailEnd type="triangle" w="med" len="med"/>
            </a:ln>
          </p:spPr>
          <p:txBody>
            <a:bodyPr/>
            <a:lstStyle/>
            <a:p>
              <a:endParaRPr lang="zh-CN" altLang="en-US" sz="1600"/>
            </a:p>
          </p:txBody>
        </p:sp>
        <p:sp>
          <p:nvSpPr>
            <p:cNvPr id="74782" name="Line 30"/>
            <p:cNvSpPr>
              <a:spLocks noChangeShapeType="1"/>
            </p:cNvSpPr>
            <p:nvPr/>
          </p:nvSpPr>
          <p:spPr bwMode="auto">
            <a:xfrm>
              <a:off x="4011613" y="4786313"/>
              <a:ext cx="0" cy="228600"/>
            </a:xfrm>
            <a:prstGeom prst="line">
              <a:avLst/>
            </a:prstGeom>
            <a:noFill/>
            <a:ln w="9525">
              <a:solidFill>
                <a:schemeClr val="tx1"/>
              </a:solidFill>
              <a:round/>
              <a:tailEnd type="triangle" w="med" len="med"/>
            </a:ln>
          </p:spPr>
          <p:txBody>
            <a:bodyPr/>
            <a:lstStyle/>
            <a:p>
              <a:endParaRPr lang="zh-CN" altLang="en-US" sz="1600"/>
            </a:p>
          </p:txBody>
        </p:sp>
        <p:sp>
          <p:nvSpPr>
            <p:cNvPr id="74783" name="Line 31"/>
            <p:cNvSpPr>
              <a:spLocks noChangeShapeType="1"/>
            </p:cNvSpPr>
            <p:nvPr/>
          </p:nvSpPr>
          <p:spPr bwMode="auto">
            <a:xfrm>
              <a:off x="3325813" y="3795713"/>
              <a:ext cx="0" cy="304800"/>
            </a:xfrm>
            <a:prstGeom prst="line">
              <a:avLst/>
            </a:prstGeom>
            <a:noFill/>
            <a:ln w="9525">
              <a:solidFill>
                <a:schemeClr val="tx1"/>
              </a:solidFill>
              <a:round/>
              <a:tailEnd type="triangle" w="med" len="med"/>
            </a:ln>
          </p:spPr>
          <p:txBody>
            <a:bodyPr/>
            <a:lstStyle/>
            <a:p>
              <a:endParaRPr lang="zh-CN" altLang="en-US" sz="1600"/>
            </a:p>
          </p:txBody>
        </p:sp>
        <p:sp>
          <p:nvSpPr>
            <p:cNvPr id="74784" name="Line 32"/>
            <p:cNvSpPr>
              <a:spLocks noChangeShapeType="1"/>
            </p:cNvSpPr>
            <p:nvPr/>
          </p:nvSpPr>
          <p:spPr bwMode="auto">
            <a:xfrm>
              <a:off x="2792413" y="2805113"/>
              <a:ext cx="0" cy="304800"/>
            </a:xfrm>
            <a:prstGeom prst="line">
              <a:avLst/>
            </a:prstGeom>
            <a:noFill/>
            <a:ln w="9525">
              <a:solidFill>
                <a:schemeClr val="tx1"/>
              </a:solidFill>
              <a:round/>
              <a:tailEnd type="triangle" w="med" len="med"/>
            </a:ln>
          </p:spPr>
          <p:txBody>
            <a:bodyPr/>
            <a:lstStyle/>
            <a:p>
              <a:endParaRPr lang="zh-CN" altLang="en-US" sz="1600"/>
            </a:p>
          </p:txBody>
        </p:sp>
        <p:sp>
          <p:nvSpPr>
            <p:cNvPr id="74785" name="Line 33"/>
            <p:cNvSpPr>
              <a:spLocks noChangeShapeType="1"/>
            </p:cNvSpPr>
            <p:nvPr/>
          </p:nvSpPr>
          <p:spPr bwMode="auto">
            <a:xfrm>
              <a:off x="2030413" y="1738313"/>
              <a:ext cx="0" cy="381000"/>
            </a:xfrm>
            <a:prstGeom prst="line">
              <a:avLst/>
            </a:prstGeom>
            <a:noFill/>
            <a:ln w="9525">
              <a:solidFill>
                <a:schemeClr val="tx1"/>
              </a:solidFill>
              <a:round/>
              <a:tailEnd type="triangle" w="med" len="med"/>
            </a:ln>
          </p:spPr>
          <p:txBody>
            <a:bodyPr/>
            <a:lstStyle/>
            <a:p>
              <a:endParaRPr lang="zh-CN" altLang="en-US" sz="1600"/>
            </a:p>
          </p:txBody>
        </p:sp>
        <p:sp>
          <p:nvSpPr>
            <p:cNvPr id="74786" name="Line 34"/>
            <p:cNvSpPr>
              <a:spLocks noChangeShapeType="1"/>
            </p:cNvSpPr>
            <p:nvPr/>
          </p:nvSpPr>
          <p:spPr bwMode="auto">
            <a:xfrm>
              <a:off x="2716213" y="1662113"/>
              <a:ext cx="0" cy="457200"/>
            </a:xfrm>
            <a:prstGeom prst="line">
              <a:avLst/>
            </a:prstGeom>
            <a:noFill/>
            <a:ln w="9525">
              <a:solidFill>
                <a:schemeClr val="tx1"/>
              </a:solidFill>
              <a:round/>
              <a:tailEnd type="triangle" w="med" len="med"/>
            </a:ln>
          </p:spPr>
          <p:txBody>
            <a:bodyPr/>
            <a:lstStyle/>
            <a:p>
              <a:endParaRPr lang="zh-CN" altLang="en-US" sz="1600"/>
            </a:p>
          </p:txBody>
        </p:sp>
        <p:sp>
          <p:nvSpPr>
            <p:cNvPr id="74787" name="Line 35"/>
            <p:cNvSpPr>
              <a:spLocks noChangeShapeType="1"/>
            </p:cNvSpPr>
            <p:nvPr/>
          </p:nvSpPr>
          <p:spPr bwMode="auto">
            <a:xfrm>
              <a:off x="2716213" y="1662113"/>
              <a:ext cx="1447800" cy="0"/>
            </a:xfrm>
            <a:prstGeom prst="line">
              <a:avLst/>
            </a:prstGeom>
            <a:noFill/>
            <a:ln w="9525">
              <a:solidFill>
                <a:schemeClr val="tx1"/>
              </a:solidFill>
              <a:round/>
            </a:ln>
          </p:spPr>
          <p:txBody>
            <a:bodyPr/>
            <a:lstStyle/>
            <a:p>
              <a:endParaRPr lang="zh-CN" altLang="en-US" sz="1600"/>
            </a:p>
          </p:txBody>
        </p:sp>
      </p:grpSp>
      <p:sp>
        <p:nvSpPr>
          <p:cNvPr id="192548" name="Text Box 36"/>
          <p:cNvSpPr txBox="1">
            <a:spLocks noChangeArrowheads="1"/>
          </p:cNvSpPr>
          <p:nvPr/>
        </p:nvSpPr>
        <p:spPr bwMode="auto">
          <a:xfrm>
            <a:off x="6139209" y="1931635"/>
            <a:ext cx="2320158" cy="923330"/>
          </a:xfrm>
          <a:prstGeom prst="rect">
            <a:avLst/>
          </a:prstGeom>
          <a:noFill/>
          <a:ln w="12700" cap="sq">
            <a:noFill/>
            <a:miter lim="800000"/>
            <a:headEnd type="none" w="sm" len="sm"/>
            <a:tailEnd type="none" w="sm" len="sm"/>
          </a:ln>
        </p:spPr>
        <p:txBody>
          <a:bodyPr wrap="square">
            <a:spAutoFit/>
          </a:bodyPr>
          <a:lstStyle/>
          <a:p>
            <a:pPr>
              <a:spcBef>
                <a:spcPct val="50000"/>
              </a:spcBef>
            </a:pPr>
            <a:r>
              <a:rPr lang="zh-CN" altLang="en-US" dirty="0">
                <a:solidFill>
                  <a:srgbClr val="FF0000"/>
                </a:solidFill>
                <a:latin typeface="+mj-ea"/>
                <a:ea typeface="+mj-ea"/>
              </a:rPr>
              <a:t>可看作在每个阶段之前都增加了风险分析过程的快速原型模型。</a:t>
            </a:r>
            <a:endParaRPr lang="zh-CN" altLang="en-US" sz="1500" dirty="0">
              <a:solidFill>
                <a:srgbClr val="FF0000"/>
              </a:solidFill>
              <a:latin typeface="+mj-ea"/>
              <a:ea typeface="+mj-ea"/>
            </a:endParaRPr>
          </a:p>
        </p:txBody>
      </p:sp>
      <p:sp>
        <p:nvSpPr>
          <p:cNvPr id="3" name="标题 2"/>
          <p:cNvSpPr>
            <a:spLocks noGrp="1"/>
          </p:cNvSpPr>
          <p:nvPr>
            <p:ph type="title"/>
          </p:nvPr>
        </p:nvSpPr>
        <p:spPr/>
        <p:txBody>
          <a:bodyPr/>
          <a:lstStyle/>
          <a:p>
            <a:r>
              <a:rPr lang="zh-CN" altLang="en-US" dirty="0"/>
              <a:t>简化的螺旋模型</a:t>
            </a:r>
            <a:endParaRPr lang="zh-CN" altLang="en-US" dirty="0"/>
          </a:p>
        </p:txBody>
      </p:sp>
      <p:sp>
        <p:nvSpPr>
          <p:cNvPr id="6" name="灯片编号占位符 5"/>
          <p:cNvSpPr>
            <a:spLocks noGrp="1"/>
          </p:cNvSpPr>
          <p:nvPr>
            <p:ph type="sldNum" sz="quarter" idx="12"/>
          </p:nvPr>
        </p:nvSpPr>
        <p:spPr/>
        <p:txBody>
          <a:bodyPr/>
          <a:lstStyle/>
          <a:p>
            <a:fld id="{0A2FEC15-E8A8-49FB-BE65-FC3681B6690A}" type="slidenum">
              <a:rPr lang="ko-KR" altLang="en-US" smtClean="0"/>
            </a:fld>
            <a:endParaRPr lang="en-US" altLang="ko-KR"/>
          </a:p>
        </p:txBody>
      </p:sp>
      <p:sp>
        <p:nvSpPr>
          <p:cNvPr id="2" name="矩形 1"/>
          <p:cNvSpPr/>
          <p:nvPr/>
        </p:nvSpPr>
        <p:spPr>
          <a:xfrm>
            <a:off x="5056568" y="3907988"/>
            <a:ext cx="3988574"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eaLnBrk="1" hangingPunct="1">
              <a:lnSpc>
                <a:spcPct val="90000"/>
              </a:lnSpc>
            </a:pPr>
            <a:r>
              <a:rPr lang="zh-CN" altLang="en-US" sz="2000" dirty="0">
                <a:latin typeface="+mj-ea"/>
                <a:ea typeface="+mj-ea"/>
              </a:rPr>
              <a:t>瀑布模型</a:t>
            </a:r>
            <a:r>
              <a:rPr lang="en-US" altLang="zh-CN" sz="2000" dirty="0">
                <a:latin typeface="+mj-ea"/>
                <a:ea typeface="+mj-ea"/>
              </a:rPr>
              <a:t>+</a:t>
            </a:r>
            <a:r>
              <a:rPr lang="zh-CN" altLang="en-US" sz="2000" dirty="0">
                <a:latin typeface="+mj-ea"/>
                <a:ea typeface="+mj-ea"/>
              </a:rPr>
              <a:t>快速原型</a:t>
            </a:r>
            <a:r>
              <a:rPr lang="en-US" altLang="zh-CN" sz="2000" dirty="0">
                <a:latin typeface="+mj-ea"/>
                <a:ea typeface="+mj-ea"/>
              </a:rPr>
              <a:t>+</a:t>
            </a:r>
            <a:r>
              <a:rPr lang="zh-CN" altLang="en-US" sz="2000" dirty="0">
                <a:latin typeface="+mj-ea"/>
                <a:ea typeface="+mj-ea"/>
              </a:rPr>
              <a:t>风险分析</a:t>
            </a:r>
            <a:endParaRPr lang="zh-CN" altLang="en-US" sz="2000" dirty="0">
              <a:latin typeface="+mj-ea"/>
              <a:ea typeface="+mj-ea"/>
            </a:endParaRPr>
          </a:p>
        </p:txBody>
      </p:sp>
      <p:sp>
        <p:nvSpPr>
          <p:cNvPr id="5" name="日期占位符 4"/>
          <p:cNvSpPr>
            <a:spLocks noGrp="1"/>
          </p:cNvSpPr>
          <p:nvPr>
            <p:ph type="dt" sz="half" idx="10"/>
          </p:nvPr>
        </p:nvSpPr>
        <p:spPr/>
        <p:txBody>
          <a:bodyPr/>
          <a:lstStyle/>
          <a:p>
            <a:fld id="{E1B3CC43-C1A1-4851-910E-CE8CA7446BB2}"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a:t>软件工程</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完整的螺旋模型</a:t>
            </a:r>
            <a:endParaRPr lang="zh-CN" altLang="en-US" dirty="0"/>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grpSp>
        <p:nvGrpSpPr>
          <p:cNvPr id="6" name="Group 2"/>
          <p:cNvGrpSpPr/>
          <p:nvPr/>
        </p:nvGrpSpPr>
        <p:grpSpPr bwMode="auto">
          <a:xfrm>
            <a:off x="3943704" y="414456"/>
            <a:ext cx="4914546" cy="4357954"/>
            <a:chOff x="295" y="0"/>
            <a:chExt cx="4626" cy="4320"/>
          </a:xfrm>
        </p:grpSpPr>
        <p:pic>
          <p:nvPicPr>
            <p:cNvPr id="7" name="Picture 3"/>
            <p:cNvPicPr>
              <a:picLocks noChangeAspect="1" noChangeArrowheads="1"/>
            </p:cNvPicPr>
            <p:nvPr/>
          </p:nvPicPr>
          <p:blipFill>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95" y="2132"/>
              <a:ext cx="4626" cy="2188"/>
            </a:xfrm>
            <a:prstGeom prst="rect">
              <a:avLst/>
            </a:prstGeom>
          </p:spPr>
          <p:style>
            <a:lnRef idx="2">
              <a:schemeClr val="accent1"/>
            </a:lnRef>
            <a:fillRef idx="1">
              <a:schemeClr val="lt1"/>
            </a:fillRef>
            <a:effectRef idx="0">
              <a:schemeClr val="accent1"/>
            </a:effectRef>
            <a:fontRef idx="minor">
              <a:schemeClr val="dk1"/>
            </a:fontRef>
          </p:style>
        </p:pic>
        <p:pic>
          <p:nvPicPr>
            <p:cNvPr id="8" name="Picture 4"/>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95" y="0"/>
              <a:ext cx="4581" cy="2115"/>
            </a:xfrm>
            <a:prstGeom prst="rect">
              <a:avLst/>
            </a:prstGeom>
          </p:spPr>
          <p:style>
            <a:lnRef idx="2">
              <a:schemeClr val="accent1"/>
            </a:lnRef>
            <a:fillRef idx="1">
              <a:schemeClr val="lt1"/>
            </a:fillRef>
            <a:effectRef idx="0">
              <a:schemeClr val="accent1"/>
            </a:effectRef>
            <a:fontRef idx="minor">
              <a:schemeClr val="dk1"/>
            </a:fontRef>
          </p:style>
        </p:pic>
      </p:grpSp>
      <p:sp>
        <p:nvSpPr>
          <p:cNvPr id="2" name="日期占位符 1"/>
          <p:cNvSpPr>
            <a:spLocks noGrp="1"/>
          </p:cNvSpPr>
          <p:nvPr>
            <p:ph type="dt" sz="half" idx="10"/>
          </p:nvPr>
        </p:nvSpPr>
        <p:spPr/>
        <p:txBody>
          <a:bodyPr/>
          <a:lstStyle/>
          <a:p>
            <a:fld id="{144FBE77-71F9-4296-9BAD-7F17C39EBC58}"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9" name="矩形 8"/>
          <p:cNvSpPr/>
          <p:nvPr/>
        </p:nvSpPr>
        <p:spPr>
          <a:xfrm>
            <a:off x="515432" y="1711975"/>
            <a:ext cx="2973726" cy="1421928"/>
          </a:xfrm>
          <a:prstGeom prst="rect">
            <a:avLst/>
          </a:prstGeom>
        </p:spPr>
        <p:txBody>
          <a:bodyPr wrap="square">
            <a:spAutoFit/>
          </a:bodyPr>
          <a:lstStyle/>
          <a:p>
            <a:pPr>
              <a:lnSpc>
                <a:spcPct val="120000"/>
              </a:lnSpc>
              <a:spcBef>
                <a:spcPts val="1200"/>
              </a:spcBef>
            </a:pPr>
            <a:r>
              <a:rPr lang="zh-CN" altLang="zh-CN" sz="2400" b="1" dirty="0">
                <a:solidFill>
                  <a:schemeClr val="accent2"/>
                </a:solidFill>
                <a:latin typeface="+mj-ea"/>
                <a:ea typeface="+mj-ea"/>
              </a:rPr>
              <a:t>螺旋模型</a:t>
            </a:r>
            <a:r>
              <a:rPr lang="zh-CN" altLang="zh-CN" sz="2400" dirty="0">
                <a:latin typeface="+mj-ea"/>
                <a:ea typeface="+mj-ea"/>
              </a:rPr>
              <a:t>是一种用于风险较大的大型软件项目开发的过程模型。</a:t>
            </a:r>
            <a:endParaRPr lang="zh-CN" altLang="en-US" sz="2400" dirty="0">
              <a:latin typeface="+mj-ea"/>
              <a:ea typeface="+mj-ea"/>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mj-ea"/>
              </a:rPr>
              <a:t>螺旋模型</a:t>
            </a:r>
            <a:endParaRPr lang="en-US" dirty="0">
              <a:latin typeface="+mj-ea"/>
            </a:endParaRPr>
          </a:p>
        </p:txBody>
      </p:sp>
      <p:sp>
        <p:nvSpPr>
          <p:cNvPr id="3" name="Content Placeholder 2"/>
          <p:cNvSpPr>
            <a:spLocks noGrp="1"/>
          </p:cNvSpPr>
          <p:nvPr>
            <p:ph idx="4294967295"/>
          </p:nvPr>
        </p:nvSpPr>
        <p:spPr>
          <a:xfrm>
            <a:off x="938213" y="866273"/>
            <a:ext cx="7920037" cy="1054839"/>
          </a:xfrm>
        </p:spPr>
        <p:txBody>
          <a:bodyPr>
            <a:noAutofit/>
          </a:bodyPr>
          <a:lstStyle/>
          <a:p>
            <a:pPr marL="0" indent="0">
              <a:lnSpc>
                <a:spcPct val="130000"/>
              </a:lnSpc>
              <a:buNone/>
            </a:pPr>
            <a:r>
              <a:rPr lang="zh-CN" altLang="en-US" sz="2200" dirty="0">
                <a:solidFill>
                  <a:schemeClr val="tx2"/>
                </a:solidFill>
                <a:latin typeface="+mj-ea"/>
                <a:ea typeface="+mj-ea"/>
              </a:rPr>
              <a:t>螺旋模型</a:t>
            </a:r>
            <a:r>
              <a:rPr lang="zh-CN" altLang="zh-CN" sz="2200" dirty="0">
                <a:solidFill>
                  <a:schemeClr val="tx2"/>
                </a:solidFill>
                <a:latin typeface="+mj-ea"/>
                <a:ea typeface="+mj-ea"/>
              </a:rPr>
              <a:t>把开发过程分为制定计划、风险分析、实施工程和客户评估</a:t>
            </a:r>
            <a:r>
              <a:rPr lang="en-US" altLang="zh-CN" sz="2200" dirty="0">
                <a:solidFill>
                  <a:schemeClr val="tx2"/>
                </a:solidFill>
                <a:latin typeface="+mj-ea"/>
                <a:ea typeface="+mj-ea"/>
              </a:rPr>
              <a:t>4</a:t>
            </a:r>
            <a:r>
              <a:rPr lang="zh-CN" altLang="zh-CN" sz="2200" dirty="0">
                <a:solidFill>
                  <a:schemeClr val="tx2"/>
                </a:solidFill>
                <a:latin typeface="+mj-ea"/>
                <a:ea typeface="+mj-ea"/>
              </a:rPr>
              <a:t>种活动</a:t>
            </a:r>
            <a:r>
              <a:rPr lang="zh-CN" altLang="en-US" sz="2200" dirty="0">
                <a:solidFill>
                  <a:schemeClr val="tx2"/>
                </a:solidFill>
                <a:latin typeface="+mj-ea"/>
                <a:ea typeface="+mj-ea"/>
              </a:rPr>
              <a:t>。</a:t>
            </a:r>
            <a:endParaRPr lang="en-US" altLang="zh-CN" sz="2200" dirty="0">
              <a:solidFill>
                <a:schemeClr val="tx2"/>
              </a:solidFill>
              <a:latin typeface="+mj-ea"/>
              <a:ea typeface="+mj-ea"/>
            </a:endParaRPr>
          </a:p>
        </p:txBody>
      </p:sp>
      <p:graphicFrame>
        <p:nvGraphicFramePr>
          <p:cNvPr id="4" name="图示 3"/>
          <p:cNvGraphicFramePr/>
          <p:nvPr/>
        </p:nvGraphicFramePr>
        <p:xfrm>
          <a:off x="854282" y="1793369"/>
          <a:ext cx="8003968" cy="276472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日期占位符 4"/>
          <p:cNvSpPr>
            <a:spLocks noGrp="1"/>
          </p:cNvSpPr>
          <p:nvPr>
            <p:ph type="dt" sz="half" idx="10"/>
          </p:nvPr>
        </p:nvSpPr>
        <p:spPr/>
        <p:txBody>
          <a:bodyPr/>
          <a:lstStyle/>
          <a:p>
            <a:fld id="{BC435272-0578-4947-8392-0A95571CC28D}"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p:cNvSpPr>
            <a:spLocks noChangeArrowheads="1"/>
          </p:cNvSpPr>
          <p:nvPr/>
        </p:nvSpPr>
        <p:spPr bwMode="auto">
          <a:xfrm>
            <a:off x="760021" y="1387393"/>
            <a:ext cx="8098229" cy="2135328"/>
          </a:xfrm>
          <a:prstGeom prst="rect">
            <a:avLst/>
          </a:prstGeom>
          <a:noFill/>
          <a:ln w="9525">
            <a:noFill/>
            <a:miter lim="800000"/>
          </a:ln>
        </p:spPr>
        <p:txBody>
          <a:bodyPr wrap="square">
            <a:spAutoFit/>
          </a:bodyPr>
          <a:lstStyle/>
          <a:p>
            <a:pPr marL="457200" indent="-457200">
              <a:lnSpc>
                <a:spcPct val="120000"/>
              </a:lnSpc>
              <a:spcBef>
                <a:spcPts val="1200"/>
              </a:spcBef>
              <a:buFont typeface="+mj-lt"/>
              <a:buAutoNum type="arabicPeriod"/>
            </a:pPr>
            <a:r>
              <a:rPr lang="zh-CN" altLang="en-US" sz="2400" dirty="0">
                <a:latin typeface="+mj-ea"/>
                <a:ea typeface="+mj-ea"/>
              </a:rPr>
              <a:t>对可选方案和约束条件的强调有利于已有软件的重用，也有助于把软件质量作为软件开发的一个重要目标。</a:t>
            </a:r>
            <a:endParaRPr lang="zh-CN" altLang="en-US" sz="2400" dirty="0">
              <a:latin typeface="+mj-ea"/>
              <a:ea typeface="+mj-ea"/>
            </a:endParaRPr>
          </a:p>
          <a:p>
            <a:pPr marL="457200" indent="-457200">
              <a:lnSpc>
                <a:spcPct val="120000"/>
              </a:lnSpc>
              <a:spcBef>
                <a:spcPts val="1200"/>
              </a:spcBef>
              <a:buFont typeface="+mj-lt"/>
              <a:buAutoNum type="arabicPeriod"/>
            </a:pPr>
            <a:r>
              <a:rPr lang="zh-CN" altLang="en-US" sz="2400" dirty="0">
                <a:latin typeface="+mj-ea"/>
                <a:ea typeface="+mj-ea"/>
              </a:rPr>
              <a:t>减少了过多测试或测试不足。</a:t>
            </a:r>
            <a:endParaRPr lang="zh-CN" altLang="en-US" sz="2400" dirty="0">
              <a:latin typeface="+mj-ea"/>
              <a:ea typeface="+mj-ea"/>
            </a:endParaRPr>
          </a:p>
          <a:p>
            <a:pPr marL="457200" indent="-457200">
              <a:lnSpc>
                <a:spcPct val="120000"/>
              </a:lnSpc>
              <a:spcBef>
                <a:spcPts val="1200"/>
              </a:spcBef>
              <a:buFont typeface="+mj-lt"/>
              <a:buAutoNum type="arabicPeriod"/>
            </a:pPr>
            <a:r>
              <a:rPr lang="zh-CN" altLang="en-US" sz="2400" dirty="0">
                <a:latin typeface="+mj-ea"/>
                <a:ea typeface="+mj-ea"/>
              </a:rPr>
              <a:t>维护和开发之间并没有本质区别。</a:t>
            </a:r>
            <a:endParaRPr lang="zh-CN" altLang="en-US" sz="2400" dirty="0">
              <a:latin typeface="+mj-ea"/>
              <a:ea typeface="+mj-ea"/>
            </a:endParaRPr>
          </a:p>
        </p:txBody>
      </p:sp>
      <p:sp>
        <p:nvSpPr>
          <p:cNvPr id="4" name="标题 3"/>
          <p:cNvSpPr>
            <a:spLocks noGrp="1"/>
          </p:cNvSpPr>
          <p:nvPr>
            <p:ph type="title"/>
          </p:nvPr>
        </p:nvSpPr>
        <p:spPr/>
        <p:txBody>
          <a:bodyPr/>
          <a:lstStyle/>
          <a:p>
            <a:r>
              <a:rPr lang="zh-CN" altLang="en-US" dirty="0"/>
              <a:t>螺旋模型的优点</a:t>
            </a:r>
            <a:endParaRPr lang="zh-CN" altLang="en-US" dirty="0"/>
          </a:p>
        </p:txBody>
      </p:sp>
      <p:sp>
        <p:nvSpPr>
          <p:cNvPr id="5" name="灯片编号占位符 4"/>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2" name="日期占位符 1"/>
          <p:cNvSpPr>
            <a:spLocks noGrp="1"/>
          </p:cNvSpPr>
          <p:nvPr>
            <p:ph type="dt" sz="half" idx="10"/>
          </p:nvPr>
        </p:nvSpPr>
        <p:spPr/>
        <p:txBody>
          <a:bodyPr/>
          <a:lstStyle/>
          <a:p>
            <a:fld id="{9A9CC8D7-76D0-477A-93A9-88CA5B2B73A5}"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p:cNvSpPr>
            <a:spLocks noChangeArrowheads="1"/>
          </p:cNvSpPr>
          <p:nvPr/>
        </p:nvSpPr>
        <p:spPr bwMode="auto">
          <a:xfrm>
            <a:off x="760021" y="1211355"/>
            <a:ext cx="8098229" cy="3059299"/>
          </a:xfrm>
          <a:prstGeom prst="rect">
            <a:avLst/>
          </a:prstGeom>
          <a:noFill/>
          <a:ln w="9525">
            <a:noFill/>
            <a:miter lim="800000"/>
          </a:ln>
        </p:spPr>
        <p:txBody>
          <a:bodyPr wrap="square">
            <a:spAutoFit/>
          </a:bodyPr>
          <a:lstStyle/>
          <a:p>
            <a:pPr marL="457200" indent="-457200">
              <a:lnSpc>
                <a:spcPct val="120000"/>
              </a:lnSpc>
              <a:spcBef>
                <a:spcPts val="1200"/>
              </a:spcBef>
              <a:buFont typeface="+mj-lt"/>
              <a:buAutoNum type="arabicPeriod"/>
            </a:pPr>
            <a:r>
              <a:rPr lang="zh-CN" altLang="en-US" sz="2400" dirty="0">
                <a:solidFill>
                  <a:srgbClr val="FF0000"/>
                </a:solidFill>
                <a:latin typeface="+mj-ea"/>
                <a:ea typeface="+mj-ea"/>
              </a:rPr>
              <a:t>风险驱动</a:t>
            </a:r>
            <a:r>
              <a:rPr lang="zh-CN" altLang="en-US" sz="2400" dirty="0">
                <a:latin typeface="+mj-ea"/>
                <a:ea typeface="+mj-ea"/>
              </a:rPr>
              <a:t>，需要相当丰富的风险评估经验和专门知识，否则风险更大。</a:t>
            </a:r>
            <a:endParaRPr lang="en-US" altLang="zh-CN" sz="2400" dirty="0">
              <a:latin typeface="+mj-ea"/>
              <a:ea typeface="+mj-ea"/>
            </a:endParaRPr>
          </a:p>
          <a:p>
            <a:pPr marL="457200" indent="-457200">
              <a:lnSpc>
                <a:spcPct val="120000"/>
              </a:lnSpc>
              <a:spcBef>
                <a:spcPts val="1200"/>
              </a:spcBef>
              <a:buFont typeface="+mj-lt"/>
              <a:buAutoNum type="arabicPeriod"/>
            </a:pPr>
            <a:r>
              <a:rPr lang="zh-CN" altLang="en-US" sz="2400" dirty="0">
                <a:latin typeface="+mj-ea"/>
                <a:ea typeface="+mj-ea"/>
              </a:rPr>
              <a:t>主要适用于</a:t>
            </a:r>
            <a:r>
              <a:rPr lang="zh-CN" altLang="en-US" sz="2400" dirty="0">
                <a:solidFill>
                  <a:srgbClr val="FF0000"/>
                </a:solidFill>
                <a:latin typeface="+mj-ea"/>
                <a:ea typeface="+mj-ea"/>
              </a:rPr>
              <a:t>内部开发的大规模软件项目</a:t>
            </a:r>
            <a:r>
              <a:rPr lang="zh-CN" altLang="en-US" sz="2400" dirty="0">
                <a:latin typeface="+mj-ea"/>
                <a:ea typeface="+mj-ea"/>
              </a:rPr>
              <a:t>，随着过程的进展演化，开发者和用户能够更好的识别和对待每一个演化级别上的风险。</a:t>
            </a:r>
            <a:endParaRPr lang="en-US" altLang="zh-CN" sz="2400" dirty="0">
              <a:latin typeface="+mj-ea"/>
              <a:ea typeface="+mj-ea"/>
            </a:endParaRPr>
          </a:p>
          <a:p>
            <a:pPr marL="457200" indent="-457200">
              <a:lnSpc>
                <a:spcPct val="120000"/>
              </a:lnSpc>
              <a:spcBef>
                <a:spcPts val="1200"/>
              </a:spcBef>
              <a:buFont typeface="+mj-lt"/>
              <a:buAutoNum type="arabicPeriod"/>
            </a:pPr>
            <a:r>
              <a:rPr lang="zh-CN" altLang="en-US" sz="2400" dirty="0">
                <a:latin typeface="+mj-ea"/>
                <a:ea typeface="+mj-ea"/>
              </a:rPr>
              <a:t>随着迭代次数的增加，工作量加大，软件开发成本增加。</a:t>
            </a:r>
            <a:endParaRPr lang="en-US" altLang="zh-CN" sz="2400" dirty="0">
              <a:latin typeface="+mj-ea"/>
              <a:ea typeface="+mj-ea"/>
            </a:endParaRPr>
          </a:p>
        </p:txBody>
      </p:sp>
      <p:sp>
        <p:nvSpPr>
          <p:cNvPr id="4" name="标题 3"/>
          <p:cNvSpPr>
            <a:spLocks noGrp="1"/>
          </p:cNvSpPr>
          <p:nvPr>
            <p:ph type="title"/>
          </p:nvPr>
        </p:nvSpPr>
        <p:spPr/>
        <p:txBody>
          <a:bodyPr/>
          <a:lstStyle/>
          <a:p>
            <a:r>
              <a:rPr lang="zh-CN" altLang="en-US" dirty="0"/>
              <a:t>螺旋模型的缺点</a:t>
            </a:r>
            <a:endParaRPr lang="zh-CN" altLang="en-US" dirty="0"/>
          </a:p>
        </p:txBody>
      </p:sp>
      <p:sp>
        <p:nvSpPr>
          <p:cNvPr id="5" name="灯片编号占位符 4"/>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2" name="日期占位符 1"/>
          <p:cNvSpPr>
            <a:spLocks noGrp="1"/>
          </p:cNvSpPr>
          <p:nvPr>
            <p:ph type="dt" sz="half" idx="10"/>
          </p:nvPr>
        </p:nvSpPr>
        <p:spPr/>
        <p:txBody>
          <a:bodyPr/>
          <a:lstStyle/>
          <a:p>
            <a:fld id="{3188D741-E45F-4607-A259-52CBF2B72866}"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8" name="文本框 7"/>
          <p:cNvSpPr txBox="1"/>
          <p:nvPr>
            <p:custDataLst>
              <p:tags r:id="rId1"/>
            </p:custDataLst>
          </p:nvPr>
        </p:nvSpPr>
        <p:spPr>
          <a:xfrm>
            <a:off x="914400" y="635000"/>
            <a:ext cx="7315200" cy="1607185"/>
          </a:xfrm>
          <a:prstGeom prst="rect">
            <a:avLst/>
          </a:prstGeom>
          <a:noFill/>
        </p:spPr>
        <p:txBody>
          <a:bodyPr wrap="square" rtlCol="0" anchor="ctr" anchorCtr="0">
            <a:noAutofit/>
          </a:bodyPr>
          <a:lstStyle/>
          <a:p>
            <a:pPr lvl="0" algn="l">
              <a:buNone/>
            </a:pPr>
            <a:r>
              <a:rPr lang="zh-CN" altLang="en-US" sz="2600" dirty="0">
                <a:sym typeface="+mn-ea"/>
              </a:rPr>
              <a:t>以下叙述中，（ ）不是一个风险。</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2"/>
            </p:custDataLst>
          </p:nvPr>
        </p:nvSpPr>
        <p:spPr>
          <a:xfrm>
            <a:off x="1828800" y="2089150"/>
            <a:ext cx="6400800" cy="481965"/>
          </a:xfrm>
          <a:prstGeom prst="rect">
            <a:avLst/>
          </a:prstGeom>
          <a:noFill/>
        </p:spPr>
        <p:txBody>
          <a:bodyPr wrap="square" rtlCol="0" anchor="ctr" anchorCtr="0">
            <a:noAutofit/>
          </a:bodyPr>
          <a:lstStyle/>
          <a:p>
            <a:pPr lvl="0" algn="l">
              <a:buNone/>
            </a:pPr>
            <a:r>
              <a:rPr lang="zh-CN" altLang="en-US" sz="2000" dirty="0">
                <a:sym typeface="+mn-ea"/>
              </a:rPr>
              <a:t>由另一个小组开发的子系统可能推迟交付，导致系统不能按时交付客户</a:t>
            </a:r>
            <a:br>
              <a:rPr lang="zh-CN" altLang="en-US" sz="2000" dirty="0">
                <a:sym typeface="+mn-ea"/>
              </a:rPr>
            </a:br>
            <a:endParaRPr lang="zh-CN" altLang="en-US" sz="2000" dirty="0">
              <a:solidFill>
                <a:srgbClr val="000000"/>
              </a:solidFill>
              <a:latin typeface="微软雅黑" panose="020B0503020204020204" pitchFamily="34" charset="-122"/>
              <a:ea typeface="微软雅黑" panose="020B0503020204020204" pitchFamily="34" charset="-122"/>
              <a:sym typeface="+mn-ea"/>
            </a:endParaRPr>
          </a:p>
        </p:txBody>
      </p:sp>
      <p:sp>
        <p:nvSpPr>
          <p:cNvPr id="10" name="文本框 9"/>
          <p:cNvSpPr txBox="1"/>
          <p:nvPr>
            <p:custDataLst>
              <p:tags r:id="rId3"/>
            </p:custDataLst>
          </p:nvPr>
        </p:nvSpPr>
        <p:spPr>
          <a:xfrm>
            <a:off x="1828800" y="2732405"/>
            <a:ext cx="6400800" cy="642620"/>
          </a:xfrm>
          <a:prstGeom prst="rect">
            <a:avLst/>
          </a:prstGeom>
          <a:noFill/>
        </p:spPr>
        <p:txBody>
          <a:bodyPr wrap="square" rtlCol="0" anchor="ctr" anchorCtr="0">
            <a:noAutofit/>
          </a:bodyPr>
          <a:lstStyle/>
          <a:p>
            <a:pPr lvl="0" algn="l">
              <a:buNone/>
            </a:pPr>
            <a:r>
              <a:rPr lang="zh-CN" altLang="en-US" sz="2000" dirty="0">
                <a:sym typeface="+mn-ea"/>
              </a:rPr>
              <a:t>客户不清楚想要开发什么样的软件，因此开发小组开发原型帮助其确定需求</a:t>
            </a:r>
            <a:br>
              <a:rPr lang="zh-CN" altLang="en-US" sz="2000" dirty="0">
                <a:sym typeface="+mn-ea"/>
              </a:rPr>
            </a:br>
            <a:endParaRPr lang="zh-CN" altLang="en-US" sz="2000" dirty="0">
              <a:solidFill>
                <a:srgbClr val="000000"/>
              </a:solidFill>
              <a:latin typeface="微软雅黑" panose="020B0503020204020204" pitchFamily="34" charset="-122"/>
              <a:ea typeface="微软雅黑" panose="020B0503020204020204" pitchFamily="34" charset="-122"/>
              <a:sym typeface="+mn-ea"/>
            </a:endParaRPr>
          </a:p>
        </p:txBody>
      </p:sp>
      <p:sp>
        <p:nvSpPr>
          <p:cNvPr id="11" name="文本框 10"/>
          <p:cNvSpPr txBox="1"/>
          <p:nvPr>
            <p:custDataLst>
              <p:tags r:id="rId4"/>
            </p:custDataLst>
          </p:nvPr>
        </p:nvSpPr>
        <p:spPr>
          <a:xfrm>
            <a:off x="1828800" y="3375025"/>
            <a:ext cx="6400800" cy="481965"/>
          </a:xfrm>
          <a:prstGeom prst="rect">
            <a:avLst/>
          </a:prstGeom>
          <a:noFill/>
        </p:spPr>
        <p:txBody>
          <a:bodyPr wrap="square" rtlCol="0" anchor="ctr" anchorCtr="0">
            <a:noAutofit/>
          </a:bodyPr>
          <a:lstStyle/>
          <a:p>
            <a:pPr lvl="0" algn="l">
              <a:buNone/>
            </a:pPr>
            <a:r>
              <a:rPr lang="zh-CN" altLang="en-US" sz="2400" dirty="0">
                <a:sym typeface="+mn-ea"/>
              </a:rPr>
              <a:t>开发团队可能没有正确理解客户的需求</a:t>
            </a:r>
            <a:endParaRPr lang="zh-CN" altLang="en-US" sz="2400" dirty="0">
              <a:solidFill>
                <a:srgbClr val="000000"/>
              </a:solidFill>
              <a:latin typeface="微软雅黑" panose="020B0503020204020204" pitchFamily="34" charset="-122"/>
              <a:ea typeface="微软雅黑" panose="020B0503020204020204" pitchFamily="34" charset="-122"/>
              <a:sym typeface="+mn-ea"/>
            </a:endParaRPr>
          </a:p>
        </p:txBody>
      </p:sp>
      <p:sp>
        <p:nvSpPr>
          <p:cNvPr id="12" name="文本框 11"/>
          <p:cNvSpPr txBox="1"/>
          <p:nvPr>
            <p:custDataLst>
              <p:tags r:id="rId5"/>
            </p:custDataLst>
          </p:nvPr>
        </p:nvSpPr>
        <p:spPr>
          <a:xfrm>
            <a:off x="1828800" y="4018280"/>
            <a:ext cx="6922770" cy="481965"/>
          </a:xfrm>
          <a:prstGeom prst="rect">
            <a:avLst/>
          </a:prstGeom>
          <a:noFill/>
        </p:spPr>
        <p:txBody>
          <a:bodyPr wrap="square" rtlCol="0" anchor="ctr" anchorCtr="0">
            <a:noAutofit/>
          </a:bodyPr>
          <a:lstStyle/>
          <a:p>
            <a:pPr lvl="0" algn="l">
              <a:buNone/>
            </a:pPr>
            <a:r>
              <a:rPr lang="zh-CN" altLang="en-US" sz="2400" dirty="0">
                <a:sym typeface="+mn-ea"/>
              </a:rPr>
              <a:t>开发团队核心成员可能在系统开发过程中离职</a:t>
            </a:r>
            <a:endParaRPr lang="zh-CN" altLang="en-US" sz="2400" dirty="0">
              <a:solidFill>
                <a:srgbClr val="000000"/>
              </a:solidFill>
              <a:latin typeface="微软雅黑" panose="020B0503020204020204" pitchFamily="34" charset="-122"/>
              <a:ea typeface="微软雅黑" panose="020B0503020204020204" pitchFamily="34" charset="-122"/>
              <a:sym typeface="+mn-ea"/>
            </a:endParaRPr>
          </a:p>
        </p:txBody>
      </p:sp>
      <p:sp>
        <p:nvSpPr>
          <p:cNvPr id="13" name="椭圆 12"/>
          <p:cNvSpPr>
            <a:spLocks noChangeAspect="1"/>
          </p:cNvSpPr>
          <p:nvPr>
            <p:custDataLst>
              <p:tags r:id="rId6"/>
            </p:custDataLst>
          </p:nvPr>
        </p:nvSpPr>
        <p:spPr>
          <a:xfrm>
            <a:off x="1178560" y="2137410"/>
            <a:ext cx="385445" cy="3860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4" name="椭圆 13"/>
          <p:cNvSpPr>
            <a:spLocks noChangeAspect="1"/>
          </p:cNvSpPr>
          <p:nvPr>
            <p:custDataLst>
              <p:tags r:id="rId7"/>
            </p:custDataLst>
          </p:nvPr>
        </p:nvSpPr>
        <p:spPr>
          <a:xfrm>
            <a:off x="1178560" y="2780665"/>
            <a:ext cx="385445" cy="385445"/>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5" name="椭圆 14"/>
          <p:cNvSpPr>
            <a:spLocks noChangeAspect="1"/>
          </p:cNvSpPr>
          <p:nvPr>
            <p:custDataLst>
              <p:tags r:id="rId8"/>
            </p:custDataLst>
          </p:nvPr>
        </p:nvSpPr>
        <p:spPr>
          <a:xfrm>
            <a:off x="1178560" y="3423285"/>
            <a:ext cx="385445" cy="3860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6" name="椭圆 15"/>
          <p:cNvSpPr>
            <a:spLocks noChangeAspect="1"/>
          </p:cNvSpPr>
          <p:nvPr>
            <p:custDataLst>
              <p:tags r:id="rId9"/>
            </p:custDataLst>
          </p:nvPr>
        </p:nvSpPr>
        <p:spPr>
          <a:xfrm>
            <a:off x="1178560" y="4066540"/>
            <a:ext cx="385445" cy="385445"/>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7" name="圆角矩形 16"/>
          <p:cNvSpPr/>
          <p:nvPr>
            <p:custDataLst>
              <p:tags r:id="rId10"/>
            </p:custDataLst>
          </p:nvPr>
        </p:nvSpPr>
        <p:spPr>
          <a:xfrm>
            <a:off x="6686550" y="4660900"/>
            <a:ext cx="1156970"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endParaRPr>
          </a:p>
        </p:txBody>
      </p:sp>
      <p:grpSp>
        <p:nvGrpSpPr>
          <p:cNvPr id="22" name="组合 21"/>
          <p:cNvGrpSpPr/>
          <p:nvPr>
            <p:custDataLst>
              <p:tags r:id="rId11"/>
            </p:custDataLst>
          </p:nvPr>
        </p:nvGrpSpPr>
        <p:grpSpPr>
          <a:xfrm>
            <a:off x="0" y="0"/>
            <a:ext cx="9144000" cy="635000"/>
            <a:chOff x="0" y="0"/>
            <a:chExt cx="14400" cy="1000"/>
          </a:xfrm>
        </p:grpSpPr>
        <p:sp>
          <p:nvSpPr>
            <p:cNvPr id="18" name="TitleBackground"/>
            <p:cNvSpPr/>
            <p:nvPr>
              <p:custDataLst>
                <p:tags r:id="rId12"/>
              </p:custDataLst>
            </p:nvPr>
          </p:nvSpPr>
          <p:spPr>
            <a:xfrm>
              <a:off x="0" y="0"/>
              <a:ext cx="14400" cy="1000"/>
            </a:xfrm>
            <a:prstGeom prst="rect">
              <a:avLst/>
            </a:prstGeom>
            <a:solidFill>
              <a:srgbClr val="F6F7F8"/>
            </a:solidFill>
            <a:ln w="15875" cap="flat" cmpd="sng" algn="ctr">
              <a:noFill/>
              <a:prstDash val="solid"/>
            </a:ln>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ColorBlock"/>
            <p:cNvSpPr/>
            <p:nvPr>
              <p:custDataLst>
                <p:tags r:id="rId13"/>
              </p:custDataLst>
            </p:nvPr>
          </p:nvSpPr>
          <p:spPr>
            <a:xfrm>
              <a:off x="0" y="0"/>
              <a:ext cx="300" cy="1000"/>
            </a:xfrm>
            <a:prstGeom prst="rect">
              <a:avLst/>
            </a:prstGeom>
            <a:solidFill>
              <a:srgbClr val="639EF4"/>
            </a:solidFill>
            <a:ln w="15875" cap="flat" cmpd="sng" algn="ctr">
              <a:noFill/>
              <a:prstDash val="solid"/>
            </a:ln>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ypeText"/>
            <p:cNvSpPr txBox="1"/>
            <p:nvPr>
              <p:custDataLst>
                <p:tags r:id="rId14"/>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21" name="TipText"/>
            <p:cNvSpPr txBox="1"/>
            <p:nvPr>
              <p:custDataLst>
                <p:tags r:id="rId15"/>
              </p:custDataLst>
            </p:nvPr>
          </p:nvSpPr>
          <p:spPr>
            <a:xfrm>
              <a:off x="2248"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endPar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7" name="图片 6" descr="tmp91B3"/>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Tree>
    <p:custDataLst>
      <p:tags r:id="rId18"/>
    </p:custData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5"/>
          <p:cNvSpPr>
            <a:spLocks noChangeArrowheads="1"/>
          </p:cNvSpPr>
          <p:nvPr/>
        </p:nvSpPr>
        <p:spPr bwMode="auto">
          <a:xfrm>
            <a:off x="900113" y="887677"/>
            <a:ext cx="6101953" cy="523220"/>
          </a:xfrm>
          <a:prstGeom prst="rect">
            <a:avLst/>
          </a:prstGeom>
          <a:noFill/>
          <a:ln w="12700">
            <a:noFill/>
            <a:miter lim="800000"/>
            <a:headEnd type="none" w="sm" len="sm"/>
            <a:tailEnd type="none" w="sm" len="sm"/>
          </a:ln>
        </p:spPr>
        <p:txBody>
          <a:bodyPr>
            <a:spAutoFit/>
          </a:bodyPr>
          <a:lstStyle/>
          <a:p>
            <a:pPr eaLnBrk="0" hangingPunct="0">
              <a:buClr>
                <a:schemeClr val="tx1"/>
              </a:buClr>
              <a:buSzPct val="120000"/>
            </a:pPr>
            <a:r>
              <a:rPr kumimoji="1" lang="zh-CN" altLang="en-US" sz="2800" b="1" dirty="0">
                <a:solidFill>
                  <a:srgbClr val="FF0000"/>
                </a:solidFill>
                <a:latin typeface="+mj-ea"/>
                <a:ea typeface="+mj-ea"/>
              </a:rPr>
              <a:t>喷泉模型</a:t>
            </a:r>
            <a:r>
              <a:rPr kumimoji="1" lang="en-US" altLang="zh-CN" sz="2800" b="1" dirty="0">
                <a:solidFill>
                  <a:srgbClr val="FF0000"/>
                </a:solidFill>
                <a:latin typeface="+mj-ea"/>
                <a:ea typeface="+mj-ea"/>
              </a:rPr>
              <a:t>(Fountain Model)</a:t>
            </a:r>
            <a:endParaRPr kumimoji="1" lang="en-US" altLang="zh-CN" sz="2800" b="1" dirty="0">
              <a:latin typeface="+mj-ea"/>
              <a:ea typeface="+mj-ea"/>
            </a:endParaRPr>
          </a:p>
        </p:txBody>
      </p:sp>
      <p:grpSp>
        <p:nvGrpSpPr>
          <p:cNvPr id="3" name="组合 2"/>
          <p:cNvGrpSpPr/>
          <p:nvPr/>
        </p:nvGrpSpPr>
        <p:grpSpPr>
          <a:xfrm>
            <a:off x="5765006" y="372468"/>
            <a:ext cx="3093244" cy="4686300"/>
            <a:chOff x="4090988" y="241300"/>
            <a:chExt cx="4124325" cy="6248400"/>
          </a:xfrm>
        </p:grpSpPr>
        <p:sp>
          <p:nvSpPr>
            <p:cNvPr id="77829" name="Oval 30"/>
            <p:cNvSpPr>
              <a:spLocks noChangeArrowheads="1"/>
            </p:cNvSpPr>
            <p:nvPr/>
          </p:nvSpPr>
          <p:spPr bwMode="auto">
            <a:xfrm>
              <a:off x="5391150" y="241300"/>
              <a:ext cx="1524000" cy="825500"/>
            </a:xfrm>
            <a:prstGeom prst="ellipse">
              <a:avLst/>
            </a:prstGeom>
          </p:spPr>
          <p:style>
            <a:lnRef idx="2">
              <a:schemeClr val="accent6"/>
            </a:lnRef>
            <a:fillRef idx="1">
              <a:schemeClr val="lt1"/>
            </a:fillRef>
            <a:effectRef idx="0">
              <a:schemeClr val="accent6"/>
            </a:effectRef>
            <a:fontRef idx="minor">
              <a:schemeClr val="dk1"/>
            </a:fontRef>
          </p:style>
          <p:txBody>
            <a:bodyPr wrap="none" anchor="ctr"/>
            <a:lstStyle/>
            <a:p>
              <a:pPr eaLnBrk="0" hangingPunct="0"/>
              <a:endParaRPr lang="zh-CN" altLang="en-US" sz="2000"/>
            </a:p>
          </p:txBody>
        </p:sp>
        <p:sp>
          <p:nvSpPr>
            <p:cNvPr id="77831" name="Oval 32"/>
            <p:cNvSpPr>
              <a:spLocks noChangeArrowheads="1"/>
            </p:cNvSpPr>
            <p:nvPr/>
          </p:nvSpPr>
          <p:spPr bwMode="auto">
            <a:xfrm>
              <a:off x="5162550" y="1295400"/>
              <a:ext cx="1905000" cy="838200"/>
            </a:xfrm>
            <a:prstGeom prst="ellipse">
              <a:avLst/>
            </a:prstGeom>
          </p:spPr>
          <p:style>
            <a:lnRef idx="2">
              <a:schemeClr val="accent6"/>
            </a:lnRef>
            <a:fillRef idx="1">
              <a:schemeClr val="lt1"/>
            </a:fillRef>
            <a:effectRef idx="0">
              <a:schemeClr val="accent6"/>
            </a:effectRef>
            <a:fontRef idx="minor">
              <a:schemeClr val="dk1"/>
            </a:fontRef>
          </p:style>
          <p:txBody>
            <a:bodyPr wrap="none" anchor="ctr"/>
            <a:lstStyle/>
            <a:p>
              <a:pPr eaLnBrk="0" hangingPunct="0"/>
              <a:endParaRPr lang="zh-CN" altLang="en-US" sz="2000">
                <a:ln w="0"/>
                <a:solidFill>
                  <a:schemeClr val="tx1"/>
                </a:solidFill>
              </a:endParaRPr>
            </a:p>
          </p:txBody>
        </p:sp>
        <p:sp>
          <p:nvSpPr>
            <p:cNvPr id="77832" name="Oval 33"/>
            <p:cNvSpPr>
              <a:spLocks noChangeArrowheads="1"/>
            </p:cNvSpPr>
            <p:nvPr/>
          </p:nvSpPr>
          <p:spPr bwMode="auto">
            <a:xfrm>
              <a:off x="5162550" y="1981200"/>
              <a:ext cx="2057400" cy="927100"/>
            </a:xfrm>
            <a:prstGeom prst="ellipse">
              <a:avLst/>
            </a:prstGeom>
          </p:spPr>
          <p:style>
            <a:lnRef idx="2">
              <a:schemeClr val="accent6"/>
            </a:lnRef>
            <a:fillRef idx="1">
              <a:schemeClr val="lt1"/>
            </a:fillRef>
            <a:effectRef idx="0">
              <a:schemeClr val="accent6"/>
            </a:effectRef>
            <a:fontRef idx="minor">
              <a:schemeClr val="dk1"/>
            </a:fontRef>
          </p:style>
          <p:txBody>
            <a:bodyPr wrap="none" anchor="ctr"/>
            <a:lstStyle/>
            <a:p>
              <a:pPr eaLnBrk="0" hangingPunct="0"/>
              <a:endParaRPr lang="zh-CN" altLang="en-US" sz="2000"/>
            </a:p>
          </p:txBody>
        </p:sp>
        <p:sp>
          <p:nvSpPr>
            <p:cNvPr id="77839" name="Oval 40"/>
            <p:cNvSpPr>
              <a:spLocks noChangeArrowheads="1"/>
            </p:cNvSpPr>
            <p:nvPr/>
          </p:nvSpPr>
          <p:spPr bwMode="auto">
            <a:xfrm>
              <a:off x="5162550" y="2819400"/>
              <a:ext cx="2209800" cy="927100"/>
            </a:xfrm>
            <a:prstGeom prst="ellipse">
              <a:avLst/>
            </a:prstGeom>
          </p:spPr>
          <p:style>
            <a:lnRef idx="2">
              <a:schemeClr val="accent6"/>
            </a:lnRef>
            <a:fillRef idx="1">
              <a:schemeClr val="lt1"/>
            </a:fillRef>
            <a:effectRef idx="0">
              <a:schemeClr val="accent6"/>
            </a:effectRef>
            <a:fontRef idx="minor">
              <a:schemeClr val="dk1"/>
            </a:fontRef>
          </p:style>
          <p:txBody>
            <a:bodyPr wrap="none" anchor="ctr"/>
            <a:lstStyle/>
            <a:p>
              <a:pPr eaLnBrk="0" hangingPunct="0"/>
              <a:endParaRPr lang="zh-CN" altLang="en-US" sz="2000">
                <a:ln w="0"/>
                <a:solidFill>
                  <a:schemeClr val="tx1"/>
                </a:solidFill>
              </a:endParaRPr>
            </a:p>
          </p:txBody>
        </p:sp>
        <p:sp>
          <p:nvSpPr>
            <p:cNvPr id="77840" name="Oval 41"/>
            <p:cNvSpPr>
              <a:spLocks noChangeArrowheads="1"/>
            </p:cNvSpPr>
            <p:nvPr/>
          </p:nvSpPr>
          <p:spPr bwMode="auto">
            <a:xfrm>
              <a:off x="5086351" y="3517900"/>
              <a:ext cx="2362200" cy="1066800"/>
            </a:xfrm>
            <a:prstGeom prst="ellipse">
              <a:avLst/>
            </a:prstGeom>
          </p:spPr>
          <p:style>
            <a:lnRef idx="2">
              <a:schemeClr val="accent6"/>
            </a:lnRef>
            <a:fillRef idx="1">
              <a:schemeClr val="lt1"/>
            </a:fillRef>
            <a:effectRef idx="0">
              <a:schemeClr val="accent6"/>
            </a:effectRef>
            <a:fontRef idx="minor">
              <a:schemeClr val="dk1"/>
            </a:fontRef>
          </p:style>
          <p:txBody>
            <a:bodyPr wrap="none" anchor="ctr"/>
            <a:lstStyle/>
            <a:p>
              <a:pPr algn="ctr" eaLnBrk="0" hangingPunct="0"/>
              <a:endParaRPr kumimoji="1" lang="zh-CN" altLang="en-US" sz="2000">
                <a:ln w="0"/>
                <a:solidFill>
                  <a:schemeClr val="tx1"/>
                </a:solidFill>
              </a:endParaRPr>
            </a:p>
          </p:txBody>
        </p:sp>
        <p:sp>
          <p:nvSpPr>
            <p:cNvPr id="77841" name="Oval 42"/>
            <p:cNvSpPr>
              <a:spLocks noChangeArrowheads="1"/>
            </p:cNvSpPr>
            <p:nvPr/>
          </p:nvSpPr>
          <p:spPr bwMode="auto">
            <a:xfrm>
              <a:off x="5010150" y="4432300"/>
              <a:ext cx="2514600" cy="1219200"/>
            </a:xfrm>
            <a:prstGeom prst="ellipse">
              <a:avLst/>
            </a:prstGeom>
          </p:spPr>
          <p:style>
            <a:lnRef idx="2">
              <a:schemeClr val="accent6"/>
            </a:lnRef>
            <a:fillRef idx="1">
              <a:schemeClr val="lt1"/>
            </a:fillRef>
            <a:effectRef idx="0">
              <a:schemeClr val="accent6"/>
            </a:effectRef>
            <a:fontRef idx="minor">
              <a:schemeClr val="dk1"/>
            </a:fontRef>
          </p:style>
          <p:txBody>
            <a:bodyPr wrap="none" anchor="ctr"/>
            <a:lstStyle/>
            <a:p>
              <a:pPr eaLnBrk="0" hangingPunct="0"/>
              <a:endParaRPr lang="zh-CN" altLang="en-US" sz="2000">
                <a:ln w="0"/>
                <a:solidFill>
                  <a:schemeClr val="tx1"/>
                </a:solidFill>
              </a:endParaRPr>
            </a:p>
          </p:txBody>
        </p:sp>
        <p:sp>
          <p:nvSpPr>
            <p:cNvPr id="77830" name="Arc 31"/>
            <p:cNvSpPr/>
            <p:nvPr/>
          </p:nvSpPr>
          <p:spPr bwMode="auto">
            <a:xfrm>
              <a:off x="4090988" y="395288"/>
              <a:ext cx="1528762" cy="457200"/>
            </a:xfrm>
            <a:custGeom>
              <a:avLst/>
              <a:gdLst>
                <a:gd name="T0" fmla="*/ 0 w 39367"/>
                <a:gd name="T1" fmla="*/ 2147483647 h 21600"/>
                <a:gd name="T2" fmla="*/ 2147483647 w 39367"/>
                <a:gd name="T3" fmla="*/ 2147483647 h 21600"/>
                <a:gd name="T4" fmla="*/ 2147483647 w 39367"/>
                <a:gd name="T5" fmla="*/ 2147483647 h 21600"/>
                <a:gd name="T6" fmla="*/ 0 60000 65536"/>
                <a:gd name="T7" fmla="*/ 0 60000 65536"/>
                <a:gd name="T8" fmla="*/ 0 60000 65536"/>
                <a:gd name="T9" fmla="*/ 0 w 39367"/>
                <a:gd name="T10" fmla="*/ 0 h 21600"/>
                <a:gd name="T11" fmla="*/ 39367 w 39367"/>
                <a:gd name="T12" fmla="*/ 21600 h 21600"/>
              </a:gdLst>
              <a:ahLst/>
              <a:cxnLst>
                <a:cxn ang="T6">
                  <a:pos x="T0" y="T1"/>
                </a:cxn>
                <a:cxn ang="T7">
                  <a:pos x="T2" y="T3"/>
                </a:cxn>
                <a:cxn ang="T8">
                  <a:pos x="T4" y="T5"/>
                </a:cxn>
              </a:cxnLst>
              <a:rect l="T9" t="T10" r="T11" b="T12"/>
              <a:pathLst>
                <a:path w="39367" h="21600" fill="none" extrusionOk="0">
                  <a:moveTo>
                    <a:pt x="0" y="21600"/>
                  </a:moveTo>
                  <a:cubicBezTo>
                    <a:pt x="0" y="9670"/>
                    <a:pt x="9670" y="0"/>
                    <a:pt x="21600" y="0"/>
                  </a:cubicBezTo>
                  <a:cubicBezTo>
                    <a:pt x="28692" y="0"/>
                    <a:pt x="35333" y="3482"/>
                    <a:pt x="39367" y="9316"/>
                  </a:cubicBezTo>
                </a:path>
                <a:path w="39367" h="21600" stroke="0" extrusionOk="0">
                  <a:moveTo>
                    <a:pt x="0" y="21600"/>
                  </a:moveTo>
                  <a:cubicBezTo>
                    <a:pt x="0" y="9670"/>
                    <a:pt x="9670" y="0"/>
                    <a:pt x="21600" y="0"/>
                  </a:cubicBezTo>
                  <a:cubicBezTo>
                    <a:pt x="28692" y="0"/>
                    <a:pt x="35333" y="3482"/>
                    <a:pt x="39367" y="9316"/>
                  </a:cubicBezTo>
                  <a:lnTo>
                    <a:pt x="21600" y="21600"/>
                  </a:lnTo>
                  <a:close/>
                </a:path>
              </a:pathLst>
            </a:custGeom>
            <a:noFill/>
            <a:ln w="25400" cap="rnd">
              <a:solidFill>
                <a:schemeClr val="tx1"/>
              </a:solidFill>
              <a:round/>
              <a:headEnd type="stealth" w="med" len="lg"/>
              <a:tailEnd type="none" w="sm" len="sm"/>
            </a:ln>
          </p:spPr>
          <p:txBody>
            <a:bodyPr wrap="none" anchor="ctr"/>
            <a:lstStyle/>
            <a:p>
              <a:endParaRPr lang="zh-CN" altLang="en-US" sz="2000"/>
            </a:p>
          </p:txBody>
        </p:sp>
        <p:sp>
          <p:nvSpPr>
            <p:cNvPr id="203810" name="Freeform 34"/>
            <p:cNvSpPr/>
            <p:nvPr/>
          </p:nvSpPr>
          <p:spPr bwMode="auto">
            <a:xfrm>
              <a:off x="5005388" y="992188"/>
              <a:ext cx="1300162" cy="5497512"/>
            </a:xfrm>
            <a:custGeom>
              <a:avLst/>
              <a:gdLst/>
              <a:ahLst/>
              <a:cxnLst>
                <a:cxn ang="0">
                  <a:pos x="832" y="0"/>
                </a:cxn>
                <a:cxn ang="0">
                  <a:pos x="832" y="2688"/>
                </a:cxn>
                <a:cxn ang="0">
                  <a:pos x="112" y="3264"/>
                </a:cxn>
                <a:cxn ang="0">
                  <a:pos x="160" y="3216"/>
                </a:cxn>
              </a:cxnLst>
              <a:rect l="0" t="0" r="r" b="b"/>
              <a:pathLst>
                <a:path w="952" h="3352">
                  <a:moveTo>
                    <a:pt x="832" y="0"/>
                  </a:moveTo>
                  <a:cubicBezTo>
                    <a:pt x="892" y="1072"/>
                    <a:pt x="952" y="2144"/>
                    <a:pt x="832" y="2688"/>
                  </a:cubicBezTo>
                  <a:cubicBezTo>
                    <a:pt x="712" y="3232"/>
                    <a:pt x="224" y="3176"/>
                    <a:pt x="112" y="3264"/>
                  </a:cubicBezTo>
                  <a:cubicBezTo>
                    <a:pt x="0" y="3352"/>
                    <a:pt x="160" y="3216"/>
                    <a:pt x="160" y="3216"/>
                  </a:cubicBezTo>
                </a:path>
              </a:pathLst>
            </a:custGeom>
            <a:noFill/>
            <a:ln w="12700" cap="flat" cmpd="sng">
              <a:solidFill>
                <a:schemeClr val="tx1"/>
              </a:solidFill>
              <a:prstDash val="solid"/>
              <a:round/>
              <a:headEnd type="none" w="sm" len="sm"/>
              <a:tailEnd type="none" w="sm" len="sm"/>
            </a:ln>
            <a:effectLst>
              <a:outerShdw dist="107763" dir="2700000" algn="ctr" rotWithShape="0">
                <a:schemeClr val="bg2"/>
              </a:outerShdw>
            </a:effectLst>
          </p:spPr>
          <p:txBody>
            <a:bodyPr/>
            <a:lstStyle/>
            <a:p>
              <a:pPr eaLnBrk="0" hangingPunct="0">
                <a:defRPr/>
              </a:pPr>
              <a:endParaRPr lang="zh-CN" altLang="en-US" sz="2000">
                <a:ln w="0"/>
                <a:cs typeface="Arial" panose="020B0604020202020204" pitchFamily="34" charset="0"/>
              </a:endParaRPr>
            </a:p>
          </p:txBody>
        </p:sp>
        <p:sp>
          <p:nvSpPr>
            <p:cNvPr id="203811" name="Freeform 35"/>
            <p:cNvSpPr/>
            <p:nvPr/>
          </p:nvSpPr>
          <p:spPr bwMode="auto">
            <a:xfrm>
              <a:off x="6229350" y="4279900"/>
              <a:ext cx="1376363" cy="2133600"/>
            </a:xfrm>
            <a:custGeom>
              <a:avLst/>
              <a:gdLst/>
              <a:ahLst/>
              <a:cxnLst>
                <a:cxn ang="0">
                  <a:pos x="0" y="0"/>
                </a:cxn>
                <a:cxn ang="0">
                  <a:pos x="240" y="1008"/>
                </a:cxn>
                <a:cxn ang="0">
                  <a:pos x="864" y="1248"/>
                </a:cxn>
              </a:cxnLst>
              <a:rect l="0" t="0" r="r" b="b"/>
              <a:pathLst>
                <a:path w="864" h="1248">
                  <a:moveTo>
                    <a:pt x="0" y="0"/>
                  </a:moveTo>
                  <a:cubicBezTo>
                    <a:pt x="48" y="400"/>
                    <a:pt x="96" y="800"/>
                    <a:pt x="240" y="1008"/>
                  </a:cubicBezTo>
                  <a:cubicBezTo>
                    <a:pt x="384" y="1216"/>
                    <a:pt x="760" y="1216"/>
                    <a:pt x="864" y="1248"/>
                  </a:cubicBezTo>
                </a:path>
              </a:pathLst>
            </a:custGeom>
            <a:noFill/>
            <a:ln w="12700" cap="flat" cmpd="sng">
              <a:solidFill>
                <a:schemeClr val="tx1"/>
              </a:solidFill>
              <a:prstDash val="solid"/>
              <a:round/>
              <a:headEnd type="none" w="sm" len="sm"/>
              <a:tailEnd type="none" w="sm" len="sm"/>
            </a:ln>
            <a:effectLst>
              <a:outerShdw dist="107763" dir="2700000" algn="ctr" rotWithShape="0">
                <a:schemeClr val="bg2"/>
              </a:outerShdw>
            </a:effectLst>
          </p:spPr>
          <p:txBody>
            <a:bodyPr/>
            <a:lstStyle/>
            <a:p>
              <a:pPr eaLnBrk="0" hangingPunct="0">
                <a:defRPr/>
              </a:pPr>
              <a:endParaRPr lang="zh-CN" altLang="en-US" sz="2000">
                <a:ln w="0"/>
                <a:cs typeface="Arial" panose="020B0604020202020204" pitchFamily="34" charset="0"/>
              </a:endParaRPr>
            </a:p>
          </p:txBody>
        </p:sp>
        <p:sp>
          <p:nvSpPr>
            <p:cNvPr id="77835" name="Arc 36"/>
            <p:cNvSpPr/>
            <p:nvPr/>
          </p:nvSpPr>
          <p:spPr bwMode="auto">
            <a:xfrm>
              <a:off x="5314950" y="1530350"/>
              <a:ext cx="344488" cy="228600"/>
            </a:xfrm>
            <a:custGeom>
              <a:avLst/>
              <a:gdLst>
                <a:gd name="T0" fmla="*/ 0 w 32581"/>
                <a:gd name="T1" fmla="*/ 2147483647 h 21600"/>
                <a:gd name="T2" fmla="*/ 2147483647 w 32581"/>
                <a:gd name="T3" fmla="*/ 2147483647 h 21600"/>
                <a:gd name="T4" fmla="*/ 2147483647 w 32581"/>
                <a:gd name="T5" fmla="*/ 2147483647 h 21600"/>
                <a:gd name="T6" fmla="*/ 0 60000 65536"/>
                <a:gd name="T7" fmla="*/ 0 60000 65536"/>
                <a:gd name="T8" fmla="*/ 0 60000 65536"/>
                <a:gd name="T9" fmla="*/ 0 w 32581"/>
                <a:gd name="T10" fmla="*/ 0 h 21600"/>
                <a:gd name="T11" fmla="*/ 32581 w 32581"/>
                <a:gd name="T12" fmla="*/ 21600 h 21600"/>
              </a:gdLst>
              <a:ahLst/>
              <a:cxnLst>
                <a:cxn ang="T6">
                  <a:pos x="T0" y="T1"/>
                </a:cxn>
                <a:cxn ang="T7">
                  <a:pos x="T2" y="T3"/>
                </a:cxn>
                <a:cxn ang="T8">
                  <a:pos x="T4" y="T5"/>
                </a:cxn>
              </a:cxnLst>
              <a:rect l="T9" t="T10" r="T11" b="T12"/>
              <a:pathLst>
                <a:path w="32581" h="21600" fill="none" extrusionOk="0">
                  <a:moveTo>
                    <a:pt x="0" y="21600"/>
                  </a:moveTo>
                  <a:cubicBezTo>
                    <a:pt x="0" y="9670"/>
                    <a:pt x="9670" y="0"/>
                    <a:pt x="21600" y="0"/>
                  </a:cubicBezTo>
                  <a:cubicBezTo>
                    <a:pt x="25462" y="0"/>
                    <a:pt x="29254" y="1035"/>
                    <a:pt x="32581" y="2999"/>
                  </a:cubicBezTo>
                </a:path>
                <a:path w="32581" h="21600" stroke="0" extrusionOk="0">
                  <a:moveTo>
                    <a:pt x="0" y="21600"/>
                  </a:moveTo>
                  <a:cubicBezTo>
                    <a:pt x="0" y="9670"/>
                    <a:pt x="9670" y="0"/>
                    <a:pt x="21600" y="0"/>
                  </a:cubicBezTo>
                  <a:cubicBezTo>
                    <a:pt x="25462" y="0"/>
                    <a:pt x="29254" y="1035"/>
                    <a:pt x="32581" y="2999"/>
                  </a:cubicBezTo>
                  <a:lnTo>
                    <a:pt x="21600" y="21600"/>
                  </a:lnTo>
                  <a:close/>
                </a:path>
              </a:pathLst>
            </a:custGeom>
            <a:noFill/>
            <a:ln w="25400" cap="rnd">
              <a:solidFill>
                <a:schemeClr val="tx1"/>
              </a:solidFill>
              <a:round/>
              <a:headEnd type="stealth" w="med" len="lg"/>
              <a:tailEnd type="none" w="sm" len="sm"/>
            </a:ln>
          </p:spPr>
          <p:txBody>
            <a:bodyPr wrap="none" anchor="ctr"/>
            <a:lstStyle/>
            <a:p>
              <a:endParaRPr lang="zh-CN" altLang="en-US" sz="2000"/>
            </a:p>
          </p:txBody>
        </p:sp>
        <p:sp>
          <p:nvSpPr>
            <p:cNvPr id="77836" name="Arc 37"/>
            <p:cNvSpPr/>
            <p:nvPr/>
          </p:nvSpPr>
          <p:spPr bwMode="auto">
            <a:xfrm flipH="1">
              <a:off x="6570663" y="1524000"/>
              <a:ext cx="344487" cy="228600"/>
            </a:xfrm>
            <a:custGeom>
              <a:avLst/>
              <a:gdLst>
                <a:gd name="T0" fmla="*/ 0 w 32581"/>
                <a:gd name="T1" fmla="*/ 2147483647 h 21600"/>
                <a:gd name="T2" fmla="*/ 2147483647 w 32581"/>
                <a:gd name="T3" fmla="*/ 2147483647 h 21600"/>
                <a:gd name="T4" fmla="*/ 2147483647 w 32581"/>
                <a:gd name="T5" fmla="*/ 2147483647 h 21600"/>
                <a:gd name="T6" fmla="*/ 0 60000 65536"/>
                <a:gd name="T7" fmla="*/ 0 60000 65536"/>
                <a:gd name="T8" fmla="*/ 0 60000 65536"/>
                <a:gd name="T9" fmla="*/ 0 w 32581"/>
                <a:gd name="T10" fmla="*/ 0 h 21600"/>
                <a:gd name="T11" fmla="*/ 32581 w 32581"/>
                <a:gd name="T12" fmla="*/ 21600 h 21600"/>
              </a:gdLst>
              <a:ahLst/>
              <a:cxnLst>
                <a:cxn ang="T6">
                  <a:pos x="T0" y="T1"/>
                </a:cxn>
                <a:cxn ang="T7">
                  <a:pos x="T2" y="T3"/>
                </a:cxn>
                <a:cxn ang="T8">
                  <a:pos x="T4" y="T5"/>
                </a:cxn>
              </a:cxnLst>
              <a:rect l="T9" t="T10" r="T11" b="T12"/>
              <a:pathLst>
                <a:path w="32581" h="21600" fill="none" extrusionOk="0">
                  <a:moveTo>
                    <a:pt x="0" y="21600"/>
                  </a:moveTo>
                  <a:cubicBezTo>
                    <a:pt x="0" y="9670"/>
                    <a:pt x="9670" y="0"/>
                    <a:pt x="21600" y="0"/>
                  </a:cubicBezTo>
                  <a:cubicBezTo>
                    <a:pt x="25462" y="0"/>
                    <a:pt x="29254" y="1035"/>
                    <a:pt x="32581" y="2999"/>
                  </a:cubicBezTo>
                </a:path>
                <a:path w="32581" h="21600" stroke="0" extrusionOk="0">
                  <a:moveTo>
                    <a:pt x="0" y="21600"/>
                  </a:moveTo>
                  <a:cubicBezTo>
                    <a:pt x="0" y="9670"/>
                    <a:pt x="9670" y="0"/>
                    <a:pt x="21600" y="0"/>
                  </a:cubicBezTo>
                  <a:cubicBezTo>
                    <a:pt x="25462" y="0"/>
                    <a:pt x="29254" y="1035"/>
                    <a:pt x="32581" y="2999"/>
                  </a:cubicBezTo>
                  <a:lnTo>
                    <a:pt x="21600" y="21600"/>
                  </a:lnTo>
                  <a:close/>
                </a:path>
              </a:pathLst>
            </a:custGeom>
            <a:noFill/>
            <a:ln w="25400" cap="rnd">
              <a:solidFill>
                <a:schemeClr val="tx1"/>
              </a:solidFill>
              <a:round/>
              <a:headEnd type="stealth" w="med" len="lg"/>
              <a:tailEnd type="none" w="sm" len="sm"/>
            </a:ln>
          </p:spPr>
          <p:txBody>
            <a:bodyPr wrap="none" anchor="ctr"/>
            <a:lstStyle/>
            <a:p>
              <a:endParaRPr lang="zh-CN" altLang="en-US" sz="2000"/>
            </a:p>
          </p:txBody>
        </p:sp>
        <p:sp>
          <p:nvSpPr>
            <p:cNvPr id="203814" name="Rectangle 38"/>
            <p:cNvSpPr>
              <a:spLocks noChangeArrowheads="1"/>
            </p:cNvSpPr>
            <p:nvPr/>
          </p:nvSpPr>
          <p:spPr bwMode="auto">
            <a:xfrm>
              <a:off x="5800228" y="4651335"/>
              <a:ext cx="934444" cy="533480"/>
            </a:xfrm>
            <a:prstGeom prst="rect">
              <a:avLst/>
            </a:prstGeom>
            <a:noFill/>
            <a:ln w="12700">
              <a:noFill/>
              <a:miter lim="800000"/>
              <a:headEnd type="none" w="sm" len="sm"/>
              <a:tailEnd type="none" w="sm" len="sm"/>
            </a:ln>
            <a:effectLst>
              <a:outerShdw dist="107763" dir="2700000" algn="ctr" rotWithShape="0">
                <a:schemeClr val="bg2"/>
              </a:outerShdw>
            </a:effectLst>
          </p:spPr>
          <p:txBody>
            <a:bodyPr wrap="none">
              <a:spAutoFit/>
            </a:bodyPr>
            <a:lstStyle/>
            <a:p>
              <a:pPr eaLnBrk="0" hangingPunct="0">
                <a:defRPr/>
              </a:pPr>
              <a:r>
                <a:rPr kumimoji="1" lang="zh-CN" altLang="en-US" sz="2000" b="1" dirty="0">
                  <a:latin typeface="宋体" panose="02010600030101010101" pitchFamily="2" charset="-122"/>
                  <a:cs typeface="Arial" panose="020B0604020202020204" pitchFamily="34" charset="0"/>
                </a:rPr>
                <a:t>分析</a:t>
              </a:r>
              <a:endParaRPr kumimoji="1" lang="zh-CN" altLang="en-US" sz="2000" b="1" dirty="0">
                <a:latin typeface="宋体" panose="02010600030101010101" pitchFamily="2" charset="-122"/>
                <a:cs typeface="Arial" panose="020B0604020202020204" pitchFamily="34" charset="0"/>
              </a:endParaRPr>
            </a:p>
          </p:txBody>
        </p:sp>
        <p:sp>
          <p:nvSpPr>
            <p:cNvPr id="203815" name="Rectangle 39"/>
            <p:cNvSpPr>
              <a:spLocks noChangeArrowheads="1"/>
            </p:cNvSpPr>
            <p:nvPr/>
          </p:nvSpPr>
          <p:spPr bwMode="auto">
            <a:xfrm>
              <a:off x="5748371" y="3755985"/>
              <a:ext cx="934444" cy="533480"/>
            </a:xfrm>
            <a:prstGeom prst="rect">
              <a:avLst/>
            </a:prstGeom>
            <a:noFill/>
            <a:ln w="12700">
              <a:noFill/>
              <a:miter lim="800000"/>
              <a:headEnd type="none" w="sm" len="sm"/>
              <a:tailEnd type="none" w="sm" len="sm"/>
            </a:ln>
            <a:effectLst>
              <a:outerShdw dist="107763" dir="2700000" algn="ctr" rotWithShape="0">
                <a:schemeClr val="bg2"/>
              </a:outerShdw>
            </a:effectLst>
          </p:spPr>
          <p:txBody>
            <a:bodyPr wrap="none">
              <a:spAutoFit/>
            </a:bodyPr>
            <a:lstStyle/>
            <a:p>
              <a:pPr eaLnBrk="0" hangingPunct="0">
                <a:defRPr/>
              </a:pPr>
              <a:r>
                <a:rPr kumimoji="1" lang="zh-CN" altLang="en-US" sz="2000" b="1" dirty="0">
                  <a:latin typeface="宋体" panose="02010600030101010101" pitchFamily="2" charset="-122"/>
                  <a:cs typeface="Arial" panose="020B0604020202020204" pitchFamily="34" charset="0"/>
                </a:rPr>
                <a:t>设计</a:t>
              </a:r>
              <a:endParaRPr kumimoji="1" lang="zh-CN" altLang="en-US" sz="2000" b="1" dirty="0">
                <a:latin typeface="宋体" panose="02010600030101010101" pitchFamily="2" charset="-122"/>
                <a:cs typeface="Arial" panose="020B0604020202020204" pitchFamily="34" charset="0"/>
              </a:endParaRPr>
            </a:p>
          </p:txBody>
        </p:sp>
        <p:sp>
          <p:nvSpPr>
            <p:cNvPr id="203819" name="Rectangle 43"/>
            <p:cNvSpPr>
              <a:spLocks noChangeArrowheads="1"/>
            </p:cNvSpPr>
            <p:nvPr/>
          </p:nvSpPr>
          <p:spPr bwMode="auto">
            <a:xfrm>
              <a:off x="5762128" y="2917785"/>
              <a:ext cx="934444" cy="533480"/>
            </a:xfrm>
            <a:prstGeom prst="rect">
              <a:avLst/>
            </a:prstGeom>
            <a:noFill/>
            <a:ln w="12700">
              <a:noFill/>
              <a:miter lim="800000"/>
              <a:headEnd type="none" w="sm" len="sm"/>
              <a:tailEnd type="none" w="sm" len="sm"/>
            </a:ln>
            <a:effectLst>
              <a:outerShdw dist="107763" dir="2700000" algn="ctr" rotWithShape="0">
                <a:schemeClr val="bg2"/>
              </a:outerShdw>
            </a:effectLst>
          </p:spPr>
          <p:txBody>
            <a:bodyPr wrap="none">
              <a:spAutoFit/>
            </a:bodyPr>
            <a:lstStyle/>
            <a:p>
              <a:pPr eaLnBrk="0" hangingPunct="0">
                <a:defRPr/>
              </a:pPr>
              <a:r>
                <a:rPr kumimoji="1" lang="zh-CN" altLang="en-US" sz="2000" b="1" dirty="0">
                  <a:latin typeface="宋体" panose="02010600030101010101" pitchFamily="2" charset="-122"/>
                  <a:cs typeface="Arial" panose="020B0604020202020204" pitchFamily="34" charset="0"/>
                </a:rPr>
                <a:t>实现</a:t>
              </a:r>
              <a:endParaRPr kumimoji="1" lang="zh-CN" altLang="en-US" sz="2000" b="1" dirty="0">
                <a:latin typeface="宋体" panose="02010600030101010101" pitchFamily="2" charset="-122"/>
                <a:cs typeface="Arial" panose="020B0604020202020204" pitchFamily="34" charset="0"/>
              </a:endParaRPr>
            </a:p>
          </p:txBody>
        </p:sp>
        <p:sp>
          <p:nvSpPr>
            <p:cNvPr id="203820" name="Rectangle 44"/>
            <p:cNvSpPr>
              <a:spLocks noChangeArrowheads="1"/>
            </p:cNvSpPr>
            <p:nvPr/>
          </p:nvSpPr>
          <p:spPr bwMode="auto">
            <a:xfrm>
              <a:off x="5715657" y="2145291"/>
              <a:ext cx="930169" cy="533480"/>
            </a:xfrm>
            <a:prstGeom prst="rect">
              <a:avLst/>
            </a:prstGeom>
            <a:noFill/>
            <a:ln w="12700">
              <a:noFill/>
              <a:miter lim="800000"/>
              <a:headEnd type="none" w="sm" len="sm"/>
              <a:tailEnd type="none" w="sm" len="sm"/>
            </a:ln>
            <a:effectLst>
              <a:outerShdw dist="107763" dir="2700000" algn="ctr" rotWithShape="0">
                <a:schemeClr val="bg2"/>
              </a:outerShdw>
            </a:effectLst>
          </p:spPr>
          <p:txBody>
            <a:bodyPr wrap="none">
              <a:spAutoFit/>
            </a:bodyPr>
            <a:lstStyle/>
            <a:p>
              <a:pPr eaLnBrk="0" hangingPunct="0">
                <a:defRPr/>
              </a:pPr>
              <a:r>
                <a:rPr kumimoji="1" lang="zh-CN" altLang="en-US" sz="2000" dirty="0">
                  <a:ln w="0"/>
                  <a:latin typeface="宋体" panose="02010600030101010101" pitchFamily="2" charset="-122"/>
                  <a:cs typeface="Arial" panose="020B0604020202020204" pitchFamily="34" charset="0"/>
                </a:rPr>
                <a:t>测试</a:t>
              </a:r>
              <a:endParaRPr kumimoji="1" lang="zh-CN" altLang="en-US" sz="2000" dirty="0">
                <a:ln w="0"/>
                <a:latin typeface="宋体" panose="02010600030101010101" pitchFamily="2" charset="-122"/>
                <a:cs typeface="Arial" panose="020B0604020202020204" pitchFamily="34" charset="0"/>
              </a:endParaRPr>
            </a:p>
          </p:txBody>
        </p:sp>
        <p:sp>
          <p:nvSpPr>
            <p:cNvPr id="203821" name="Rectangle 45"/>
            <p:cNvSpPr>
              <a:spLocks noChangeArrowheads="1"/>
            </p:cNvSpPr>
            <p:nvPr/>
          </p:nvSpPr>
          <p:spPr bwMode="auto">
            <a:xfrm>
              <a:off x="5715657" y="1383211"/>
              <a:ext cx="934444" cy="533480"/>
            </a:xfrm>
            <a:prstGeom prst="rect">
              <a:avLst/>
            </a:prstGeom>
            <a:noFill/>
            <a:ln w="12700">
              <a:noFill/>
              <a:miter lim="800000"/>
              <a:headEnd type="none" w="sm" len="sm"/>
              <a:tailEnd type="none" w="sm" len="sm"/>
            </a:ln>
            <a:effectLst>
              <a:outerShdw dist="107763" dir="2700000" algn="ctr" rotWithShape="0">
                <a:schemeClr val="bg2"/>
              </a:outerShdw>
            </a:effectLst>
          </p:spPr>
          <p:txBody>
            <a:bodyPr wrap="none">
              <a:spAutoFit/>
            </a:bodyPr>
            <a:lstStyle/>
            <a:p>
              <a:pPr eaLnBrk="0" hangingPunct="0">
                <a:defRPr/>
              </a:pPr>
              <a:r>
                <a:rPr kumimoji="1" lang="zh-CN" altLang="en-US" sz="2000" b="1" dirty="0">
                  <a:latin typeface="宋体" panose="02010600030101010101" pitchFamily="2" charset="-122"/>
                  <a:cs typeface="Arial" panose="020B0604020202020204" pitchFamily="34" charset="0"/>
                </a:rPr>
                <a:t>集成</a:t>
              </a:r>
              <a:endParaRPr kumimoji="1" lang="zh-CN" altLang="en-US" sz="2000" b="1" dirty="0">
                <a:latin typeface="宋体" panose="02010600030101010101" pitchFamily="2" charset="-122"/>
                <a:cs typeface="Arial" panose="020B0604020202020204" pitchFamily="34" charset="0"/>
              </a:endParaRPr>
            </a:p>
          </p:txBody>
        </p:sp>
        <p:sp>
          <p:nvSpPr>
            <p:cNvPr id="77845" name="Arc 46"/>
            <p:cNvSpPr/>
            <p:nvPr/>
          </p:nvSpPr>
          <p:spPr bwMode="auto">
            <a:xfrm>
              <a:off x="5314950" y="2298700"/>
              <a:ext cx="344488" cy="228600"/>
            </a:xfrm>
            <a:custGeom>
              <a:avLst/>
              <a:gdLst>
                <a:gd name="T0" fmla="*/ 0 w 32581"/>
                <a:gd name="T1" fmla="*/ 2147483647 h 21600"/>
                <a:gd name="T2" fmla="*/ 2147483647 w 32581"/>
                <a:gd name="T3" fmla="*/ 2147483647 h 21600"/>
                <a:gd name="T4" fmla="*/ 2147483647 w 32581"/>
                <a:gd name="T5" fmla="*/ 2147483647 h 21600"/>
                <a:gd name="T6" fmla="*/ 0 60000 65536"/>
                <a:gd name="T7" fmla="*/ 0 60000 65536"/>
                <a:gd name="T8" fmla="*/ 0 60000 65536"/>
                <a:gd name="T9" fmla="*/ 0 w 32581"/>
                <a:gd name="T10" fmla="*/ 0 h 21600"/>
                <a:gd name="T11" fmla="*/ 32581 w 32581"/>
                <a:gd name="T12" fmla="*/ 21600 h 21600"/>
              </a:gdLst>
              <a:ahLst/>
              <a:cxnLst>
                <a:cxn ang="T6">
                  <a:pos x="T0" y="T1"/>
                </a:cxn>
                <a:cxn ang="T7">
                  <a:pos x="T2" y="T3"/>
                </a:cxn>
                <a:cxn ang="T8">
                  <a:pos x="T4" y="T5"/>
                </a:cxn>
              </a:cxnLst>
              <a:rect l="T9" t="T10" r="T11" b="T12"/>
              <a:pathLst>
                <a:path w="32581" h="21600" fill="none" extrusionOk="0">
                  <a:moveTo>
                    <a:pt x="0" y="21600"/>
                  </a:moveTo>
                  <a:cubicBezTo>
                    <a:pt x="0" y="9670"/>
                    <a:pt x="9670" y="0"/>
                    <a:pt x="21600" y="0"/>
                  </a:cubicBezTo>
                  <a:cubicBezTo>
                    <a:pt x="25462" y="0"/>
                    <a:pt x="29254" y="1035"/>
                    <a:pt x="32581" y="2999"/>
                  </a:cubicBezTo>
                </a:path>
                <a:path w="32581" h="21600" stroke="0" extrusionOk="0">
                  <a:moveTo>
                    <a:pt x="0" y="21600"/>
                  </a:moveTo>
                  <a:cubicBezTo>
                    <a:pt x="0" y="9670"/>
                    <a:pt x="9670" y="0"/>
                    <a:pt x="21600" y="0"/>
                  </a:cubicBezTo>
                  <a:cubicBezTo>
                    <a:pt x="25462" y="0"/>
                    <a:pt x="29254" y="1035"/>
                    <a:pt x="32581" y="2999"/>
                  </a:cubicBezTo>
                  <a:lnTo>
                    <a:pt x="21600" y="21600"/>
                  </a:lnTo>
                  <a:close/>
                </a:path>
              </a:pathLst>
            </a:custGeom>
            <a:noFill/>
            <a:ln w="25400" cap="rnd">
              <a:solidFill>
                <a:schemeClr val="tx1"/>
              </a:solidFill>
              <a:round/>
              <a:headEnd type="stealth" w="med" len="lg"/>
              <a:tailEnd type="none" w="sm" len="sm"/>
            </a:ln>
          </p:spPr>
          <p:txBody>
            <a:bodyPr wrap="none" anchor="ctr"/>
            <a:lstStyle/>
            <a:p>
              <a:endParaRPr lang="zh-CN" altLang="en-US" sz="2000"/>
            </a:p>
          </p:txBody>
        </p:sp>
        <p:sp>
          <p:nvSpPr>
            <p:cNvPr id="77846" name="Arc 47"/>
            <p:cNvSpPr/>
            <p:nvPr/>
          </p:nvSpPr>
          <p:spPr bwMode="auto">
            <a:xfrm>
              <a:off x="5314950" y="3136900"/>
              <a:ext cx="344488" cy="228600"/>
            </a:xfrm>
            <a:custGeom>
              <a:avLst/>
              <a:gdLst>
                <a:gd name="T0" fmla="*/ 0 w 32581"/>
                <a:gd name="T1" fmla="*/ 2147483647 h 21600"/>
                <a:gd name="T2" fmla="*/ 2147483647 w 32581"/>
                <a:gd name="T3" fmla="*/ 2147483647 h 21600"/>
                <a:gd name="T4" fmla="*/ 2147483647 w 32581"/>
                <a:gd name="T5" fmla="*/ 2147483647 h 21600"/>
                <a:gd name="T6" fmla="*/ 0 60000 65536"/>
                <a:gd name="T7" fmla="*/ 0 60000 65536"/>
                <a:gd name="T8" fmla="*/ 0 60000 65536"/>
                <a:gd name="T9" fmla="*/ 0 w 32581"/>
                <a:gd name="T10" fmla="*/ 0 h 21600"/>
                <a:gd name="T11" fmla="*/ 32581 w 32581"/>
                <a:gd name="T12" fmla="*/ 21600 h 21600"/>
              </a:gdLst>
              <a:ahLst/>
              <a:cxnLst>
                <a:cxn ang="T6">
                  <a:pos x="T0" y="T1"/>
                </a:cxn>
                <a:cxn ang="T7">
                  <a:pos x="T2" y="T3"/>
                </a:cxn>
                <a:cxn ang="T8">
                  <a:pos x="T4" y="T5"/>
                </a:cxn>
              </a:cxnLst>
              <a:rect l="T9" t="T10" r="T11" b="T12"/>
              <a:pathLst>
                <a:path w="32581" h="21600" fill="none" extrusionOk="0">
                  <a:moveTo>
                    <a:pt x="0" y="21600"/>
                  </a:moveTo>
                  <a:cubicBezTo>
                    <a:pt x="0" y="9670"/>
                    <a:pt x="9670" y="0"/>
                    <a:pt x="21600" y="0"/>
                  </a:cubicBezTo>
                  <a:cubicBezTo>
                    <a:pt x="25462" y="0"/>
                    <a:pt x="29254" y="1035"/>
                    <a:pt x="32581" y="2999"/>
                  </a:cubicBezTo>
                </a:path>
                <a:path w="32581" h="21600" stroke="0" extrusionOk="0">
                  <a:moveTo>
                    <a:pt x="0" y="21600"/>
                  </a:moveTo>
                  <a:cubicBezTo>
                    <a:pt x="0" y="9670"/>
                    <a:pt x="9670" y="0"/>
                    <a:pt x="21600" y="0"/>
                  </a:cubicBezTo>
                  <a:cubicBezTo>
                    <a:pt x="25462" y="0"/>
                    <a:pt x="29254" y="1035"/>
                    <a:pt x="32581" y="2999"/>
                  </a:cubicBezTo>
                  <a:lnTo>
                    <a:pt x="21600" y="21600"/>
                  </a:lnTo>
                  <a:close/>
                </a:path>
              </a:pathLst>
            </a:custGeom>
            <a:noFill/>
            <a:ln w="25400" cap="rnd">
              <a:solidFill>
                <a:schemeClr val="tx1"/>
              </a:solidFill>
              <a:round/>
              <a:headEnd type="stealth" w="med" len="lg"/>
              <a:tailEnd type="none" w="sm" len="sm"/>
            </a:ln>
          </p:spPr>
          <p:txBody>
            <a:bodyPr wrap="none" anchor="ctr"/>
            <a:lstStyle/>
            <a:p>
              <a:endParaRPr lang="zh-CN" altLang="en-US" sz="2000"/>
            </a:p>
          </p:txBody>
        </p:sp>
        <p:sp>
          <p:nvSpPr>
            <p:cNvPr id="77847" name="Arc 48"/>
            <p:cNvSpPr/>
            <p:nvPr/>
          </p:nvSpPr>
          <p:spPr bwMode="auto">
            <a:xfrm>
              <a:off x="5314950" y="3898900"/>
              <a:ext cx="344488" cy="228600"/>
            </a:xfrm>
            <a:custGeom>
              <a:avLst/>
              <a:gdLst>
                <a:gd name="T0" fmla="*/ 0 w 32581"/>
                <a:gd name="T1" fmla="*/ 2147483647 h 21600"/>
                <a:gd name="T2" fmla="*/ 2147483647 w 32581"/>
                <a:gd name="T3" fmla="*/ 2147483647 h 21600"/>
                <a:gd name="T4" fmla="*/ 2147483647 w 32581"/>
                <a:gd name="T5" fmla="*/ 2147483647 h 21600"/>
                <a:gd name="T6" fmla="*/ 0 60000 65536"/>
                <a:gd name="T7" fmla="*/ 0 60000 65536"/>
                <a:gd name="T8" fmla="*/ 0 60000 65536"/>
                <a:gd name="T9" fmla="*/ 0 w 32581"/>
                <a:gd name="T10" fmla="*/ 0 h 21600"/>
                <a:gd name="T11" fmla="*/ 32581 w 32581"/>
                <a:gd name="T12" fmla="*/ 21600 h 21600"/>
              </a:gdLst>
              <a:ahLst/>
              <a:cxnLst>
                <a:cxn ang="T6">
                  <a:pos x="T0" y="T1"/>
                </a:cxn>
                <a:cxn ang="T7">
                  <a:pos x="T2" y="T3"/>
                </a:cxn>
                <a:cxn ang="T8">
                  <a:pos x="T4" y="T5"/>
                </a:cxn>
              </a:cxnLst>
              <a:rect l="T9" t="T10" r="T11" b="T12"/>
              <a:pathLst>
                <a:path w="32581" h="21600" fill="none" extrusionOk="0">
                  <a:moveTo>
                    <a:pt x="0" y="21600"/>
                  </a:moveTo>
                  <a:cubicBezTo>
                    <a:pt x="0" y="9670"/>
                    <a:pt x="9670" y="0"/>
                    <a:pt x="21600" y="0"/>
                  </a:cubicBezTo>
                  <a:cubicBezTo>
                    <a:pt x="25462" y="0"/>
                    <a:pt x="29254" y="1035"/>
                    <a:pt x="32581" y="2999"/>
                  </a:cubicBezTo>
                </a:path>
                <a:path w="32581" h="21600" stroke="0" extrusionOk="0">
                  <a:moveTo>
                    <a:pt x="0" y="21600"/>
                  </a:moveTo>
                  <a:cubicBezTo>
                    <a:pt x="0" y="9670"/>
                    <a:pt x="9670" y="0"/>
                    <a:pt x="21600" y="0"/>
                  </a:cubicBezTo>
                  <a:cubicBezTo>
                    <a:pt x="25462" y="0"/>
                    <a:pt x="29254" y="1035"/>
                    <a:pt x="32581" y="2999"/>
                  </a:cubicBezTo>
                  <a:lnTo>
                    <a:pt x="21600" y="21600"/>
                  </a:lnTo>
                  <a:close/>
                </a:path>
              </a:pathLst>
            </a:custGeom>
            <a:noFill/>
            <a:ln w="25400" cap="rnd">
              <a:solidFill>
                <a:schemeClr val="tx1"/>
              </a:solidFill>
              <a:round/>
              <a:headEnd type="stealth" w="med" len="lg"/>
              <a:tailEnd type="none" w="sm" len="sm"/>
            </a:ln>
          </p:spPr>
          <p:txBody>
            <a:bodyPr wrap="none" anchor="ctr"/>
            <a:lstStyle/>
            <a:p>
              <a:endParaRPr lang="zh-CN" altLang="en-US" sz="2000"/>
            </a:p>
          </p:txBody>
        </p:sp>
        <p:sp>
          <p:nvSpPr>
            <p:cNvPr id="77848" name="Arc 49"/>
            <p:cNvSpPr/>
            <p:nvPr/>
          </p:nvSpPr>
          <p:spPr bwMode="auto">
            <a:xfrm>
              <a:off x="5314950" y="4889500"/>
              <a:ext cx="344488" cy="228600"/>
            </a:xfrm>
            <a:custGeom>
              <a:avLst/>
              <a:gdLst>
                <a:gd name="T0" fmla="*/ 0 w 32581"/>
                <a:gd name="T1" fmla="*/ 2147483647 h 21600"/>
                <a:gd name="T2" fmla="*/ 2147483647 w 32581"/>
                <a:gd name="T3" fmla="*/ 2147483647 h 21600"/>
                <a:gd name="T4" fmla="*/ 2147483647 w 32581"/>
                <a:gd name="T5" fmla="*/ 2147483647 h 21600"/>
                <a:gd name="T6" fmla="*/ 0 60000 65536"/>
                <a:gd name="T7" fmla="*/ 0 60000 65536"/>
                <a:gd name="T8" fmla="*/ 0 60000 65536"/>
                <a:gd name="T9" fmla="*/ 0 w 32581"/>
                <a:gd name="T10" fmla="*/ 0 h 21600"/>
                <a:gd name="T11" fmla="*/ 32581 w 32581"/>
                <a:gd name="T12" fmla="*/ 21600 h 21600"/>
              </a:gdLst>
              <a:ahLst/>
              <a:cxnLst>
                <a:cxn ang="T6">
                  <a:pos x="T0" y="T1"/>
                </a:cxn>
                <a:cxn ang="T7">
                  <a:pos x="T2" y="T3"/>
                </a:cxn>
                <a:cxn ang="T8">
                  <a:pos x="T4" y="T5"/>
                </a:cxn>
              </a:cxnLst>
              <a:rect l="T9" t="T10" r="T11" b="T12"/>
              <a:pathLst>
                <a:path w="32581" h="21600" fill="none" extrusionOk="0">
                  <a:moveTo>
                    <a:pt x="0" y="21600"/>
                  </a:moveTo>
                  <a:cubicBezTo>
                    <a:pt x="0" y="9670"/>
                    <a:pt x="9670" y="0"/>
                    <a:pt x="21600" y="0"/>
                  </a:cubicBezTo>
                  <a:cubicBezTo>
                    <a:pt x="25462" y="0"/>
                    <a:pt x="29254" y="1035"/>
                    <a:pt x="32581" y="2999"/>
                  </a:cubicBezTo>
                </a:path>
                <a:path w="32581" h="21600" stroke="0" extrusionOk="0">
                  <a:moveTo>
                    <a:pt x="0" y="21600"/>
                  </a:moveTo>
                  <a:cubicBezTo>
                    <a:pt x="0" y="9670"/>
                    <a:pt x="9670" y="0"/>
                    <a:pt x="21600" y="0"/>
                  </a:cubicBezTo>
                  <a:cubicBezTo>
                    <a:pt x="25462" y="0"/>
                    <a:pt x="29254" y="1035"/>
                    <a:pt x="32581" y="2999"/>
                  </a:cubicBezTo>
                  <a:lnTo>
                    <a:pt x="21600" y="21600"/>
                  </a:lnTo>
                  <a:close/>
                </a:path>
              </a:pathLst>
            </a:custGeom>
            <a:noFill/>
            <a:ln w="25400" cap="rnd">
              <a:solidFill>
                <a:schemeClr val="tx1"/>
              </a:solidFill>
              <a:round/>
              <a:headEnd type="stealth" w="med" len="lg"/>
              <a:tailEnd type="none" w="sm" len="sm"/>
            </a:ln>
          </p:spPr>
          <p:txBody>
            <a:bodyPr wrap="none" anchor="ctr"/>
            <a:lstStyle/>
            <a:p>
              <a:endParaRPr lang="zh-CN" altLang="en-US" sz="2000"/>
            </a:p>
          </p:txBody>
        </p:sp>
        <p:sp>
          <p:nvSpPr>
            <p:cNvPr id="77849" name="Arc 50"/>
            <p:cNvSpPr/>
            <p:nvPr/>
          </p:nvSpPr>
          <p:spPr bwMode="auto">
            <a:xfrm flipH="1">
              <a:off x="6723063" y="2298700"/>
              <a:ext cx="344487" cy="228600"/>
            </a:xfrm>
            <a:custGeom>
              <a:avLst/>
              <a:gdLst>
                <a:gd name="T0" fmla="*/ 0 w 32581"/>
                <a:gd name="T1" fmla="*/ 2147483647 h 21600"/>
                <a:gd name="T2" fmla="*/ 2147483647 w 32581"/>
                <a:gd name="T3" fmla="*/ 2147483647 h 21600"/>
                <a:gd name="T4" fmla="*/ 2147483647 w 32581"/>
                <a:gd name="T5" fmla="*/ 2147483647 h 21600"/>
                <a:gd name="T6" fmla="*/ 0 60000 65536"/>
                <a:gd name="T7" fmla="*/ 0 60000 65536"/>
                <a:gd name="T8" fmla="*/ 0 60000 65536"/>
                <a:gd name="T9" fmla="*/ 0 w 32581"/>
                <a:gd name="T10" fmla="*/ 0 h 21600"/>
                <a:gd name="T11" fmla="*/ 32581 w 32581"/>
                <a:gd name="T12" fmla="*/ 21600 h 21600"/>
              </a:gdLst>
              <a:ahLst/>
              <a:cxnLst>
                <a:cxn ang="T6">
                  <a:pos x="T0" y="T1"/>
                </a:cxn>
                <a:cxn ang="T7">
                  <a:pos x="T2" y="T3"/>
                </a:cxn>
                <a:cxn ang="T8">
                  <a:pos x="T4" y="T5"/>
                </a:cxn>
              </a:cxnLst>
              <a:rect l="T9" t="T10" r="T11" b="T12"/>
              <a:pathLst>
                <a:path w="32581" h="21600" fill="none" extrusionOk="0">
                  <a:moveTo>
                    <a:pt x="0" y="21600"/>
                  </a:moveTo>
                  <a:cubicBezTo>
                    <a:pt x="0" y="9670"/>
                    <a:pt x="9670" y="0"/>
                    <a:pt x="21600" y="0"/>
                  </a:cubicBezTo>
                  <a:cubicBezTo>
                    <a:pt x="25462" y="0"/>
                    <a:pt x="29254" y="1035"/>
                    <a:pt x="32581" y="2999"/>
                  </a:cubicBezTo>
                </a:path>
                <a:path w="32581" h="21600" stroke="0" extrusionOk="0">
                  <a:moveTo>
                    <a:pt x="0" y="21600"/>
                  </a:moveTo>
                  <a:cubicBezTo>
                    <a:pt x="0" y="9670"/>
                    <a:pt x="9670" y="0"/>
                    <a:pt x="21600" y="0"/>
                  </a:cubicBezTo>
                  <a:cubicBezTo>
                    <a:pt x="25462" y="0"/>
                    <a:pt x="29254" y="1035"/>
                    <a:pt x="32581" y="2999"/>
                  </a:cubicBezTo>
                  <a:lnTo>
                    <a:pt x="21600" y="21600"/>
                  </a:lnTo>
                  <a:close/>
                </a:path>
              </a:pathLst>
            </a:custGeom>
            <a:noFill/>
            <a:ln w="25400" cap="rnd">
              <a:solidFill>
                <a:schemeClr val="tx1"/>
              </a:solidFill>
              <a:round/>
              <a:headEnd type="stealth" w="med" len="lg"/>
              <a:tailEnd type="none" w="sm" len="sm"/>
            </a:ln>
          </p:spPr>
          <p:txBody>
            <a:bodyPr wrap="none" anchor="ctr"/>
            <a:lstStyle/>
            <a:p>
              <a:endParaRPr lang="zh-CN" altLang="en-US" sz="2000"/>
            </a:p>
          </p:txBody>
        </p:sp>
        <p:sp>
          <p:nvSpPr>
            <p:cNvPr id="77850" name="Arc 51"/>
            <p:cNvSpPr/>
            <p:nvPr/>
          </p:nvSpPr>
          <p:spPr bwMode="auto">
            <a:xfrm flipH="1">
              <a:off x="6838950" y="3136900"/>
              <a:ext cx="344488" cy="228600"/>
            </a:xfrm>
            <a:custGeom>
              <a:avLst/>
              <a:gdLst>
                <a:gd name="T0" fmla="*/ 0 w 32581"/>
                <a:gd name="T1" fmla="*/ 2147483647 h 21600"/>
                <a:gd name="T2" fmla="*/ 2147483647 w 32581"/>
                <a:gd name="T3" fmla="*/ 2147483647 h 21600"/>
                <a:gd name="T4" fmla="*/ 2147483647 w 32581"/>
                <a:gd name="T5" fmla="*/ 2147483647 h 21600"/>
                <a:gd name="T6" fmla="*/ 0 60000 65536"/>
                <a:gd name="T7" fmla="*/ 0 60000 65536"/>
                <a:gd name="T8" fmla="*/ 0 60000 65536"/>
                <a:gd name="T9" fmla="*/ 0 w 32581"/>
                <a:gd name="T10" fmla="*/ 0 h 21600"/>
                <a:gd name="T11" fmla="*/ 32581 w 32581"/>
                <a:gd name="T12" fmla="*/ 21600 h 21600"/>
              </a:gdLst>
              <a:ahLst/>
              <a:cxnLst>
                <a:cxn ang="T6">
                  <a:pos x="T0" y="T1"/>
                </a:cxn>
                <a:cxn ang="T7">
                  <a:pos x="T2" y="T3"/>
                </a:cxn>
                <a:cxn ang="T8">
                  <a:pos x="T4" y="T5"/>
                </a:cxn>
              </a:cxnLst>
              <a:rect l="T9" t="T10" r="T11" b="T12"/>
              <a:pathLst>
                <a:path w="32581" h="21600" fill="none" extrusionOk="0">
                  <a:moveTo>
                    <a:pt x="0" y="21600"/>
                  </a:moveTo>
                  <a:cubicBezTo>
                    <a:pt x="0" y="9670"/>
                    <a:pt x="9670" y="0"/>
                    <a:pt x="21600" y="0"/>
                  </a:cubicBezTo>
                  <a:cubicBezTo>
                    <a:pt x="25462" y="0"/>
                    <a:pt x="29254" y="1035"/>
                    <a:pt x="32581" y="2999"/>
                  </a:cubicBezTo>
                </a:path>
                <a:path w="32581" h="21600" stroke="0" extrusionOk="0">
                  <a:moveTo>
                    <a:pt x="0" y="21600"/>
                  </a:moveTo>
                  <a:cubicBezTo>
                    <a:pt x="0" y="9670"/>
                    <a:pt x="9670" y="0"/>
                    <a:pt x="21600" y="0"/>
                  </a:cubicBezTo>
                  <a:cubicBezTo>
                    <a:pt x="25462" y="0"/>
                    <a:pt x="29254" y="1035"/>
                    <a:pt x="32581" y="2999"/>
                  </a:cubicBezTo>
                  <a:lnTo>
                    <a:pt x="21600" y="21600"/>
                  </a:lnTo>
                  <a:close/>
                </a:path>
              </a:pathLst>
            </a:custGeom>
            <a:noFill/>
            <a:ln w="25400" cap="rnd">
              <a:solidFill>
                <a:schemeClr val="tx1"/>
              </a:solidFill>
              <a:round/>
              <a:headEnd type="stealth" w="med" len="lg"/>
              <a:tailEnd type="none" w="sm" len="sm"/>
            </a:ln>
          </p:spPr>
          <p:txBody>
            <a:bodyPr wrap="none" anchor="ctr"/>
            <a:lstStyle/>
            <a:p>
              <a:endParaRPr lang="zh-CN" altLang="en-US" sz="2000"/>
            </a:p>
          </p:txBody>
        </p:sp>
        <p:sp>
          <p:nvSpPr>
            <p:cNvPr id="77851" name="Arc 52"/>
            <p:cNvSpPr/>
            <p:nvPr/>
          </p:nvSpPr>
          <p:spPr bwMode="auto">
            <a:xfrm flipH="1">
              <a:off x="6915150" y="3975100"/>
              <a:ext cx="344488" cy="228600"/>
            </a:xfrm>
            <a:custGeom>
              <a:avLst/>
              <a:gdLst>
                <a:gd name="T0" fmla="*/ 0 w 32581"/>
                <a:gd name="T1" fmla="*/ 2147483647 h 21600"/>
                <a:gd name="T2" fmla="*/ 2147483647 w 32581"/>
                <a:gd name="T3" fmla="*/ 2147483647 h 21600"/>
                <a:gd name="T4" fmla="*/ 2147483647 w 32581"/>
                <a:gd name="T5" fmla="*/ 2147483647 h 21600"/>
                <a:gd name="T6" fmla="*/ 0 60000 65536"/>
                <a:gd name="T7" fmla="*/ 0 60000 65536"/>
                <a:gd name="T8" fmla="*/ 0 60000 65536"/>
                <a:gd name="T9" fmla="*/ 0 w 32581"/>
                <a:gd name="T10" fmla="*/ 0 h 21600"/>
                <a:gd name="T11" fmla="*/ 32581 w 32581"/>
                <a:gd name="T12" fmla="*/ 21600 h 21600"/>
              </a:gdLst>
              <a:ahLst/>
              <a:cxnLst>
                <a:cxn ang="T6">
                  <a:pos x="T0" y="T1"/>
                </a:cxn>
                <a:cxn ang="T7">
                  <a:pos x="T2" y="T3"/>
                </a:cxn>
                <a:cxn ang="T8">
                  <a:pos x="T4" y="T5"/>
                </a:cxn>
              </a:cxnLst>
              <a:rect l="T9" t="T10" r="T11" b="T12"/>
              <a:pathLst>
                <a:path w="32581" h="21600" fill="none" extrusionOk="0">
                  <a:moveTo>
                    <a:pt x="0" y="21600"/>
                  </a:moveTo>
                  <a:cubicBezTo>
                    <a:pt x="0" y="9670"/>
                    <a:pt x="9670" y="0"/>
                    <a:pt x="21600" y="0"/>
                  </a:cubicBezTo>
                  <a:cubicBezTo>
                    <a:pt x="25462" y="0"/>
                    <a:pt x="29254" y="1035"/>
                    <a:pt x="32581" y="2999"/>
                  </a:cubicBezTo>
                </a:path>
                <a:path w="32581" h="21600" stroke="0" extrusionOk="0">
                  <a:moveTo>
                    <a:pt x="0" y="21600"/>
                  </a:moveTo>
                  <a:cubicBezTo>
                    <a:pt x="0" y="9670"/>
                    <a:pt x="9670" y="0"/>
                    <a:pt x="21600" y="0"/>
                  </a:cubicBezTo>
                  <a:cubicBezTo>
                    <a:pt x="25462" y="0"/>
                    <a:pt x="29254" y="1035"/>
                    <a:pt x="32581" y="2999"/>
                  </a:cubicBezTo>
                  <a:lnTo>
                    <a:pt x="21600" y="21600"/>
                  </a:lnTo>
                  <a:close/>
                </a:path>
              </a:pathLst>
            </a:custGeom>
            <a:noFill/>
            <a:ln w="25400" cap="rnd">
              <a:solidFill>
                <a:schemeClr val="tx1"/>
              </a:solidFill>
              <a:round/>
              <a:headEnd type="stealth" w="med" len="lg"/>
              <a:tailEnd type="none" w="sm" len="sm"/>
            </a:ln>
          </p:spPr>
          <p:txBody>
            <a:bodyPr wrap="none" anchor="ctr"/>
            <a:lstStyle/>
            <a:p>
              <a:endParaRPr lang="zh-CN" altLang="en-US" sz="2000"/>
            </a:p>
          </p:txBody>
        </p:sp>
        <p:sp>
          <p:nvSpPr>
            <p:cNvPr id="77852" name="Arc 53"/>
            <p:cNvSpPr/>
            <p:nvPr/>
          </p:nvSpPr>
          <p:spPr bwMode="auto">
            <a:xfrm flipH="1">
              <a:off x="6991350" y="4889500"/>
              <a:ext cx="344488" cy="228600"/>
            </a:xfrm>
            <a:custGeom>
              <a:avLst/>
              <a:gdLst>
                <a:gd name="T0" fmla="*/ 0 w 32581"/>
                <a:gd name="T1" fmla="*/ 2147483647 h 21600"/>
                <a:gd name="T2" fmla="*/ 2147483647 w 32581"/>
                <a:gd name="T3" fmla="*/ 2147483647 h 21600"/>
                <a:gd name="T4" fmla="*/ 2147483647 w 32581"/>
                <a:gd name="T5" fmla="*/ 2147483647 h 21600"/>
                <a:gd name="T6" fmla="*/ 0 60000 65536"/>
                <a:gd name="T7" fmla="*/ 0 60000 65536"/>
                <a:gd name="T8" fmla="*/ 0 60000 65536"/>
                <a:gd name="T9" fmla="*/ 0 w 32581"/>
                <a:gd name="T10" fmla="*/ 0 h 21600"/>
                <a:gd name="T11" fmla="*/ 32581 w 32581"/>
                <a:gd name="T12" fmla="*/ 21600 h 21600"/>
              </a:gdLst>
              <a:ahLst/>
              <a:cxnLst>
                <a:cxn ang="T6">
                  <a:pos x="T0" y="T1"/>
                </a:cxn>
                <a:cxn ang="T7">
                  <a:pos x="T2" y="T3"/>
                </a:cxn>
                <a:cxn ang="T8">
                  <a:pos x="T4" y="T5"/>
                </a:cxn>
              </a:cxnLst>
              <a:rect l="T9" t="T10" r="T11" b="T12"/>
              <a:pathLst>
                <a:path w="32581" h="21600" fill="none" extrusionOk="0">
                  <a:moveTo>
                    <a:pt x="0" y="21600"/>
                  </a:moveTo>
                  <a:cubicBezTo>
                    <a:pt x="0" y="9670"/>
                    <a:pt x="9670" y="0"/>
                    <a:pt x="21600" y="0"/>
                  </a:cubicBezTo>
                  <a:cubicBezTo>
                    <a:pt x="25462" y="0"/>
                    <a:pt x="29254" y="1035"/>
                    <a:pt x="32581" y="2999"/>
                  </a:cubicBezTo>
                </a:path>
                <a:path w="32581" h="21600" stroke="0" extrusionOk="0">
                  <a:moveTo>
                    <a:pt x="0" y="21600"/>
                  </a:moveTo>
                  <a:cubicBezTo>
                    <a:pt x="0" y="9670"/>
                    <a:pt x="9670" y="0"/>
                    <a:pt x="21600" y="0"/>
                  </a:cubicBezTo>
                  <a:cubicBezTo>
                    <a:pt x="25462" y="0"/>
                    <a:pt x="29254" y="1035"/>
                    <a:pt x="32581" y="2999"/>
                  </a:cubicBezTo>
                  <a:lnTo>
                    <a:pt x="21600" y="21600"/>
                  </a:lnTo>
                  <a:close/>
                </a:path>
              </a:pathLst>
            </a:custGeom>
            <a:noFill/>
            <a:ln w="25400" cap="rnd">
              <a:solidFill>
                <a:schemeClr val="tx1"/>
              </a:solidFill>
              <a:round/>
              <a:headEnd type="stealth" w="med" len="lg"/>
              <a:tailEnd type="none" w="sm" len="sm"/>
            </a:ln>
          </p:spPr>
          <p:txBody>
            <a:bodyPr wrap="none" anchor="ctr"/>
            <a:lstStyle/>
            <a:p>
              <a:endParaRPr lang="zh-CN" altLang="en-US" sz="2000"/>
            </a:p>
          </p:txBody>
        </p:sp>
        <p:sp>
          <p:nvSpPr>
            <p:cNvPr id="77853" name="Arc 54"/>
            <p:cNvSpPr/>
            <p:nvPr/>
          </p:nvSpPr>
          <p:spPr bwMode="auto">
            <a:xfrm flipH="1">
              <a:off x="6686550" y="393700"/>
              <a:ext cx="1528763" cy="457200"/>
            </a:xfrm>
            <a:custGeom>
              <a:avLst/>
              <a:gdLst>
                <a:gd name="T0" fmla="*/ 0 w 39367"/>
                <a:gd name="T1" fmla="*/ 2147483647 h 21600"/>
                <a:gd name="T2" fmla="*/ 2147483647 w 39367"/>
                <a:gd name="T3" fmla="*/ 2147483647 h 21600"/>
                <a:gd name="T4" fmla="*/ 2147483647 w 39367"/>
                <a:gd name="T5" fmla="*/ 2147483647 h 21600"/>
                <a:gd name="T6" fmla="*/ 0 60000 65536"/>
                <a:gd name="T7" fmla="*/ 0 60000 65536"/>
                <a:gd name="T8" fmla="*/ 0 60000 65536"/>
                <a:gd name="T9" fmla="*/ 0 w 39367"/>
                <a:gd name="T10" fmla="*/ 0 h 21600"/>
                <a:gd name="T11" fmla="*/ 39367 w 39367"/>
                <a:gd name="T12" fmla="*/ 21600 h 21600"/>
              </a:gdLst>
              <a:ahLst/>
              <a:cxnLst>
                <a:cxn ang="T6">
                  <a:pos x="T0" y="T1"/>
                </a:cxn>
                <a:cxn ang="T7">
                  <a:pos x="T2" y="T3"/>
                </a:cxn>
                <a:cxn ang="T8">
                  <a:pos x="T4" y="T5"/>
                </a:cxn>
              </a:cxnLst>
              <a:rect l="T9" t="T10" r="T11" b="T12"/>
              <a:pathLst>
                <a:path w="39367" h="21600" fill="none" extrusionOk="0">
                  <a:moveTo>
                    <a:pt x="0" y="21600"/>
                  </a:moveTo>
                  <a:cubicBezTo>
                    <a:pt x="0" y="9670"/>
                    <a:pt x="9670" y="0"/>
                    <a:pt x="21600" y="0"/>
                  </a:cubicBezTo>
                  <a:cubicBezTo>
                    <a:pt x="28692" y="0"/>
                    <a:pt x="35333" y="3482"/>
                    <a:pt x="39367" y="9316"/>
                  </a:cubicBezTo>
                </a:path>
                <a:path w="39367" h="21600" stroke="0" extrusionOk="0">
                  <a:moveTo>
                    <a:pt x="0" y="21600"/>
                  </a:moveTo>
                  <a:cubicBezTo>
                    <a:pt x="0" y="9670"/>
                    <a:pt x="9670" y="0"/>
                    <a:pt x="21600" y="0"/>
                  </a:cubicBezTo>
                  <a:cubicBezTo>
                    <a:pt x="28692" y="0"/>
                    <a:pt x="35333" y="3482"/>
                    <a:pt x="39367" y="9316"/>
                  </a:cubicBezTo>
                  <a:lnTo>
                    <a:pt x="21600" y="21600"/>
                  </a:lnTo>
                  <a:close/>
                </a:path>
              </a:pathLst>
            </a:custGeom>
            <a:noFill/>
            <a:ln w="25400" cap="rnd">
              <a:solidFill>
                <a:schemeClr val="tx1"/>
              </a:solidFill>
              <a:round/>
              <a:headEnd type="stealth" w="med" len="lg"/>
              <a:tailEnd type="none" w="sm" len="sm"/>
            </a:ln>
          </p:spPr>
          <p:txBody>
            <a:bodyPr wrap="none" anchor="ctr"/>
            <a:lstStyle/>
            <a:p>
              <a:endParaRPr lang="zh-CN" altLang="en-US" sz="2000"/>
            </a:p>
          </p:txBody>
        </p:sp>
        <p:sp>
          <p:nvSpPr>
            <p:cNvPr id="203831" name="Rectangle 55"/>
            <p:cNvSpPr>
              <a:spLocks noChangeArrowheads="1"/>
            </p:cNvSpPr>
            <p:nvPr/>
          </p:nvSpPr>
          <p:spPr bwMode="auto">
            <a:xfrm>
              <a:off x="5724028" y="348121"/>
              <a:ext cx="934444" cy="533480"/>
            </a:xfrm>
            <a:prstGeom prst="rect">
              <a:avLst/>
            </a:prstGeom>
            <a:noFill/>
            <a:ln w="12700">
              <a:noFill/>
              <a:miter lim="800000"/>
              <a:headEnd type="none" w="sm" len="sm"/>
              <a:tailEnd type="none" w="sm" len="sm"/>
            </a:ln>
            <a:effectLst>
              <a:outerShdw dist="107763" dir="2700000" algn="ctr" rotWithShape="0">
                <a:schemeClr val="bg2"/>
              </a:outerShdw>
            </a:effectLst>
          </p:spPr>
          <p:txBody>
            <a:bodyPr wrap="none">
              <a:spAutoFit/>
            </a:bodyPr>
            <a:lstStyle/>
            <a:p>
              <a:pPr eaLnBrk="0" hangingPunct="0">
                <a:defRPr/>
              </a:pPr>
              <a:r>
                <a:rPr kumimoji="1" lang="zh-CN" altLang="en-US" sz="2000" b="1" dirty="0">
                  <a:latin typeface="宋体" panose="02010600030101010101" pitchFamily="2" charset="-122"/>
                  <a:cs typeface="Arial" panose="020B0604020202020204" pitchFamily="34" charset="0"/>
                </a:rPr>
                <a:t>演化</a:t>
              </a:r>
              <a:endParaRPr kumimoji="1" lang="zh-CN" altLang="en-US" sz="2000" b="1" dirty="0">
                <a:latin typeface="宋体" panose="02010600030101010101" pitchFamily="2" charset="-122"/>
                <a:cs typeface="Arial" panose="020B0604020202020204" pitchFamily="34" charset="0"/>
              </a:endParaRPr>
            </a:p>
          </p:txBody>
        </p:sp>
      </p:grpSp>
      <p:sp>
        <p:nvSpPr>
          <p:cNvPr id="77855" name="Rectangle 56"/>
          <p:cNvSpPr>
            <a:spLocks noChangeArrowheads="1"/>
          </p:cNvSpPr>
          <p:nvPr/>
        </p:nvSpPr>
        <p:spPr bwMode="auto">
          <a:xfrm>
            <a:off x="720796" y="1531154"/>
            <a:ext cx="5129768" cy="2954655"/>
          </a:xfrm>
          <a:prstGeom prst="rect">
            <a:avLst/>
          </a:prstGeom>
          <a:noFill/>
          <a:ln w="9525">
            <a:noFill/>
            <a:miter lim="800000"/>
          </a:ln>
        </p:spPr>
        <p:txBody>
          <a:bodyPr wrap="square">
            <a:spAutoFit/>
          </a:bodyPr>
          <a:lstStyle/>
          <a:p>
            <a:pPr algn="just">
              <a:spcBef>
                <a:spcPts val="1200"/>
              </a:spcBef>
              <a:buClr>
                <a:schemeClr val="tx1"/>
              </a:buClr>
              <a:buSzPct val="75000"/>
            </a:pPr>
            <a:r>
              <a:rPr kumimoji="1" lang="zh-CN" altLang="en-US" sz="2200" dirty="0">
                <a:latin typeface="+mj-ea"/>
                <a:ea typeface="+mj-ea"/>
              </a:rPr>
              <a:t>        该模型认为软件开发过程自下而上周期的各阶段是相互重叠和多次反复的。</a:t>
            </a:r>
            <a:endParaRPr kumimoji="1" lang="en-US" altLang="zh-CN" sz="2200" dirty="0">
              <a:latin typeface="+mj-ea"/>
              <a:ea typeface="+mj-ea"/>
            </a:endParaRPr>
          </a:p>
          <a:p>
            <a:pPr algn="just">
              <a:spcBef>
                <a:spcPts val="1200"/>
              </a:spcBef>
              <a:buClr>
                <a:schemeClr val="tx1"/>
              </a:buClr>
              <a:buSzPct val="75000"/>
            </a:pPr>
            <a:r>
              <a:rPr kumimoji="1" lang="zh-CN" altLang="en-US" sz="2200" dirty="0">
                <a:latin typeface="+mj-ea"/>
                <a:ea typeface="+mj-ea"/>
              </a:rPr>
              <a:t>       是一种以用户需求为动力，以对象作为驱动的模型， 主要用于支持</a:t>
            </a:r>
            <a:r>
              <a:rPr kumimoji="1" lang="zh-CN" altLang="en-US" sz="2200" dirty="0">
                <a:solidFill>
                  <a:srgbClr val="FF0000"/>
                </a:solidFill>
                <a:latin typeface="+mj-ea"/>
                <a:ea typeface="+mj-ea"/>
              </a:rPr>
              <a:t>面向对象开发过程</a:t>
            </a:r>
            <a:r>
              <a:rPr kumimoji="1" lang="zh-CN" altLang="en-US" sz="2200" dirty="0">
                <a:latin typeface="+mj-ea"/>
                <a:ea typeface="+mj-ea"/>
              </a:rPr>
              <a:t>，体现了软件创建所固有的</a:t>
            </a:r>
            <a:r>
              <a:rPr kumimoji="1" lang="zh-CN" altLang="en-US" sz="2200" dirty="0">
                <a:solidFill>
                  <a:srgbClr val="FF0000"/>
                </a:solidFill>
                <a:latin typeface="+mj-ea"/>
                <a:ea typeface="+mj-ea"/>
              </a:rPr>
              <a:t>迭代</a:t>
            </a:r>
            <a:r>
              <a:rPr kumimoji="1" lang="zh-CN" altLang="en-US" sz="2200" dirty="0">
                <a:latin typeface="+mj-ea"/>
                <a:ea typeface="+mj-ea"/>
              </a:rPr>
              <a:t>和</a:t>
            </a:r>
            <a:r>
              <a:rPr kumimoji="1" lang="zh-CN" altLang="en-US" sz="2200" dirty="0">
                <a:solidFill>
                  <a:srgbClr val="FF0000"/>
                </a:solidFill>
                <a:latin typeface="+mj-ea"/>
                <a:ea typeface="+mj-ea"/>
              </a:rPr>
              <a:t>无间隙</a:t>
            </a:r>
            <a:r>
              <a:rPr kumimoji="1" lang="zh-CN" altLang="en-US" sz="2200" dirty="0">
                <a:latin typeface="+mj-ea"/>
                <a:ea typeface="+mj-ea"/>
              </a:rPr>
              <a:t>的特征。克服了瀑布模型不支持软件重用和多项开发活动集成的局限性。</a:t>
            </a:r>
            <a:endParaRPr kumimoji="1" lang="zh-CN" altLang="en-US" sz="2200" dirty="0">
              <a:latin typeface="+mj-ea"/>
              <a:ea typeface="+mj-ea"/>
            </a:endParaRPr>
          </a:p>
        </p:txBody>
      </p:sp>
      <p:sp>
        <p:nvSpPr>
          <p:cNvPr id="2" name="标题 1"/>
          <p:cNvSpPr>
            <a:spLocks noGrp="1"/>
          </p:cNvSpPr>
          <p:nvPr>
            <p:ph type="title"/>
          </p:nvPr>
        </p:nvSpPr>
        <p:spPr/>
        <p:txBody>
          <a:bodyPr/>
          <a:lstStyle/>
          <a:p>
            <a:r>
              <a:rPr lang="zh-CN" altLang="en-US" dirty="0"/>
              <a:t>（</a:t>
            </a:r>
            <a:r>
              <a:rPr lang="en-US" altLang="zh-CN" dirty="0"/>
              <a:t>5</a:t>
            </a:r>
            <a:r>
              <a:rPr lang="zh-CN" altLang="en-US" dirty="0"/>
              <a:t>）喷泉模型</a:t>
            </a:r>
            <a:endParaRPr lang="zh-CN" altLang="en-US" dirty="0"/>
          </a:p>
        </p:txBody>
      </p:sp>
      <p:sp>
        <p:nvSpPr>
          <p:cNvPr id="5" name="灯片编号占位符 4"/>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4" name="日期占位符 3"/>
          <p:cNvSpPr>
            <a:spLocks noGrp="1"/>
          </p:cNvSpPr>
          <p:nvPr>
            <p:ph type="dt" sz="half" idx="10"/>
          </p:nvPr>
        </p:nvSpPr>
        <p:spPr/>
        <p:txBody>
          <a:bodyPr/>
          <a:lstStyle/>
          <a:p>
            <a:fld id="{22686DB4-72A7-4897-BBB9-4151209ECC76}"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endParaRPr lang="zh-CN" altLang="en-US"/>
          </a:p>
        </p:txBody>
      </p:sp>
      <p:sp>
        <p:nvSpPr>
          <p:cNvPr id="7" name="内容占位符 6"/>
          <p:cNvSpPr>
            <a:spLocks noGrp="1"/>
          </p:cNvSpPr>
          <p:nvPr>
            <p:ph idx="1"/>
          </p:nvPr>
        </p:nvSpPr>
        <p:spPr/>
        <p:txBody>
          <a:bodyPr>
            <a:normAutofit/>
          </a:bodyPr>
          <a:lstStyle/>
          <a:p>
            <a:pPr marL="0" indent="0">
              <a:buNone/>
            </a:pPr>
            <a:r>
              <a:rPr lang="zh-CN" altLang="en-US" sz="2000" dirty="0"/>
              <a:t>迭代模型</a:t>
            </a:r>
            <a:r>
              <a:rPr lang="en-US" altLang="zh-CN" sz="2000" dirty="0"/>
              <a:t>:</a:t>
            </a:r>
            <a:r>
              <a:rPr lang="zh-CN" altLang="en-US" sz="2000" dirty="0"/>
              <a:t>一开始提交一个完整系统，在后续发布中补充完善各子系统功能。</a:t>
            </a:r>
            <a:endParaRPr lang="zh-CN" altLang="en-US" sz="2000" dirty="0"/>
          </a:p>
        </p:txBody>
      </p:sp>
      <p:sp>
        <p:nvSpPr>
          <p:cNvPr id="3" name="日期占位符 2"/>
          <p:cNvSpPr>
            <a:spLocks noGrp="1"/>
          </p:cNvSpPr>
          <p:nvPr>
            <p:ph type="dt" sz="half" idx="10"/>
          </p:nvPr>
        </p:nvSpPr>
        <p:spPr/>
        <p:txBody>
          <a:bodyPr/>
          <a:lstStyle/>
          <a:p>
            <a:fld id="{4995C147-4050-4262-8F98-64E9A1E2F7EE}"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45128" y="1601751"/>
            <a:ext cx="7243907" cy="1190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436" y="2792655"/>
            <a:ext cx="7791161" cy="1643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bwMode="auto">
          <a:xfrm>
            <a:off x="6579189" y="1606230"/>
            <a:ext cx="2564811" cy="2864727"/>
            <a:chOff x="3732" y="309"/>
            <a:chExt cx="1836" cy="1590"/>
          </a:xfrm>
        </p:grpSpPr>
        <p:sp>
          <p:nvSpPr>
            <p:cNvPr id="78854" name="Freeform 4"/>
            <p:cNvSpPr/>
            <p:nvPr/>
          </p:nvSpPr>
          <p:spPr bwMode="auto">
            <a:xfrm>
              <a:off x="4057" y="562"/>
              <a:ext cx="556" cy="127"/>
            </a:xfrm>
            <a:custGeom>
              <a:avLst/>
              <a:gdLst>
                <a:gd name="T0" fmla="*/ 38 w 1363"/>
                <a:gd name="T1" fmla="*/ 11 h 289"/>
                <a:gd name="T2" fmla="*/ 31 w 1363"/>
                <a:gd name="T3" fmla="*/ 5 h 289"/>
                <a:gd name="T4" fmla="*/ 23 w 1363"/>
                <a:gd name="T5" fmla="*/ 2 h 289"/>
                <a:gd name="T6" fmla="*/ 18 w 1363"/>
                <a:gd name="T7" fmla="*/ 1 h 289"/>
                <a:gd name="T8" fmla="*/ 5 w 1363"/>
                <a:gd name="T9" fmla="*/ 0 h 289"/>
                <a:gd name="T10" fmla="*/ 0 w 1363"/>
                <a:gd name="T11" fmla="*/ 0 h 289"/>
                <a:gd name="T12" fmla="*/ 0 60000 65536"/>
                <a:gd name="T13" fmla="*/ 0 60000 65536"/>
                <a:gd name="T14" fmla="*/ 0 60000 65536"/>
                <a:gd name="T15" fmla="*/ 0 60000 65536"/>
                <a:gd name="T16" fmla="*/ 0 60000 65536"/>
                <a:gd name="T17" fmla="*/ 0 60000 65536"/>
                <a:gd name="T18" fmla="*/ 0 w 1363"/>
                <a:gd name="T19" fmla="*/ 0 h 289"/>
                <a:gd name="T20" fmla="*/ 1363 w 1363"/>
                <a:gd name="T21" fmla="*/ 289 h 289"/>
              </a:gdLst>
              <a:ahLst/>
              <a:cxnLst>
                <a:cxn ang="T12">
                  <a:pos x="T0" y="T1"/>
                </a:cxn>
                <a:cxn ang="T13">
                  <a:pos x="T2" y="T3"/>
                </a:cxn>
                <a:cxn ang="T14">
                  <a:pos x="T4" y="T5"/>
                </a:cxn>
                <a:cxn ang="T15">
                  <a:pos x="T6" y="T7"/>
                </a:cxn>
                <a:cxn ang="T16">
                  <a:pos x="T8" y="T9"/>
                </a:cxn>
                <a:cxn ang="T17">
                  <a:pos x="T10" y="T11"/>
                </a:cxn>
              </a:cxnLst>
              <a:rect l="T18" t="T19" r="T20" b="T21"/>
              <a:pathLst>
                <a:path w="1363" h="289">
                  <a:moveTo>
                    <a:pt x="1363" y="289"/>
                  </a:moveTo>
                  <a:cubicBezTo>
                    <a:pt x="1320" y="262"/>
                    <a:pt x="1190" y="168"/>
                    <a:pt x="1101" y="129"/>
                  </a:cubicBezTo>
                  <a:cubicBezTo>
                    <a:pt x="1013" y="89"/>
                    <a:pt x="909" y="71"/>
                    <a:pt x="834" y="53"/>
                  </a:cubicBezTo>
                  <a:cubicBezTo>
                    <a:pt x="759" y="35"/>
                    <a:pt x="758" y="27"/>
                    <a:pt x="653" y="19"/>
                  </a:cubicBezTo>
                  <a:cubicBezTo>
                    <a:pt x="548" y="11"/>
                    <a:pt x="310" y="6"/>
                    <a:pt x="201" y="3"/>
                  </a:cubicBezTo>
                  <a:cubicBezTo>
                    <a:pt x="92" y="0"/>
                    <a:pt x="42" y="3"/>
                    <a:pt x="0" y="3"/>
                  </a:cubicBezTo>
                </a:path>
              </a:pathLst>
            </a:custGeom>
            <a:noFill/>
            <a:ln w="28575">
              <a:solidFill>
                <a:schemeClr val="tx1"/>
              </a:solidFill>
              <a:round/>
              <a:tailEnd type="none" w="sm" len="med"/>
            </a:ln>
          </p:spPr>
          <p:txBody>
            <a:bodyPr wrap="none" lIns="0" tIns="0" rIns="0" bIns="0" anchor="ctr"/>
            <a:lstStyle/>
            <a:p>
              <a:endParaRPr lang="zh-CN" altLang="en-US" sz="1600"/>
            </a:p>
          </p:txBody>
        </p:sp>
        <p:sp>
          <p:nvSpPr>
            <p:cNvPr id="78855" name="Line 5"/>
            <p:cNvSpPr>
              <a:spLocks noChangeShapeType="1"/>
            </p:cNvSpPr>
            <p:nvPr/>
          </p:nvSpPr>
          <p:spPr bwMode="auto">
            <a:xfrm>
              <a:off x="3732" y="1602"/>
              <a:ext cx="1836" cy="0"/>
            </a:xfrm>
            <a:prstGeom prst="line">
              <a:avLst/>
            </a:prstGeom>
            <a:noFill/>
            <a:ln w="28575">
              <a:solidFill>
                <a:schemeClr val="tx1"/>
              </a:solidFill>
              <a:round/>
              <a:tailEnd type="none" w="sm" len="med"/>
            </a:ln>
          </p:spPr>
          <p:txBody>
            <a:bodyPr wrap="none" lIns="0" tIns="0" rIns="0" bIns="0" anchor="ctr"/>
            <a:lstStyle/>
            <a:p>
              <a:endParaRPr lang="zh-CN" altLang="en-US" sz="1600"/>
            </a:p>
          </p:txBody>
        </p:sp>
        <p:sp>
          <p:nvSpPr>
            <p:cNvPr id="78856" name="Line 6"/>
            <p:cNvSpPr>
              <a:spLocks noChangeShapeType="1"/>
            </p:cNvSpPr>
            <p:nvPr/>
          </p:nvSpPr>
          <p:spPr bwMode="auto">
            <a:xfrm>
              <a:off x="4613" y="482"/>
              <a:ext cx="0" cy="1232"/>
            </a:xfrm>
            <a:prstGeom prst="line">
              <a:avLst/>
            </a:prstGeom>
            <a:noFill/>
            <a:ln w="28575">
              <a:solidFill>
                <a:schemeClr val="tx1"/>
              </a:solidFill>
              <a:round/>
              <a:tailEnd type="none" w="sm" len="med"/>
            </a:ln>
          </p:spPr>
          <p:txBody>
            <a:bodyPr wrap="none" lIns="0" tIns="0" rIns="0" bIns="0" anchor="ctr"/>
            <a:lstStyle/>
            <a:p>
              <a:endParaRPr lang="zh-CN" altLang="en-US" sz="1600"/>
            </a:p>
          </p:txBody>
        </p:sp>
        <p:grpSp>
          <p:nvGrpSpPr>
            <p:cNvPr id="3" name="Group 7"/>
            <p:cNvGrpSpPr/>
            <p:nvPr/>
          </p:nvGrpSpPr>
          <p:grpSpPr bwMode="auto">
            <a:xfrm>
              <a:off x="3952" y="1189"/>
              <a:ext cx="1322" cy="414"/>
              <a:chOff x="2880" y="3780"/>
              <a:chExt cx="3240" cy="939"/>
            </a:xfrm>
          </p:grpSpPr>
          <p:grpSp>
            <p:nvGrpSpPr>
              <p:cNvPr id="4" name="Group 8"/>
              <p:cNvGrpSpPr/>
              <p:nvPr/>
            </p:nvGrpSpPr>
            <p:grpSpPr bwMode="auto">
              <a:xfrm>
                <a:off x="2880" y="3780"/>
                <a:ext cx="3240" cy="936"/>
                <a:chOff x="2880" y="3780"/>
                <a:chExt cx="3240" cy="936"/>
              </a:xfrm>
            </p:grpSpPr>
            <p:sp>
              <p:nvSpPr>
                <p:cNvPr id="78901" name="Line 9"/>
                <p:cNvSpPr>
                  <a:spLocks noChangeShapeType="1"/>
                </p:cNvSpPr>
                <p:nvPr/>
              </p:nvSpPr>
              <p:spPr bwMode="auto">
                <a:xfrm>
                  <a:off x="2889" y="3783"/>
                  <a:ext cx="3231" cy="0"/>
                </a:xfrm>
                <a:prstGeom prst="line">
                  <a:avLst/>
                </a:prstGeom>
                <a:noFill/>
                <a:ln w="28575">
                  <a:solidFill>
                    <a:schemeClr val="tx1"/>
                  </a:solidFill>
                  <a:round/>
                  <a:tailEnd type="none" w="sm" len="med"/>
                </a:ln>
              </p:spPr>
              <p:txBody>
                <a:bodyPr wrap="none" lIns="0" tIns="0" rIns="0" bIns="0" anchor="ctr"/>
                <a:lstStyle/>
                <a:p>
                  <a:endParaRPr lang="zh-CN" altLang="en-US" sz="1600"/>
                </a:p>
              </p:txBody>
            </p:sp>
            <p:sp>
              <p:nvSpPr>
                <p:cNvPr id="78902" name="Arc 10"/>
                <p:cNvSpPr/>
                <p:nvPr/>
              </p:nvSpPr>
              <p:spPr bwMode="auto">
                <a:xfrm flipV="1">
                  <a:off x="4510" y="3780"/>
                  <a:ext cx="1610" cy="9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tailEnd type="none" w="sm" len="med"/>
                </a:ln>
              </p:spPr>
              <p:txBody>
                <a:bodyPr wrap="none" lIns="0" tIns="0" rIns="0" bIns="0" anchor="ctr"/>
                <a:lstStyle/>
                <a:p>
                  <a:endParaRPr lang="zh-CN" altLang="en-US" sz="1600"/>
                </a:p>
              </p:txBody>
            </p:sp>
            <p:sp>
              <p:nvSpPr>
                <p:cNvPr id="78903" name="Arc 11"/>
                <p:cNvSpPr/>
                <p:nvPr/>
              </p:nvSpPr>
              <p:spPr bwMode="auto">
                <a:xfrm flipH="1" flipV="1">
                  <a:off x="2880" y="3780"/>
                  <a:ext cx="1610" cy="9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tailEnd type="none" w="sm" len="med"/>
                </a:ln>
              </p:spPr>
              <p:txBody>
                <a:bodyPr wrap="none" lIns="0" tIns="0" rIns="0" bIns="0" anchor="ctr"/>
                <a:lstStyle/>
                <a:p>
                  <a:endParaRPr lang="zh-CN" altLang="en-US" sz="1600"/>
                </a:p>
              </p:txBody>
            </p:sp>
          </p:grpSp>
          <p:sp>
            <p:nvSpPr>
              <p:cNvPr id="78897" name="Freeform 12"/>
              <p:cNvSpPr/>
              <p:nvPr/>
            </p:nvSpPr>
            <p:spPr bwMode="auto">
              <a:xfrm>
                <a:off x="4470" y="4407"/>
                <a:ext cx="1406" cy="312"/>
              </a:xfrm>
              <a:custGeom>
                <a:avLst/>
                <a:gdLst>
                  <a:gd name="T0" fmla="*/ 43 w 1290"/>
                  <a:gd name="T1" fmla="*/ 0 h 312"/>
                  <a:gd name="T2" fmla="*/ 296 w 1290"/>
                  <a:gd name="T3" fmla="*/ 156 h 312"/>
                  <a:gd name="T4" fmla="*/ 1820 w 1290"/>
                  <a:gd name="T5" fmla="*/ 312 h 312"/>
                  <a:gd name="T6" fmla="*/ 0 60000 65536"/>
                  <a:gd name="T7" fmla="*/ 0 60000 65536"/>
                  <a:gd name="T8" fmla="*/ 0 60000 65536"/>
                  <a:gd name="T9" fmla="*/ 0 w 1290"/>
                  <a:gd name="T10" fmla="*/ 0 h 312"/>
                  <a:gd name="T11" fmla="*/ 1290 w 1290"/>
                  <a:gd name="T12" fmla="*/ 312 h 312"/>
                </a:gdLst>
                <a:ahLst/>
                <a:cxnLst>
                  <a:cxn ang="T6">
                    <a:pos x="T0" y="T1"/>
                  </a:cxn>
                  <a:cxn ang="T7">
                    <a:pos x="T2" y="T3"/>
                  </a:cxn>
                  <a:cxn ang="T8">
                    <a:pos x="T4" y="T5"/>
                  </a:cxn>
                </a:cxnLst>
                <a:rect l="T9" t="T10" r="T11" b="T12"/>
                <a:pathLst>
                  <a:path w="1290" h="312">
                    <a:moveTo>
                      <a:pt x="30" y="0"/>
                    </a:moveTo>
                    <a:cubicBezTo>
                      <a:pt x="15" y="52"/>
                      <a:pt x="0" y="104"/>
                      <a:pt x="210" y="156"/>
                    </a:cubicBezTo>
                    <a:cubicBezTo>
                      <a:pt x="420" y="208"/>
                      <a:pt x="1110" y="286"/>
                      <a:pt x="1290" y="312"/>
                    </a:cubicBezTo>
                  </a:path>
                </a:pathLst>
              </a:custGeom>
              <a:noFill/>
              <a:ln w="28575">
                <a:solidFill>
                  <a:schemeClr val="tx1"/>
                </a:solidFill>
                <a:round/>
                <a:tailEnd type="none" w="sm" len="med"/>
              </a:ln>
            </p:spPr>
            <p:txBody>
              <a:bodyPr wrap="none" lIns="0" tIns="0" rIns="0" bIns="0" anchor="ctr"/>
              <a:lstStyle/>
              <a:p>
                <a:endParaRPr lang="zh-CN" altLang="en-US" sz="1600"/>
              </a:p>
            </p:txBody>
          </p:sp>
          <p:sp>
            <p:nvSpPr>
              <p:cNvPr id="78898" name="Freeform 13"/>
              <p:cNvSpPr/>
              <p:nvPr/>
            </p:nvSpPr>
            <p:spPr bwMode="auto">
              <a:xfrm>
                <a:off x="3151" y="4407"/>
                <a:ext cx="1349" cy="312"/>
              </a:xfrm>
              <a:custGeom>
                <a:avLst/>
                <a:gdLst>
                  <a:gd name="T0" fmla="*/ 2629 w 1080"/>
                  <a:gd name="T1" fmla="*/ 0 h 312"/>
                  <a:gd name="T2" fmla="*/ 2191 w 1080"/>
                  <a:gd name="T3" fmla="*/ 156 h 312"/>
                  <a:gd name="T4" fmla="*/ 0 w 1080"/>
                  <a:gd name="T5" fmla="*/ 312 h 312"/>
                  <a:gd name="T6" fmla="*/ 0 60000 65536"/>
                  <a:gd name="T7" fmla="*/ 0 60000 65536"/>
                  <a:gd name="T8" fmla="*/ 0 60000 65536"/>
                  <a:gd name="T9" fmla="*/ 0 w 1080"/>
                  <a:gd name="T10" fmla="*/ 0 h 312"/>
                  <a:gd name="T11" fmla="*/ 1080 w 1080"/>
                  <a:gd name="T12" fmla="*/ 312 h 312"/>
                </a:gdLst>
                <a:ahLst/>
                <a:cxnLst>
                  <a:cxn ang="T6">
                    <a:pos x="T0" y="T1"/>
                  </a:cxn>
                  <a:cxn ang="T7">
                    <a:pos x="T2" y="T3"/>
                  </a:cxn>
                  <a:cxn ang="T8">
                    <a:pos x="T4" y="T5"/>
                  </a:cxn>
                </a:cxnLst>
                <a:rect l="T9" t="T10" r="T11" b="T12"/>
                <a:pathLst>
                  <a:path w="1080" h="312">
                    <a:moveTo>
                      <a:pt x="1080" y="0"/>
                    </a:moveTo>
                    <a:cubicBezTo>
                      <a:pt x="1080" y="52"/>
                      <a:pt x="1080" y="104"/>
                      <a:pt x="900" y="156"/>
                    </a:cubicBezTo>
                    <a:cubicBezTo>
                      <a:pt x="720" y="208"/>
                      <a:pt x="150" y="286"/>
                      <a:pt x="0" y="312"/>
                    </a:cubicBezTo>
                  </a:path>
                </a:pathLst>
              </a:custGeom>
              <a:noFill/>
              <a:ln w="28575">
                <a:solidFill>
                  <a:schemeClr val="tx1"/>
                </a:solidFill>
                <a:round/>
                <a:tailEnd type="none" w="sm" len="med"/>
              </a:ln>
            </p:spPr>
            <p:txBody>
              <a:bodyPr wrap="none" lIns="0" tIns="0" rIns="0" bIns="0" anchor="ctr"/>
              <a:lstStyle/>
              <a:p>
                <a:endParaRPr lang="zh-CN" altLang="en-US" sz="1600"/>
              </a:p>
            </p:txBody>
          </p:sp>
          <p:sp>
            <p:nvSpPr>
              <p:cNvPr id="78899" name="Freeform 14"/>
              <p:cNvSpPr/>
              <p:nvPr/>
            </p:nvSpPr>
            <p:spPr bwMode="auto">
              <a:xfrm>
                <a:off x="4500" y="4066"/>
                <a:ext cx="540" cy="179"/>
              </a:xfrm>
              <a:custGeom>
                <a:avLst/>
                <a:gdLst>
                  <a:gd name="T0" fmla="*/ 0 w 540"/>
                  <a:gd name="T1" fmla="*/ 179 h 179"/>
                  <a:gd name="T2" fmla="*/ 205 w 540"/>
                  <a:gd name="T3" fmla="*/ 67 h 179"/>
                  <a:gd name="T4" fmla="*/ 540 w 540"/>
                  <a:gd name="T5" fmla="*/ 0 h 179"/>
                  <a:gd name="T6" fmla="*/ 0 60000 65536"/>
                  <a:gd name="T7" fmla="*/ 0 60000 65536"/>
                  <a:gd name="T8" fmla="*/ 0 60000 65536"/>
                  <a:gd name="T9" fmla="*/ 0 w 540"/>
                  <a:gd name="T10" fmla="*/ 0 h 179"/>
                  <a:gd name="T11" fmla="*/ 540 w 540"/>
                  <a:gd name="T12" fmla="*/ 179 h 179"/>
                </a:gdLst>
                <a:ahLst/>
                <a:cxnLst>
                  <a:cxn ang="T6">
                    <a:pos x="T0" y="T1"/>
                  </a:cxn>
                  <a:cxn ang="T7">
                    <a:pos x="T2" y="T3"/>
                  </a:cxn>
                  <a:cxn ang="T8">
                    <a:pos x="T4" y="T5"/>
                  </a:cxn>
                </a:cxnLst>
                <a:rect l="T9" t="T10" r="T11" b="T12"/>
                <a:pathLst>
                  <a:path w="540" h="179">
                    <a:moveTo>
                      <a:pt x="0" y="179"/>
                    </a:moveTo>
                    <a:cubicBezTo>
                      <a:pt x="34" y="160"/>
                      <a:pt x="115" y="97"/>
                      <a:pt x="205" y="67"/>
                    </a:cubicBezTo>
                    <a:cubicBezTo>
                      <a:pt x="295" y="37"/>
                      <a:pt x="470" y="14"/>
                      <a:pt x="540" y="0"/>
                    </a:cubicBezTo>
                  </a:path>
                </a:pathLst>
              </a:custGeom>
              <a:noFill/>
              <a:ln w="28575">
                <a:solidFill>
                  <a:schemeClr val="tx1"/>
                </a:solidFill>
                <a:round/>
                <a:tailEnd type="none" w="sm" len="med"/>
              </a:ln>
            </p:spPr>
            <p:txBody>
              <a:bodyPr wrap="none" lIns="0" tIns="0" rIns="0" bIns="0" anchor="ctr"/>
              <a:lstStyle/>
              <a:p>
                <a:endParaRPr lang="zh-CN" altLang="en-US" sz="1600"/>
              </a:p>
            </p:txBody>
          </p:sp>
          <p:sp>
            <p:nvSpPr>
              <p:cNvPr id="78900" name="Freeform 15"/>
              <p:cNvSpPr/>
              <p:nvPr/>
            </p:nvSpPr>
            <p:spPr bwMode="auto">
              <a:xfrm>
                <a:off x="3985" y="4115"/>
                <a:ext cx="515" cy="133"/>
              </a:xfrm>
              <a:custGeom>
                <a:avLst/>
                <a:gdLst>
                  <a:gd name="T0" fmla="*/ 515 w 515"/>
                  <a:gd name="T1" fmla="*/ 133 h 133"/>
                  <a:gd name="T2" fmla="*/ 285 w 515"/>
                  <a:gd name="T3" fmla="*/ 21 h 133"/>
                  <a:gd name="T4" fmla="*/ 0 w 515"/>
                  <a:gd name="T5" fmla="*/ 4 h 133"/>
                  <a:gd name="T6" fmla="*/ 0 60000 65536"/>
                  <a:gd name="T7" fmla="*/ 0 60000 65536"/>
                  <a:gd name="T8" fmla="*/ 0 60000 65536"/>
                  <a:gd name="T9" fmla="*/ 0 w 515"/>
                  <a:gd name="T10" fmla="*/ 0 h 133"/>
                  <a:gd name="T11" fmla="*/ 515 w 515"/>
                  <a:gd name="T12" fmla="*/ 133 h 133"/>
                </a:gdLst>
                <a:ahLst/>
                <a:cxnLst>
                  <a:cxn ang="T6">
                    <a:pos x="T0" y="T1"/>
                  </a:cxn>
                  <a:cxn ang="T7">
                    <a:pos x="T2" y="T3"/>
                  </a:cxn>
                  <a:cxn ang="T8">
                    <a:pos x="T4" y="T5"/>
                  </a:cxn>
                </a:cxnLst>
                <a:rect l="T9" t="T10" r="T11" b="T12"/>
                <a:pathLst>
                  <a:path w="515" h="133">
                    <a:moveTo>
                      <a:pt x="515" y="133"/>
                    </a:moveTo>
                    <a:cubicBezTo>
                      <a:pt x="477" y="114"/>
                      <a:pt x="371" y="42"/>
                      <a:pt x="285" y="21"/>
                    </a:cubicBezTo>
                    <a:cubicBezTo>
                      <a:pt x="199" y="0"/>
                      <a:pt x="59" y="8"/>
                      <a:pt x="0" y="4"/>
                    </a:cubicBezTo>
                  </a:path>
                </a:pathLst>
              </a:custGeom>
              <a:noFill/>
              <a:ln w="28575">
                <a:solidFill>
                  <a:schemeClr val="tx1"/>
                </a:solidFill>
                <a:round/>
                <a:tailEnd type="none" w="sm" len="med"/>
              </a:ln>
            </p:spPr>
            <p:txBody>
              <a:bodyPr wrap="none" lIns="0" tIns="0" rIns="0" bIns="0" anchor="ctr"/>
              <a:lstStyle/>
              <a:p>
                <a:endParaRPr lang="zh-CN" altLang="en-US" sz="1600"/>
              </a:p>
            </p:txBody>
          </p:sp>
        </p:grpSp>
        <p:grpSp>
          <p:nvGrpSpPr>
            <p:cNvPr id="5" name="Group 16"/>
            <p:cNvGrpSpPr/>
            <p:nvPr/>
          </p:nvGrpSpPr>
          <p:grpSpPr bwMode="auto">
            <a:xfrm>
              <a:off x="4002" y="770"/>
              <a:ext cx="1272" cy="475"/>
              <a:chOff x="3002" y="2830"/>
              <a:chExt cx="3118" cy="1077"/>
            </a:xfrm>
          </p:grpSpPr>
          <p:grpSp>
            <p:nvGrpSpPr>
              <p:cNvPr id="6" name="Group 17"/>
              <p:cNvGrpSpPr/>
              <p:nvPr/>
            </p:nvGrpSpPr>
            <p:grpSpPr bwMode="auto">
              <a:xfrm>
                <a:off x="3241" y="3000"/>
                <a:ext cx="2519" cy="907"/>
                <a:chOff x="3241" y="3000"/>
                <a:chExt cx="2519" cy="907"/>
              </a:xfrm>
            </p:grpSpPr>
            <p:sp>
              <p:nvSpPr>
                <p:cNvPr id="78893" name="Line 18"/>
                <p:cNvSpPr>
                  <a:spLocks noChangeShapeType="1"/>
                </p:cNvSpPr>
                <p:nvPr/>
              </p:nvSpPr>
              <p:spPr bwMode="auto">
                <a:xfrm>
                  <a:off x="3243" y="3000"/>
                  <a:ext cx="2517" cy="0"/>
                </a:xfrm>
                <a:prstGeom prst="line">
                  <a:avLst/>
                </a:prstGeom>
                <a:noFill/>
                <a:ln w="28575">
                  <a:solidFill>
                    <a:schemeClr val="tx1"/>
                  </a:solidFill>
                  <a:round/>
                  <a:tailEnd type="none" w="sm" len="med"/>
                </a:ln>
              </p:spPr>
              <p:txBody>
                <a:bodyPr wrap="none" lIns="0" tIns="0" rIns="0" bIns="0" anchor="ctr"/>
                <a:lstStyle/>
                <a:p>
                  <a:endParaRPr lang="zh-CN" altLang="en-US" sz="1600"/>
                </a:p>
              </p:txBody>
            </p:sp>
            <p:sp>
              <p:nvSpPr>
                <p:cNvPr id="78894" name="Arc 19"/>
                <p:cNvSpPr/>
                <p:nvPr/>
              </p:nvSpPr>
              <p:spPr bwMode="auto">
                <a:xfrm flipV="1">
                  <a:off x="4500" y="3000"/>
                  <a:ext cx="1260" cy="90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tailEnd type="none" w="sm" len="med"/>
                </a:ln>
              </p:spPr>
              <p:txBody>
                <a:bodyPr wrap="none" lIns="0" tIns="0" rIns="0" bIns="0" anchor="ctr"/>
                <a:lstStyle/>
                <a:p>
                  <a:endParaRPr lang="zh-CN" altLang="en-US" sz="1600"/>
                </a:p>
              </p:txBody>
            </p:sp>
            <p:sp>
              <p:nvSpPr>
                <p:cNvPr id="78895" name="Arc 20"/>
                <p:cNvSpPr/>
                <p:nvPr/>
              </p:nvSpPr>
              <p:spPr bwMode="auto">
                <a:xfrm flipH="1" flipV="1">
                  <a:off x="3241" y="3000"/>
                  <a:ext cx="1259" cy="90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tailEnd type="none" w="sm" len="med"/>
                </a:ln>
              </p:spPr>
              <p:txBody>
                <a:bodyPr wrap="none" lIns="0" tIns="0" rIns="0" bIns="0" anchor="ctr"/>
                <a:lstStyle/>
                <a:p>
                  <a:endParaRPr lang="zh-CN" altLang="en-US" sz="1600"/>
                </a:p>
              </p:txBody>
            </p:sp>
          </p:grpSp>
          <p:sp>
            <p:nvSpPr>
              <p:cNvPr id="78885" name="Freeform 21"/>
              <p:cNvSpPr/>
              <p:nvPr/>
            </p:nvSpPr>
            <p:spPr bwMode="auto">
              <a:xfrm>
                <a:off x="4500" y="3312"/>
                <a:ext cx="540" cy="179"/>
              </a:xfrm>
              <a:custGeom>
                <a:avLst/>
                <a:gdLst>
                  <a:gd name="T0" fmla="*/ 0 w 540"/>
                  <a:gd name="T1" fmla="*/ 179 h 179"/>
                  <a:gd name="T2" fmla="*/ 205 w 540"/>
                  <a:gd name="T3" fmla="*/ 67 h 179"/>
                  <a:gd name="T4" fmla="*/ 540 w 540"/>
                  <a:gd name="T5" fmla="*/ 0 h 179"/>
                  <a:gd name="T6" fmla="*/ 0 60000 65536"/>
                  <a:gd name="T7" fmla="*/ 0 60000 65536"/>
                  <a:gd name="T8" fmla="*/ 0 60000 65536"/>
                  <a:gd name="T9" fmla="*/ 0 w 540"/>
                  <a:gd name="T10" fmla="*/ 0 h 179"/>
                  <a:gd name="T11" fmla="*/ 540 w 540"/>
                  <a:gd name="T12" fmla="*/ 179 h 179"/>
                </a:gdLst>
                <a:ahLst/>
                <a:cxnLst>
                  <a:cxn ang="T6">
                    <a:pos x="T0" y="T1"/>
                  </a:cxn>
                  <a:cxn ang="T7">
                    <a:pos x="T2" y="T3"/>
                  </a:cxn>
                  <a:cxn ang="T8">
                    <a:pos x="T4" y="T5"/>
                  </a:cxn>
                </a:cxnLst>
                <a:rect l="T9" t="T10" r="T11" b="T12"/>
                <a:pathLst>
                  <a:path w="540" h="179">
                    <a:moveTo>
                      <a:pt x="0" y="179"/>
                    </a:moveTo>
                    <a:cubicBezTo>
                      <a:pt x="34" y="160"/>
                      <a:pt x="115" y="97"/>
                      <a:pt x="205" y="67"/>
                    </a:cubicBezTo>
                    <a:cubicBezTo>
                      <a:pt x="295" y="37"/>
                      <a:pt x="470" y="14"/>
                      <a:pt x="540" y="0"/>
                    </a:cubicBezTo>
                  </a:path>
                </a:pathLst>
              </a:custGeom>
              <a:noFill/>
              <a:ln w="28575">
                <a:solidFill>
                  <a:schemeClr val="tx1"/>
                </a:solidFill>
                <a:round/>
                <a:tailEnd type="none" w="sm" len="med"/>
              </a:ln>
            </p:spPr>
            <p:txBody>
              <a:bodyPr wrap="none" lIns="0" tIns="0" rIns="0" bIns="0" anchor="ctr"/>
              <a:lstStyle/>
              <a:p>
                <a:endParaRPr lang="zh-CN" altLang="en-US" sz="1600"/>
              </a:p>
            </p:txBody>
          </p:sp>
          <p:sp>
            <p:nvSpPr>
              <p:cNvPr id="78886" name="Freeform 22"/>
              <p:cNvSpPr/>
              <p:nvPr/>
            </p:nvSpPr>
            <p:spPr bwMode="auto">
              <a:xfrm>
                <a:off x="3960" y="3312"/>
                <a:ext cx="515" cy="133"/>
              </a:xfrm>
              <a:custGeom>
                <a:avLst/>
                <a:gdLst>
                  <a:gd name="T0" fmla="*/ 515 w 515"/>
                  <a:gd name="T1" fmla="*/ 133 h 133"/>
                  <a:gd name="T2" fmla="*/ 285 w 515"/>
                  <a:gd name="T3" fmla="*/ 21 h 133"/>
                  <a:gd name="T4" fmla="*/ 0 w 515"/>
                  <a:gd name="T5" fmla="*/ 4 h 133"/>
                  <a:gd name="T6" fmla="*/ 0 60000 65536"/>
                  <a:gd name="T7" fmla="*/ 0 60000 65536"/>
                  <a:gd name="T8" fmla="*/ 0 60000 65536"/>
                  <a:gd name="T9" fmla="*/ 0 w 515"/>
                  <a:gd name="T10" fmla="*/ 0 h 133"/>
                  <a:gd name="T11" fmla="*/ 515 w 515"/>
                  <a:gd name="T12" fmla="*/ 133 h 133"/>
                </a:gdLst>
                <a:ahLst/>
                <a:cxnLst>
                  <a:cxn ang="T6">
                    <a:pos x="T0" y="T1"/>
                  </a:cxn>
                  <a:cxn ang="T7">
                    <a:pos x="T2" y="T3"/>
                  </a:cxn>
                  <a:cxn ang="T8">
                    <a:pos x="T4" y="T5"/>
                  </a:cxn>
                </a:cxnLst>
                <a:rect l="T9" t="T10" r="T11" b="T12"/>
                <a:pathLst>
                  <a:path w="515" h="133">
                    <a:moveTo>
                      <a:pt x="515" y="133"/>
                    </a:moveTo>
                    <a:cubicBezTo>
                      <a:pt x="477" y="114"/>
                      <a:pt x="371" y="42"/>
                      <a:pt x="285" y="21"/>
                    </a:cubicBezTo>
                    <a:cubicBezTo>
                      <a:pt x="199" y="0"/>
                      <a:pt x="59" y="8"/>
                      <a:pt x="0" y="4"/>
                    </a:cubicBezTo>
                  </a:path>
                </a:pathLst>
              </a:custGeom>
              <a:noFill/>
              <a:ln w="28575">
                <a:solidFill>
                  <a:schemeClr val="tx1"/>
                </a:solidFill>
                <a:round/>
                <a:tailEnd type="none" w="sm" len="med"/>
              </a:ln>
            </p:spPr>
            <p:txBody>
              <a:bodyPr wrap="none" lIns="0" tIns="0" rIns="0" bIns="0" anchor="ctr"/>
              <a:lstStyle/>
              <a:p>
                <a:endParaRPr lang="zh-CN" altLang="en-US" sz="1600"/>
              </a:p>
            </p:txBody>
          </p:sp>
          <p:grpSp>
            <p:nvGrpSpPr>
              <p:cNvPr id="7" name="Group 23"/>
              <p:cNvGrpSpPr/>
              <p:nvPr/>
            </p:nvGrpSpPr>
            <p:grpSpPr bwMode="auto">
              <a:xfrm>
                <a:off x="4500" y="2830"/>
                <a:ext cx="1620" cy="638"/>
                <a:chOff x="4500" y="2830"/>
                <a:chExt cx="1620" cy="638"/>
              </a:xfrm>
            </p:grpSpPr>
            <p:sp>
              <p:nvSpPr>
                <p:cNvPr id="78891" name="Freeform 24"/>
                <p:cNvSpPr/>
                <p:nvPr/>
              </p:nvSpPr>
              <p:spPr bwMode="auto">
                <a:xfrm>
                  <a:off x="4500" y="2830"/>
                  <a:ext cx="1394" cy="638"/>
                </a:xfrm>
                <a:custGeom>
                  <a:avLst/>
                  <a:gdLst>
                    <a:gd name="T0" fmla="*/ 0 w 1394"/>
                    <a:gd name="T1" fmla="*/ 638 h 638"/>
                    <a:gd name="T2" fmla="*/ 272 w 1394"/>
                    <a:gd name="T3" fmla="*/ 351 h 638"/>
                    <a:gd name="T4" fmla="*/ 741 w 1394"/>
                    <a:gd name="T5" fmla="*/ 100 h 638"/>
                    <a:gd name="T6" fmla="*/ 1394 w 1394"/>
                    <a:gd name="T7" fmla="*/ 0 h 638"/>
                    <a:gd name="T8" fmla="*/ 0 60000 65536"/>
                    <a:gd name="T9" fmla="*/ 0 60000 65536"/>
                    <a:gd name="T10" fmla="*/ 0 60000 65536"/>
                    <a:gd name="T11" fmla="*/ 0 60000 65536"/>
                    <a:gd name="T12" fmla="*/ 0 w 1394"/>
                    <a:gd name="T13" fmla="*/ 0 h 638"/>
                    <a:gd name="T14" fmla="*/ 1394 w 1394"/>
                    <a:gd name="T15" fmla="*/ 638 h 638"/>
                  </a:gdLst>
                  <a:ahLst/>
                  <a:cxnLst>
                    <a:cxn ang="T8">
                      <a:pos x="T0" y="T1"/>
                    </a:cxn>
                    <a:cxn ang="T9">
                      <a:pos x="T2" y="T3"/>
                    </a:cxn>
                    <a:cxn ang="T10">
                      <a:pos x="T4" y="T5"/>
                    </a:cxn>
                    <a:cxn ang="T11">
                      <a:pos x="T6" y="T7"/>
                    </a:cxn>
                  </a:cxnLst>
                  <a:rect l="T12" t="T13" r="T14" b="T15"/>
                  <a:pathLst>
                    <a:path w="1394" h="638">
                      <a:moveTo>
                        <a:pt x="0" y="638"/>
                      </a:moveTo>
                      <a:cubicBezTo>
                        <a:pt x="45" y="590"/>
                        <a:pt x="149" y="441"/>
                        <a:pt x="272" y="351"/>
                      </a:cubicBezTo>
                      <a:cubicBezTo>
                        <a:pt x="395" y="261"/>
                        <a:pt x="554" y="158"/>
                        <a:pt x="741" y="100"/>
                      </a:cubicBezTo>
                      <a:cubicBezTo>
                        <a:pt x="928" y="42"/>
                        <a:pt x="1258" y="21"/>
                        <a:pt x="1394" y="0"/>
                      </a:cubicBezTo>
                    </a:path>
                  </a:pathLst>
                </a:custGeom>
                <a:noFill/>
                <a:ln w="28575">
                  <a:solidFill>
                    <a:schemeClr val="tx1"/>
                  </a:solidFill>
                  <a:round/>
                  <a:tailEnd type="none" w="sm" len="med"/>
                </a:ln>
              </p:spPr>
              <p:txBody>
                <a:bodyPr wrap="none" lIns="0" tIns="0" rIns="0" bIns="0" anchor="ctr"/>
                <a:lstStyle/>
                <a:p>
                  <a:endParaRPr lang="zh-CN" altLang="en-US" sz="1600"/>
                </a:p>
              </p:txBody>
            </p:sp>
            <p:sp>
              <p:nvSpPr>
                <p:cNvPr id="78892" name="Line 25"/>
                <p:cNvSpPr>
                  <a:spLocks noChangeShapeType="1"/>
                </p:cNvSpPr>
                <p:nvPr/>
              </p:nvSpPr>
              <p:spPr bwMode="auto">
                <a:xfrm>
                  <a:off x="5760" y="2844"/>
                  <a:ext cx="360" cy="0"/>
                </a:xfrm>
                <a:prstGeom prst="line">
                  <a:avLst/>
                </a:prstGeom>
                <a:noFill/>
                <a:ln w="28575">
                  <a:solidFill>
                    <a:schemeClr val="tx1"/>
                  </a:solidFill>
                  <a:round/>
                  <a:tailEnd type="triangle" w="sm" len="med"/>
                </a:ln>
              </p:spPr>
              <p:txBody>
                <a:bodyPr wrap="none" lIns="0" tIns="0" rIns="0" bIns="0" anchor="ctr"/>
                <a:lstStyle/>
                <a:p>
                  <a:endParaRPr lang="zh-CN" altLang="en-US" sz="1600"/>
                </a:p>
              </p:txBody>
            </p:sp>
          </p:grpSp>
          <p:grpSp>
            <p:nvGrpSpPr>
              <p:cNvPr id="8" name="Group 26"/>
              <p:cNvGrpSpPr/>
              <p:nvPr/>
            </p:nvGrpSpPr>
            <p:grpSpPr bwMode="auto">
              <a:xfrm>
                <a:off x="3002" y="2830"/>
                <a:ext cx="1543" cy="638"/>
                <a:chOff x="3002" y="2830"/>
                <a:chExt cx="1543" cy="638"/>
              </a:xfrm>
            </p:grpSpPr>
            <p:sp>
              <p:nvSpPr>
                <p:cNvPr id="78889" name="Freeform 27"/>
                <p:cNvSpPr/>
                <p:nvPr/>
              </p:nvSpPr>
              <p:spPr bwMode="auto">
                <a:xfrm>
                  <a:off x="3165" y="2830"/>
                  <a:ext cx="1380" cy="638"/>
                </a:xfrm>
                <a:custGeom>
                  <a:avLst/>
                  <a:gdLst>
                    <a:gd name="T0" fmla="*/ 1380 w 1380"/>
                    <a:gd name="T1" fmla="*/ 638 h 638"/>
                    <a:gd name="T2" fmla="*/ 1142 w 1380"/>
                    <a:gd name="T3" fmla="*/ 368 h 638"/>
                    <a:gd name="T4" fmla="*/ 831 w 1380"/>
                    <a:gd name="T5" fmla="*/ 184 h 638"/>
                    <a:gd name="T6" fmla="*/ 0 w 1380"/>
                    <a:gd name="T7" fmla="*/ 0 h 638"/>
                    <a:gd name="T8" fmla="*/ 0 60000 65536"/>
                    <a:gd name="T9" fmla="*/ 0 60000 65536"/>
                    <a:gd name="T10" fmla="*/ 0 60000 65536"/>
                    <a:gd name="T11" fmla="*/ 0 60000 65536"/>
                    <a:gd name="T12" fmla="*/ 0 w 1380"/>
                    <a:gd name="T13" fmla="*/ 0 h 638"/>
                    <a:gd name="T14" fmla="*/ 1380 w 1380"/>
                    <a:gd name="T15" fmla="*/ 638 h 638"/>
                  </a:gdLst>
                  <a:ahLst/>
                  <a:cxnLst>
                    <a:cxn ang="T8">
                      <a:pos x="T0" y="T1"/>
                    </a:cxn>
                    <a:cxn ang="T9">
                      <a:pos x="T2" y="T3"/>
                    </a:cxn>
                    <a:cxn ang="T10">
                      <a:pos x="T4" y="T5"/>
                    </a:cxn>
                    <a:cxn ang="T11">
                      <a:pos x="T6" y="T7"/>
                    </a:cxn>
                  </a:cxnLst>
                  <a:rect l="T12" t="T13" r="T14" b="T15"/>
                  <a:pathLst>
                    <a:path w="1380" h="638">
                      <a:moveTo>
                        <a:pt x="1380" y="638"/>
                      </a:moveTo>
                      <a:cubicBezTo>
                        <a:pt x="1341" y="593"/>
                        <a:pt x="1234" y="444"/>
                        <a:pt x="1142" y="368"/>
                      </a:cubicBezTo>
                      <a:cubicBezTo>
                        <a:pt x="1051" y="292"/>
                        <a:pt x="1021" y="245"/>
                        <a:pt x="831" y="184"/>
                      </a:cubicBezTo>
                      <a:cubicBezTo>
                        <a:pt x="641" y="123"/>
                        <a:pt x="173" y="38"/>
                        <a:pt x="0" y="0"/>
                      </a:cubicBezTo>
                    </a:path>
                  </a:pathLst>
                </a:custGeom>
                <a:noFill/>
                <a:ln w="28575">
                  <a:solidFill>
                    <a:schemeClr val="tx1"/>
                  </a:solidFill>
                  <a:round/>
                  <a:tailEnd type="none" w="sm" len="med"/>
                </a:ln>
              </p:spPr>
              <p:txBody>
                <a:bodyPr wrap="none" lIns="0" tIns="0" rIns="0" bIns="0" anchor="ctr"/>
                <a:lstStyle/>
                <a:p>
                  <a:endParaRPr lang="zh-CN" altLang="en-US" sz="1600"/>
                </a:p>
              </p:txBody>
            </p:sp>
            <p:sp>
              <p:nvSpPr>
                <p:cNvPr id="78890" name="Line 28"/>
                <p:cNvSpPr>
                  <a:spLocks noChangeShapeType="1"/>
                </p:cNvSpPr>
                <p:nvPr/>
              </p:nvSpPr>
              <p:spPr bwMode="auto">
                <a:xfrm flipH="1">
                  <a:off x="3002" y="2844"/>
                  <a:ext cx="238" cy="0"/>
                </a:xfrm>
                <a:prstGeom prst="line">
                  <a:avLst/>
                </a:prstGeom>
                <a:noFill/>
                <a:ln w="28575">
                  <a:solidFill>
                    <a:schemeClr val="tx1"/>
                  </a:solidFill>
                  <a:round/>
                  <a:tailEnd type="triangle" w="sm" len="med"/>
                </a:ln>
              </p:spPr>
              <p:txBody>
                <a:bodyPr wrap="none" lIns="0" tIns="0" rIns="0" bIns="0" anchor="ctr"/>
                <a:lstStyle/>
                <a:p>
                  <a:endParaRPr lang="zh-CN" altLang="en-US" sz="1600"/>
                </a:p>
              </p:txBody>
            </p:sp>
          </p:grpSp>
        </p:grpSp>
        <p:grpSp>
          <p:nvGrpSpPr>
            <p:cNvPr id="9" name="Group 29"/>
            <p:cNvGrpSpPr/>
            <p:nvPr/>
          </p:nvGrpSpPr>
          <p:grpSpPr bwMode="auto">
            <a:xfrm>
              <a:off x="4002" y="560"/>
              <a:ext cx="1199" cy="330"/>
              <a:chOff x="3002" y="2353"/>
              <a:chExt cx="2938" cy="749"/>
            </a:xfrm>
          </p:grpSpPr>
          <p:grpSp>
            <p:nvGrpSpPr>
              <p:cNvPr id="10" name="Group 30"/>
              <p:cNvGrpSpPr/>
              <p:nvPr/>
            </p:nvGrpSpPr>
            <p:grpSpPr bwMode="auto">
              <a:xfrm>
                <a:off x="3420" y="2376"/>
                <a:ext cx="2100" cy="726"/>
                <a:chOff x="3420" y="2376"/>
                <a:chExt cx="2100" cy="726"/>
              </a:xfrm>
            </p:grpSpPr>
            <p:sp>
              <p:nvSpPr>
                <p:cNvPr id="78881" name="Arc 31"/>
                <p:cNvSpPr/>
                <p:nvPr/>
              </p:nvSpPr>
              <p:spPr bwMode="auto">
                <a:xfrm flipV="1">
                  <a:off x="4500" y="2376"/>
                  <a:ext cx="1020" cy="72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tailEnd type="none" w="sm" len="med"/>
                </a:ln>
              </p:spPr>
              <p:txBody>
                <a:bodyPr wrap="none" lIns="0" tIns="0" rIns="0" bIns="0" anchor="ctr"/>
                <a:lstStyle/>
                <a:p>
                  <a:endParaRPr lang="zh-CN" altLang="en-US" sz="1600"/>
                </a:p>
              </p:txBody>
            </p:sp>
            <p:sp>
              <p:nvSpPr>
                <p:cNvPr id="78882" name="Arc 32"/>
                <p:cNvSpPr/>
                <p:nvPr/>
              </p:nvSpPr>
              <p:spPr bwMode="auto">
                <a:xfrm flipH="1" flipV="1">
                  <a:off x="3480" y="2376"/>
                  <a:ext cx="1020" cy="72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tailEnd type="none" w="sm" len="med"/>
                </a:ln>
              </p:spPr>
              <p:txBody>
                <a:bodyPr wrap="none" lIns="0" tIns="0" rIns="0" bIns="0" anchor="ctr"/>
                <a:lstStyle/>
                <a:p>
                  <a:endParaRPr lang="zh-CN" altLang="en-US" sz="1600"/>
                </a:p>
              </p:txBody>
            </p:sp>
            <p:sp>
              <p:nvSpPr>
                <p:cNvPr id="78883" name="Line 33"/>
                <p:cNvSpPr>
                  <a:spLocks noChangeShapeType="1"/>
                </p:cNvSpPr>
                <p:nvPr/>
              </p:nvSpPr>
              <p:spPr bwMode="auto">
                <a:xfrm>
                  <a:off x="3420" y="2376"/>
                  <a:ext cx="2098" cy="0"/>
                </a:xfrm>
                <a:prstGeom prst="line">
                  <a:avLst/>
                </a:prstGeom>
                <a:noFill/>
                <a:ln w="28575">
                  <a:solidFill>
                    <a:schemeClr val="tx1"/>
                  </a:solidFill>
                  <a:round/>
                  <a:tailEnd type="none" w="sm" len="med"/>
                </a:ln>
              </p:spPr>
              <p:txBody>
                <a:bodyPr wrap="none" lIns="0" tIns="0" rIns="0" bIns="0" anchor="ctr"/>
                <a:lstStyle/>
                <a:p>
                  <a:endParaRPr lang="zh-CN" altLang="en-US" sz="1600"/>
                </a:p>
              </p:txBody>
            </p:sp>
          </p:grpSp>
          <p:grpSp>
            <p:nvGrpSpPr>
              <p:cNvPr id="11" name="Group 34"/>
              <p:cNvGrpSpPr/>
              <p:nvPr/>
            </p:nvGrpSpPr>
            <p:grpSpPr bwMode="auto">
              <a:xfrm>
                <a:off x="4504" y="2353"/>
                <a:ext cx="1436" cy="309"/>
                <a:chOff x="4504" y="2353"/>
                <a:chExt cx="1436" cy="309"/>
              </a:xfrm>
            </p:grpSpPr>
            <p:sp>
              <p:nvSpPr>
                <p:cNvPr id="78879" name="Freeform 35"/>
                <p:cNvSpPr/>
                <p:nvPr/>
              </p:nvSpPr>
              <p:spPr bwMode="auto">
                <a:xfrm>
                  <a:off x="4504" y="2353"/>
                  <a:ext cx="1323" cy="309"/>
                </a:xfrm>
                <a:custGeom>
                  <a:avLst/>
                  <a:gdLst>
                    <a:gd name="T0" fmla="*/ 0 w 1323"/>
                    <a:gd name="T1" fmla="*/ 309 h 309"/>
                    <a:gd name="T2" fmla="*/ 268 w 1323"/>
                    <a:gd name="T3" fmla="*/ 159 h 309"/>
                    <a:gd name="T4" fmla="*/ 687 w 1323"/>
                    <a:gd name="T5" fmla="*/ 25 h 309"/>
                    <a:gd name="T6" fmla="*/ 1172 w 1323"/>
                    <a:gd name="T7" fmla="*/ 8 h 309"/>
                    <a:gd name="T8" fmla="*/ 1323 w 1323"/>
                    <a:gd name="T9" fmla="*/ 25 h 309"/>
                    <a:gd name="T10" fmla="*/ 0 60000 65536"/>
                    <a:gd name="T11" fmla="*/ 0 60000 65536"/>
                    <a:gd name="T12" fmla="*/ 0 60000 65536"/>
                    <a:gd name="T13" fmla="*/ 0 60000 65536"/>
                    <a:gd name="T14" fmla="*/ 0 60000 65536"/>
                    <a:gd name="T15" fmla="*/ 0 w 1323"/>
                    <a:gd name="T16" fmla="*/ 0 h 309"/>
                    <a:gd name="T17" fmla="*/ 1323 w 1323"/>
                    <a:gd name="T18" fmla="*/ 309 h 309"/>
                  </a:gdLst>
                  <a:ahLst/>
                  <a:cxnLst>
                    <a:cxn ang="T10">
                      <a:pos x="T0" y="T1"/>
                    </a:cxn>
                    <a:cxn ang="T11">
                      <a:pos x="T2" y="T3"/>
                    </a:cxn>
                    <a:cxn ang="T12">
                      <a:pos x="T4" y="T5"/>
                    </a:cxn>
                    <a:cxn ang="T13">
                      <a:pos x="T6" y="T7"/>
                    </a:cxn>
                    <a:cxn ang="T14">
                      <a:pos x="T8" y="T9"/>
                    </a:cxn>
                  </a:cxnLst>
                  <a:rect l="T15" t="T16" r="T17" b="T18"/>
                  <a:pathLst>
                    <a:path w="1323" h="309">
                      <a:moveTo>
                        <a:pt x="0" y="309"/>
                      </a:moveTo>
                      <a:cubicBezTo>
                        <a:pt x="42" y="284"/>
                        <a:pt x="154" y="206"/>
                        <a:pt x="268" y="159"/>
                      </a:cubicBezTo>
                      <a:cubicBezTo>
                        <a:pt x="382" y="112"/>
                        <a:pt x="536" y="50"/>
                        <a:pt x="687" y="25"/>
                      </a:cubicBezTo>
                      <a:cubicBezTo>
                        <a:pt x="838" y="0"/>
                        <a:pt x="1066" y="8"/>
                        <a:pt x="1172" y="8"/>
                      </a:cubicBezTo>
                      <a:cubicBezTo>
                        <a:pt x="1278" y="8"/>
                        <a:pt x="1292" y="22"/>
                        <a:pt x="1323" y="25"/>
                      </a:cubicBezTo>
                    </a:path>
                  </a:pathLst>
                </a:custGeom>
                <a:noFill/>
                <a:ln w="28575">
                  <a:solidFill>
                    <a:schemeClr val="tx1"/>
                  </a:solidFill>
                  <a:round/>
                  <a:tailEnd type="none" w="sm" len="med"/>
                </a:ln>
              </p:spPr>
              <p:txBody>
                <a:bodyPr wrap="none" lIns="0" tIns="0" rIns="0" bIns="0" anchor="ctr"/>
                <a:lstStyle/>
                <a:p>
                  <a:endParaRPr lang="zh-CN" altLang="en-US" sz="1600"/>
                </a:p>
              </p:txBody>
            </p:sp>
            <p:sp>
              <p:nvSpPr>
                <p:cNvPr id="78880" name="Line 36"/>
                <p:cNvSpPr>
                  <a:spLocks noChangeShapeType="1"/>
                </p:cNvSpPr>
                <p:nvPr/>
              </p:nvSpPr>
              <p:spPr bwMode="auto">
                <a:xfrm>
                  <a:off x="5580" y="2376"/>
                  <a:ext cx="360" cy="0"/>
                </a:xfrm>
                <a:prstGeom prst="line">
                  <a:avLst/>
                </a:prstGeom>
                <a:noFill/>
                <a:ln w="28575">
                  <a:solidFill>
                    <a:schemeClr val="tx1"/>
                  </a:solidFill>
                  <a:round/>
                  <a:tailEnd type="triangle" w="sm" len="med"/>
                </a:ln>
              </p:spPr>
              <p:txBody>
                <a:bodyPr wrap="none" lIns="0" tIns="0" rIns="0" bIns="0" anchor="ctr"/>
                <a:lstStyle/>
                <a:p>
                  <a:endParaRPr lang="zh-CN" altLang="en-US" sz="1600"/>
                </a:p>
              </p:txBody>
            </p:sp>
          </p:grpSp>
          <p:sp>
            <p:nvSpPr>
              <p:cNvPr id="78878" name="Line 37"/>
              <p:cNvSpPr>
                <a:spLocks noChangeShapeType="1"/>
              </p:cNvSpPr>
              <p:nvPr/>
            </p:nvSpPr>
            <p:spPr bwMode="auto">
              <a:xfrm flipH="1">
                <a:off x="3002" y="2376"/>
                <a:ext cx="238" cy="0"/>
              </a:xfrm>
              <a:prstGeom prst="line">
                <a:avLst/>
              </a:prstGeom>
              <a:noFill/>
              <a:ln w="28575">
                <a:solidFill>
                  <a:schemeClr val="tx1"/>
                </a:solidFill>
                <a:round/>
                <a:tailEnd type="triangle" w="sm" len="med"/>
              </a:ln>
            </p:spPr>
            <p:txBody>
              <a:bodyPr wrap="none" lIns="0" tIns="0" rIns="0" bIns="0" anchor="ctr"/>
              <a:lstStyle/>
              <a:p>
                <a:endParaRPr lang="zh-CN" altLang="en-US" sz="1600"/>
              </a:p>
            </p:txBody>
          </p:sp>
        </p:grpSp>
        <p:grpSp>
          <p:nvGrpSpPr>
            <p:cNvPr id="12" name="Group 38"/>
            <p:cNvGrpSpPr/>
            <p:nvPr/>
          </p:nvGrpSpPr>
          <p:grpSpPr bwMode="auto">
            <a:xfrm>
              <a:off x="4149" y="309"/>
              <a:ext cx="905" cy="330"/>
              <a:chOff x="3362" y="1892"/>
              <a:chExt cx="2218" cy="640"/>
            </a:xfrm>
          </p:grpSpPr>
          <p:grpSp>
            <p:nvGrpSpPr>
              <p:cNvPr id="13" name="Group 39"/>
              <p:cNvGrpSpPr/>
              <p:nvPr/>
            </p:nvGrpSpPr>
            <p:grpSpPr bwMode="auto">
              <a:xfrm>
                <a:off x="3780" y="2064"/>
                <a:ext cx="1440" cy="468"/>
                <a:chOff x="3780" y="2064"/>
                <a:chExt cx="1440" cy="468"/>
              </a:xfrm>
            </p:grpSpPr>
            <p:sp>
              <p:nvSpPr>
                <p:cNvPr id="78873" name="Arc 40"/>
                <p:cNvSpPr/>
                <p:nvPr/>
              </p:nvSpPr>
              <p:spPr bwMode="auto">
                <a:xfrm flipV="1">
                  <a:off x="4500" y="2064"/>
                  <a:ext cx="720" cy="4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tailEnd type="none" w="sm" len="med"/>
                </a:ln>
              </p:spPr>
              <p:txBody>
                <a:bodyPr wrap="none" lIns="0" tIns="0" rIns="0" bIns="0" anchor="ctr"/>
                <a:lstStyle/>
                <a:p>
                  <a:endParaRPr lang="zh-CN" altLang="en-US" sz="1600"/>
                </a:p>
              </p:txBody>
            </p:sp>
            <p:sp>
              <p:nvSpPr>
                <p:cNvPr id="78874" name="Arc 41"/>
                <p:cNvSpPr/>
                <p:nvPr/>
              </p:nvSpPr>
              <p:spPr bwMode="auto">
                <a:xfrm flipH="1" flipV="1">
                  <a:off x="3780" y="2064"/>
                  <a:ext cx="720" cy="4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tailEnd type="none" w="sm" len="med"/>
                </a:ln>
              </p:spPr>
              <p:txBody>
                <a:bodyPr wrap="none" lIns="0" tIns="0" rIns="0" bIns="0" anchor="ctr"/>
                <a:lstStyle/>
                <a:p>
                  <a:endParaRPr lang="zh-CN" altLang="en-US" sz="1600"/>
                </a:p>
              </p:txBody>
            </p:sp>
            <p:sp>
              <p:nvSpPr>
                <p:cNvPr id="78875" name="Line 42"/>
                <p:cNvSpPr>
                  <a:spLocks noChangeShapeType="1"/>
                </p:cNvSpPr>
                <p:nvPr/>
              </p:nvSpPr>
              <p:spPr bwMode="auto">
                <a:xfrm>
                  <a:off x="3780" y="2064"/>
                  <a:ext cx="1440" cy="0"/>
                </a:xfrm>
                <a:prstGeom prst="line">
                  <a:avLst/>
                </a:prstGeom>
                <a:noFill/>
                <a:ln w="28575">
                  <a:solidFill>
                    <a:schemeClr val="tx1"/>
                  </a:solidFill>
                  <a:round/>
                  <a:tailEnd type="none" w="sm" len="med"/>
                </a:ln>
              </p:spPr>
              <p:txBody>
                <a:bodyPr wrap="none" lIns="0" tIns="0" rIns="0" bIns="0" anchor="ctr"/>
                <a:lstStyle/>
                <a:p>
                  <a:endParaRPr lang="zh-CN" altLang="en-US" sz="1600"/>
                </a:p>
              </p:txBody>
            </p:sp>
          </p:grpSp>
          <p:grpSp>
            <p:nvGrpSpPr>
              <p:cNvPr id="14" name="Group 43"/>
              <p:cNvGrpSpPr/>
              <p:nvPr/>
            </p:nvGrpSpPr>
            <p:grpSpPr bwMode="auto">
              <a:xfrm>
                <a:off x="4500" y="1911"/>
                <a:ext cx="1080" cy="326"/>
                <a:chOff x="4500" y="1908"/>
                <a:chExt cx="1080" cy="326"/>
              </a:xfrm>
            </p:grpSpPr>
            <p:sp>
              <p:nvSpPr>
                <p:cNvPr id="78871" name="Freeform 44"/>
                <p:cNvSpPr/>
                <p:nvPr/>
              </p:nvSpPr>
              <p:spPr bwMode="auto">
                <a:xfrm>
                  <a:off x="4500" y="1909"/>
                  <a:ext cx="825" cy="325"/>
                </a:xfrm>
                <a:custGeom>
                  <a:avLst/>
                  <a:gdLst>
                    <a:gd name="T0" fmla="*/ 0 w 825"/>
                    <a:gd name="T1" fmla="*/ 325 h 325"/>
                    <a:gd name="T2" fmla="*/ 339 w 825"/>
                    <a:gd name="T3" fmla="*/ 100 h 325"/>
                    <a:gd name="T4" fmla="*/ 573 w 825"/>
                    <a:gd name="T5" fmla="*/ 33 h 325"/>
                    <a:gd name="T6" fmla="*/ 825 w 825"/>
                    <a:gd name="T7" fmla="*/ 0 h 325"/>
                    <a:gd name="T8" fmla="*/ 0 60000 65536"/>
                    <a:gd name="T9" fmla="*/ 0 60000 65536"/>
                    <a:gd name="T10" fmla="*/ 0 60000 65536"/>
                    <a:gd name="T11" fmla="*/ 0 60000 65536"/>
                    <a:gd name="T12" fmla="*/ 0 w 825"/>
                    <a:gd name="T13" fmla="*/ 0 h 325"/>
                    <a:gd name="T14" fmla="*/ 825 w 825"/>
                    <a:gd name="T15" fmla="*/ 325 h 325"/>
                  </a:gdLst>
                  <a:ahLst/>
                  <a:cxnLst>
                    <a:cxn ang="T8">
                      <a:pos x="T0" y="T1"/>
                    </a:cxn>
                    <a:cxn ang="T9">
                      <a:pos x="T2" y="T3"/>
                    </a:cxn>
                    <a:cxn ang="T10">
                      <a:pos x="T4" y="T5"/>
                    </a:cxn>
                    <a:cxn ang="T11">
                      <a:pos x="T6" y="T7"/>
                    </a:cxn>
                  </a:cxnLst>
                  <a:rect l="T12" t="T13" r="T14" b="T15"/>
                  <a:pathLst>
                    <a:path w="825" h="325">
                      <a:moveTo>
                        <a:pt x="0" y="325"/>
                      </a:moveTo>
                      <a:cubicBezTo>
                        <a:pt x="56" y="288"/>
                        <a:pt x="243" y="149"/>
                        <a:pt x="339" y="100"/>
                      </a:cubicBezTo>
                      <a:cubicBezTo>
                        <a:pt x="435" y="51"/>
                        <a:pt x="492" y="50"/>
                        <a:pt x="573" y="33"/>
                      </a:cubicBezTo>
                      <a:cubicBezTo>
                        <a:pt x="654" y="16"/>
                        <a:pt x="772" y="7"/>
                        <a:pt x="825" y="0"/>
                      </a:cubicBezTo>
                    </a:path>
                  </a:pathLst>
                </a:custGeom>
                <a:noFill/>
                <a:ln w="28575">
                  <a:solidFill>
                    <a:schemeClr val="tx1"/>
                  </a:solidFill>
                  <a:round/>
                  <a:tailEnd type="none" w="sm" len="med"/>
                </a:ln>
              </p:spPr>
              <p:txBody>
                <a:bodyPr wrap="none" lIns="0" tIns="0" rIns="0" bIns="0" anchor="ctr"/>
                <a:lstStyle/>
                <a:p>
                  <a:endParaRPr lang="zh-CN" altLang="en-US" sz="1600"/>
                </a:p>
              </p:txBody>
            </p:sp>
            <p:sp>
              <p:nvSpPr>
                <p:cNvPr id="78872" name="Line 45"/>
                <p:cNvSpPr>
                  <a:spLocks noChangeShapeType="1"/>
                </p:cNvSpPr>
                <p:nvPr/>
              </p:nvSpPr>
              <p:spPr bwMode="auto">
                <a:xfrm>
                  <a:off x="5220" y="1908"/>
                  <a:ext cx="360" cy="0"/>
                </a:xfrm>
                <a:prstGeom prst="line">
                  <a:avLst/>
                </a:prstGeom>
                <a:noFill/>
                <a:ln w="28575">
                  <a:solidFill>
                    <a:schemeClr val="tx1"/>
                  </a:solidFill>
                  <a:round/>
                  <a:tailEnd type="triangle" w="sm" len="med"/>
                </a:ln>
              </p:spPr>
              <p:txBody>
                <a:bodyPr wrap="none" lIns="0" tIns="0" rIns="0" bIns="0" anchor="ctr"/>
                <a:lstStyle/>
                <a:p>
                  <a:endParaRPr lang="zh-CN" altLang="en-US" sz="1600"/>
                </a:p>
              </p:txBody>
            </p:sp>
          </p:grpSp>
          <p:grpSp>
            <p:nvGrpSpPr>
              <p:cNvPr id="15" name="Group 46"/>
              <p:cNvGrpSpPr/>
              <p:nvPr/>
            </p:nvGrpSpPr>
            <p:grpSpPr bwMode="auto">
              <a:xfrm>
                <a:off x="3362" y="1892"/>
                <a:ext cx="1141" cy="329"/>
                <a:chOff x="3362" y="1892"/>
                <a:chExt cx="1141" cy="329"/>
              </a:xfrm>
            </p:grpSpPr>
            <p:sp>
              <p:nvSpPr>
                <p:cNvPr id="78869" name="Freeform 47"/>
                <p:cNvSpPr/>
                <p:nvPr/>
              </p:nvSpPr>
              <p:spPr bwMode="auto">
                <a:xfrm>
                  <a:off x="3420" y="1892"/>
                  <a:ext cx="1083" cy="329"/>
                </a:xfrm>
                <a:custGeom>
                  <a:avLst/>
                  <a:gdLst>
                    <a:gd name="T0" fmla="*/ 2531 w 816"/>
                    <a:gd name="T1" fmla="*/ 292 h 342"/>
                    <a:gd name="T2" fmla="*/ 1765 w 816"/>
                    <a:gd name="T3" fmla="*/ 144 h 342"/>
                    <a:gd name="T4" fmla="*/ 881 w 816"/>
                    <a:gd name="T5" fmla="*/ 30 h 342"/>
                    <a:gd name="T6" fmla="*/ 0 w 816"/>
                    <a:gd name="T7" fmla="*/ 0 h 342"/>
                    <a:gd name="T8" fmla="*/ 0 60000 65536"/>
                    <a:gd name="T9" fmla="*/ 0 60000 65536"/>
                    <a:gd name="T10" fmla="*/ 0 60000 65536"/>
                    <a:gd name="T11" fmla="*/ 0 60000 65536"/>
                    <a:gd name="T12" fmla="*/ 0 w 816"/>
                    <a:gd name="T13" fmla="*/ 0 h 342"/>
                    <a:gd name="T14" fmla="*/ 816 w 816"/>
                    <a:gd name="T15" fmla="*/ 342 h 342"/>
                  </a:gdLst>
                  <a:ahLst/>
                  <a:cxnLst>
                    <a:cxn ang="T8">
                      <a:pos x="T0" y="T1"/>
                    </a:cxn>
                    <a:cxn ang="T9">
                      <a:pos x="T2" y="T3"/>
                    </a:cxn>
                    <a:cxn ang="T10">
                      <a:pos x="T4" y="T5"/>
                    </a:cxn>
                    <a:cxn ang="T11">
                      <a:pos x="T6" y="T7"/>
                    </a:cxn>
                  </a:cxnLst>
                  <a:rect l="T12" t="T13" r="T14" b="T15"/>
                  <a:pathLst>
                    <a:path w="816" h="342">
                      <a:moveTo>
                        <a:pt x="816" y="342"/>
                      </a:moveTo>
                      <a:cubicBezTo>
                        <a:pt x="775" y="313"/>
                        <a:pt x="658" y="219"/>
                        <a:pt x="569" y="168"/>
                      </a:cubicBezTo>
                      <a:cubicBezTo>
                        <a:pt x="480" y="117"/>
                        <a:pt x="379" y="62"/>
                        <a:pt x="284" y="34"/>
                      </a:cubicBezTo>
                      <a:cubicBezTo>
                        <a:pt x="189" y="6"/>
                        <a:pt x="59" y="7"/>
                        <a:pt x="0" y="0"/>
                      </a:cubicBezTo>
                    </a:path>
                  </a:pathLst>
                </a:custGeom>
                <a:noFill/>
                <a:ln w="28575">
                  <a:solidFill>
                    <a:schemeClr val="tx1"/>
                  </a:solidFill>
                  <a:round/>
                  <a:tailEnd type="none" w="sm" len="med"/>
                </a:ln>
              </p:spPr>
              <p:txBody>
                <a:bodyPr wrap="none" lIns="0" tIns="0" rIns="0" bIns="0" anchor="ctr"/>
                <a:lstStyle/>
                <a:p>
                  <a:endParaRPr lang="zh-CN" altLang="en-US" sz="1600"/>
                </a:p>
              </p:txBody>
            </p:sp>
            <p:sp>
              <p:nvSpPr>
                <p:cNvPr id="78870" name="Line 48"/>
                <p:cNvSpPr>
                  <a:spLocks noChangeShapeType="1"/>
                </p:cNvSpPr>
                <p:nvPr/>
              </p:nvSpPr>
              <p:spPr bwMode="auto">
                <a:xfrm flipH="1">
                  <a:off x="3362" y="1908"/>
                  <a:ext cx="238" cy="0"/>
                </a:xfrm>
                <a:prstGeom prst="line">
                  <a:avLst/>
                </a:prstGeom>
                <a:noFill/>
                <a:ln w="28575">
                  <a:solidFill>
                    <a:schemeClr val="tx1"/>
                  </a:solidFill>
                  <a:round/>
                  <a:tailEnd type="triangle" w="sm" len="med"/>
                </a:ln>
              </p:spPr>
              <p:txBody>
                <a:bodyPr wrap="none" lIns="0" tIns="0" rIns="0" bIns="0" anchor="ctr"/>
                <a:lstStyle/>
                <a:p>
                  <a:endParaRPr lang="zh-CN" altLang="en-US" sz="1600"/>
                </a:p>
              </p:txBody>
            </p:sp>
          </p:grpSp>
        </p:grpSp>
        <p:sp>
          <p:nvSpPr>
            <p:cNvPr id="78861" name="Text Box 49"/>
            <p:cNvSpPr txBox="1">
              <a:spLocks noChangeArrowheads="1"/>
            </p:cNvSpPr>
            <p:nvPr/>
          </p:nvSpPr>
          <p:spPr bwMode="auto">
            <a:xfrm>
              <a:off x="4342" y="1366"/>
              <a:ext cx="534" cy="129"/>
            </a:xfrm>
            <a:prstGeom prst="rect">
              <a:avLst/>
            </a:prstGeom>
            <a:noFill/>
            <a:ln w="28575">
              <a:noFill/>
              <a:miter lim="800000"/>
            </a:ln>
          </p:spPr>
          <p:txBody>
            <a:bodyPr wrap="none" lIns="0" tIns="0" rIns="0" bIns="0" anchor="ctr"/>
            <a:lstStyle/>
            <a:p>
              <a:pPr algn="ctr" eaLnBrk="0" hangingPunct="0"/>
              <a:r>
                <a:rPr lang="zh-CN" altLang="en-US" sz="1600" b="1" dirty="0">
                  <a:solidFill>
                    <a:srgbClr val="FF0000"/>
                  </a:solidFill>
                </a:rPr>
                <a:t>分   析</a:t>
              </a:r>
              <a:endParaRPr lang="zh-CN" altLang="en-US" sz="1600" b="1" dirty="0">
                <a:solidFill>
                  <a:srgbClr val="FF0000"/>
                </a:solidFill>
              </a:endParaRPr>
            </a:p>
          </p:txBody>
        </p:sp>
        <p:sp>
          <p:nvSpPr>
            <p:cNvPr id="78862" name="Text Box 50"/>
            <p:cNvSpPr txBox="1">
              <a:spLocks noChangeArrowheads="1"/>
            </p:cNvSpPr>
            <p:nvPr/>
          </p:nvSpPr>
          <p:spPr bwMode="auto">
            <a:xfrm>
              <a:off x="4351" y="1013"/>
              <a:ext cx="504" cy="185"/>
            </a:xfrm>
            <a:prstGeom prst="rect">
              <a:avLst/>
            </a:prstGeom>
            <a:noFill/>
            <a:ln w="28575">
              <a:noFill/>
              <a:miter lim="800000"/>
            </a:ln>
          </p:spPr>
          <p:txBody>
            <a:bodyPr wrap="none" lIns="0" tIns="0" rIns="0" bIns="0" anchor="ctr"/>
            <a:lstStyle/>
            <a:p>
              <a:pPr algn="ctr" eaLnBrk="0" hangingPunct="0"/>
              <a:r>
                <a:rPr lang="zh-CN" altLang="en-US" sz="1600" b="1" dirty="0">
                  <a:solidFill>
                    <a:srgbClr val="FF0000"/>
                  </a:solidFill>
                </a:rPr>
                <a:t>系统 设计</a:t>
              </a:r>
              <a:endParaRPr lang="zh-CN" altLang="en-US" sz="1600" b="1" dirty="0">
                <a:solidFill>
                  <a:srgbClr val="FF0000"/>
                </a:solidFill>
              </a:endParaRPr>
            </a:p>
          </p:txBody>
        </p:sp>
        <p:sp>
          <p:nvSpPr>
            <p:cNvPr id="78863" name="Text Box 51"/>
            <p:cNvSpPr txBox="1">
              <a:spLocks noChangeArrowheads="1"/>
            </p:cNvSpPr>
            <p:nvPr/>
          </p:nvSpPr>
          <p:spPr bwMode="auto">
            <a:xfrm>
              <a:off x="4364" y="685"/>
              <a:ext cx="497" cy="174"/>
            </a:xfrm>
            <a:prstGeom prst="rect">
              <a:avLst/>
            </a:prstGeom>
            <a:noFill/>
            <a:ln w="28575">
              <a:noFill/>
              <a:miter lim="800000"/>
            </a:ln>
          </p:spPr>
          <p:txBody>
            <a:bodyPr wrap="none" lIns="0" tIns="0" rIns="0" bIns="0" anchor="ctr"/>
            <a:lstStyle/>
            <a:p>
              <a:pPr algn="ctr" eaLnBrk="0" hangingPunct="0"/>
              <a:r>
                <a:rPr lang="zh-CN" altLang="en-US" sz="1600" b="1" dirty="0">
                  <a:solidFill>
                    <a:srgbClr val="FF0000"/>
                  </a:solidFill>
                </a:rPr>
                <a:t>软件 设计</a:t>
              </a:r>
              <a:endParaRPr lang="zh-CN" altLang="en-US" sz="1600" b="1" dirty="0">
                <a:solidFill>
                  <a:srgbClr val="FF0000"/>
                </a:solidFill>
              </a:endParaRPr>
            </a:p>
          </p:txBody>
        </p:sp>
        <p:sp>
          <p:nvSpPr>
            <p:cNvPr id="78864" name="Text Box 52"/>
            <p:cNvSpPr txBox="1">
              <a:spLocks noChangeArrowheads="1"/>
            </p:cNvSpPr>
            <p:nvPr/>
          </p:nvSpPr>
          <p:spPr bwMode="auto">
            <a:xfrm>
              <a:off x="4373" y="401"/>
              <a:ext cx="482" cy="175"/>
            </a:xfrm>
            <a:prstGeom prst="rect">
              <a:avLst/>
            </a:prstGeom>
            <a:noFill/>
            <a:ln w="28575">
              <a:noFill/>
              <a:miter lim="800000"/>
            </a:ln>
          </p:spPr>
          <p:txBody>
            <a:bodyPr wrap="none" lIns="0" tIns="0" rIns="0" bIns="0" anchor="ctr"/>
            <a:lstStyle/>
            <a:p>
              <a:pPr algn="ctr" eaLnBrk="0" hangingPunct="0"/>
              <a:r>
                <a:rPr lang="zh-CN" altLang="en-US" sz="1600" b="1" dirty="0">
                  <a:solidFill>
                    <a:srgbClr val="FF0000"/>
                  </a:solidFill>
                </a:rPr>
                <a:t>实   现</a:t>
              </a:r>
              <a:endParaRPr lang="zh-CN" altLang="en-US" sz="1600" b="1" dirty="0">
                <a:solidFill>
                  <a:srgbClr val="FF0000"/>
                </a:solidFill>
              </a:endParaRPr>
            </a:p>
          </p:txBody>
        </p:sp>
        <p:sp>
          <p:nvSpPr>
            <p:cNvPr id="78865" name="Text Box 53"/>
            <p:cNvSpPr txBox="1">
              <a:spLocks noChangeArrowheads="1"/>
            </p:cNvSpPr>
            <p:nvPr/>
          </p:nvSpPr>
          <p:spPr bwMode="auto">
            <a:xfrm>
              <a:off x="4010" y="1699"/>
              <a:ext cx="1207" cy="200"/>
            </a:xfrm>
            <a:prstGeom prst="rect">
              <a:avLst/>
            </a:prstGeom>
            <a:noFill/>
            <a:ln w="28575">
              <a:noFill/>
              <a:miter lim="800000"/>
            </a:ln>
          </p:spPr>
          <p:txBody>
            <a:bodyPr wrap="none" lIns="0" tIns="0" rIns="0" bIns="0" anchor="ctr"/>
            <a:lstStyle/>
            <a:p>
              <a:pPr algn="ctr" eaLnBrk="0" hangingPunct="0"/>
              <a:r>
                <a:rPr lang="zh-CN" altLang="en-US" sz="1600" b="1" dirty="0">
                  <a:solidFill>
                    <a:srgbClr val="FF0000"/>
                  </a:solidFill>
                </a:rPr>
                <a:t>喷泉模型</a:t>
              </a:r>
              <a:endParaRPr lang="zh-CN" altLang="en-US" sz="1600" b="1" dirty="0">
                <a:solidFill>
                  <a:srgbClr val="FF0000"/>
                </a:solidFill>
              </a:endParaRPr>
            </a:p>
          </p:txBody>
        </p:sp>
      </p:grpSp>
      <p:sp>
        <p:nvSpPr>
          <p:cNvPr id="53302" name="Text Box 54"/>
          <p:cNvSpPr txBox="1">
            <a:spLocks noChangeArrowheads="1"/>
          </p:cNvSpPr>
          <p:nvPr/>
        </p:nvSpPr>
        <p:spPr bwMode="auto">
          <a:xfrm>
            <a:off x="1007183" y="807108"/>
            <a:ext cx="7982438" cy="830997"/>
          </a:xfrm>
          <a:prstGeom prst="rect">
            <a:avLst/>
          </a:prstGeom>
          <a:noFill/>
          <a:ln w="9525">
            <a:noFill/>
            <a:miter lim="800000"/>
          </a:ln>
        </p:spPr>
        <p:txBody>
          <a:bodyPr wrap="square">
            <a:spAutoFit/>
          </a:bodyPr>
          <a:lstStyle/>
          <a:p>
            <a:pPr>
              <a:spcBef>
                <a:spcPct val="50000"/>
              </a:spcBef>
            </a:pPr>
            <a:r>
              <a:rPr kumimoji="1" lang="zh-CN" altLang="en-US" sz="2400" dirty="0">
                <a:latin typeface="+mj-ea"/>
                <a:ea typeface="+mj-ea"/>
              </a:rPr>
              <a:t>　　该模型是由</a:t>
            </a:r>
            <a:r>
              <a:rPr kumimoji="1" lang="en-US" altLang="zh-CN" sz="2400" dirty="0" err="1">
                <a:latin typeface="+mj-ea"/>
                <a:ea typeface="+mj-ea"/>
              </a:rPr>
              <a:t>B.H.Sollers</a:t>
            </a:r>
            <a:r>
              <a:rPr kumimoji="1" lang="zh-CN" altLang="en-US" sz="2400" dirty="0">
                <a:latin typeface="+mj-ea"/>
                <a:ea typeface="+mj-ea"/>
              </a:rPr>
              <a:t>和</a:t>
            </a:r>
            <a:r>
              <a:rPr kumimoji="1" lang="en-US" altLang="zh-CN" sz="2400" dirty="0" err="1">
                <a:latin typeface="+mj-ea"/>
                <a:ea typeface="+mj-ea"/>
              </a:rPr>
              <a:t>J.M.Edwards</a:t>
            </a:r>
            <a:r>
              <a:rPr kumimoji="1" lang="zh-CN" altLang="en-US" sz="2400" dirty="0">
                <a:latin typeface="+mj-ea"/>
                <a:ea typeface="+mj-ea"/>
              </a:rPr>
              <a:t>于</a:t>
            </a:r>
            <a:r>
              <a:rPr kumimoji="1" lang="en-US" altLang="zh-CN" sz="2400" dirty="0">
                <a:latin typeface="+mj-ea"/>
                <a:ea typeface="+mj-ea"/>
              </a:rPr>
              <a:t>1990</a:t>
            </a:r>
            <a:r>
              <a:rPr kumimoji="1" lang="zh-CN" altLang="en-US" sz="2400" dirty="0">
                <a:latin typeface="+mj-ea"/>
                <a:ea typeface="+mj-ea"/>
              </a:rPr>
              <a:t>年提出的一种新的开发模型。</a:t>
            </a:r>
            <a:endParaRPr kumimoji="1" lang="zh-CN" altLang="en-US" sz="2400" dirty="0">
              <a:latin typeface="+mj-ea"/>
              <a:ea typeface="+mj-ea"/>
            </a:endParaRPr>
          </a:p>
        </p:txBody>
      </p:sp>
      <p:sp>
        <p:nvSpPr>
          <p:cNvPr id="53303" name="Text Box 55"/>
          <p:cNvSpPr txBox="1">
            <a:spLocks noChangeArrowheads="1"/>
          </p:cNvSpPr>
          <p:nvPr/>
        </p:nvSpPr>
        <p:spPr bwMode="auto">
          <a:xfrm>
            <a:off x="381991" y="1514994"/>
            <a:ext cx="6159868" cy="3170099"/>
          </a:xfrm>
          <a:prstGeom prst="rect">
            <a:avLst/>
          </a:prstGeom>
          <a:noFill/>
          <a:ln w="9525">
            <a:noFill/>
            <a:miter lim="800000"/>
          </a:ln>
        </p:spPr>
        <p:txBody>
          <a:bodyPr wrap="square">
            <a:spAutoFit/>
          </a:bodyPr>
          <a:lstStyle/>
          <a:p>
            <a:pPr>
              <a:spcBef>
                <a:spcPct val="20000"/>
              </a:spcBef>
            </a:pPr>
            <a:r>
              <a:rPr kumimoji="1" lang="zh-CN" altLang="en-US" sz="2000" dirty="0">
                <a:solidFill>
                  <a:srgbClr val="FF0000"/>
                </a:solidFill>
                <a:latin typeface="+mj-ea"/>
                <a:ea typeface="+mj-ea"/>
              </a:rPr>
              <a:t>其特点如下： </a:t>
            </a:r>
            <a:endParaRPr kumimoji="1" lang="zh-CN" altLang="en-US" sz="2000" dirty="0">
              <a:solidFill>
                <a:srgbClr val="FF0000"/>
              </a:solidFill>
              <a:latin typeface="+mj-ea"/>
              <a:ea typeface="+mj-ea"/>
            </a:endParaRPr>
          </a:p>
          <a:p>
            <a:pPr>
              <a:spcBef>
                <a:spcPct val="20000"/>
              </a:spcBef>
            </a:pPr>
            <a:r>
              <a:rPr kumimoji="1" lang="zh-CN" altLang="en-US" sz="2000" dirty="0">
                <a:latin typeface="+mj-ea"/>
                <a:ea typeface="+mj-ea"/>
              </a:rPr>
              <a:t>１</a:t>
            </a:r>
            <a:r>
              <a:rPr kumimoji="1" lang="en-US" altLang="zh-CN" sz="2000" dirty="0">
                <a:latin typeface="+mj-ea"/>
                <a:ea typeface="+mj-ea"/>
              </a:rPr>
              <a:t>. </a:t>
            </a:r>
            <a:r>
              <a:rPr kumimoji="1" lang="zh-CN" altLang="en-US" sz="2000" dirty="0">
                <a:latin typeface="+mj-ea"/>
                <a:ea typeface="+mj-ea"/>
              </a:rPr>
              <a:t>开发过程有分析、系统设计、软件设计和实现</a:t>
            </a:r>
            <a:r>
              <a:rPr kumimoji="1" lang="en-US" altLang="zh-CN" sz="2000" dirty="0">
                <a:latin typeface="+mj-ea"/>
                <a:ea typeface="+mj-ea"/>
              </a:rPr>
              <a:t>4</a:t>
            </a:r>
            <a:r>
              <a:rPr kumimoji="1" lang="zh-CN" altLang="en-US" sz="2000" dirty="0">
                <a:latin typeface="+mj-ea"/>
                <a:ea typeface="+mj-ea"/>
              </a:rPr>
              <a:t>个阶段。</a:t>
            </a:r>
            <a:endParaRPr kumimoji="1" lang="zh-CN" altLang="en-US" sz="2000" dirty="0">
              <a:latin typeface="+mj-ea"/>
              <a:ea typeface="+mj-ea"/>
            </a:endParaRPr>
          </a:p>
          <a:p>
            <a:pPr>
              <a:spcBef>
                <a:spcPct val="20000"/>
              </a:spcBef>
            </a:pPr>
            <a:r>
              <a:rPr kumimoji="1" lang="zh-CN" altLang="en-US" sz="2000" dirty="0">
                <a:latin typeface="+mj-ea"/>
                <a:ea typeface="+mj-ea"/>
              </a:rPr>
              <a:t>２</a:t>
            </a:r>
            <a:r>
              <a:rPr kumimoji="1" lang="en-US" altLang="zh-CN" sz="2000" dirty="0">
                <a:latin typeface="+mj-ea"/>
                <a:ea typeface="+mj-ea"/>
              </a:rPr>
              <a:t>.</a:t>
            </a:r>
            <a:r>
              <a:rPr kumimoji="1" lang="zh-CN" altLang="en-US" sz="2000" dirty="0">
                <a:latin typeface="+mj-ea"/>
                <a:ea typeface="+mj-ea"/>
              </a:rPr>
              <a:t>各阶段相互重叠，它反映了软件过程并行性的特点。 </a:t>
            </a:r>
            <a:endParaRPr kumimoji="1" lang="zh-CN" altLang="en-US" sz="2000" dirty="0">
              <a:latin typeface="+mj-ea"/>
              <a:ea typeface="+mj-ea"/>
            </a:endParaRPr>
          </a:p>
          <a:p>
            <a:pPr>
              <a:spcBef>
                <a:spcPct val="20000"/>
              </a:spcBef>
            </a:pPr>
            <a:r>
              <a:rPr kumimoji="1" lang="zh-CN" altLang="en-US" sz="2000" dirty="0">
                <a:latin typeface="+mj-ea"/>
                <a:ea typeface="+mj-ea"/>
              </a:rPr>
              <a:t>３</a:t>
            </a:r>
            <a:r>
              <a:rPr kumimoji="1" lang="en-US" altLang="zh-CN" sz="2000" dirty="0">
                <a:latin typeface="+mj-ea"/>
                <a:ea typeface="+mj-ea"/>
              </a:rPr>
              <a:t>.</a:t>
            </a:r>
            <a:r>
              <a:rPr kumimoji="1" lang="zh-CN" altLang="en-US" sz="2000" dirty="0">
                <a:latin typeface="+mj-ea"/>
                <a:ea typeface="+mj-ea"/>
              </a:rPr>
              <a:t>以分析为基础，资源消耗成塔型。</a:t>
            </a:r>
            <a:endParaRPr kumimoji="1" lang="zh-CN" altLang="en-US" sz="2000" dirty="0">
              <a:latin typeface="+mj-ea"/>
              <a:ea typeface="+mj-ea"/>
            </a:endParaRPr>
          </a:p>
          <a:p>
            <a:pPr>
              <a:spcBef>
                <a:spcPct val="20000"/>
              </a:spcBef>
            </a:pPr>
            <a:r>
              <a:rPr kumimoji="1" lang="zh-CN" altLang="en-US" sz="2000" dirty="0">
                <a:latin typeface="+mj-ea"/>
                <a:ea typeface="+mj-ea"/>
              </a:rPr>
              <a:t>４</a:t>
            </a:r>
            <a:r>
              <a:rPr kumimoji="1" lang="en-US" altLang="zh-CN" sz="2000" dirty="0">
                <a:latin typeface="+mj-ea"/>
                <a:ea typeface="+mj-ea"/>
              </a:rPr>
              <a:t>.</a:t>
            </a:r>
            <a:r>
              <a:rPr kumimoji="1" lang="zh-CN" altLang="en-US" sz="2000" dirty="0">
                <a:latin typeface="+mj-ea"/>
                <a:ea typeface="+mj-ea"/>
              </a:rPr>
              <a:t>反映了软件过程</a:t>
            </a:r>
            <a:r>
              <a:rPr kumimoji="1" lang="zh-CN" altLang="en-US" sz="2000" dirty="0">
                <a:solidFill>
                  <a:srgbClr val="FF0000"/>
                </a:solidFill>
                <a:latin typeface="+mj-ea"/>
                <a:ea typeface="+mj-ea"/>
              </a:rPr>
              <a:t>迭代性</a:t>
            </a:r>
            <a:r>
              <a:rPr kumimoji="1" lang="zh-CN" altLang="en-US" sz="2000" dirty="0">
                <a:latin typeface="+mj-ea"/>
                <a:ea typeface="+mj-ea"/>
              </a:rPr>
              <a:t>的自然特性，从高层返回低层无资源消耗。 </a:t>
            </a:r>
            <a:endParaRPr kumimoji="1" lang="zh-CN" altLang="en-US" sz="2000" dirty="0">
              <a:latin typeface="+mj-ea"/>
              <a:ea typeface="+mj-ea"/>
            </a:endParaRPr>
          </a:p>
          <a:p>
            <a:pPr>
              <a:spcBef>
                <a:spcPct val="20000"/>
              </a:spcBef>
            </a:pPr>
            <a:r>
              <a:rPr kumimoji="1" lang="zh-CN" altLang="en-US" sz="2000" dirty="0">
                <a:latin typeface="+mj-ea"/>
                <a:ea typeface="+mj-ea"/>
              </a:rPr>
              <a:t>５</a:t>
            </a:r>
            <a:r>
              <a:rPr kumimoji="1" lang="en-US" altLang="zh-CN" sz="2000" dirty="0">
                <a:latin typeface="+mj-ea"/>
                <a:ea typeface="+mj-ea"/>
              </a:rPr>
              <a:t>.</a:t>
            </a:r>
            <a:r>
              <a:rPr kumimoji="1" lang="zh-CN" altLang="en-US" sz="2000" dirty="0">
                <a:latin typeface="+mj-ea"/>
                <a:ea typeface="+mj-ea"/>
              </a:rPr>
              <a:t>强调增量开发，整个过程是一个迭代的逐步提炼的过程。  </a:t>
            </a:r>
            <a:endParaRPr kumimoji="1" lang="zh-CN" altLang="en-US" sz="2000" dirty="0">
              <a:latin typeface="+mj-ea"/>
              <a:ea typeface="+mj-ea"/>
            </a:endParaRPr>
          </a:p>
        </p:txBody>
      </p:sp>
      <p:sp>
        <p:nvSpPr>
          <p:cNvPr id="16" name="标题 15"/>
          <p:cNvSpPr>
            <a:spLocks noGrp="1"/>
          </p:cNvSpPr>
          <p:nvPr>
            <p:ph type="title"/>
          </p:nvPr>
        </p:nvSpPr>
        <p:spPr/>
        <p:txBody>
          <a:bodyPr/>
          <a:lstStyle/>
          <a:p>
            <a:r>
              <a:rPr lang="zh-CN" altLang="en-US" dirty="0"/>
              <a:t>喷泉模型</a:t>
            </a:r>
            <a:endParaRPr lang="zh-CN" altLang="en-US" dirty="0"/>
          </a:p>
        </p:txBody>
      </p:sp>
      <p:sp>
        <p:nvSpPr>
          <p:cNvPr id="18" name="灯片编号占位符 17"/>
          <p:cNvSpPr>
            <a:spLocks noGrp="1"/>
          </p:cNvSpPr>
          <p:nvPr>
            <p:ph type="sldNum" sz="quarter" idx="12"/>
          </p:nvPr>
        </p:nvSpPr>
        <p:spPr/>
        <p:txBody>
          <a:bodyPr/>
          <a:lstStyle/>
          <a:p>
            <a:fld id="{47CA9980-A6FB-42C0-B5E8-AA033557BCE0}" type="slidenum">
              <a:rPr lang="ko-KR" altLang="en-US" smtClean="0"/>
            </a:fld>
            <a:endParaRPr lang="en-US" altLang="ko-KR"/>
          </a:p>
        </p:txBody>
      </p:sp>
      <p:sp>
        <p:nvSpPr>
          <p:cNvPr id="17" name="日期占位符 16"/>
          <p:cNvSpPr>
            <a:spLocks noGrp="1"/>
          </p:cNvSpPr>
          <p:nvPr>
            <p:ph type="dt" sz="half" idx="10"/>
          </p:nvPr>
        </p:nvSpPr>
        <p:spPr/>
        <p:txBody>
          <a:bodyPr/>
          <a:lstStyle/>
          <a:p>
            <a:fld id="{5CD6DFCF-AE0E-4175-80E2-74E9CBB205FA}" type="datetime1">
              <a:rPr lang="zh-CN" altLang="en-US" smtClean="0"/>
            </a:fld>
            <a:endParaRPr lang="zh-CN" altLang="en-US"/>
          </a:p>
        </p:txBody>
      </p:sp>
      <p:sp>
        <p:nvSpPr>
          <p:cNvPr id="19" name="页脚占位符 18"/>
          <p:cNvSpPr>
            <a:spLocks noGrp="1"/>
          </p:cNvSpPr>
          <p:nvPr>
            <p:ph type="ftr" sz="quarter" idx="11"/>
          </p:nvPr>
        </p:nvSpPr>
        <p:spPr/>
        <p:txBody>
          <a:bodyPr/>
          <a:lstStyle/>
          <a:p>
            <a:r>
              <a:rPr lang="zh-CN" altLang="en-US"/>
              <a:t>软件工程</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3302"/>
                                        </p:tgtEl>
                                        <p:attrNameLst>
                                          <p:attrName>style.visibility</p:attrName>
                                        </p:attrNameLst>
                                      </p:cBhvr>
                                      <p:to>
                                        <p:strVal val="visible"/>
                                      </p:to>
                                    </p:set>
                                    <p:animEffect transition="in" filter="wipe(up)">
                                      <p:cBhvr>
                                        <p:cTn id="7" dur="500"/>
                                        <p:tgtEl>
                                          <p:spTgt spid="53302"/>
                                        </p:tgtEl>
                                      </p:cBhvr>
                                    </p:animEffect>
                                  </p:childTnLst>
                                </p:cTn>
                              </p:par>
                            </p:childTnLst>
                          </p:cTn>
                        </p:par>
                        <p:par>
                          <p:cTn id="8" fill="hold">
                            <p:stCondLst>
                              <p:cond delay="500"/>
                            </p:stCondLst>
                            <p:childTnLst>
                              <p:par>
                                <p:cTn id="9" presetID="1" presetClass="entr" presetSubtype="0" fill="hold" nodeType="afterEffect">
                                  <p:stCondLst>
                                    <p:cond delay="500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53303"/>
                                        </p:tgtEl>
                                        <p:attrNameLst>
                                          <p:attrName>style.visibility</p:attrName>
                                        </p:attrNameLst>
                                      </p:cBhvr>
                                      <p:to>
                                        <p:strVal val="visible"/>
                                      </p:to>
                                    </p:set>
                                    <p:animEffect transition="in" filter="wipe(up)">
                                      <p:cBhvr>
                                        <p:cTn id="15" dur="500"/>
                                        <p:tgtEl>
                                          <p:spTgt spid="53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02" grpId="0" autoUpdateAnimBg="0"/>
      <p:bldP spid="53303" grpId="0"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4995C147-4050-4262-8F98-64E9A1E2F7EE}"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文本框 6"/>
          <p:cNvSpPr txBox="1"/>
          <p:nvPr>
            <p:custDataLst>
              <p:tags r:id="rId1"/>
            </p:custDataLst>
          </p:nvPr>
        </p:nvSpPr>
        <p:spPr>
          <a:xfrm>
            <a:off x="914400" y="635000"/>
            <a:ext cx="8037195" cy="1680845"/>
          </a:xfrm>
          <a:prstGeom prst="rect">
            <a:avLst/>
          </a:prstGeom>
          <a:noFill/>
        </p:spPr>
        <p:txBody>
          <a:bodyPr wrap="square" rtlCol="0" anchor="ctr" anchorCtr="0">
            <a:noAutofit/>
          </a:bodyPr>
          <a:lstStyle/>
          <a:p>
            <a:pPr lvl="0" algn="l">
              <a:buNone/>
            </a:pPr>
            <a:r>
              <a:rPr lang="zh-CN" altLang="en-US" sz="2200" dirty="0">
                <a:sym typeface="+mn-ea"/>
              </a:rPr>
              <a:t>某企业拟开发一个企业信息管理系统，系统功能与多个部门的业务相关。现希望该系统能够尽快投入使用，系统功能可以在使用过程中不断改善。则最适宜采用的软件过程模型为（ ）。</a:t>
            </a:r>
            <a:endParaRPr lang="zh-CN" altLang="en-US" sz="2200" dirty="0"/>
          </a:p>
          <a:p>
            <a:pPr lvl="0" algn="l">
              <a:buNone/>
            </a:pPr>
            <a:endParaRPr lang="zh-CN" altLang="en-US" sz="2200" dirty="0">
              <a:solidFill>
                <a:srgbClr val="000000"/>
              </a:solidFill>
              <a:latin typeface="微软雅黑" panose="020B0503020204020204" pitchFamily="34" charset="-122"/>
              <a:ea typeface="微软雅黑" panose="020B0503020204020204" pitchFamily="34" charset="-122"/>
            </a:endParaRPr>
          </a:p>
        </p:txBody>
      </p:sp>
      <p:sp>
        <p:nvSpPr>
          <p:cNvPr id="8" name="文本框 7"/>
          <p:cNvSpPr txBox="1"/>
          <p:nvPr>
            <p:custDataLst>
              <p:tags r:id="rId2"/>
            </p:custDataLst>
          </p:nvPr>
        </p:nvSpPr>
        <p:spPr>
          <a:xfrm>
            <a:off x="1828800" y="2089150"/>
            <a:ext cx="6400800" cy="481965"/>
          </a:xfrm>
          <a:prstGeom prst="rect">
            <a:avLst/>
          </a:prstGeom>
          <a:noFill/>
        </p:spPr>
        <p:txBody>
          <a:bodyPr wrap="square" rtlCol="0" anchor="ctr" anchorCtr="0">
            <a:noAutofit/>
          </a:bodyPr>
          <a:lstStyle/>
          <a:p>
            <a:pPr lvl="0" algn="l">
              <a:buNone/>
            </a:pPr>
            <a:r>
              <a:rPr lang="zh-CN" altLang="en-US" sz="2600" dirty="0">
                <a:sym typeface="+mn-ea"/>
              </a:rPr>
              <a:t>瀑布模型</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3"/>
            </p:custDataLst>
          </p:nvPr>
        </p:nvSpPr>
        <p:spPr>
          <a:xfrm>
            <a:off x="1828800" y="2732405"/>
            <a:ext cx="6400800" cy="481965"/>
          </a:xfrm>
          <a:prstGeom prst="rect">
            <a:avLst/>
          </a:prstGeom>
          <a:noFill/>
        </p:spPr>
        <p:txBody>
          <a:bodyPr wrap="square" rtlCol="0" anchor="ctr" anchorCtr="0">
            <a:noAutofit/>
          </a:bodyPr>
          <a:lstStyle/>
          <a:p>
            <a:pPr lvl="0" algn="l">
              <a:buNone/>
            </a:pPr>
            <a:r>
              <a:rPr lang="zh-CN" altLang="en-US" sz="2600" dirty="0">
                <a:sym typeface="+mn-ea"/>
              </a:rPr>
              <a:t>原型模型</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4"/>
            </p:custDataLst>
          </p:nvPr>
        </p:nvSpPr>
        <p:spPr>
          <a:xfrm>
            <a:off x="1828800" y="3375025"/>
            <a:ext cx="6400800" cy="481965"/>
          </a:xfrm>
          <a:prstGeom prst="rect">
            <a:avLst/>
          </a:prstGeom>
          <a:noFill/>
        </p:spPr>
        <p:txBody>
          <a:bodyPr wrap="square" rtlCol="0" anchor="ctr" anchorCtr="0">
            <a:noAutofit/>
          </a:bodyPr>
          <a:lstStyle/>
          <a:p>
            <a:pPr lvl="0" algn="l">
              <a:buNone/>
            </a:pPr>
            <a:r>
              <a:rPr lang="zh-CN" altLang="en-US" sz="2600" dirty="0">
                <a:sym typeface="+mn-ea"/>
              </a:rPr>
              <a:t>演化（迭代）模型</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1" name="文本框 10"/>
          <p:cNvSpPr txBox="1"/>
          <p:nvPr>
            <p:custDataLst>
              <p:tags r:id="rId5"/>
            </p:custDataLst>
          </p:nvPr>
        </p:nvSpPr>
        <p:spPr>
          <a:xfrm>
            <a:off x="1828800" y="4018280"/>
            <a:ext cx="6400800" cy="481965"/>
          </a:xfrm>
          <a:prstGeom prst="rect">
            <a:avLst/>
          </a:prstGeom>
          <a:noFill/>
        </p:spPr>
        <p:txBody>
          <a:bodyPr wrap="square" rtlCol="0" anchor="ctr" anchorCtr="0">
            <a:noAutofit/>
          </a:bodyPr>
          <a:lstStyle/>
          <a:p>
            <a:pPr lvl="0" algn="l">
              <a:buNone/>
            </a:pPr>
            <a:r>
              <a:rPr lang="zh-CN" altLang="en-US" sz="2600" dirty="0">
                <a:sym typeface="+mn-ea"/>
              </a:rPr>
              <a:t>螺旋模型</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2" name="椭圆 11"/>
          <p:cNvSpPr>
            <a:spLocks noChangeAspect="1"/>
          </p:cNvSpPr>
          <p:nvPr>
            <p:custDataLst>
              <p:tags r:id="rId6"/>
            </p:custDataLst>
          </p:nvPr>
        </p:nvSpPr>
        <p:spPr>
          <a:xfrm>
            <a:off x="1178560" y="2137410"/>
            <a:ext cx="385445" cy="3860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3" name="椭圆 12"/>
          <p:cNvSpPr>
            <a:spLocks noChangeAspect="1"/>
          </p:cNvSpPr>
          <p:nvPr>
            <p:custDataLst>
              <p:tags r:id="rId7"/>
            </p:custDataLst>
          </p:nvPr>
        </p:nvSpPr>
        <p:spPr>
          <a:xfrm>
            <a:off x="1178560" y="2780665"/>
            <a:ext cx="385445" cy="385445"/>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4" name="椭圆 13"/>
          <p:cNvSpPr>
            <a:spLocks noChangeAspect="1"/>
          </p:cNvSpPr>
          <p:nvPr>
            <p:custDataLst>
              <p:tags r:id="rId8"/>
            </p:custDataLst>
          </p:nvPr>
        </p:nvSpPr>
        <p:spPr>
          <a:xfrm>
            <a:off x="1178560" y="3423285"/>
            <a:ext cx="385445" cy="38608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5" name="椭圆 14"/>
          <p:cNvSpPr>
            <a:spLocks noChangeAspect="1"/>
          </p:cNvSpPr>
          <p:nvPr>
            <p:custDataLst>
              <p:tags r:id="rId9"/>
            </p:custDataLst>
          </p:nvPr>
        </p:nvSpPr>
        <p:spPr>
          <a:xfrm>
            <a:off x="1178560" y="4066540"/>
            <a:ext cx="385445" cy="385445"/>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6" name="圆角矩形 15"/>
          <p:cNvSpPr/>
          <p:nvPr>
            <p:custDataLst>
              <p:tags r:id="rId10"/>
            </p:custDataLst>
          </p:nvPr>
        </p:nvSpPr>
        <p:spPr>
          <a:xfrm>
            <a:off x="6686550" y="4660900"/>
            <a:ext cx="1156970"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endParaRPr>
          </a:p>
        </p:txBody>
      </p:sp>
      <p:grpSp>
        <p:nvGrpSpPr>
          <p:cNvPr id="21" name="组合 20"/>
          <p:cNvGrpSpPr/>
          <p:nvPr>
            <p:custDataLst>
              <p:tags r:id="rId11"/>
            </p:custDataLst>
          </p:nvPr>
        </p:nvGrpSpPr>
        <p:grpSpPr>
          <a:xfrm>
            <a:off x="0" y="0"/>
            <a:ext cx="9144000" cy="635000"/>
            <a:chOff x="0" y="0"/>
            <a:chExt cx="14400" cy="1000"/>
          </a:xfrm>
        </p:grpSpPr>
        <p:sp>
          <p:nvSpPr>
            <p:cNvPr id="17" name="TitleBackground"/>
            <p:cNvSpPr/>
            <p:nvPr>
              <p:custDataLst>
                <p:tags r:id="rId12"/>
              </p:custDataLst>
            </p:nvPr>
          </p:nvSpPr>
          <p:spPr>
            <a:xfrm>
              <a:off x="0" y="0"/>
              <a:ext cx="14400" cy="1000"/>
            </a:xfrm>
            <a:prstGeom prst="rect">
              <a:avLst/>
            </a:prstGeom>
            <a:solidFill>
              <a:srgbClr val="F6F7F8"/>
            </a:solidFill>
            <a:ln w="15875" cap="flat" cmpd="sng" algn="ctr">
              <a:noFill/>
              <a:prstDash val="solid"/>
            </a:ln>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p:cNvSpPr/>
            <p:nvPr>
              <p:custDataLst>
                <p:tags r:id="rId13"/>
              </p:custDataLst>
            </p:nvPr>
          </p:nvSpPr>
          <p:spPr>
            <a:xfrm>
              <a:off x="0" y="0"/>
              <a:ext cx="300" cy="1000"/>
            </a:xfrm>
            <a:prstGeom prst="rect">
              <a:avLst/>
            </a:prstGeom>
            <a:solidFill>
              <a:srgbClr val="639EF4"/>
            </a:solidFill>
            <a:ln w="15875" cap="flat" cmpd="sng" algn="ctr">
              <a:noFill/>
              <a:prstDash val="solid"/>
            </a:ln>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p:cNvSpPr txBox="1"/>
            <p:nvPr>
              <p:custDataLst>
                <p:tags r:id="rId14"/>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20" name="TipText"/>
            <p:cNvSpPr txBox="1"/>
            <p:nvPr>
              <p:custDataLst>
                <p:tags r:id="rId15"/>
              </p:custDataLst>
            </p:nvPr>
          </p:nvSpPr>
          <p:spPr>
            <a:xfrm>
              <a:off x="2648"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endPar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6" name="图片 5" descr="tmp91B3"/>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Tree>
    <p:custDataLst>
      <p:tags r:id="rId18"/>
    </p:custData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23AB57F-88F4-41E5-AFB1-FFC3DFCDB211}"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6" name="文本框 5"/>
          <p:cNvSpPr txBox="1"/>
          <p:nvPr>
            <p:custDataLst>
              <p:tags r:id="rId1"/>
            </p:custDataLst>
          </p:nvPr>
        </p:nvSpPr>
        <p:spPr>
          <a:xfrm>
            <a:off x="914400" y="635000"/>
            <a:ext cx="7315200" cy="1607185"/>
          </a:xfrm>
          <a:prstGeom prst="rect">
            <a:avLst/>
          </a:prstGeom>
          <a:noFill/>
        </p:spPr>
        <p:txBody>
          <a:bodyPr wrap="square" rtlCol="0" anchor="ctr" anchorCtr="0">
            <a:noAutofit/>
          </a:bodyPr>
          <a:lstStyle/>
          <a:p>
            <a:pPr lvl="0" algn="l">
              <a:buNone/>
            </a:pPr>
            <a:r>
              <a:rPr lang="zh-CN" altLang="en-US" sz="2600" dirty="0">
                <a:sym typeface="+mn-ea"/>
              </a:rPr>
              <a:t>以下关于螺旋模型的叙述中，不正确的是</a:t>
            </a:r>
            <a:r>
              <a:rPr lang="en-US" altLang="zh-CN" sz="2600" dirty="0">
                <a:sym typeface="+mn-ea"/>
              </a:rPr>
              <a:t>( </a:t>
            </a:r>
            <a:r>
              <a:rPr lang="en-US" altLang="zh-CN" sz="2600" b="1" dirty="0">
                <a:sym typeface="+mn-ea"/>
              </a:rPr>
              <a:t> </a:t>
            </a:r>
            <a:r>
              <a:rPr lang="en-US" altLang="zh-CN" sz="2600" dirty="0">
                <a:sym typeface="+mn-ea"/>
              </a:rPr>
              <a:t>)</a:t>
            </a:r>
            <a:endParaRPr lang="zh-CN" altLang="en-US" sz="2600" dirty="0"/>
          </a:p>
          <a:p>
            <a:pPr lvl="0" algn="l">
              <a:buNone/>
            </a:pP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7" name="文本框 6"/>
          <p:cNvSpPr txBox="1"/>
          <p:nvPr>
            <p:custDataLst>
              <p:tags r:id="rId2"/>
            </p:custDataLst>
          </p:nvPr>
        </p:nvSpPr>
        <p:spPr>
          <a:xfrm>
            <a:off x="1828800" y="2089150"/>
            <a:ext cx="6400800" cy="481965"/>
          </a:xfrm>
          <a:prstGeom prst="rect">
            <a:avLst/>
          </a:prstGeom>
          <a:noFill/>
        </p:spPr>
        <p:txBody>
          <a:bodyPr wrap="square" rtlCol="0" anchor="ctr" anchorCtr="0">
            <a:noAutofit/>
          </a:bodyPr>
          <a:lstStyle/>
          <a:p>
            <a:pPr lvl="0" algn="l">
              <a:buNone/>
            </a:pPr>
            <a:r>
              <a:rPr lang="zh-CN" altLang="en-US" sz="2000" dirty="0">
                <a:sym typeface="+mn-ea"/>
              </a:rPr>
              <a:t>它是风险驱动的，要求开发人员必须具有丰富的风险评估知识和经验 </a:t>
            </a:r>
            <a:endParaRPr lang="zh-CN" altLang="en-US" sz="2000" dirty="0">
              <a:solidFill>
                <a:srgbClr val="000000"/>
              </a:solidFill>
              <a:latin typeface="微软雅黑" panose="020B0503020204020204" pitchFamily="34" charset="-122"/>
              <a:ea typeface="微软雅黑" panose="020B0503020204020204" pitchFamily="34" charset="-122"/>
              <a:sym typeface="+mn-ea"/>
            </a:endParaRPr>
          </a:p>
        </p:txBody>
      </p:sp>
      <p:sp>
        <p:nvSpPr>
          <p:cNvPr id="8" name="文本框 7"/>
          <p:cNvSpPr txBox="1"/>
          <p:nvPr>
            <p:custDataLst>
              <p:tags r:id="rId3"/>
            </p:custDataLst>
          </p:nvPr>
        </p:nvSpPr>
        <p:spPr>
          <a:xfrm>
            <a:off x="1828800" y="2732405"/>
            <a:ext cx="6400800" cy="481965"/>
          </a:xfrm>
          <a:prstGeom prst="rect">
            <a:avLst/>
          </a:prstGeom>
          <a:noFill/>
        </p:spPr>
        <p:txBody>
          <a:bodyPr wrap="square" rtlCol="0" anchor="ctr" anchorCtr="0">
            <a:noAutofit/>
          </a:bodyPr>
          <a:lstStyle/>
          <a:p>
            <a:pPr lvl="0" algn="l">
              <a:buNone/>
            </a:pPr>
            <a:r>
              <a:rPr lang="zh-CN" altLang="en-US" sz="2000" dirty="0">
                <a:sym typeface="+mn-ea"/>
              </a:rPr>
              <a:t>它可以降低过多测试或测试不足带来的风险</a:t>
            </a:r>
            <a:endParaRPr lang="zh-CN" altLang="en-US" sz="2000" dirty="0">
              <a:solidFill>
                <a:srgbClr val="000000"/>
              </a:solidFill>
              <a:latin typeface="微软雅黑" panose="020B0503020204020204" pitchFamily="34" charset="-122"/>
              <a:ea typeface="微软雅黑" panose="020B0503020204020204" pitchFamily="34" charset="-122"/>
              <a:sym typeface="+mn-ea"/>
            </a:endParaRPr>
          </a:p>
        </p:txBody>
      </p:sp>
      <p:sp>
        <p:nvSpPr>
          <p:cNvPr id="9" name="文本框 8"/>
          <p:cNvSpPr txBox="1"/>
          <p:nvPr>
            <p:custDataLst>
              <p:tags r:id="rId4"/>
            </p:custDataLst>
          </p:nvPr>
        </p:nvSpPr>
        <p:spPr>
          <a:xfrm>
            <a:off x="1828800" y="3375025"/>
            <a:ext cx="6871335" cy="481965"/>
          </a:xfrm>
          <a:prstGeom prst="rect">
            <a:avLst/>
          </a:prstGeom>
          <a:noFill/>
        </p:spPr>
        <p:txBody>
          <a:bodyPr wrap="square" rtlCol="0" anchor="ctr" anchorCtr="0">
            <a:noAutofit/>
          </a:bodyPr>
          <a:lstStyle/>
          <a:p>
            <a:pPr lvl="0" algn="l">
              <a:buNone/>
            </a:pPr>
            <a:r>
              <a:rPr lang="zh-CN" altLang="en-US" sz="2000" dirty="0">
                <a:sym typeface="+mn-ea"/>
              </a:rPr>
              <a:t>它包含维护周期，因此维护和开发之间没有本质区别</a:t>
            </a:r>
            <a:endParaRPr lang="zh-CN" altLang="en-US" sz="2000">
              <a:solidFill>
                <a:srgbClr val="000000"/>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5"/>
            </p:custDataLst>
          </p:nvPr>
        </p:nvSpPr>
        <p:spPr>
          <a:xfrm>
            <a:off x="1828800" y="4018280"/>
            <a:ext cx="6400800" cy="481965"/>
          </a:xfrm>
          <a:prstGeom prst="rect">
            <a:avLst/>
          </a:prstGeom>
          <a:noFill/>
        </p:spPr>
        <p:txBody>
          <a:bodyPr wrap="square" rtlCol="0" anchor="ctr" anchorCtr="0">
            <a:noAutofit/>
          </a:bodyPr>
          <a:lstStyle/>
          <a:p>
            <a:pPr lvl="0" algn="l">
              <a:buNone/>
            </a:pPr>
            <a:r>
              <a:rPr lang="zh-CN" altLang="en-US" sz="2000" dirty="0">
                <a:sym typeface="+mn-ea"/>
              </a:rPr>
              <a:t>它不适用于大型软件开发</a:t>
            </a:r>
            <a:endParaRPr lang="zh-CN" altLang="en-US" sz="2000" dirty="0">
              <a:solidFill>
                <a:srgbClr val="000000"/>
              </a:solidFill>
              <a:latin typeface="微软雅黑" panose="020B0503020204020204" pitchFamily="34" charset="-122"/>
              <a:ea typeface="微软雅黑" panose="020B0503020204020204" pitchFamily="34" charset="-122"/>
              <a:sym typeface="+mn-ea"/>
            </a:endParaRPr>
          </a:p>
        </p:txBody>
      </p:sp>
      <p:sp>
        <p:nvSpPr>
          <p:cNvPr id="11" name="椭圆 10"/>
          <p:cNvSpPr>
            <a:spLocks noChangeAspect="1"/>
          </p:cNvSpPr>
          <p:nvPr>
            <p:custDataLst>
              <p:tags r:id="rId6"/>
            </p:custDataLst>
          </p:nvPr>
        </p:nvSpPr>
        <p:spPr>
          <a:xfrm>
            <a:off x="1178560" y="2137410"/>
            <a:ext cx="385445" cy="3860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2" name="椭圆 11"/>
          <p:cNvSpPr>
            <a:spLocks noChangeAspect="1"/>
          </p:cNvSpPr>
          <p:nvPr>
            <p:custDataLst>
              <p:tags r:id="rId7"/>
            </p:custDataLst>
          </p:nvPr>
        </p:nvSpPr>
        <p:spPr>
          <a:xfrm>
            <a:off x="1178560" y="2780665"/>
            <a:ext cx="385445" cy="385445"/>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3" name="椭圆 12"/>
          <p:cNvSpPr>
            <a:spLocks noChangeAspect="1"/>
          </p:cNvSpPr>
          <p:nvPr>
            <p:custDataLst>
              <p:tags r:id="rId8"/>
            </p:custDataLst>
          </p:nvPr>
        </p:nvSpPr>
        <p:spPr>
          <a:xfrm>
            <a:off x="1178560" y="3423285"/>
            <a:ext cx="385445" cy="3860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4" name="椭圆 13"/>
          <p:cNvSpPr>
            <a:spLocks noChangeAspect="1"/>
          </p:cNvSpPr>
          <p:nvPr>
            <p:custDataLst>
              <p:tags r:id="rId9"/>
            </p:custDataLst>
          </p:nvPr>
        </p:nvSpPr>
        <p:spPr>
          <a:xfrm>
            <a:off x="1178560" y="4066540"/>
            <a:ext cx="385445" cy="385445"/>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5" name="圆角矩形 14"/>
          <p:cNvSpPr/>
          <p:nvPr>
            <p:custDataLst>
              <p:tags r:id="rId10"/>
            </p:custDataLst>
          </p:nvPr>
        </p:nvSpPr>
        <p:spPr>
          <a:xfrm>
            <a:off x="6686550" y="4660900"/>
            <a:ext cx="1156970"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endParaRPr>
          </a:p>
        </p:txBody>
      </p:sp>
      <p:grpSp>
        <p:nvGrpSpPr>
          <p:cNvPr id="20" name="组合 19"/>
          <p:cNvGrpSpPr/>
          <p:nvPr>
            <p:custDataLst>
              <p:tags r:id="rId11"/>
            </p:custDataLst>
          </p:nvPr>
        </p:nvGrpSpPr>
        <p:grpSpPr>
          <a:xfrm>
            <a:off x="0" y="0"/>
            <a:ext cx="9144000" cy="635000"/>
            <a:chOff x="0" y="0"/>
            <a:chExt cx="14400" cy="1000"/>
          </a:xfrm>
        </p:grpSpPr>
        <p:sp>
          <p:nvSpPr>
            <p:cNvPr id="16" name="TitleBackground"/>
            <p:cNvSpPr/>
            <p:nvPr>
              <p:custDataLst>
                <p:tags r:id="rId12"/>
              </p:custDataLst>
            </p:nvPr>
          </p:nvSpPr>
          <p:spPr>
            <a:xfrm>
              <a:off x="0" y="0"/>
              <a:ext cx="14400" cy="1000"/>
            </a:xfrm>
            <a:prstGeom prst="rect">
              <a:avLst/>
            </a:prstGeom>
            <a:solidFill>
              <a:srgbClr val="F6F7F8"/>
            </a:solidFill>
            <a:ln w="15875" cap="flat" cmpd="sng" algn="ctr">
              <a:noFill/>
              <a:prstDash val="solid"/>
            </a:ln>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300" cy="1000"/>
            </a:xfrm>
            <a:prstGeom prst="rect">
              <a:avLst/>
            </a:prstGeom>
            <a:solidFill>
              <a:srgbClr val="639EF4"/>
            </a:solidFill>
            <a:ln w="15875" cap="flat" cmpd="sng" algn="ctr">
              <a:noFill/>
              <a:prstDash val="solid"/>
            </a:ln>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9" name="TipText"/>
            <p:cNvSpPr txBox="1"/>
            <p:nvPr>
              <p:custDataLst>
                <p:tags r:id="rId15"/>
              </p:custDataLst>
            </p:nvPr>
          </p:nvSpPr>
          <p:spPr>
            <a:xfrm>
              <a:off x="2648"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endPar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5" name="图片 4" descr="tmp91B3"/>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Tree>
    <p:custDataLst>
      <p:tags r:id="rId18"/>
    </p:custData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a:t>
            </a:r>
            <a:r>
              <a:rPr lang="en-US" altLang="zh-CN" b="1" dirty="0"/>
              <a:t>6</a:t>
            </a:r>
            <a:r>
              <a:rPr lang="zh-CN" altLang="en-US" b="1" dirty="0"/>
              <a:t>）统一软件开发过程</a:t>
            </a:r>
            <a:r>
              <a:rPr lang="en-US" altLang="zh-CN" b="1" dirty="0"/>
              <a:t>——RUP</a:t>
            </a:r>
            <a:endParaRPr lang="zh-CN" altLang="en-US" dirty="0"/>
          </a:p>
        </p:txBody>
      </p:sp>
      <p:sp>
        <p:nvSpPr>
          <p:cNvPr id="3" name="内容占位符 2"/>
          <p:cNvSpPr>
            <a:spLocks noGrp="1"/>
          </p:cNvSpPr>
          <p:nvPr>
            <p:ph idx="1"/>
          </p:nvPr>
        </p:nvSpPr>
        <p:spPr>
          <a:xfrm>
            <a:off x="768097" y="925167"/>
            <a:ext cx="8090153" cy="3806854"/>
          </a:xfrm>
        </p:spPr>
        <p:txBody>
          <a:bodyPr>
            <a:normAutofit/>
          </a:bodyPr>
          <a:lstStyle/>
          <a:p>
            <a:pPr marL="431800" algn="just">
              <a:lnSpc>
                <a:spcPct val="100000"/>
              </a:lnSpc>
              <a:spcBef>
                <a:spcPts val="1200"/>
              </a:spcBef>
              <a:spcAft>
                <a:spcPts val="0"/>
              </a:spcAft>
              <a:buFont typeface="Arial" panose="020B0604020202020204" pitchFamily="34" charset="0"/>
              <a:buChar char="•"/>
            </a:pPr>
            <a:r>
              <a:rPr lang="en-US" altLang="zh-CN" sz="2400" b="1" dirty="0">
                <a:solidFill>
                  <a:schemeClr val="accent2"/>
                </a:solidFill>
                <a:latin typeface="+mj-ea"/>
                <a:ea typeface="+mj-ea"/>
              </a:rPr>
              <a:t>RUP</a:t>
            </a:r>
            <a:r>
              <a:rPr lang="zh-CN" altLang="en-US" sz="2400" dirty="0">
                <a:latin typeface="+mj-ea"/>
                <a:ea typeface="+mj-ea"/>
              </a:rPr>
              <a:t>（</a:t>
            </a:r>
            <a:r>
              <a:rPr lang="en-US" altLang="zh-CN" sz="2400" dirty="0">
                <a:latin typeface="+mj-ea"/>
                <a:ea typeface="+mj-ea"/>
              </a:rPr>
              <a:t>Rational Unified Process</a:t>
            </a:r>
            <a:r>
              <a:rPr lang="zh-CN" altLang="en-US" sz="2400" dirty="0">
                <a:latin typeface="+mj-ea"/>
                <a:ea typeface="+mj-ea"/>
              </a:rPr>
              <a:t>，统一过程模型</a:t>
            </a:r>
            <a:r>
              <a:rPr lang="en-US" altLang="zh-CN" sz="2400" dirty="0">
                <a:latin typeface="+mj-ea"/>
                <a:ea typeface="+mj-ea"/>
              </a:rPr>
              <a:t>)</a:t>
            </a:r>
            <a:r>
              <a:rPr lang="zh-CN" altLang="en-US" sz="2400" dirty="0">
                <a:latin typeface="+mj-ea"/>
                <a:ea typeface="+mj-ea"/>
              </a:rPr>
              <a:t>是由</a:t>
            </a:r>
            <a:r>
              <a:rPr lang="en-US" altLang="zh-CN" sz="2400" dirty="0">
                <a:latin typeface="+mj-ea"/>
                <a:ea typeface="+mj-ea"/>
              </a:rPr>
              <a:t>IBM Rational</a:t>
            </a:r>
            <a:r>
              <a:rPr lang="zh-CN" altLang="en-US" sz="2400" dirty="0">
                <a:latin typeface="+mj-ea"/>
                <a:ea typeface="+mj-ea"/>
              </a:rPr>
              <a:t>公司的</a:t>
            </a:r>
            <a:r>
              <a:rPr lang="en-US" altLang="zh-CN" sz="2400" dirty="0" err="1">
                <a:latin typeface="+mj-ea"/>
                <a:ea typeface="+mj-ea"/>
              </a:rPr>
              <a:t>Booch</a:t>
            </a:r>
            <a:r>
              <a:rPr lang="zh-CN" altLang="en-US" sz="2400" dirty="0">
                <a:latin typeface="+mj-ea"/>
                <a:ea typeface="+mj-ea"/>
              </a:rPr>
              <a:t>、</a:t>
            </a:r>
            <a:r>
              <a:rPr lang="en-US" altLang="zh-CN" sz="2400" dirty="0">
                <a:latin typeface="+mj-ea"/>
                <a:ea typeface="+mj-ea"/>
              </a:rPr>
              <a:t>Jacobson</a:t>
            </a:r>
            <a:r>
              <a:rPr lang="zh-CN" altLang="en-US" sz="2400" dirty="0">
                <a:latin typeface="+mj-ea"/>
                <a:ea typeface="+mj-ea"/>
              </a:rPr>
              <a:t>、</a:t>
            </a:r>
            <a:r>
              <a:rPr lang="en-US" altLang="zh-CN" sz="2400" dirty="0">
                <a:latin typeface="+mj-ea"/>
                <a:ea typeface="+mj-ea"/>
              </a:rPr>
              <a:t>Rumbaugh</a:t>
            </a:r>
            <a:r>
              <a:rPr lang="zh-CN" altLang="en-US" sz="2400" dirty="0">
                <a:latin typeface="+mj-ea"/>
                <a:ea typeface="+mj-ea"/>
              </a:rPr>
              <a:t>提出的一种软件过程模型。</a:t>
            </a:r>
            <a:endParaRPr lang="en-US" altLang="zh-CN" sz="2400" dirty="0">
              <a:latin typeface="+mj-ea"/>
              <a:ea typeface="+mj-ea"/>
            </a:endParaRPr>
          </a:p>
          <a:p>
            <a:pPr marL="431800" algn="just">
              <a:lnSpc>
                <a:spcPct val="100000"/>
              </a:lnSpc>
              <a:spcAft>
                <a:spcPts val="0"/>
              </a:spcAft>
              <a:buFont typeface="Arial" panose="020B0604020202020204" pitchFamily="34" charset="0"/>
              <a:buChar char="•"/>
            </a:pPr>
            <a:r>
              <a:rPr lang="zh-CN" altLang="en-US" sz="2400" dirty="0">
                <a:latin typeface="+mj-ea"/>
                <a:ea typeface="+mj-ea"/>
              </a:rPr>
              <a:t>其特点为：</a:t>
            </a:r>
            <a:endParaRPr lang="en-US" altLang="zh-CN" sz="2400" dirty="0">
              <a:latin typeface="+mj-ea"/>
              <a:ea typeface="+mj-ea"/>
            </a:endParaRPr>
          </a:p>
          <a:p>
            <a:pPr lvl="1" algn="just">
              <a:spcBef>
                <a:spcPts val="1350"/>
              </a:spcBef>
              <a:buClr>
                <a:schemeClr val="accent6"/>
              </a:buClr>
              <a:buFont typeface="Arial" panose="020B0604020202020204" pitchFamily="34" charset="0"/>
              <a:buChar char="•"/>
            </a:pPr>
            <a:r>
              <a:rPr lang="en-US" altLang="zh-CN" sz="2000" dirty="0">
                <a:latin typeface="+mj-ea"/>
                <a:ea typeface="+mj-ea"/>
              </a:rPr>
              <a:t>RUP</a:t>
            </a:r>
            <a:r>
              <a:rPr lang="zh-CN" altLang="en-US" sz="2000" dirty="0">
                <a:latin typeface="+mj-ea"/>
                <a:ea typeface="+mj-ea"/>
              </a:rPr>
              <a:t>重复一系列周期，每个周期由一个交付给用户的产品结束。</a:t>
            </a:r>
            <a:endParaRPr lang="zh-CN" altLang="en-US" sz="2000" dirty="0">
              <a:latin typeface="+mj-ea"/>
              <a:ea typeface="+mj-ea"/>
            </a:endParaRPr>
          </a:p>
          <a:p>
            <a:pPr lvl="1" algn="just">
              <a:spcBef>
                <a:spcPts val="1350"/>
              </a:spcBef>
              <a:buClr>
                <a:schemeClr val="accent6"/>
              </a:buClr>
              <a:buFont typeface="Arial" panose="020B0604020202020204" pitchFamily="34" charset="0"/>
              <a:buChar char="•"/>
            </a:pPr>
            <a:r>
              <a:rPr lang="en-US" altLang="zh-CN" sz="2000" dirty="0">
                <a:latin typeface="+mj-ea"/>
                <a:ea typeface="+mj-ea"/>
                <a:cs typeface="Times New Roman" panose="02020603050405020304" pitchFamily="18" charset="0"/>
              </a:rPr>
              <a:t>RUP</a:t>
            </a:r>
            <a:r>
              <a:rPr lang="zh-CN" altLang="en-US" sz="2000" dirty="0">
                <a:latin typeface="+mj-ea"/>
                <a:ea typeface="+mj-ea"/>
              </a:rPr>
              <a:t>模型全面应用了软件开发分段、分层、细化、往复、循环、迭代、并发、重叠、演进、基线、里程碑、评审、控制等方法论。</a:t>
            </a:r>
            <a:endParaRPr lang="zh-CN" altLang="en-US" sz="2000" dirty="0">
              <a:latin typeface="+mj-ea"/>
              <a:ea typeface="+mj-ea"/>
            </a:endParaRPr>
          </a:p>
          <a:p>
            <a:pPr lvl="1" algn="just">
              <a:spcBef>
                <a:spcPts val="1350"/>
              </a:spcBef>
              <a:buClr>
                <a:schemeClr val="accent6"/>
              </a:buClr>
              <a:buFont typeface="Arial" panose="020B0604020202020204" pitchFamily="34" charset="0"/>
              <a:buChar char="•"/>
            </a:pPr>
            <a:r>
              <a:rPr lang="zh-CN" altLang="en-US" sz="2000" dirty="0">
                <a:latin typeface="+mj-ea"/>
                <a:ea typeface="+mj-ea"/>
              </a:rPr>
              <a:t>每个周期划分为</a:t>
            </a:r>
            <a:r>
              <a:rPr lang="zh-CN" altLang="en-US" sz="2000" dirty="0">
                <a:solidFill>
                  <a:srgbClr val="FF0000"/>
                </a:solidFill>
                <a:latin typeface="+mj-ea"/>
                <a:ea typeface="+mj-ea"/>
              </a:rPr>
              <a:t>初始、细化、构造和移交</a:t>
            </a:r>
            <a:r>
              <a:rPr lang="zh-CN" altLang="en-US" sz="2000" dirty="0">
                <a:latin typeface="+mj-ea"/>
                <a:ea typeface="+mj-ea"/>
              </a:rPr>
              <a:t>四个阶段，每个阶段围绕着</a:t>
            </a:r>
            <a:r>
              <a:rPr lang="zh-CN" altLang="en-US" sz="2000" dirty="0">
                <a:solidFill>
                  <a:srgbClr val="FF0000"/>
                </a:solidFill>
                <a:latin typeface="+mj-ea"/>
                <a:ea typeface="+mj-ea"/>
              </a:rPr>
              <a:t>九个核心工作流</a:t>
            </a:r>
            <a:r>
              <a:rPr lang="zh-CN" altLang="en-US" sz="2000" dirty="0">
                <a:latin typeface="+mj-ea"/>
                <a:ea typeface="+mj-ea"/>
              </a:rPr>
              <a:t>分别迭代。</a:t>
            </a:r>
            <a:endParaRPr lang="en-US" altLang="zh-CN" sz="2000" dirty="0">
              <a:latin typeface="+mj-ea"/>
              <a:ea typeface="+mj-ea"/>
            </a:endParaRPr>
          </a:p>
        </p:txBody>
      </p:sp>
      <p:sp>
        <p:nvSpPr>
          <p:cNvPr id="5" name="灯片编号占位符 4"/>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4" name="日期占位符 3"/>
          <p:cNvSpPr>
            <a:spLocks noGrp="1"/>
          </p:cNvSpPr>
          <p:nvPr>
            <p:ph type="dt" sz="half" idx="10"/>
          </p:nvPr>
        </p:nvSpPr>
        <p:spPr/>
        <p:txBody>
          <a:bodyPr/>
          <a:lstStyle/>
          <a:p>
            <a:fld id="{6D5F4E8E-26EA-4B2A-B908-10AEB0ECDA8A}"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fr-FR" altLang="zh-CN" dirty="0"/>
              <a:t>RUP</a:t>
            </a:r>
            <a:r>
              <a:rPr lang="zh-CN" altLang="en-US" dirty="0"/>
              <a:t>软件开发生命周期</a:t>
            </a:r>
            <a:endParaRPr lang="zh-CN" altLang="en-US" dirty="0"/>
          </a:p>
        </p:txBody>
      </p:sp>
      <p:sp>
        <p:nvSpPr>
          <p:cNvPr id="3" name="内容占位符 2"/>
          <p:cNvSpPr>
            <a:spLocks noGrp="1"/>
          </p:cNvSpPr>
          <p:nvPr>
            <p:ph idx="1"/>
          </p:nvPr>
        </p:nvSpPr>
        <p:spPr/>
        <p:txBody>
          <a:bodyPr>
            <a:normAutofit/>
          </a:bodyPr>
          <a:lstStyle/>
          <a:p>
            <a:pPr algn="just">
              <a:lnSpc>
                <a:spcPct val="120000"/>
              </a:lnSpc>
              <a:spcBef>
                <a:spcPts val="900"/>
              </a:spcBef>
            </a:pPr>
            <a:r>
              <a:rPr lang="en-US" altLang="zh-CN" sz="2400" dirty="0">
                <a:latin typeface="+mj-ea"/>
                <a:ea typeface="+mj-ea"/>
              </a:rPr>
              <a:t>RUP</a:t>
            </a:r>
            <a:r>
              <a:rPr lang="zh-CN" altLang="en-US" sz="2400" dirty="0">
                <a:latin typeface="+mj-ea"/>
                <a:ea typeface="+mj-ea"/>
              </a:rPr>
              <a:t>的活动内容集合一共有</a:t>
            </a:r>
            <a:r>
              <a:rPr lang="zh-CN" altLang="en-US" sz="2400" dirty="0">
                <a:solidFill>
                  <a:srgbClr val="000000"/>
                </a:solidFill>
                <a:latin typeface="+mj-ea"/>
                <a:ea typeface="+mj-ea"/>
                <a:cs typeface="Arial" panose="020B0604020202020204" pitchFamily="34" charset="0"/>
              </a:rPr>
              <a:t>9</a:t>
            </a:r>
            <a:r>
              <a:rPr lang="zh-CN" altLang="en-US" sz="2400" dirty="0">
                <a:latin typeface="+mj-ea"/>
                <a:ea typeface="+mj-ea"/>
              </a:rPr>
              <a:t>个核心工作流，分为</a:t>
            </a:r>
            <a:r>
              <a:rPr lang="zh-CN" altLang="en-US" sz="2400" dirty="0">
                <a:solidFill>
                  <a:srgbClr val="000000"/>
                </a:solidFill>
                <a:latin typeface="+mj-ea"/>
                <a:ea typeface="+mj-ea"/>
                <a:cs typeface="Arial" panose="020B0604020202020204" pitchFamily="34" charset="0"/>
              </a:rPr>
              <a:t>6</a:t>
            </a:r>
            <a:r>
              <a:rPr lang="zh-CN" altLang="en-US" sz="2400" dirty="0">
                <a:latin typeface="+mj-ea"/>
                <a:ea typeface="+mj-ea"/>
              </a:rPr>
              <a:t>个核心过程工作流</a:t>
            </a:r>
            <a:r>
              <a:rPr lang="zh-CN" altLang="en-US" sz="2400" dirty="0">
                <a:solidFill>
                  <a:srgbClr val="000000"/>
                </a:solidFill>
                <a:latin typeface="+mj-ea"/>
                <a:ea typeface="+mj-ea"/>
                <a:cs typeface="Arial" panose="020B0604020202020204" pitchFamily="34" charset="0"/>
              </a:rPr>
              <a:t>(</a:t>
            </a:r>
            <a:r>
              <a:rPr lang="en-US" altLang="zh-CN" sz="2400" dirty="0">
                <a:solidFill>
                  <a:srgbClr val="000000"/>
                </a:solidFill>
                <a:latin typeface="+mj-ea"/>
                <a:ea typeface="+mj-ea"/>
                <a:cs typeface="Arial" panose="020B0604020202020204" pitchFamily="34" charset="0"/>
              </a:rPr>
              <a:t>Core Process Workflows)</a:t>
            </a:r>
            <a:r>
              <a:rPr lang="zh-CN" altLang="en-US" sz="2400" dirty="0">
                <a:latin typeface="+mj-ea"/>
                <a:ea typeface="+mj-ea"/>
              </a:rPr>
              <a:t>和</a:t>
            </a:r>
            <a:r>
              <a:rPr lang="zh-CN" altLang="en-US" sz="2400" dirty="0">
                <a:solidFill>
                  <a:srgbClr val="000000"/>
                </a:solidFill>
                <a:latin typeface="+mj-ea"/>
                <a:ea typeface="+mj-ea"/>
                <a:cs typeface="Arial" panose="020B0604020202020204" pitchFamily="34" charset="0"/>
              </a:rPr>
              <a:t>3</a:t>
            </a:r>
            <a:r>
              <a:rPr lang="zh-CN" altLang="en-US" sz="2400" dirty="0">
                <a:latin typeface="+mj-ea"/>
                <a:ea typeface="+mj-ea"/>
              </a:rPr>
              <a:t>个核心支持工作流</a:t>
            </a:r>
            <a:r>
              <a:rPr lang="zh-CN" altLang="en-US" sz="2400" dirty="0">
                <a:solidFill>
                  <a:srgbClr val="000000"/>
                </a:solidFill>
                <a:latin typeface="+mj-ea"/>
                <a:ea typeface="+mj-ea"/>
                <a:cs typeface="Arial" panose="020B0604020202020204" pitchFamily="34" charset="0"/>
              </a:rPr>
              <a:t>(</a:t>
            </a:r>
            <a:r>
              <a:rPr lang="en-US" altLang="zh-CN" sz="2400" dirty="0">
                <a:solidFill>
                  <a:srgbClr val="000000"/>
                </a:solidFill>
                <a:latin typeface="+mj-ea"/>
                <a:ea typeface="+mj-ea"/>
                <a:cs typeface="Arial" panose="020B0604020202020204" pitchFamily="34" charset="0"/>
              </a:rPr>
              <a:t>Core Supporting Workflows</a:t>
            </a:r>
            <a:r>
              <a:rPr lang="en-US" altLang="zh-CN" sz="2400" dirty="0">
                <a:latin typeface="+mj-ea"/>
                <a:ea typeface="+mj-ea"/>
              </a:rPr>
              <a:t>) </a:t>
            </a:r>
            <a:r>
              <a:rPr lang="zh-CN" altLang="en-US" sz="2400" dirty="0">
                <a:latin typeface="+mj-ea"/>
                <a:ea typeface="+mj-ea"/>
              </a:rPr>
              <a:t>。</a:t>
            </a:r>
            <a:endParaRPr lang="zh-CN" altLang="en-US" sz="2400" dirty="0">
              <a:latin typeface="+mj-ea"/>
              <a:ea typeface="+mj-ea"/>
            </a:endParaRPr>
          </a:p>
          <a:p>
            <a:pPr lvl="1" algn="just">
              <a:lnSpc>
                <a:spcPct val="120000"/>
              </a:lnSpc>
              <a:spcBef>
                <a:spcPts val="900"/>
              </a:spcBef>
              <a:buClr>
                <a:schemeClr val="accent6"/>
              </a:buClr>
              <a:buFont typeface="Wingdings" panose="05000000000000000000" pitchFamily="2" charset="2"/>
              <a:buChar char="ü"/>
            </a:pPr>
            <a:r>
              <a:rPr lang="zh-CN" altLang="en-US" sz="2000" dirty="0">
                <a:latin typeface="+mj-ea"/>
                <a:ea typeface="+mj-ea"/>
              </a:rPr>
              <a:t>6个核心过程工作流：是加工软件进行投入产出的实质性活动集。</a:t>
            </a:r>
            <a:endParaRPr lang="zh-CN" altLang="en-US" sz="2000" dirty="0">
              <a:latin typeface="+mj-ea"/>
              <a:ea typeface="+mj-ea"/>
            </a:endParaRPr>
          </a:p>
          <a:p>
            <a:pPr lvl="1" algn="just">
              <a:lnSpc>
                <a:spcPct val="120000"/>
              </a:lnSpc>
              <a:spcBef>
                <a:spcPts val="900"/>
              </a:spcBef>
              <a:buClr>
                <a:schemeClr val="accent6"/>
              </a:buClr>
              <a:buFont typeface="Wingdings" panose="05000000000000000000" pitchFamily="2" charset="2"/>
              <a:buChar char="ü"/>
            </a:pPr>
            <a:r>
              <a:rPr lang="zh-CN" altLang="en-US" sz="2000" dirty="0">
                <a:latin typeface="+mj-ea"/>
                <a:ea typeface="+mj-ea"/>
              </a:rPr>
              <a:t>3个核心支持工作流：是对核心过程工作流的配套支持和管理，保障核心过程工作流顺畅、高效运行。</a:t>
            </a:r>
            <a:endParaRPr lang="zh-CN" altLang="en-US" sz="2000" dirty="0">
              <a:latin typeface="+mj-ea"/>
              <a:ea typeface="+mj-ea"/>
            </a:endParaRPr>
          </a:p>
          <a:p>
            <a:pPr algn="just">
              <a:lnSpc>
                <a:spcPct val="120000"/>
              </a:lnSpc>
              <a:spcBef>
                <a:spcPts val="900"/>
              </a:spcBef>
            </a:pPr>
            <a:endParaRPr lang="zh-CN" altLang="en-US" sz="2400" dirty="0">
              <a:latin typeface="+mj-ea"/>
              <a:ea typeface="+mj-ea"/>
            </a:endParaRPr>
          </a:p>
        </p:txBody>
      </p:sp>
      <p:sp>
        <p:nvSpPr>
          <p:cNvPr id="5" name="日期占位符 4"/>
          <p:cNvSpPr>
            <a:spLocks noGrp="1"/>
          </p:cNvSpPr>
          <p:nvPr>
            <p:ph type="dt" sz="half" idx="10"/>
          </p:nvPr>
        </p:nvSpPr>
        <p:spPr/>
        <p:txBody>
          <a:bodyPr/>
          <a:lstStyle/>
          <a:p>
            <a:fld id="{FFCB62E0-2D38-4C62-8785-B929DDEC32BA}"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p:cNvSpPr>
          <p:nvPr>
            <p:ph type="title"/>
          </p:nvPr>
        </p:nvSpPr>
        <p:spPr bwMode="auto"/>
        <p:txBody>
          <a:bodyPr vert="horz" wrap="square" lIns="68580" tIns="34290" rIns="68580" bIns="34290" numCol="1" rtlCol="0" anchor="ctr" anchorCtr="0" compatLnSpc="1">
            <a:normAutofit/>
          </a:bodyPr>
          <a:lstStyle/>
          <a:p>
            <a:pPr>
              <a:defRPr/>
            </a:pPr>
            <a:r>
              <a:rPr lang="en-US" dirty="0"/>
              <a:t>RUP</a:t>
            </a:r>
            <a:r>
              <a:rPr lang="zh-CN" altLang="en-US" dirty="0"/>
              <a:t>软件开发生命周期</a:t>
            </a:r>
            <a:endParaRPr lang="zh-CN" altLang="en-US" dirty="0"/>
          </a:p>
        </p:txBody>
      </p:sp>
      <p:sp>
        <p:nvSpPr>
          <p:cNvPr id="9" name="日期占位符 8"/>
          <p:cNvSpPr>
            <a:spLocks noGrp="1"/>
          </p:cNvSpPr>
          <p:nvPr>
            <p:ph type="dt" sz="half" idx="10"/>
          </p:nvPr>
        </p:nvSpPr>
        <p:spPr/>
        <p:txBody>
          <a:bodyPr/>
          <a:lstStyle/>
          <a:p>
            <a:fld id="{0E4BE61F-9771-4769-879D-5720853FA068}" type="datetime1">
              <a:rPr lang="zh-CN" altLang="en-US" smtClean="0"/>
            </a:fld>
            <a:endParaRPr lang="zh-CN" altLang="en-US" dirty="0"/>
          </a:p>
        </p:txBody>
      </p:sp>
      <p:sp>
        <p:nvSpPr>
          <p:cNvPr id="10" name="页脚占位符 9"/>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pic>
        <p:nvPicPr>
          <p:cNvPr id="80899" name="Picture 4" descr="tp1"/>
          <p:cNvPicPr>
            <a:picLocks noChangeAspect="1" noChangeArrowheads="1"/>
          </p:cNvPicPr>
          <p:nvPr/>
        </p:nvPicPr>
        <p:blipFill rotWithShape="1">
          <a:blip r:embed="rId1" cstate="print">
            <a:clrChange>
              <a:clrFrom>
                <a:srgbClr val="FFFFFF"/>
              </a:clrFrom>
              <a:clrTo>
                <a:srgbClr val="FFFFFF">
                  <a:alpha val="0"/>
                </a:srgbClr>
              </a:clrTo>
            </a:clrChange>
          </a:blip>
          <a:srcRect t="3916"/>
          <a:stretch>
            <a:fillRect/>
          </a:stretch>
        </p:blipFill>
        <p:spPr bwMode="auto">
          <a:xfrm>
            <a:off x="2994298" y="488828"/>
            <a:ext cx="5884980" cy="4471646"/>
          </a:xfrm>
          <a:prstGeom prst="rect">
            <a:avLst/>
          </a:prstGeom>
          <a:noFill/>
          <a:ln w="9525">
            <a:noFill/>
            <a:miter lim="800000"/>
            <a:headEnd/>
            <a:tailEnd/>
          </a:ln>
        </p:spPr>
      </p:pic>
      <p:sp>
        <p:nvSpPr>
          <p:cNvPr id="3" name="文本框 2"/>
          <p:cNvSpPr txBox="1"/>
          <p:nvPr/>
        </p:nvSpPr>
        <p:spPr>
          <a:xfrm>
            <a:off x="6192663" y="512857"/>
            <a:ext cx="530915" cy="300082"/>
          </a:xfrm>
          <a:prstGeom prst="rect">
            <a:avLst/>
          </a:prstGeom>
          <a:noFill/>
        </p:spPr>
        <p:txBody>
          <a:bodyPr wrap="none" rtlCol="0">
            <a:spAutoFit/>
          </a:bodyPr>
          <a:lstStyle/>
          <a:p>
            <a:r>
              <a:rPr lang="zh-CN" altLang="en-US" sz="1350" b="1" dirty="0">
                <a:solidFill>
                  <a:schemeClr val="bg1"/>
                </a:solidFill>
                <a:latin typeface="+mj-ea"/>
                <a:ea typeface="+mj-ea"/>
              </a:rPr>
              <a:t>阶段</a:t>
            </a:r>
            <a:endParaRPr lang="zh-CN" altLang="en-US" sz="1350" b="1" dirty="0">
              <a:solidFill>
                <a:schemeClr val="bg1"/>
              </a:solidFill>
              <a:latin typeface="+mj-ea"/>
              <a:ea typeface="+mj-ea"/>
            </a:endParaRPr>
          </a:p>
        </p:txBody>
      </p:sp>
      <p:sp>
        <p:nvSpPr>
          <p:cNvPr id="2" name="文本框 1"/>
          <p:cNvSpPr txBox="1"/>
          <p:nvPr/>
        </p:nvSpPr>
        <p:spPr>
          <a:xfrm>
            <a:off x="939612" y="1117860"/>
            <a:ext cx="615553" cy="3323987"/>
          </a:xfrm>
          <a:prstGeom prst="rect">
            <a:avLst/>
          </a:prstGeom>
          <a:noFill/>
        </p:spPr>
        <p:txBody>
          <a:bodyPr vert="eaVert" wrap="none" rtlCol="0">
            <a:spAutoFit/>
          </a:bodyPr>
          <a:lstStyle/>
          <a:p>
            <a:r>
              <a:rPr lang="zh-CN" altLang="en-US" sz="2800" b="1" dirty="0">
                <a:solidFill>
                  <a:schemeClr val="tx2"/>
                </a:solidFill>
                <a:latin typeface="+mj-ea"/>
                <a:ea typeface="+mj-ea"/>
              </a:rPr>
              <a:t>二维的软件开发模型</a:t>
            </a:r>
            <a:endParaRPr lang="zh-CN" altLang="en-US" sz="2800" b="1" dirty="0">
              <a:solidFill>
                <a:schemeClr val="tx2"/>
              </a:solidFill>
              <a:latin typeface="+mj-ea"/>
              <a:ea typeface="+mj-ea"/>
            </a:endParaRPr>
          </a:p>
        </p:txBody>
      </p:sp>
      <p:sp>
        <p:nvSpPr>
          <p:cNvPr id="5" name="左大括号 4"/>
          <p:cNvSpPr/>
          <p:nvPr/>
        </p:nvSpPr>
        <p:spPr bwMode="auto">
          <a:xfrm>
            <a:off x="2805245" y="1501366"/>
            <a:ext cx="217057" cy="1566174"/>
          </a:xfrm>
          <a:prstGeom prst="leftBrace">
            <a:avLst/>
          </a:prstGeom>
          <a:noFill/>
          <a:ln w="38100" cap="flat" cmpd="sng" algn="ctr">
            <a:solidFill>
              <a:srgbClr val="FF0000"/>
            </a:solidFill>
            <a:prstDash val="solid"/>
            <a:round/>
            <a:headEnd type="none" w="med" len="med"/>
            <a:tailEnd type="none" w="med" len="med"/>
          </a:ln>
          <a:effectLst/>
        </p:spPr>
        <p:txBody>
          <a:bodyPr vert="horz" wrap="square" lIns="68580" tIns="34290" rIns="68580" bIns="34290" numCol="1" rtlCol="0" anchor="t" anchorCtr="0" compatLnSpc="1"/>
          <a:lstStyle/>
          <a:p>
            <a:pPr defTabSz="685800" eaLnBrk="0" fontAlgn="base" hangingPunct="0">
              <a:spcBef>
                <a:spcPct val="0"/>
              </a:spcBef>
              <a:spcAft>
                <a:spcPct val="0"/>
              </a:spcAft>
            </a:pPr>
            <a:endParaRPr lang="zh-CN" altLang="en-US" sz="1350">
              <a:latin typeface="Times New Roman" panose="02020603050405020304" pitchFamily="18" charset="0"/>
            </a:endParaRPr>
          </a:p>
        </p:txBody>
      </p:sp>
      <p:sp>
        <p:nvSpPr>
          <p:cNvPr id="6" name="文本框 5"/>
          <p:cNvSpPr txBox="1"/>
          <p:nvPr/>
        </p:nvSpPr>
        <p:spPr>
          <a:xfrm>
            <a:off x="2103779" y="1709966"/>
            <a:ext cx="677108" cy="1077218"/>
          </a:xfrm>
          <a:prstGeom prst="rect">
            <a:avLst/>
          </a:prstGeom>
          <a:noFill/>
        </p:spPr>
        <p:txBody>
          <a:bodyPr vert="horz" wrap="square" rtlCol="0">
            <a:spAutoFit/>
          </a:bodyPr>
          <a:lstStyle/>
          <a:p>
            <a:r>
              <a:rPr lang="zh-CN" altLang="en-US" sz="1600" b="1" dirty="0">
                <a:solidFill>
                  <a:srgbClr val="FF0000"/>
                </a:solidFill>
              </a:rPr>
              <a:t>核心过程工作流程</a:t>
            </a:r>
            <a:endParaRPr lang="zh-CN" altLang="en-US" sz="1600" b="1" dirty="0">
              <a:solidFill>
                <a:srgbClr val="FF0000"/>
              </a:solidFill>
            </a:endParaRPr>
          </a:p>
        </p:txBody>
      </p:sp>
      <p:sp>
        <p:nvSpPr>
          <p:cNvPr id="7" name="左大括号 6"/>
          <p:cNvSpPr/>
          <p:nvPr/>
        </p:nvSpPr>
        <p:spPr bwMode="auto">
          <a:xfrm>
            <a:off x="2780887" y="3492761"/>
            <a:ext cx="215789" cy="692392"/>
          </a:xfrm>
          <a:prstGeom prst="leftBrace">
            <a:avLst/>
          </a:prstGeom>
          <a:noFill/>
          <a:ln w="38100" cap="flat" cmpd="sng" algn="ctr">
            <a:solidFill>
              <a:srgbClr val="FF0000"/>
            </a:solidFill>
            <a:prstDash val="solid"/>
            <a:round/>
            <a:headEnd type="none" w="med" len="med"/>
            <a:tailEnd type="none" w="med" len="med"/>
          </a:ln>
          <a:effectLst/>
        </p:spPr>
        <p:txBody>
          <a:bodyPr vert="horz" wrap="square" lIns="68580" tIns="34290" rIns="68580" bIns="34290" numCol="1" rtlCol="0" anchor="t" anchorCtr="0" compatLnSpc="1"/>
          <a:lstStyle/>
          <a:p>
            <a:pPr defTabSz="685800" eaLnBrk="0" fontAlgn="base" hangingPunct="0">
              <a:spcBef>
                <a:spcPct val="0"/>
              </a:spcBef>
              <a:spcAft>
                <a:spcPct val="0"/>
              </a:spcAft>
            </a:pPr>
            <a:endParaRPr lang="zh-CN" altLang="en-US" sz="1350">
              <a:latin typeface="Times New Roman" panose="02020603050405020304" pitchFamily="18" charset="0"/>
            </a:endParaRPr>
          </a:p>
        </p:txBody>
      </p:sp>
      <p:sp>
        <p:nvSpPr>
          <p:cNvPr id="8" name="文本框 7"/>
          <p:cNvSpPr txBox="1"/>
          <p:nvPr/>
        </p:nvSpPr>
        <p:spPr>
          <a:xfrm>
            <a:off x="2103779" y="3300348"/>
            <a:ext cx="677108" cy="1077218"/>
          </a:xfrm>
          <a:prstGeom prst="rect">
            <a:avLst/>
          </a:prstGeom>
          <a:noFill/>
        </p:spPr>
        <p:txBody>
          <a:bodyPr vert="horz" wrap="square" rtlCol="0">
            <a:spAutoFit/>
          </a:bodyPr>
          <a:lstStyle/>
          <a:p>
            <a:r>
              <a:rPr lang="zh-CN" altLang="en-US" sz="1600" b="1" dirty="0">
                <a:solidFill>
                  <a:srgbClr val="FF0000"/>
                </a:solidFill>
              </a:rPr>
              <a:t>核心支撑工作流程</a:t>
            </a:r>
            <a:endParaRPr lang="zh-CN" altLang="en-US" sz="1600" b="1" dirty="0">
              <a:solidFill>
                <a:srgbClr val="FF0000"/>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p:cNvSpPr>
          <p:nvPr>
            <p:ph type="title"/>
          </p:nvPr>
        </p:nvSpPr>
        <p:spPr bwMode="auto"/>
        <p:txBody>
          <a:bodyPr vert="horz" wrap="square" lIns="68580" tIns="34290" rIns="68580" bIns="34290" numCol="1" rtlCol="0" anchor="ctr" anchorCtr="0" compatLnSpc="1">
            <a:normAutofit/>
          </a:bodyPr>
          <a:lstStyle/>
          <a:p>
            <a:pPr>
              <a:defRPr/>
            </a:pPr>
            <a:r>
              <a:rPr lang="fr-FR" altLang="zh-CN" dirty="0"/>
              <a:t>RUP</a:t>
            </a:r>
            <a:r>
              <a:rPr lang="zh-CN" altLang="en-US" dirty="0"/>
              <a:t>软件开发生命周期</a:t>
            </a:r>
            <a:endParaRPr lang="zh-CN" altLang="en-US" cap="none" dirty="0">
              <a:solidFill>
                <a:schemeClr val="tx1"/>
              </a:solidFill>
              <a:latin typeface="宋体" panose="02010600030101010101" pitchFamily="2" charset="-122"/>
              <a:ea typeface="宋体" panose="02010600030101010101" pitchFamily="2" charset="-122"/>
            </a:endParaRPr>
          </a:p>
        </p:txBody>
      </p:sp>
      <p:sp>
        <p:nvSpPr>
          <p:cNvPr id="81923" name="Rectangle 3"/>
          <p:cNvSpPr>
            <a:spLocks noGrp="1" noChangeArrowheads="1"/>
          </p:cNvSpPr>
          <p:nvPr>
            <p:ph idx="1"/>
          </p:nvPr>
        </p:nvSpPr>
        <p:spPr>
          <a:xfrm>
            <a:off x="768096" y="961262"/>
            <a:ext cx="7832833" cy="3806854"/>
          </a:xfrm>
        </p:spPr>
        <p:txBody>
          <a:bodyPr>
            <a:noAutofit/>
          </a:bodyPr>
          <a:lstStyle/>
          <a:p>
            <a:pPr fontAlgn="auto">
              <a:spcBef>
                <a:spcPts val="0"/>
              </a:spcBef>
              <a:buFont typeface="Wingdings" panose="05000000000000000000" pitchFamily="2" charset="2"/>
              <a:buNone/>
            </a:pPr>
            <a:r>
              <a:rPr lang="zh-CN" altLang="en-US" sz="2000" b="1" dirty="0">
                <a:solidFill>
                  <a:srgbClr val="FF0000"/>
                </a:solidFill>
                <a:latin typeface="+mj-ea"/>
                <a:ea typeface="+mj-ea"/>
              </a:rPr>
              <a:t>           初始阶段：</a:t>
            </a:r>
            <a:r>
              <a:rPr lang="zh-CN" altLang="en-US" sz="2000" b="1" dirty="0">
                <a:latin typeface="+mj-ea"/>
                <a:ea typeface="+mj-ea"/>
              </a:rPr>
              <a:t>进行问题定义，确定目标系统范围，评估其可行性，降低关键风险。</a:t>
            </a:r>
            <a:r>
              <a:rPr lang="zh-CN" altLang="en-US" sz="2000" dirty="0">
                <a:latin typeface="+mj-ea"/>
                <a:ea typeface="+mj-ea"/>
              </a:rPr>
              <a:t>相当于三段生命周期模型中的计划时期。</a:t>
            </a:r>
            <a:endParaRPr lang="zh-CN" altLang="en-US" sz="2000" b="1" dirty="0">
              <a:latin typeface="+mj-ea"/>
              <a:ea typeface="+mj-ea"/>
            </a:endParaRPr>
          </a:p>
          <a:p>
            <a:pPr fontAlgn="auto">
              <a:spcBef>
                <a:spcPts val="0"/>
              </a:spcBef>
              <a:buFont typeface="Wingdings" panose="05000000000000000000" pitchFamily="2" charset="2"/>
              <a:buNone/>
            </a:pPr>
            <a:r>
              <a:rPr lang="zh-CN" altLang="en-US" sz="2000" b="1" dirty="0">
                <a:solidFill>
                  <a:srgbClr val="FF0000"/>
                </a:solidFill>
                <a:latin typeface="+mj-ea"/>
                <a:ea typeface="+mj-ea"/>
              </a:rPr>
              <a:t>           细化阶段：</a:t>
            </a:r>
            <a:r>
              <a:rPr lang="zh-CN" altLang="en-US" sz="2000" dirty="0">
                <a:latin typeface="+mj-ea"/>
                <a:ea typeface="+mj-ea"/>
              </a:rPr>
              <a:t>主要完成领域问题分析和软件的设计，</a:t>
            </a:r>
            <a:r>
              <a:rPr lang="zh-CN" altLang="en-US" sz="2000" b="1" dirty="0">
                <a:latin typeface="+mj-ea"/>
                <a:ea typeface="+mj-ea"/>
              </a:rPr>
              <a:t>配置各类资源、建立系统架构（包括各类视图）。</a:t>
            </a:r>
            <a:endParaRPr lang="zh-CN" altLang="en-US" sz="2000" b="1" dirty="0">
              <a:latin typeface="+mj-ea"/>
              <a:ea typeface="+mj-ea"/>
            </a:endParaRPr>
          </a:p>
          <a:p>
            <a:pPr fontAlgn="auto">
              <a:spcBef>
                <a:spcPts val="0"/>
              </a:spcBef>
              <a:buFont typeface="Wingdings" panose="05000000000000000000" pitchFamily="2" charset="2"/>
              <a:buNone/>
            </a:pPr>
            <a:r>
              <a:rPr lang="zh-CN" altLang="en-US" sz="2000" b="1" dirty="0">
                <a:solidFill>
                  <a:srgbClr val="FF0000"/>
                </a:solidFill>
                <a:latin typeface="+mj-ea"/>
                <a:ea typeface="+mj-ea"/>
              </a:rPr>
              <a:t>           构造阶段：</a:t>
            </a:r>
            <a:r>
              <a:rPr lang="zh-CN" altLang="en-US" sz="2000" dirty="0">
                <a:latin typeface="+mj-ea"/>
                <a:ea typeface="+mj-ea"/>
              </a:rPr>
              <a:t>该阶段是产品的制造过程，以系统实现和测试为主，重点是管理资源及控制运作以优化成本、进度和质量。</a:t>
            </a:r>
            <a:endParaRPr lang="zh-CN" altLang="en-US" sz="2000" b="1" dirty="0">
              <a:latin typeface="+mj-ea"/>
              <a:ea typeface="+mj-ea"/>
            </a:endParaRPr>
          </a:p>
          <a:p>
            <a:pPr fontAlgn="auto">
              <a:spcBef>
                <a:spcPts val="0"/>
              </a:spcBef>
              <a:buFont typeface="Wingdings" panose="05000000000000000000" pitchFamily="2" charset="2"/>
              <a:buNone/>
            </a:pPr>
            <a:r>
              <a:rPr lang="zh-CN" altLang="en-US" sz="2000" b="1" dirty="0">
                <a:solidFill>
                  <a:srgbClr val="FF0000"/>
                </a:solidFill>
                <a:latin typeface="+mj-ea"/>
                <a:ea typeface="+mj-ea"/>
              </a:rPr>
              <a:t>           移交阶段：</a:t>
            </a:r>
            <a:r>
              <a:rPr lang="zh-CN" altLang="en-US" sz="2000" b="1" dirty="0">
                <a:latin typeface="+mj-ea"/>
                <a:ea typeface="+mj-ea"/>
              </a:rPr>
              <a:t>产品发布、安装、用户培训。</a:t>
            </a:r>
            <a:r>
              <a:rPr lang="zh-CN" altLang="en-US" sz="2000" dirty="0">
                <a:latin typeface="+mj-ea"/>
                <a:ea typeface="+mj-ea"/>
              </a:rPr>
              <a:t>重点是确保软件对最终用户是可用的。</a:t>
            </a:r>
            <a:endParaRPr lang="zh-CN" altLang="en-US" sz="2000" b="1" dirty="0">
              <a:latin typeface="+mj-ea"/>
              <a:ea typeface="+mj-ea"/>
            </a:endParaRPr>
          </a:p>
          <a:p>
            <a:pPr fontAlgn="auto">
              <a:spcBef>
                <a:spcPts val="0"/>
              </a:spcBef>
              <a:buFont typeface="Wingdings" panose="05000000000000000000" pitchFamily="2" charset="2"/>
              <a:buNone/>
            </a:pPr>
            <a:r>
              <a:rPr lang="zh-CN" altLang="en-US" sz="2000" b="1" dirty="0">
                <a:latin typeface="+mj-ea"/>
                <a:ea typeface="+mj-ea"/>
              </a:rPr>
              <a:t>           不同阶段工作流的侧重点不同，前两阶段大部分工作集中在需求、分析和架构设计上；在构造阶段，重点转移到详细设计、实现和测试上。</a:t>
            </a:r>
            <a:endParaRPr lang="zh-CN" altLang="en-US" sz="2000" b="1" dirty="0">
              <a:latin typeface="+mj-ea"/>
              <a:ea typeface="+mj-ea"/>
            </a:endParaRPr>
          </a:p>
        </p:txBody>
      </p:sp>
      <p:sp>
        <p:nvSpPr>
          <p:cNvPr id="2" name="日期占位符 1"/>
          <p:cNvSpPr>
            <a:spLocks noGrp="1"/>
          </p:cNvSpPr>
          <p:nvPr>
            <p:ph type="dt" sz="half" idx="10"/>
          </p:nvPr>
        </p:nvSpPr>
        <p:spPr/>
        <p:txBody>
          <a:bodyPr/>
          <a:lstStyle/>
          <a:p>
            <a:fld id="{C441B35D-2914-48CB-828B-BC6ABB7ACC1A}"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AEC086C4-BB49-4EC5-803C-DF6C099D78ED}" type="slidenum">
              <a:rPr lang="ko-KR" altLang="en-US" smtClean="0"/>
            </a:fld>
            <a:endParaRPr lang="en-US" altLang="ko-K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RUP</a:t>
            </a:r>
            <a:r>
              <a:rPr lang="zh-CN" altLang="en-US" dirty="0"/>
              <a:t>的特点</a:t>
            </a:r>
            <a:endParaRPr lang="zh-CN" altLang="en-US" dirty="0"/>
          </a:p>
        </p:txBody>
      </p:sp>
      <p:sp>
        <p:nvSpPr>
          <p:cNvPr id="3" name="内容占位符 2"/>
          <p:cNvSpPr>
            <a:spLocks noGrp="1"/>
          </p:cNvSpPr>
          <p:nvPr>
            <p:ph idx="1"/>
          </p:nvPr>
        </p:nvSpPr>
        <p:spPr>
          <a:xfrm>
            <a:off x="768097" y="1082842"/>
            <a:ext cx="7832833" cy="3392906"/>
          </a:xfrm>
        </p:spPr>
        <p:txBody>
          <a:bodyPr>
            <a:normAutofit/>
          </a:bodyPr>
          <a:lstStyle/>
          <a:p>
            <a:pPr marL="0" indent="0" algn="just">
              <a:lnSpc>
                <a:spcPct val="100000"/>
              </a:lnSpc>
              <a:spcAft>
                <a:spcPts val="1200"/>
              </a:spcAft>
              <a:buNone/>
            </a:pPr>
            <a:r>
              <a:rPr lang="en-US" altLang="zh-CN" sz="2200" dirty="0">
                <a:latin typeface="+mj-ea"/>
                <a:ea typeface="+mj-ea"/>
              </a:rPr>
              <a:t>       RUP</a:t>
            </a:r>
            <a:r>
              <a:rPr lang="zh-CN" altLang="en-US" sz="2200" dirty="0">
                <a:latin typeface="+mj-ea"/>
                <a:ea typeface="+mj-ea"/>
              </a:rPr>
              <a:t>是</a:t>
            </a:r>
            <a:r>
              <a:rPr lang="zh-CN" altLang="en-US" sz="2200" dirty="0">
                <a:solidFill>
                  <a:srgbClr val="FF0000"/>
                </a:solidFill>
                <a:latin typeface="+mj-ea"/>
                <a:ea typeface="+mj-ea"/>
              </a:rPr>
              <a:t>风险驱动</a:t>
            </a:r>
            <a:r>
              <a:rPr lang="zh-CN" altLang="en-US" sz="2200" dirty="0">
                <a:latin typeface="+mj-ea"/>
                <a:ea typeface="+mj-ea"/>
              </a:rPr>
              <a:t>的、</a:t>
            </a:r>
            <a:r>
              <a:rPr lang="zh-CN" altLang="en-US" sz="2200" dirty="0">
                <a:solidFill>
                  <a:srgbClr val="FF0000"/>
                </a:solidFill>
                <a:latin typeface="+mj-ea"/>
                <a:ea typeface="+mj-ea"/>
              </a:rPr>
              <a:t>基于</a:t>
            </a:r>
            <a:r>
              <a:rPr lang="en-US" altLang="zh-CN" sz="2200" dirty="0" err="1">
                <a:solidFill>
                  <a:srgbClr val="FF0000"/>
                </a:solidFill>
                <a:latin typeface="+mj-ea"/>
                <a:ea typeface="+mj-ea"/>
              </a:rPr>
              <a:t>UseCase</a:t>
            </a:r>
            <a:r>
              <a:rPr lang="zh-CN" altLang="en-US" sz="2200" dirty="0">
                <a:solidFill>
                  <a:srgbClr val="FF0000"/>
                </a:solidFill>
                <a:latin typeface="+mj-ea"/>
                <a:ea typeface="+mj-ea"/>
              </a:rPr>
              <a:t>技术</a:t>
            </a:r>
            <a:r>
              <a:rPr lang="zh-CN" altLang="en-US" sz="2200" dirty="0">
                <a:latin typeface="+mj-ea"/>
                <a:ea typeface="+mj-ea"/>
              </a:rPr>
              <a:t>的、以架构为中心的、</a:t>
            </a:r>
            <a:r>
              <a:rPr lang="zh-CN" altLang="en-US" sz="2200" dirty="0">
                <a:solidFill>
                  <a:srgbClr val="FF0000"/>
                </a:solidFill>
                <a:latin typeface="+mj-ea"/>
                <a:ea typeface="+mj-ea"/>
              </a:rPr>
              <a:t>迭代的</a:t>
            </a:r>
            <a:r>
              <a:rPr lang="zh-CN" altLang="en-US" sz="2200" dirty="0">
                <a:latin typeface="+mj-ea"/>
                <a:ea typeface="+mj-ea"/>
              </a:rPr>
              <a:t>、可配置的软件开发流程。我们可以针对</a:t>
            </a:r>
            <a:r>
              <a:rPr lang="en-US" altLang="zh-CN" sz="2200" dirty="0">
                <a:latin typeface="+mj-ea"/>
                <a:ea typeface="+mj-ea"/>
              </a:rPr>
              <a:t>RUP</a:t>
            </a:r>
            <a:r>
              <a:rPr lang="zh-CN" altLang="en-US" sz="2200" dirty="0">
                <a:latin typeface="+mj-ea"/>
                <a:ea typeface="+mj-ea"/>
              </a:rPr>
              <a:t>所规定出的流程，进行客户化定制，定制出适合自己组织的实用的软件流程。因此</a:t>
            </a:r>
            <a:r>
              <a:rPr lang="en-US" altLang="zh-CN" sz="2200" dirty="0">
                <a:latin typeface="+mj-ea"/>
                <a:ea typeface="+mj-ea"/>
              </a:rPr>
              <a:t>RUP</a:t>
            </a:r>
            <a:r>
              <a:rPr lang="zh-CN" altLang="en-US" sz="2200" dirty="0">
                <a:latin typeface="+mj-ea"/>
                <a:ea typeface="+mj-ea"/>
              </a:rPr>
              <a:t>是一个流程定义平台，是一个流程框架。</a:t>
            </a:r>
            <a:endParaRPr lang="en-US" altLang="zh-CN" sz="2200" dirty="0">
              <a:latin typeface="+mj-ea"/>
              <a:ea typeface="+mj-ea"/>
            </a:endParaRPr>
          </a:p>
          <a:p>
            <a:pPr marL="386080" indent="-386080" algn="just">
              <a:lnSpc>
                <a:spcPct val="100000"/>
              </a:lnSpc>
              <a:spcAft>
                <a:spcPts val="0"/>
              </a:spcAft>
              <a:buFont typeface="+mj-lt"/>
              <a:buAutoNum type="arabicPeriod"/>
            </a:pPr>
            <a:r>
              <a:rPr lang="zh-CN" altLang="en-US" sz="2000" dirty="0">
                <a:latin typeface="+mj-ea"/>
                <a:ea typeface="+mj-ea"/>
              </a:rPr>
              <a:t>软件开发是一个</a:t>
            </a:r>
            <a:r>
              <a:rPr lang="zh-CN" altLang="en-US" sz="2000" dirty="0">
                <a:solidFill>
                  <a:srgbClr val="FF0000"/>
                </a:solidFill>
                <a:latin typeface="+mj-ea"/>
                <a:ea typeface="+mj-ea"/>
              </a:rPr>
              <a:t>迭代与增量相结合</a:t>
            </a:r>
            <a:r>
              <a:rPr lang="zh-CN" altLang="en-US" sz="2000" dirty="0">
                <a:latin typeface="+mj-ea"/>
                <a:ea typeface="+mj-ea"/>
              </a:rPr>
              <a:t>的过程；</a:t>
            </a:r>
            <a:endParaRPr lang="en-US" altLang="zh-CN" sz="2000" dirty="0">
              <a:latin typeface="+mj-ea"/>
              <a:ea typeface="+mj-ea"/>
            </a:endParaRPr>
          </a:p>
          <a:p>
            <a:pPr marL="386080" indent="-386080" algn="just">
              <a:lnSpc>
                <a:spcPct val="100000"/>
              </a:lnSpc>
              <a:spcAft>
                <a:spcPts val="0"/>
              </a:spcAft>
              <a:buFont typeface="+mj-lt"/>
              <a:buAutoNum type="arabicPeriod"/>
            </a:pPr>
            <a:r>
              <a:rPr lang="zh-CN" altLang="en-US" sz="2000" dirty="0">
                <a:latin typeface="+mj-ea"/>
                <a:ea typeface="+mj-ea"/>
              </a:rPr>
              <a:t>软件开发是由</a:t>
            </a:r>
            <a:r>
              <a:rPr lang="zh-CN" altLang="en-US" sz="2000" dirty="0">
                <a:solidFill>
                  <a:srgbClr val="FF0000"/>
                </a:solidFill>
                <a:latin typeface="+mj-ea"/>
                <a:ea typeface="+mj-ea"/>
              </a:rPr>
              <a:t>用例驱动</a:t>
            </a:r>
            <a:r>
              <a:rPr lang="zh-CN" altLang="en-US" sz="2000" dirty="0">
                <a:latin typeface="+mj-ea"/>
                <a:ea typeface="+mj-ea"/>
              </a:rPr>
              <a:t>的；</a:t>
            </a:r>
            <a:endParaRPr lang="en-US" altLang="zh-CN" sz="2000" dirty="0">
              <a:latin typeface="+mj-ea"/>
              <a:ea typeface="+mj-ea"/>
            </a:endParaRPr>
          </a:p>
          <a:p>
            <a:pPr marL="386080" indent="-386080" algn="just">
              <a:lnSpc>
                <a:spcPct val="100000"/>
              </a:lnSpc>
              <a:spcAft>
                <a:spcPts val="0"/>
              </a:spcAft>
              <a:buFont typeface="+mj-lt"/>
              <a:buAutoNum type="arabicPeriod"/>
            </a:pPr>
            <a:r>
              <a:rPr lang="zh-CN" altLang="en-US" sz="2000" dirty="0">
                <a:latin typeface="+mj-ea"/>
                <a:ea typeface="+mj-ea"/>
              </a:rPr>
              <a:t>软件开发是以</a:t>
            </a:r>
            <a:r>
              <a:rPr lang="zh-CN" altLang="en-US" sz="2000" dirty="0">
                <a:solidFill>
                  <a:srgbClr val="FF0000"/>
                </a:solidFill>
                <a:latin typeface="+mj-ea"/>
                <a:ea typeface="+mj-ea"/>
              </a:rPr>
              <a:t>架构设计</a:t>
            </a:r>
            <a:r>
              <a:rPr lang="zh-CN" altLang="en-US" sz="2000" dirty="0">
                <a:latin typeface="+mj-ea"/>
                <a:ea typeface="+mj-ea"/>
              </a:rPr>
              <a:t>（</a:t>
            </a:r>
            <a:r>
              <a:rPr lang="en-US" altLang="zh-CN" sz="2000" dirty="0">
                <a:latin typeface="+mj-ea"/>
                <a:ea typeface="+mj-ea"/>
              </a:rPr>
              <a:t>Architecture Design</a:t>
            </a:r>
            <a:r>
              <a:rPr lang="zh-CN" altLang="en-US" sz="2000" dirty="0">
                <a:latin typeface="+mj-ea"/>
                <a:ea typeface="+mj-ea"/>
              </a:rPr>
              <a:t>）为中心的。</a:t>
            </a:r>
            <a:endParaRPr lang="en-US" altLang="zh-CN" sz="2000" dirty="0">
              <a:latin typeface="+mj-ea"/>
              <a:ea typeface="+mj-ea"/>
            </a:endParaRPr>
          </a:p>
        </p:txBody>
      </p:sp>
      <p:sp>
        <p:nvSpPr>
          <p:cNvPr id="5" name="日期占位符 4"/>
          <p:cNvSpPr>
            <a:spLocks noGrp="1"/>
          </p:cNvSpPr>
          <p:nvPr>
            <p:ph type="dt" sz="half" idx="10"/>
          </p:nvPr>
        </p:nvSpPr>
        <p:spPr/>
        <p:txBody>
          <a:bodyPr/>
          <a:lstStyle/>
          <a:p>
            <a:fld id="{FA169F9D-DD74-4A78-B065-07D4719F0516}"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RUP</a:t>
            </a:r>
            <a:r>
              <a:rPr lang="zh-CN" altLang="en-US" dirty="0">
                <a:sym typeface="+mn-ea"/>
              </a:rPr>
              <a:t>的特点</a:t>
            </a:r>
            <a:endParaRPr lang="zh-CN" altLang="en-US"/>
          </a:p>
        </p:txBody>
      </p:sp>
      <p:sp>
        <p:nvSpPr>
          <p:cNvPr id="3" name="内容占位符 2"/>
          <p:cNvSpPr>
            <a:spLocks noGrp="1"/>
          </p:cNvSpPr>
          <p:nvPr>
            <p:ph idx="1"/>
          </p:nvPr>
        </p:nvSpPr>
        <p:spPr/>
        <p:txBody>
          <a:bodyPr/>
          <a:lstStyle/>
          <a:p>
            <a:r>
              <a:rPr lang="zh-CN" altLang="en-US"/>
              <a:t>所有的软件开发都是用户需求驱动的。统一开发过程采用用例来描述用户需求，同时提供一套方法把用例转化为设计的类图，进一步变成最终的程序代码，在整个软件开发过程中，要求用例时可以跟踪的，也就是说，无论时设计阶段还是实现阶段的产品，都可以找到相应的需求。</a:t>
            </a:r>
            <a:endParaRPr lang="zh-CN" altLang="en-US"/>
          </a:p>
        </p:txBody>
      </p:sp>
      <p:sp>
        <p:nvSpPr>
          <p:cNvPr id="4" name="日期占位符 3"/>
          <p:cNvSpPr>
            <a:spLocks noGrp="1"/>
          </p:cNvSpPr>
          <p:nvPr>
            <p:ph type="dt" sz="half" idx="10"/>
          </p:nvPr>
        </p:nvSpPr>
        <p:spPr/>
        <p:txBody>
          <a:bodyPr/>
          <a:lstStyle/>
          <a:p>
            <a:fld id="{CCC219E2-292A-4B48-AE9D-F87929BD94B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RUP</a:t>
            </a:r>
            <a:r>
              <a:rPr lang="zh-CN" altLang="en-US" dirty="0">
                <a:sym typeface="+mn-ea"/>
              </a:rPr>
              <a:t>的特点</a:t>
            </a:r>
            <a:endParaRPr lang="zh-CN" altLang="en-US"/>
          </a:p>
        </p:txBody>
      </p:sp>
      <p:sp>
        <p:nvSpPr>
          <p:cNvPr id="3" name="内容占位符 2"/>
          <p:cNvSpPr>
            <a:spLocks noGrp="1"/>
          </p:cNvSpPr>
          <p:nvPr>
            <p:ph idx="1"/>
          </p:nvPr>
        </p:nvSpPr>
        <p:spPr/>
        <p:txBody>
          <a:bodyPr/>
          <a:lstStyle/>
          <a:p>
            <a:r>
              <a:rPr lang="zh-CN" altLang="en-US"/>
              <a:t>架构是一个小的有骨架的系统，它实现了用户的核心需求，包括了系统中最重要的静态和动态特征。架构刻画了系统的整理设计，它舍弃了细节部分，突出了系统的重要特征。统一软件过程提供了创建架构的相应方法和过程，可以帮助分析人员和设计人员很好的完成架构设计。</a:t>
            </a:r>
            <a:endParaRPr lang="zh-CN" altLang="en-US"/>
          </a:p>
        </p:txBody>
      </p:sp>
      <p:sp>
        <p:nvSpPr>
          <p:cNvPr id="4" name="日期占位符 3"/>
          <p:cNvSpPr>
            <a:spLocks noGrp="1"/>
          </p:cNvSpPr>
          <p:nvPr>
            <p:ph type="dt" sz="half" idx="10"/>
          </p:nvPr>
        </p:nvSpPr>
        <p:spPr/>
        <p:txBody>
          <a:bodyPr/>
          <a:lstStyle/>
          <a:p>
            <a:fld id="{CCC219E2-292A-4B48-AE9D-F87929BD94B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日期占位符 3"/>
          <p:cNvSpPr>
            <a:spLocks noGrp="1"/>
          </p:cNvSpPr>
          <p:nvPr>
            <p:ph type="dt" sz="half" idx="10"/>
          </p:nvPr>
        </p:nvSpPr>
        <p:spPr/>
        <p:txBody>
          <a:bodyPr/>
          <a:lstStyle/>
          <a:p>
            <a:fld id="{CCC219E2-292A-4B48-AE9D-F87929BD94B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3" name="内容占位符 -2147482619" descr="1"/>
          <p:cNvPicPr>
            <a:picLocks noGrp="1" noChangeAspect="1"/>
          </p:cNvPicPr>
          <p:nvPr>
            <p:ph idx="1"/>
          </p:nvPr>
        </p:nvPicPr>
        <p:blipFill>
          <a:blip r:embed="rId1"/>
          <a:stretch>
            <a:fillRect/>
          </a:stretch>
        </p:blipFill>
        <p:spPr>
          <a:xfrm>
            <a:off x="2259330" y="185420"/>
            <a:ext cx="4091305" cy="4723765"/>
          </a:xfrm>
          <a:prstGeom prst="rect">
            <a:avLst/>
          </a:prstGeom>
          <a:noFill/>
          <a:ln w="9525">
            <a:noFill/>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RUP</a:t>
            </a:r>
            <a:r>
              <a:rPr lang="zh-CN" altLang="en-US" dirty="0">
                <a:sym typeface="+mn-ea"/>
              </a:rPr>
              <a:t>的特点</a:t>
            </a:r>
            <a:endParaRPr lang="zh-CN" altLang="en-US"/>
          </a:p>
        </p:txBody>
      </p:sp>
      <p:sp>
        <p:nvSpPr>
          <p:cNvPr id="3" name="内容占位符 2"/>
          <p:cNvSpPr>
            <a:spLocks noGrp="1"/>
          </p:cNvSpPr>
          <p:nvPr>
            <p:ph idx="1"/>
          </p:nvPr>
        </p:nvSpPr>
        <p:spPr/>
        <p:txBody>
          <a:bodyPr/>
          <a:lstStyle/>
          <a:p>
            <a:r>
              <a:rPr lang="zh-CN" altLang="en-US"/>
              <a:t>统一软件过程采用迭代和增量的开发方式，把一个软件产品分成多个较小的部分，每一次完成一个部分，每次要迭代部分是产品的一个增量部分。每个增量部分的生产过程是受控的。</a:t>
            </a:r>
            <a:endParaRPr lang="zh-CN" altLang="en-US"/>
          </a:p>
        </p:txBody>
      </p:sp>
      <p:sp>
        <p:nvSpPr>
          <p:cNvPr id="4" name="日期占位符 3"/>
          <p:cNvSpPr>
            <a:spLocks noGrp="1"/>
          </p:cNvSpPr>
          <p:nvPr>
            <p:ph type="dt" sz="half" idx="10"/>
          </p:nvPr>
        </p:nvSpPr>
        <p:spPr/>
        <p:txBody>
          <a:bodyPr/>
          <a:lstStyle/>
          <a:p>
            <a:fld id="{CCC219E2-292A-4B48-AE9D-F87929BD94B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RUP</a:t>
            </a:r>
            <a:r>
              <a:rPr lang="zh-CN" altLang="en-US" dirty="0">
                <a:sym typeface="+mn-ea"/>
              </a:rPr>
              <a:t>的特点</a:t>
            </a:r>
            <a:endParaRPr lang="zh-CN" altLang="en-US"/>
          </a:p>
        </p:txBody>
      </p:sp>
      <p:sp>
        <p:nvSpPr>
          <p:cNvPr id="3" name="内容占位符 2"/>
          <p:cNvSpPr>
            <a:spLocks noGrp="1"/>
          </p:cNvSpPr>
          <p:nvPr>
            <p:ph idx="1"/>
          </p:nvPr>
        </p:nvSpPr>
        <p:spPr/>
        <p:txBody>
          <a:bodyPr/>
          <a:lstStyle/>
          <a:p>
            <a:r>
              <a:rPr lang="zh-CN" altLang="en-US"/>
              <a:t>采用迭代过程的优势：</a:t>
            </a:r>
            <a:endParaRPr lang="zh-CN" altLang="en-US"/>
          </a:p>
          <a:p>
            <a:r>
              <a:rPr lang="zh-CN" altLang="en-US"/>
              <a:t>把一个复杂的系统分解成多个简单的系统</a:t>
            </a:r>
            <a:endParaRPr lang="zh-CN" altLang="en-US"/>
          </a:p>
          <a:p>
            <a:r>
              <a:rPr lang="zh-CN" altLang="en-US"/>
              <a:t>提高软件项目的可控性</a:t>
            </a:r>
            <a:endParaRPr lang="zh-CN" altLang="en-US"/>
          </a:p>
          <a:p>
            <a:r>
              <a:rPr lang="zh-CN" altLang="en-US"/>
              <a:t>降低软件开发风险</a:t>
            </a:r>
            <a:endParaRPr lang="zh-CN" altLang="en-US"/>
          </a:p>
          <a:p>
            <a:r>
              <a:rPr lang="zh-CN" altLang="en-US"/>
              <a:t>有效的应对需求变更</a:t>
            </a:r>
            <a:endParaRPr lang="zh-CN" altLang="en-US"/>
          </a:p>
        </p:txBody>
      </p:sp>
      <p:sp>
        <p:nvSpPr>
          <p:cNvPr id="4" name="日期占位符 3"/>
          <p:cNvSpPr>
            <a:spLocks noGrp="1"/>
          </p:cNvSpPr>
          <p:nvPr>
            <p:ph type="dt" sz="half" idx="10"/>
          </p:nvPr>
        </p:nvSpPr>
        <p:spPr/>
        <p:txBody>
          <a:bodyPr/>
          <a:lstStyle/>
          <a:p>
            <a:fld id="{CCC219E2-292A-4B48-AE9D-F87929BD94B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0" name="图片 9" descr="图片2"/>
          <p:cNvPicPr>
            <a:picLocks noChangeAspect="1"/>
          </p:cNvPicPr>
          <p:nvPr/>
        </p:nvPicPr>
        <p:blipFill>
          <a:blip r:embed="rId1"/>
          <a:stretch>
            <a:fillRect/>
          </a:stretch>
        </p:blipFill>
        <p:spPr>
          <a:xfrm>
            <a:off x="1166495" y="3267710"/>
            <a:ext cx="6072505" cy="1717040"/>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RUP</a:t>
            </a:r>
            <a:r>
              <a:rPr lang="zh-CN" altLang="en-US" dirty="0">
                <a:sym typeface="+mn-ea"/>
              </a:rPr>
              <a:t>的特点</a:t>
            </a:r>
            <a:endParaRPr lang="zh-CN" altLang="en-US"/>
          </a:p>
        </p:txBody>
      </p:sp>
      <p:sp>
        <p:nvSpPr>
          <p:cNvPr id="4" name="日期占位符 3"/>
          <p:cNvSpPr>
            <a:spLocks noGrp="1"/>
          </p:cNvSpPr>
          <p:nvPr>
            <p:ph type="dt" sz="half" idx="10"/>
          </p:nvPr>
        </p:nvSpPr>
        <p:spPr/>
        <p:txBody>
          <a:bodyPr/>
          <a:lstStyle/>
          <a:p>
            <a:fld id="{CCC219E2-292A-4B48-AE9D-F87929BD94B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8" name="内容占位符 7"/>
          <p:cNvSpPr>
            <a:spLocks noGrp="1"/>
          </p:cNvSpPr>
          <p:nvPr>
            <p:ph idx="1"/>
          </p:nvPr>
        </p:nvSpPr>
        <p:spPr>
          <a:xfrm>
            <a:off x="768097" y="828647"/>
            <a:ext cx="7832833" cy="3806854"/>
          </a:xfrm>
        </p:spPr>
        <p:txBody>
          <a:bodyPr>
            <a:noAutofit/>
          </a:bodyPr>
          <a:lstStyle/>
          <a:p>
            <a:r>
              <a:rPr lang="zh-CN" altLang="en-US" sz="2400"/>
              <a:t>管理需求。确定系统的需求是一个连续的过程，开发人员在开发系统之前不可能完全详细的说明一个系统的真正需求。</a:t>
            </a:r>
            <a:r>
              <a:rPr lang="en-US" altLang="zh-CN" sz="2400"/>
              <a:t>RUP</a:t>
            </a:r>
            <a:r>
              <a:rPr lang="zh-CN" altLang="en-US" sz="2400"/>
              <a:t>描述了如何提取、组织系统的功能和约束条件并将其文档化，用例和脚本的实验以被证明是捕获功能性需求的有效方法。</a:t>
            </a:r>
            <a:endParaRPr lang="zh-CN" altLang="en-US" sz="2400"/>
          </a:p>
          <a:p>
            <a:r>
              <a:rPr lang="zh-CN" altLang="en-US" sz="2400"/>
              <a:t>可视化建模。</a:t>
            </a:r>
            <a:r>
              <a:rPr lang="en-US" altLang="zh-CN" sz="2400"/>
              <a:t>RUP</a:t>
            </a:r>
            <a:r>
              <a:rPr lang="zh-CN" altLang="en-US" sz="2400"/>
              <a:t>往往和</a:t>
            </a:r>
            <a:r>
              <a:rPr lang="en-US" altLang="zh-CN" sz="2400"/>
              <a:t>UML</a:t>
            </a:r>
            <a:r>
              <a:rPr lang="zh-CN" altLang="en-US" sz="2400"/>
              <a:t>联系在一起，对软件系统建立可视化模型，帮助人们提供管理软件复杂性的能力。</a:t>
            </a:r>
            <a:r>
              <a:rPr lang="en-US" altLang="zh-CN" sz="2400"/>
              <a:t>RUP</a:t>
            </a:r>
            <a:r>
              <a:rPr lang="zh-CN" altLang="en-US" sz="2400"/>
              <a:t>告诉我们如何可视化的对软件系统建模，获取有关体系结构和组件的结构和行为信息。</a:t>
            </a:r>
            <a:endParaRPr lang="zh-CN" altLang="en-US" sz="240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RUP</a:t>
            </a:r>
            <a:r>
              <a:rPr lang="zh-CN" altLang="en-US" dirty="0">
                <a:sym typeface="+mn-ea"/>
              </a:rPr>
              <a:t>的特点</a:t>
            </a:r>
            <a:endParaRPr lang="zh-CN" altLang="en-US"/>
          </a:p>
        </p:txBody>
      </p:sp>
      <p:sp>
        <p:nvSpPr>
          <p:cNvPr id="3" name="内容占位符 2"/>
          <p:cNvSpPr>
            <a:spLocks noGrp="1"/>
          </p:cNvSpPr>
          <p:nvPr>
            <p:ph idx="1"/>
          </p:nvPr>
        </p:nvSpPr>
        <p:spPr/>
        <p:txBody>
          <a:bodyPr>
            <a:normAutofit/>
          </a:bodyPr>
          <a:lstStyle/>
          <a:p>
            <a:r>
              <a:rPr lang="zh-CN" altLang="en-US" sz="2400"/>
              <a:t>验证软件质量。在</a:t>
            </a:r>
            <a:r>
              <a:rPr lang="en-US" altLang="zh-CN" sz="2400"/>
              <a:t>RUP</a:t>
            </a:r>
            <a:r>
              <a:rPr lang="zh-CN" altLang="en-US" sz="2400"/>
              <a:t>中软件质量评估不再是事后进行或单独小组进行的分离活动，而是内建于过程中的所有活动，这样可以及早发现软件中的缺陷。</a:t>
            </a:r>
            <a:endParaRPr lang="zh-CN" altLang="en-US" sz="2400"/>
          </a:p>
          <a:p>
            <a:r>
              <a:rPr lang="zh-CN" altLang="en-US" sz="2400"/>
              <a:t>控制软件变更。迭代式开发中如果没有严格的控制和协调，整个软件开发过程很快就陷入混乱之中，</a:t>
            </a:r>
            <a:r>
              <a:rPr lang="en-US" altLang="zh-CN" sz="2400"/>
              <a:t>RUP</a:t>
            </a:r>
            <a:r>
              <a:rPr lang="zh-CN" altLang="en-US" sz="2400"/>
              <a:t>描述了如何控制、跟踪、监控、修改以确保成功的迭代开发。</a:t>
            </a:r>
            <a:r>
              <a:rPr lang="en-US" altLang="zh-CN" sz="2400"/>
              <a:t>RUP</a:t>
            </a:r>
            <a:r>
              <a:rPr lang="zh-CN" altLang="en-US" sz="2400"/>
              <a:t>通过软件开发过程中的制品，隔离来自其他工作空间的变更，以此为每个开发人员建立安全的工作空间。</a:t>
            </a:r>
            <a:endParaRPr lang="zh-CN" altLang="en-US" sz="2400"/>
          </a:p>
        </p:txBody>
      </p:sp>
      <p:sp>
        <p:nvSpPr>
          <p:cNvPr id="4" name="日期占位符 3"/>
          <p:cNvSpPr>
            <a:spLocks noGrp="1"/>
          </p:cNvSpPr>
          <p:nvPr>
            <p:ph type="dt" sz="half" idx="10"/>
          </p:nvPr>
        </p:nvSpPr>
        <p:spPr/>
        <p:txBody>
          <a:bodyPr/>
          <a:lstStyle/>
          <a:p>
            <a:fld id="{CCC219E2-292A-4B48-AE9D-F87929BD94B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RUP</a:t>
            </a:r>
            <a:r>
              <a:rPr lang="zh-CN" altLang="en-US" dirty="0"/>
              <a:t>模型给予的启示</a:t>
            </a:r>
            <a:endParaRPr lang="zh-CN" altLang="en-US" dirty="0"/>
          </a:p>
        </p:txBody>
      </p:sp>
      <p:sp>
        <p:nvSpPr>
          <p:cNvPr id="3" name="内容占位符 2"/>
          <p:cNvSpPr>
            <a:spLocks noGrp="1"/>
          </p:cNvSpPr>
          <p:nvPr>
            <p:ph idx="1"/>
          </p:nvPr>
        </p:nvSpPr>
        <p:spPr>
          <a:xfrm>
            <a:off x="1259118" y="1019444"/>
            <a:ext cx="6001940" cy="3643052"/>
          </a:xfrm>
        </p:spPr>
        <p:txBody>
          <a:bodyPr>
            <a:normAutofit/>
          </a:bodyPr>
          <a:lstStyle/>
          <a:p>
            <a:pPr algn="just">
              <a:spcBef>
                <a:spcPts val="1800"/>
              </a:spcBef>
              <a:buClr>
                <a:schemeClr val="accent6"/>
              </a:buClr>
              <a:buFontTx/>
              <a:buChar char="∆"/>
            </a:pPr>
            <a:r>
              <a:rPr lang="zh-CN" altLang="en-US" sz="2400" dirty="0">
                <a:latin typeface="+mj-ea"/>
                <a:ea typeface="+mj-ea"/>
              </a:rPr>
              <a:t>重叠思想的表达 </a:t>
            </a:r>
            <a:endParaRPr lang="zh-CN" altLang="en-US" sz="2400" dirty="0">
              <a:latin typeface="+mj-ea"/>
              <a:ea typeface="+mj-ea"/>
            </a:endParaRPr>
          </a:p>
          <a:p>
            <a:pPr algn="just">
              <a:spcBef>
                <a:spcPts val="1800"/>
              </a:spcBef>
              <a:buClr>
                <a:schemeClr val="accent6"/>
              </a:buClr>
              <a:buFontTx/>
              <a:buChar char="∆"/>
            </a:pPr>
            <a:r>
              <a:rPr lang="zh-CN" altLang="en-US" sz="2400" dirty="0">
                <a:latin typeface="+mj-ea"/>
                <a:ea typeface="+mj-ea"/>
              </a:rPr>
              <a:t>更合理的生命周期模型 </a:t>
            </a:r>
            <a:endParaRPr lang="zh-CN" altLang="en-US" sz="2400" dirty="0">
              <a:latin typeface="+mj-ea"/>
              <a:ea typeface="+mj-ea"/>
            </a:endParaRPr>
          </a:p>
          <a:p>
            <a:pPr>
              <a:spcBef>
                <a:spcPts val="1800"/>
              </a:spcBef>
              <a:buClr>
                <a:schemeClr val="accent6"/>
              </a:buClr>
              <a:buFontTx/>
              <a:buChar char="∆"/>
            </a:pPr>
            <a:r>
              <a:rPr lang="zh-CN" altLang="en-US" sz="2400" dirty="0">
                <a:latin typeface="+mj-ea"/>
                <a:ea typeface="+mj-ea"/>
              </a:rPr>
              <a:t>结束关于</a:t>
            </a:r>
            <a:r>
              <a:rPr lang="en-US" altLang="zh-CN" sz="2400" dirty="0">
                <a:latin typeface="+mj-ea"/>
                <a:ea typeface="+mj-ea"/>
                <a:cs typeface="Times New Roman" panose="02020603050405020304" pitchFamily="18" charset="0"/>
              </a:rPr>
              <a:t>RUP</a:t>
            </a:r>
            <a:r>
              <a:rPr lang="zh-CN" altLang="en-US" sz="2400" dirty="0">
                <a:latin typeface="+mj-ea"/>
                <a:ea typeface="+mj-ea"/>
              </a:rPr>
              <a:t>没有维护活动的争论 </a:t>
            </a:r>
            <a:endParaRPr lang="zh-CN" altLang="en-US" sz="2400" dirty="0">
              <a:latin typeface="+mj-ea"/>
              <a:ea typeface="+mj-ea"/>
            </a:endParaRPr>
          </a:p>
          <a:p>
            <a:pPr>
              <a:spcBef>
                <a:spcPts val="1800"/>
              </a:spcBef>
              <a:buClr>
                <a:schemeClr val="accent6"/>
              </a:buClr>
              <a:buFontTx/>
              <a:buChar char="∆"/>
            </a:pPr>
            <a:r>
              <a:rPr lang="zh-CN" altLang="en-US" sz="2400" dirty="0">
                <a:latin typeface="+mj-ea"/>
                <a:ea typeface="+mj-ea"/>
              </a:rPr>
              <a:t>完美的增量开发</a:t>
            </a:r>
            <a:r>
              <a:rPr lang="en-US" altLang="zh-CN" sz="2400" dirty="0">
                <a:latin typeface="+mj-ea"/>
                <a:ea typeface="+mj-ea"/>
              </a:rPr>
              <a:t>——</a:t>
            </a:r>
            <a:r>
              <a:rPr lang="zh-CN" altLang="en-US" sz="2400" dirty="0">
                <a:latin typeface="+mj-ea"/>
                <a:ea typeface="+mj-ea"/>
              </a:rPr>
              <a:t>双重迭代 </a:t>
            </a:r>
            <a:endParaRPr lang="zh-CN" altLang="en-US" sz="2400" dirty="0">
              <a:latin typeface="+mj-ea"/>
              <a:ea typeface="+mj-ea"/>
            </a:endParaRPr>
          </a:p>
          <a:p>
            <a:pPr>
              <a:spcBef>
                <a:spcPts val="1800"/>
              </a:spcBef>
              <a:buClr>
                <a:schemeClr val="accent6"/>
              </a:buClr>
              <a:buFontTx/>
              <a:buChar char="∆"/>
            </a:pPr>
            <a:r>
              <a:rPr lang="zh-CN" altLang="en-US" sz="2400" dirty="0">
                <a:latin typeface="+mj-ea"/>
                <a:ea typeface="+mj-ea"/>
              </a:rPr>
              <a:t>基线与里程牌 </a:t>
            </a:r>
            <a:endParaRPr lang="zh-CN" altLang="en-US" sz="2400" dirty="0">
              <a:latin typeface="+mj-ea"/>
              <a:ea typeface="+mj-ea"/>
            </a:endParaRPr>
          </a:p>
          <a:p>
            <a:pPr>
              <a:spcBef>
                <a:spcPts val="1800"/>
              </a:spcBef>
              <a:buClr>
                <a:schemeClr val="accent6"/>
              </a:buClr>
              <a:buFontTx/>
              <a:buChar char="∆"/>
            </a:pPr>
            <a:r>
              <a:rPr lang="en-US" altLang="zh-CN" sz="2400" dirty="0">
                <a:latin typeface="+mj-ea"/>
                <a:ea typeface="+mj-ea"/>
                <a:cs typeface="Times New Roman" panose="02020603050405020304" pitchFamily="18" charset="0"/>
              </a:rPr>
              <a:t>RUP</a:t>
            </a:r>
            <a:r>
              <a:rPr lang="zh-CN" altLang="en-US" sz="2400" dirty="0">
                <a:latin typeface="+mj-ea"/>
                <a:ea typeface="+mj-ea"/>
              </a:rPr>
              <a:t>可灵活应用 </a:t>
            </a:r>
            <a:endParaRPr lang="zh-CN" altLang="en-US" sz="3600" dirty="0">
              <a:latin typeface="+mj-ea"/>
              <a:ea typeface="+mj-ea"/>
            </a:endParaRPr>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5" name="日期占位符 4"/>
          <p:cNvSpPr>
            <a:spLocks noGrp="1"/>
          </p:cNvSpPr>
          <p:nvPr>
            <p:ph type="dt" sz="half" idx="10"/>
          </p:nvPr>
        </p:nvSpPr>
        <p:spPr/>
        <p:txBody>
          <a:bodyPr/>
          <a:lstStyle/>
          <a:p>
            <a:fld id="{3300D02F-F69B-4799-B4D5-1BD7A18A7DB6}"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zh-CN" altLang="en-US"/>
              <a:t>过程模型的选择</a:t>
            </a:r>
            <a:endParaRPr lang="zh-CN" altLang="en-US"/>
          </a:p>
        </p:txBody>
      </p:sp>
      <p:sp>
        <p:nvSpPr>
          <p:cNvPr id="29699" name="Rectangle 3"/>
          <p:cNvSpPr>
            <a:spLocks noGrp="1" noChangeArrowheads="1"/>
          </p:cNvSpPr>
          <p:nvPr>
            <p:ph type="body" idx="1"/>
          </p:nvPr>
        </p:nvSpPr>
        <p:spPr>
          <a:xfrm>
            <a:off x="748145" y="1167594"/>
            <a:ext cx="8229600" cy="3427028"/>
          </a:xfrm>
        </p:spPr>
        <p:txBody>
          <a:bodyPr>
            <a:normAutofit/>
          </a:bodyPr>
          <a:lstStyle/>
          <a:p>
            <a:pPr>
              <a:lnSpc>
                <a:spcPct val="120000"/>
              </a:lnSpc>
              <a:spcBef>
                <a:spcPts val="1200"/>
              </a:spcBef>
              <a:spcAft>
                <a:spcPts val="0"/>
              </a:spcAft>
            </a:pPr>
            <a:r>
              <a:rPr lang="zh-CN" altLang="en-US" dirty="0">
                <a:effectLst/>
                <a:latin typeface="+mj-ea"/>
                <a:ea typeface="+mj-ea"/>
              </a:rPr>
              <a:t>首先，了解每一种过程模型的特点和适用性。</a:t>
            </a:r>
            <a:endParaRPr lang="zh-CN" altLang="en-US" dirty="0">
              <a:effectLst/>
              <a:latin typeface="+mj-ea"/>
              <a:ea typeface="+mj-ea"/>
            </a:endParaRPr>
          </a:p>
          <a:p>
            <a:pPr>
              <a:lnSpc>
                <a:spcPct val="120000"/>
              </a:lnSpc>
              <a:spcBef>
                <a:spcPts val="1200"/>
              </a:spcBef>
              <a:spcAft>
                <a:spcPts val="0"/>
              </a:spcAft>
            </a:pPr>
            <a:r>
              <a:rPr lang="zh-CN" altLang="en-US" dirty="0">
                <a:effectLst/>
                <a:latin typeface="+mj-ea"/>
                <a:ea typeface="+mj-ea"/>
              </a:rPr>
              <a:t>其次，根据软件项目的特点选择合适的过程模型。</a:t>
            </a:r>
            <a:endParaRPr lang="zh-CN" altLang="en-US" dirty="0">
              <a:effectLst/>
              <a:latin typeface="+mj-ea"/>
              <a:ea typeface="+mj-ea"/>
            </a:endParaRPr>
          </a:p>
          <a:p>
            <a:pPr>
              <a:lnSpc>
                <a:spcPct val="120000"/>
              </a:lnSpc>
              <a:spcBef>
                <a:spcPts val="1200"/>
              </a:spcBef>
              <a:spcAft>
                <a:spcPts val="0"/>
              </a:spcAft>
            </a:pPr>
            <a:r>
              <a:rPr lang="zh-CN" altLang="en-US" dirty="0">
                <a:effectLst/>
                <a:latin typeface="+mj-ea"/>
                <a:ea typeface="+mj-ea"/>
              </a:rPr>
              <a:t>值得注意的是，由于现实中项目的复杂性，通常会在一个项目中选择几种过程模型</a:t>
            </a:r>
            <a:r>
              <a:rPr lang="zh-CN" altLang="en-US" dirty="0">
                <a:latin typeface="+mj-ea"/>
                <a:ea typeface="+mj-ea"/>
              </a:rPr>
              <a:t>综合起来</a:t>
            </a:r>
            <a:r>
              <a:rPr lang="zh-CN" altLang="en-US" dirty="0">
                <a:effectLst/>
                <a:latin typeface="+mj-ea"/>
                <a:ea typeface="+mj-ea"/>
              </a:rPr>
              <a:t>使用。</a:t>
            </a:r>
            <a:endParaRPr lang="zh-CN" altLang="en-US" dirty="0">
              <a:effectLst/>
              <a:latin typeface="+mj-ea"/>
              <a:ea typeface="+mj-ea"/>
            </a:endParaRPr>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2" name="日期占位符 1"/>
          <p:cNvSpPr>
            <a:spLocks noGrp="1"/>
          </p:cNvSpPr>
          <p:nvPr>
            <p:ph type="dt" sz="half" idx="10"/>
          </p:nvPr>
        </p:nvSpPr>
        <p:spPr/>
        <p:txBody>
          <a:bodyPr/>
          <a:lstStyle/>
          <a:p>
            <a:fld id="{7C3B2A16-0E94-4C0D-AB32-8195048D3686}"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6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6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软件过程模型的应用</a:t>
            </a:r>
            <a:endParaRPr lang="zh-CN" altLang="en-US" dirty="0"/>
          </a:p>
        </p:txBody>
      </p:sp>
      <p:sp>
        <p:nvSpPr>
          <p:cNvPr id="3" name="内容占位符 2"/>
          <p:cNvSpPr>
            <a:spLocks noGrp="1"/>
          </p:cNvSpPr>
          <p:nvPr>
            <p:ph idx="1"/>
          </p:nvPr>
        </p:nvSpPr>
        <p:spPr>
          <a:xfrm>
            <a:off x="748145" y="985652"/>
            <a:ext cx="8110105" cy="3867376"/>
          </a:xfrm>
        </p:spPr>
        <p:txBody>
          <a:bodyPr>
            <a:noAutofit/>
          </a:bodyPr>
          <a:lstStyle/>
          <a:p>
            <a:pPr algn="just">
              <a:lnSpc>
                <a:spcPct val="100000"/>
              </a:lnSpc>
              <a:spcBef>
                <a:spcPts val="1200"/>
              </a:spcBef>
              <a:spcAft>
                <a:spcPts val="0"/>
              </a:spcAft>
              <a:buFont typeface="Arial" panose="020B0604020202020204" pitchFamily="34" charset="0"/>
              <a:buChar char="•"/>
            </a:pPr>
            <a:r>
              <a:rPr lang="zh-CN" altLang="en-US" sz="2200" dirty="0">
                <a:latin typeface="+mj-ea"/>
                <a:ea typeface="+mj-ea"/>
              </a:rPr>
              <a:t>在软件开发活动中要遵循软件工程原理实行分阶段，实行阶段评审和控制。按基线与里程碑的目标进行总结、评审、调整和部署阶段活动。</a:t>
            </a:r>
            <a:endParaRPr lang="en-US" altLang="zh-CN" sz="2200" dirty="0">
              <a:latin typeface="+mj-ea"/>
              <a:ea typeface="+mj-ea"/>
            </a:endParaRPr>
          </a:p>
          <a:p>
            <a:pPr algn="just">
              <a:lnSpc>
                <a:spcPct val="100000"/>
              </a:lnSpc>
              <a:spcBef>
                <a:spcPts val="1200"/>
              </a:spcBef>
              <a:spcAft>
                <a:spcPts val="0"/>
              </a:spcAft>
              <a:buFont typeface="Arial" panose="020B0604020202020204" pitchFamily="34" charset="0"/>
              <a:buChar char="•"/>
            </a:pPr>
            <a:r>
              <a:rPr lang="zh-CN" altLang="en-US" sz="2200" dirty="0">
                <a:solidFill>
                  <a:srgbClr val="C00000"/>
                </a:solidFill>
                <a:latin typeface="+mj-ea"/>
                <a:ea typeface="+mj-ea"/>
              </a:rPr>
              <a:t>在活动的执行顺序上可以有循环、往复、重叠、迭代、嵌套或者是有条件地引发，不一定都是线性顺序。</a:t>
            </a:r>
            <a:endParaRPr lang="zh-CN" altLang="en-US" sz="2200" dirty="0">
              <a:solidFill>
                <a:srgbClr val="C00000"/>
              </a:solidFill>
              <a:latin typeface="+mj-ea"/>
              <a:ea typeface="+mj-ea"/>
            </a:endParaRPr>
          </a:p>
          <a:p>
            <a:pPr algn="just">
              <a:lnSpc>
                <a:spcPct val="100000"/>
              </a:lnSpc>
              <a:spcBef>
                <a:spcPts val="1200"/>
              </a:spcBef>
              <a:spcAft>
                <a:spcPts val="0"/>
              </a:spcAft>
              <a:buFont typeface="Arial" panose="020B0604020202020204" pitchFamily="34" charset="0"/>
              <a:buChar char="•"/>
            </a:pPr>
            <a:r>
              <a:rPr lang="zh-CN" altLang="en-US" sz="2200" dirty="0">
                <a:latin typeface="+mj-ea"/>
                <a:ea typeface="+mj-ea"/>
              </a:rPr>
              <a:t>在活动的内容上是遵循自顶向下、层层分解、逐步抽象与细化的思想。</a:t>
            </a:r>
            <a:endParaRPr lang="zh-CN" altLang="en-US" sz="2200" dirty="0">
              <a:latin typeface="+mj-ea"/>
              <a:ea typeface="+mj-ea"/>
            </a:endParaRPr>
          </a:p>
          <a:p>
            <a:pPr algn="just">
              <a:lnSpc>
                <a:spcPct val="100000"/>
              </a:lnSpc>
              <a:spcBef>
                <a:spcPts val="1200"/>
              </a:spcBef>
              <a:spcAft>
                <a:spcPts val="0"/>
              </a:spcAft>
              <a:buFont typeface="Arial" panose="020B0604020202020204" pitchFamily="34" charset="0"/>
              <a:buChar char="•"/>
            </a:pPr>
            <a:r>
              <a:rPr lang="zh-CN" altLang="en-US" sz="2200" dirty="0">
                <a:latin typeface="+mj-ea"/>
                <a:ea typeface="+mj-ea"/>
              </a:rPr>
              <a:t>在构建软件的结构上遵循模块分解原理，可以自顶向下，也可自底向上。</a:t>
            </a:r>
            <a:endParaRPr lang="zh-CN" altLang="en-US" sz="2200" dirty="0">
              <a:latin typeface="+mj-ea"/>
              <a:ea typeface="+mj-ea"/>
            </a:endParaRPr>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5" name="日期占位符 4"/>
          <p:cNvSpPr>
            <a:spLocks noGrp="1"/>
          </p:cNvSpPr>
          <p:nvPr>
            <p:ph type="dt" sz="half" idx="10"/>
          </p:nvPr>
        </p:nvSpPr>
        <p:spPr/>
        <p:txBody>
          <a:bodyPr/>
          <a:lstStyle/>
          <a:p>
            <a:fld id="{1C1A32A3-8475-4B03-9057-475309DBEE91}"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学以致用</a:t>
            </a:r>
            <a:endParaRPr lang="zh-CN" altLang="en-US" dirty="0"/>
          </a:p>
        </p:txBody>
      </p:sp>
      <p:sp>
        <p:nvSpPr>
          <p:cNvPr id="3" name="内容占位符 2"/>
          <p:cNvSpPr>
            <a:spLocks noGrp="1"/>
          </p:cNvSpPr>
          <p:nvPr>
            <p:ph idx="1"/>
          </p:nvPr>
        </p:nvSpPr>
        <p:spPr/>
        <p:txBody>
          <a:bodyPr>
            <a:normAutofit/>
          </a:bodyPr>
          <a:lstStyle/>
          <a:p>
            <a:pPr algn="just">
              <a:lnSpc>
                <a:spcPct val="120000"/>
              </a:lnSpc>
              <a:spcBef>
                <a:spcPts val="1200"/>
              </a:spcBef>
              <a:spcAft>
                <a:spcPts val="0"/>
              </a:spcAft>
            </a:pPr>
            <a:r>
              <a:rPr lang="zh-CN" altLang="en-US" sz="2400" dirty="0">
                <a:latin typeface="+mj-ea"/>
                <a:ea typeface="+mj-ea"/>
              </a:rPr>
              <a:t>某公司准备开发一个大规模在线公开课程网站，支持学校将自己的课程录像、</a:t>
            </a:r>
            <a:r>
              <a:rPr lang="zh-CN" altLang="en-US" sz="2400" dirty="0" smtClean="0">
                <a:latin typeface="+mj-ea"/>
                <a:ea typeface="+mj-ea"/>
              </a:rPr>
              <a:t>课件及</a:t>
            </a:r>
            <a:r>
              <a:rPr lang="zh-CN" altLang="en-US" sz="2400" dirty="0">
                <a:latin typeface="+mj-ea"/>
                <a:ea typeface="+mj-ea"/>
              </a:rPr>
              <a:t>参考资料等公布在网上，学生可以进行自主学习。	</a:t>
            </a:r>
            <a:endParaRPr lang="zh-CN" altLang="en-US" sz="2400" dirty="0">
              <a:latin typeface="+mj-ea"/>
              <a:ea typeface="+mj-ea"/>
            </a:endParaRPr>
          </a:p>
          <a:p>
            <a:pPr algn="just">
              <a:lnSpc>
                <a:spcPct val="120000"/>
              </a:lnSpc>
              <a:spcBef>
                <a:spcPts val="1200"/>
              </a:spcBef>
              <a:spcAft>
                <a:spcPts val="0"/>
              </a:spcAft>
            </a:pPr>
            <a:r>
              <a:rPr lang="zh-CN" altLang="en-US" sz="2400" dirty="0">
                <a:latin typeface="+mj-ea"/>
                <a:ea typeface="+mj-ea"/>
              </a:rPr>
              <a:t>某系统将教育、娱乐和社交网络结合在一起，创造了一种新型的网络教育模式，</a:t>
            </a:r>
            <a:r>
              <a:rPr lang="zh-CN" altLang="en-US" sz="2400" dirty="0" smtClean="0">
                <a:latin typeface="+mj-ea"/>
                <a:ea typeface="+mj-ea"/>
              </a:rPr>
              <a:t>对传统</a:t>
            </a:r>
            <a:r>
              <a:rPr lang="zh-CN" altLang="en-US" sz="2400" dirty="0">
                <a:latin typeface="+mj-ea"/>
                <a:ea typeface="+mj-ea"/>
              </a:rPr>
              <a:t>的高等教育模式带了很大的冲击</a:t>
            </a:r>
            <a:r>
              <a:rPr lang="zh-CN" altLang="en-US" sz="2400" dirty="0" smtClean="0">
                <a:latin typeface="+mj-ea"/>
                <a:ea typeface="+mj-ea"/>
              </a:rPr>
              <a:t>。</a:t>
            </a:r>
            <a:endParaRPr lang="zh-CN" altLang="en-US" sz="2400" dirty="0">
              <a:latin typeface="+mj-ea"/>
              <a:ea typeface="+mj-ea"/>
            </a:endParaRPr>
          </a:p>
        </p:txBody>
      </p:sp>
      <p:sp>
        <p:nvSpPr>
          <p:cNvPr id="4" name="日期占位符 3"/>
          <p:cNvSpPr>
            <a:spLocks noGrp="1"/>
          </p:cNvSpPr>
          <p:nvPr>
            <p:ph type="dt" sz="half" idx="10"/>
          </p:nvPr>
        </p:nvSpPr>
        <p:spPr/>
        <p:txBody>
          <a:bodyPr/>
          <a:lstStyle/>
          <a:p>
            <a:fld id="{21B4E5D7-BBEE-48A5-BE5A-F71BE000AFF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过程模型选择</a:t>
            </a:r>
            <a:endParaRPr lang="zh-CN" altLang="en-US" dirty="0"/>
          </a:p>
        </p:txBody>
      </p:sp>
      <p:sp>
        <p:nvSpPr>
          <p:cNvPr id="3" name="内容占位符 2"/>
          <p:cNvSpPr>
            <a:spLocks noGrp="1"/>
          </p:cNvSpPr>
          <p:nvPr>
            <p:ph idx="1"/>
          </p:nvPr>
        </p:nvSpPr>
        <p:spPr/>
        <p:txBody>
          <a:bodyPr/>
          <a:lstStyle/>
          <a:p>
            <a:r>
              <a:rPr lang="zh-CN" altLang="en-US" dirty="0" smtClean="0"/>
              <a:t>已被广泛使用的某个产品，要开发新版本，包含了一组新功能，规定了紧迫的最后期限并已对外公开。</a:t>
            </a:r>
            <a:endParaRPr lang="en-US" altLang="zh-CN" dirty="0" smtClean="0"/>
          </a:p>
          <a:p>
            <a:r>
              <a:rPr lang="zh-CN" altLang="en-US" dirty="0" smtClean="0"/>
              <a:t>要开发某个突破性的产品，规模很大，所需的开发技术先进，风险较大，且市面上尚未有类似的产品，用户尚未对其形成完整的预期，团队人员充足。</a:t>
            </a:r>
            <a:endParaRPr lang="en-US" altLang="zh-CN" dirty="0" smtClean="0"/>
          </a:p>
          <a:p>
            <a:endParaRPr lang="zh-CN" altLang="en-US" dirty="0"/>
          </a:p>
        </p:txBody>
      </p:sp>
      <p:sp>
        <p:nvSpPr>
          <p:cNvPr id="4" name="日期占位符 3"/>
          <p:cNvSpPr>
            <a:spLocks noGrp="1"/>
          </p:cNvSpPr>
          <p:nvPr>
            <p:ph type="dt" sz="half" idx="10"/>
          </p:nvPr>
        </p:nvSpPr>
        <p:spPr/>
        <p:txBody>
          <a:bodyPr/>
          <a:lstStyle/>
          <a:p>
            <a:fld id="{CCC219E2-292A-4B48-AE9D-F87929BD94B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过程模型选择</a:t>
            </a:r>
            <a:endParaRPr lang="zh-CN" altLang="en-US" dirty="0"/>
          </a:p>
        </p:txBody>
      </p:sp>
      <p:sp>
        <p:nvSpPr>
          <p:cNvPr id="3" name="内容占位符 2"/>
          <p:cNvSpPr>
            <a:spLocks noGrp="1"/>
          </p:cNvSpPr>
          <p:nvPr>
            <p:ph idx="1"/>
          </p:nvPr>
        </p:nvSpPr>
        <p:spPr/>
        <p:txBody>
          <a:bodyPr/>
          <a:lstStyle/>
          <a:p>
            <a:r>
              <a:rPr lang="zh-CN" altLang="en-US" dirty="0" smtClean="0"/>
              <a:t>要开发的系统类似于某个团队之前已经做过的某个项目，只是规模更大，复杂性更高，需求已经有用户写成文档。</a:t>
            </a:r>
            <a:endParaRPr lang="en-US" altLang="zh-CN" dirty="0" smtClean="0"/>
          </a:p>
          <a:p>
            <a:r>
              <a:rPr lang="zh-CN" altLang="en-US"/>
              <a:t>一</a:t>
            </a:r>
            <a:r>
              <a:rPr lang="zh-CN" altLang="en-US" smtClean="0"/>
              <a:t>组身经百战的团队，开发一个互联网服务，同类产品在不断更新中，互联网用户在使用过程中随时提出反馈。</a:t>
            </a:r>
            <a:endParaRPr lang="zh-CN" altLang="en-US"/>
          </a:p>
        </p:txBody>
      </p:sp>
      <p:sp>
        <p:nvSpPr>
          <p:cNvPr id="4" name="日期占位符 3"/>
          <p:cNvSpPr>
            <a:spLocks noGrp="1"/>
          </p:cNvSpPr>
          <p:nvPr>
            <p:ph type="dt" sz="half" idx="10"/>
          </p:nvPr>
        </p:nvSpPr>
        <p:spPr/>
        <p:txBody>
          <a:bodyPr/>
          <a:lstStyle/>
          <a:p>
            <a:fld id="{CCC219E2-292A-4B48-AE9D-F87929BD94B2}"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5778" y="1024196"/>
            <a:ext cx="7863795" cy="3030220"/>
          </a:xfrm>
          <a:prstGeom prst="rect">
            <a:avLst/>
          </a:prstGeom>
        </p:spPr>
        <p:txBody>
          <a:bodyPr wrap="square">
            <a:spAutoFit/>
          </a:bodyPr>
          <a:lstStyle/>
          <a:p>
            <a:pPr marL="342900" indent="-342900">
              <a:spcBef>
                <a:spcPts val="400"/>
              </a:spcBef>
              <a:buFont typeface="Arial" panose="020B0604020202020204" pitchFamily="34" charset="0"/>
              <a:buChar char="•"/>
            </a:pPr>
            <a:r>
              <a:rPr lang="zh-CN" altLang="en-US" sz="2400" b="1" dirty="0" smtClean="0">
                <a:latin typeface="+mj-ea"/>
                <a:ea typeface="+mj-ea"/>
              </a:rPr>
              <a:t>软件工程</a:t>
            </a:r>
            <a:endParaRPr lang="en-US" altLang="ko-KR" sz="2400" b="1" dirty="0">
              <a:latin typeface="+mj-ea"/>
              <a:ea typeface="+mj-ea"/>
            </a:endParaRPr>
          </a:p>
          <a:p>
            <a:pPr>
              <a:spcBef>
                <a:spcPts val="400"/>
              </a:spcBef>
              <a:spcAft>
                <a:spcPts val="600"/>
              </a:spcAft>
              <a:buFontTx/>
              <a:buNone/>
            </a:pPr>
            <a:r>
              <a:rPr lang="en-US" altLang="ko-KR" sz="2400" b="1" dirty="0">
                <a:latin typeface="+mj-ea"/>
                <a:ea typeface="+mj-ea"/>
              </a:rPr>
              <a:t>    </a:t>
            </a:r>
            <a:r>
              <a:rPr lang="zh-CN" altLang="en-US" sz="2000" dirty="0">
                <a:solidFill>
                  <a:srgbClr val="FF0000"/>
                </a:solidFill>
                <a:latin typeface="+mj-ea"/>
                <a:ea typeface="+mj-ea"/>
              </a:rPr>
              <a:t>概念</a:t>
            </a:r>
            <a:r>
              <a:rPr lang="zh-CN" altLang="en-US" sz="2000" dirty="0">
                <a:latin typeface="+mj-ea"/>
                <a:ea typeface="+mj-ea"/>
              </a:rPr>
              <a:t>、发展、</a:t>
            </a:r>
            <a:r>
              <a:rPr lang="zh-CN" altLang="en-US" sz="2000" dirty="0">
                <a:solidFill>
                  <a:srgbClr val="FF0000"/>
                </a:solidFill>
                <a:latin typeface="+mj-ea"/>
                <a:ea typeface="+mj-ea"/>
              </a:rPr>
              <a:t>三</a:t>
            </a:r>
            <a:r>
              <a:rPr lang="zh-CN" altLang="en-US" sz="2000" dirty="0" smtClean="0">
                <a:solidFill>
                  <a:srgbClr val="FF0000"/>
                </a:solidFill>
                <a:latin typeface="+mj-ea"/>
                <a:ea typeface="+mj-ea"/>
              </a:rPr>
              <a:t>要素</a:t>
            </a:r>
            <a:endParaRPr lang="en-US" altLang="zh-CN" sz="2000" dirty="0" smtClean="0">
              <a:solidFill>
                <a:srgbClr val="FF0000"/>
              </a:solidFill>
              <a:latin typeface="+mj-ea"/>
              <a:ea typeface="+mj-ea"/>
            </a:endParaRPr>
          </a:p>
          <a:p>
            <a:pPr marL="342900" indent="-342900">
              <a:spcBef>
                <a:spcPts val="400"/>
              </a:spcBef>
              <a:buFont typeface="Arial" panose="020B0604020202020204" pitchFamily="34" charset="0"/>
              <a:buChar char="•"/>
            </a:pPr>
            <a:r>
              <a:rPr lang="zh-CN" altLang="en-US" sz="2400" b="1" dirty="0">
                <a:latin typeface="+mj-ea"/>
                <a:ea typeface="+mj-ea"/>
              </a:rPr>
              <a:t>软件生命周期</a:t>
            </a:r>
            <a:endParaRPr lang="en-US" altLang="ko-KR" sz="2400" b="1" dirty="0">
              <a:latin typeface="+mj-ea"/>
              <a:ea typeface="+mj-ea"/>
            </a:endParaRPr>
          </a:p>
          <a:p>
            <a:pPr>
              <a:spcBef>
                <a:spcPts val="400"/>
              </a:spcBef>
              <a:spcAft>
                <a:spcPts val="600"/>
              </a:spcAft>
              <a:buFontTx/>
              <a:buNone/>
            </a:pPr>
            <a:r>
              <a:rPr lang="en-US" altLang="ko-KR" sz="2400" b="1" dirty="0">
                <a:latin typeface="+mj-ea"/>
                <a:ea typeface="+mj-ea"/>
              </a:rPr>
              <a:t>    </a:t>
            </a:r>
            <a:r>
              <a:rPr lang="zh-CN" altLang="en-US" sz="2000" dirty="0">
                <a:solidFill>
                  <a:srgbClr val="FF0000"/>
                </a:solidFill>
                <a:latin typeface="+mj-ea"/>
                <a:ea typeface="+mj-ea"/>
              </a:rPr>
              <a:t>概念</a:t>
            </a:r>
            <a:r>
              <a:rPr lang="zh-CN" altLang="en-US" sz="2000" dirty="0" smtClean="0">
                <a:latin typeface="+mj-ea"/>
                <a:ea typeface="+mj-ea"/>
              </a:rPr>
              <a:t>、</a:t>
            </a:r>
            <a:r>
              <a:rPr lang="zh-CN" altLang="en-US" sz="2000" dirty="0" smtClean="0">
                <a:solidFill>
                  <a:srgbClr val="C00000"/>
                </a:solidFill>
                <a:latin typeface="+mj-ea"/>
                <a:ea typeface="+mj-ea"/>
              </a:rPr>
              <a:t>任务</a:t>
            </a:r>
            <a:endParaRPr lang="zh-CN" altLang="en-US" sz="2000" dirty="0" smtClean="0">
              <a:solidFill>
                <a:srgbClr val="C00000"/>
              </a:solidFill>
              <a:latin typeface="+mj-ea"/>
              <a:ea typeface="+mj-ea"/>
            </a:endParaRPr>
          </a:p>
          <a:p>
            <a:pPr marL="342900" indent="-342900">
              <a:spcBef>
                <a:spcPts val="400"/>
              </a:spcBef>
              <a:buFont typeface="Arial" panose="020B0604020202020204" pitchFamily="34" charset="0"/>
              <a:buChar char="•"/>
            </a:pPr>
            <a:r>
              <a:rPr lang="zh-CN" altLang="en-US" sz="2000" b="1" dirty="0">
                <a:latin typeface="+mj-ea"/>
                <a:ea typeface="+mj-ea"/>
                <a:sym typeface="+mn-ea"/>
              </a:rPr>
              <a:t>软件过程模型</a:t>
            </a:r>
            <a:endParaRPr lang="en-US" altLang="ko-KR" sz="2000" b="1" dirty="0">
              <a:latin typeface="+mj-ea"/>
              <a:ea typeface="+mj-ea"/>
            </a:endParaRPr>
          </a:p>
          <a:p>
            <a:pPr>
              <a:spcBef>
                <a:spcPts val="400"/>
              </a:spcBef>
              <a:spcAft>
                <a:spcPts val="600"/>
              </a:spcAft>
              <a:buFontTx/>
              <a:buNone/>
            </a:pPr>
            <a:r>
              <a:rPr lang="en-US" altLang="ko-KR" sz="2000" b="1" dirty="0">
                <a:latin typeface="+mj-ea"/>
                <a:ea typeface="+mj-ea"/>
                <a:sym typeface="+mn-ea"/>
              </a:rPr>
              <a:t>    </a:t>
            </a:r>
            <a:r>
              <a:rPr lang="zh-CN" altLang="en-US" sz="2000" dirty="0">
                <a:solidFill>
                  <a:srgbClr val="FF0000"/>
                </a:solidFill>
                <a:latin typeface="+mj-ea"/>
                <a:ea typeface="+mj-ea"/>
                <a:sym typeface="+mn-ea"/>
              </a:rPr>
              <a:t>优缺点</a:t>
            </a:r>
            <a:r>
              <a:rPr lang="zh-CN" altLang="en-US" sz="2000" dirty="0" smtClean="0">
                <a:latin typeface="+mj-ea"/>
                <a:ea typeface="+mj-ea"/>
                <a:sym typeface="+mn-ea"/>
              </a:rPr>
              <a:t>、</a:t>
            </a:r>
            <a:r>
              <a:rPr lang="zh-CN" altLang="en-US" sz="2000" dirty="0" smtClean="0">
                <a:solidFill>
                  <a:srgbClr val="C00000"/>
                </a:solidFill>
                <a:latin typeface="+mj-ea"/>
                <a:ea typeface="+mj-ea"/>
                <a:sym typeface="+mn-ea"/>
              </a:rPr>
              <a:t>适应项目特点</a:t>
            </a:r>
            <a:endParaRPr lang="en-US" altLang="ko-KR" sz="2000" b="1" dirty="0">
              <a:solidFill>
                <a:srgbClr val="C00000"/>
              </a:solidFill>
              <a:latin typeface="+mj-ea"/>
              <a:ea typeface="+mj-ea"/>
            </a:endParaRPr>
          </a:p>
          <a:p>
            <a:pPr>
              <a:spcBef>
                <a:spcPts val="400"/>
              </a:spcBef>
              <a:spcAft>
                <a:spcPts val="600"/>
              </a:spcAft>
              <a:buFontTx/>
              <a:buNone/>
            </a:pPr>
            <a:endParaRPr lang="en-US" altLang="ko-KR" sz="2000" b="1" dirty="0">
              <a:solidFill>
                <a:srgbClr val="C00000"/>
              </a:solidFill>
              <a:latin typeface="+mj-ea"/>
              <a:ea typeface="+mj-ea"/>
            </a:endParaRPr>
          </a:p>
        </p:txBody>
      </p:sp>
      <p:sp>
        <p:nvSpPr>
          <p:cNvPr id="4" name="标题 3"/>
          <p:cNvSpPr>
            <a:spLocks noGrp="1"/>
          </p:cNvSpPr>
          <p:nvPr>
            <p:ph type="title"/>
          </p:nvPr>
        </p:nvSpPr>
        <p:spPr/>
        <p:txBody>
          <a:bodyPr/>
          <a:lstStyle/>
          <a:p>
            <a:r>
              <a:rPr lang="zh-CN" altLang="en-US" kern="100" dirty="0">
                <a:latin typeface="+mn-ea"/>
                <a:cs typeface="Times New Roman" panose="02020603050405020304" pitchFamily="18" charset="0"/>
              </a:rPr>
              <a:t>本课</a:t>
            </a:r>
            <a:r>
              <a:rPr lang="zh-CN" altLang="en-US" kern="100" dirty="0" smtClean="0">
                <a:latin typeface="+mn-ea"/>
                <a:cs typeface="Times New Roman" panose="02020603050405020304" pitchFamily="18" charset="0"/>
              </a:rPr>
              <a:t>小结</a:t>
            </a:r>
            <a:endParaRPr lang="zh-CN" altLang="en-US" dirty="0"/>
          </a:p>
        </p:txBody>
      </p:sp>
      <p:sp>
        <p:nvSpPr>
          <p:cNvPr id="6" name="日期占位符 5"/>
          <p:cNvSpPr>
            <a:spLocks noGrp="1"/>
          </p:cNvSpPr>
          <p:nvPr>
            <p:ph type="dt" sz="half" idx="10"/>
          </p:nvPr>
        </p:nvSpPr>
        <p:spPr/>
        <p:txBody>
          <a:bodyPr/>
          <a:lstStyle/>
          <a:p>
            <a:fld id="{1DDEE44E-7DE0-40A9-9871-6103FC3C9129}"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8" name="灯片编号占位符 7"/>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9" name="Group 6"/>
          <p:cNvGrpSpPr/>
          <p:nvPr/>
        </p:nvGrpSpPr>
        <p:grpSpPr>
          <a:xfrm>
            <a:off x="5220998" y="1111665"/>
            <a:ext cx="3477017" cy="3542780"/>
            <a:chOff x="3827463" y="1565275"/>
            <a:chExt cx="1195388" cy="1271588"/>
          </a:xfrm>
          <a:solidFill>
            <a:srgbClr val="92D050"/>
          </a:solidFill>
        </p:grpSpPr>
        <p:sp>
          <p:nvSpPr>
            <p:cNvPr id="10" name="Freeform 70"/>
            <p:cNvSpPr/>
            <p:nvPr/>
          </p:nvSpPr>
          <p:spPr bwMode="auto">
            <a:xfrm>
              <a:off x="4010026" y="1708150"/>
              <a:ext cx="835025" cy="1128713"/>
            </a:xfrm>
            <a:custGeom>
              <a:avLst/>
              <a:gdLst/>
              <a:ahLst/>
              <a:cxnLst>
                <a:cxn ang="0">
                  <a:pos x="104" y="385"/>
                </a:cxn>
                <a:cxn ang="0">
                  <a:pos x="112" y="230"/>
                </a:cxn>
                <a:cxn ang="0">
                  <a:pos x="6" y="164"/>
                </a:cxn>
                <a:cxn ang="0">
                  <a:pos x="121" y="191"/>
                </a:cxn>
                <a:cxn ang="0">
                  <a:pos x="126" y="93"/>
                </a:cxn>
                <a:cxn ang="0">
                  <a:pos x="76" y="29"/>
                </a:cxn>
                <a:cxn ang="0">
                  <a:pos x="132" y="61"/>
                </a:cxn>
                <a:cxn ang="0">
                  <a:pos x="174" y="5"/>
                </a:cxn>
                <a:cxn ang="0">
                  <a:pos x="149" y="79"/>
                </a:cxn>
                <a:cxn ang="0">
                  <a:pos x="171" y="196"/>
                </a:cxn>
                <a:cxn ang="0">
                  <a:pos x="277" y="149"/>
                </a:cxn>
                <a:cxn ang="0">
                  <a:pos x="177" y="228"/>
                </a:cxn>
                <a:cxn ang="0">
                  <a:pos x="178" y="385"/>
                </a:cxn>
                <a:cxn ang="0">
                  <a:pos x="104" y="385"/>
                </a:cxn>
              </a:cxnLst>
              <a:rect l="0" t="0" r="r" b="b"/>
              <a:pathLst>
                <a:path w="285" h="385">
                  <a:moveTo>
                    <a:pt x="104" y="385"/>
                  </a:moveTo>
                  <a:cubicBezTo>
                    <a:pt x="104" y="385"/>
                    <a:pt x="139" y="260"/>
                    <a:pt x="112" y="230"/>
                  </a:cubicBezTo>
                  <a:cubicBezTo>
                    <a:pt x="64" y="179"/>
                    <a:pt x="0" y="166"/>
                    <a:pt x="6" y="164"/>
                  </a:cubicBezTo>
                  <a:cubicBezTo>
                    <a:pt x="44" y="154"/>
                    <a:pt x="105" y="205"/>
                    <a:pt x="121" y="191"/>
                  </a:cubicBezTo>
                  <a:cubicBezTo>
                    <a:pt x="134" y="180"/>
                    <a:pt x="136" y="117"/>
                    <a:pt x="126" y="93"/>
                  </a:cubicBezTo>
                  <a:cubicBezTo>
                    <a:pt x="107" y="46"/>
                    <a:pt x="60" y="29"/>
                    <a:pt x="76" y="29"/>
                  </a:cubicBezTo>
                  <a:cubicBezTo>
                    <a:pt x="98" y="29"/>
                    <a:pt x="128" y="66"/>
                    <a:pt x="132" y="61"/>
                  </a:cubicBezTo>
                  <a:cubicBezTo>
                    <a:pt x="137" y="57"/>
                    <a:pt x="164" y="0"/>
                    <a:pt x="174" y="5"/>
                  </a:cubicBezTo>
                  <a:cubicBezTo>
                    <a:pt x="177" y="7"/>
                    <a:pt x="149" y="36"/>
                    <a:pt x="149" y="79"/>
                  </a:cubicBezTo>
                  <a:cubicBezTo>
                    <a:pt x="149" y="121"/>
                    <a:pt x="154" y="206"/>
                    <a:pt x="171" y="196"/>
                  </a:cubicBezTo>
                  <a:cubicBezTo>
                    <a:pt x="200" y="178"/>
                    <a:pt x="257" y="147"/>
                    <a:pt x="277" y="149"/>
                  </a:cubicBezTo>
                  <a:cubicBezTo>
                    <a:pt x="285" y="150"/>
                    <a:pt x="196" y="185"/>
                    <a:pt x="177" y="228"/>
                  </a:cubicBezTo>
                  <a:cubicBezTo>
                    <a:pt x="161" y="264"/>
                    <a:pt x="170" y="373"/>
                    <a:pt x="178" y="385"/>
                  </a:cubicBezTo>
                  <a:lnTo>
                    <a:pt x="104" y="385"/>
                  </a:lnTo>
                  <a:close/>
                </a:path>
              </a:pathLst>
            </a:custGeom>
            <a:solidFill>
              <a:srgbClr val="B65310"/>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1" name="Freeform 71"/>
            <p:cNvSpPr/>
            <p:nvPr/>
          </p:nvSpPr>
          <p:spPr bwMode="auto">
            <a:xfrm>
              <a:off x="4495801" y="2089150"/>
              <a:ext cx="166688" cy="114300"/>
            </a:xfrm>
            <a:custGeom>
              <a:avLst/>
              <a:gdLst/>
              <a:ahLst/>
              <a:cxnLst>
                <a:cxn ang="0">
                  <a:pos x="27" y="39"/>
                </a:cxn>
                <a:cxn ang="0">
                  <a:pos x="20" y="0"/>
                </a:cxn>
                <a:cxn ang="0">
                  <a:pos x="27" y="39"/>
                </a:cxn>
              </a:cxnLst>
              <a:rect l="0" t="0" r="r" b="b"/>
              <a:pathLst>
                <a:path w="57" h="39">
                  <a:moveTo>
                    <a:pt x="27" y="39"/>
                  </a:moveTo>
                  <a:cubicBezTo>
                    <a:pt x="27" y="39"/>
                    <a:pt x="0" y="36"/>
                    <a:pt x="20" y="0"/>
                  </a:cubicBezTo>
                  <a:cubicBezTo>
                    <a:pt x="20" y="0"/>
                    <a:pt x="57" y="26"/>
                    <a:pt x="27" y="3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2" name="Freeform 72"/>
            <p:cNvSpPr/>
            <p:nvPr/>
          </p:nvSpPr>
          <p:spPr bwMode="auto">
            <a:xfrm>
              <a:off x="4621213" y="2025650"/>
              <a:ext cx="161925" cy="117475"/>
            </a:xfrm>
            <a:custGeom>
              <a:avLst/>
              <a:gdLst/>
              <a:ahLst/>
              <a:cxnLst>
                <a:cxn ang="0">
                  <a:pos x="23" y="40"/>
                </a:cxn>
                <a:cxn ang="0">
                  <a:pos x="27" y="0"/>
                </a:cxn>
                <a:cxn ang="0">
                  <a:pos x="23" y="40"/>
                </a:cxn>
              </a:cxnLst>
              <a:rect l="0" t="0" r="r" b="b"/>
              <a:pathLst>
                <a:path w="55" h="40">
                  <a:moveTo>
                    <a:pt x="23" y="40"/>
                  </a:moveTo>
                  <a:cubicBezTo>
                    <a:pt x="23" y="40"/>
                    <a:pt x="0" y="32"/>
                    <a:pt x="27" y="0"/>
                  </a:cubicBezTo>
                  <a:cubicBezTo>
                    <a:pt x="27" y="0"/>
                    <a:pt x="55" y="35"/>
                    <a:pt x="23" y="4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3" name="Freeform 73"/>
            <p:cNvSpPr/>
            <p:nvPr/>
          </p:nvSpPr>
          <p:spPr bwMode="auto">
            <a:xfrm>
              <a:off x="4718051" y="1971675"/>
              <a:ext cx="173038" cy="138113"/>
            </a:xfrm>
            <a:custGeom>
              <a:avLst/>
              <a:gdLst/>
              <a:ahLst/>
              <a:cxnLst>
                <a:cxn ang="0">
                  <a:pos x="22" y="47"/>
                </a:cxn>
                <a:cxn ang="0">
                  <a:pos x="40" y="0"/>
                </a:cxn>
                <a:cxn ang="0">
                  <a:pos x="22" y="47"/>
                </a:cxn>
              </a:cxnLst>
              <a:rect l="0" t="0" r="r" b="b"/>
              <a:pathLst>
                <a:path w="59" h="47">
                  <a:moveTo>
                    <a:pt x="22" y="47"/>
                  </a:moveTo>
                  <a:cubicBezTo>
                    <a:pt x="22" y="47"/>
                    <a:pt x="0" y="25"/>
                    <a:pt x="40" y="0"/>
                  </a:cubicBezTo>
                  <a:cubicBezTo>
                    <a:pt x="40" y="0"/>
                    <a:pt x="59" y="43"/>
                    <a:pt x="22" y="4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4" name="Freeform 74"/>
            <p:cNvSpPr/>
            <p:nvPr/>
          </p:nvSpPr>
          <p:spPr bwMode="auto">
            <a:xfrm>
              <a:off x="4873626" y="2009775"/>
              <a:ext cx="149225" cy="117475"/>
            </a:xfrm>
            <a:custGeom>
              <a:avLst/>
              <a:gdLst/>
              <a:ahLst/>
              <a:cxnLst>
                <a:cxn ang="0">
                  <a:pos x="4" y="24"/>
                </a:cxn>
                <a:cxn ang="0">
                  <a:pos x="51" y="10"/>
                </a:cxn>
                <a:cxn ang="0">
                  <a:pos x="39" y="25"/>
                </a:cxn>
                <a:cxn ang="0">
                  <a:pos x="4" y="24"/>
                </a:cxn>
              </a:cxnLst>
              <a:rect l="0" t="0" r="r" b="b"/>
              <a:pathLst>
                <a:path w="51" h="40">
                  <a:moveTo>
                    <a:pt x="4" y="24"/>
                  </a:moveTo>
                  <a:cubicBezTo>
                    <a:pt x="4" y="24"/>
                    <a:pt x="0" y="0"/>
                    <a:pt x="51" y="10"/>
                  </a:cubicBezTo>
                  <a:cubicBezTo>
                    <a:pt x="51" y="10"/>
                    <a:pt x="46" y="15"/>
                    <a:pt x="39" y="25"/>
                  </a:cubicBezTo>
                  <a:cubicBezTo>
                    <a:pt x="32" y="34"/>
                    <a:pt x="11" y="40"/>
                    <a:pt x="4"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5" name="Freeform 75"/>
            <p:cNvSpPr/>
            <p:nvPr/>
          </p:nvSpPr>
          <p:spPr bwMode="auto">
            <a:xfrm>
              <a:off x="4827588" y="2165350"/>
              <a:ext cx="131763" cy="92075"/>
            </a:xfrm>
            <a:custGeom>
              <a:avLst/>
              <a:gdLst/>
              <a:ahLst/>
              <a:cxnLst>
                <a:cxn ang="0">
                  <a:pos x="14" y="0"/>
                </a:cxn>
                <a:cxn ang="0">
                  <a:pos x="45" y="20"/>
                </a:cxn>
                <a:cxn ang="0">
                  <a:pos x="9" y="16"/>
                </a:cxn>
                <a:cxn ang="0">
                  <a:pos x="14" y="0"/>
                </a:cxn>
              </a:cxnLst>
              <a:rect l="0" t="0" r="r" b="b"/>
              <a:pathLst>
                <a:path w="45" h="31">
                  <a:moveTo>
                    <a:pt x="14" y="0"/>
                  </a:moveTo>
                  <a:cubicBezTo>
                    <a:pt x="14" y="0"/>
                    <a:pt x="40" y="3"/>
                    <a:pt x="45" y="20"/>
                  </a:cubicBezTo>
                  <a:cubicBezTo>
                    <a:pt x="45" y="20"/>
                    <a:pt x="28" y="31"/>
                    <a:pt x="9" y="16"/>
                  </a:cubicBezTo>
                  <a:cubicBezTo>
                    <a:pt x="0" y="8"/>
                    <a:pt x="6" y="1"/>
                    <a:pt x="14" y="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6" name="Freeform 76"/>
            <p:cNvSpPr/>
            <p:nvPr/>
          </p:nvSpPr>
          <p:spPr bwMode="auto">
            <a:xfrm>
              <a:off x="4751388" y="2212975"/>
              <a:ext cx="104775" cy="111125"/>
            </a:xfrm>
            <a:custGeom>
              <a:avLst/>
              <a:gdLst/>
              <a:ahLst/>
              <a:cxnLst>
                <a:cxn ang="0">
                  <a:pos x="6" y="8"/>
                </a:cxn>
                <a:cxn ang="0">
                  <a:pos x="27" y="11"/>
                </a:cxn>
                <a:cxn ang="0">
                  <a:pos x="36" y="38"/>
                </a:cxn>
                <a:cxn ang="0">
                  <a:pos x="5" y="23"/>
                </a:cxn>
                <a:cxn ang="0">
                  <a:pos x="6" y="8"/>
                </a:cxn>
              </a:cxnLst>
              <a:rect l="0" t="0" r="r" b="b"/>
              <a:pathLst>
                <a:path w="36" h="38">
                  <a:moveTo>
                    <a:pt x="6" y="8"/>
                  </a:moveTo>
                  <a:cubicBezTo>
                    <a:pt x="6" y="8"/>
                    <a:pt x="17" y="0"/>
                    <a:pt x="27" y="11"/>
                  </a:cubicBezTo>
                  <a:cubicBezTo>
                    <a:pt x="36" y="21"/>
                    <a:pt x="34" y="33"/>
                    <a:pt x="36" y="38"/>
                  </a:cubicBezTo>
                  <a:cubicBezTo>
                    <a:pt x="36" y="38"/>
                    <a:pt x="14" y="35"/>
                    <a:pt x="5" y="23"/>
                  </a:cubicBezTo>
                  <a:cubicBezTo>
                    <a:pt x="0" y="16"/>
                    <a:pt x="4" y="11"/>
                    <a:pt x="6" y="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7" name="Freeform 77"/>
            <p:cNvSpPr/>
            <p:nvPr/>
          </p:nvSpPr>
          <p:spPr bwMode="auto">
            <a:xfrm>
              <a:off x="4638676" y="2279650"/>
              <a:ext cx="138113" cy="111125"/>
            </a:xfrm>
            <a:custGeom>
              <a:avLst/>
              <a:gdLst/>
              <a:ahLst/>
              <a:cxnLst>
                <a:cxn ang="0">
                  <a:pos x="15" y="5"/>
                </a:cxn>
                <a:cxn ang="0">
                  <a:pos x="39" y="12"/>
                </a:cxn>
                <a:cxn ang="0">
                  <a:pos x="47" y="35"/>
                </a:cxn>
                <a:cxn ang="0">
                  <a:pos x="15" y="5"/>
                </a:cxn>
              </a:cxnLst>
              <a:rect l="0" t="0" r="r" b="b"/>
              <a:pathLst>
                <a:path w="47" h="38">
                  <a:moveTo>
                    <a:pt x="15" y="5"/>
                  </a:moveTo>
                  <a:cubicBezTo>
                    <a:pt x="15" y="5"/>
                    <a:pt x="31" y="0"/>
                    <a:pt x="39" y="12"/>
                  </a:cubicBezTo>
                  <a:cubicBezTo>
                    <a:pt x="47" y="23"/>
                    <a:pt x="44" y="31"/>
                    <a:pt x="47" y="35"/>
                  </a:cubicBezTo>
                  <a:cubicBezTo>
                    <a:pt x="47" y="35"/>
                    <a:pt x="0" y="38"/>
                    <a:pt x="15" y="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8" name="Freeform 78"/>
            <p:cNvSpPr/>
            <p:nvPr/>
          </p:nvSpPr>
          <p:spPr bwMode="auto">
            <a:xfrm>
              <a:off x="4132263" y="2089150"/>
              <a:ext cx="123825" cy="117475"/>
            </a:xfrm>
            <a:custGeom>
              <a:avLst/>
              <a:gdLst/>
              <a:ahLst/>
              <a:cxnLst>
                <a:cxn ang="0">
                  <a:pos x="22" y="35"/>
                </a:cxn>
                <a:cxn ang="0">
                  <a:pos x="40" y="0"/>
                </a:cxn>
                <a:cxn ang="0">
                  <a:pos x="40" y="17"/>
                </a:cxn>
                <a:cxn ang="0">
                  <a:pos x="22" y="35"/>
                </a:cxn>
              </a:cxnLst>
              <a:rect l="0" t="0" r="r" b="b"/>
              <a:pathLst>
                <a:path w="42" h="40">
                  <a:moveTo>
                    <a:pt x="22" y="35"/>
                  </a:moveTo>
                  <a:cubicBezTo>
                    <a:pt x="22" y="35"/>
                    <a:pt x="0" y="19"/>
                    <a:pt x="40" y="0"/>
                  </a:cubicBezTo>
                  <a:cubicBezTo>
                    <a:pt x="40" y="0"/>
                    <a:pt x="39" y="8"/>
                    <a:pt x="40" y="17"/>
                  </a:cubicBezTo>
                  <a:cubicBezTo>
                    <a:pt x="42" y="25"/>
                    <a:pt x="36" y="40"/>
                    <a:pt x="22" y="3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9" name="Freeform 79"/>
            <p:cNvSpPr/>
            <p:nvPr/>
          </p:nvSpPr>
          <p:spPr bwMode="auto">
            <a:xfrm>
              <a:off x="4067176" y="2036763"/>
              <a:ext cx="112713" cy="123825"/>
            </a:xfrm>
            <a:custGeom>
              <a:avLst/>
              <a:gdLst/>
              <a:ahLst/>
              <a:cxnLst>
                <a:cxn ang="0">
                  <a:pos x="11" y="36"/>
                </a:cxn>
                <a:cxn ang="0">
                  <a:pos x="17" y="6"/>
                </a:cxn>
                <a:cxn ang="0">
                  <a:pos x="28" y="0"/>
                </a:cxn>
                <a:cxn ang="0">
                  <a:pos x="25" y="39"/>
                </a:cxn>
                <a:cxn ang="0">
                  <a:pos x="11" y="36"/>
                </a:cxn>
              </a:cxnLst>
              <a:rect l="0" t="0" r="r" b="b"/>
              <a:pathLst>
                <a:path w="38" h="42">
                  <a:moveTo>
                    <a:pt x="11" y="36"/>
                  </a:moveTo>
                  <a:cubicBezTo>
                    <a:pt x="11" y="36"/>
                    <a:pt x="0" y="21"/>
                    <a:pt x="17" y="6"/>
                  </a:cubicBezTo>
                  <a:cubicBezTo>
                    <a:pt x="21" y="3"/>
                    <a:pt x="28" y="0"/>
                    <a:pt x="28" y="0"/>
                  </a:cubicBezTo>
                  <a:cubicBezTo>
                    <a:pt x="28" y="0"/>
                    <a:pt x="38" y="31"/>
                    <a:pt x="25" y="39"/>
                  </a:cubicBezTo>
                  <a:cubicBezTo>
                    <a:pt x="20" y="42"/>
                    <a:pt x="14" y="41"/>
                    <a:pt x="11" y="36"/>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0" name="Freeform 80"/>
            <p:cNvSpPr/>
            <p:nvPr/>
          </p:nvSpPr>
          <p:spPr bwMode="auto">
            <a:xfrm>
              <a:off x="3956051" y="2019300"/>
              <a:ext cx="109538" cy="125413"/>
            </a:xfrm>
            <a:custGeom>
              <a:avLst/>
              <a:gdLst/>
              <a:ahLst/>
              <a:cxnLst>
                <a:cxn ang="0">
                  <a:pos x="19" y="42"/>
                </a:cxn>
                <a:cxn ang="0">
                  <a:pos x="9" y="15"/>
                </a:cxn>
                <a:cxn ang="0">
                  <a:pos x="17" y="0"/>
                </a:cxn>
                <a:cxn ang="0">
                  <a:pos x="24" y="11"/>
                </a:cxn>
                <a:cxn ang="0">
                  <a:pos x="19" y="42"/>
                </a:cxn>
              </a:cxnLst>
              <a:rect l="0" t="0" r="r" b="b"/>
              <a:pathLst>
                <a:path w="37" h="43">
                  <a:moveTo>
                    <a:pt x="19" y="42"/>
                  </a:moveTo>
                  <a:cubicBezTo>
                    <a:pt x="9" y="43"/>
                    <a:pt x="0" y="30"/>
                    <a:pt x="9" y="15"/>
                  </a:cubicBezTo>
                  <a:cubicBezTo>
                    <a:pt x="17" y="0"/>
                    <a:pt x="17" y="0"/>
                    <a:pt x="17" y="0"/>
                  </a:cubicBezTo>
                  <a:cubicBezTo>
                    <a:pt x="17" y="0"/>
                    <a:pt x="21" y="7"/>
                    <a:pt x="24" y="11"/>
                  </a:cubicBezTo>
                  <a:cubicBezTo>
                    <a:pt x="30" y="20"/>
                    <a:pt x="37" y="42"/>
                    <a:pt x="19"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1" name="Freeform 81"/>
            <p:cNvSpPr/>
            <p:nvPr/>
          </p:nvSpPr>
          <p:spPr bwMode="auto">
            <a:xfrm>
              <a:off x="3827463" y="2106613"/>
              <a:ext cx="146050" cy="100013"/>
            </a:xfrm>
            <a:custGeom>
              <a:avLst/>
              <a:gdLst/>
              <a:ahLst/>
              <a:cxnLst>
                <a:cxn ang="0">
                  <a:pos x="49" y="24"/>
                </a:cxn>
                <a:cxn ang="0">
                  <a:pos x="9" y="12"/>
                </a:cxn>
                <a:cxn ang="0">
                  <a:pos x="0" y="19"/>
                </a:cxn>
                <a:cxn ang="0">
                  <a:pos x="23" y="33"/>
                </a:cxn>
                <a:cxn ang="0">
                  <a:pos x="49" y="24"/>
                </a:cxn>
              </a:cxnLst>
              <a:rect l="0" t="0" r="r" b="b"/>
              <a:pathLst>
                <a:path w="50" h="34">
                  <a:moveTo>
                    <a:pt x="49" y="24"/>
                  </a:moveTo>
                  <a:cubicBezTo>
                    <a:pt x="49" y="24"/>
                    <a:pt x="30" y="0"/>
                    <a:pt x="9" y="12"/>
                  </a:cubicBezTo>
                  <a:cubicBezTo>
                    <a:pt x="9" y="12"/>
                    <a:pt x="3" y="17"/>
                    <a:pt x="0" y="19"/>
                  </a:cubicBezTo>
                  <a:cubicBezTo>
                    <a:pt x="0" y="19"/>
                    <a:pt x="10" y="32"/>
                    <a:pt x="23" y="33"/>
                  </a:cubicBezTo>
                  <a:cubicBezTo>
                    <a:pt x="35" y="34"/>
                    <a:pt x="50" y="33"/>
                    <a:pt x="49"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2" name="Freeform 82"/>
            <p:cNvSpPr/>
            <p:nvPr/>
          </p:nvSpPr>
          <p:spPr bwMode="auto">
            <a:xfrm>
              <a:off x="3948113" y="2220913"/>
              <a:ext cx="119063" cy="109538"/>
            </a:xfrm>
            <a:custGeom>
              <a:avLst/>
              <a:gdLst/>
              <a:ahLst/>
              <a:cxnLst>
                <a:cxn ang="0">
                  <a:pos x="28" y="1"/>
                </a:cxn>
                <a:cxn ang="0">
                  <a:pos x="7" y="19"/>
                </a:cxn>
                <a:cxn ang="0">
                  <a:pos x="0" y="37"/>
                </a:cxn>
                <a:cxn ang="0">
                  <a:pos x="38" y="20"/>
                </a:cxn>
                <a:cxn ang="0">
                  <a:pos x="28" y="1"/>
                </a:cxn>
              </a:cxnLst>
              <a:rect l="0" t="0" r="r" b="b"/>
              <a:pathLst>
                <a:path w="41" h="37">
                  <a:moveTo>
                    <a:pt x="28" y="1"/>
                  </a:moveTo>
                  <a:cubicBezTo>
                    <a:pt x="23" y="1"/>
                    <a:pt x="8" y="5"/>
                    <a:pt x="7" y="19"/>
                  </a:cubicBezTo>
                  <a:cubicBezTo>
                    <a:pt x="5" y="32"/>
                    <a:pt x="0" y="37"/>
                    <a:pt x="0" y="37"/>
                  </a:cubicBezTo>
                  <a:cubicBezTo>
                    <a:pt x="0" y="37"/>
                    <a:pt x="35" y="35"/>
                    <a:pt x="38" y="20"/>
                  </a:cubicBezTo>
                  <a:cubicBezTo>
                    <a:pt x="41" y="4"/>
                    <a:pt x="33" y="0"/>
                    <a:pt x="28" y="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3" name="Freeform 83"/>
            <p:cNvSpPr/>
            <p:nvPr/>
          </p:nvSpPr>
          <p:spPr bwMode="auto">
            <a:xfrm>
              <a:off x="4056063" y="2265363"/>
              <a:ext cx="179388" cy="128588"/>
            </a:xfrm>
            <a:custGeom>
              <a:avLst/>
              <a:gdLst/>
              <a:ahLst/>
              <a:cxnLst>
                <a:cxn ang="0">
                  <a:pos x="30" y="7"/>
                </a:cxn>
                <a:cxn ang="0">
                  <a:pos x="10" y="44"/>
                </a:cxn>
                <a:cxn ang="0">
                  <a:pos x="30" y="7"/>
                </a:cxn>
              </a:cxnLst>
              <a:rect l="0" t="0" r="r" b="b"/>
              <a:pathLst>
                <a:path w="61" h="44">
                  <a:moveTo>
                    <a:pt x="30" y="7"/>
                  </a:moveTo>
                  <a:cubicBezTo>
                    <a:pt x="18" y="0"/>
                    <a:pt x="0" y="12"/>
                    <a:pt x="10" y="44"/>
                  </a:cubicBezTo>
                  <a:cubicBezTo>
                    <a:pt x="10" y="44"/>
                    <a:pt x="61" y="26"/>
                    <a:pt x="30" y="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4" name="Freeform 84"/>
            <p:cNvSpPr/>
            <p:nvPr/>
          </p:nvSpPr>
          <p:spPr bwMode="auto">
            <a:xfrm>
              <a:off x="4457701" y="1565275"/>
              <a:ext cx="138113" cy="155575"/>
            </a:xfrm>
            <a:custGeom>
              <a:avLst/>
              <a:gdLst/>
              <a:ahLst/>
              <a:cxnLst>
                <a:cxn ang="0">
                  <a:pos x="23" y="44"/>
                </a:cxn>
                <a:cxn ang="0">
                  <a:pos x="42" y="0"/>
                </a:cxn>
                <a:cxn ang="0">
                  <a:pos x="46" y="17"/>
                </a:cxn>
                <a:cxn ang="0">
                  <a:pos x="23" y="44"/>
                </a:cxn>
              </a:cxnLst>
              <a:rect l="0" t="0" r="r" b="b"/>
              <a:pathLst>
                <a:path w="47" h="53">
                  <a:moveTo>
                    <a:pt x="23" y="44"/>
                  </a:moveTo>
                  <a:cubicBezTo>
                    <a:pt x="23" y="44"/>
                    <a:pt x="0" y="21"/>
                    <a:pt x="42" y="0"/>
                  </a:cubicBezTo>
                  <a:cubicBezTo>
                    <a:pt x="42" y="0"/>
                    <a:pt x="45" y="8"/>
                    <a:pt x="46" y="17"/>
                  </a:cubicBezTo>
                  <a:cubicBezTo>
                    <a:pt x="47" y="26"/>
                    <a:pt x="43" y="53"/>
                    <a:pt x="23"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5" name="Freeform 85"/>
            <p:cNvSpPr/>
            <p:nvPr/>
          </p:nvSpPr>
          <p:spPr bwMode="auto">
            <a:xfrm>
              <a:off x="4398963" y="1609725"/>
              <a:ext cx="103188" cy="133350"/>
            </a:xfrm>
            <a:custGeom>
              <a:avLst/>
              <a:gdLst/>
              <a:ahLst/>
              <a:cxnLst>
                <a:cxn ang="0">
                  <a:pos x="24" y="41"/>
                </a:cxn>
                <a:cxn ang="0">
                  <a:pos x="14" y="11"/>
                </a:cxn>
                <a:cxn ang="0">
                  <a:pos x="1" y="0"/>
                </a:cxn>
                <a:cxn ang="0">
                  <a:pos x="1" y="19"/>
                </a:cxn>
                <a:cxn ang="0">
                  <a:pos x="10" y="43"/>
                </a:cxn>
                <a:cxn ang="0">
                  <a:pos x="24" y="41"/>
                </a:cxn>
              </a:cxnLst>
              <a:rect l="0" t="0" r="r" b="b"/>
              <a:pathLst>
                <a:path w="35" h="46">
                  <a:moveTo>
                    <a:pt x="24" y="41"/>
                  </a:moveTo>
                  <a:cubicBezTo>
                    <a:pt x="24" y="41"/>
                    <a:pt x="35" y="25"/>
                    <a:pt x="14" y="11"/>
                  </a:cubicBezTo>
                  <a:cubicBezTo>
                    <a:pt x="3" y="3"/>
                    <a:pt x="1" y="0"/>
                    <a:pt x="1" y="0"/>
                  </a:cubicBezTo>
                  <a:cubicBezTo>
                    <a:pt x="1" y="0"/>
                    <a:pt x="0" y="14"/>
                    <a:pt x="1" y="19"/>
                  </a:cubicBezTo>
                  <a:cubicBezTo>
                    <a:pt x="1" y="24"/>
                    <a:pt x="0" y="38"/>
                    <a:pt x="10" y="43"/>
                  </a:cubicBezTo>
                  <a:cubicBezTo>
                    <a:pt x="17" y="46"/>
                    <a:pt x="24" y="41"/>
                    <a:pt x="2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6" name="Freeform 86"/>
            <p:cNvSpPr/>
            <p:nvPr/>
          </p:nvSpPr>
          <p:spPr bwMode="auto">
            <a:xfrm>
              <a:off x="4527551" y="1682750"/>
              <a:ext cx="138113" cy="131763"/>
            </a:xfrm>
            <a:custGeom>
              <a:avLst/>
              <a:gdLst/>
              <a:ahLst/>
              <a:cxnLst>
                <a:cxn ang="0">
                  <a:pos x="6" y="21"/>
                </a:cxn>
                <a:cxn ang="0">
                  <a:pos x="47" y="34"/>
                </a:cxn>
                <a:cxn ang="0">
                  <a:pos x="9" y="35"/>
                </a:cxn>
                <a:cxn ang="0">
                  <a:pos x="6" y="21"/>
                </a:cxn>
              </a:cxnLst>
              <a:rect l="0" t="0" r="r" b="b"/>
              <a:pathLst>
                <a:path w="47" h="45">
                  <a:moveTo>
                    <a:pt x="6" y="21"/>
                  </a:moveTo>
                  <a:cubicBezTo>
                    <a:pt x="6" y="21"/>
                    <a:pt x="31" y="0"/>
                    <a:pt x="47" y="34"/>
                  </a:cubicBezTo>
                  <a:cubicBezTo>
                    <a:pt x="47" y="34"/>
                    <a:pt x="28" y="45"/>
                    <a:pt x="9" y="35"/>
                  </a:cubicBezTo>
                  <a:cubicBezTo>
                    <a:pt x="0" y="31"/>
                    <a:pt x="6" y="23"/>
                    <a:pt x="6" y="2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7" name="Freeform 87"/>
            <p:cNvSpPr/>
            <p:nvPr/>
          </p:nvSpPr>
          <p:spPr bwMode="auto">
            <a:xfrm>
              <a:off x="4475163" y="1814513"/>
              <a:ext cx="138113" cy="117475"/>
            </a:xfrm>
            <a:custGeom>
              <a:avLst/>
              <a:gdLst/>
              <a:ahLst/>
              <a:cxnLst>
                <a:cxn ang="0">
                  <a:pos x="1" y="20"/>
                </a:cxn>
                <a:cxn ang="0">
                  <a:pos x="47" y="14"/>
                </a:cxn>
                <a:cxn ang="0">
                  <a:pos x="33" y="24"/>
                </a:cxn>
                <a:cxn ang="0">
                  <a:pos x="1" y="20"/>
                </a:cxn>
              </a:cxnLst>
              <a:rect l="0" t="0" r="r" b="b"/>
              <a:pathLst>
                <a:path w="47" h="40">
                  <a:moveTo>
                    <a:pt x="1" y="20"/>
                  </a:moveTo>
                  <a:cubicBezTo>
                    <a:pt x="0" y="15"/>
                    <a:pt x="9" y="0"/>
                    <a:pt x="47" y="14"/>
                  </a:cubicBezTo>
                  <a:cubicBezTo>
                    <a:pt x="47" y="14"/>
                    <a:pt x="38" y="21"/>
                    <a:pt x="33" y="24"/>
                  </a:cubicBezTo>
                  <a:cubicBezTo>
                    <a:pt x="28" y="28"/>
                    <a:pt x="2" y="40"/>
                    <a:pt x="1" y="2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8" name="Freeform 88"/>
            <p:cNvSpPr/>
            <p:nvPr/>
          </p:nvSpPr>
          <p:spPr bwMode="auto">
            <a:xfrm>
              <a:off x="4481513" y="1946275"/>
              <a:ext cx="122238" cy="111125"/>
            </a:xfrm>
            <a:custGeom>
              <a:avLst/>
              <a:gdLst/>
              <a:ahLst/>
              <a:cxnLst>
                <a:cxn ang="0">
                  <a:pos x="1" y="19"/>
                </a:cxn>
                <a:cxn ang="0">
                  <a:pos x="35" y="0"/>
                </a:cxn>
                <a:cxn ang="0">
                  <a:pos x="42" y="0"/>
                </a:cxn>
                <a:cxn ang="0">
                  <a:pos x="24" y="31"/>
                </a:cxn>
                <a:cxn ang="0">
                  <a:pos x="1" y="19"/>
                </a:cxn>
              </a:cxnLst>
              <a:rect l="0" t="0" r="r" b="b"/>
              <a:pathLst>
                <a:path w="42" h="38">
                  <a:moveTo>
                    <a:pt x="1" y="19"/>
                  </a:moveTo>
                  <a:cubicBezTo>
                    <a:pt x="0" y="14"/>
                    <a:pt x="2" y="0"/>
                    <a:pt x="35" y="0"/>
                  </a:cubicBezTo>
                  <a:cubicBezTo>
                    <a:pt x="35" y="0"/>
                    <a:pt x="40" y="1"/>
                    <a:pt x="42" y="0"/>
                  </a:cubicBezTo>
                  <a:cubicBezTo>
                    <a:pt x="42" y="0"/>
                    <a:pt x="36" y="23"/>
                    <a:pt x="24" y="31"/>
                  </a:cubicBezTo>
                  <a:cubicBezTo>
                    <a:pt x="12" y="38"/>
                    <a:pt x="2" y="27"/>
                    <a:pt x="1" y="1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9" name="Freeform 89"/>
            <p:cNvSpPr/>
            <p:nvPr/>
          </p:nvSpPr>
          <p:spPr bwMode="auto">
            <a:xfrm>
              <a:off x="4232276" y="1990725"/>
              <a:ext cx="139700" cy="93663"/>
            </a:xfrm>
            <a:custGeom>
              <a:avLst/>
              <a:gdLst/>
              <a:ahLst/>
              <a:cxnLst>
                <a:cxn ang="0">
                  <a:pos x="46" y="18"/>
                </a:cxn>
                <a:cxn ang="0">
                  <a:pos x="15" y="3"/>
                </a:cxn>
                <a:cxn ang="0">
                  <a:pos x="0" y="5"/>
                </a:cxn>
                <a:cxn ang="0">
                  <a:pos x="24" y="30"/>
                </a:cxn>
                <a:cxn ang="0">
                  <a:pos x="46" y="18"/>
                </a:cxn>
              </a:cxnLst>
              <a:rect l="0" t="0" r="r" b="b"/>
              <a:pathLst>
                <a:path w="48" h="32">
                  <a:moveTo>
                    <a:pt x="46" y="18"/>
                  </a:moveTo>
                  <a:cubicBezTo>
                    <a:pt x="46" y="18"/>
                    <a:pt x="44" y="0"/>
                    <a:pt x="15" y="3"/>
                  </a:cubicBezTo>
                  <a:cubicBezTo>
                    <a:pt x="15" y="3"/>
                    <a:pt x="2" y="6"/>
                    <a:pt x="0" y="5"/>
                  </a:cubicBezTo>
                  <a:cubicBezTo>
                    <a:pt x="0" y="5"/>
                    <a:pt x="10" y="27"/>
                    <a:pt x="24" y="30"/>
                  </a:cubicBezTo>
                  <a:cubicBezTo>
                    <a:pt x="38" y="32"/>
                    <a:pt x="48" y="27"/>
                    <a:pt x="46" y="1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0" name="Freeform 90"/>
            <p:cNvSpPr/>
            <p:nvPr/>
          </p:nvSpPr>
          <p:spPr bwMode="auto">
            <a:xfrm>
              <a:off x="4170363" y="1870075"/>
              <a:ext cx="131763" cy="87313"/>
            </a:xfrm>
            <a:custGeom>
              <a:avLst/>
              <a:gdLst/>
              <a:ahLst/>
              <a:cxnLst>
                <a:cxn ang="0">
                  <a:pos x="41" y="11"/>
                </a:cxn>
                <a:cxn ang="0">
                  <a:pos x="7" y="8"/>
                </a:cxn>
                <a:cxn ang="0">
                  <a:pos x="0" y="18"/>
                </a:cxn>
                <a:cxn ang="0">
                  <a:pos x="19" y="24"/>
                </a:cxn>
                <a:cxn ang="0">
                  <a:pos x="41" y="11"/>
                </a:cxn>
              </a:cxnLst>
              <a:rect l="0" t="0" r="r" b="b"/>
              <a:pathLst>
                <a:path w="45" h="30">
                  <a:moveTo>
                    <a:pt x="41" y="11"/>
                  </a:moveTo>
                  <a:cubicBezTo>
                    <a:pt x="37" y="5"/>
                    <a:pt x="22" y="0"/>
                    <a:pt x="7" y="8"/>
                  </a:cubicBezTo>
                  <a:cubicBezTo>
                    <a:pt x="1" y="12"/>
                    <a:pt x="0" y="18"/>
                    <a:pt x="0" y="18"/>
                  </a:cubicBezTo>
                  <a:cubicBezTo>
                    <a:pt x="0" y="18"/>
                    <a:pt x="13" y="21"/>
                    <a:pt x="19" y="24"/>
                  </a:cubicBezTo>
                  <a:cubicBezTo>
                    <a:pt x="32" y="30"/>
                    <a:pt x="45" y="18"/>
                    <a:pt x="41" y="1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1" name="Freeform 91"/>
            <p:cNvSpPr/>
            <p:nvPr/>
          </p:nvSpPr>
          <p:spPr bwMode="auto">
            <a:xfrm>
              <a:off x="4122738" y="1682750"/>
              <a:ext cx="120650" cy="114300"/>
            </a:xfrm>
            <a:custGeom>
              <a:avLst/>
              <a:gdLst/>
              <a:ahLst/>
              <a:cxnLst>
                <a:cxn ang="0">
                  <a:pos x="30" y="34"/>
                </a:cxn>
                <a:cxn ang="0">
                  <a:pos x="23" y="9"/>
                </a:cxn>
                <a:cxn ang="0">
                  <a:pos x="8" y="0"/>
                </a:cxn>
                <a:cxn ang="0">
                  <a:pos x="9" y="27"/>
                </a:cxn>
                <a:cxn ang="0">
                  <a:pos x="30" y="34"/>
                </a:cxn>
              </a:cxnLst>
              <a:rect l="0" t="0" r="r" b="b"/>
              <a:pathLst>
                <a:path w="41" h="39">
                  <a:moveTo>
                    <a:pt x="30" y="34"/>
                  </a:moveTo>
                  <a:cubicBezTo>
                    <a:pt x="30" y="34"/>
                    <a:pt x="41" y="17"/>
                    <a:pt x="23" y="9"/>
                  </a:cubicBezTo>
                  <a:cubicBezTo>
                    <a:pt x="10" y="3"/>
                    <a:pt x="8" y="0"/>
                    <a:pt x="8" y="0"/>
                  </a:cubicBezTo>
                  <a:cubicBezTo>
                    <a:pt x="8" y="0"/>
                    <a:pt x="0" y="15"/>
                    <a:pt x="9" y="27"/>
                  </a:cubicBezTo>
                  <a:cubicBezTo>
                    <a:pt x="18" y="39"/>
                    <a:pt x="27" y="35"/>
                    <a:pt x="30" y="3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2" name="Freeform 92"/>
            <p:cNvSpPr/>
            <p:nvPr/>
          </p:nvSpPr>
          <p:spPr bwMode="auto">
            <a:xfrm>
              <a:off x="4246563" y="1670050"/>
              <a:ext cx="125413" cy="134938"/>
            </a:xfrm>
            <a:custGeom>
              <a:avLst/>
              <a:gdLst/>
              <a:ahLst/>
              <a:cxnLst>
                <a:cxn ang="0">
                  <a:pos x="14" y="41"/>
                </a:cxn>
                <a:cxn ang="0">
                  <a:pos x="12" y="17"/>
                </a:cxn>
                <a:cxn ang="0">
                  <a:pos x="31" y="0"/>
                </a:cxn>
                <a:cxn ang="0">
                  <a:pos x="35" y="38"/>
                </a:cxn>
                <a:cxn ang="0">
                  <a:pos x="14" y="41"/>
                </a:cxn>
              </a:cxnLst>
              <a:rect l="0" t="0" r="r" b="b"/>
              <a:pathLst>
                <a:path w="43" h="46">
                  <a:moveTo>
                    <a:pt x="14" y="41"/>
                  </a:moveTo>
                  <a:cubicBezTo>
                    <a:pt x="14" y="41"/>
                    <a:pt x="0" y="28"/>
                    <a:pt x="12" y="17"/>
                  </a:cubicBezTo>
                  <a:cubicBezTo>
                    <a:pt x="24" y="5"/>
                    <a:pt x="31" y="4"/>
                    <a:pt x="31" y="0"/>
                  </a:cubicBezTo>
                  <a:cubicBezTo>
                    <a:pt x="31" y="0"/>
                    <a:pt x="43" y="30"/>
                    <a:pt x="35" y="38"/>
                  </a:cubicBezTo>
                  <a:cubicBezTo>
                    <a:pt x="28" y="46"/>
                    <a:pt x="19" y="44"/>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3" name="Freeform 93"/>
            <p:cNvSpPr/>
            <p:nvPr/>
          </p:nvSpPr>
          <p:spPr bwMode="auto">
            <a:xfrm>
              <a:off x="4654551" y="1831975"/>
              <a:ext cx="128588" cy="134938"/>
            </a:xfrm>
            <a:custGeom>
              <a:avLst/>
              <a:gdLst/>
              <a:ahLst/>
              <a:cxnLst>
                <a:cxn ang="0">
                  <a:pos x="8" y="38"/>
                </a:cxn>
                <a:cxn ang="0">
                  <a:pos x="16" y="12"/>
                </a:cxn>
                <a:cxn ang="0">
                  <a:pos x="38" y="0"/>
                </a:cxn>
                <a:cxn ang="0">
                  <a:pos x="35" y="39"/>
                </a:cxn>
                <a:cxn ang="0">
                  <a:pos x="8" y="38"/>
                </a:cxn>
              </a:cxnLst>
              <a:rect l="0" t="0" r="r" b="b"/>
              <a:pathLst>
                <a:path w="44" h="46">
                  <a:moveTo>
                    <a:pt x="8" y="38"/>
                  </a:moveTo>
                  <a:cubicBezTo>
                    <a:pt x="8" y="38"/>
                    <a:pt x="0" y="19"/>
                    <a:pt x="16" y="12"/>
                  </a:cubicBezTo>
                  <a:cubicBezTo>
                    <a:pt x="33" y="5"/>
                    <a:pt x="38" y="0"/>
                    <a:pt x="38" y="0"/>
                  </a:cubicBezTo>
                  <a:cubicBezTo>
                    <a:pt x="38" y="0"/>
                    <a:pt x="44" y="32"/>
                    <a:pt x="35" y="39"/>
                  </a:cubicBezTo>
                  <a:cubicBezTo>
                    <a:pt x="25" y="45"/>
                    <a:pt x="13" y="46"/>
                    <a:pt x="8"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4" name="Freeform 94"/>
            <p:cNvSpPr/>
            <p:nvPr/>
          </p:nvSpPr>
          <p:spPr bwMode="auto">
            <a:xfrm>
              <a:off x="4668838" y="1649413"/>
              <a:ext cx="84138" cy="120650"/>
            </a:xfrm>
            <a:custGeom>
              <a:avLst/>
              <a:gdLst/>
              <a:ahLst/>
              <a:cxnLst>
                <a:cxn ang="0">
                  <a:pos x="14" y="41"/>
                </a:cxn>
                <a:cxn ang="0">
                  <a:pos x="2" y="21"/>
                </a:cxn>
                <a:cxn ang="0">
                  <a:pos x="15" y="0"/>
                </a:cxn>
                <a:cxn ang="0">
                  <a:pos x="27" y="20"/>
                </a:cxn>
                <a:cxn ang="0">
                  <a:pos x="14" y="41"/>
                </a:cxn>
              </a:cxnLst>
              <a:rect l="0" t="0" r="r" b="b"/>
              <a:pathLst>
                <a:path w="29" h="41">
                  <a:moveTo>
                    <a:pt x="14" y="41"/>
                  </a:moveTo>
                  <a:cubicBezTo>
                    <a:pt x="14" y="41"/>
                    <a:pt x="0" y="31"/>
                    <a:pt x="2" y="21"/>
                  </a:cubicBezTo>
                  <a:cubicBezTo>
                    <a:pt x="4" y="11"/>
                    <a:pt x="15" y="3"/>
                    <a:pt x="15" y="0"/>
                  </a:cubicBezTo>
                  <a:cubicBezTo>
                    <a:pt x="15" y="0"/>
                    <a:pt x="26" y="13"/>
                    <a:pt x="27" y="20"/>
                  </a:cubicBezTo>
                  <a:cubicBezTo>
                    <a:pt x="29" y="26"/>
                    <a:pt x="27" y="40"/>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5" name="Freeform 95"/>
            <p:cNvSpPr/>
            <p:nvPr/>
          </p:nvSpPr>
          <p:spPr bwMode="auto">
            <a:xfrm>
              <a:off x="3976688" y="1876425"/>
              <a:ext cx="141288" cy="122238"/>
            </a:xfrm>
            <a:custGeom>
              <a:avLst/>
              <a:gdLst/>
              <a:ahLst/>
              <a:cxnLst>
                <a:cxn ang="0">
                  <a:pos x="31" y="42"/>
                </a:cxn>
                <a:cxn ang="0">
                  <a:pos x="23" y="0"/>
                </a:cxn>
                <a:cxn ang="0">
                  <a:pos x="34" y="11"/>
                </a:cxn>
                <a:cxn ang="0">
                  <a:pos x="31" y="42"/>
                </a:cxn>
              </a:cxnLst>
              <a:rect l="0" t="0" r="r" b="b"/>
              <a:pathLst>
                <a:path w="48" h="42">
                  <a:moveTo>
                    <a:pt x="31" y="42"/>
                  </a:moveTo>
                  <a:cubicBezTo>
                    <a:pt x="31" y="42"/>
                    <a:pt x="0" y="34"/>
                    <a:pt x="23" y="0"/>
                  </a:cubicBezTo>
                  <a:cubicBezTo>
                    <a:pt x="23" y="0"/>
                    <a:pt x="27" y="6"/>
                    <a:pt x="34" y="11"/>
                  </a:cubicBezTo>
                  <a:cubicBezTo>
                    <a:pt x="41" y="16"/>
                    <a:pt x="48" y="42"/>
                    <a:pt x="31"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6" name="Freeform 96"/>
            <p:cNvSpPr/>
            <p:nvPr/>
          </p:nvSpPr>
          <p:spPr bwMode="auto">
            <a:xfrm>
              <a:off x="3830638" y="1901825"/>
              <a:ext cx="169863" cy="128588"/>
            </a:xfrm>
            <a:custGeom>
              <a:avLst/>
              <a:gdLst/>
              <a:ahLst/>
              <a:cxnLst>
                <a:cxn ang="0">
                  <a:pos x="26" y="44"/>
                </a:cxn>
                <a:cxn ang="0">
                  <a:pos x="20" y="0"/>
                </a:cxn>
                <a:cxn ang="0">
                  <a:pos x="28" y="7"/>
                </a:cxn>
                <a:cxn ang="0">
                  <a:pos x="26" y="44"/>
                </a:cxn>
              </a:cxnLst>
              <a:rect l="0" t="0" r="r" b="b"/>
              <a:pathLst>
                <a:path w="58" h="44">
                  <a:moveTo>
                    <a:pt x="26" y="44"/>
                  </a:moveTo>
                  <a:cubicBezTo>
                    <a:pt x="26" y="44"/>
                    <a:pt x="0" y="31"/>
                    <a:pt x="20" y="0"/>
                  </a:cubicBezTo>
                  <a:cubicBezTo>
                    <a:pt x="20" y="0"/>
                    <a:pt x="24" y="5"/>
                    <a:pt x="28" y="7"/>
                  </a:cubicBezTo>
                  <a:cubicBezTo>
                    <a:pt x="41" y="15"/>
                    <a:pt x="58" y="35"/>
                    <a:pt x="26"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7" name="Freeform 97"/>
            <p:cNvSpPr/>
            <p:nvPr/>
          </p:nvSpPr>
          <p:spPr bwMode="auto">
            <a:xfrm>
              <a:off x="3997326" y="1724025"/>
              <a:ext cx="146050" cy="111125"/>
            </a:xfrm>
            <a:custGeom>
              <a:avLst/>
              <a:gdLst/>
              <a:ahLst/>
              <a:cxnLst>
                <a:cxn ang="0">
                  <a:pos x="30" y="38"/>
                </a:cxn>
                <a:cxn ang="0">
                  <a:pos x="18" y="0"/>
                </a:cxn>
                <a:cxn ang="0">
                  <a:pos x="26" y="9"/>
                </a:cxn>
                <a:cxn ang="0">
                  <a:pos x="30" y="38"/>
                </a:cxn>
              </a:cxnLst>
              <a:rect l="0" t="0" r="r" b="b"/>
              <a:pathLst>
                <a:path w="50" h="38">
                  <a:moveTo>
                    <a:pt x="30" y="38"/>
                  </a:moveTo>
                  <a:cubicBezTo>
                    <a:pt x="30" y="38"/>
                    <a:pt x="0" y="38"/>
                    <a:pt x="18" y="0"/>
                  </a:cubicBezTo>
                  <a:cubicBezTo>
                    <a:pt x="18" y="0"/>
                    <a:pt x="22" y="7"/>
                    <a:pt x="26" y="9"/>
                  </a:cubicBezTo>
                  <a:cubicBezTo>
                    <a:pt x="30" y="11"/>
                    <a:pt x="50" y="31"/>
                    <a:pt x="30"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gr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课后作业</a:t>
            </a:r>
            <a:endParaRPr lang="zh-CN" altLang="en-US" dirty="0"/>
          </a:p>
        </p:txBody>
      </p:sp>
      <p:sp>
        <p:nvSpPr>
          <p:cNvPr id="3" name="内容占位符 2"/>
          <p:cNvSpPr>
            <a:spLocks noGrp="1"/>
          </p:cNvSpPr>
          <p:nvPr>
            <p:ph idx="1"/>
          </p:nvPr>
        </p:nvSpPr>
        <p:spPr>
          <a:xfrm>
            <a:off x="994410" y="915025"/>
            <a:ext cx="7640810" cy="3679835"/>
          </a:xfrm>
        </p:spPr>
        <p:txBody>
          <a:bodyPr>
            <a:normAutofit lnSpcReduction="10000"/>
          </a:bodyPr>
          <a:lstStyle/>
          <a:p>
            <a:pPr>
              <a:lnSpc>
                <a:spcPct val="120000"/>
              </a:lnSpc>
              <a:spcBef>
                <a:spcPts val="1200"/>
              </a:spcBef>
              <a:spcAft>
                <a:spcPts val="0"/>
              </a:spcAft>
            </a:pPr>
            <a:r>
              <a:rPr lang="zh-CN" altLang="en-US" dirty="0" smtClean="0">
                <a:latin typeface="+mj-ea"/>
                <a:ea typeface="+mj-ea"/>
              </a:rPr>
              <a:t>完成课程项目分组和选定课题工作</a:t>
            </a:r>
            <a:endParaRPr lang="en-US" altLang="zh-CN" dirty="0" smtClean="0">
              <a:latin typeface="+mj-ea"/>
              <a:ea typeface="+mj-ea"/>
            </a:endParaRPr>
          </a:p>
          <a:p>
            <a:pPr>
              <a:lnSpc>
                <a:spcPct val="120000"/>
              </a:lnSpc>
              <a:spcBef>
                <a:spcPts val="1200"/>
              </a:spcBef>
              <a:spcAft>
                <a:spcPts val="0"/>
              </a:spcAft>
            </a:pPr>
            <a:r>
              <a:rPr lang="zh-CN" altLang="en-US" dirty="0" smtClean="0">
                <a:latin typeface="+mj-ea"/>
                <a:ea typeface="+mj-ea"/>
              </a:rPr>
              <a:t>集体讨论所选课题的功能需求</a:t>
            </a:r>
            <a:endParaRPr lang="en-US" altLang="zh-CN" dirty="0" smtClean="0">
              <a:latin typeface="+mj-ea"/>
              <a:ea typeface="+mj-ea"/>
            </a:endParaRPr>
          </a:p>
          <a:p>
            <a:pPr>
              <a:lnSpc>
                <a:spcPct val="120000"/>
              </a:lnSpc>
              <a:spcBef>
                <a:spcPts val="1200"/>
              </a:spcBef>
              <a:spcAft>
                <a:spcPts val="0"/>
              </a:spcAft>
            </a:pPr>
            <a:r>
              <a:rPr lang="zh-CN" altLang="en-US" dirty="0" smtClean="0">
                <a:latin typeface="+mj-ea"/>
                <a:ea typeface="+mj-ea"/>
              </a:rPr>
              <a:t>确定开发技术及工具</a:t>
            </a:r>
            <a:endParaRPr lang="en-US" altLang="zh-CN" dirty="0" smtClean="0">
              <a:latin typeface="+mj-ea"/>
              <a:ea typeface="+mj-ea"/>
            </a:endParaRPr>
          </a:p>
          <a:p>
            <a:pPr>
              <a:lnSpc>
                <a:spcPct val="120000"/>
              </a:lnSpc>
              <a:spcBef>
                <a:spcPts val="1200"/>
              </a:spcBef>
              <a:spcAft>
                <a:spcPts val="0"/>
              </a:spcAft>
            </a:pPr>
            <a:r>
              <a:rPr lang="zh-CN" altLang="en-US" dirty="0" smtClean="0">
                <a:latin typeface="+mj-ea"/>
                <a:ea typeface="+mj-ea"/>
              </a:rPr>
              <a:t>学习相关技术</a:t>
            </a:r>
            <a:endParaRPr lang="en-US" altLang="zh-CN" dirty="0" smtClean="0">
              <a:latin typeface="+mj-ea"/>
              <a:ea typeface="+mj-ea"/>
            </a:endParaRPr>
          </a:p>
          <a:p>
            <a:pPr>
              <a:lnSpc>
                <a:spcPct val="120000"/>
              </a:lnSpc>
              <a:spcBef>
                <a:spcPts val="1200"/>
              </a:spcBef>
              <a:spcAft>
                <a:spcPts val="0"/>
              </a:spcAft>
            </a:pPr>
            <a:r>
              <a:rPr lang="zh-CN" altLang="en-US" dirty="0" smtClean="0">
                <a:solidFill>
                  <a:srgbClr val="C00000"/>
                </a:solidFill>
                <a:latin typeface="+mj-ea"/>
                <a:ea typeface="+mj-ea"/>
              </a:rPr>
              <a:t>制定项目开发计划</a:t>
            </a:r>
            <a:endParaRPr lang="en-US" altLang="zh-CN" dirty="0" smtClean="0">
              <a:solidFill>
                <a:srgbClr val="C00000"/>
              </a:solidFill>
              <a:latin typeface="+mj-ea"/>
              <a:ea typeface="+mj-ea"/>
            </a:endParaRPr>
          </a:p>
          <a:p>
            <a:pPr>
              <a:lnSpc>
                <a:spcPct val="120000"/>
              </a:lnSpc>
              <a:spcBef>
                <a:spcPts val="1200"/>
              </a:spcBef>
              <a:spcAft>
                <a:spcPts val="0"/>
              </a:spcAft>
            </a:pPr>
            <a:r>
              <a:rPr lang="zh-CN" altLang="en-US" dirty="0" smtClean="0">
                <a:solidFill>
                  <a:srgbClr val="C00000"/>
                </a:solidFill>
                <a:latin typeface="+mj-ea"/>
                <a:ea typeface="+mj-ea"/>
              </a:rPr>
              <a:t>做课后作业题</a:t>
            </a:r>
            <a:endParaRPr lang="zh-CN" altLang="en-US" dirty="0">
              <a:solidFill>
                <a:srgbClr val="C00000"/>
              </a:solidFill>
              <a:latin typeface="+mj-ea"/>
              <a:ea typeface="+mj-ea"/>
            </a:endParaRPr>
          </a:p>
        </p:txBody>
      </p:sp>
      <p:sp>
        <p:nvSpPr>
          <p:cNvPr id="4" name="日期占位符 3"/>
          <p:cNvSpPr>
            <a:spLocks noGrp="1"/>
          </p:cNvSpPr>
          <p:nvPr>
            <p:ph type="dt" sz="half" idx="10"/>
          </p:nvPr>
        </p:nvSpPr>
        <p:spPr/>
        <p:txBody>
          <a:bodyPr/>
          <a:lstStyle/>
          <a:p>
            <a:fld id="{B0867B40-A970-4AEE-9397-B535FF2A269E}"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12" name="组合 11"/>
          <p:cNvGrpSpPr/>
          <p:nvPr/>
        </p:nvGrpSpPr>
        <p:grpSpPr>
          <a:xfrm>
            <a:off x="5263702" y="3185050"/>
            <a:ext cx="3579826" cy="1195001"/>
            <a:chOff x="5108254" y="3464363"/>
            <a:chExt cx="3579826" cy="1195001"/>
          </a:xfrm>
        </p:grpSpPr>
        <p:grpSp>
          <p:nvGrpSpPr>
            <p:cNvPr id="7" name="组合 6"/>
            <p:cNvGrpSpPr/>
            <p:nvPr/>
          </p:nvGrpSpPr>
          <p:grpSpPr>
            <a:xfrm>
              <a:off x="6397131" y="3464363"/>
              <a:ext cx="1246832" cy="1195001"/>
              <a:chOff x="6748464" y="1557338"/>
              <a:chExt cx="687388" cy="658813"/>
            </a:xfrm>
          </p:grpSpPr>
          <p:sp>
            <p:nvSpPr>
              <p:cNvPr id="8" name="Oval 80"/>
              <p:cNvSpPr>
                <a:spLocks noChangeArrowheads="1"/>
              </p:cNvSpPr>
              <p:nvPr/>
            </p:nvSpPr>
            <p:spPr bwMode="auto">
              <a:xfrm>
                <a:off x="6834189" y="1557338"/>
                <a:ext cx="112713" cy="111125"/>
              </a:xfrm>
              <a:prstGeom prst="ellipse">
                <a:avLst/>
              </a:prstGeom>
              <a:solidFill>
                <a:schemeClr val="tx1">
                  <a:lumMod val="65000"/>
                  <a:lumOff val="3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81"/>
              <p:cNvSpPr/>
              <p:nvPr/>
            </p:nvSpPr>
            <p:spPr bwMode="auto">
              <a:xfrm>
                <a:off x="6748464" y="1633538"/>
                <a:ext cx="552450" cy="582613"/>
              </a:xfrm>
              <a:custGeom>
                <a:avLst/>
                <a:gdLst>
                  <a:gd name="T0" fmla="*/ 187 w 339"/>
                  <a:gd name="T1" fmla="*/ 40 h 358"/>
                  <a:gd name="T2" fmla="*/ 93 w 339"/>
                  <a:gd name="T3" fmla="*/ 54 h 358"/>
                  <a:gd name="T4" fmla="*/ 49 w 339"/>
                  <a:gd name="T5" fmla="*/ 121 h 358"/>
                  <a:gd name="T6" fmla="*/ 68 w 339"/>
                  <a:gd name="T7" fmla="*/ 59 h 358"/>
                  <a:gd name="T8" fmla="*/ 46 w 339"/>
                  <a:gd name="T9" fmla="*/ 47 h 358"/>
                  <a:gd name="T10" fmla="*/ 16 w 339"/>
                  <a:gd name="T11" fmla="*/ 96 h 358"/>
                  <a:gd name="T12" fmla="*/ 27 w 339"/>
                  <a:gd name="T13" fmla="*/ 161 h 358"/>
                  <a:gd name="T14" fmla="*/ 87 w 339"/>
                  <a:gd name="T15" fmla="*/ 141 h 358"/>
                  <a:gd name="T16" fmla="*/ 119 w 339"/>
                  <a:gd name="T17" fmla="*/ 103 h 358"/>
                  <a:gd name="T18" fmla="*/ 164 w 339"/>
                  <a:gd name="T19" fmla="*/ 141 h 358"/>
                  <a:gd name="T20" fmla="*/ 175 w 339"/>
                  <a:gd name="T21" fmla="*/ 172 h 358"/>
                  <a:gd name="T22" fmla="*/ 76 w 339"/>
                  <a:gd name="T23" fmla="*/ 242 h 358"/>
                  <a:gd name="T24" fmla="*/ 65 w 339"/>
                  <a:gd name="T25" fmla="*/ 357 h 358"/>
                  <a:gd name="T26" fmla="*/ 95 w 339"/>
                  <a:gd name="T27" fmla="*/ 358 h 358"/>
                  <a:gd name="T28" fmla="*/ 119 w 339"/>
                  <a:gd name="T29" fmla="*/ 263 h 358"/>
                  <a:gd name="T30" fmla="*/ 201 w 339"/>
                  <a:gd name="T31" fmla="*/ 227 h 358"/>
                  <a:gd name="T32" fmla="*/ 231 w 339"/>
                  <a:gd name="T33" fmla="*/ 303 h 358"/>
                  <a:gd name="T34" fmla="*/ 321 w 339"/>
                  <a:gd name="T35" fmla="*/ 358 h 358"/>
                  <a:gd name="T36" fmla="*/ 339 w 339"/>
                  <a:gd name="T37" fmla="*/ 331 h 358"/>
                  <a:gd name="T38" fmla="*/ 271 w 339"/>
                  <a:gd name="T39" fmla="*/ 275 h 358"/>
                  <a:gd name="T40" fmla="*/ 279 w 339"/>
                  <a:gd name="T41" fmla="*/ 195 h 358"/>
                  <a:gd name="T42" fmla="*/ 187 w 339"/>
                  <a:gd name="T43" fmla="*/ 40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39" h="358">
                    <a:moveTo>
                      <a:pt x="187" y="40"/>
                    </a:moveTo>
                    <a:cubicBezTo>
                      <a:pt x="187" y="40"/>
                      <a:pt x="131" y="0"/>
                      <a:pt x="93" y="54"/>
                    </a:cubicBezTo>
                    <a:cubicBezTo>
                      <a:pt x="49" y="121"/>
                      <a:pt x="49" y="121"/>
                      <a:pt x="49" y="121"/>
                    </a:cubicBezTo>
                    <a:cubicBezTo>
                      <a:pt x="68" y="59"/>
                      <a:pt x="68" y="59"/>
                      <a:pt x="68" y="59"/>
                    </a:cubicBezTo>
                    <a:cubicBezTo>
                      <a:pt x="46" y="47"/>
                      <a:pt x="46" y="47"/>
                      <a:pt x="46" y="47"/>
                    </a:cubicBezTo>
                    <a:cubicBezTo>
                      <a:pt x="46" y="47"/>
                      <a:pt x="23" y="81"/>
                      <a:pt x="16" y="96"/>
                    </a:cubicBezTo>
                    <a:cubicBezTo>
                      <a:pt x="10" y="110"/>
                      <a:pt x="0" y="146"/>
                      <a:pt x="27" y="161"/>
                    </a:cubicBezTo>
                    <a:cubicBezTo>
                      <a:pt x="54" y="178"/>
                      <a:pt x="79" y="150"/>
                      <a:pt x="87" y="141"/>
                    </a:cubicBezTo>
                    <a:cubicBezTo>
                      <a:pt x="96" y="133"/>
                      <a:pt x="119" y="103"/>
                      <a:pt x="119" y="103"/>
                    </a:cubicBezTo>
                    <a:cubicBezTo>
                      <a:pt x="119" y="103"/>
                      <a:pt x="142" y="108"/>
                      <a:pt x="164" y="141"/>
                    </a:cubicBezTo>
                    <a:cubicBezTo>
                      <a:pt x="173" y="156"/>
                      <a:pt x="175" y="172"/>
                      <a:pt x="175" y="172"/>
                    </a:cubicBezTo>
                    <a:cubicBezTo>
                      <a:pt x="76" y="242"/>
                      <a:pt x="76" y="242"/>
                      <a:pt x="76" y="242"/>
                    </a:cubicBezTo>
                    <a:cubicBezTo>
                      <a:pt x="65" y="357"/>
                      <a:pt x="65" y="357"/>
                      <a:pt x="65" y="357"/>
                    </a:cubicBezTo>
                    <a:cubicBezTo>
                      <a:pt x="95" y="358"/>
                      <a:pt x="95" y="358"/>
                      <a:pt x="95" y="358"/>
                    </a:cubicBezTo>
                    <a:cubicBezTo>
                      <a:pt x="119" y="263"/>
                      <a:pt x="119" y="263"/>
                      <a:pt x="119" y="263"/>
                    </a:cubicBezTo>
                    <a:cubicBezTo>
                      <a:pt x="201" y="227"/>
                      <a:pt x="201" y="227"/>
                      <a:pt x="201" y="227"/>
                    </a:cubicBezTo>
                    <a:cubicBezTo>
                      <a:pt x="231" y="303"/>
                      <a:pt x="231" y="303"/>
                      <a:pt x="231" y="303"/>
                    </a:cubicBezTo>
                    <a:cubicBezTo>
                      <a:pt x="321" y="358"/>
                      <a:pt x="321" y="358"/>
                      <a:pt x="321" y="358"/>
                    </a:cubicBezTo>
                    <a:cubicBezTo>
                      <a:pt x="339" y="331"/>
                      <a:pt x="339" y="331"/>
                      <a:pt x="339" y="331"/>
                    </a:cubicBezTo>
                    <a:cubicBezTo>
                      <a:pt x="271" y="275"/>
                      <a:pt x="271" y="275"/>
                      <a:pt x="271" y="275"/>
                    </a:cubicBezTo>
                    <a:cubicBezTo>
                      <a:pt x="279" y="195"/>
                      <a:pt x="279" y="195"/>
                      <a:pt x="279" y="195"/>
                    </a:cubicBezTo>
                    <a:cubicBezTo>
                      <a:pt x="279" y="195"/>
                      <a:pt x="294" y="99"/>
                      <a:pt x="187" y="40"/>
                    </a:cubicBezTo>
                    <a:close/>
                  </a:path>
                </a:pathLst>
              </a:custGeom>
              <a:solidFill>
                <a:schemeClr val="tx2">
                  <a:lumMod val="25000"/>
                  <a:lumOff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82"/>
              <p:cNvSpPr/>
              <p:nvPr/>
            </p:nvSpPr>
            <p:spPr bwMode="auto">
              <a:xfrm>
                <a:off x="7005639" y="1585913"/>
                <a:ext cx="430213" cy="327025"/>
              </a:xfrm>
              <a:custGeom>
                <a:avLst/>
                <a:gdLst>
                  <a:gd name="T0" fmla="*/ 0 w 264"/>
                  <a:gd name="T1" fmla="*/ 35 h 201"/>
                  <a:gd name="T2" fmla="*/ 132 w 264"/>
                  <a:gd name="T3" fmla="*/ 142 h 201"/>
                  <a:gd name="T4" fmla="*/ 200 w 264"/>
                  <a:gd name="T5" fmla="*/ 201 h 201"/>
                  <a:gd name="T6" fmla="*/ 217 w 264"/>
                  <a:gd name="T7" fmla="*/ 78 h 201"/>
                  <a:gd name="T8" fmla="*/ 0 w 264"/>
                  <a:gd name="T9" fmla="*/ 35 h 201"/>
                </a:gdLst>
                <a:ahLst/>
                <a:cxnLst>
                  <a:cxn ang="0">
                    <a:pos x="T0" y="T1"/>
                  </a:cxn>
                  <a:cxn ang="0">
                    <a:pos x="T2" y="T3"/>
                  </a:cxn>
                  <a:cxn ang="0">
                    <a:pos x="T4" y="T5"/>
                  </a:cxn>
                  <a:cxn ang="0">
                    <a:pos x="T6" y="T7"/>
                  </a:cxn>
                  <a:cxn ang="0">
                    <a:pos x="T8" y="T9"/>
                  </a:cxn>
                </a:cxnLst>
                <a:rect l="0" t="0" r="r" b="b"/>
                <a:pathLst>
                  <a:path w="264" h="201">
                    <a:moveTo>
                      <a:pt x="0" y="35"/>
                    </a:moveTo>
                    <a:cubicBezTo>
                      <a:pt x="0" y="35"/>
                      <a:pt x="81" y="44"/>
                      <a:pt x="132" y="142"/>
                    </a:cubicBezTo>
                    <a:cubicBezTo>
                      <a:pt x="132" y="142"/>
                      <a:pt x="156" y="201"/>
                      <a:pt x="200" y="201"/>
                    </a:cubicBezTo>
                    <a:cubicBezTo>
                      <a:pt x="244" y="201"/>
                      <a:pt x="264" y="136"/>
                      <a:pt x="217" y="78"/>
                    </a:cubicBezTo>
                    <a:cubicBezTo>
                      <a:pt x="169" y="18"/>
                      <a:pt x="78" y="0"/>
                      <a:pt x="0" y="35"/>
                    </a:cubicBezTo>
                    <a:close/>
                  </a:path>
                </a:pathLst>
              </a:custGeom>
              <a:solidFill>
                <a:srgbClr val="E4007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1" name="文本框 10"/>
            <p:cNvSpPr txBox="1"/>
            <p:nvPr/>
          </p:nvSpPr>
          <p:spPr>
            <a:xfrm>
              <a:off x="5108254" y="3539376"/>
              <a:ext cx="3579826" cy="769441"/>
            </a:xfrm>
            <a:prstGeom prst="rect">
              <a:avLst/>
            </a:prstGeom>
            <a:noFill/>
          </p:spPr>
          <p:txBody>
            <a:bodyPr wrap="none" rtlCol="0">
              <a:spAutoFit/>
            </a:bodyPr>
            <a:lstStyle/>
            <a:p>
              <a:r>
                <a:rPr lang="zh-CN" altLang="en-US" sz="4400" b="1" dirty="0" smtClean="0">
                  <a:solidFill>
                    <a:schemeClr val="accent1"/>
                  </a:solidFill>
                </a:rPr>
                <a:t>严禁抄袭剽窃</a:t>
              </a:r>
              <a:endParaRPr lang="zh-CN" altLang="en-US" sz="4400" b="1" dirty="0">
                <a:solidFill>
                  <a:schemeClr val="accent1"/>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F3DF2C6-2EA2-4C9B-BD5F-101B8F3B5F3B}"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233B410F-ED3A-420F-9009-9AC68EA6698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MH" val="20160830110146"/>
  <p:tag name="MH_LIBRARY" val="CONTENTS"/>
  <p:tag name="MH_TYPE" val="OTHERS"/>
  <p:tag name="ID" val="553512"/>
</p:tagLst>
</file>

<file path=ppt/tags/tag2.xml><?xml version="1.0" encoding="utf-8"?>
<p:tagLst xmlns:p="http://schemas.openxmlformats.org/presentationml/2006/main">
  <p:tag name="MH" val="20160830110146"/>
  <p:tag name="MH_LIBRARY" val="CONTENTS"/>
  <p:tag name="MH_TYPE" val="OTHERS"/>
  <p:tag name="ID" val="553512"/>
</p:tagLst>
</file>

<file path=ppt/tags/tag3.xml><?xml version="1.0" encoding="utf-8"?>
<p:tagLst xmlns:p="http://schemas.openxmlformats.org/presentationml/2006/main">
  <p:tag name="KSO_WM_DIAGRAM_VIRTUALLY_FRAME" val="{&quot;height&quot;:257.61653543307085,&quot;left&quot;:273.95259842519687,&quot;top&quot;:84.16078740157481,&quot;width&quot;:363.9275590551181}"/>
</p:tagLst>
</file>

<file path=ppt/tags/tag4.xml><?xml version="1.0" encoding="utf-8"?>
<p:tagLst xmlns:p="http://schemas.openxmlformats.org/presentationml/2006/main">
  <p:tag name="KSO_WM_DIAGRAM_VIRTUALLY_FRAME" val="{&quot;height&quot;:257.61653543307085,&quot;left&quot;:273.95259842519687,&quot;top&quot;:84.16078740157481,&quot;width&quot;:363.9275590551181}"/>
</p:tagLst>
</file>

<file path=ppt/tags/tag5.xml><?xml version="1.0" encoding="utf-8"?>
<p:tagLst xmlns:p="http://schemas.openxmlformats.org/presentationml/2006/main">
  <p:tag name="KSO_WM_DIAGRAM_VIRTUALLY_FRAME" val="{&quot;height&quot;:257.61653543307085,&quot;left&quot;:273.95259842519687,&quot;top&quot;:84.16078740157481,&quot;width&quot;:363.9275590551181}"/>
</p:tagLst>
</file>

<file path=ppt/tags/tag6.xml><?xml version="1.0" encoding="utf-8"?>
<p:tagLst xmlns:p="http://schemas.openxmlformats.org/presentationml/2006/main">
  <p:tag name="KSO_WM_DIAGRAM_VIRTUALLY_FRAME" val="{&quot;height&quot;:257.61653543307085,&quot;left&quot;:273.95259842519687,&quot;top&quot;:84.16078740157481,&quot;width&quot;:363.9275590551181}"/>
</p:tagLst>
</file>

<file path=ppt/tags/tag7.xml><?xml version="1.0" encoding="utf-8"?>
<p:tagLst xmlns:p="http://schemas.openxmlformats.org/presentationml/2006/main">
  <p:tag name="KSO_WM_DIAGRAM_VIRTUALLY_FRAME" val="{&quot;height&quot;:257.61653543307085,&quot;left&quot;:273.95259842519687,&quot;top&quot;:84.16078740157481,&quot;width&quot;:363.9275590551181}"/>
</p:tagLst>
</file>

<file path=ppt/tags/tag8.xml><?xml version="1.0" encoding="utf-8"?>
<p:tagLst xmlns:p="http://schemas.openxmlformats.org/presentationml/2006/main">
  <p:tag name="KSO_WM_DIAGRAM_VIRTUALLY_FRAME" val="{&quot;height&quot;:257.61653543307085,&quot;left&quot;:273.95259842519687,&quot;top&quot;:84.16078740157481,&quot;width&quot;:363.9275590551181}"/>
</p:tagLst>
</file>

<file path=ppt/tags/tag9.xml><?xml version="1.0" encoding="utf-8"?>
<p:tagLst xmlns:p="http://schemas.openxmlformats.org/presentationml/2006/main">
  <p:tag name="KSO_WM_DIAGRAM_VIRTUALLY_FRAME" val="{&quot;height&quot;:257.61653543307085,&quot;left&quot;:273.95259842519687,&quot;top&quot;:84.16078740157481,&quot;width&quot;:363.9275590551181}"/>
</p:tagLst>
</file>

<file path=ppt/tags/tag10.xml><?xml version="1.0" encoding="utf-8"?>
<p:tagLst xmlns:p="http://schemas.openxmlformats.org/presentationml/2006/main">
  <p:tag name="KSO_WM_DIAGRAM_VIRTUALLY_FRAME" val="{&quot;height&quot;:257.61653543307085,&quot;left&quot;:273.95259842519687,&quot;top&quot;:84.16078740157481,&quot;width&quot;:363.9275590551181}"/>
</p:tagLst>
</file>

<file path=ppt/tags/tag11.xml><?xml version="1.0" encoding="utf-8"?>
<p:tagLst xmlns:p="http://schemas.openxmlformats.org/presentationml/2006/main">
  <p:tag name="KSO_WM_DIAGRAM_VIRTUALLY_FRAME" val="{&quot;height&quot;:257.61653543307085,&quot;left&quot;:273.95259842519687,&quot;top&quot;:84.16078740157481,&quot;width&quot;:363.9275590551181}"/>
</p:tagLst>
</file>

<file path=ppt/tags/tag12.xml><?xml version="1.0" encoding="utf-8"?>
<p:tagLst xmlns:p="http://schemas.openxmlformats.org/presentationml/2006/main">
  <p:tag name="KSO_WM_DIAGRAM_VIRTUALLY_FRAME" val="{&quot;height&quot;:257.61653543307085,&quot;left&quot;:273.95259842519687,&quot;top&quot;:84.16078740157481,&quot;width&quot;:363.9275590551181}"/>
</p:tagLst>
</file>

<file path=ppt/tags/tag13.xml><?xml version="1.0" encoding="utf-8"?>
<p:tagLst xmlns:p="http://schemas.openxmlformats.org/presentationml/2006/main">
  <p:tag name="KSO_WM_DIAGRAM_VIRTUALLY_FRAME" val="{&quot;height&quot;:257.61653543307085,&quot;left&quot;:273.95259842519687,&quot;top&quot;:84.16078740157481,&quot;width&quot;:363.9275590551181}"/>
</p:tagLst>
</file>

<file path=ppt/tags/tag14.xml><?xml version="1.0" encoding="utf-8"?>
<p:tagLst xmlns:p="http://schemas.openxmlformats.org/presentationml/2006/main">
  <p:tag name="KSO_WM_DIAGRAM_VIRTUALLY_FRAME" val="{&quot;height&quot;:257.61653543307085,&quot;left&quot;:273.95259842519687,&quot;top&quot;:84.16078740157481,&quot;width&quot;:363.9275590551181}"/>
</p:tagLst>
</file>

<file path=ppt/tags/tag15.xml><?xml version="1.0" encoding="utf-8"?>
<p:tagLst xmlns:p="http://schemas.openxmlformats.org/presentationml/2006/main">
  <p:tag name="KSO_WM_DIAGRAM_VIRTUALLY_FRAME" val="{&quot;height&quot;:257.61653543307085,&quot;left&quot;:273.95259842519687,&quot;top&quot;:84.16078740157481,&quot;width&quot;:363.9275590551181}"/>
</p:tagLst>
</file>

<file path=ppt/tags/tag16.xml><?xml version="1.0" encoding="utf-8"?>
<p:tagLst xmlns:p="http://schemas.openxmlformats.org/presentationml/2006/main">
  <p:tag name="KSO_WM_DIAGRAM_VIRTUALLY_FRAME" val="{&quot;height&quot;:257.61653543307085,&quot;left&quot;:273.95259842519687,&quot;top&quot;:84.16078740157481,&quot;width&quot;:363.9275590551181}"/>
</p:tagLst>
</file>

<file path=ppt/tags/tag17.xml><?xml version="1.0" encoding="utf-8"?>
<p:tagLst xmlns:p="http://schemas.openxmlformats.org/presentationml/2006/main">
  <p:tag name="KSO_WM_DIAGRAM_VIRTUALLY_FRAME" val="{&quot;height&quot;:257.61653543307085,&quot;left&quot;:273.95259842519687,&quot;top&quot;:84.16078740157481,&quot;width&quot;:363.9275590551181}"/>
</p:tagLst>
</file>

<file path=ppt/tags/tag18.xml><?xml version="1.0" encoding="utf-8"?>
<p:tagLst xmlns:p="http://schemas.openxmlformats.org/presentationml/2006/main">
  <p:tag name="KSO_WM_DIAGRAM_VIRTUALLY_FRAME" val="{&quot;height&quot;:257.61653543307085,&quot;left&quot;:273.95259842519687,&quot;top&quot;:84.16078740157481,&quot;width&quot;:363.9275590551181}"/>
</p:tagLst>
</file>

<file path=ppt/tags/tag19.xml><?xml version="1.0" encoding="utf-8"?>
<p:tagLst xmlns:p="http://schemas.openxmlformats.org/presentationml/2006/main">
  <p:tag name="KSO_WM_DIAGRAM_VIRTUALLY_FRAME" val="{&quot;height&quot;:257.61653543307085,&quot;left&quot;:273.95259842519687,&quot;top&quot;:84.16078740157481,&quot;width&quot;:363.9275590551181}"/>
</p:tagLst>
</file>

<file path=ppt/tags/tag20.xml><?xml version="1.0" encoding="utf-8"?>
<p:tagLst xmlns:p="http://schemas.openxmlformats.org/presentationml/2006/main">
  <p:tag name="KSO_WM_DIAGRAM_VIRTUALLY_FRAME" val="{&quot;height&quot;:257.61653543307085,&quot;left&quot;:273.95259842519687,&quot;top&quot;:84.16078740157481,&quot;width&quot;:363.9275590551181}"/>
</p:tagLst>
</file>

<file path=ppt/tags/tag21.xml><?xml version="1.0" encoding="utf-8"?>
<p:tagLst xmlns:p="http://schemas.openxmlformats.org/presentationml/2006/main">
  <p:tag name="KSO_WM_DIAGRAM_VIRTUALLY_FRAME" val="{&quot;height&quot;:257.61653543307085,&quot;left&quot;:273.95259842519687,&quot;top&quot;:84.16078740157481,&quot;width&quot;:363.9275590551181}"/>
</p:tagLst>
</file>

<file path=ppt/tags/tag22.xml><?xml version="1.0" encoding="utf-8"?>
<p:tagLst xmlns:p="http://schemas.openxmlformats.org/presentationml/2006/main">
  <p:tag name="KSO_WM_DIAGRAM_VIRTUALLY_FRAME" val="{&quot;height&quot;:257.61653543307085,&quot;left&quot;:273.95259842519687,&quot;top&quot;:84.16078740157481,&quot;width&quot;:363.9275590551181}"/>
</p:tagLst>
</file>

<file path=ppt/tags/tag23.xml><?xml version="1.0" encoding="utf-8"?>
<p:tagLst xmlns:p="http://schemas.openxmlformats.org/presentationml/2006/main">
  <p:tag name="KSO_WM_DIAGRAM_VIRTUALLY_FRAME" val="{&quot;height&quot;:257.61653543307085,&quot;left&quot;:273.95259842519687,&quot;top&quot;:84.16078740157481,&quot;width&quot;:363.9275590551181}"/>
</p:tagLst>
</file>

<file path=ppt/tags/tag24.xml><?xml version="1.0" encoding="utf-8"?>
<p:tagLst xmlns:p="http://schemas.openxmlformats.org/presentationml/2006/main">
  <p:tag name="RAINPROBLEM" val="ProblemBody"/>
</p:tagLst>
</file>

<file path=ppt/tags/tag25.xml><?xml version="1.0" encoding="utf-8"?>
<p:tagLst xmlns:p="http://schemas.openxmlformats.org/presentationml/2006/main">
  <p:tag name="RAINPROBLEM" val="ProblemItem"/>
</p:tagLst>
</file>

<file path=ppt/tags/tag26.xml><?xml version="1.0" encoding="utf-8"?>
<p:tagLst xmlns:p="http://schemas.openxmlformats.org/presentationml/2006/main">
  <p:tag name="RAINPROBLEM" val="ProblemItem"/>
</p:tagLst>
</file>

<file path=ppt/tags/tag27.xml><?xml version="1.0" encoding="utf-8"?>
<p:tagLst xmlns:p="http://schemas.openxmlformats.org/presentationml/2006/main">
  <p:tag name="RAINPROBLEM" val="ProblemItem"/>
</p:tagLst>
</file>

<file path=ppt/tags/tag28.xml><?xml version="1.0" encoding="utf-8"?>
<p:tagLst xmlns:p="http://schemas.openxmlformats.org/presentationml/2006/main">
  <p:tag name="RAINPROBLEM" val="ProblemItem"/>
</p:tagLst>
</file>

<file path=ppt/tags/tag29.xml><?xml version="1.0" encoding="utf-8"?>
<p:tagLst xmlns:p="http://schemas.openxmlformats.org/presentationml/2006/main">
  <p:tag name="RAINPROBLEM" val="ProblemBullet"/>
  <p:tag name="RAINPROBLEMTYPE" val="MultipleChoice"/>
  <p:tag name="RAINBULLET" val="Wrong"/>
</p:tagLst>
</file>

<file path=ppt/tags/tag30.xml><?xml version="1.0" encoding="utf-8"?>
<p:tagLst xmlns:p="http://schemas.openxmlformats.org/presentationml/2006/main">
  <p:tag name="RAINPROBLEM" val="ProblemBullet"/>
  <p:tag name="RAINPROBLEMTYPE" val="MultipleChoice"/>
  <p:tag name="RAINBULLET" val="Wrong"/>
</p:tagLst>
</file>

<file path=ppt/tags/tag31.xml><?xml version="1.0" encoding="utf-8"?>
<p:tagLst xmlns:p="http://schemas.openxmlformats.org/presentationml/2006/main">
  <p:tag name="RAINPROBLEM" val="ProblemBullet"/>
  <p:tag name="RAINPROBLEMTYPE" val="MultipleChoice"/>
  <p:tag name="RAINBULLET" val="Correct"/>
</p:tagLst>
</file>

<file path=ppt/tags/tag32.xml><?xml version="1.0" encoding="utf-8"?>
<p:tagLst xmlns:p="http://schemas.openxmlformats.org/presentationml/2006/main">
  <p:tag name="RAINPROBLEM" val="ProblemBullet"/>
  <p:tag name="RAINPROBLEMTYPE" val="MultipleChoice"/>
  <p:tag name="RAINBULLET" val="Wrong"/>
</p:tagLst>
</file>

<file path=ppt/tags/tag33.xml><?xml version="1.0" encoding="utf-8"?>
<p:tagLst xmlns:p="http://schemas.openxmlformats.org/presentationml/2006/main">
  <p:tag name="RAINPROBLEM" val="ProblemSubmit"/>
  <p:tag name="RAINPROBLEMTYPE" val="MultipleChoice"/>
</p:tagLst>
</file>

<file path=ppt/tags/tag34.xml><?xml version="1.0" encoding="utf-8"?>
<p:tagLst xmlns:p="http://schemas.openxmlformats.org/presentationml/2006/main">
  <p:tag name="RAINPROBLEMTYPE" val="ProblemTypeMarker"/>
</p:tagLst>
</file>

<file path=ppt/tags/tag35.xml><?xml version="1.0" encoding="utf-8"?>
<p:tagLst xmlns:p="http://schemas.openxmlformats.org/presentationml/2006/main">
  <p:tag name="RAINPROBLEMTYPE" val="ProblemTypeMarker"/>
</p:tagLst>
</file>

<file path=ppt/tags/tag36.xml><?xml version="1.0" encoding="utf-8"?>
<p:tagLst xmlns:p="http://schemas.openxmlformats.org/presentationml/2006/main">
  <p:tag name="RAINPROBLEMTYPE" val="ProblemTypeMarker"/>
</p:tagLst>
</file>

<file path=ppt/tags/tag37.xml><?xml version="1.0" encoding="utf-8"?>
<p:tagLst xmlns:p="http://schemas.openxmlformats.org/presentationml/2006/main">
  <p:tag name="RAINPROBLEMTYPE" val="ProblemTypeMarker"/>
</p:tagLst>
</file>

<file path=ppt/tags/tag38.xml><?xml version="1.0" encoding="utf-8"?>
<p:tagLst xmlns:p="http://schemas.openxmlformats.org/presentationml/2006/main">
  <p:tag name="RAINPROBLEMTYPE" val="ProblemTypeMarker"/>
</p:tagLst>
</file>

<file path=ppt/tags/tag39.xml><?xml version="1.0" encoding="utf-8"?>
<p:tagLst xmlns:p="http://schemas.openxmlformats.org/presentationml/2006/main">
  <p:tag name="RAINPROBLEM" val="ProblemSetting"/>
  <p:tag name="RAINPROBLEMTYPE" val="MultipleChoice"/>
</p:tagLst>
</file>

<file path=ppt/tags/tag40.xml><?xml version="1.0" encoding="utf-8"?>
<p:tagLst xmlns:p="http://schemas.openxmlformats.org/presentationml/2006/main">
  <p:tag name="RAINPROBLEM" val="MultipleChoice"/>
  <p:tag name="PROBLEMSCORE" val="1.0"/>
</p:tagLst>
</file>

<file path=ppt/tags/tag41.xml><?xml version="1.0" encoding="utf-8"?>
<p:tagLst xmlns:p="http://schemas.openxmlformats.org/presentationml/2006/main">
  <p:tag name="RAINPROBLEM" val="ProblemBody"/>
</p:tagLst>
</file>

<file path=ppt/tags/tag42.xml><?xml version="1.0" encoding="utf-8"?>
<p:tagLst xmlns:p="http://schemas.openxmlformats.org/presentationml/2006/main">
  <p:tag name="RAINPROBLEM" val="ProblemItem"/>
</p:tagLst>
</file>

<file path=ppt/tags/tag43.xml><?xml version="1.0" encoding="utf-8"?>
<p:tagLst xmlns:p="http://schemas.openxmlformats.org/presentationml/2006/main">
  <p:tag name="RAINPROBLEM" val="ProblemItem"/>
</p:tagLst>
</file>

<file path=ppt/tags/tag44.xml><?xml version="1.0" encoding="utf-8"?>
<p:tagLst xmlns:p="http://schemas.openxmlformats.org/presentationml/2006/main">
  <p:tag name="RAINPROBLEM" val="ProblemItem"/>
</p:tagLst>
</file>

<file path=ppt/tags/tag45.xml><?xml version="1.0" encoding="utf-8"?>
<p:tagLst xmlns:p="http://schemas.openxmlformats.org/presentationml/2006/main">
  <p:tag name="RAINPROBLEM" val="ProblemItem"/>
</p:tagLst>
</file>

<file path=ppt/tags/tag46.xml><?xml version="1.0" encoding="utf-8"?>
<p:tagLst xmlns:p="http://schemas.openxmlformats.org/presentationml/2006/main">
  <p:tag name="RAINPROBLEM" val="ProblemBullet"/>
  <p:tag name="RAINPROBLEMTYPE" val="MultipleChoice"/>
  <p:tag name="RAINBULLET" val="Correct"/>
</p:tagLst>
</file>

<file path=ppt/tags/tag47.xml><?xml version="1.0" encoding="utf-8"?>
<p:tagLst xmlns:p="http://schemas.openxmlformats.org/presentationml/2006/main">
  <p:tag name="RAINPROBLEM" val="ProblemBullet"/>
  <p:tag name="RAINPROBLEMTYPE" val="MultipleChoice"/>
  <p:tag name="RAINBULLET" val="Wrong"/>
</p:tagLst>
</file>

<file path=ppt/tags/tag48.xml><?xml version="1.0" encoding="utf-8"?>
<p:tagLst xmlns:p="http://schemas.openxmlformats.org/presentationml/2006/main">
  <p:tag name="RAINPROBLEM" val="ProblemBullet"/>
  <p:tag name="RAINPROBLEMTYPE" val="MultipleChoice"/>
  <p:tag name="RAINBULLET" val="Wrong"/>
</p:tagLst>
</file>

<file path=ppt/tags/tag49.xml><?xml version="1.0" encoding="utf-8"?>
<p:tagLst xmlns:p="http://schemas.openxmlformats.org/presentationml/2006/main">
  <p:tag name="RAINPROBLEM" val="ProblemBullet"/>
  <p:tag name="RAINPROBLEMTYPE" val="MultipleChoice"/>
  <p:tag name="RAINBULLET" val="Wrong"/>
</p:tagLst>
</file>

<file path=ppt/tags/tag50.xml><?xml version="1.0" encoding="utf-8"?>
<p:tagLst xmlns:p="http://schemas.openxmlformats.org/presentationml/2006/main">
  <p:tag name="RAINPROBLEM" val="ProblemSubmit"/>
  <p:tag name="RAINPROBLEMTYPE" val="MultipleChoice"/>
</p:tagLst>
</file>

<file path=ppt/tags/tag51.xml><?xml version="1.0" encoding="utf-8"?>
<p:tagLst xmlns:p="http://schemas.openxmlformats.org/presentationml/2006/main">
  <p:tag name="RAINPROBLEMTYPE" val="ProblemTypeMarker"/>
</p:tagLst>
</file>

<file path=ppt/tags/tag52.xml><?xml version="1.0" encoding="utf-8"?>
<p:tagLst xmlns:p="http://schemas.openxmlformats.org/presentationml/2006/main">
  <p:tag name="RAINPROBLEMTYPE" val="ProblemTypeMarker"/>
</p:tagLst>
</file>

<file path=ppt/tags/tag53.xml><?xml version="1.0" encoding="utf-8"?>
<p:tagLst xmlns:p="http://schemas.openxmlformats.org/presentationml/2006/main">
  <p:tag name="RAINPROBLEMTYPE" val="ProblemTypeMarker"/>
</p:tagLst>
</file>

<file path=ppt/tags/tag54.xml><?xml version="1.0" encoding="utf-8"?>
<p:tagLst xmlns:p="http://schemas.openxmlformats.org/presentationml/2006/main">
  <p:tag name="RAINPROBLEMTYPE" val="ProblemTypeMarker"/>
</p:tagLst>
</file>

<file path=ppt/tags/tag55.xml><?xml version="1.0" encoding="utf-8"?>
<p:tagLst xmlns:p="http://schemas.openxmlformats.org/presentationml/2006/main">
  <p:tag name="RAINPROBLEMTYPE" val="ProblemTypeMarker"/>
</p:tagLst>
</file>

<file path=ppt/tags/tag56.xml><?xml version="1.0" encoding="utf-8"?>
<p:tagLst xmlns:p="http://schemas.openxmlformats.org/presentationml/2006/main">
  <p:tag name="RAINPROBLEM" val="ProblemSetting"/>
  <p:tag name="RAINPROBLEMTYPE" val="MultipleChoice"/>
</p:tagLst>
</file>

<file path=ppt/tags/tag57.xml><?xml version="1.0" encoding="utf-8"?>
<p:tagLst xmlns:p="http://schemas.openxmlformats.org/presentationml/2006/main">
  <p:tag name="RAINPROBLEM" val="MultipleChoice"/>
  <p:tag name="PROBLEMSCORE" val="1.0"/>
</p:tagLst>
</file>

<file path=ppt/tags/tag58.xml><?xml version="1.0" encoding="utf-8"?>
<p:tagLst xmlns:p="http://schemas.openxmlformats.org/presentationml/2006/main">
  <p:tag name="RAINPROBLEM" val="ProblemBody"/>
</p:tagLst>
</file>

<file path=ppt/tags/tag59.xml><?xml version="1.0" encoding="utf-8"?>
<p:tagLst xmlns:p="http://schemas.openxmlformats.org/presentationml/2006/main">
  <p:tag name="RAINPROBLEM" val="ProblemItem"/>
</p:tagLst>
</file>

<file path=ppt/tags/tag60.xml><?xml version="1.0" encoding="utf-8"?>
<p:tagLst xmlns:p="http://schemas.openxmlformats.org/presentationml/2006/main">
  <p:tag name="RAINPROBLEM" val="ProblemItem"/>
</p:tagLst>
</file>

<file path=ppt/tags/tag61.xml><?xml version="1.0" encoding="utf-8"?>
<p:tagLst xmlns:p="http://schemas.openxmlformats.org/presentationml/2006/main">
  <p:tag name="RAINPROBLEM" val="ProblemItem"/>
</p:tagLst>
</file>

<file path=ppt/tags/tag62.xml><?xml version="1.0" encoding="utf-8"?>
<p:tagLst xmlns:p="http://schemas.openxmlformats.org/presentationml/2006/main">
  <p:tag name="RAINPROBLEM" val="ProblemItem"/>
</p:tagLst>
</file>

<file path=ppt/tags/tag63.xml><?xml version="1.0" encoding="utf-8"?>
<p:tagLst xmlns:p="http://schemas.openxmlformats.org/presentationml/2006/main">
  <p:tag name="RAINPROBLEM" val="ProblemBullet"/>
  <p:tag name="RAINPROBLEMTYPE" val="MultipleChoice"/>
  <p:tag name="RAINBULLET" val="Wrong"/>
</p:tagLst>
</file>

<file path=ppt/tags/tag64.xml><?xml version="1.0" encoding="utf-8"?>
<p:tagLst xmlns:p="http://schemas.openxmlformats.org/presentationml/2006/main">
  <p:tag name="RAINPROBLEM" val="ProblemBullet"/>
  <p:tag name="RAINPROBLEMTYPE" val="MultipleChoice"/>
  <p:tag name="RAINBULLET" val="Correct"/>
</p:tagLst>
</file>

<file path=ppt/tags/tag65.xml><?xml version="1.0" encoding="utf-8"?>
<p:tagLst xmlns:p="http://schemas.openxmlformats.org/presentationml/2006/main">
  <p:tag name="RAINPROBLEM" val="ProblemBullet"/>
  <p:tag name="RAINPROBLEMTYPE" val="MultipleChoice"/>
  <p:tag name="RAINBULLET" val="Wrong"/>
</p:tagLst>
</file>

<file path=ppt/tags/tag66.xml><?xml version="1.0" encoding="utf-8"?>
<p:tagLst xmlns:p="http://schemas.openxmlformats.org/presentationml/2006/main">
  <p:tag name="RAINPROBLEM" val="ProblemBullet"/>
  <p:tag name="RAINPROBLEMTYPE" val="MultipleChoice"/>
  <p:tag name="RAINBULLET" val="Wrong"/>
</p:tagLst>
</file>

<file path=ppt/tags/tag67.xml><?xml version="1.0" encoding="utf-8"?>
<p:tagLst xmlns:p="http://schemas.openxmlformats.org/presentationml/2006/main">
  <p:tag name="RAINPROBLEM" val="ProblemSubmit"/>
  <p:tag name="RAINPROBLEMTYPE" val="MultipleChoice"/>
</p:tagLst>
</file>

<file path=ppt/tags/tag68.xml><?xml version="1.0" encoding="utf-8"?>
<p:tagLst xmlns:p="http://schemas.openxmlformats.org/presentationml/2006/main">
  <p:tag name="RAINPROBLEMTYPE" val="ProblemTypeMarker"/>
</p:tagLst>
</file>

<file path=ppt/tags/tag69.xml><?xml version="1.0" encoding="utf-8"?>
<p:tagLst xmlns:p="http://schemas.openxmlformats.org/presentationml/2006/main">
  <p:tag name="RAINPROBLEMTYPE" val="ProblemTypeMarker"/>
</p:tagLst>
</file>

<file path=ppt/tags/tag70.xml><?xml version="1.0" encoding="utf-8"?>
<p:tagLst xmlns:p="http://schemas.openxmlformats.org/presentationml/2006/main">
  <p:tag name="RAINPROBLEMTYPE" val="ProblemTypeMarker"/>
</p:tagLst>
</file>

<file path=ppt/tags/tag71.xml><?xml version="1.0" encoding="utf-8"?>
<p:tagLst xmlns:p="http://schemas.openxmlformats.org/presentationml/2006/main">
  <p:tag name="RAINPROBLEMTYPE" val="ProblemTypeMarker"/>
</p:tagLst>
</file>

<file path=ppt/tags/tag72.xml><?xml version="1.0" encoding="utf-8"?>
<p:tagLst xmlns:p="http://schemas.openxmlformats.org/presentationml/2006/main">
  <p:tag name="RAINPROBLEMTYPE" val="ProblemTypeMarker"/>
</p:tagLst>
</file>

<file path=ppt/tags/tag73.xml><?xml version="1.0" encoding="utf-8"?>
<p:tagLst xmlns:p="http://schemas.openxmlformats.org/presentationml/2006/main">
  <p:tag name="RAINPROBLEM" val="ProblemSetting"/>
  <p:tag name="RAINPROBLEMTYPE" val="MultipleChoice"/>
</p:tagLst>
</file>

<file path=ppt/tags/tag74.xml><?xml version="1.0" encoding="utf-8"?>
<p:tagLst xmlns:p="http://schemas.openxmlformats.org/presentationml/2006/main">
  <p:tag name="RAINPROBLEM" val="MultipleChoice"/>
  <p:tag name="PROBLEMSCORE" val="1.0"/>
</p:tagLst>
</file>

<file path=ppt/tags/tag75.xml><?xml version="1.0" encoding="utf-8"?>
<p:tagLst xmlns:p="http://schemas.openxmlformats.org/presentationml/2006/main">
  <p:tag name="RAINPROBLEM" val="ProblemBody"/>
</p:tagLst>
</file>

<file path=ppt/tags/tag76.xml><?xml version="1.0" encoding="utf-8"?>
<p:tagLst xmlns:p="http://schemas.openxmlformats.org/presentationml/2006/main">
  <p:tag name="RAINPROBLEM" val="ProblemItem"/>
</p:tagLst>
</file>

<file path=ppt/tags/tag77.xml><?xml version="1.0" encoding="utf-8"?>
<p:tagLst xmlns:p="http://schemas.openxmlformats.org/presentationml/2006/main">
  <p:tag name="RAINPROBLEM" val="ProblemItem"/>
</p:tagLst>
</file>

<file path=ppt/tags/tag78.xml><?xml version="1.0" encoding="utf-8"?>
<p:tagLst xmlns:p="http://schemas.openxmlformats.org/presentationml/2006/main">
  <p:tag name="RAINPROBLEM" val="ProblemItem"/>
</p:tagLst>
</file>

<file path=ppt/tags/tag79.xml><?xml version="1.0" encoding="utf-8"?>
<p:tagLst xmlns:p="http://schemas.openxmlformats.org/presentationml/2006/main">
  <p:tag name="RAINPROBLEM" val="ProblemItem"/>
</p:tagLst>
</file>

<file path=ppt/tags/tag80.xml><?xml version="1.0" encoding="utf-8"?>
<p:tagLst xmlns:p="http://schemas.openxmlformats.org/presentationml/2006/main">
  <p:tag name="RAINPROBLEM" val="ProblemBullet"/>
  <p:tag name="RAINPROBLEMTYPE" val="MultipleChoice"/>
  <p:tag name="RAINBULLET" val="Wrong"/>
</p:tagLst>
</file>

<file path=ppt/tags/tag81.xml><?xml version="1.0" encoding="utf-8"?>
<p:tagLst xmlns:p="http://schemas.openxmlformats.org/presentationml/2006/main">
  <p:tag name="RAINPROBLEM" val="ProblemBullet"/>
  <p:tag name="RAINPROBLEMTYPE" val="MultipleChoice"/>
  <p:tag name="RAINBULLET" val="Wrong"/>
</p:tagLst>
</file>

<file path=ppt/tags/tag82.xml><?xml version="1.0" encoding="utf-8"?>
<p:tagLst xmlns:p="http://schemas.openxmlformats.org/presentationml/2006/main">
  <p:tag name="RAINPROBLEM" val="ProblemBullet"/>
  <p:tag name="RAINPROBLEMTYPE" val="MultipleChoice"/>
  <p:tag name="RAINBULLET" val="Correct"/>
</p:tagLst>
</file>

<file path=ppt/tags/tag83.xml><?xml version="1.0" encoding="utf-8"?>
<p:tagLst xmlns:p="http://schemas.openxmlformats.org/presentationml/2006/main">
  <p:tag name="RAINPROBLEM" val="ProblemBullet"/>
  <p:tag name="RAINPROBLEMTYPE" val="MultipleChoice"/>
  <p:tag name="RAINBULLET" val="Wrong"/>
</p:tagLst>
</file>

<file path=ppt/tags/tag84.xml><?xml version="1.0" encoding="utf-8"?>
<p:tagLst xmlns:p="http://schemas.openxmlformats.org/presentationml/2006/main">
  <p:tag name="RAINPROBLEM" val="ProblemSubmit"/>
  <p:tag name="RAINPROBLEMTYPE" val="MultipleChoice"/>
</p:tagLst>
</file>

<file path=ppt/tags/tag85.xml><?xml version="1.0" encoding="utf-8"?>
<p:tagLst xmlns:p="http://schemas.openxmlformats.org/presentationml/2006/main">
  <p:tag name="RAINPROBLEMTYPE" val="ProblemTypeMarker"/>
</p:tagLst>
</file>

<file path=ppt/tags/tag86.xml><?xml version="1.0" encoding="utf-8"?>
<p:tagLst xmlns:p="http://schemas.openxmlformats.org/presentationml/2006/main">
  <p:tag name="RAINPROBLEMTYPE" val="ProblemTypeMarker"/>
</p:tagLst>
</file>

<file path=ppt/tags/tag87.xml><?xml version="1.0" encoding="utf-8"?>
<p:tagLst xmlns:p="http://schemas.openxmlformats.org/presentationml/2006/main">
  <p:tag name="RAINPROBLEMTYPE" val="ProblemTypeMarker"/>
</p:tagLst>
</file>

<file path=ppt/tags/tag88.xml><?xml version="1.0" encoding="utf-8"?>
<p:tagLst xmlns:p="http://schemas.openxmlformats.org/presentationml/2006/main">
  <p:tag name="RAINPROBLEMTYPE" val="ProblemTypeMarker"/>
</p:tagLst>
</file>

<file path=ppt/tags/tag89.xml><?xml version="1.0" encoding="utf-8"?>
<p:tagLst xmlns:p="http://schemas.openxmlformats.org/presentationml/2006/main">
  <p:tag name="RAINPROBLEMTYPE" val="ProblemTypeMarker"/>
</p:tagLst>
</file>

<file path=ppt/tags/tag90.xml><?xml version="1.0" encoding="utf-8"?>
<p:tagLst xmlns:p="http://schemas.openxmlformats.org/presentationml/2006/main">
  <p:tag name="RAINPROBLEM" val="ProblemSetting"/>
  <p:tag name="RAINPROBLEMTYPE" val="MultipleChoice"/>
</p:tagLst>
</file>

<file path=ppt/tags/tag91.xml><?xml version="1.0" encoding="utf-8"?>
<p:tagLst xmlns:p="http://schemas.openxmlformats.org/presentationml/2006/main">
  <p:tag name="RAINPROBLEM" val="MultipleChoice"/>
  <p:tag name="PROBLEMSCORE" val="1.0"/>
</p:tagLst>
</file>

<file path=ppt/tags/tag92.xml><?xml version="1.0" encoding="utf-8"?>
<p:tagLst xmlns:p="http://schemas.openxmlformats.org/presentationml/2006/main">
  <p:tag name="RAINPROBLEM" val="ProblemBody"/>
</p:tagLst>
</file>

<file path=ppt/tags/tag93.xml><?xml version="1.0" encoding="utf-8"?>
<p:tagLst xmlns:p="http://schemas.openxmlformats.org/presentationml/2006/main">
  <p:tag name="RAINPROBLEM" val="ProblemItem"/>
</p:tagLst>
</file>

<file path=ppt/tags/tag94.xml><?xml version="1.0" encoding="utf-8"?>
<p:tagLst xmlns:p="http://schemas.openxmlformats.org/presentationml/2006/main">
  <p:tag name="RAINPROBLEM" val="ProblemItem"/>
</p:tagLst>
</file>

<file path=ppt/tags/tag95.xml><?xml version="1.0" encoding="utf-8"?>
<p:tagLst xmlns:p="http://schemas.openxmlformats.org/presentationml/2006/main">
  <p:tag name="RAINPROBLEM" val="ProblemItem"/>
</p:tagLst>
</file>

<file path=ppt/tags/tag96.xml><?xml version="1.0" encoding="utf-8"?>
<p:tagLst xmlns:p="http://schemas.openxmlformats.org/presentationml/2006/main">
  <p:tag name="RAINPROBLEM" val="ProblemItem"/>
</p:tagLst>
</file>

<file path=ppt/tags/tag97.xml><?xml version="1.0" encoding="utf-8"?>
<p:tagLst xmlns:p="http://schemas.openxmlformats.org/presentationml/2006/main">
  <p:tag name="RAINPROBLEM" val="ProblemBullet"/>
  <p:tag name="RAINPROBLEMTYPE" val="MultipleChoice"/>
  <p:tag name="RAINBULLET" val="Wrong"/>
</p:tagLst>
</file>

<file path=ppt/tags/tag98.xml><?xml version="1.0" encoding="utf-8"?>
<p:tagLst xmlns:p="http://schemas.openxmlformats.org/presentationml/2006/main">
  <p:tag name="RAINPROBLEM" val="ProblemBullet"/>
  <p:tag name="RAINPROBLEMTYPE" val="MultipleChoice"/>
  <p:tag name="RAINBULLET" val="Wrong"/>
</p:tagLst>
</file>

<file path=ppt/tags/tag99.xml><?xml version="1.0" encoding="utf-8"?>
<p:tagLst xmlns:p="http://schemas.openxmlformats.org/presentationml/2006/main">
  <p:tag name="RAINPROBLEM" val="ProblemBullet"/>
  <p:tag name="RAINPROBLEMTYPE" val="MultipleChoice"/>
  <p:tag name="RAINBULLET" val="Wrong"/>
</p:tagLst>
</file>

<file path=ppt/tags/tag100.xml><?xml version="1.0" encoding="utf-8"?>
<p:tagLst xmlns:p="http://schemas.openxmlformats.org/presentationml/2006/main">
  <p:tag name="RAINPROBLEM" val="ProblemBullet"/>
  <p:tag name="RAINPROBLEMTYPE" val="MultipleChoice"/>
  <p:tag name="RAINBULLET" val="Correct"/>
</p:tagLst>
</file>

<file path=ppt/tags/tag101.xml><?xml version="1.0" encoding="utf-8"?>
<p:tagLst xmlns:p="http://schemas.openxmlformats.org/presentationml/2006/main">
  <p:tag name="RAINPROBLEM" val="ProblemSubmit"/>
  <p:tag name="RAINPROBLEMTYPE" val="MultipleChoice"/>
</p:tagLst>
</file>

<file path=ppt/tags/tag102.xml><?xml version="1.0" encoding="utf-8"?>
<p:tagLst xmlns:p="http://schemas.openxmlformats.org/presentationml/2006/main">
  <p:tag name="RAINPROBLEMTYPE" val="ProblemTypeMarker"/>
</p:tagLst>
</file>

<file path=ppt/tags/tag103.xml><?xml version="1.0" encoding="utf-8"?>
<p:tagLst xmlns:p="http://schemas.openxmlformats.org/presentationml/2006/main">
  <p:tag name="RAINPROBLEMTYPE" val="ProblemTypeMarker"/>
</p:tagLst>
</file>

<file path=ppt/tags/tag104.xml><?xml version="1.0" encoding="utf-8"?>
<p:tagLst xmlns:p="http://schemas.openxmlformats.org/presentationml/2006/main">
  <p:tag name="RAINPROBLEMTYPE" val="ProblemTypeMarker"/>
</p:tagLst>
</file>

<file path=ppt/tags/tag105.xml><?xml version="1.0" encoding="utf-8"?>
<p:tagLst xmlns:p="http://schemas.openxmlformats.org/presentationml/2006/main">
  <p:tag name="RAINPROBLEMTYPE" val="ProblemTypeMarker"/>
</p:tagLst>
</file>

<file path=ppt/tags/tag106.xml><?xml version="1.0" encoding="utf-8"?>
<p:tagLst xmlns:p="http://schemas.openxmlformats.org/presentationml/2006/main">
  <p:tag name="RAINPROBLEMTYPE" val="ProblemTypeMarker"/>
</p:tagLst>
</file>

<file path=ppt/tags/tag107.xml><?xml version="1.0" encoding="utf-8"?>
<p:tagLst xmlns:p="http://schemas.openxmlformats.org/presentationml/2006/main">
  <p:tag name="RAINPROBLEM" val="ProblemSetting"/>
  <p:tag name="RAINPROBLEMTYPE" val="MultipleChoice"/>
</p:tagLst>
</file>

<file path=ppt/tags/tag108.xml><?xml version="1.0" encoding="utf-8"?>
<p:tagLst xmlns:p="http://schemas.openxmlformats.org/presentationml/2006/main">
  <p:tag name="RAINPROBLEM" val="MultipleChoice"/>
  <p:tag name="PROBLEMSCORE" val="1.0"/>
</p:tagLst>
</file>

<file path=ppt/tags/tag109.xml><?xml version="1.0" encoding="utf-8"?>
<p:tagLst xmlns:p="http://schemas.openxmlformats.org/presentationml/2006/main">
  <p:tag name="KSO_WPP_MARK_KEY" val="c1a56755-7a4e-4dd4-a45a-b5cf36d9aec7"/>
  <p:tag name="COMMONDATA" val="eyJoZGlkIjoiZDhmZjM3ZTZiYzVhZjRkYzFlNzUwYmM2YTkxODQ5OTUifQ=="/>
</p:tagLst>
</file>

<file path=ppt/theme/_rels/them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theme1.xml><?xml version="1.0" encoding="utf-8"?>
<a:theme xmlns:a="http://schemas.openxmlformats.org/drawingml/2006/main" name="积分">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14085</Words>
  <Application>WPS 演示</Application>
  <PresentationFormat>全屏显示(16:9)</PresentationFormat>
  <Paragraphs>1753</Paragraphs>
  <Slides>107</Slides>
  <Notes>40</Notes>
  <HiddenSlides>0</HiddenSlides>
  <MMClips>0</MMClips>
  <ScaleCrop>false</ScaleCrop>
  <HeadingPairs>
    <vt:vector size="8" baseType="variant">
      <vt:variant>
        <vt:lpstr>已用的字体</vt:lpstr>
      </vt:variant>
      <vt:variant>
        <vt:i4>29</vt:i4>
      </vt:variant>
      <vt:variant>
        <vt:lpstr>主题</vt:lpstr>
      </vt:variant>
      <vt:variant>
        <vt:i4>1</vt:i4>
      </vt:variant>
      <vt:variant>
        <vt:lpstr>嵌入 OLE 服务器</vt:lpstr>
      </vt:variant>
      <vt:variant>
        <vt:i4>2</vt:i4>
      </vt:variant>
      <vt:variant>
        <vt:lpstr>幻灯片标题</vt:lpstr>
      </vt:variant>
      <vt:variant>
        <vt:i4>107</vt:i4>
      </vt:variant>
    </vt:vector>
  </HeadingPairs>
  <TitlesOfParts>
    <vt:vector size="139" baseType="lpstr">
      <vt:lpstr>Arial</vt:lpstr>
      <vt:lpstr>宋体</vt:lpstr>
      <vt:lpstr>Wingdings</vt:lpstr>
      <vt:lpstr>Wingdings 3</vt:lpstr>
      <vt:lpstr>微软雅黑</vt:lpstr>
      <vt:lpstr>华康俪金黑W8(P)</vt:lpstr>
      <vt:lpstr>黑体</vt:lpstr>
      <vt:lpstr>经典繁仿黑</vt:lpstr>
      <vt:lpstr>华文中宋</vt:lpstr>
      <vt:lpstr>Arial Narrow</vt:lpstr>
      <vt:lpstr>Arial Black</vt:lpstr>
      <vt:lpstr>Arial Unicode MS</vt:lpstr>
      <vt:lpstr>等线</vt:lpstr>
      <vt:lpstr>Times New Roman</vt:lpstr>
      <vt:lpstr>楷体_GB2312</vt:lpstr>
      <vt:lpstr>新宋体</vt:lpstr>
      <vt:lpstr>Wingdings 2</vt:lpstr>
      <vt:lpstr>Tahoma</vt:lpstr>
      <vt:lpstr>Comic Sans MS</vt:lpstr>
      <vt:lpstr>隶书</vt:lpstr>
      <vt:lpstr>Wingdings</vt:lpstr>
      <vt:lpstr>华文行楷</vt:lpstr>
      <vt:lpstr>Times New Roman</vt:lpstr>
      <vt:lpstr>仿宋_GB2312</vt:lpstr>
      <vt:lpstr>华文新魏</vt:lpstr>
      <vt:lpstr>굴림</vt:lpstr>
      <vt:lpstr>Segoe Print</vt:lpstr>
      <vt:lpstr>Malgun Gothic</vt:lpstr>
      <vt:lpstr>仿宋</vt:lpstr>
      <vt:lpstr>积分</vt:lpstr>
      <vt:lpstr>Visio.Drawing.11</vt:lpstr>
      <vt:lpstr>Paint.Picture</vt:lpstr>
      <vt:lpstr>软件工程 生命周期和过程模型</vt:lpstr>
      <vt:lpstr>PowerPoint 演示文稿</vt:lpstr>
      <vt:lpstr>1.6 软件生命周期的概念</vt:lpstr>
      <vt:lpstr>软件的生命周期是</vt:lpstr>
      <vt:lpstr>阶段划分</vt:lpstr>
      <vt:lpstr>阶段划分</vt:lpstr>
      <vt:lpstr>软件生命周期</vt:lpstr>
      <vt:lpstr>软件生命周期</vt:lpstr>
      <vt:lpstr>软件生命周期</vt:lpstr>
      <vt:lpstr>软件生命周期</vt:lpstr>
      <vt:lpstr>软件生命周期</vt:lpstr>
      <vt:lpstr>软件生命周期</vt:lpstr>
      <vt:lpstr>软件生命周期</vt:lpstr>
      <vt:lpstr>软件生命周期</vt:lpstr>
      <vt:lpstr>软件生命周期</vt:lpstr>
      <vt:lpstr>软件生命周期</vt:lpstr>
      <vt:lpstr>软件生命周期</vt:lpstr>
      <vt:lpstr>软件生命周期</vt:lpstr>
      <vt:lpstr>案例分析</vt:lpstr>
      <vt:lpstr>案例分析——问题定义阶段</vt:lpstr>
      <vt:lpstr>案例分析——可行性研究阶段</vt:lpstr>
      <vt:lpstr>案例分析——需求分析阶段</vt:lpstr>
      <vt:lpstr>案例分析——概要设计（总体设计）阶段</vt:lpstr>
      <vt:lpstr>案例分析——详细设计阶段</vt:lpstr>
      <vt:lpstr>案例分析——编码和单元测试阶段</vt:lpstr>
      <vt:lpstr>案例分析——综合测试阶段</vt:lpstr>
      <vt:lpstr>案例分析——软件维护阶段</vt:lpstr>
      <vt:lpstr>软件生命周期总结</vt:lpstr>
      <vt:lpstr>学以致用</vt:lpstr>
      <vt:lpstr>学以致用</vt:lpstr>
      <vt:lpstr>PowerPoint 演示文稿</vt:lpstr>
      <vt:lpstr>1.7 软件过程模型</vt:lpstr>
      <vt:lpstr>1.7 软件过程模型</vt:lpstr>
      <vt:lpstr>1.7 软件过程模型</vt:lpstr>
      <vt:lpstr>过程的含义</vt:lpstr>
      <vt:lpstr>软件过程</vt:lpstr>
      <vt:lpstr>软件过程的组成</vt:lpstr>
      <vt:lpstr>麦当劳的过程管理</vt:lpstr>
      <vt:lpstr>麦当劳的过程管理</vt:lpstr>
      <vt:lpstr>麦当劳的过程管理</vt:lpstr>
      <vt:lpstr>常用的软件过程模型</vt:lpstr>
      <vt:lpstr>PowerPoint 演示文稿</vt:lpstr>
      <vt:lpstr>编码修正模型</vt:lpstr>
      <vt:lpstr>案例</vt:lpstr>
      <vt:lpstr>工作清单</vt:lpstr>
      <vt:lpstr>案例——软件制造的八个阶段</vt:lpstr>
      <vt:lpstr>案例</vt:lpstr>
      <vt:lpstr>（1）瀑布模型</vt:lpstr>
      <vt:lpstr>传统瀑布模型的特点</vt:lpstr>
      <vt:lpstr>瀑布模型的优缺点</vt:lpstr>
      <vt:lpstr>实际的瀑布模型</vt:lpstr>
      <vt:lpstr>问题</vt:lpstr>
      <vt:lpstr>PowerPoint 演示文稿</vt:lpstr>
      <vt:lpstr>PowerPoint 演示文稿</vt:lpstr>
      <vt:lpstr>PowerPoint 演示文稿</vt:lpstr>
      <vt:lpstr>（2）原型模型</vt:lpstr>
      <vt:lpstr>原型实例</vt:lpstr>
      <vt:lpstr>快速原型模型的实现过程</vt:lpstr>
      <vt:lpstr>快速原型模型的实现过程</vt:lpstr>
      <vt:lpstr>原型模型的特点</vt:lpstr>
      <vt:lpstr>原型的类型</vt:lpstr>
      <vt:lpstr>原型模型存在的问题</vt:lpstr>
      <vt:lpstr>对原型实现模型的基本要求</vt:lpstr>
      <vt:lpstr>学以致用</vt:lpstr>
      <vt:lpstr>学以致用</vt:lpstr>
      <vt:lpstr>PowerPoint 演示文稿</vt:lpstr>
      <vt:lpstr>V模型</vt:lpstr>
      <vt:lpstr>（3）增量模型</vt:lpstr>
      <vt:lpstr>增量模型</vt:lpstr>
      <vt:lpstr>PowerPoint 演示文稿</vt:lpstr>
      <vt:lpstr>增量模型的优点</vt:lpstr>
      <vt:lpstr>增量模型的困难</vt:lpstr>
      <vt:lpstr>增量模型适用情况</vt:lpstr>
      <vt:lpstr>PowerPoint 演示文稿</vt:lpstr>
      <vt:lpstr>（4）螺旋模型</vt:lpstr>
      <vt:lpstr>简化的螺旋模型</vt:lpstr>
      <vt:lpstr>完整的螺旋模型</vt:lpstr>
      <vt:lpstr>螺旋模型</vt:lpstr>
      <vt:lpstr>螺旋模型的优点</vt:lpstr>
      <vt:lpstr>螺旋模型的缺点</vt:lpstr>
      <vt:lpstr>PowerPoint 演示文稿</vt:lpstr>
      <vt:lpstr>（5）喷泉模型</vt:lpstr>
      <vt:lpstr>PowerPoint 演示文稿</vt:lpstr>
      <vt:lpstr>喷泉模型</vt:lpstr>
      <vt:lpstr>PowerPoint 演示文稿</vt:lpstr>
      <vt:lpstr>PowerPoint 演示文稿</vt:lpstr>
      <vt:lpstr>（6）统一软件开发过程——RUP</vt:lpstr>
      <vt:lpstr>RUP软件开发生命周期</vt:lpstr>
      <vt:lpstr>RUP软件开发生命周期</vt:lpstr>
      <vt:lpstr>RUP软件开发生命周期</vt:lpstr>
      <vt:lpstr>RUP的特点</vt:lpstr>
      <vt:lpstr>RUP的特点</vt:lpstr>
      <vt:lpstr>RUP的特点</vt:lpstr>
      <vt:lpstr>PowerPoint 演示文稿</vt:lpstr>
      <vt:lpstr>RUP的特点</vt:lpstr>
      <vt:lpstr>RUP的特点</vt:lpstr>
      <vt:lpstr>RUP的特点</vt:lpstr>
      <vt:lpstr>RUP的特点</vt:lpstr>
      <vt:lpstr>RUP模型给予的启示</vt:lpstr>
      <vt:lpstr>过程模型的选择</vt:lpstr>
      <vt:lpstr>软件过程模型的应用</vt:lpstr>
      <vt:lpstr>学以致用</vt:lpstr>
      <vt:lpstr>过程模型选择</vt:lpstr>
      <vt:lpstr>过程模型选择</vt:lpstr>
      <vt:lpstr>本课小结</vt:lpstr>
      <vt:lpstr>课后作业</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试播内容</dc:title>
  <dc:creator>HUAWEI</dc:creator>
  <cp:lastModifiedBy>lingdang</cp:lastModifiedBy>
  <cp:revision>802</cp:revision>
  <dcterms:created xsi:type="dcterms:W3CDTF">2020-02-07T06:58:00Z</dcterms:created>
  <dcterms:modified xsi:type="dcterms:W3CDTF">2025-03-11T14:01:02Z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DE470175111D4EFF983EDE7EA526BF12_13</vt:lpwstr>
  </property>
  <property fmtid="{D5CDD505-2E9C-101B-9397-08002B2CF9AE}" pid="3" name="KSOProductBuildVer">
    <vt:lpwstr>2052-12.1.0.20305</vt:lpwstr>
  </property>
</Properties>
</file>