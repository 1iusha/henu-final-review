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jpeg" ContentType="image/jpeg"/>
  <Default Extension="JPG" ContentType="image/.jpg"/>
  <Default Extension="wdp" ContentType="image/vnd.ms-photo"/>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2.svg" ContentType="image/svg+xml"/>
  <Override PartName="/ppt/media/image43.svg" ContentType="image/svg+xml"/>
  <Override PartName="/ppt/media/image45.svg" ContentType="image/svg+xml"/>
  <Override PartName="/ppt/media/image47.svg" ContentType="image/svg+xml"/>
  <Override PartName="/ppt/media/image49.svg" ContentType="image/svg+xml"/>
  <Override PartName="/ppt/media/image5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113"/>
  </p:handoutMasterIdLst>
  <p:sldIdLst>
    <p:sldId id="256" r:id="rId3"/>
    <p:sldId id="387" r:id="rId5"/>
    <p:sldId id="761" r:id="rId6"/>
    <p:sldId id="762" r:id="rId7"/>
    <p:sldId id="763" r:id="rId8"/>
    <p:sldId id="764" r:id="rId9"/>
    <p:sldId id="766" r:id="rId10"/>
    <p:sldId id="765" r:id="rId11"/>
    <p:sldId id="776" r:id="rId12"/>
    <p:sldId id="777" r:id="rId13"/>
    <p:sldId id="778" r:id="rId14"/>
    <p:sldId id="779" r:id="rId15"/>
    <p:sldId id="780" r:id="rId16"/>
    <p:sldId id="781" r:id="rId17"/>
    <p:sldId id="782" r:id="rId18"/>
    <p:sldId id="783" r:id="rId19"/>
    <p:sldId id="784" r:id="rId20"/>
    <p:sldId id="819" r:id="rId21"/>
    <p:sldId id="820" r:id="rId22"/>
    <p:sldId id="798" r:id="rId23"/>
    <p:sldId id="799" r:id="rId24"/>
    <p:sldId id="800" r:id="rId25"/>
    <p:sldId id="801" r:id="rId26"/>
    <p:sldId id="802" r:id="rId27"/>
    <p:sldId id="817" r:id="rId28"/>
    <p:sldId id="818" r:id="rId29"/>
    <p:sldId id="804" r:id="rId30"/>
    <p:sldId id="821" r:id="rId31"/>
    <p:sldId id="823" r:id="rId32"/>
    <p:sldId id="785" r:id="rId33"/>
    <p:sldId id="786" r:id="rId34"/>
    <p:sldId id="787" r:id="rId35"/>
    <p:sldId id="788" r:id="rId36"/>
    <p:sldId id="1024" r:id="rId37"/>
    <p:sldId id="1090" r:id="rId38"/>
    <p:sldId id="1089" r:id="rId39"/>
    <p:sldId id="812" r:id="rId40"/>
    <p:sldId id="897" r:id="rId41"/>
    <p:sldId id="1026" r:id="rId42"/>
    <p:sldId id="896" r:id="rId43"/>
    <p:sldId id="898" r:id="rId44"/>
    <p:sldId id="899" r:id="rId45"/>
    <p:sldId id="900" r:id="rId46"/>
    <p:sldId id="789" r:id="rId47"/>
    <p:sldId id="790" r:id="rId48"/>
    <p:sldId id="791" r:id="rId49"/>
    <p:sldId id="792" r:id="rId50"/>
    <p:sldId id="793" r:id="rId51"/>
    <p:sldId id="794" r:id="rId52"/>
    <p:sldId id="795" r:id="rId53"/>
    <p:sldId id="796" r:id="rId54"/>
    <p:sldId id="797" r:id="rId55"/>
    <p:sldId id="904" r:id="rId56"/>
    <p:sldId id="901" r:id="rId57"/>
    <p:sldId id="905" r:id="rId58"/>
    <p:sldId id="906" r:id="rId59"/>
    <p:sldId id="907" r:id="rId60"/>
    <p:sldId id="543" r:id="rId61"/>
    <p:sldId id="710" r:id="rId62"/>
    <p:sldId id="711" r:id="rId63"/>
    <p:sldId id="565" r:id="rId64"/>
    <p:sldId id="1095" r:id="rId65"/>
    <p:sldId id="1092" r:id="rId66"/>
    <p:sldId id="1091" r:id="rId67"/>
    <p:sldId id="1093" r:id="rId68"/>
    <p:sldId id="1094" r:id="rId69"/>
    <p:sldId id="1096" r:id="rId70"/>
    <p:sldId id="1097" r:id="rId71"/>
    <p:sldId id="1098" r:id="rId72"/>
    <p:sldId id="1099" r:id="rId73"/>
    <p:sldId id="567" r:id="rId74"/>
    <p:sldId id="566" r:id="rId75"/>
    <p:sldId id="908" r:id="rId76"/>
    <p:sldId id="546" r:id="rId77"/>
    <p:sldId id="568" r:id="rId78"/>
    <p:sldId id="569" r:id="rId79"/>
    <p:sldId id="547" r:id="rId80"/>
    <p:sldId id="548" r:id="rId81"/>
    <p:sldId id="1088" r:id="rId82"/>
    <p:sldId id="1087" r:id="rId83"/>
    <p:sldId id="909" r:id="rId84"/>
    <p:sldId id="549" r:id="rId85"/>
    <p:sldId id="550" r:id="rId86"/>
    <p:sldId id="910" r:id="rId87"/>
    <p:sldId id="551" r:id="rId88"/>
    <p:sldId id="571" r:id="rId89"/>
    <p:sldId id="915" r:id="rId90"/>
    <p:sldId id="572" r:id="rId91"/>
    <p:sldId id="573" r:id="rId92"/>
    <p:sldId id="916" r:id="rId93"/>
    <p:sldId id="552" r:id="rId94"/>
    <p:sldId id="574" r:id="rId95"/>
    <p:sldId id="554" r:id="rId96"/>
    <p:sldId id="555" r:id="rId97"/>
    <p:sldId id="575" r:id="rId98"/>
    <p:sldId id="576" r:id="rId99"/>
    <p:sldId id="577" r:id="rId100"/>
    <p:sldId id="578" r:id="rId101"/>
    <p:sldId id="579" r:id="rId102"/>
    <p:sldId id="580" r:id="rId103"/>
    <p:sldId id="556" r:id="rId104"/>
    <p:sldId id="557" r:id="rId105"/>
    <p:sldId id="581" r:id="rId106"/>
    <p:sldId id="582" r:id="rId107"/>
    <p:sldId id="583" r:id="rId108"/>
    <p:sldId id="532" r:id="rId109"/>
    <p:sldId id="445" r:id="rId110"/>
    <p:sldId id="562" r:id="rId111"/>
    <p:sldId id="446" r:id="rId112"/>
  </p:sldIdLst>
  <p:sldSz cx="9144000" cy="5143500" type="screen16x9"/>
  <p:notesSz cx="6858000" cy="9144000"/>
  <p:custDataLst>
    <p:tags r:id="rId11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7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漪 南" initials="" lastIdx="15"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70938" autoAdjust="0"/>
  </p:normalViewPr>
  <p:slideViewPr>
    <p:cSldViewPr snapToGrid="0" showGuides="1">
      <p:cViewPr varScale="1">
        <p:scale>
          <a:sx n="94" d="100"/>
          <a:sy n="94" d="100"/>
        </p:scale>
        <p:origin x="1336" y="56"/>
      </p:cViewPr>
      <p:guideLst>
        <p:guide orient="horz" pos="1570"/>
        <p:guide pos="288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1" d="100"/>
          <a:sy n="51" d="100"/>
        </p:scale>
        <p:origin x="776" y="56"/>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8" Type="http://schemas.openxmlformats.org/officeDocument/2006/relationships/tags" Target="tags/tag129.xml"/><Relationship Id="rId117" Type="http://schemas.openxmlformats.org/officeDocument/2006/relationships/commentAuthors" Target="commentAuthors.xml"/><Relationship Id="rId116" Type="http://schemas.openxmlformats.org/officeDocument/2006/relationships/tableStyles" Target="tableStyles.xml"/><Relationship Id="rId115" Type="http://schemas.openxmlformats.org/officeDocument/2006/relationships/viewProps" Target="viewProps.xml"/><Relationship Id="rId114" Type="http://schemas.openxmlformats.org/officeDocument/2006/relationships/presProps" Target="presProps.xml"/><Relationship Id="rId113" Type="http://schemas.openxmlformats.org/officeDocument/2006/relationships/handoutMaster" Target="handoutMasters/handoutMaster1.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B55A7A-C502-46B6-855A-4BBB11597EE7}"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48659B1-BC94-4B1F-9D70-551345BF8F3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18A599-32F8-4B61-A0CD-2608407245F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849A97-A90C-496F-AD26-75D9C1389A1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514350" rtl="0" eaLnBrk="1" latinLnBrk="0" hangingPunct="1">
      <a:defRPr sz="675" kern="1200">
        <a:solidFill>
          <a:schemeClr val="tx1"/>
        </a:solidFill>
        <a:latin typeface="+mn-lt"/>
        <a:ea typeface="+mn-ea"/>
        <a:cs typeface="+mn-cs"/>
      </a:defRPr>
    </a:lvl1pPr>
    <a:lvl2pPr marL="257175" algn="l" defTabSz="514350" rtl="0" eaLnBrk="1" latinLnBrk="0" hangingPunct="1">
      <a:defRPr sz="675" kern="1200">
        <a:solidFill>
          <a:schemeClr val="tx1"/>
        </a:solidFill>
        <a:latin typeface="+mn-lt"/>
        <a:ea typeface="+mn-ea"/>
        <a:cs typeface="+mn-cs"/>
      </a:defRPr>
    </a:lvl2pPr>
    <a:lvl3pPr marL="514350" algn="l" defTabSz="514350" rtl="0" eaLnBrk="1" latinLnBrk="0" hangingPunct="1">
      <a:defRPr sz="675" kern="1200">
        <a:solidFill>
          <a:schemeClr val="tx1"/>
        </a:solidFill>
        <a:latin typeface="+mn-lt"/>
        <a:ea typeface="+mn-ea"/>
        <a:cs typeface="+mn-cs"/>
      </a:defRPr>
    </a:lvl3pPr>
    <a:lvl4pPr marL="771525" algn="l" defTabSz="514350" rtl="0" eaLnBrk="1" latinLnBrk="0" hangingPunct="1">
      <a:defRPr sz="675" kern="1200">
        <a:solidFill>
          <a:schemeClr val="tx1"/>
        </a:solidFill>
        <a:latin typeface="+mn-lt"/>
        <a:ea typeface="+mn-ea"/>
        <a:cs typeface="+mn-cs"/>
      </a:defRPr>
    </a:lvl4pPr>
    <a:lvl5pPr marL="1028700" algn="l" defTabSz="514350" rtl="0" eaLnBrk="1" latinLnBrk="0" hangingPunct="1">
      <a:defRPr sz="675" kern="1200">
        <a:solidFill>
          <a:schemeClr val="tx1"/>
        </a:solidFill>
        <a:latin typeface="+mn-lt"/>
        <a:ea typeface="+mn-ea"/>
        <a:cs typeface="+mn-cs"/>
      </a:defRPr>
    </a:lvl5pPr>
    <a:lvl6pPr marL="1285875" algn="l" defTabSz="514350" rtl="0" eaLnBrk="1" latinLnBrk="0" hangingPunct="1">
      <a:defRPr sz="675" kern="1200">
        <a:solidFill>
          <a:schemeClr val="tx1"/>
        </a:solidFill>
        <a:latin typeface="+mn-lt"/>
        <a:ea typeface="+mn-ea"/>
        <a:cs typeface="+mn-cs"/>
      </a:defRPr>
    </a:lvl6pPr>
    <a:lvl7pPr marL="1543050" algn="l" defTabSz="514350" rtl="0" eaLnBrk="1" latinLnBrk="0" hangingPunct="1">
      <a:defRPr sz="675" kern="1200">
        <a:solidFill>
          <a:schemeClr val="tx1"/>
        </a:solidFill>
        <a:latin typeface="+mn-lt"/>
        <a:ea typeface="+mn-ea"/>
        <a:cs typeface="+mn-cs"/>
      </a:defRPr>
    </a:lvl7pPr>
    <a:lvl8pPr marL="1800225" algn="l" defTabSz="514350" rtl="0" eaLnBrk="1" latinLnBrk="0" hangingPunct="1">
      <a:defRPr sz="675" kern="1200">
        <a:solidFill>
          <a:schemeClr val="tx1"/>
        </a:solidFill>
        <a:latin typeface="+mn-lt"/>
        <a:ea typeface="+mn-ea"/>
        <a:cs typeface="+mn-cs"/>
      </a:defRPr>
    </a:lvl8pPr>
    <a:lvl9pPr marL="2057400" algn="l" defTabSz="514350" rtl="0" eaLnBrk="1" latinLnBrk="0" hangingPunct="1">
      <a:defRPr sz="67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0.xml.rels><?xml version="1.0" encoding="UTF-8" standalone="yes"?>
<Relationships xmlns="http://schemas.openxmlformats.org/package/2006/relationships"><Relationship Id="rId6" Type="http://schemas.openxmlformats.org/officeDocument/2006/relationships/hyperlink" Target="https://baike.so.com/doc/518629-549105.html" TargetMode="External"/><Relationship Id="rId5" Type="http://schemas.openxmlformats.org/officeDocument/2006/relationships/hyperlink" Target="https://baike.so.com/doc/5441607-5679939.html" TargetMode="External"/><Relationship Id="rId4" Type="http://schemas.openxmlformats.org/officeDocument/2006/relationships/hyperlink" Target="https://baike.so.com/doc/3291061-3466832.html" TargetMode="External"/><Relationship Id="rId3" Type="http://schemas.openxmlformats.org/officeDocument/2006/relationships/hyperlink" Target="https://p1.ssl.qhimg.com/t010e0f5c481d2bad87.jpg" TargetMode="External"/><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引入输入法发展史，以搜狗拼音输入法的案例，通过输入拼音+搜索引擎提示的结合，思考能不能让搜索引擎来做输入法？</a:t>
            </a:r>
            <a:endParaRPr lang="zh-CN" altLang="en-US"/>
          </a:p>
          <a:p>
            <a:r>
              <a:rPr lang="zh-CN" altLang="en-US"/>
              <a:t>通过马占凯开发搜狗输入法的事例，培养学生的探索精神、培养年轻人敢想敢干的勇气，引导学生树立创新意识和工匠精神，学会用创新思维去解决学习和生活中遇到的各种困难。</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675" b="1" i="0" kern="1200" dirty="0">
                <a:solidFill>
                  <a:schemeClr val="tx1"/>
                </a:solidFill>
                <a:effectLst/>
                <a:latin typeface="+mn-lt"/>
                <a:ea typeface="+mn-ea"/>
                <a:cs typeface="+mn-cs"/>
              </a:rPr>
              <a:t>业务场景细节的挖掘</a:t>
            </a:r>
            <a:endParaRPr lang="zh-CN" altLang="en-US" sz="675" b="1" i="0" kern="1200" dirty="0">
              <a:solidFill>
                <a:schemeClr val="tx1"/>
              </a:solidFill>
              <a:effectLst/>
              <a:latin typeface="+mn-lt"/>
              <a:ea typeface="+mn-ea"/>
              <a:cs typeface="+mn-cs"/>
            </a:endParaRPr>
          </a:p>
          <a:p>
            <a:r>
              <a:rPr lang="zh-CN" altLang="en-US" sz="675" b="0" i="0" kern="1200" dirty="0">
                <a:solidFill>
                  <a:schemeClr val="tx1"/>
                </a:solidFill>
                <a:effectLst/>
                <a:latin typeface="+mn-lt"/>
                <a:ea typeface="+mn-ea"/>
                <a:cs typeface="+mn-cs"/>
              </a:rPr>
              <a:t>比如：在上面的开启柜子的方式中，到底用扫描开启还是验证码的方式呢？</a:t>
            </a:r>
            <a:endParaRPr lang="zh-CN" altLang="en-US" sz="675" b="0" i="0" kern="1200" dirty="0">
              <a:solidFill>
                <a:schemeClr val="tx1"/>
              </a:solidFill>
              <a:effectLst/>
              <a:latin typeface="+mn-lt"/>
              <a:ea typeface="+mn-ea"/>
              <a:cs typeface="+mn-cs"/>
            </a:endParaRPr>
          </a:p>
          <a:p>
            <a:r>
              <a:rPr lang="zh-CN" altLang="en-US" sz="675" b="0" i="0" kern="1200" dirty="0">
                <a:solidFill>
                  <a:schemeClr val="tx1"/>
                </a:solidFill>
                <a:effectLst/>
                <a:latin typeface="+mn-lt"/>
                <a:ea typeface="+mn-ea"/>
                <a:cs typeface="+mn-cs"/>
              </a:rPr>
              <a:t>又比如：某用户希望自己的快递能更快的被寄出去。</a:t>
            </a:r>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675" b="1" i="0" kern="1200" dirty="0">
                <a:solidFill>
                  <a:schemeClr val="tx1"/>
                </a:solidFill>
                <a:effectLst/>
                <a:latin typeface="+mn-lt"/>
                <a:ea typeface="+mn-ea"/>
                <a:cs typeface="+mn-cs"/>
              </a:rPr>
              <a:t>业务场景细节的挖掘</a:t>
            </a:r>
            <a:endParaRPr lang="zh-CN" altLang="en-US" sz="675" b="1" i="0" kern="1200" dirty="0">
              <a:solidFill>
                <a:schemeClr val="tx1"/>
              </a:solidFill>
              <a:effectLst/>
              <a:latin typeface="+mn-lt"/>
              <a:ea typeface="+mn-ea"/>
              <a:cs typeface="+mn-cs"/>
            </a:endParaRPr>
          </a:p>
          <a:p>
            <a:r>
              <a:rPr lang="zh-CN" altLang="en-US" sz="675" b="0" i="0" kern="1200" dirty="0">
                <a:solidFill>
                  <a:schemeClr val="tx1"/>
                </a:solidFill>
                <a:effectLst/>
                <a:latin typeface="+mn-lt"/>
                <a:ea typeface="+mn-ea"/>
                <a:cs typeface="+mn-cs"/>
              </a:rPr>
              <a:t>比如：在上面的开启柜子的方式中，到底用扫描开启还是验证码的方式呢？</a:t>
            </a:r>
            <a:endParaRPr lang="zh-CN" altLang="en-US" sz="675" b="0" i="0" kern="1200" dirty="0">
              <a:solidFill>
                <a:schemeClr val="tx1"/>
              </a:solidFill>
              <a:effectLst/>
              <a:latin typeface="+mn-lt"/>
              <a:ea typeface="+mn-ea"/>
              <a:cs typeface="+mn-cs"/>
            </a:endParaRPr>
          </a:p>
          <a:p>
            <a:r>
              <a:rPr lang="zh-CN" altLang="en-US" sz="675" b="0" i="0" kern="1200" dirty="0">
                <a:solidFill>
                  <a:schemeClr val="tx1"/>
                </a:solidFill>
                <a:effectLst/>
                <a:latin typeface="+mn-lt"/>
                <a:ea typeface="+mn-ea"/>
                <a:cs typeface="+mn-cs"/>
              </a:rPr>
              <a:t>又比如：某用户希望自己的快递能更快的被寄出去。</a:t>
            </a:r>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在软件工程中，软件的需求分析</a:t>
            </a:r>
            <a:r>
              <a:rPr lang="en-US" altLang="zh-CN"/>
              <a:t>——</a:t>
            </a:r>
            <a:endParaRPr lang="zh-CN" altLang="en-US"/>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需求分析是对待开发软件提出的需求进行分析并给出详细的定义。主要工作是编写软件需求规格说明书及用户手册。需求分析的任务是导出目标系统的逻辑模型，解决“做什么”的问题。制定软件集成测试计划是软件设计阶段需要完成的任务。</a:t>
            </a:r>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514350" rtl="0" eaLnBrk="1" fontAlgn="auto" latinLnBrk="0" hangingPunct="1">
              <a:lnSpc>
                <a:spcPct val="100000"/>
              </a:lnSpc>
              <a:spcBef>
                <a:spcPts val="0"/>
              </a:spcBef>
              <a:spcAft>
                <a:spcPts val="0"/>
              </a:spcAft>
              <a:buClrTx/>
              <a:buSzTx/>
              <a:buFontTx/>
              <a:buNone/>
              <a:defRPr/>
            </a:pPr>
            <a:r>
              <a:rPr lang="zh-CN" altLang="zh-CN" sz="1800" kern="100" dirty="0">
                <a:solidFill>
                  <a:srgbClr val="2E2E2E"/>
                </a:solidFill>
                <a:effectLst/>
                <a:latin typeface="Arial" panose="020B0604020202020204" pitchFamily="34" charset="0"/>
                <a:ea typeface="宋体" panose="02010600030101010101" pitchFamily="2" charset="-122"/>
                <a:cs typeface="Arial" panose="020B0604020202020204" pitchFamily="34" charset="0"/>
              </a:rPr>
              <a:t>作为产品经理，要善于跳出客户的思考维度，以成果导向驱动产品。我们要关注的是客户的目的，而非客户的描述。</a:t>
            </a:r>
            <a:endParaRPr lang="zh-CN" altLang="zh-CN" sz="1800" kern="100" dirty="0">
              <a:solidFill>
                <a:srgbClr val="2E2E2E"/>
              </a:solidFill>
              <a:effectLst/>
              <a:latin typeface="Arial" panose="020B0604020202020204" pitchFamily="34" charset="0"/>
              <a:ea typeface="宋体" panose="02010600030101010101" pitchFamily="2" charset="-122"/>
              <a:cs typeface="Arial" panose="020B0604020202020204" pitchFamily="34" charset="0"/>
            </a:endParaRPr>
          </a:p>
          <a:p>
            <a:pPr marL="0" marR="0" lvl="0" indent="0" algn="l" defTabSz="514350" rtl="0" eaLnBrk="1" fontAlgn="auto" latinLnBrk="0" hangingPunct="1">
              <a:lnSpc>
                <a:spcPct val="100000"/>
              </a:lnSpc>
              <a:spcBef>
                <a:spcPts val="0"/>
              </a:spcBef>
              <a:spcAft>
                <a:spcPts val="0"/>
              </a:spcAft>
              <a:buClrTx/>
              <a:buSzTx/>
              <a:buFontTx/>
              <a:buNone/>
              <a:defRPr/>
            </a:pP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引导学生在需求获取的过程中要有自主探究意识和坚持精益求精的精神。</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Font typeface="Arial" panose="020B0604020202020204" pitchFamily="34" charset="0"/>
              <a:buNone/>
            </a:pPr>
            <a:r>
              <a:rPr lang="zh-CN" altLang="zh-CN" sz="1200" kern="1200">
                <a:solidFill>
                  <a:schemeClr val="tx1"/>
                </a:solidFill>
                <a:effectLst/>
                <a:latin typeface="+mn-lt"/>
                <a:ea typeface="+mn-ea"/>
                <a:cs typeface="+mn-cs"/>
              </a:rPr>
              <a:t>要认识到需求的易变性，接受并积极的响应需求的变化，使得开发的软件更加符合用户的要求。</a:t>
            </a:r>
            <a:endParaRPr lang="en-US" altLang="zh-CN" sz="1200" kern="1200">
              <a:solidFill>
                <a:schemeClr val="tx1"/>
              </a:solidFill>
              <a:effectLst/>
              <a:latin typeface="+mn-lt"/>
              <a:ea typeface="+mn-ea"/>
              <a:cs typeface="+mn-cs"/>
            </a:endParaRPr>
          </a:p>
          <a:p>
            <a:pPr marL="0" indent="0">
              <a:buFont typeface="Arial" panose="020B0604020202020204" pitchFamily="34" charset="0"/>
              <a:buNone/>
            </a:pPr>
            <a:endParaRPr lang="en-US" altLang="zh-CN" sz="1200" kern="1200">
              <a:solidFill>
                <a:schemeClr val="tx1"/>
              </a:solidFill>
              <a:effectLst/>
              <a:latin typeface="+mn-lt"/>
              <a:ea typeface="+mn-ea"/>
              <a:cs typeface="+mn-cs"/>
            </a:endParaRPr>
          </a:p>
          <a:p>
            <a:pPr marL="0" indent="0">
              <a:buFont typeface="Arial" panose="020B0604020202020204" pitchFamily="34" charset="0"/>
              <a:buNone/>
            </a:pPr>
            <a:r>
              <a:rPr lang="zh-CN" altLang="zh-CN" sz="1200" kern="1200">
                <a:solidFill>
                  <a:schemeClr val="tx1"/>
                </a:solidFill>
                <a:effectLst/>
                <a:latin typeface="+mn-lt"/>
                <a:ea typeface="+mn-ea"/>
                <a:cs typeface="+mn-cs"/>
              </a:rPr>
              <a:t>这正符合事物发展变化的规律。在软件开发过程中要结合现代社会的科技和局势的发展状况和实际需求</a:t>
            </a:r>
            <a:r>
              <a:rPr lang="zh-CN" altLang="en-US" sz="1200" kern="1200">
                <a:solidFill>
                  <a:schemeClr val="tx1"/>
                </a:solidFill>
                <a:effectLst/>
                <a:latin typeface="+mn-lt"/>
                <a:ea typeface="+mn-ea"/>
                <a:cs typeface="+mn-cs"/>
              </a:rPr>
              <a:t>。</a:t>
            </a:r>
            <a:endParaRPr lang="zh-CN" altLang="en-US"/>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indent="-171450">
              <a:buFont typeface="Arial" panose="020B0604020202020204" pitchFamily="34" charset="0"/>
              <a:buChar char="•"/>
            </a:pPr>
            <a:endParaRPr lang="zh-CN" altLang="en-US"/>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lang="zh-CN" altLang="en-US" sz="1200" dirty="0">
                <a:solidFill>
                  <a:schemeClr val="tx1">
                    <a:lumMod val="65000"/>
                    <a:lumOff val="35000"/>
                  </a:schemeClr>
                </a:solidFill>
              </a:rPr>
              <a:t>不明确的需求定义及随意的需求变更会产生以下问题：	</a:t>
            </a:r>
            <a:endParaRPr lang="zh-CN" altLang="en-US" sz="1200" dirty="0">
              <a:solidFill>
                <a:schemeClr val="tx1">
                  <a:lumMod val="65000"/>
                  <a:lumOff val="35000"/>
                </a:schemeClr>
              </a:solidFill>
            </a:endParaRP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lang="zh-CN" altLang="en-US" sz="1200" dirty="0">
                <a:solidFill>
                  <a:schemeClr val="tx1">
                    <a:lumMod val="65000"/>
                    <a:lumOff val="35000"/>
                  </a:schemeClr>
                </a:solidFill>
              </a:rPr>
              <a:t> </a:t>
            </a:r>
            <a:r>
              <a:rPr lang="en-US" altLang="zh-CN" sz="1200" dirty="0">
                <a:solidFill>
                  <a:schemeClr val="tx1">
                    <a:lumMod val="65000"/>
                    <a:lumOff val="35000"/>
                  </a:schemeClr>
                </a:solidFill>
              </a:rPr>
              <a:t>• </a:t>
            </a:r>
            <a:r>
              <a:rPr lang="zh-CN" altLang="en-US" sz="1200" dirty="0">
                <a:solidFill>
                  <a:schemeClr val="tx1">
                    <a:lumMod val="65000"/>
                    <a:lumOff val="35000"/>
                  </a:schemeClr>
                </a:solidFill>
              </a:rPr>
              <a:t>客户不满、纠纷	</a:t>
            </a:r>
            <a:endParaRPr lang="zh-CN" altLang="en-US" sz="1200" dirty="0">
              <a:solidFill>
                <a:schemeClr val="tx1">
                  <a:lumMod val="65000"/>
                  <a:lumOff val="35000"/>
                </a:schemeClr>
              </a:solidFill>
            </a:endParaRP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lang="zh-CN" altLang="en-US" sz="1200" dirty="0">
                <a:solidFill>
                  <a:schemeClr val="tx1">
                    <a:lumMod val="65000"/>
                    <a:lumOff val="35000"/>
                  </a:schemeClr>
                </a:solidFill>
              </a:rPr>
              <a:t> </a:t>
            </a:r>
            <a:r>
              <a:rPr lang="en-US" altLang="zh-CN" sz="1200" dirty="0">
                <a:solidFill>
                  <a:schemeClr val="tx1">
                    <a:lumMod val="65000"/>
                    <a:lumOff val="35000"/>
                  </a:schemeClr>
                </a:solidFill>
              </a:rPr>
              <a:t>• </a:t>
            </a:r>
            <a:r>
              <a:rPr lang="zh-CN" altLang="en-US" sz="1200" dirty="0">
                <a:solidFill>
                  <a:schemeClr val="tx1">
                    <a:lumMod val="65000"/>
                    <a:lumOff val="35000"/>
                  </a:schemeClr>
                </a:solidFill>
              </a:rPr>
              <a:t>不切实际的估算、承诺	</a:t>
            </a:r>
            <a:endParaRPr lang="zh-CN" altLang="en-US" sz="1200" dirty="0">
              <a:solidFill>
                <a:schemeClr val="tx1">
                  <a:lumMod val="65000"/>
                  <a:lumOff val="35000"/>
                </a:schemeClr>
              </a:solidFill>
            </a:endParaRP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lang="zh-CN" altLang="en-US" sz="1200" dirty="0">
                <a:solidFill>
                  <a:schemeClr val="tx1">
                    <a:lumMod val="65000"/>
                    <a:lumOff val="35000"/>
                  </a:schemeClr>
                </a:solidFill>
              </a:rPr>
              <a:t> </a:t>
            </a:r>
            <a:r>
              <a:rPr lang="en-US" altLang="zh-CN" sz="1200" dirty="0">
                <a:solidFill>
                  <a:schemeClr val="tx1">
                    <a:lumMod val="65000"/>
                    <a:lumOff val="35000"/>
                  </a:schemeClr>
                </a:solidFill>
              </a:rPr>
              <a:t>• </a:t>
            </a:r>
            <a:r>
              <a:rPr lang="zh-CN" altLang="en-US" sz="1200" dirty="0">
                <a:solidFill>
                  <a:schemeClr val="tx1">
                    <a:lumMod val="65000"/>
                    <a:lumOff val="35000"/>
                  </a:schemeClr>
                </a:solidFill>
              </a:rPr>
              <a:t>项目延期、超支	</a:t>
            </a:r>
            <a:endParaRPr lang="zh-CN" altLang="en-US" sz="1200" dirty="0">
              <a:solidFill>
                <a:schemeClr val="tx1">
                  <a:lumMod val="65000"/>
                  <a:lumOff val="35000"/>
                </a:schemeClr>
              </a:solidFill>
            </a:endParaRP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lang="zh-CN" altLang="en-US" sz="1200" dirty="0">
                <a:solidFill>
                  <a:schemeClr val="tx1">
                    <a:lumMod val="65000"/>
                    <a:lumOff val="35000"/>
                  </a:schemeClr>
                </a:solidFill>
              </a:rPr>
              <a:t> </a:t>
            </a:r>
            <a:r>
              <a:rPr lang="en-US" altLang="zh-CN" sz="1200" dirty="0">
                <a:solidFill>
                  <a:schemeClr val="tx1">
                    <a:lumMod val="65000"/>
                    <a:lumOff val="35000"/>
                  </a:schemeClr>
                </a:solidFill>
              </a:rPr>
              <a:t>• </a:t>
            </a:r>
            <a:r>
              <a:rPr lang="zh-CN" altLang="en-US" sz="1200" dirty="0">
                <a:solidFill>
                  <a:schemeClr val="tx1">
                    <a:lumMod val="65000"/>
                    <a:lumOff val="35000"/>
                  </a:schemeClr>
                </a:solidFill>
              </a:rPr>
              <a:t>项目结束遥遥无期	</a:t>
            </a:r>
            <a:endParaRPr lang="zh-CN" altLang="en-US" sz="1200" dirty="0">
              <a:solidFill>
                <a:schemeClr val="tx1">
                  <a:lumMod val="65000"/>
                  <a:lumOff val="35000"/>
                </a:schemeClr>
              </a:solidFill>
            </a:endParaRP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lang="zh-CN" altLang="en-US" sz="1200" dirty="0">
                <a:solidFill>
                  <a:schemeClr val="tx1">
                    <a:lumMod val="65000"/>
                    <a:lumOff val="35000"/>
                  </a:schemeClr>
                </a:solidFill>
              </a:rPr>
              <a:t> </a:t>
            </a:r>
            <a:r>
              <a:rPr lang="en-US" altLang="zh-CN" sz="1200" dirty="0">
                <a:solidFill>
                  <a:schemeClr val="tx1">
                    <a:lumMod val="65000"/>
                    <a:lumOff val="35000"/>
                  </a:schemeClr>
                </a:solidFill>
              </a:rPr>
              <a:t>• </a:t>
            </a:r>
            <a:r>
              <a:rPr lang="zh-CN" altLang="en-US" sz="1200" dirty="0">
                <a:solidFill>
                  <a:schemeClr val="tx1">
                    <a:lumMod val="65000"/>
                    <a:lumOff val="35000"/>
                  </a:schemeClr>
                </a:solidFill>
              </a:rPr>
              <a:t>项目团队精疲力竭</a:t>
            </a:r>
            <a:endParaRPr lang="en-US" altLang="zh-CN" sz="1200" dirty="0">
              <a:solidFill>
                <a:schemeClr val="tx1">
                  <a:lumMod val="65000"/>
                  <a:lumOff val="35000"/>
                </a:schemeClr>
              </a:solidFill>
            </a:endParaRP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lang="zh-CN" altLang="en-US" sz="1200" dirty="0">
                <a:solidFill>
                  <a:schemeClr val="tx1">
                    <a:lumMod val="65000"/>
                    <a:lumOff val="35000"/>
                  </a:schemeClr>
                </a:solidFill>
              </a:rPr>
              <a:t>  </a:t>
            </a:r>
            <a:r>
              <a:rPr lang="en-US" altLang="zh-CN" sz="1200" dirty="0">
                <a:solidFill>
                  <a:schemeClr val="tx1">
                    <a:lumMod val="65000"/>
                    <a:lumOff val="35000"/>
                  </a:schemeClr>
                </a:solidFill>
              </a:rPr>
              <a:t>• </a:t>
            </a:r>
            <a:r>
              <a:rPr lang="zh-CN" altLang="en-US" sz="1200" dirty="0">
                <a:solidFill>
                  <a:schemeClr val="tx1">
                    <a:lumMod val="65000"/>
                    <a:lumOff val="35000"/>
                  </a:schemeClr>
                </a:solidFill>
              </a:rPr>
              <a:t>产品设计目标不明确 	</a:t>
            </a:r>
            <a:endParaRPr lang="zh-CN" altLang="en-US" sz="1200" dirty="0">
              <a:solidFill>
                <a:schemeClr val="tx1">
                  <a:lumMod val="65000"/>
                  <a:lumOff val="35000"/>
                </a:schemeClr>
              </a:solidFill>
            </a:endParaRP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lang="zh-CN" altLang="en-US" sz="1200" dirty="0">
                <a:solidFill>
                  <a:schemeClr val="tx1">
                    <a:lumMod val="65000"/>
                    <a:lumOff val="35000"/>
                  </a:schemeClr>
                </a:solidFill>
              </a:rPr>
              <a:t> </a:t>
            </a:r>
            <a:r>
              <a:rPr lang="en-US" altLang="zh-CN" sz="1200" dirty="0">
                <a:solidFill>
                  <a:schemeClr val="tx1">
                    <a:lumMod val="65000"/>
                    <a:lumOff val="35000"/>
                  </a:schemeClr>
                </a:solidFill>
              </a:rPr>
              <a:t>•  </a:t>
            </a:r>
            <a:r>
              <a:rPr lang="zh-CN" altLang="en-US" sz="1200" dirty="0">
                <a:solidFill>
                  <a:schemeClr val="tx1">
                    <a:lumMod val="65000"/>
                    <a:lumOff val="35000"/>
                  </a:schemeClr>
                </a:solidFill>
              </a:rPr>
              <a:t>干系人参与不足	</a:t>
            </a:r>
            <a:endParaRPr lang="zh-CN" altLang="en-US" sz="1200" dirty="0">
              <a:solidFill>
                <a:schemeClr val="tx1">
                  <a:lumMod val="65000"/>
                  <a:lumOff val="35000"/>
                </a:schemeClr>
              </a:solidFill>
            </a:endParaRP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lang="zh-CN" altLang="en-US" sz="1200" dirty="0">
                <a:solidFill>
                  <a:schemeClr val="tx1">
                    <a:lumMod val="65000"/>
                    <a:lumOff val="35000"/>
                  </a:schemeClr>
                </a:solidFill>
              </a:rPr>
              <a:t> </a:t>
            </a:r>
            <a:r>
              <a:rPr lang="en-US" altLang="zh-CN" sz="1200" dirty="0">
                <a:solidFill>
                  <a:schemeClr val="tx1">
                    <a:lumMod val="65000"/>
                    <a:lumOff val="35000"/>
                  </a:schemeClr>
                </a:solidFill>
              </a:rPr>
              <a:t>•  </a:t>
            </a:r>
            <a:r>
              <a:rPr lang="zh-CN" altLang="en-US" sz="1200" dirty="0">
                <a:solidFill>
                  <a:schemeClr val="tx1">
                    <a:lumMod val="65000"/>
                    <a:lumOff val="35000"/>
                  </a:schemeClr>
                </a:solidFill>
              </a:rPr>
              <a:t>干系人之间缺少共识	</a:t>
            </a:r>
            <a:endParaRPr lang="zh-CN" altLang="en-US" sz="1200" dirty="0">
              <a:solidFill>
                <a:schemeClr val="tx1">
                  <a:lumMod val="65000"/>
                  <a:lumOff val="35000"/>
                </a:schemeClr>
              </a:solidFill>
            </a:endParaRP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lang="zh-CN" altLang="en-US" sz="1200" dirty="0">
                <a:solidFill>
                  <a:schemeClr val="tx1">
                    <a:lumMod val="65000"/>
                    <a:lumOff val="35000"/>
                  </a:schemeClr>
                </a:solidFill>
              </a:rPr>
              <a:t> </a:t>
            </a:r>
            <a:r>
              <a:rPr lang="en-US" altLang="zh-CN" sz="1200" dirty="0">
                <a:solidFill>
                  <a:schemeClr val="tx1">
                    <a:lumMod val="65000"/>
                    <a:lumOff val="35000"/>
                  </a:schemeClr>
                </a:solidFill>
              </a:rPr>
              <a:t>•  </a:t>
            </a:r>
            <a:r>
              <a:rPr lang="zh-CN" altLang="en-US" sz="1200" dirty="0">
                <a:solidFill>
                  <a:schemeClr val="tx1">
                    <a:lumMod val="65000"/>
                    <a:lumOff val="35000"/>
                  </a:schemeClr>
                </a:solidFill>
              </a:rPr>
              <a:t>画蛇添足	</a:t>
            </a:r>
            <a:endParaRPr lang="zh-CN" altLang="en-US" sz="1200" dirty="0">
              <a:solidFill>
                <a:schemeClr val="tx1">
                  <a:lumMod val="65000"/>
                  <a:lumOff val="35000"/>
                </a:schemeClr>
              </a:solidFill>
            </a:endParaRP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lang="zh-CN" altLang="en-US" sz="1200" dirty="0">
                <a:solidFill>
                  <a:schemeClr val="tx1">
                    <a:lumMod val="65000"/>
                    <a:lumOff val="35000"/>
                  </a:schemeClr>
                </a:solidFill>
              </a:rPr>
              <a:t> </a:t>
            </a:r>
            <a:r>
              <a:rPr lang="en-US" altLang="zh-CN" sz="1200" dirty="0">
                <a:solidFill>
                  <a:schemeClr val="tx1">
                    <a:lumMod val="65000"/>
                    <a:lumOff val="35000"/>
                  </a:schemeClr>
                </a:solidFill>
              </a:rPr>
              <a:t>•  </a:t>
            </a:r>
            <a:r>
              <a:rPr lang="zh-CN" altLang="en-US" sz="1200" dirty="0">
                <a:solidFill>
                  <a:schemeClr val="tx1">
                    <a:lumMod val="65000"/>
                    <a:lumOff val="35000"/>
                  </a:schemeClr>
                </a:solidFill>
              </a:rPr>
              <a:t>需求快速变化	</a:t>
            </a:r>
            <a:endParaRPr lang="zh-CN" altLang="en-US" sz="1200" dirty="0">
              <a:solidFill>
                <a:schemeClr val="tx1">
                  <a:lumMod val="65000"/>
                  <a:lumOff val="35000"/>
                </a:schemeClr>
              </a:solidFill>
            </a:endParaRP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lang="zh-CN" altLang="en-US" sz="1200" dirty="0">
                <a:solidFill>
                  <a:schemeClr val="tx1">
                    <a:lumMod val="65000"/>
                    <a:lumOff val="35000"/>
                  </a:schemeClr>
                </a:solidFill>
              </a:rPr>
              <a:t> </a:t>
            </a:r>
            <a:r>
              <a:rPr lang="en-US" altLang="zh-CN" sz="1200" dirty="0">
                <a:solidFill>
                  <a:schemeClr val="tx1">
                    <a:lumMod val="65000"/>
                    <a:lumOff val="35000"/>
                  </a:schemeClr>
                </a:solidFill>
              </a:rPr>
              <a:t>•  </a:t>
            </a:r>
            <a:r>
              <a:rPr lang="zh-CN" altLang="en-US" sz="1200" dirty="0">
                <a:solidFill>
                  <a:schemeClr val="tx1">
                    <a:lumMod val="65000"/>
                    <a:lumOff val="35000"/>
                  </a:schemeClr>
                </a:solidFill>
              </a:rPr>
              <a:t>变更管理不足	</a:t>
            </a:r>
            <a:endParaRPr lang="zh-CN" altLang="en-US" sz="1200" dirty="0">
              <a:solidFill>
                <a:schemeClr val="tx1">
                  <a:lumMod val="65000"/>
                  <a:lumOff val="35000"/>
                </a:schemeClr>
              </a:solidFill>
            </a:endParaRP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lang="zh-CN" altLang="en-US" sz="1200" dirty="0">
                <a:solidFill>
                  <a:schemeClr val="tx1">
                    <a:lumMod val="65000"/>
                    <a:lumOff val="35000"/>
                  </a:schemeClr>
                </a:solidFill>
              </a:rPr>
              <a:t> </a:t>
            </a:r>
            <a:r>
              <a:rPr lang="en-US" altLang="zh-CN" sz="1200" dirty="0">
                <a:solidFill>
                  <a:schemeClr val="tx1">
                    <a:lumMod val="65000"/>
                    <a:lumOff val="35000"/>
                  </a:schemeClr>
                </a:solidFill>
              </a:rPr>
              <a:t>•  </a:t>
            </a:r>
            <a:r>
              <a:rPr lang="zh-CN" altLang="en-US" sz="1200" dirty="0">
                <a:solidFill>
                  <a:schemeClr val="tx1">
                    <a:lumMod val="65000"/>
                    <a:lumOff val="35000"/>
                  </a:schemeClr>
                </a:solidFill>
              </a:rPr>
              <a:t>需求分析不足</a:t>
            </a:r>
            <a:endParaRPr lang="en-US" altLang="zh-CN" sz="1200" dirty="0">
              <a:solidFill>
                <a:schemeClr val="tx1">
                  <a:lumMod val="65000"/>
                  <a:lumOff val="35000"/>
                </a:schemeClr>
              </a:solidFill>
            </a:endParaRP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lang="en-US" altLang="zh-CN" sz="1200" dirty="0">
              <a:solidFill>
                <a:schemeClr val="tx1">
                  <a:lumMod val="65000"/>
                  <a:lumOff val="35000"/>
                </a:schemeClr>
              </a:solidFill>
            </a:endParaRP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lang="en-US" altLang="zh-CN" sz="1200" dirty="0">
              <a:solidFill>
                <a:schemeClr val="tx1">
                  <a:lumMod val="65000"/>
                  <a:lumOff val="35000"/>
                </a:schemeClr>
              </a:solidFill>
            </a:endParaRP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lang="en-US" altLang="zh-CN" sz="1200" dirty="0">
              <a:solidFill>
                <a:schemeClr val="tx1">
                  <a:lumMod val="65000"/>
                  <a:lumOff val="35000"/>
                </a:schemeClr>
              </a:solidFill>
            </a:endParaRP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lang="en-US" altLang="zh-CN" sz="1200" dirty="0">
              <a:solidFill>
                <a:schemeClr val="tx1">
                  <a:lumMod val="65000"/>
                  <a:lumOff val="35000"/>
                </a:schemeClr>
              </a:solidFill>
            </a:endParaRP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lang="zh-CN" altLang="en-US" sz="1200" dirty="0">
                <a:solidFill>
                  <a:schemeClr val="tx1">
                    <a:lumMod val="65000"/>
                    <a:lumOff val="35000"/>
                  </a:schemeClr>
                </a:solidFill>
              </a:rPr>
              <a:t>软件人员要准确理解用户的要求，进行细致的调查分析，将用户非形式化的需求陈述转化为完整的需求定义，再由需求定义转化到相应形式的需求规格说明。</a:t>
            </a:r>
            <a:endParaRPr lang="en-US" altLang="zh-CN" sz="1200" dirty="0">
              <a:solidFill>
                <a:schemeClr val="tx1">
                  <a:lumMod val="65000"/>
                  <a:lumOff val="35000"/>
                </a:schemeClr>
              </a:solidFill>
            </a:endParaRP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lang="en-US" altLang="zh-CN" sz="1200" dirty="0">
              <a:solidFill>
                <a:schemeClr val="tx1">
                  <a:lumMod val="65000"/>
                  <a:lumOff val="35000"/>
                </a:schemeClr>
              </a:solidFill>
            </a:endParaRPr>
          </a:p>
          <a:p>
            <a:pPr marL="171450" marR="0" lvl="0" indent="-171450" algn="l" defTabSz="914400" rtl="0" eaLnBrk="1" fontAlgn="auto" latinLnBrk="0" hangingPunct="1">
              <a:lnSpc>
                <a:spcPct val="100000"/>
              </a:lnSpc>
              <a:spcBef>
                <a:spcPct val="55000"/>
              </a:spcBef>
              <a:spcAft>
                <a:spcPts val="0"/>
              </a:spcAft>
              <a:buClrTx/>
              <a:buSzTx/>
              <a:buFont typeface="Arial" panose="020B0604020202020204" pitchFamily="34" charset="0"/>
              <a:buChar char="•"/>
              <a:defRPr/>
            </a:pPr>
            <a:r>
              <a:rPr lang="zh-CN" altLang="zh-CN" sz="1200" b="0" dirty="0">
                <a:solidFill>
                  <a:srgbClr val="800000"/>
                </a:solidFill>
                <a:ea typeface="隶书" panose="02010509060101010101" pitchFamily="49" charset="-122"/>
              </a:rPr>
              <a:t>需求分析</a:t>
            </a:r>
            <a:r>
              <a:rPr lang="zh-CN" altLang="en-US" sz="1200" b="0" dirty="0">
                <a:solidFill>
                  <a:srgbClr val="800000"/>
                </a:solidFill>
                <a:ea typeface="隶书" panose="02010509060101010101" pitchFamily="49" charset="-122"/>
              </a:rPr>
              <a:t>是供需双方必须经过的磨合期</a:t>
            </a:r>
            <a:endParaRPr lang="zh-CN" altLang="zh-CN" sz="1200" b="0" dirty="0">
              <a:solidFill>
                <a:srgbClr val="800000"/>
              </a:solidFill>
              <a:ea typeface="隶书" panose="02010509060101010101" pitchFamily="49" charset="-122"/>
            </a:endParaRPr>
          </a:p>
          <a:p>
            <a:pPr marL="628650" lvl="1" indent="-171450" algn="l" eaLnBrk="1" hangingPunct="1">
              <a:spcBef>
                <a:spcPct val="55000"/>
              </a:spcBef>
              <a:buFont typeface="Wingdings" panose="05000000000000000000" pitchFamily="2" charset="2"/>
              <a:buChar char="ü"/>
            </a:pPr>
            <a:r>
              <a:rPr lang="zh-CN" altLang="zh-CN" sz="1200" b="0" dirty="0"/>
              <a:t>软件开发是用户与开发者共同参与的过程，项目涉众人员之间必须经过充分交流；</a:t>
            </a:r>
            <a:endParaRPr lang="zh-CN" altLang="zh-CN" sz="1200" b="0" dirty="0"/>
          </a:p>
          <a:p>
            <a:pPr marL="628650" lvl="1" indent="-171450" algn="l" eaLnBrk="1" hangingPunct="1">
              <a:spcBef>
                <a:spcPct val="55000"/>
              </a:spcBef>
              <a:buFont typeface="Wingdings" panose="05000000000000000000" pitchFamily="2" charset="2"/>
              <a:buChar char="ü"/>
            </a:pPr>
            <a:r>
              <a:rPr lang="zh-CN" altLang="zh-CN" sz="1200" b="0" dirty="0"/>
              <a:t>用户与开发者的知识领域不同，缺乏共同语言，存在对问题理解的歧义；</a:t>
            </a:r>
            <a:endParaRPr lang="zh-CN" altLang="zh-CN" sz="1200" b="0" dirty="0"/>
          </a:p>
          <a:p>
            <a:pPr marL="628650" lvl="1" indent="-171450" algn="l" eaLnBrk="1" hangingPunct="1">
              <a:spcBef>
                <a:spcPct val="55000"/>
              </a:spcBef>
              <a:buFont typeface="Wingdings" panose="05000000000000000000" pitchFamily="2" charset="2"/>
              <a:buChar char="ü"/>
            </a:pPr>
            <a:r>
              <a:rPr lang="zh-CN" altLang="zh-CN" sz="1200" b="0" dirty="0"/>
              <a:t>软件开发失败的原因大约超过50%是需求不合理而急于编程引起的；</a:t>
            </a:r>
            <a:endParaRPr lang="zh-CN" altLang="zh-CN" sz="1200" b="0" dirty="0"/>
          </a:p>
          <a:p>
            <a:pPr marL="628650" lvl="1" indent="-171450" algn="l" eaLnBrk="1" hangingPunct="1">
              <a:spcBef>
                <a:spcPct val="55000"/>
              </a:spcBef>
              <a:buFont typeface="Wingdings" panose="05000000000000000000" pitchFamily="2" charset="2"/>
              <a:buChar char="ü"/>
            </a:pPr>
            <a:r>
              <a:rPr lang="zh-CN" altLang="zh-CN" sz="1200" b="0" dirty="0"/>
              <a:t>在需求分析阶段的错误会引起错误的放大，后期发现错误时要花费更大的精力修改</a:t>
            </a:r>
            <a:r>
              <a:rPr lang="zh-CN" altLang="en-US" sz="1200" b="0" dirty="0"/>
              <a:t>。</a:t>
            </a:r>
            <a:endParaRPr lang="zh-CN" altLang="zh-CN" sz="1200" b="0" dirty="0"/>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lang="en-US" altLang="zh-CN" sz="1200" dirty="0">
              <a:solidFill>
                <a:schemeClr val="tx1">
                  <a:lumMod val="65000"/>
                  <a:lumOff val="35000"/>
                </a:schemeClr>
              </a:solidFill>
            </a:endParaRPr>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zh-CN" sz="1200" b="0" dirty="0"/>
              <a:t>需求开发是技术范畴，需求管理是管理范畴。</a:t>
            </a:r>
            <a:endParaRPr lang="zh-CN" altLang="zh-CN" sz="1200" b="0" dirty="0"/>
          </a:p>
          <a:p>
            <a:endParaRPr lang="en-US" altLang="zh-CN" dirty="0"/>
          </a:p>
          <a:p>
            <a:pPr marL="0" indent="0" algn="l" eaLnBrk="1" hangingPunct="1">
              <a:spcBef>
                <a:spcPct val="55000"/>
              </a:spcBef>
              <a:buFont typeface="Arial" panose="020B0604020202020204" pitchFamily="34" charset="0"/>
              <a:buNone/>
            </a:pPr>
            <a:r>
              <a:rPr lang="zh-CN" altLang="zh-CN" sz="1200" b="0" dirty="0"/>
              <a:t>在软件工程课里通常讲述</a:t>
            </a:r>
            <a:r>
              <a:rPr lang="zh-CN" altLang="en-US" sz="1200" b="0" dirty="0"/>
              <a:t>的</a:t>
            </a:r>
            <a:r>
              <a:rPr lang="zh-CN" altLang="zh-CN" sz="1200" b="0" dirty="0"/>
              <a:t>需求分析是指需求工程中的需求开发部分</a:t>
            </a:r>
            <a:r>
              <a:rPr lang="zh-CN" altLang="en-US" sz="1200" b="0" dirty="0"/>
              <a:t>。即：</a:t>
            </a:r>
            <a:r>
              <a:rPr lang="zh-CN" altLang="zh-CN" sz="1200" b="0" dirty="0"/>
              <a:t>需求分析=需求开发</a:t>
            </a:r>
            <a:endParaRPr lang="zh-CN" altLang="zh-CN" sz="1200" b="0" dirty="0"/>
          </a:p>
          <a:p>
            <a:endParaRPr lang="en-US" altLang="zh-CN" dirty="0"/>
          </a:p>
          <a:p>
            <a:r>
              <a:rPr lang="zh-CN" altLang="en-US" dirty="0"/>
              <a:t>系统需求工程：针对由软硬件共同组成的整个系统。</a:t>
            </a:r>
            <a:endParaRPr lang="en-US" altLang="zh-CN" dirty="0"/>
          </a:p>
          <a:p>
            <a:endParaRPr lang="en-US" altLang="zh-CN" dirty="0"/>
          </a:p>
          <a:p>
            <a:r>
              <a:rPr lang="zh-CN" altLang="en-US" dirty="0"/>
              <a:t>软件需求工程：专门针对纯软件部分。它把系统需求分解成一些主要的子系统和任务，把这些子系统或任务分配给软件，并通过一系列重复的分析、设计、比较研究、原型开发过程，把这些系统需求转换成软件的需求描述和一些性能参数。</a:t>
            </a:r>
            <a:endParaRPr lang="en-US" altLang="zh-CN" dirty="0"/>
          </a:p>
          <a:p>
            <a:endParaRPr lang="en-US" altLang="zh-CN" dirty="0"/>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eaLnBrk="1" hangingPunct="1">
              <a:buFont typeface="Wingdings" panose="05000000000000000000" pitchFamily="2" charset="2"/>
              <a:buAutoNum type="arabicPeriod"/>
            </a:pPr>
            <a:r>
              <a:rPr lang="zh-CN" altLang="en-US" sz="2400" b="0" dirty="0"/>
              <a:t>需求获取：</a:t>
            </a:r>
            <a:endParaRPr lang="zh-CN" altLang="en-US" sz="2400" b="0" dirty="0"/>
          </a:p>
          <a:p>
            <a:pPr marL="800100" lvl="1" indent="-342900" algn="l" eaLnBrk="1" hangingPunct="1">
              <a:buFont typeface="Arial" panose="020B0604020202020204" pitchFamily="34" charset="0"/>
              <a:buChar char="•"/>
            </a:pPr>
            <a:r>
              <a:rPr lang="zh-CN" altLang="zh-CN" sz="2400" b="0" dirty="0"/>
              <a:t>调查软件需求</a:t>
            </a:r>
            <a:r>
              <a:rPr lang="zh-CN" altLang="en-US" sz="2400" b="0" dirty="0"/>
              <a:t>，弄清</a:t>
            </a:r>
            <a:r>
              <a:rPr lang="zh-CN" altLang="zh-CN" sz="2400" b="0" dirty="0"/>
              <a:t>用户对目标软件系统在功能、性能、行为、设计约束等方面的期望。</a:t>
            </a:r>
            <a:endParaRPr lang="zh-CN" altLang="en-US" sz="2400" b="0" dirty="0"/>
          </a:p>
          <a:p>
            <a:pPr marL="800100" lvl="1" indent="-342900" algn="l" eaLnBrk="1" hangingPunct="1">
              <a:buFont typeface="Arial" panose="020B0604020202020204" pitchFamily="34" charset="0"/>
              <a:buChar char="•"/>
            </a:pPr>
            <a:r>
              <a:rPr lang="zh-CN" altLang="zh-CN" sz="2400" b="0" dirty="0"/>
              <a:t>手段：通过现场调查、核实、归纳，用自然语言描述。</a:t>
            </a:r>
            <a:endParaRPr lang="zh-CN" altLang="en-US" sz="2400" b="0" dirty="0"/>
          </a:p>
          <a:p>
            <a:pPr algn="l" eaLnBrk="1" hangingPunct="1">
              <a:buFont typeface="Wingdings" panose="05000000000000000000" pitchFamily="2" charset="2"/>
              <a:buNone/>
            </a:pPr>
            <a:r>
              <a:rPr lang="en-US" altLang="zh-CN" sz="2400" b="0" dirty="0"/>
              <a:t>2.</a:t>
            </a:r>
            <a:r>
              <a:rPr lang="zh-CN" altLang="en-US" sz="2400" b="0" dirty="0"/>
              <a:t>需求</a:t>
            </a:r>
            <a:r>
              <a:rPr lang="zh-CN" altLang="zh-CN" sz="2400" b="0" dirty="0"/>
              <a:t>建模</a:t>
            </a:r>
            <a:r>
              <a:rPr lang="zh-CN" altLang="en-US" sz="2400" b="0" dirty="0"/>
              <a:t>：</a:t>
            </a:r>
            <a:endParaRPr lang="zh-CN" altLang="en-US" sz="2400" b="0" dirty="0"/>
          </a:p>
          <a:p>
            <a:pPr marL="800100" lvl="1" indent="-342900" algn="l" eaLnBrk="1" hangingPunct="1">
              <a:buFont typeface="Arial" panose="020B0604020202020204" pitchFamily="34" charset="0"/>
              <a:buChar char="•"/>
            </a:pPr>
            <a:r>
              <a:rPr lang="zh-CN" altLang="zh-CN" sz="2400" b="0" dirty="0"/>
              <a:t>是对现实世界进行抽象的过程</a:t>
            </a:r>
            <a:r>
              <a:rPr lang="zh-CN" altLang="en-US" sz="2400" b="0" dirty="0"/>
              <a:t>。</a:t>
            </a:r>
            <a:r>
              <a:rPr lang="zh-CN" altLang="zh-CN" sz="2400" b="0" dirty="0"/>
              <a:t>通过符号和文字说明描述系统模型使用户和开发者间建立共同语言基础，消除理解上的歧义；</a:t>
            </a:r>
            <a:endParaRPr lang="zh-CN" altLang="en-US" sz="2400" b="0" dirty="0"/>
          </a:p>
          <a:p>
            <a:pPr marL="800100" lvl="1" indent="-342900" algn="l" eaLnBrk="1" hangingPunct="1">
              <a:buFont typeface="Arial" panose="020B0604020202020204" pitchFamily="34" charset="0"/>
              <a:buChar char="•"/>
            </a:pPr>
            <a:r>
              <a:rPr lang="zh-CN" altLang="zh-CN" sz="2400" b="0" dirty="0"/>
              <a:t>从原始模型分析找寻目标模型</a:t>
            </a:r>
            <a:r>
              <a:rPr lang="zh-CN" altLang="en-US" sz="2400" b="0" dirty="0"/>
              <a:t>，</a:t>
            </a:r>
            <a:r>
              <a:rPr lang="zh-CN" altLang="zh-CN" sz="2400" b="0" dirty="0"/>
              <a:t>从物理模型过渡到逻辑模型，作为设计阶段的依据；</a:t>
            </a:r>
            <a:endParaRPr lang="zh-CN" altLang="en-US" sz="2400" b="0" dirty="0"/>
          </a:p>
          <a:p>
            <a:pPr marL="800100" lvl="1" indent="-342900" algn="l" eaLnBrk="1" hangingPunct="1">
              <a:buFont typeface="Arial" panose="020B0604020202020204" pitchFamily="34" charset="0"/>
              <a:buChar char="•"/>
            </a:pPr>
            <a:r>
              <a:rPr lang="zh-CN" altLang="zh-CN" sz="2400" b="0" dirty="0"/>
              <a:t>手段：采用建模语言和工具</a:t>
            </a:r>
            <a:endParaRPr lang="zh-CN" altLang="en-US" sz="2400" b="0" dirty="0"/>
          </a:p>
          <a:p>
            <a:pPr algn="l" eaLnBrk="1" hangingPunct="1"/>
            <a:r>
              <a:rPr lang="zh-CN" altLang="en-US" sz="2400" b="0" dirty="0"/>
              <a:t>3</a:t>
            </a:r>
            <a:r>
              <a:rPr lang="en-US" altLang="zh-CN" sz="2400" b="0" dirty="0"/>
              <a:t>.</a:t>
            </a:r>
            <a:r>
              <a:rPr lang="zh-CN" altLang="zh-CN" sz="2400" b="0" dirty="0"/>
              <a:t>需求说明</a:t>
            </a:r>
            <a:r>
              <a:rPr lang="zh-CN" altLang="en-US" sz="2400" b="0" dirty="0"/>
              <a:t>：</a:t>
            </a:r>
            <a:endParaRPr lang="zh-CN" altLang="en-US" sz="2400" b="0" dirty="0"/>
          </a:p>
          <a:p>
            <a:pPr marL="800100" lvl="1" indent="-342900" algn="l" eaLnBrk="1" hangingPunct="1">
              <a:buFont typeface="Arial" panose="020B0604020202020204" pitchFamily="34" charset="0"/>
              <a:buChar char="•"/>
            </a:pPr>
            <a:r>
              <a:rPr lang="zh-CN" altLang="en-US" sz="2400" b="0" dirty="0"/>
              <a:t>需求说明</a:t>
            </a:r>
            <a:r>
              <a:rPr lang="zh-CN" altLang="zh-CN" sz="2400" b="0" dirty="0"/>
              <a:t>书是需求分析阶段的最终成果，也是需求分析阶段复审的依据；是用户领域专家、</a:t>
            </a:r>
            <a:r>
              <a:rPr lang="zh-CN" altLang="en-US" sz="2400" b="0" dirty="0"/>
              <a:t>    </a:t>
            </a:r>
            <a:r>
              <a:rPr lang="zh-CN" altLang="zh-CN" sz="2400" b="0" dirty="0"/>
              <a:t>软件分析师、软件设计师共同交流的途径和媒介；是交付给用户文档的一部份；</a:t>
            </a:r>
            <a:endParaRPr lang="zh-CN" altLang="en-US" sz="2400" b="0" dirty="0"/>
          </a:p>
          <a:p>
            <a:pPr marL="800100" lvl="1" indent="-342900" algn="l" eaLnBrk="1" hangingPunct="1">
              <a:buFont typeface="Arial" panose="020B0604020202020204" pitchFamily="34" charset="0"/>
              <a:buChar char="•"/>
            </a:pPr>
            <a:r>
              <a:rPr lang="zh-CN" altLang="zh-CN" sz="2400" b="0" dirty="0"/>
              <a:t>手段：编写文档</a:t>
            </a:r>
            <a:endParaRPr lang="zh-CN" altLang="en-US" sz="2400" b="0" dirty="0"/>
          </a:p>
          <a:p>
            <a:pPr lvl="0" algn="l" eaLnBrk="1" hangingPunct="1"/>
            <a:r>
              <a:rPr lang="zh-CN" altLang="en-US" sz="2400" b="0" dirty="0"/>
              <a:t>4</a:t>
            </a:r>
            <a:r>
              <a:rPr lang="en-US" altLang="zh-CN" sz="2400" b="0" dirty="0"/>
              <a:t>.</a:t>
            </a:r>
            <a:r>
              <a:rPr lang="zh-CN" altLang="en-US" sz="2400" b="0" dirty="0"/>
              <a:t>需求评审：</a:t>
            </a:r>
            <a:endParaRPr lang="zh-CN" altLang="en-US" sz="2400" b="0" dirty="0"/>
          </a:p>
          <a:p>
            <a:pPr marL="800100" lvl="1" indent="-342900" algn="l" eaLnBrk="1" hangingPunct="1">
              <a:buFont typeface="Arial" panose="020B0604020202020204" pitchFamily="34" charset="0"/>
              <a:buChar char="•"/>
            </a:pPr>
            <a:r>
              <a:rPr lang="zh-CN" altLang="zh-CN" sz="2400" b="0" dirty="0"/>
              <a:t>根据需求说明书，对需求的正确性、一致性、完整性、无二义行进行评审、确认。</a:t>
            </a:r>
            <a:endParaRPr lang="zh-CN" altLang="zh-CN" sz="2400" b="0" dirty="0"/>
          </a:p>
          <a:p>
            <a:pPr marL="800100" lvl="1" indent="-342900" algn="l" eaLnBrk="1" hangingPunct="1">
              <a:buFont typeface="Arial" panose="020B0604020202020204" pitchFamily="34" charset="0"/>
              <a:buChar char="•"/>
            </a:pPr>
            <a:r>
              <a:rPr lang="zh-CN" altLang="zh-CN" sz="2400" b="0" dirty="0"/>
              <a:t>手段：分析师、设计师、客户会审文档</a:t>
            </a:r>
            <a:endParaRPr lang="zh-CN" altLang="zh-CN" sz="2400" b="0" dirty="0"/>
          </a:p>
          <a:p>
            <a:endParaRPr lang="en-US" altLang="zh-CN" dirty="0"/>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effectLst/>
                <a:sym typeface="+mn-ea"/>
              </a:rPr>
              <a:t>了解了需求的概念，如何具体定义需求？</a:t>
            </a:r>
            <a:endParaRPr lang="zh-CN" altLang="en-US" b="0" i="0" kern="1200" dirty="0">
              <a:solidFill>
                <a:schemeClr val="tx1"/>
              </a:solidFill>
              <a:effectLst/>
              <a:latin typeface="+mn-lt"/>
              <a:ea typeface="+mn-ea"/>
              <a:cs typeface="+mn-cs"/>
            </a:endParaRPr>
          </a:p>
          <a:p>
            <a:r>
              <a:rPr lang="zh-CN" altLang="en-US" dirty="0">
                <a:effectLst/>
                <a:sym typeface="+mn-ea"/>
              </a:rPr>
              <a:t>可以使用</a:t>
            </a:r>
            <a:r>
              <a:rPr lang="en-US" altLang="zh-CN" dirty="0">
                <a:effectLst/>
                <a:sym typeface="+mn-ea"/>
                <a:hlinkClick r:id="rId3"/>
              </a:rPr>
              <a:t>5W2H</a:t>
            </a:r>
            <a:r>
              <a:rPr lang="zh-CN" altLang="en-US" dirty="0">
                <a:effectLst/>
                <a:sym typeface="+mn-ea"/>
                <a:hlinkClick r:id="rId3"/>
              </a:rPr>
              <a:t>分析法</a:t>
            </a:r>
            <a:r>
              <a:rPr lang="zh-CN" altLang="en-US" dirty="0">
                <a:effectLst/>
                <a:sym typeface="+mn-ea"/>
              </a:rPr>
              <a:t>，</a:t>
            </a:r>
            <a:r>
              <a:rPr lang="zh-CN" altLang="en-US" sz="675" b="0" i="0" kern="1200" dirty="0">
                <a:solidFill>
                  <a:schemeClr val="tx1"/>
                </a:solidFill>
                <a:effectLst/>
                <a:latin typeface="+mn-lt"/>
                <a:ea typeface="+mn-ea"/>
                <a:cs typeface="+mn-cs"/>
              </a:rPr>
              <a:t>发明者用五个以</a:t>
            </a:r>
            <a:r>
              <a:rPr lang="en-US" altLang="zh-CN" sz="675" b="0" i="0" kern="1200" dirty="0">
                <a:solidFill>
                  <a:schemeClr val="tx1"/>
                </a:solidFill>
                <a:effectLst/>
                <a:latin typeface="+mn-lt"/>
                <a:ea typeface="+mn-ea"/>
                <a:cs typeface="+mn-cs"/>
              </a:rPr>
              <a:t>W</a:t>
            </a:r>
            <a:r>
              <a:rPr lang="zh-CN" altLang="en-US" sz="675" b="0" i="0" kern="1200" dirty="0">
                <a:solidFill>
                  <a:schemeClr val="tx1"/>
                </a:solidFill>
                <a:effectLst/>
                <a:latin typeface="+mn-lt"/>
                <a:ea typeface="+mn-ea"/>
                <a:cs typeface="+mn-cs"/>
              </a:rPr>
              <a:t>开头的英语单词和两个以</a:t>
            </a:r>
            <a:r>
              <a:rPr lang="en-US" altLang="zh-CN" sz="675" b="0" i="0" kern="1200" dirty="0">
                <a:solidFill>
                  <a:schemeClr val="tx1"/>
                </a:solidFill>
                <a:effectLst/>
                <a:latin typeface="+mn-lt"/>
                <a:ea typeface="+mn-ea"/>
                <a:cs typeface="+mn-cs"/>
              </a:rPr>
              <a:t>H</a:t>
            </a:r>
            <a:r>
              <a:rPr lang="zh-CN" altLang="en-US" sz="675" b="0" i="0" kern="1200" dirty="0">
                <a:solidFill>
                  <a:schemeClr val="tx1"/>
                </a:solidFill>
                <a:effectLst/>
                <a:latin typeface="+mn-lt"/>
                <a:ea typeface="+mn-ea"/>
                <a:cs typeface="+mn-cs"/>
              </a:rPr>
              <a:t>开头的英语单词进行设问，发现解决问题的线索，寻找发明</a:t>
            </a:r>
            <a:r>
              <a:rPr lang="en-US" altLang="zh-CN" sz="675" b="0" i="0" u="none" strike="noStrike" kern="1200" dirty="0">
                <a:solidFill>
                  <a:schemeClr val="tx1"/>
                </a:solidFill>
                <a:effectLst/>
                <a:latin typeface="+mn-lt"/>
                <a:ea typeface="+mn-ea"/>
                <a:cs typeface="+mn-cs"/>
                <a:hlinkClick r:id="rId3"/>
              </a:rPr>
              <a:t>5W2H</a:t>
            </a:r>
            <a:r>
              <a:rPr lang="zh-CN" altLang="en-US" sz="675" b="0" i="0" u="none" strike="noStrike" kern="1200" dirty="0">
                <a:solidFill>
                  <a:schemeClr val="tx1"/>
                </a:solidFill>
                <a:effectLst/>
                <a:latin typeface="+mn-lt"/>
                <a:ea typeface="+mn-ea"/>
                <a:cs typeface="+mn-cs"/>
                <a:hlinkClick r:id="rId3"/>
              </a:rPr>
              <a:t>分析法</a:t>
            </a:r>
            <a:r>
              <a:rPr lang="zh-CN" altLang="en-US" sz="675" b="0" i="0" kern="1200" dirty="0">
                <a:solidFill>
                  <a:schemeClr val="tx1"/>
                </a:solidFill>
                <a:effectLst/>
                <a:latin typeface="+mn-lt"/>
                <a:ea typeface="+mn-ea"/>
                <a:cs typeface="+mn-cs"/>
              </a:rPr>
              <a:t>思路，进行设计构思，从而搞出新的发明项目，这就叫做</a:t>
            </a:r>
            <a:r>
              <a:rPr lang="en-US" altLang="zh-CN" sz="675" b="0" i="0" kern="1200" dirty="0">
                <a:solidFill>
                  <a:schemeClr val="tx1"/>
                </a:solidFill>
                <a:effectLst/>
                <a:latin typeface="+mn-lt"/>
                <a:ea typeface="+mn-ea"/>
                <a:cs typeface="+mn-cs"/>
              </a:rPr>
              <a:t>5W2H</a:t>
            </a:r>
            <a:r>
              <a:rPr lang="zh-CN" altLang="en-US" sz="675" b="0" i="0" kern="1200" dirty="0">
                <a:solidFill>
                  <a:schemeClr val="tx1"/>
                </a:solidFill>
                <a:effectLst/>
                <a:latin typeface="+mn-lt"/>
                <a:ea typeface="+mn-ea"/>
                <a:cs typeface="+mn-cs"/>
              </a:rPr>
              <a:t>法。</a:t>
            </a:r>
            <a:endParaRPr lang="zh-CN" altLang="en-US" sz="675" b="0" i="0" kern="1200" dirty="0">
              <a:solidFill>
                <a:schemeClr val="tx1"/>
              </a:solidFill>
              <a:effectLst/>
              <a:latin typeface="+mn-lt"/>
              <a:ea typeface="+mn-ea"/>
              <a:cs typeface="+mn-cs"/>
            </a:endParaRPr>
          </a:p>
          <a:p>
            <a:r>
              <a:rPr lang="en-US" altLang="zh-CN" sz="675" b="0" i="0" kern="1200" dirty="0">
                <a:solidFill>
                  <a:schemeClr val="tx1"/>
                </a:solidFill>
                <a:effectLst/>
                <a:latin typeface="+mn-lt"/>
                <a:ea typeface="+mn-ea"/>
                <a:cs typeface="+mn-cs"/>
              </a:rPr>
              <a:t>(1) </a:t>
            </a:r>
            <a:r>
              <a:rPr lang="en-US" altLang="zh-CN" sz="675" b="0" i="0" u="none" strike="noStrike" kern="1200" dirty="0">
                <a:solidFill>
                  <a:schemeClr val="tx1"/>
                </a:solidFill>
                <a:effectLst/>
                <a:latin typeface="+mn-lt"/>
                <a:ea typeface="+mn-ea"/>
                <a:cs typeface="+mn-cs"/>
                <a:hlinkClick r:id="rId4"/>
              </a:rPr>
              <a:t>WHAT</a:t>
            </a:r>
            <a:r>
              <a:rPr lang="en-US" altLang="zh-CN" sz="675" b="0" i="0" kern="1200" dirty="0">
                <a:solidFill>
                  <a:schemeClr val="tx1"/>
                </a:solidFill>
                <a:effectLst/>
                <a:latin typeface="+mn-lt"/>
                <a:ea typeface="+mn-ea"/>
                <a:cs typeface="+mn-cs"/>
              </a:rPr>
              <a:t>--</a:t>
            </a:r>
            <a:r>
              <a:rPr lang="zh-CN" altLang="en-US" sz="675" b="0" i="0" kern="1200" dirty="0">
                <a:solidFill>
                  <a:schemeClr val="tx1"/>
                </a:solidFill>
                <a:effectLst/>
                <a:latin typeface="+mn-lt"/>
                <a:ea typeface="+mn-ea"/>
                <a:cs typeface="+mn-cs"/>
              </a:rPr>
              <a:t>是什么</a:t>
            </a:r>
            <a:r>
              <a:rPr lang="en-US" altLang="zh-CN" sz="675" b="0" i="0" kern="1200" dirty="0">
                <a:solidFill>
                  <a:schemeClr val="tx1"/>
                </a:solidFill>
                <a:effectLst/>
                <a:latin typeface="+mn-lt"/>
                <a:ea typeface="+mn-ea"/>
                <a:cs typeface="+mn-cs"/>
              </a:rPr>
              <a:t>?</a:t>
            </a:r>
            <a:r>
              <a:rPr lang="zh-CN" altLang="en-US" sz="675" b="0" i="0" kern="1200" dirty="0">
                <a:solidFill>
                  <a:schemeClr val="tx1"/>
                </a:solidFill>
                <a:effectLst/>
                <a:latin typeface="+mn-lt"/>
                <a:ea typeface="+mn-ea"/>
                <a:cs typeface="+mn-cs"/>
              </a:rPr>
              <a:t>目的是什么</a:t>
            </a:r>
            <a:r>
              <a:rPr lang="en-US" altLang="zh-CN" sz="675" b="0" i="0" kern="1200" dirty="0">
                <a:solidFill>
                  <a:schemeClr val="tx1"/>
                </a:solidFill>
                <a:effectLst/>
                <a:latin typeface="+mn-lt"/>
                <a:ea typeface="+mn-ea"/>
                <a:cs typeface="+mn-cs"/>
              </a:rPr>
              <a:t>?</a:t>
            </a:r>
            <a:r>
              <a:rPr lang="zh-CN" altLang="en-US" sz="675" b="0" i="0" kern="1200" dirty="0">
                <a:solidFill>
                  <a:schemeClr val="tx1"/>
                </a:solidFill>
                <a:effectLst/>
                <a:latin typeface="+mn-lt"/>
                <a:ea typeface="+mn-ea"/>
                <a:cs typeface="+mn-cs"/>
              </a:rPr>
              <a:t>做什么工作</a:t>
            </a:r>
            <a:r>
              <a:rPr lang="en-US" altLang="zh-CN" sz="675" b="0" i="0" kern="1200" dirty="0">
                <a:solidFill>
                  <a:schemeClr val="tx1"/>
                </a:solidFill>
                <a:effectLst/>
                <a:latin typeface="+mn-lt"/>
                <a:ea typeface="+mn-ea"/>
                <a:cs typeface="+mn-cs"/>
              </a:rPr>
              <a:t>?</a:t>
            </a:r>
            <a:endParaRPr lang="en-US" altLang="zh-CN" sz="675" b="0" i="0" kern="1200" dirty="0">
              <a:solidFill>
                <a:schemeClr val="tx1"/>
              </a:solidFill>
              <a:effectLst/>
              <a:latin typeface="+mn-lt"/>
              <a:ea typeface="+mn-ea"/>
              <a:cs typeface="+mn-cs"/>
            </a:endParaRPr>
          </a:p>
          <a:p>
            <a:r>
              <a:rPr lang="en-US" altLang="zh-CN" sz="675" b="0" i="0" kern="1200" dirty="0">
                <a:solidFill>
                  <a:schemeClr val="tx1"/>
                </a:solidFill>
                <a:effectLst/>
                <a:latin typeface="+mn-lt"/>
                <a:ea typeface="+mn-ea"/>
                <a:cs typeface="+mn-cs"/>
              </a:rPr>
              <a:t>(2) </a:t>
            </a:r>
            <a:r>
              <a:rPr lang="en-US" altLang="zh-CN" sz="675" b="0" i="0" u="none" strike="noStrike" kern="1200" dirty="0">
                <a:solidFill>
                  <a:schemeClr val="tx1"/>
                </a:solidFill>
                <a:effectLst/>
                <a:latin typeface="+mn-lt"/>
                <a:ea typeface="+mn-ea"/>
                <a:cs typeface="+mn-cs"/>
                <a:hlinkClick r:id="rId5"/>
              </a:rPr>
              <a:t>WHY</a:t>
            </a:r>
            <a:r>
              <a:rPr lang="en-US" altLang="zh-CN" sz="675" b="0" i="0" kern="1200" dirty="0">
                <a:solidFill>
                  <a:schemeClr val="tx1"/>
                </a:solidFill>
                <a:effectLst/>
                <a:latin typeface="+mn-lt"/>
                <a:ea typeface="+mn-ea"/>
                <a:cs typeface="+mn-cs"/>
              </a:rPr>
              <a:t>--</a:t>
            </a:r>
            <a:r>
              <a:rPr lang="zh-CN" altLang="en-US" sz="675" b="0" i="0" kern="1200" dirty="0">
                <a:solidFill>
                  <a:schemeClr val="tx1"/>
                </a:solidFill>
                <a:effectLst/>
                <a:latin typeface="+mn-lt"/>
                <a:ea typeface="+mn-ea"/>
                <a:cs typeface="+mn-cs"/>
              </a:rPr>
              <a:t>为什么要做</a:t>
            </a:r>
            <a:r>
              <a:rPr lang="en-US" altLang="zh-CN" sz="675" b="0" i="0" kern="1200" dirty="0">
                <a:solidFill>
                  <a:schemeClr val="tx1"/>
                </a:solidFill>
                <a:effectLst/>
                <a:latin typeface="+mn-lt"/>
                <a:ea typeface="+mn-ea"/>
                <a:cs typeface="+mn-cs"/>
              </a:rPr>
              <a:t>?</a:t>
            </a:r>
            <a:r>
              <a:rPr lang="zh-CN" altLang="en-US" sz="675" b="0" i="0" kern="1200" dirty="0">
                <a:solidFill>
                  <a:schemeClr val="tx1"/>
                </a:solidFill>
                <a:effectLst/>
                <a:latin typeface="+mn-lt"/>
                <a:ea typeface="+mn-ea"/>
                <a:cs typeface="+mn-cs"/>
              </a:rPr>
              <a:t>可不可以不做</a:t>
            </a:r>
            <a:r>
              <a:rPr lang="en-US" altLang="zh-CN" sz="675" b="0" i="0" kern="1200" dirty="0">
                <a:solidFill>
                  <a:schemeClr val="tx1"/>
                </a:solidFill>
                <a:effectLst/>
                <a:latin typeface="+mn-lt"/>
                <a:ea typeface="+mn-ea"/>
                <a:cs typeface="+mn-cs"/>
              </a:rPr>
              <a:t>?</a:t>
            </a:r>
            <a:r>
              <a:rPr lang="zh-CN" altLang="en-US" sz="675" b="0" i="0" kern="1200" dirty="0">
                <a:solidFill>
                  <a:schemeClr val="tx1"/>
                </a:solidFill>
                <a:effectLst/>
                <a:latin typeface="+mn-lt"/>
                <a:ea typeface="+mn-ea"/>
                <a:cs typeface="+mn-cs"/>
              </a:rPr>
              <a:t>有没有替代方案</a:t>
            </a:r>
            <a:r>
              <a:rPr lang="en-US" altLang="zh-CN" sz="675" b="0" i="0" kern="1200" dirty="0">
                <a:solidFill>
                  <a:schemeClr val="tx1"/>
                </a:solidFill>
                <a:effectLst/>
                <a:latin typeface="+mn-lt"/>
                <a:ea typeface="+mn-ea"/>
                <a:cs typeface="+mn-cs"/>
              </a:rPr>
              <a:t>?</a:t>
            </a:r>
            <a:endParaRPr lang="en-US" altLang="zh-CN" sz="675" b="0" i="0" kern="1200" dirty="0">
              <a:solidFill>
                <a:schemeClr val="tx1"/>
              </a:solidFill>
              <a:effectLst/>
              <a:latin typeface="+mn-lt"/>
              <a:ea typeface="+mn-ea"/>
              <a:cs typeface="+mn-cs"/>
            </a:endParaRPr>
          </a:p>
          <a:p>
            <a:r>
              <a:rPr lang="en-US" altLang="zh-CN" sz="675" b="0" i="0" kern="1200" dirty="0">
                <a:solidFill>
                  <a:schemeClr val="tx1"/>
                </a:solidFill>
                <a:effectLst/>
                <a:latin typeface="+mn-lt"/>
                <a:ea typeface="+mn-ea"/>
                <a:cs typeface="+mn-cs"/>
              </a:rPr>
              <a:t>(3) WHO--</a:t>
            </a:r>
            <a:r>
              <a:rPr lang="zh-CN" altLang="en-US" sz="675" b="0" i="0" kern="1200" dirty="0">
                <a:solidFill>
                  <a:schemeClr val="tx1"/>
                </a:solidFill>
                <a:effectLst/>
                <a:latin typeface="+mn-lt"/>
                <a:ea typeface="+mn-ea"/>
                <a:cs typeface="+mn-cs"/>
              </a:rPr>
              <a:t>谁</a:t>
            </a:r>
            <a:r>
              <a:rPr lang="en-US" altLang="zh-CN" sz="675" b="0" i="0" kern="1200" dirty="0">
                <a:solidFill>
                  <a:schemeClr val="tx1"/>
                </a:solidFill>
                <a:effectLst/>
                <a:latin typeface="+mn-lt"/>
                <a:ea typeface="+mn-ea"/>
                <a:cs typeface="+mn-cs"/>
              </a:rPr>
              <a:t>?</a:t>
            </a:r>
            <a:r>
              <a:rPr lang="zh-CN" altLang="en-US" sz="675" b="0" i="0" kern="1200" dirty="0">
                <a:solidFill>
                  <a:schemeClr val="tx1"/>
                </a:solidFill>
                <a:effectLst/>
                <a:latin typeface="+mn-lt"/>
                <a:ea typeface="+mn-ea"/>
                <a:cs typeface="+mn-cs"/>
              </a:rPr>
              <a:t>由谁来做</a:t>
            </a:r>
            <a:r>
              <a:rPr lang="en-US" altLang="zh-CN" sz="675" b="0" i="0" kern="1200" dirty="0">
                <a:solidFill>
                  <a:schemeClr val="tx1"/>
                </a:solidFill>
                <a:effectLst/>
                <a:latin typeface="+mn-lt"/>
                <a:ea typeface="+mn-ea"/>
                <a:cs typeface="+mn-cs"/>
              </a:rPr>
              <a:t>?</a:t>
            </a:r>
            <a:endParaRPr lang="en-US" altLang="zh-CN" sz="675" b="0" i="0" kern="1200" dirty="0">
              <a:solidFill>
                <a:schemeClr val="tx1"/>
              </a:solidFill>
              <a:effectLst/>
              <a:latin typeface="+mn-lt"/>
              <a:ea typeface="+mn-ea"/>
              <a:cs typeface="+mn-cs"/>
            </a:endParaRPr>
          </a:p>
          <a:p>
            <a:r>
              <a:rPr lang="en-US" altLang="zh-CN" sz="675" b="0" i="0" kern="1200" dirty="0">
                <a:solidFill>
                  <a:schemeClr val="tx1"/>
                </a:solidFill>
                <a:effectLst/>
                <a:latin typeface="+mn-lt"/>
                <a:ea typeface="+mn-ea"/>
                <a:cs typeface="+mn-cs"/>
              </a:rPr>
              <a:t>(4) </a:t>
            </a:r>
            <a:r>
              <a:rPr lang="en-US" altLang="zh-CN" sz="675" b="0" i="0" u="none" strike="noStrike" kern="1200" dirty="0">
                <a:solidFill>
                  <a:schemeClr val="tx1"/>
                </a:solidFill>
                <a:effectLst/>
                <a:latin typeface="+mn-lt"/>
                <a:ea typeface="+mn-ea"/>
                <a:cs typeface="+mn-cs"/>
                <a:hlinkClick r:id="rId6"/>
              </a:rPr>
              <a:t>WHEN</a:t>
            </a:r>
            <a:r>
              <a:rPr lang="en-US" altLang="zh-CN" sz="675" b="0" i="0" kern="1200" dirty="0">
                <a:solidFill>
                  <a:schemeClr val="tx1"/>
                </a:solidFill>
                <a:effectLst/>
                <a:latin typeface="+mn-lt"/>
                <a:ea typeface="+mn-ea"/>
                <a:cs typeface="+mn-cs"/>
              </a:rPr>
              <a:t>--</a:t>
            </a:r>
            <a:r>
              <a:rPr lang="zh-CN" altLang="en-US" sz="675" b="0" i="0" kern="1200" dirty="0">
                <a:solidFill>
                  <a:schemeClr val="tx1"/>
                </a:solidFill>
                <a:effectLst/>
                <a:latin typeface="+mn-lt"/>
                <a:ea typeface="+mn-ea"/>
                <a:cs typeface="+mn-cs"/>
              </a:rPr>
              <a:t>何时</a:t>
            </a:r>
            <a:r>
              <a:rPr lang="en-US" altLang="zh-CN" sz="675" b="0" i="0" kern="1200" dirty="0">
                <a:solidFill>
                  <a:schemeClr val="tx1"/>
                </a:solidFill>
                <a:effectLst/>
                <a:latin typeface="+mn-lt"/>
                <a:ea typeface="+mn-ea"/>
                <a:cs typeface="+mn-cs"/>
              </a:rPr>
              <a:t>?</a:t>
            </a:r>
            <a:r>
              <a:rPr lang="zh-CN" altLang="en-US" sz="675" b="0" i="0" kern="1200" dirty="0">
                <a:solidFill>
                  <a:schemeClr val="tx1"/>
                </a:solidFill>
                <a:effectLst/>
                <a:latin typeface="+mn-lt"/>
                <a:ea typeface="+mn-ea"/>
                <a:cs typeface="+mn-cs"/>
              </a:rPr>
              <a:t>什么时间做</a:t>
            </a:r>
            <a:r>
              <a:rPr lang="en-US" altLang="zh-CN" sz="675" b="0" i="0" kern="1200" dirty="0">
                <a:solidFill>
                  <a:schemeClr val="tx1"/>
                </a:solidFill>
                <a:effectLst/>
                <a:latin typeface="+mn-lt"/>
                <a:ea typeface="+mn-ea"/>
                <a:cs typeface="+mn-cs"/>
              </a:rPr>
              <a:t>?</a:t>
            </a:r>
            <a:r>
              <a:rPr lang="zh-CN" altLang="en-US" sz="675" b="0" i="0" kern="1200" dirty="0">
                <a:solidFill>
                  <a:schemeClr val="tx1"/>
                </a:solidFill>
                <a:effectLst/>
                <a:latin typeface="+mn-lt"/>
                <a:ea typeface="+mn-ea"/>
                <a:cs typeface="+mn-cs"/>
              </a:rPr>
              <a:t>什么时机最适宜</a:t>
            </a:r>
            <a:r>
              <a:rPr lang="en-US" altLang="zh-CN" sz="675" b="0" i="0" kern="1200" dirty="0">
                <a:solidFill>
                  <a:schemeClr val="tx1"/>
                </a:solidFill>
                <a:effectLst/>
                <a:latin typeface="+mn-lt"/>
                <a:ea typeface="+mn-ea"/>
                <a:cs typeface="+mn-cs"/>
              </a:rPr>
              <a:t>?</a:t>
            </a:r>
            <a:endParaRPr lang="en-US" altLang="zh-CN" sz="675" b="0" i="0" kern="1200" dirty="0">
              <a:solidFill>
                <a:schemeClr val="tx1"/>
              </a:solidFill>
              <a:effectLst/>
              <a:latin typeface="+mn-lt"/>
              <a:ea typeface="+mn-ea"/>
              <a:cs typeface="+mn-cs"/>
            </a:endParaRPr>
          </a:p>
          <a:p>
            <a:r>
              <a:rPr lang="en-US" altLang="zh-CN" sz="675" b="0" i="0" kern="1200" dirty="0">
                <a:solidFill>
                  <a:schemeClr val="tx1"/>
                </a:solidFill>
                <a:effectLst/>
                <a:latin typeface="+mn-lt"/>
                <a:ea typeface="+mn-ea"/>
                <a:cs typeface="+mn-cs"/>
              </a:rPr>
              <a:t>(5) WHERE--</a:t>
            </a:r>
            <a:r>
              <a:rPr lang="zh-CN" altLang="en-US" sz="675" b="0" i="0" kern="1200" dirty="0">
                <a:solidFill>
                  <a:schemeClr val="tx1"/>
                </a:solidFill>
                <a:effectLst/>
                <a:latin typeface="+mn-lt"/>
                <a:ea typeface="+mn-ea"/>
                <a:cs typeface="+mn-cs"/>
              </a:rPr>
              <a:t>何处</a:t>
            </a:r>
            <a:r>
              <a:rPr lang="en-US" altLang="zh-CN" sz="675" b="0" i="0" kern="1200" dirty="0">
                <a:solidFill>
                  <a:schemeClr val="tx1"/>
                </a:solidFill>
                <a:effectLst/>
                <a:latin typeface="+mn-lt"/>
                <a:ea typeface="+mn-ea"/>
                <a:cs typeface="+mn-cs"/>
              </a:rPr>
              <a:t>?</a:t>
            </a:r>
            <a:r>
              <a:rPr lang="zh-CN" altLang="en-US" sz="675" b="0" i="0" kern="1200" dirty="0">
                <a:solidFill>
                  <a:schemeClr val="tx1"/>
                </a:solidFill>
                <a:effectLst/>
                <a:latin typeface="+mn-lt"/>
                <a:ea typeface="+mn-ea"/>
                <a:cs typeface="+mn-cs"/>
              </a:rPr>
              <a:t>在哪里做</a:t>
            </a:r>
            <a:r>
              <a:rPr lang="en-US" altLang="zh-CN" sz="675" b="0" i="0" kern="1200" dirty="0">
                <a:solidFill>
                  <a:schemeClr val="tx1"/>
                </a:solidFill>
                <a:effectLst/>
                <a:latin typeface="+mn-lt"/>
                <a:ea typeface="+mn-ea"/>
                <a:cs typeface="+mn-cs"/>
              </a:rPr>
              <a:t>?</a:t>
            </a:r>
            <a:endParaRPr lang="en-US" altLang="zh-CN" sz="675" b="0" i="0" kern="1200" dirty="0">
              <a:solidFill>
                <a:schemeClr val="tx1"/>
              </a:solidFill>
              <a:effectLst/>
              <a:latin typeface="+mn-lt"/>
              <a:ea typeface="+mn-ea"/>
              <a:cs typeface="+mn-cs"/>
            </a:endParaRPr>
          </a:p>
          <a:p>
            <a:r>
              <a:rPr lang="en-US" altLang="zh-CN" sz="675" b="0" i="0" kern="1200" dirty="0">
                <a:solidFill>
                  <a:schemeClr val="tx1"/>
                </a:solidFill>
                <a:effectLst/>
                <a:latin typeface="+mn-lt"/>
                <a:ea typeface="+mn-ea"/>
                <a:cs typeface="+mn-cs"/>
              </a:rPr>
              <a:t>(6) HOW --</a:t>
            </a:r>
            <a:r>
              <a:rPr lang="zh-CN" altLang="en-US" sz="675" b="0" i="0" kern="1200" dirty="0">
                <a:solidFill>
                  <a:schemeClr val="tx1"/>
                </a:solidFill>
                <a:effectLst/>
                <a:latin typeface="+mn-lt"/>
                <a:ea typeface="+mn-ea"/>
                <a:cs typeface="+mn-cs"/>
              </a:rPr>
              <a:t>怎么做</a:t>
            </a:r>
            <a:r>
              <a:rPr lang="en-US" altLang="zh-CN" sz="675" b="0" i="0" kern="1200" dirty="0">
                <a:solidFill>
                  <a:schemeClr val="tx1"/>
                </a:solidFill>
                <a:effectLst/>
                <a:latin typeface="+mn-lt"/>
                <a:ea typeface="+mn-ea"/>
                <a:cs typeface="+mn-cs"/>
              </a:rPr>
              <a:t>?</a:t>
            </a:r>
            <a:r>
              <a:rPr lang="zh-CN" altLang="en-US" sz="675" b="0" i="0" kern="1200" dirty="0">
                <a:solidFill>
                  <a:schemeClr val="tx1"/>
                </a:solidFill>
                <a:effectLst/>
                <a:latin typeface="+mn-lt"/>
                <a:ea typeface="+mn-ea"/>
                <a:cs typeface="+mn-cs"/>
              </a:rPr>
              <a:t>如何提高效率</a:t>
            </a:r>
            <a:r>
              <a:rPr lang="en-US" altLang="zh-CN" sz="675" b="0" i="0" kern="1200" dirty="0">
                <a:solidFill>
                  <a:schemeClr val="tx1"/>
                </a:solidFill>
                <a:effectLst/>
                <a:latin typeface="+mn-lt"/>
                <a:ea typeface="+mn-ea"/>
                <a:cs typeface="+mn-cs"/>
              </a:rPr>
              <a:t>?</a:t>
            </a:r>
            <a:r>
              <a:rPr lang="zh-CN" altLang="en-US" sz="675" b="0" i="0" kern="1200" dirty="0">
                <a:solidFill>
                  <a:schemeClr val="tx1"/>
                </a:solidFill>
                <a:effectLst/>
                <a:latin typeface="+mn-lt"/>
                <a:ea typeface="+mn-ea"/>
                <a:cs typeface="+mn-cs"/>
              </a:rPr>
              <a:t>如何实施</a:t>
            </a:r>
            <a:r>
              <a:rPr lang="en-US" altLang="zh-CN" sz="675" b="0" i="0" kern="1200" dirty="0">
                <a:solidFill>
                  <a:schemeClr val="tx1"/>
                </a:solidFill>
                <a:effectLst/>
                <a:latin typeface="+mn-lt"/>
                <a:ea typeface="+mn-ea"/>
                <a:cs typeface="+mn-cs"/>
              </a:rPr>
              <a:t>?</a:t>
            </a:r>
            <a:r>
              <a:rPr lang="zh-CN" altLang="en-US" sz="675" b="0" i="0" kern="1200" dirty="0">
                <a:solidFill>
                  <a:schemeClr val="tx1"/>
                </a:solidFill>
                <a:effectLst/>
                <a:latin typeface="+mn-lt"/>
                <a:ea typeface="+mn-ea"/>
                <a:cs typeface="+mn-cs"/>
              </a:rPr>
              <a:t>方法是什么</a:t>
            </a:r>
            <a:r>
              <a:rPr lang="en-US" altLang="zh-CN" sz="675" b="0" i="0" kern="1200" dirty="0">
                <a:solidFill>
                  <a:schemeClr val="tx1"/>
                </a:solidFill>
                <a:effectLst/>
                <a:latin typeface="+mn-lt"/>
                <a:ea typeface="+mn-ea"/>
                <a:cs typeface="+mn-cs"/>
              </a:rPr>
              <a:t>?</a:t>
            </a:r>
            <a:endParaRPr lang="en-US" altLang="zh-CN" sz="675" b="0" i="0" kern="1200" dirty="0">
              <a:solidFill>
                <a:schemeClr val="tx1"/>
              </a:solidFill>
              <a:effectLst/>
              <a:latin typeface="+mn-lt"/>
              <a:ea typeface="+mn-ea"/>
              <a:cs typeface="+mn-cs"/>
            </a:endParaRPr>
          </a:p>
          <a:p>
            <a:r>
              <a:rPr lang="en-US" altLang="zh-CN" sz="675" b="0" i="0" kern="1200" dirty="0">
                <a:solidFill>
                  <a:schemeClr val="tx1"/>
                </a:solidFill>
                <a:effectLst/>
                <a:latin typeface="+mn-lt"/>
                <a:ea typeface="+mn-ea"/>
                <a:cs typeface="+mn-cs"/>
              </a:rPr>
              <a:t>(7) HOW MUCH--</a:t>
            </a:r>
            <a:r>
              <a:rPr lang="zh-CN" altLang="en-US" sz="675" b="0" i="0" kern="1200" dirty="0">
                <a:solidFill>
                  <a:schemeClr val="tx1"/>
                </a:solidFill>
                <a:effectLst/>
                <a:latin typeface="+mn-lt"/>
                <a:ea typeface="+mn-ea"/>
                <a:cs typeface="+mn-cs"/>
              </a:rPr>
              <a:t>多少</a:t>
            </a:r>
            <a:r>
              <a:rPr lang="en-US" altLang="zh-CN" sz="675" b="0" i="0" kern="1200" dirty="0">
                <a:solidFill>
                  <a:schemeClr val="tx1"/>
                </a:solidFill>
                <a:effectLst/>
                <a:latin typeface="+mn-lt"/>
                <a:ea typeface="+mn-ea"/>
                <a:cs typeface="+mn-cs"/>
              </a:rPr>
              <a:t>?</a:t>
            </a:r>
            <a:r>
              <a:rPr lang="zh-CN" altLang="en-US" sz="675" b="0" i="0" kern="1200" dirty="0">
                <a:solidFill>
                  <a:schemeClr val="tx1"/>
                </a:solidFill>
                <a:effectLst/>
                <a:latin typeface="+mn-lt"/>
                <a:ea typeface="+mn-ea"/>
                <a:cs typeface="+mn-cs"/>
              </a:rPr>
              <a:t>做到什么程度</a:t>
            </a:r>
            <a:r>
              <a:rPr lang="en-US" altLang="zh-CN" sz="675" b="0" i="0" kern="1200" dirty="0">
                <a:solidFill>
                  <a:schemeClr val="tx1"/>
                </a:solidFill>
                <a:effectLst/>
                <a:latin typeface="+mn-lt"/>
                <a:ea typeface="+mn-ea"/>
                <a:cs typeface="+mn-cs"/>
              </a:rPr>
              <a:t>?</a:t>
            </a:r>
            <a:r>
              <a:rPr lang="zh-CN" altLang="en-US" sz="675" b="0" i="0" kern="1200" dirty="0">
                <a:solidFill>
                  <a:schemeClr val="tx1"/>
                </a:solidFill>
                <a:effectLst/>
                <a:latin typeface="+mn-lt"/>
                <a:ea typeface="+mn-ea"/>
                <a:cs typeface="+mn-cs"/>
              </a:rPr>
              <a:t>数量如何</a:t>
            </a:r>
            <a:r>
              <a:rPr lang="en-US" altLang="zh-CN" sz="675" b="0" i="0" kern="1200" dirty="0">
                <a:solidFill>
                  <a:schemeClr val="tx1"/>
                </a:solidFill>
                <a:effectLst/>
                <a:latin typeface="+mn-lt"/>
                <a:ea typeface="+mn-ea"/>
                <a:cs typeface="+mn-cs"/>
              </a:rPr>
              <a:t>?</a:t>
            </a:r>
            <a:r>
              <a:rPr lang="zh-CN" altLang="en-US" sz="675" b="0" i="0" kern="1200" dirty="0">
                <a:solidFill>
                  <a:schemeClr val="tx1"/>
                </a:solidFill>
                <a:effectLst/>
                <a:latin typeface="+mn-lt"/>
                <a:ea typeface="+mn-ea"/>
                <a:cs typeface="+mn-cs"/>
              </a:rPr>
              <a:t>质量水平如何</a:t>
            </a:r>
            <a:r>
              <a:rPr lang="en-US" altLang="zh-CN" sz="675" b="0" i="0" kern="1200" dirty="0">
                <a:solidFill>
                  <a:schemeClr val="tx1"/>
                </a:solidFill>
                <a:effectLst/>
                <a:latin typeface="+mn-lt"/>
                <a:ea typeface="+mn-ea"/>
                <a:cs typeface="+mn-cs"/>
              </a:rPr>
              <a:t>?</a:t>
            </a:r>
            <a:r>
              <a:rPr lang="zh-CN" altLang="en-US" sz="675" b="0" i="0" kern="1200" dirty="0">
                <a:solidFill>
                  <a:schemeClr val="tx1"/>
                </a:solidFill>
                <a:effectLst/>
                <a:latin typeface="+mn-lt"/>
                <a:ea typeface="+mn-ea"/>
                <a:cs typeface="+mn-cs"/>
              </a:rPr>
              <a:t>费用产出如何</a:t>
            </a:r>
            <a:r>
              <a:rPr lang="en-US" altLang="zh-CN" sz="675" b="0" i="0" kern="1200" dirty="0">
                <a:solidFill>
                  <a:schemeClr val="tx1"/>
                </a:solidFill>
                <a:effectLst/>
                <a:latin typeface="+mn-lt"/>
                <a:ea typeface="+mn-ea"/>
                <a:cs typeface="+mn-cs"/>
              </a:rPr>
              <a:t>?</a:t>
            </a:r>
            <a:endParaRPr lang="en-US" altLang="zh-CN" sz="675" b="0" i="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干系人：资方、客户、系统⽤用户、领域专家、项目研发团队。</a:t>
            </a:r>
            <a:endParaRPr lang="en-US" altLang="zh-CN" dirty="0"/>
          </a:p>
          <a:p>
            <a:endParaRPr lang="en-US" altLang="zh-CN" dirty="0"/>
          </a:p>
          <a:p>
            <a:r>
              <a:rPr lang="zh-CN" altLang="en-US" dirty="0"/>
              <a:t>业务过程：对现有业务过程的分析有助于识别业务问题并加以改进	</a:t>
            </a:r>
            <a:endParaRPr lang="zh-CN" altLang="en-US" dirty="0"/>
          </a:p>
          <a:p>
            <a:r>
              <a:rPr lang="zh-CN" altLang="en-US" dirty="0"/>
              <a:t> </a:t>
            </a:r>
            <a:r>
              <a:rPr lang="en-US" altLang="zh-CN" dirty="0"/>
              <a:t>•  </a:t>
            </a:r>
            <a:r>
              <a:rPr lang="zh-CN" altLang="en-US" dirty="0"/>
              <a:t>找出并列举当前业务过程中的问题	</a:t>
            </a:r>
            <a:endParaRPr lang="zh-CN" altLang="en-US" dirty="0"/>
          </a:p>
          <a:p>
            <a:r>
              <a:rPr lang="zh-CN" altLang="en-US" dirty="0"/>
              <a:t> </a:t>
            </a:r>
            <a:r>
              <a:rPr lang="en-US" altLang="zh-CN" dirty="0"/>
              <a:t>•  </a:t>
            </a:r>
            <a:r>
              <a:rPr lang="zh-CN" altLang="en-US" dirty="0"/>
              <a:t>分析问题的本质（遗漏？不好用？新需求？）	</a:t>
            </a:r>
            <a:endParaRPr lang="zh-CN" altLang="en-US" dirty="0"/>
          </a:p>
          <a:p>
            <a:r>
              <a:rPr lang="zh-CN" altLang="en-US" dirty="0"/>
              <a:t> </a:t>
            </a:r>
            <a:r>
              <a:rPr lang="en-US" altLang="zh-CN" dirty="0"/>
              <a:t>•  </a:t>
            </a:r>
            <a:r>
              <a:rPr lang="zh-CN" altLang="en-US" dirty="0"/>
              <a:t>分析改进的机会	</a:t>
            </a:r>
            <a:endParaRPr lang="zh-CN" altLang="en-US" dirty="0"/>
          </a:p>
          <a:p>
            <a:r>
              <a:rPr lang="zh-CN" altLang="en-US" dirty="0"/>
              <a:t> </a:t>
            </a:r>
            <a:r>
              <a:rPr lang="en-US" altLang="zh-CN" dirty="0"/>
              <a:t>•  </a:t>
            </a:r>
            <a:r>
              <a:rPr lang="zh-CN" altLang="en-US" dirty="0"/>
              <a:t>分析改进的实质 （自动化？流程改进？）</a:t>
            </a:r>
            <a:endParaRPr lang="en-US" altLang="zh-CN" dirty="0"/>
          </a:p>
          <a:p>
            <a:endParaRPr lang="en-US" altLang="zh-CN" dirty="0"/>
          </a:p>
          <a:p>
            <a:r>
              <a:rPr lang="zh-CN" altLang="en-US" dirty="0"/>
              <a:t>规章制度定义当前最佳实践	</a:t>
            </a:r>
            <a:endParaRPr lang="zh-CN" altLang="en-US" dirty="0"/>
          </a:p>
          <a:p>
            <a:r>
              <a:rPr lang="zh-CN" altLang="en-US" dirty="0"/>
              <a:t> </a:t>
            </a:r>
            <a:r>
              <a:rPr lang="en-US" altLang="zh-CN" dirty="0"/>
              <a:t>•  </a:t>
            </a:r>
            <a:r>
              <a:rPr lang="zh-CN" altLang="en-US" dirty="0"/>
              <a:t>分析规章制度有益于确定业务规则和约束条件	</a:t>
            </a:r>
            <a:endParaRPr lang="zh-CN" altLang="en-US" dirty="0"/>
          </a:p>
          <a:p>
            <a:r>
              <a:rPr lang="zh-CN" altLang="en-US" dirty="0"/>
              <a:t> </a:t>
            </a:r>
            <a:r>
              <a:rPr lang="en-US" altLang="zh-CN" dirty="0"/>
              <a:t>•  </a:t>
            </a:r>
            <a:r>
              <a:rPr lang="zh-CN" altLang="en-US" dirty="0"/>
              <a:t>业务规则：描述对业务过程的要求，如系统支撑的业务过程的结构、控制、行为效果	</a:t>
            </a:r>
            <a:endParaRPr lang="zh-CN" altLang="en-US" dirty="0"/>
          </a:p>
          <a:p>
            <a:r>
              <a:rPr lang="zh-CN" altLang="en-US" dirty="0"/>
              <a:t> </a:t>
            </a:r>
            <a:r>
              <a:rPr lang="en-US" altLang="zh-CN" dirty="0"/>
              <a:t>•  </a:t>
            </a:r>
            <a:r>
              <a:rPr lang="zh-CN" altLang="en-US" dirty="0"/>
              <a:t>约束</a:t>
            </a:r>
            <a:r>
              <a:rPr lang="en-US" altLang="zh-CN" dirty="0"/>
              <a:t>: </a:t>
            </a:r>
            <a:r>
              <a:rPr lang="zh-CN" altLang="en-US" dirty="0"/>
              <a:t>对系统开发过程的管理限制，主要涉及经济、政治、技术和环境四个方面，具体 包括项目资源、时间、目标环境及系统本身。 	</a:t>
            </a:r>
            <a:endParaRPr lang="zh-CN" altLang="en-US" dirty="0"/>
          </a:p>
          <a:p>
            <a:r>
              <a:rPr lang="zh-CN" altLang="en-US" dirty="0"/>
              <a:t> </a:t>
            </a:r>
            <a:r>
              <a:rPr lang="en-US" altLang="zh-CN" dirty="0"/>
              <a:t>•  </a:t>
            </a:r>
            <a:r>
              <a:rPr lang="zh-CN" altLang="en-US" dirty="0"/>
              <a:t>组织规章中往往还涉及过程自动化、工作流、关系、交互等内容	</a:t>
            </a:r>
            <a:endParaRPr lang="zh-CN" altLang="en-US" dirty="0"/>
          </a:p>
          <a:p>
            <a:r>
              <a:rPr lang="zh-CN" altLang="en-US" dirty="0"/>
              <a:t></a:t>
            </a:r>
            <a:endParaRPr lang="zh-CN" altLang="en-US" dirty="0"/>
          </a:p>
          <a:p>
            <a:r>
              <a:rPr lang="zh-CN" altLang="en-US" dirty="0"/>
              <a:t>  </a:t>
            </a:r>
            <a:endParaRPr lang="en-US" altLang="zh-CN" dirty="0"/>
          </a:p>
          <a:p>
            <a:r>
              <a:rPr lang="zh-CN" altLang="en-US" dirty="0"/>
              <a:t> 分析现有系统有助于了解未来系统的工作数据	</a:t>
            </a:r>
            <a:endParaRPr lang="zh-CN" altLang="en-US" dirty="0"/>
          </a:p>
          <a:p>
            <a:r>
              <a:rPr lang="zh-CN" altLang="en-US" dirty="0"/>
              <a:t> </a:t>
            </a:r>
            <a:r>
              <a:rPr lang="en-US" altLang="zh-CN" dirty="0"/>
              <a:t>•  </a:t>
            </a:r>
            <a:r>
              <a:rPr lang="zh-CN" altLang="en-US" dirty="0"/>
              <a:t>数据对象	</a:t>
            </a:r>
            <a:endParaRPr lang="zh-CN" altLang="en-US" dirty="0"/>
          </a:p>
          <a:p>
            <a:r>
              <a:rPr lang="zh-CN" altLang="en-US" dirty="0"/>
              <a:t> </a:t>
            </a:r>
            <a:r>
              <a:rPr lang="en-US" altLang="zh-CN" dirty="0"/>
              <a:t>•  </a:t>
            </a:r>
            <a:r>
              <a:rPr lang="zh-CN" altLang="en-US" dirty="0"/>
              <a:t>数据关系	</a:t>
            </a:r>
            <a:endParaRPr lang="zh-CN" altLang="en-US" dirty="0"/>
          </a:p>
          <a:p>
            <a:r>
              <a:rPr lang="zh-CN" altLang="en-US" dirty="0"/>
              <a:t> </a:t>
            </a:r>
            <a:r>
              <a:rPr lang="en-US" altLang="zh-CN" dirty="0"/>
              <a:t>•  </a:t>
            </a:r>
            <a:r>
              <a:rPr lang="zh-CN" altLang="en-US" dirty="0"/>
              <a:t>数据库结构与系统结构	</a:t>
            </a:r>
            <a:endParaRPr lang="zh-CN" altLang="en-US" dirty="0"/>
          </a:p>
          <a:p>
            <a:r>
              <a:rPr lang="zh-CN" altLang="en-US" dirty="0"/>
              <a:t> </a:t>
            </a:r>
            <a:r>
              <a:rPr lang="en-US" altLang="zh-CN" dirty="0"/>
              <a:t>•  </a:t>
            </a:r>
            <a:r>
              <a:rPr lang="zh-CN" altLang="en-US" dirty="0"/>
              <a:t>系统报告	</a:t>
            </a:r>
            <a:endParaRPr lang="zh-CN" altLang="en-US" dirty="0"/>
          </a:p>
          <a:p>
            <a:r>
              <a:rPr lang="zh-CN" altLang="en-US" dirty="0"/>
              <a:t></a:t>
            </a:r>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Font typeface="Arial" panose="020B0604020202020204" pitchFamily="34" charset="0"/>
              <a:buNone/>
            </a:pPr>
            <a:endParaRPr lang="zh-CN" altLang="en-US" dirty="0"/>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lang="en-US" altLang="zh-CN" sz="1200" b="0" dirty="0">
              <a:solidFill>
                <a:srgbClr val="686868"/>
              </a:solidFill>
            </a:endParaRPr>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00000"/>
              </a:lnSpc>
              <a:spcBef>
                <a:spcPts val="600"/>
              </a:spcBef>
              <a:buFont typeface="Wingdings" panose="05000000000000000000" pitchFamily="2" charset="2"/>
              <a:buChar char="ü"/>
            </a:pPr>
            <a:r>
              <a:rPr lang="zh-CN" altLang="zh-CN" sz="800" dirty="0"/>
              <a:t>功能性需求</a:t>
            </a:r>
            <a:r>
              <a:rPr lang="zh-CN" altLang="en-US" sz="800" dirty="0"/>
              <a:t>：搞清系统做什么；</a:t>
            </a:r>
            <a:endParaRPr lang="zh-CN" altLang="en-US" sz="800" dirty="0"/>
          </a:p>
          <a:p>
            <a:pPr>
              <a:lnSpc>
                <a:spcPct val="100000"/>
              </a:lnSpc>
              <a:spcBef>
                <a:spcPts val="600"/>
              </a:spcBef>
              <a:buFont typeface="Wingdings" panose="05000000000000000000" pitchFamily="2" charset="2"/>
              <a:buChar char="ü"/>
            </a:pPr>
            <a:r>
              <a:rPr lang="zh-CN" altLang="en-US" sz="800" dirty="0"/>
              <a:t>非功能性需求：定义系统工作时的特性</a:t>
            </a:r>
            <a:r>
              <a:rPr lang="en-US" altLang="zh-CN" sz="800" dirty="0"/>
              <a:t>(</a:t>
            </a:r>
            <a:r>
              <a:rPr lang="zh-CN" altLang="en-US" sz="800" dirty="0"/>
              <a:t>环境、性能、可靠性、安全保密性、成本消耗、资源利用、用户接口等</a:t>
            </a:r>
            <a:r>
              <a:rPr lang="en-US" altLang="zh-CN" sz="800" dirty="0"/>
              <a:t>)</a:t>
            </a:r>
            <a:r>
              <a:rPr lang="zh-CN" altLang="en-US" sz="800" dirty="0"/>
              <a:t>；</a:t>
            </a:r>
            <a:endParaRPr lang="en-US" altLang="zh-CN" sz="800" dirty="0"/>
          </a:p>
          <a:p>
            <a:pPr>
              <a:lnSpc>
                <a:spcPct val="100000"/>
              </a:lnSpc>
              <a:spcBef>
                <a:spcPts val="600"/>
              </a:spcBef>
              <a:buFont typeface="Wingdings" panose="05000000000000000000" pitchFamily="2" charset="2"/>
              <a:buChar char="ü"/>
            </a:pPr>
            <a:endParaRPr lang="en-US" altLang="zh-CN" sz="800" dirty="0"/>
          </a:p>
          <a:p>
            <a:pPr defTabSz="914400">
              <a:lnSpc>
                <a:spcPct val="100000"/>
              </a:lnSpc>
              <a:spcBef>
                <a:spcPts val="600"/>
              </a:spcBef>
              <a:defRPr/>
            </a:pPr>
            <a:r>
              <a:rPr lang="zh-CN" altLang="en-US" sz="800" dirty="0"/>
              <a:t>需求获取的内容经过整理形成“用户需求”最终要写进“需求规格说明书”， 结果由客户确认。 </a:t>
            </a:r>
            <a:endParaRPr lang="zh-CN" altLang="en-US" sz="800" dirty="0"/>
          </a:p>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Font typeface="Arial" panose="020B0604020202020204" pitchFamily="34" charset="0"/>
              <a:buNone/>
            </a:pPr>
            <a:r>
              <a:rPr lang="zh-CN" altLang="en-US" sz="1200" b="0" dirty="0">
                <a:solidFill>
                  <a:srgbClr val="686868"/>
                </a:solidFill>
              </a:rPr>
              <a:t>可以提示学生思考回答</a:t>
            </a:r>
            <a:endParaRPr lang="zh-CN" altLang="en-US" sz="1200" b="0" dirty="0">
              <a:solidFill>
                <a:srgbClr val="686868"/>
              </a:solidFill>
            </a:endParaRPr>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Font typeface="Arial" panose="020B0604020202020204" pitchFamily="34" charset="0"/>
              <a:buNone/>
            </a:pPr>
            <a:r>
              <a:rPr lang="zh-CN" altLang="en-US" sz="1200" b="0">
                <a:solidFill>
                  <a:srgbClr val="686868"/>
                </a:solidFill>
              </a:rPr>
              <a:t>可以提示学生思考回答</a:t>
            </a:r>
            <a:endParaRPr lang="zh-CN" altLang="en-US" sz="1200" b="0">
              <a:solidFill>
                <a:srgbClr val="686868"/>
              </a:solidFill>
            </a:endParaRPr>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800" dirty="0"/>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eaLnBrk="1" hangingPunct="1">
              <a:spcBef>
                <a:spcPct val="55000"/>
              </a:spcBef>
              <a:buFont typeface="Wingdings" panose="05000000000000000000" pitchFamily="2" charset="2"/>
              <a:buNone/>
            </a:pPr>
            <a:r>
              <a:rPr lang="zh-CN" altLang="zh-CN" sz="1200" b="0" dirty="0"/>
              <a:t>（1）获得当前系统的物理模型</a:t>
            </a:r>
            <a:r>
              <a:rPr lang="zh-CN" altLang="en-US" sz="1200" b="0" dirty="0"/>
              <a:t>；</a:t>
            </a:r>
            <a:endParaRPr lang="zh-CN" altLang="zh-CN" sz="1200" b="0" dirty="0"/>
          </a:p>
          <a:p>
            <a:pPr algn="l" eaLnBrk="1" hangingPunct="1">
              <a:spcBef>
                <a:spcPct val="55000"/>
              </a:spcBef>
              <a:buFont typeface="Wingdings" panose="05000000000000000000" pitchFamily="2" charset="2"/>
              <a:buNone/>
            </a:pPr>
            <a:r>
              <a:rPr lang="zh-CN" altLang="zh-CN" sz="1200" b="0" dirty="0"/>
              <a:t>（2）抽象出当前系统的逻辑模型</a:t>
            </a:r>
            <a:r>
              <a:rPr lang="zh-CN" altLang="en-US" sz="1200" b="0" dirty="0"/>
              <a:t>；</a:t>
            </a:r>
            <a:r>
              <a:rPr lang="zh-CN" altLang="zh-CN" sz="1200" b="0" dirty="0"/>
              <a:t> </a:t>
            </a:r>
            <a:endParaRPr lang="zh-CN" altLang="zh-CN" sz="1200" b="0" dirty="0"/>
          </a:p>
          <a:p>
            <a:pPr algn="l" eaLnBrk="1" hangingPunct="1">
              <a:spcBef>
                <a:spcPct val="55000"/>
              </a:spcBef>
              <a:buFont typeface="Wingdings" panose="05000000000000000000" pitchFamily="2" charset="2"/>
              <a:buNone/>
            </a:pPr>
            <a:r>
              <a:rPr lang="zh-CN" altLang="zh-CN" sz="1200" b="0" dirty="0"/>
              <a:t>（3）建立目标系统的逻辑模型。 </a:t>
            </a:r>
            <a:endParaRPr lang="zh-CN" altLang="zh-CN" sz="1200" b="0" dirty="0"/>
          </a:p>
          <a:p>
            <a:pPr>
              <a:lnSpc>
                <a:spcPct val="100000"/>
              </a:lnSpc>
              <a:spcBef>
                <a:spcPts val="1200"/>
              </a:spcBef>
            </a:pPr>
            <a:r>
              <a:rPr lang="zh-CN" altLang="en-US" sz="2800" dirty="0"/>
              <a:t>需求建模的原则：</a:t>
            </a:r>
            <a:endParaRPr lang="en-US" altLang="zh-CN" sz="2800" dirty="0"/>
          </a:p>
          <a:p>
            <a:pPr marL="800100" lvl="1" indent="-457200">
              <a:lnSpc>
                <a:spcPct val="100000"/>
              </a:lnSpc>
              <a:spcBef>
                <a:spcPts val="1200"/>
              </a:spcBef>
              <a:buFont typeface="+mj-lt"/>
              <a:buAutoNum type="arabicPeriod"/>
            </a:pPr>
            <a:r>
              <a:rPr lang="zh-CN" altLang="zh-CN" sz="2400" dirty="0"/>
              <a:t>必须能够表达和理解问题的数据域和功能域</a:t>
            </a:r>
            <a:endParaRPr lang="zh-CN" altLang="en-US" sz="2400" dirty="0"/>
          </a:p>
          <a:p>
            <a:pPr marL="800100" lvl="1" indent="-457200">
              <a:lnSpc>
                <a:spcPct val="100000"/>
              </a:lnSpc>
              <a:spcBef>
                <a:spcPts val="1200"/>
              </a:spcBef>
              <a:buFont typeface="+mj-lt"/>
              <a:buAutoNum type="arabicPeriod"/>
            </a:pPr>
            <a:r>
              <a:rPr lang="zh-CN" altLang="zh-CN" sz="2400" dirty="0"/>
              <a:t>按自顶向下、逐层分解问题 </a:t>
            </a:r>
            <a:endParaRPr lang="zh-CN" altLang="en-US" sz="2400" dirty="0"/>
          </a:p>
          <a:p>
            <a:pPr marL="800100" lvl="1" indent="-457200">
              <a:lnSpc>
                <a:spcPct val="100000"/>
              </a:lnSpc>
              <a:spcBef>
                <a:spcPts val="1200"/>
              </a:spcBef>
              <a:buFont typeface="+mj-lt"/>
              <a:buAutoNum type="arabicPeriod"/>
            </a:pPr>
            <a:r>
              <a:rPr lang="zh-CN" altLang="zh-CN" sz="2400" dirty="0"/>
              <a:t>要给出系统的逻辑视图</a:t>
            </a:r>
            <a:endParaRPr lang="zh-CN" altLang="zh-CN" sz="2400"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zh-CN" altLang="en-US" baseline="0" dirty="0"/>
              <a:t>需求导出和分析是一个重复过程，从一个活动到另一个活动会有持续不断的反馈。</a:t>
            </a:r>
            <a:endParaRPr lang="en-US" altLang="zh-CN" baseline="0" dirty="0"/>
          </a:p>
          <a:p>
            <a:endParaRPr lang="en-US" altLang="zh-CN" dirty="0"/>
          </a:p>
          <a:p>
            <a:pPr marL="0" indent="0">
              <a:buFont typeface="Arial" panose="020B0604020202020204" pitchFamily="34" charset="0"/>
              <a:buNone/>
            </a:pPr>
            <a:endParaRPr lang="zh-CN" altLang="en-US" sz="1200" b="0" dirty="0">
              <a:solidFill>
                <a:srgbClr val="686868"/>
              </a:solidFill>
            </a:endParaRPr>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zh-CN" altLang="en-US" baseline="0"/>
              <a:t>需求导出和分析是一个重复过程，从一个活动到另一个活动会有持续不断的反馈。</a:t>
            </a:r>
            <a:endParaRPr lang="en-US" altLang="zh-CN" baseline="0"/>
          </a:p>
          <a:p>
            <a:endParaRPr lang="en-US" altLang="zh-CN"/>
          </a:p>
          <a:p>
            <a:pPr marL="0" indent="0">
              <a:buFont typeface="Arial" panose="020B0604020202020204" pitchFamily="34" charset="0"/>
              <a:buNone/>
            </a:pPr>
            <a:endParaRPr lang="zh-CN" altLang="en-US" sz="1200" b="0">
              <a:solidFill>
                <a:srgbClr val="686868"/>
              </a:solidFill>
            </a:endParaRPr>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Font typeface="Arial" panose="020B0604020202020204" pitchFamily="34" charset="0"/>
              <a:buNone/>
            </a:pPr>
            <a:endParaRPr lang="zh-CN" altLang="en-US" sz="1200" b="0">
              <a:solidFill>
                <a:srgbClr val="686868"/>
              </a:solidFill>
            </a:endParaRPr>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marR="0" lvl="0" indent="-171450" algn="l" defTabSz="914400" rtl="0" eaLnBrk="1" fontAlgn="auto" latinLnBrk="0" hangingPunct="1">
              <a:lnSpc>
                <a:spcPct val="100000"/>
              </a:lnSpc>
              <a:spcBef>
                <a:spcPct val="55000"/>
              </a:spcBef>
              <a:spcAft>
                <a:spcPts val="0"/>
              </a:spcAft>
              <a:buClrTx/>
              <a:buSzTx/>
              <a:buFont typeface="Arial" panose="020B0604020202020204" pitchFamily="34" charset="0"/>
              <a:buChar char="•"/>
              <a:defRPr/>
            </a:pPr>
            <a:r>
              <a:rPr lang="zh-CN" altLang="zh-CN" sz="1200" b="0"/>
              <a:t>需求说明书描述几乎都是自然语言，这种非形式化的语言容易出现不准确、冗余、遗漏和理解不一致等问题。对规格说明书的审查是必须</a:t>
            </a:r>
            <a:r>
              <a:rPr lang="zh-CN" altLang="en-US" sz="1200" b="0"/>
              <a:t>的，</a:t>
            </a:r>
            <a:r>
              <a:rPr lang="zh-CN" altLang="zh-CN" sz="1200" b="0"/>
              <a:t>确保需求说明准确、完整地、清晰、无二义地表达产品的功能和质量要求</a:t>
            </a:r>
            <a:r>
              <a:rPr lang="zh-CN" altLang="en-US" sz="1200" b="0"/>
              <a:t>。评审是需求分析的最后一步，通过评审后的需求文档才可以生效。</a:t>
            </a:r>
            <a:endParaRPr lang="zh-CN" altLang="zh-CN" sz="1200" b="0"/>
          </a:p>
          <a:p>
            <a:pPr marL="171450" marR="0" lvl="0" indent="-171450" algn="l" defTabSz="914400" rtl="0" eaLnBrk="1" fontAlgn="auto" latinLnBrk="0" hangingPunct="1">
              <a:lnSpc>
                <a:spcPct val="100000"/>
              </a:lnSpc>
              <a:spcBef>
                <a:spcPct val="55000"/>
              </a:spcBef>
              <a:spcAft>
                <a:spcPts val="0"/>
              </a:spcAft>
              <a:buClrTx/>
              <a:buSzTx/>
              <a:buFont typeface="Arial" panose="020B0604020202020204" pitchFamily="34" charset="0"/>
              <a:buChar char="•"/>
              <a:defRPr/>
            </a:pPr>
            <a:endParaRPr kumimoji="1" lang="en-US" altLang="zh-CN" sz="1200" b="1">
              <a:solidFill>
                <a:srgbClr val="660066"/>
              </a:solidFill>
              <a:latin typeface="隶书" panose="02010509060101010101" pitchFamily="49" charset="-122"/>
              <a:ea typeface="隶书" panose="02010509060101010101" pitchFamily="49" charset="-122"/>
            </a:endParaRPr>
          </a:p>
          <a:p>
            <a:pPr marL="171450" marR="0" lvl="0" indent="-171450" algn="l" defTabSz="914400" rtl="0" eaLnBrk="1" fontAlgn="auto" latinLnBrk="0" hangingPunct="1">
              <a:lnSpc>
                <a:spcPct val="100000"/>
              </a:lnSpc>
              <a:spcBef>
                <a:spcPct val="55000"/>
              </a:spcBef>
              <a:spcAft>
                <a:spcPts val="0"/>
              </a:spcAft>
              <a:buClrTx/>
              <a:buSzTx/>
              <a:buFont typeface="Arial" panose="020B0604020202020204" pitchFamily="34" charset="0"/>
              <a:buChar char="•"/>
              <a:defRPr/>
            </a:pPr>
            <a:endParaRPr lang="zh-CN" altLang="zh-CN" sz="1200" b="0"/>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lnSpc>
                <a:spcPct val="110000"/>
              </a:lnSpc>
              <a:spcBef>
                <a:spcPts val="1200"/>
              </a:spcBef>
            </a:pPr>
            <a:r>
              <a:rPr lang="zh-CN" altLang="en-US" sz="1200" dirty="0"/>
              <a:t>需求验证是为了确保需求说明准确、完整，表达必要的质量特点。</a:t>
            </a:r>
            <a:endParaRPr lang="en-US" altLang="zh-CN" sz="1200" dirty="0"/>
          </a:p>
          <a:p>
            <a:pPr algn="just">
              <a:lnSpc>
                <a:spcPct val="110000"/>
              </a:lnSpc>
              <a:spcBef>
                <a:spcPts val="1200"/>
              </a:spcBef>
            </a:pPr>
            <a:endParaRPr lang="en-US" altLang="zh-CN" sz="1200" dirty="0"/>
          </a:p>
          <a:p>
            <a:pPr algn="just">
              <a:lnSpc>
                <a:spcPct val="110000"/>
              </a:lnSpc>
              <a:spcBef>
                <a:spcPts val="1200"/>
              </a:spcBef>
            </a:pPr>
            <a:r>
              <a:rPr lang="zh-CN" altLang="en-US" sz="1200" dirty="0"/>
              <a:t>需求验证务必保证需求符合完整性、准确性、可行性、必要性、一致性、可跟踪性及可验证性这些良好特征。</a:t>
            </a:r>
            <a:endParaRPr lang="en-US" altLang="zh-CN" sz="1200" dirty="0"/>
          </a:p>
          <a:p>
            <a:pPr algn="just">
              <a:lnSpc>
                <a:spcPct val="110000"/>
              </a:lnSpc>
              <a:spcBef>
                <a:spcPts val="1200"/>
              </a:spcBef>
            </a:pPr>
            <a:endParaRPr lang="en-US" altLang="zh-CN" sz="1200" dirty="0"/>
          </a:p>
          <a:p>
            <a:pPr algn="just">
              <a:lnSpc>
                <a:spcPct val="110000"/>
              </a:lnSpc>
              <a:spcBef>
                <a:spcPts val="1200"/>
              </a:spcBef>
            </a:pPr>
            <a:r>
              <a:rPr lang="zh-CN" altLang="en-US" sz="1200" dirty="0"/>
              <a:t>需求规格说明提交后，开发人员要与客户对需求分析的结果进行验证，以</a:t>
            </a:r>
            <a:r>
              <a:rPr lang="en-US" altLang="zh-CN" sz="1200" dirty="0"/>
              <a:t>SRS</a:t>
            </a:r>
            <a:r>
              <a:rPr lang="zh-CN" altLang="en-US" sz="1200" dirty="0"/>
              <a:t>为输入，通过符号执行，模拟或快速原型等途径，分析需的正确性和可行性。验证过后需要进行签字确认。</a:t>
            </a:r>
            <a:endParaRPr lang="en-US" altLang="zh-CN" sz="1200" dirty="0"/>
          </a:p>
          <a:p>
            <a:pPr marL="0" indent="0">
              <a:buFont typeface="Arial" panose="020B0604020202020204" pitchFamily="34" charset="0"/>
              <a:buNone/>
            </a:pPr>
            <a:endParaRPr lang="en-US" altLang="zh-CN" sz="1200" b="0" dirty="0">
              <a:solidFill>
                <a:srgbClr val="686868"/>
              </a:solidFill>
            </a:endParaRPr>
          </a:p>
          <a:p>
            <a:pPr marL="171450" marR="0" lvl="0" indent="-171450" algn="l" defTabSz="914400" rtl="0" eaLnBrk="1" fontAlgn="auto" latinLnBrk="0" hangingPunct="1">
              <a:lnSpc>
                <a:spcPct val="100000"/>
              </a:lnSpc>
              <a:spcBef>
                <a:spcPct val="55000"/>
              </a:spcBef>
              <a:spcAft>
                <a:spcPts val="0"/>
              </a:spcAft>
              <a:buClrTx/>
              <a:buSzTx/>
              <a:buFont typeface="Arial" panose="020B0604020202020204" pitchFamily="34" charset="0"/>
              <a:buChar char="•"/>
              <a:defRPr/>
            </a:pPr>
            <a:r>
              <a:rPr kumimoji="1" lang="en-US" altLang="zh-CN" sz="1200" b="1" dirty="0" err="1">
                <a:solidFill>
                  <a:srgbClr val="660066"/>
                </a:solidFill>
                <a:latin typeface="隶书" panose="02010509060101010101" pitchFamily="49" charset="-122"/>
                <a:ea typeface="隶书" panose="02010509060101010101" pitchFamily="49" charset="-122"/>
              </a:rPr>
              <a:t>需求规格说明的质量特性</a:t>
            </a:r>
            <a:r>
              <a:rPr kumimoji="1" lang="zh-CN" altLang="en-US" sz="1200" b="1" dirty="0">
                <a:solidFill>
                  <a:srgbClr val="660066"/>
                </a:solidFill>
                <a:latin typeface="隶书" panose="02010509060101010101" pitchFamily="49" charset="-122"/>
                <a:ea typeface="隶书" panose="02010509060101010101" pitchFamily="49" charset="-122"/>
              </a:rPr>
              <a:t>：</a:t>
            </a:r>
            <a:endParaRPr kumimoji="1" lang="zh-CN" altLang="en-US" sz="1200" b="1" dirty="0">
              <a:solidFill>
                <a:srgbClr val="660066"/>
              </a:solidFill>
              <a:latin typeface="隶书" panose="02010509060101010101" pitchFamily="49" charset="-122"/>
              <a:ea typeface="隶书" panose="02010509060101010101" pitchFamily="49" charset="-122"/>
            </a:endParaRPr>
          </a:p>
          <a:p>
            <a:pPr marL="171450" indent="-171450" algn="l" eaLnBrk="1" hangingPunct="1">
              <a:spcBef>
                <a:spcPct val="55000"/>
              </a:spcBef>
              <a:buFont typeface="Arial" panose="020B0604020202020204" pitchFamily="34" charset="0"/>
              <a:buChar char="•"/>
            </a:pPr>
            <a:r>
              <a:rPr lang="zh-CN" altLang="zh-CN" sz="1200" b="0" dirty="0"/>
              <a:t>正确性：对系统功能、行为、性能等的描述必须与用户的期望相吻合，代表了用户的真正需求。</a:t>
            </a:r>
            <a:endParaRPr lang="zh-CN" altLang="zh-CN" sz="1200" b="0" dirty="0"/>
          </a:p>
          <a:p>
            <a:pPr marL="171450" indent="-171450" algn="l" eaLnBrk="1" hangingPunct="1">
              <a:spcBef>
                <a:spcPct val="55000"/>
              </a:spcBef>
              <a:buFont typeface="Arial" panose="020B0604020202020204" pitchFamily="34" charset="0"/>
              <a:buChar char="•"/>
            </a:pPr>
            <a:r>
              <a:rPr lang="zh-CN" altLang="zh-CN" sz="1200" b="0" dirty="0"/>
              <a:t>完整性：需求规格说明应该包括软件要完成的全部任务，不能遗漏任何必要的需求信息，注重用户的任务而不是系统的功能将有助于你避免不完整性</a:t>
            </a:r>
            <a:endParaRPr lang="zh-CN" altLang="zh-CN" sz="1200" b="0" dirty="0"/>
          </a:p>
          <a:p>
            <a:pPr marL="171450" indent="-171450" algn="l" eaLnBrk="1" hangingPunct="1">
              <a:spcBef>
                <a:spcPct val="55000"/>
              </a:spcBef>
              <a:buFont typeface="Arial" panose="020B0604020202020204" pitchFamily="34" charset="0"/>
              <a:buChar char="•"/>
            </a:pPr>
            <a:r>
              <a:rPr lang="zh-CN" altLang="zh-CN" sz="1200" b="0" dirty="0"/>
              <a:t> 一致性：需求规格说明对各种需求的描述不能存在矛盾，如术语使用冲突、功能和行为特性方面的矛盾以及时序上的不一致等。</a:t>
            </a:r>
            <a:endParaRPr lang="zh-CN" altLang="zh-CN" sz="1200" b="0" dirty="0"/>
          </a:p>
          <a:p>
            <a:pPr marL="171450" indent="-171450" algn="l" eaLnBrk="1" hangingPunct="1">
              <a:spcBef>
                <a:spcPct val="55000"/>
              </a:spcBef>
              <a:buFont typeface="Arial" panose="020B0604020202020204" pitchFamily="34" charset="0"/>
              <a:buChar char="•"/>
            </a:pPr>
            <a:r>
              <a:rPr lang="zh-CN" altLang="zh-CN" sz="1200" b="0" dirty="0"/>
              <a:t>可修改性：格式和组织方式应保证后续的修改能够比较容易和协调一致。我们可以使用软件工具，或者使用目录表、索引和相互参照列表等方法使软件需求规格说明更容易修改。</a:t>
            </a:r>
            <a:endParaRPr lang="zh-CN" altLang="zh-CN" sz="1200" b="0" dirty="0"/>
          </a:p>
          <a:p>
            <a:pPr marL="171450" indent="-171450" algn="l" eaLnBrk="1" hangingPunct="1">
              <a:spcBef>
                <a:spcPct val="55000"/>
              </a:spcBef>
              <a:buFont typeface="Arial" panose="020B0604020202020204" pitchFamily="34" charset="0"/>
              <a:buChar char="•"/>
            </a:pPr>
            <a:r>
              <a:rPr lang="zh-CN" altLang="zh-CN" sz="1200" b="0" dirty="0"/>
              <a:t>可跟踪性：可跟踪性意味着每项需求都能与其对应的来源、设计、源代码和测试用例联系起来。</a:t>
            </a:r>
            <a:endParaRPr lang="zh-CN" altLang="zh-CN" sz="1200" b="0" dirty="0"/>
          </a:p>
          <a:p>
            <a:pPr marL="171450" indent="-171450" algn="l" eaLnBrk="1" hangingPunct="1">
              <a:spcBef>
                <a:spcPct val="55000"/>
              </a:spcBef>
              <a:buFont typeface="Arial" panose="020B0604020202020204" pitchFamily="34" charset="0"/>
              <a:buChar char="•"/>
            </a:pPr>
            <a:r>
              <a:rPr lang="zh-CN" altLang="zh-CN" sz="1200" b="0" dirty="0"/>
              <a:t>可验证性：描述的需求都可以运用一些可行的手段对其进行验证和确认。</a:t>
            </a:r>
            <a:endParaRPr lang="zh-CN" altLang="zh-CN" sz="1200" b="0" dirty="0"/>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Font typeface="Arial" panose="020B0604020202020204" pitchFamily="34" charset="0"/>
              <a:buNone/>
            </a:pPr>
            <a:endParaRPr lang="zh-CN" altLang="en-US" sz="1200" b="0" dirty="0">
              <a:solidFill>
                <a:srgbClr val="686868"/>
              </a:solidFill>
            </a:endParaRPr>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lnSpc>
                <a:spcPct val="120000"/>
              </a:lnSpc>
              <a:spcBef>
                <a:spcPts val="1200"/>
              </a:spcBef>
            </a:pPr>
            <a:r>
              <a:rPr lang="zh-CN" altLang="en-US" sz="1200" dirty="0">
                <a:solidFill>
                  <a:srgbClr val="FF0000"/>
                </a:solidFill>
                <a:latin typeface="+mn-ea"/>
              </a:rPr>
              <a:t>需求管理的目的</a:t>
            </a:r>
            <a:r>
              <a:rPr lang="zh-CN" altLang="en-US" sz="1200" dirty="0">
                <a:latin typeface="+mn-ea"/>
              </a:rPr>
              <a:t>是在用户与开发商之间建立对需求的共同理解，维护需求与软件工作成果的一致性，并控制需求的变更，防止需求变更失去控制而导致项目发生混乱。 </a:t>
            </a:r>
            <a:endParaRPr lang="en-US" altLang="zh-CN" sz="1200" dirty="0">
              <a:latin typeface="+mn-ea"/>
            </a:endParaRPr>
          </a:p>
          <a:p>
            <a:pPr algn="just">
              <a:lnSpc>
                <a:spcPct val="120000"/>
              </a:lnSpc>
              <a:spcBef>
                <a:spcPts val="1200"/>
              </a:spcBef>
            </a:pPr>
            <a:endParaRPr lang="zh-CN" altLang="en-US" sz="1200" dirty="0">
              <a:latin typeface="+mn-ea"/>
            </a:endParaRPr>
          </a:p>
          <a:p>
            <a:pPr algn="just">
              <a:lnSpc>
                <a:spcPct val="120000"/>
              </a:lnSpc>
              <a:spcBef>
                <a:spcPts val="1200"/>
              </a:spcBef>
            </a:pPr>
            <a:r>
              <a:rPr lang="zh-CN" altLang="en-US" sz="1200" dirty="0"/>
              <a:t>需求变更控制的原则是拒绝不切实际的变更，减少变更带来的风险，防止变更范围扩大、蔓延，杜绝随意的变更申请及受理过程。</a:t>
            </a:r>
            <a:endParaRPr lang="en-US" altLang="zh-CN" sz="1200" dirty="0"/>
          </a:p>
          <a:p>
            <a:pPr marL="0" indent="0">
              <a:buFont typeface="Arial" panose="020B0604020202020204" pitchFamily="34" charset="0"/>
              <a:buNone/>
            </a:pPr>
            <a:endParaRPr lang="zh-CN" altLang="en-US" sz="1200" b="0" dirty="0">
              <a:solidFill>
                <a:srgbClr val="686868"/>
              </a:solidFill>
            </a:endParaRPr>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7" name="Rectangle 6"/>
          <p:cNvSpPr/>
          <p:nvPr userDrawn="1"/>
        </p:nvSpPr>
        <p:spPr>
          <a:xfrm>
            <a:off x="0" y="-1"/>
            <a:ext cx="9144000" cy="342900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42900" y="3720103"/>
            <a:ext cx="5829300" cy="1097280"/>
          </a:xfrm>
        </p:spPr>
        <p:txBody>
          <a:bodyPr anchor="ctr">
            <a:normAutofit/>
          </a:bodyPr>
          <a:lstStyle>
            <a:lvl1pPr algn="r">
              <a:defRPr sz="3750" spc="150" baseline="0"/>
            </a:lvl1pPr>
          </a:lstStyle>
          <a:p>
            <a:r>
              <a:rPr lang="zh-CN" altLang="en-US" dirty="0"/>
              <a:t>单击此处编辑母版标题样式</a:t>
            </a:r>
            <a:endParaRPr lang="en-US" dirty="0"/>
          </a:p>
        </p:txBody>
      </p:sp>
      <p:sp>
        <p:nvSpPr>
          <p:cNvPr id="3" name="Subtitle 2"/>
          <p:cNvSpPr>
            <a:spLocks noGrp="1"/>
          </p:cNvSpPr>
          <p:nvPr>
            <p:ph type="subTitle" idx="1" hasCustomPrompt="1"/>
          </p:nvPr>
        </p:nvSpPr>
        <p:spPr>
          <a:xfrm>
            <a:off x="6457950" y="3720103"/>
            <a:ext cx="2400300" cy="1097280"/>
          </a:xfrm>
        </p:spPr>
        <p:txBody>
          <a:bodyPr lIns="91440" rIns="91440" anchor="ctr">
            <a:normAutofit/>
          </a:bodyPr>
          <a:lstStyle>
            <a:lvl1pPr marL="0" indent="0" algn="l">
              <a:lnSpc>
                <a:spcPct val="100000"/>
              </a:lnSpc>
              <a:spcBef>
                <a:spcPts val="0"/>
              </a:spcBef>
              <a:buNone/>
              <a:defRPr sz="1350">
                <a:solidFill>
                  <a:schemeClr val="tx1">
                    <a:lumMod val="90000"/>
                    <a:lumOff val="10000"/>
                  </a:schemeClr>
                </a:solidFill>
              </a:defRPr>
            </a:lvl1pPr>
            <a:lvl2pPr marL="342900" indent="0" algn="ctr">
              <a:buNone/>
              <a:defRPr sz="1350"/>
            </a:lvl2pPr>
            <a:lvl3pPr marL="685800" indent="0" algn="ctr">
              <a:buNone/>
              <a:defRPr sz="1350"/>
            </a:lvl3pPr>
            <a:lvl4pPr marL="1028700" indent="0" algn="ctr">
              <a:buNone/>
              <a:defRPr sz="1350"/>
            </a:lvl4pPr>
            <a:lvl5pPr marL="1371600" indent="0" algn="ctr">
              <a:buNone/>
              <a:defRPr sz="1350"/>
            </a:lvl5pPr>
            <a:lvl6pPr marL="1714500" indent="0" algn="ctr">
              <a:buNone/>
              <a:defRPr sz="1350"/>
            </a:lvl6pPr>
            <a:lvl7pPr marL="2057400" indent="0" algn="ctr">
              <a:buNone/>
              <a:defRPr sz="1350"/>
            </a:lvl7pPr>
            <a:lvl8pPr marL="2400300" indent="0" algn="ctr">
              <a:buNone/>
              <a:defRPr sz="1350"/>
            </a:lvl8pPr>
            <a:lvl9pPr marL="2743200" indent="0" algn="ctr">
              <a:buNone/>
              <a:defRPr sz="1350"/>
            </a:lvl9pPr>
          </a:lstStyle>
          <a:p>
            <a:r>
              <a:rPr lang="zh-CN" altLang="en-US" dirty="0"/>
              <a:t>单击以编辑母版副标题样式</a:t>
            </a:r>
            <a:endParaRPr lang="en-US" dirty="0"/>
          </a:p>
        </p:txBody>
      </p:sp>
      <p:sp>
        <p:nvSpPr>
          <p:cNvPr id="4" name="Date Placeholder 3"/>
          <p:cNvSpPr>
            <a:spLocks noGrp="1"/>
          </p:cNvSpPr>
          <p:nvPr>
            <p:ph type="dt" sz="half" idx="10"/>
          </p:nvPr>
        </p:nvSpPr>
        <p:spPr/>
        <p:txBody>
          <a:bodyPr/>
          <a:lstStyle>
            <a:lvl1pPr algn="ctr">
              <a:defRPr sz="1600">
                <a:latin typeface="+mn-lt"/>
              </a:defRPr>
            </a:lvl1pPr>
          </a:lstStyle>
          <a:p>
            <a:fld id="{60FB8FB2-9769-4F22-8580-D43F76E3F213}" type="datetime1">
              <a:rPr lang="zh-CN" altLang="en-US" smtClean="0"/>
            </a:fld>
            <a:endParaRPr lang="zh-CN" altLang="en-US" dirty="0"/>
          </a:p>
        </p:txBody>
      </p:sp>
      <p:sp>
        <p:nvSpPr>
          <p:cNvPr id="5" name="Footer Placeholder 4"/>
          <p:cNvSpPr>
            <a:spLocks noGrp="1"/>
          </p:cNvSpPr>
          <p:nvPr>
            <p:ph type="ftr" sz="quarter" idx="11"/>
          </p:nvPr>
        </p:nvSpPr>
        <p:spPr>
          <a:xfrm>
            <a:off x="2298032" y="4853028"/>
            <a:ext cx="5760261" cy="205740"/>
          </a:xfrm>
        </p:spPr>
        <p:txBody>
          <a:bodyPr/>
          <a:lstStyle>
            <a:lvl1pPr algn="ctr">
              <a:defRPr sz="1600">
                <a:latin typeface="+mn-lt"/>
              </a:defRPr>
            </a:lvl1pPr>
          </a:lstStyle>
          <a:p>
            <a:r>
              <a:rPr lang="zh-CN" altLang="en-US"/>
              <a:t>软件工程</a:t>
            </a:r>
            <a:endParaRPr lang="zh-CN" altLang="en-US" dirty="0"/>
          </a:p>
        </p:txBody>
      </p:sp>
      <p:sp>
        <p:nvSpPr>
          <p:cNvPr id="6" name="Slide Number Placeholder 5"/>
          <p:cNvSpPr>
            <a:spLocks noGrp="1"/>
          </p:cNvSpPr>
          <p:nvPr>
            <p:ph type="sldNum" sz="quarter" idx="12"/>
          </p:nvPr>
        </p:nvSpPr>
        <p:spPr/>
        <p:txBody>
          <a:bodyPr/>
          <a:lstStyle>
            <a:lvl1pPr algn="ctr">
              <a:defRPr sz="1600">
                <a:latin typeface="+mn-lt"/>
              </a:defRPr>
            </a:lvl1pPr>
          </a:lstStyle>
          <a:p>
            <a:fld id="{F528F39D-B5E5-4CA7-906C-979D5A62978D}" type="slidenum">
              <a:rPr lang="zh-CN" altLang="en-US" smtClean="0"/>
            </a:fld>
            <a:endParaRPr lang="zh-CN" altLang="en-US"/>
          </a:p>
        </p:txBody>
      </p:sp>
      <p:cxnSp>
        <p:nvCxnSpPr>
          <p:cNvPr id="8" name="Straight Connector 7"/>
          <p:cNvCxnSpPr/>
          <p:nvPr/>
        </p:nvCxnSpPr>
        <p:spPr>
          <a:xfrm flipV="1">
            <a:off x="6290132" y="3948080"/>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342900" y="114820"/>
            <a:ext cx="692368" cy="692368"/>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单击此处编辑母版标题样式</a:t>
            </a:r>
            <a:endParaRPr lang="en-US" dirty="0"/>
          </a:p>
        </p:txBody>
      </p:sp>
      <p:sp>
        <p:nvSpPr>
          <p:cNvPr id="3" name="Content Placeholder 2"/>
          <p:cNvSpPr>
            <a:spLocks noGrp="1"/>
          </p:cNvSpPr>
          <p:nvPr>
            <p:ph idx="1" hasCustomPrompt="1"/>
          </p:nvPr>
        </p:nvSpPr>
        <p:spPr/>
        <p:txBody>
          <a:bodyPr/>
          <a:lstStyle>
            <a:lvl3pPr marL="1080135" indent="-288290">
              <a:buFont typeface="Wingdings 3" panose="05040102010807070707" pitchFamily="18" charset="2"/>
              <a:buChar char=""/>
              <a:defRPr/>
            </a:lvl3pPr>
            <a:lvl4pPr marL="1259840" indent="-288290">
              <a:buFont typeface="Wingdings 3" panose="05040102010807070707" pitchFamily="18" charset="2"/>
              <a:buChar char=""/>
              <a:defRPr/>
            </a:lvl4pPr>
            <a:lvl5pPr marL="1440180" indent="-288290">
              <a:buFont typeface="Wingdings 3" panose="05040102010807070707" pitchFamily="18" charset="2"/>
              <a:buChar char=""/>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Date Placeholder 3"/>
          <p:cNvSpPr>
            <a:spLocks noGrp="1"/>
          </p:cNvSpPr>
          <p:nvPr>
            <p:ph type="dt" sz="half" idx="10"/>
          </p:nvPr>
        </p:nvSpPr>
        <p:spPr/>
        <p:txBody>
          <a:bodyPr/>
          <a:lstStyle>
            <a:lvl1pPr algn="ctr">
              <a:defRPr sz="1600" b="0">
                <a:solidFill>
                  <a:schemeClr val="bg1"/>
                </a:solidFill>
                <a:latin typeface="+mn-lt"/>
              </a:defRPr>
            </a:lvl1pPr>
          </a:lstStyle>
          <a:p>
            <a:fld id="{D7326FFE-7CCA-4C0D-B453-625569992FBB}" type="datetime1">
              <a:rPr lang="zh-CN" altLang="en-US" smtClean="0"/>
            </a:fld>
            <a:endParaRPr lang="zh-CN" altLang="en-US" dirty="0"/>
          </a:p>
        </p:txBody>
      </p:sp>
      <p:sp>
        <p:nvSpPr>
          <p:cNvPr id="5" name="Footer Placeholder 4"/>
          <p:cNvSpPr>
            <a:spLocks noGrp="1"/>
          </p:cNvSpPr>
          <p:nvPr>
            <p:ph type="ftr" sz="quarter" idx="11"/>
          </p:nvPr>
        </p:nvSpPr>
        <p:spPr>
          <a:xfrm>
            <a:off x="2383703" y="4853028"/>
            <a:ext cx="5674590" cy="205740"/>
          </a:xfrm>
        </p:spPr>
        <p:txBody>
          <a:bodyPr/>
          <a:lstStyle>
            <a:lvl1pPr algn="ctr">
              <a:defRPr sz="1600" b="0">
                <a:solidFill>
                  <a:schemeClr val="bg1"/>
                </a:solidFill>
                <a:latin typeface="+mn-lt"/>
              </a:defRPr>
            </a:lvl1pPr>
          </a:lstStyle>
          <a:p>
            <a:r>
              <a:rPr lang="zh-CN" altLang="en-US" dirty="0"/>
              <a:t>软件工程</a:t>
            </a:r>
            <a:endParaRPr lang="zh-CN" altLang="en-US" dirty="0"/>
          </a:p>
        </p:txBody>
      </p:sp>
      <p:sp>
        <p:nvSpPr>
          <p:cNvPr id="6" name="Slide Number Placeholder 5"/>
          <p:cNvSpPr>
            <a:spLocks noGrp="1"/>
          </p:cNvSpPr>
          <p:nvPr>
            <p:ph type="sldNum" sz="quarter" idx="12"/>
          </p:nvPr>
        </p:nvSpPr>
        <p:spPr/>
        <p:txBody>
          <a:bodyPr/>
          <a:lstStyle>
            <a:lvl1pPr algn="ctr">
              <a:defRPr sz="1600" b="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1095958" y="-12032"/>
            <a:ext cx="7882609" cy="860498"/>
          </a:xfrm>
        </p:spPr>
        <p:txBody>
          <a:bodyPr/>
          <a:lstStyle/>
          <a:p>
            <a:r>
              <a:rPr lang="zh-CN" altLang="en-US" dirty="0"/>
              <a:t>单击此处编辑母版标题样式</a:t>
            </a:r>
            <a:endParaRPr lang="en-US" dirty="0"/>
          </a:p>
        </p:txBody>
      </p:sp>
      <p:sp>
        <p:nvSpPr>
          <p:cNvPr id="3" name="Content Placeholder 2"/>
          <p:cNvSpPr>
            <a:spLocks noGrp="1"/>
          </p:cNvSpPr>
          <p:nvPr>
            <p:ph sz="half" idx="1" hasCustomPrompt="1"/>
          </p:nvPr>
        </p:nvSpPr>
        <p:spPr>
          <a:xfrm>
            <a:off x="768096" y="969475"/>
            <a:ext cx="3566160" cy="3762546"/>
          </a:xfrm>
        </p:spPr>
        <p:txBody>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Content Placeholder 3"/>
          <p:cNvSpPr>
            <a:spLocks noGrp="1"/>
          </p:cNvSpPr>
          <p:nvPr>
            <p:ph sz="half" idx="2" hasCustomPrompt="1"/>
          </p:nvPr>
        </p:nvSpPr>
        <p:spPr>
          <a:xfrm>
            <a:off x="4491990" y="969473"/>
            <a:ext cx="3566160" cy="3762547"/>
          </a:xfrm>
        </p:spPr>
        <p:txBody>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5" name="Date Placeholder 4"/>
          <p:cNvSpPr>
            <a:spLocks noGrp="1"/>
          </p:cNvSpPr>
          <p:nvPr>
            <p:ph type="dt" sz="half" idx="10"/>
          </p:nvPr>
        </p:nvSpPr>
        <p:spPr/>
        <p:txBody>
          <a:bodyPr/>
          <a:lstStyle>
            <a:lvl1pPr algn="ctr">
              <a:defRPr sz="1600">
                <a:solidFill>
                  <a:schemeClr val="bg1"/>
                </a:solidFill>
                <a:latin typeface="+mn-lt"/>
              </a:defRPr>
            </a:lvl1pPr>
          </a:lstStyle>
          <a:p>
            <a:fld id="{B74AB904-11F0-40D2-A521-063F99E152E4}" type="datetime1">
              <a:rPr lang="zh-CN" altLang="en-US" smtClean="0"/>
            </a:fld>
            <a:endParaRPr lang="zh-CN" altLang="en-US" dirty="0"/>
          </a:p>
        </p:txBody>
      </p:sp>
      <p:sp>
        <p:nvSpPr>
          <p:cNvPr id="6" name="Footer Placeholder 5"/>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a:p>
        </p:txBody>
      </p:sp>
      <p:sp>
        <p:nvSpPr>
          <p:cNvPr id="7" name="Slide Number Placeholder 6"/>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a:xfrm>
            <a:off x="1080918" y="0"/>
            <a:ext cx="7290054" cy="848467"/>
          </a:xfrm>
        </p:spPr>
        <p:txBody>
          <a:bodyPr/>
          <a:lstStyle/>
          <a:p>
            <a:r>
              <a:rPr lang="zh-CN" altLang="en-US" dirty="0"/>
              <a:t>单击此处编辑母版标题样式</a:t>
            </a:r>
            <a:endParaRPr lang="en-US" dirty="0"/>
          </a:p>
        </p:txBody>
      </p:sp>
      <p:sp>
        <p:nvSpPr>
          <p:cNvPr id="3" name="Text Placeholder 2"/>
          <p:cNvSpPr>
            <a:spLocks noGrp="1"/>
          </p:cNvSpPr>
          <p:nvPr>
            <p:ph type="body" idx="1" hasCustomPrompt="1"/>
          </p:nvPr>
        </p:nvSpPr>
        <p:spPr>
          <a:xfrm>
            <a:off x="768096" y="993491"/>
            <a:ext cx="3566160" cy="617220"/>
          </a:xfrm>
        </p:spPr>
        <p:txBody>
          <a:bodyPr lIns="137160" rIns="137160" anchor="ctr">
            <a:normAutofit/>
          </a:bodyPr>
          <a:lstStyle>
            <a:lvl1pPr marL="0" indent="0">
              <a:spcBef>
                <a:spcPts val="0"/>
              </a:spcBef>
              <a:spcAft>
                <a:spcPts val="0"/>
              </a:spcAft>
              <a:buNone/>
              <a:defRPr sz="1725" b="0" cap="none" baseline="0">
                <a:solidFill>
                  <a:schemeClr val="accent2">
                    <a:lumMod val="75000"/>
                  </a:schemeClr>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768096" y="1584605"/>
            <a:ext cx="3566160" cy="2506179"/>
          </a:xfrm>
        </p:spPr>
        <p:txBody>
          <a:bodyPr lIns="45720" rIns="4572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4491990" y="993491"/>
            <a:ext cx="3566160" cy="617220"/>
          </a:xfrm>
        </p:spPr>
        <p:txBody>
          <a:bodyPr lIns="137160" rIns="137160" anchor="ctr">
            <a:normAutofit/>
          </a:bodyPr>
          <a:lstStyle>
            <a:lvl1pPr marL="0" indent="0">
              <a:spcBef>
                <a:spcPts val="0"/>
              </a:spcBef>
              <a:spcAft>
                <a:spcPts val="0"/>
              </a:spcAft>
              <a:buNone/>
              <a:defRPr lang="en-US" sz="1725" b="0" kern="1200" cap="none" baseline="0" dirty="0">
                <a:solidFill>
                  <a:schemeClr val="accent2">
                    <a:lumMod val="75000"/>
                  </a:schemeClr>
                </a:solidFill>
                <a:latin typeface="+mn-lt"/>
                <a:ea typeface="+mn-ea"/>
                <a:cs typeface="+mn-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marL="0" lvl="0" indent="0" algn="l" defTabSz="685800" rtl="0" eaLnBrk="1" latinLnBrk="0" hangingPunct="1">
              <a:lnSpc>
                <a:spcPct val="90000"/>
              </a:lnSpc>
              <a:spcBef>
                <a:spcPts val="1350"/>
              </a:spcBef>
              <a:buNone/>
            </a:pPr>
            <a:r>
              <a:rPr lang="zh-CN" altLang="en-US"/>
              <a:t>编辑母版文本样式</a:t>
            </a:r>
            <a:endParaRPr lang="zh-CN" altLang="en-US"/>
          </a:p>
        </p:txBody>
      </p:sp>
      <p:sp>
        <p:nvSpPr>
          <p:cNvPr id="6" name="Content Placeholder 5"/>
          <p:cNvSpPr>
            <a:spLocks noGrp="1"/>
          </p:cNvSpPr>
          <p:nvPr>
            <p:ph sz="quarter" idx="4" hasCustomPrompt="1"/>
          </p:nvPr>
        </p:nvSpPr>
        <p:spPr>
          <a:xfrm>
            <a:off x="4491990" y="1584605"/>
            <a:ext cx="3566160" cy="2506179"/>
          </a:xfrm>
        </p:spPr>
        <p:txBody>
          <a:bodyPr lIns="45720" rIns="4572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lvl1pPr algn="ctr">
              <a:defRPr sz="1600">
                <a:solidFill>
                  <a:schemeClr val="bg1"/>
                </a:solidFill>
                <a:latin typeface="+mn-lt"/>
              </a:defRPr>
            </a:lvl1pPr>
          </a:lstStyle>
          <a:p>
            <a:fld id="{0529599E-9530-48C5-9CAF-172E1B800D9B}" type="datetime1">
              <a:rPr lang="zh-CN" altLang="en-US" smtClean="0"/>
            </a:fld>
            <a:endParaRPr lang="zh-CN" altLang="en-US"/>
          </a:p>
        </p:txBody>
      </p:sp>
      <p:sp>
        <p:nvSpPr>
          <p:cNvPr id="8" name="Footer Placeholder 7"/>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a:p>
        </p:txBody>
      </p:sp>
      <p:sp>
        <p:nvSpPr>
          <p:cNvPr id="9" name="Slide Number Placeholder 8"/>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algn="ctr">
              <a:defRPr sz="1600">
                <a:solidFill>
                  <a:schemeClr val="bg1"/>
                </a:solidFill>
                <a:latin typeface="+mn-lt"/>
              </a:defRPr>
            </a:lvl1pPr>
          </a:lstStyle>
          <a:p>
            <a:fld id="{5902FD77-8323-485D-87E2-91A0E9C84954}" type="datetime1">
              <a:rPr lang="zh-CN" altLang="en-US" smtClean="0"/>
            </a:fld>
            <a:endParaRPr lang="zh-CN" altLang="en-US"/>
          </a:p>
        </p:txBody>
      </p:sp>
      <p:sp>
        <p:nvSpPr>
          <p:cNvPr id="4" name="Footer Placeholder 3"/>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a:p>
        </p:txBody>
      </p:sp>
      <p:sp>
        <p:nvSpPr>
          <p:cNvPr id="5" name="Slide Number Placeholder 4"/>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p:spPr>
        <p:txBody>
          <a:bodyPr anchor="b"/>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hasCustomPrompt="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lvl1pPr algn="ctr">
              <a:defRPr sz="1600">
                <a:solidFill>
                  <a:schemeClr val="bg1"/>
                </a:solidFill>
                <a:latin typeface="+mn-lt"/>
              </a:defRPr>
            </a:lvl1pPr>
          </a:lstStyle>
          <a:p>
            <a:fld id="{F8EDE902-01B3-453F-A2EE-45228A659E9E}" type="datetime1">
              <a:rPr lang="zh-CN" altLang="en-US" smtClean="0"/>
            </a:fld>
            <a:endParaRPr lang="zh-CN" altLang="en-US"/>
          </a:p>
        </p:txBody>
      </p:sp>
      <p:sp>
        <p:nvSpPr>
          <p:cNvPr id="5"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dirty="0"/>
              <a:t>软件工程</a:t>
            </a:r>
            <a:endParaRPr lang="zh-CN" altLang="en-US" dirty="0"/>
          </a:p>
        </p:txBody>
      </p:sp>
      <p:sp>
        <p:nvSpPr>
          <p:cNvPr id="6" name="灯片编号占位符 5"/>
          <p:cNvSpPr>
            <a:spLocks noGrp="1"/>
          </p:cNvSpPr>
          <p:nvPr>
            <p:ph type="sldNum" sz="quarter" idx="12"/>
          </p:nvPr>
        </p:nvSpPr>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userDrawn="1">
  <p:cSld name="1_节标题">
    <p:spTree>
      <p:nvGrpSpPr>
        <p:cNvPr id="1" name=""/>
        <p:cNvGrpSpPr/>
        <p:nvPr/>
      </p:nvGrpSpPr>
      <p:grpSpPr>
        <a:xfrm>
          <a:off x="0" y="0"/>
          <a:ext cx="0" cy="0"/>
          <a:chOff x="0" y="0"/>
          <a:chExt cx="0" cy="0"/>
        </a:xfrm>
      </p:grpSpPr>
      <p:sp>
        <p:nvSpPr>
          <p:cNvPr id="29" name="Rectangle 6"/>
          <p:cNvSpPr/>
          <p:nvPr userDrawn="1"/>
        </p:nvSpPr>
        <p:spPr>
          <a:xfrm>
            <a:off x="0" y="-23309"/>
            <a:ext cx="9144000" cy="80343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6"/>
          <p:cNvSpPr/>
          <p:nvPr userDrawn="1"/>
        </p:nvSpPr>
        <p:spPr>
          <a:xfrm>
            <a:off x="0" y="4647686"/>
            <a:ext cx="9144000" cy="49581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日期占位符 3"/>
          <p:cNvSpPr>
            <a:spLocks noGrp="1"/>
          </p:cNvSpPr>
          <p:nvPr>
            <p:ph type="dt" sz="half" idx="10"/>
          </p:nvPr>
        </p:nvSpPr>
        <p:spPr/>
        <p:txBody>
          <a:bodyPr/>
          <a:lstStyle>
            <a:lvl1pPr algn="ctr">
              <a:defRPr sz="1600">
                <a:solidFill>
                  <a:schemeClr val="bg1"/>
                </a:solidFill>
                <a:latin typeface="+mn-lt"/>
              </a:defRPr>
            </a:lvl1pPr>
          </a:lstStyle>
          <a:p>
            <a:fld id="{DAEA8122-0D78-4844-A578-3876484268E6}" type="datetime1">
              <a:rPr lang="zh-CN" altLang="en-US" smtClean="0"/>
            </a:fld>
            <a:endParaRPr lang="zh-CN" altLang="en-US" dirty="0"/>
          </a:p>
        </p:txBody>
      </p:sp>
      <p:sp>
        <p:nvSpPr>
          <p:cNvPr id="5"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dirty="0"/>
          </a:p>
        </p:txBody>
      </p:sp>
      <p:pic>
        <p:nvPicPr>
          <p:cNvPr id="8" name="图片 7"/>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28342" y="-14837"/>
            <a:ext cx="692368" cy="692368"/>
          </a:xfrm>
          <a:prstGeom prst="rect">
            <a:avLst/>
          </a:prstGeom>
        </p:spPr>
      </p:pic>
      <p:cxnSp>
        <p:nvCxnSpPr>
          <p:cNvPr id="9" name="Straight Connector 6"/>
          <p:cNvCxnSpPr/>
          <p:nvPr userDrawn="1"/>
        </p:nvCxnSpPr>
        <p:spPr>
          <a:xfrm flipV="1">
            <a:off x="574526" y="677531"/>
            <a:ext cx="0" cy="6858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userDrawn="1"/>
        </p:nvCxnSpPr>
        <p:spPr>
          <a:xfrm>
            <a:off x="4223189" y="780125"/>
            <a:ext cx="0" cy="3867561"/>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3" name="椭圆 22"/>
          <p:cNvSpPr/>
          <p:nvPr userDrawn="1"/>
        </p:nvSpPr>
        <p:spPr>
          <a:xfrm>
            <a:off x="835829" y="1395230"/>
            <a:ext cx="1992037" cy="1992037"/>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4" name="MH_Others_1"/>
          <p:cNvSpPr txBox="1"/>
          <p:nvPr userDrawn="1">
            <p:custDataLst>
              <p:tags r:id="rId3"/>
            </p:custDataLst>
          </p:nvPr>
        </p:nvSpPr>
        <p:spPr>
          <a:xfrm>
            <a:off x="1448688" y="1467661"/>
            <a:ext cx="1286564" cy="1847174"/>
          </a:xfrm>
          <a:prstGeom prst="rect">
            <a:avLst/>
          </a:prstGeom>
          <a:noFill/>
        </p:spPr>
        <p:txBody>
          <a:bodyPr wrap="square" lIns="0" tIns="0" rIns="0" bIns="0" rtlCol="0" anchor="ctr" anchorCtr="0">
            <a:noAutofit/>
          </a:bodyPr>
          <a:lstStyle/>
          <a:p>
            <a:pPr algn="ctr"/>
            <a:r>
              <a:rPr lang="zh-CN" altLang="en-US"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rPr>
              <a:t>目</a:t>
            </a:r>
            <a:endParaRPr lang="en-US" altLang="zh-CN"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a:p>
            <a:pPr algn="ctr"/>
            <a:r>
              <a:rPr lang="zh-CN" altLang="en-US"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rPr>
              <a:t>录</a:t>
            </a:r>
            <a:endParaRPr lang="zh-CN" altLang="en-US"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25" name="MH_Others_2"/>
          <p:cNvSpPr txBox="1"/>
          <p:nvPr userDrawn="1">
            <p:custDataLst>
              <p:tags r:id="rId4"/>
            </p:custDataLst>
          </p:nvPr>
        </p:nvSpPr>
        <p:spPr>
          <a:xfrm rot="5400000">
            <a:off x="589962" y="2191193"/>
            <a:ext cx="1932333" cy="400110"/>
          </a:xfrm>
          <a:prstGeom prst="rect">
            <a:avLst/>
          </a:prstGeom>
          <a:noFill/>
        </p:spPr>
        <p:txBody>
          <a:bodyPr wrap="square">
            <a:spAutoFit/>
          </a:bodyPr>
          <a:lstStyle/>
          <a:p>
            <a:pPr algn="ctr">
              <a:defRPr/>
            </a:pPr>
            <a:r>
              <a:rPr lang="en-US" altLang="zh-CN" sz="2000" dirty="0">
                <a:solidFill>
                  <a:schemeClr val="bg1"/>
                </a:solidFill>
                <a:latin typeface="Arial" panose="020B0604020202020204" pitchFamily="34" charset="0"/>
                <a:ea typeface="微软雅黑" panose="020B0503020204020204" pitchFamily="34" charset="-122"/>
                <a:sym typeface="Arial" panose="020B0604020202020204" pitchFamily="34" charset="0"/>
              </a:rPr>
              <a:t>CONTENTS</a:t>
            </a:r>
            <a:endParaRPr lang="zh-CN" altLang="en-US" sz="20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7" name="Rectangle 6"/>
          <p:cNvSpPr/>
          <p:nvPr userDrawn="1"/>
        </p:nvSpPr>
        <p:spPr>
          <a:xfrm>
            <a:off x="0" y="1342074"/>
            <a:ext cx="9144000" cy="3801427"/>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标题 1"/>
          <p:cNvSpPr>
            <a:spLocks noGrp="1"/>
          </p:cNvSpPr>
          <p:nvPr>
            <p:ph type="title" hasCustomPrompt="1"/>
          </p:nvPr>
        </p:nvSpPr>
        <p:spPr>
          <a:xfrm>
            <a:off x="952609" y="385011"/>
            <a:ext cx="7886700" cy="935851"/>
          </a:xfrm>
        </p:spPr>
        <p:txBody>
          <a:bodyPr anchor="b">
            <a:normAutofit/>
          </a:bodyPr>
          <a:lstStyle>
            <a:lvl1pPr>
              <a:defRPr sz="4000">
                <a:solidFill>
                  <a:schemeClr val="tx2"/>
                </a:solidFill>
              </a:defRPr>
            </a:lvl1pPr>
          </a:lstStyle>
          <a:p>
            <a:r>
              <a:rPr lang="zh-CN" altLang="en-US" dirty="0"/>
              <a:t>编辑母版标</a:t>
            </a:r>
            <a:endParaRPr lang="zh-CN" altLang="en-US" dirty="0"/>
          </a:p>
        </p:txBody>
      </p:sp>
      <p:sp>
        <p:nvSpPr>
          <p:cNvPr id="3" name="文本占位符 2"/>
          <p:cNvSpPr>
            <a:spLocks noGrp="1"/>
          </p:cNvSpPr>
          <p:nvPr>
            <p:ph type="body" idx="1" hasCustomPrompt="1"/>
          </p:nvPr>
        </p:nvSpPr>
        <p:spPr>
          <a:xfrm>
            <a:off x="768096" y="1506009"/>
            <a:ext cx="7886700" cy="3090054"/>
          </a:xfrm>
        </p:spPr>
        <p:txBody>
          <a:bodyPr>
            <a:normAutofit/>
          </a:bodyPr>
          <a:lstStyle>
            <a:lvl1pPr marL="0" indent="0">
              <a:lnSpc>
                <a:spcPct val="120000"/>
              </a:lnSpc>
              <a:spcBef>
                <a:spcPts val="1200"/>
              </a:spcBef>
              <a:spcAft>
                <a:spcPts val="0"/>
              </a:spcAft>
              <a:buNone/>
              <a:defRPr sz="2800" b="0">
                <a:solidFill>
                  <a:schemeClr val="bg1"/>
                </a:solidFill>
                <a:latin typeface="+mj-ea"/>
                <a:ea typeface="+mj-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编辑母版文本样式</a:t>
            </a:r>
            <a:endParaRPr lang="zh-CN" altLang="en-US" dirty="0"/>
          </a:p>
        </p:txBody>
      </p:sp>
      <p:sp>
        <p:nvSpPr>
          <p:cNvPr id="4" name="日期占位符 3"/>
          <p:cNvSpPr>
            <a:spLocks noGrp="1"/>
          </p:cNvSpPr>
          <p:nvPr>
            <p:ph type="dt" sz="half" idx="10"/>
          </p:nvPr>
        </p:nvSpPr>
        <p:spPr/>
        <p:txBody>
          <a:bodyPr/>
          <a:lstStyle>
            <a:lvl1pPr algn="ctr">
              <a:defRPr sz="1600">
                <a:solidFill>
                  <a:schemeClr val="bg1"/>
                </a:solidFill>
                <a:latin typeface="+mn-lt"/>
              </a:defRPr>
            </a:lvl1pPr>
          </a:lstStyle>
          <a:p>
            <a:fld id="{FE1C514A-AFAF-433D-949D-3F3495E7683C}" type="datetime1">
              <a:rPr lang="zh-CN" altLang="en-US" smtClean="0"/>
            </a:fld>
            <a:endParaRPr lang="zh-CN" altLang="en-US" dirty="0"/>
          </a:p>
        </p:txBody>
      </p:sp>
      <p:sp>
        <p:nvSpPr>
          <p:cNvPr id="5"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dirty="0"/>
              <a:t>软件工程</a:t>
            </a:r>
            <a:endParaRPr lang="zh-CN" altLang="en-US" dirty="0"/>
          </a:p>
        </p:txBody>
      </p:sp>
      <p:sp>
        <p:nvSpPr>
          <p:cNvPr id="6" name="灯片编号占位符 5"/>
          <p:cNvSpPr>
            <a:spLocks noGrp="1"/>
          </p:cNvSpPr>
          <p:nvPr>
            <p:ph type="sldNum" sz="quarter" idx="12"/>
          </p:nvPr>
        </p:nvSpPr>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a:p>
        </p:txBody>
      </p:sp>
      <p:pic>
        <p:nvPicPr>
          <p:cNvPr id="8" name="图片 7"/>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60241" y="17062"/>
            <a:ext cx="692368" cy="692368"/>
          </a:xfrm>
          <a:prstGeom prst="rect">
            <a:avLst/>
          </a:prstGeom>
        </p:spPr>
      </p:pic>
      <p:cxnSp>
        <p:nvCxnSpPr>
          <p:cNvPr id="9" name="Straight Connector 6"/>
          <p:cNvCxnSpPr/>
          <p:nvPr userDrawn="1"/>
        </p:nvCxnSpPr>
        <p:spPr>
          <a:xfrm flipV="1">
            <a:off x="606425" y="649706"/>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lgn="ctr">
              <a:defRPr sz="1600">
                <a:solidFill>
                  <a:schemeClr val="bg1"/>
                </a:solidFill>
                <a:latin typeface="+mn-lt"/>
              </a:defRPr>
            </a:lvl1pPr>
          </a:lstStyle>
          <a:p>
            <a:fld id="{9865EC83-5FAA-4FE9-BB65-5544193D6B0B}" type="datetime1">
              <a:rPr lang="zh-CN" altLang="en-US" smtClean="0"/>
            </a:fld>
            <a:endParaRPr lang="zh-CN" altLang="en-US"/>
          </a:p>
        </p:txBody>
      </p:sp>
      <p:sp>
        <p:nvSpPr>
          <p:cNvPr id="3" name="页脚占位符 2"/>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a:p>
        </p:txBody>
      </p:sp>
      <p:sp>
        <p:nvSpPr>
          <p:cNvPr id="4" name="灯片编号占位符 3"/>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4_标题幻灯片">
    <p:spTree>
      <p:nvGrpSpPr>
        <p:cNvPr id="1" name=""/>
        <p:cNvGrpSpPr/>
        <p:nvPr/>
      </p:nvGrpSpPr>
      <p:grpSpPr>
        <a:xfrm>
          <a:off x="0" y="0"/>
          <a:ext cx="0" cy="0"/>
          <a:chOff x="0" y="0"/>
          <a:chExt cx="0" cy="0"/>
        </a:xfrm>
      </p:grpSpPr>
      <p:sp>
        <p:nvSpPr>
          <p:cNvPr id="120" name="文本框 119"/>
          <p:cNvSpPr txBox="1"/>
          <p:nvPr userDrawn="1"/>
        </p:nvSpPr>
        <p:spPr>
          <a:xfrm>
            <a:off x="4264202" y="2007508"/>
            <a:ext cx="4241369" cy="1223412"/>
          </a:xfrm>
          <a:prstGeom prst="rect">
            <a:avLst/>
          </a:prstGeom>
          <a:noFill/>
        </p:spPr>
        <p:txBody>
          <a:bodyPr wrap="square" rtlCol="0" anchor="ctr">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lvl="0">
              <a:defRPr sz="11500" spc="50">
                <a:ln w="11430"/>
                <a:solidFill>
                  <a:srgbClr val="008EE6"/>
                </a:solidFill>
                <a:effectLst>
                  <a:outerShdw blurRad="38100" dist="38100" dir="2700000" algn="tl">
                    <a:srgbClr val="000000">
                      <a:alpha val="43137"/>
                    </a:srgbClr>
                  </a:outerShdw>
                </a:effectLst>
                <a:latin typeface="华康俪金黑W8(P)" pitchFamily="34" charset="-122"/>
                <a:ea typeface="华康俪金黑W8(P)" pitchFamily="34" charset="-122"/>
                <a:cs typeface="经典繁仿黑" pitchFamily="49" charset="-122"/>
              </a:defRPr>
            </a:lvl1pPr>
          </a:lstStyle>
          <a:p>
            <a:pPr lvl="0"/>
            <a:r>
              <a:rPr lang="zh-CN" altLang="en-US" sz="7350" dirty="0">
                <a:solidFill>
                  <a:schemeClr val="tx1">
                    <a:lumMod val="65000"/>
                    <a:lumOff val="35000"/>
                  </a:schemeClr>
                </a:solidFill>
              </a:rPr>
              <a:t>谢谢聆听</a:t>
            </a:r>
            <a:endParaRPr lang="en-US" altLang="zh-CN" sz="7350" dirty="0">
              <a:solidFill>
                <a:schemeClr val="tx1">
                  <a:lumMod val="65000"/>
                  <a:lumOff val="35000"/>
                </a:schemeClr>
              </a:solidFill>
            </a:endParaRPr>
          </a:p>
        </p:txBody>
      </p:sp>
      <p:grpSp>
        <p:nvGrpSpPr>
          <p:cNvPr id="4" name="组合 3"/>
          <p:cNvGrpSpPr/>
          <p:nvPr userDrawn="1"/>
        </p:nvGrpSpPr>
        <p:grpSpPr>
          <a:xfrm>
            <a:off x="833860" y="1704155"/>
            <a:ext cx="3193793" cy="2085294"/>
            <a:chOff x="705272" y="1639861"/>
            <a:chExt cx="3193793" cy="2085294"/>
          </a:xfrm>
        </p:grpSpPr>
        <p:grpSp>
          <p:nvGrpSpPr>
            <p:cNvPr id="2" name="组合 1"/>
            <p:cNvGrpSpPr/>
            <p:nvPr userDrawn="1"/>
          </p:nvGrpSpPr>
          <p:grpSpPr>
            <a:xfrm>
              <a:off x="705272" y="1639861"/>
              <a:ext cx="3193793" cy="2085294"/>
              <a:chOff x="721633" y="1980294"/>
              <a:chExt cx="3233738" cy="2111375"/>
            </a:xfrm>
          </p:grpSpPr>
          <p:sp>
            <p:nvSpPr>
              <p:cNvPr id="9" name="Freeform 148"/>
              <p:cNvSpPr/>
              <p:nvPr userDrawn="1"/>
            </p:nvSpPr>
            <p:spPr bwMode="auto">
              <a:xfrm>
                <a:off x="721633" y="1980294"/>
                <a:ext cx="3233738" cy="2111375"/>
              </a:xfrm>
              <a:custGeom>
                <a:avLst/>
                <a:gdLst>
                  <a:gd name="T0" fmla="*/ 778 w 861"/>
                  <a:gd name="T1" fmla="*/ 437 h 562"/>
                  <a:gd name="T2" fmla="*/ 778 w 861"/>
                  <a:gd name="T3" fmla="*/ 21 h 562"/>
                  <a:gd name="T4" fmla="*/ 756 w 861"/>
                  <a:gd name="T5" fmla="*/ 0 h 562"/>
                  <a:gd name="T6" fmla="*/ 105 w 861"/>
                  <a:gd name="T7" fmla="*/ 0 h 562"/>
                  <a:gd name="T8" fmla="*/ 84 w 861"/>
                  <a:gd name="T9" fmla="*/ 21 h 562"/>
                  <a:gd name="T10" fmla="*/ 84 w 861"/>
                  <a:gd name="T11" fmla="*/ 436 h 562"/>
                  <a:gd name="T12" fmla="*/ 0 w 861"/>
                  <a:gd name="T13" fmla="*/ 530 h 562"/>
                  <a:gd name="T14" fmla="*/ 24 w 861"/>
                  <a:gd name="T15" fmla="*/ 562 h 562"/>
                  <a:gd name="T16" fmla="*/ 838 w 861"/>
                  <a:gd name="T17" fmla="*/ 562 h 562"/>
                  <a:gd name="T18" fmla="*/ 861 w 861"/>
                  <a:gd name="T19" fmla="*/ 530 h 562"/>
                  <a:gd name="T20" fmla="*/ 778 w 861"/>
                  <a:gd name="T21" fmla="*/ 437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61" h="562">
                    <a:moveTo>
                      <a:pt x="778" y="437"/>
                    </a:moveTo>
                    <a:cubicBezTo>
                      <a:pt x="778" y="21"/>
                      <a:pt x="778" y="21"/>
                      <a:pt x="778" y="21"/>
                    </a:cubicBezTo>
                    <a:cubicBezTo>
                      <a:pt x="778" y="9"/>
                      <a:pt x="768" y="0"/>
                      <a:pt x="756" y="0"/>
                    </a:cubicBezTo>
                    <a:cubicBezTo>
                      <a:pt x="105" y="0"/>
                      <a:pt x="105" y="0"/>
                      <a:pt x="105" y="0"/>
                    </a:cubicBezTo>
                    <a:cubicBezTo>
                      <a:pt x="93" y="0"/>
                      <a:pt x="84" y="9"/>
                      <a:pt x="84" y="21"/>
                    </a:cubicBezTo>
                    <a:cubicBezTo>
                      <a:pt x="84" y="436"/>
                      <a:pt x="84" y="436"/>
                      <a:pt x="84" y="436"/>
                    </a:cubicBezTo>
                    <a:cubicBezTo>
                      <a:pt x="0" y="530"/>
                      <a:pt x="0" y="530"/>
                      <a:pt x="0" y="530"/>
                    </a:cubicBezTo>
                    <a:cubicBezTo>
                      <a:pt x="0" y="543"/>
                      <a:pt x="11" y="562"/>
                      <a:pt x="24" y="562"/>
                    </a:cubicBezTo>
                    <a:cubicBezTo>
                      <a:pt x="838" y="562"/>
                      <a:pt x="838" y="562"/>
                      <a:pt x="838" y="562"/>
                    </a:cubicBezTo>
                    <a:cubicBezTo>
                      <a:pt x="851" y="562"/>
                      <a:pt x="861" y="543"/>
                      <a:pt x="861" y="530"/>
                    </a:cubicBezTo>
                    <a:lnTo>
                      <a:pt x="778" y="437"/>
                    </a:lnTo>
                    <a:close/>
                  </a:path>
                </a:pathLst>
              </a:custGeom>
              <a:solidFill>
                <a:srgbClr val="68686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10" name="Rectangle 149"/>
              <p:cNvSpPr>
                <a:spLocks noChangeArrowheads="1"/>
              </p:cNvSpPr>
              <p:nvPr userDrawn="1"/>
            </p:nvSpPr>
            <p:spPr bwMode="auto">
              <a:xfrm>
                <a:off x="1169308" y="2115231"/>
                <a:ext cx="2343150" cy="1404938"/>
              </a:xfrm>
              <a:prstGeom prst="rect">
                <a:avLst/>
              </a:prstGeom>
              <a:solidFill>
                <a:srgbClr val="F9F3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11" name="Freeform 150"/>
              <p:cNvSpPr/>
              <p:nvPr userDrawn="1"/>
            </p:nvSpPr>
            <p:spPr bwMode="auto">
              <a:xfrm>
                <a:off x="2118633" y="3975781"/>
                <a:ext cx="439738" cy="74613"/>
              </a:xfrm>
              <a:custGeom>
                <a:avLst/>
                <a:gdLst>
                  <a:gd name="T0" fmla="*/ 0 w 117"/>
                  <a:gd name="T1" fmla="*/ 0 h 20"/>
                  <a:gd name="T2" fmla="*/ 0 w 117"/>
                  <a:gd name="T3" fmla="*/ 0 h 20"/>
                  <a:gd name="T4" fmla="*/ 14 w 117"/>
                  <a:gd name="T5" fmla="*/ 20 h 20"/>
                  <a:gd name="T6" fmla="*/ 104 w 117"/>
                  <a:gd name="T7" fmla="*/ 20 h 20"/>
                  <a:gd name="T8" fmla="*/ 117 w 117"/>
                  <a:gd name="T9" fmla="*/ 0 h 20"/>
                  <a:gd name="T10" fmla="*/ 117 w 117"/>
                  <a:gd name="T11" fmla="*/ 0 h 20"/>
                  <a:gd name="T12" fmla="*/ 0 w 117"/>
                  <a:gd name="T13" fmla="*/ 0 h 20"/>
                </a:gdLst>
                <a:ahLst/>
                <a:cxnLst>
                  <a:cxn ang="0">
                    <a:pos x="T0" y="T1"/>
                  </a:cxn>
                  <a:cxn ang="0">
                    <a:pos x="T2" y="T3"/>
                  </a:cxn>
                  <a:cxn ang="0">
                    <a:pos x="T4" y="T5"/>
                  </a:cxn>
                  <a:cxn ang="0">
                    <a:pos x="T6" y="T7"/>
                  </a:cxn>
                  <a:cxn ang="0">
                    <a:pos x="T8" y="T9"/>
                  </a:cxn>
                  <a:cxn ang="0">
                    <a:pos x="T10" y="T11"/>
                  </a:cxn>
                  <a:cxn ang="0">
                    <a:pos x="T12" y="T13"/>
                  </a:cxn>
                </a:cxnLst>
                <a:rect l="0" t="0" r="r" b="b"/>
                <a:pathLst>
                  <a:path w="117" h="20">
                    <a:moveTo>
                      <a:pt x="0" y="0"/>
                    </a:moveTo>
                    <a:cubicBezTo>
                      <a:pt x="0" y="0"/>
                      <a:pt x="0" y="0"/>
                      <a:pt x="0" y="0"/>
                    </a:cubicBezTo>
                    <a:cubicBezTo>
                      <a:pt x="0" y="7"/>
                      <a:pt x="6" y="20"/>
                      <a:pt x="14" y="20"/>
                    </a:cubicBezTo>
                    <a:cubicBezTo>
                      <a:pt x="104" y="20"/>
                      <a:pt x="104" y="20"/>
                      <a:pt x="104" y="20"/>
                    </a:cubicBezTo>
                    <a:cubicBezTo>
                      <a:pt x="111" y="20"/>
                      <a:pt x="117" y="7"/>
                      <a:pt x="117" y="0"/>
                    </a:cubicBezTo>
                    <a:cubicBezTo>
                      <a:pt x="117" y="0"/>
                      <a:pt x="117" y="0"/>
                      <a:pt x="117" y="0"/>
                    </a:cubicBezTo>
                    <a:lnTo>
                      <a:pt x="0" y="0"/>
                    </a:lnTo>
                    <a:close/>
                  </a:path>
                </a:pathLst>
              </a:custGeom>
              <a:solidFill>
                <a:srgbClr val="F9F3E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grpSp>
        <p:sp>
          <p:nvSpPr>
            <p:cNvPr id="108" name="矩形 107"/>
            <p:cNvSpPr/>
            <p:nvPr userDrawn="1"/>
          </p:nvSpPr>
          <p:spPr>
            <a:xfrm>
              <a:off x="2091447" y="2022227"/>
              <a:ext cx="1325371" cy="369332"/>
            </a:xfrm>
            <a:prstGeom prst="rect">
              <a:avLst/>
            </a:prstGeom>
          </p:spPr>
          <p:txBody>
            <a:bodyPr wrap="square">
              <a:spAutoFit/>
            </a:bodyPr>
            <a:lstStyle/>
            <a:p>
              <a:pPr algn="l">
                <a:lnSpc>
                  <a:spcPct val="120000"/>
                </a:lnSpc>
              </a:pPr>
              <a:r>
                <a:rPr lang="en-US" altLang="zh-CN" sz="1500" kern="1200" dirty="0">
                  <a:solidFill>
                    <a:schemeClr val="tx1">
                      <a:lumMod val="65000"/>
                      <a:lumOff val="35000"/>
                    </a:schemeClr>
                  </a:solidFill>
                  <a:latin typeface="+mj-ea"/>
                  <a:ea typeface="+mj-ea"/>
                  <a:cs typeface="+mn-cs"/>
                </a:rPr>
                <a:t>Thank You</a:t>
              </a:r>
              <a:r>
                <a:rPr lang="zh-CN" altLang="en-US" sz="1500" kern="1200" dirty="0">
                  <a:solidFill>
                    <a:schemeClr val="tx1">
                      <a:lumMod val="65000"/>
                      <a:lumOff val="35000"/>
                    </a:schemeClr>
                  </a:solidFill>
                  <a:latin typeface="+mj-ea"/>
                  <a:ea typeface="+mj-ea"/>
                  <a:cs typeface="+mn-cs"/>
                </a:rPr>
                <a:t>！</a:t>
              </a:r>
              <a:endParaRPr lang="zh-CN" altLang="en-US" sz="1500" kern="1200" dirty="0">
                <a:solidFill>
                  <a:schemeClr val="tx1">
                    <a:lumMod val="65000"/>
                    <a:lumOff val="35000"/>
                  </a:schemeClr>
                </a:solidFill>
                <a:latin typeface="+mj-ea"/>
                <a:ea typeface="+mj-ea"/>
                <a:cs typeface="+mn-cs"/>
              </a:endParaRPr>
            </a:p>
          </p:txBody>
        </p:sp>
        <p:grpSp>
          <p:nvGrpSpPr>
            <p:cNvPr id="114" name="组合 113"/>
            <p:cNvGrpSpPr/>
            <p:nvPr userDrawn="1"/>
          </p:nvGrpSpPr>
          <p:grpSpPr>
            <a:xfrm>
              <a:off x="2160453" y="2672657"/>
              <a:ext cx="1134000" cy="48600"/>
              <a:chOff x="0" y="4978400"/>
              <a:chExt cx="11157019" cy="406400"/>
            </a:xfrm>
          </p:grpSpPr>
          <p:sp>
            <p:nvSpPr>
              <p:cNvPr id="115" name="矩形 114"/>
              <p:cNvSpPr/>
              <p:nvPr userDrawn="1"/>
            </p:nvSpPr>
            <p:spPr>
              <a:xfrm>
                <a:off x="0" y="4978400"/>
                <a:ext cx="2788596" cy="406400"/>
              </a:xfrm>
              <a:prstGeom prst="rect">
                <a:avLst/>
              </a:prstGeom>
              <a:solidFill>
                <a:srgbClr val="9EC4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sp>
            <p:nvSpPr>
              <p:cNvPr id="116" name="矩形 115"/>
              <p:cNvSpPr/>
              <p:nvPr userDrawn="1"/>
            </p:nvSpPr>
            <p:spPr>
              <a:xfrm>
                <a:off x="2788596" y="4978400"/>
                <a:ext cx="2788596" cy="406400"/>
              </a:xfrm>
              <a:prstGeom prst="rect">
                <a:avLst/>
              </a:prstGeom>
              <a:solidFill>
                <a:srgbClr val="CA0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sp>
            <p:nvSpPr>
              <p:cNvPr id="117" name="矩形 116"/>
              <p:cNvSpPr/>
              <p:nvPr userDrawn="1"/>
            </p:nvSpPr>
            <p:spPr>
              <a:xfrm>
                <a:off x="5577192" y="4978400"/>
                <a:ext cx="2788596" cy="406400"/>
              </a:xfrm>
              <a:prstGeom prst="rect">
                <a:avLst/>
              </a:prstGeom>
              <a:solidFill>
                <a:srgbClr val="FF8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sp>
            <p:nvSpPr>
              <p:cNvPr id="118" name="矩形 117"/>
              <p:cNvSpPr/>
              <p:nvPr userDrawn="1"/>
            </p:nvSpPr>
            <p:spPr>
              <a:xfrm>
                <a:off x="8368423" y="4978400"/>
                <a:ext cx="2788596" cy="406400"/>
              </a:xfrm>
              <a:prstGeom prst="rect">
                <a:avLst/>
              </a:prstGeom>
              <a:solidFill>
                <a:srgbClr val="008E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grpSp>
        <p:pic>
          <p:nvPicPr>
            <p:cNvPr id="110" name="Picture 2"/>
            <p:cNvPicPr>
              <a:picLocks noChangeAspect="1" noChangeArrowheads="1"/>
            </p:cNvPicPr>
            <p:nvPr userDrawn="1"/>
          </p:nvPicPr>
          <p:blipFill>
            <a:blip r:embed="rId2" cstate="print">
              <a:clrChange>
                <a:clrFrom>
                  <a:srgbClr val="FFFFFF"/>
                </a:clrFrom>
                <a:clrTo>
                  <a:srgbClr val="FFFFFF">
                    <a:alpha val="0"/>
                  </a:srgbClr>
                </a:clrTo>
              </a:clrChange>
              <a:extLst>
                <a:ext uri="{BEBA8EAE-BF5A-486C-A8C5-ECC9F3942E4B}">
                  <a14:imgProps xmlns:a14="http://schemas.microsoft.com/office/drawing/2010/main">
                    <a14:imgLayer r:embed="rId3">
                      <a14:imgEffect>
                        <a14:colorTemperature colorTemp="4700"/>
                      </a14:imgEffect>
                      <a14:imgEffect>
                        <a14:saturation sat="0"/>
                      </a14:imgEffect>
                    </a14:imgLayer>
                  </a14:imgProps>
                </a:ext>
              </a:extLst>
            </a:blip>
            <a:srcRect/>
            <a:stretch>
              <a:fillRect/>
            </a:stretch>
          </p:blipFill>
          <p:spPr bwMode="auto">
            <a:xfrm>
              <a:off x="1367669" y="2007508"/>
              <a:ext cx="675000" cy="675000"/>
            </a:xfrm>
            <a:prstGeom prst="rect">
              <a:avLst/>
            </a:prstGeom>
            <a:noFill/>
            <a:ln w="9525">
              <a:noFill/>
              <a:miter lim="800000"/>
              <a:headEnd/>
              <a:tailEnd/>
            </a:ln>
            <a:effectLst/>
          </p:spPr>
        </p:pic>
      </p:grpSp>
      <p:sp>
        <p:nvSpPr>
          <p:cNvPr id="20" name="日期占位符 3"/>
          <p:cNvSpPr>
            <a:spLocks noGrp="1"/>
          </p:cNvSpPr>
          <p:nvPr>
            <p:ph type="dt" sz="half" idx="10"/>
          </p:nvPr>
        </p:nvSpPr>
        <p:spPr>
          <a:xfrm>
            <a:off x="768096" y="4853028"/>
            <a:ext cx="1615607" cy="205740"/>
          </a:xfrm>
        </p:spPr>
        <p:txBody>
          <a:bodyPr/>
          <a:lstStyle>
            <a:lvl1pPr algn="ctr">
              <a:defRPr sz="1600">
                <a:solidFill>
                  <a:schemeClr val="bg1"/>
                </a:solidFill>
                <a:latin typeface="+mn-lt"/>
              </a:defRPr>
            </a:lvl1pPr>
          </a:lstStyle>
          <a:p>
            <a:fld id="{8F98B0E8-48B0-47D3-A6C8-7E041360F69C}" type="datetime1">
              <a:rPr lang="zh-CN" altLang="en-US" smtClean="0"/>
            </a:fld>
            <a:endParaRPr lang="zh-CN" altLang="en-US" dirty="0"/>
          </a:p>
        </p:txBody>
      </p:sp>
      <p:sp>
        <p:nvSpPr>
          <p:cNvPr id="21"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dirty="0"/>
              <a:t>软件工程</a:t>
            </a:r>
            <a:endParaRPr lang="zh-CN" altLang="en-US" dirty="0"/>
          </a:p>
        </p:txBody>
      </p:sp>
      <p:sp>
        <p:nvSpPr>
          <p:cNvPr id="22" name="灯片编号占位符 5"/>
          <p:cNvSpPr>
            <a:spLocks noGrp="1"/>
          </p:cNvSpPr>
          <p:nvPr>
            <p:ph type="sldNum" sz="quarter" idx="12"/>
          </p:nvPr>
        </p:nvSpPr>
        <p:spPr>
          <a:xfrm>
            <a:off x="8128000" y="4853028"/>
            <a:ext cx="730250" cy="205740"/>
          </a:xfrm>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a:p>
        </p:txBody>
      </p:sp>
    </p:spTree>
  </p:cSld>
  <p:clrMapOvr>
    <a:masterClrMapping/>
  </p:clrMapOvr>
  <p:transition>
    <p:cove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目录页">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6727032" y="4805958"/>
            <a:ext cx="1920240" cy="274320"/>
          </a:xfrm>
          <a:prstGeom prst="rect">
            <a:avLst/>
          </a:prstGeom>
        </p:spPr>
        <p:txBody>
          <a:bodyPr/>
          <a:lstStyle>
            <a:lvl1pPr>
              <a:defRPr sz="1050"/>
            </a:lvl1pPr>
          </a:lstStyle>
          <a:p>
            <a:fld id="{7C38504B-1AF3-4156-B61A-8DB24BEED060}" type="datetime1">
              <a:rPr lang="zh-CN" altLang="en-US" smtClean="0"/>
            </a:fld>
            <a:endParaRPr lang="zh-CN" altLang="en-US" dirty="0"/>
          </a:p>
        </p:txBody>
      </p:sp>
      <p:sp>
        <p:nvSpPr>
          <p:cNvPr id="5" name="页脚占位符 4"/>
          <p:cNvSpPr>
            <a:spLocks noGrp="1"/>
          </p:cNvSpPr>
          <p:nvPr>
            <p:ph type="ftr" sz="quarter" idx="11"/>
          </p:nvPr>
        </p:nvSpPr>
        <p:spPr>
          <a:xfrm>
            <a:off x="4380074" y="4805960"/>
            <a:ext cx="2350681" cy="273844"/>
          </a:xfrm>
          <a:prstGeom prst="rect">
            <a:avLst/>
          </a:prstGeom>
        </p:spPr>
        <p:txBody>
          <a:bodyPr/>
          <a:lstStyle>
            <a:lvl1pPr>
              <a:defRPr sz="1050"/>
            </a:lvl1pPr>
          </a:lstStyle>
          <a:p>
            <a:r>
              <a:rPr lang="zh-CN" altLang="en-US"/>
              <a:t>软件工程</a:t>
            </a:r>
            <a:endParaRPr lang="zh-CN" altLang="en-US" dirty="0"/>
          </a:p>
        </p:txBody>
      </p:sp>
      <p:sp>
        <p:nvSpPr>
          <p:cNvPr id="6" name="灯片编号占位符 5"/>
          <p:cNvSpPr>
            <a:spLocks noGrp="1"/>
          </p:cNvSpPr>
          <p:nvPr>
            <p:ph type="sldNum" sz="quarter" idx="12"/>
          </p:nvPr>
        </p:nvSpPr>
        <p:spPr>
          <a:xfrm>
            <a:off x="8461830" y="4805960"/>
            <a:ext cx="551203" cy="273844"/>
          </a:xfrm>
          <a:prstGeom prst="rect">
            <a:avLst/>
          </a:prstGeom>
        </p:spPr>
        <p:txBody>
          <a:bodyPr/>
          <a:lstStyle>
            <a:lvl1pPr>
              <a:defRPr sz="1050"/>
            </a:lvl1pPr>
          </a:lstStyle>
          <a:p>
            <a:fld id="{0C913308-F349-4B6D-A68A-DD1791B4A57B}" type="slidenum">
              <a:rPr lang="zh-CN" altLang="en-US" smtClean="0"/>
            </a:fld>
            <a:endParaRPr lang="zh-CN" altLang="en-US" dirty="0"/>
          </a:p>
        </p:txBody>
      </p:sp>
      <p:sp>
        <p:nvSpPr>
          <p:cNvPr id="7" name="标题占位符"/>
          <p:cNvSpPr>
            <a:spLocks noGrp="1"/>
          </p:cNvSpPr>
          <p:nvPr>
            <p:ph type="body" sz="quarter" idx="13" hasCustomPrompt="1"/>
          </p:nvPr>
        </p:nvSpPr>
        <p:spPr>
          <a:xfrm>
            <a:off x="1052622" y="159755"/>
            <a:ext cx="6275277" cy="415498"/>
          </a:xfrm>
          <a:prstGeom prst="rect">
            <a:avLst/>
          </a:prstGeom>
        </p:spPr>
        <p:txBody>
          <a:bodyPr wrap="square" anchor="ctr">
            <a:spAutoFit/>
          </a:bodyPr>
          <a:lstStyle>
            <a:lvl1pPr marL="0" indent="0" algn="l">
              <a:lnSpc>
                <a:spcPct val="100000"/>
              </a:lnSpc>
              <a:buFontTx/>
              <a:buNone/>
              <a:defRPr lang="zh-CN" altLang="en-US" sz="2100" b="1" spc="169" dirty="0" smtClean="0">
                <a:solidFill>
                  <a:schemeClr val="tx1">
                    <a:lumMod val="95000"/>
                    <a:lumOff val="5000"/>
                  </a:schemeClr>
                </a:solidFill>
                <a:latin typeface="+mn-ea"/>
              </a:defRPr>
            </a:lvl1pPr>
          </a:lstStyle>
          <a:p>
            <a:pPr marL="0" lvl="0"/>
            <a:r>
              <a:rPr lang="zh-CN" altLang="en-US" dirty="0"/>
              <a:t>点击添加标题</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7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tmplLst>
          <p:tmpl lvl="0">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750"/>
                        <p:tgtEl>
                          <p:spTgt spid="7"/>
                        </p:tgtEl>
                      </p:cBhvr>
                    </p:animEffect>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内容页">
    <p:spTree>
      <p:nvGrpSpPr>
        <p:cNvPr id="1" name=""/>
        <p:cNvGrpSpPr/>
        <p:nvPr/>
      </p:nvGrpSpPr>
      <p:grpSpPr>
        <a:xfrm>
          <a:off x="0" y="0"/>
          <a:ext cx="0" cy="0"/>
          <a:chOff x="0" y="0"/>
          <a:chExt cx="0" cy="0"/>
        </a:xfrm>
      </p:grpSpPr>
      <p:sp>
        <p:nvSpPr>
          <p:cNvPr id="8" name="矩形"/>
          <p:cNvSpPr/>
          <p:nvPr/>
        </p:nvSpPr>
        <p:spPr>
          <a:xfrm>
            <a:off x="-3743" y="80319"/>
            <a:ext cx="2287872" cy="540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9" name="矩形"/>
          <p:cNvSpPr/>
          <p:nvPr/>
        </p:nvSpPr>
        <p:spPr>
          <a:xfrm>
            <a:off x="2284129" y="80319"/>
            <a:ext cx="2287872" cy="540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6" name="矩形"/>
          <p:cNvSpPr/>
          <p:nvPr userDrawn="1"/>
        </p:nvSpPr>
        <p:spPr>
          <a:xfrm>
            <a:off x="110557" y="309456"/>
            <a:ext cx="235878" cy="2466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3" name="标题占位符"/>
          <p:cNvSpPr>
            <a:spLocks noGrp="1"/>
          </p:cNvSpPr>
          <p:nvPr>
            <p:ph type="body" sz="quarter" idx="10" hasCustomPrompt="1"/>
          </p:nvPr>
        </p:nvSpPr>
        <p:spPr>
          <a:xfrm>
            <a:off x="429992" y="234449"/>
            <a:ext cx="6897908" cy="415498"/>
          </a:xfrm>
          <a:prstGeom prst="rect">
            <a:avLst/>
          </a:prstGeom>
        </p:spPr>
        <p:txBody>
          <a:bodyPr wrap="square" anchor="ctr">
            <a:spAutoFit/>
          </a:bodyPr>
          <a:lstStyle>
            <a:lvl1pPr marL="0" indent="0" algn="l">
              <a:lnSpc>
                <a:spcPct val="100000"/>
              </a:lnSpc>
              <a:buFontTx/>
              <a:buNone/>
              <a:defRPr lang="zh-CN" altLang="en-US" sz="2100" b="1" spc="225" dirty="0" smtClean="0">
                <a:solidFill>
                  <a:schemeClr val="tx1">
                    <a:lumMod val="95000"/>
                    <a:lumOff val="5000"/>
                  </a:schemeClr>
                </a:solidFill>
                <a:latin typeface="+mn-ea"/>
              </a:defRPr>
            </a:lvl1pPr>
          </a:lstStyle>
          <a:p>
            <a:pPr marL="0" lvl="0"/>
            <a:r>
              <a:rPr lang="zh-CN" altLang="en-US" dirty="0"/>
              <a:t>点击添加标题</a:t>
            </a:r>
            <a:endParaRPr lang="zh-CN" altLang="en-US" dirty="0"/>
          </a:p>
        </p:txBody>
      </p:sp>
      <p:sp>
        <p:nvSpPr>
          <p:cNvPr id="4" name="文本占位符 3"/>
          <p:cNvSpPr>
            <a:spLocks noGrp="1"/>
          </p:cNvSpPr>
          <p:nvPr>
            <p:ph type="body" sz="quarter" idx="11"/>
          </p:nvPr>
        </p:nvSpPr>
        <p:spPr>
          <a:xfrm>
            <a:off x="627064" y="1009651"/>
            <a:ext cx="7615237" cy="3545681"/>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3"/>
          <p:cNvSpPr>
            <a:spLocks noGrp="1"/>
          </p:cNvSpPr>
          <p:nvPr>
            <p:ph type="dt" sz="half" idx="12"/>
          </p:nvPr>
        </p:nvSpPr>
        <p:spPr>
          <a:xfrm>
            <a:off x="6727032" y="4805958"/>
            <a:ext cx="1920240" cy="274320"/>
          </a:xfrm>
          <a:prstGeom prst="rect">
            <a:avLst/>
          </a:prstGeom>
        </p:spPr>
        <p:txBody>
          <a:bodyPr/>
          <a:lstStyle>
            <a:lvl1pPr>
              <a:defRPr sz="1200"/>
            </a:lvl1pPr>
          </a:lstStyle>
          <a:p>
            <a:endParaRPr lang="zh-CN" altLang="en-US"/>
          </a:p>
        </p:txBody>
      </p:sp>
      <p:sp>
        <p:nvSpPr>
          <p:cNvPr id="10" name="页脚占位符 4"/>
          <p:cNvSpPr>
            <a:spLocks noGrp="1"/>
          </p:cNvSpPr>
          <p:nvPr>
            <p:ph type="ftr" sz="quarter" idx="13"/>
          </p:nvPr>
        </p:nvSpPr>
        <p:spPr>
          <a:xfrm>
            <a:off x="4380074" y="4805960"/>
            <a:ext cx="2350681" cy="273844"/>
          </a:xfrm>
          <a:prstGeom prst="rect">
            <a:avLst/>
          </a:prstGeom>
        </p:spPr>
        <p:txBody>
          <a:bodyPr/>
          <a:lstStyle>
            <a:lvl1pPr>
              <a:defRPr sz="1200"/>
            </a:lvl1pPr>
          </a:lstStyle>
          <a:p>
            <a:endParaRPr lang="zh-CN" altLang="en-US" dirty="0"/>
          </a:p>
        </p:txBody>
      </p:sp>
      <p:sp>
        <p:nvSpPr>
          <p:cNvPr id="11" name="灯片编号占位符 5"/>
          <p:cNvSpPr>
            <a:spLocks noGrp="1"/>
          </p:cNvSpPr>
          <p:nvPr>
            <p:ph type="sldNum" sz="quarter" idx="14"/>
          </p:nvPr>
        </p:nvSpPr>
        <p:spPr>
          <a:xfrm>
            <a:off x="8461830" y="4805960"/>
            <a:ext cx="551203" cy="273844"/>
          </a:xfrm>
          <a:prstGeom prst="rect">
            <a:avLst/>
          </a:prstGeom>
        </p:spPr>
        <p:txBody>
          <a:bodyPr/>
          <a:lstStyle>
            <a:lvl1pPr>
              <a:defRPr sz="1050"/>
            </a:lvl1p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right)">
                                      <p:cBhvr>
                                        <p:cTn id="10" dur="500"/>
                                        <p:tgtEl>
                                          <p:spTgt spid="9"/>
                                        </p:tgtEl>
                                      </p:cBhvr>
                                    </p:animEffect>
                                  </p:childTnLst>
                                </p:cTn>
                              </p:par>
                              <p:par>
                                <p:cTn id="11" presetID="23" presetClass="entr" presetSubtype="16"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childTnLst>
                                </p:cTn>
                              </p:par>
                            </p:childTnLst>
                          </p:cTn>
                        </p:par>
                        <p:par>
                          <p:cTn id="15" fill="hold">
                            <p:stCondLst>
                              <p:cond delay="500"/>
                            </p:stCondLst>
                            <p:childTnLst>
                              <p:par>
                                <p:cTn id="16" presetID="22" presetClass="entr" presetSubtype="8"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left)">
                                      <p:cBhvr>
                                        <p:cTn id="18" dur="7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6" grpId="0" animBg="1"/>
      <p:bldP spid="3" grpId="0">
        <p:tmplLst>
          <p:tmpl lvl="0">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750"/>
                        <p:tgtEl>
                          <p:spTgt spid="3"/>
                        </p:tgtEl>
                      </p:cBhvr>
                    </p:animEffect>
                  </p:childTnLst>
                </p:cTn>
              </p:par>
            </p:tnLst>
          </p:tmpl>
        </p:tmplLst>
      </p:bldP>
    </p:bld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68097" y="925167"/>
            <a:ext cx="7832833" cy="3806854"/>
          </a:xfrm>
          <a:prstGeom prst="rect">
            <a:avLst/>
          </a:prstGeom>
        </p:spPr>
        <p:txBody>
          <a:bodyPr vert="horz" lIns="45720" tIns="45720" rIns="4572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Date Placeholder 3"/>
          <p:cNvSpPr>
            <a:spLocks noGrp="1"/>
          </p:cNvSpPr>
          <p:nvPr>
            <p:ph type="dt" sz="half" idx="2"/>
          </p:nvPr>
        </p:nvSpPr>
        <p:spPr>
          <a:xfrm>
            <a:off x="768096" y="4853028"/>
            <a:ext cx="1615607" cy="205740"/>
          </a:xfrm>
          <a:prstGeom prst="rect">
            <a:avLst/>
          </a:prstGeom>
        </p:spPr>
        <p:txBody>
          <a:bodyPr vert="horz" lIns="91440" tIns="45720" rIns="91440" bIns="45720" rtlCol="0" anchor="ctr"/>
          <a:lstStyle>
            <a:lvl1pPr algn="l">
              <a:defRPr sz="750">
                <a:solidFill>
                  <a:schemeClr val="tx1">
                    <a:lumMod val="90000"/>
                    <a:lumOff val="10000"/>
                  </a:schemeClr>
                </a:solidFill>
                <a:latin typeface="+mj-lt"/>
              </a:defRPr>
            </a:lvl1pPr>
          </a:lstStyle>
          <a:p>
            <a:fld id="{4F2F4983-3602-4E3E-983A-EBA4353A8448}" type="datetime1">
              <a:rPr lang="zh-CN" altLang="en-US" smtClean="0"/>
            </a:fld>
            <a:endParaRPr lang="zh-CN" altLang="en-US"/>
          </a:p>
        </p:txBody>
      </p:sp>
      <p:sp>
        <p:nvSpPr>
          <p:cNvPr id="5" name="Footer Placeholder 4"/>
          <p:cNvSpPr>
            <a:spLocks noGrp="1"/>
          </p:cNvSpPr>
          <p:nvPr>
            <p:ph type="ftr" sz="quarter" idx="3"/>
          </p:nvPr>
        </p:nvSpPr>
        <p:spPr>
          <a:xfrm>
            <a:off x="3632199" y="4853028"/>
            <a:ext cx="4426094" cy="205740"/>
          </a:xfrm>
          <a:prstGeom prst="rect">
            <a:avLst/>
          </a:prstGeom>
        </p:spPr>
        <p:txBody>
          <a:bodyPr vert="horz" lIns="91440" tIns="45720" rIns="91440" bIns="45720" rtlCol="0" anchor="ctr"/>
          <a:lstStyle>
            <a:lvl1pPr algn="r">
              <a:defRPr sz="750" cap="all" baseline="0">
                <a:solidFill>
                  <a:schemeClr val="tx1">
                    <a:lumMod val="90000"/>
                    <a:lumOff val="10000"/>
                  </a:schemeClr>
                </a:solidFill>
                <a:latin typeface="+mj-lt"/>
              </a:defRPr>
            </a:lvl1pPr>
          </a:lstStyle>
          <a:p>
            <a:r>
              <a:rPr lang="zh-CN" altLang="en-US"/>
              <a:t>软件工程</a:t>
            </a:r>
            <a:endParaRPr lang="zh-CN" altLang="en-US"/>
          </a:p>
        </p:txBody>
      </p:sp>
      <p:sp>
        <p:nvSpPr>
          <p:cNvPr id="6" name="Slide Number Placeholder 5"/>
          <p:cNvSpPr>
            <a:spLocks noGrp="1"/>
          </p:cNvSpPr>
          <p:nvPr>
            <p:ph type="sldNum" sz="quarter" idx="4"/>
          </p:nvPr>
        </p:nvSpPr>
        <p:spPr>
          <a:xfrm>
            <a:off x="8128000" y="4853028"/>
            <a:ext cx="730250" cy="205740"/>
          </a:xfrm>
          <a:prstGeom prst="rect">
            <a:avLst/>
          </a:prstGeom>
        </p:spPr>
        <p:txBody>
          <a:bodyPr vert="horz" lIns="91440" tIns="45720" rIns="91440" bIns="45720" rtlCol="0" anchor="ctr"/>
          <a:lstStyle>
            <a:lvl1pPr algn="l">
              <a:defRPr sz="750">
                <a:solidFill>
                  <a:schemeClr val="tx1">
                    <a:lumMod val="90000"/>
                    <a:lumOff val="10000"/>
                  </a:schemeClr>
                </a:solidFill>
                <a:latin typeface="+mj-lt"/>
              </a:defRPr>
            </a:lvl1pPr>
          </a:lstStyle>
          <a:p>
            <a:fld id="{F528F39D-B5E5-4CA7-906C-979D5A62978D}" type="slidenum">
              <a:rPr lang="zh-CN" altLang="en-US" smtClean="0"/>
            </a:fld>
            <a:endParaRPr lang="zh-CN" altLang="en-US"/>
          </a:p>
        </p:txBody>
      </p:sp>
      <p:cxnSp>
        <p:nvCxnSpPr>
          <p:cNvPr id="7" name="Straight Connector 6"/>
          <p:cNvCxnSpPr/>
          <p:nvPr/>
        </p:nvCxnSpPr>
        <p:spPr>
          <a:xfrm flipV="1">
            <a:off x="571500" y="619743"/>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Rectangle 6"/>
          <p:cNvSpPr/>
          <p:nvPr userDrawn="1"/>
        </p:nvSpPr>
        <p:spPr>
          <a:xfrm>
            <a:off x="0" y="4647686"/>
            <a:ext cx="9144000" cy="49581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6"/>
          <p:cNvSpPr/>
          <p:nvPr userDrawn="1"/>
        </p:nvSpPr>
        <p:spPr>
          <a:xfrm>
            <a:off x="0" y="-23309"/>
            <a:ext cx="9144000" cy="80343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10" name="图片 9"/>
          <p:cNvPicPr>
            <a:picLocks noChangeAspect="1"/>
          </p:cNvPicPr>
          <p:nvPr userDrawn="1"/>
        </p:nvPicPr>
        <p:blipFill>
          <a:blip r:embed="rId13"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25316" y="-9943"/>
            <a:ext cx="692368" cy="692368"/>
          </a:xfrm>
          <a:prstGeom prst="rect">
            <a:avLst/>
          </a:prstGeom>
        </p:spPr>
      </p:pic>
      <p:sp>
        <p:nvSpPr>
          <p:cNvPr id="2" name="Title Placeholder 1"/>
          <p:cNvSpPr>
            <a:spLocks noGrp="1"/>
          </p:cNvSpPr>
          <p:nvPr>
            <p:ph type="title"/>
          </p:nvPr>
        </p:nvSpPr>
        <p:spPr>
          <a:xfrm>
            <a:off x="1094321" y="0"/>
            <a:ext cx="7763929" cy="82891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l" defTabSz="685800" rtl="0" eaLnBrk="1" latinLnBrk="0" hangingPunct="1">
        <a:lnSpc>
          <a:spcPct val="80000"/>
        </a:lnSpc>
        <a:spcBef>
          <a:spcPct val="0"/>
        </a:spcBef>
        <a:buNone/>
        <a:defRPr sz="2800" b="1" kern="1200" cap="all" spc="75" baseline="0">
          <a:solidFill>
            <a:schemeClr val="bg1"/>
          </a:solidFill>
          <a:latin typeface="+mj-lt"/>
          <a:ea typeface="+mj-ea"/>
          <a:cs typeface="+mj-cs"/>
        </a:defRPr>
      </a:lvl1pPr>
    </p:titleStyle>
    <p:bodyStyle>
      <a:lvl1pPr marL="68580" indent="-431800" algn="just" defTabSz="685800" rtl="0" eaLnBrk="1" latinLnBrk="0" hangingPunct="1">
        <a:lnSpc>
          <a:spcPct val="110000"/>
        </a:lnSpc>
        <a:spcBef>
          <a:spcPts val="1200"/>
        </a:spcBef>
        <a:spcAft>
          <a:spcPts val="0"/>
        </a:spcAft>
        <a:buClr>
          <a:schemeClr val="accent1"/>
        </a:buClr>
        <a:buSzPct val="80000"/>
        <a:buFont typeface="Arial" panose="020B0604020202020204" pitchFamily="34" charset="0"/>
        <a:buChar char="֍"/>
        <a:defRPr sz="2800" kern="1200">
          <a:solidFill>
            <a:schemeClr val="tx2">
              <a:lumMod val="90000"/>
              <a:lumOff val="10000"/>
            </a:schemeClr>
          </a:solidFill>
          <a:latin typeface="+mj-ea"/>
          <a:ea typeface="+mj-ea"/>
          <a:cs typeface="+mn-cs"/>
        </a:defRPr>
      </a:lvl1pPr>
      <a:lvl2pPr marL="720090" indent="-360045" algn="just" defTabSz="685800" rtl="0" eaLnBrk="1" latinLnBrk="0" hangingPunct="1">
        <a:lnSpc>
          <a:spcPct val="110000"/>
        </a:lnSpc>
        <a:spcBef>
          <a:spcPts val="1200"/>
        </a:spcBef>
        <a:spcAft>
          <a:spcPts val="0"/>
        </a:spcAft>
        <a:buClr>
          <a:schemeClr val="accent2"/>
        </a:buClr>
        <a:buFont typeface="Arial" panose="020B0604020202020204" pitchFamily="34" charset="0"/>
        <a:buChar char="→"/>
        <a:defRPr sz="2400" kern="1200">
          <a:solidFill>
            <a:schemeClr val="tx2">
              <a:lumMod val="90000"/>
              <a:lumOff val="10000"/>
            </a:schemeClr>
          </a:solidFill>
          <a:latin typeface="+mj-ea"/>
          <a:ea typeface="+mj-ea"/>
          <a:cs typeface="+mn-cs"/>
        </a:defRPr>
      </a:lvl2pPr>
      <a:lvl3pPr marL="1080135" indent="-288290" algn="just" defTabSz="685800" rtl="0" eaLnBrk="1" latinLnBrk="0" hangingPunct="1">
        <a:lnSpc>
          <a:spcPct val="110000"/>
        </a:lnSpc>
        <a:spcBef>
          <a:spcPts val="1200"/>
        </a:spcBef>
        <a:spcAft>
          <a:spcPts val="0"/>
        </a:spcAft>
        <a:buClr>
          <a:schemeClr val="accent2"/>
        </a:buClr>
        <a:buFont typeface="Wingdings 3" panose="05040102010807070707" pitchFamily="18" charset="2"/>
        <a:buChar char=""/>
        <a:defRPr sz="2000" kern="1200">
          <a:solidFill>
            <a:schemeClr val="tx2">
              <a:lumMod val="90000"/>
              <a:lumOff val="10000"/>
            </a:schemeClr>
          </a:solidFill>
          <a:latin typeface="+mj-ea"/>
          <a:ea typeface="+mj-ea"/>
          <a:cs typeface="+mn-cs"/>
        </a:defRPr>
      </a:lvl3pPr>
      <a:lvl4pPr marL="445770" indent="-102870" algn="l" defTabSz="685800" rtl="0" eaLnBrk="1" latinLnBrk="0" hangingPunct="1">
        <a:lnSpc>
          <a:spcPct val="90000"/>
        </a:lnSpc>
        <a:spcBef>
          <a:spcPts val="600"/>
        </a:spcBef>
        <a:spcAft>
          <a:spcPts val="300"/>
        </a:spcAft>
        <a:buClr>
          <a:schemeClr val="accent2"/>
        </a:buClr>
        <a:buFont typeface="Wingdings 3" panose="05040102010807070707" pitchFamily="18" charset="2"/>
        <a:buChar char=""/>
        <a:defRPr sz="2000" kern="1200">
          <a:solidFill>
            <a:schemeClr val="tx2">
              <a:lumMod val="90000"/>
              <a:lumOff val="10000"/>
            </a:schemeClr>
          </a:solidFill>
          <a:latin typeface="+mn-lt"/>
          <a:ea typeface="+mn-ea"/>
          <a:cs typeface="+mn-cs"/>
        </a:defRPr>
      </a:lvl4pPr>
      <a:lvl5pPr marL="582930" indent="-102870" algn="l" defTabSz="685800" rtl="0" eaLnBrk="1" latinLnBrk="0" hangingPunct="1">
        <a:lnSpc>
          <a:spcPct val="90000"/>
        </a:lnSpc>
        <a:spcBef>
          <a:spcPts val="600"/>
        </a:spcBef>
        <a:spcAft>
          <a:spcPts val="300"/>
        </a:spcAft>
        <a:buClr>
          <a:schemeClr val="accent2"/>
        </a:buClr>
        <a:buFont typeface="Wingdings 3" panose="05040102010807070707" pitchFamily="18" charset="2"/>
        <a:buChar char=""/>
        <a:defRPr sz="2000" kern="1200">
          <a:solidFill>
            <a:schemeClr val="tx2">
              <a:lumMod val="90000"/>
              <a:lumOff val="10000"/>
            </a:schemeClr>
          </a:solidFill>
          <a:latin typeface="+mn-lt"/>
          <a:ea typeface="+mn-ea"/>
          <a:cs typeface="+mn-cs"/>
        </a:defRPr>
      </a:lvl5pPr>
      <a:lvl6pPr marL="685800"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6pPr>
      <a:lvl7pPr marL="795655"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7pPr>
      <a:lvl8pPr marL="911860"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8pPr>
      <a:lvl9pPr marL="1021715"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4.xml"/><Relationship Id="rId2" Type="http://schemas.openxmlformats.org/officeDocument/2006/relationships/image" Target="../media/image6.png"/><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9.xml"/><Relationship Id="rId1" Type="http://schemas.openxmlformats.org/officeDocument/2006/relationships/image" Target="../media/image8.jpeg"/></Relationships>
</file>

<file path=ppt/slides/_rels/slide7.xml.rels><?xml version="1.0" encoding="UTF-8" standalone="yes"?>
<Relationships xmlns="http://schemas.openxmlformats.org/package/2006/relationships"><Relationship Id="rId9" Type="http://schemas.openxmlformats.org/officeDocument/2006/relationships/notesSlide" Target="../notesSlides/notesSlide5.xml"/><Relationship Id="rId8" Type="http://schemas.openxmlformats.org/officeDocument/2006/relationships/slideLayout" Target="../slideLayouts/slideLayout2.xml"/><Relationship Id="rId7" Type="http://schemas.openxmlformats.org/officeDocument/2006/relationships/image" Target="../media/image13.png"/><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image" Target="../media/image12.sv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5.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9.xml"/><Relationship Id="rId1" Type="http://schemas.openxmlformats.org/officeDocument/2006/relationships/image" Target="../media/image8.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1.xml.rels><?xml version="1.0" encoding="UTF-8" standalone="yes"?>
<Relationships xmlns="http://schemas.openxmlformats.org/package/2006/relationships"><Relationship Id="rId9" Type="http://schemas.openxmlformats.org/officeDocument/2006/relationships/tags" Target="../tags/tag19.xml"/><Relationship Id="rId8" Type="http://schemas.openxmlformats.org/officeDocument/2006/relationships/tags" Target="../tags/tag18.xml"/><Relationship Id="rId7" Type="http://schemas.openxmlformats.org/officeDocument/2006/relationships/tags" Target="../tags/tag17.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tags" Target="../tags/tag13.xml"/><Relationship Id="rId20" Type="http://schemas.openxmlformats.org/officeDocument/2006/relationships/notesSlide" Target="../notesSlides/notesSlide12.xml"/><Relationship Id="rId2" Type="http://schemas.openxmlformats.org/officeDocument/2006/relationships/tags" Target="../tags/tag12.xml"/><Relationship Id="rId19" Type="http://schemas.openxmlformats.org/officeDocument/2006/relationships/slideLayout" Target="../slideLayouts/slideLayout9.xml"/><Relationship Id="rId18" Type="http://schemas.openxmlformats.org/officeDocument/2006/relationships/tags" Target="../tags/tag27.xml"/><Relationship Id="rId17" Type="http://schemas.openxmlformats.org/officeDocument/2006/relationships/image" Target="../media/image17.png"/><Relationship Id="rId16" Type="http://schemas.openxmlformats.org/officeDocument/2006/relationships/tags" Target="../tags/tag26.xml"/><Relationship Id="rId15" Type="http://schemas.openxmlformats.org/officeDocument/2006/relationships/tags" Target="../tags/tag25.xml"/><Relationship Id="rId14" Type="http://schemas.openxmlformats.org/officeDocument/2006/relationships/tags" Target="../tags/tag24.xml"/><Relationship Id="rId13" Type="http://schemas.openxmlformats.org/officeDocument/2006/relationships/tags" Target="../tags/tag23.xml"/><Relationship Id="rId12" Type="http://schemas.openxmlformats.org/officeDocument/2006/relationships/tags" Target="../tags/tag22.xml"/><Relationship Id="rId11" Type="http://schemas.openxmlformats.org/officeDocument/2006/relationships/tags" Target="../tags/tag21.xml"/><Relationship Id="rId10" Type="http://schemas.openxmlformats.org/officeDocument/2006/relationships/tags" Target="../tags/tag20.xml"/><Relationship Id="rId1" Type="http://schemas.openxmlformats.org/officeDocument/2006/relationships/tags" Target="../tags/tag11.xm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16.png"/><Relationship Id="rId2" Type="http://schemas.openxmlformats.org/officeDocument/2006/relationships/tags" Target="../tags/tag29.xml"/><Relationship Id="rId1" Type="http://schemas.openxmlformats.org/officeDocument/2006/relationships/tags" Target="../tags/tag28.xml"/></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5.xml"/><Relationship Id="rId2" Type="http://schemas.openxmlformats.org/officeDocument/2006/relationships/image" Target="../media/image19.jpeg"/><Relationship Id="rId1" Type="http://schemas.openxmlformats.org/officeDocument/2006/relationships/image" Target="../media/image18.jpe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xml"/><Relationship Id="rId1"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xml"/><Relationship Id="rId1" Type="http://schemas.openxmlformats.org/officeDocument/2006/relationships/image" Target="../media/image21.jpe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2.jpe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5.xml"/><Relationship Id="rId2" Type="http://schemas.openxmlformats.org/officeDocument/2006/relationships/tags" Target="../tags/tag31.xml"/><Relationship Id="rId1" Type="http://schemas.openxmlformats.org/officeDocument/2006/relationships/tags" Target="../tags/tag3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image" Target="../media/image23.png"/></Relationships>
</file>

<file path=ppt/slides/_rels/slide32.xml.rels><?xml version="1.0" encoding="UTF-8" standalone="yes"?>
<Relationships xmlns="http://schemas.openxmlformats.org/package/2006/relationships"><Relationship Id="rId9" Type="http://schemas.openxmlformats.org/officeDocument/2006/relationships/tags" Target="../tags/tag40.xml"/><Relationship Id="rId8" Type="http://schemas.openxmlformats.org/officeDocument/2006/relationships/tags" Target="../tags/tag39.xml"/><Relationship Id="rId7" Type="http://schemas.openxmlformats.org/officeDocument/2006/relationships/tags" Target="../tags/tag38.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tags" Target="../tags/tag33.xml"/><Relationship Id="rId13" Type="http://schemas.openxmlformats.org/officeDocument/2006/relationships/notesSlide" Target="../notesSlides/notesSlide19.xml"/><Relationship Id="rId12" Type="http://schemas.openxmlformats.org/officeDocument/2006/relationships/slideLayout" Target="../slideLayouts/slideLayout5.xml"/><Relationship Id="rId11" Type="http://schemas.openxmlformats.org/officeDocument/2006/relationships/tags" Target="../tags/tag42.xml"/><Relationship Id="rId10" Type="http://schemas.openxmlformats.org/officeDocument/2006/relationships/tags" Target="../tags/tag41.xml"/><Relationship Id="rId1" Type="http://schemas.openxmlformats.org/officeDocument/2006/relationships/tags" Target="../tags/tag32.xml"/></Relationships>
</file>

<file path=ppt/slides/_rels/slide33.xml.rels><?xml version="1.0" encoding="UTF-8" standalone="yes"?>
<Relationships xmlns="http://schemas.openxmlformats.org/package/2006/relationships"><Relationship Id="rId6" Type="http://schemas.openxmlformats.org/officeDocument/2006/relationships/slideLayout" Target="../slideLayouts/slideLayout5.xml"/><Relationship Id="rId5" Type="http://schemas.openxmlformats.org/officeDocument/2006/relationships/image" Target="../media/image28.png"/><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34.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2.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image" Target="../media/image29.png"/></Relationships>
</file>

<file path=ppt/slides/_rels/slide35.xml.rels><?xml version="1.0" encoding="UTF-8" standalone="yes"?>
<Relationships xmlns="http://schemas.openxmlformats.org/package/2006/relationships"><Relationship Id="rId9" Type="http://schemas.openxmlformats.org/officeDocument/2006/relationships/tags" Target="../tags/tag52.xml"/><Relationship Id="rId8" Type="http://schemas.openxmlformats.org/officeDocument/2006/relationships/tags" Target="../tags/tag51.xml"/><Relationship Id="rId7" Type="http://schemas.openxmlformats.org/officeDocument/2006/relationships/tags" Target="../tags/tag50.xml"/><Relationship Id="rId6" Type="http://schemas.openxmlformats.org/officeDocument/2006/relationships/image" Target="../media/image30.png"/><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 Type="http://schemas.openxmlformats.org/officeDocument/2006/relationships/tags" Target="../tags/tag46.xml"/><Relationship Id="rId16" Type="http://schemas.openxmlformats.org/officeDocument/2006/relationships/slideLayout" Target="../slideLayouts/slideLayout5.xml"/><Relationship Id="rId15" Type="http://schemas.openxmlformats.org/officeDocument/2006/relationships/tags" Target="../tags/tag58.xml"/><Relationship Id="rId14" Type="http://schemas.openxmlformats.org/officeDocument/2006/relationships/tags" Target="../tags/tag57.xml"/><Relationship Id="rId13" Type="http://schemas.openxmlformats.org/officeDocument/2006/relationships/tags" Target="../tags/tag56.xml"/><Relationship Id="rId12" Type="http://schemas.openxmlformats.org/officeDocument/2006/relationships/tags" Target="../tags/tag55.xml"/><Relationship Id="rId11" Type="http://schemas.openxmlformats.org/officeDocument/2006/relationships/tags" Target="../tags/tag54.xml"/><Relationship Id="rId10" Type="http://schemas.openxmlformats.org/officeDocument/2006/relationships/tags" Target="../tags/tag53.xml"/><Relationship Id="rId1" Type="http://schemas.openxmlformats.org/officeDocument/2006/relationships/tags" Target="../tags/tag45.xml"/></Relationships>
</file>

<file path=ppt/slides/_rels/slide36.xml.rels><?xml version="1.0" encoding="UTF-8" standalone="yes"?>
<Relationships xmlns="http://schemas.openxmlformats.org/package/2006/relationships"><Relationship Id="rId9" Type="http://schemas.openxmlformats.org/officeDocument/2006/relationships/tags" Target="../tags/tag66.xml"/><Relationship Id="rId8" Type="http://schemas.openxmlformats.org/officeDocument/2006/relationships/tags" Target="../tags/tag65.xml"/><Relationship Id="rId7" Type="http://schemas.openxmlformats.org/officeDocument/2006/relationships/tags" Target="../tags/tag64.xml"/><Relationship Id="rId6" Type="http://schemas.openxmlformats.org/officeDocument/2006/relationships/image" Target="../media/image30.png"/><Relationship Id="rId5" Type="http://schemas.openxmlformats.org/officeDocument/2006/relationships/tags" Target="../tags/tag63.xml"/><Relationship Id="rId4" Type="http://schemas.openxmlformats.org/officeDocument/2006/relationships/tags" Target="../tags/tag62.xml"/><Relationship Id="rId3" Type="http://schemas.openxmlformats.org/officeDocument/2006/relationships/tags" Target="../tags/tag61.xml"/><Relationship Id="rId2" Type="http://schemas.openxmlformats.org/officeDocument/2006/relationships/tags" Target="../tags/tag60.xml"/><Relationship Id="rId16" Type="http://schemas.openxmlformats.org/officeDocument/2006/relationships/slideLayout" Target="../slideLayouts/slideLayout5.xml"/><Relationship Id="rId15" Type="http://schemas.openxmlformats.org/officeDocument/2006/relationships/tags" Target="../tags/tag72.xml"/><Relationship Id="rId14" Type="http://schemas.openxmlformats.org/officeDocument/2006/relationships/tags" Target="../tags/tag71.xml"/><Relationship Id="rId13" Type="http://schemas.openxmlformats.org/officeDocument/2006/relationships/tags" Target="../tags/tag70.xml"/><Relationship Id="rId12" Type="http://schemas.openxmlformats.org/officeDocument/2006/relationships/tags" Target="../tags/tag69.xml"/><Relationship Id="rId11" Type="http://schemas.openxmlformats.org/officeDocument/2006/relationships/tags" Target="../tags/tag68.xml"/><Relationship Id="rId10" Type="http://schemas.openxmlformats.org/officeDocument/2006/relationships/tags" Target="../tags/tag67.xml"/><Relationship Id="rId1" Type="http://schemas.openxmlformats.org/officeDocument/2006/relationships/tags" Target="../tags/tag59.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38.xml.rels><?xml version="1.0" encoding="UTF-8" standalone="yes"?>
<Relationships xmlns="http://schemas.openxmlformats.org/package/2006/relationships"><Relationship Id="rId9" Type="http://schemas.openxmlformats.org/officeDocument/2006/relationships/vmlDrawing" Target="../drawings/vmlDrawing1.vml"/><Relationship Id="rId8" Type="http://schemas.openxmlformats.org/officeDocument/2006/relationships/slideLayout" Target="../slideLayouts/slideLayout2.xml"/><Relationship Id="rId7" Type="http://schemas.openxmlformats.org/officeDocument/2006/relationships/oleObject" Target="../embeddings/oleObject6.bin"/><Relationship Id="rId6" Type="http://schemas.openxmlformats.org/officeDocument/2006/relationships/oleObject" Target="../embeddings/oleObject5.bin"/><Relationship Id="rId5" Type="http://schemas.openxmlformats.org/officeDocument/2006/relationships/oleObject" Target="../embeddings/oleObject4.bin"/><Relationship Id="rId4" Type="http://schemas.openxmlformats.org/officeDocument/2006/relationships/oleObject" Target="../embeddings/oleObject3.bin"/><Relationship Id="rId3" Type="http://schemas.openxmlformats.org/officeDocument/2006/relationships/oleObject" Target="../embeddings/oleObject2.bin"/><Relationship Id="rId2" Type="http://schemas.openxmlformats.org/officeDocument/2006/relationships/image" Target="../media/image32.wmf"/><Relationship Id="rId1" Type="http://schemas.openxmlformats.org/officeDocument/2006/relationships/oleObject" Target="../embeddings/oleObject1.bin"/></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24.png"/><Relationship Id="rId1" Type="http://schemas.openxmlformats.org/officeDocument/2006/relationships/image" Target="../media/image3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4.png"/></Relationships>
</file>

<file path=ppt/slides/_rels/slide48.xml.rels><?xml version="1.0" encoding="UTF-8" standalone="yes"?>
<Relationships xmlns="http://schemas.openxmlformats.org/package/2006/relationships"><Relationship Id="rId8" Type="http://schemas.openxmlformats.org/officeDocument/2006/relationships/notesSlide" Target="../notesSlides/notesSlide23.xml"/><Relationship Id="rId7" Type="http://schemas.openxmlformats.org/officeDocument/2006/relationships/slideLayout" Target="../slideLayouts/slideLayout5.xml"/><Relationship Id="rId6" Type="http://schemas.openxmlformats.org/officeDocument/2006/relationships/tags" Target="../tags/tag74.xml"/><Relationship Id="rId5" Type="http://schemas.openxmlformats.org/officeDocument/2006/relationships/tags" Target="../tags/tag73.xml"/><Relationship Id="rId4" Type="http://schemas.openxmlformats.org/officeDocument/2006/relationships/image" Target="../media/image38.png"/><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5.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75.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76.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77.xml"/></Relationships>
</file>

<file path=ppt/slides/_rels/slide52.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tags" Target="../tags/tag80.xml"/><Relationship Id="rId2" Type="http://schemas.openxmlformats.org/officeDocument/2006/relationships/tags" Target="../tags/tag79.xml"/><Relationship Id="rId1" Type="http://schemas.openxmlformats.org/officeDocument/2006/relationships/tags" Target="../tags/tag78.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81.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82.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83.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84.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85.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xml"/><Relationship Id="rId1" Type="http://schemas.openxmlformats.org/officeDocument/2006/relationships/image" Target="../media/image39.jpe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5.xml"/><Relationship Id="rId1" Type="http://schemas.openxmlformats.org/officeDocument/2006/relationships/image" Target="../media/image40.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5.xml"/><Relationship Id="rId1" Type="http://schemas.openxmlformats.org/officeDocument/2006/relationships/image" Target="../media/image41.pn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9" Type="http://schemas.openxmlformats.org/officeDocument/2006/relationships/tags" Target="../tags/tag94.xml"/><Relationship Id="rId8" Type="http://schemas.openxmlformats.org/officeDocument/2006/relationships/tags" Target="../tags/tag93.xml"/><Relationship Id="rId7" Type="http://schemas.openxmlformats.org/officeDocument/2006/relationships/tags" Target="../tags/tag92.xml"/><Relationship Id="rId6" Type="http://schemas.openxmlformats.org/officeDocument/2006/relationships/tags" Target="../tags/tag91.xml"/><Relationship Id="rId5" Type="http://schemas.openxmlformats.org/officeDocument/2006/relationships/tags" Target="../tags/tag90.xml"/><Relationship Id="rId4" Type="http://schemas.openxmlformats.org/officeDocument/2006/relationships/tags" Target="../tags/tag89.xml"/><Relationship Id="rId3" Type="http://schemas.openxmlformats.org/officeDocument/2006/relationships/tags" Target="../tags/tag88.xml"/><Relationship Id="rId2" Type="http://schemas.openxmlformats.org/officeDocument/2006/relationships/tags" Target="../tags/tag87.xml"/><Relationship Id="rId18" Type="http://schemas.openxmlformats.org/officeDocument/2006/relationships/slideLayout" Target="../slideLayouts/slideLayout5.xml"/><Relationship Id="rId17" Type="http://schemas.openxmlformats.org/officeDocument/2006/relationships/tags" Target="../tags/tag102.xml"/><Relationship Id="rId16" Type="http://schemas.openxmlformats.org/officeDocument/2006/relationships/tags" Target="../tags/tag101.xml"/><Relationship Id="rId15" Type="http://schemas.openxmlformats.org/officeDocument/2006/relationships/tags" Target="../tags/tag100.xml"/><Relationship Id="rId14" Type="http://schemas.openxmlformats.org/officeDocument/2006/relationships/tags" Target="../tags/tag99.xml"/><Relationship Id="rId13" Type="http://schemas.openxmlformats.org/officeDocument/2006/relationships/tags" Target="../tags/tag98.xml"/><Relationship Id="rId12" Type="http://schemas.openxmlformats.org/officeDocument/2006/relationships/tags" Target="../tags/tag97.xml"/><Relationship Id="rId11" Type="http://schemas.openxmlformats.org/officeDocument/2006/relationships/tags" Target="../tags/tag96.xml"/><Relationship Id="rId10" Type="http://schemas.openxmlformats.org/officeDocument/2006/relationships/tags" Target="../tags/tag95.xml"/><Relationship Id="rId1" Type="http://schemas.openxmlformats.org/officeDocument/2006/relationships/tags" Target="../tags/tag86.xml"/></Relationships>
</file>

<file path=ppt/slides/_rels/slide80.xml.rels><?xml version="1.0" encoding="UTF-8" standalone="yes"?>
<Relationships xmlns="http://schemas.openxmlformats.org/package/2006/relationships"><Relationship Id="rId9" Type="http://schemas.openxmlformats.org/officeDocument/2006/relationships/tags" Target="../tags/tag109.xml"/><Relationship Id="rId8" Type="http://schemas.openxmlformats.org/officeDocument/2006/relationships/tags" Target="../tags/tag108.xml"/><Relationship Id="rId7" Type="http://schemas.openxmlformats.org/officeDocument/2006/relationships/tags" Target="../tags/tag107.xml"/><Relationship Id="rId6" Type="http://schemas.openxmlformats.org/officeDocument/2006/relationships/tags" Target="../tags/tag106.xml"/><Relationship Id="rId5" Type="http://schemas.openxmlformats.org/officeDocument/2006/relationships/image" Target="../media/image43.svg"/><Relationship Id="rId4" Type="http://schemas.openxmlformats.org/officeDocument/2006/relationships/image" Target="../media/image42.png"/><Relationship Id="rId36" Type="http://schemas.openxmlformats.org/officeDocument/2006/relationships/slideLayout" Target="../slideLayouts/slideLayout5.xml"/><Relationship Id="rId35" Type="http://schemas.openxmlformats.org/officeDocument/2006/relationships/tags" Target="../tags/tag127.xml"/><Relationship Id="rId34" Type="http://schemas.openxmlformats.org/officeDocument/2006/relationships/image" Target="../media/image51.svg"/><Relationship Id="rId33" Type="http://schemas.openxmlformats.org/officeDocument/2006/relationships/image" Target="../media/image50.png"/><Relationship Id="rId32" Type="http://schemas.openxmlformats.org/officeDocument/2006/relationships/tags" Target="../tags/tag126.xml"/><Relationship Id="rId31" Type="http://schemas.openxmlformats.org/officeDocument/2006/relationships/image" Target="../media/image49.svg"/><Relationship Id="rId30" Type="http://schemas.openxmlformats.org/officeDocument/2006/relationships/image" Target="../media/image48.png"/><Relationship Id="rId3" Type="http://schemas.openxmlformats.org/officeDocument/2006/relationships/tags" Target="../tags/tag105.xml"/><Relationship Id="rId29" Type="http://schemas.openxmlformats.org/officeDocument/2006/relationships/tags" Target="../tags/tag125.xml"/><Relationship Id="rId28" Type="http://schemas.openxmlformats.org/officeDocument/2006/relationships/image" Target="../media/image47.svg"/><Relationship Id="rId27" Type="http://schemas.openxmlformats.org/officeDocument/2006/relationships/image" Target="../media/image46.png"/><Relationship Id="rId26" Type="http://schemas.openxmlformats.org/officeDocument/2006/relationships/tags" Target="../tags/tag124.xml"/><Relationship Id="rId25" Type="http://schemas.openxmlformats.org/officeDocument/2006/relationships/image" Target="../media/image45.svg"/><Relationship Id="rId24" Type="http://schemas.openxmlformats.org/officeDocument/2006/relationships/image" Target="../media/image44.png"/><Relationship Id="rId23" Type="http://schemas.openxmlformats.org/officeDocument/2006/relationships/tags" Target="../tags/tag123.xml"/><Relationship Id="rId22" Type="http://schemas.openxmlformats.org/officeDocument/2006/relationships/tags" Target="../tags/tag122.xml"/><Relationship Id="rId21" Type="http://schemas.openxmlformats.org/officeDocument/2006/relationships/tags" Target="../tags/tag121.xml"/><Relationship Id="rId20" Type="http://schemas.openxmlformats.org/officeDocument/2006/relationships/tags" Target="../tags/tag120.xml"/><Relationship Id="rId2" Type="http://schemas.openxmlformats.org/officeDocument/2006/relationships/tags" Target="../tags/tag104.xml"/><Relationship Id="rId19" Type="http://schemas.openxmlformats.org/officeDocument/2006/relationships/tags" Target="../tags/tag119.xml"/><Relationship Id="rId18" Type="http://schemas.openxmlformats.org/officeDocument/2006/relationships/tags" Target="../tags/tag118.xml"/><Relationship Id="rId17" Type="http://schemas.openxmlformats.org/officeDocument/2006/relationships/tags" Target="../tags/tag117.xml"/><Relationship Id="rId16" Type="http://schemas.openxmlformats.org/officeDocument/2006/relationships/tags" Target="../tags/tag116.xml"/><Relationship Id="rId15" Type="http://schemas.openxmlformats.org/officeDocument/2006/relationships/tags" Target="../tags/tag115.xml"/><Relationship Id="rId14" Type="http://schemas.openxmlformats.org/officeDocument/2006/relationships/tags" Target="../tags/tag114.xml"/><Relationship Id="rId13" Type="http://schemas.openxmlformats.org/officeDocument/2006/relationships/tags" Target="../tags/tag113.xml"/><Relationship Id="rId12" Type="http://schemas.openxmlformats.org/officeDocument/2006/relationships/tags" Target="../tags/tag112.xml"/><Relationship Id="rId11" Type="http://schemas.openxmlformats.org/officeDocument/2006/relationships/tags" Target="../tags/tag111.xml"/><Relationship Id="rId10" Type="http://schemas.openxmlformats.org/officeDocument/2006/relationships/tags" Target="../tags/tag110.xml"/><Relationship Id="rId1" Type="http://schemas.openxmlformats.org/officeDocument/2006/relationships/tags" Target="../tags/tag10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5.xml"/><Relationship Id="rId1" Type="http://schemas.openxmlformats.org/officeDocument/2006/relationships/image" Target="../media/image52.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28.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9.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5.xml"/><Relationship Id="rId1" Type="http://schemas.openxmlformats.org/officeDocument/2006/relationships/image" Target="../media/image53.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55.png"/><Relationship Id="rId1" Type="http://schemas.openxmlformats.org/officeDocument/2006/relationships/image" Target="../media/image54.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image" Target="../media/image56.png"/></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image" Target="../media/image59.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275645" y="987551"/>
            <a:ext cx="8582606" cy="2468645"/>
          </a:xfrm>
        </p:spPr>
        <p:txBody>
          <a:bodyPr>
            <a:normAutofit/>
          </a:bodyPr>
          <a:lstStyle/>
          <a:p>
            <a:pPr>
              <a:lnSpc>
                <a:spcPct val="100000"/>
              </a:lnSpc>
              <a:spcBef>
                <a:spcPts val="3600"/>
              </a:spcBef>
              <a:spcAft>
                <a:spcPts val="3600"/>
              </a:spcAft>
            </a:pPr>
            <a:r>
              <a:rPr lang="zh-CN" altLang="en-US" sz="4800" dirty="0">
                <a:solidFill>
                  <a:srgbClr val="000000"/>
                </a:solidFill>
              </a:rPr>
              <a:t>软件工程</a:t>
            </a:r>
            <a:br>
              <a:rPr lang="en-US" altLang="zh-CN" sz="4800" dirty="0">
                <a:solidFill>
                  <a:srgbClr val="000000"/>
                </a:solidFill>
              </a:rPr>
            </a:br>
            <a:r>
              <a:rPr lang="en-US" altLang="zh-CN" sz="3200" cap="none" dirty="0">
                <a:solidFill>
                  <a:srgbClr val="000000"/>
                </a:solidFill>
                <a:effectLst>
                  <a:outerShdw blurRad="38100" dist="38100" dir="2700000" algn="tl">
                    <a:srgbClr val="000000">
                      <a:alpha val="43137"/>
                    </a:srgbClr>
                  </a:outerShdw>
                </a:effectLst>
                <a:ea typeface="华文中宋" panose="02010600040101010101" pitchFamily="2" charset="-122"/>
              </a:rPr>
              <a:t>——</a:t>
            </a:r>
            <a:r>
              <a:rPr lang="zh-CN" altLang="en-US" sz="3200" cap="none" dirty="0">
                <a:solidFill>
                  <a:srgbClr val="000000"/>
                </a:solidFill>
                <a:effectLst>
                  <a:outerShdw blurRad="38100" dist="38100" dir="2700000" algn="tl">
                    <a:srgbClr val="000000">
                      <a:alpha val="43137"/>
                    </a:srgbClr>
                  </a:outerShdw>
                </a:effectLst>
                <a:ea typeface="华文中宋" panose="02010600040101010101" pitchFamily="2" charset="-122"/>
              </a:rPr>
              <a:t>需求分析</a:t>
            </a:r>
            <a:endParaRPr lang="zh-CN" altLang="en-US" sz="3200" cap="none" dirty="0">
              <a:solidFill>
                <a:srgbClr val="000000"/>
              </a:solidFill>
              <a:effectLst>
                <a:outerShdw blurRad="38100" dist="38100" dir="2700000" algn="tl">
                  <a:srgbClr val="000000">
                    <a:alpha val="43137"/>
                  </a:srgbClr>
                </a:outerShdw>
              </a:effectLst>
              <a:ea typeface="华文中宋" panose="02010600040101010101" pitchFamily="2" charset="-122"/>
            </a:endParaRPr>
          </a:p>
        </p:txBody>
      </p:sp>
      <p:sp>
        <p:nvSpPr>
          <p:cNvPr id="3" name="副标题 2"/>
          <p:cNvSpPr>
            <a:spLocks noGrp="1"/>
          </p:cNvSpPr>
          <p:nvPr>
            <p:ph type="subTitle" idx="1"/>
          </p:nvPr>
        </p:nvSpPr>
        <p:spPr>
          <a:xfrm>
            <a:off x="1958907" y="3620351"/>
            <a:ext cx="6899344" cy="1380882"/>
          </a:xfrm>
        </p:spPr>
        <p:txBody>
          <a:bodyPr>
            <a:normAutofit/>
          </a:bodyPr>
          <a:lstStyle/>
          <a:p>
            <a:r>
              <a:rPr lang="zh-CN" altLang="en-US" sz="1800" dirty="0">
                <a:latin typeface="+mj-ea"/>
                <a:ea typeface="+mj-ea"/>
              </a:rPr>
              <a:t>          河南大学软件学院                                          </a:t>
            </a:r>
            <a:r>
              <a:rPr lang="zh-CN" altLang="en-US" sz="1800" dirty="0">
                <a:latin typeface="+mj-ea"/>
                <a:ea typeface="+mj-ea"/>
              </a:rPr>
              <a:t>李威</a:t>
            </a:r>
            <a:endParaRPr lang="zh-CN" altLang="en-US" sz="1800" dirty="0">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前情回顾</a:t>
            </a:r>
            <a:endParaRPr lang="zh-CN" altLang="en-US" dirty="0"/>
          </a:p>
        </p:txBody>
      </p:sp>
      <p:sp>
        <p:nvSpPr>
          <p:cNvPr id="3" name="内容占位符 2"/>
          <p:cNvSpPr>
            <a:spLocks noGrp="1"/>
          </p:cNvSpPr>
          <p:nvPr>
            <p:ph idx="1"/>
          </p:nvPr>
        </p:nvSpPr>
        <p:spPr>
          <a:xfrm>
            <a:off x="1094321" y="1017271"/>
            <a:ext cx="7506609" cy="3520440"/>
          </a:xfrm>
        </p:spPr>
        <p:txBody>
          <a:bodyPr>
            <a:normAutofit/>
          </a:bodyPr>
          <a:lstStyle/>
          <a:p>
            <a:pPr>
              <a:lnSpc>
                <a:spcPct val="110000"/>
              </a:lnSpc>
            </a:pPr>
            <a:r>
              <a:rPr lang="zh-CN" altLang="en-US" dirty="0"/>
              <a:t>软件计划阶段</a:t>
            </a:r>
            <a:endParaRPr lang="en-US" altLang="zh-CN" dirty="0"/>
          </a:p>
          <a:p>
            <a:pPr lvl="1"/>
            <a:r>
              <a:rPr lang="zh-CN" altLang="en-US" dirty="0"/>
              <a:t>问题定义</a:t>
            </a:r>
            <a:endParaRPr lang="en-US" altLang="zh-CN" dirty="0"/>
          </a:p>
          <a:p>
            <a:pPr lvl="1"/>
            <a:r>
              <a:rPr lang="zh-CN" altLang="en-US" dirty="0"/>
              <a:t>可行性研究和项目计划</a:t>
            </a:r>
            <a:endParaRPr lang="en-US" altLang="zh-CN" dirty="0"/>
          </a:p>
          <a:p>
            <a:pPr>
              <a:lnSpc>
                <a:spcPct val="110000"/>
              </a:lnSpc>
            </a:pPr>
            <a:r>
              <a:rPr lang="en-US" altLang="zh-CN" dirty="0"/>
              <a:t>UML</a:t>
            </a:r>
            <a:r>
              <a:rPr lang="zh-CN" altLang="en-US" dirty="0"/>
              <a:t>概述</a:t>
            </a:r>
            <a:endParaRPr lang="en-US" altLang="zh-CN" dirty="0"/>
          </a:p>
          <a:p>
            <a:pPr lvl="1"/>
            <a:r>
              <a:rPr lang="en-US" altLang="zh-CN" dirty="0"/>
              <a:t>UML</a:t>
            </a:r>
            <a:r>
              <a:rPr lang="zh-CN" altLang="en-US" dirty="0"/>
              <a:t>的作用、组成、</a:t>
            </a:r>
            <a:r>
              <a:rPr lang="en-US" altLang="zh-CN" dirty="0"/>
              <a:t>5</a:t>
            </a:r>
            <a:r>
              <a:rPr lang="zh-CN" altLang="en-US" dirty="0"/>
              <a:t>类图形</a:t>
            </a:r>
            <a:endParaRPr lang="zh-CN" altLang="en-US" dirty="0"/>
          </a:p>
        </p:txBody>
      </p:sp>
      <p:sp>
        <p:nvSpPr>
          <p:cNvPr id="4" name="日期占位符 3"/>
          <p:cNvSpPr>
            <a:spLocks noGrp="1"/>
          </p:cNvSpPr>
          <p:nvPr>
            <p:ph type="dt" sz="half" idx="10"/>
          </p:nvPr>
        </p:nvSpPr>
        <p:spPr/>
        <p:txBody>
          <a:bodyPr/>
          <a:lstStyle/>
          <a:p>
            <a:fld id="{4C5B2320-91D2-47C7-8137-E92D9315E73E}"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dirty="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17" name="文本框 16"/>
          <p:cNvSpPr txBox="1"/>
          <p:nvPr/>
        </p:nvSpPr>
        <p:spPr>
          <a:xfrm>
            <a:off x="4047070" y="1017271"/>
            <a:ext cx="4972051" cy="2246769"/>
          </a:xfrm>
          <a:prstGeom prst="borderCallout1">
            <a:avLst>
              <a:gd name="adj1" fmla="val 101024"/>
              <a:gd name="adj2" fmla="val 59720"/>
              <a:gd name="adj3" fmla="val 119231"/>
              <a:gd name="adj4" fmla="val 35652"/>
            </a:avLst>
          </a:prstGeom>
          <a:solidFill>
            <a:schemeClr val="bg1">
              <a:lumMod val="95000"/>
            </a:schemeClr>
          </a:solidFill>
          <a:ln>
            <a:solidFill>
              <a:schemeClr val="tx1"/>
            </a:solidFill>
          </a:ln>
        </p:spPr>
        <p:txBody>
          <a:bodyPr wrap="square" rtlCol="0">
            <a:spAutoFit/>
          </a:bodyPr>
          <a:lstStyle/>
          <a:p>
            <a:pPr marL="457200" indent="-457200">
              <a:lnSpc>
                <a:spcPct val="100000"/>
              </a:lnSpc>
              <a:spcBef>
                <a:spcPts val="1200"/>
              </a:spcBef>
              <a:buNone/>
            </a:pPr>
            <a:r>
              <a:rPr lang="zh-CN" altLang="en-US" sz="2000" dirty="0">
                <a:latin typeface="+mj-ea"/>
                <a:ea typeface="+mj-ea"/>
              </a:rPr>
              <a:t>第</a:t>
            </a:r>
            <a:r>
              <a:rPr lang="en-US" altLang="zh-CN" sz="2000" dirty="0">
                <a:latin typeface="+mj-ea"/>
                <a:ea typeface="+mj-ea"/>
              </a:rPr>
              <a:t>1</a:t>
            </a:r>
            <a:r>
              <a:rPr lang="zh-CN" altLang="en-US" sz="2000" dirty="0">
                <a:latin typeface="+mj-ea"/>
                <a:ea typeface="+mj-ea"/>
              </a:rPr>
              <a:t>类：用例图</a:t>
            </a:r>
            <a:endParaRPr lang="zh-CN" altLang="en-US" sz="2000" dirty="0">
              <a:latin typeface="+mj-ea"/>
              <a:ea typeface="+mj-ea"/>
            </a:endParaRPr>
          </a:p>
          <a:p>
            <a:pPr marL="457200" indent="-457200">
              <a:lnSpc>
                <a:spcPct val="100000"/>
              </a:lnSpc>
              <a:spcBef>
                <a:spcPts val="1200"/>
              </a:spcBef>
              <a:buNone/>
            </a:pPr>
            <a:r>
              <a:rPr lang="zh-CN" altLang="en-US" sz="2000" dirty="0">
                <a:latin typeface="+mj-ea"/>
                <a:ea typeface="+mj-ea"/>
              </a:rPr>
              <a:t>第</a:t>
            </a:r>
            <a:r>
              <a:rPr lang="en-US" altLang="zh-CN" sz="2000" dirty="0">
                <a:latin typeface="+mj-ea"/>
                <a:ea typeface="+mj-ea"/>
              </a:rPr>
              <a:t>2</a:t>
            </a:r>
            <a:r>
              <a:rPr lang="zh-CN" altLang="en-US" sz="2000" dirty="0">
                <a:latin typeface="+mj-ea"/>
                <a:ea typeface="+mj-ea"/>
              </a:rPr>
              <a:t>类：静态图（包括类图、对象图和包图）</a:t>
            </a:r>
            <a:endParaRPr lang="zh-CN" altLang="en-US" sz="2000" dirty="0">
              <a:latin typeface="+mj-ea"/>
              <a:ea typeface="+mj-ea"/>
            </a:endParaRPr>
          </a:p>
          <a:p>
            <a:pPr marL="457200" indent="-457200">
              <a:lnSpc>
                <a:spcPct val="100000"/>
              </a:lnSpc>
              <a:spcBef>
                <a:spcPts val="1200"/>
              </a:spcBef>
              <a:buNone/>
            </a:pPr>
            <a:r>
              <a:rPr lang="zh-CN" altLang="en-US" sz="2000" dirty="0">
                <a:latin typeface="+mj-ea"/>
                <a:ea typeface="+mj-ea"/>
              </a:rPr>
              <a:t>第</a:t>
            </a:r>
            <a:r>
              <a:rPr lang="en-US" altLang="zh-CN" sz="2000" dirty="0">
                <a:latin typeface="+mj-ea"/>
                <a:ea typeface="+mj-ea"/>
              </a:rPr>
              <a:t>3</a:t>
            </a:r>
            <a:r>
              <a:rPr lang="zh-CN" altLang="en-US" sz="2000" dirty="0">
                <a:latin typeface="+mj-ea"/>
                <a:ea typeface="+mj-ea"/>
              </a:rPr>
              <a:t>类：行为图（包括状态图和活动图）</a:t>
            </a:r>
            <a:endParaRPr lang="zh-CN" altLang="en-US" sz="2000" dirty="0">
              <a:latin typeface="+mj-ea"/>
              <a:ea typeface="+mj-ea"/>
            </a:endParaRPr>
          </a:p>
          <a:p>
            <a:pPr marL="457200" indent="-457200">
              <a:lnSpc>
                <a:spcPct val="100000"/>
              </a:lnSpc>
              <a:spcBef>
                <a:spcPts val="1200"/>
              </a:spcBef>
              <a:buNone/>
            </a:pPr>
            <a:r>
              <a:rPr lang="zh-CN" altLang="en-US" sz="2000" dirty="0">
                <a:latin typeface="+mj-ea"/>
                <a:ea typeface="+mj-ea"/>
              </a:rPr>
              <a:t>第</a:t>
            </a:r>
            <a:r>
              <a:rPr lang="en-US" altLang="zh-CN" sz="2000" dirty="0">
                <a:latin typeface="+mj-ea"/>
                <a:ea typeface="+mj-ea"/>
              </a:rPr>
              <a:t>4</a:t>
            </a:r>
            <a:r>
              <a:rPr lang="zh-CN" altLang="en-US" sz="2000" dirty="0">
                <a:latin typeface="+mj-ea"/>
                <a:ea typeface="+mj-ea"/>
              </a:rPr>
              <a:t>类：交互图（包括时序图和协作图）</a:t>
            </a:r>
            <a:endParaRPr lang="zh-CN" altLang="en-US" sz="2000" dirty="0">
              <a:latin typeface="+mj-ea"/>
              <a:ea typeface="+mj-ea"/>
            </a:endParaRPr>
          </a:p>
          <a:p>
            <a:pPr marL="457200" indent="-457200">
              <a:lnSpc>
                <a:spcPct val="100000"/>
              </a:lnSpc>
              <a:spcBef>
                <a:spcPts val="1200"/>
              </a:spcBef>
              <a:buNone/>
            </a:pPr>
            <a:r>
              <a:rPr lang="zh-CN" altLang="en-US" sz="2000" dirty="0">
                <a:latin typeface="+mj-ea"/>
                <a:ea typeface="+mj-ea"/>
              </a:rPr>
              <a:t>第</a:t>
            </a:r>
            <a:r>
              <a:rPr lang="en-US" altLang="zh-CN" sz="2000" dirty="0">
                <a:latin typeface="+mj-ea"/>
                <a:ea typeface="+mj-ea"/>
              </a:rPr>
              <a:t>5</a:t>
            </a:r>
            <a:r>
              <a:rPr lang="zh-CN" altLang="en-US" sz="2000" dirty="0">
                <a:latin typeface="+mj-ea"/>
                <a:ea typeface="+mj-ea"/>
              </a:rPr>
              <a:t>类：实现图（包括组件图和配置图）</a:t>
            </a:r>
            <a:endParaRPr lang="zh-CN" altLang="en-US" sz="2000" dirty="0">
              <a:solidFill>
                <a:srgbClr val="FF0000"/>
              </a:solidFill>
              <a:latin typeface="+mj-ea"/>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知识回顾</a:t>
            </a:r>
            <a:endParaRPr lang="zh-CN" altLang="en-US"/>
          </a:p>
        </p:txBody>
      </p:sp>
      <p:sp>
        <p:nvSpPr>
          <p:cNvPr id="3" name="内容占位符 2"/>
          <p:cNvSpPr>
            <a:spLocks noGrp="1"/>
          </p:cNvSpPr>
          <p:nvPr>
            <p:ph idx="1"/>
          </p:nvPr>
        </p:nvSpPr>
        <p:spPr>
          <a:xfrm>
            <a:off x="768350" y="925195"/>
            <a:ext cx="4593590" cy="1393190"/>
          </a:xfrm>
        </p:spPr>
        <p:txBody>
          <a:bodyPr/>
          <a:p>
            <a:r>
              <a:rPr lang="zh-CN" altLang="en-US" dirty="0">
                <a:latin typeface="+mn-ea"/>
                <a:sym typeface="+mn-ea"/>
              </a:rPr>
              <a:t>从技术、经济、</a:t>
            </a:r>
            <a:r>
              <a:rPr lang="zh-CN" altLang="en-US" dirty="0">
                <a:latin typeface="+mn-ea"/>
                <a:sym typeface="+mn-ea"/>
              </a:rPr>
              <a:t>法律三个方面研究系统的</a:t>
            </a:r>
            <a:r>
              <a:rPr lang="zh-CN" altLang="en-US" dirty="0">
                <a:latin typeface="+mn-ea"/>
                <a:sym typeface="+mn-ea"/>
              </a:rPr>
              <a:t>可行性。</a:t>
            </a:r>
            <a:endParaRPr lang="zh-CN" altLang="en-US" dirty="0">
              <a:latin typeface="+mn-ea"/>
              <a:sym typeface="+mn-ea"/>
            </a:endParaRPr>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pic>
        <p:nvPicPr>
          <p:cNvPr id="10" name="Picture 2" descr="0201"/>
          <p:cNvPicPr>
            <a:picLocks noChangeAspect="1" noChangeArrowheads="1"/>
          </p:cNvPicPr>
          <p:nvPr>
            <p:custDataLst>
              <p:tags r:id="rId1"/>
            </p:custDataLst>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523451" y="975814"/>
            <a:ext cx="3404649" cy="2989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内容占位符 2"/>
          <p:cNvSpPr>
            <a:spLocks noGrp="1"/>
          </p:cNvSpPr>
          <p:nvPr>
            <p:custDataLst>
              <p:tags r:id="rId3"/>
            </p:custDataLst>
          </p:nvPr>
        </p:nvSpPr>
        <p:spPr>
          <a:xfrm>
            <a:off x="929640" y="2571750"/>
            <a:ext cx="4593590" cy="1393190"/>
          </a:xfrm>
          <a:prstGeom prst="rect">
            <a:avLst/>
          </a:prstGeom>
        </p:spPr>
        <p:txBody>
          <a:bodyPr vert="horz" lIns="45720" tIns="45720" rIns="45720" bIns="45720" rtlCol="0">
            <a:normAutofit/>
          </a:bodyPr>
          <a:lstStyle>
            <a:lvl1pPr marL="68580" indent="-431800" algn="just" defTabSz="685800" rtl="0" eaLnBrk="1" latinLnBrk="0" hangingPunct="1">
              <a:lnSpc>
                <a:spcPct val="110000"/>
              </a:lnSpc>
              <a:spcBef>
                <a:spcPts val="1200"/>
              </a:spcBef>
              <a:spcAft>
                <a:spcPts val="0"/>
              </a:spcAft>
              <a:buClr>
                <a:schemeClr val="accent1"/>
              </a:buClr>
              <a:buSzPct val="80000"/>
              <a:buFont typeface="Arial" panose="020B0604020202020204" pitchFamily="34" charset="0"/>
              <a:buChar char="֍"/>
              <a:defRPr sz="2800" kern="1200">
                <a:solidFill>
                  <a:schemeClr val="tx2">
                    <a:lumMod val="90000"/>
                    <a:lumOff val="10000"/>
                  </a:schemeClr>
                </a:solidFill>
                <a:latin typeface="+mj-ea"/>
                <a:ea typeface="+mj-ea"/>
                <a:cs typeface="+mn-cs"/>
              </a:defRPr>
            </a:lvl1pPr>
            <a:lvl2pPr marL="720090" indent="-360045" algn="just" defTabSz="685800" rtl="0" eaLnBrk="1" latinLnBrk="0" hangingPunct="1">
              <a:lnSpc>
                <a:spcPct val="110000"/>
              </a:lnSpc>
              <a:spcBef>
                <a:spcPts val="1200"/>
              </a:spcBef>
              <a:spcAft>
                <a:spcPts val="0"/>
              </a:spcAft>
              <a:buClr>
                <a:schemeClr val="accent2"/>
              </a:buClr>
              <a:buFont typeface="Arial" panose="020B0604020202020204" pitchFamily="34" charset="0"/>
              <a:buChar char="→"/>
              <a:defRPr sz="2400" kern="1200">
                <a:solidFill>
                  <a:schemeClr val="tx2">
                    <a:lumMod val="90000"/>
                    <a:lumOff val="10000"/>
                  </a:schemeClr>
                </a:solidFill>
                <a:latin typeface="+mj-ea"/>
                <a:ea typeface="+mj-ea"/>
                <a:cs typeface="+mn-cs"/>
              </a:defRPr>
            </a:lvl2pPr>
            <a:lvl3pPr marL="1080135" indent="-288290" algn="just" defTabSz="685800" rtl="0" eaLnBrk="1" latinLnBrk="0" hangingPunct="1">
              <a:lnSpc>
                <a:spcPct val="110000"/>
              </a:lnSpc>
              <a:spcBef>
                <a:spcPts val="1200"/>
              </a:spcBef>
              <a:spcAft>
                <a:spcPts val="0"/>
              </a:spcAft>
              <a:buClr>
                <a:schemeClr val="accent2"/>
              </a:buClr>
              <a:buFont typeface="Wingdings 3" panose="05040102010807070707" pitchFamily="18" charset="2"/>
              <a:buChar char=""/>
              <a:defRPr sz="2000" kern="1200">
                <a:solidFill>
                  <a:schemeClr val="tx2">
                    <a:lumMod val="90000"/>
                    <a:lumOff val="10000"/>
                  </a:schemeClr>
                </a:solidFill>
                <a:latin typeface="+mj-ea"/>
                <a:ea typeface="+mj-ea"/>
                <a:cs typeface="+mn-cs"/>
              </a:defRPr>
            </a:lvl3pPr>
            <a:lvl4pPr marL="1259840" indent="-288290" algn="l" defTabSz="685800" rtl="0" eaLnBrk="1" latinLnBrk="0" hangingPunct="1">
              <a:lnSpc>
                <a:spcPct val="90000"/>
              </a:lnSpc>
              <a:spcBef>
                <a:spcPts val="600"/>
              </a:spcBef>
              <a:spcAft>
                <a:spcPts val="300"/>
              </a:spcAft>
              <a:buClr>
                <a:schemeClr val="accent2"/>
              </a:buClr>
              <a:buFont typeface="Wingdings 3" panose="05040102010807070707" pitchFamily="18" charset="2"/>
              <a:buChar char=""/>
              <a:defRPr sz="2000" kern="1200">
                <a:solidFill>
                  <a:schemeClr val="tx2">
                    <a:lumMod val="90000"/>
                    <a:lumOff val="10000"/>
                  </a:schemeClr>
                </a:solidFill>
                <a:latin typeface="+mn-lt"/>
                <a:ea typeface="+mn-ea"/>
                <a:cs typeface="+mn-cs"/>
              </a:defRPr>
            </a:lvl4pPr>
            <a:lvl5pPr marL="1440180" indent="-288290" algn="l" defTabSz="685800" rtl="0" eaLnBrk="1" latinLnBrk="0" hangingPunct="1">
              <a:lnSpc>
                <a:spcPct val="90000"/>
              </a:lnSpc>
              <a:spcBef>
                <a:spcPts val="600"/>
              </a:spcBef>
              <a:spcAft>
                <a:spcPts val="300"/>
              </a:spcAft>
              <a:buClr>
                <a:schemeClr val="accent2"/>
              </a:buClr>
              <a:buFont typeface="Wingdings 3" panose="05040102010807070707" pitchFamily="18" charset="2"/>
              <a:buChar char=""/>
              <a:defRPr sz="2000" kern="1200">
                <a:solidFill>
                  <a:schemeClr val="tx2">
                    <a:lumMod val="90000"/>
                    <a:lumOff val="10000"/>
                  </a:schemeClr>
                </a:solidFill>
                <a:latin typeface="+mn-lt"/>
                <a:ea typeface="+mn-ea"/>
                <a:cs typeface="+mn-cs"/>
              </a:defRPr>
            </a:lvl5pPr>
            <a:lvl6pPr marL="685800"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6pPr>
            <a:lvl7pPr marL="795655"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7pPr>
            <a:lvl8pPr marL="911860"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8pPr>
            <a:lvl9pPr marL="1021715"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9pPr>
          </a:lstStyle>
          <a:p>
            <a:r>
              <a:rPr lang="zh-CN" altLang="en-US" dirty="0">
                <a:latin typeface="+mn-ea"/>
                <a:sym typeface="+mn-ea"/>
              </a:rPr>
              <a:t>项目开发计划书：任务分解、进度</a:t>
            </a:r>
            <a:r>
              <a:rPr lang="zh-CN" altLang="en-US" dirty="0">
                <a:latin typeface="+mn-ea"/>
                <a:sym typeface="+mn-ea"/>
              </a:rPr>
              <a:t>安排。</a:t>
            </a:r>
            <a:endParaRPr lang="zh-CN" altLang="en-US" dirty="0">
              <a:latin typeface="+mn-ea"/>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新课</a:t>
            </a:r>
            <a:r>
              <a:rPr lang="zh-CN" altLang="en-US"/>
              <a:t>引入</a:t>
            </a:r>
            <a:endParaRPr lang="zh-CN" altLang="en-US"/>
          </a:p>
        </p:txBody>
      </p:sp>
      <p:sp>
        <p:nvSpPr>
          <p:cNvPr id="3" name="内容占位符 2"/>
          <p:cNvSpPr>
            <a:spLocks noGrp="1"/>
          </p:cNvSpPr>
          <p:nvPr>
            <p:ph idx="1"/>
          </p:nvPr>
        </p:nvSpPr>
        <p:spPr/>
        <p:txBody>
          <a:bodyPr/>
          <a:p>
            <a:r>
              <a:rPr lang="zh-CN" altLang="en-US"/>
              <a:t>在</a:t>
            </a:r>
            <a:r>
              <a:rPr lang="zh-CN" altLang="en-US">
                <a:sym typeface="+mn-ea"/>
              </a:rPr>
              <a:t>问题定义和</a:t>
            </a:r>
            <a:r>
              <a:rPr lang="zh-CN" altLang="en-US"/>
              <a:t>可行性分析结束之后，我们的课程进入了一个新的阶段——需求分析阶段，那么需求分析阶段的任务是什么？如何获取需求呢？</a:t>
            </a:r>
            <a:endParaRPr lang="zh-CN" altLang="en-US"/>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本次</a:t>
            </a:r>
            <a:r>
              <a:rPr lang="zh-CN" altLang="en-US" dirty="0"/>
              <a:t>课程</a:t>
            </a:r>
            <a:r>
              <a:rPr lang="zh-CN" altLang="en-US" b="1" dirty="0"/>
              <a:t>速递</a:t>
            </a:r>
            <a:endParaRPr lang="zh-CN" altLang="en-US" b="1" dirty="0"/>
          </a:p>
        </p:txBody>
      </p:sp>
      <p:sp>
        <p:nvSpPr>
          <p:cNvPr id="3" name="内容占位符 2"/>
          <p:cNvSpPr>
            <a:spLocks noGrp="1"/>
          </p:cNvSpPr>
          <p:nvPr>
            <p:ph idx="1"/>
          </p:nvPr>
        </p:nvSpPr>
        <p:spPr>
          <a:xfrm>
            <a:off x="979714" y="1010654"/>
            <a:ext cx="7878536" cy="3416969"/>
          </a:xfrm>
        </p:spPr>
        <p:txBody>
          <a:bodyPr>
            <a:normAutofit lnSpcReduction="10000"/>
          </a:bodyPr>
          <a:lstStyle/>
          <a:p>
            <a:pPr marL="457200" indent="-457200">
              <a:lnSpc>
                <a:spcPct val="120000"/>
              </a:lnSpc>
            </a:pPr>
            <a:r>
              <a:rPr lang="zh-CN" altLang="en-US" dirty="0">
                <a:solidFill>
                  <a:schemeClr val="tx2">
                    <a:lumMod val="90000"/>
                    <a:lumOff val="10000"/>
                  </a:schemeClr>
                </a:solidFill>
                <a:latin typeface="+mj-ea"/>
                <a:ea typeface="+mj-ea"/>
              </a:rPr>
              <a:t>第</a:t>
            </a:r>
            <a:r>
              <a:rPr lang="en-US" altLang="zh-CN" dirty="0">
                <a:solidFill>
                  <a:schemeClr val="tx2">
                    <a:lumMod val="90000"/>
                    <a:lumOff val="10000"/>
                  </a:schemeClr>
                </a:solidFill>
                <a:latin typeface="+mj-ea"/>
                <a:ea typeface="+mj-ea"/>
              </a:rPr>
              <a:t>3</a:t>
            </a:r>
            <a:r>
              <a:rPr lang="zh-CN" altLang="en-US" dirty="0">
                <a:solidFill>
                  <a:schemeClr val="tx2">
                    <a:lumMod val="90000"/>
                    <a:lumOff val="10000"/>
                  </a:schemeClr>
                </a:solidFill>
                <a:latin typeface="+mj-ea"/>
                <a:ea typeface="+mj-ea"/>
              </a:rPr>
              <a:t>章</a:t>
            </a:r>
            <a:r>
              <a:rPr lang="en-US" altLang="zh-CN" dirty="0">
                <a:solidFill>
                  <a:schemeClr val="tx2">
                    <a:lumMod val="90000"/>
                    <a:lumOff val="10000"/>
                  </a:schemeClr>
                </a:solidFill>
                <a:latin typeface="+mj-ea"/>
                <a:ea typeface="+mj-ea"/>
              </a:rPr>
              <a:t> </a:t>
            </a:r>
            <a:r>
              <a:rPr lang="zh-CN" altLang="en-US" dirty="0">
                <a:solidFill>
                  <a:schemeClr val="tx2">
                    <a:lumMod val="90000"/>
                    <a:lumOff val="10000"/>
                  </a:schemeClr>
                </a:solidFill>
                <a:latin typeface="+mj-ea"/>
                <a:ea typeface="+mj-ea"/>
              </a:rPr>
              <a:t>需求分析</a:t>
            </a:r>
            <a:endParaRPr lang="en-US" altLang="zh-CN" sz="2400" dirty="0">
              <a:latin typeface="+mj-ea"/>
              <a:ea typeface="+mj-ea"/>
            </a:endParaRPr>
          </a:p>
          <a:p>
            <a:pPr marL="1108710" lvl="1" indent="-457200">
              <a:lnSpc>
                <a:spcPct val="120000"/>
              </a:lnSpc>
            </a:pPr>
            <a:r>
              <a:rPr lang="zh-CN" altLang="en-US" dirty="0"/>
              <a:t>需求的定义</a:t>
            </a:r>
            <a:endParaRPr lang="zh-CN" altLang="en-US" dirty="0"/>
          </a:p>
          <a:p>
            <a:pPr marL="1108710" lvl="1" indent="-457200">
              <a:lnSpc>
                <a:spcPct val="120000"/>
              </a:lnSpc>
            </a:pPr>
            <a:r>
              <a:rPr lang="zh-CN" altLang="en-US" dirty="0"/>
              <a:t>需求的类型</a:t>
            </a:r>
            <a:endParaRPr lang="zh-CN" altLang="en-US" dirty="0"/>
          </a:p>
          <a:p>
            <a:pPr marL="1108710" lvl="1" indent="-457200">
              <a:lnSpc>
                <a:spcPct val="120000"/>
              </a:lnSpc>
            </a:pPr>
            <a:r>
              <a:rPr lang="zh-CN" altLang="en-US" dirty="0"/>
              <a:t>需求工程过程</a:t>
            </a:r>
            <a:endParaRPr lang="zh-CN" altLang="en-US" dirty="0"/>
          </a:p>
          <a:p>
            <a:pPr marL="1108710" lvl="1" indent="-457200">
              <a:lnSpc>
                <a:spcPct val="120000"/>
              </a:lnSpc>
            </a:pPr>
            <a:r>
              <a:rPr lang="zh-CN" altLang="en-US" dirty="0"/>
              <a:t>需求获取技术</a:t>
            </a:r>
            <a:endParaRPr lang="zh-CN" altLang="en-US" dirty="0"/>
          </a:p>
          <a:p>
            <a:pPr marL="1108710" lvl="1" indent="-457200">
              <a:lnSpc>
                <a:spcPct val="120000"/>
              </a:lnSpc>
            </a:pPr>
            <a:r>
              <a:rPr lang="zh-CN" altLang="en-US" dirty="0">
                <a:solidFill>
                  <a:schemeClr val="tx2">
                    <a:lumMod val="90000"/>
                    <a:lumOff val="10000"/>
                  </a:schemeClr>
                </a:solidFill>
              </a:rPr>
              <a:t>需求分析案例</a:t>
            </a:r>
            <a:endParaRPr lang="zh-CN" altLang="en-US" dirty="0">
              <a:solidFill>
                <a:schemeClr val="tx2">
                  <a:lumMod val="90000"/>
                  <a:lumOff val="10000"/>
                </a:schemeClr>
              </a:solidFill>
            </a:endParaRPr>
          </a:p>
        </p:txBody>
      </p:sp>
      <p:sp>
        <p:nvSpPr>
          <p:cNvPr id="8" name="页脚占位符 7"/>
          <p:cNvSpPr>
            <a:spLocks noGrp="1"/>
          </p:cNvSpPr>
          <p:nvPr>
            <p:ph type="ftr" sz="quarter" idx="11"/>
          </p:nvPr>
        </p:nvSpPr>
        <p:spPr/>
        <p:txBody>
          <a:bodyPr/>
          <a:lstStyle/>
          <a:p>
            <a:r>
              <a:rPr lang="zh-CN" altLang="en-US" dirty="0"/>
              <a:t>软件工程</a:t>
            </a:r>
            <a:endParaRPr lang="zh-CN" altLang="en-US" dirty="0"/>
          </a:p>
        </p:txBody>
      </p:sp>
      <p:sp>
        <p:nvSpPr>
          <p:cNvPr id="9" name="灯片编号占位符 8"/>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4" name="图片 3"/>
          <p:cNvPicPr>
            <a:picLocks noChangeAspect="1"/>
          </p:cNvPicPr>
          <p:nvPr/>
        </p:nvPicPr>
        <p:blipFill rotWithShape="1">
          <a:blip r:embed="rId1" cstate="print">
            <a:clrChange>
              <a:clrFrom>
                <a:srgbClr val="EBCDAB"/>
              </a:clrFrom>
              <a:clrTo>
                <a:srgbClr val="EBCDAB">
                  <a:alpha val="0"/>
                </a:srgbClr>
              </a:clrTo>
            </a:clrChange>
            <a:extLst>
              <a:ext uri="{28A0092B-C50C-407E-A947-70E740481C1C}">
                <a14:useLocalDpi xmlns:a14="http://schemas.microsoft.com/office/drawing/2010/main" val="0"/>
              </a:ext>
            </a:extLst>
          </a:blip>
          <a:srcRect l="14636" t="7462" r="10393" b="11883"/>
          <a:stretch>
            <a:fillRect/>
          </a:stretch>
        </p:blipFill>
        <p:spPr>
          <a:xfrm>
            <a:off x="5775158" y="1010427"/>
            <a:ext cx="3176338" cy="341719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582338" y="2008681"/>
            <a:ext cx="4954055" cy="923330"/>
          </a:xfrm>
          <a:prstGeom prst="rect">
            <a:avLst/>
          </a:prstGeom>
        </p:spPr>
        <p:txBody>
          <a:bodyPr wrap="square">
            <a:spAutoFit/>
          </a:bodyPr>
          <a:lstStyle/>
          <a:p>
            <a:pPr>
              <a:lnSpc>
                <a:spcPct val="120000"/>
              </a:lnSpc>
              <a:spcBef>
                <a:spcPts val="900"/>
              </a:spcBef>
              <a:buClr>
                <a:srgbClr val="00B050"/>
              </a:buClr>
            </a:pPr>
            <a:r>
              <a:rPr lang="zh-CN" altLang="en-US" sz="4500" b="1" dirty="0">
                <a:solidFill>
                  <a:srgbClr val="686868"/>
                </a:solidFill>
              </a:rPr>
              <a:t>什么是需求？</a:t>
            </a:r>
            <a:endParaRPr lang="zh-CN" altLang="en-US" sz="4500" b="1" dirty="0">
              <a:solidFill>
                <a:srgbClr val="686868"/>
              </a:solidFill>
            </a:endParaRPr>
          </a:p>
        </p:txBody>
      </p:sp>
      <p:pic>
        <p:nvPicPr>
          <p:cNvPr id="28" name="图片 27"/>
          <p:cNvPicPr>
            <a:picLocks noChangeAspect="1"/>
          </p:cNvPicPr>
          <p:nvPr/>
        </p:nvPicPr>
        <p:blipFill>
          <a:blip r:embed="rId1">
            <a:clrChange>
              <a:clrFrom>
                <a:srgbClr val="F6F6F6"/>
              </a:clrFrom>
              <a:clrTo>
                <a:srgbClr val="F6F6F6">
                  <a:alpha val="0"/>
                </a:srgbClr>
              </a:clrTo>
            </a:clrChange>
            <a:extLst>
              <a:ext uri="{28A0092B-C50C-407E-A947-70E740481C1C}">
                <a14:useLocalDpi xmlns:a14="http://schemas.microsoft.com/office/drawing/2010/main" val="0"/>
              </a:ext>
            </a:extLst>
          </a:blip>
          <a:stretch>
            <a:fillRect/>
          </a:stretch>
        </p:blipFill>
        <p:spPr>
          <a:xfrm rot="1838438">
            <a:off x="711542" y="2041389"/>
            <a:ext cx="3599405" cy="1781244"/>
          </a:xfrm>
          <a:prstGeom prst="rect">
            <a:avLst/>
          </a:prstGeom>
        </p:spPr>
      </p:pic>
      <p:sp>
        <p:nvSpPr>
          <p:cNvPr id="3" name="页脚占位符 2"/>
          <p:cNvSpPr>
            <a:spLocks noGrp="1"/>
          </p:cNvSpPr>
          <p:nvPr>
            <p:ph type="ftr" sz="quarter" idx="11"/>
          </p:nvPr>
        </p:nvSpPr>
        <p:spPr/>
        <p:txBody>
          <a:bodyPr/>
          <a:lstStyle/>
          <a:p>
            <a:r>
              <a:rPr lang="zh-CN" altLang="en-US"/>
              <a:t>软件工程</a:t>
            </a:r>
            <a:endParaRPr lang="zh-CN" altLang="en-US"/>
          </a:p>
        </p:txBody>
      </p:sp>
      <p:sp>
        <p:nvSpPr>
          <p:cNvPr id="4" name="灯片编号占位符 3"/>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案例：输入法</a:t>
            </a:r>
            <a:endParaRPr lang="zh-CN" altLang="en-US"/>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pic>
        <p:nvPicPr>
          <p:cNvPr id="8" name="图片 7"/>
          <p:cNvPicPr>
            <a:picLocks noChangeAspect="1"/>
          </p:cNvPicPr>
          <p:nvPr/>
        </p:nvPicPr>
        <p:blipFill>
          <a:blip r:embed="rId1"/>
          <a:stretch>
            <a:fillRect/>
          </a:stretch>
        </p:blipFill>
        <p:spPr>
          <a:xfrm>
            <a:off x="1344295" y="982345"/>
            <a:ext cx="1702435" cy="390525"/>
          </a:xfrm>
          <a:prstGeom prst="rect">
            <a:avLst/>
          </a:prstGeom>
        </p:spPr>
      </p:pic>
      <p:pic>
        <p:nvPicPr>
          <p:cNvPr id="10" name="图片 9"/>
          <p:cNvPicPr>
            <a:picLocks noChangeAspect="1"/>
          </p:cNvPicPr>
          <p:nvPr/>
        </p:nvPicPr>
        <p:blipFill>
          <a:blip r:embed="rId2"/>
          <a:stretch>
            <a:fillRect/>
          </a:stretch>
        </p:blipFill>
        <p:spPr>
          <a:xfrm>
            <a:off x="4877435" y="2672080"/>
            <a:ext cx="3599815" cy="789305"/>
          </a:xfrm>
          <a:prstGeom prst="rect">
            <a:avLst/>
          </a:prstGeom>
        </p:spPr>
      </p:pic>
      <p:sp>
        <p:nvSpPr>
          <p:cNvPr id="11" name="文本框 10"/>
          <p:cNvSpPr txBox="1"/>
          <p:nvPr/>
        </p:nvSpPr>
        <p:spPr>
          <a:xfrm>
            <a:off x="4953635" y="1050290"/>
            <a:ext cx="3983355" cy="1938020"/>
          </a:xfrm>
          <a:prstGeom prst="rect">
            <a:avLst/>
          </a:prstGeom>
          <a:noFill/>
        </p:spPr>
        <p:txBody>
          <a:bodyPr wrap="square" rtlCol="0">
            <a:spAutoFit/>
          </a:bodyPr>
          <a:p>
            <a:pPr>
              <a:spcBef>
                <a:spcPts val="600"/>
              </a:spcBef>
            </a:pPr>
            <a:r>
              <a:rPr lang="zh-CN" altLang="en-US" sz="2000" b="1" dirty="0">
                <a:solidFill>
                  <a:srgbClr val="FF8900"/>
                </a:solidFill>
                <a:latin typeface="+mj-ea"/>
                <a:ea typeface="+mj-ea"/>
                <a:sym typeface="+mn-ea"/>
              </a:rPr>
              <a:t>输入拼音</a:t>
            </a:r>
            <a:r>
              <a:rPr lang="en-US" altLang="zh-CN" sz="2000" b="1" dirty="0">
                <a:solidFill>
                  <a:srgbClr val="FF8900"/>
                </a:solidFill>
                <a:latin typeface="+mj-ea"/>
                <a:ea typeface="+mj-ea"/>
                <a:sym typeface="+mn-ea"/>
              </a:rPr>
              <a:t>+</a:t>
            </a:r>
            <a:r>
              <a:rPr lang="zh-CN" altLang="en-US" sz="2000" b="1" dirty="0">
                <a:solidFill>
                  <a:srgbClr val="FF8900"/>
                </a:solidFill>
                <a:latin typeface="+mj-ea"/>
                <a:ea typeface="+mj-ea"/>
                <a:sym typeface="+mn-ea"/>
              </a:rPr>
              <a:t>搜索引擎的提示</a:t>
            </a:r>
            <a:endParaRPr lang="zh-CN" altLang="en-US" sz="2000" b="1" dirty="0">
              <a:solidFill>
                <a:srgbClr val="FF8900"/>
              </a:solidFill>
              <a:latin typeface="+mj-ea"/>
              <a:ea typeface="+mj-ea"/>
            </a:endParaRPr>
          </a:p>
          <a:p>
            <a:pPr>
              <a:spcBef>
                <a:spcPts val="600"/>
              </a:spcBef>
            </a:pPr>
            <a:r>
              <a:rPr lang="zh-CN" altLang="en-US" sz="2000" dirty="0">
                <a:latin typeface="+mj-ea"/>
                <a:ea typeface="+mj-ea"/>
              </a:rPr>
              <a:t>搜索引擎词库；</a:t>
            </a:r>
            <a:endParaRPr lang="zh-CN" altLang="en-US" sz="2000" dirty="0">
              <a:latin typeface="+mj-ea"/>
              <a:ea typeface="+mj-ea"/>
            </a:endParaRPr>
          </a:p>
          <a:p>
            <a:pPr>
              <a:spcBef>
                <a:spcPts val="600"/>
              </a:spcBef>
            </a:pPr>
            <a:r>
              <a:rPr lang="zh-CN" altLang="en-US" sz="2000" dirty="0">
                <a:latin typeface="+mj-ea"/>
                <a:ea typeface="+mj-ea"/>
              </a:rPr>
              <a:t>使用搜索引擎生成词库花费小；</a:t>
            </a:r>
            <a:endParaRPr lang="zh-CN" altLang="en-US" sz="2000" dirty="0">
              <a:latin typeface="+mj-ea"/>
              <a:ea typeface="+mj-ea"/>
            </a:endParaRPr>
          </a:p>
          <a:p>
            <a:pPr>
              <a:spcBef>
                <a:spcPts val="600"/>
              </a:spcBef>
            </a:pPr>
            <a:r>
              <a:rPr lang="zh-CN" altLang="en-US" sz="2000" dirty="0">
                <a:latin typeface="+mj-ea"/>
                <a:ea typeface="+mj-ea"/>
              </a:rPr>
              <a:t>用搜索引擎做输入法？</a:t>
            </a:r>
            <a:endParaRPr lang="zh-CN" altLang="en-US" sz="2000" dirty="0">
              <a:latin typeface="+mj-ea"/>
              <a:ea typeface="+mj-ea"/>
            </a:endParaRPr>
          </a:p>
          <a:p>
            <a:pPr>
              <a:spcBef>
                <a:spcPts val="600"/>
              </a:spcBef>
            </a:pPr>
            <a:endParaRPr lang="zh-CN" altLang="en-US" sz="2000" dirty="0">
              <a:latin typeface="+mj-ea"/>
              <a:ea typeface="+mj-ea"/>
            </a:endParaRPr>
          </a:p>
        </p:txBody>
      </p:sp>
      <p:pic>
        <p:nvPicPr>
          <p:cNvPr id="12" name="图片 11" descr="3b343538383238343bd3d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39235" y="1526540"/>
            <a:ext cx="914400" cy="641985"/>
          </a:xfrm>
          <a:prstGeom prst="rect">
            <a:avLst/>
          </a:prstGeom>
        </p:spPr>
      </p:pic>
      <p:grpSp>
        <p:nvGrpSpPr>
          <p:cNvPr id="15" name="组合 14"/>
          <p:cNvGrpSpPr/>
          <p:nvPr/>
        </p:nvGrpSpPr>
        <p:grpSpPr>
          <a:xfrm>
            <a:off x="-73025" y="4291330"/>
            <a:ext cx="9138920" cy="1172210"/>
            <a:chOff x="8" y="5250"/>
            <a:chExt cx="14392" cy="1846"/>
          </a:xfrm>
        </p:grpSpPr>
        <p:sp>
          <p:nvSpPr>
            <p:cNvPr id="14" name="矩形 13"/>
            <p:cNvSpPr/>
            <p:nvPr>
              <p:custDataLst>
                <p:tags r:id="rId5"/>
              </p:custDataLst>
            </p:nvPr>
          </p:nvSpPr>
          <p:spPr>
            <a:xfrm>
              <a:off x="8" y="5250"/>
              <a:ext cx="14392" cy="1847"/>
            </a:xfrm>
            <a:prstGeom prst="rect">
              <a:avLst/>
            </a:prstGeom>
            <a:gradFill>
              <a:gsLst>
                <a:gs pos="100000">
                  <a:srgbClr val="6264F8"/>
                </a:gs>
                <a:gs pos="49000">
                  <a:srgbClr val="B584EC"/>
                </a:gs>
                <a:gs pos="0">
                  <a:srgbClr val="EE9AE5"/>
                </a:gs>
              </a:gsLst>
              <a:lin ang="2700000" scaled="1"/>
            </a:gra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矩形 12"/>
            <p:cNvSpPr/>
            <p:nvPr>
              <p:custDataLst>
                <p:tags r:id="rId6"/>
              </p:custDataLst>
            </p:nvPr>
          </p:nvSpPr>
          <p:spPr>
            <a:xfrm>
              <a:off x="2117" y="5451"/>
              <a:ext cx="10302" cy="1307"/>
            </a:xfrm>
            <a:prstGeom prst="rect">
              <a:avLst/>
            </a:prstGeom>
          </p:spPr>
          <p:txBody>
            <a:bodyPr wrap="square">
              <a:spAutoFit/>
            </a:bodyPr>
            <a:p>
              <a:pPr algn="ctr">
                <a:lnSpc>
                  <a:spcPct val="120000"/>
                </a:lnSpc>
                <a:spcBef>
                  <a:spcPts val="1200"/>
                </a:spcBef>
                <a:buClr>
                  <a:srgbClr val="00B050"/>
                </a:buClr>
              </a:pPr>
              <a:r>
                <a:rPr lang="zh-CN" sz="4000" b="1" dirty="0">
                  <a:solidFill>
                    <a:schemeClr val="bg1"/>
                  </a:solidFill>
                  <a:latin typeface="+mj-ea"/>
                  <a:ea typeface="+mj-ea"/>
                </a:rPr>
                <a:t>探索精神、创新精神</a:t>
              </a:r>
              <a:endParaRPr lang="zh-CN" sz="4000" b="1" dirty="0">
                <a:solidFill>
                  <a:schemeClr val="bg1"/>
                </a:solidFill>
                <a:latin typeface="+mj-ea"/>
                <a:ea typeface="+mj-ea"/>
              </a:endParaRPr>
            </a:p>
          </p:txBody>
        </p:sp>
      </p:grpSp>
      <p:pic>
        <p:nvPicPr>
          <p:cNvPr id="3" name="图片 2"/>
          <p:cNvPicPr>
            <a:picLocks noChangeAspect="1"/>
          </p:cNvPicPr>
          <p:nvPr/>
        </p:nvPicPr>
        <p:blipFill>
          <a:blip r:embed="rId7"/>
          <a:stretch>
            <a:fillRect/>
          </a:stretch>
        </p:blipFill>
        <p:spPr>
          <a:xfrm>
            <a:off x="798830" y="1766570"/>
            <a:ext cx="3177540" cy="15887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in)">
                                      <p:cBhvr>
                                        <p:cTn id="7" dur="2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ox(in)">
                                      <p:cBhvr>
                                        <p:cTn id="12" dur="20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ox(in)">
                                      <p:cBhvr>
                                        <p:cTn id="17" dur="20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ox(in)">
                                      <p:cBhvr>
                                        <p:cTn id="22" dur="20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box(in)">
                                      <p:cBhvr>
                                        <p:cTn id="27"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软件的需求</a:t>
            </a:r>
            <a:endParaRPr lang="zh-CN" altLang="en-US" dirty="0"/>
          </a:p>
        </p:txBody>
      </p:sp>
      <p:sp>
        <p:nvSpPr>
          <p:cNvPr id="7" name="内容占位符 6"/>
          <p:cNvSpPr>
            <a:spLocks noGrp="1"/>
          </p:cNvSpPr>
          <p:nvPr>
            <p:ph idx="1"/>
          </p:nvPr>
        </p:nvSpPr>
        <p:spPr>
          <a:xfrm>
            <a:off x="867410" y="935355"/>
            <a:ext cx="7868285" cy="3749675"/>
          </a:xfrm>
        </p:spPr>
        <p:txBody>
          <a:bodyPr>
            <a:noAutofit/>
          </a:bodyPr>
          <a:lstStyle/>
          <a:p>
            <a:pPr marL="0" indent="0">
              <a:lnSpc>
                <a:spcPct val="120000"/>
              </a:lnSpc>
              <a:spcBef>
                <a:spcPts val="600"/>
              </a:spcBef>
              <a:buNone/>
            </a:pPr>
            <a:r>
              <a:rPr lang="zh-CN" altLang="en-US" sz="1800" dirty="0"/>
              <a:t>      IEEE 的软件工程标准术语表（1990）将需求定义如下：</a:t>
            </a:r>
            <a:endParaRPr lang="zh-CN" altLang="en-US" sz="1800" dirty="0"/>
          </a:p>
          <a:p>
            <a:pPr marL="0" indent="0">
              <a:lnSpc>
                <a:spcPct val="120000"/>
              </a:lnSpc>
              <a:spcBef>
                <a:spcPts val="600"/>
              </a:spcBef>
              <a:buNone/>
            </a:pPr>
            <a:r>
              <a:rPr lang="zh-CN" altLang="en-US" sz="1800" dirty="0"/>
              <a:t>(1)用户解决问题或达到目标所需的条件或能力。</a:t>
            </a:r>
            <a:endParaRPr lang="zh-CN" altLang="en-US" sz="1800" dirty="0"/>
          </a:p>
          <a:p>
            <a:pPr marL="0" indent="0">
              <a:lnSpc>
                <a:spcPct val="120000"/>
              </a:lnSpc>
              <a:spcBef>
                <a:spcPts val="600"/>
              </a:spcBef>
              <a:buNone/>
            </a:pPr>
            <a:r>
              <a:rPr lang="zh-CN" altLang="en-US" sz="1800" dirty="0"/>
              <a:t>(2)系统或系统部件要满足合同、标准、规范或其他正规文档所需具备的条件或能力。</a:t>
            </a:r>
            <a:endParaRPr lang="zh-CN" altLang="en-US" sz="1800" dirty="0"/>
          </a:p>
          <a:p>
            <a:pPr marL="0" indent="0">
              <a:lnSpc>
                <a:spcPct val="120000"/>
              </a:lnSpc>
              <a:spcBef>
                <a:spcPts val="600"/>
              </a:spcBef>
              <a:buNone/>
            </a:pPr>
            <a:r>
              <a:rPr lang="en-US" altLang="zh-CN" sz="1800" dirty="0"/>
              <a:t>(3) </a:t>
            </a:r>
            <a:r>
              <a:rPr lang="zh-CN" altLang="en-US" sz="1800" dirty="0"/>
              <a:t>一种反映上面(1)或(2)所描述的条件或能力的文档说明。 </a:t>
            </a:r>
            <a:endParaRPr lang="zh-CN" altLang="en-US" sz="1800" dirty="0"/>
          </a:p>
        </p:txBody>
      </p:sp>
      <p:sp>
        <p:nvSpPr>
          <p:cNvPr id="4" name="页脚占位符 3"/>
          <p:cNvSpPr>
            <a:spLocks noGrp="1"/>
          </p:cNvSpPr>
          <p:nvPr>
            <p:ph type="ftr" sz="quarter" idx="11"/>
          </p:nvPr>
        </p:nvSpPr>
        <p:spPr/>
        <p:txBody>
          <a:bodyPr/>
          <a:lstStyle/>
          <a:p>
            <a:r>
              <a:rPr lang="zh-CN" altLang="en-US"/>
              <a:t>软件工程</a:t>
            </a:r>
            <a:endParaRPr lang="zh-CN" altLang="en-US"/>
          </a:p>
        </p:txBody>
      </p:sp>
      <p:sp>
        <p:nvSpPr>
          <p:cNvPr id="5" name="灯片编号占位符 4"/>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10" name="图片 9"/>
          <p:cNvPicPr>
            <a:picLocks noChangeAspect="1"/>
          </p:cNvPicPr>
          <p:nvPr/>
        </p:nvPicPr>
        <p:blipFill>
          <a:blip r:embed="rId1">
            <a:clrChange>
              <a:clrFrom>
                <a:srgbClr val="FFFFFF"/>
              </a:clrFrom>
              <a:clrTo>
                <a:srgbClr val="FFFFFF">
                  <a:alpha val="0"/>
                </a:srgbClr>
              </a:clrTo>
            </a:clrChange>
          </a:blip>
          <a:stretch>
            <a:fillRect/>
          </a:stretch>
        </p:blipFill>
        <p:spPr>
          <a:xfrm>
            <a:off x="3265805" y="2942590"/>
            <a:ext cx="3255010" cy="16795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4234598" y="4184265"/>
            <a:ext cx="2777959" cy="430374"/>
          </a:xfrm>
          <a:prstGeom prst="rect">
            <a:avLst/>
          </a:prstGeom>
        </p:spPr>
        <p:txBody>
          <a:bodyPr wrap="square">
            <a:spAutoFit/>
          </a:bodyPr>
          <a:lstStyle/>
          <a:p>
            <a:pPr algn="ctr">
              <a:lnSpc>
                <a:spcPct val="120000"/>
              </a:lnSpc>
              <a:spcBef>
                <a:spcPts val="900"/>
              </a:spcBef>
              <a:buClr>
                <a:srgbClr val="00B050"/>
              </a:buClr>
            </a:pPr>
            <a:r>
              <a:rPr lang="zh-CN" altLang="en-US" sz="2000" b="1" dirty="0">
                <a:solidFill>
                  <a:schemeClr val="tx1">
                    <a:lumMod val="65000"/>
                    <a:lumOff val="35000"/>
                  </a:schemeClr>
                </a:solidFill>
                <a:latin typeface="+mj-ea"/>
                <a:ea typeface="+mj-ea"/>
              </a:rPr>
              <a:t>软件需求的层次图</a:t>
            </a:r>
            <a:endParaRPr lang="zh-CN" altLang="en-US" sz="2000" b="1" dirty="0">
              <a:solidFill>
                <a:srgbClr val="FF8900"/>
              </a:solidFill>
              <a:latin typeface="+mj-ea"/>
              <a:ea typeface="+mj-ea"/>
            </a:endParaRPr>
          </a:p>
        </p:txBody>
      </p:sp>
      <p:pic>
        <p:nvPicPr>
          <p:cNvPr id="4" name="Picture 17" descr="002"/>
          <p:cNvPicPr>
            <a:picLocks noChangeAspect="1" noChangeArrowheads="1"/>
          </p:cNvPicPr>
          <p:nvPr/>
        </p:nvPicPr>
        <p:blipFill>
          <a:blip r:embed="rId1"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162410" y="873923"/>
            <a:ext cx="4909457" cy="3621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119797" y="1726644"/>
            <a:ext cx="4500328" cy="2419124"/>
          </a:xfrm>
          <a:prstGeom prst="rect">
            <a:avLst/>
          </a:prstGeom>
          <a:noFill/>
        </p:spPr>
        <p:txBody>
          <a:bodyPr wrap="square" rtlCol="0">
            <a:spAutoFit/>
          </a:bodyPr>
          <a:lstStyle/>
          <a:p>
            <a:pPr marL="342900" indent="-342900">
              <a:lnSpc>
                <a:spcPct val="120000"/>
              </a:lnSpc>
              <a:buClr>
                <a:srgbClr val="00B050"/>
              </a:buClr>
              <a:buFont typeface="Wingdings" panose="05000000000000000000" pitchFamily="2" charset="2"/>
              <a:buChar char="¬"/>
            </a:pPr>
            <a:r>
              <a:rPr lang="zh-CN" altLang="zh-CN" sz="2400" b="1" dirty="0">
                <a:solidFill>
                  <a:srgbClr val="FF0000"/>
                </a:solidFill>
                <a:latin typeface="+mj-ea"/>
                <a:ea typeface="+mj-ea"/>
              </a:rPr>
              <a:t>业务需求</a:t>
            </a:r>
            <a:r>
              <a:rPr lang="en-US" altLang="zh-CN" dirty="0">
                <a:solidFill>
                  <a:srgbClr val="686868"/>
                </a:solidFill>
                <a:latin typeface="+mj-ea"/>
                <a:ea typeface="+mj-ea"/>
              </a:rPr>
              <a:t>(</a:t>
            </a:r>
            <a:r>
              <a:rPr lang="zh-CN" altLang="zh-CN" dirty="0">
                <a:solidFill>
                  <a:srgbClr val="686868"/>
                </a:solidFill>
                <a:latin typeface="+mj-ea"/>
                <a:ea typeface="+mj-ea"/>
              </a:rPr>
              <a:t>business requirement）</a:t>
            </a:r>
            <a:endParaRPr lang="en-US" altLang="zh-CN" dirty="0">
              <a:solidFill>
                <a:srgbClr val="686868"/>
              </a:solidFill>
              <a:latin typeface="+mj-ea"/>
              <a:ea typeface="+mj-ea"/>
            </a:endParaRPr>
          </a:p>
          <a:p>
            <a:pPr marL="342900" indent="-342900">
              <a:lnSpc>
                <a:spcPct val="120000"/>
              </a:lnSpc>
              <a:buClr>
                <a:srgbClr val="00B050"/>
              </a:buClr>
              <a:buFont typeface="Wingdings" panose="05000000000000000000" pitchFamily="2" charset="2"/>
              <a:buChar char="¬"/>
            </a:pPr>
            <a:r>
              <a:rPr lang="zh-CN" altLang="zh-CN" sz="2400" b="1" dirty="0">
                <a:solidFill>
                  <a:srgbClr val="FF0000"/>
                </a:solidFill>
                <a:latin typeface="+mj-ea"/>
                <a:ea typeface="+mj-ea"/>
              </a:rPr>
              <a:t>用户需求</a:t>
            </a:r>
            <a:r>
              <a:rPr lang="zh-CN" altLang="zh-CN" dirty="0">
                <a:solidFill>
                  <a:srgbClr val="686868"/>
                </a:solidFill>
                <a:latin typeface="+mj-ea"/>
                <a:ea typeface="+mj-ea"/>
              </a:rPr>
              <a:t>(user requirement) </a:t>
            </a:r>
            <a:endParaRPr lang="en-US" altLang="zh-CN" dirty="0">
              <a:solidFill>
                <a:srgbClr val="686868"/>
              </a:solidFill>
              <a:latin typeface="+mj-ea"/>
              <a:ea typeface="+mj-ea"/>
            </a:endParaRPr>
          </a:p>
          <a:p>
            <a:pPr marL="342900" indent="-342900">
              <a:lnSpc>
                <a:spcPct val="120000"/>
              </a:lnSpc>
              <a:buClr>
                <a:srgbClr val="00B050"/>
              </a:buClr>
              <a:buFont typeface="Wingdings" panose="05000000000000000000" pitchFamily="2" charset="2"/>
              <a:buChar char="¬"/>
            </a:pPr>
            <a:r>
              <a:rPr lang="zh-CN" altLang="en-US" sz="2400" b="1" dirty="0">
                <a:solidFill>
                  <a:srgbClr val="FF0000"/>
                </a:solidFill>
                <a:latin typeface="+mj-ea"/>
                <a:ea typeface="+mj-ea"/>
              </a:rPr>
              <a:t>系统需求</a:t>
            </a:r>
            <a:r>
              <a:rPr lang="en-US" altLang="zh-CN" dirty="0">
                <a:solidFill>
                  <a:srgbClr val="686868"/>
                </a:solidFill>
                <a:latin typeface="+mj-ea"/>
                <a:ea typeface="+mj-ea"/>
              </a:rPr>
              <a:t>(system requirement)</a:t>
            </a:r>
            <a:endParaRPr lang="en-US" altLang="zh-CN" dirty="0">
              <a:solidFill>
                <a:srgbClr val="686868"/>
              </a:solidFill>
              <a:latin typeface="+mj-ea"/>
              <a:ea typeface="+mj-ea"/>
            </a:endParaRPr>
          </a:p>
          <a:p>
            <a:pPr marL="742950" lvl="1" indent="-285750">
              <a:lnSpc>
                <a:spcPct val="120000"/>
              </a:lnSpc>
              <a:buClr>
                <a:srgbClr val="00B050"/>
              </a:buClr>
              <a:buFont typeface="Wingdings" panose="05000000000000000000" pitchFamily="2" charset="2"/>
              <a:buChar char="l"/>
            </a:pPr>
            <a:r>
              <a:rPr lang="zh-CN" altLang="zh-CN" dirty="0">
                <a:latin typeface="+mj-ea"/>
                <a:ea typeface="+mj-ea"/>
              </a:rPr>
              <a:t>功能需求</a:t>
            </a:r>
            <a:r>
              <a:rPr lang="zh-CN" altLang="zh-CN" dirty="0">
                <a:solidFill>
                  <a:srgbClr val="686868"/>
                </a:solidFill>
                <a:latin typeface="+mj-ea"/>
                <a:ea typeface="+mj-ea"/>
              </a:rPr>
              <a:t>(functional requireme</a:t>
            </a:r>
            <a:r>
              <a:rPr lang="en-US" altLang="zh-CN" dirty="0" err="1">
                <a:solidFill>
                  <a:srgbClr val="686868"/>
                </a:solidFill>
                <a:latin typeface="+mj-ea"/>
                <a:ea typeface="+mj-ea"/>
              </a:rPr>
              <a:t>nt</a:t>
            </a:r>
            <a:r>
              <a:rPr lang="en-US" altLang="zh-CN" dirty="0">
                <a:solidFill>
                  <a:srgbClr val="686868"/>
                </a:solidFill>
                <a:latin typeface="+mj-ea"/>
                <a:ea typeface="+mj-ea"/>
              </a:rPr>
              <a:t>)</a:t>
            </a:r>
            <a:endParaRPr lang="en-US" altLang="zh-CN" dirty="0">
              <a:solidFill>
                <a:srgbClr val="686868"/>
              </a:solidFill>
              <a:latin typeface="+mj-ea"/>
              <a:ea typeface="+mj-ea"/>
            </a:endParaRPr>
          </a:p>
          <a:p>
            <a:pPr marL="742950" lvl="1" indent="-285750">
              <a:lnSpc>
                <a:spcPct val="120000"/>
              </a:lnSpc>
              <a:buClr>
                <a:srgbClr val="00B050"/>
              </a:buClr>
              <a:buFont typeface="Wingdings" panose="05000000000000000000" pitchFamily="2" charset="2"/>
              <a:buChar char="l"/>
            </a:pPr>
            <a:r>
              <a:rPr lang="zh-CN" altLang="zh-CN" dirty="0">
                <a:latin typeface="+mj-ea"/>
                <a:ea typeface="+mj-ea"/>
              </a:rPr>
              <a:t>非功能需求</a:t>
            </a:r>
            <a:r>
              <a:rPr lang="zh-CN" altLang="en-US" dirty="0">
                <a:solidFill>
                  <a:srgbClr val="686868"/>
                </a:solidFill>
                <a:latin typeface="+mj-ea"/>
                <a:ea typeface="+mj-ea"/>
              </a:rPr>
              <a:t>（性能需求、质量属性、对外接口、约束）</a:t>
            </a:r>
            <a:endParaRPr lang="zh-CN" altLang="zh-CN" dirty="0">
              <a:solidFill>
                <a:srgbClr val="686868"/>
              </a:solidFill>
              <a:latin typeface="+mj-ea"/>
              <a:ea typeface="+mj-ea"/>
            </a:endParaRPr>
          </a:p>
        </p:txBody>
      </p:sp>
      <p:sp>
        <p:nvSpPr>
          <p:cNvPr id="5" name="标题 4"/>
          <p:cNvSpPr>
            <a:spLocks noGrp="1"/>
          </p:cNvSpPr>
          <p:nvPr>
            <p:ph type="title"/>
          </p:nvPr>
        </p:nvSpPr>
        <p:spPr/>
        <p:txBody>
          <a:bodyPr/>
          <a:lstStyle/>
          <a:p>
            <a:r>
              <a:rPr lang="zh-CN" altLang="en-US" kern="100" dirty="0">
                <a:latin typeface="+mn-ea"/>
                <a:cs typeface="Times New Roman" panose="02020603050405020304" pitchFamily="18" charset="0"/>
              </a:rPr>
              <a:t>软件需求的</a:t>
            </a:r>
            <a:r>
              <a:rPr lang="zh-CN" altLang="en-US" kern="100" dirty="0">
                <a:latin typeface="+mn-ea"/>
                <a:cs typeface="Times New Roman" panose="02020603050405020304" pitchFamily="18" charset="0"/>
              </a:rPr>
              <a:t>类型</a:t>
            </a:r>
            <a:endParaRPr lang="zh-CN" altLang="en-US" kern="100" dirty="0">
              <a:latin typeface="+mn-ea"/>
              <a:cs typeface="Times New Roman" panose="02020603050405020304" pitchFamily="18" charset="0"/>
            </a:endParaRPr>
          </a:p>
        </p:txBody>
      </p:sp>
      <p:sp>
        <p:nvSpPr>
          <p:cNvPr id="7" name="页脚占位符 6"/>
          <p:cNvSpPr>
            <a:spLocks noGrp="1"/>
          </p:cNvSpPr>
          <p:nvPr>
            <p:ph type="ftr" sz="quarter" idx="11"/>
          </p:nvPr>
        </p:nvSpPr>
        <p:spPr/>
        <p:txBody>
          <a:bodyPr/>
          <a:lstStyle/>
          <a:p>
            <a:r>
              <a:rPr lang="zh-CN" altLang="en-US"/>
              <a:t>软件工程</a:t>
            </a:r>
            <a:endParaRPr lang="zh-CN" altLang="en-US"/>
          </a:p>
        </p:txBody>
      </p:sp>
      <p:sp>
        <p:nvSpPr>
          <p:cNvPr id="8" name="灯片编号占位符 7"/>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需求的层次</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3" name="文本占位符 2"/>
          <p:cNvSpPr>
            <a:spLocks noGrp="1"/>
          </p:cNvSpPr>
          <p:nvPr>
            <p:ph type="body" sz="quarter" idx="4294967295"/>
          </p:nvPr>
        </p:nvSpPr>
        <p:spPr>
          <a:xfrm>
            <a:off x="757990" y="938463"/>
            <a:ext cx="8100260" cy="3740137"/>
          </a:xfrm>
        </p:spPr>
        <p:txBody>
          <a:bodyPr>
            <a:normAutofit fontScale="92500" lnSpcReduction="10000"/>
          </a:bodyPr>
          <a:lstStyle/>
          <a:p>
            <a:r>
              <a:rPr kumimoji="1" lang="en-US" altLang="zh-CN" sz="2000" b="1" dirty="0" err="1">
                <a:solidFill>
                  <a:schemeClr val="accent2">
                    <a:lumMod val="75000"/>
                  </a:schemeClr>
                </a:solidFill>
              </a:rPr>
              <a:t>业务需求</a:t>
            </a:r>
            <a:r>
              <a:rPr kumimoji="1" lang="en-US" altLang="zh-CN" sz="2000" dirty="0" err="1">
                <a:solidFill>
                  <a:schemeClr val="accent2">
                    <a:lumMod val="75000"/>
                  </a:schemeClr>
                </a:solidFill>
              </a:rPr>
              <a:t>（ Business requirement ）表示组织或客户高层次的目标。业务需求通常来自项目投资人、购买产品的客户、实际用户的管理者、市场营销部门或产品策划部门。业务需求描述了组织为什么要开发一个系统，即组织希望达到的目标</a:t>
            </a:r>
            <a:r>
              <a:rPr kumimoji="1" lang="zh-CN" altLang="en-US" sz="2000" dirty="0" err="1">
                <a:solidFill>
                  <a:schemeClr val="accent2">
                    <a:lumMod val="75000"/>
                  </a:schemeClr>
                </a:solidFill>
              </a:rPr>
              <a:t>。</a:t>
            </a:r>
            <a:endParaRPr kumimoji="1" lang="zh-CN" altLang="en-US" sz="2000" dirty="0" err="1">
              <a:solidFill>
                <a:schemeClr val="accent2">
                  <a:lumMod val="75000"/>
                </a:schemeClr>
              </a:solidFill>
            </a:endParaRPr>
          </a:p>
          <a:p>
            <a:r>
              <a:rPr kumimoji="1" lang="zh-CN" altLang="en-US" sz="2000" b="1" dirty="0">
                <a:solidFill>
                  <a:schemeClr val="accent2">
                    <a:lumMod val="75000"/>
                  </a:schemeClr>
                </a:solidFill>
              </a:rPr>
              <a:t>用户需求</a:t>
            </a:r>
            <a:r>
              <a:rPr kumimoji="1" lang="zh-CN" altLang="en-US" sz="2000" dirty="0">
                <a:solidFill>
                  <a:schemeClr val="accent2">
                    <a:lumMod val="75000"/>
                  </a:schemeClr>
                </a:solidFill>
              </a:rPr>
              <a:t>（ user requirement ）描述的是用户的目标，或用户要求系统必须能完成的任务。用例、场景描述和事件――响应表都是表达用户需求的有效途径。也就是说用户需求描述了用户能使用系统来做些什么。</a:t>
            </a:r>
            <a:endParaRPr kumimoji="1" lang="zh-CN" altLang="en-US" sz="2000" dirty="0">
              <a:solidFill>
                <a:schemeClr val="accent2">
                  <a:lumMod val="75000"/>
                </a:schemeClr>
              </a:solidFill>
            </a:endParaRPr>
          </a:p>
          <a:p>
            <a:r>
              <a:rPr kumimoji="1" lang="zh-CN" altLang="en-US" sz="2000" b="1" dirty="0">
                <a:solidFill>
                  <a:schemeClr val="accent2">
                    <a:lumMod val="75000"/>
                  </a:schemeClr>
                </a:solidFill>
              </a:rPr>
              <a:t>功能需求</a:t>
            </a:r>
            <a:r>
              <a:rPr kumimoji="1" lang="zh-CN" altLang="en-US" sz="2000" dirty="0">
                <a:solidFill>
                  <a:schemeClr val="accent2">
                    <a:lumMod val="75000"/>
                  </a:schemeClr>
                </a:solidFill>
              </a:rPr>
              <a:t>（ functional requirement ）规定开发人员必须在产品中实现的软件功能，用户利用这些功能来完成任务，满足业务需求。</a:t>
            </a:r>
            <a:endParaRPr kumimoji="1" lang="zh-CN" altLang="en-US" sz="2000" dirty="0">
              <a:solidFill>
                <a:schemeClr val="accent2">
                  <a:lumMod val="75000"/>
                </a:schemeClr>
              </a:solidFill>
            </a:endParaRPr>
          </a:p>
          <a:p>
            <a:r>
              <a:rPr kumimoji="1" lang="zh-CN" altLang="en-US" sz="2000" b="1" dirty="0">
                <a:solidFill>
                  <a:schemeClr val="accent2">
                    <a:lumMod val="75000"/>
                  </a:schemeClr>
                </a:solidFill>
              </a:rPr>
              <a:t>非功能需求</a:t>
            </a:r>
            <a:r>
              <a:rPr kumimoji="1" lang="zh-CN" altLang="en-US" sz="2000" dirty="0">
                <a:solidFill>
                  <a:schemeClr val="accent2">
                    <a:lumMod val="75000"/>
                  </a:schemeClr>
                </a:solidFill>
              </a:rPr>
              <a:t>是一些限制性要求，是对实际使用环境所做的要求，如性能要求、可靠性要求、安全性要求、响应时间、存储空间等。</a:t>
            </a:r>
            <a:endParaRPr kumimoji="1" lang="zh-CN" altLang="en-US" sz="2000" dirty="0">
              <a:solidFill>
                <a:schemeClr val="accent2">
                  <a:lumMod val="75000"/>
                </a:schemeClr>
              </a:solidFill>
            </a:endParaRPr>
          </a:p>
          <a:p>
            <a:pPr marL="360045" lvl="1" indent="0">
              <a:lnSpc>
                <a:spcPct val="100000"/>
              </a:lnSpc>
              <a:spcBef>
                <a:spcPts val="1350"/>
              </a:spcBef>
              <a:buFont typeface="微软雅黑" panose="020B0503020204020204" pitchFamily="34" charset="-122"/>
              <a:buNone/>
            </a:pPr>
            <a:endParaRPr lang="en-US" altLang="zh-CN" dirty="0">
              <a:solidFill>
                <a:schemeClr val="tx1">
                  <a:lumMod val="65000"/>
                  <a:lumOff val="3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up)">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需求的层次案例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3" name="文本占位符 2"/>
          <p:cNvSpPr>
            <a:spLocks noGrp="1"/>
          </p:cNvSpPr>
          <p:nvPr>
            <p:ph type="body" sz="quarter" idx="4294967295"/>
          </p:nvPr>
        </p:nvSpPr>
        <p:spPr>
          <a:xfrm>
            <a:off x="757990" y="938463"/>
            <a:ext cx="8100260" cy="3740137"/>
          </a:xfrm>
        </p:spPr>
        <p:txBody>
          <a:bodyPr>
            <a:normAutofit lnSpcReduction="10000"/>
          </a:bodyPr>
          <a:lstStyle/>
          <a:p>
            <a:r>
              <a:rPr kumimoji="1" lang="zh-CN" altLang="en-US" sz="2000" dirty="0">
                <a:solidFill>
                  <a:schemeClr val="accent2">
                    <a:lumMod val="75000"/>
                  </a:schemeClr>
                </a:solidFill>
              </a:rPr>
              <a:t>下面以用户“自助寄件” 的需求</a:t>
            </a:r>
            <a:r>
              <a:rPr kumimoji="1" lang="en-US" altLang="zh-CN" sz="2000" dirty="0" err="1">
                <a:solidFill>
                  <a:schemeClr val="accent2">
                    <a:lumMod val="75000"/>
                  </a:schemeClr>
                </a:solidFill>
              </a:rPr>
              <a:t>为例说明需求</a:t>
            </a:r>
            <a:r>
              <a:rPr kumimoji="1" lang="zh-CN" altLang="en-US" sz="2000" dirty="0">
                <a:solidFill>
                  <a:schemeClr val="accent2">
                    <a:lumMod val="75000"/>
                  </a:schemeClr>
                </a:solidFill>
              </a:rPr>
              <a:t>的</a:t>
            </a:r>
            <a:r>
              <a:rPr kumimoji="1" lang="en-US" altLang="zh-CN" sz="2000" dirty="0" err="1">
                <a:solidFill>
                  <a:schemeClr val="accent2">
                    <a:lumMod val="75000"/>
                  </a:schemeClr>
                </a:solidFill>
              </a:rPr>
              <a:t>层次</a:t>
            </a:r>
            <a:r>
              <a:rPr kumimoji="1" lang="en-US" altLang="zh-CN" sz="2000" dirty="0">
                <a:solidFill>
                  <a:schemeClr val="accent2">
                    <a:lumMod val="75000"/>
                  </a:schemeClr>
                </a:solidFill>
              </a:rPr>
              <a:t>：</a:t>
            </a:r>
            <a:endParaRPr kumimoji="1" lang="zh-CN" altLang="en-US" sz="2000" dirty="0">
              <a:solidFill>
                <a:schemeClr val="accent2">
                  <a:lumMod val="75000"/>
                </a:schemeClr>
              </a:solidFill>
            </a:endParaRPr>
          </a:p>
          <a:p>
            <a:pPr lvl="1">
              <a:lnSpc>
                <a:spcPct val="100000"/>
              </a:lnSpc>
              <a:spcBef>
                <a:spcPts val="1350"/>
              </a:spcBef>
              <a:buFont typeface="微软雅黑" panose="020B0503020204020204" pitchFamily="34" charset="-122"/>
              <a:buChar char="◢"/>
            </a:pPr>
            <a:r>
              <a:rPr lang="zh-CN" altLang="zh-CN" sz="2000" b="1" dirty="0">
                <a:solidFill>
                  <a:srgbClr val="FF0000"/>
                </a:solidFill>
              </a:rPr>
              <a:t>业务建设方：某快递公司</a:t>
            </a:r>
            <a:endParaRPr lang="zh-CN" altLang="zh-CN" sz="2000" b="1" dirty="0">
              <a:solidFill>
                <a:srgbClr val="FF0000"/>
              </a:solidFill>
            </a:endParaRPr>
          </a:p>
          <a:p>
            <a:pPr lvl="1">
              <a:lnSpc>
                <a:spcPct val="100000"/>
              </a:lnSpc>
              <a:spcBef>
                <a:spcPts val="1350"/>
              </a:spcBef>
              <a:buFont typeface="微软雅黑" panose="020B0503020204020204" pitchFamily="34" charset="-122"/>
              <a:buChar char="◢"/>
            </a:pPr>
            <a:r>
              <a:rPr lang="zh-CN" altLang="zh-CN" sz="2000" b="1" dirty="0">
                <a:solidFill>
                  <a:srgbClr val="FF0000"/>
                </a:solidFill>
              </a:rPr>
              <a:t>业务需求：</a:t>
            </a:r>
            <a:r>
              <a:rPr lang="zh-CN" altLang="en-US" sz="2000" dirty="0">
                <a:solidFill>
                  <a:schemeClr val="tx1">
                    <a:lumMod val="65000"/>
                    <a:lumOff val="35000"/>
                  </a:schemeClr>
                </a:solidFill>
              </a:rPr>
              <a:t>目前很多城市的小区都已经有了快递柜，但快递柜主要是用于送件使用，而对于快递公司收件，用得比较少，某快递公司，就希望利用快递柜，来实现用户自助寄件的需求。</a:t>
            </a:r>
            <a:endParaRPr lang="zh-CN" altLang="zh-CN" sz="2000" dirty="0">
              <a:solidFill>
                <a:schemeClr val="tx1">
                  <a:lumMod val="65000"/>
                  <a:lumOff val="35000"/>
                </a:schemeClr>
              </a:solidFill>
            </a:endParaRPr>
          </a:p>
          <a:p>
            <a:pPr lvl="1">
              <a:lnSpc>
                <a:spcPct val="100000"/>
              </a:lnSpc>
              <a:spcBef>
                <a:spcPts val="0"/>
              </a:spcBef>
              <a:buFont typeface="微软雅黑" panose="020B0503020204020204" pitchFamily="34" charset="-122"/>
              <a:buChar char="◢"/>
            </a:pPr>
            <a:endParaRPr lang="zh-CN" altLang="zh-CN" sz="2000" b="1" dirty="0">
              <a:solidFill>
                <a:srgbClr val="FF0000"/>
              </a:solidFill>
              <a:sym typeface="+mn-ea"/>
            </a:endParaRPr>
          </a:p>
          <a:p>
            <a:pPr lvl="1">
              <a:lnSpc>
                <a:spcPct val="100000"/>
              </a:lnSpc>
              <a:spcBef>
                <a:spcPts val="0"/>
              </a:spcBef>
              <a:buFont typeface="微软雅黑" panose="020B0503020204020204" pitchFamily="34" charset="-122"/>
              <a:buChar char="◢"/>
            </a:pPr>
            <a:r>
              <a:rPr lang="zh-CN" altLang="zh-CN" sz="2000" b="1" dirty="0">
                <a:solidFill>
                  <a:srgbClr val="FF0000"/>
                </a:solidFill>
                <a:sym typeface="+mn-ea"/>
              </a:rPr>
              <a:t>用户：寄件需求的人</a:t>
            </a:r>
            <a:endParaRPr lang="zh-CN" altLang="zh-CN" sz="2000" b="1" dirty="0">
              <a:solidFill>
                <a:srgbClr val="FF0000"/>
              </a:solidFill>
            </a:endParaRPr>
          </a:p>
          <a:p>
            <a:pPr lvl="1">
              <a:lnSpc>
                <a:spcPct val="100000"/>
              </a:lnSpc>
              <a:spcBef>
                <a:spcPts val="0"/>
              </a:spcBef>
              <a:buFont typeface="微软雅黑" panose="020B0503020204020204" pitchFamily="34" charset="-122"/>
              <a:buChar char="◢"/>
            </a:pPr>
            <a:r>
              <a:rPr lang="zh-CN" altLang="zh-CN" sz="2000" b="1" dirty="0">
                <a:solidFill>
                  <a:srgbClr val="FF0000"/>
                </a:solidFill>
              </a:rPr>
              <a:t>用户需求：</a:t>
            </a:r>
            <a:r>
              <a:rPr lang="zh-CN" altLang="en-US" sz="2100" dirty="0">
                <a:solidFill>
                  <a:schemeClr val="tx1">
                    <a:lumMod val="65000"/>
                    <a:lumOff val="35000"/>
                  </a:schemeClr>
                </a:solidFill>
              </a:rPr>
              <a:t>在进行“自助寄件”的过程中</a:t>
            </a:r>
            <a:r>
              <a:rPr lang="zh-CN" altLang="en-US" sz="2000" dirty="0">
                <a:solidFill>
                  <a:schemeClr val="tx1">
                    <a:lumMod val="65000"/>
                    <a:lumOff val="35000"/>
                  </a:schemeClr>
                </a:solidFill>
              </a:rPr>
              <a:t>简单、易用，高效、快捷</a:t>
            </a:r>
            <a:r>
              <a:rPr lang="zh-CN" altLang="zh-CN" sz="2000" dirty="0">
                <a:solidFill>
                  <a:schemeClr val="tx1">
                    <a:lumMod val="65000"/>
                    <a:lumOff val="35000"/>
                  </a:schemeClr>
                </a:solidFill>
              </a:rPr>
              <a:t>。</a:t>
            </a:r>
            <a:endParaRPr lang="zh-CN" altLang="zh-CN" sz="2000" dirty="0">
              <a:solidFill>
                <a:schemeClr val="tx1">
                  <a:lumMod val="65000"/>
                  <a:lumOff val="35000"/>
                </a:schemeClr>
              </a:solidFill>
            </a:endParaRPr>
          </a:p>
          <a:p>
            <a:pPr lvl="1">
              <a:lnSpc>
                <a:spcPct val="100000"/>
              </a:lnSpc>
              <a:spcBef>
                <a:spcPts val="0"/>
              </a:spcBef>
              <a:buFont typeface="微软雅黑" panose="020B0503020204020204" pitchFamily="34" charset="-122"/>
              <a:buChar char="◢"/>
            </a:pPr>
            <a:endParaRPr lang="en-US" altLang="zh-CN" dirty="0">
              <a:solidFill>
                <a:schemeClr val="tx1">
                  <a:lumMod val="65000"/>
                  <a:lumOff val="3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up)">
                                      <p:cBhvr>
                                        <p:cTn id="10" dur="500"/>
                                        <p:tgtEl>
                                          <p:spTgt spid="3">
                                            <p:txEl>
                                              <p:pRg st="1" end="1"/>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up)">
                                      <p:cBhvr>
                                        <p:cTn id="13" dur="500"/>
                                        <p:tgtEl>
                                          <p:spTgt spid="3">
                                            <p:txEl>
                                              <p:pRg st="2" end="2"/>
                                            </p:txEl>
                                          </p:spTgt>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wipe(up)">
                                      <p:cBhvr>
                                        <p:cTn id="16" dur="500"/>
                                        <p:tgtEl>
                                          <p:spTgt spid="3">
                                            <p:txEl>
                                              <p:pRg st="4" end="4"/>
                                            </p:txEl>
                                          </p:spTgt>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wipe(up)">
                                      <p:cBhvr>
                                        <p:cTn id="19"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需求的层次案例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3" name="文本占位符 2"/>
          <p:cNvSpPr>
            <a:spLocks noGrp="1"/>
          </p:cNvSpPr>
          <p:nvPr>
            <p:ph type="body" sz="quarter" idx="4294967295"/>
          </p:nvPr>
        </p:nvSpPr>
        <p:spPr>
          <a:xfrm>
            <a:off x="757990" y="938463"/>
            <a:ext cx="8100260" cy="3740137"/>
          </a:xfrm>
        </p:spPr>
        <p:txBody>
          <a:bodyPr>
            <a:normAutofit lnSpcReduction="20000"/>
          </a:bodyPr>
          <a:lstStyle/>
          <a:p>
            <a:r>
              <a:rPr kumimoji="1" lang="zh-CN" altLang="en-US" sz="2000" dirty="0">
                <a:solidFill>
                  <a:schemeClr val="accent2">
                    <a:lumMod val="75000"/>
                  </a:schemeClr>
                </a:solidFill>
              </a:rPr>
              <a:t>业务需求是“用户自助寄件”：结合寄快递的实际场景进行分析</a:t>
            </a:r>
            <a:endParaRPr kumimoji="1" lang="zh-CN" altLang="en-US" sz="2000" dirty="0">
              <a:solidFill>
                <a:schemeClr val="accent2">
                  <a:lumMod val="75000"/>
                </a:schemeClr>
              </a:solidFill>
            </a:endParaRPr>
          </a:p>
          <a:p>
            <a:r>
              <a:rPr kumimoji="1" lang="zh-CN" altLang="en-US" sz="2000" dirty="0">
                <a:solidFill>
                  <a:schemeClr val="accent2">
                    <a:lumMod val="75000"/>
                  </a:schemeClr>
                </a:solidFill>
              </a:rPr>
              <a:t>细化需求</a:t>
            </a:r>
            <a:endParaRPr kumimoji="1" lang="zh-CN" altLang="en-US" sz="2000" dirty="0">
              <a:solidFill>
                <a:schemeClr val="accent2">
                  <a:lumMod val="75000"/>
                </a:schemeClr>
              </a:solidFill>
            </a:endParaRPr>
          </a:p>
          <a:p>
            <a:pPr lvl="2" fontAlgn="auto">
              <a:lnSpc>
                <a:spcPct val="200000"/>
              </a:lnSpc>
              <a:spcBef>
                <a:spcPts val="0"/>
              </a:spcBef>
              <a:buFont typeface="Wingdings" panose="05000000000000000000" pitchFamily="2" charset="2"/>
              <a:buChar char="ü"/>
            </a:pPr>
            <a:r>
              <a:rPr lang="zh-CN" altLang="en-US" dirty="0">
                <a:solidFill>
                  <a:schemeClr val="tx1">
                    <a:lumMod val="65000"/>
                    <a:lumOff val="35000"/>
                  </a:schemeClr>
                </a:solidFill>
                <a:sym typeface="+mn-ea"/>
              </a:rPr>
              <a:t>用户要填写单据：即填写收发件人的相关信息；</a:t>
            </a:r>
            <a:endParaRPr lang="zh-CN" altLang="en-US" dirty="0">
              <a:solidFill>
                <a:schemeClr val="tx1">
                  <a:lumMod val="65000"/>
                  <a:lumOff val="35000"/>
                </a:schemeClr>
              </a:solidFill>
            </a:endParaRPr>
          </a:p>
          <a:p>
            <a:pPr lvl="2" fontAlgn="auto">
              <a:lnSpc>
                <a:spcPct val="200000"/>
              </a:lnSpc>
              <a:spcBef>
                <a:spcPts val="0"/>
              </a:spcBef>
              <a:buFont typeface="Wingdings" panose="05000000000000000000" pitchFamily="2" charset="2"/>
              <a:buChar char="ü"/>
            </a:pPr>
            <a:r>
              <a:rPr lang="zh-CN" altLang="en-US" dirty="0">
                <a:solidFill>
                  <a:schemeClr val="tx1">
                    <a:lumMod val="65000"/>
                    <a:lumOff val="35000"/>
                  </a:schemeClr>
                </a:solidFill>
                <a:sym typeface="+mn-ea"/>
              </a:rPr>
              <a:t>用户要能找到周边的快递柜，并且能打开它；</a:t>
            </a:r>
            <a:endParaRPr lang="zh-CN" altLang="en-US" dirty="0">
              <a:solidFill>
                <a:schemeClr val="tx1">
                  <a:lumMod val="65000"/>
                  <a:lumOff val="35000"/>
                </a:schemeClr>
              </a:solidFill>
            </a:endParaRPr>
          </a:p>
          <a:p>
            <a:pPr lvl="2" fontAlgn="auto">
              <a:lnSpc>
                <a:spcPct val="200000"/>
              </a:lnSpc>
              <a:spcBef>
                <a:spcPts val="0"/>
              </a:spcBef>
              <a:buFont typeface="Wingdings" panose="05000000000000000000" pitchFamily="2" charset="2"/>
              <a:buChar char="ü"/>
            </a:pPr>
            <a:r>
              <a:rPr lang="zh-CN" altLang="en-US" dirty="0">
                <a:solidFill>
                  <a:schemeClr val="tx1">
                    <a:lumMod val="65000"/>
                    <a:lumOff val="35000"/>
                  </a:schemeClr>
                </a:solidFill>
                <a:sym typeface="+mn-ea"/>
              </a:rPr>
              <a:t>还需要进行计量、支付快递费的问题。</a:t>
            </a:r>
            <a:endParaRPr kumimoji="1" lang="zh-CN" altLang="en-US" sz="2000" dirty="0">
              <a:solidFill>
                <a:schemeClr val="accent2">
                  <a:lumMod val="75000"/>
                </a:schemeClr>
              </a:solidFill>
            </a:endParaRPr>
          </a:p>
          <a:p>
            <a:r>
              <a:rPr kumimoji="1" lang="zh-CN" altLang="en-US" sz="2000" dirty="0">
                <a:solidFill>
                  <a:schemeClr val="accent2">
                    <a:lumMod val="75000"/>
                  </a:schemeClr>
                </a:solidFill>
                <a:sym typeface="+mn-ea"/>
              </a:rPr>
              <a:t>填单——&gt;找柜子放件——&gt;支付。</a:t>
            </a:r>
            <a:endParaRPr kumimoji="1" lang="zh-CN" altLang="en-US" sz="2000" dirty="0">
              <a:solidFill>
                <a:schemeClr val="accent2">
                  <a:lumMod val="75000"/>
                </a:schemeClr>
              </a:solidFill>
            </a:endParaRPr>
          </a:p>
          <a:p>
            <a:endParaRPr kumimoji="1" lang="zh-CN" altLang="en-US" sz="2000" dirty="0">
              <a:solidFill>
                <a:schemeClr val="accent2">
                  <a:lumMod val="75000"/>
                </a:schemeClr>
              </a:solidFill>
            </a:endParaRPr>
          </a:p>
          <a:p>
            <a:pPr marL="0" indent="0">
              <a:buNone/>
            </a:pPr>
            <a:endParaRPr kumimoji="1" lang="zh-CN" altLang="en-US" sz="2000" dirty="0">
              <a:solidFill>
                <a:schemeClr val="accent2">
                  <a:lumMod val="7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up)">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up)">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up)">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需求的层次案例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3" name="文本占位符 2"/>
          <p:cNvSpPr>
            <a:spLocks noGrp="1"/>
          </p:cNvSpPr>
          <p:nvPr>
            <p:ph type="body" sz="quarter" idx="4294967295"/>
          </p:nvPr>
        </p:nvSpPr>
        <p:spPr>
          <a:xfrm>
            <a:off x="757990" y="938463"/>
            <a:ext cx="8100260" cy="3740137"/>
          </a:xfrm>
        </p:spPr>
        <p:txBody>
          <a:bodyPr>
            <a:normAutofit/>
          </a:bodyPr>
          <a:lstStyle/>
          <a:p>
            <a:r>
              <a:rPr kumimoji="1" lang="zh-CN" altLang="en-US" sz="2000" dirty="0">
                <a:solidFill>
                  <a:schemeClr val="accent2">
                    <a:lumMod val="75000"/>
                  </a:schemeClr>
                </a:solidFill>
              </a:rPr>
              <a:t>下面从填单</a:t>
            </a:r>
            <a:r>
              <a:rPr kumimoji="1" lang="en-US" altLang="zh-CN" sz="2000" dirty="0">
                <a:solidFill>
                  <a:schemeClr val="accent2">
                    <a:lumMod val="75000"/>
                  </a:schemeClr>
                </a:solidFill>
              </a:rPr>
              <a:t>——&gt;</a:t>
            </a:r>
            <a:r>
              <a:rPr kumimoji="1" lang="zh-CN" altLang="en-US" sz="2000" dirty="0">
                <a:solidFill>
                  <a:schemeClr val="accent2">
                    <a:lumMod val="75000"/>
                  </a:schemeClr>
                </a:solidFill>
              </a:rPr>
              <a:t>找柜子放件</a:t>
            </a:r>
            <a:r>
              <a:rPr kumimoji="1" lang="en-US" altLang="zh-CN" sz="2000" dirty="0">
                <a:solidFill>
                  <a:schemeClr val="accent2">
                    <a:lumMod val="75000"/>
                  </a:schemeClr>
                </a:solidFill>
              </a:rPr>
              <a:t>——&gt;</a:t>
            </a:r>
            <a:r>
              <a:rPr kumimoji="1" lang="zh-CN" altLang="en-US" sz="2000" dirty="0">
                <a:solidFill>
                  <a:schemeClr val="accent2">
                    <a:lumMod val="75000"/>
                  </a:schemeClr>
                </a:solidFill>
              </a:rPr>
              <a:t>支付三个阶段进行分析</a:t>
            </a:r>
            <a:r>
              <a:rPr kumimoji="1" lang="en-US" altLang="zh-CN" sz="2000" dirty="0">
                <a:solidFill>
                  <a:schemeClr val="accent2">
                    <a:lumMod val="75000"/>
                  </a:schemeClr>
                </a:solidFill>
              </a:rPr>
              <a:t>：</a:t>
            </a:r>
            <a:endParaRPr kumimoji="1" lang="en-US" altLang="zh-CN" sz="2000" dirty="0">
              <a:solidFill>
                <a:schemeClr val="accent2">
                  <a:lumMod val="75000"/>
                </a:schemeClr>
              </a:solidFill>
            </a:endParaRPr>
          </a:p>
          <a:p>
            <a:pPr marL="0" indent="0">
              <a:buNone/>
            </a:pPr>
            <a:r>
              <a:rPr kumimoji="1" lang="zh-CN" altLang="en-US" sz="2000" dirty="0">
                <a:solidFill>
                  <a:schemeClr val="tx1"/>
                </a:solidFill>
              </a:rPr>
              <a:t>填单阶段</a:t>
            </a:r>
            <a:r>
              <a:rPr kumimoji="1" lang="zh-CN" altLang="en-US" sz="2000" dirty="0">
                <a:solidFill>
                  <a:schemeClr val="accent2">
                    <a:lumMod val="75000"/>
                  </a:schemeClr>
                </a:solidFill>
              </a:rPr>
              <a:t>：</a:t>
            </a:r>
            <a:endParaRPr kumimoji="1" lang="zh-CN" altLang="en-US" sz="2000" dirty="0">
              <a:solidFill>
                <a:schemeClr val="accent2">
                  <a:lumMod val="75000"/>
                </a:schemeClr>
              </a:solidFill>
            </a:endParaRPr>
          </a:p>
          <a:p>
            <a:pPr>
              <a:buFont typeface="Wingdings" panose="05000000000000000000" pitchFamily="2" charset="2"/>
              <a:buChar char="Ø"/>
            </a:pPr>
            <a:r>
              <a:rPr kumimoji="1" lang="zh-CN" altLang="en-US" sz="2000" dirty="0">
                <a:solidFill>
                  <a:schemeClr val="accent2">
                    <a:lumMod val="75000"/>
                  </a:schemeClr>
                </a:solidFill>
              </a:rPr>
              <a:t>业务需求：必须收件人、联系电话、寄件人信息清楚、明确等等。</a:t>
            </a:r>
            <a:endParaRPr kumimoji="1" lang="zh-CN" altLang="en-US" sz="2000" dirty="0">
              <a:solidFill>
                <a:schemeClr val="accent2">
                  <a:lumMod val="75000"/>
                </a:schemeClr>
              </a:solidFill>
            </a:endParaRPr>
          </a:p>
          <a:p>
            <a:pPr>
              <a:buFont typeface="Wingdings" panose="05000000000000000000" pitchFamily="2" charset="2"/>
              <a:buChar char="Ø"/>
            </a:pPr>
            <a:r>
              <a:rPr kumimoji="1" lang="zh-CN" altLang="en-US" sz="2000" dirty="0">
                <a:solidFill>
                  <a:schemeClr val="accent2">
                    <a:lumMod val="75000"/>
                  </a:schemeClr>
                </a:solidFill>
              </a:rPr>
              <a:t>用户需求：能选的就选，能简单填写的就简单填。</a:t>
            </a:r>
            <a:endParaRPr kumimoji="1" lang="zh-CN" altLang="en-US" sz="2000" dirty="0">
              <a:solidFill>
                <a:schemeClr val="accent2">
                  <a:lumMod val="75000"/>
                </a:schemeClr>
              </a:solidFill>
            </a:endParaRPr>
          </a:p>
          <a:p>
            <a:pPr>
              <a:buFont typeface="Wingdings" panose="05000000000000000000" pitchFamily="2" charset="2"/>
              <a:buChar char="Ø"/>
            </a:pPr>
            <a:r>
              <a:rPr kumimoji="1" lang="zh-CN" altLang="en-US" sz="2000" dirty="0">
                <a:solidFill>
                  <a:schemeClr val="accent2">
                    <a:lumMod val="75000"/>
                  </a:schemeClr>
                </a:solidFill>
              </a:rPr>
              <a:t>系统需求：通过表单形式让用户把相关信息填上来，而为了满足用户需求，你肯定需要设计对收件人的记忆功能，让用户填写一次，后续每次只需要选择而已。</a:t>
            </a:r>
            <a:endParaRPr kumimoji="1" lang="zh-CN" altLang="en-US" sz="2000" dirty="0">
              <a:solidFill>
                <a:schemeClr val="accent2">
                  <a:lumMod val="7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up)">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up)">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需求的层次案例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3" name="文本占位符 2"/>
          <p:cNvSpPr>
            <a:spLocks noGrp="1"/>
          </p:cNvSpPr>
          <p:nvPr>
            <p:ph type="body" sz="quarter" idx="4294967295"/>
          </p:nvPr>
        </p:nvSpPr>
        <p:spPr>
          <a:xfrm>
            <a:off x="757990" y="938463"/>
            <a:ext cx="8100260" cy="3740137"/>
          </a:xfrm>
        </p:spPr>
        <p:txBody>
          <a:bodyPr>
            <a:normAutofit fontScale="77500" lnSpcReduction="20000"/>
          </a:bodyPr>
          <a:lstStyle/>
          <a:p>
            <a:pPr marL="0" indent="0">
              <a:buNone/>
            </a:pPr>
            <a:r>
              <a:rPr lang="zh-CN" altLang="en-US" b="1" dirty="0"/>
              <a:t>找柜子放件阶段：</a:t>
            </a:r>
            <a:endParaRPr lang="zh-CN" altLang="en-US" dirty="0"/>
          </a:p>
          <a:p>
            <a:pPr>
              <a:buFont typeface="Wingdings" panose="05000000000000000000" pitchFamily="2" charset="2"/>
              <a:buChar char="Ø"/>
            </a:pPr>
            <a:r>
              <a:rPr lang="zh-CN" altLang="en-US" dirty="0"/>
              <a:t>业务需求：把最方便最合适的柜子告诉用户，并确保用户能安全、准确的找到快递柜、放入快递件；</a:t>
            </a:r>
            <a:endParaRPr lang="zh-CN" altLang="en-US" dirty="0"/>
          </a:p>
          <a:p>
            <a:pPr>
              <a:buFont typeface="Wingdings" panose="05000000000000000000" pitchFamily="2" charset="2"/>
              <a:buChar char="Ø"/>
            </a:pPr>
            <a:r>
              <a:rPr lang="zh-CN" altLang="en-US" dirty="0"/>
              <a:t>用户需求：我就想知道我要把快递件放到哪里，别让我多走；</a:t>
            </a:r>
            <a:endParaRPr lang="zh-CN" altLang="en-US" dirty="0"/>
          </a:p>
          <a:p>
            <a:pPr>
              <a:buFont typeface="Wingdings" panose="05000000000000000000" pitchFamily="2" charset="2"/>
              <a:buChar char="Ø"/>
            </a:pPr>
            <a:r>
              <a:rPr lang="zh-CN" altLang="en-US" dirty="0"/>
              <a:t>功能需求：</a:t>
            </a:r>
            <a:endParaRPr lang="zh-CN" altLang="en-US" dirty="0"/>
          </a:p>
          <a:p>
            <a:pPr lvl="1">
              <a:buFont typeface="Wingdings" panose="05000000000000000000" pitchFamily="2" charset="2"/>
              <a:buChar char="ü"/>
            </a:pPr>
            <a:r>
              <a:rPr lang="zh-CN" altLang="en-US" sz="2100" dirty="0"/>
              <a:t>位置服务肯定需要，一是为满足发现柜子的需求，二是也有导航的需求；</a:t>
            </a:r>
            <a:endParaRPr lang="zh-CN" altLang="en-US" sz="2100" dirty="0"/>
          </a:p>
          <a:p>
            <a:pPr lvl="1">
              <a:buFont typeface="Wingdings" panose="05000000000000000000" pitchFamily="2" charset="2"/>
              <a:buChar char="ü"/>
            </a:pPr>
            <a:r>
              <a:rPr lang="zh-CN" altLang="en-US" sz="2100" dirty="0"/>
              <a:t>如何打开柜子呢？从我们的产品经验或者竞品参考来看，可以有扫描开启、验证码等方式；</a:t>
            </a:r>
            <a:endParaRPr lang="zh-CN" altLang="en-US" sz="2100" dirty="0"/>
          </a:p>
          <a:p>
            <a:pPr lvl="1">
              <a:buFont typeface="Wingdings" panose="05000000000000000000" pitchFamily="2" charset="2"/>
              <a:buChar char="ü"/>
            </a:pPr>
            <a:r>
              <a:rPr lang="zh-CN" altLang="en-US" sz="2100" dirty="0"/>
              <a:t>如何保证用户去到快递柜，一定就有其空的柜子可以给他放了，这里面就涉及一个快递柜忙闲资源的管理；</a:t>
            </a:r>
            <a:endParaRPr lang="zh-CN" altLang="en-US" sz="2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需求的层次案例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3" name="文本占位符 2"/>
          <p:cNvSpPr>
            <a:spLocks noGrp="1"/>
          </p:cNvSpPr>
          <p:nvPr>
            <p:ph type="body" sz="quarter" idx="4294967295"/>
          </p:nvPr>
        </p:nvSpPr>
        <p:spPr>
          <a:xfrm>
            <a:off x="757990" y="938463"/>
            <a:ext cx="8100260" cy="3740137"/>
          </a:xfrm>
        </p:spPr>
        <p:txBody>
          <a:bodyPr>
            <a:normAutofit fontScale="85000" lnSpcReduction="10000"/>
          </a:bodyPr>
          <a:lstStyle/>
          <a:p>
            <a:pPr marL="0" indent="0">
              <a:buNone/>
            </a:pPr>
            <a:r>
              <a:rPr lang="zh-CN" altLang="en-US" b="1" dirty="0"/>
              <a:t>支付阶段：</a:t>
            </a:r>
            <a:endParaRPr lang="zh-CN" altLang="en-US" dirty="0"/>
          </a:p>
          <a:p>
            <a:pPr>
              <a:buFont typeface="Wingdings" panose="05000000000000000000" pitchFamily="2" charset="2"/>
              <a:buChar char="Ø"/>
            </a:pPr>
            <a:r>
              <a:rPr lang="zh-CN" altLang="en-US" dirty="0"/>
              <a:t>业务需求：根据收费标准，准确无误、及时收到用户快递费。</a:t>
            </a:r>
            <a:endParaRPr lang="zh-CN" altLang="en-US" dirty="0"/>
          </a:p>
          <a:p>
            <a:pPr>
              <a:buFont typeface="Wingdings" panose="05000000000000000000" pitchFamily="2" charset="2"/>
              <a:buChar char="Ø"/>
            </a:pPr>
            <a:r>
              <a:rPr lang="zh-CN" altLang="en-US" dirty="0"/>
              <a:t>用户需求：支付方便。</a:t>
            </a:r>
            <a:endParaRPr lang="zh-CN" altLang="en-US" dirty="0"/>
          </a:p>
          <a:p>
            <a:pPr>
              <a:buFont typeface="Wingdings" panose="05000000000000000000" pitchFamily="2" charset="2"/>
              <a:buChar char="Ø"/>
            </a:pPr>
            <a:r>
              <a:rPr lang="zh-CN" altLang="en-US" dirty="0"/>
              <a:t>功能需求：</a:t>
            </a:r>
            <a:endParaRPr lang="zh-CN" altLang="en-US" dirty="0"/>
          </a:p>
          <a:p>
            <a:pPr lvl="1">
              <a:buFont typeface="Wingdings" panose="05000000000000000000" pitchFamily="2" charset="2"/>
              <a:buChar char="ü"/>
            </a:pPr>
            <a:r>
              <a:rPr lang="zh-CN" altLang="en-US" dirty="0"/>
              <a:t>如何来计量，由于是自助寄件，称重显然不合适，那么按体积是一种较简便的方式，而如何按体积了，其实根据可快递柜的柜子；</a:t>
            </a:r>
            <a:endParaRPr lang="zh-CN" altLang="en-US" dirty="0"/>
          </a:p>
          <a:p>
            <a:pPr lvl="1">
              <a:buFont typeface="Wingdings" panose="05000000000000000000" pitchFamily="2" charset="2"/>
              <a:buChar char="ü"/>
            </a:pPr>
            <a:r>
              <a:rPr lang="zh-CN" altLang="en-US" dirty="0"/>
              <a:t>如何支付，这个还简单，可以使用比较常用的几种支付方式就好；</a:t>
            </a:r>
            <a:endParaRPr lang="zh-CN" alt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需求的层次案例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3" name="文本占位符 2"/>
          <p:cNvSpPr>
            <a:spLocks noGrp="1"/>
          </p:cNvSpPr>
          <p:nvPr>
            <p:ph type="body" sz="quarter" idx="4294967295"/>
          </p:nvPr>
        </p:nvSpPr>
        <p:spPr>
          <a:xfrm>
            <a:off x="758190" y="938530"/>
            <a:ext cx="7901940" cy="3740150"/>
          </a:xfrm>
        </p:spPr>
        <p:txBody>
          <a:bodyPr>
            <a:normAutofit/>
          </a:bodyPr>
          <a:lstStyle/>
          <a:p>
            <a:pPr marL="0" indent="0">
              <a:buNone/>
            </a:pPr>
            <a:r>
              <a:rPr lang="zh-CN" altLang="en-US" b="1" dirty="0"/>
              <a:t>场景细节挖掘：</a:t>
            </a:r>
            <a:endParaRPr lang="zh-CN" altLang="en-US" b="1" dirty="0"/>
          </a:p>
          <a:p>
            <a:pPr marL="0" indent="0">
              <a:buNone/>
            </a:pPr>
            <a:r>
              <a:rPr lang="zh-CN" altLang="en-US" b="1" dirty="0"/>
              <a:t>例如：</a:t>
            </a:r>
            <a:endParaRPr lang="zh-CN" altLang="en-US" dirty="0"/>
          </a:p>
          <a:p>
            <a:pPr>
              <a:buFont typeface="Wingdings" panose="05000000000000000000" pitchFamily="2" charset="2"/>
              <a:buChar char="Ø"/>
            </a:pPr>
            <a:r>
              <a:rPr lang="zh-CN" altLang="en-US" dirty="0"/>
              <a:t>在上面的开启柜子的方式中，到底用扫描开启还是验证码的方式呢？</a:t>
            </a:r>
            <a:endParaRPr lang="zh-CN" altLang="en-US" dirty="0"/>
          </a:p>
          <a:p>
            <a:pPr>
              <a:buFont typeface="Wingdings" panose="05000000000000000000" pitchFamily="2" charset="2"/>
              <a:buChar char="Ø"/>
            </a:pPr>
            <a:r>
              <a:rPr lang="zh-CN" altLang="en-US" dirty="0"/>
              <a:t>某用户希望自己的快递能更快的被寄出去？加急？</a:t>
            </a:r>
            <a:endParaRPr lang="zh-CN" alt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4" name="页脚占位符 3"/>
          <p:cNvSpPr>
            <a:spLocks noGrp="1"/>
          </p:cNvSpPr>
          <p:nvPr>
            <p:ph type="ftr" sz="quarter" idx="11"/>
          </p:nvPr>
        </p:nvSpPr>
        <p:spPr/>
        <p:txBody>
          <a:bodyPr/>
          <a:p>
            <a:r>
              <a:rPr lang="zh-CN" altLang="en-US"/>
              <a:t>软件工程</a:t>
            </a:r>
            <a:endParaRPr lang="zh-CN" altLang="en-US"/>
          </a:p>
        </p:txBody>
      </p:sp>
      <p:sp>
        <p:nvSpPr>
          <p:cNvPr id="5" name="灯片编号占位符 4"/>
          <p:cNvSpPr>
            <a:spLocks noGrp="1"/>
          </p:cNvSpPr>
          <p:nvPr>
            <p:ph type="sldNum" sz="quarter" idx="12"/>
          </p:nvPr>
        </p:nvSpPr>
        <p:spPr/>
        <p:txBody>
          <a:bodyPr/>
          <a:p>
            <a:fld id="{F528F39D-B5E5-4CA7-906C-979D5A62978D}" type="slidenum">
              <a:rPr lang="zh-CN" altLang="en-US" smtClean="0"/>
            </a:fld>
            <a:endParaRPr lang="zh-CN" altLang="en-US"/>
          </a:p>
        </p:txBody>
      </p:sp>
      <p:grpSp>
        <p:nvGrpSpPr>
          <p:cNvPr id="6" name="组合 5"/>
          <p:cNvGrpSpPr/>
          <p:nvPr/>
        </p:nvGrpSpPr>
        <p:grpSpPr>
          <a:xfrm>
            <a:off x="5080" y="966470"/>
            <a:ext cx="9138920" cy="1172845"/>
            <a:chOff x="6" y="3403"/>
            <a:chExt cx="14392" cy="1847"/>
          </a:xfrm>
        </p:grpSpPr>
        <p:sp>
          <p:nvSpPr>
            <p:cNvPr id="7" name="矩形 6"/>
            <p:cNvSpPr/>
            <p:nvPr>
              <p:custDataLst>
                <p:tags r:id="rId1"/>
              </p:custDataLst>
            </p:nvPr>
          </p:nvSpPr>
          <p:spPr>
            <a:xfrm>
              <a:off x="6" y="3403"/>
              <a:ext cx="14392" cy="1847"/>
            </a:xfrm>
            <a:prstGeom prst="rect">
              <a:avLst/>
            </a:prstGeom>
            <a:gradFill>
              <a:gsLst>
                <a:gs pos="100000">
                  <a:srgbClr val="6264F8"/>
                </a:gs>
                <a:gs pos="49000">
                  <a:srgbClr val="B584EC"/>
                </a:gs>
                <a:gs pos="0">
                  <a:srgbClr val="EE9AE5"/>
                </a:gs>
              </a:gsLst>
              <a:lin ang="2700000" scaled="1"/>
            </a:gra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custDataLst>
                <p:tags r:id="rId2"/>
              </p:custDataLst>
            </p:nvPr>
          </p:nvSpPr>
          <p:spPr>
            <a:xfrm>
              <a:off x="3326" y="3821"/>
              <a:ext cx="9677" cy="1307"/>
            </a:xfrm>
            <a:prstGeom prst="rect">
              <a:avLst/>
            </a:prstGeom>
            <a:noFill/>
          </p:spPr>
          <p:txBody>
            <a:bodyPr wrap="square" rtlCol="0">
              <a:spAutoFit/>
            </a:bodyPr>
            <a:p>
              <a:r>
                <a:rPr lang="zh-CN" altLang="en-US" sz="4800">
                  <a:solidFill>
                    <a:schemeClr val="bg1"/>
                  </a:solidFill>
                </a:rPr>
                <a:t>严谨认真的工作态度</a:t>
              </a:r>
              <a:endParaRPr lang="zh-CN" altLang="en-US" sz="4800">
                <a:solidFill>
                  <a:schemeClr val="bg1"/>
                </a:solidFill>
              </a:endParaRPr>
            </a:p>
          </p:txBody>
        </p:sp>
      </p:grpSp>
      <p:grpSp>
        <p:nvGrpSpPr>
          <p:cNvPr id="8" name="组合 7"/>
          <p:cNvGrpSpPr/>
          <p:nvPr/>
        </p:nvGrpSpPr>
        <p:grpSpPr>
          <a:xfrm>
            <a:off x="0" y="2877185"/>
            <a:ext cx="9138920" cy="1172845"/>
            <a:chOff x="6" y="3403"/>
            <a:chExt cx="14392" cy="1847"/>
          </a:xfrm>
        </p:grpSpPr>
        <p:sp>
          <p:nvSpPr>
            <p:cNvPr id="10" name="矩形 9"/>
            <p:cNvSpPr/>
            <p:nvPr>
              <p:custDataLst>
                <p:tags r:id="rId3"/>
              </p:custDataLst>
            </p:nvPr>
          </p:nvSpPr>
          <p:spPr>
            <a:xfrm>
              <a:off x="6" y="3403"/>
              <a:ext cx="14392" cy="1847"/>
            </a:xfrm>
            <a:prstGeom prst="rect">
              <a:avLst/>
            </a:prstGeom>
            <a:gradFill>
              <a:gsLst>
                <a:gs pos="100000">
                  <a:srgbClr val="6264F8"/>
                </a:gs>
                <a:gs pos="49000">
                  <a:srgbClr val="B584EC"/>
                </a:gs>
                <a:gs pos="0">
                  <a:srgbClr val="EE9AE5"/>
                </a:gs>
              </a:gsLst>
              <a:lin ang="2700000" scaled="1"/>
            </a:gra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custDataLst>
                <p:tags r:id="rId4"/>
              </p:custDataLst>
            </p:nvPr>
          </p:nvSpPr>
          <p:spPr>
            <a:xfrm>
              <a:off x="3326" y="3821"/>
              <a:ext cx="9677" cy="1307"/>
            </a:xfrm>
            <a:prstGeom prst="rect">
              <a:avLst/>
            </a:prstGeom>
            <a:noFill/>
          </p:spPr>
          <p:txBody>
            <a:bodyPr wrap="square" rtlCol="0">
              <a:spAutoFit/>
            </a:bodyPr>
            <a:p>
              <a:r>
                <a:rPr lang="zh-CN" altLang="en-US" sz="4800">
                  <a:solidFill>
                    <a:schemeClr val="bg1"/>
                  </a:solidFill>
                </a:rPr>
                <a:t>精益求精的工作精神</a:t>
              </a:r>
              <a:endParaRPr lang="zh-CN" altLang="en-US" sz="4800">
                <a:solidFill>
                  <a:schemeClr val="bg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ox(in)">
                                      <p:cBhvr>
                                        <p:cTn id="12"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582338" y="2008681"/>
            <a:ext cx="4954055" cy="922020"/>
          </a:xfrm>
          <a:prstGeom prst="rect">
            <a:avLst/>
          </a:prstGeom>
        </p:spPr>
        <p:txBody>
          <a:bodyPr wrap="square">
            <a:spAutoFit/>
          </a:bodyPr>
          <a:lstStyle/>
          <a:p>
            <a:pPr>
              <a:lnSpc>
                <a:spcPct val="120000"/>
              </a:lnSpc>
              <a:spcBef>
                <a:spcPts val="900"/>
              </a:spcBef>
              <a:buClr>
                <a:srgbClr val="00B050"/>
              </a:buClr>
            </a:pPr>
            <a:r>
              <a:rPr lang="zh-CN" altLang="en-US" sz="4500" b="1" dirty="0">
                <a:solidFill>
                  <a:srgbClr val="686868"/>
                </a:solidFill>
              </a:rPr>
              <a:t>需求分析？</a:t>
            </a:r>
            <a:endParaRPr lang="zh-CN" altLang="en-US" sz="4500" b="1" dirty="0">
              <a:solidFill>
                <a:srgbClr val="686868"/>
              </a:solidFill>
            </a:endParaRPr>
          </a:p>
        </p:txBody>
      </p:sp>
      <p:pic>
        <p:nvPicPr>
          <p:cNvPr id="28" name="图片 27"/>
          <p:cNvPicPr>
            <a:picLocks noChangeAspect="1"/>
          </p:cNvPicPr>
          <p:nvPr/>
        </p:nvPicPr>
        <p:blipFill>
          <a:blip r:embed="rId1">
            <a:clrChange>
              <a:clrFrom>
                <a:srgbClr val="F6F6F6"/>
              </a:clrFrom>
              <a:clrTo>
                <a:srgbClr val="F6F6F6">
                  <a:alpha val="0"/>
                </a:srgbClr>
              </a:clrTo>
            </a:clrChange>
            <a:extLst>
              <a:ext uri="{28A0092B-C50C-407E-A947-70E740481C1C}">
                <a14:useLocalDpi xmlns:a14="http://schemas.microsoft.com/office/drawing/2010/main" val="0"/>
              </a:ext>
            </a:extLst>
          </a:blip>
          <a:stretch>
            <a:fillRect/>
          </a:stretch>
        </p:blipFill>
        <p:spPr>
          <a:xfrm rot="1838438">
            <a:off x="711542" y="2041389"/>
            <a:ext cx="3599405" cy="1781244"/>
          </a:xfrm>
          <a:prstGeom prst="rect">
            <a:avLst/>
          </a:prstGeom>
        </p:spPr>
      </p:pic>
      <p:sp>
        <p:nvSpPr>
          <p:cNvPr id="3" name="页脚占位符 2"/>
          <p:cNvSpPr>
            <a:spLocks noGrp="1"/>
          </p:cNvSpPr>
          <p:nvPr>
            <p:ph type="ftr" sz="quarter" idx="11"/>
          </p:nvPr>
        </p:nvSpPr>
        <p:spPr/>
        <p:txBody>
          <a:bodyPr/>
          <a:lstStyle/>
          <a:p>
            <a:r>
              <a:rPr lang="zh-CN" altLang="en-US"/>
              <a:t>软件工程</a:t>
            </a:r>
            <a:endParaRPr lang="zh-CN" altLang="en-US"/>
          </a:p>
        </p:txBody>
      </p:sp>
      <p:sp>
        <p:nvSpPr>
          <p:cNvPr id="4" name="灯片编号占位符 3"/>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需求分析</a:t>
            </a:r>
            <a:endParaRPr lang="zh-CN" altLang="en-US"/>
          </a:p>
        </p:txBody>
      </p:sp>
      <p:sp>
        <p:nvSpPr>
          <p:cNvPr id="3" name="内容占位符 2"/>
          <p:cNvSpPr>
            <a:spLocks noGrp="1"/>
          </p:cNvSpPr>
          <p:nvPr>
            <p:ph idx="1"/>
          </p:nvPr>
        </p:nvSpPr>
        <p:spPr/>
        <p:txBody>
          <a:bodyPr/>
          <a:p>
            <a:r>
              <a:rPr lang="zh-CN" altLang="en-US"/>
              <a:t>需求分析，是软件需求分析师经过深入的调研和分析，把用户对待开发软件提出的“要求”或“需要”进行分析与整理，确认后形成描述完整、清晰与规范的文档，进而确定软件要做什么，要达到什么样的效果。需求分析是对目标系统提出功能、性能、安全及可靠性等要求，并确定系统的构成和软件、硬件、数据等资源要求的过程。</a:t>
            </a:r>
            <a:endParaRPr lang="zh-CN" altLang="en-US"/>
          </a:p>
        </p:txBody>
      </p:sp>
      <p:sp>
        <p:nvSpPr>
          <p:cNvPr id="4" name="日期占位符 3"/>
          <p:cNvSpPr>
            <a:spLocks noGrp="1"/>
          </p:cNvSpPr>
          <p:nvPr>
            <p:ph type="dt" sz="half" idx="10"/>
          </p:nvPr>
        </p:nvSpPr>
        <p:spPr/>
        <p:txBody>
          <a:bodyPr/>
          <a:p>
            <a:fld id="{D7326FFE-7CCA-4C0D-B453-625569992FB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806115" y="1238757"/>
            <a:ext cx="8052135" cy="2613023"/>
          </a:xfrm>
          <a:prstGeom prst="rect">
            <a:avLst/>
          </a:prstGeom>
        </p:spPr>
        <p:txBody>
          <a:bodyPr wrap="square">
            <a:spAutoFit/>
          </a:bodyPr>
          <a:lstStyle/>
          <a:p>
            <a:pPr marL="342900" indent="-342900">
              <a:lnSpc>
                <a:spcPct val="120000"/>
              </a:lnSpc>
              <a:spcBef>
                <a:spcPts val="900"/>
              </a:spcBef>
              <a:buClr>
                <a:srgbClr val="00B050"/>
              </a:buClr>
              <a:buFont typeface="Wingdings" panose="05000000000000000000" pitchFamily="2" charset="2"/>
              <a:buChar char=""/>
            </a:pPr>
            <a:r>
              <a:rPr lang="zh-CN" altLang="en-US" sz="2400" dirty="0">
                <a:solidFill>
                  <a:schemeClr val="tx1">
                    <a:lumMod val="65000"/>
                    <a:lumOff val="35000"/>
                  </a:schemeClr>
                </a:solidFill>
                <a:latin typeface="+mj-ea"/>
                <a:ea typeface="+mj-ea"/>
              </a:rPr>
              <a:t>需求分析的基本任务不是确定系统怎样完成它的工作，而是确定系统必须完成哪些工作，也就是对目标系统提出完整、准确、清晰、具体的要求。</a:t>
            </a:r>
            <a:endParaRPr lang="zh-CN" altLang="en-US" sz="2400" dirty="0">
              <a:solidFill>
                <a:schemeClr val="tx1">
                  <a:lumMod val="65000"/>
                  <a:lumOff val="35000"/>
                </a:schemeClr>
              </a:solidFill>
              <a:latin typeface="+mj-ea"/>
              <a:ea typeface="+mj-ea"/>
            </a:endParaRPr>
          </a:p>
          <a:p>
            <a:pPr marL="342900" indent="-342900">
              <a:lnSpc>
                <a:spcPct val="120000"/>
              </a:lnSpc>
              <a:spcBef>
                <a:spcPts val="900"/>
              </a:spcBef>
              <a:buClr>
                <a:srgbClr val="00B050"/>
              </a:buClr>
              <a:buFont typeface="Wingdings" panose="05000000000000000000" pitchFamily="2" charset="2"/>
              <a:buChar char=""/>
            </a:pPr>
            <a:endParaRPr lang="zh-CN" altLang="en-US" sz="2400" dirty="0">
              <a:solidFill>
                <a:schemeClr val="tx1">
                  <a:lumMod val="65000"/>
                  <a:lumOff val="35000"/>
                </a:schemeClr>
              </a:solidFill>
              <a:latin typeface="+mj-ea"/>
              <a:ea typeface="+mj-ea"/>
            </a:endParaRPr>
          </a:p>
          <a:p>
            <a:pPr marL="342900" indent="-342900">
              <a:lnSpc>
                <a:spcPct val="120000"/>
              </a:lnSpc>
              <a:spcBef>
                <a:spcPts val="900"/>
              </a:spcBef>
              <a:buClr>
                <a:srgbClr val="00B050"/>
              </a:buClr>
              <a:buFont typeface="Wingdings" panose="05000000000000000000" pitchFamily="2" charset="2"/>
              <a:buChar char=""/>
            </a:pPr>
            <a:r>
              <a:rPr lang="en-US" altLang="zh-CN" sz="2800" dirty="0">
                <a:solidFill>
                  <a:srgbClr val="FF8900"/>
                </a:solidFill>
                <a:latin typeface="+mj-ea"/>
                <a:ea typeface="+mj-ea"/>
              </a:rPr>
              <a:t>---- </a:t>
            </a:r>
            <a:r>
              <a:rPr lang="zh-CN" altLang="en-US" sz="2800" dirty="0">
                <a:solidFill>
                  <a:srgbClr val="FF8900"/>
                </a:solidFill>
                <a:latin typeface="+mj-ea"/>
                <a:ea typeface="+mj-ea"/>
              </a:rPr>
              <a:t>准确地回答“系统必须做什么”</a:t>
            </a:r>
            <a:endParaRPr lang="zh-CN" altLang="en-US" sz="2800" dirty="0">
              <a:solidFill>
                <a:srgbClr val="FF8900"/>
              </a:solidFill>
              <a:latin typeface="+mj-ea"/>
              <a:ea typeface="+mj-ea"/>
            </a:endParaRPr>
          </a:p>
        </p:txBody>
      </p:sp>
      <p:sp>
        <p:nvSpPr>
          <p:cNvPr id="2" name="标题 1"/>
          <p:cNvSpPr>
            <a:spLocks noGrp="1"/>
          </p:cNvSpPr>
          <p:nvPr>
            <p:ph type="title"/>
          </p:nvPr>
        </p:nvSpPr>
        <p:spPr/>
        <p:txBody>
          <a:bodyPr/>
          <a:lstStyle/>
          <a:p>
            <a:r>
              <a:rPr lang="zh-CN" altLang="en-US" kern="100" dirty="0">
                <a:latin typeface="+mn-ea"/>
                <a:cs typeface="Times New Roman" panose="02020603050405020304" pitchFamily="18" charset="0"/>
              </a:rPr>
              <a:t>软件需求分析的任务</a:t>
            </a:r>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7" name="灯片编号占位符 6"/>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10" name="图片 9"/>
          <p:cNvPicPr>
            <a:picLocks noChangeAspect="1"/>
          </p:cNvPicPr>
          <p:nvPr/>
        </p:nvPicPr>
        <p:blipFill>
          <a:blip r:embed="rId1">
            <a:clrChange>
              <a:clrFrom>
                <a:srgbClr val="FFFFFF"/>
              </a:clrFrom>
              <a:clrTo>
                <a:srgbClr val="FFFFFF">
                  <a:alpha val="0"/>
                </a:srgbClr>
              </a:clrTo>
            </a:clrChange>
          </a:blip>
          <a:stretch>
            <a:fillRect/>
          </a:stretch>
        </p:blipFill>
        <p:spPr>
          <a:xfrm>
            <a:off x="6903687" y="2695074"/>
            <a:ext cx="1867334" cy="1940694"/>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r>
              <a:rPr lang="zh-CN" altLang="en-US"/>
              <a:t>软件工程</a:t>
            </a:r>
            <a:endParaRPr lang="zh-CN" altLang="en-US"/>
          </a:p>
        </p:txBody>
      </p:sp>
      <p:sp>
        <p:nvSpPr>
          <p:cNvPr id="4" name="灯片编号占位符 3"/>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6" name="文本框 5"/>
          <p:cNvSpPr txBox="1"/>
          <p:nvPr>
            <p:custDataLst>
              <p:tags r:id="rId1"/>
            </p:custDataLst>
          </p:nvPr>
        </p:nvSpPr>
        <p:spPr>
          <a:xfrm>
            <a:off x="914400" y="635000"/>
            <a:ext cx="7315200" cy="1607185"/>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pitchFamily="34" charset="-122"/>
                <a:ea typeface="微软雅黑" panose="020B0503020204020204" pitchFamily="34" charset="-122"/>
              </a:rPr>
              <a:t>下面不属于需求分析阶段任务的是（　　）。</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7" name="文本框 6"/>
          <p:cNvSpPr txBox="1"/>
          <p:nvPr>
            <p:custDataLst>
              <p:tags r:id="rId2"/>
            </p:custDataLst>
          </p:nvPr>
        </p:nvSpPr>
        <p:spPr>
          <a:xfrm>
            <a:off x="1828800" y="2089150"/>
            <a:ext cx="6400800" cy="481965"/>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pitchFamily="34" charset="-122"/>
                <a:ea typeface="微软雅黑" panose="020B0503020204020204" pitchFamily="34" charset="-122"/>
              </a:rPr>
              <a:t>确定软件系统的性能需求</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8" name="文本框 7"/>
          <p:cNvSpPr txBox="1"/>
          <p:nvPr>
            <p:custDataLst>
              <p:tags r:id="rId3"/>
            </p:custDataLst>
          </p:nvPr>
        </p:nvSpPr>
        <p:spPr>
          <a:xfrm>
            <a:off x="1828800" y="2732405"/>
            <a:ext cx="6400800" cy="481965"/>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pitchFamily="34" charset="-122"/>
                <a:ea typeface="微软雅黑" panose="020B0503020204020204" pitchFamily="34" charset="-122"/>
              </a:rPr>
              <a:t>确定软件系统的功能需求</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9" name="文本框 8"/>
          <p:cNvSpPr txBox="1"/>
          <p:nvPr>
            <p:custDataLst>
              <p:tags r:id="rId4"/>
            </p:custDataLst>
          </p:nvPr>
        </p:nvSpPr>
        <p:spPr>
          <a:xfrm>
            <a:off x="1828800" y="3375025"/>
            <a:ext cx="6400800" cy="481965"/>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pitchFamily="34" charset="-122"/>
                <a:ea typeface="微软雅黑" panose="020B0503020204020204" pitchFamily="34" charset="-122"/>
              </a:rPr>
              <a:t>指定软件集成测试计划</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10" name="文本框 9"/>
          <p:cNvSpPr txBox="1"/>
          <p:nvPr>
            <p:custDataLst>
              <p:tags r:id="rId5"/>
            </p:custDataLst>
          </p:nvPr>
        </p:nvSpPr>
        <p:spPr>
          <a:xfrm>
            <a:off x="1828800" y="4018280"/>
            <a:ext cx="6400800" cy="481965"/>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pitchFamily="34" charset="-122"/>
                <a:ea typeface="微软雅黑" panose="020B0503020204020204" pitchFamily="34" charset="-122"/>
              </a:rPr>
              <a:t>需求规格说明书评审</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11" name="椭圆 10"/>
          <p:cNvSpPr>
            <a:spLocks noChangeAspect="1"/>
          </p:cNvSpPr>
          <p:nvPr>
            <p:custDataLst>
              <p:tags r:id="rId6"/>
            </p:custDataLst>
          </p:nvPr>
        </p:nvSpPr>
        <p:spPr>
          <a:xfrm>
            <a:off x="1178560" y="2137410"/>
            <a:ext cx="385445" cy="38608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2" name="椭圆 11"/>
          <p:cNvSpPr>
            <a:spLocks noChangeAspect="1"/>
          </p:cNvSpPr>
          <p:nvPr>
            <p:custDataLst>
              <p:tags r:id="rId7"/>
            </p:custDataLst>
          </p:nvPr>
        </p:nvSpPr>
        <p:spPr>
          <a:xfrm>
            <a:off x="1178560" y="2780665"/>
            <a:ext cx="385445" cy="385445"/>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3" name="椭圆 12"/>
          <p:cNvSpPr>
            <a:spLocks noChangeAspect="1"/>
          </p:cNvSpPr>
          <p:nvPr>
            <p:custDataLst>
              <p:tags r:id="rId8"/>
            </p:custDataLst>
          </p:nvPr>
        </p:nvSpPr>
        <p:spPr>
          <a:xfrm>
            <a:off x="1178560" y="3423285"/>
            <a:ext cx="385445" cy="38608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4" name="椭圆 13"/>
          <p:cNvSpPr>
            <a:spLocks noChangeAspect="1"/>
          </p:cNvSpPr>
          <p:nvPr>
            <p:custDataLst>
              <p:tags r:id="rId9"/>
            </p:custDataLst>
          </p:nvPr>
        </p:nvSpPr>
        <p:spPr>
          <a:xfrm>
            <a:off x="1178560" y="4066540"/>
            <a:ext cx="385445" cy="385445"/>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5" name="圆角矩形 14"/>
          <p:cNvSpPr/>
          <p:nvPr>
            <p:custDataLst>
              <p:tags r:id="rId10"/>
            </p:custDataLst>
          </p:nvPr>
        </p:nvSpPr>
        <p:spPr>
          <a:xfrm>
            <a:off x="6686550" y="4660900"/>
            <a:ext cx="1156970" cy="30861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endParaRPr>
          </a:p>
        </p:txBody>
      </p:sp>
      <p:grpSp>
        <p:nvGrpSpPr>
          <p:cNvPr id="20" name="组合 19"/>
          <p:cNvGrpSpPr/>
          <p:nvPr>
            <p:custDataLst>
              <p:tags r:id="rId11"/>
            </p:custDataLst>
          </p:nvPr>
        </p:nvGrpSpPr>
        <p:grpSpPr>
          <a:xfrm>
            <a:off x="0" y="0"/>
            <a:ext cx="9144000" cy="635000"/>
            <a:chOff x="0" y="0"/>
            <a:chExt cx="14400" cy="1000"/>
          </a:xfrm>
        </p:grpSpPr>
        <p:sp>
          <p:nvSpPr>
            <p:cNvPr id="16" name="TitleBackground"/>
            <p:cNvSpPr/>
            <p:nvPr>
              <p:custDataLst>
                <p:tags r:id="rId12"/>
              </p:custDataLst>
            </p:nvPr>
          </p:nvSpPr>
          <p:spPr>
            <a:xfrm>
              <a:off x="0" y="0"/>
              <a:ext cx="14400" cy="1000"/>
            </a:xfrm>
            <a:prstGeom prst="rect">
              <a:avLst/>
            </a:prstGeom>
            <a:solidFill>
              <a:srgbClr val="F6F7F8"/>
            </a:solidFill>
            <a:ln w="15875" cap="flat" cmpd="sng" algn="ctr">
              <a:noFill/>
              <a:prstDash val="solid"/>
            </a:ln>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p:cNvSpPr/>
            <p:nvPr>
              <p:custDataLst>
                <p:tags r:id="rId13"/>
              </p:custDataLst>
            </p:nvPr>
          </p:nvSpPr>
          <p:spPr>
            <a:xfrm>
              <a:off x="0" y="0"/>
              <a:ext cx="300" cy="1000"/>
            </a:xfrm>
            <a:prstGeom prst="rect">
              <a:avLst/>
            </a:prstGeom>
            <a:solidFill>
              <a:srgbClr val="639EF4"/>
            </a:solidFill>
            <a:ln w="15875" cap="flat" cmpd="sng" algn="ctr">
              <a:noFill/>
              <a:prstDash val="solid"/>
            </a:ln>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p:cNvSpPr txBox="1"/>
            <p:nvPr>
              <p:custDataLst>
                <p:tags r:id="rId14"/>
              </p:custDataLst>
            </p:nvPr>
          </p:nvSpPr>
          <p:spPr>
            <a:xfrm>
              <a:off x="400" y="0"/>
              <a:ext cx="3000" cy="1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pitchFamily="34" charset="-122"/>
                  <a:ea typeface="微软雅黑" panose="020B0503020204020204" pitchFamily="34" charset="-122"/>
                </a:rPr>
                <a:t>单选题</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19" name="TipText"/>
            <p:cNvSpPr txBox="1"/>
            <p:nvPr>
              <p:custDataLst>
                <p:tags r:id="rId15"/>
              </p:custDataLst>
            </p:nvPr>
          </p:nvSpPr>
          <p:spPr>
            <a:xfrm>
              <a:off x="2248" y="172"/>
              <a:ext cx="3600" cy="8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pitchFamily="34" charset="-122"/>
                  <a:ea typeface="微软雅黑" panose="020B0503020204020204" pitchFamily="34" charset="-122"/>
                  <a:cs typeface="微软雅黑" panose="020B0503020204020204" pitchFamily="34" charset="-122"/>
                </a:rPr>
                <a:t>1分</a:t>
              </a:r>
              <a:endParaRPr lang="zh-CN" altLang="en-US" sz="2000">
                <a:solidFill>
                  <a:srgbClr val="808080"/>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pic>
        <p:nvPicPr>
          <p:cNvPr id="5" name="图片 4" descr="tmpBD07"/>
          <p:cNvPicPr>
            <a:picLocks noChangeAspect="1"/>
          </p:cNvPicPr>
          <p:nvPr>
            <p:custDataLst>
              <p:tags r:id="rId16"/>
            </p:custDataLst>
          </p:nvPr>
        </p:nvPicPr>
        <p:blipFill>
          <a:blip r:embed="rId17"/>
          <a:stretch>
            <a:fillRect/>
          </a:stretch>
        </p:blipFill>
        <p:spPr>
          <a:xfrm>
            <a:off x="7594600" y="63500"/>
            <a:ext cx="1422400" cy="508000"/>
          </a:xfrm>
          <a:prstGeom prst="rect">
            <a:avLst/>
          </a:prstGeom>
        </p:spPr>
      </p:pic>
    </p:spTree>
    <p:custDataLst>
      <p:tags r:id="rId18"/>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思考</a:t>
            </a:r>
            <a:endParaRPr lang="zh-CN" altLang="en-US"/>
          </a:p>
        </p:txBody>
      </p:sp>
      <p:sp>
        <p:nvSpPr>
          <p:cNvPr id="4" name="页脚占位符 3"/>
          <p:cNvSpPr>
            <a:spLocks noGrp="1"/>
          </p:cNvSpPr>
          <p:nvPr>
            <p:ph type="ftr" sz="quarter" idx="11"/>
          </p:nvPr>
        </p:nvSpPr>
        <p:spPr/>
        <p:txBody>
          <a:bodyPr/>
          <a:p>
            <a:r>
              <a:rPr lang="zh-CN" altLang="en-US"/>
              <a:t>软件工程</a:t>
            </a:r>
            <a:endParaRPr lang="zh-CN" altLang="en-US"/>
          </a:p>
        </p:txBody>
      </p:sp>
      <p:sp>
        <p:nvSpPr>
          <p:cNvPr id="5" name="灯片编号占位符 4"/>
          <p:cNvSpPr>
            <a:spLocks noGrp="1"/>
          </p:cNvSpPr>
          <p:nvPr>
            <p:ph type="sldNum" sz="quarter" idx="12"/>
          </p:nvPr>
        </p:nvSpPr>
        <p:spPr/>
        <p:txBody>
          <a:bodyPr/>
          <a:p>
            <a:fld id="{F528F39D-B5E5-4CA7-906C-979D5A62978D}" type="slidenum">
              <a:rPr lang="zh-CN" altLang="en-US" smtClean="0"/>
            </a:fld>
            <a:endParaRPr lang="zh-CN" altLang="en-US"/>
          </a:p>
        </p:txBody>
      </p:sp>
      <p:sp>
        <p:nvSpPr>
          <p:cNvPr id="12" name="矩形 11"/>
          <p:cNvSpPr/>
          <p:nvPr>
            <p:custDataLst>
              <p:tags r:id="rId1"/>
            </p:custDataLst>
          </p:nvPr>
        </p:nvSpPr>
        <p:spPr>
          <a:xfrm>
            <a:off x="806115" y="1238757"/>
            <a:ext cx="8052135" cy="1609725"/>
          </a:xfrm>
          <a:prstGeom prst="rect">
            <a:avLst/>
          </a:prstGeom>
        </p:spPr>
        <p:txBody>
          <a:bodyPr wrap="square">
            <a:spAutoFit/>
          </a:bodyPr>
          <a:p>
            <a:pPr marL="342900" indent="-342900">
              <a:lnSpc>
                <a:spcPct val="120000"/>
              </a:lnSpc>
              <a:spcBef>
                <a:spcPts val="900"/>
              </a:spcBef>
              <a:buClr>
                <a:srgbClr val="00B050"/>
              </a:buClr>
              <a:buFont typeface="Wingdings" panose="05000000000000000000" pitchFamily="2" charset="2"/>
              <a:buChar char=""/>
            </a:pPr>
            <a:r>
              <a:rPr lang="zh-CN" altLang="en-US" sz="2400" dirty="0">
                <a:solidFill>
                  <a:schemeClr val="tx2">
                    <a:lumMod val="90000"/>
                    <a:lumOff val="10000"/>
                  </a:schemeClr>
                </a:solidFill>
                <a:latin typeface="+mj-ea"/>
                <a:ea typeface="+mj-ea"/>
              </a:rPr>
              <a:t>需求分析是否就是</a:t>
            </a:r>
            <a:r>
              <a:rPr lang="zh-CN" altLang="en-US" sz="2400" dirty="0">
                <a:solidFill>
                  <a:schemeClr val="tx2">
                    <a:lumMod val="90000"/>
                    <a:lumOff val="10000"/>
                  </a:schemeClr>
                </a:solidFill>
                <a:latin typeface="+mj-ea"/>
                <a:ea typeface="+mj-ea"/>
                <a:sym typeface="+mn-ea"/>
              </a:rPr>
              <a:t>解决用户所表达的某个问题或达到某种目的？</a:t>
            </a:r>
            <a:endParaRPr lang="zh-CN" altLang="en-US" sz="2400" dirty="0">
              <a:solidFill>
                <a:schemeClr val="tx1">
                  <a:lumMod val="65000"/>
                  <a:lumOff val="35000"/>
                </a:schemeClr>
              </a:solidFill>
              <a:latin typeface="+mj-ea"/>
              <a:ea typeface="+mj-ea"/>
            </a:endParaRPr>
          </a:p>
          <a:p>
            <a:pPr indent="0">
              <a:lnSpc>
                <a:spcPct val="120000"/>
              </a:lnSpc>
              <a:spcBef>
                <a:spcPts val="900"/>
              </a:spcBef>
              <a:buClr>
                <a:srgbClr val="00B050"/>
              </a:buClr>
              <a:buFont typeface="Wingdings" panose="05000000000000000000" pitchFamily="2" charset="2"/>
              <a:buNone/>
            </a:pPr>
            <a:endParaRPr lang="zh-CN" altLang="en-US" sz="2800" dirty="0">
              <a:solidFill>
                <a:srgbClr val="FF8900"/>
              </a:solidFill>
              <a:latin typeface="+mj-ea"/>
              <a:ea typeface="+mj-ea"/>
            </a:endParaRPr>
          </a:p>
        </p:txBody>
      </p:sp>
      <p:pic>
        <p:nvPicPr>
          <p:cNvPr id="10" name="图片 9"/>
          <p:cNvPicPr>
            <a:picLocks noChangeAspect="1"/>
          </p:cNvPicPr>
          <p:nvPr>
            <p:custDataLst>
              <p:tags r:id="rId2"/>
            </p:custDataLst>
          </p:nvPr>
        </p:nvPicPr>
        <p:blipFill>
          <a:blip r:embed="rId3">
            <a:clrChange>
              <a:clrFrom>
                <a:srgbClr val="FFFFFF"/>
              </a:clrFrom>
              <a:clrTo>
                <a:srgbClr val="FFFFFF">
                  <a:alpha val="0"/>
                </a:srgbClr>
              </a:clrTo>
            </a:clrChange>
          </a:blip>
          <a:stretch>
            <a:fillRect/>
          </a:stretch>
        </p:blipFill>
        <p:spPr>
          <a:xfrm>
            <a:off x="6623652" y="2253114"/>
            <a:ext cx="1867334" cy="194069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案例：</a:t>
            </a:r>
            <a:endParaRPr lang="zh-CN" dirty="0"/>
          </a:p>
        </p:txBody>
      </p:sp>
      <p:sp>
        <p:nvSpPr>
          <p:cNvPr id="4" name="页脚占位符 3"/>
          <p:cNvSpPr>
            <a:spLocks noGrp="1"/>
          </p:cNvSpPr>
          <p:nvPr>
            <p:ph type="ftr" sz="quarter" idx="11"/>
          </p:nvPr>
        </p:nvSpPr>
        <p:spPr/>
        <p:txBody>
          <a:bodyPr/>
          <a:lstStyle/>
          <a:p>
            <a:r>
              <a:rPr lang="zh-CN" altLang="en-US"/>
              <a:t>软件工程</a:t>
            </a:r>
            <a:endParaRPr lang="zh-CN" altLang="en-US"/>
          </a:p>
        </p:txBody>
      </p:sp>
      <p:sp>
        <p:nvSpPr>
          <p:cNvPr id="5" name="灯片编号占位符 4"/>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7" name="文本框 6"/>
          <p:cNvSpPr txBox="1"/>
          <p:nvPr/>
        </p:nvSpPr>
        <p:spPr>
          <a:xfrm>
            <a:off x="999066" y="3287798"/>
            <a:ext cx="7616614" cy="830997"/>
          </a:xfrm>
          <a:prstGeom prst="rect">
            <a:avLst/>
          </a:prstGeom>
          <a:noFill/>
        </p:spPr>
        <p:txBody>
          <a:bodyPr wrap="square">
            <a:spAutoFit/>
          </a:bodyPr>
          <a:lstStyle/>
          <a:p>
            <a:r>
              <a:rPr lang="en-US" altLang="zh-CN" sz="2400" kern="100" dirty="0">
                <a:solidFill>
                  <a:srgbClr val="2E2E2E"/>
                </a:solidFill>
                <a:effectLst/>
                <a:latin typeface="Arial" panose="020B0604020202020204" pitchFamily="34" charset="0"/>
                <a:ea typeface="宋体" panose="02010600030101010101" pitchFamily="2" charset="-122"/>
              </a:rPr>
              <a:t>“</a:t>
            </a:r>
            <a:r>
              <a:rPr lang="zh-CN" altLang="zh-CN" sz="2400" kern="100" dirty="0">
                <a:solidFill>
                  <a:srgbClr val="2E2E2E"/>
                </a:solidFill>
                <a:effectLst/>
                <a:latin typeface="Arial" panose="020B0604020202020204" pitchFamily="34" charset="0"/>
                <a:ea typeface="宋体" panose="02010600030101010101" pitchFamily="2" charset="-122"/>
                <a:cs typeface="Arial" panose="020B0604020202020204" pitchFamily="34" charset="0"/>
              </a:rPr>
              <a:t>客户是问题专家，而非解决方案专家，他提出的方案未必能够完美地解决他遇到的问题</a:t>
            </a:r>
            <a:r>
              <a:rPr lang="en-US" altLang="zh-CN" sz="2400" kern="100" dirty="0">
                <a:solidFill>
                  <a:srgbClr val="2E2E2E"/>
                </a:solidFill>
                <a:effectLst/>
                <a:latin typeface="Arial" panose="020B0604020202020204" pitchFamily="34" charset="0"/>
                <a:ea typeface="宋体" panose="02010600030101010101" pitchFamily="2" charset="-122"/>
              </a:rPr>
              <a:t>”</a:t>
            </a:r>
            <a:r>
              <a:rPr lang="zh-CN" altLang="zh-CN" sz="2400" kern="100" dirty="0">
                <a:solidFill>
                  <a:srgbClr val="2E2E2E"/>
                </a:solidFill>
                <a:effectLst/>
                <a:latin typeface="Arial" panose="020B0604020202020204" pitchFamily="34" charset="0"/>
                <a:ea typeface="宋体" panose="02010600030101010101" pitchFamily="2" charset="-122"/>
                <a:cs typeface="Arial" panose="020B0604020202020204" pitchFamily="34" charset="0"/>
              </a:rPr>
              <a:t>。</a:t>
            </a:r>
            <a:endParaRPr lang="zh-CN" altLang="en-US" sz="2400" dirty="0"/>
          </a:p>
        </p:txBody>
      </p:sp>
      <p:pic>
        <p:nvPicPr>
          <p:cNvPr id="9"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36089" y="937697"/>
            <a:ext cx="1945130" cy="1916098"/>
          </a:xfrm>
          <a:prstGeom prst="rect">
            <a:avLst/>
          </a:prstGeom>
        </p:spPr>
      </p:pic>
      <p:pic>
        <p:nvPicPr>
          <p:cNvPr id="11" name="图片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80380" y="828675"/>
            <a:ext cx="2359025" cy="2322830"/>
          </a:xfrm>
          <a:prstGeom prst="rect">
            <a:avLst/>
          </a:prstGeom>
        </p:spPr>
      </p:pic>
      <p:grpSp>
        <p:nvGrpSpPr>
          <p:cNvPr id="10" name="组合 9"/>
          <p:cNvGrpSpPr/>
          <p:nvPr/>
        </p:nvGrpSpPr>
        <p:grpSpPr>
          <a:xfrm>
            <a:off x="3810" y="2160905"/>
            <a:ext cx="9138920" cy="1172845"/>
            <a:chOff x="6" y="3403"/>
            <a:chExt cx="14392" cy="1847"/>
          </a:xfrm>
        </p:grpSpPr>
        <p:sp>
          <p:nvSpPr>
            <p:cNvPr id="6" name="矩形 5"/>
            <p:cNvSpPr/>
            <p:nvPr/>
          </p:nvSpPr>
          <p:spPr>
            <a:xfrm>
              <a:off x="6" y="3403"/>
              <a:ext cx="14392" cy="1847"/>
            </a:xfrm>
            <a:prstGeom prst="rect">
              <a:avLst/>
            </a:prstGeom>
            <a:gradFill>
              <a:gsLst>
                <a:gs pos="100000">
                  <a:srgbClr val="6264F8"/>
                </a:gs>
                <a:gs pos="49000">
                  <a:srgbClr val="B584EC"/>
                </a:gs>
                <a:gs pos="0">
                  <a:srgbClr val="EE9AE5"/>
                </a:gs>
              </a:gsLst>
              <a:lin ang="2700000" scaled="1"/>
            </a:gra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文本框 7"/>
            <p:cNvSpPr txBox="1"/>
            <p:nvPr/>
          </p:nvSpPr>
          <p:spPr>
            <a:xfrm>
              <a:off x="2417" y="3821"/>
              <a:ext cx="11533" cy="1307"/>
            </a:xfrm>
            <a:prstGeom prst="rect">
              <a:avLst/>
            </a:prstGeom>
            <a:noFill/>
          </p:spPr>
          <p:txBody>
            <a:bodyPr wrap="square" rtlCol="0">
              <a:spAutoFit/>
            </a:bodyPr>
            <a:p>
              <a:r>
                <a:rPr lang="zh-CN" altLang="en-US" sz="4800">
                  <a:solidFill>
                    <a:schemeClr val="bg1"/>
                  </a:solidFill>
                </a:rPr>
                <a:t>洞察力、自主探究意识</a:t>
              </a:r>
              <a:endParaRPr lang="zh-CN" altLang="en-US" sz="4800">
                <a:solidFill>
                  <a:schemeClr val="bg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ox(in)">
                                      <p:cBhvr>
                                        <p:cTn id="12"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990239" y="1021494"/>
            <a:ext cx="7459864" cy="3291029"/>
          </a:xfrm>
          <a:prstGeom prst="rect">
            <a:avLst/>
          </a:prstGeom>
        </p:spPr>
        <p:txBody>
          <a:bodyPr wrap="square">
            <a:spAutoFit/>
          </a:bodyPr>
          <a:lstStyle/>
          <a:p>
            <a:pPr marL="386080" indent="-386080">
              <a:lnSpc>
                <a:spcPct val="120000"/>
              </a:lnSpc>
              <a:spcBef>
                <a:spcPts val="900"/>
              </a:spcBef>
              <a:buClr>
                <a:srgbClr val="00B050"/>
              </a:buClr>
              <a:buFont typeface="+mj-lt"/>
              <a:buAutoNum type="arabicPeriod"/>
            </a:pPr>
            <a:r>
              <a:rPr lang="zh-CN" altLang="en-US" sz="2400" dirty="0">
                <a:solidFill>
                  <a:srgbClr val="686868"/>
                </a:solidFill>
                <a:latin typeface="+mj-ea"/>
                <a:ea typeface="+mj-ea"/>
              </a:rPr>
              <a:t>沟通中遇到的问题</a:t>
            </a:r>
            <a:endParaRPr lang="en-US" altLang="zh-CN" sz="2400" dirty="0">
              <a:solidFill>
                <a:srgbClr val="686868"/>
              </a:solidFill>
              <a:latin typeface="+mj-ea"/>
              <a:ea typeface="+mj-ea"/>
            </a:endParaRPr>
          </a:p>
          <a:p>
            <a:pPr marL="386080" indent="-386080">
              <a:lnSpc>
                <a:spcPct val="120000"/>
              </a:lnSpc>
              <a:spcBef>
                <a:spcPts val="900"/>
              </a:spcBef>
              <a:buClr>
                <a:srgbClr val="00B050"/>
              </a:buClr>
              <a:buFont typeface="+mj-lt"/>
              <a:buAutoNum type="arabicPeriod"/>
            </a:pPr>
            <a:endParaRPr lang="en-US" altLang="zh-CN" sz="2400" dirty="0">
              <a:solidFill>
                <a:srgbClr val="686868"/>
              </a:solidFill>
              <a:latin typeface="+mj-ea"/>
              <a:ea typeface="+mj-ea"/>
            </a:endParaRPr>
          </a:p>
          <a:p>
            <a:pPr marL="386080" indent="-386080">
              <a:lnSpc>
                <a:spcPct val="120000"/>
              </a:lnSpc>
              <a:spcBef>
                <a:spcPts val="900"/>
              </a:spcBef>
              <a:buClr>
                <a:srgbClr val="00B050"/>
              </a:buClr>
              <a:buFont typeface="+mj-lt"/>
              <a:buAutoNum type="arabicPeriod"/>
            </a:pPr>
            <a:endParaRPr lang="en-US" altLang="zh-CN" sz="2400" dirty="0">
              <a:solidFill>
                <a:srgbClr val="686868"/>
              </a:solidFill>
              <a:latin typeface="+mj-ea"/>
              <a:ea typeface="+mj-ea"/>
            </a:endParaRPr>
          </a:p>
          <a:p>
            <a:pPr marL="386080" indent="-386080">
              <a:lnSpc>
                <a:spcPct val="120000"/>
              </a:lnSpc>
              <a:spcBef>
                <a:spcPts val="900"/>
              </a:spcBef>
              <a:buClr>
                <a:srgbClr val="00B050"/>
              </a:buClr>
              <a:buFont typeface="+mj-lt"/>
              <a:buAutoNum type="arabicPeriod"/>
            </a:pPr>
            <a:r>
              <a:rPr lang="zh-CN" altLang="en-US" sz="2400" dirty="0">
                <a:solidFill>
                  <a:srgbClr val="686868"/>
                </a:solidFill>
                <a:latin typeface="+mj-ea"/>
                <a:ea typeface="+mj-ea"/>
              </a:rPr>
              <a:t>需求的易变性</a:t>
            </a:r>
            <a:endParaRPr lang="en-US" altLang="zh-CN" sz="2400" dirty="0">
              <a:solidFill>
                <a:srgbClr val="686868"/>
              </a:solidFill>
              <a:latin typeface="+mj-ea"/>
              <a:ea typeface="+mj-ea"/>
            </a:endParaRPr>
          </a:p>
          <a:p>
            <a:pPr marL="386080" indent="-386080">
              <a:lnSpc>
                <a:spcPct val="120000"/>
              </a:lnSpc>
              <a:spcBef>
                <a:spcPts val="900"/>
              </a:spcBef>
              <a:buClr>
                <a:srgbClr val="00B050"/>
              </a:buClr>
              <a:buFont typeface="+mj-lt"/>
              <a:buAutoNum type="arabicPeriod"/>
            </a:pPr>
            <a:endParaRPr lang="en-US" altLang="zh-CN" sz="2400" dirty="0">
              <a:solidFill>
                <a:srgbClr val="686868"/>
              </a:solidFill>
              <a:latin typeface="+mj-ea"/>
              <a:ea typeface="+mj-ea"/>
            </a:endParaRPr>
          </a:p>
          <a:p>
            <a:pPr marL="386080" indent="-386080">
              <a:lnSpc>
                <a:spcPct val="120000"/>
              </a:lnSpc>
              <a:spcBef>
                <a:spcPts val="900"/>
              </a:spcBef>
              <a:buClr>
                <a:srgbClr val="00B050"/>
              </a:buClr>
              <a:buFont typeface="+mj-lt"/>
              <a:buAutoNum type="arabicPeriod"/>
            </a:pPr>
            <a:r>
              <a:rPr lang="zh-CN" altLang="en-US" sz="2400" dirty="0">
                <a:solidFill>
                  <a:srgbClr val="686868"/>
                </a:solidFill>
                <a:latin typeface="+mj-ea"/>
                <a:ea typeface="+mj-ea"/>
              </a:rPr>
              <a:t>分析人员和顾客理解有误</a:t>
            </a:r>
            <a:endParaRPr lang="zh-CN" altLang="en-US" sz="2400" dirty="0">
              <a:solidFill>
                <a:srgbClr val="686868"/>
              </a:solidFill>
              <a:latin typeface="+mj-ea"/>
              <a:ea typeface="+mj-ea"/>
            </a:endParaRPr>
          </a:p>
        </p:txBody>
      </p:sp>
      <p:sp>
        <p:nvSpPr>
          <p:cNvPr id="4" name="文本"/>
          <p:cNvSpPr txBox="1"/>
          <p:nvPr/>
        </p:nvSpPr>
        <p:spPr>
          <a:xfrm>
            <a:off x="1543462" y="1525786"/>
            <a:ext cx="5000133" cy="1200329"/>
          </a:xfrm>
          <a:prstGeom prst="rect">
            <a:avLst/>
          </a:prstGeom>
          <a:noFill/>
        </p:spPr>
        <p:txBody>
          <a:bodyPr wrap="square" rtlCol="0" anchor="ctr">
            <a:spAutoFit/>
          </a:bodyPr>
          <a:lstStyle/>
          <a:p>
            <a:pPr marL="257175" indent="-257175">
              <a:lnSpc>
                <a:spcPct val="120000"/>
              </a:lnSpc>
              <a:buClr>
                <a:srgbClr val="00B050"/>
              </a:buClr>
              <a:buFont typeface="Wingdings" panose="05000000000000000000" pitchFamily="2" charset="2"/>
              <a:buChar char="¬"/>
            </a:pPr>
            <a:r>
              <a:rPr lang="zh-CN" altLang="en-US" sz="2000" spc="113" dirty="0">
                <a:latin typeface="+mj-ea"/>
                <a:ea typeface="+mj-ea"/>
              </a:rPr>
              <a:t>既不明白也说不清</a:t>
            </a:r>
            <a:endParaRPr lang="zh-CN" altLang="en-US" sz="2000" spc="113" dirty="0">
              <a:latin typeface="+mj-ea"/>
              <a:ea typeface="+mj-ea"/>
            </a:endParaRPr>
          </a:p>
          <a:p>
            <a:pPr marL="257175" indent="-257175">
              <a:lnSpc>
                <a:spcPct val="120000"/>
              </a:lnSpc>
              <a:buClr>
                <a:srgbClr val="00B050"/>
              </a:buClr>
              <a:buFont typeface="Wingdings" panose="05000000000000000000" pitchFamily="2" charset="2"/>
              <a:buChar char="¬"/>
            </a:pPr>
            <a:r>
              <a:rPr lang="zh-CN" altLang="en-US" sz="2000" spc="113" dirty="0">
                <a:latin typeface="+mj-ea"/>
                <a:ea typeface="+mj-ea"/>
              </a:rPr>
              <a:t>心里很清楚，但却说不清</a:t>
            </a:r>
            <a:endParaRPr lang="zh-CN" altLang="en-US" sz="2000" spc="113" dirty="0">
              <a:latin typeface="+mj-ea"/>
              <a:ea typeface="+mj-ea"/>
            </a:endParaRPr>
          </a:p>
          <a:p>
            <a:pPr marL="257175" indent="-257175">
              <a:lnSpc>
                <a:spcPct val="120000"/>
              </a:lnSpc>
              <a:buClr>
                <a:srgbClr val="00B050"/>
              </a:buClr>
              <a:buFont typeface="Wingdings" panose="05000000000000000000" pitchFamily="2" charset="2"/>
              <a:buChar char="¬"/>
            </a:pPr>
            <a:r>
              <a:rPr lang="zh-CN" altLang="en-US" sz="2000" spc="113" dirty="0">
                <a:latin typeface="+mj-ea"/>
                <a:ea typeface="+mj-ea"/>
              </a:rPr>
              <a:t>对业务非常熟悉，表述也很清晰</a:t>
            </a:r>
            <a:endParaRPr lang="zh-CN" altLang="en-US" sz="2000" spc="113" dirty="0">
              <a:latin typeface="+mj-ea"/>
              <a:ea typeface="+mj-ea"/>
            </a:endParaRPr>
          </a:p>
        </p:txBody>
      </p:sp>
      <p:sp>
        <p:nvSpPr>
          <p:cNvPr id="5" name="文本占位符 4"/>
          <p:cNvSpPr txBox="1"/>
          <p:nvPr/>
        </p:nvSpPr>
        <p:spPr>
          <a:xfrm>
            <a:off x="1541556" y="3266563"/>
            <a:ext cx="3982916" cy="50551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000" b="1" dirty="0">
                <a:solidFill>
                  <a:srgbClr val="FF8900"/>
                </a:solidFill>
              </a:rPr>
              <a:t>唯一不变的就是变化</a:t>
            </a:r>
            <a:endParaRPr lang="zh-CN" altLang="en-US" sz="3000" b="1" dirty="0">
              <a:solidFill>
                <a:srgbClr val="FF8900"/>
              </a:solidFill>
            </a:endParaRPr>
          </a:p>
        </p:txBody>
      </p:sp>
      <p:pic>
        <p:nvPicPr>
          <p:cNvPr id="7" name="图片 6"/>
          <p:cNvPicPr>
            <a:picLocks noChangeAspect="1"/>
          </p:cNvPicPr>
          <p:nvPr/>
        </p:nvPicPr>
        <p:blipFill>
          <a:blip r:embed="rId1">
            <a:clrChange>
              <a:clrFrom>
                <a:srgbClr val="F6F6F6"/>
              </a:clrFrom>
              <a:clrTo>
                <a:srgbClr val="F6F6F6">
                  <a:alpha val="0"/>
                </a:srgbClr>
              </a:clrTo>
            </a:clrChange>
          </a:blip>
          <a:stretch>
            <a:fillRect/>
          </a:stretch>
        </p:blipFill>
        <p:spPr>
          <a:xfrm>
            <a:off x="6037881" y="1416044"/>
            <a:ext cx="2747292" cy="2803647"/>
          </a:xfrm>
          <a:prstGeom prst="rect">
            <a:avLst/>
          </a:prstGeom>
        </p:spPr>
      </p:pic>
      <p:sp>
        <p:nvSpPr>
          <p:cNvPr id="2" name="标题 1"/>
          <p:cNvSpPr>
            <a:spLocks noGrp="1"/>
          </p:cNvSpPr>
          <p:nvPr>
            <p:ph type="title"/>
          </p:nvPr>
        </p:nvSpPr>
        <p:spPr/>
        <p:txBody>
          <a:bodyPr/>
          <a:lstStyle/>
          <a:p>
            <a:r>
              <a:rPr lang="zh-CN" altLang="en-US" kern="100" dirty="0">
                <a:latin typeface="+mn-ea"/>
                <a:cs typeface="Times New Roman" panose="02020603050405020304" pitchFamily="18" charset="0"/>
              </a:rPr>
              <a:t>需求分析的困难</a:t>
            </a:r>
            <a:endParaRPr lang="zh-CN" altLang="en-US" dirty="0"/>
          </a:p>
        </p:txBody>
      </p:sp>
      <p:sp>
        <p:nvSpPr>
          <p:cNvPr id="8" name="页脚占位符 7"/>
          <p:cNvSpPr>
            <a:spLocks noGrp="1"/>
          </p:cNvSpPr>
          <p:nvPr>
            <p:ph type="ftr" sz="quarter" idx="11"/>
          </p:nvPr>
        </p:nvSpPr>
        <p:spPr/>
        <p:txBody>
          <a:bodyPr/>
          <a:lstStyle/>
          <a:p>
            <a:r>
              <a:rPr lang="zh-CN" altLang="en-US"/>
              <a:t>软件工程</a:t>
            </a:r>
            <a:endParaRPr lang="zh-CN" altLang="en-US"/>
          </a:p>
        </p:txBody>
      </p:sp>
      <p:sp>
        <p:nvSpPr>
          <p:cNvPr id="9" name="灯片编号占位符 8"/>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up)">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2">
                                            <p:txEl>
                                              <p:pRg st="3" end="3"/>
                                            </p:txEl>
                                          </p:spTgt>
                                        </p:tgtEl>
                                        <p:attrNameLst>
                                          <p:attrName>style.visibility</p:attrName>
                                        </p:attrNameLst>
                                      </p:cBhvr>
                                      <p:to>
                                        <p:strVal val="visible"/>
                                      </p:to>
                                    </p:set>
                                    <p:animEffect transition="in" filter="wipe(up)">
                                      <p:cBhvr>
                                        <p:cTn id="17" dur="500"/>
                                        <p:tgtEl>
                                          <p:spTgt spid="1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37" fill="hold" grpId="0"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barn(outVertical)">
                                      <p:cBhvr>
                                        <p:cTn id="22" dur="500"/>
                                        <p:tgtEl>
                                          <p:spTgt spid="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2">
                                            <p:txEl>
                                              <p:pRg st="5" end="5"/>
                                            </p:txEl>
                                          </p:spTgt>
                                        </p:tgtEl>
                                        <p:attrNameLst>
                                          <p:attrName>style.visibility</p:attrName>
                                        </p:attrNameLst>
                                      </p:cBhvr>
                                      <p:to>
                                        <p:strVal val="visible"/>
                                      </p:to>
                                    </p:set>
                                    <p:animEffect transition="in" filter="wipe(up)">
                                      <p:cBhvr>
                                        <p:cTn id="27" dur="500"/>
                                        <p:tgtEl>
                                          <p:spTgt spid="1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bldP spid="4" grpId="0"/>
      <p:bldP spid="5"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637674" y="2436945"/>
            <a:ext cx="2502568" cy="830997"/>
          </a:xfrm>
          <a:prstGeom prst="rect">
            <a:avLst/>
          </a:prstGeom>
        </p:spPr>
        <p:txBody>
          <a:bodyPr wrap="square">
            <a:spAutoFit/>
          </a:bodyPr>
          <a:lstStyle/>
          <a:p>
            <a:pPr algn="ctr">
              <a:lnSpc>
                <a:spcPct val="120000"/>
              </a:lnSpc>
              <a:spcBef>
                <a:spcPts val="900"/>
              </a:spcBef>
              <a:buClr>
                <a:srgbClr val="00B050"/>
              </a:buClr>
            </a:pPr>
            <a:r>
              <a:rPr lang="zh-CN" altLang="en-US" sz="2000" b="1" dirty="0">
                <a:solidFill>
                  <a:srgbClr val="686868"/>
                </a:solidFill>
                <a:latin typeface="+mj-ea"/>
                <a:ea typeface="+mj-ea"/>
              </a:rPr>
              <a:t>分析人员和顾客理解有误造成的结果</a:t>
            </a:r>
            <a:endParaRPr lang="zh-CN" altLang="en-US" sz="2000" b="1" dirty="0">
              <a:solidFill>
                <a:srgbClr val="686868"/>
              </a:solidFill>
              <a:latin typeface="+mj-ea"/>
              <a:ea typeface="+mj-ea"/>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344779" y="672502"/>
            <a:ext cx="5347371" cy="4015771"/>
          </a:xfrm>
          <a:prstGeom prst="rect">
            <a:avLst/>
          </a:prstGeom>
        </p:spPr>
      </p:pic>
      <p:sp>
        <p:nvSpPr>
          <p:cNvPr id="4" name="标题 3"/>
          <p:cNvSpPr>
            <a:spLocks noGrp="1"/>
          </p:cNvSpPr>
          <p:nvPr>
            <p:ph type="title"/>
          </p:nvPr>
        </p:nvSpPr>
        <p:spPr/>
        <p:txBody>
          <a:bodyPr/>
          <a:lstStyle/>
          <a:p>
            <a:r>
              <a:rPr lang="zh-CN" altLang="en-US" kern="100" dirty="0">
                <a:latin typeface="+mn-ea"/>
                <a:cs typeface="Times New Roman" panose="02020603050405020304" pitchFamily="18" charset="0"/>
              </a:rPr>
              <a:t>需求分析的困难</a:t>
            </a:r>
            <a:endParaRPr lang="zh-CN" altLang="en-US" dirty="0"/>
          </a:p>
        </p:txBody>
      </p:sp>
      <p:sp>
        <p:nvSpPr>
          <p:cNvPr id="5" name="日期占位符 4"/>
          <p:cNvSpPr>
            <a:spLocks noGrp="1"/>
          </p:cNvSpPr>
          <p:nvPr>
            <p:ph type="dt" sz="half" idx="10"/>
          </p:nvPr>
        </p:nvSpPr>
        <p:spPr/>
        <p:txBody>
          <a:bodyPr/>
          <a:lstStyle/>
          <a:p>
            <a:fld id="{6C0315CB-983B-4A0A-9CEF-176CE754FF7D}"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软件工程</a:t>
            </a:r>
            <a:endParaRPr lang="zh-CN" altLang="en-US"/>
          </a:p>
        </p:txBody>
      </p:sp>
      <p:sp>
        <p:nvSpPr>
          <p:cNvPr id="7" name="灯片编号占位符 6"/>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up)">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kern="100" dirty="0">
                <a:latin typeface="+mn-ea"/>
                <a:cs typeface="Times New Roman" panose="02020603050405020304" pitchFamily="18" charset="0"/>
              </a:rPr>
              <a:t>需求分析的困难</a:t>
            </a:r>
            <a:endParaRPr lang="zh-CN" altLang="en-US" dirty="0"/>
          </a:p>
        </p:txBody>
      </p:sp>
      <p:sp>
        <p:nvSpPr>
          <p:cNvPr id="3" name="日期占位符 2"/>
          <p:cNvSpPr>
            <a:spLocks noGrp="1"/>
          </p:cNvSpPr>
          <p:nvPr>
            <p:ph type="dt" sz="half" idx="10"/>
          </p:nvPr>
        </p:nvSpPr>
        <p:spPr/>
        <p:txBody>
          <a:bodyPr/>
          <a:lstStyle/>
          <a:p>
            <a:fld id="{5902FD77-8323-485D-87E2-91A0E9C84954}"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a:p>
        </p:txBody>
      </p:sp>
      <p:sp>
        <p:nvSpPr>
          <p:cNvPr id="5" name="灯片编号占位符 4"/>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7" name="文本框 6"/>
          <p:cNvSpPr txBox="1"/>
          <p:nvPr/>
        </p:nvSpPr>
        <p:spPr>
          <a:xfrm>
            <a:off x="531707" y="1843869"/>
            <a:ext cx="1615607" cy="1061381"/>
          </a:xfrm>
          <a:prstGeom prst="rect">
            <a:avLst/>
          </a:prstGeom>
          <a:noFill/>
        </p:spPr>
        <p:txBody>
          <a:bodyPr wrap="square">
            <a:spAutoFit/>
          </a:bodyPr>
          <a:lstStyle/>
          <a:p>
            <a:pPr algn="ctr">
              <a:lnSpc>
                <a:spcPct val="120000"/>
              </a:lnSpc>
              <a:spcBef>
                <a:spcPts val="900"/>
              </a:spcBef>
              <a:buClr>
                <a:srgbClr val="00B050"/>
              </a:buClr>
            </a:pPr>
            <a:r>
              <a:rPr lang="zh-CN" altLang="en-US" sz="1800" b="1" dirty="0">
                <a:solidFill>
                  <a:srgbClr val="686868"/>
                </a:solidFill>
                <a:latin typeface="+mj-ea"/>
                <a:ea typeface="+mj-ea"/>
              </a:rPr>
              <a:t>分析人员和顾客理解有误造成的结果</a:t>
            </a:r>
            <a:endParaRPr lang="zh-CN" altLang="en-US" sz="1800" b="1" dirty="0">
              <a:solidFill>
                <a:srgbClr val="686868"/>
              </a:solidFill>
              <a:latin typeface="+mj-ea"/>
              <a:ea typeface="+mj-ea"/>
            </a:endParaRPr>
          </a:p>
        </p:txBody>
      </p:sp>
      <p:pic>
        <p:nvPicPr>
          <p:cNvPr id="9"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306130" y="924927"/>
            <a:ext cx="5186995" cy="3717346"/>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926718" y="3333670"/>
            <a:ext cx="7794453" cy="645160"/>
          </a:xfrm>
          <a:prstGeom prst="rect">
            <a:avLst/>
          </a:prstGeom>
        </p:spPr>
        <p:txBody>
          <a:bodyPr wrap="square">
            <a:spAutoFit/>
          </a:bodyPr>
          <a:lstStyle/>
          <a:p>
            <a:pPr algn="just">
              <a:spcBef>
                <a:spcPts val="900"/>
              </a:spcBef>
              <a:buClr>
                <a:srgbClr val="00B050"/>
              </a:buClr>
            </a:pPr>
            <a:r>
              <a:rPr lang="zh-CN" altLang="en-US" dirty="0">
                <a:solidFill>
                  <a:srgbClr val="686868"/>
                </a:solidFill>
                <a:latin typeface="+mj-ea"/>
                <a:ea typeface="+mj-ea"/>
              </a:rPr>
              <a:t>在需求分析阶段的错误会引起错误的放大，后期发现错误时要花费更大的精力修改。</a:t>
            </a:r>
            <a:endParaRPr lang="zh-CN" altLang="en-US" dirty="0">
              <a:solidFill>
                <a:srgbClr val="686868"/>
              </a:solidFill>
              <a:latin typeface="+mj-ea"/>
              <a:ea typeface="+mj-ea"/>
            </a:endParaRPr>
          </a:p>
        </p:txBody>
      </p:sp>
      <p:sp>
        <p:nvSpPr>
          <p:cNvPr id="5" name="文本占位符 4"/>
          <p:cNvSpPr txBox="1"/>
          <p:nvPr/>
        </p:nvSpPr>
        <p:spPr>
          <a:xfrm>
            <a:off x="926431" y="1093682"/>
            <a:ext cx="7931819" cy="87707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zh-CN" altLang="en-US" sz="2000" b="1" dirty="0">
                <a:solidFill>
                  <a:srgbClr val="FF8900"/>
                </a:solidFill>
                <a:latin typeface="+mj-ea"/>
                <a:ea typeface="+mj-ea"/>
              </a:rPr>
              <a:t>软件开发是用户与开发者共同参与的过程，项目涉众人员之间必须经过充分交流；</a:t>
            </a:r>
            <a:endParaRPr lang="zh-CN" altLang="en-US" sz="2000" b="1" dirty="0">
              <a:solidFill>
                <a:srgbClr val="FF8900"/>
              </a:solidFill>
              <a:latin typeface="+mj-ea"/>
              <a:ea typeface="+mj-ea"/>
            </a:endParaRPr>
          </a:p>
        </p:txBody>
      </p:sp>
      <p:sp>
        <p:nvSpPr>
          <p:cNvPr id="6" name="文本占位符 4"/>
          <p:cNvSpPr txBox="1"/>
          <p:nvPr/>
        </p:nvSpPr>
        <p:spPr>
          <a:xfrm>
            <a:off x="943228" y="2033075"/>
            <a:ext cx="7794453" cy="87707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zh-CN" altLang="en-US" sz="1800" dirty="0">
                <a:solidFill>
                  <a:srgbClr val="686868"/>
                </a:solidFill>
                <a:latin typeface="+mj-ea"/>
                <a:ea typeface="+mj-ea"/>
              </a:rPr>
              <a:t>用户与开发者的知识领域不同，缺乏共同语言，存在对问题理解的歧义；</a:t>
            </a:r>
            <a:endParaRPr lang="zh-CN" altLang="en-US" sz="1800" dirty="0">
              <a:solidFill>
                <a:srgbClr val="686868"/>
              </a:solidFill>
              <a:latin typeface="+mj-ea"/>
              <a:ea typeface="+mj-ea"/>
            </a:endParaRPr>
          </a:p>
        </p:txBody>
      </p:sp>
      <p:sp>
        <p:nvSpPr>
          <p:cNvPr id="7" name="文本占位符 4"/>
          <p:cNvSpPr txBox="1"/>
          <p:nvPr/>
        </p:nvSpPr>
        <p:spPr>
          <a:xfrm>
            <a:off x="926431" y="2864179"/>
            <a:ext cx="7931819" cy="87707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zh-CN" altLang="en-US" sz="2000" b="1" dirty="0">
                <a:solidFill>
                  <a:srgbClr val="9EC428"/>
                </a:solidFill>
                <a:latin typeface="+mj-ea"/>
                <a:ea typeface="+mj-ea"/>
              </a:rPr>
              <a:t>软件开发失败的原因大约超过</a:t>
            </a:r>
            <a:r>
              <a:rPr lang="en-US" altLang="zh-CN" sz="2000" b="1" dirty="0">
                <a:solidFill>
                  <a:srgbClr val="9EC428"/>
                </a:solidFill>
                <a:latin typeface="+mj-ea"/>
                <a:ea typeface="+mj-ea"/>
              </a:rPr>
              <a:t>50%</a:t>
            </a:r>
            <a:r>
              <a:rPr lang="zh-CN" altLang="en-US" sz="2000" b="1" dirty="0">
                <a:solidFill>
                  <a:srgbClr val="9EC428"/>
                </a:solidFill>
                <a:latin typeface="+mj-ea"/>
                <a:ea typeface="+mj-ea"/>
              </a:rPr>
              <a:t>是需求不合理而急于编程引起的；</a:t>
            </a:r>
            <a:endParaRPr lang="zh-CN" altLang="en-US" sz="2000" b="1" dirty="0">
              <a:solidFill>
                <a:srgbClr val="9EC428"/>
              </a:solidFill>
              <a:latin typeface="+mj-ea"/>
              <a:ea typeface="+mj-ea"/>
            </a:endParaRPr>
          </a:p>
        </p:txBody>
      </p:sp>
      <p:sp>
        <p:nvSpPr>
          <p:cNvPr id="9" name="标题 8"/>
          <p:cNvSpPr>
            <a:spLocks noGrp="1"/>
          </p:cNvSpPr>
          <p:nvPr>
            <p:ph type="title"/>
          </p:nvPr>
        </p:nvSpPr>
        <p:spPr/>
        <p:txBody>
          <a:bodyPr/>
          <a:lstStyle/>
          <a:p>
            <a:r>
              <a:rPr lang="zh-CN" altLang="en-US" kern="100" dirty="0">
                <a:latin typeface="+mn-ea"/>
                <a:cs typeface="Times New Roman" panose="02020603050405020304" pitchFamily="18" charset="0"/>
              </a:rPr>
              <a:t>需求分析的重要性</a:t>
            </a:r>
            <a:endParaRPr lang="zh-CN" altLang="en-US" dirty="0"/>
          </a:p>
        </p:txBody>
      </p:sp>
      <p:sp>
        <p:nvSpPr>
          <p:cNvPr id="11" name="页脚占位符 10"/>
          <p:cNvSpPr>
            <a:spLocks noGrp="1"/>
          </p:cNvSpPr>
          <p:nvPr>
            <p:ph type="ftr" sz="quarter" idx="11"/>
          </p:nvPr>
        </p:nvSpPr>
        <p:spPr/>
        <p:txBody>
          <a:bodyPr/>
          <a:lstStyle/>
          <a:p>
            <a:r>
              <a:rPr lang="zh-CN" altLang="en-US"/>
              <a:t>软件工程</a:t>
            </a:r>
            <a:endParaRPr lang="zh-CN" altLang="en-US"/>
          </a:p>
        </p:txBody>
      </p:sp>
      <p:sp>
        <p:nvSpPr>
          <p:cNvPr id="13" name="灯片编号占位符 12"/>
          <p:cNvSpPr>
            <a:spLocks noGrp="1"/>
          </p:cNvSpPr>
          <p:nvPr>
            <p:ph type="sldNum" sz="quarter" idx="12"/>
          </p:nvPr>
        </p:nvSpPr>
        <p:spPr/>
        <p:txBody>
          <a:bodyPr/>
          <a:lstStyle/>
          <a:p>
            <a:fld id="{F528F39D-B5E5-4CA7-906C-979D5A62978D}" type="slidenum">
              <a:rPr lang="zh-CN" altLang="en-US" smtClean="0"/>
            </a:fld>
            <a:endParaRPr lang="zh-CN" altLang="en-US"/>
          </a:p>
        </p:txBody>
      </p:sp>
      <p:grpSp>
        <p:nvGrpSpPr>
          <p:cNvPr id="2" name="组合 1"/>
          <p:cNvGrpSpPr/>
          <p:nvPr/>
        </p:nvGrpSpPr>
        <p:grpSpPr>
          <a:xfrm>
            <a:off x="95885" y="3220720"/>
            <a:ext cx="9138920" cy="1172845"/>
            <a:chOff x="6" y="3403"/>
            <a:chExt cx="14392" cy="1847"/>
          </a:xfrm>
        </p:grpSpPr>
        <p:sp>
          <p:nvSpPr>
            <p:cNvPr id="3" name="矩形 2"/>
            <p:cNvSpPr/>
            <p:nvPr>
              <p:custDataLst>
                <p:tags r:id="rId1"/>
              </p:custDataLst>
            </p:nvPr>
          </p:nvSpPr>
          <p:spPr>
            <a:xfrm>
              <a:off x="6" y="3403"/>
              <a:ext cx="14392" cy="1847"/>
            </a:xfrm>
            <a:prstGeom prst="rect">
              <a:avLst/>
            </a:prstGeom>
            <a:gradFill>
              <a:gsLst>
                <a:gs pos="100000">
                  <a:srgbClr val="6264F8"/>
                </a:gs>
                <a:gs pos="49000">
                  <a:srgbClr val="B584EC"/>
                </a:gs>
                <a:gs pos="0">
                  <a:srgbClr val="EE9AE5"/>
                </a:gs>
              </a:gsLst>
              <a:lin ang="2700000" scaled="1"/>
            </a:gra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文本框 7"/>
            <p:cNvSpPr txBox="1"/>
            <p:nvPr>
              <p:custDataLst>
                <p:tags r:id="rId2"/>
              </p:custDataLst>
            </p:nvPr>
          </p:nvSpPr>
          <p:spPr>
            <a:xfrm>
              <a:off x="4114" y="3821"/>
              <a:ext cx="7633" cy="1307"/>
            </a:xfrm>
            <a:prstGeom prst="rect">
              <a:avLst/>
            </a:prstGeom>
            <a:noFill/>
          </p:spPr>
          <p:txBody>
            <a:bodyPr wrap="square" rtlCol="0">
              <a:spAutoFit/>
            </a:bodyPr>
            <a:p>
              <a:r>
                <a:rPr lang="zh-CN" altLang="en-US" sz="4800">
                  <a:solidFill>
                    <a:schemeClr val="bg1"/>
                  </a:solidFill>
                </a:rPr>
                <a:t>工程职业素养</a:t>
              </a:r>
              <a:endParaRPr lang="zh-CN" altLang="en-US" sz="4800">
                <a:solidFill>
                  <a:schemeClr val="bg1"/>
                </a:solidFill>
              </a:endParaRPr>
            </a:p>
          </p:txBody>
        </p:sp>
      </p:gr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ox(in)">
                                      <p:cBhvr>
                                        <p:cTn id="23"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5" grpId="0"/>
      <p:bldP spid="6" grpId="0"/>
      <p:bldP spid="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kern="100" dirty="0">
                <a:latin typeface="+mn-ea"/>
                <a:cs typeface="Times New Roman" panose="02020603050405020304" pitchFamily="18" charset="0"/>
                <a:sym typeface="+mn-ea"/>
              </a:rPr>
              <a:t>需求分析的重要性</a:t>
            </a:r>
            <a:endParaRPr lang="zh-CN" altLang="en-US"/>
          </a:p>
        </p:txBody>
      </p:sp>
      <p:sp>
        <p:nvSpPr>
          <p:cNvPr id="3" name="日期占位符 2"/>
          <p:cNvSpPr>
            <a:spLocks noGrp="1"/>
          </p:cNvSpPr>
          <p:nvPr>
            <p:ph type="dt" sz="half" idx="10"/>
          </p:nvPr>
        </p:nvSpPr>
        <p:spPr/>
        <p:txBody>
          <a:bodyPr/>
          <a:p>
            <a:fld id="{5902FD77-8323-485D-87E2-91A0E9C84954}" type="datetime1">
              <a:rPr lang="zh-CN" altLang="en-US" smtClean="0"/>
            </a:fld>
            <a:endParaRPr lang="zh-CN" altLang="en-US"/>
          </a:p>
        </p:txBody>
      </p:sp>
      <p:sp>
        <p:nvSpPr>
          <p:cNvPr id="4" name="页脚占位符 3"/>
          <p:cNvSpPr>
            <a:spLocks noGrp="1"/>
          </p:cNvSpPr>
          <p:nvPr>
            <p:ph type="ftr" sz="quarter" idx="11"/>
          </p:nvPr>
        </p:nvSpPr>
        <p:spPr/>
        <p:txBody>
          <a:bodyPr/>
          <a:p>
            <a:r>
              <a:rPr lang="zh-CN" altLang="en-US"/>
              <a:t>软件工程</a:t>
            </a:r>
            <a:endParaRPr lang="zh-CN" altLang="en-US"/>
          </a:p>
        </p:txBody>
      </p:sp>
      <p:sp>
        <p:nvSpPr>
          <p:cNvPr id="5" name="灯片编号占位符 4"/>
          <p:cNvSpPr>
            <a:spLocks noGrp="1"/>
          </p:cNvSpPr>
          <p:nvPr>
            <p:ph type="sldNum" sz="quarter" idx="12"/>
          </p:nvPr>
        </p:nvSpPr>
        <p:spPr/>
        <p:txBody>
          <a:bodyPr/>
          <a:p>
            <a:fld id="{F528F39D-B5E5-4CA7-906C-979D5A62978D}" type="slidenum">
              <a:rPr lang="zh-CN" altLang="en-US" smtClean="0"/>
            </a:fld>
            <a:endParaRPr lang="zh-CN" altLang="en-US"/>
          </a:p>
        </p:txBody>
      </p:sp>
      <p:sp>
        <p:nvSpPr>
          <p:cNvPr id="6" name="内容占位符 5"/>
          <p:cNvSpPr>
            <a:spLocks noGrp="1"/>
          </p:cNvSpPr>
          <p:nvPr>
            <p:ph idx="1"/>
          </p:nvPr>
        </p:nvSpPr>
        <p:spPr/>
        <p:txBody>
          <a:bodyPr/>
          <a:p>
            <a:r>
              <a:rPr lang="zh-CN" altLang="en-US"/>
              <a:t>需求分析在软件开发过程中具有至关重要的作用，它不仅是项目成功的关键，还能够提升用户满意度、促进团队协作与沟通、指导软件开发与测试，并为项目决策提供有力支持。因此，在软件开发过程中应充分重视需求分析的重要性，确保项目的顺利进行和成功实施。</a:t>
            </a:r>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kern="100" dirty="0">
                <a:latin typeface="+mn-ea"/>
                <a:cs typeface="Times New Roman" panose="02020603050405020304" pitchFamily="18" charset="0"/>
                <a:sym typeface="+mn-ea"/>
              </a:rPr>
              <a:t>需求分析的原则</a:t>
            </a:r>
            <a:endParaRPr lang="zh-CN" altLang="en-US"/>
          </a:p>
        </p:txBody>
      </p:sp>
      <p:sp>
        <p:nvSpPr>
          <p:cNvPr id="3" name="日期占位符 2"/>
          <p:cNvSpPr>
            <a:spLocks noGrp="1"/>
          </p:cNvSpPr>
          <p:nvPr>
            <p:ph type="dt" sz="half" idx="10"/>
          </p:nvPr>
        </p:nvSpPr>
        <p:spPr/>
        <p:txBody>
          <a:bodyPr/>
          <a:p>
            <a:fld id="{5902FD77-8323-485D-87E2-91A0E9C84954}" type="datetime1">
              <a:rPr lang="zh-CN" altLang="en-US" smtClean="0"/>
            </a:fld>
            <a:endParaRPr lang="zh-CN" altLang="en-US"/>
          </a:p>
        </p:txBody>
      </p:sp>
      <p:sp>
        <p:nvSpPr>
          <p:cNvPr id="4" name="页脚占位符 3"/>
          <p:cNvSpPr>
            <a:spLocks noGrp="1"/>
          </p:cNvSpPr>
          <p:nvPr>
            <p:ph type="ftr" sz="quarter" idx="11"/>
          </p:nvPr>
        </p:nvSpPr>
        <p:spPr/>
        <p:txBody>
          <a:bodyPr/>
          <a:p>
            <a:r>
              <a:rPr lang="zh-CN" altLang="en-US"/>
              <a:t>软件工程</a:t>
            </a:r>
            <a:endParaRPr lang="zh-CN" altLang="en-US"/>
          </a:p>
        </p:txBody>
      </p:sp>
      <p:sp>
        <p:nvSpPr>
          <p:cNvPr id="5" name="灯片编号占位符 4"/>
          <p:cNvSpPr>
            <a:spLocks noGrp="1"/>
          </p:cNvSpPr>
          <p:nvPr>
            <p:ph type="sldNum" sz="quarter" idx="12"/>
          </p:nvPr>
        </p:nvSpPr>
        <p:spPr/>
        <p:txBody>
          <a:bodyPr/>
          <a:p>
            <a:fld id="{F528F39D-B5E5-4CA7-906C-979D5A62978D}" type="slidenum">
              <a:rPr lang="zh-CN" altLang="en-US" smtClean="0"/>
            </a:fld>
            <a:endParaRPr lang="zh-CN" altLang="en-US"/>
          </a:p>
        </p:txBody>
      </p:sp>
      <p:sp>
        <p:nvSpPr>
          <p:cNvPr id="6" name="内容占位符 5"/>
          <p:cNvSpPr>
            <a:spLocks noGrp="1"/>
          </p:cNvSpPr>
          <p:nvPr>
            <p:ph idx="1"/>
          </p:nvPr>
        </p:nvSpPr>
        <p:spPr>
          <a:xfrm>
            <a:off x="768097" y="828647"/>
            <a:ext cx="7832833" cy="3806854"/>
          </a:xfrm>
        </p:spPr>
        <p:txBody>
          <a:bodyPr>
            <a:noAutofit/>
          </a:bodyPr>
          <a:p>
            <a:pPr marL="0" indent="0" fontAlgn="auto">
              <a:lnSpc>
                <a:spcPct val="100000"/>
              </a:lnSpc>
              <a:spcBef>
                <a:spcPts val="0"/>
              </a:spcBef>
              <a:buNone/>
            </a:pPr>
            <a:r>
              <a:rPr lang="zh-CN" altLang="en-US" sz="1600">
                <a:sym typeface="+mn-ea"/>
              </a:rPr>
              <a:t>（1）必须能够表达和理解问题的信息域</a:t>
            </a:r>
            <a:endParaRPr lang="zh-CN" altLang="en-US" sz="1600"/>
          </a:p>
          <a:p>
            <a:pPr marL="0" indent="457200" fontAlgn="auto">
              <a:lnSpc>
                <a:spcPct val="100000"/>
              </a:lnSpc>
              <a:spcBef>
                <a:spcPts val="0"/>
              </a:spcBef>
              <a:buNone/>
            </a:pPr>
            <a:r>
              <a:rPr lang="zh-CN" altLang="en-US" sz="1600">
                <a:sym typeface="+mn-ea"/>
              </a:rPr>
              <a:t>信息域反映的是用户业务系统中数据的流向和对数据进行加工的处理过程，因此信息域是解决"做什么？"的关键因素。根据信息域描述的信息流、信息内容和信息结构，可以较全面地（完整地）了解系统的功能。</a:t>
            </a:r>
            <a:endParaRPr lang="zh-CN" altLang="en-US" sz="1600">
              <a:sym typeface="+mn-ea"/>
            </a:endParaRPr>
          </a:p>
          <a:p>
            <a:pPr marL="0" indent="457200" fontAlgn="auto">
              <a:lnSpc>
                <a:spcPct val="100000"/>
              </a:lnSpc>
              <a:spcBef>
                <a:spcPts val="0"/>
              </a:spcBef>
              <a:buNone/>
            </a:pPr>
            <a:r>
              <a:rPr lang="zh-CN" altLang="en-US" sz="1600" dirty="0" smtClean="0">
                <a:sym typeface="+mn-ea"/>
              </a:rPr>
              <a:t>根据这条准则应该建立数据模型。</a:t>
            </a:r>
            <a:endParaRPr lang="zh-CN" altLang="en-US" sz="1600"/>
          </a:p>
          <a:p>
            <a:pPr marL="0" indent="0" fontAlgn="auto">
              <a:lnSpc>
                <a:spcPct val="100000"/>
              </a:lnSpc>
              <a:spcBef>
                <a:spcPts val="0"/>
              </a:spcBef>
              <a:buNone/>
            </a:pPr>
            <a:r>
              <a:rPr lang="zh-CN" altLang="en-US" sz="1600">
                <a:sym typeface="+mn-ea"/>
              </a:rPr>
              <a:t>（2）必须能够定义软件将完成的任务</a:t>
            </a:r>
            <a:endParaRPr lang="zh-CN" altLang="en-US" sz="1600">
              <a:sym typeface="+mn-ea"/>
            </a:endParaRPr>
          </a:p>
          <a:p>
            <a:pPr marL="0" indent="457200" fontAlgn="auto">
              <a:lnSpc>
                <a:spcPct val="100000"/>
              </a:lnSpc>
              <a:spcBef>
                <a:spcPts val="0"/>
              </a:spcBef>
              <a:buNone/>
            </a:pPr>
            <a:r>
              <a:rPr lang="zh-CN" altLang="en-US" sz="1600" dirty="0" smtClean="0">
                <a:sym typeface="+mn-ea"/>
              </a:rPr>
              <a:t>根据这条准则应该建立功能模型。</a:t>
            </a:r>
            <a:endParaRPr lang="zh-CN" altLang="en-US" sz="1600"/>
          </a:p>
          <a:p>
            <a:pPr marL="0" indent="0" fontAlgn="auto">
              <a:lnSpc>
                <a:spcPct val="100000"/>
              </a:lnSpc>
              <a:spcBef>
                <a:spcPts val="0"/>
              </a:spcBef>
              <a:buNone/>
            </a:pPr>
            <a:r>
              <a:rPr lang="zh-CN" altLang="en-US" sz="1600">
                <a:sym typeface="+mn-ea"/>
              </a:rPr>
              <a:t>（3）必须能够表示软件的行为（作为外部事件的结束）</a:t>
            </a:r>
            <a:endParaRPr lang="zh-CN" altLang="en-US" sz="1600">
              <a:sym typeface="+mn-ea"/>
            </a:endParaRPr>
          </a:p>
          <a:p>
            <a:pPr marL="0" indent="457200" fontAlgn="auto">
              <a:lnSpc>
                <a:spcPct val="100000"/>
              </a:lnSpc>
              <a:spcBef>
                <a:spcPts val="0"/>
              </a:spcBef>
              <a:buNone/>
            </a:pPr>
            <a:r>
              <a:rPr lang="zh-CN" altLang="en-US" sz="1600" dirty="0" smtClean="0">
                <a:sym typeface="+mn-ea"/>
              </a:rPr>
              <a:t>根据这条准则要求建立行为模型。</a:t>
            </a:r>
            <a:endParaRPr lang="zh-CN" altLang="en-US" sz="1600"/>
          </a:p>
          <a:p>
            <a:pPr marL="0" indent="0" fontAlgn="auto">
              <a:lnSpc>
                <a:spcPct val="100000"/>
              </a:lnSpc>
              <a:spcBef>
                <a:spcPts val="0"/>
              </a:spcBef>
              <a:buNone/>
            </a:pPr>
            <a:r>
              <a:rPr lang="zh-CN" altLang="en-US" sz="1600">
                <a:sym typeface="+mn-ea"/>
              </a:rPr>
              <a:t>（4）必须划分描述系统数据、功能和行为的模型</a:t>
            </a:r>
            <a:endParaRPr lang="zh-CN" altLang="en-US" sz="1600"/>
          </a:p>
          <a:p>
            <a:pPr marL="0" indent="0" fontAlgn="auto">
              <a:lnSpc>
                <a:spcPct val="100000"/>
              </a:lnSpc>
              <a:spcBef>
                <a:spcPts val="0"/>
              </a:spcBef>
              <a:buNone/>
            </a:pPr>
            <a:r>
              <a:rPr lang="en-US" altLang="zh-CN" sz="1600">
                <a:sym typeface="+mn-ea"/>
              </a:rPr>
              <a:t>       </a:t>
            </a:r>
            <a:r>
              <a:rPr lang="zh-CN" altLang="en-US" sz="1600">
                <a:sym typeface="+mn-ea"/>
              </a:rPr>
              <a:t>建立模型的过程是"由粗到精"的综合分析的过程。通过对模型的不断深化认识，来达到对实际问题的深刻认识。</a:t>
            </a:r>
            <a:endParaRPr lang="zh-CN" altLang="en-US" sz="1600"/>
          </a:p>
          <a:p>
            <a:pPr marL="0" indent="0" fontAlgn="auto">
              <a:lnSpc>
                <a:spcPct val="100000"/>
              </a:lnSpc>
              <a:spcBef>
                <a:spcPts val="0"/>
              </a:spcBef>
              <a:buNone/>
            </a:pPr>
            <a:r>
              <a:rPr lang="zh-CN" altLang="en-US" sz="1600">
                <a:sym typeface="+mn-ea"/>
              </a:rPr>
              <a:t>（5）能够对所建模型按一定形式进行分解</a:t>
            </a:r>
            <a:endParaRPr lang="zh-CN" altLang="en-US" sz="1600"/>
          </a:p>
          <a:p>
            <a:pPr marL="0" indent="0" fontAlgn="auto">
              <a:lnSpc>
                <a:spcPct val="100000"/>
              </a:lnSpc>
              <a:spcBef>
                <a:spcPts val="0"/>
              </a:spcBef>
              <a:buNone/>
            </a:pPr>
            <a:r>
              <a:rPr lang="en-US" altLang="zh-CN" sz="1600">
                <a:sym typeface="+mn-ea"/>
              </a:rPr>
              <a:t>       </a:t>
            </a:r>
            <a:r>
              <a:rPr lang="zh-CN" altLang="en-US" sz="1600">
                <a:sym typeface="+mn-ea"/>
              </a:rPr>
              <a:t>分解是为了降低问题的复杂性，增加问题的可解性和可描述性。分解可以在同一个层次上进行（横向分解），也可以在多层次上进行（纵向分解）</a:t>
            </a:r>
            <a:endParaRPr lang="zh-CN" altLang="en-US" sz="1600">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800018" y="2110916"/>
            <a:ext cx="4954055" cy="922020"/>
          </a:xfrm>
          <a:prstGeom prst="rect">
            <a:avLst/>
          </a:prstGeom>
        </p:spPr>
        <p:txBody>
          <a:bodyPr wrap="square">
            <a:spAutoFit/>
          </a:bodyPr>
          <a:lstStyle/>
          <a:p>
            <a:pPr>
              <a:lnSpc>
                <a:spcPct val="120000"/>
              </a:lnSpc>
              <a:spcBef>
                <a:spcPts val="900"/>
              </a:spcBef>
              <a:buClr>
                <a:srgbClr val="00B050"/>
              </a:buClr>
            </a:pPr>
            <a:r>
              <a:rPr lang="zh-CN" altLang="en-US" sz="4500" b="1" dirty="0">
                <a:solidFill>
                  <a:srgbClr val="686868"/>
                </a:solidFill>
              </a:rPr>
              <a:t>需求工程</a:t>
            </a:r>
            <a:endParaRPr lang="zh-CN" altLang="en-US" sz="4500" b="1" dirty="0">
              <a:solidFill>
                <a:srgbClr val="686868"/>
              </a:solidFill>
            </a:endParaRPr>
          </a:p>
        </p:txBody>
      </p:sp>
      <p:sp>
        <p:nvSpPr>
          <p:cNvPr id="3" name="页脚占位符 2"/>
          <p:cNvSpPr>
            <a:spLocks noGrp="1"/>
          </p:cNvSpPr>
          <p:nvPr>
            <p:ph type="ftr" sz="quarter" idx="11"/>
          </p:nvPr>
        </p:nvSpPr>
        <p:spPr/>
        <p:txBody>
          <a:bodyPr/>
          <a:lstStyle/>
          <a:p>
            <a:r>
              <a:rPr lang="zh-CN" altLang="en-US"/>
              <a:t>软件工程</a:t>
            </a:r>
            <a:endParaRPr lang="zh-CN" altLang="en-US"/>
          </a:p>
        </p:txBody>
      </p:sp>
      <p:sp>
        <p:nvSpPr>
          <p:cNvPr id="4" name="灯片编号占位符 3"/>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48916" y="1453159"/>
            <a:ext cx="2707106" cy="2308324"/>
          </a:xfrm>
          <a:prstGeom prst="rect">
            <a:avLst/>
          </a:prstGeom>
          <a:noFill/>
        </p:spPr>
        <p:txBody>
          <a:bodyPr wrap="square" rtlCol="0">
            <a:spAutoFit/>
          </a:bodyPr>
          <a:lstStyle/>
          <a:p>
            <a:pPr>
              <a:lnSpc>
                <a:spcPct val="120000"/>
              </a:lnSpc>
            </a:pPr>
            <a:r>
              <a:rPr lang="zh-CN" altLang="en-US" sz="2400" b="1" dirty="0">
                <a:solidFill>
                  <a:srgbClr val="686868"/>
                </a:solidFill>
                <a:latin typeface="+mj-ea"/>
                <a:ea typeface="+mj-ea"/>
              </a:rPr>
              <a:t>需求工程</a:t>
            </a:r>
            <a:r>
              <a:rPr lang="zh-CN" altLang="en-US" sz="2400" dirty="0">
                <a:solidFill>
                  <a:srgbClr val="686868"/>
                </a:solidFill>
                <a:latin typeface="+mj-ea"/>
                <a:ea typeface="+mj-ea"/>
              </a:rPr>
              <a:t>（</a:t>
            </a:r>
            <a:r>
              <a:rPr lang="en-US" altLang="zh-CN" sz="2400" dirty="0">
                <a:solidFill>
                  <a:srgbClr val="686868"/>
                </a:solidFill>
                <a:latin typeface="+mj-ea"/>
                <a:ea typeface="+mj-ea"/>
              </a:rPr>
              <a:t>Requirement Engineering</a:t>
            </a:r>
            <a:r>
              <a:rPr lang="zh-CN" altLang="en-US" sz="2400" dirty="0">
                <a:solidFill>
                  <a:srgbClr val="686868"/>
                </a:solidFill>
                <a:latin typeface="+mj-ea"/>
                <a:ea typeface="+mj-ea"/>
              </a:rPr>
              <a:t>，</a:t>
            </a:r>
            <a:r>
              <a:rPr lang="en-US" altLang="zh-CN" sz="2400" dirty="0">
                <a:solidFill>
                  <a:srgbClr val="686868"/>
                </a:solidFill>
                <a:latin typeface="+mj-ea"/>
                <a:ea typeface="+mj-ea"/>
              </a:rPr>
              <a:t>RE</a:t>
            </a:r>
            <a:r>
              <a:rPr lang="zh-CN" altLang="en-US" sz="2400" dirty="0">
                <a:solidFill>
                  <a:srgbClr val="686868"/>
                </a:solidFill>
                <a:latin typeface="+mj-ea"/>
                <a:ea typeface="+mj-ea"/>
              </a:rPr>
              <a:t>）包括了</a:t>
            </a:r>
            <a:r>
              <a:rPr lang="zh-CN" altLang="en-US" sz="2400" b="1" dirty="0">
                <a:solidFill>
                  <a:srgbClr val="FF8900"/>
                </a:solidFill>
                <a:latin typeface="+mj-ea"/>
                <a:ea typeface="+mj-ea"/>
              </a:rPr>
              <a:t>需求开发</a:t>
            </a:r>
            <a:r>
              <a:rPr lang="zh-CN" altLang="en-US" sz="2400" dirty="0">
                <a:solidFill>
                  <a:srgbClr val="686868"/>
                </a:solidFill>
                <a:latin typeface="+mj-ea"/>
                <a:ea typeface="+mj-ea"/>
              </a:rPr>
              <a:t>和</a:t>
            </a:r>
            <a:r>
              <a:rPr lang="zh-CN" altLang="en-US" sz="2400" b="1" dirty="0">
                <a:solidFill>
                  <a:srgbClr val="FF8900"/>
                </a:solidFill>
                <a:latin typeface="+mj-ea"/>
                <a:ea typeface="+mj-ea"/>
              </a:rPr>
              <a:t>需求管理</a:t>
            </a:r>
            <a:r>
              <a:rPr lang="zh-CN" altLang="en-US" sz="2400" dirty="0">
                <a:solidFill>
                  <a:srgbClr val="686868"/>
                </a:solidFill>
                <a:latin typeface="+mj-ea"/>
                <a:ea typeface="+mj-ea"/>
              </a:rPr>
              <a:t>。</a:t>
            </a:r>
            <a:endParaRPr lang="zh-CN" altLang="en-US" sz="2400" dirty="0">
              <a:solidFill>
                <a:srgbClr val="686868"/>
              </a:solidFill>
              <a:latin typeface="+mj-ea"/>
              <a:ea typeface="+mj-ea"/>
            </a:endParaRPr>
          </a:p>
        </p:txBody>
      </p:sp>
      <p:pic>
        <p:nvPicPr>
          <p:cNvPr id="35" name="图片 34"/>
          <p:cNvPicPr>
            <a:picLocks noChangeAspect="1"/>
          </p:cNvPicPr>
          <p:nvPr/>
        </p:nvPicPr>
        <p:blipFill>
          <a:blip r:embed="rId1" cstate="print"/>
          <a:stretch>
            <a:fillRect/>
          </a:stretch>
        </p:blipFill>
        <p:spPr>
          <a:xfrm>
            <a:off x="3056022" y="216568"/>
            <a:ext cx="5850125" cy="4583347"/>
          </a:xfrm>
          <a:prstGeom prst="rect">
            <a:avLst/>
          </a:prstGeom>
          <a:ln>
            <a:noFill/>
          </a:ln>
          <a:effectLst>
            <a:outerShdw blurRad="292100" dist="139700" dir="2700000" algn="tl" rotWithShape="0">
              <a:srgbClr val="333333">
                <a:alpha val="65000"/>
              </a:srgbClr>
            </a:outerShdw>
          </a:effectLst>
        </p:spPr>
      </p:pic>
      <p:sp>
        <p:nvSpPr>
          <p:cNvPr id="4" name="标题 3"/>
          <p:cNvSpPr>
            <a:spLocks noGrp="1"/>
          </p:cNvSpPr>
          <p:nvPr>
            <p:ph type="title"/>
          </p:nvPr>
        </p:nvSpPr>
        <p:spPr/>
        <p:txBody>
          <a:bodyPr/>
          <a:lstStyle/>
          <a:p>
            <a:r>
              <a:rPr lang="zh-CN" altLang="en-US" kern="100" dirty="0">
                <a:latin typeface="+mn-ea"/>
                <a:cs typeface="Times New Roman" panose="02020603050405020304" pitchFamily="18" charset="0"/>
              </a:rPr>
              <a:t>需求工程</a:t>
            </a:r>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a:p>
        </p:txBody>
      </p:sp>
      <p:sp>
        <p:nvSpPr>
          <p:cNvPr id="7" name="灯片编号占位符 6"/>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292747" y="966623"/>
            <a:ext cx="5811306" cy="535531"/>
          </a:xfrm>
          <a:prstGeom prst="rect">
            <a:avLst/>
          </a:prstGeom>
          <a:noFill/>
        </p:spPr>
        <p:txBody>
          <a:bodyPr wrap="square" rtlCol="0">
            <a:spAutoFit/>
          </a:bodyPr>
          <a:lstStyle/>
          <a:p>
            <a:pPr>
              <a:lnSpc>
                <a:spcPct val="120000"/>
              </a:lnSpc>
            </a:pPr>
            <a:r>
              <a:rPr lang="zh-CN" altLang="en-US" sz="2400" dirty="0">
                <a:solidFill>
                  <a:srgbClr val="686868"/>
                </a:solidFill>
                <a:latin typeface="+mj-ea"/>
                <a:ea typeface="+mj-ea"/>
              </a:rPr>
              <a:t>软件需求工程主要分为以下过程：</a:t>
            </a:r>
            <a:endParaRPr lang="zh-CN" altLang="en-US" sz="2400" dirty="0">
              <a:solidFill>
                <a:srgbClr val="686868"/>
              </a:solidFill>
              <a:latin typeface="+mj-ea"/>
              <a:ea typeface="+mj-ea"/>
            </a:endParaRPr>
          </a:p>
        </p:txBody>
      </p:sp>
      <p:sp>
        <p:nvSpPr>
          <p:cNvPr id="21" name="曲线"/>
          <p:cNvSpPr/>
          <p:nvPr>
            <p:custDataLst>
              <p:tags r:id="rId1"/>
            </p:custDataLst>
          </p:nvPr>
        </p:nvSpPr>
        <p:spPr bwMode="auto">
          <a:xfrm flipH="1">
            <a:off x="0" y="2363826"/>
            <a:ext cx="9144000" cy="986489"/>
          </a:xfrm>
          <a:custGeom>
            <a:avLst/>
            <a:gdLst>
              <a:gd name="T0" fmla="*/ 0 w 2601"/>
              <a:gd name="T1" fmla="*/ 139 h 306"/>
              <a:gd name="T2" fmla="*/ 647 w 2601"/>
              <a:gd name="T3" fmla="*/ 304 h 306"/>
              <a:gd name="T4" fmla="*/ 1863 w 2601"/>
              <a:gd name="T5" fmla="*/ 11 h 306"/>
              <a:gd name="T6" fmla="*/ 2601 w 2601"/>
              <a:gd name="T7" fmla="*/ 259 h 306"/>
            </a:gdLst>
            <a:ahLst/>
            <a:cxnLst>
              <a:cxn ang="0">
                <a:pos x="T0" y="T1"/>
              </a:cxn>
              <a:cxn ang="0">
                <a:pos x="T2" y="T3"/>
              </a:cxn>
              <a:cxn ang="0">
                <a:pos x="T4" y="T5"/>
              </a:cxn>
              <a:cxn ang="0">
                <a:pos x="T6" y="T7"/>
              </a:cxn>
            </a:cxnLst>
            <a:rect l="0" t="0" r="r" b="b"/>
            <a:pathLst>
              <a:path w="2601" h="306">
                <a:moveTo>
                  <a:pt x="0" y="139"/>
                </a:moveTo>
                <a:cubicBezTo>
                  <a:pt x="0" y="139"/>
                  <a:pt x="179" y="301"/>
                  <a:pt x="647" y="304"/>
                </a:cubicBezTo>
                <a:cubicBezTo>
                  <a:pt x="1090" y="306"/>
                  <a:pt x="1474" y="0"/>
                  <a:pt x="1863" y="11"/>
                </a:cubicBezTo>
                <a:cubicBezTo>
                  <a:pt x="2253" y="21"/>
                  <a:pt x="2601" y="259"/>
                  <a:pt x="2601" y="259"/>
                </a:cubicBezTo>
              </a:path>
            </a:pathLst>
          </a:custGeom>
          <a:noFill/>
          <a:ln w="9525" cap="flat">
            <a:solidFill>
              <a:schemeClr val="accent2"/>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pPr defTabSz="342265"/>
            <a:endParaRPr lang="zh-CN" altLang="en-US">
              <a:solidFill>
                <a:prstClr val="black"/>
              </a:solidFill>
              <a:latin typeface="+mj-ea"/>
              <a:ea typeface="+mj-ea"/>
            </a:endParaRPr>
          </a:p>
        </p:txBody>
      </p:sp>
      <p:sp>
        <p:nvSpPr>
          <p:cNvPr id="22" name="圆"/>
          <p:cNvSpPr/>
          <p:nvPr>
            <p:custDataLst>
              <p:tags r:id="rId2"/>
            </p:custDataLst>
          </p:nvPr>
        </p:nvSpPr>
        <p:spPr>
          <a:xfrm>
            <a:off x="745974" y="2434085"/>
            <a:ext cx="546773" cy="546773"/>
          </a:xfrm>
          <a:prstGeom prst="ellipse">
            <a:avLst/>
          </a:prstGeom>
          <a:solidFill>
            <a:schemeClr val="accent2">
              <a:lumMod val="75000"/>
            </a:schemeClr>
          </a:solidFill>
          <a:ln w="76200">
            <a:solidFill>
              <a:schemeClr val="bg1"/>
            </a:solidFill>
          </a:ln>
          <a:scene3d>
            <a:camera prst="orthographicFront"/>
            <a:lightRig rig="threePt" dir="t"/>
          </a:scene3d>
          <a:sp3d contourW="12700">
            <a:contourClr>
              <a:schemeClr val="tx1">
                <a:lumMod val="75000"/>
                <a:lumOff val="25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mj-ea"/>
                <a:ea typeface="+mj-ea"/>
              </a:rPr>
              <a:t>1</a:t>
            </a:r>
            <a:endParaRPr lang="zh-CN" altLang="en-US" b="1" dirty="0">
              <a:solidFill>
                <a:schemeClr val="bg1"/>
              </a:solidFill>
              <a:latin typeface="+mj-ea"/>
              <a:ea typeface="+mj-ea"/>
            </a:endParaRPr>
          </a:p>
        </p:txBody>
      </p:sp>
      <p:sp>
        <p:nvSpPr>
          <p:cNvPr id="23" name="圆"/>
          <p:cNvSpPr/>
          <p:nvPr>
            <p:custDataLst>
              <p:tags r:id="rId3"/>
            </p:custDataLst>
          </p:nvPr>
        </p:nvSpPr>
        <p:spPr>
          <a:xfrm>
            <a:off x="2544570" y="2081766"/>
            <a:ext cx="546773" cy="546773"/>
          </a:xfrm>
          <a:prstGeom prst="ellipse">
            <a:avLst/>
          </a:prstGeom>
          <a:solidFill>
            <a:schemeClr val="accent2">
              <a:lumMod val="75000"/>
            </a:schemeClr>
          </a:solidFill>
          <a:ln w="76200">
            <a:solidFill>
              <a:schemeClr val="bg1"/>
            </a:solidFill>
          </a:ln>
          <a:scene3d>
            <a:camera prst="orthographicFront"/>
            <a:lightRig rig="threePt" dir="t"/>
          </a:scene3d>
          <a:sp3d contourW="12700">
            <a:contourClr>
              <a:schemeClr val="tx1">
                <a:lumMod val="75000"/>
                <a:lumOff val="25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mj-ea"/>
                <a:ea typeface="+mj-ea"/>
              </a:rPr>
              <a:t>2</a:t>
            </a:r>
            <a:endParaRPr lang="zh-CN" altLang="en-US" b="1" dirty="0">
              <a:solidFill>
                <a:schemeClr val="bg1"/>
              </a:solidFill>
              <a:latin typeface="+mj-ea"/>
              <a:ea typeface="+mj-ea"/>
            </a:endParaRPr>
          </a:p>
        </p:txBody>
      </p:sp>
      <p:sp>
        <p:nvSpPr>
          <p:cNvPr id="24" name="圆"/>
          <p:cNvSpPr/>
          <p:nvPr>
            <p:custDataLst>
              <p:tags r:id="rId4"/>
            </p:custDataLst>
          </p:nvPr>
        </p:nvSpPr>
        <p:spPr>
          <a:xfrm>
            <a:off x="4343167" y="2568501"/>
            <a:ext cx="546773" cy="546773"/>
          </a:xfrm>
          <a:prstGeom prst="ellipse">
            <a:avLst/>
          </a:prstGeom>
          <a:solidFill>
            <a:schemeClr val="accent2">
              <a:lumMod val="75000"/>
            </a:schemeClr>
          </a:solidFill>
          <a:ln w="76200">
            <a:solidFill>
              <a:schemeClr val="bg1"/>
            </a:solidFill>
          </a:ln>
          <a:scene3d>
            <a:camera prst="orthographicFront"/>
            <a:lightRig rig="threePt" dir="t"/>
          </a:scene3d>
          <a:sp3d contourW="12700">
            <a:contourClr>
              <a:schemeClr val="tx1">
                <a:lumMod val="75000"/>
                <a:lumOff val="25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mj-ea"/>
                <a:ea typeface="+mj-ea"/>
              </a:rPr>
              <a:t>3</a:t>
            </a:r>
            <a:endParaRPr lang="zh-CN" altLang="en-US" b="1" dirty="0">
              <a:solidFill>
                <a:schemeClr val="bg1"/>
              </a:solidFill>
              <a:latin typeface="+mj-ea"/>
              <a:ea typeface="+mj-ea"/>
            </a:endParaRPr>
          </a:p>
        </p:txBody>
      </p:sp>
      <p:sp>
        <p:nvSpPr>
          <p:cNvPr id="25" name="圆"/>
          <p:cNvSpPr/>
          <p:nvPr>
            <p:custDataLst>
              <p:tags r:id="rId5"/>
            </p:custDataLst>
          </p:nvPr>
        </p:nvSpPr>
        <p:spPr>
          <a:xfrm>
            <a:off x="6190939" y="3032540"/>
            <a:ext cx="546773" cy="546773"/>
          </a:xfrm>
          <a:prstGeom prst="ellipse">
            <a:avLst/>
          </a:prstGeom>
          <a:solidFill>
            <a:schemeClr val="accent2">
              <a:lumMod val="75000"/>
            </a:schemeClr>
          </a:solidFill>
          <a:ln w="76200">
            <a:solidFill>
              <a:schemeClr val="bg1"/>
            </a:solidFill>
          </a:ln>
          <a:scene3d>
            <a:camera prst="orthographicFront"/>
            <a:lightRig rig="threePt" dir="t"/>
          </a:scene3d>
          <a:sp3d contourW="12700">
            <a:contourClr>
              <a:schemeClr val="tx1">
                <a:lumMod val="75000"/>
                <a:lumOff val="25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mj-ea"/>
                <a:ea typeface="+mj-ea"/>
              </a:rPr>
              <a:t>4</a:t>
            </a:r>
            <a:endParaRPr lang="zh-CN" altLang="en-US" b="1" dirty="0">
              <a:solidFill>
                <a:schemeClr val="bg1"/>
              </a:solidFill>
              <a:latin typeface="+mj-ea"/>
              <a:ea typeface="+mj-ea"/>
            </a:endParaRPr>
          </a:p>
        </p:txBody>
      </p:sp>
      <p:sp>
        <p:nvSpPr>
          <p:cNvPr id="26" name="圆"/>
          <p:cNvSpPr/>
          <p:nvPr>
            <p:custDataLst>
              <p:tags r:id="rId6"/>
            </p:custDataLst>
          </p:nvPr>
        </p:nvSpPr>
        <p:spPr>
          <a:xfrm>
            <a:off x="7940359" y="2946513"/>
            <a:ext cx="546773" cy="546773"/>
          </a:xfrm>
          <a:prstGeom prst="ellipse">
            <a:avLst/>
          </a:prstGeom>
          <a:solidFill>
            <a:schemeClr val="accent2">
              <a:lumMod val="75000"/>
            </a:schemeClr>
          </a:solidFill>
          <a:ln w="76200">
            <a:solidFill>
              <a:schemeClr val="bg1"/>
            </a:solidFill>
          </a:ln>
          <a:scene3d>
            <a:camera prst="orthographicFront"/>
            <a:lightRig rig="threePt" dir="t"/>
          </a:scene3d>
          <a:sp3d contourW="12700">
            <a:contourClr>
              <a:schemeClr val="tx1">
                <a:lumMod val="75000"/>
                <a:lumOff val="25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mj-ea"/>
                <a:ea typeface="+mj-ea"/>
              </a:rPr>
              <a:t>5</a:t>
            </a:r>
            <a:endParaRPr lang="zh-CN" altLang="en-US" b="1" dirty="0">
              <a:solidFill>
                <a:schemeClr val="bg1"/>
              </a:solidFill>
              <a:latin typeface="+mj-ea"/>
              <a:ea typeface="+mj-ea"/>
            </a:endParaRPr>
          </a:p>
        </p:txBody>
      </p:sp>
      <p:sp>
        <p:nvSpPr>
          <p:cNvPr id="27" name="文本"/>
          <p:cNvSpPr/>
          <p:nvPr>
            <p:custDataLst>
              <p:tags r:id="rId7"/>
            </p:custDataLst>
          </p:nvPr>
        </p:nvSpPr>
        <p:spPr>
          <a:xfrm>
            <a:off x="396095" y="3118568"/>
            <a:ext cx="1283646" cy="507831"/>
          </a:xfrm>
          <a:prstGeom prst="rect">
            <a:avLst/>
          </a:prstGeom>
          <a:noFill/>
        </p:spPr>
        <p:txBody>
          <a:bodyPr wrap="square" rtlCol="0" anchor="t">
            <a:spAutoFit/>
          </a:bodyPr>
          <a:lstStyle/>
          <a:p>
            <a:pPr algn="ctr">
              <a:lnSpc>
                <a:spcPct val="150000"/>
              </a:lnSpc>
            </a:pPr>
            <a:r>
              <a:rPr lang="zh-CN" altLang="en-US" b="1" spc="113" dirty="0">
                <a:solidFill>
                  <a:schemeClr val="tx1">
                    <a:lumMod val="95000"/>
                    <a:lumOff val="5000"/>
                  </a:schemeClr>
                </a:solidFill>
                <a:latin typeface="+mj-ea"/>
                <a:ea typeface="+mj-ea"/>
              </a:rPr>
              <a:t>需求获取</a:t>
            </a:r>
            <a:endParaRPr lang="zh-CN" altLang="en-US" b="1" spc="113" dirty="0">
              <a:solidFill>
                <a:schemeClr val="tx1">
                  <a:lumMod val="95000"/>
                  <a:lumOff val="5000"/>
                </a:schemeClr>
              </a:solidFill>
              <a:latin typeface="+mj-ea"/>
              <a:ea typeface="+mj-ea"/>
            </a:endParaRPr>
          </a:p>
        </p:txBody>
      </p:sp>
      <p:sp>
        <p:nvSpPr>
          <p:cNvPr id="28" name="文本"/>
          <p:cNvSpPr/>
          <p:nvPr>
            <p:custDataLst>
              <p:tags r:id="rId8"/>
            </p:custDataLst>
          </p:nvPr>
        </p:nvSpPr>
        <p:spPr>
          <a:xfrm>
            <a:off x="2176133" y="1432905"/>
            <a:ext cx="1283646" cy="507831"/>
          </a:xfrm>
          <a:prstGeom prst="rect">
            <a:avLst/>
          </a:prstGeom>
          <a:noFill/>
        </p:spPr>
        <p:txBody>
          <a:bodyPr wrap="square" rtlCol="0" anchor="b">
            <a:spAutoFit/>
          </a:bodyPr>
          <a:lstStyle/>
          <a:p>
            <a:pPr algn="ctr">
              <a:lnSpc>
                <a:spcPct val="150000"/>
              </a:lnSpc>
            </a:pPr>
            <a:r>
              <a:rPr lang="zh-CN" altLang="en-US" b="1" spc="113" dirty="0">
                <a:solidFill>
                  <a:schemeClr val="tx1">
                    <a:lumMod val="95000"/>
                    <a:lumOff val="5000"/>
                  </a:schemeClr>
                </a:solidFill>
                <a:latin typeface="+mj-ea"/>
                <a:ea typeface="+mj-ea"/>
              </a:rPr>
              <a:t>分析建模</a:t>
            </a:r>
            <a:endParaRPr lang="zh-CN" altLang="en-US" b="1" spc="113" dirty="0">
              <a:solidFill>
                <a:schemeClr val="tx1">
                  <a:lumMod val="95000"/>
                  <a:lumOff val="5000"/>
                </a:schemeClr>
              </a:solidFill>
              <a:latin typeface="+mj-ea"/>
              <a:ea typeface="+mj-ea"/>
            </a:endParaRPr>
          </a:p>
        </p:txBody>
      </p:sp>
      <p:sp>
        <p:nvSpPr>
          <p:cNvPr id="29" name="文本"/>
          <p:cNvSpPr/>
          <p:nvPr>
            <p:custDataLst>
              <p:tags r:id="rId9"/>
            </p:custDataLst>
          </p:nvPr>
        </p:nvSpPr>
        <p:spPr>
          <a:xfrm>
            <a:off x="4025970" y="3244975"/>
            <a:ext cx="1283646" cy="507831"/>
          </a:xfrm>
          <a:prstGeom prst="rect">
            <a:avLst/>
          </a:prstGeom>
          <a:noFill/>
        </p:spPr>
        <p:txBody>
          <a:bodyPr wrap="square" rtlCol="0" anchor="t">
            <a:spAutoFit/>
          </a:bodyPr>
          <a:lstStyle/>
          <a:p>
            <a:pPr algn="ctr">
              <a:lnSpc>
                <a:spcPct val="150000"/>
              </a:lnSpc>
            </a:pPr>
            <a:r>
              <a:rPr lang="zh-CN" altLang="en-US" b="1" spc="113" dirty="0">
                <a:solidFill>
                  <a:schemeClr val="tx1">
                    <a:lumMod val="95000"/>
                    <a:lumOff val="5000"/>
                  </a:schemeClr>
                </a:solidFill>
                <a:latin typeface="+mj-ea"/>
                <a:ea typeface="+mj-ea"/>
              </a:rPr>
              <a:t>文档编写</a:t>
            </a:r>
            <a:endParaRPr lang="zh-CN" altLang="en-US" b="1" spc="113" dirty="0">
              <a:solidFill>
                <a:schemeClr val="tx1">
                  <a:lumMod val="95000"/>
                  <a:lumOff val="5000"/>
                </a:schemeClr>
              </a:solidFill>
              <a:latin typeface="+mj-ea"/>
              <a:ea typeface="+mj-ea"/>
            </a:endParaRPr>
          </a:p>
        </p:txBody>
      </p:sp>
      <p:sp>
        <p:nvSpPr>
          <p:cNvPr id="30" name="文本"/>
          <p:cNvSpPr/>
          <p:nvPr>
            <p:custDataLst>
              <p:tags r:id="rId10"/>
            </p:custDataLst>
          </p:nvPr>
        </p:nvSpPr>
        <p:spPr>
          <a:xfrm>
            <a:off x="5822501" y="2313164"/>
            <a:ext cx="1283646" cy="507831"/>
          </a:xfrm>
          <a:prstGeom prst="rect">
            <a:avLst/>
          </a:prstGeom>
          <a:noFill/>
        </p:spPr>
        <p:txBody>
          <a:bodyPr wrap="square" rtlCol="0" anchor="b">
            <a:spAutoFit/>
          </a:bodyPr>
          <a:lstStyle/>
          <a:p>
            <a:pPr algn="ctr">
              <a:lnSpc>
                <a:spcPct val="150000"/>
              </a:lnSpc>
            </a:pPr>
            <a:r>
              <a:rPr lang="zh-CN" altLang="en-US" b="1" spc="113" dirty="0">
                <a:solidFill>
                  <a:schemeClr val="tx1">
                    <a:lumMod val="95000"/>
                    <a:lumOff val="5000"/>
                  </a:schemeClr>
                </a:solidFill>
                <a:latin typeface="+mj-ea"/>
                <a:ea typeface="+mj-ea"/>
              </a:rPr>
              <a:t>需求验证</a:t>
            </a:r>
            <a:endParaRPr lang="zh-CN" altLang="en-US" b="1" spc="113" dirty="0">
              <a:solidFill>
                <a:schemeClr val="tx1">
                  <a:lumMod val="95000"/>
                  <a:lumOff val="5000"/>
                </a:schemeClr>
              </a:solidFill>
              <a:latin typeface="+mj-ea"/>
              <a:ea typeface="+mj-ea"/>
            </a:endParaRPr>
          </a:p>
        </p:txBody>
      </p:sp>
      <p:sp>
        <p:nvSpPr>
          <p:cNvPr id="31" name="文本"/>
          <p:cNvSpPr/>
          <p:nvPr>
            <p:custDataLst>
              <p:tags r:id="rId11"/>
            </p:custDataLst>
          </p:nvPr>
        </p:nvSpPr>
        <p:spPr>
          <a:xfrm>
            <a:off x="7571922" y="3579313"/>
            <a:ext cx="1283646" cy="506730"/>
          </a:xfrm>
          <a:prstGeom prst="rect">
            <a:avLst/>
          </a:prstGeom>
          <a:noFill/>
        </p:spPr>
        <p:txBody>
          <a:bodyPr wrap="square" rtlCol="0" anchor="t">
            <a:spAutoFit/>
          </a:bodyPr>
          <a:lstStyle/>
          <a:p>
            <a:pPr algn="ctr">
              <a:lnSpc>
                <a:spcPct val="150000"/>
              </a:lnSpc>
            </a:pPr>
            <a:r>
              <a:rPr lang="zh-CN" altLang="en-US" b="1" spc="113" dirty="0">
                <a:solidFill>
                  <a:schemeClr val="tx1">
                    <a:lumMod val="95000"/>
                    <a:lumOff val="5000"/>
                  </a:schemeClr>
                </a:solidFill>
                <a:latin typeface="+mj-ea"/>
                <a:ea typeface="+mj-ea"/>
              </a:rPr>
              <a:t>需求管理</a:t>
            </a:r>
            <a:endParaRPr lang="zh-CN" altLang="en-US" b="1" spc="113" dirty="0">
              <a:solidFill>
                <a:schemeClr val="tx1">
                  <a:lumMod val="95000"/>
                  <a:lumOff val="5000"/>
                </a:schemeClr>
              </a:solidFill>
              <a:latin typeface="+mj-ea"/>
              <a:ea typeface="+mj-ea"/>
            </a:endParaRPr>
          </a:p>
        </p:txBody>
      </p:sp>
      <p:sp>
        <p:nvSpPr>
          <p:cNvPr id="32" name="文本框 31"/>
          <p:cNvSpPr txBox="1"/>
          <p:nvPr/>
        </p:nvSpPr>
        <p:spPr>
          <a:xfrm>
            <a:off x="203799" y="3912555"/>
            <a:ext cx="7368123" cy="707886"/>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lang="zh-CN" altLang="zh-CN" sz="2000" b="1" dirty="0"/>
              <a:t>需求分析</a:t>
            </a:r>
            <a:r>
              <a:rPr lang="zh-CN" altLang="en-US" sz="2000" b="1" dirty="0"/>
              <a:t>的</a:t>
            </a:r>
            <a:r>
              <a:rPr lang="zh-CN" altLang="zh-CN" sz="2000" b="1" dirty="0"/>
              <a:t>过程是一个从模糊概念出发，经过分析、综合评价，到概念逐步清晰的过程。</a:t>
            </a:r>
            <a:endParaRPr lang="zh-CN" altLang="zh-CN" sz="2000" b="1" dirty="0"/>
          </a:p>
        </p:txBody>
      </p:sp>
      <p:sp>
        <p:nvSpPr>
          <p:cNvPr id="4" name="标题 3"/>
          <p:cNvSpPr>
            <a:spLocks noGrp="1"/>
          </p:cNvSpPr>
          <p:nvPr>
            <p:ph type="title"/>
          </p:nvPr>
        </p:nvSpPr>
        <p:spPr/>
        <p:txBody>
          <a:bodyPr/>
          <a:lstStyle/>
          <a:p>
            <a:r>
              <a:rPr lang="zh-CN" altLang="en-US" kern="100" dirty="0">
                <a:latin typeface="+mn-ea"/>
                <a:cs typeface="Times New Roman" panose="02020603050405020304" pitchFamily="18" charset="0"/>
              </a:rPr>
              <a:t>需求工程过程</a:t>
            </a:r>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a:p>
        </p:txBody>
      </p:sp>
      <p:sp>
        <p:nvSpPr>
          <p:cNvPr id="7" name="灯片编号占位符 6"/>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childTnLst>
                          </p:cTn>
                        </p:par>
                        <p:par>
                          <p:cTn id="8" fill="hold">
                            <p:stCondLst>
                              <p:cond delay="500"/>
                            </p:stCondLst>
                            <p:childTnLst>
                              <p:par>
                                <p:cTn id="9" presetID="23" presetClass="entr" presetSubtype="272"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p:cTn id="11" dur="500" fill="hold"/>
                                        <p:tgtEl>
                                          <p:spTgt spid="22"/>
                                        </p:tgtEl>
                                        <p:attrNameLst>
                                          <p:attrName>ppt_w</p:attrName>
                                        </p:attrNameLst>
                                      </p:cBhvr>
                                      <p:tavLst>
                                        <p:tav tm="0">
                                          <p:val>
                                            <p:strVal val="2/3*#ppt_w"/>
                                          </p:val>
                                        </p:tav>
                                        <p:tav tm="100000">
                                          <p:val>
                                            <p:strVal val="#ppt_w"/>
                                          </p:val>
                                        </p:tav>
                                      </p:tavLst>
                                    </p:anim>
                                    <p:anim calcmode="lin" valueType="num">
                                      <p:cBhvr>
                                        <p:cTn id="12" dur="500" fill="hold"/>
                                        <p:tgtEl>
                                          <p:spTgt spid="22"/>
                                        </p:tgtEl>
                                        <p:attrNameLst>
                                          <p:attrName>ppt_h</p:attrName>
                                        </p:attrNameLst>
                                      </p:cBhvr>
                                      <p:tavLst>
                                        <p:tav tm="0">
                                          <p:val>
                                            <p:strVal val="2/3*#ppt_h"/>
                                          </p:val>
                                        </p:tav>
                                        <p:tav tm="100000">
                                          <p:val>
                                            <p:strVal val="#ppt_h"/>
                                          </p:val>
                                        </p:tav>
                                      </p:tavLst>
                                    </p:anim>
                                  </p:childTnLst>
                                </p:cTn>
                              </p:par>
                            </p:childTnLst>
                          </p:cTn>
                        </p:par>
                        <p:par>
                          <p:cTn id="13" fill="hold">
                            <p:stCondLst>
                              <p:cond delay="1000"/>
                            </p:stCondLst>
                            <p:childTnLst>
                              <p:par>
                                <p:cTn id="14" presetID="42" presetClass="entr" presetSubtype="0" fill="hold" grpId="0" nodeType="after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500"/>
                                        <p:tgtEl>
                                          <p:spTgt spid="27"/>
                                        </p:tgtEl>
                                      </p:cBhvr>
                                    </p:animEffect>
                                    <p:anim calcmode="lin" valueType="num">
                                      <p:cBhvr>
                                        <p:cTn id="17" dur="500" fill="hold"/>
                                        <p:tgtEl>
                                          <p:spTgt spid="27"/>
                                        </p:tgtEl>
                                        <p:attrNameLst>
                                          <p:attrName>ppt_x</p:attrName>
                                        </p:attrNameLst>
                                      </p:cBhvr>
                                      <p:tavLst>
                                        <p:tav tm="0">
                                          <p:val>
                                            <p:strVal val="#ppt_x"/>
                                          </p:val>
                                        </p:tav>
                                        <p:tav tm="100000">
                                          <p:val>
                                            <p:strVal val="#ppt_x"/>
                                          </p:val>
                                        </p:tav>
                                      </p:tavLst>
                                    </p:anim>
                                    <p:anim calcmode="lin" valueType="num">
                                      <p:cBhvr>
                                        <p:cTn id="18" dur="500" fill="hold"/>
                                        <p:tgtEl>
                                          <p:spTgt spid="27"/>
                                        </p:tgtEl>
                                        <p:attrNameLst>
                                          <p:attrName>ppt_y</p:attrName>
                                        </p:attrNameLst>
                                      </p:cBhvr>
                                      <p:tavLst>
                                        <p:tav tm="0">
                                          <p:val>
                                            <p:strVal val="#ppt_y+.1"/>
                                          </p:val>
                                        </p:tav>
                                        <p:tav tm="100000">
                                          <p:val>
                                            <p:strVal val="#ppt_y"/>
                                          </p:val>
                                        </p:tav>
                                      </p:tavLst>
                                    </p:anim>
                                  </p:childTnLst>
                                </p:cTn>
                              </p:par>
                            </p:childTnLst>
                          </p:cTn>
                        </p:par>
                        <p:par>
                          <p:cTn id="19" fill="hold">
                            <p:stCondLst>
                              <p:cond delay="1500"/>
                            </p:stCondLst>
                            <p:childTnLst>
                              <p:par>
                                <p:cTn id="20" presetID="23" presetClass="entr" presetSubtype="272" fill="hold" grpId="0" nodeType="afterEffect">
                                  <p:stCondLst>
                                    <p:cond delay="0"/>
                                  </p:stCondLst>
                                  <p:childTnLst>
                                    <p:set>
                                      <p:cBhvr>
                                        <p:cTn id="21" dur="1" fill="hold">
                                          <p:stCondLst>
                                            <p:cond delay="0"/>
                                          </p:stCondLst>
                                        </p:cTn>
                                        <p:tgtEl>
                                          <p:spTgt spid="23"/>
                                        </p:tgtEl>
                                        <p:attrNameLst>
                                          <p:attrName>style.visibility</p:attrName>
                                        </p:attrNameLst>
                                      </p:cBhvr>
                                      <p:to>
                                        <p:strVal val="visible"/>
                                      </p:to>
                                    </p:set>
                                    <p:anim calcmode="lin" valueType="num">
                                      <p:cBhvr>
                                        <p:cTn id="22" dur="500" fill="hold"/>
                                        <p:tgtEl>
                                          <p:spTgt spid="23"/>
                                        </p:tgtEl>
                                        <p:attrNameLst>
                                          <p:attrName>ppt_w</p:attrName>
                                        </p:attrNameLst>
                                      </p:cBhvr>
                                      <p:tavLst>
                                        <p:tav tm="0">
                                          <p:val>
                                            <p:strVal val="2/3*#ppt_w"/>
                                          </p:val>
                                        </p:tav>
                                        <p:tav tm="100000">
                                          <p:val>
                                            <p:strVal val="#ppt_w"/>
                                          </p:val>
                                        </p:tav>
                                      </p:tavLst>
                                    </p:anim>
                                    <p:anim calcmode="lin" valueType="num">
                                      <p:cBhvr>
                                        <p:cTn id="23" dur="500" fill="hold"/>
                                        <p:tgtEl>
                                          <p:spTgt spid="23"/>
                                        </p:tgtEl>
                                        <p:attrNameLst>
                                          <p:attrName>ppt_h</p:attrName>
                                        </p:attrNameLst>
                                      </p:cBhvr>
                                      <p:tavLst>
                                        <p:tav tm="0">
                                          <p:val>
                                            <p:strVal val="2/3*#ppt_h"/>
                                          </p:val>
                                        </p:tav>
                                        <p:tav tm="100000">
                                          <p:val>
                                            <p:strVal val="#ppt_h"/>
                                          </p:val>
                                        </p:tav>
                                      </p:tavLst>
                                    </p:anim>
                                  </p:childTnLst>
                                </p:cTn>
                              </p:par>
                            </p:childTnLst>
                          </p:cTn>
                        </p:par>
                        <p:par>
                          <p:cTn id="24" fill="hold">
                            <p:stCondLst>
                              <p:cond delay="2000"/>
                            </p:stCondLst>
                            <p:childTnLst>
                              <p:par>
                                <p:cTn id="25" presetID="47" presetClass="entr" presetSubtype="0"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00"/>
                                        <p:tgtEl>
                                          <p:spTgt spid="28"/>
                                        </p:tgtEl>
                                      </p:cBhvr>
                                    </p:animEffect>
                                    <p:anim calcmode="lin" valueType="num">
                                      <p:cBhvr>
                                        <p:cTn id="28" dur="500" fill="hold"/>
                                        <p:tgtEl>
                                          <p:spTgt spid="28"/>
                                        </p:tgtEl>
                                        <p:attrNameLst>
                                          <p:attrName>ppt_x</p:attrName>
                                        </p:attrNameLst>
                                      </p:cBhvr>
                                      <p:tavLst>
                                        <p:tav tm="0">
                                          <p:val>
                                            <p:strVal val="#ppt_x"/>
                                          </p:val>
                                        </p:tav>
                                        <p:tav tm="100000">
                                          <p:val>
                                            <p:strVal val="#ppt_x"/>
                                          </p:val>
                                        </p:tav>
                                      </p:tavLst>
                                    </p:anim>
                                    <p:anim calcmode="lin" valueType="num">
                                      <p:cBhvr>
                                        <p:cTn id="29" dur="500" fill="hold"/>
                                        <p:tgtEl>
                                          <p:spTgt spid="28"/>
                                        </p:tgtEl>
                                        <p:attrNameLst>
                                          <p:attrName>ppt_y</p:attrName>
                                        </p:attrNameLst>
                                      </p:cBhvr>
                                      <p:tavLst>
                                        <p:tav tm="0">
                                          <p:val>
                                            <p:strVal val="#ppt_y-.1"/>
                                          </p:val>
                                        </p:tav>
                                        <p:tav tm="100000">
                                          <p:val>
                                            <p:strVal val="#ppt_y"/>
                                          </p:val>
                                        </p:tav>
                                      </p:tavLst>
                                    </p:anim>
                                  </p:childTnLst>
                                </p:cTn>
                              </p:par>
                            </p:childTnLst>
                          </p:cTn>
                        </p:par>
                        <p:par>
                          <p:cTn id="30" fill="hold">
                            <p:stCondLst>
                              <p:cond delay="2500"/>
                            </p:stCondLst>
                            <p:childTnLst>
                              <p:par>
                                <p:cTn id="31" presetID="23" presetClass="entr" presetSubtype="272" fill="hold" grpId="0" nodeType="afterEffect">
                                  <p:stCondLst>
                                    <p:cond delay="0"/>
                                  </p:stCondLst>
                                  <p:childTnLst>
                                    <p:set>
                                      <p:cBhvr>
                                        <p:cTn id="32" dur="1" fill="hold">
                                          <p:stCondLst>
                                            <p:cond delay="0"/>
                                          </p:stCondLst>
                                        </p:cTn>
                                        <p:tgtEl>
                                          <p:spTgt spid="24"/>
                                        </p:tgtEl>
                                        <p:attrNameLst>
                                          <p:attrName>style.visibility</p:attrName>
                                        </p:attrNameLst>
                                      </p:cBhvr>
                                      <p:to>
                                        <p:strVal val="visible"/>
                                      </p:to>
                                    </p:set>
                                    <p:anim calcmode="lin" valueType="num">
                                      <p:cBhvr>
                                        <p:cTn id="33" dur="500" fill="hold"/>
                                        <p:tgtEl>
                                          <p:spTgt spid="24"/>
                                        </p:tgtEl>
                                        <p:attrNameLst>
                                          <p:attrName>ppt_w</p:attrName>
                                        </p:attrNameLst>
                                      </p:cBhvr>
                                      <p:tavLst>
                                        <p:tav tm="0">
                                          <p:val>
                                            <p:strVal val="2/3*#ppt_w"/>
                                          </p:val>
                                        </p:tav>
                                        <p:tav tm="100000">
                                          <p:val>
                                            <p:strVal val="#ppt_w"/>
                                          </p:val>
                                        </p:tav>
                                      </p:tavLst>
                                    </p:anim>
                                    <p:anim calcmode="lin" valueType="num">
                                      <p:cBhvr>
                                        <p:cTn id="34" dur="500" fill="hold"/>
                                        <p:tgtEl>
                                          <p:spTgt spid="24"/>
                                        </p:tgtEl>
                                        <p:attrNameLst>
                                          <p:attrName>ppt_h</p:attrName>
                                        </p:attrNameLst>
                                      </p:cBhvr>
                                      <p:tavLst>
                                        <p:tav tm="0">
                                          <p:val>
                                            <p:strVal val="2/3*#ppt_h"/>
                                          </p:val>
                                        </p:tav>
                                        <p:tav tm="100000">
                                          <p:val>
                                            <p:strVal val="#ppt_h"/>
                                          </p:val>
                                        </p:tav>
                                      </p:tavLst>
                                    </p:anim>
                                  </p:childTnLst>
                                </p:cTn>
                              </p:par>
                            </p:childTnLst>
                          </p:cTn>
                        </p:par>
                        <p:par>
                          <p:cTn id="35" fill="hold">
                            <p:stCondLst>
                              <p:cond delay="3000"/>
                            </p:stCondLst>
                            <p:childTnLst>
                              <p:par>
                                <p:cTn id="36" presetID="42" presetClass="entr" presetSubtype="0" fill="hold" grpId="0" nodeType="after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fade">
                                      <p:cBhvr>
                                        <p:cTn id="38" dur="500"/>
                                        <p:tgtEl>
                                          <p:spTgt spid="29"/>
                                        </p:tgtEl>
                                      </p:cBhvr>
                                    </p:animEffect>
                                    <p:anim calcmode="lin" valueType="num">
                                      <p:cBhvr>
                                        <p:cTn id="39" dur="500" fill="hold"/>
                                        <p:tgtEl>
                                          <p:spTgt spid="29"/>
                                        </p:tgtEl>
                                        <p:attrNameLst>
                                          <p:attrName>ppt_x</p:attrName>
                                        </p:attrNameLst>
                                      </p:cBhvr>
                                      <p:tavLst>
                                        <p:tav tm="0">
                                          <p:val>
                                            <p:strVal val="#ppt_x"/>
                                          </p:val>
                                        </p:tav>
                                        <p:tav tm="100000">
                                          <p:val>
                                            <p:strVal val="#ppt_x"/>
                                          </p:val>
                                        </p:tav>
                                      </p:tavLst>
                                    </p:anim>
                                    <p:anim calcmode="lin" valueType="num">
                                      <p:cBhvr>
                                        <p:cTn id="40" dur="500" fill="hold"/>
                                        <p:tgtEl>
                                          <p:spTgt spid="29"/>
                                        </p:tgtEl>
                                        <p:attrNameLst>
                                          <p:attrName>ppt_y</p:attrName>
                                        </p:attrNameLst>
                                      </p:cBhvr>
                                      <p:tavLst>
                                        <p:tav tm="0">
                                          <p:val>
                                            <p:strVal val="#ppt_y+.1"/>
                                          </p:val>
                                        </p:tav>
                                        <p:tav tm="100000">
                                          <p:val>
                                            <p:strVal val="#ppt_y"/>
                                          </p:val>
                                        </p:tav>
                                      </p:tavLst>
                                    </p:anim>
                                  </p:childTnLst>
                                </p:cTn>
                              </p:par>
                            </p:childTnLst>
                          </p:cTn>
                        </p:par>
                        <p:par>
                          <p:cTn id="41" fill="hold">
                            <p:stCondLst>
                              <p:cond delay="3500"/>
                            </p:stCondLst>
                            <p:childTnLst>
                              <p:par>
                                <p:cTn id="42" presetID="23" presetClass="entr" presetSubtype="272" fill="hold" grpId="0" nodeType="afterEffect">
                                  <p:stCondLst>
                                    <p:cond delay="0"/>
                                  </p:stCondLst>
                                  <p:childTnLst>
                                    <p:set>
                                      <p:cBhvr>
                                        <p:cTn id="43" dur="1" fill="hold">
                                          <p:stCondLst>
                                            <p:cond delay="0"/>
                                          </p:stCondLst>
                                        </p:cTn>
                                        <p:tgtEl>
                                          <p:spTgt spid="25"/>
                                        </p:tgtEl>
                                        <p:attrNameLst>
                                          <p:attrName>style.visibility</p:attrName>
                                        </p:attrNameLst>
                                      </p:cBhvr>
                                      <p:to>
                                        <p:strVal val="visible"/>
                                      </p:to>
                                    </p:set>
                                    <p:anim calcmode="lin" valueType="num">
                                      <p:cBhvr>
                                        <p:cTn id="44" dur="500" fill="hold"/>
                                        <p:tgtEl>
                                          <p:spTgt spid="25"/>
                                        </p:tgtEl>
                                        <p:attrNameLst>
                                          <p:attrName>ppt_w</p:attrName>
                                        </p:attrNameLst>
                                      </p:cBhvr>
                                      <p:tavLst>
                                        <p:tav tm="0">
                                          <p:val>
                                            <p:strVal val="2/3*#ppt_w"/>
                                          </p:val>
                                        </p:tav>
                                        <p:tav tm="100000">
                                          <p:val>
                                            <p:strVal val="#ppt_w"/>
                                          </p:val>
                                        </p:tav>
                                      </p:tavLst>
                                    </p:anim>
                                    <p:anim calcmode="lin" valueType="num">
                                      <p:cBhvr>
                                        <p:cTn id="45" dur="500" fill="hold"/>
                                        <p:tgtEl>
                                          <p:spTgt spid="25"/>
                                        </p:tgtEl>
                                        <p:attrNameLst>
                                          <p:attrName>ppt_h</p:attrName>
                                        </p:attrNameLst>
                                      </p:cBhvr>
                                      <p:tavLst>
                                        <p:tav tm="0">
                                          <p:val>
                                            <p:strVal val="2/3*#ppt_h"/>
                                          </p:val>
                                        </p:tav>
                                        <p:tav tm="100000">
                                          <p:val>
                                            <p:strVal val="#ppt_h"/>
                                          </p:val>
                                        </p:tav>
                                      </p:tavLst>
                                    </p:anim>
                                  </p:childTnLst>
                                </p:cTn>
                              </p:par>
                            </p:childTnLst>
                          </p:cTn>
                        </p:par>
                        <p:par>
                          <p:cTn id="46" fill="hold">
                            <p:stCondLst>
                              <p:cond delay="4000"/>
                            </p:stCondLst>
                            <p:childTnLst>
                              <p:par>
                                <p:cTn id="47" presetID="47" presetClass="entr" presetSubtype="0" fill="hold" grpId="0" nodeType="after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fade">
                                      <p:cBhvr>
                                        <p:cTn id="49" dur="500"/>
                                        <p:tgtEl>
                                          <p:spTgt spid="30"/>
                                        </p:tgtEl>
                                      </p:cBhvr>
                                    </p:animEffect>
                                    <p:anim calcmode="lin" valueType="num">
                                      <p:cBhvr>
                                        <p:cTn id="50" dur="500" fill="hold"/>
                                        <p:tgtEl>
                                          <p:spTgt spid="30"/>
                                        </p:tgtEl>
                                        <p:attrNameLst>
                                          <p:attrName>ppt_x</p:attrName>
                                        </p:attrNameLst>
                                      </p:cBhvr>
                                      <p:tavLst>
                                        <p:tav tm="0">
                                          <p:val>
                                            <p:strVal val="#ppt_x"/>
                                          </p:val>
                                        </p:tav>
                                        <p:tav tm="100000">
                                          <p:val>
                                            <p:strVal val="#ppt_x"/>
                                          </p:val>
                                        </p:tav>
                                      </p:tavLst>
                                    </p:anim>
                                    <p:anim calcmode="lin" valueType="num">
                                      <p:cBhvr>
                                        <p:cTn id="51" dur="500" fill="hold"/>
                                        <p:tgtEl>
                                          <p:spTgt spid="30"/>
                                        </p:tgtEl>
                                        <p:attrNameLst>
                                          <p:attrName>ppt_y</p:attrName>
                                        </p:attrNameLst>
                                      </p:cBhvr>
                                      <p:tavLst>
                                        <p:tav tm="0">
                                          <p:val>
                                            <p:strVal val="#ppt_y-.1"/>
                                          </p:val>
                                        </p:tav>
                                        <p:tav tm="100000">
                                          <p:val>
                                            <p:strVal val="#ppt_y"/>
                                          </p:val>
                                        </p:tav>
                                      </p:tavLst>
                                    </p:anim>
                                  </p:childTnLst>
                                </p:cTn>
                              </p:par>
                            </p:childTnLst>
                          </p:cTn>
                        </p:par>
                        <p:par>
                          <p:cTn id="52" fill="hold">
                            <p:stCondLst>
                              <p:cond delay="4500"/>
                            </p:stCondLst>
                            <p:childTnLst>
                              <p:par>
                                <p:cTn id="53" presetID="23" presetClass="entr" presetSubtype="272" fill="hold" grpId="0" nodeType="afterEffect">
                                  <p:stCondLst>
                                    <p:cond delay="0"/>
                                  </p:stCondLst>
                                  <p:childTnLst>
                                    <p:set>
                                      <p:cBhvr>
                                        <p:cTn id="54" dur="1" fill="hold">
                                          <p:stCondLst>
                                            <p:cond delay="0"/>
                                          </p:stCondLst>
                                        </p:cTn>
                                        <p:tgtEl>
                                          <p:spTgt spid="26"/>
                                        </p:tgtEl>
                                        <p:attrNameLst>
                                          <p:attrName>style.visibility</p:attrName>
                                        </p:attrNameLst>
                                      </p:cBhvr>
                                      <p:to>
                                        <p:strVal val="visible"/>
                                      </p:to>
                                    </p:set>
                                    <p:anim calcmode="lin" valueType="num">
                                      <p:cBhvr>
                                        <p:cTn id="55" dur="500" fill="hold"/>
                                        <p:tgtEl>
                                          <p:spTgt spid="26"/>
                                        </p:tgtEl>
                                        <p:attrNameLst>
                                          <p:attrName>ppt_w</p:attrName>
                                        </p:attrNameLst>
                                      </p:cBhvr>
                                      <p:tavLst>
                                        <p:tav tm="0">
                                          <p:val>
                                            <p:strVal val="2/3*#ppt_w"/>
                                          </p:val>
                                        </p:tav>
                                        <p:tav tm="100000">
                                          <p:val>
                                            <p:strVal val="#ppt_w"/>
                                          </p:val>
                                        </p:tav>
                                      </p:tavLst>
                                    </p:anim>
                                    <p:anim calcmode="lin" valueType="num">
                                      <p:cBhvr>
                                        <p:cTn id="56" dur="500" fill="hold"/>
                                        <p:tgtEl>
                                          <p:spTgt spid="26"/>
                                        </p:tgtEl>
                                        <p:attrNameLst>
                                          <p:attrName>ppt_h</p:attrName>
                                        </p:attrNameLst>
                                      </p:cBhvr>
                                      <p:tavLst>
                                        <p:tav tm="0">
                                          <p:val>
                                            <p:strVal val="2/3*#ppt_h"/>
                                          </p:val>
                                        </p:tav>
                                        <p:tav tm="100000">
                                          <p:val>
                                            <p:strVal val="#ppt_h"/>
                                          </p:val>
                                        </p:tav>
                                      </p:tavLst>
                                    </p:anim>
                                  </p:childTnLst>
                                </p:cTn>
                              </p:par>
                            </p:childTnLst>
                          </p:cTn>
                        </p:par>
                        <p:par>
                          <p:cTn id="57" fill="hold">
                            <p:stCondLst>
                              <p:cond delay="5000"/>
                            </p:stCondLst>
                            <p:childTnLst>
                              <p:par>
                                <p:cTn id="58" presetID="42" presetClass="entr" presetSubtype="0" fill="hold" grpId="0" nodeType="after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fade">
                                      <p:cBhvr>
                                        <p:cTn id="60" dur="500"/>
                                        <p:tgtEl>
                                          <p:spTgt spid="31"/>
                                        </p:tgtEl>
                                      </p:cBhvr>
                                    </p:animEffect>
                                    <p:anim calcmode="lin" valueType="num">
                                      <p:cBhvr>
                                        <p:cTn id="61" dur="500" fill="hold"/>
                                        <p:tgtEl>
                                          <p:spTgt spid="31"/>
                                        </p:tgtEl>
                                        <p:attrNameLst>
                                          <p:attrName>ppt_x</p:attrName>
                                        </p:attrNameLst>
                                      </p:cBhvr>
                                      <p:tavLst>
                                        <p:tav tm="0">
                                          <p:val>
                                            <p:strVal val="#ppt_x"/>
                                          </p:val>
                                        </p:tav>
                                        <p:tav tm="100000">
                                          <p:val>
                                            <p:strVal val="#ppt_x"/>
                                          </p:val>
                                        </p:tav>
                                      </p:tavLst>
                                    </p:anim>
                                    <p:anim calcmode="lin" valueType="num">
                                      <p:cBhvr>
                                        <p:cTn id="62" dur="5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6" presetClass="emph" presetSubtype="0" fill="hold" grpId="1" nodeType="clickEffect">
                                  <p:stCondLst>
                                    <p:cond delay="0"/>
                                  </p:stCondLst>
                                  <p:childTnLst>
                                    <p:animEffect transition="out" filter="fade">
                                      <p:cBhvr>
                                        <p:cTn id="66" dur="500" tmFilter="0, 0; .2, .5; .8, .5; 1, 0"/>
                                        <p:tgtEl>
                                          <p:spTgt spid="27"/>
                                        </p:tgtEl>
                                      </p:cBhvr>
                                    </p:animEffect>
                                    <p:animScale>
                                      <p:cBhvr>
                                        <p:cTn id="67" dur="250" autoRev="1" fill="hold"/>
                                        <p:tgtEl>
                                          <p:spTgt spid="27"/>
                                        </p:tgtEl>
                                      </p:cBhvr>
                                      <p:by x="105000" y="105000"/>
                                    </p:animScale>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2"/>
                                        </p:tgtEl>
                                        <p:attrNameLst>
                                          <p:attrName>style.visibility</p:attrName>
                                        </p:attrNameLst>
                                      </p:cBhvr>
                                      <p:to>
                                        <p:strVal val="visible"/>
                                      </p:to>
                                    </p:set>
                                    <p:animEffect transition="in" filter="fade">
                                      <p:cBhvr>
                                        <p:cTn id="7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ldLvl="0" animBg="1"/>
      <p:bldP spid="22" grpId="0" bldLvl="0" animBg="1"/>
      <p:bldP spid="23" grpId="0" bldLvl="0" animBg="1"/>
      <p:bldP spid="24" grpId="0" bldLvl="0" animBg="1"/>
      <p:bldP spid="25" grpId="0" bldLvl="0" animBg="1"/>
      <p:bldP spid="26" grpId="0" bldLvl="0" animBg="1"/>
      <p:bldP spid="27" grpId="0"/>
      <p:bldP spid="27" grpId="1"/>
      <p:bldP spid="28" grpId="0"/>
      <p:bldP spid="29" grpId="0"/>
      <p:bldP spid="30" grpId="0"/>
      <p:bldP spid="31" grpId="0"/>
      <p:bldP spid="32" grpId="0" bldLvl="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kern="100" dirty="0">
                <a:latin typeface="+mn-ea"/>
                <a:cs typeface="Times New Roman" panose="02020603050405020304" pitchFamily="18" charset="0"/>
                <a:sym typeface="+mn-ea"/>
              </a:rPr>
              <a:t>需求工程过程</a:t>
            </a:r>
            <a:endParaRPr lang="zh-CN" altLang="en-US"/>
          </a:p>
        </p:txBody>
      </p:sp>
      <p:sp>
        <p:nvSpPr>
          <p:cNvPr id="4" name="页脚占位符 3"/>
          <p:cNvSpPr>
            <a:spLocks noGrp="1"/>
          </p:cNvSpPr>
          <p:nvPr>
            <p:ph type="ftr" sz="quarter" idx="11"/>
          </p:nvPr>
        </p:nvSpPr>
        <p:spPr/>
        <p:txBody>
          <a:bodyPr/>
          <a:p>
            <a:r>
              <a:rPr lang="zh-CN" altLang="en-US"/>
              <a:t>软件工程</a:t>
            </a:r>
            <a:endParaRPr lang="zh-CN" altLang="en-US"/>
          </a:p>
        </p:txBody>
      </p:sp>
      <p:sp>
        <p:nvSpPr>
          <p:cNvPr id="5" name="灯片编号占位符 4"/>
          <p:cNvSpPr>
            <a:spLocks noGrp="1"/>
          </p:cNvSpPr>
          <p:nvPr>
            <p:ph type="sldNum" sz="quarter" idx="12"/>
          </p:nvPr>
        </p:nvSpPr>
        <p:spPr/>
        <p:txBody>
          <a:bodyPr/>
          <a:p>
            <a:fld id="{F528F39D-B5E5-4CA7-906C-979D5A62978D}" type="slidenum">
              <a:rPr lang="zh-CN" altLang="en-US" smtClean="0"/>
            </a:fld>
            <a:endParaRPr lang="zh-CN" altLang="en-US"/>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12692" y="965669"/>
            <a:ext cx="3212320" cy="3212320"/>
          </a:xfrm>
          <a:prstGeom prst="rect">
            <a:avLst/>
          </a:prstGeom>
          <a:ln>
            <a:noFill/>
          </a:ln>
          <a:effectLst>
            <a:outerShdw blurRad="190500" algn="tl" rotWithShape="0">
              <a:srgbClr val="000000">
                <a:alpha val="70000"/>
              </a:srgbClr>
            </a:outerShdw>
          </a:effectLst>
        </p:spPr>
      </p:pic>
      <p:pic>
        <p:nvPicPr>
          <p:cNvPr id="8" name="图片 7"/>
          <p:cNvPicPr>
            <a:picLocks noChangeAspect="1"/>
          </p:cNvPicPr>
          <p:nvPr/>
        </p:nvPicPr>
        <p:blipFill>
          <a:blip r:embed="rId2"/>
          <a:stretch>
            <a:fillRect/>
          </a:stretch>
        </p:blipFill>
        <p:spPr>
          <a:xfrm>
            <a:off x="4956810" y="965835"/>
            <a:ext cx="3517900" cy="1947545"/>
          </a:xfrm>
          <a:prstGeom prst="rect">
            <a:avLst/>
          </a:prstGeom>
        </p:spPr>
      </p:pic>
      <p:pic>
        <p:nvPicPr>
          <p:cNvPr id="10" name="图片 9"/>
          <p:cNvPicPr>
            <a:picLocks noChangeAspect="1"/>
          </p:cNvPicPr>
          <p:nvPr/>
        </p:nvPicPr>
        <p:blipFill>
          <a:blip r:embed="rId3"/>
          <a:stretch>
            <a:fillRect/>
          </a:stretch>
        </p:blipFill>
        <p:spPr>
          <a:xfrm>
            <a:off x="1094105" y="2625090"/>
            <a:ext cx="3438525" cy="1933575"/>
          </a:xfrm>
          <a:prstGeom prst="rect">
            <a:avLst/>
          </a:prstGeom>
        </p:spPr>
      </p:pic>
      <p:pic>
        <p:nvPicPr>
          <p:cNvPr id="12" name="图片 11"/>
          <p:cNvPicPr>
            <a:picLocks noChangeAspect="1"/>
          </p:cNvPicPr>
          <p:nvPr/>
        </p:nvPicPr>
        <p:blipFill>
          <a:blip r:embed="rId4"/>
          <a:stretch>
            <a:fillRect/>
          </a:stretch>
        </p:blipFill>
        <p:spPr>
          <a:xfrm>
            <a:off x="4359910" y="1737995"/>
            <a:ext cx="3383280" cy="2205990"/>
          </a:xfrm>
          <a:prstGeom prst="rect">
            <a:avLst/>
          </a:prstGeom>
        </p:spPr>
      </p:pic>
      <p:pic>
        <p:nvPicPr>
          <p:cNvPr id="11" name="图片 10"/>
          <p:cNvPicPr>
            <a:picLocks noChangeAspect="1"/>
          </p:cNvPicPr>
          <p:nvPr/>
        </p:nvPicPr>
        <p:blipFill>
          <a:blip r:embed="rId5"/>
          <a:stretch>
            <a:fillRect/>
          </a:stretch>
        </p:blipFill>
        <p:spPr>
          <a:xfrm>
            <a:off x="5480050" y="1647190"/>
            <a:ext cx="3147695" cy="27330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ox(in)">
                                      <p:cBhvr>
                                        <p:cTn id="12" dur="20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ox(in)">
                                      <p:cBhvr>
                                        <p:cTn id="17" dur="20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ox(in)">
                                      <p:cBhvr>
                                        <p:cTn id="22" dur="20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box(in)">
                                      <p:cBhvr>
                                        <p:cTn id="27"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需求的内容</a:t>
            </a:r>
            <a:endParaRPr lang="zh-CN" altLang="en-US" dirty="0"/>
          </a:p>
        </p:txBody>
      </p:sp>
      <p:sp>
        <p:nvSpPr>
          <p:cNvPr id="10" name="内容占位符 9"/>
          <p:cNvSpPr>
            <a:spLocks noGrp="1"/>
          </p:cNvSpPr>
          <p:nvPr>
            <p:ph idx="1"/>
          </p:nvPr>
        </p:nvSpPr>
        <p:spPr>
          <a:xfrm>
            <a:off x="768096" y="968580"/>
            <a:ext cx="7834482" cy="1956058"/>
          </a:xfrm>
        </p:spPr>
        <p:txBody>
          <a:bodyPr>
            <a:noAutofit/>
          </a:bodyPr>
          <a:lstStyle/>
          <a:p>
            <a:r>
              <a:rPr lang="zh-CN" altLang="en-US" sz="2400" dirty="0"/>
              <a:t>需求是系统为满足客户期望的目标而完成的行为。 </a:t>
            </a:r>
            <a:endParaRPr lang="en-US" altLang="zh-CN" sz="2400" dirty="0"/>
          </a:p>
          <a:p>
            <a:r>
              <a:rPr lang="zh-CN" altLang="en-US" sz="2400" dirty="0"/>
              <a:t>需求要体现出对问题领域的清晰理解，给出系统的使用场景和上下文。</a:t>
            </a:r>
            <a:endParaRPr lang="zh-CN" altLang="en-US" sz="2400" dirty="0"/>
          </a:p>
          <a:p>
            <a:r>
              <a:rPr lang="zh-CN" altLang="en-US" sz="2400" dirty="0"/>
              <a:t>需求定义涵盖如下内容：</a:t>
            </a:r>
            <a:endParaRPr lang="zh-CN" altLang="en-US" sz="2400" dirty="0"/>
          </a:p>
        </p:txBody>
      </p:sp>
      <p:sp>
        <p:nvSpPr>
          <p:cNvPr id="4" name="页脚占位符 3"/>
          <p:cNvSpPr>
            <a:spLocks noGrp="1"/>
          </p:cNvSpPr>
          <p:nvPr>
            <p:ph type="ftr" sz="quarter" idx="11"/>
          </p:nvPr>
        </p:nvSpPr>
        <p:spPr/>
        <p:txBody>
          <a:bodyPr/>
          <a:lstStyle/>
          <a:p>
            <a:r>
              <a:rPr lang="zh-CN" altLang="en-US"/>
              <a:t>软件工程</a:t>
            </a:r>
            <a:endParaRPr lang="zh-CN" altLang="en-US"/>
          </a:p>
        </p:txBody>
      </p:sp>
      <p:sp>
        <p:nvSpPr>
          <p:cNvPr id="5" name="灯片编号占位符 4"/>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8" name="图片 7"/>
          <p:cNvPicPr>
            <a:picLocks noChangeAspect="1"/>
          </p:cNvPicPr>
          <p:nvPr/>
        </p:nvPicPr>
        <p:blipFill>
          <a:blip r:embed="rId1"/>
          <a:stretch>
            <a:fillRect/>
          </a:stretch>
        </p:blipFill>
        <p:spPr>
          <a:xfrm>
            <a:off x="1871273" y="3183708"/>
            <a:ext cx="1543050" cy="1276350"/>
          </a:xfrm>
          <a:prstGeom prst="rect">
            <a:avLst/>
          </a:prstGeom>
        </p:spPr>
      </p:pic>
      <p:sp>
        <p:nvSpPr>
          <p:cNvPr id="11" name="矩形 10"/>
          <p:cNvSpPr/>
          <p:nvPr/>
        </p:nvSpPr>
        <p:spPr>
          <a:xfrm>
            <a:off x="5192691" y="2010694"/>
            <a:ext cx="3609473" cy="2707005"/>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pPr>
              <a:spcBef>
                <a:spcPts val="600"/>
              </a:spcBef>
            </a:pPr>
            <a:r>
              <a:rPr lang="en-US" altLang="zh-CN" sz="2000" dirty="0">
                <a:latin typeface="+mj-ea"/>
                <a:ea typeface="+mj-ea"/>
                <a:sym typeface="+mn-ea"/>
              </a:rPr>
              <a:t>  </a:t>
            </a:r>
            <a:r>
              <a:rPr lang="zh-CN" altLang="en-US" sz="2000" dirty="0">
                <a:latin typeface="+mj-ea"/>
                <a:ea typeface="+mj-ea"/>
                <a:sym typeface="+mn-ea"/>
              </a:rPr>
              <a:t>系统要做什么	</a:t>
            </a:r>
            <a:endParaRPr lang="zh-CN" altLang="en-US" sz="2000" dirty="0">
              <a:latin typeface="+mj-ea"/>
              <a:ea typeface="+mj-ea"/>
              <a:sym typeface="+mn-ea"/>
            </a:endParaRPr>
          </a:p>
          <a:p>
            <a:pPr>
              <a:spcBef>
                <a:spcPts val="600"/>
              </a:spcBef>
            </a:pPr>
            <a:r>
              <a:rPr lang="zh-CN" altLang="en-US" sz="2000" dirty="0">
                <a:latin typeface="+mj-ea"/>
                <a:ea typeface="+mj-ea"/>
                <a:sym typeface="+mn-ea"/>
              </a:rPr>
              <a:t> </a:t>
            </a:r>
            <a:r>
              <a:rPr lang="en-US" altLang="zh-CN" sz="2000" dirty="0">
                <a:latin typeface="+mj-ea"/>
                <a:ea typeface="+mj-ea"/>
                <a:sym typeface="+mn-ea"/>
              </a:rPr>
              <a:t> </a:t>
            </a:r>
            <a:r>
              <a:rPr lang="zh-CN" altLang="en-US" sz="2000" dirty="0">
                <a:latin typeface="+mj-ea"/>
                <a:ea typeface="+mj-ea"/>
              </a:rPr>
              <a:t>为什么要设计该系统	</a:t>
            </a:r>
            <a:endParaRPr lang="zh-CN" altLang="en-US" sz="2000" dirty="0">
              <a:latin typeface="+mj-ea"/>
              <a:ea typeface="+mj-ea"/>
            </a:endParaRPr>
          </a:p>
          <a:p>
            <a:pPr>
              <a:spcBef>
                <a:spcPts val="600"/>
              </a:spcBef>
            </a:pPr>
            <a:r>
              <a:rPr lang="zh-CN" altLang="en-US" sz="2000" dirty="0">
                <a:latin typeface="+mj-ea"/>
                <a:ea typeface="+mj-ea"/>
              </a:rPr>
              <a:t>   系统由谁使用	</a:t>
            </a:r>
            <a:endParaRPr lang="zh-CN" altLang="en-US" sz="2000" dirty="0">
              <a:latin typeface="+mj-ea"/>
              <a:ea typeface="+mj-ea"/>
            </a:endParaRPr>
          </a:p>
          <a:p>
            <a:pPr>
              <a:spcBef>
                <a:spcPts val="600"/>
              </a:spcBef>
            </a:pPr>
            <a:r>
              <a:rPr lang="zh-CN" altLang="en-US" sz="2000" dirty="0">
                <a:latin typeface="+mj-ea"/>
                <a:ea typeface="+mj-ea"/>
              </a:rPr>
              <a:t>   系统涉及哪些信息	</a:t>
            </a:r>
            <a:endParaRPr lang="zh-CN" altLang="en-US" sz="2000" dirty="0">
              <a:latin typeface="+mj-ea"/>
              <a:ea typeface="+mj-ea"/>
            </a:endParaRPr>
          </a:p>
          <a:p>
            <a:pPr>
              <a:spcBef>
                <a:spcPts val="600"/>
              </a:spcBef>
            </a:pPr>
            <a:r>
              <a:rPr lang="zh-CN" altLang="en-US" sz="2000" dirty="0">
                <a:latin typeface="+mj-ea"/>
                <a:ea typeface="+mj-ea"/>
              </a:rPr>
              <a:t>   对解决方案有何额外限制</a:t>
            </a:r>
            <a:endParaRPr lang="zh-CN" altLang="en-US" sz="2000" dirty="0">
              <a:latin typeface="+mj-ea"/>
              <a:ea typeface="+mj-ea"/>
            </a:endParaRPr>
          </a:p>
          <a:p>
            <a:pPr>
              <a:spcBef>
                <a:spcPts val="600"/>
              </a:spcBef>
            </a:pPr>
            <a:r>
              <a:rPr lang="zh-CN" altLang="en-US" sz="2000" dirty="0">
                <a:latin typeface="+mj-ea"/>
                <a:ea typeface="+mj-ea"/>
              </a:rPr>
              <a:t>   如何使用该系统	</a:t>
            </a:r>
            <a:endParaRPr lang="zh-CN" altLang="en-US" sz="2000" dirty="0">
              <a:latin typeface="+mj-ea"/>
              <a:ea typeface="+mj-ea"/>
            </a:endParaRPr>
          </a:p>
          <a:p>
            <a:pPr>
              <a:spcBef>
                <a:spcPts val="600"/>
              </a:spcBef>
            </a:pPr>
            <a:r>
              <a:rPr lang="zh-CN" altLang="en-US" sz="2000" dirty="0">
                <a:latin typeface="+mj-ea"/>
                <a:ea typeface="+mj-ea"/>
              </a:rPr>
              <a:t>   质量需达到何种程度 	</a:t>
            </a:r>
            <a:endParaRPr lang="zh-CN" altLang="en-US" sz="2000" dirty="0">
              <a:latin typeface="+mj-ea"/>
              <a:ea typeface="+mj-ea"/>
            </a:endParaRPr>
          </a:p>
        </p:txBody>
      </p:sp>
      <p:grpSp>
        <p:nvGrpSpPr>
          <p:cNvPr id="6" name="组合 5"/>
          <p:cNvGrpSpPr/>
          <p:nvPr/>
        </p:nvGrpSpPr>
        <p:grpSpPr>
          <a:xfrm>
            <a:off x="115570" y="701675"/>
            <a:ext cx="9138920" cy="1172845"/>
            <a:chOff x="6" y="3403"/>
            <a:chExt cx="14392" cy="1847"/>
          </a:xfrm>
        </p:grpSpPr>
        <p:sp>
          <p:nvSpPr>
            <p:cNvPr id="7" name="矩形 6"/>
            <p:cNvSpPr/>
            <p:nvPr>
              <p:custDataLst>
                <p:tags r:id="rId2"/>
              </p:custDataLst>
            </p:nvPr>
          </p:nvSpPr>
          <p:spPr>
            <a:xfrm>
              <a:off x="6" y="3403"/>
              <a:ext cx="14392" cy="1847"/>
            </a:xfrm>
            <a:prstGeom prst="rect">
              <a:avLst/>
            </a:prstGeom>
            <a:gradFill>
              <a:gsLst>
                <a:gs pos="100000">
                  <a:srgbClr val="6264F8"/>
                </a:gs>
                <a:gs pos="49000">
                  <a:srgbClr val="B584EC"/>
                </a:gs>
                <a:gs pos="0">
                  <a:srgbClr val="EE9AE5"/>
                </a:gs>
              </a:gsLst>
              <a:lin ang="2700000" scaled="1"/>
            </a:gra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custDataLst>
                <p:tags r:id="rId3"/>
              </p:custDataLst>
            </p:nvPr>
          </p:nvSpPr>
          <p:spPr>
            <a:xfrm>
              <a:off x="4114" y="3821"/>
              <a:ext cx="7633" cy="1307"/>
            </a:xfrm>
            <a:prstGeom prst="rect">
              <a:avLst/>
            </a:prstGeom>
            <a:noFill/>
          </p:spPr>
          <p:txBody>
            <a:bodyPr wrap="square" rtlCol="0">
              <a:spAutoFit/>
            </a:bodyPr>
            <a:p>
              <a:r>
                <a:rPr lang="zh-CN" altLang="en-US" sz="4800">
                  <a:solidFill>
                    <a:schemeClr val="bg1"/>
                  </a:solidFill>
                </a:rPr>
                <a:t>科学的思维方法</a:t>
              </a:r>
              <a:endParaRPr lang="zh-CN" altLang="en-US" sz="4800">
                <a:solidFill>
                  <a:schemeClr val="bg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任意多边形: 形状 44"/>
          <p:cNvSpPr/>
          <p:nvPr>
            <p:custDataLst>
              <p:tags r:id="rId1"/>
            </p:custDataLst>
          </p:nvPr>
        </p:nvSpPr>
        <p:spPr>
          <a:xfrm>
            <a:off x="3405664" y="1604010"/>
            <a:ext cx="5144929" cy="130493"/>
          </a:xfrm>
          <a:custGeom>
            <a:avLst/>
            <a:gdLst>
              <a:gd name="connsiteX0" fmla="*/ 0 w 10803"/>
              <a:gd name="connsiteY0" fmla="*/ 0 h 274"/>
              <a:gd name="connsiteX1" fmla="*/ 346 w 10803"/>
              <a:gd name="connsiteY1" fmla="*/ 1 h 274"/>
              <a:gd name="connsiteX2" fmla="*/ 668 w 10803"/>
              <a:gd name="connsiteY2" fmla="*/ 272 h 274"/>
              <a:gd name="connsiteX3" fmla="*/ 10803 w 10803"/>
              <a:gd name="connsiteY3" fmla="*/ 274 h 274"/>
            </a:gdLst>
            <a:ahLst/>
            <a:cxnLst>
              <a:cxn ang="0">
                <a:pos x="connsiteX0" y="connsiteY0"/>
              </a:cxn>
              <a:cxn ang="0">
                <a:pos x="connsiteX1" y="connsiteY1"/>
              </a:cxn>
              <a:cxn ang="0">
                <a:pos x="connsiteX2" y="connsiteY2"/>
              </a:cxn>
              <a:cxn ang="0">
                <a:pos x="connsiteX3" y="connsiteY3"/>
              </a:cxn>
            </a:cxnLst>
            <a:rect l="l" t="t" r="r" b="b"/>
            <a:pathLst>
              <a:path w="10803" h="274">
                <a:moveTo>
                  <a:pt x="0" y="0"/>
                </a:moveTo>
                <a:lnTo>
                  <a:pt x="346" y="1"/>
                </a:lnTo>
                <a:lnTo>
                  <a:pt x="668" y="272"/>
                </a:lnTo>
                <a:lnTo>
                  <a:pt x="10803" y="274"/>
                </a:lnTo>
              </a:path>
            </a:pathLst>
          </a:custGeom>
          <a:noFill/>
          <a:ln w="6350">
            <a:gradFill>
              <a:gsLst>
                <a:gs pos="0">
                  <a:schemeClr val="accent1">
                    <a:alpha val="27000"/>
                  </a:schemeClr>
                </a:gs>
                <a:gs pos="100000">
                  <a:schemeClr val="accent1">
                    <a:alpha val="100000"/>
                  </a:schemeClr>
                </a:gs>
              </a:gsLst>
              <a:lin ang="10800000" scaled="1"/>
            </a:gradFill>
            <a:headEnd type="diamond" w="med" len="med"/>
            <a:tailEnd type="diamo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思源黑体 CN Normal" panose="020B0400000000000000" pitchFamily="34" charset="-122"/>
              <a:cs typeface="思源黑体 CN Normal" panose="020B0400000000000000" pitchFamily="34" charset="-122"/>
            </a:endParaRPr>
          </a:p>
        </p:txBody>
      </p:sp>
      <p:sp>
        <p:nvSpPr>
          <p:cNvPr id="17" name="标题 16"/>
          <p:cNvSpPr>
            <a:spLocks noGrp="1"/>
          </p:cNvSpPr>
          <p:nvPr>
            <p:ph type="title"/>
            <p:custDataLst>
              <p:tags r:id="rId2"/>
            </p:custDataLst>
          </p:nvPr>
        </p:nvSpPr>
        <p:spPr/>
        <p:txBody>
          <a:bodyPr/>
          <a:lstStyle/>
          <a:p>
            <a:r>
              <a:rPr lang="zh-CN" altLang="en-US"/>
              <a:t>需求的内容</a:t>
            </a:r>
            <a:endParaRPr lang="zh-CN" altLang="en-US"/>
          </a:p>
        </p:txBody>
      </p:sp>
      <p:sp>
        <p:nvSpPr>
          <p:cNvPr id="2" name="矩形 1"/>
          <p:cNvSpPr/>
          <p:nvPr>
            <p:custDataLst>
              <p:tags r:id="rId3"/>
            </p:custDataLst>
          </p:nvPr>
        </p:nvSpPr>
        <p:spPr>
          <a:xfrm>
            <a:off x="3715703" y="1748474"/>
            <a:ext cx="4834890" cy="2995454"/>
          </a:xfrm>
          <a:prstGeom prst="rect">
            <a:avLst/>
          </a:prstGeom>
          <a:noFill/>
        </p:spPr>
        <p:txBody>
          <a:bodyPr wrap="square" lIns="0" tIns="0" rIns="0" bIns="0" rtlCol="0" anchor="t" anchorCtr="0">
            <a:normAutofit lnSpcReduction="20000"/>
          </a:bodyPr>
          <a:lstStyle/>
          <a:p>
            <a:pPr algn="just">
              <a:lnSpc>
                <a:spcPct val="150000"/>
              </a:lnSpc>
              <a:spcBef>
                <a:spcPct val="0"/>
              </a:spcBef>
              <a:spcAft>
                <a:spcPct val="0"/>
              </a:spcAft>
            </a:pPr>
            <a:r>
              <a:rPr lang="zh-CN" altLang="en-US" sz="1200">
                <a:solidFill>
                  <a:schemeClr val="tx1">
                    <a:lumMod val="85000"/>
                    <a:lumOff val="15000"/>
                  </a:schemeClr>
                </a:solidFill>
                <a:latin typeface="+mn-ea"/>
                <a:cs typeface="+mn-ea"/>
                <a:sym typeface="+mn-ea"/>
              </a:rPr>
              <a:t>需求是系统为满足客户期望的目标而完成的行为。 </a:t>
            </a:r>
            <a:endParaRPr lang="zh-CN" altLang="en-US" sz="1200">
              <a:solidFill>
                <a:schemeClr val="tx1">
                  <a:lumMod val="85000"/>
                  <a:lumOff val="15000"/>
                </a:schemeClr>
              </a:solidFill>
              <a:latin typeface="+mn-ea"/>
              <a:cs typeface="+mn-ea"/>
              <a:sym typeface="+mn-ea"/>
            </a:endParaRPr>
          </a:p>
          <a:p>
            <a:pPr algn="just">
              <a:lnSpc>
                <a:spcPct val="150000"/>
              </a:lnSpc>
              <a:spcBef>
                <a:spcPct val="0"/>
              </a:spcBef>
              <a:spcAft>
                <a:spcPct val="0"/>
              </a:spcAft>
            </a:pPr>
            <a:r>
              <a:rPr lang="zh-CN" altLang="en-US" sz="1200">
                <a:solidFill>
                  <a:schemeClr val="tx1">
                    <a:lumMod val="85000"/>
                    <a:lumOff val="15000"/>
                  </a:schemeClr>
                </a:solidFill>
                <a:latin typeface="+mn-ea"/>
                <a:cs typeface="+mn-ea"/>
                <a:sym typeface="+mn-ea"/>
              </a:rPr>
              <a:t>需求要体现出对问题领域的清晰理解，给出系统的使用场景和上下文。</a:t>
            </a:r>
            <a:endParaRPr lang="zh-CN" altLang="en-US" sz="1200">
              <a:solidFill>
                <a:schemeClr val="tx1">
                  <a:lumMod val="85000"/>
                  <a:lumOff val="15000"/>
                </a:schemeClr>
              </a:solidFill>
              <a:latin typeface="+mn-ea"/>
              <a:cs typeface="+mn-ea"/>
              <a:sym typeface="+mn-ea"/>
            </a:endParaRPr>
          </a:p>
          <a:p>
            <a:pPr algn="just">
              <a:lnSpc>
                <a:spcPct val="150000"/>
              </a:lnSpc>
              <a:spcBef>
                <a:spcPct val="0"/>
              </a:spcBef>
              <a:spcAft>
                <a:spcPct val="0"/>
              </a:spcAft>
            </a:pPr>
            <a:r>
              <a:rPr lang="zh-CN" altLang="en-US" sz="1200">
                <a:solidFill>
                  <a:schemeClr val="tx1">
                    <a:lumMod val="85000"/>
                    <a:lumOff val="15000"/>
                  </a:schemeClr>
                </a:solidFill>
                <a:latin typeface="+mn-ea"/>
                <a:cs typeface="+mn-ea"/>
                <a:sym typeface="+mn-ea"/>
              </a:rPr>
              <a:t>需求定义涵盖如下内容：</a:t>
            </a:r>
            <a:endParaRPr lang="zh-CN" altLang="en-US" sz="1200">
              <a:solidFill>
                <a:schemeClr val="tx1">
                  <a:lumMod val="85000"/>
                  <a:lumOff val="15000"/>
                </a:schemeClr>
              </a:solidFill>
              <a:latin typeface="+mn-ea"/>
              <a:cs typeface="+mn-ea"/>
              <a:sym typeface="+mn-ea"/>
            </a:endParaRPr>
          </a:p>
          <a:p>
            <a:pPr algn="just">
              <a:lnSpc>
                <a:spcPct val="150000"/>
              </a:lnSpc>
              <a:spcBef>
                <a:spcPct val="0"/>
              </a:spcBef>
              <a:spcAft>
                <a:spcPct val="0"/>
              </a:spcAft>
            </a:pPr>
            <a:r>
              <a:rPr lang="zh-CN" altLang="en-US" sz="1200">
                <a:solidFill>
                  <a:schemeClr val="tx1">
                    <a:lumMod val="85000"/>
                    <a:lumOff val="15000"/>
                  </a:schemeClr>
                </a:solidFill>
                <a:latin typeface="+mn-ea"/>
                <a:cs typeface="+mn-ea"/>
                <a:sym typeface="+mn-ea"/>
              </a:rPr>
              <a:t>系统要做什么	</a:t>
            </a:r>
            <a:endParaRPr lang="zh-CN" altLang="en-US" sz="1200">
              <a:solidFill>
                <a:schemeClr val="tx1">
                  <a:lumMod val="85000"/>
                  <a:lumOff val="15000"/>
                </a:schemeClr>
              </a:solidFill>
              <a:latin typeface="+mn-ea"/>
              <a:cs typeface="+mn-ea"/>
              <a:sym typeface="+mn-ea"/>
            </a:endParaRPr>
          </a:p>
          <a:p>
            <a:pPr algn="just">
              <a:lnSpc>
                <a:spcPct val="150000"/>
              </a:lnSpc>
              <a:spcBef>
                <a:spcPct val="0"/>
              </a:spcBef>
              <a:spcAft>
                <a:spcPct val="0"/>
              </a:spcAft>
            </a:pPr>
            <a:r>
              <a:rPr lang="zh-CN" altLang="en-US" sz="1200">
                <a:solidFill>
                  <a:schemeClr val="tx1">
                    <a:lumMod val="85000"/>
                    <a:lumOff val="15000"/>
                  </a:schemeClr>
                </a:solidFill>
                <a:latin typeface="+mn-ea"/>
                <a:cs typeface="+mn-ea"/>
                <a:sym typeface="+mn-ea"/>
              </a:rPr>
              <a:t>为什么要设计该系统	</a:t>
            </a:r>
            <a:endParaRPr lang="zh-CN" altLang="en-US" sz="1200">
              <a:solidFill>
                <a:schemeClr val="tx1">
                  <a:lumMod val="85000"/>
                  <a:lumOff val="15000"/>
                </a:schemeClr>
              </a:solidFill>
              <a:latin typeface="+mn-ea"/>
              <a:cs typeface="+mn-ea"/>
              <a:sym typeface="+mn-ea"/>
            </a:endParaRPr>
          </a:p>
          <a:p>
            <a:pPr algn="just">
              <a:lnSpc>
                <a:spcPct val="150000"/>
              </a:lnSpc>
              <a:spcBef>
                <a:spcPct val="0"/>
              </a:spcBef>
              <a:spcAft>
                <a:spcPct val="0"/>
              </a:spcAft>
            </a:pPr>
            <a:r>
              <a:rPr lang="zh-CN" altLang="en-US" sz="1200">
                <a:solidFill>
                  <a:schemeClr val="tx1">
                    <a:lumMod val="85000"/>
                    <a:lumOff val="15000"/>
                  </a:schemeClr>
                </a:solidFill>
                <a:latin typeface="+mn-ea"/>
                <a:cs typeface="+mn-ea"/>
                <a:sym typeface="+mn-ea"/>
              </a:rPr>
              <a:t>统由谁使用	</a:t>
            </a:r>
            <a:endParaRPr lang="zh-CN" altLang="en-US" sz="1200">
              <a:solidFill>
                <a:schemeClr val="tx1">
                  <a:lumMod val="85000"/>
                  <a:lumOff val="15000"/>
                </a:schemeClr>
              </a:solidFill>
              <a:latin typeface="+mn-ea"/>
              <a:cs typeface="+mn-ea"/>
              <a:sym typeface="+mn-ea"/>
            </a:endParaRPr>
          </a:p>
          <a:p>
            <a:pPr algn="just">
              <a:lnSpc>
                <a:spcPct val="150000"/>
              </a:lnSpc>
              <a:spcBef>
                <a:spcPct val="0"/>
              </a:spcBef>
              <a:spcAft>
                <a:spcPct val="0"/>
              </a:spcAft>
            </a:pPr>
            <a:r>
              <a:rPr lang="zh-CN" altLang="en-US" sz="1200">
                <a:solidFill>
                  <a:schemeClr val="tx1">
                    <a:lumMod val="85000"/>
                    <a:lumOff val="15000"/>
                  </a:schemeClr>
                </a:solidFill>
                <a:latin typeface="+mn-ea"/>
                <a:cs typeface="+mn-ea"/>
                <a:sym typeface="+mn-ea"/>
              </a:rPr>
              <a:t>统涉及哪些信息	</a:t>
            </a:r>
            <a:endParaRPr lang="zh-CN" altLang="en-US" sz="1200">
              <a:solidFill>
                <a:schemeClr val="tx1">
                  <a:lumMod val="85000"/>
                  <a:lumOff val="15000"/>
                </a:schemeClr>
              </a:solidFill>
              <a:latin typeface="+mn-ea"/>
              <a:cs typeface="+mn-ea"/>
              <a:sym typeface="+mn-ea"/>
            </a:endParaRPr>
          </a:p>
          <a:p>
            <a:pPr algn="just">
              <a:lnSpc>
                <a:spcPct val="150000"/>
              </a:lnSpc>
              <a:spcBef>
                <a:spcPct val="0"/>
              </a:spcBef>
              <a:spcAft>
                <a:spcPct val="0"/>
              </a:spcAft>
            </a:pPr>
            <a:r>
              <a:rPr lang="zh-CN" altLang="en-US" sz="1200">
                <a:solidFill>
                  <a:schemeClr val="tx1">
                    <a:lumMod val="85000"/>
                    <a:lumOff val="15000"/>
                  </a:schemeClr>
                </a:solidFill>
                <a:latin typeface="+mn-ea"/>
                <a:cs typeface="+mn-ea"/>
                <a:sym typeface="+mn-ea"/>
              </a:rPr>
              <a:t>解决方案有何额外限制</a:t>
            </a:r>
            <a:endParaRPr lang="zh-CN" altLang="en-US" sz="1200">
              <a:solidFill>
                <a:schemeClr val="tx1">
                  <a:lumMod val="85000"/>
                  <a:lumOff val="15000"/>
                </a:schemeClr>
              </a:solidFill>
              <a:latin typeface="+mn-ea"/>
              <a:cs typeface="+mn-ea"/>
              <a:sym typeface="+mn-ea"/>
            </a:endParaRPr>
          </a:p>
          <a:p>
            <a:pPr algn="just">
              <a:lnSpc>
                <a:spcPct val="150000"/>
              </a:lnSpc>
              <a:spcBef>
                <a:spcPct val="0"/>
              </a:spcBef>
              <a:spcAft>
                <a:spcPct val="0"/>
              </a:spcAft>
            </a:pPr>
            <a:r>
              <a:rPr lang="zh-CN" altLang="en-US" sz="1200">
                <a:solidFill>
                  <a:schemeClr val="tx1">
                    <a:lumMod val="85000"/>
                    <a:lumOff val="15000"/>
                  </a:schemeClr>
                </a:solidFill>
                <a:latin typeface="+mn-ea"/>
                <a:cs typeface="+mn-ea"/>
                <a:sym typeface="+mn-ea"/>
              </a:rPr>
              <a:t>何使用该系统	</a:t>
            </a:r>
            <a:endParaRPr lang="zh-CN" altLang="en-US" sz="1200">
              <a:solidFill>
                <a:schemeClr val="tx1">
                  <a:lumMod val="85000"/>
                  <a:lumOff val="15000"/>
                </a:schemeClr>
              </a:solidFill>
              <a:latin typeface="+mn-ea"/>
              <a:cs typeface="+mn-ea"/>
              <a:sym typeface="+mn-ea"/>
            </a:endParaRPr>
          </a:p>
          <a:p>
            <a:pPr algn="just">
              <a:lnSpc>
                <a:spcPct val="150000"/>
              </a:lnSpc>
              <a:spcBef>
                <a:spcPct val="0"/>
              </a:spcBef>
              <a:spcAft>
                <a:spcPct val="0"/>
              </a:spcAft>
            </a:pPr>
            <a:r>
              <a:rPr lang="zh-CN" altLang="en-US" sz="1200">
                <a:solidFill>
                  <a:schemeClr val="tx1">
                    <a:lumMod val="85000"/>
                    <a:lumOff val="15000"/>
                  </a:schemeClr>
                </a:solidFill>
                <a:latin typeface="+mn-ea"/>
                <a:cs typeface="+mn-ea"/>
                <a:sym typeface="+mn-ea"/>
              </a:rPr>
              <a:t>量需达到何种程度 	</a:t>
            </a:r>
            <a:endParaRPr lang="zh-CN" altLang="en-US" sz="1200">
              <a:solidFill>
                <a:schemeClr val="tx1">
                  <a:lumMod val="85000"/>
                  <a:lumOff val="15000"/>
                </a:schemeClr>
              </a:solidFill>
              <a:latin typeface="+mn-ea"/>
              <a:cs typeface="+mn-ea"/>
              <a:sym typeface="+mn-ea"/>
            </a:endParaRPr>
          </a:p>
          <a:p>
            <a:pPr algn="just">
              <a:lnSpc>
                <a:spcPct val="150000"/>
              </a:lnSpc>
              <a:spcBef>
                <a:spcPct val="0"/>
              </a:spcBef>
              <a:spcAft>
                <a:spcPct val="0"/>
              </a:spcAft>
            </a:pPr>
            <a:r>
              <a:rPr lang="zh-CN" altLang="en-US" sz="1200">
                <a:solidFill>
                  <a:schemeClr val="tx1">
                    <a:lumMod val="85000"/>
                    <a:lumOff val="15000"/>
                  </a:schemeClr>
                </a:solidFill>
                <a:latin typeface="+mn-ea"/>
                <a:cs typeface="+mn-ea"/>
                <a:sym typeface="+mn-ea"/>
              </a:rPr>
              <a:t>科学的思维方法</a:t>
            </a:r>
            <a:endParaRPr lang="zh-CN" altLang="en-US" sz="1200">
              <a:solidFill>
                <a:schemeClr val="tx1">
                  <a:lumMod val="85000"/>
                  <a:lumOff val="15000"/>
                </a:schemeClr>
              </a:solidFill>
              <a:latin typeface="+mn-ea"/>
              <a:cs typeface="+mn-ea"/>
              <a:sym typeface="+mn-ea"/>
            </a:endParaRPr>
          </a:p>
          <a:p>
            <a:pPr algn="just">
              <a:lnSpc>
                <a:spcPct val="150000"/>
              </a:lnSpc>
              <a:spcBef>
                <a:spcPct val="0"/>
              </a:spcBef>
              <a:spcAft>
                <a:spcPct val="0"/>
              </a:spcAft>
            </a:pPr>
            <a:endParaRPr lang="zh-CN" altLang="en-US" sz="1200">
              <a:solidFill>
                <a:schemeClr val="tx1">
                  <a:lumMod val="85000"/>
                  <a:lumOff val="15000"/>
                </a:schemeClr>
              </a:solidFill>
              <a:latin typeface="+mn-ea"/>
              <a:cs typeface="+mn-ea"/>
              <a:sym typeface="+mn-ea"/>
            </a:endParaRPr>
          </a:p>
        </p:txBody>
      </p:sp>
      <p:sp>
        <p:nvSpPr>
          <p:cNvPr id="3" name="矩形 2"/>
          <p:cNvSpPr/>
          <p:nvPr>
            <p:custDataLst>
              <p:tags r:id="rId4"/>
            </p:custDataLst>
          </p:nvPr>
        </p:nvSpPr>
        <p:spPr>
          <a:xfrm>
            <a:off x="3716179" y="1279843"/>
            <a:ext cx="4834890" cy="373856"/>
          </a:xfrm>
          <a:prstGeom prst="rect">
            <a:avLst/>
          </a:prstGeom>
          <a:noFill/>
        </p:spPr>
        <p:txBody>
          <a:bodyPr wrap="square" lIns="0" tIns="0" rIns="0" bIns="0" rtlCol="0" anchor="b">
            <a:normAutofit/>
          </a:bodyPr>
          <a:lstStyle/>
          <a:p>
            <a:pPr>
              <a:spcBef>
                <a:spcPct val="0"/>
              </a:spcBef>
              <a:spcAft>
                <a:spcPct val="0"/>
              </a:spcAft>
            </a:pPr>
            <a:r>
              <a:rPr lang="zh-CN" altLang="en-US" b="1">
                <a:solidFill>
                  <a:schemeClr val="accent1"/>
                </a:solidFill>
                <a:latin typeface="+mn-ea"/>
                <a:cs typeface="+mn-ea"/>
                <a:sym typeface="+mn-ea"/>
              </a:rPr>
              <a:t>单击此处添加项标题</a:t>
            </a:r>
            <a:endParaRPr lang="zh-CN" altLang="en-US" b="1">
              <a:solidFill>
                <a:schemeClr val="accent1"/>
              </a:solidFill>
              <a:latin typeface="+mn-ea"/>
              <a:cs typeface="+mn-ea"/>
              <a:sym typeface="+mn-ea"/>
            </a:endParaRPr>
          </a:p>
        </p:txBody>
      </p:sp>
      <p:pic>
        <p:nvPicPr>
          <p:cNvPr id="10" name="图片 9" descr="8168369_"/>
          <p:cNvPicPr>
            <a:picLocks noChangeAspect="1"/>
          </p:cNvPicPr>
          <p:nvPr>
            <p:custDataLst>
              <p:tags r:id="rId5"/>
            </p:custDataLst>
          </p:nvPr>
        </p:nvPicPr>
        <p:blipFill>
          <a:blip r:embed="rId6"/>
          <a:srcRect l="7431" r="7431"/>
          <a:stretch>
            <a:fillRect/>
          </a:stretch>
        </p:blipFill>
        <p:spPr>
          <a:xfrm>
            <a:off x="772543" y="1638794"/>
            <a:ext cx="2444591" cy="2375059"/>
          </a:xfrm>
          <a:custGeom>
            <a:avLst/>
            <a:gdLst/>
            <a:ahLst/>
            <a:cxnLst>
              <a:cxn ang="3">
                <a:pos x="hc" y="t"/>
              </a:cxn>
              <a:cxn ang="cd2">
                <a:pos x="l" y="vc"/>
              </a:cxn>
              <a:cxn ang="cd4">
                <a:pos x="hc" y="b"/>
              </a:cxn>
              <a:cxn ang="0">
                <a:pos x="r" y="vc"/>
              </a:cxn>
            </a:cxnLst>
            <a:rect l="l" t="t" r="r" b="b"/>
            <a:pathLst>
              <a:path w="5133" h="4987">
                <a:moveTo>
                  <a:pt x="0" y="0"/>
                </a:moveTo>
                <a:lnTo>
                  <a:pt x="5133" y="0"/>
                </a:lnTo>
                <a:lnTo>
                  <a:pt x="5133" y="4987"/>
                </a:lnTo>
                <a:lnTo>
                  <a:pt x="0" y="4987"/>
                </a:lnTo>
                <a:lnTo>
                  <a:pt x="0" y="0"/>
                </a:lnTo>
                <a:close/>
              </a:path>
            </a:pathLst>
          </a:custGeom>
          <a:ln>
            <a:gradFill>
              <a:gsLst>
                <a:gs pos="0">
                  <a:schemeClr val="accent1">
                    <a:alpha val="0"/>
                  </a:schemeClr>
                </a:gs>
                <a:gs pos="100000">
                  <a:schemeClr val="accent1"/>
                </a:gs>
              </a:gsLst>
              <a:lin ang="16200000" scaled="1"/>
            </a:gradFill>
          </a:ln>
        </p:spPr>
      </p:pic>
      <p:sp>
        <p:nvSpPr>
          <p:cNvPr id="115" name="任意多边形: 形状 114"/>
          <p:cNvSpPr/>
          <p:nvPr>
            <p:custDataLst>
              <p:tags r:id="rId7"/>
            </p:custDataLst>
          </p:nvPr>
        </p:nvSpPr>
        <p:spPr>
          <a:xfrm>
            <a:off x="588812" y="1420298"/>
            <a:ext cx="2812052" cy="2812052"/>
          </a:xfrm>
          <a:custGeom>
            <a:avLst/>
            <a:gdLst>
              <a:gd name="connsiteX0" fmla="*/ 0 w 3749402"/>
              <a:gd name="connsiteY0" fmla="*/ 0 h 3749402"/>
              <a:gd name="connsiteX1" fmla="*/ 3749402 w 3749402"/>
              <a:gd name="connsiteY1" fmla="*/ 0 h 3749402"/>
              <a:gd name="connsiteX2" fmla="*/ 3749402 w 3749402"/>
              <a:gd name="connsiteY2" fmla="*/ 3749402 h 3749402"/>
              <a:gd name="connsiteX3" fmla="*/ 3242443 w 3749402"/>
              <a:gd name="connsiteY3" fmla="*/ 3749402 h 3749402"/>
              <a:gd name="connsiteX4" fmla="*/ 3230680 w 3749402"/>
              <a:gd name="connsiteY4" fmla="*/ 3702351 h 3749402"/>
              <a:gd name="connsiteX5" fmla="*/ 2396290 w 3749402"/>
              <a:gd name="connsiteY5" fmla="*/ 3702351 h 3749402"/>
              <a:gd name="connsiteX6" fmla="*/ 2384527 w 3749402"/>
              <a:gd name="connsiteY6" fmla="*/ 3749402 h 3749402"/>
              <a:gd name="connsiteX7" fmla="*/ 2309755 w 3749402"/>
              <a:gd name="connsiteY7" fmla="*/ 3749402 h 3749402"/>
              <a:gd name="connsiteX8" fmla="*/ 2297992 w 3749402"/>
              <a:gd name="connsiteY8" fmla="*/ 3702351 h 3749402"/>
              <a:gd name="connsiteX9" fmla="*/ 1463602 w 3749402"/>
              <a:gd name="connsiteY9" fmla="*/ 3702351 h 3749402"/>
              <a:gd name="connsiteX10" fmla="*/ 1451839 w 3749402"/>
              <a:gd name="connsiteY10" fmla="*/ 3749402 h 3749402"/>
              <a:gd name="connsiteX11" fmla="*/ 1364875 w 3749402"/>
              <a:gd name="connsiteY11" fmla="*/ 3749402 h 3749402"/>
              <a:gd name="connsiteX12" fmla="*/ 1353112 w 3749402"/>
              <a:gd name="connsiteY12" fmla="*/ 3702351 h 3749402"/>
              <a:gd name="connsiteX13" fmla="*/ 518722 w 3749402"/>
              <a:gd name="connsiteY13" fmla="*/ 3702351 h 3749402"/>
              <a:gd name="connsiteX14" fmla="*/ 506959 w 3749402"/>
              <a:gd name="connsiteY14" fmla="*/ 3749402 h 3749402"/>
              <a:gd name="connsiteX15" fmla="*/ 0 w 3749402"/>
              <a:gd name="connsiteY15" fmla="*/ 3749402 h 3749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49402" h="3749402">
                <a:moveTo>
                  <a:pt x="0" y="0"/>
                </a:moveTo>
                <a:lnTo>
                  <a:pt x="3749402" y="0"/>
                </a:lnTo>
                <a:lnTo>
                  <a:pt x="3749402" y="3749402"/>
                </a:lnTo>
                <a:lnTo>
                  <a:pt x="3242443" y="3749402"/>
                </a:lnTo>
                <a:lnTo>
                  <a:pt x="3230680" y="3702351"/>
                </a:lnTo>
                <a:lnTo>
                  <a:pt x="2396290" y="3702351"/>
                </a:lnTo>
                <a:lnTo>
                  <a:pt x="2384527" y="3749402"/>
                </a:lnTo>
                <a:lnTo>
                  <a:pt x="2309755" y="3749402"/>
                </a:lnTo>
                <a:lnTo>
                  <a:pt x="2297992" y="3702351"/>
                </a:lnTo>
                <a:lnTo>
                  <a:pt x="1463602" y="3702351"/>
                </a:lnTo>
                <a:lnTo>
                  <a:pt x="1451839" y="3749402"/>
                </a:lnTo>
                <a:lnTo>
                  <a:pt x="1364875" y="3749402"/>
                </a:lnTo>
                <a:lnTo>
                  <a:pt x="1353112" y="3702351"/>
                </a:lnTo>
                <a:lnTo>
                  <a:pt x="518722" y="3702351"/>
                </a:lnTo>
                <a:lnTo>
                  <a:pt x="506959" y="3749402"/>
                </a:lnTo>
                <a:lnTo>
                  <a:pt x="0" y="3749402"/>
                </a:lnTo>
                <a:close/>
              </a:path>
            </a:pathLst>
          </a:custGeom>
          <a:noFill/>
          <a:ln w="6350">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a:p>
        </p:txBody>
      </p:sp>
      <p:sp>
        <p:nvSpPr>
          <p:cNvPr id="105" name="矩形 104"/>
          <p:cNvSpPr/>
          <p:nvPr>
            <p:custDataLst>
              <p:tags r:id="rId8"/>
            </p:custDataLst>
          </p:nvPr>
        </p:nvSpPr>
        <p:spPr>
          <a:xfrm>
            <a:off x="551260" y="1391723"/>
            <a:ext cx="73247" cy="732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6" name="矩形 105"/>
          <p:cNvSpPr/>
          <p:nvPr>
            <p:custDataLst>
              <p:tags r:id="rId9"/>
            </p:custDataLst>
          </p:nvPr>
        </p:nvSpPr>
        <p:spPr>
          <a:xfrm>
            <a:off x="551260" y="4183865"/>
            <a:ext cx="73247" cy="732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7" name="矩形 106"/>
          <p:cNvSpPr/>
          <p:nvPr>
            <p:custDataLst>
              <p:tags r:id="rId10"/>
            </p:custDataLst>
          </p:nvPr>
        </p:nvSpPr>
        <p:spPr>
          <a:xfrm>
            <a:off x="3363040" y="1395533"/>
            <a:ext cx="73247" cy="732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8" name="矩形 107"/>
          <p:cNvSpPr/>
          <p:nvPr>
            <p:custDataLst>
              <p:tags r:id="rId11"/>
            </p:custDataLst>
          </p:nvPr>
        </p:nvSpPr>
        <p:spPr>
          <a:xfrm>
            <a:off x="3363040" y="4187675"/>
            <a:ext cx="73247" cy="732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6" name="任意多边形: 形状 115"/>
          <p:cNvSpPr/>
          <p:nvPr>
            <p:custDataLst>
              <p:tags r:id="rId12"/>
            </p:custDataLst>
          </p:nvPr>
        </p:nvSpPr>
        <p:spPr>
          <a:xfrm>
            <a:off x="631508" y="4226780"/>
            <a:ext cx="948690" cy="54293"/>
          </a:xfrm>
          <a:custGeom>
            <a:avLst/>
            <a:gdLst>
              <a:gd name="connsiteX0" fmla="*/ 0 w 1264920"/>
              <a:gd name="connsiteY0" fmla="*/ 72390 h 72390"/>
              <a:gd name="connsiteX1" fmla="*/ 480060 w 1264920"/>
              <a:gd name="connsiteY1" fmla="*/ 72390 h 72390"/>
              <a:gd name="connsiteX2" fmla="*/ 491490 w 1264920"/>
              <a:gd name="connsiteY2" fmla="*/ 0 h 72390"/>
              <a:gd name="connsiteX3" fmla="*/ 1253490 w 1264920"/>
              <a:gd name="connsiteY3" fmla="*/ 0 h 72390"/>
              <a:gd name="connsiteX4" fmla="*/ 1264920 w 1264920"/>
              <a:gd name="connsiteY4" fmla="*/ 0 h 72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4920" h="72390">
                <a:moveTo>
                  <a:pt x="0" y="72390"/>
                </a:moveTo>
                <a:lnTo>
                  <a:pt x="480060" y="72390"/>
                </a:lnTo>
                <a:lnTo>
                  <a:pt x="491490" y="0"/>
                </a:lnTo>
                <a:lnTo>
                  <a:pt x="1253490" y="0"/>
                </a:lnTo>
                <a:lnTo>
                  <a:pt x="1264920" y="0"/>
                </a:lnTo>
              </a:path>
            </a:pathLst>
          </a:custGeom>
          <a:noFill/>
          <a:ln w="12700">
            <a:solidFill>
              <a:schemeClr val="accent1">
                <a:alpha val="7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6" name="任意多边形 35"/>
          <p:cNvSpPr/>
          <p:nvPr>
            <p:custDataLst>
              <p:tags r:id="rId13"/>
            </p:custDataLst>
          </p:nvPr>
        </p:nvSpPr>
        <p:spPr>
          <a:xfrm rot="5400000">
            <a:off x="2984659" y="3781425"/>
            <a:ext cx="681038" cy="46196"/>
          </a:xfrm>
          <a:custGeom>
            <a:avLst/>
            <a:gdLst>
              <a:gd name="adj" fmla="val 25000"/>
              <a:gd name="maxAdj" fmla="*/ 100000 w ss"/>
              <a:gd name="a" fmla="pin 0 adj maxAdj"/>
              <a:gd name="x1" fmla="*/ ss a 200000"/>
              <a:gd name="x2" fmla="*/ ss a 100000"/>
              <a:gd name="x6" fmla="+- r 0 x1"/>
              <a:gd name="x5" fmla="+- r 0 x2"/>
              <a:gd name="x3" fmla="*/ x5 1 2"/>
              <a:gd name="x4" fmla="+- r 0 x3"/>
              <a:gd name="il" fmla="*/ wd2 a maxAdj"/>
              <a:gd name="q1" fmla="*/ 5 a maxAdj"/>
              <a:gd name="q2" fmla="+/ 1 q1 12"/>
              <a:gd name="il-1" fmla="*/ q2 w 1"/>
              <a:gd name="it" fmla="*/ q2 h 1"/>
              <a:gd name="ir" fmla="+- r 0 il-1"/>
              <a:gd name="ib" fmla="+- b 0 it"/>
              <a:gd name="q3" fmla="*/ h hc x2"/>
              <a:gd name="y1" fmla="pin 0 q3 h"/>
              <a:gd name="y2" fmla="+- b 0 y1"/>
            </a:gdLst>
            <a:ahLst/>
            <a:cxnLst>
              <a:cxn ang="3">
                <a:pos x="hc" y="y2"/>
              </a:cxn>
              <a:cxn ang="3">
                <a:pos x="x4" y="t"/>
              </a:cxn>
              <a:cxn ang="0">
                <a:pos x="x6" y="vc"/>
              </a:cxn>
              <a:cxn ang="cd4">
                <a:pos x="x3" y="b"/>
              </a:cxn>
              <a:cxn ang="cd4">
                <a:pos x="hc" y="y1"/>
              </a:cxn>
              <a:cxn ang="cd2">
                <a:pos x="x1" y="vc"/>
              </a:cxn>
            </a:cxnLst>
            <a:rect l="l" t="t" r="r" b="b"/>
            <a:pathLst>
              <a:path w="1430" h="97">
                <a:moveTo>
                  <a:pt x="0" y="97"/>
                </a:moveTo>
                <a:lnTo>
                  <a:pt x="24" y="0"/>
                </a:lnTo>
                <a:lnTo>
                  <a:pt x="101" y="0"/>
                </a:lnTo>
                <a:lnTo>
                  <a:pt x="77" y="97"/>
                </a:lnTo>
                <a:lnTo>
                  <a:pt x="0" y="97"/>
                </a:lnTo>
                <a:close/>
                <a:moveTo>
                  <a:pt x="133" y="97"/>
                </a:moveTo>
                <a:lnTo>
                  <a:pt x="157" y="0"/>
                </a:lnTo>
                <a:lnTo>
                  <a:pt x="234" y="0"/>
                </a:lnTo>
                <a:lnTo>
                  <a:pt x="210" y="97"/>
                </a:lnTo>
                <a:lnTo>
                  <a:pt x="133" y="97"/>
                </a:lnTo>
                <a:close/>
                <a:moveTo>
                  <a:pt x="266" y="97"/>
                </a:moveTo>
                <a:lnTo>
                  <a:pt x="290" y="0"/>
                </a:lnTo>
                <a:lnTo>
                  <a:pt x="367" y="0"/>
                </a:lnTo>
                <a:lnTo>
                  <a:pt x="343" y="97"/>
                </a:lnTo>
                <a:lnTo>
                  <a:pt x="266" y="97"/>
                </a:lnTo>
                <a:close/>
                <a:moveTo>
                  <a:pt x="399" y="97"/>
                </a:moveTo>
                <a:lnTo>
                  <a:pt x="423" y="0"/>
                </a:lnTo>
                <a:lnTo>
                  <a:pt x="500" y="0"/>
                </a:lnTo>
                <a:lnTo>
                  <a:pt x="476" y="97"/>
                </a:lnTo>
                <a:lnTo>
                  <a:pt x="399" y="97"/>
                </a:lnTo>
                <a:close/>
                <a:moveTo>
                  <a:pt x="532" y="97"/>
                </a:moveTo>
                <a:lnTo>
                  <a:pt x="556" y="0"/>
                </a:lnTo>
                <a:lnTo>
                  <a:pt x="633" y="0"/>
                </a:lnTo>
                <a:lnTo>
                  <a:pt x="609" y="97"/>
                </a:lnTo>
                <a:lnTo>
                  <a:pt x="532" y="97"/>
                </a:lnTo>
                <a:close/>
                <a:moveTo>
                  <a:pt x="664" y="97"/>
                </a:moveTo>
                <a:lnTo>
                  <a:pt x="688" y="0"/>
                </a:lnTo>
                <a:lnTo>
                  <a:pt x="765" y="0"/>
                </a:lnTo>
                <a:lnTo>
                  <a:pt x="741" y="97"/>
                </a:lnTo>
                <a:lnTo>
                  <a:pt x="664" y="97"/>
                </a:lnTo>
                <a:close/>
                <a:moveTo>
                  <a:pt x="797" y="97"/>
                </a:moveTo>
                <a:lnTo>
                  <a:pt x="821" y="0"/>
                </a:lnTo>
                <a:lnTo>
                  <a:pt x="898" y="0"/>
                </a:lnTo>
                <a:lnTo>
                  <a:pt x="874" y="97"/>
                </a:lnTo>
                <a:lnTo>
                  <a:pt x="797" y="97"/>
                </a:lnTo>
                <a:close/>
                <a:moveTo>
                  <a:pt x="930" y="97"/>
                </a:moveTo>
                <a:lnTo>
                  <a:pt x="954" y="0"/>
                </a:lnTo>
                <a:lnTo>
                  <a:pt x="1031" y="0"/>
                </a:lnTo>
                <a:lnTo>
                  <a:pt x="1007" y="97"/>
                </a:lnTo>
                <a:lnTo>
                  <a:pt x="930" y="97"/>
                </a:lnTo>
                <a:close/>
                <a:moveTo>
                  <a:pt x="1063" y="97"/>
                </a:moveTo>
                <a:lnTo>
                  <a:pt x="1087" y="0"/>
                </a:lnTo>
                <a:lnTo>
                  <a:pt x="1164" y="0"/>
                </a:lnTo>
                <a:lnTo>
                  <a:pt x="1140" y="97"/>
                </a:lnTo>
                <a:lnTo>
                  <a:pt x="1063" y="97"/>
                </a:lnTo>
                <a:close/>
                <a:moveTo>
                  <a:pt x="1196" y="97"/>
                </a:moveTo>
                <a:lnTo>
                  <a:pt x="1220" y="0"/>
                </a:lnTo>
                <a:lnTo>
                  <a:pt x="1297" y="0"/>
                </a:lnTo>
                <a:lnTo>
                  <a:pt x="1273" y="97"/>
                </a:lnTo>
                <a:lnTo>
                  <a:pt x="1196" y="97"/>
                </a:lnTo>
                <a:close/>
                <a:moveTo>
                  <a:pt x="1329" y="97"/>
                </a:moveTo>
                <a:lnTo>
                  <a:pt x="1353" y="0"/>
                </a:lnTo>
                <a:lnTo>
                  <a:pt x="1430" y="0"/>
                </a:lnTo>
                <a:lnTo>
                  <a:pt x="1406" y="97"/>
                </a:lnTo>
                <a:lnTo>
                  <a:pt x="1329" y="97"/>
                </a:lnTo>
                <a:close/>
              </a:path>
            </a:pathLst>
          </a:custGeom>
          <a:gradFill flip="none" rotWithShape="1">
            <a:gsLst>
              <a:gs pos="0">
                <a:schemeClr val="accent1"/>
              </a:gs>
              <a:gs pos="100000">
                <a:schemeClr val="accent1">
                  <a:alpha val="0"/>
                </a:schemeClr>
              </a:gs>
            </a:gsLst>
            <a:lin ang="0" scaled="0"/>
            <a:tileRect/>
          </a:gradFill>
          <a:ln>
            <a:noFill/>
          </a:ln>
          <a:effectLst>
            <a:outerShdw blurRad="127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latin typeface="MiSans Normal" panose="00000500000000000000" charset="-122"/>
              <a:ea typeface="MiSans Normal" panose="00000500000000000000" charset="-122"/>
              <a:sym typeface="MiSans Normal" panose="00000500000000000000" charset="-122"/>
            </a:endParaRPr>
          </a:p>
        </p:txBody>
      </p:sp>
      <p:sp>
        <p:nvSpPr>
          <p:cNvPr id="4" name="任意多边形: 形状 115"/>
          <p:cNvSpPr/>
          <p:nvPr>
            <p:custDataLst>
              <p:tags r:id="rId14"/>
            </p:custDataLst>
          </p:nvPr>
        </p:nvSpPr>
        <p:spPr>
          <a:xfrm flipH="1">
            <a:off x="2405063" y="4226780"/>
            <a:ext cx="948690" cy="54293"/>
          </a:xfrm>
          <a:custGeom>
            <a:avLst/>
            <a:gdLst>
              <a:gd name="connsiteX0" fmla="*/ 0 w 1264920"/>
              <a:gd name="connsiteY0" fmla="*/ 72390 h 72390"/>
              <a:gd name="connsiteX1" fmla="*/ 480060 w 1264920"/>
              <a:gd name="connsiteY1" fmla="*/ 72390 h 72390"/>
              <a:gd name="connsiteX2" fmla="*/ 491490 w 1264920"/>
              <a:gd name="connsiteY2" fmla="*/ 0 h 72390"/>
              <a:gd name="connsiteX3" fmla="*/ 1253490 w 1264920"/>
              <a:gd name="connsiteY3" fmla="*/ 0 h 72390"/>
              <a:gd name="connsiteX4" fmla="*/ 1264920 w 1264920"/>
              <a:gd name="connsiteY4" fmla="*/ 0 h 72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4920" h="72390">
                <a:moveTo>
                  <a:pt x="0" y="72390"/>
                </a:moveTo>
                <a:lnTo>
                  <a:pt x="480060" y="72390"/>
                </a:lnTo>
                <a:lnTo>
                  <a:pt x="491490" y="0"/>
                </a:lnTo>
                <a:lnTo>
                  <a:pt x="1253490" y="0"/>
                </a:lnTo>
                <a:lnTo>
                  <a:pt x="1264920" y="0"/>
                </a:lnTo>
              </a:path>
            </a:pathLst>
          </a:custGeom>
          <a:noFill/>
          <a:ln w="12700">
            <a:solidFill>
              <a:schemeClr val="accent1">
                <a:alpha val="7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 name="日期占位符 4"/>
          <p:cNvSpPr>
            <a:spLocks noGrp="1"/>
          </p:cNvSpPr>
          <p:nvPr>
            <p:ph type="dt" sz="half" idx="10"/>
          </p:nvPr>
        </p:nvSpPr>
        <p:spPr/>
        <p:txBody>
          <a:bodyPr/>
          <a:p>
            <a:fld id="{5902FD77-8323-485D-87E2-91A0E9C84954}" type="datetime1">
              <a:rPr lang="zh-CN" altLang="en-US" smtClean="0"/>
            </a:fld>
            <a:endParaRPr lang="zh-CN" altLang="en-US"/>
          </a:p>
        </p:txBody>
      </p:sp>
      <p:sp>
        <p:nvSpPr>
          <p:cNvPr id="6" name="页脚占位符 5"/>
          <p:cNvSpPr>
            <a:spLocks noGrp="1"/>
          </p:cNvSpPr>
          <p:nvPr>
            <p:ph type="ftr" sz="quarter" idx="11"/>
          </p:nvPr>
        </p:nvSpPr>
        <p:spPr/>
        <p:txBody>
          <a:bodyPr/>
          <a:p>
            <a:r>
              <a:rPr lang="zh-CN" altLang="en-US"/>
              <a:t>软件工程</a:t>
            </a:r>
            <a:endParaRPr lang="zh-CN" altLang="en-US"/>
          </a:p>
        </p:txBody>
      </p:sp>
      <p:sp>
        <p:nvSpPr>
          <p:cNvPr id="7" name="灯片编号占位符 6"/>
          <p:cNvSpPr>
            <a:spLocks noGrp="1"/>
          </p:cNvSpPr>
          <p:nvPr>
            <p:ph type="sldNum" sz="quarter" idx="12"/>
          </p:nvPr>
        </p:nvSpPr>
        <p:spPr/>
        <p:txBody>
          <a:bodyPr/>
          <a:p>
            <a:fld id="{F528F39D-B5E5-4CA7-906C-979D5A62978D}" type="slidenum">
              <a:rPr lang="zh-CN" altLang="en-US" smtClean="0"/>
            </a:fld>
            <a:endParaRPr lang="zh-CN" altLang="en-US"/>
          </a:p>
        </p:txBody>
      </p:sp>
    </p:spTree>
    <p:custDataLst>
      <p:tags r:id="rId15"/>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任意多边形: 形状 44"/>
          <p:cNvSpPr/>
          <p:nvPr>
            <p:custDataLst>
              <p:tags r:id="rId1"/>
            </p:custDataLst>
          </p:nvPr>
        </p:nvSpPr>
        <p:spPr>
          <a:xfrm>
            <a:off x="3405664" y="1604010"/>
            <a:ext cx="5144929" cy="130493"/>
          </a:xfrm>
          <a:custGeom>
            <a:avLst/>
            <a:gdLst>
              <a:gd name="connsiteX0" fmla="*/ 0 w 10803"/>
              <a:gd name="connsiteY0" fmla="*/ 0 h 274"/>
              <a:gd name="connsiteX1" fmla="*/ 346 w 10803"/>
              <a:gd name="connsiteY1" fmla="*/ 1 h 274"/>
              <a:gd name="connsiteX2" fmla="*/ 668 w 10803"/>
              <a:gd name="connsiteY2" fmla="*/ 272 h 274"/>
              <a:gd name="connsiteX3" fmla="*/ 10803 w 10803"/>
              <a:gd name="connsiteY3" fmla="*/ 274 h 274"/>
            </a:gdLst>
            <a:ahLst/>
            <a:cxnLst>
              <a:cxn ang="0">
                <a:pos x="connsiteX0" y="connsiteY0"/>
              </a:cxn>
              <a:cxn ang="0">
                <a:pos x="connsiteX1" y="connsiteY1"/>
              </a:cxn>
              <a:cxn ang="0">
                <a:pos x="connsiteX2" y="connsiteY2"/>
              </a:cxn>
              <a:cxn ang="0">
                <a:pos x="connsiteX3" y="connsiteY3"/>
              </a:cxn>
            </a:cxnLst>
            <a:rect l="l" t="t" r="r" b="b"/>
            <a:pathLst>
              <a:path w="10803" h="274">
                <a:moveTo>
                  <a:pt x="0" y="0"/>
                </a:moveTo>
                <a:lnTo>
                  <a:pt x="346" y="1"/>
                </a:lnTo>
                <a:lnTo>
                  <a:pt x="668" y="272"/>
                </a:lnTo>
                <a:lnTo>
                  <a:pt x="10803" y="274"/>
                </a:lnTo>
              </a:path>
            </a:pathLst>
          </a:custGeom>
          <a:noFill/>
          <a:ln w="6350">
            <a:gradFill>
              <a:gsLst>
                <a:gs pos="0">
                  <a:schemeClr val="accent1">
                    <a:alpha val="27000"/>
                  </a:schemeClr>
                </a:gs>
                <a:gs pos="100000">
                  <a:schemeClr val="accent1">
                    <a:alpha val="100000"/>
                  </a:schemeClr>
                </a:gs>
              </a:gsLst>
              <a:lin ang="10800000" scaled="1"/>
            </a:gradFill>
            <a:headEnd type="diamond" w="med" len="med"/>
            <a:tailEnd type="diamo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思源黑体 CN Normal" panose="020B0400000000000000" pitchFamily="34" charset="-122"/>
              <a:cs typeface="思源黑体 CN Normal" panose="020B0400000000000000" pitchFamily="34" charset="-122"/>
            </a:endParaRPr>
          </a:p>
        </p:txBody>
      </p:sp>
      <p:sp>
        <p:nvSpPr>
          <p:cNvPr id="17" name="标题 16"/>
          <p:cNvSpPr>
            <a:spLocks noGrp="1"/>
          </p:cNvSpPr>
          <p:nvPr>
            <p:ph type="title"/>
            <p:custDataLst>
              <p:tags r:id="rId2"/>
            </p:custDataLst>
          </p:nvPr>
        </p:nvSpPr>
        <p:spPr/>
        <p:txBody>
          <a:bodyPr/>
          <a:lstStyle/>
          <a:p>
            <a:r>
              <a:rPr lang="zh-CN" altLang="en-US"/>
              <a:t>需求的内容</a:t>
            </a:r>
            <a:endParaRPr lang="zh-CN" altLang="en-US"/>
          </a:p>
        </p:txBody>
      </p:sp>
      <p:sp>
        <p:nvSpPr>
          <p:cNvPr id="2" name="矩形 1"/>
          <p:cNvSpPr/>
          <p:nvPr>
            <p:custDataLst>
              <p:tags r:id="rId3"/>
            </p:custDataLst>
          </p:nvPr>
        </p:nvSpPr>
        <p:spPr>
          <a:xfrm>
            <a:off x="3715703" y="1748474"/>
            <a:ext cx="4834890" cy="2995454"/>
          </a:xfrm>
          <a:prstGeom prst="rect">
            <a:avLst/>
          </a:prstGeom>
          <a:noFill/>
        </p:spPr>
        <p:txBody>
          <a:bodyPr wrap="square" lIns="0" tIns="0" rIns="0" bIns="0" rtlCol="0" anchor="t" anchorCtr="0">
            <a:normAutofit lnSpcReduction="20000"/>
          </a:bodyPr>
          <a:lstStyle/>
          <a:p>
            <a:pPr algn="just">
              <a:lnSpc>
                <a:spcPct val="150000"/>
              </a:lnSpc>
              <a:spcBef>
                <a:spcPct val="0"/>
              </a:spcBef>
              <a:spcAft>
                <a:spcPct val="0"/>
              </a:spcAft>
            </a:pPr>
            <a:r>
              <a:rPr lang="zh-CN" altLang="en-US" sz="1200">
                <a:solidFill>
                  <a:schemeClr val="tx1">
                    <a:lumMod val="85000"/>
                    <a:lumOff val="15000"/>
                  </a:schemeClr>
                </a:solidFill>
                <a:latin typeface="+mn-ea"/>
                <a:cs typeface="+mn-ea"/>
                <a:sym typeface="+mn-ea"/>
              </a:rPr>
              <a:t>需求是系统为满足客户期望的目标而完成的行为。 </a:t>
            </a:r>
            <a:endParaRPr lang="zh-CN" altLang="en-US" sz="1200">
              <a:solidFill>
                <a:schemeClr val="tx1">
                  <a:lumMod val="85000"/>
                  <a:lumOff val="15000"/>
                </a:schemeClr>
              </a:solidFill>
              <a:latin typeface="+mn-ea"/>
              <a:cs typeface="+mn-ea"/>
              <a:sym typeface="+mn-ea"/>
            </a:endParaRPr>
          </a:p>
          <a:p>
            <a:pPr algn="just">
              <a:lnSpc>
                <a:spcPct val="150000"/>
              </a:lnSpc>
              <a:spcBef>
                <a:spcPct val="0"/>
              </a:spcBef>
              <a:spcAft>
                <a:spcPct val="0"/>
              </a:spcAft>
            </a:pPr>
            <a:r>
              <a:rPr lang="zh-CN" altLang="en-US" sz="1200">
                <a:solidFill>
                  <a:schemeClr val="tx1">
                    <a:lumMod val="85000"/>
                    <a:lumOff val="15000"/>
                  </a:schemeClr>
                </a:solidFill>
                <a:latin typeface="+mn-ea"/>
                <a:cs typeface="+mn-ea"/>
                <a:sym typeface="+mn-ea"/>
              </a:rPr>
              <a:t>需求要体现出对问题领域的清晰理解，给出系统的使用场景和上下文。</a:t>
            </a:r>
            <a:endParaRPr lang="zh-CN" altLang="en-US" sz="1200">
              <a:solidFill>
                <a:schemeClr val="tx1">
                  <a:lumMod val="85000"/>
                  <a:lumOff val="15000"/>
                </a:schemeClr>
              </a:solidFill>
              <a:latin typeface="+mn-ea"/>
              <a:cs typeface="+mn-ea"/>
              <a:sym typeface="+mn-ea"/>
            </a:endParaRPr>
          </a:p>
          <a:p>
            <a:pPr algn="just">
              <a:lnSpc>
                <a:spcPct val="150000"/>
              </a:lnSpc>
              <a:spcBef>
                <a:spcPct val="0"/>
              </a:spcBef>
              <a:spcAft>
                <a:spcPct val="0"/>
              </a:spcAft>
            </a:pPr>
            <a:r>
              <a:rPr lang="zh-CN" altLang="en-US" sz="1200">
                <a:solidFill>
                  <a:schemeClr val="tx1">
                    <a:lumMod val="85000"/>
                    <a:lumOff val="15000"/>
                  </a:schemeClr>
                </a:solidFill>
                <a:latin typeface="+mn-ea"/>
                <a:cs typeface="+mn-ea"/>
                <a:sym typeface="+mn-ea"/>
              </a:rPr>
              <a:t>需求定义涵盖如下内容：</a:t>
            </a:r>
            <a:endParaRPr lang="zh-CN" altLang="en-US" sz="1200">
              <a:solidFill>
                <a:schemeClr val="tx1">
                  <a:lumMod val="85000"/>
                  <a:lumOff val="15000"/>
                </a:schemeClr>
              </a:solidFill>
              <a:latin typeface="+mn-ea"/>
              <a:cs typeface="+mn-ea"/>
              <a:sym typeface="+mn-ea"/>
            </a:endParaRPr>
          </a:p>
          <a:p>
            <a:pPr algn="just">
              <a:lnSpc>
                <a:spcPct val="150000"/>
              </a:lnSpc>
              <a:spcBef>
                <a:spcPct val="0"/>
              </a:spcBef>
              <a:spcAft>
                <a:spcPct val="0"/>
              </a:spcAft>
            </a:pPr>
            <a:r>
              <a:rPr lang="zh-CN" altLang="en-US" sz="1200">
                <a:solidFill>
                  <a:schemeClr val="tx1">
                    <a:lumMod val="85000"/>
                    <a:lumOff val="15000"/>
                  </a:schemeClr>
                </a:solidFill>
                <a:latin typeface="+mn-ea"/>
                <a:cs typeface="+mn-ea"/>
                <a:sym typeface="+mn-ea"/>
              </a:rPr>
              <a:t>系统要做什么	</a:t>
            </a:r>
            <a:endParaRPr lang="zh-CN" altLang="en-US" sz="1200">
              <a:solidFill>
                <a:schemeClr val="tx1">
                  <a:lumMod val="85000"/>
                  <a:lumOff val="15000"/>
                </a:schemeClr>
              </a:solidFill>
              <a:latin typeface="+mn-ea"/>
              <a:cs typeface="+mn-ea"/>
              <a:sym typeface="+mn-ea"/>
            </a:endParaRPr>
          </a:p>
          <a:p>
            <a:pPr algn="just">
              <a:lnSpc>
                <a:spcPct val="150000"/>
              </a:lnSpc>
              <a:spcBef>
                <a:spcPct val="0"/>
              </a:spcBef>
              <a:spcAft>
                <a:spcPct val="0"/>
              </a:spcAft>
            </a:pPr>
            <a:r>
              <a:rPr lang="zh-CN" altLang="en-US" sz="1200">
                <a:solidFill>
                  <a:schemeClr val="tx1">
                    <a:lumMod val="85000"/>
                    <a:lumOff val="15000"/>
                  </a:schemeClr>
                </a:solidFill>
                <a:latin typeface="+mn-ea"/>
                <a:cs typeface="+mn-ea"/>
                <a:sym typeface="+mn-ea"/>
              </a:rPr>
              <a:t>为什么要设计该系统	</a:t>
            </a:r>
            <a:endParaRPr lang="zh-CN" altLang="en-US" sz="1200">
              <a:solidFill>
                <a:schemeClr val="tx1">
                  <a:lumMod val="85000"/>
                  <a:lumOff val="15000"/>
                </a:schemeClr>
              </a:solidFill>
              <a:latin typeface="+mn-ea"/>
              <a:cs typeface="+mn-ea"/>
              <a:sym typeface="+mn-ea"/>
            </a:endParaRPr>
          </a:p>
          <a:p>
            <a:pPr algn="just">
              <a:lnSpc>
                <a:spcPct val="150000"/>
              </a:lnSpc>
              <a:spcBef>
                <a:spcPct val="0"/>
              </a:spcBef>
              <a:spcAft>
                <a:spcPct val="0"/>
              </a:spcAft>
            </a:pPr>
            <a:r>
              <a:rPr lang="zh-CN" altLang="en-US" sz="1200">
                <a:solidFill>
                  <a:schemeClr val="tx1">
                    <a:lumMod val="85000"/>
                    <a:lumOff val="15000"/>
                  </a:schemeClr>
                </a:solidFill>
                <a:latin typeface="+mn-ea"/>
                <a:cs typeface="+mn-ea"/>
                <a:sym typeface="+mn-ea"/>
              </a:rPr>
              <a:t>统由谁使用	</a:t>
            </a:r>
            <a:endParaRPr lang="zh-CN" altLang="en-US" sz="1200">
              <a:solidFill>
                <a:schemeClr val="tx1">
                  <a:lumMod val="85000"/>
                  <a:lumOff val="15000"/>
                </a:schemeClr>
              </a:solidFill>
              <a:latin typeface="+mn-ea"/>
              <a:cs typeface="+mn-ea"/>
              <a:sym typeface="+mn-ea"/>
            </a:endParaRPr>
          </a:p>
          <a:p>
            <a:pPr algn="just">
              <a:lnSpc>
                <a:spcPct val="150000"/>
              </a:lnSpc>
              <a:spcBef>
                <a:spcPct val="0"/>
              </a:spcBef>
              <a:spcAft>
                <a:spcPct val="0"/>
              </a:spcAft>
            </a:pPr>
            <a:r>
              <a:rPr lang="zh-CN" altLang="en-US" sz="1200">
                <a:solidFill>
                  <a:schemeClr val="tx1">
                    <a:lumMod val="85000"/>
                    <a:lumOff val="15000"/>
                  </a:schemeClr>
                </a:solidFill>
                <a:latin typeface="+mn-ea"/>
                <a:cs typeface="+mn-ea"/>
                <a:sym typeface="+mn-ea"/>
              </a:rPr>
              <a:t>统涉及哪些信息	</a:t>
            </a:r>
            <a:endParaRPr lang="zh-CN" altLang="en-US" sz="1200">
              <a:solidFill>
                <a:schemeClr val="tx1">
                  <a:lumMod val="85000"/>
                  <a:lumOff val="15000"/>
                </a:schemeClr>
              </a:solidFill>
              <a:latin typeface="+mn-ea"/>
              <a:cs typeface="+mn-ea"/>
              <a:sym typeface="+mn-ea"/>
            </a:endParaRPr>
          </a:p>
          <a:p>
            <a:pPr algn="just">
              <a:lnSpc>
                <a:spcPct val="150000"/>
              </a:lnSpc>
              <a:spcBef>
                <a:spcPct val="0"/>
              </a:spcBef>
              <a:spcAft>
                <a:spcPct val="0"/>
              </a:spcAft>
            </a:pPr>
            <a:r>
              <a:rPr lang="zh-CN" altLang="en-US" sz="1200">
                <a:solidFill>
                  <a:schemeClr val="tx1">
                    <a:lumMod val="85000"/>
                    <a:lumOff val="15000"/>
                  </a:schemeClr>
                </a:solidFill>
                <a:latin typeface="+mn-ea"/>
                <a:cs typeface="+mn-ea"/>
                <a:sym typeface="+mn-ea"/>
              </a:rPr>
              <a:t>解决方案有何额外限制</a:t>
            </a:r>
            <a:endParaRPr lang="zh-CN" altLang="en-US" sz="1200">
              <a:solidFill>
                <a:schemeClr val="tx1">
                  <a:lumMod val="85000"/>
                  <a:lumOff val="15000"/>
                </a:schemeClr>
              </a:solidFill>
              <a:latin typeface="+mn-ea"/>
              <a:cs typeface="+mn-ea"/>
              <a:sym typeface="+mn-ea"/>
            </a:endParaRPr>
          </a:p>
          <a:p>
            <a:pPr algn="just">
              <a:lnSpc>
                <a:spcPct val="150000"/>
              </a:lnSpc>
              <a:spcBef>
                <a:spcPct val="0"/>
              </a:spcBef>
              <a:spcAft>
                <a:spcPct val="0"/>
              </a:spcAft>
            </a:pPr>
            <a:r>
              <a:rPr lang="zh-CN" altLang="en-US" sz="1200">
                <a:solidFill>
                  <a:schemeClr val="tx1">
                    <a:lumMod val="85000"/>
                    <a:lumOff val="15000"/>
                  </a:schemeClr>
                </a:solidFill>
                <a:latin typeface="+mn-ea"/>
                <a:cs typeface="+mn-ea"/>
                <a:sym typeface="+mn-ea"/>
              </a:rPr>
              <a:t>何使用该系统	</a:t>
            </a:r>
            <a:endParaRPr lang="zh-CN" altLang="en-US" sz="1200">
              <a:solidFill>
                <a:schemeClr val="tx1">
                  <a:lumMod val="85000"/>
                  <a:lumOff val="15000"/>
                </a:schemeClr>
              </a:solidFill>
              <a:latin typeface="+mn-ea"/>
              <a:cs typeface="+mn-ea"/>
              <a:sym typeface="+mn-ea"/>
            </a:endParaRPr>
          </a:p>
          <a:p>
            <a:pPr algn="just">
              <a:lnSpc>
                <a:spcPct val="150000"/>
              </a:lnSpc>
              <a:spcBef>
                <a:spcPct val="0"/>
              </a:spcBef>
              <a:spcAft>
                <a:spcPct val="0"/>
              </a:spcAft>
            </a:pPr>
            <a:r>
              <a:rPr lang="zh-CN" altLang="en-US" sz="1200">
                <a:solidFill>
                  <a:schemeClr val="tx1">
                    <a:lumMod val="85000"/>
                    <a:lumOff val="15000"/>
                  </a:schemeClr>
                </a:solidFill>
                <a:latin typeface="+mn-ea"/>
                <a:cs typeface="+mn-ea"/>
                <a:sym typeface="+mn-ea"/>
              </a:rPr>
              <a:t>量需达到何种程度 	</a:t>
            </a:r>
            <a:endParaRPr lang="zh-CN" altLang="en-US" sz="1200">
              <a:solidFill>
                <a:schemeClr val="tx1">
                  <a:lumMod val="85000"/>
                  <a:lumOff val="15000"/>
                </a:schemeClr>
              </a:solidFill>
              <a:latin typeface="+mn-ea"/>
              <a:cs typeface="+mn-ea"/>
              <a:sym typeface="+mn-ea"/>
            </a:endParaRPr>
          </a:p>
          <a:p>
            <a:pPr algn="just">
              <a:lnSpc>
                <a:spcPct val="150000"/>
              </a:lnSpc>
              <a:spcBef>
                <a:spcPct val="0"/>
              </a:spcBef>
              <a:spcAft>
                <a:spcPct val="0"/>
              </a:spcAft>
            </a:pPr>
            <a:r>
              <a:rPr lang="zh-CN" altLang="en-US" sz="1200">
                <a:solidFill>
                  <a:schemeClr val="tx1">
                    <a:lumMod val="85000"/>
                    <a:lumOff val="15000"/>
                  </a:schemeClr>
                </a:solidFill>
                <a:latin typeface="+mn-ea"/>
                <a:cs typeface="+mn-ea"/>
                <a:sym typeface="+mn-ea"/>
              </a:rPr>
              <a:t>科学的思维方法</a:t>
            </a:r>
            <a:endParaRPr lang="zh-CN" altLang="en-US" sz="1200">
              <a:solidFill>
                <a:schemeClr val="tx1">
                  <a:lumMod val="85000"/>
                  <a:lumOff val="15000"/>
                </a:schemeClr>
              </a:solidFill>
              <a:latin typeface="+mn-ea"/>
              <a:cs typeface="+mn-ea"/>
              <a:sym typeface="+mn-ea"/>
            </a:endParaRPr>
          </a:p>
          <a:p>
            <a:pPr algn="just">
              <a:lnSpc>
                <a:spcPct val="150000"/>
              </a:lnSpc>
              <a:spcBef>
                <a:spcPct val="0"/>
              </a:spcBef>
              <a:spcAft>
                <a:spcPct val="0"/>
              </a:spcAft>
            </a:pPr>
            <a:r>
              <a:rPr lang="zh-CN" altLang="en-US" sz="1200">
                <a:solidFill>
                  <a:schemeClr val="tx1">
                    <a:lumMod val="85000"/>
                    <a:lumOff val="15000"/>
                  </a:schemeClr>
                </a:solidFill>
                <a:latin typeface="+mn-ea"/>
                <a:cs typeface="+mn-ea"/>
                <a:sym typeface="+mn-ea"/>
              </a:rPr>
              <a:t>软件工程</a:t>
            </a:r>
            <a:endParaRPr lang="zh-CN" altLang="en-US" sz="1200">
              <a:solidFill>
                <a:schemeClr val="tx1">
                  <a:lumMod val="85000"/>
                  <a:lumOff val="15000"/>
                </a:schemeClr>
              </a:solidFill>
              <a:latin typeface="+mn-ea"/>
              <a:cs typeface="+mn-ea"/>
              <a:sym typeface="+mn-ea"/>
            </a:endParaRPr>
          </a:p>
        </p:txBody>
      </p:sp>
      <p:sp>
        <p:nvSpPr>
          <p:cNvPr id="3" name="矩形 2"/>
          <p:cNvSpPr/>
          <p:nvPr>
            <p:custDataLst>
              <p:tags r:id="rId4"/>
            </p:custDataLst>
          </p:nvPr>
        </p:nvSpPr>
        <p:spPr>
          <a:xfrm>
            <a:off x="3716179" y="1279843"/>
            <a:ext cx="4834890" cy="373856"/>
          </a:xfrm>
          <a:prstGeom prst="rect">
            <a:avLst/>
          </a:prstGeom>
          <a:noFill/>
        </p:spPr>
        <p:txBody>
          <a:bodyPr wrap="square" lIns="0" tIns="0" rIns="0" bIns="0" rtlCol="0" anchor="b">
            <a:normAutofit/>
          </a:bodyPr>
          <a:lstStyle/>
          <a:p>
            <a:pPr>
              <a:spcBef>
                <a:spcPct val="0"/>
              </a:spcBef>
              <a:spcAft>
                <a:spcPct val="0"/>
              </a:spcAft>
            </a:pPr>
            <a:r>
              <a:rPr lang="zh-CN" altLang="en-US" b="1">
                <a:solidFill>
                  <a:schemeClr val="accent1"/>
                </a:solidFill>
                <a:latin typeface="+mn-ea"/>
                <a:cs typeface="+mn-ea"/>
                <a:sym typeface="+mn-ea"/>
              </a:rPr>
              <a:t>单击此处添加项标题</a:t>
            </a:r>
            <a:endParaRPr lang="zh-CN" altLang="en-US" b="1">
              <a:solidFill>
                <a:schemeClr val="accent1"/>
              </a:solidFill>
              <a:latin typeface="+mn-ea"/>
              <a:cs typeface="+mn-ea"/>
              <a:sym typeface="+mn-ea"/>
            </a:endParaRPr>
          </a:p>
        </p:txBody>
      </p:sp>
      <p:pic>
        <p:nvPicPr>
          <p:cNvPr id="10" name="图片 9" descr="8168369_"/>
          <p:cNvPicPr>
            <a:picLocks noChangeAspect="1"/>
          </p:cNvPicPr>
          <p:nvPr>
            <p:custDataLst>
              <p:tags r:id="rId5"/>
            </p:custDataLst>
          </p:nvPr>
        </p:nvPicPr>
        <p:blipFill>
          <a:blip r:embed="rId6"/>
          <a:srcRect l="7431" r="7431"/>
          <a:stretch>
            <a:fillRect/>
          </a:stretch>
        </p:blipFill>
        <p:spPr>
          <a:xfrm>
            <a:off x="772543" y="1638794"/>
            <a:ext cx="2444591" cy="2375059"/>
          </a:xfrm>
          <a:custGeom>
            <a:avLst/>
            <a:gdLst/>
            <a:ahLst/>
            <a:cxnLst>
              <a:cxn ang="3">
                <a:pos x="hc" y="t"/>
              </a:cxn>
              <a:cxn ang="cd2">
                <a:pos x="l" y="vc"/>
              </a:cxn>
              <a:cxn ang="cd4">
                <a:pos x="hc" y="b"/>
              </a:cxn>
              <a:cxn ang="0">
                <a:pos x="r" y="vc"/>
              </a:cxn>
            </a:cxnLst>
            <a:rect l="l" t="t" r="r" b="b"/>
            <a:pathLst>
              <a:path w="5133" h="4987">
                <a:moveTo>
                  <a:pt x="0" y="0"/>
                </a:moveTo>
                <a:lnTo>
                  <a:pt x="5133" y="0"/>
                </a:lnTo>
                <a:lnTo>
                  <a:pt x="5133" y="4987"/>
                </a:lnTo>
                <a:lnTo>
                  <a:pt x="0" y="4987"/>
                </a:lnTo>
                <a:lnTo>
                  <a:pt x="0" y="0"/>
                </a:lnTo>
                <a:close/>
              </a:path>
            </a:pathLst>
          </a:custGeom>
          <a:ln>
            <a:gradFill>
              <a:gsLst>
                <a:gs pos="0">
                  <a:schemeClr val="accent1">
                    <a:alpha val="0"/>
                  </a:schemeClr>
                </a:gs>
                <a:gs pos="100000">
                  <a:schemeClr val="accent1"/>
                </a:gs>
              </a:gsLst>
              <a:lin ang="16200000" scaled="1"/>
            </a:gradFill>
          </a:ln>
        </p:spPr>
      </p:pic>
      <p:sp>
        <p:nvSpPr>
          <p:cNvPr id="115" name="任意多边形: 形状 114"/>
          <p:cNvSpPr/>
          <p:nvPr>
            <p:custDataLst>
              <p:tags r:id="rId7"/>
            </p:custDataLst>
          </p:nvPr>
        </p:nvSpPr>
        <p:spPr>
          <a:xfrm>
            <a:off x="588812" y="1420298"/>
            <a:ext cx="2812052" cy="2812052"/>
          </a:xfrm>
          <a:custGeom>
            <a:avLst/>
            <a:gdLst>
              <a:gd name="connsiteX0" fmla="*/ 0 w 3749402"/>
              <a:gd name="connsiteY0" fmla="*/ 0 h 3749402"/>
              <a:gd name="connsiteX1" fmla="*/ 3749402 w 3749402"/>
              <a:gd name="connsiteY1" fmla="*/ 0 h 3749402"/>
              <a:gd name="connsiteX2" fmla="*/ 3749402 w 3749402"/>
              <a:gd name="connsiteY2" fmla="*/ 3749402 h 3749402"/>
              <a:gd name="connsiteX3" fmla="*/ 3242443 w 3749402"/>
              <a:gd name="connsiteY3" fmla="*/ 3749402 h 3749402"/>
              <a:gd name="connsiteX4" fmla="*/ 3230680 w 3749402"/>
              <a:gd name="connsiteY4" fmla="*/ 3702351 h 3749402"/>
              <a:gd name="connsiteX5" fmla="*/ 2396290 w 3749402"/>
              <a:gd name="connsiteY5" fmla="*/ 3702351 h 3749402"/>
              <a:gd name="connsiteX6" fmla="*/ 2384527 w 3749402"/>
              <a:gd name="connsiteY6" fmla="*/ 3749402 h 3749402"/>
              <a:gd name="connsiteX7" fmla="*/ 2309755 w 3749402"/>
              <a:gd name="connsiteY7" fmla="*/ 3749402 h 3749402"/>
              <a:gd name="connsiteX8" fmla="*/ 2297992 w 3749402"/>
              <a:gd name="connsiteY8" fmla="*/ 3702351 h 3749402"/>
              <a:gd name="connsiteX9" fmla="*/ 1463602 w 3749402"/>
              <a:gd name="connsiteY9" fmla="*/ 3702351 h 3749402"/>
              <a:gd name="connsiteX10" fmla="*/ 1451839 w 3749402"/>
              <a:gd name="connsiteY10" fmla="*/ 3749402 h 3749402"/>
              <a:gd name="connsiteX11" fmla="*/ 1364875 w 3749402"/>
              <a:gd name="connsiteY11" fmla="*/ 3749402 h 3749402"/>
              <a:gd name="connsiteX12" fmla="*/ 1353112 w 3749402"/>
              <a:gd name="connsiteY12" fmla="*/ 3702351 h 3749402"/>
              <a:gd name="connsiteX13" fmla="*/ 518722 w 3749402"/>
              <a:gd name="connsiteY13" fmla="*/ 3702351 h 3749402"/>
              <a:gd name="connsiteX14" fmla="*/ 506959 w 3749402"/>
              <a:gd name="connsiteY14" fmla="*/ 3749402 h 3749402"/>
              <a:gd name="connsiteX15" fmla="*/ 0 w 3749402"/>
              <a:gd name="connsiteY15" fmla="*/ 3749402 h 3749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49402" h="3749402">
                <a:moveTo>
                  <a:pt x="0" y="0"/>
                </a:moveTo>
                <a:lnTo>
                  <a:pt x="3749402" y="0"/>
                </a:lnTo>
                <a:lnTo>
                  <a:pt x="3749402" y="3749402"/>
                </a:lnTo>
                <a:lnTo>
                  <a:pt x="3242443" y="3749402"/>
                </a:lnTo>
                <a:lnTo>
                  <a:pt x="3230680" y="3702351"/>
                </a:lnTo>
                <a:lnTo>
                  <a:pt x="2396290" y="3702351"/>
                </a:lnTo>
                <a:lnTo>
                  <a:pt x="2384527" y="3749402"/>
                </a:lnTo>
                <a:lnTo>
                  <a:pt x="2309755" y="3749402"/>
                </a:lnTo>
                <a:lnTo>
                  <a:pt x="2297992" y="3702351"/>
                </a:lnTo>
                <a:lnTo>
                  <a:pt x="1463602" y="3702351"/>
                </a:lnTo>
                <a:lnTo>
                  <a:pt x="1451839" y="3749402"/>
                </a:lnTo>
                <a:lnTo>
                  <a:pt x="1364875" y="3749402"/>
                </a:lnTo>
                <a:lnTo>
                  <a:pt x="1353112" y="3702351"/>
                </a:lnTo>
                <a:lnTo>
                  <a:pt x="518722" y="3702351"/>
                </a:lnTo>
                <a:lnTo>
                  <a:pt x="506959" y="3749402"/>
                </a:lnTo>
                <a:lnTo>
                  <a:pt x="0" y="3749402"/>
                </a:lnTo>
                <a:close/>
              </a:path>
            </a:pathLst>
          </a:custGeom>
          <a:noFill/>
          <a:ln w="6350">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a:p>
        </p:txBody>
      </p:sp>
      <p:sp>
        <p:nvSpPr>
          <p:cNvPr id="105" name="矩形 104"/>
          <p:cNvSpPr/>
          <p:nvPr>
            <p:custDataLst>
              <p:tags r:id="rId8"/>
            </p:custDataLst>
          </p:nvPr>
        </p:nvSpPr>
        <p:spPr>
          <a:xfrm>
            <a:off x="551260" y="1391723"/>
            <a:ext cx="73247" cy="732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6" name="矩形 105"/>
          <p:cNvSpPr/>
          <p:nvPr>
            <p:custDataLst>
              <p:tags r:id="rId9"/>
            </p:custDataLst>
          </p:nvPr>
        </p:nvSpPr>
        <p:spPr>
          <a:xfrm>
            <a:off x="551260" y="4183865"/>
            <a:ext cx="73247" cy="732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7" name="矩形 106"/>
          <p:cNvSpPr/>
          <p:nvPr>
            <p:custDataLst>
              <p:tags r:id="rId10"/>
            </p:custDataLst>
          </p:nvPr>
        </p:nvSpPr>
        <p:spPr>
          <a:xfrm>
            <a:off x="3363040" y="1395533"/>
            <a:ext cx="73247" cy="732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8" name="矩形 107"/>
          <p:cNvSpPr/>
          <p:nvPr>
            <p:custDataLst>
              <p:tags r:id="rId11"/>
            </p:custDataLst>
          </p:nvPr>
        </p:nvSpPr>
        <p:spPr>
          <a:xfrm>
            <a:off x="3363040" y="4187675"/>
            <a:ext cx="73247" cy="732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6" name="任意多边形: 形状 115"/>
          <p:cNvSpPr/>
          <p:nvPr>
            <p:custDataLst>
              <p:tags r:id="rId12"/>
            </p:custDataLst>
          </p:nvPr>
        </p:nvSpPr>
        <p:spPr>
          <a:xfrm>
            <a:off x="631508" y="4226780"/>
            <a:ext cx="948690" cy="54293"/>
          </a:xfrm>
          <a:custGeom>
            <a:avLst/>
            <a:gdLst>
              <a:gd name="connsiteX0" fmla="*/ 0 w 1264920"/>
              <a:gd name="connsiteY0" fmla="*/ 72390 h 72390"/>
              <a:gd name="connsiteX1" fmla="*/ 480060 w 1264920"/>
              <a:gd name="connsiteY1" fmla="*/ 72390 h 72390"/>
              <a:gd name="connsiteX2" fmla="*/ 491490 w 1264920"/>
              <a:gd name="connsiteY2" fmla="*/ 0 h 72390"/>
              <a:gd name="connsiteX3" fmla="*/ 1253490 w 1264920"/>
              <a:gd name="connsiteY3" fmla="*/ 0 h 72390"/>
              <a:gd name="connsiteX4" fmla="*/ 1264920 w 1264920"/>
              <a:gd name="connsiteY4" fmla="*/ 0 h 72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4920" h="72390">
                <a:moveTo>
                  <a:pt x="0" y="72390"/>
                </a:moveTo>
                <a:lnTo>
                  <a:pt x="480060" y="72390"/>
                </a:lnTo>
                <a:lnTo>
                  <a:pt x="491490" y="0"/>
                </a:lnTo>
                <a:lnTo>
                  <a:pt x="1253490" y="0"/>
                </a:lnTo>
                <a:lnTo>
                  <a:pt x="1264920" y="0"/>
                </a:lnTo>
              </a:path>
            </a:pathLst>
          </a:custGeom>
          <a:noFill/>
          <a:ln w="12700">
            <a:solidFill>
              <a:schemeClr val="accent1">
                <a:alpha val="7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6" name="任意多边形 35"/>
          <p:cNvSpPr/>
          <p:nvPr>
            <p:custDataLst>
              <p:tags r:id="rId13"/>
            </p:custDataLst>
          </p:nvPr>
        </p:nvSpPr>
        <p:spPr>
          <a:xfrm rot="5400000">
            <a:off x="2984659" y="3781425"/>
            <a:ext cx="681038" cy="46196"/>
          </a:xfrm>
          <a:custGeom>
            <a:avLst/>
            <a:gdLst>
              <a:gd name="adj" fmla="val 25000"/>
              <a:gd name="maxAdj" fmla="*/ 100000 w ss"/>
              <a:gd name="a" fmla="pin 0 adj maxAdj"/>
              <a:gd name="x1" fmla="*/ ss a 200000"/>
              <a:gd name="x2" fmla="*/ ss a 100000"/>
              <a:gd name="x6" fmla="+- r 0 x1"/>
              <a:gd name="x5" fmla="+- r 0 x2"/>
              <a:gd name="x3" fmla="*/ x5 1 2"/>
              <a:gd name="x4" fmla="+- r 0 x3"/>
              <a:gd name="il" fmla="*/ wd2 a maxAdj"/>
              <a:gd name="q1" fmla="*/ 5 a maxAdj"/>
              <a:gd name="q2" fmla="+/ 1 q1 12"/>
              <a:gd name="il-1" fmla="*/ q2 w 1"/>
              <a:gd name="it" fmla="*/ q2 h 1"/>
              <a:gd name="ir" fmla="+- r 0 il-1"/>
              <a:gd name="ib" fmla="+- b 0 it"/>
              <a:gd name="q3" fmla="*/ h hc x2"/>
              <a:gd name="y1" fmla="pin 0 q3 h"/>
              <a:gd name="y2" fmla="+- b 0 y1"/>
            </a:gdLst>
            <a:ahLst/>
            <a:cxnLst>
              <a:cxn ang="3">
                <a:pos x="hc" y="y2"/>
              </a:cxn>
              <a:cxn ang="3">
                <a:pos x="x4" y="t"/>
              </a:cxn>
              <a:cxn ang="0">
                <a:pos x="x6" y="vc"/>
              </a:cxn>
              <a:cxn ang="cd4">
                <a:pos x="x3" y="b"/>
              </a:cxn>
              <a:cxn ang="cd4">
                <a:pos x="hc" y="y1"/>
              </a:cxn>
              <a:cxn ang="cd2">
                <a:pos x="x1" y="vc"/>
              </a:cxn>
            </a:cxnLst>
            <a:rect l="l" t="t" r="r" b="b"/>
            <a:pathLst>
              <a:path w="1430" h="97">
                <a:moveTo>
                  <a:pt x="0" y="97"/>
                </a:moveTo>
                <a:lnTo>
                  <a:pt x="24" y="0"/>
                </a:lnTo>
                <a:lnTo>
                  <a:pt x="101" y="0"/>
                </a:lnTo>
                <a:lnTo>
                  <a:pt x="77" y="97"/>
                </a:lnTo>
                <a:lnTo>
                  <a:pt x="0" y="97"/>
                </a:lnTo>
                <a:close/>
                <a:moveTo>
                  <a:pt x="133" y="97"/>
                </a:moveTo>
                <a:lnTo>
                  <a:pt x="157" y="0"/>
                </a:lnTo>
                <a:lnTo>
                  <a:pt x="234" y="0"/>
                </a:lnTo>
                <a:lnTo>
                  <a:pt x="210" y="97"/>
                </a:lnTo>
                <a:lnTo>
                  <a:pt x="133" y="97"/>
                </a:lnTo>
                <a:close/>
                <a:moveTo>
                  <a:pt x="266" y="97"/>
                </a:moveTo>
                <a:lnTo>
                  <a:pt x="290" y="0"/>
                </a:lnTo>
                <a:lnTo>
                  <a:pt x="367" y="0"/>
                </a:lnTo>
                <a:lnTo>
                  <a:pt x="343" y="97"/>
                </a:lnTo>
                <a:lnTo>
                  <a:pt x="266" y="97"/>
                </a:lnTo>
                <a:close/>
                <a:moveTo>
                  <a:pt x="399" y="97"/>
                </a:moveTo>
                <a:lnTo>
                  <a:pt x="423" y="0"/>
                </a:lnTo>
                <a:lnTo>
                  <a:pt x="500" y="0"/>
                </a:lnTo>
                <a:lnTo>
                  <a:pt x="476" y="97"/>
                </a:lnTo>
                <a:lnTo>
                  <a:pt x="399" y="97"/>
                </a:lnTo>
                <a:close/>
                <a:moveTo>
                  <a:pt x="532" y="97"/>
                </a:moveTo>
                <a:lnTo>
                  <a:pt x="556" y="0"/>
                </a:lnTo>
                <a:lnTo>
                  <a:pt x="633" y="0"/>
                </a:lnTo>
                <a:lnTo>
                  <a:pt x="609" y="97"/>
                </a:lnTo>
                <a:lnTo>
                  <a:pt x="532" y="97"/>
                </a:lnTo>
                <a:close/>
                <a:moveTo>
                  <a:pt x="664" y="97"/>
                </a:moveTo>
                <a:lnTo>
                  <a:pt x="688" y="0"/>
                </a:lnTo>
                <a:lnTo>
                  <a:pt x="765" y="0"/>
                </a:lnTo>
                <a:lnTo>
                  <a:pt x="741" y="97"/>
                </a:lnTo>
                <a:lnTo>
                  <a:pt x="664" y="97"/>
                </a:lnTo>
                <a:close/>
                <a:moveTo>
                  <a:pt x="797" y="97"/>
                </a:moveTo>
                <a:lnTo>
                  <a:pt x="821" y="0"/>
                </a:lnTo>
                <a:lnTo>
                  <a:pt x="898" y="0"/>
                </a:lnTo>
                <a:lnTo>
                  <a:pt x="874" y="97"/>
                </a:lnTo>
                <a:lnTo>
                  <a:pt x="797" y="97"/>
                </a:lnTo>
                <a:close/>
                <a:moveTo>
                  <a:pt x="930" y="97"/>
                </a:moveTo>
                <a:lnTo>
                  <a:pt x="954" y="0"/>
                </a:lnTo>
                <a:lnTo>
                  <a:pt x="1031" y="0"/>
                </a:lnTo>
                <a:lnTo>
                  <a:pt x="1007" y="97"/>
                </a:lnTo>
                <a:lnTo>
                  <a:pt x="930" y="97"/>
                </a:lnTo>
                <a:close/>
                <a:moveTo>
                  <a:pt x="1063" y="97"/>
                </a:moveTo>
                <a:lnTo>
                  <a:pt x="1087" y="0"/>
                </a:lnTo>
                <a:lnTo>
                  <a:pt x="1164" y="0"/>
                </a:lnTo>
                <a:lnTo>
                  <a:pt x="1140" y="97"/>
                </a:lnTo>
                <a:lnTo>
                  <a:pt x="1063" y="97"/>
                </a:lnTo>
                <a:close/>
                <a:moveTo>
                  <a:pt x="1196" y="97"/>
                </a:moveTo>
                <a:lnTo>
                  <a:pt x="1220" y="0"/>
                </a:lnTo>
                <a:lnTo>
                  <a:pt x="1297" y="0"/>
                </a:lnTo>
                <a:lnTo>
                  <a:pt x="1273" y="97"/>
                </a:lnTo>
                <a:lnTo>
                  <a:pt x="1196" y="97"/>
                </a:lnTo>
                <a:close/>
                <a:moveTo>
                  <a:pt x="1329" y="97"/>
                </a:moveTo>
                <a:lnTo>
                  <a:pt x="1353" y="0"/>
                </a:lnTo>
                <a:lnTo>
                  <a:pt x="1430" y="0"/>
                </a:lnTo>
                <a:lnTo>
                  <a:pt x="1406" y="97"/>
                </a:lnTo>
                <a:lnTo>
                  <a:pt x="1329" y="97"/>
                </a:lnTo>
                <a:close/>
              </a:path>
            </a:pathLst>
          </a:custGeom>
          <a:gradFill flip="none" rotWithShape="1">
            <a:gsLst>
              <a:gs pos="0">
                <a:schemeClr val="accent1"/>
              </a:gs>
              <a:gs pos="100000">
                <a:schemeClr val="accent1">
                  <a:alpha val="0"/>
                </a:schemeClr>
              </a:gs>
            </a:gsLst>
            <a:lin ang="0" scaled="0"/>
            <a:tileRect/>
          </a:gradFill>
          <a:ln>
            <a:noFill/>
          </a:ln>
          <a:effectLst>
            <a:outerShdw blurRad="127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latin typeface="MiSans Normal" panose="00000500000000000000" charset="-122"/>
              <a:ea typeface="MiSans Normal" panose="00000500000000000000" charset="-122"/>
              <a:sym typeface="MiSans Normal" panose="00000500000000000000" charset="-122"/>
            </a:endParaRPr>
          </a:p>
        </p:txBody>
      </p:sp>
      <p:sp>
        <p:nvSpPr>
          <p:cNvPr id="4" name="任意多边形: 形状 115"/>
          <p:cNvSpPr/>
          <p:nvPr>
            <p:custDataLst>
              <p:tags r:id="rId14"/>
            </p:custDataLst>
          </p:nvPr>
        </p:nvSpPr>
        <p:spPr>
          <a:xfrm flipH="1">
            <a:off x="2405063" y="4226780"/>
            <a:ext cx="948690" cy="54293"/>
          </a:xfrm>
          <a:custGeom>
            <a:avLst/>
            <a:gdLst>
              <a:gd name="connsiteX0" fmla="*/ 0 w 1264920"/>
              <a:gd name="connsiteY0" fmla="*/ 72390 h 72390"/>
              <a:gd name="connsiteX1" fmla="*/ 480060 w 1264920"/>
              <a:gd name="connsiteY1" fmla="*/ 72390 h 72390"/>
              <a:gd name="connsiteX2" fmla="*/ 491490 w 1264920"/>
              <a:gd name="connsiteY2" fmla="*/ 0 h 72390"/>
              <a:gd name="connsiteX3" fmla="*/ 1253490 w 1264920"/>
              <a:gd name="connsiteY3" fmla="*/ 0 h 72390"/>
              <a:gd name="connsiteX4" fmla="*/ 1264920 w 1264920"/>
              <a:gd name="connsiteY4" fmla="*/ 0 h 72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4920" h="72390">
                <a:moveTo>
                  <a:pt x="0" y="72390"/>
                </a:moveTo>
                <a:lnTo>
                  <a:pt x="480060" y="72390"/>
                </a:lnTo>
                <a:lnTo>
                  <a:pt x="491490" y="0"/>
                </a:lnTo>
                <a:lnTo>
                  <a:pt x="1253490" y="0"/>
                </a:lnTo>
                <a:lnTo>
                  <a:pt x="1264920" y="0"/>
                </a:lnTo>
              </a:path>
            </a:pathLst>
          </a:custGeom>
          <a:noFill/>
          <a:ln w="12700">
            <a:solidFill>
              <a:schemeClr val="accent1">
                <a:alpha val="7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 name="日期占位符 4"/>
          <p:cNvSpPr>
            <a:spLocks noGrp="1"/>
          </p:cNvSpPr>
          <p:nvPr>
            <p:ph type="dt" sz="half" idx="10"/>
          </p:nvPr>
        </p:nvSpPr>
        <p:spPr/>
        <p:txBody>
          <a:bodyPr/>
          <a:p>
            <a:fld id="{5902FD77-8323-485D-87E2-91A0E9C84954}" type="datetime1">
              <a:rPr lang="zh-CN" altLang="en-US" smtClean="0"/>
            </a:fld>
            <a:endParaRPr lang="zh-CN" altLang="en-US"/>
          </a:p>
        </p:txBody>
      </p:sp>
      <p:sp>
        <p:nvSpPr>
          <p:cNvPr id="6" name="页脚占位符 5"/>
          <p:cNvSpPr>
            <a:spLocks noGrp="1"/>
          </p:cNvSpPr>
          <p:nvPr>
            <p:ph type="ftr" sz="quarter" idx="11"/>
          </p:nvPr>
        </p:nvSpPr>
        <p:spPr/>
        <p:txBody>
          <a:bodyPr/>
          <a:p>
            <a:r>
              <a:rPr lang="zh-CN" altLang="en-US"/>
              <a:t>软件工程</a:t>
            </a:r>
            <a:endParaRPr lang="zh-CN" altLang="en-US"/>
          </a:p>
        </p:txBody>
      </p:sp>
      <p:sp>
        <p:nvSpPr>
          <p:cNvPr id="7" name="灯片编号占位符 6"/>
          <p:cNvSpPr>
            <a:spLocks noGrp="1"/>
          </p:cNvSpPr>
          <p:nvPr>
            <p:ph type="sldNum" sz="quarter" idx="12"/>
          </p:nvPr>
        </p:nvSpPr>
        <p:spPr/>
        <p:txBody>
          <a:bodyPr/>
          <a:p>
            <a:fld id="{F528F39D-B5E5-4CA7-906C-979D5A62978D}" type="slidenum">
              <a:rPr lang="zh-CN" altLang="en-US" smtClean="0"/>
            </a:fld>
            <a:endParaRPr lang="zh-CN" altLang="en-US"/>
          </a:p>
        </p:txBody>
      </p:sp>
    </p:spTree>
    <p:custDataLst>
      <p:tags r:id="rId15"/>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需求内容的来源</a:t>
            </a:r>
            <a:endParaRPr lang="zh-CN" altLang="en-US" dirty="0"/>
          </a:p>
        </p:txBody>
      </p:sp>
      <p:sp>
        <p:nvSpPr>
          <p:cNvPr id="3" name="内容占位符 2"/>
          <p:cNvSpPr>
            <a:spLocks noGrp="1"/>
          </p:cNvSpPr>
          <p:nvPr>
            <p:ph idx="1"/>
          </p:nvPr>
        </p:nvSpPr>
        <p:spPr>
          <a:xfrm>
            <a:off x="768096" y="852977"/>
            <a:ext cx="7832833" cy="3806854"/>
          </a:xfrm>
        </p:spPr>
        <p:txBody>
          <a:bodyPr>
            <a:noAutofit/>
          </a:bodyPr>
          <a:lstStyle/>
          <a:p>
            <a:pPr marL="151130" indent="-514350">
              <a:lnSpc>
                <a:spcPct val="100000"/>
              </a:lnSpc>
              <a:spcBef>
                <a:spcPts val="600"/>
              </a:spcBef>
              <a:buFont typeface="+mj-lt"/>
              <a:buAutoNum type="arabicPeriod"/>
            </a:pPr>
            <a:r>
              <a:rPr lang="zh-CN" altLang="en-US" sz="2200" dirty="0"/>
              <a:t>干系人</a:t>
            </a:r>
            <a:r>
              <a:rPr lang="zh-CN" altLang="en-US" sz="2400" dirty="0"/>
              <a:t>：</a:t>
            </a:r>
            <a:r>
              <a:rPr lang="zh-CN" altLang="en-US" sz="2200" dirty="0"/>
              <a:t>任何与系统有关系的人</a:t>
            </a:r>
            <a:endParaRPr lang="zh-CN" altLang="en-US" sz="2200" dirty="0"/>
          </a:p>
          <a:p>
            <a:pPr marL="151130" indent="-514350">
              <a:lnSpc>
                <a:spcPct val="100000"/>
              </a:lnSpc>
              <a:spcBef>
                <a:spcPts val="600"/>
              </a:spcBef>
              <a:buFont typeface="+mj-lt"/>
              <a:buAutoNum type="arabicPeriod"/>
            </a:pPr>
            <a:r>
              <a:rPr lang="zh-CN" altLang="en-US" sz="2200" dirty="0"/>
              <a:t>业务过程</a:t>
            </a:r>
            <a:endParaRPr lang="zh-CN" altLang="en-US" sz="2200" dirty="0"/>
          </a:p>
          <a:p>
            <a:pPr marL="151130" indent="-514350">
              <a:lnSpc>
                <a:spcPct val="100000"/>
              </a:lnSpc>
              <a:spcBef>
                <a:spcPts val="600"/>
              </a:spcBef>
              <a:buFont typeface="+mj-lt"/>
              <a:buAutoNum type="arabicPeriod"/>
            </a:pPr>
            <a:r>
              <a:rPr lang="zh-CN" altLang="en-US" sz="2200" dirty="0"/>
              <a:t>组织规章制度：组织规范、协议、技术标准</a:t>
            </a:r>
            <a:endParaRPr lang="zh-CN" altLang="en-US" sz="2200" dirty="0"/>
          </a:p>
          <a:p>
            <a:pPr marL="151130" indent="-514350">
              <a:lnSpc>
                <a:spcPct val="100000"/>
              </a:lnSpc>
              <a:spcBef>
                <a:spcPts val="600"/>
              </a:spcBef>
              <a:buFont typeface="+mj-lt"/>
              <a:buAutoNum type="arabicPeriod"/>
            </a:pPr>
            <a:r>
              <a:rPr lang="zh-CN" altLang="en-US" sz="2200" dirty="0"/>
              <a:t>现有系统的：</a:t>
            </a:r>
            <a:endParaRPr lang="zh-CN" altLang="en-US" sz="2200" dirty="0"/>
          </a:p>
          <a:p>
            <a:pPr marL="817245" lvl="1" indent="-457200">
              <a:lnSpc>
                <a:spcPct val="100000"/>
              </a:lnSpc>
              <a:spcBef>
                <a:spcPts val="600"/>
              </a:spcBef>
              <a:buFont typeface="+mj-lt"/>
              <a:buAutoNum type="alphaLcPeriod"/>
            </a:pPr>
            <a:r>
              <a:rPr lang="zh-CN" altLang="en-US" sz="2200" dirty="0"/>
              <a:t>用户手册</a:t>
            </a:r>
            <a:endParaRPr lang="zh-CN" altLang="en-US" sz="2200" dirty="0"/>
          </a:p>
          <a:p>
            <a:pPr marL="817245" lvl="1" indent="-457200">
              <a:lnSpc>
                <a:spcPct val="100000"/>
              </a:lnSpc>
              <a:spcBef>
                <a:spcPts val="600"/>
              </a:spcBef>
              <a:buFont typeface="+mj-lt"/>
              <a:buAutoNum type="alphaLcPeriod"/>
            </a:pPr>
            <a:r>
              <a:rPr lang="zh-CN" altLang="en-US" sz="2200" dirty="0"/>
              <a:t>数据样本</a:t>
            </a:r>
            <a:endParaRPr lang="zh-CN" altLang="en-US" sz="2200" dirty="0"/>
          </a:p>
          <a:p>
            <a:pPr marL="817245" lvl="1" indent="-457200">
              <a:lnSpc>
                <a:spcPct val="100000"/>
              </a:lnSpc>
              <a:spcBef>
                <a:spcPts val="600"/>
              </a:spcBef>
              <a:buFont typeface="+mj-lt"/>
              <a:buAutoNum type="alphaLcPeriod"/>
            </a:pPr>
            <a:r>
              <a:rPr lang="zh-CN" altLang="en-US" sz="2200" dirty="0"/>
              <a:t>界面描述</a:t>
            </a:r>
            <a:endParaRPr lang="zh-CN" altLang="en-US" sz="2200" dirty="0"/>
          </a:p>
          <a:p>
            <a:pPr marL="817245" lvl="1" indent="-457200">
              <a:lnSpc>
                <a:spcPct val="100000"/>
              </a:lnSpc>
              <a:spcBef>
                <a:spcPts val="600"/>
              </a:spcBef>
              <a:buFont typeface="+mj-lt"/>
              <a:buAutoNum type="alphaLcPeriod"/>
            </a:pPr>
            <a:r>
              <a:rPr lang="zh-CN" altLang="en-US" sz="2200" dirty="0"/>
              <a:t>报告样本</a:t>
            </a:r>
            <a:endParaRPr lang="zh-CN" altLang="en-US" sz="2200" dirty="0"/>
          </a:p>
          <a:p>
            <a:pPr marL="817245" lvl="1" indent="-457200">
              <a:lnSpc>
                <a:spcPct val="100000"/>
              </a:lnSpc>
              <a:spcBef>
                <a:spcPts val="600"/>
              </a:spcBef>
              <a:buFont typeface="+mj-lt"/>
              <a:buAutoNum type="alphaLcPeriod"/>
            </a:pPr>
            <a:r>
              <a:rPr lang="zh-CN" altLang="en-US" sz="2200" dirty="0"/>
              <a:t>屏幕截图</a:t>
            </a:r>
            <a:endParaRPr lang="zh-CN" altLang="en-US" sz="2200" dirty="0"/>
          </a:p>
        </p:txBody>
      </p:sp>
      <p:sp>
        <p:nvSpPr>
          <p:cNvPr id="4" name="日期占位符 3"/>
          <p:cNvSpPr>
            <a:spLocks noGrp="1"/>
          </p:cNvSpPr>
          <p:nvPr>
            <p:ph type="dt" sz="half" idx="10"/>
          </p:nvPr>
        </p:nvSpPr>
        <p:spPr/>
        <p:txBody>
          <a:bodyPr/>
          <a:lstStyle/>
          <a:p>
            <a:fld id="{D7326FFE-7CCA-4C0D-B453-625569992FBB}"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8" name="图片 7"/>
          <p:cNvPicPr>
            <a:picLocks noChangeAspect="1"/>
          </p:cNvPicPr>
          <p:nvPr/>
        </p:nvPicPr>
        <p:blipFill rotWithShape="1">
          <a:blip r:embed="rId1">
            <a:clrChange>
              <a:clrFrom>
                <a:srgbClr val="F6F2F1"/>
              </a:clrFrom>
              <a:clrTo>
                <a:srgbClr val="F6F2F1">
                  <a:alpha val="0"/>
                </a:srgbClr>
              </a:clrTo>
            </a:clrChange>
            <a:extLst>
              <a:ext uri="{28A0092B-C50C-407E-A947-70E740481C1C}">
                <a14:useLocalDpi xmlns:a14="http://schemas.microsoft.com/office/drawing/2010/main" val="0"/>
              </a:ext>
            </a:extLst>
          </a:blip>
          <a:srcRect l="4040" t="11717" r="9058" b="9939"/>
          <a:stretch>
            <a:fillRect/>
          </a:stretch>
        </p:blipFill>
        <p:spPr>
          <a:xfrm>
            <a:off x="5220998" y="2542273"/>
            <a:ext cx="3693694" cy="2117558"/>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干系人</a:t>
            </a:r>
            <a:r>
              <a:rPr lang="en-US" altLang="zh-CN" cap="none" spc="80">
                <a:solidFill>
                  <a:schemeClr val="bg1"/>
                </a:solidFill>
                <a:uFillTx/>
              </a:rPr>
              <a:t>(stakeholders)</a:t>
            </a:r>
            <a:endParaRPr lang="en-US" altLang="zh-CN" cap="none" spc="80">
              <a:solidFill>
                <a:schemeClr val="bg1"/>
              </a:solidFill>
              <a:uFillTx/>
            </a:endParaRPr>
          </a:p>
        </p:txBody>
      </p:sp>
      <p:sp>
        <p:nvSpPr>
          <p:cNvPr id="3" name="内容占位符 2"/>
          <p:cNvSpPr>
            <a:spLocks noGrp="1"/>
          </p:cNvSpPr>
          <p:nvPr>
            <p:ph idx="1"/>
          </p:nvPr>
        </p:nvSpPr>
        <p:spPr>
          <a:xfrm>
            <a:off x="768097" y="828647"/>
            <a:ext cx="7832833" cy="3806854"/>
          </a:xfrm>
        </p:spPr>
        <p:txBody>
          <a:bodyPr/>
          <a:p>
            <a:pPr fontAlgn="auto">
              <a:spcBef>
                <a:spcPts val="0"/>
              </a:spcBef>
            </a:pPr>
            <a:r>
              <a:rPr lang="zh-CN" altLang="en-US" sz="2000"/>
              <a:t>干系人是任何和系统有关的⼈</a:t>
            </a:r>
            <a:endParaRPr lang="zh-CN" altLang="en-US" sz="2000"/>
          </a:p>
          <a:p>
            <a:pPr marL="0" indent="0" fontAlgn="auto">
              <a:spcBef>
                <a:spcPts val="0"/>
              </a:spcBef>
              <a:buNone/>
            </a:pPr>
            <a:r>
              <a:rPr lang="en-US" altLang="zh-CN" sz="2000"/>
              <a:t>      	</a:t>
            </a:r>
            <a:r>
              <a:rPr lang="zh-CN" altLang="en-US" sz="2000"/>
              <a:t>资方、客户、系统用户、领域专家、项目研发团队</a:t>
            </a:r>
            <a:endParaRPr lang="zh-CN" altLang="en-US" sz="2000"/>
          </a:p>
          <a:p>
            <a:pPr marL="0" indent="0" fontAlgn="auto">
              <a:spcBef>
                <a:spcPts val="0"/>
              </a:spcBef>
              <a:buNone/>
            </a:pPr>
            <a:r>
              <a:rPr lang="zh-CN" altLang="en-US" sz="2000"/>
              <a:t>	</a:t>
            </a:r>
            <a:endParaRPr lang="zh-CN" altLang="en-US" sz="2000"/>
          </a:p>
        </p:txBody>
      </p:sp>
      <p:sp>
        <p:nvSpPr>
          <p:cNvPr id="4" name="日期占位符 3"/>
          <p:cNvSpPr>
            <a:spLocks noGrp="1"/>
          </p:cNvSpPr>
          <p:nvPr>
            <p:ph type="dt" sz="half" idx="10"/>
          </p:nvPr>
        </p:nvSpPr>
        <p:spPr/>
        <p:txBody>
          <a:bodyPr/>
          <a:p>
            <a:fld id="{D7326FFE-7CCA-4C0D-B453-625569992FB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grpSp>
        <p:nvGrpSpPr>
          <p:cNvPr id="7" name="组合 6"/>
          <p:cNvGrpSpPr/>
          <p:nvPr/>
        </p:nvGrpSpPr>
        <p:grpSpPr>
          <a:xfrm>
            <a:off x="1653540" y="1675130"/>
            <a:ext cx="5711190" cy="2258060"/>
            <a:chOff x="1236889" y="2191657"/>
            <a:chExt cx="6480175" cy="3321730"/>
          </a:xfrm>
        </p:grpSpPr>
        <p:sp>
          <p:nvSpPr>
            <p:cNvPr id="8" name="Text Box 36"/>
            <p:cNvSpPr txBox="1">
              <a:spLocks noChangeArrowheads="1"/>
            </p:cNvSpPr>
            <p:nvPr/>
          </p:nvSpPr>
          <p:spPr bwMode="auto">
            <a:xfrm>
              <a:off x="1236889" y="2191657"/>
              <a:ext cx="2060575" cy="3321730"/>
            </a:xfrm>
            <a:prstGeom prst="rect">
              <a:avLst/>
            </a:prstGeom>
            <a:noFill/>
            <a:ln w="9525" algn="ctr">
              <a:solidFill>
                <a:srgbClr val="000000"/>
              </a:solidFill>
              <a:miter lim="800000"/>
            </a:ln>
            <a:extLst>
              <a:ext uri="{909E8E84-426E-40DD-AFC4-6F175D3DCCD1}">
                <a14:hiddenFill xmlns:a14="http://schemas.microsoft.com/office/drawing/2010/main">
                  <a:solidFill>
                    <a:srgbClr val="FFFFFF"/>
                  </a:solidFill>
                </a14:hiddenFill>
              </a:ext>
            </a:extLst>
          </p:spPr>
          <p:txBody>
            <a:bodyPr vert="eaVert" l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b="1" dirty="0">
                <a:latin typeface="Times New Roman" panose="02020603050405020304" pitchFamily="18" charset="0"/>
              </a:endParaRPr>
            </a:p>
            <a:p>
              <a:pPr eaLnBrk="1" hangingPunct="1"/>
              <a:endParaRPr lang="zh-CN" altLang="en-US" sz="1600" b="1" dirty="0">
                <a:latin typeface="Times New Roman" panose="02020603050405020304" pitchFamily="18" charset="0"/>
              </a:endParaRPr>
            </a:p>
            <a:p>
              <a:pPr eaLnBrk="1" hangingPunct="1"/>
              <a:r>
                <a:rPr lang="zh-CN" altLang="en-US" sz="1600" b="1" dirty="0">
                  <a:latin typeface="Times New Roman" panose="02020603050405020304" pitchFamily="18" charset="0"/>
                </a:rPr>
                <a:t>         </a:t>
              </a:r>
              <a:endParaRPr lang="zh-CN" altLang="en-US" sz="1600" b="1" dirty="0">
                <a:latin typeface="Times New Roman" panose="02020603050405020304" pitchFamily="18" charset="0"/>
              </a:endParaRPr>
            </a:p>
            <a:p>
              <a:pPr eaLnBrk="1" hangingPunct="1"/>
              <a:endParaRPr lang="zh-CN" altLang="en-US" sz="1600" b="1" dirty="0">
                <a:latin typeface="Times New Roman" panose="02020603050405020304" pitchFamily="18" charset="0"/>
              </a:endParaRPr>
            </a:p>
            <a:p>
              <a:pPr eaLnBrk="1" hangingPunct="1"/>
              <a:endParaRPr lang="zh-CN" altLang="en-US" sz="1600" b="1" dirty="0">
                <a:latin typeface="Times New Roman" panose="02020603050405020304" pitchFamily="18" charset="0"/>
              </a:endParaRPr>
            </a:p>
            <a:p>
              <a:pPr eaLnBrk="1" hangingPunct="1"/>
              <a:r>
                <a:rPr lang="zh-CN" altLang="en-US" sz="1600" b="1" dirty="0">
                  <a:latin typeface="华文楷体" panose="02010600040101010101" pitchFamily="2" charset="-122"/>
                  <a:ea typeface="华文楷体" panose="02010600040101010101" pitchFamily="2" charset="-122"/>
                </a:rPr>
                <a:t>开  发  方</a:t>
              </a:r>
              <a:endParaRPr lang="zh-CN" altLang="en-US" sz="1600" b="1" dirty="0"/>
            </a:p>
          </p:txBody>
        </p:sp>
        <p:sp>
          <p:nvSpPr>
            <p:cNvPr id="9" name="Text Box 37"/>
            <p:cNvSpPr txBox="1">
              <a:spLocks noChangeArrowheads="1"/>
            </p:cNvSpPr>
            <p:nvPr/>
          </p:nvSpPr>
          <p:spPr bwMode="auto">
            <a:xfrm>
              <a:off x="5527902" y="2191657"/>
              <a:ext cx="2189162" cy="3321730"/>
            </a:xfrm>
            <a:prstGeom prst="rect">
              <a:avLst/>
            </a:prstGeom>
            <a:noFill/>
            <a:ln w="9525" algn="ctr">
              <a:solidFill>
                <a:srgbClr val="000000"/>
              </a:solidFill>
              <a:miter lim="800000"/>
            </a:ln>
            <a:extLst>
              <a:ext uri="{909E8E84-426E-40DD-AFC4-6F175D3DCCD1}">
                <a14:hiddenFill xmlns:a14="http://schemas.microsoft.com/office/drawing/2010/main">
                  <a:solidFill>
                    <a:srgbClr val="FFFFFF"/>
                  </a:solidFill>
                </a14:hiddenFill>
              </a:ext>
            </a:extLst>
          </p:spPr>
          <p:txBody>
            <a:bodyPr vert="eaVert"/>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华文楷体" panose="02010600040101010101" pitchFamily="2" charset="-122"/>
                  <a:ea typeface="华文楷体" panose="02010600040101010101" pitchFamily="2" charset="-122"/>
                </a:rPr>
                <a:t>用  户  方</a:t>
              </a:r>
              <a:endParaRPr lang="zh-CN" altLang="en-US" sz="1600" b="1"/>
            </a:p>
          </p:txBody>
        </p:sp>
        <p:grpSp>
          <p:nvGrpSpPr>
            <p:cNvPr id="10" name="Group 38"/>
            <p:cNvGrpSpPr/>
            <p:nvPr/>
          </p:nvGrpSpPr>
          <p:grpSpPr bwMode="auto">
            <a:xfrm>
              <a:off x="1919514" y="2344737"/>
              <a:ext cx="1028700" cy="933450"/>
              <a:chOff x="2862" y="4455"/>
              <a:chExt cx="942" cy="676"/>
            </a:xfrm>
          </p:grpSpPr>
          <p:sp>
            <p:nvSpPr>
              <p:cNvPr id="33" name="Text Box 39"/>
              <p:cNvSpPr txBox="1">
                <a:spLocks noChangeArrowheads="1"/>
              </p:cNvSpPr>
              <p:nvPr/>
            </p:nvSpPr>
            <p:spPr bwMode="auto">
              <a:xfrm>
                <a:off x="2862" y="4848"/>
                <a:ext cx="942" cy="28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t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zh-CN" altLang="en-US" sz="1600" b="1" dirty="0">
                    <a:latin typeface="Times New Roman" panose="02020603050405020304" pitchFamily="18" charset="0"/>
                  </a:rPr>
                  <a:t>分析师</a:t>
                </a:r>
                <a:endParaRPr lang="zh-CN" altLang="en-US" sz="1600" b="1" dirty="0"/>
              </a:p>
            </p:txBody>
          </p:sp>
          <p:graphicFrame>
            <p:nvGraphicFramePr>
              <p:cNvPr id="34" name="Object 40"/>
              <p:cNvGraphicFramePr>
                <a:graphicFrameLocks noChangeAspect="1"/>
              </p:cNvGraphicFramePr>
              <p:nvPr/>
            </p:nvGraphicFramePr>
            <p:xfrm>
              <a:off x="3132" y="4455"/>
              <a:ext cx="336" cy="495"/>
            </p:xfrm>
            <a:graphic>
              <a:graphicData uri="http://schemas.openxmlformats.org/presentationml/2006/ole">
                <mc:AlternateContent xmlns:mc="http://schemas.openxmlformats.org/markup-compatibility/2006">
                  <mc:Choice xmlns:v="urn:schemas-microsoft-com:vml" Requires="v">
                    <p:oleObj spid="_x0000_s11" name="Visio" r:id="rId1" imgW="5943600" imgH="11449050" progId="">
                      <p:embed/>
                    </p:oleObj>
                  </mc:Choice>
                  <mc:Fallback>
                    <p:oleObj name="Visio" r:id="rId1" imgW="5943600" imgH="11449050" progId="">
                      <p:embed/>
                      <p:pic>
                        <p:nvPicPr>
                          <p:cNvPr id="0" name="Object 4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2" y="4455"/>
                            <a:ext cx="336" cy="4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2" name="Oval 41"/>
            <p:cNvSpPr>
              <a:spLocks noChangeArrowheads="1"/>
            </p:cNvSpPr>
            <p:nvPr/>
          </p:nvSpPr>
          <p:spPr bwMode="auto">
            <a:xfrm>
              <a:off x="3465739" y="3429000"/>
              <a:ext cx="1684338" cy="1244600"/>
            </a:xfrm>
            <a:prstGeom prst="ellipse">
              <a:avLst/>
            </a:prstGeom>
          </p:spPr>
          <p:style>
            <a:lnRef idx="1">
              <a:schemeClr val="accent2"/>
            </a:lnRef>
            <a:fillRef idx="3">
              <a:schemeClr val="accent2"/>
            </a:fillRef>
            <a:effectRef idx="2">
              <a:schemeClr val="accent2"/>
            </a:effectRef>
            <a:fontRef idx="minor">
              <a:schemeClr val="lt1"/>
            </a:fontRef>
          </p:style>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b="1">
                  <a:solidFill>
                    <a:schemeClr val="bg1"/>
                  </a:solidFill>
                  <a:latin typeface="+mj-ea"/>
                  <a:ea typeface="+mj-ea"/>
                </a:rPr>
                <a:t>需求分析</a:t>
              </a:r>
              <a:endParaRPr lang="zh-CN" altLang="en-US" sz="2400" b="1">
                <a:solidFill>
                  <a:schemeClr val="bg1"/>
                </a:solidFill>
                <a:latin typeface="+mj-ea"/>
                <a:ea typeface="+mj-ea"/>
              </a:endParaRPr>
            </a:p>
          </p:txBody>
        </p:sp>
        <p:sp>
          <p:nvSpPr>
            <p:cNvPr id="13" name="Freeform 42"/>
            <p:cNvSpPr/>
            <p:nvPr/>
          </p:nvSpPr>
          <p:spPr bwMode="auto">
            <a:xfrm>
              <a:off x="2927577" y="3248025"/>
              <a:ext cx="687387" cy="474662"/>
            </a:xfrm>
            <a:custGeom>
              <a:avLst/>
              <a:gdLst>
                <a:gd name="T0" fmla="*/ 0 w 630"/>
                <a:gd name="T1" fmla="*/ 0 h 345"/>
                <a:gd name="T2" fmla="*/ 687387 w 630"/>
                <a:gd name="T3" fmla="*/ 474662 h 345"/>
                <a:gd name="T4" fmla="*/ 0 60000 65536"/>
                <a:gd name="T5" fmla="*/ 0 60000 65536"/>
                <a:gd name="T6" fmla="*/ 0 w 630"/>
                <a:gd name="T7" fmla="*/ 0 h 345"/>
                <a:gd name="T8" fmla="*/ 630 w 630"/>
                <a:gd name="T9" fmla="*/ 345 h 345"/>
              </a:gdLst>
              <a:ahLst/>
              <a:cxnLst>
                <a:cxn ang="T4">
                  <a:pos x="T0" y="T1"/>
                </a:cxn>
                <a:cxn ang="T5">
                  <a:pos x="T2" y="T3"/>
                </a:cxn>
              </a:cxnLst>
              <a:rect l="T6" t="T7" r="T8" b="T9"/>
              <a:pathLst>
                <a:path w="630" h="345">
                  <a:moveTo>
                    <a:pt x="0" y="0"/>
                  </a:moveTo>
                  <a:lnTo>
                    <a:pt x="630" y="345"/>
                  </a:lnTo>
                </a:path>
              </a:pathLst>
            </a:custGeom>
            <a:noFill/>
            <a:ln w="9525">
              <a:solidFill>
                <a:srgbClr val="000000"/>
              </a:solidFill>
              <a:round/>
              <a:tailEnd type="triangle" w="med" len="med"/>
            </a:ln>
            <a:extLst>
              <a:ext uri="{909E8E84-426E-40DD-AFC4-6F175D3DCCD1}">
                <a14:hiddenFill xmlns:a14="http://schemas.microsoft.com/office/drawing/2010/main">
                  <a:solidFill>
                    <a:srgbClr val="FFFFFF"/>
                  </a:solidFill>
                </a14:hiddenFill>
              </a:ext>
            </a:extLst>
          </p:spPr>
          <p:txBody>
            <a:bodyPr vert="eaVert"/>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14" name="Freeform 43"/>
            <p:cNvSpPr/>
            <p:nvPr/>
          </p:nvSpPr>
          <p:spPr bwMode="auto">
            <a:xfrm>
              <a:off x="2943452" y="4075112"/>
              <a:ext cx="539750" cy="20638"/>
            </a:xfrm>
            <a:custGeom>
              <a:avLst/>
              <a:gdLst>
                <a:gd name="T0" fmla="*/ 0 w 495"/>
                <a:gd name="T1" fmla="*/ 20638 h 15"/>
                <a:gd name="T2" fmla="*/ 539750 w 495"/>
                <a:gd name="T3" fmla="*/ 0 h 15"/>
                <a:gd name="T4" fmla="*/ 0 60000 65536"/>
                <a:gd name="T5" fmla="*/ 0 60000 65536"/>
                <a:gd name="T6" fmla="*/ 0 w 495"/>
                <a:gd name="T7" fmla="*/ 0 h 15"/>
                <a:gd name="T8" fmla="*/ 495 w 495"/>
                <a:gd name="T9" fmla="*/ 15 h 15"/>
              </a:gdLst>
              <a:ahLst/>
              <a:cxnLst>
                <a:cxn ang="T4">
                  <a:pos x="T0" y="T1"/>
                </a:cxn>
                <a:cxn ang="T5">
                  <a:pos x="T2" y="T3"/>
                </a:cxn>
              </a:cxnLst>
              <a:rect l="T6" t="T7" r="T8" b="T9"/>
              <a:pathLst>
                <a:path w="495" h="15">
                  <a:moveTo>
                    <a:pt x="0" y="15"/>
                  </a:moveTo>
                  <a:lnTo>
                    <a:pt x="495" y="0"/>
                  </a:lnTo>
                </a:path>
              </a:pathLst>
            </a:custGeom>
            <a:noFill/>
            <a:ln w="9525">
              <a:solidFill>
                <a:srgbClr val="000000"/>
              </a:solidFill>
              <a:round/>
              <a:tailEnd type="triangle" w="med" len="med"/>
            </a:ln>
            <a:extLst>
              <a:ext uri="{909E8E84-426E-40DD-AFC4-6F175D3DCCD1}">
                <a14:hiddenFill xmlns:a14="http://schemas.microsoft.com/office/drawing/2010/main">
                  <a:solidFill>
                    <a:srgbClr val="FFFFFF"/>
                  </a:solidFill>
                </a14:hiddenFill>
              </a:ext>
            </a:extLst>
          </p:spPr>
          <p:txBody>
            <a:bodyPr vert="eaVert"/>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15" name="Freeform 44"/>
            <p:cNvSpPr/>
            <p:nvPr/>
          </p:nvSpPr>
          <p:spPr bwMode="auto">
            <a:xfrm>
              <a:off x="2975202" y="4365625"/>
              <a:ext cx="590550" cy="703262"/>
            </a:xfrm>
            <a:custGeom>
              <a:avLst/>
              <a:gdLst>
                <a:gd name="T0" fmla="*/ 0 w 540"/>
                <a:gd name="T1" fmla="*/ 703262 h 510"/>
                <a:gd name="T2" fmla="*/ 590550 w 540"/>
                <a:gd name="T3" fmla="*/ 0 h 510"/>
                <a:gd name="T4" fmla="*/ 0 60000 65536"/>
                <a:gd name="T5" fmla="*/ 0 60000 65536"/>
                <a:gd name="T6" fmla="*/ 0 w 540"/>
                <a:gd name="T7" fmla="*/ 0 h 510"/>
                <a:gd name="T8" fmla="*/ 540 w 540"/>
                <a:gd name="T9" fmla="*/ 510 h 510"/>
              </a:gdLst>
              <a:ahLst/>
              <a:cxnLst>
                <a:cxn ang="T4">
                  <a:pos x="T0" y="T1"/>
                </a:cxn>
                <a:cxn ang="T5">
                  <a:pos x="T2" y="T3"/>
                </a:cxn>
              </a:cxnLst>
              <a:rect l="T6" t="T7" r="T8" b="T9"/>
              <a:pathLst>
                <a:path w="540" h="510">
                  <a:moveTo>
                    <a:pt x="0" y="510"/>
                  </a:moveTo>
                  <a:lnTo>
                    <a:pt x="540" y="0"/>
                  </a:lnTo>
                </a:path>
              </a:pathLst>
            </a:custGeom>
            <a:noFill/>
            <a:ln w="9525">
              <a:solidFill>
                <a:srgbClr val="000000"/>
              </a:solidFill>
              <a:round/>
              <a:tailEnd type="triangle" w="med" len="med"/>
            </a:ln>
            <a:extLst>
              <a:ext uri="{909E8E84-426E-40DD-AFC4-6F175D3DCCD1}">
                <a14:hiddenFill xmlns:a14="http://schemas.microsoft.com/office/drawing/2010/main">
                  <a:solidFill>
                    <a:srgbClr val="FFFFFF"/>
                  </a:solidFill>
                </a14:hiddenFill>
              </a:ext>
            </a:extLst>
          </p:spPr>
          <p:txBody>
            <a:bodyPr vert="eaVert"/>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16" name="Line 45"/>
            <p:cNvSpPr>
              <a:spLocks noChangeShapeType="1"/>
            </p:cNvSpPr>
            <p:nvPr/>
          </p:nvSpPr>
          <p:spPr bwMode="auto">
            <a:xfrm flipH="1">
              <a:off x="5043714" y="3043237"/>
              <a:ext cx="644525" cy="69850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vert="eaVert"/>
            <a:lstStyle/>
            <a:p>
              <a:endParaRPr lang="zh-CN" altLang="en-US" sz="1600"/>
            </a:p>
          </p:txBody>
        </p:sp>
        <p:sp>
          <p:nvSpPr>
            <p:cNvPr id="17" name="Freeform 46"/>
            <p:cNvSpPr/>
            <p:nvPr/>
          </p:nvSpPr>
          <p:spPr bwMode="auto">
            <a:xfrm>
              <a:off x="5142139" y="4137025"/>
              <a:ext cx="573088" cy="20637"/>
            </a:xfrm>
            <a:custGeom>
              <a:avLst/>
              <a:gdLst>
                <a:gd name="T0" fmla="*/ 573088 w 525"/>
                <a:gd name="T1" fmla="*/ 20637 h 15"/>
                <a:gd name="T2" fmla="*/ 0 w 525"/>
                <a:gd name="T3" fmla="*/ 0 h 15"/>
                <a:gd name="T4" fmla="*/ 0 60000 65536"/>
                <a:gd name="T5" fmla="*/ 0 60000 65536"/>
                <a:gd name="T6" fmla="*/ 0 w 525"/>
                <a:gd name="T7" fmla="*/ 0 h 15"/>
                <a:gd name="T8" fmla="*/ 525 w 525"/>
                <a:gd name="T9" fmla="*/ 15 h 15"/>
              </a:gdLst>
              <a:ahLst/>
              <a:cxnLst>
                <a:cxn ang="T4">
                  <a:pos x="T0" y="T1"/>
                </a:cxn>
                <a:cxn ang="T5">
                  <a:pos x="T2" y="T3"/>
                </a:cxn>
              </a:cxnLst>
              <a:rect l="T6" t="T7" r="T8" b="T9"/>
              <a:pathLst>
                <a:path w="525" h="15">
                  <a:moveTo>
                    <a:pt x="525" y="15"/>
                  </a:moveTo>
                  <a:lnTo>
                    <a:pt x="0" y="0"/>
                  </a:lnTo>
                </a:path>
              </a:pathLst>
            </a:custGeom>
            <a:noFill/>
            <a:ln w="9525">
              <a:solidFill>
                <a:srgbClr val="000000"/>
              </a:solidFill>
              <a:round/>
              <a:tailEnd type="triangle" w="med" len="med"/>
            </a:ln>
            <a:extLst>
              <a:ext uri="{909E8E84-426E-40DD-AFC4-6F175D3DCCD1}">
                <a14:hiddenFill xmlns:a14="http://schemas.microsoft.com/office/drawing/2010/main">
                  <a:solidFill>
                    <a:srgbClr val="FFFFFF"/>
                  </a:solidFill>
                </a14:hiddenFill>
              </a:ext>
            </a:extLst>
          </p:spPr>
          <p:txBody>
            <a:bodyPr vert="eaVert"/>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18" name="Freeform 47"/>
            <p:cNvSpPr/>
            <p:nvPr/>
          </p:nvSpPr>
          <p:spPr bwMode="auto">
            <a:xfrm>
              <a:off x="5027839" y="4386262"/>
              <a:ext cx="622300" cy="847725"/>
            </a:xfrm>
            <a:custGeom>
              <a:avLst/>
              <a:gdLst>
                <a:gd name="T0" fmla="*/ 622300 w 570"/>
                <a:gd name="T1" fmla="*/ 847725 h 615"/>
                <a:gd name="T2" fmla="*/ 0 w 570"/>
                <a:gd name="T3" fmla="*/ 0 h 615"/>
                <a:gd name="T4" fmla="*/ 0 60000 65536"/>
                <a:gd name="T5" fmla="*/ 0 60000 65536"/>
                <a:gd name="T6" fmla="*/ 0 w 570"/>
                <a:gd name="T7" fmla="*/ 0 h 615"/>
                <a:gd name="T8" fmla="*/ 570 w 570"/>
                <a:gd name="T9" fmla="*/ 615 h 615"/>
              </a:gdLst>
              <a:ahLst/>
              <a:cxnLst>
                <a:cxn ang="T4">
                  <a:pos x="T0" y="T1"/>
                </a:cxn>
                <a:cxn ang="T5">
                  <a:pos x="T2" y="T3"/>
                </a:cxn>
              </a:cxnLst>
              <a:rect l="T6" t="T7" r="T8" b="T9"/>
              <a:pathLst>
                <a:path w="570" h="615">
                  <a:moveTo>
                    <a:pt x="570" y="615"/>
                  </a:moveTo>
                  <a:lnTo>
                    <a:pt x="0" y="0"/>
                  </a:lnTo>
                </a:path>
              </a:pathLst>
            </a:custGeom>
            <a:noFill/>
            <a:ln w="9525">
              <a:solidFill>
                <a:srgbClr val="000000"/>
              </a:solidFill>
              <a:round/>
              <a:tailEnd type="triangle" w="med" len="med"/>
            </a:ln>
            <a:extLst>
              <a:ext uri="{909E8E84-426E-40DD-AFC4-6F175D3DCCD1}">
                <a14:hiddenFill xmlns:a14="http://schemas.microsoft.com/office/drawing/2010/main">
                  <a:solidFill>
                    <a:srgbClr val="FFFFFF"/>
                  </a:solidFill>
                </a14:hiddenFill>
              </a:ext>
            </a:extLst>
          </p:spPr>
          <p:txBody>
            <a:bodyPr vert="eaVert"/>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nvGrpSpPr>
            <p:cNvPr id="19" name="Group 48"/>
            <p:cNvGrpSpPr/>
            <p:nvPr/>
          </p:nvGrpSpPr>
          <p:grpSpPr bwMode="auto">
            <a:xfrm>
              <a:off x="1935389" y="3429000"/>
              <a:ext cx="1028700" cy="933450"/>
              <a:chOff x="2862" y="4455"/>
              <a:chExt cx="942" cy="676"/>
            </a:xfrm>
          </p:grpSpPr>
          <p:sp>
            <p:nvSpPr>
              <p:cNvPr id="31" name="Text Box 49"/>
              <p:cNvSpPr txBox="1">
                <a:spLocks noChangeArrowheads="1"/>
              </p:cNvSpPr>
              <p:nvPr/>
            </p:nvSpPr>
            <p:spPr bwMode="auto">
              <a:xfrm>
                <a:off x="2862" y="4848"/>
                <a:ext cx="942" cy="28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t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zh-CN" altLang="en-US" sz="1600" b="1">
                    <a:latin typeface="Times New Roman" panose="02020603050405020304" pitchFamily="18" charset="0"/>
                  </a:rPr>
                  <a:t>设计师</a:t>
                </a:r>
                <a:endParaRPr lang="zh-CN" altLang="en-US" sz="1600" b="1"/>
              </a:p>
            </p:txBody>
          </p:sp>
          <p:graphicFrame>
            <p:nvGraphicFramePr>
              <p:cNvPr id="32" name="Object 50"/>
              <p:cNvGraphicFramePr>
                <a:graphicFrameLocks noChangeAspect="1"/>
              </p:cNvGraphicFramePr>
              <p:nvPr/>
            </p:nvGraphicFramePr>
            <p:xfrm>
              <a:off x="3132" y="4455"/>
              <a:ext cx="336" cy="495"/>
            </p:xfrm>
            <a:graphic>
              <a:graphicData uri="http://schemas.openxmlformats.org/presentationml/2006/ole">
                <mc:AlternateContent xmlns:mc="http://schemas.openxmlformats.org/markup-compatibility/2006">
                  <mc:Choice xmlns:v="urn:schemas-microsoft-com:vml" Requires="v">
                    <p:oleObj spid="_x0000_s20" name="Visio" r:id="rId3" imgW="5943600" imgH="11449050" progId="">
                      <p:embed/>
                    </p:oleObj>
                  </mc:Choice>
                  <mc:Fallback>
                    <p:oleObj name="Visio" r:id="rId3" imgW="5943600" imgH="11449050" progId="">
                      <p:embed/>
                      <p:pic>
                        <p:nvPicPr>
                          <p:cNvPr id="0" name="Object 5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2" y="4455"/>
                            <a:ext cx="336" cy="4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1" name="Group 51"/>
            <p:cNvGrpSpPr/>
            <p:nvPr/>
          </p:nvGrpSpPr>
          <p:grpSpPr bwMode="auto">
            <a:xfrm>
              <a:off x="1970314" y="4514850"/>
              <a:ext cx="1028700" cy="931862"/>
              <a:chOff x="2862" y="4455"/>
              <a:chExt cx="942" cy="676"/>
            </a:xfrm>
          </p:grpSpPr>
          <p:sp>
            <p:nvSpPr>
              <p:cNvPr id="29" name="Text Box 52"/>
              <p:cNvSpPr txBox="1">
                <a:spLocks noChangeArrowheads="1"/>
              </p:cNvSpPr>
              <p:nvPr/>
            </p:nvSpPr>
            <p:spPr bwMode="auto">
              <a:xfrm>
                <a:off x="2862" y="4848"/>
                <a:ext cx="942" cy="28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t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zh-CN" altLang="en-US" sz="1600" b="1">
                    <a:latin typeface="Times New Roman" panose="02020603050405020304" pitchFamily="18" charset="0"/>
                  </a:rPr>
                  <a:t>架构师</a:t>
                </a:r>
                <a:endParaRPr lang="zh-CN" altLang="en-US" sz="1600" b="1"/>
              </a:p>
            </p:txBody>
          </p:sp>
          <p:graphicFrame>
            <p:nvGraphicFramePr>
              <p:cNvPr id="30" name="Object 53"/>
              <p:cNvGraphicFramePr>
                <a:graphicFrameLocks noChangeAspect="1"/>
              </p:cNvGraphicFramePr>
              <p:nvPr/>
            </p:nvGraphicFramePr>
            <p:xfrm>
              <a:off x="3132" y="4455"/>
              <a:ext cx="336" cy="495"/>
            </p:xfrm>
            <a:graphic>
              <a:graphicData uri="http://schemas.openxmlformats.org/presentationml/2006/ole">
                <mc:AlternateContent xmlns:mc="http://schemas.openxmlformats.org/markup-compatibility/2006">
                  <mc:Choice xmlns:v="urn:schemas-microsoft-com:vml" Requires="v">
                    <p:oleObj spid="_x0000_s22" name="Visio" r:id="rId4" imgW="5943600" imgH="11449050" progId="">
                      <p:embed/>
                    </p:oleObj>
                  </mc:Choice>
                  <mc:Fallback>
                    <p:oleObj name="Visio" r:id="rId4" imgW="5943600" imgH="11449050" progId="">
                      <p:embed/>
                      <p:pic>
                        <p:nvPicPr>
                          <p:cNvPr id="0" name="Object 5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2" y="4455"/>
                            <a:ext cx="336" cy="4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3" name="Group 54"/>
            <p:cNvGrpSpPr/>
            <p:nvPr/>
          </p:nvGrpSpPr>
          <p:grpSpPr bwMode="auto">
            <a:xfrm>
              <a:off x="5650139" y="2344737"/>
              <a:ext cx="1282700" cy="925513"/>
              <a:chOff x="6156" y="8385"/>
              <a:chExt cx="1174" cy="671"/>
            </a:xfrm>
          </p:grpSpPr>
          <p:sp>
            <p:nvSpPr>
              <p:cNvPr id="27" name="Text Box 55"/>
              <p:cNvSpPr txBox="1">
                <a:spLocks noChangeArrowheads="1"/>
              </p:cNvSpPr>
              <p:nvPr/>
            </p:nvSpPr>
            <p:spPr bwMode="auto">
              <a:xfrm>
                <a:off x="6156" y="8778"/>
                <a:ext cx="1174" cy="27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t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zh-CN" altLang="en-US" sz="1600" b="1">
                    <a:latin typeface="Times New Roman" panose="02020603050405020304" pitchFamily="18" charset="0"/>
                  </a:rPr>
                  <a:t>部门负责</a:t>
                </a:r>
                <a:endParaRPr lang="zh-CN" altLang="en-US" sz="1600" b="1"/>
              </a:p>
            </p:txBody>
          </p:sp>
          <p:graphicFrame>
            <p:nvGraphicFramePr>
              <p:cNvPr id="28" name="Object 56"/>
              <p:cNvGraphicFramePr>
                <a:graphicFrameLocks noChangeAspect="1"/>
              </p:cNvGraphicFramePr>
              <p:nvPr/>
            </p:nvGraphicFramePr>
            <p:xfrm>
              <a:off x="6538" y="8385"/>
              <a:ext cx="336" cy="495"/>
            </p:xfrm>
            <a:graphic>
              <a:graphicData uri="http://schemas.openxmlformats.org/presentationml/2006/ole">
                <mc:AlternateContent xmlns:mc="http://schemas.openxmlformats.org/markup-compatibility/2006">
                  <mc:Choice xmlns:v="urn:schemas-microsoft-com:vml" Requires="v">
                    <p:oleObj spid="_x0000_s24" name="Visio" r:id="rId5" imgW="5943600" imgH="11449050" progId="">
                      <p:embed/>
                    </p:oleObj>
                  </mc:Choice>
                  <mc:Fallback>
                    <p:oleObj name="Visio" r:id="rId5" imgW="5943600" imgH="11449050" progId="">
                      <p:embed/>
                      <p:pic>
                        <p:nvPicPr>
                          <p:cNvPr id="0" name="Object 5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38" y="8385"/>
                            <a:ext cx="336" cy="4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5" name="Group 57"/>
            <p:cNvGrpSpPr/>
            <p:nvPr/>
          </p:nvGrpSpPr>
          <p:grpSpPr bwMode="auto">
            <a:xfrm>
              <a:off x="5650139" y="3429000"/>
              <a:ext cx="1282700" cy="927100"/>
              <a:chOff x="6156" y="8385"/>
              <a:chExt cx="1174" cy="671"/>
            </a:xfrm>
          </p:grpSpPr>
          <p:sp>
            <p:nvSpPr>
              <p:cNvPr id="26" name="Text Box 58"/>
              <p:cNvSpPr txBox="1">
                <a:spLocks noChangeArrowheads="1"/>
              </p:cNvSpPr>
              <p:nvPr/>
            </p:nvSpPr>
            <p:spPr bwMode="auto">
              <a:xfrm>
                <a:off x="6156" y="8778"/>
                <a:ext cx="1174" cy="27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t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zh-CN" altLang="en-US" sz="1600" b="1">
                    <a:latin typeface="Times New Roman" panose="02020603050405020304" pitchFamily="18" charset="0"/>
                  </a:rPr>
                  <a:t>领域专家</a:t>
                </a:r>
                <a:endParaRPr lang="zh-CN" altLang="en-US" sz="1600" b="1"/>
              </a:p>
            </p:txBody>
          </p:sp>
          <p:graphicFrame>
            <p:nvGraphicFramePr>
              <p:cNvPr id="35" name="Object 59"/>
              <p:cNvGraphicFramePr>
                <a:graphicFrameLocks noChangeAspect="1"/>
              </p:cNvGraphicFramePr>
              <p:nvPr/>
            </p:nvGraphicFramePr>
            <p:xfrm>
              <a:off x="6538" y="8385"/>
              <a:ext cx="336" cy="495"/>
            </p:xfrm>
            <a:graphic>
              <a:graphicData uri="http://schemas.openxmlformats.org/presentationml/2006/ole">
                <mc:AlternateContent xmlns:mc="http://schemas.openxmlformats.org/markup-compatibility/2006">
                  <mc:Choice xmlns:v="urn:schemas-microsoft-com:vml" Requires="v">
                    <p:oleObj spid="_x0000_s36" name="Visio" r:id="rId6" imgW="5943600" imgH="11449050" progId="">
                      <p:embed/>
                    </p:oleObj>
                  </mc:Choice>
                  <mc:Fallback>
                    <p:oleObj name="Visio" r:id="rId6" imgW="5943600" imgH="11449050" progId="">
                      <p:embed/>
                      <p:pic>
                        <p:nvPicPr>
                          <p:cNvPr id="0" name="Object 5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38" y="8385"/>
                            <a:ext cx="336" cy="4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7" name="Group 60"/>
            <p:cNvGrpSpPr/>
            <p:nvPr/>
          </p:nvGrpSpPr>
          <p:grpSpPr bwMode="auto">
            <a:xfrm>
              <a:off x="5713639" y="4514850"/>
              <a:ext cx="1281113" cy="925512"/>
              <a:chOff x="6156" y="8385"/>
              <a:chExt cx="1174" cy="671"/>
            </a:xfrm>
          </p:grpSpPr>
          <p:sp>
            <p:nvSpPr>
              <p:cNvPr id="38" name="Text Box 61"/>
              <p:cNvSpPr txBox="1">
                <a:spLocks noChangeArrowheads="1"/>
              </p:cNvSpPr>
              <p:nvPr/>
            </p:nvSpPr>
            <p:spPr bwMode="auto">
              <a:xfrm>
                <a:off x="6156" y="8778"/>
                <a:ext cx="1174" cy="27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t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zh-CN" altLang="en-US" sz="1600" b="1">
                    <a:latin typeface="Times New Roman" panose="02020603050405020304" pitchFamily="18" charset="0"/>
                  </a:rPr>
                  <a:t>终端用户</a:t>
                </a:r>
                <a:endParaRPr lang="zh-CN" altLang="en-US" sz="1600" b="1"/>
              </a:p>
            </p:txBody>
          </p:sp>
          <p:graphicFrame>
            <p:nvGraphicFramePr>
              <p:cNvPr id="39" name="Object 62"/>
              <p:cNvGraphicFramePr>
                <a:graphicFrameLocks noChangeAspect="1"/>
              </p:cNvGraphicFramePr>
              <p:nvPr/>
            </p:nvGraphicFramePr>
            <p:xfrm>
              <a:off x="6538" y="8385"/>
              <a:ext cx="336" cy="495"/>
            </p:xfrm>
            <a:graphic>
              <a:graphicData uri="http://schemas.openxmlformats.org/presentationml/2006/ole">
                <mc:AlternateContent xmlns:mc="http://schemas.openxmlformats.org/markup-compatibility/2006">
                  <mc:Choice xmlns:v="urn:schemas-microsoft-com:vml" Requires="v">
                    <p:oleObj spid="_x0000_s40" name="Visio" r:id="rId7" imgW="5943600" imgH="11449050" progId="">
                      <p:embed/>
                    </p:oleObj>
                  </mc:Choice>
                  <mc:Fallback>
                    <p:oleObj name="Visio" r:id="rId7" imgW="5943600" imgH="11449050" progId="">
                      <p:embed/>
                      <p:pic>
                        <p:nvPicPr>
                          <p:cNvPr id="0" name="Object 6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38" y="8385"/>
                            <a:ext cx="336" cy="4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sp>
        <p:nvSpPr>
          <p:cNvPr id="41" name="文本框 40"/>
          <p:cNvSpPr txBox="1"/>
          <p:nvPr/>
        </p:nvSpPr>
        <p:spPr>
          <a:xfrm>
            <a:off x="2152338" y="4036809"/>
            <a:ext cx="6390408" cy="497957"/>
          </a:xfrm>
          <a:prstGeom prst="rect">
            <a:avLst/>
          </a:prstGeom>
          <a:noFill/>
        </p:spPr>
        <p:txBody>
          <a:bodyPr wrap="square" rtlCol="0">
            <a:spAutoFit/>
          </a:bodyPr>
          <a:p>
            <a:pPr>
              <a:lnSpc>
                <a:spcPct val="120000"/>
              </a:lnSpc>
            </a:pPr>
            <a:r>
              <a:rPr lang="zh-CN" altLang="en-US" sz="2400" b="1" dirty="0">
                <a:solidFill>
                  <a:schemeClr val="accent2">
                    <a:lumMod val="75000"/>
                  </a:schemeClr>
                </a:solidFill>
                <a:latin typeface="+mj-ea"/>
                <a:ea typeface="+mj-ea"/>
              </a:rPr>
              <a:t>需求分析是供需双方共同参与的结果</a:t>
            </a:r>
            <a:endParaRPr lang="zh-CN" altLang="en-US" sz="2400" b="1" dirty="0">
              <a:solidFill>
                <a:schemeClr val="accent2">
                  <a:lumMod val="75000"/>
                </a:schemeClr>
              </a:solidFill>
              <a:latin typeface="+mj-ea"/>
              <a:ea typeface="+mj-e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干系人</a:t>
            </a:r>
            <a:r>
              <a:rPr lang="en-US" altLang="zh-CN" cap="none" spc="80">
                <a:solidFill>
                  <a:schemeClr val="bg1"/>
                </a:solidFill>
                <a:uFillTx/>
              </a:rPr>
              <a:t>(stakeholders)</a:t>
            </a:r>
            <a:endParaRPr lang="en-US" altLang="zh-CN" cap="none" spc="80">
              <a:solidFill>
                <a:schemeClr val="bg1"/>
              </a:solidFill>
              <a:uFillTx/>
            </a:endParaRPr>
          </a:p>
        </p:txBody>
      </p:sp>
      <p:sp>
        <p:nvSpPr>
          <p:cNvPr id="3" name="内容占位符 2"/>
          <p:cNvSpPr>
            <a:spLocks noGrp="1"/>
          </p:cNvSpPr>
          <p:nvPr>
            <p:ph idx="1"/>
          </p:nvPr>
        </p:nvSpPr>
        <p:spPr/>
        <p:txBody>
          <a:bodyPr>
            <a:normAutofit/>
          </a:bodyPr>
          <a:p>
            <a:pPr fontAlgn="auto">
              <a:spcBef>
                <a:spcPts val="0"/>
              </a:spcBef>
            </a:pPr>
            <a:r>
              <a:rPr lang="zh-CN" altLang="en-US"/>
              <a:t>识别干系人的问题		</a:t>
            </a:r>
            <a:endParaRPr lang="zh-CN" altLang="en-US"/>
          </a:p>
          <a:p>
            <a:pPr lvl="1" fontAlgn="auto">
              <a:spcBef>
                <a:spcPts val="0"/>
              </a:spcBef>
              <a:buFont typeface="Arial" panose="020B0604020202020204" pitchFamily="34" charset="0"/>
              <a:buChar char="•"/>
            </a:pPr>
            <a:r>
              <a:rPr lang="zh-CN" altLang="en-US"/>
              <a:t>产品谁来用?	</a:t>
            </a:r>
            <a:endParaRPr lang="zh-CN" altLang="en-US"/>
          </a:p>
          <a:p>
            <a:pPr lvl="1" fontAlgn="auto">
              <a:spcBef>
                <a:spcPts val="0"/>
              </a:spcBef>
              <a:buFont typeface="Arial" panose="020B0604020202020204" pitchFamily="34" charset="0"/>
              <a:buChar char="•"/>
            </a:pPr>
            <a:r>
              <a:rPr lang="zh-CN" altLang="en-US"/>
              <a:t>输⼊谁提供?	</a:t>
            </a:r>
            <a:endParaRPr lang="zh-CN" altLang="en-US"/>
          </a:p>
          <a:p>
            <a:pPr lvl="1" fontAlgn="auto">
              <a:spcBef>
                <a:spcPts val="0"/>
              </a:spcBef>
              <a:buFont typeface="Arial" panose="020B0604020202020204" pitchFamily="34" charset="0"/>
              <a:buChar char="•"/>
            </a:pPr>
            <a:r>
              <a:rPr lang="zh-CN" altLang="en-US"/>
              <a:t>输出谁要?		</a:t>
            </a:r>
            <a:endParaRPr lang="zh-CN" altLang="en-US"/>
          </a:p>
          <a:p>
            <a:pPr lvl="1" fontAlgn="auto">
              <a:spcBef>
                <a:spcPts val="0"/>
              </a:spcBef>
              <a:buFont typeface="Arial" panose="020B0604020202020204" pitchFamily="34" charset="0"/>
              <a:buChar char="•"/>
            </a:pPr>
            <a:r>
              <a:rPr lang="zh-CN" altLang="en-US"/>
              <a:t>谁监管?	</a:t>
            </a:r>
            <a:endParaRPr lang="zh-CN" altLang="en-US"/>
          </a:p>
          <a:p>
            <a:pPr lvl="1" fontAlgn="auto">
              <a:spcBef>
                <a:spcPts val="0"/>
              </a:spcBef>
              <a:buFont typeface="Arial" panose="020B0604020202020204" pitchFamily="34" charset="0"/>
              <a:buChar char="•"/>
            </a:pPr>
            <a:r>
              <a:rPr lang="zh-CN" altLang="en-US"/>
              <a:t>影响谁?	</a:t>
            </a:r>
            <a:endParaRPr lang="zh-CN" altLang="en-US"/>
          </a:p>
          <a:p>
            <a:pPr lvl="1" fontAlgn="auto">
              <a:spcBef>
                <a:spcPts val="0"/>
              </a:spcBef>
              <a:buFont typeface="Arial" panose="020B0604020202020204" pitchFamily="34" charset="0"/>
              <a:buChar char="•"/>
            </a:pPr>
            <a:r>
              <a:rPr lang="zh-CN" altLang="en-US"/>
              <a:t>奖励谁?	</a:t>
            </a:r>
            <a:endParaRPr lang="zh-CN" altLang="en-US"/>
          </a:p>
          <a:p>
            <a:pPr lvl="1" fontAlgn="auto">
              <a:spcBef>
                <a:spcPts val="0"/>
              </a:spcBef>
              <a:buFont typeface="Arial" panose="020B0604020202020204" pitchFamily="34" charset="0"/>
              <a:buChar char="•"/>
            </a:pPr>
            <a:r>
              <a:rPr lang="zh-CN" altLang="en-US"/>
              <a:t>惩罚谁?	</a:t>
            </a:r>
            <a:endParaRPr lang="zh-CN" altLang="en-US"/>
          </a:p>
        </p:txBody>
      </p:sp>
      <p:sp>
        <p:nvSpPr>
          <p:cNvPr id="4" name="日期占位符 3"/>
          <p:cNvSpPr>
            <a:spLocks noGrp="1"/>
          </p:cNvSpPr>
          <p:nvPr>
            <p:ph type="dt" sz="half" idx="10"/>
          </p:nvPr>
        </p:nvSpPr>
        <p:spPr/>
        <p:txBody>
          <a:bodyPr/>
          <a:p>
            <a:fld id="{D7326FFE-7CCA-4C0D-B453-625569992FB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干系人	</a:t>
            </a:r>
            <a:endParaRPr lang="zh-CN" altLang="en-US"/>
          </a:p>
        </p:txBody>
      </p:sp>
      <p:sp>
        <p:nvSpPr>
          <p:cNvPr id="3" name="内容占位符 2"/>
          <p:cNvSpPr>
            <a:spLocks noGrp="1"/>
          </p:cNvSpPr>
          <p:nvPr>
            <p:ph idx="1"/>
          </p:nvPr>
        </p:nvSpPr>
        <p:spPr/>
        <p:txBody>
          <a:bodyPr/>
          <a:p>
            <a:pPr marL="285750" indent="-285750" fontAlgn="auto">
              <a:spcBef>
                <a:spcPts val="0"/>
              </a:spcBef>
              <a:buFont typeface="Wingdings" panose="05000000000000000000" charset="0"/>
              <a:buChar char="l"/>
            </a:pPr>
            <a:r>
              <a:rPr lang="zh-CN" altLang="en-US" sz="2400"/>
              <a:t>干系人举例 	</a:t>
            </a:r>
            <a:endParaRPr lang="zh-CN" altLang="en-US" sz="2400"/>
          </a:p>
          <a:p>
            <a:pPr marL="457200" lvl="1" indent="0" fontAlgn="auto">
              <a:spcBef>
                <a:spcPts val="0"/>
              </a:spcBef>
              <a:buNone/>
            </a:pPr>
            <a:r>
              <a:rPr lang="zh-CN" altLang="en-US" sz="1800"/>
              <a:t>• 用户—关心新系统特征和功能</a:t>
            </a:r>
            <a:endParaRPr lang="zh-CN" altLang="en-US" sz="1800"/>
          </a:p>
          <a:p>
            <a:pPr marL="457200" lvl="1" indent="0" fontAlgn="auto">
              <a:spcBef>
                <a:spcPts val="0"/>
              </a:spcBef>
              <a:buNone/>
            </a:pPr>
            <a:r>
              <a:rPr lang="zh-CN" altLang="en-US" sz="1800"/>
              <a:t>• 设计师—想要构造完美的系统，尽量重用已有的代码</a:t>
            </a:r>
            <a:endParaRPr lang="zh-CN" altLang="en-US" sz="1800"/>
          </a:p>
          <a:p>
            <a:pPr marL="457200" lvl="1" indent="0" fontAlgn="auto">
              <a:spcBef>
                <a:spcPts val="0"/>
              </a:spcBef>
              <a:buNone/>
            </a:pPr>
            <a:r>
              <a:rPr lang="zh-CN" altLang="en-US" sz="1800"/>
              <a:t>• 系统分析师—想要获取正确的需求</a:t>
            </a:r>
            <a:endParaRPr lang="zh-CN" altLang="en-US" sz="1800"/>
          </a:p>
          <a:p>
            <a:pPr marL="457200" lvl="1" indent="0" fontAlgn="auto">
              <a:spcBef>
                <a:spcPts val="0"/>
              </a:spcBef>
              <a:buNone/>
            </a:pPr>
            <a:r>
              <a:rPr lang="zh-CN" altLang="en-US" sz="1800"/>
              <a:t>• 培训与用户支持人员—确保系统可用和可管理</a:t>
            </a:r>
            <a:endParaRPr lang="zh-CN" altLang="en-US" sz="1800"/>
          </a:p>
          <a:p>
            <a:pPr marL="457200" lvl="1" indent="0" fontAlgn="auto">
              <a:spcBef>
                <a:spcPts val="0"/>
              </a:spcBef>
              <a:buNone/>
            </a:pPr>
            <a:r>
              <a:rPr lang="zh-CN" altLang="en-US" sz="1800"/>
              <a:t>• 业务分析师—想确保“我们做得比竞争对手好”</a:t>
            </a:r>
            <a:endParaRPr lang="zh-CN" altLang="en-US" sz="1800"/>
          </a:p>
          <a:p>
            <a:pPr marL="457200" lvl="1" indent="0" fontAlgn="auto">
              <a:spcBef>
                <a:spcPts val="0"/>
              </a:spcBef>
              <a:buNone/>
            </a:pPr>
            <a:r>
              <a:rPr lang="zh-CN" altLang="en-US" sz="1800"/>
              <a:t>• 技术文档作者— 为系统准备用户手册及其他相关文档</a:t>
            </a:r>
            <a:endParaRPr lang="zh-CN" altLang="en-US" sz="1800"/>
          </a:p>
          <a:p>
            <a:pPr marL="457200" lvl="1" indent="0" fontAlgn="auto">
              <a:spcBef>
                <a:spcPts val="0"/>
              </a:spcBef>
              <a:buNone/>
            </a:pPr>
            <a:r>
              <a:rPr lang="zh-CN" altLang="en-US" sz="1800"/>
              <a:t>• 项目经理—希望按时、按预算、按目标完成项目</a:t>
            </a:r>
            <a:endParaRPr lang="zh-CN" altLang="en-US" sz="1800"/>
          </a:p>
          <a:p>
            <a:pPr marL="457200" lvl="1" indent="0" fontAlgn="auto">
              <a:spcBef>
                <a:spcPts val="0"/>
              </a:spcBef>
              <a:buNone/>
            </a:pPr>
            <a:r>
              <a:rPr lang="zh-CN" altLang="en-US" sz="1800"/>
              <a:t>• 客户—为新系统买单的人</a:t>
            </a:r>
            <a:endParaRPr lang="zh-CN" altLang="en-US" sz="1800"/>
          </a:p>
        </p:txBody>
      </p:sp>
      <p:sp>
        <p:nvSpPr>
          <p:cNvPr id="4" name="日期占位符 3"/>
          <p:cNvSpPr>
            <a:spLocks noGrp="1"/>
          </p:cNvSpPr>
          <p:nvPr>
            <p:ph type="dt" sz="half" idx="10"/>
          </p:nvPr>
        </p:nvSpPr>
        <p:spPr/>
        <p:txBody>
          <a:bodyPr/>
          <a:p>
            <a:fld id="{D7326FFE-7CCA-4C0D-B453-625569992FB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业务过程</a:t>
            </a:r>
            <a:endParaRPr lang="zh-CN" altLang="en-US"/>
          </a:p>
        </p:txBody>
      </p:sp>
      <p:sp>
        <p:nvSpPr>
          <p:cNvPr id="3" name="内容占位符 2"/>
          <p:cNvSpPr>
            <a:spLocks noGrp="1"/>
          </p:cNvSpPr>
          <p:nvPr>
            <p:ph idx="1"/>
          </p:nvPr>
        </p:nvSpPr>
        <p:spPr/>
        <p:txBody>
          <a:bodyPr/>
          <a:p>
            <a:r>
              <a:rPr lang="zh-CN" altLang="en-US"/>
              <a:t>对现有业务过程的分析有助于识别业务问题并加以改进</a:t>
            </a:r>
            <a:endParaRPr lang="zh-CN" altLang="en-US"/>
          </a:p>
          <a:p>
            <a:pPr lvl="1">
              <a:buFont typeface="Arial" panose="020B0604020202020204" pitchFamily="34" charset="0"/>
              <a:buChar char="•"/>
            </a:pPr>
            <a:r>
              <a:rPr lang="zh-CN" altLang="en-US"/>
              <a:t>找出并列举当前业务过程中的问题</a:t>
            </a:r>
            <a:endParaRPr lang="zh-CN" altLang="en-US"/>
          </a:p>
          <a:p>
            <a:pPr lvl="1">
              <a:buFont typeface="Arial" panose="020B0604020202020204" pitchFamily="34" charset="0"/>
              <a:buChar char="•"/>
            </a:pPr>
            <a:r>
              <a:rPr lang="zh-CN" altLang="en-US"/>
              <a:t>分析问题的本质（遗漏？不好用？新需求？）</a:t>
            </a:r>
            <a:endParaRPr lang="zh-CN" altLang="en-US"/>
          </a:p>
          <a:p>
            <a:pPr lvl="1">
              <a:buFont typeface="Arial" panose="020B0604020202020204" pitchFamily="34" charset="0"/>
              <a:buChar char="•"/>
            </a:pPr>
            <a:r>
              <a:rPr lang="zh-CN" altLang="en-US"/>
              <a:t>分析改进的机会</a:t>
            </a:r>
            <a:endParaRPr lang="zh-CN" altLang="en-US"/>
          </a:p>
          <a:p>
            <a:pPr lvl="1">
              <a:buFont typeface="Arial" panose="020B0604020202020204" pitchFamily="34" charset="0"/>
              <a:buChar char="•"/>
            </a:pPr>
            <a:r>
              <a:rPr lang="zh-CN" altLang="en-US"/>
              <a:t>分析改进的实质 （自动化？流程改进？）</a:t>
            </a:r>
            <a:endParaRPr lang="zh-CN" altLang="en-US"/>
          </a:p>
        </p:txBody>
      </p:sp>
      <p:sp>
        <p:nvSpPr>
          <p:cNvPr id="4" name="日期占位符 3"/>
          <p:cNvSpPr>
            <a:spLocks noGrp="1"/>
          </p:cNvSpPr>
          <p:nvPr>
            <p:ph type="dt" sz="half" idx="10"/>
          </p:nvPr>
        </p:nvSpPr>
        <p:spPr/>
        <p:txBody>
          <a:bodyPr/>
          <a:p>
            <a:fld id="{D7326FFE-7CCA-4C0D-B453-625569992FB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组织规章制度</a:t>
            </a:r>
            <a:endParaRPr lang="zh-CN" altLang="en-US"/>
          </a:p>
        </p:txBody>
      </p:sp>
      <p:sp>
        <p:nvSpPr>
          <p:cNvPr id="3" name="内容占位符 2"/>
          <p:cNvSpPr>
            <a:spLocks noGrp="1"/>
          </p:cNvSpPr>
          <p:nvPr>
            <p:ph idx="1"/>
          </p:nvPr>
        </p:nvSpPr>
        <p:spPr/>
        <p:txBody>
          <a:bodyPr>
            <a:normAutofit fontScale="80000"/>
          </a:bodyPr>
          <a:p>
            <a:r>
              <a:rPr lang="zh-CN" altLang="en-US"/>
              <a:t>规章制度定义当前最佳实践</a:t>
            </a:r>
            <a:endParaRPr lang="zh-CN" altLang="en-US"/>
          </a:p>
          <a:p>
            <a:pPr lvl="1"/>
            <a:r>
              <a:rPr lang="zh-CN" altLang="en-US"/>
              <a:t>分析规章制度有益于确定业务规则和约束条件</a:t>
            </a:r>
            <a:endParaRPr lang="zh-CN" altLang="en-US"/>
          </a:p>
          <a:p>
            <a:pPr lvl="1"/>
            <a:r>
              <a:rPr lang="zh-CN" altLang="en-US"/>
              <a:t>业务规则：描述对业务过程的要求，如系统支撑的业务过程的结构、控制、行为效果</a:t>
            </a:r>
            <a:endParaRPr lang="zh-CN" altLang="en-US"/>
          </a:p>
          <a:p>
            <a:pPr lvl="1"/>
            <a:r>
              <a:rPr lang="zh-CN" altLang="en-US"/>
              <a:t>约束: 对系统开发过程的管理限制，主要涉及经济、政治、技术和环境四个方面，具体</a:t>
            </a:r>
            <a:endParaRPr lang="zh-CN" altLang="en-US"/>
          </a:p>
          <a:p>
            <a:pPr lvl="1"/>
            <a:r>
              <a:rPr lang="zh-CN" altLang="en-US"/>
              <a:t>包括项目资源、时间、目标环境及系统本身。</a:t>
            </a:r>
            <a:endParaRPr lang="zh-CN" altLang="en-US"/>
          </a:p>
          <a:p>
            <a:pPr lvl="1"/>
            <a:r>
              <a:rPr lang="zh-CN" altLang="en-US"/>
              <a:t>组织规章中往往还涉及过程自动化、工作流、关系、交互等内容</a:t>
            </a:r>
            <a:endParaRPr lang="zh-CN" altLang="en-US"/>
          </a:p>
        </p:txBody>
      </p:sp>
      <p:sp>
        <p:nvSpPr>
          <p:cNvPr id="4" name="日期占位符 3"/>
          <p:cNvSpPr>
            <a:spLocks noGrp="1"/>
          </p:cNvSpPr>
          <p:nvPr>
            <p:ph type="dt" sz="half" idx="10"/>
          </p:nvPr>
        </p:nvSpPr>
        <p:spPr/>
        <p:txBody>
          <a:bodyPr/>
          <a:p>
            <a:fld id="{D7326FFE-7CCA-4C0D-B453-625569992FB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现有系统</a:t>
            </a:r>
            <a:endParaRPr lang="zh-CN" altLang="en-US"/>
          </a:p>
        </p:txBody>
      </p:sp>
      <p:sp>
        <p:nvSpPr>
          <p:cNvPr id="3" name="内容占位符 2"/>
          <p:cNvSpPr>
            <a:spLocks noGrp="1"/>
          </p:cNvSpPr>
          <p:nvPr>
            <p:ph idx="1"/>
          </p:nvPr>
        </p:nvSpPr>
        <p:spPr/>
        <p:txBody>
          <a:bodyPr/>
          <a:p>
            <a:r>
              <a:rPr lang="zh-CN" altLang="en-US"/>
              <a:t>分析现有系统有助于了解未来系统的工作数据</a:t>
            </a:r>
            <a:endParaRPr lang="zh-CN" altLang="en-US"/>
          </a:p>
          <a:p>
            <a:pPr lvl="1"/>
            <a:r>
              <a:rPr lang="zh-CN" altLang="en-US"/>
              <a:t>数据对象</a:t>
            </a:r>
            <a:endParaRPr lang="zh-CN" altLang="en-US"/>
          </a:p>
          <a:p>
            <a:pPr lvl="1"/>
            <a:r>
              <a:rPr lang="zh-CN" altLang="en-US"/>
              <a:t>数据关系</a:t>
            </a:r>
            <a:endParaRPr lang="zh-CN" altLang="en-US"/>
          </a:p>
          <a:p>
            <a:pPr lvl="1"/>
            <a:r>
              <a:rPr lang="zh-CN" altLang="en-US"/>
              <a:t>数据库结构与系统结构	</a:t>
            </a:r>
            <a:endParaRPr lang="zh-CN" altLang="en-US"/>
          </a:p>
          <a:p>
            <a:pPr lvl="1"/>
            <a:r>
              <a:rPr lang="zh-CN" altLang="en-US"/>
              <a:t>系统报告</a:t>
            </a:r>
            <a:endParaRPr lang="zh-CN" altLang="en-US"/>
          </a:p>
        </p:txBody>
      </p:sp>
      <p:sp>
        <p:nvSpPr>
          <p:cNvPr id="4" name="日期占位符 3"/>
          <p:cNvSpPr>
            <a:spLocks noGrp="1"/>
          </p:cNvSpPr>
          <p:nvPr>
            <p:ph type="dt" sz="half" idx="10"/>
          </p:nvPr>
        </p:nvSpPr>
        <p:spPr/>
        <p:txBody>
          <a:bodyPr/>
          <a:p>
            <a:fld id="{D7326FFE-7CCA-4C0D-B453-625569992FB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800018" y="2110916"/>
            <a:ext cx="4954055" cy="922020"/>
          </a:xfrm>
          <a:prstGeom prst="rect">
            <a:avLst/>
          </a:prstGeom>
        </p:spPr>
        <p:txBody>
          <a:bodyPr wrap="square">
            <a:spAutoFit/>
          </a:bodyPr>
          <a:lstStyle/>
          <a:p>
            <a:pPr>
              <a:lnSpc>
                <a:spcPct val="120000"/>
              </a:lnSpc>
              <a:spcBef>
                <a:spcPts val="900"/>
              </a:spcBef>
              <a:buClr>
                <a:srgbClr val="00B050"/>
              </a:buClr>
            </a:pPr>
            <a:r>
              <a:rPr lang="zh-CN" altLang="en-US" sz="4500" b="1" dirty="0">
                <a:solidFill>
                  <a:srgbClr val="686868"/>
                </a:solidFill>
              </a:rPr>
              <a:t>需求获取</a:t>
            </a:r>
            <a:endParaRPr lang="zh-CN" altLang="en-US" sz="4500" b="1" dirty="0">
              <a:solidFill>
                <a:srgbClr val="686868"/>
              </a:solidFill>
            </a:endParaRPr>
          </a:p>
        </p:txBody>
      </p:sp>
      <p:sp>
        <p:nvSpPr>
          <p:cNvPr id="3" name="页脚占位符 2"/>
          <p:cNvSpPr>
            <a:spLocks noGrp="1"/>
          </p:cNvSpPr>
          <p:nvPr>
            <p:ph type="ftr" sz="quarter" idx="11"/>
          </p:nvPr>
        </p:nvSpPr>
        <p:spPr/>
        <p:txBody>
          <a:bodyPr/>
          <a:lstStyle/>
          <a:p>
            <a:r>
              <a:rPr lang="zh-CN" altLang="en-US"/>
              <a:t>软件工程</a:t>
            </a:r>
            <a:endParaRPr lang="zh-CN" altLang="en-US"/>
          </a:p>
        </p:txBody>
      </p:sp>
      <p:sp>
        <p:nvSpPr>
          <p:cNvPr id="4" name="灯片编号占位符 3"/>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需求获取</a:t>
            </a:r>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a:p>
        </p:txBody>
      </p:sp>
      <p:sp>
        <p:nvSpPr>
          <p:cNvPr id="5" name="灯片编号占位符 4"/>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6" name="图片 5"/>
          <p:cNvPicPr>
            <a:picLocks noChangeAspect="1"/>
          </p:cNvPicPr>
          <p:nvPr/>
        </p:nvPicPr>
        <p:blipFill>
          <a:blip r:embed="rId1"/>
          <a:stretch>
            <a:fillRect/>
          </a:stretch>
        </p:blipFill>
        <p:spPr>
          <a:xfrm>
            <a:off x="690035" y="1117434"/>
            <a:ext cx="4286250" cy="2114550"/>
          </a:xfrm>
          <a:prstGeom prst="rect">
            <a:avLst/>
          </a:prstGeom>
        </p:spPr>
      </p:pic>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05927" y="1117434"/>
            <a:ext cx="3212320" cy="321232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需求获取技术</a:t>
            </a:r>
            <a:endParaRPr lang="zh-CN" altLang="en-US"/>
          </a:p>
        </p:txBody>
      </p:sp>
      <p:sp>
        <p:nvSpPr>
          <p:cNvPr id="3" name="内容占位符 2"/>
          <p:cNvSpPr>
            <a:spLocks noGrp="1"/>
          </p:cNvSpPr>
          <p:nvPr>
            <p:ph idx="1"/>
          </p:nvPr>
        </p:nvSpPr>
        <p:spPr/>
        <p:txBody>
          <a:bodyPr>
            <a:normAutofit fontScale="40000"/>
          </a:bodyPr>
          <a:p>
            <a:r>
              <a:rPr lang="zh-CN" altLang="en-US" sz="4000"/>
              <a:t>获取技术</a:t>
            </a:r>
            <a:endParaRPr lang="zh-CN" altLang="en-US" sz="3600"/>
          </a:p>
          <a:p>
            <a:pPr lvl="1" fontAlgn="auto">
              <a:lnSpc>
                <a:spcPct val="100000"/>
              </a:lnSpc>
              <a:spcBef>
                <a:spcPts val="0"/>
              </a:spcBef>
              <a:buFont typeface="Arial" panose="020B0604020202020204" pitchFamily="34" charset="0"/>
              <a:buChar char="•"/>
            </a:pPr>
            <a:r>
              <a:rPr lang="zh-CN" altLang="en-US" sz="3600"/>
              <a:t>访谈 （Interviewing techniques）</a:t>
            </a:r>
            <a:endParaRPr lang="zh-CN" altLang="en-US" sz="3600"/>
          </a:p>
          <a:p>
            <a:pPr lvl="1" fontAlgn="auto">
              <a:lnSpc>
                <a:spcPct val="100000"/>
              </a:lnSpc>
              <a:spcBef>
                <a:spcPts val="0"/>
              </a:spcBef>
              <a:buFont typeface="Arial" panose="020B0604020202020204" pitchFamily="34" charset="0"/>
              <a:buChar char="•"/>
            </a:pPr>
            <a:r>
              <a:rPr lang="zh-CN" altLang="en-US" sz="3600"/>
              <a:t>问卷调查（Questionnaires）</a:t>
            </a:r>
            <a:endParaRPr lang="zh-CN" altLang="en-US" sz="3600"/>
          </a:p>
          <a:p>
            <a:pPr lvl="1" fontAlgn="auto">
              <a:lnSpc>
                <a:spcPct val="100000"/>
              </a:lnSpc>
              <a:spcBef>
                <a:spcPts val="0"/>
              </a:spcBef>
              <a:buFont typeface="Arial" panose="020B0604020202020204" pitchFamily="34" charset="0"/>
              <a:buChar char="•"/>
            </a:pPr>
            <a:r>
              <a:rPr lang="zh-CN" altLang="en-US" sz="3600"/>
              <a:t>观察法 （Ethnography）</a:t>
            </a:r>
            <a:endParaRPr lang="zh-CN" altLang="en-US" sz="3600"/>
          </a:p>
          <a:p>
            <a:pPr lvl="1" fontAlgn="auto">
              <a:lnSpc>
                <a:spcPct val="100000"/>
              </a:lnSpc>
              <a:spcBef>
                <a:spcPts val="0"/>
              </a:spcBef>
              <a:buFont typeface="Arial" panose="020B0604020202020204" pitchFamily="34" charset="0"/>
              <a:buChar char="•"/>
            </a:pPr>
            <a:r>
              <a:rPr lang="zh-CN" altLang="en-US" sz="3600"/>
              <a:t>故事和场景法</a:t>
            </a:r>
            <a:endParaRPr lang="zh-CN" altLang="en-US" sz="3600"/>
          </a:p>
          <a:p>
            <a:pPr lvl="1" fontAlgn="auto">
              <a:lnSpc>
                <a:spcPct val="100000"/>
              </a:lnSpc>
              <a:spcBef>
                <a:spcPts val="0"/>
              </a:spcBef>
              <a:buFont typeface="Arial" panose="020B0604020202020204" pitchFamily="34" charset="0"/>
              <a:buChar char="•"/>
            </a:pPr>
            <a:r>
              <a:rPr lang="zh-CN" altLang="en-US" sz="3600"/>
              <a:t>原型法 （Prototyping）</a:t>
            </a:r>
            <a:endParaRPr lang="zh-CN" altLang="en-US" sz="3600"/>
          </a:p>
          <a:p>
            <a:pPr lvl="1" fontAlgn="auto">
              <a:lnSpc>
                <a:spcPct val="100000"/>
              </a:lnSpc>
              <a:spcBef>
                <a:spcPts val="0"/>
              </a:spcBef>
              <a:buFont typeface="Arial" panose="020B0604020202020204" pitchFamily="34" charset="0"/>
              <a:buChar char="•"/>
            </a:pPr>
            <a:r>
              <a:rPr lang="zh-CN" altLang="en-US" sz="3600">
                <a:sym typeface="+mn-ea"/>
              </a:rPr>
              <a:t>需求专题讨论会</a:t>
            </a:r>
            <a:endParaRPr lang="zh-CN" altLang="en-US" sz="3600"/>
          </a:p>
          <a:p>
            <a:pPr lvl="1" fontAlgn="auto">
              <a:lnSpc>
                <a:spcPct val="100000"/>
              </a:lnSpc>
              <a:spcBef>
                <a:spcPts val="0"/>
              </a:spcBef>
              <a:buFont typeface="Arial" panose="020B0604020202020204" pitchFamily="34" charset="0"/>
              <a:buChar char="•"/>
            </a:pPr>
            <a:r>
              <a:rPr lang="zh-CN" altLang="en-US" sz="3600"/>
              <a:t>文档分析（Documentation）</a:t>
            </a:r>
            <a:endParaRPr lang="zh-CN" altLang="en-US" sz="3600"/>
          </a:p>
          <a:p>
            <a:pPr lvl="1" fontAlgn="auto">
              <a:lnSpc>
                <a:spcPct val="100000"/>
              </a:lnSpc>
              <a:spcBef>
                <a:spcPts val="0"/>
              </a:spcBef>
              <a:buFont typeface="Arial" panose="020B0604020202020204" pitchFamily="34" charset="0"/>
              <a:buChar char="•"/>
            </a:pPr>
            <a:r>
              <a:rPr lang="zh-CN" altLang="en-US" sz="3600"/>
              <a:t>头脑风暴</a:t>
            </a:r>
            <a:endParaRPr lang="zh-CN" altLang="en-US" sz="3600"/>
          </a:p>
          <a:p>
            <a:pPr lvl="1" fontAlgn="auto">
              <a:lnSpc>
                <a:spcPct val="100000"/>
              </a:lnSpc>
              <a:spcBef>
                <a:spcPts val="0"/>
              </a:spcBef>
              <a:buFont typeface="Arial" panose="020B0604020202020204" pitchFamily="34" charset="0"/>
              <a:buChar char="•"/>
            </a:pPr>
            <a:r>
              <a:rPr lang="zh-CN" altLang="en-US" sz="3600"/>
              <a:t>情景分析</a:t>
            </a:r>
            <a:endParaRPr lang="zh-CN" altLang="en-US" sz="3600"/>
          </a:p>
          <a:p>
            <a:pPr lvl="1" fontAlgn="auto">
              <a:lnSpc>
                <a:spcPct val="100000"/>
              </a:lnSpc>
              <a:spcBef>
                <a:spcPts val="0"/>
              </a:spcBef>
              <a:buFont typeface="Arial" panose="020B0604020202020204" pitchFamily="34" charset="0"/>
              <a:buChar char="•"/>
            </a:pPr>
            <a:r>
              <a:rPr lang="zh-CN" altLang="en-US" sz="3600"/>
              <a:t>建模 （Modeling）</a:t>
            </a:r>
            <a:endParaRPr lang="zh-CN" altLang="en-US" sz="3600"/>
          </a:p>
          <a:p>
            <a:pPr lvl="1" fontAlgn="auto">
              <a:lnSpc>
                <a:spcPct val="100000"/>
              </a:lnSpc>
              <a:spcBef>
                <a:spcPts val="0"/>
              </a:spcBef>
              <a:buFont typeface="Arial" panose="020B0604020202020204" pitchFamily="34" charset="0"/>
              <a:buChar char="•"/>
            </a:pPr>
            <a:r>
              <a:rPr lang="zh-CN" altLang="en-US" sz="3600">
                <a:sym typeface="+mn-ea"/>
              </a:rPr>
              <a:t>协同工作（Collaborative sessions）</a:t>
            </a:r>
            <a:endParaRPr lang="zh-CN" altLang="en-US" sz="3600"/>
          </a:p>
          <a:p>
            <a:pPr lvl="1" fontAlgn="auto">
              <a:lnSpc>
                <a:spcPct val="100000"/>
              </a:lnSpc>
              <a:spcBef>
                <a:spcPts val="0"/>
              </a:spcBef>
              <a:buFont typeface="Arial" panose="020B0604020202020204" pitchFamily="34" charset="0"/>
              <a:buChar char="•"/>
            </a:pPr>
            <a:r>
              <a:rPr lang="zh-CN" altLang="en-US" sz="3600"/>
              <a:t>角色扮演（Roleplaying）</a:t>
            </a:r>
            <a:endParaRPr lang="zh-CN" altLang="en-US" sz="3600"/>
          </a:p>
          <a:p>
            <a:pPr lvl="1" fontAlgn="auto">
              <a:lnSpc>
                <a:spcPct val="100000"/>
              </a:lnSpc>
              <a:spcBef>
                <a:spcPts val="0"/>
              </a:spcBef>
              <a:buFont typeface="Arial" panose="020B0604020202020204" pitchFamily="34" charset="0"/>
              <a:buChar char="•"/>
            </a:pPr>
            <a:r>
              <a:rPr lang="zh-CN" altLang="en-US" sz="3600"/>
              <a:t>非功能性需求列表（Checklists of NFRs）</a:t>
            </a:r>
            <a:endParaRPr lang="zh-CN" altLang="en-US" sz="3600"/>
          </a:p>
          <a:p>
            <a:r>
              <a:rPr lang="zh-CN" altLang="en-US" sz="4000"/>
              <a:t>冲突识别与磋商 （Conflict Identification and Negotiation）</a:t>
            </a:r>
            <a:endParaRPr lang="zh-CN" altLang="en-US" sz="400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软件需求获取方法应用现状调查</a:t>
            </a:r>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a:p>
        </p:txBody>
      </p:sp>
      <p:sp>
        <p:nvSpPr>
          <p:cNvPr id="5" name="灯片编号占位符 4"/>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6" name="图片 5"/>
          <p:cNvPicPr>
            <a:picLocks noChangeAspect="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00042" y="696566"/>
            <a:ext cx="8158208" cy="401761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961172" y="1027512"/>
            <a:ext cx="4232386" cy="1204945"/>
          </a:xfrm>
          <a:prstGeom prst="rect">
            <a:avLst/>
          </a:prstGeom>
        </p:spPr>
        <p:txBody>
          <a:bodyPr wrap="square">
            <a:spAutoFit/>
          </a:bodyPr>
          <a:lstStyle/>
          <a:p>
            <a:pPr>
              <a:lnSpc>
                <a:spcPct val="120000"/>
              </a:lnSpc>
              <a:spcBef>
                <a:spcPts val="900"/>
              </a:spcBef>
              <a:buClr>
                <a:srgbClr val="00B050"/>
              </a:buClr>
            </a:pPr>
            <a:r>
              <a:rPr lang="zh-CN" altLang="en-US" sz="2400" b="1" dirty="0">
                <a:solidFill>
                  <a:srgbClr val="686868"/>
                </a:solidFill>
                <a:latin typeface="+mj-ea"/>
                <a:ea typeface="+mj-ea"/>
              </a:rPr>
              <a:t>需求分析成功与否的关键在于</a:t>
            </a:r>
            <a:endParaRPr lang="en-US" altLang="zh-CN" sz="2400" b="1" dirty="0">
              <a:solidFill>
                <a:srgbClr val="686868"/>
              </a:solidFill>
              <a:latin typeface="+mj-ea"/>
              <a:ea typeface="+mj-ea"/>
            </a:endParaRPr>
          </a:p>
          <a:p>
            <a:pPr algn="ctr">
              <a:lnSpc>
                <a:spcPct val="120000"/>
              </a:lnSpc>
              <a:spcBef>
                <a:spcPts val="900"/>
              </a:spcBef>
              <a:buClr>
                <a:srgbClr val="00B050"/>
              </a:buClr>
            </a:pPr>
            <a:r>
              <a:rPr lang="zh-CN" altLang="en-US" sz="3000" b="1" dirty="0">
                <a:solidFill>
                  <a:srgbClr val="FF8900"/>
                </a:solidFill>
                <a:latin typeface="+mj-ea"/>
                <a:ea typeface="+mj-ea"/>
              </a:rPr>
              <a:t>如何沟通</a:t>
            </a:r>
            <a:endParaRPr lang="zh-CN" altLang="en-US" sz="3000" b="1" dirty="0">
              <a:solidFill>
                <a:srgbClr val="FF8900"/>
              </a:solidFill>
              <a:latin typeface="+mj-ea"/>
              <a:ea typeface="+mj-ea"/>
            </a:endParaRPr>
          </a:p>
        </p:txBody>
      </p:sp>
      <p:pic>
        <p:nvPicPr>
          <p:cNvPr id="4" name="图片 3"/>
          <p:cNvPicPr>
            <a:picLocks noChangeAspect="1"/>
          </p:cNvPicPr>
          <p:nvPr/>
        </p:nvPicPr>
        <p:blipFill>
          <a:blip r:embed="rId1"/>
          <a:stretch>
            <a:fillRect/>
          </a:stretch>
        </p:blipFill>
        <p:spPr>
          <a:xfrm>
            <a:off x="5841941" y="-13179"/>
            <a:ext cx="2378869" cy="4993481"/>
          </a:xfrm>
          <a:prstGeom prst="rect">
            <a:avLst/>
          </a:prstGeom>
        </p:spPr>
      </p:pic>
      <p:pic>
        <p:nvPicPr>
          <p:cNvPr id="5" name="图片 4"/>
          <p:cNvPicPr>
            <a:picLocks noChangeAspect="1"/>
          </p:cNvPicPr>
          <p:nvPr/>
        </p:nvPicPr>
        <p:blipFill>
          <a:blip r:embed="rId2"/>
          <a:stretch>
            <a:fillRect/>
          </a:stretch>
        </p:blipFill>
        <p:spPr>
          <a:xfrm>
            <a:off x="5841941" y="-13180"/>
            <a:ext cx="2378869" cy="5100638"/>
          </a:xfrm>
          <a:prstGeom prst="rect">
            <a:avLst/>
          </a:prstGeom>
        </p:spPr>
      </p:pic>
      <p:pic>
        <p:nvPicPr>
          <p:cNvPr id="6" name="图片 5"/>
          <p:cNvPicPr>
            <a:picLocks noChangeAspect="1"/>
          </p:cNvPicPr>
          <p:nvPr/>
        </p:nvPicPr>
        <p:blipFill>
          <a:blip r:embed="rId3"/>
          <a:stretch>
            <a:fillRect/>
          </a:stretch>
        </p:blipFill>
        <p:spPr>
          <a:xfrm>
            <a:off x="5873811" y="0"/>
            <a:ext cx="2281330" cy="5093494"/>
          </a:xfrm>
          <a:prstGeom prst="rect">
            <a:avLst/>
          </a:prstGeom>
        </p:spPr>
      </p:pic>
      <p:pic>
        <p:nvPicPr>
          <p:cNvPr id="7" name="图片 6"/>
          <p:cNvPicPr>
            <a:picLocks noChangeAspect="1"/>
          </p:cNvPicPr>
          <p:nvPr/>
        </p:nvPicPr>
        <p:blipFill>
          <a:blip r:embed="rId4"/>
          <a:stretch>
            <a:fillRect/>
          </a:stretch>
        </p:blipFill>
        <p:spPr>
          <a:xfrm>
            <a:off x="5692293" y="828816"/>
            <a:ext cx="2365956" cy="3387562"/>
          </a:xfrm>
          <a:prstGeom prst="rect">
            <a:avLst/>
          </a:prstGeom>
        </p:spPr>
      </p:pic>
      <p:sp>
        <p:nvSpPr>
          <p:cNvPr id="8" name="文本框 7"/>
          <p:cNvSpPr txBox="1"/>
          <p:nvPr/>
        </p:nvSpPr>
        <p:spPr>
          <a:xfrm>
            <a:off x="870439" y="3020158"/>
            <a:ext cx="184731" cy="300082"/>
          </a:xfrm>
          <a:prstGeom prst="rect">
            <a:avLst/>
          </a:prstGeom>
          <a:noFill/>
        </p:spPr>
        <p:txBody>
          <a:bodyPr wrap="none" rtlCol="0">
            <a:spAutoFit/>
          </a:bodyPr>
          <a:lstStyle/>
          <a:p>
            <a:endParaRPr lang="zh-CN" altLang="en-US" sz="1350"/>
          </a:p>
        </p:txBody>
      </p:sp>
      <p:sp>
        <p:nvSpPr>
          <p:cNvPr id="10" name="文本框 9"/>
          <p:cNvSpPr txBox="1"/>
          <p:nvPr/>
        </p:nvSpPr>
        <p:spPr>
          <a:xfrm>
            <a:off x="1055170" y="2232457"/>
            <a:ext cx="4716798" cy="2259593"/>
          </a:xfrm>
          <a:prstGeom prst="rect">
            <a:avLst/>
          </a:prstGeom>
          <a:noFill/>
        </p:spPr>
        <p:txBody>
          <a:bodyPr wrap="square" rtlCol="0">
            <a:spAutoFit/>
          </a:bodyPr>
          <a:lstStyle/>
          <a:p>
            <a:pPr>
              <a:spcBef>
                <a:spcPts val="450"/>
              </a:spcBef>
            </a:pPr>
            <a:r>
              <a:rPr lang="zh-CN" altLang="en-US" sz="2000" dirty="0">
                <a:latin typeface="+mj-ea"/>
                <a:ea typeface="+mj-ea"/>
              </a:rPr>
              <a:t>第一步：探寻客户基本需求；</a:t>
            </a:r>
            <a:endParaRPr lang="zh-CN" altLang="en-US" sz="2000" dirty="0">
              <a:latin typeface="+mj-ea"/>
              <a:ea typeface="+mj-ea"/>
            </a:endParaRPr>
          </a:p>
          <a:p>
            <a:pPr>
              <a:spcBef>
                <a:spcPts val="450"/>
              </a:spcBef>
            </a:pPr>
            <a:r>
              <a:rPr lang="zh-CN" altLang="en-US" sz="2000" dirty="0">
                <a:latin typeface="+mj-ea"/>
                <a:ea typeface="+mj-ea"/>
              </a:rPr>
              <a:t>第二步：挖掘需求背后的原因；</a:t>
            </a:r>
            <a:endParaRPr lang="zh-CN" altLang="en-US" sz="2000" dirty="0">
              <a:latin typeface="+mj-ea"/>
              <a:ea typeface="+mj-ea"/>
            </a:endParaRPr>
          </a:p>
          <a:p>
            <a:pPr>
              <a:spcBef>
                <a:spcPts val="450"/>
              </a:spcBef>
            </a:pPr>
            <a:r>
              <a:rPr lang="zh-CN" altLang="en-US" sz="2000" dirty="0">
                <a:latin typeface="+mj-ea"/>
                <a:ea typeface="+mj-ea"/>
              </a:rPr>
              <a:t>第三步：激发客户深层需求；</a:t>
            </a:r>
            <a:endParaRPr lang="zh-CN" altLang="en-US" sz="2000" dirty="0">
              <a:latin typeface="+mj-ea"/>
              <a:ea typeface="+mj-ea"/>
            </a:endParaRPr>
          </a:p>
          <a:p>
            <a:pPr>
              <a:spcBef>
                <a:spcPts val="450"/>
              </a:spcBef>
            </a:pPr>
            <a:r>
              <a:rPr lang="zh-CN" altLang="en-US" sz="2000" dirty="0">
                <a:latin typeface="+mj-ea"/>
                <a:ea typeface="+mj-ea"/>
              </a:rPr>
              <a:t>第四步：引导客户解决问题；</a:t>
            </a:r>
            <a:endParaRPr lang="zh-CN" altLang="en-US" sz="2000" dirty="0">
              <a:latin typeface="+mj-ea"/>
              <a:ea typeface="+mj-ea"/>
            </a:endParaRPr>
          </a:p>
          <a:p>
            <a:pPr>
              <a:spcBef>
                <a:spcPts val="450"/>
              </a:spcBef>
            </a:pPr>
            <a:r>
              <a:rPr lang="zh-CN" altLang="en-US" sz="2000" dirty="0">
                <a:latin typeface="+mj-ea"/>
                <a:ea typeface="+mj-ea"/>
              </a:rPr>
              <a:t>第五步：抛出解决方案；</a:t>
            </a:r>
            <a:endParaRPr lang="zh-CN" altLang="en-US" sz="2000" dirty="0">
              <a:latin typeface="+mj-ea"/>
              <a:ea typeface="+mj-ea"/>
            </a:endParaRPr>
          </a:p>
          <a:p>
            <a:pPr>
              <a:spcBef>
                <a:spcPts val="450"/>
              </a:spcBef>
            </a:pPr>
            <a:r>
              <a:rPr lang="zh-CN" altLang="en-US" sz="2000" dirty="0">
                <a:latin typeface="+mj-ea"/>
                <a:ea typeface="+mj-ea"/>
              </a:rPr>
              <a:t>第六步：成交之后与客户建立长期合作。</a:t>
            </a:r>
            <a:endParaRPr lang="zh-CN" altLang="en-US" sz="2000" dirty="0">
              <a:latin typeface="+mj-ea"/>
              <a:ea typeface="+mj-ea"/>
            </a:endParaRPr>
          </a:p>
        </p:txBody>
      </p:sp>
      <p:sp>
        <p:nvSpPr>
          <p:cNvPr id="11" name="标题 10"/>
          <p:cNvSpPr>
            <a:spLocks noGrp="1"/>
          </p:cNvSpPr>
          <p:nvPr>
            <p:ph type="title"/>
          </p:nvPr>
        </p:nvSpPr>
        <p:spPr/>
        <p:txBody>
          <a:bodyPr/>
          <a:lstStyle/>
          <a:p>
            <a:r>
              <a:rPr lang="zh-CN" altLang="en-US" kern="100" dirty="0">
                <a:latin typeface="+mn-ea"/>
                <a:cs typeface="Times New Roman" panose="02020603050405020304" pitchFamily="18" charset="0"/>
              </a:rPr>
              <a:t>需求获取的方法</a:t>
            </a:r>
            <a:endParaRPr lang="zh-CN" altLang="en-US" dirty="0"/>
          </a:p>
        </p:txBody>
      </p:sp>
      <p:sp>
        <p:nvSpPr>
          <p:cNvPr id="14" name="页脚占位符 13"/>
          <p:cNvSpPr>
            <a:spLocks noGrp="1"/>
          </p:cNvSpPr>
          <p:nvPr>
            <p:ph type="ftr" sz="quarter" idx="11"/>
          </p:nvPr>
        </p:nvSpPr>
        <p:spPr/>
        <p:txBody>
          <a:bodyPr/>
          <a:lstStyle/>
          <a:p>
            <a:r>
              <a:rPr lang="zh-CN" altLang="en-US"/>
              <a:t>软件工程</a:t>
            </a:r>
            <a:endParaRPr lang="zh-CN" altLang="en-US"/>
          </a:p>
        </p:txBody>
      </p:sp>
      <p:sp>
        <p:nvSpPr>
          <p:cNvPr id="15" name="灯片编号占位符 14"/>
          <p:cNvSpPr>
            <a:spLocks noGrp="1"/>
          </p:cNvSpPr>
          <p:nvPr>
            <p:ph type="sldNum" sz="quarter" idx="12"/>
          </p:nvPr>
        </p:nvSpPr>
        <p:spPr/>
        <p:txBody>
          <a:bodyPr/>
          <a:lstStyle/>
          <a:p>
            <a:fld id="{F528F39D-B5E5-4CA7-906C-979D5A62978D}" type="slidenum">
              <a:rPr lang="zh-CN" altLang="en-US" smtClean="0"/>
            </a:fld>
            <a:endParaRPr lang="zh-CN" altLang="en-US"/>
          </a:p>
        </p:txBody>
      </p:sp>
      <p:grpSp>
        <p:nvGrpSpPr>
          <p:cNvPr id="2" name="组合 1"/>
          <p:cNvGrpSpPr/>
          <p:nvPr/>
        </p:nvGrpSpPr>
        <p:grpSpPr>
          <a:xfrm>
            <a:off x="0" y="2877185"/>
            <a:ext cx="9138920" cy="1172845"/>
            <a:chOff x="6" y="3403"/>
            <a:chExt cx="14392" cy="1847"/>
          </a:xfrm>
        </p:grpSpPr>
        <p:sp>
          <p:nvSpPr>
            <p:cNvPr id="3" name="矩形 2"/>
            <p:cNvSpPr/>
            <p:nvPr>
              <p:custDataLst>
                <p:tags r:id="rId5"/>
              </p:custDataLst>
            </p:nvPr>
          </p:nvSpPr>
          <p:spPr>
            <a:xfrm>
              <a:off x="6" y="3403"/>
              <a:ext cx="14392" cy="1847"/>
            </a:xfrm>
            <a:prstGeom prst="rect">
              <a:avLst/>
            </a:prstGeom>
            <a:gradFill>
              <a:gsLst>
                <a:gs pos="100000">
                  <a:srgbClr val="6264F8"/>
                </a:gs>
                <a:gs pos="49000">
                  <a:srgbClr val="B584EC"/>
                </a:gs>
                <a:gs pos="0">
                  <a:srgbClr val="EE9AE5"/>
                </a:gs>
              </a:gsLst>
              <a:lin ang="2700000" scaled="1"/>
            </a:gra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custDataLst>
                <p:tags r:id="rId6"/>
              </p:custDataLst>
            </p:nvPr>
          </p:nvSpPr>
          <p:spPr>
            <a:xfrm>
              <a:off x="3326" y="3821"/>
              <a:ext cx="9677" cy="1307"/>
            </a:xfrm>
            <a:prstGeom prst="rect">
              <a:avLst/>
            </a:prstGeom>
            <a:noFill/>
          </p:spPr>
          <p:txBody>
            <a:bodyPr wrap="square" rtlCol="0">
              <a:spAutoFit/>
            </a:bodyPr>
            <a:p>
              <a:r>
                <a:rPr lang="zh-CN" altLang="en-US" sz="4800">
                  <a:solidFill>
                    <a:schemeClr val="bg1"/>
                  </a:solidFill>
                </a:rPr>
                <a:t>换位思考和尊重他人</a:t>
              </a:r>
              <a:endParaRPr lang="zh-CN" altLang="en-US" sz="4800">
                <a:solidFill>
                  <a:schemeClr val="bg1"/>
                </a:solidFill>
              </a:endParaRPr>
            </a:p>
          </p:txBody>
        </p:sp>
      </p:gr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up)">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up)">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up)">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box(in)">
                                      <p:cBhvr>
                                        <p:cTn id="3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0"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面谈技巧</a:t>
            </a:r>
            <a:endParaRPr lang="zh-CN" altLang="en-US"/>
          </a:p>
        </p:txBody>
      </p:sp>
      <p:sp>
        <p:nvSpPr>
          <p:cNvPr id="4" name="页脚占位符 3"/>
          <p:cNvSpPr>
            <a:spLocks noGrp="1"/>
          </p:cNvSpPr>
          <p:nvPr>
            <p:ph type="ftr" sz="quarter" idx="11"/>
          </p:nvPr>
        </p:nvSpPr>
        <p:spPr/>
        <p:txBody>
          <a:bodyPr/>
          <a:p>
            <a:r>
              <a:rPr lang="zh-CN" altLang="en-US"/>
              <a:t>软件工程</a:t>
            </a:r>
            <a:endParaRPr lang="zh-CN" altLang="en-US"/>
          </a:p>
        </p:txBody>
      </p:sp>
      <p:sp>
        <p:nvSpPr>
          <p:cNvPr id="5" name="灯片编号占位符 4"/>
          <p:cNvSpPr>
            <a:spLocks noGrp="1"/>
          </p:cNvSpPr>
          <p:nvPr>
            <p:ph type="sldNum" sz="quarter" idx="12"/>
          </p:nvPr>
        </p:nvSpPr>
        <p:spPr/>
        <p:txBody>
          <a:bodyPr/>
          <a:p>
            <a:fld id="{F528F39D-B5E5-4CA7-906C-979D5A62978D}" type="slidenum">
              <a:rPr lang="zh-CN" altLang="en-US" smtClean="0"/>
            </a:fld>
            <a:endParaRPr lang="zh-CN" altLang="en-US"/>
          </a:p>
        </p:txBody>
      </p:sp>
      <p:sp>
        <p:nvSpPr>
          <p:cNvPr id="6" name="内容占位符 5"/>
          <p:cNvSpPr>
            <a:spLocks noGrp="1"/>
          </p:cNvSpPr>
          <p:nvPr>
            <p:ph idx="1"/>
            <p:custDataLst>
              <p:tags r:id="rId1"/>
            </p:custDataLst>
          </p:nvPr>
        </p:nvSpPr>
        <p:spPr>
          <a:xfrm>
            <a:off x="768350" y="925195"/>
            <a:ext cx="7869555" cy="3373755"/>
          </a:xfrm>
        </p:spPr>
        <p:txBody>
          <a:bodyPr>
            <a:normAutofit fontScale="45000"/>
          </a:bodyPr>
          <a:p>
            <a:pPr fontAlgn="auto">
              <a:spcBef>
                <a:spcPts val="0"/>
              </a:spcBef>
            </a:pPr>
            <a:r>
              <a:rPr lang="zh-CN" altLang="en-US" sz="4000"/>
              <a:t>面谈开始	</a:t>
            </a:r>
            <a:endParaRPr lang="zh-CN" altLang="en-US" sz="4000"/>
          </a:p>
          <a:p>
            <a:pPr lvl="1" fontAlgn="auto">
              <a:spcBef>
                <a:spcPts val="0"/>
              </a:spcBef>
              <a:buFont typeface="Arial" panose="020B0604020202020204" pitchFamily="34" charset="0"/>
              <a:buChar char="•"/>
            </a:pPr>
            <a:r>
              <a:rPr lang="zh-CN" altLang="en-US" sz="3425"/>
              <a:t>面谈开始时，谈一些比较轻松，不太敏感的话题，如天气，体育比赛、就受访者的照片、办公桌陈设发表感叹</a:t>
            </a:r>
            <a:endParaRPr lang="zh-CN" altLang="en-US" sz="3425"/>
          </a:p>
          <a:p>
            <a:pPr lvl="1" fontAlgn="auto">
              <a:spcBef>
                <a:spcPts val="0"/>
              </a:spcBef>
              <a:buFont typeface="Arial" panose="020B0604020202020204" pitchFamily="34" charset="0"/>
              <a:buChar char="•"/>
            </a:pPr>
            <a:r>
              <a:rPr lang="zh-CN" altLang="en-US" sz="3425"/>
              <a:t>询问受访者是否同意录音	</a:t>
            </a:r>
            <a:endParaRPr lang="zh-CN" altLang="en-US" sz="3425"/>
          </a:p>
          <a:p>
            <a:pPr lvl="1" fontAlgn="auto">
              <a:spcBef>
                <a:spcPts val="0"/>
              </a:spcBef>
              <a:buFont typeface="Arial" panose="020B0604020202020204" pitchFamily="34" charset="0"/>
              <a:buChar char="•"/>
            </a:pPr>
            <a:r>
              <a:rPr lang="zh-CN" altLang="en-US" sz="3425"/>
              <a:t>将录音笔放在受访者面前，提醒他们可在任何时候关掉	</a:t>
            </a:r>
            <a:endParaRPr lang="zh-CN" altLang="en-US" sz="3425"/>
          </a:p>
          <a:p>
            <a:pPr fontAlgn="auto">
              <a:spcBef>
                <a:spcPts val="0"/>
              </a:spcBef>
            </a:pPr>
            <a:r>
              <a:rPr lang="zh-CN" altLang="en-US" sz="4000"/>
              <a:t>先问比较容易回答的问题	</a:t>
            </a:r>
            <a:endParaRPr lang="zh-CN" altLang="en-US" sz="4000"/>
          </a:p>
          <a:p>
            <a:pPr lvl="1" fontAlgn="auto">
              <a:spcBef>
                <a:spcPts val="0"/>
              </a:spcBef>
              <a:buFont typeface="Arial" panose="020B0604020202020204" pitchFamily="34" charset="0"/>
              <a:buChar char="•"/>
            </a:pPr>
            <a:r>
              <a:rPr lang="zh-CN" altLang="en-US" sz="3425"/>
              <a:t>如个人信息： “您在这儿工作多久了?”	</a:t>
            </a:r>
            <a:endParaRPr lang="zh-CN" altLang="en-US" sz="3425"/>
          </a:p>
          <a:p>
            <a:pPr fontAlgn="auto">
              <a:spcBef>
                <a:spcPts val="0"/>
              </a:spcBef>
            </a:pPr>
            <a:r>
              <a:rPr lang="zh-CN" altLang="en-US" sz="4000"/>
              <a:t>根据对方提出的某些线索继续提问	</a:t>
            </a:r>
            <a:endParaRPr lang="zh-CN" altLang="en-US" sz="4000"/>
          </a:p>
          <a:p>
            <a:pPr lvl="1" fontAlgn="auto">
              <a:spcBef>
                <a:spcPts val="0"/>
              </a:spcBef>
              <a:buFont typeface="Arial" panose="020B0604020202020204" pitchFamily="34" charset="0"/>
              <a:buChar char="•"/>
            </a:pPr>
            <a:r>
              <a:rPr lang="zh-CN" altLang="en-US" sz="3425"/>
              <a:t>关注用户说的能暗示你的方案可能错误的时候</a:t>
            </a:r>
            <a:endParaRPr lang="zh-CN" altLang="en-US" sz="3425"/>
          </a:p>
          <a:p>
            <a:pPr lvl="1" fontAlgn="auto">
              <a:spcBef>
                <a:spcPts val="0"/>
              </a:spcBef>
              <a:buFont typeface="Arial" panose="020B0604020202020204" pitchFamily="34" charset="0"/>
              <a:buChar char="•"/>
            </a:pPr>
            <a:r>
              <a:rPr lang="zh-CN" altLang="en-US" sz="3425"/>
              <a:t>“您可以就此多谈谈吗?”	</a:t>
            </a:r>
            <a:endParaRPr lang="zh-CN" altLang="en-US" sz="3425"/>
          </a:p>
          <a:p>
            <a:pPr fontAlgn="auto">
              <a:spcBef>
                <a:spcPts val="0"/>
              </a:spcBef>
            </a:pPr>
            <a:r>
              <a:rPr lang="zh-CN" altLang="en-US" sz="4000"/>
              <a:t>将自由发挥性质的问题放在最后	</a:t>
            </a:r>
            <a:endParaRPr lang="zh-CN" altLang="en-US" sz="4000"/>
          </a:p>
          <a:p>
            <a:pPr lvl="1" fontAlgn="auto">
              <a:spcBef>
                <a:spcPts val="0"/>
              </a:spcBef>
              <a:buFont typeface="Arial" panose="020B0604020202020204" pitchFamily="34" charset="0"/>
              <a:buChar char="•"/>
            </a:pPr>
            <a:r>
              <a:rPr lang="zh-CN" altLang="en-US" sz="3425"/>
              <a:t>“您还有什么想补充的吗?”</a:t>
            </a:r>
            <a:endParaRPr lang="zh-CN" altLang="en-US" sz="3425"/>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面谈的优缺点</a:t>
            </a:r>
            <a:endParaRPr lang="zh-CN" altLang="en-US"/>
          </a:p>
        </p:txBody>
      </p:sp>
      <p:sp>
        <p:nvSpPr>
          <p:cNvPr id="4" name="页脚占位符 3"/>
          <p:cNvSpPr>
            <a:spLocks noGrp="1"/>
          </p:cNvSpPr>
          <p:nvPr>
            <p:ph type="ftr" sz="quarter" idx="11"/>
          </p:nvPr>
        </p:nvSpPr>
        <p:spPr/>
        <p:txBody>
          <a:bodyPr/>
          <a:p>
            <a:r>
              <a:rPr lang="zh-CN" altLang="en-US"/>
              <a:t>软件工程</a:t>
            </a:r>
            <a:endParaRPr lang="zh-CN" altLang="en-US"/>
          </a:p>
        </p:txBody>
      </p:sp>
      <p:sp>
        <p:nvSpPr>
          <p:cNvPr id="5" name="灯片编号占位符 4"/>
          <p:cNvSpPr>
            <a:spLocks noGrp="1"/>
          </p:cNvSpPr>
          <p:nvPr>
            <p:ph type="sldNum" sz="quarter" idx="12"/>
          </p:nvPr>
        </p:nvSpPr>
        <p:spPr/>
        <p:txBody>
          <a:bodyPr/>
          <a:p>
            <a:fld id="{F528F39D-B5E5-4CA7-906C-979D5A62978D}" type="slidenum">
              <a:rPr lang="zh-CN" altLang="en-US" smtClean="0"/>
            </a:fld>
            <a:endParaRPr lang="zh-CN" altLang="en-US"/>
          </a:p>
        </p:txBody>
      </p:sp>
      <p:sp>
        <p:nvSpPr>
          <p:cNvPr id="6" name="内容占位符 5"/>
          <p:cNvSpPr>
            <a:spLocks noGrp="1"/>
          </p:cNvSpPr>
          <p:nvPr>
            <p:ph idx="1"/>
            <p:custDataLst>
              <p:tags r:id="rId1"/>
            </p:custDataLst>
          </p:nvPr>
        </p:nvSpPr>
        <p:spPr>
          <a:xfrm>
            <a:off x="768350" y="925195"/>
            <a:ext cx="7814310" cy="3604260"/>
          </a:xfrm>
        </p:spPr>
        <p:txBody>
          <a:bodyPr>
            <a:normAutofit fontScale="50000"/>
          </a:bodyPr>
          <a:p>
            <a:r>
              <a:rPr lang="zh-CN" altLang="en-US" sz="4000"/>
              <a:t>面谈的优点	</a:t>
            </a:r>
            <a:endParaRPr lang="zh-CN" altLang="en-US" sz="4000"/>
          </a:p>
          <a:p>
            <a:pPr lvl="1"/>
            <a:r>
              <a:rPr lang="zh-CN" altLang="en-US" sz="3425"/>
              <a:t>可以获得大量丰富的数据	</a:t>
            </a:r>
            <a:endParaRPr lang="zh-CN" altLang="en-US" sz="3425"/>
          </a:p>
          <a:p>
            <a:pPr lvl="1"/>
            <a:r>
              <a:rPr lang="zh-CN" altLang="en-US" sz="3425"/>
              <a:t>有助于发现观点、感受、目标及事实	</a:t>
            </a:r>
            <a:endParaRPr lang="zh-CN" altLang="en-US" sz="3425"/>
          </a:p>
          <a:p>
            <a:pPr lvl="1"/>
            <a:r>
              <a:rPr lang="zh-CN" altLang="en-US" sz="3425"/>
              <a:t>可以进行深入探讨，根据面谈前一阶段获知的内容调整后续的问题	</a:t>
            </a:r>
            <a:endParaRPr lang="zh-CN" altLang="en-US" sz="3425"/>
          </a:p>
          <a:p>
            <a:r>
              <a:rPr lang="zh-CN" altLang="en-US" sz="4000"/>
              <a:t>面谈的缺点</a:t>
            </a:r>
            <a:endParaRPr lang="zh-CN" altLang="en-US" sz="4000"/>
          </a:p>
          <a:p>
            <a:pPr lvl="1"/>
            <a:r>
              <a:rPr lang="zh-CN" altLang="en-US" sz="3425"/>
              <a:t>大量的数据是定性的，难以分析	</a:t>
            </a:r>
            <a:endParaRPr lang="zh-CN" altLang="en-US" sz="3425"/>
          </a:p>
          <a:p>
            <a:pPr lvl="1"/>
            <a:r>
              <a:rPr lang="zh-CN" altLang="en-US" sz="3425"/>
              <a:t>难于对问题的回答者进行比较	</a:t>
            </a:r>
            <a:endParaRPr lang="zh-CN" altLang="en-US" sz="3425"/>
          </a:p>
          <a:p>
            <a:pPr lvl="1"/>
            <a:r>
              <a:rPr lang="zh-CN" altLang="en-US" sz="3425"/>
              <a:t>面谈技巧难于掌握	</a:t>
            </a:r>
            <a:endParaRPr lang="zh-CN" altLang="en-US" sz="3425"/>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群体诱导技术</a:t>
            </a:r>
            <a:endParaRPr lang="zh-CN" altLang="en-US"/>
          </a:p>
        </p:txBody>
      </p:sp>
      <p:sp>
        <p:nvSpPr>
          <p:cNvPr id="4" name="页脚占位符 3"/>
          <p:cNvSpPr>
            <a:spLocks noGrp="1"/>
          </p:cNvSpPr>
          <p:nvPr>
            <p:ph type="ftr" sz="quarter" idx="11"/>
          </p:nvPr>
        </p:nvSpPr>
        <p:spPr/>
        <p:txBody>
          <a:bodyPr/>
          <a:p>
            <a:r>
              <a:rPr lang="zh-CN" altLang="en-US"/>
              <a:t>软件工程</a:t>
            </a:r>
            <a:endParaRPr lang="zh-CN" altLang="en-US"/>
          </a:p>
        </p:txBody>
      </p:sp>
      <p:sp>
        <p:nvSpPr>
          <p:cNvPr id="5" name="灯片编号占位符 4"/>
          <p:cNvSpPr>
            <a:spLocks noGrp="1"/>
          </p:cNvSpPr>
          <p:nvPr>
            <p:ph type="sldNum" sz="quarter" idx="12"/>
          </p:nvPr>
        </p:nvSpPr>
        <p:spPr/>
        <p:txBody>
          <a:bodyPr/>
          <a:p>
            <a:fld id="{F528F39D-B5E5-4CA7-906C-979D5A62978D}" type="slidenum">
              <a:rPr lang="zh-CN" altLang="en-US" smtClean="0"/>
            </a:fld>
            <a:endParaRPr lang="zh-CN" altLang="en-US"/>
          </a:p>
        </p:txBody>
      </p:sp>
      <p:sp>
        <p:nvSpPr>
          <p:cNvPr id="6" name="内容占位符 5"/>
          <p:cNvSpPr>
            <a:spLocks noGrp="1"/>
          </p:cNvSpPr>
          <p:nvPr>
            <p:ph idx="1"/>
            <p:custDataLst>
              <p:tags r:id="rId1"/>
            </p:custDataLst>
          </p:nvPr>
        </p:nvSpPr>
        <p:spPr>
          <a:xfrm>
            <a:off x="768350" y="925195"/>
            <a:ext cx="7795895" cy="3604260"/>
          </a:xfrm>
        </p:spPr>
        <p:txBody>
          <a:bodyPr>
            <a:normAutofit fontScale="40000"/>
          </a:bodyPr>
          <a:p>
            <a:r>
              <a:rPr lang="zh-CN" altLang="en-US" sz="4000"/>
              <a:t>在同一个房间中聚集3-20个干系人</a:t>
            </a:r>
            <a:endParaRPr lang="zh-CN" altLang="en-US" sz="4000"/>
          </a:p>
          <a:p>
            <a:r>
              <a:rPr lang="zh-CN" altLang="en-US" sz="4000"/>
              <a:t>每个人都将自己的观点大声说出来</a:t>
            </a:r>
            <a:endParaRPr lang="zh-CN" altLang="en-US" sz="4000"/>
          </a:p>
          <a:p>
            <a:r>
              <a:rPr lang="zh-CN" altLang="en-US" sz="4000"/>
              <a:t>群体的答案往往比个体好</a:t>
            </a:r>
            <a:endParaRPr lang="zh-CN" altLang="en-US" sz="4000"/>
          </a:p>
          <a:p>
            <a:r>
              <a:rPr lang="zh-CN" altLang="en-US" sz="4000"/>
              <a:t>什么时候采用群体诱导技术?	</a:t>
            </a:r>
            <a:endParaRPr lang="zh-CN" altLang="en-US" sz="4000"/>
          </a:p>
          <a:p>
            <a:pPr lvl="1">
              <a:buFont typeface="Arial" panose="020B0604020202020204" pitchFamily="34" charset="0"/>
              <a:buChar char="•"/>
            </a:pPr>
            <a:r>
              <a:rPr lang="zh-CN" altLang="en-US" sz="3425"/>
              <a:t>当很多人各自知道关于整体的一小部分时</a:t>
            </a:r>
            <a:endParaRPr lang="zh-CN" altLang="en-US" sz="3425"/>
          </a:p>
          <a:p>
            <a:pPr lvl="1">
              <a:buFont typeface="Arial" panose="020B0604020202020204" pitchFamily="34" charset="0"/>
              <a:buChar char="•"/>
            </a:pPr>
            <a:r>
              <a:rPr lang="zh-CN" altLang="en-US" sz="3425"/>
              <a:t>当人们需要彼此交互来得到一个最优的答案时</a:t>
            </a:r>
            <a:endParaRPr lang="zh-CN" altLang="en-US" sz="3425"/>
          </a:p>
          <a:p>
            <a:pPr lvl="1">
              <a:buFont typeface="Arial" panose="020B0604020202020204" pitchFamily="34" charset="0"/>
              <a:buChar char="•"/>
            </a:pPr>
            <a:r>
              <a:rPr lang="zh-CN" altLang="en-US" sz="3425"/>
              <a:t>当你能把人们聚在一起时</a:t>
            </a:r>
            <a:endParaRPr lang="zh-CN" altLang="en-US" sz="3425"/>
          </a:p>
          <a:p>
            <a:pPr lvl="1">
              <a:buFont typeface="Arial" panose="020B0604020202020204" pitchFamily="34" charset="0"/>
              <a:buChar char="•"/>
            </a:pPr>
            <a:r>
              <a:rPr lang="zh-CN" altLang="en-US" sz="3425"/>
              <a:t>需要匿名？采用一些工具</a:t>
            </a:r>
            <a:endParaRPr lang="zh-CN" altLang="en-US" sz="3425"/>
          </a:p>
          <a:p>
            <a:pPr lvl="1">
              <a:buFont typeface="Arial" panose="020B0604020202020204" pitchFamily="34" charset="0"/>
              <a:buChar char="•"/>
            </a:pPr>
            <a:r>
              <a:rPr lang="zh-CN" altLang="en-US" sz="3425"/>
              <a:t>在不同的地方？采用一些工具</a:t>
            </a:r>
            <a:endParaRPr lang="zh-CN" altLang="en-US" sz="3425"/>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群体诱导技术的优缺点</a:t>
            </a:r>
            <a:endParaRPr lang="zh-CN" altLang="en-US"/>
          </a:p>
        </p:txBody>
      </p:sp>
      <p:sp>
        <p:nvSpPr>
          <p:cNvPr id="4" name="页脚占位符 3"/>
          <p:cNvSpPr>
            <a:spLocks noGrp="1"/>
          </p:cNvSpPr>
          <p:nvPr>
            <p:ph type="ftr" sz="quarter" idx="11"/>
          </p:nvPr>
        </p:nvSpPr>
        <p:spPr/>
        <p:txBody>
          <a:bodyPr/>
          <a:p>
            <a:r>
              <a:rPr lang="zh-CN" altLang="en-US"/>
              <a:t>软件工程</a:t>
            </a:r>
            <a:endParaRPr lang="zh-CN" altLang="en-US"/>
          </a:p>
        </p:txBody>
      </p:sp>
      <p:sp>
        <p:nvSpPr>
          <p:cNvPr id="5" name="灯片编号占位符 4"/>
          <p:cNvSpPr>
            <a:spLocks noGrp="1"/>
          </p:cNvSpPr>
          <p:nvPr>
            <p:ph type="sldNum" sz="quarter" idx="12"/>
          </p:nvPr>
        </p:nvSpPr>
        <p:spPr/>
        <p:txBody>
          <a:bodyPr/>
          <a:p>
            <a:fld id="{F528F39D-B5E5-4CA7-906C-979D5A62978D}" type="slidenum">
              <a:rPr lang="zh-CN" altLang="en-US" smtClean="0"/>
            </a:fld>
            <a:endParaRPr lang="zh-CN" altLang="en-US"/>
          </a:p>
        </p:txBody>
      </p:sp>
      <p:sp>
        <p:nvSpPr>
          <p:cNvPr id="6" name="内容占位符 5"/>
          <p:cNvSpPr>
            <a:spLocks noGrp="1"/>
          </p:cNvSpPr>
          <p:nvPr>
            <p:ph idx="1"/>
            <p:custDataLst>
              <p:tags r:id="rId1"/>
            </p:custDataLst>
          </p:nvPr>
        </p:nvSpPr>
        <p:spPr/>
        <p:txBody>
          <a:bodyPr>
            <a:normAutofit fontScale="50000"/>
          </a:bodyPr>
          <a:p>
            <a:r>
              <a:rPr lang="zh-CN" altLang="en-US" sz="4000"/>
              <a:t> 优点	</a:t>
            </a:r>
            <a:endParaRPr lang="zh-CN" altLang="en-US" sz="4000"/>
          </a:p>
          <a:p>
            <a:pPr lvl="1"/>
            <a:r>
              <a:rPr lang="zh-CN" altLang="en-US" sz="3425"/>
              <a:t>人们的交互比正式的面谈来的自然	</a:t>
            </a:r>
            <a:endParaRPr lang="zh-CN" altLang="en-US" sz="3425"/>
          </a:p>
          <a:p>
            <a:pPr lvl="1"/>
            <a:r>
              <a:rPr lang="zh-CN" altLang="en-US" sz="3425"/>
              <a:t>可以抛砖引玉 （运用实体模型、情节串联板）</a:t>
            </a:r>
            <a:endParaRPr lang="zh-CN" altLang="en-US" sz="3425"/>
          </a:p>
          <a:p>
            <a:r>
              <a:rPr lang="zh-CN" altLang="en-US" sz="4000"/>
              <a:t>缺点	</a:t>
            </a:r>
            <a:endParaRPr lang="zh-CN" altLang="en-US" sz="4000"/>
          </a:p>
          <a:p>
            <a:pPr lvl="1"/>
            <a:r>
              <a:rPr lang="zh-CN" altLang="en-US" sz="3425"/>
              <a:t>分组不一定自然 （可能会令某些参与者不适应）</a:t>
            </a:r>
            <a:endParaRPr lang="zh-CN" altLang="en-US" sz="3425"/>
          </a:p>
          <a:p>
            <a:pPr lvl="1"/>
            <a:r>
              <a:rPr lang="zh-CN" altLang="en-US" sz="3425"/>
              <a:t>少数服从多数所带来的危险	</a:t>
            </a:r>
            <a:endParaRPr lang="zh-CN" altLang="en-US" sz="3425"/>
          </a:p>
          <a:p>
            <a:pPr lvl="1"/>
            <a:r>
              <a:rPr lang="zh-CN" altLang="en-US" sz="3425"/>
              <a:t>可能对技术问题仅给出表面化的回答	</a:t>
            </a:r>
            <a:endParaRPr lang="zh-CN" altLang="en-US" sz="3425"/>
          </a:p>
          <a:p>
            <a:pPr lvl="1"/>
            <a:r>
              <a:rPr lang="zh-CN" altLang="en-US" sz="3425"/>
              <a:t>需要训练有素的协调人	</a:t>
            </a:r>
            <a:endParaRPr lang="zh-CN" altLang="en-US" sz="3425"/>
          </a:p>
        </p:txBody>
      </p:sp>
      <p:grpSp>
        <p:nvGrpSpPr>
          <p:cNvPr id="8" name="组合 7"/>
          <p:cNvGrpSpPr/>
          <p:nvPr/>
        </p:nvGrpSpPr>
        <p:grpSpPr>
          <a:xfrm>
            <a:off x="5080" y="3022600"/>
            <a:ext cx="9138920" cy="1172845"/>
            <a:chOff x="6" y="3403"/>
            <a:chExt cx="14392" cy="1847"/>
          </a:xfrm>
        </p:grpSpPr>
        <p:sp>
          <p:nvSpPr>
            <p:cNvPr id="7" name="矩形 6"/>
            <p:cNvSpPr/>
            <p:nvPr>
              <p:custDataLst>
                <p:tags r:id="rId2"/>
              </p:custDataLst>
            </p:nvPr>
          </p:nvSpPr>
          <p:spPr>
            <a:xfrm>
              <a:off x="6" y="3403"/>
              <a:ext cx="14392" cy="1847"/>
            </a:xfrm>
            <a:prstGeom prst="rect">
              <a:avLst/>
            </a:prstGeom>
            <a:gradFill>
              <a:gsLst>
                <a:gs pos="100000">
                  <a:srgbClr val="6264F8"/>
                </a:gs>
                <a:gs pos="49000">
                  <a:srgbClr val="B584EC"/>
                </a:gs>
                <a:gs pos="0">
                  <a:srgbClr val="EE9AE5"/>
                </a:gs>
              </a:gsLst>
              <a:lin ang="2700000" scaled="1"/>
            </a:gra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custDataLst>
                <p:tags r:id="rId3"/>
              </p:custDataLst>
            </p:nvPr>
          </p:nvSpPr>
          <p:spPr>
            <a:xfrm>
              <a:off x="4764" y="3715"/>
              <a:ext cx="5802" cy="1307"/>
            </a:xfrm>
            <a:prstGeom prst="rect">
              <a:avLst/>
            </a:prstGeom>
            <a:noFill/>
          </p:spPr>
          <p:txBody>
            <a:bodyPr wrap="square" rtlCol="0">
              <a:spAutoFit/>
            </a:bodyPr>
            <a:p>
              <a:r>
                <a:rPr lang="zh-CN" altLang="en-US" sz="4800">
                  <a:solidFill>
                    <a:schemeClr val="bg1"/>
                  </a:solidFill>
                </a:rPr>
                <a:t>辩证观</a:t>
              </a:r>
              <a:endParaRPr lang="zh-CN" altLang="en-US" sz="4800">
                <a:solidFill>
                  <a:schemeClr val="bg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in)">
                                      <p:cBhvr>
                                        <p:cTn id="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问卷调查</a:t>
            </a:r>
            <a:endParaRPr lang="zh-CN" altLang="en-US"/>
          </a:p>
        </p:txBody>
      </p:sp>
      <p:sp>
        <p:nvSpPr>
          <p:cNvPr id="4" name="页脚占位符 3"/>
          <p:cNvSpPr>
            <a:spLocks noGrp="1"/>
          </p:cNvSpPr>
          <p:nvPr>
            <p:ph type="ftr" sz="quarter" idx="11"/>
          </p:nvPr>
        </p:nvSpPr>
        <p:spPr/>
        <p:txBody>
          <a:bodyPr/>
          <a:p>
            <a:r>
              <a:rPr lang="zh-CN" altLang="en-US"/>
              <a:t>软件工程</a:t>
            </a:r>
            <a:endParaRPr lang="zh-CN" altLang="en-US"/>
          </a:p>
        </p:txBody>
      </p:sp>
      <p:sp>
        <p:nvSpPr>
          <p:cNvPr id="5" name="灯片编号占位符 4"/>
          <p:cNvSpPr>
            <a:spLocks noGrp="1"/>
          </p:cNvSpPr>
          <p:nvPr>
            <p:ph type="sldNum" sz="quarter" idx="12"/>
          </p:nvPr>
        </p:nvSpPr>
        <p:spPr/>
        <p:txBody>
          <a:bodyPr/>
          <a:p>
            <a:fld id="{F528F39D-B5E5-4CA7-906C-979D5A62978D}" type="slidenum">
              <a:rPr lang="zh-CN" altLang="en-US" smtClean="0"/>
            </a:fld>
            <a:endParaRPr lang="zh-CN" altLang="en-US"/>
          </a:p>
        </p:txBody>
      </p:sp>
      <p:sp>
        <p:nvSpPr>
          <p:cNvPr id="6" name="内容占位符 5"/>
          <p:cNvSpPr>
            <a:spLocks noGrp="1"/>
          </p:cNvSpPr>
          <p:nvPr>
            <p:ph idx="1"/>
            <p:custDataLst>
              <p:tags r:id="rId1"/>
            </p:custDataLst>
          </p:nvPr>
        </p:nvSpPr>
        <p:spPr>
          <a:xfrm>
            <a:off x="768350" y="925195"/>
            <a:ext cx="7694295" cy="3567430"/>
          </a:xfrm>
        </p:spPr>
        <p:txBody>
          <a:bodyPr>
            <a:normAutofit fontScale="50000"/>
          </a:bodyPr>
          <a:p>
            <a:r>
              <a:rPr lang="zh-CN" altLang="en-US" sz="4000"/>
              <a:t>预先定义的问题</a:t>
            </a:r>
            <a:endParaRPr lang="zh-CN" altLang="en-US" sz="4000"/>
          </a:p>
          <a:p>
            <a:pPr lvl="0"/>
            <a:r>
              <a:rPr lang="en-US" altLang="zh-CN" sz="3995"/>
              <a:t> </a:t>
            </a:r>
            <a:r>
              <a:rPr lang="zh-CN" altLang="en-US" sz="3995"/>
              <a:t>面对广泛涉众的时候使用</a:t>
            </a:r>
            <a:endParaRPr lang="zh-CN" altLang="en-US" sz="3995"/>
          </a:p>
          <a:p>
            <a:pPr lvl="0"/>
            <a:r>
              <a:rPr lang="zh-CN" altLang="en-US" sz="3995"/>
              <a:t> 统计分析的结果看起来更科学</a:t>
            </a:r>
            <a:endParaRPr lang="zh-CN" altLang="en-US" sz="3995"/>
          </a:p>
          <a:p>
            <a:pPr lvl="0"/>
            <a:r>
              <a:rPr lang="zh-CN" altLang="en-US" sz="3995"/>
              <a:t> 什么时候使用问卷调查?	</a:t>
            </a:r>
            <a:endParaRPr lang="zh-CN" altLang="en-US" sz="3995"/>
          </a:p>
          <a:p>
            <a:pPr lvl="2"/>
            <a:r>
              <a:rPr lang="zh-CN" altLang="en-US" sz="2850"/>
              <a:t> 大基数的被访者</a:t>
            </a:r>
            <a:endParaRPr lang="zh-CN" altLang="en-US" sz="2850"/>
          </a:p>
          <a:p>
            <a:pPr lvl="2"/>
            <a:r>
              <a:rPr lang="zh-CN" altLang="en-US" sz="2850"/>
              <a:t> 需要关于良好定义的特定问题的答案</a:t>
            </a:r>
            <a:endParaRPr lang="zh-CN" altLang="en-US" sz="2850"/>
          </a:p>
          <a:p>
            <a:pPr lvl="2"/>
            <a:r>
              <a:rPr lang="zh-CN" altLang="en-US" sz="2850"/>
              <a:t> 验证有限次面谈得出的结论</a:t>
            </a:r>
            <a:endParaRPr lang="zh-CN" altLang="en-US" sz="2850"/>
          </a:p>
          <a:p>
            <a:pPr lvl="2"/>
            <a:r>
              <a:rPr lang="zh-CN" altLang="en-US" sz="2850"/>
              <a:t> 当你需要一个特定的结果的时候 </a:t>
            </a:r>
            <a:endParaRPr lang="zh-CN" altLang="en-US" sz="285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需求研讨会</a:t>
            </a:r>
            <a:endParaRPr lang="zh-CN" altLang="en-US"/>
          </a:p>
        </p:txBody>
      </p:sp>
      <p:sp>
        <p:nvSpPr>
          <p:cNvPr id="3" name="日期占位符 2"/>
          <p:cNvSpPr>
            <a:spLocks noGrp="1"/>
          </p:cNvSpPr>
          <p:nvPr>
            <p:ph type="dt" sz="half" idx="10"/>
          </p:nvPr>
        </p:nvSpPr>
        <p:spPr/>
        <p:txBody>
          <a:bodyPr/>
          <a:p>
            <a:fld id="{5902FD77-8323-485D-87E2-91A0E9C84954}" type="datetime1">
              <a:rPr lang="zh-CN" altLang="en-US" smtClean="0"/>
            </a:fld>
            <a:endParaRPr lang="zh-CN" altLang="en-US"/>
          </a:p>
        </p:txBody>
      </p:sp>
      <p:sp>
        <p:nvSpPr>
          <p:cNvPr id="4" name="页脚占位符 3"/>
          <p:cNvSpPr>
            <a:spLocks noGrp="1"/>
          </p:cNvSpPr>
          <p:nvPr>
            <p:ph type="ftr" sz="quarter" idx="11"/>
          </p:nvPr>
        </p:nvSpPr>
        <p:spPr/>
        <p:txBody>
          <a:bodyPr/>
          <a:p>
            <a:r>
              <a:rPr lang="zh-CN" altLang="en-US"/>
              <a:t>软件工程</a:t>
            </a:r>
            <a:endParaRPr lang="zh-CN" altLang="en-US"/>
          </a:p>
        </p:txBody>
      </p:sp>
      <p:sp>
        <p:nvSpPr>
          <p:cNvPr id="5" name="灯片编号占位符 4"/>
          <p:cNvSpPr>
            <a:spLocks noGrp="1"/>
          </p:cNvSpPr>
          <p:nvPr>
            <p:ph type="sldNum" sz="quarter" idx="12"/>
          </p:nvPr>
        </p:nvSpPr>
        <p:spPr/>
        <p:txBody>
          <a:bodyPr/>
          <a:p>
            <a:fld id="{F528F39D-B5E5-4CA7-906C-979D5A62978D}" type="slidenum">
              <a:rPr lang="zh-CN" altLang="en-US" smtClean="0"/>
            </a:fld>
            <a:endParaRPr lang="zh-CN" altLang="en-US"/>
          </a:p>
        </p:txBody>
      </p:sp>
      <p:sp>
        <p:nvSpPr>
          <p:cNvPr id="6" name="内容占位符 5"/>
          <p:cNvSpPr>
            <a:spLocks noGrp="1"/>
          </p:cNvSpPr>
          <p:nvPr>
            <p:ph idx="1"/>
            <p:custDataLst>
              <p:tags r:id="rId1"/>
            </p:custDataLst>
          </p:nvPr>
        </p:nvSpPr>
        <p:spPr>
          <a:xfrm>
            <a:off x="768350" y="925195"/>
            <a:ext cx="7795895" cy="3539490"/>
          </a:xfrm>
        </p:spPr>
        <p:txBody>
          <a:bodyPr>
            <a:noAutofit/>
          </a:bodyPr>
          <a:p>
            <a:pPr fontAlgn="auto">
              <a:spcBef>
                <a:spcPts val="0"/>
              </a:spcBef>
            </a:pPr>
            <a:r>
              <a:rPr lang="zh-CN" altLang="en-US" sz="2000"/>
              <a:t>目标</a:t>
            </a:r>
            <a:endParaRPr lang="zh-CN" altLang="en-US" sz="2000"/>
          </a:p>
          <a:p>
            <a:pPr lvl="1" fontAlgn="auto">
              <a:spcBef>
                <a:spcPts val="0"/>
              </a:spcBef>
            </a:pPr>
            <a:r>
              <a:rPr lang="zh-CN" altLang="en-US" sz="1710"/>
              <a:t>介绍项目成员和干系人</a:t>
            </a:r>
            <a:endParaRPr lang="zh-CN" altLang="en-US" sz="1710"/>
          </a:p>
          <a:p>
            <a:pPr lvl="1" fontAlgn="auto">
              <a:spcBef>
                <a:spcPts val="0"/>
              </a:spcBef>
            </a:pPr>
            <a:r>
              <a:rPr lang="zh-CN" altLang="en-US" sz="1600"/>
              <a:t>收集需求列表</a:t>
            </a:r>
            <a:endParaRPr lang="zh-CN" altLang="en-US" sz="1600"/>
          </a:p>
          <a:p>
            <a:pPr lvl="1" fontAlgn="auto">
              <a:spcBef>
                <a:spcPts val="0"/>
              </a:spcBef>
            </a:pPr>
            <a:r>
              <a:rPr lang="zh-CN" altLang="en-US" sz="1600"/>
              <a:t>在会议过程中，运用头脑风暴、故事板、角色扮演、现有系统评估等方法获取需求</a:t>
            </a:r>
            <a:endParaRPr lang="zh-CN" altLang="en-US" sz="1600"/>
          </a:p>
          <a:p>
            <a:pPr fontAlgn="auto">
              <a:spcBef>
                <a:spcPts val="0"/>
              </a:spcBef>
            </a:pPr>
            <a:r>
              <a:rPr lang="zh-CN" altLang="en-US" sz="2000"/>
              <a:t>指导原则</a:t>
            </a:r>
            <a:endParaRPr lang="zh-CN" altLang="en-US" sz="2000"/>
          </a:p>
          <a:p>
            <a:pPr lvl="1" fontAlgn="auto">
              <a:spcBef>
                <a:spcPts val="0"/>
              </a:spcBef>
            </a:pPr>
            <a:r>
              <a:rPr lang="zh-CN" altLang="en-US" sz="1600"/>
              <a:t> 主持人组织研讨: 	</a:t>
            </a:r>
            <a:endParaRPr lang="zh-CN" altLang="en-US" sz="1600"/>
          </a:p>
          <a:p>
            <a:pPr lvl="1" fontAlgn="auto">
              <a:spcBef>
                <a:spcPts val="0"/>
              </a:spcBef>
            </a:pPr>
            <a:r>
              <a:rPr lang="zh-CN" altLang="en-US" sz="1600"/>
              <a:t> 给每个人发言的机会</a:t>
            </a:r>
            <a:endParaRPr lang="zh-CN" altLang="en-US" sz="1600"/>
          </a:p>
          <a:p>
            <a:pPr lvl="1" fontAlgn="auto">
              <a:spcBef>
                <a:spcPts val="0"/>
              </a:spcBef>
            </a:pPr>
            <a:r>
              <a:rPr lang="zh-CN" altLang="en-US" sz="1600"/>
              <a:t> 保持研讨话题的相关性</a:t>
            </a:r>
            <a:endParaRPr lang="zh-CN" altLang="en-US" sz="1600"/>
          </a:p>
          <a:p>
            <a:pPr lvl="1" fontAlgn="auto">
              <a:spcBef>
                <a:spcPts val="0"/>
              </a:spcBef>
            </a:pPr>
            <a:r>
              <a:rPr lang="zh-CN" altLang="en-US" sz="1600"/>
              <a:t> 定义需求属性 	</a:t>
            </a:r>
            <a:endParaRPr lang="zh-CN" altLang="en-US" sz="1600"/>
          </a:p>
          <a:p>
            <a:pPr lvl="1" fontAlgn="auto">
              <a:spcBef>
                <a:spcPts val="0"/>
              </a:spcBef>
            </a:pPr>
            <a:r>
              <a:rPr lang="zh-CN" altLang="en-US" sz="1600"/>
              <a:t> 记录需求发现</a:t>
            </a:r>
            <a:endParaRPr lang="zh-CN" altLang="en-US" sz="1600"/>
          </a:p>
          <a:p>
            <a:pPr lvl="1" fontAlgn="auto">
              <a:spcBef>
                <a:spcPts val="0"/>
              </a:spcBef>
            </a:pPr>
            <a:r>
              <a:rPr lang="zh-CN" altLang="en-US" sz="1600"/>
              <a:t> 总结并作出结论</a:t>
            </a:r>
            <a:endParaRPr lang="zh-CN" altLang="en-US" sz="16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会议</a:t>
            </a:r>
            <a:endParaRPr lang="zh-CN" altLang="en-US"/>
          </a:p>
        </p:txBody>
      </p:sp>
      <p:sp>
        <p:nvSpPr>
          <p:cNvPr id="3" name="日期占位符 2"/>
          <p:cNvSpPr>
            <a:spLocks noGrp="1"/>
          </p:cNvSpPr>
          <p:nvPr>
            <p:ph type="dt" sz="half" idx="10"/>
          </p:nvPr>
        </p:nvSpPr>
        <p:spPr/>
        <p:txBody>
          <a:bodyPr/>
          <a:p>
            <a:fld id="{5902FD77-8323-485D-87E2-91A0E9C84954}" type="datetime1">
              <a:rPr lang="zh-CN" altLang="en-US" smtClean="0"/>
            </a:fld>
            <a:endParaRPr lang="zh-CN" altLang="en-US"/>
          </a:p>
        </p:txBody>
      </p:sp>
      <p:sp>
        <p:nvSpPr>
          <p:cNvPr id="4" name="页脚占位符 3"/>
          <p:cNvSpPr>
            <a:spLocks noGrp="1"/>
          </p:cNvSpPr>
          <p:nvPr>
            <p:ph type="ftr" sz="quarter" idx="11"/>
          </p:nvPr>
        </p:nvSpPr>
        <p:spPr/>
        <p:txBody>
          <a:bodyPr/>
          <a:p>
            <a:r>
              <a:rPr lang="zh-CN" altLang="en-US"/>
              <a:t>软件工程</a:t>
            </a:r>
            <a:endParaRPr lang="zh-CN" altLang="en-US"/>
          </a:p>
        </p:txBody>
      </p:sp>
      <p:sp>
        <p:nvSpPr>
          <p:cNvPr id="5" name="灯片编号占位符 4"/>
          <p:cNvSpPr>
            <a:spLocks noGrp="1"/>
          </p:cNvSpPr>
          <p:nvPr>
            <p:ph type="sldNum" sz="quarter" idx="12"/>
          </p:nvPr>
        </p:nvSpPr>
        <p:spPr/>
        <p:txBody>
          <a:bodyPr/>
          <a:p>
            <a:fld id="{F528F39D-B5E5-4CA7-906C-979D5A62978D}" type="slidenum">
              <a:rPr lang="zh-CN" altLang="en-US" smtClean="0"/>
            </a:fld>
            <a:endParaRPr lang="zh-CN" altLang="en-US"/>
          </a:p>
        </p:txBody>
      </p:sp>
      <p:sp>
        <p:nvSpPr>
          <p:cNvPr id="6" name="内容占位符 5"/>
          <p:cNvSpPr>
            <a:spLocks noGrp="1"/>
          </p:cNvSpPr>
          <p:nvPr>
            <p:ph idx="1"/>
            <p:custDataLst>
              <p:tags r:id="rId1"/>
            </p:custDataLst>
          </p:nvPr>
        </p:nvSpPr>
        <p:spPr>
          <a:xfrm>
            <a:off x="768350" y="925195"/>
            <a:ext cx="7768590" cy="3549015"/>
          </a:xfrm>
        </p:spPr>
        <p:txBody>
          <a:bodyPr>
            <a:noAutofit/>
          </a:bodyPr>
          <a:p>
            <a:pPr marL="0" indent="0" fontAlgn="auto">
              <a:spcBef>
                <a:spcPts val="0"/>
              </a:spcBef>
              <a:buNone/>
            </a:pPr>
            <a:r>
              <a:rPr lang="en-US" altLang="zh-CN" sz="2000"/>
              <a:t>     </a:t>
            </a:r>
            <a:r>
              <a:rPr lang="zh-CN" altLang="en-US" sz="2000"/>
              <a:t>会议用于总结成果或取得反馈，是重要的管理手段。	</a:t>
            </a:r>
            <a:endParaRPr lang="zh-CN" altLang="en-US" sz="2000"/>
          </a:p>
          <a:p>
            <a:pPr fontAlgn="auto">
              <a:spcBef>
                <a:spcPts val="0"/>
              </a:spcBef>
            </a:pPr>
            <a:r>
              <a:rPr lang="zh-CN" altLang="en-US" sz="1710"/>
              <a:t>需首先确定会议的目标	</a:t>
            </a:r>
            <a:endParaRPr lang="zh-CN" altLang="en-US" sz="1710"/>
          </a:p>
          <a:p>
            <a:pPr lvl="1" fontAlgn="auto">
              <a:spcBef>
                <a:spcPts val="0"/>
              </a:spcBef>
            </a:pPr>
            <a:r>
              <a:rPr lang="zh-CN" altLang="en-US" sz="1710"/>
              <a:t>例如：陈述介绍、解决问题、协调矛盾、项目进展分析、搜集和汇总数据、培训、计划	</a:t>
            </a:r>
            <a:endParaRPr lang="zh-CN" altLang="en-US" sz="1710"/>
          </a:p>
          <a:p>
            <a:pPr lvl="0" fontAlgn="auto">
              <a:spcBef>
                <a:spcPts val="0"/>
              </a:spcBef>
            </a:pPr>
            <a:r>
              <a:rPr lang="zh-CN" altLang="en-US" sz="1995"/>
              <a:t>需对会议进行仔细筹划</a:t>
            </a:r>
            <a:endParaRPr lang="zh-CN" altLang="en-US" sz="1995"/>
          </a:p>
          <a:p>
            <a:pPr lvl="1" fontAlgn="auto">
              <a:spcBef>
                <a:spcPts val="0"/>
              </a:spcBef>
            </a:pPr>
            <a:r>
              <a:rPr lang="zh-CN" altLang="en-US" sz="1710"/>
              <a:t>日程及设施安排	</a:t>
            </a:r>
            <a:endParaRPr lang="zh-CN" altLang="en-US" sz="1710"/>
          </a:p>
          <a:p>
            <a:pPr lvl="1" fontAlgn="auto">
              <a:spcBef>
                <a:spcPts val="0"/>
              </a:spcBef>
            </a:pPr>
            <a:r>
              <a:rPr lang="zh-CN" altLang="en-US" sz="1710"/>
              <a:t>确定日程并提前通知	</a:t>
            </a:r>
            <a:endParaRPr lang="zh-CN" altLang="en-US" sz="1710"/>
          </a:p>
          <a:p>
            <a:pPr lvl="1" fontAlgn="auto">
              <a:spcBef>
                <a:spcPts val="0"/>
              </a:spcBef>
            </a:pPr>
            <a:r>
              <a:rPr lang="zh-CN" altLang="en-US" sz="1710"/>
              <a:t>根据会议目的决定会议形式	</a:t>
            </a:r>
            <a:endParaRPr lang="zh-CN" altLang="en-US" sz="1710"/>
          </a:p>
          <a:p>
            <a:pPr lvl="1" fontAlgn="auto">
              <a:spcBef>
                <a:spcPts val="0"/>
              </a:spcBef>
            </a:pPr>
            <a:r>
              <a:rPr lang="zh-CN" altLang="en-US" sz="1710"/>
              <a:t>会议期间控制进度和程序进展	</a:t>
            </a:r>
            <a:endParaRPr lang="zh-CN" altLang="en-US" sz="1710"/>
          </a:p>
          <a:p>
            <a:pPr lvl="1" fontAlgn="auto">
              <a:spcBef>
                <a:spcPts val="0"/>
              </a:spcBef>
            </a:pPr>
            <a:r>
              <a:rPr lang="zh-CN" altLang="en-US" sz="1710"/>
              <a:t>对会议进行书面总结，并分发给与会者	</a:t>
            </a:r>
            <a:endParaRPr lang="zh-CN" altLang="en-US" sz="1710"/>
          </a:p>
          <a:p>
            <a:pPr lvl="1" fontAlgn="auto">
              <a:spcBef>
                <a:spcPts val="0"/>
              </a:spcBef>
            </a:pPr>
            <a:r>
              <a:rPr lang="zh-CN" altLang="en-US" sz="1710"/>
              <a:t>正式的陈述报告、项目预演及头脑风暴应遵循一定的规则</a:t>
            </a:r>
            <a:endParaRPr lang="zh-CN" altLang="en-US" sz="171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原型</a:t>
            </a:r>
            <a:endParaRPr lang="zh-CN" altLang="en-US"/>
          </a:p>
        </p:txBody>
      </p:sp>
      <p:sp>
        <p:nvSpPr>
          <p:cNvPr id="3" name="日期占位符 2"/>
          <p:cNvSpPr>
            <a:spLocks noGrp="1"/>
          </p:cNvSpPr>
          <p:nvPr>
            <p:ph type="dt" sz="half" idx="10"/>
          </p:nvPr>
        </p:nvSpPr>
        <p:spPr/>
        <p:txBody>
          <a:bodyPr/>
          <a:p>
            <a:fld id="{5902FD77-8323-485D-87E2-91A0E9C84954}" type="datetime1">
              <a:rPr lang="zh-CN" altLang="en-US" smtClean="0"/>
            </a:fld>
            <a:endParaRPr lang="zh-CN" altLang="en-US"/>
          </a:p>
        </p:txBody>
      </p:sp>
      <p:sp>
        <p:nvSpPr>
          <p:cNvPr id="4" name="页脚占位符 3"/>
          <p:cNvSpPr>
            <a:spLocks noGrp="1"/>
          </p:cNvSpPr>
          <p:nvPr>
            <p:ph type="ftr" sz="quarter" idx="11"/>
          </p:nvPr>
        </p:nvSpPr>
        <p:spPr/>
        <p:txBody>
          <a:bodyPr/>
          <a:p>
            <a:r>
              <a:rPr lang="zh-CN" altLang="en-US"/>
              <a:t>软件工程</a:t>
            </a:r>
            <a:endParaRPr lang="zh-CN" altLang="en-US"/>
          </a:p>
        </p:txBody>
      </p:sp>
      <p:sp>
        <p:nvSpPr>
          <p:cNvPr id="5" name="灯片编号占位符 4"/>
          <p:cNvSpPr>
            <a:spLocks noGrp="1"/>
          </p:cNvSpPr>
          <p:nvPr>
            <p:ph type="sldNum" sz="quarter" idx="12"/>
          </p:nvPr>
        </p:nvSpPr>
        <p:spPr/>
        <p:txBody>
          <a:bodyPr/>
          <a:p>
            <a:fld id="{F528F39D-B5E5-4CA7-906C-979D5A62978D}" type="slidenum">
              <a:rPr lang="zh-CN" altLang="en-US" smtClean="0"/>
            </a:fld>
            <a:endParaRPr lang="zh-CN" altLang="en-US"/>
          </a:p>
        </p:txBody>
      </p:sp>
      <p:sp>
        <p:nvSpPr>
          <p:cNvPr id="6" name="内容占位符 5"/>
          <p:cNvSpPr>
            <a:spLocks noGrp="1"/>
          </p:cNvSpPr>
          <p:nvPr>
            <p:ph idx="1"/>
            <p:custDataLst>
              <p:tags r:id="rId1"/>
            </p:custDataLst>
          </p:nvPr>
        </p:nvSpPr>
        <p:spPr>
          <a:xfrm>
            <a:off x="768350" y="925195"/>
            <a:ext cx="7740650" cy="3567430"/>
          </a:xfrm>
        </p:spPr>
        <p:txBody>
          <a:bodyPr>
            <a:noAutofit/>
          </a:bodyPr>
          <a:p>
            <a:pPr algn="just" fontAlgn="auto">
              <a:spcBef>
                <a:spcPts val="0"/>
              </a:spcBef>
              <a:buChar char="֍"/>
            </a:pPr>
            <a:r>
              <a:rPr lang="zh-CN" altLang="en-US" sz="2000"/>
              <a:t>目标</a:t>
            </a:r>
            <a:endParaRPr lang="zh-CN" altLang="en-US" sz="2000"/>
          </a:p>
          <a:p>
            <a:pPr lvl="1" fontAlgn="auto">
              <a:spcBef>
                <a:spcPts val="0"/>
              </a:spcBef>
            </a:pPr>
            <a:r>
              <a:rPr lang="zh-CN" altLang="en-US" sz="1800"/>
              <a:t>明确含糊、不确定的需求</a:t>
            </a:r>
            <a:endParaRPr lang="zh-CN" altLang="en-US" sz="1800"/>
          </a:p>
          <a:p>
            <a:pPr lvl="1" fontAlgn="auto">
              <a:spcBef>
                <a:spcPts val="0"/>
              </a:spcBef>
            </a:pPr>
            <a:r>
              <a:rPr lang="zh-CN" altLang="en-US" sz="1800"/>
              <a:t>简化需求文档，确认需求</a:t>
            </a:r>
            <a:endParaRPr lang="zh-CN" altLang="en-US" sz="1800"/>
          </a:p>
          <a:p>
            <a:pPr lvl="1" fontAlgn="auto">
              <a:spcBef>
                <a:spcPts val="0"/>
              </a:spcBef>
            </a:pPr>
            <a:r>
              <a:rPr lang="zh-CN" altLang="en-US" sz="1800"/>
              <a:t>尽早获得最终用户和客户的反馈</a:t>
            </a:r>
            <a:endParaRPr lang="zh-CN" altLang="en-US" sz="1800"/>
          </a:p>
          <a:p>
            <a:pPr fontAlgn="auto">
              <a:spcBef>
                <a:spcPts val="0"/>
              </a:spcBef>
            </a:pPr>
            <a:r>
              <a:rPr lang="zh-CN" altLang="en-US" sz="2000"/>
              <a:t>指导方针</a:t>
            </a:r>
            <a:endParaRPr lang="zh-CN" altLang="en-US" sz="2000"/>
          </a:p>
          <a:p>
            <a:pPr lvl="1" fontAlgn="auto">
              <a:spcBef>
                <a:spcPts val="0"/>
              </a:spcBef>
            </a:pPr>
            <a:r>
              <a:rPr lang="zh-CN" altLang="en-US" sz="1800"/>
              <a:t>用于确认需求</a:t>
            </a:r>
            <a:endParaRPr lang="zh-CN" altLang="en-US" sz="1800"/>
          </a:p>
          <a:p>
            <a:pPr lvl="1" fontAlgn="auto">
              <a:spcBef>
                <a:spcPts val="0"/>
              </a:spcBef>
            </a:pPr>
            <a:r>
              <a:rPr lang="zh-CN" altLang="en-US" sz="1800"/>
              <a:t>用于提供需求评估的数据基础</a:t>
            </a:r>
            <a:endParaRPr lang="zh-CN" altLang="en-US" sz="1800"/>
          </a:p>
          <a:p>
            <a:pPr lvl="1" fontAlgn="auto">
              <a:spcBef>
                <a:spcPts val="0"/>
              </a:spcBef>
            </a:pPr>
            <a:r>
              <a:rPr lang="zh-CN" altLang="en-US" sz="1800"/>
              <a:t>用于评估不同的用户界面方案	</a:t>
            </a:r>
            <a:endParaRPr lang="zh-CN" altLang="en-US" sz="1800"/>
          </a:p>
          <a:p>
            <a:pPr lvl="1" fontAlgn="auto">
              <a:spcBef>
                <a:spcPts val="0"/>
              </a:spcBef>
            </a:pPr>
            <a:r>
              <a:rPr lang="zh-CN" altLang="en-US" sz="1800"/>
              <a:t>帮助用户可视化关键的功能</a:t>
            </a:r>
            <a:endParaRPr lang="zh-CN" altLang="en-US" sz="1800"/>
          </a:p>
          <a:p>
            <a:pPr lvl="1" fontAlgn="auto">
              <a:spcBef>
                <a:spcPts val="0"/>
              </a:spcBef>
            </a:pPr>
            <a:r>
              <a:rPr lang="zh-CN" altLang="en-US" sz="1800"/>
              <a:t>直观、有效的沟通工具</a:t>
            </a:r>
            <a:endParaRPr lang="zh-CN" altLang="en-US" sz="18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情景分析</a:t>
            </a:r>
            <a:endParaRPr lang="zh-CN" altLang="en-US"/>
          </a:p>
        </p:txBody>
      </p:sp>
      <p:sp>
        <p:nvSpPr>
          <p:cNvPr id="3" name="日期占位符 2"/>
          <p:cNvSpPr>
            <a:spLocks noGrp="1"/>
          </p:cNvSpPr>
          <p:nvPr>
            <p:ph type="dt" sz="half" idx="10"/>
          </p:nvPr>
        </p:nvSpPr>
        <p:spPr/>
        <p:txBody>
          <a:bodyPr/>
          <a:p>
            <a:fld id="{5902FD77-8323-485D-87E2-91A0E9C84954}" type="datetime1">
              <a:rPr lang="zh-CN" altLang="en-US" smtClean="0"/>
            </a:fld>
            <a:endParaRPr lang="zh-CN" altLang="en-US"/>
          </a:p>
        </p:txBody>
      </p:sp>
      <p:sp>
        <p:nvSpPr>
          <p:cNvPr id="4" name="页脚占位符 3"/>
          <p:cNvSpPr>
            <a:spLocks noGrp="1"/>
          </p:cNvSpPr>
          <p:nvPr>
            <p:ph type="ftr" sz="quarter" idx="11"/>
          </p:nvPr>
        </p:nvSpPr>
        <p:spPr/>
        <p:txBody>
          <a:bodyPr/>
          <a:p>
            <a:r>
              <a:rPr lang="zh-CN" altLang="en-US"/>
              <a:t>软件工程</a:t>
            </a:r>
            <a:endParaRPr lang="zh-CN" altLang="en-US"/>
          </a:p>
        </p:txBody>
      </p:sp>
      <p:sp>
        <p:nvSpPr>
          <p:cNvPr id="5" name="灯片编号占位符 4"/>
          <p:cNvSpPr>
            <a:spLocks noGrp="1"/>
          </p:cNvSpPr>
          <p:nvPr>
            <p:ph type="sldNum" sz="quarter" idx="12"/>
          </p:nvPr>
        </p:nvSpPr>
        <p:spPr/>
        <p:txBody>
          <a:bodyPr/>
          <a:p>
            <a:fld id="{F528F39D-B5E5-4CA7-906C-979D5A62978D}" type="slidenum">
              <a:rPr lang="zh-CN" altLang="en-US" smtClean="0"/>
            </a:fld>
            <a:endParaRPr lang="zh-CN" altLang="en-US"/>
          </a:p>
        </p:txBody>
      </p:sp>
      <p:sp>
        <p:nvSpPr>
          <p:cNvPr id="6" name="内容占位符 5"/>
          <p:cNvSpPr>
            <a:spLocks noGrp="1"/>
          </p:cNvSpPr>
          <p:nvPr>
            <p:ph idx="1"/>
            <p:custDataLst>
              <p:tags r:id="rId1"/>
            </p:custDataLst>
          </p:nvPr>
        </p:nvSpPr>
        <p:spPr>
          <a:xfrm>
            <a:off x="768350" y="925195"/>
            <a:ext cx="7712710" cy="3391535"/>
          </a:xfrm>
        </p:spPr>
        <p:txBody>
          <a:bodyPr>
            <a:noAutofit/>
          </a:bodyPr>
          <a:p>
            <a:pPr algn="just" fontAlgn="auto">
              <a:spcBef>
                <a:spcPts val="0"/>
              </a:spcBef>
              <a:buChar char="֍"/>
            </a:pPr>
            <a:r>
              <a:rPr lang="zh-CN" altLang="en-US"/>
              <a:t>目标</a:t>
            </a:r>
            <a:endParaRPr lang="zh-CN" altLang="en-US"/>
          </a:p>
          <a:p>
            <a:pPr lvl="1" fontAlgn="auto">
              <a:spcBef>
                <a:spcPts val="0"/>
              </a:spcBef>
            </a:pPr>
            <a:r>
              <a:rPr lang="zh-CN" altLang="en-US"/>
              <a:t>清楚定义有用户参与完成的业务事件的步骤</a:t>
            </a:r>
            <a:endParaRPr lang="zh-CN" altLang="en-US"/>
          </a:p>
          <a:p>
            <a:pPr lvl="1" fontAlgn="auto">
              <a:spcBef>
                <a:spcPts val="0"/>
              </a:spcBef>
            </a:pPr>
            <a:r>
              <a:rPr lang="zh-CN" altLang="en-US"/>
              <a:t>获取用户可见的动作</a:t>
            </a:r>
            <a:endParaRPr lang="zh-CN" altLang="en-US"/>
          </a:p>
          <a:p>
            <a:pPr marL="68580" lvl="1" indent="-431800" algn="just" fontAlgn="auto">
              <a:spcBef>
                <a:spcPts val="0"/>
              </a:spcBef>
              <a:buSzPct val="80000"/>
              <a:buChar char="֍"/>
            </a:pPr>
            <a:r>
              <a:rPr lang="zh-CN" altLang="en-US" sz="2800"/>
              <a:t>指导方针</a:t>
            </a:r>
            <a:endParaRPr lang="zh-CN" altLang="en-US" sz="2800"/>
          </a:p>
          <a:p>
            <a:pPr lvl="1" fontAlgn="auto">
              <a:spcBef>
                <a:spcPts val="0"/>
              </a:spcBef>
            </a:pPr>
            <a:r>
              <a:rPr lang="zh-CN" altLang="en-US"/>
              <a:t>确定与用户间可能的交互：业务事件、感兴趣的领域性质</a:t>
            </a:r>
            <a:endParaRPr lang="zh-CN" altLang="en-US"/>
          </a:p>
          <a:p>
            <a:pPr lvl="1" fontAlgn="auto">
              <a:spcBef>
                <a:spcPts val="0"/>
              </a:spcBef>
            </a:pPr>
            <a:r>
              <a:rPr lang="zh-CN" altLang="en-US"/>
              <a:t>将业务事件细化为具体业务活动和业务过程</a:t>
            </a:r>
            <a:endParaRPr lang="zh-CN"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962804" y="1145799"/>
            <a:ext cx="6303991" cy="1874359"/>
          </a:xfrm>
          <a:prstGeom prst="rect">
            <a:avLst/>
          </a:prstGeom>
        </p:spPr>
        <p:txBody>
          <a:bodyPr wrap="square">
            <a:spAutoFit/>
          </a:bodyPr>
          <a:lstStyle/>
          <a:p>
            <a:pPr>
              <a:lnSpc>
                <a:spcPct val="120000"/>
              </a:lnSpc>
              <a:spcBef>
                <a:spcPts val="900"/>
              </a:spcBef>
              <a:buClr>
                <a:srgbClr val="00B050"/>
              </a:buClr>
            </a:pPr>
            <a:r>
              <a:rPr lang="zh-CN" altLang="en-US" sz="2800" dirty="0">
                <a:solidFill>
                  <a:srgbClr val="686868"/>
                </a:solidFill>
                <a:latin typeface="+mj-ea"/>
                <a:ea typeface="+mj-ea"/>
              </a:rPr>
              <a:t>第一阶段：“访谈式”（</a:t>
            </a:r>
            <a:r>
              <a:rPr lang="en-US" altLang="zh-CN" sz="2800" dirty="0">
                <a:solidFill>
                  <a:srgbClr val="686868"/>
                </a:solidFill>
                <a:latin typeface="+mj-ea"/>
                <a:ea typeface="+mj-ea"/>
              </a:rPr>
              <a:t>Visitation</a:t>
            </a:r>
            <a:r>
              <a:rPr lang="zh-CN" altLang="en-US" sz="2800" dirty="0">
                <a:solidFill>
                  <a:srgbClr val="686868"/>
                </a:solidFill>
                <a:latin typeface="+mj-ea"/>
                <a:ea typeface="+mj-ea"/>
              </a:rPr>
              <a:t>）</a:t>
            </a:r>
            <a:endParaRPr lang="zh-CN" altLang="en-US" sz="2800" dirty="0">
              <a:solidFill>
                <a:srgbClr val="686868"/>
              </a:solidFill>
              <a:latin typeface="+mj-ea"/>
              <a:ea typeface="+mj-ea"/>
            </a:endParaRPr>
          </a:p>
          <a:p>
            <a:pPr>
              <a:lnSpc>
                <a:spcPct val="120000"/>
              </a:lnSpc>
              <a:spcBef>
                <a:spcPts val="900"/>
              </a:spcBef>
              <a:buClr>
                <a:srgbClr val="00B050"/>
              </a:buClr>
            </a:pPr>
            <a:r>
              <a:rPr lang="zh-CN" altLang="en-US" sz="2800" dirty="0">
                <a:solidFill>
                  <a:srgbClr val="686868"/>
                </a:solidFill>
                <a:latin typeface="+mj-ea"/>
                <a:ea typeface="+mj-ea"/>
              </a:rPr>
              <a:t>第二阶段：“诱导式”（</a:t>
            </a:r>
            <a:r>
              <a:rPr lang="en-US" altLang="zh-CN" sz="2800" dirty="0">
                <a:solidFill>
                  <a:srgbClr val="686868"/>
                </a:solidFill>
                <a:latin typeface="+mj-ea"/>
                <a:ea typeface="+mj-ea"/>
              </a:rPr>
              <a:t>Inducement</a:t>
            </a:r>
            <a:r>
              <a:rPr lang="zh-CN" altLang="en-US" sz="2800" dirty="0">
                <a:solidFill>
                  <a:srgbClr val="686868"/>
                </a:solidFill>
                <a:latin typeface="+mj-ea"/>
                <a:ea typeface="+mj-ea"/>
              </a:rPr>
              <a:t>）</a:t>
            </a:r>
            <a:endParaRPr lang="zh-CN" altLang="en-US" sz="2800" dirty="0">
              <a:solidFill>
                <a:srgbClr val="686868"/>
              </a:solidFill>
              <a:latin typeface="+mj-ea"/>
              <a:ea typeface="+mj-ea"/>
            </a:endParaRPr>
          </a:p>
          <a:p>
            <a:pPr>
              <a:lnSpc>
                <a:spcPct val="120000"/>
              </a:lnSpc>
              <a:spcBef>
                <a:spcPts val="900"/>
              </a:spcBef>
              <a:buClr>
                <a:srgbClr val="00B050"/>
              </a:buClr>
            </a:pPr>
            <a:r>
              <a:rPr lang="zh-CN" altLang="en-US" sz="2800" dirty="0">
                <a:solidFill>
                  <a:srgbClr val="686868"/>
                </a:solidFill>
                <a:latin typeface="+mj-ea"/>
                <a:ea typeface="+mj-ea"/>
              </a:rPr>
              <a:t>第三阶段：“确认式”（</a:t>
            </a:r>
            <a:r>
              <a:rPr lang="en-US" altLang="zh-CN" sz="2800" dirty="0">
                <a:solidFill>
                  <a:srgbClr val="686868"/>
                </a:solidFill>
                <a:latin typeface="+mj-ea"/>
                <a:ea typeface="+mj-ea"/>
              </a:rPr>
              <a:t>Affirm</a:t>
            </a:r>
            <a:r>
              <a:rPr lang="zh-CN" altLang="en-US" sz="2800" dirty="0">
                <a:solidFill>
                  <a:srgbClr val="686868"/>
                </a:solidFill>
                <a:latin typeface="+mj-ea"/>
                <a:ea typeface="+mj-ea"/>
              </a:rPr>
              <a:t>）</a:t>
            </a:r>
            <a:endParaRPr lang="zh-CN" altLang="en-US" sz="2800" dirty="0">
              <a:solidFill>
                <a:srgbClr val="686868"/>
              </a:solidFill>
              <a:latin typeface="+mj-ea"/>
              <a:ea typeface="+mj-ea"/>
            </a:endParaRPr>
          </a:p>
        </p:txBody>
      </p:sp>
      <p:sp>
        <p:nvSpPr>
          <p:cNvPr id="8" name="文本框 7"/>
          <p:cNvSpPr txBox="1"/>
          <p:nvPr/>
        </p:nvSpPr>
        <p:spPr>
          <a:xfrm>
            <a:off x="870439" y="3020158"/>
            <a:ext cx="184731" cy="300082"/>
          </a:xfrm>
          <a:prstGeom prst="rect">
            <a:avLst/>
          </a:prstGeom>
          <a:noFill/>
        </p:spPr>
        <p:txBody>
          <a:bodyPr wrap="none" rtlCol="0">
            <a:spAutoFit/>
          </a:bodyPr>
          <a:lstStyle/>
          <a:p>
            <a:endParaRPr lang="zh-CN" altLang="en-US" sz="1350"/>
          </a:p>
        </p:txBody>
      </p:sp>
      <p:pic>
        <p:nvPicPr>
          <p:cNvPr id="13" name="图片 12"/>
          <p:cNvPicPr>
            <a:picLocks noChangeAspect="1"/>
          </p:cNvPicPr>
          <p:nvPr/>
        </p:nvPicPr>
        <p:blipFill>
          <a:blip r:embed="rId1" cstate="print">
            <a:clrChange>
              <a:clrFrom>
                <a:srgbClr val="F6F6F6"/>
              </a:clrFrom>
              <a:clrTo>
                <a:srgbClr val="F6F6F6">
                  <a:alpha val="0"/>
                </a:srgbClr>
              </a:clrTo>
            </a:clrChange>
            <a:extLst>
              <a:ext uri="{28A0092B-C50C-407E-A947-70E740481C1C}">
                <a14:useLocalDpi xmlns:a14="http://schemas.microsoft.com/office/drawing/2010/main" val="0"/>
              </a:ext>
            </a:extLst>
          </a:blip>
          <a:stretch>
            <a:fillRect/>
          </a:stretch>
        </p:blipFill>
        <p:spPr>
          <a:xfrm>
            <a:off x="6097465" y="2486371"/>
            <a:ext cx="3046535" cy="3046535"/>
          </a:xfrm>
          <a:prstGeom prst="rect">
            <a:avLst/>
          </a:prstGeom>
        </p:spPr>
      </p:pic>
      <p:sp>
        <p:nvSpPr>
          <p:cNvPr id="5" name="标题 4"/>
          <p:cNvSpPr>
            <a:spLocks noGrp="1"/>
          </p:cNvSpPr>
          <p:nvPr>
            <p:ph type="title"/>
          </p:nvPr>
        </p:nvSpPr>
        <p:spPr/>
        <p:txBody>
          <a:bodyPr/>
          <a:lstStyle/>
          <a:p>
            <a:r>
              <a:rPr lang="zh-CN" altLang="en-US" kern="100" dirty="0">
                <a:latin typeface="+mn-ea"/>
                <a:cs typeface="Times New Roman" panose="02020603050405020304" pitchFamily="18" charset="0"/>
              </a:rPr>
              <a:t>需求获取的方法</a:t>
            </a:r>
            <a:endParaRPr lang="zh-CN" altLang="en-US" dirty="0"/>
          </a:p>
        </p:txBody>
      </p:sp>
      <p:sp>
        <p:nvSpPr>
          <p:cNvPr id="6" name="日期占位符 5"/>
          <p:cNvSpPr>
            <a:spLocks noGrp="1"/>
          </p:cNvSpPr>
          <p:nvPr>
            <p:ph type="dt" sz="half" idx="10"/>
          </p:nvPr>
        </p:nvSpPr>
        <p:spPr/>
        <p:txBody>
          <a:bodyPr/>
          <a:lstStyle/>
          <a:p>
            <a:fld id="{EAF77FA7-52B6-4A67-A658-73BD6832C833}" type="datetime1">
              <a:rPr lang="zh-CN" altLang="en-US" smtClean="0"/>
            </a:fld>
            <a:endParaRPr lang="zh-CN" altLang="en-US"/>
          </a:p>
        </p:txBody>
      </p:sp>
      <p:sp>
        <p:nvSpPr>
          <p:cNvPr id="7" name="页脚占位符 6"/>
          <p:cNvSpPr>
            <a:spLocks noGrp="1"/>
          </p:cNvSpPr>
          <p:nvPr>
            <p:ph type="ftr" sz="quarter" idx="11"/>
          </p:nvPr>
        </p:nvSpPr>
        <p:spPr/>
        <p:txBody>
          <a:bodyPr/>
          <a:lstStyle/>
          <a:p>
            <a:r>
              <a:rPr lang="zh-CN" altLang="en-US"/>
              <a:t>软件工程</a:t>
            </a:r>
            <a:endParaRPr lang="zh-CN" altLang="en-US"/>
          </a:p>
        </p:txBody>
      </p:sp>
      <p:sp>
        <p:nvSpPr>
          <p:cNvPr id="9" name="灯片编号占位符 8"/>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10" name="矩形 9"/>
          <p:cNvSpPr/>
          <p:nvPr/>
        </p:nvSpPr>
        <p:spPr>
          <a:xfrm>
            <a:off x="333673" y="3371053"/>
            <a:ext cx="5763792" cy="120032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indent="-228600">
              <a:lnSpc>
                <a:spcPct val="120000"/>
              </a:lnSpc>
              <a:buClr>
                <a:schemeClr val="tx1"/>
              </a:buClr>
            </a:pPr>
            <a:r>
              <a:rPr lang="zh-CN" altLang="en-US" sz="2000" dirty="0">
                <a:solidFill>
                  <a:srgbClr val="000000"/>
                </a:solidFill>
                <a:latin typeface="+mj-ea"/>
                <a:ea typeface="+mj-ea"/>
              </a:rPr>
              <a:t>搜集资料、</a:t>
            </a:r>
            <a:r>
              <a:rPr lang="zh-CN" altLang="en-US" sz="2000" dirty="0">
                <a:latin typeface="+mj-ea"/>
                <a:ea typeface="+mj-ea"/>
              </a:rPr>
              <a:t>调查表格、</a:t>
            </a:r>
            <a:r>
              <a:rPr lang="zh-CN" altLang="en-US" sz="2000" dirty="0">
                <a:solidFill>
                  <a:srgbClr val="000000"/>
                </a:solidFill>
                <a:latin typeface="+mj-ea"/>
                <a:ea typeface="+mj-ea"/>
              </a:rPr>
              <a:t>实地观察、参加业务实践、</a:t>
            </a:r>
            <a:endParaRPr lang="zh-CN" altLang="en-US" sz="2000" dirty="0">
              <a:solidFill>
                <a:srgbClr val="000000"/>
              </a:solidFill>
              <a:latin typeface="+mj-ea"/>
              <a:ea typeface="+mj-ea"/>
            </a:endParaRPr>
          </a:p>
          <a:p>
            <a:pPr indent="-228600">
              <a:lnSpc>
                <a:spcPct val="120000"/>
              </a:lnSpc>
              <a:buClr>
                <a:schemeClr val="tx1"/>
              </a:buClr>
            </a:pPr>
            <a:r>
              <a:rPr lang="zh-CN" altLang="en-US" sz="2000" dirty="0">
                <a:solidFill>
                  <a:srgbClr val="000000"/>
                </a:solidFill>
                <a:latin typeface="+mj-ea"/>
                <a:ea typeface="+mj-ea"/>
              </a:rPr>
              <a:t>设计场景、</a:t>
            </a:r>
            <a:r>
              <a:rPr lang="zh-CN" altLang="en-US" sz="2000" dirty="0">
                <a:latin typeface="+mj-ea"/>
                <a:ea typeface="+mj-ea"/>
              </a:rPr>
              <a:t>情景分析、联合分析小组、</a:t>
            </a:r>
            <a:r>
              <a:rPr lang="zh-CN" altLang="en-US" sz="2000" dirty="0">
                <a:solidFill>
                  <a:srgbClr val="000000"/>
                </a:solidFill>
                <a:latin typeface="+mj-ea"/>
                <a:ea typeface="+mj-ea"/>
              </a:rPr>
              <a:t>建立快速软件原型</a:t>
            </a:r>
            <a:endParaRPr lang="zh-CN" altLang="en-US" sz="2000" dirty="0">
              <a:solidFill>
                <a:srgbClr val="000000"/>
              </a:solidFill>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kern="100" dirty="0">
                <a:latin typeface="+mn-ea"/>
                <a:cs typeface="Times New Roman" panose="02020603050405020304" pitchFamily="18" charset="0"/>
              </a:rPr>
              <a:t>需求获取的方法</a:t>
            </a:r>
            <a:endParaRPr lang="zh-CN" altLang="en-US" dirty="0"/>
          </a:p>
        </p:txBody>
      </p:sp>
      <p:sp>
        <p:nvSpPr>
          <p:cNvPr id="3" name="日期占位符 2"/>
          <p:cNvSpPr>
            <a:spLocks noGrp="1"/>
          </p:cNvSpPr>
          <p:nvPr>
            <p:ph type="dt" sz="half" idx="10"/>
          </p:nvPr>
        </p:nvSpPr>
        <p:spPr/>
        <p:txBody>
          <a:bodyPr/>
          <a:lstStyle/>
          <a:p>
            <a:fld id="{5902FD77-8323-485D-87E2-91A0E9C84954}"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a:p>
        </p:txBody>
      </p:sp>
      <p:sp>
        <p:nvSpPr>
          <p:cNvPr id="5" name="灯片编号占位符 4"/>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7" name="文本框 6"/>
          <p:cNvSpPr txBox="1"/>
          <p:nvPr/>
        </p:nvSpPr>
        <p:spPr>
          <a:xfrm>
            <a:off x="635848" y="1202583"/>
            <a:ext cx="7763929" cy="3123932"/>
          </a:xfrm>
          <a:prstGeom prst="rect">
            <a:avLst/>
          </a:prstGeom>
          <a:noFill/>
        </p:spPr>
        <p:txBody>
          <a:bodyPr wrap="square">
            <a:spAutoFit/>
          </a:bodyPr>
          <a:lstStyle/>
          <a:p>
            <a:pPr marL="0" indent="0">
              <a:buFont typeface="Arial" panose="020B0604020202020204" pitchFamily="34" charset="0"/>
              <a:buNone/>
            </a:pPr>
            <a:r>
              <a:rPr lang="zh-CN" altLang="en-US" b="0" dirty="0">
                <a:solidFill>
                  <a:srgbClr val="FF0000"/>
                </a:solidFill>
              </a:rPr>
              <a:t>第一阶段</a:t>
            </a:r>
            <a:r>
              <a:rPr lang="zh-CN" altLang="en-US" b="0" dirty="0">
                <a:solidFill>
                  <a:srgbClr val="686868"/>
                </a:solidFill>
              </a:rPr>
              <a:t>是和具体用户方的领导层、业务层人员的访谈式沟通，从宏观上把握用户的具体需求方向和趋势。</a:t>
            </a:r>
            <a:endParaRPr lang="en-US" altLang="zh-CN" b="0" dirty="0">
              <a:solidFill>
                <a:srgbClr val="686868"/>
              </a:solidFill>
            </a:endParaRPr>
          </a:p>
          <a:p>
            <a:pPr marL="0" indent="0">
              <a:lnSpc>
                <a:spcPct val="100000"/>
              </a:lnSpc>
              <a:spcBef>
                <a:spcPts val="600"/>
              </a:spcBef>
              <a:spcAft>
                <a:spcPts val="600"/>
              </a:spcAft>
              <a:buClr>
                <a:schemeClr val="tx1"/>
              </a:buClr>
              <a:buNone/>
            </a:pPr>
            <a:r>
              <a:rPr lang="zh-CN" altLang="en-US" dirty="0">
                <a:latin typeface="+mn-ea"/>
              </a:rPr>
              <a:t>实现手段：访谈、调查表格</a:t>
            </a:r>
            <a:endParaRPr lang="en-US" altLang="zh-CN" dirty="0">
              <a:latin typeface="+mn-ea"/>
            </a:endParaRPr>
          </a:p>
          <a:p>
            <a:pPr marL="0" indent="0">
              <a:lnSpc>
                <a:spcPct val="100000"/>
              </a:lnSpc>
              <a:spcBef>
                <a:spcPts val="600"/>
              </a:spcBef>
              <a:spcAft>
                <a:spcPts val="600"/>
              </a:spcAft>
              <a:buClr>
                <a:schemeClr val="tx1"/>
              </a:buClr>
              <a:buNone/>
            </a:pPr>
            <a:r>
              <a:rPr lang="zh-CN" altLang="en-US" dirty="0">
                <a:latin typeface="+mn-ea"/>
              </a:rPr>
              <a:t>输出成果：调查报告、业务流程报告</a:t>
            </a:r>
            <a:endParaRPr lang="en-US" altLang="zh-CN" b="0" dirty="0">
              <a:solidFill>
                <a:srgbClr val="686868"/>
              </a:solidFill>
            </a:endParaRP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lang="zh-CN" altLang="en-US" b="0" dirty="0">
                <a:solidFill>
                  <a:srgbClr val="FF0000"/>
                </a:solidFill>
              </a:rPr>
              <a:t>第二阶段</a:t>
            </a:r>
            <a:r>
              <a:rPr lang="zh-CN" altLang="en-US" b="0" dirty="0">
                <a:solidFill>
                  <a:srgbClr val="686868"/>
                </a:solidFill>
              </a:rPr>
              <a:t>是在承建方已经了解了具体用户方的具体实际、客观的信息基础上，结合以往的项目经验对用户采用诱导式、启发式的调研方法和手段，和用户一起探讨业务流程设计的合理性、准确性、便易性、习惯性。</a:t>
            </a:r>
            <a:endParaRPr lang="en-US" altLang="zh-CN" b="0" dirty="0">
              <a:solidFill>
                <a:schemeClr val="tx1"/>
              </a:solidFill>
            </a:endParaRPr>
          </a:p>
          <a:p>
            <a:pPr marL="0" indent="0">
              <a:lnSpc>
                <a:spcPct val="100000"/>
              </a:lnSpc>
              <a:spcBef>
                <a:spcPts val="600"/>
              </a:spcBef>
              <a:spcAft>
                <a:spcPts val="600"/>
              </a:spcAft>
              <a:buClr>
                <a:schemeClr val="tx1"/>
              </a:buClr>
              <a:buNone/>
            </a:pPr>
            <a:r>
              <a:rPr lang="zh-CN" altLang="en-US" dirty="0">
                <a:latin typeface="+mn-ea"/>
              </a:rPr>
              <a:t>实现手段：原型演示、启发用户</a:t>
            </a:r>
            <a:endParaRPr lang="en-US" altLang="zh-CN" dirty="0">
              <a:latin typeface="+mn-ea"/>
            </a:endParaRPr>
          </a:p>
          <a:p>
            <a:pPr marL="0" indent="0">
              <a:lnSpc>
                <a:spcPct val="100000"/>
              </a:lnSpc>
              <a:spcBef>
                <a:spcPts val="600"/>
              </a:spcBef>
              <a:spcAft>
                <a:spcPts val="600"/>
              </a:spcAft>
              <a:buClr>
                <a:schemeClr val="tx1"/>
              </a:buClr>
              <a:buNone/>
            </a:pPr>
            <a:r>
              <a:rPr lang="zh-CN" altLang="en-US" dirty="0">
                <a:latin typeface="+mn-ea"/>
              </a:rPr>
              <a:t>输出成果：调研分析报告、原型反馈报告、业务流程报告</a:t>
            </a:r>
            <a:endParaRPr lang="en-US" altLang="zh-CN" b="0" dirty="0">
              <a:solidFill>
                <a:schemeClr val="tx1"/>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kern="100" dirty="0">
                <a:latin typeface="+mn-ea"/>
                <a:cs typeface="Times New Roman" panose="02020603050405020304" pitchFamily="18" charset="0"/>
              </a:rPr>
              <a:t>需求获取的方法</a:t>
            </a:r>
            <a:endParaRPr lang="zh-CN" altLang="en-US" dirty="0"/>
          </a:p>
        </p:txBody>
      </p:sp>
      <p:sp>
        <p:nvSpPr>
          <p:cNvPr id="3" name="日期占位符 2"/>
          <p:cNvSpPr>
            <a:spLocks noGrp="1"/>
          </p:cNvSpPr>
          <p:nvPr>
            <p:ph type="dt" sz="half" idx="10"/>
          </p:nvPr>
        </p:nvSpPr>
        <p:spPr/>
        <p:txBody>
          <a:bodyPr/>
          <a:lstStyle/>
          <a:p>
            <a:fld id="{5902FD77-8323-485D-87E2-91A0E9C84954}"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a:p>
        </p:txBody>
      </p:sp>
      <p:sp>
        <p:nvSpPr>
          <p:cNvPr id="5" name="灯片编号占位符 4"/>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7" name="文本框 6"/>
          <p:cNvSpPr txBox="1"/>
          <p:nvPr/>
        </p:nvSpPr>
        <p:spPr>
          <a:xfrm>
            <a:off x="697653" y="1212848"/>
            <a:ext cx="7945120" cy="1708160"/>
          </a:xfrm>
          <a:prstGeom prst="rect">
            <a:avLst/>
          </a:prstGeom>
          <a:noFill/>
        </p:spPr>
        <p:txBody>
          <a:bodyPr wrap="square">
            <a:spAutoFit/>
          </a:bodyPr>
          <a:lstStyle/>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lang="zh-CN" altLang="en-US" sz="1800" b="0" dirty="0">
                <a:solidFill>
                  <a:srgbClr val="FF0000"/>
                </a:solidFill>
              </a:rPr>
              <a:t>第三阶段</a:t>
            </a:r>
            <a:r>
              <a:rPr lang="zh-CN" altLang="en-US" sz="1800" b="0" dirty="0">
                <a:solidFill>
                  <a:srgbClr val="686868"/>
                </a:solidFill>
              </a:rPr>
              <a:t>是在上述两个阶段成果的基础上，进行具体的流程细化、数据项的确认阶段。承建方必须提供原型系统和明确的业务流程报告、数据项表，并能清晰地向用户描述系统的业务流设计目标。</a:t>
            </a:r>
            <a:endParaRPr lang="en-US" altLang="zh-CN" sz="1800" b="0" dirty="0">
              <a:solidFill>
                <a:srgbClr val="686868"/>
              </a:solidFill>
            </a:endParaRPr>
          </a:p>
          <a:p>
            <a:pPr marL="0" indent="0">
              <a:lnSpc>
                <a:spcPct val="100000"/>
              </a:lnSpc>
              <a:spcBef>
                <a:spcPts val="600"/>
              </a:spcBef>
              <a:spcAft>
                <a:spcPts val="600"/>
              </a:spcAft>
              <a:buClr>
                <a:schemeClr val="tx1"/>
              </a:buClr>
              <a:buNone/>
            </a:pPr>
            <a:r>
              <a:rPr lang="zh-CN" altLang="en-US" sz="1800" dirty="0">
                <a:latin typeface="+mn-ea"/>
              </a:rPr>
              <a:t>实现手段：拜访，展示业务流程报告、原型演示</a:t>
            </a:r>
            <a:endParaRPr lang="en-US" altLang="zh-CN" sz="1800" dirty="0">
              <a:latin typeface="+mn-ea"/>
            </a:endParaRPr>
          </a:p>
          <a:p>
            <a:pPr marL="0" indent="0">
              <a:lnSpc>
                <a:spcPct val="100000"/>
              </a:lnSpc>
              <a:spcBef>
                <a:spcPts val="600"/>
              </a:spcBef>
              <a:spcAft>
                <a:spcPts val="600"/>
              </a:spcAft>
              <a:buClr>
                <a:schemeClr val="tx1"/>
              </a:buClr>
              <a:buNone/>
            </a:pPr>
            <a:r>
              <a:rPr lang="zh-CN" altLang="en-US" sz="1800" dirty="0">
                <a:latin typeface="+mn-ea"/>
              </a:rPr>
              <a:t>输出成果：需求分析报告等</a:t>
            </a:r>
            <a:endParaRPr lang="zh-CN" altLang="en-US" sz="1800" dirty="0">
              <a:latin typeface="+mn-ea"/>
            </a:endParaRPr>
          </a:p>
        </p:txBody>
      </p:sp>
      <p:sp>
        <p:nvSpPr>
          <p:cNvPr id="9" name="文本框 8"/>
          <p:cNvSpPr txBox="1"/>
          <p:nvPr/>
        </p:nvSpPr>
        <p:spPr>
          <a:xfrm>
            <a:off x="768096" y="3147013"/>
            <a:ext cx="7947194" cy="132343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lang="zh-CN" altLang="en-US" sz="2000" dirty="0"/>
              <a:t>      需求分析的</a:t>
            </a:r>
            <a:r>
              <a:rPr lang="zh-CN" altLang="en-US" sz="2000" dirty="0">
                <a:solidFill>
                  <a:srgbClr val="FF0000"/>
                </a:solidFill>
              </a:rPr>
              <a:t>基本策略</a:t>
            </a:r>
            <a:r>
              <a:rPr lang="zh-CN" altLang="en-US" sz="2000" dirty="0"/>
              <a:t>是采用头脑风暴、专家评审、焦点会议组等方式进行具体的流程细化以及数据项的确认，必要时可以提供原型系统和明确的业务流程报告、数据项表，并能清晰的向用户描述系统的业务流程设计目标。</a:t>
            </a:r>
            <a:endParaRPr lang="en-US" altLang="zh-CN" sz="2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zh-CN" dirty="0"/>
              <a:t>需求获取的内容</a:t>
            </a:r>
            <a:endParaRPr lang="zh-CN" altLang="en-US" dirty="0"/>
          </a:p>
        </p:txBody>
      </p:sp>
      <p:sp>
        <p:nvSpPr>
          <p:cNvPr id="7" name="内容占位符 6"/>
          <p:cNvSpPr>
            <a:spLocks noGrp="1"/>
          </p:cNvSpPr>
          <p:nvPr>
            <p:ph idx="1"/>
          </p:nvPr>
        </p:nvSpPr>
        <p:spPr>
          <a:xfrm>
            <a:off x="768097" y="1010653"/>
            <a:ext cx="7832833" cy="3721368"/>
          </a:xfrm>
        </p:spPr>
        <p:txBody>
          <a:bodyPr>
            <a:noAutofit/>
          </a:bodyPr>
          <a:lstStyle/>
          <a:p>
            <a:pPr marL="342900" indent="-342900">
              <a:lnSpc>
                <a:spcPct val="100000"/>
              </a:lnSpc>
              <a:spcBef>
                <a:spcPts val="600"/>
              </a:spcBef>
            </a:pPr>
            <a:r>
              <a:rPr lang="zh-CN" altLang="en-US" sz="2000" dirty="0">
                <a:solidFill>
                  <a:schemeClr val="tx1">
                    <a:lumMod val="65000"/>
                    <a:lumOff val="35000"/>
                  </a:schemeClr>
                </a:solidFill>
              </a:rPr>
              <a:t>先集中在使用者对系统的观点上，以收集用户原始资料，数据、工作方式、工作流程、使用要求等为工作起点，深入到部门、车间、班组，做好原始纪录；</a:t>
            </a:r>
            <a:endParaRPr lang="en-US" altLang="zh-CN" sz="2000" dirty="0">
              <a:solidFill>
                <a:schemeClr val="tx1">
                  <a:lumMod val="65000"/>
                  <a:lumOff val="35000"/>
                </a:schemeClr>
              </a:solidFill>
            </a:endParaRPr>
          </a:p>
          <a:p>
            <a:pPr marL="342900" indent="-342900">
              <a:lnSpc>
                <a:spcPct val="100000"/>
              </a:lnSpc>
              <a:spcBef>
                <a:spcPts val="600"/>
              </a:spcBef>
            </a:pPr>
            <a:r>
              <a:rPr lang="zh-CN" altLang="en-US" sz="2000" dirty="0">
                <a:solidFill>
                  <a:schemeClr val="tx1">
                    <a:lumMod val="65000"/>
                    <a:lumOff val="35000"/>
                  </a:schemeClr>
                </a:solidFill>
              </a:rPr>
              <a:t>然后根据对问题及其环境的理解与软件开发经验，改正用户需求的模糊性、歧义性和不一致性，排除由于用户的片面性和短期行为所导致的不合理要求、挖掘用户尚未提出但具有价值的潜在需求，并在用户的帮助下对相互冲突的要求进行折衷，使用户需求逐步精确化、一致化和完全化；</a:t>
            </a:r>
            <a:endParaRPr lang="zh-CN" altLang="en-US" sz="2000" dirty="0">
              <a:solidFill>
                <a:schemeClr val="tx1">
                  <a:lumMod val="65000"/>
                  <a:lumOff val="35000"/>
                </a:schemeClr>
              </a:solidFill>
            </a:endParaRPr>
          </a:p>
          <a:p>
            <a:pPr marL="342900" indent="-342900" defTabSz="914400">
              <a:lnSpc>
                <a:spcPct val="100000"/>
              </a:lnSpc>
              <a:spcBef>
                <a:spcPts val="600"/>
              </a:spcBef>
              <a:defRPr/>
            </a:pPr>
            <a:r>
              <a:rPr lang="zh-CN" altLang="en-US" sz="2000" dirty="0">
                <a:solidFill>
                  <a:schemeClr val="tx1">
                    <a:lumMod val="65000"/>
                    <a:lumOff val="35000"/>
                  </a:schemeClr>
                </a:solidFill>
              </a:rPr>
              <a:t>需求获取不是一次完成，不仅仅在分析阶段，在问题定义、可行性研究阶段都需要，是往复进行、逐步深化的结果。</a:t>
            </a:r>
            <a:endParaRPr lang="zh-CN" altLang="en-US" sz="2000" dirty="0">
              <a:solidFill>
                <a:schemeClr val="tx1">
                  <a:lumMod val="65000"/>
                  <a:lumOff val="35000"/>
                </a:schemeClr>
              </a:solidFill>
            </a:endParaRPr>
          </a:p>
        </p:txBody>
      </p:sp>
      <p:sp>
        <p:nvSpPr>
          <p:cNvPr id="3" name="日期占位符 2"/>
          <p:cNvSpPr>
            <a:spLocks noGrp="1"/>
          </p:cNvSpPr>
          <p:nvPr>
            <p:ph type="dt" sz="half" idx="10"/>
          </p:nvPr>
        </p:nvSpPr>
        <p:spPr/>
        <p:txBody>
          <a:bodyPr/>
          <a:lstStyle/>
          <a:p>
            <a:fld id="{5902FD77-8323-485D-87E2-91A0E9C84954}"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dirty="0"/>
              <a:t>软件工程</a:t>
            </a:r>
            <a:endParaRPr lang="zh-CN" altLang="en-US" dirty="0"/>
          </a:p>
        </p:txBody>
      </p:sp>
      <p:sp>
        <p:nvSpPr>
          <p:cNvPr id="5" name="灯片编号占位符 4"/>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展开需求调研，收集需求</a:t>
            </a:r>
            <a:endParaRPr lang="zh-CN" altLang="en-US"/>
          </a:p>
        </p:txBody>
      </p:sp>
      <p:sp>
        <p:nvSpPr>
          <p:cNvPr id="3" name="内容占位符 2"/>
          <p:cNvSpPr>
            <a:spLocks noGrp="1"/>
          </p:cNvSpPr>
          <p:nvPr>
            <p:ph idx="1"/>
          </p:nvPr>
        </p:nvSpPr>
        <p:spPr/>
        <p:txBody>
          <a:bodyPr/>
          <a:p>
            <a:r>
              <a:rPr lang="zh-CN" altLang="en-US"/>
              <a:t>在明确识别出软件系统的利益相关者后，需求获取工作应从不同利益相关者的视角出发，开展系统化的调研活动，以全面收集和理解用户需求。</a:t>
            </a:r>
            <a:endParaRPr lang="zh-CN" altLang="en-US"/>
          </a:p>
          <a:p>
            <a:r>
              <a:rPr lang="zh-CN" altLang="en-US"/>
              <a:t>实地调查是获取充分、可靠用户需求信息的核心方法。为确保调查的系统性和有效性，通常依据利益相关者在组织中的层级与职责，将调查工作划分为三个层次：</a:t>
            </a:r>
            <a:endParaRPr lang="zh-CN" altLang="en-US"/>
          </a:p>
        </p:txBody>
      </p:sp>
      <p:sp>
        <p:nvSpPr>
          <p:cNvPr id="4" name="日期占位符 3"/>
          <p:cNvSpPr>
            <a:spLocks noGrp="1"/>
          </p:cNvSpPr>
          <p:nvPr>
            <p:ph type="dt" sz="half" idx="10"/>
          </p:nvPr>
        </p:nvSpPr>
        <p:spPr/>
        <p:txBody>
          <a:bodyPr/>
          <a:p>
            <a:fld id="{D7326FFE-7CCA-4C0D-B453-625569992FB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需求调研的三个层次</a:t>
            </a:r>
            <a:endParaRPr lang="zh-CN" altLang="en-US"/>
          </a:p>
        </p:txBody>
      </p:sp>
      <p:sp>
        <p:nvSpPr>
          <p:cNvPr id="3" name="内容占位符 2"/>
          <p:cNvSpPr>
            <a:spLocks noGrp="1"/>
          </p:cNvSpPr>
          <p:nvPr>
            <p:ph idx="1"/>
          </p:nvPr>
        </p:nvSpPr>
        <p:spPr/>
        <p:txBody>
          <a:bodyPr>
            <a:normAutofit fontScale="80000"/>
          </a:bodyPr>
          <a:p>
            <a:pPr marL="0" indent="0">
              <a:buNone/>
            </a:pPr>
            <a:r>
              <a:rPr lang="en-US" altLang="zh-CN"/>
              <a:t>1</a:t>
            </a:r>
            <a:r>
              <a:rPr lang="zh-CN" altLang="en-US"/>
              <a:t>）战略层面调研（高层管理者）：</a:t>
            </a:r>
            <a:endParaRPr lang="zh-CN" altLang="en-US"/>
          </a:p>
          <a:p>
            <a:r>
              <a:rPr lang="zh-CN" altLang="en-US"/>
              <a:t>调研对象：组织机构的高层管理者（如机构负责人、分管领导）。</a:t>
            </a:r>
            <a:endParaRPr lang="zh-CN" altLang="en-US"/>
          </a:p>
          <a:p>
            <a:r>
              <a:rPr lang="zh-CN" altLang="en-US"/>
              <a:t>目标与关注点：理解系统的整体战略定位、核心业务价值、宏观目标、发展规划及作用范围。这些信息是定义高层次业务需求和系统愿景的核心依据。</a:t>
            </a:r>
            <a:endParaRPr lang="zh-CN" altLang="en-US"/>
          </a:p>
          <a:p>
            <a:r>
              <a:rPr lang="zh-CN" altLang="en-US"/>
              <a:t>实现手段：</a:t>
            </a:r>
            <a:r>
              <a:rPr lang="en-US" altLang="zh-CN"/>
              <a:t> </a:t>
            </a:r>
            <a:r>
              <a:rPr lang="zh-CN" altLang="en-US"/>
              <a:t>主要采用深度访谈，辅以战略目标调查表等。</a:t>
            </a:r>
            <a:endParaRPr lang="zh-CN" altLang="en-US"/>
          </a:p>
          <a:p>
            <a:r>
              <a:rPr lang="zh-CN" altLang="en-US"/>
              <a:t>输出成果：</a:t>
            </a:r>
            <a:r>
              <a:rPr lang="en-US" altLang="zh-CN"/>
              <a:t> </a:t>
            </a:r>
            <a:r>
              <a:rPr lang="zh-CN" altLang="en-US"/>
              <a:t>高层访谈纪要、战略目标与业务需求报告。</a:t>
            </a:r>
            <a:endParaRPr lang="zh-CN" altLang="en-US"/>
          </a:p>
        </p:txBody>
      </p:sp>
      <p:sp>
        <p:nvSpPr>
          <p:cNvPr id="4" name="日期占位符 3"/>
          <p:cNvSpPr>
            <a:spLocks noGrp="1"/>
          </p:cNvSpPr>
          <p:nvPr>
            <p:ph type="dt" sz="half" idx="10"/>
          </p:nvPr>
        </p:nvSpPr>
        <p:spPr/>
        <p:txBody>
          <a:bodyPr/>
          <a:p>
            <a:fld id="{D7326FFE-7CCA-4C0D-B453-625569992FB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需求调研的三个层次</a:t>
            </a:r>
            <a:endParaRPr lang="zh-CN" altLang="en-US"/>
          </a:p>
        </p:txBody>
      </p:sp>
      <p:sp>
        <p:nvSpPr>
          <p:cNvPr id="3" name="日期占位符 2"/>
          <p:cNvSpPr>
            <a:spLocks noGrp="1"/>
          </p:cNvSpPr>
          <p:nvPr>
            <p:ph type="dt" sz="half" idx="10"/>
          </p:nvPr>
        </p:nvSpPr>
        <p:spPr/>
        <p:txBody>
          <a:bodyPr/>
          <a:p>
            <a:fld id="{5902FD77-8323-485D-87E2-91A0E9C84954}" type="datetime1">
              <a:rPr lang="zh-CN" altLang="en-US" smtClean="0"/>
            </a:fld>
            <a:endParaRPr lang="zh-CN" altLang="en-US"/>
          </a:p>
        </p:txBody>
      </p:sp>
      <p:sp>
        <p:nvSpPr>
          <p:cNvPr id="4" name="页脚占位符 3"/>
          <p:cNvSpPr>
            <a:spLocks noGrp="1"/>
          </p:cNvSpPr>
          <p:nvPr>
            <p:ph type="ftr" sz="quarter" idx="11"/>
          </p:nvPr>
        </p:nvSpPr>
        <p:spPr/>
        <p:txBody>
          <a:bodyPr/>
          <a:p>
            <a:r>
              <a:rPr lang="zh-CN" altLang="en-US"/>
              <a:t>软件工程</a:t>
            </a:r>
            <a:endParaRPr lang="zh-CN" altLang="en-US"/>
          </a:p>
        </p:txBody>
      </p:sp>
      <p:sp>
        <p:nvSpPr>
          <p:cNvPr id="5" name="灯片编号占位符 4"/>
          <p:cNvSpPr>
            <a:spLocks noGrp="1"/>
          </p:cNvSpPr>
          <p:nvPr>
            <p:ph type="sldNum" sz="quarter" idx="12"/>
          </p:nvPr>
        </p:nvSpPr>
        <p:spPr/>
        <p:txBody>
          <a:bodyPr/>
          <a:p>
            <a:fld id="{F528F39D-B5E5-4CA7-906C-979D5A62978D}" type="slidenum">
              <a:rPr lang="zh-CN" altLang="en-US" smtClean="0"/>
            </a:fld>
            <a:endParaRPr lang="zh-CN" altLang="en-US"/>
          </a:p>
        </p:txBody>
      </p:sp>
      <p:sp>
        <p:nvSpPr>
          <p:cNvPr id="6" name="内容占位符 5"/>
          <p:cNvSpPr>
            <a:spLocks noGrp="1"/>
          </p:cNvSpPr>
          <p:nvPr>
            <p:ph idx="1"/>
          </p:nvPr>
        </p:nvSpPr>
        <p:spPr/>
        <p:txBody>
          <a:bodyPr>
            <a:normAutofit fontScale="70000"/>
          </a:bodyPr>
          <a:p>
            <a:pPr marL="0" indent="0">
              <a:buNone/>
            </a:pPr>
            <a:r>
              <a:rPr lang="en-US" altLang="zh-CN"/>
              <a:t>2</a:t>
            </a:r>
            <a:r>
              <a:rPr lang="zh-CN" altLang="en-US"/>
              <a:t>）业务层面调研（部门负责人）：</a:t>
            </a:r>
            <a:endParaRPr lang="zh-CN" altLang="en-US"/>
          </a:p>
          <a:p>
            <a:r>
              <a:rPr lang="zh-CN" altLang="en-US"/>
              <a:t>调研对象：</a:t>
            </a:r>
            <a:r>
              <a:rPr lang="en-US" altLang="zh-CN"/>
              <a:t> </a:t>
            </a:r>
            <a:r>
              <a:rPr lang="zh-CN" altLang="en-US"/>
              <a:t>各部门负责人（如业务部门经理、职能部门主管）。</a:t>
            </a:r>
            <a:endParaRPr lang="zh-CN" altLang="en-US"/>
          </a:p>
          <a:p>
            <a:r>
              <a:rPr lang="zh-CN" altLang="en-US"/>
              <a:t>目标与关注点：</a:t>
            </a:r>
            <a:r>
              <a:rPr lang="en-US" altLang="zh-CN"/>
              <a:t> </a:t>
            </a:r>
            <a:r>
              <a:rPr lang="zh-CN" altLang="en-US"/>
              <a:t>梳理部门的业务职能、核心业务流程；识别部门内及跨部门间的协作关系、信息交互（接口）；明确部门级的关键功能需求、非功能需求（如性能、安全性）。此阶段需理解业务规则和部门目标。</a:t>
            </a:r>
            <a:endParaRPr lang="zh-CN" altLang="en-US"/>
          </a:p>
          <a:p>
            <a:r>
              <a:rPr lang="zh-CN" altLang="en-US"/>
              <a:t>实现手段：</a:t>
            </a:r>
            <a:r>
              <a:rPr lang="en-US" altLang="zh-CN"/>
              <a:t> </a:t>
            </a:r>
            <a:r>
              <a:rPr lang="zh-CN" altLang="en-US"/>
              <a:t>主要采用结构化访谈，可结合业务流程草图进行讨论。</a:t>
            </a:r>
            <a:endParaRPr lang="zh-CN" altLang="en-US"/>
          </a:p>
          <a:p>
            <a:r>
              <a:rPr lang="zh-CN" altLang="en-US"/>
              <a:t>输出成果：</a:t>
            </a:r>
            <a:r>
              <a:rPr lang="en-US" altLang="zh-CN"/>
              <a:t> </a:t>
            </a:r>
            <a:r>
              <a:rPr lang="zh-CN" altLang="en-US"/>
              <a:t>部门访谈纪要、业务流程报告（初稿</a:t>
            </a:r>
            <a:r>
              <a:rPr lang="en-US" altLang="zh-CN"/>
              <a:t>/</a:t>
            </a:r>
            <a:r>
              <a:rPr lang="zh-CN" altLang="en-US"/>
              <a:t>概览）、部门级功能与非功能需求列表。</a:t>
            </a:r>
            <a:endParaRPr lang="zh-CN" alt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需求调研的三个层次</a:t>
            </a:r>
            <a:endParaRPr lang="zh-CN" altLang="en-US"/>
          </a:p>
        </p:txBody>
      </p:sp>
      <p:sp>
        <p:nvSpPr>
          <p:cNvPr id="3" name="日期占位符 2"/>
          <p:cNvSpPr>
            <a:spLocks noGrp="1"/>
          </p:cNvSpPr>
          <p:nvPr>
            <p:ph type="dt" sz="half" idx="10"/>
          </p:nvPr>
        </p:nvSpPr>
        <p:spPr/>
        <p:txBody>
          <a:bodyPr/>
          <a:p>
            <a:fld id="{5902FD77-8323-485D-87E2-91A0E9C84954}" type="datetime1">
              <a:rPr lang="zh-CN" altLang="en-US" smtClean="0"/>
            </a:fld>
            <a:endParaRPr lang="zh-CN" altLang="en-US"/>
          </a:p>
        </p:txBody>
      </p:sp>
      <p:sp>
        <p:nvSpPr>
          <p:cNvPr id="4" name="页脚占位符 3"/>
          <p:cNvSpPr>
            <a:spLocks noGrp="1"/>
          </p:cNvSpPr>
          <p:nvPr>
            <p:ph type="ftr" sz="quarter" idx="11"/>
          </p:nvPr>
        </p:nvSpPr>
        <p:spPr/>
        <p:txBody>
          <a:bodyPr/>
          <a:p>
            <a:r>
              <a:rPr lang="zh-CN" altLang="en-US"/>
              <a:t>软件工程</a:t>
            </a:r>
            <a:endParaRPr lang="zh-CN" altLang="en-US"/>
          </a:p>
        </p:txBody>
      </p:sp>
      <p:sp>
        <p:nvSpPr>
          <p:cNvPr id="5" name="灯片编号占位符 4"/>
          <p:cNvSpPr>
            <a:spLocks noGrp="1"/>
          </p:cNvSpPr>
          <p:nvPr>
            <p:ph type="sldNum" sz="quarter" idx="12"/>
          </p:nvPr>
        </p:nvSpPr>
        <p:spPr/>
        <p:txBody>
          <a:bodyPr/>
          <a:p>
            <a:fld id="{F528F39D-B5E5-4CA7-906C-979D5A62978D}" type="slidenum">
              <a:rPr lang="zh-CN" altLang="en-US" smtClean="0"/>
            </a:fld>
            <a:endParaRPr lang="zh-CN" altLang="en-US"/>
          </a:p>
        </p:txBody>
      </p:sp>
      <p:sp>
        <p:nvSpPr>
          <p:cNvPr id="6" name="内容占位符 5"/>
          <p:cNvSpPr>
            <a:spLocks noGrp="1"/>
          </p:cNvSpPr>
          <p:nvPr>
            <p:ph idx="1"/>
          </p:nvPr>
        </p:nvSpPr>
        <p:spPr/>
        <p:txBody>
          <a:bodyPr/>
          <a:p>
            <a:pPr marL="0" indent="0">
              <a:buNone/>
            </a:pPr>
            <a:r>
              <a:rPr lang="en-US" altLang="zh-CN" sz="1600"/>
              <a:t>3</a:t>
            </a:r>
            <a:r>
              <a:rPr lang="zh-CN" altLang="en-US" sz="1600"/>
              <a:t>）操作层面调研（一线业务人员）：：</a:t>
            </a:r>
            <a:endParaRPr lang="zh-CN" altLang="en-US" sz="1600"/>
          </a:p>
          <a:p>
            <a:r>
              <a:rPr lang="zh-CN" altLang="en-US" sz="1600"/>
              <a:t>调研对象：</a:t>
            </a:r>
            <a:r>
              <a:rPr lang="en-US" altLang="zh-CN" sz="1600"/>
              <a:t> </a:t>
            </a:r>
            <a:r>
              <a:rPr lang="zh-CN" altLang="en-US" sz="1600"/>
              <a:t>具体执行业务操作的一线人员。</a:t>
            </a:r>
            <a:endParaRPr lang="zh-CN" altLang="en-US" sz="1600"/>
          </a:p>
          <a:p>
            <a:r>
              <a:rPr lang="zh-CN" altLang="en-US" sz="1600"/>
              <a:t>目标与关注点：</a:t>
            </a:r>
            <a:r>
              <a:rPr lang="en-US" altLang="zh-CN" sz="1600"/>
              <a:t> </a:t>
            </a:r>
            <a:r>
              <a:rPr lang="zh-CN" altLang="en-US" sz="1600"/>
              <a:t>获取具体业务操作的细节，包括：数据的来源、去向、格式、精度、处理逻辑、验证规则；表单</a:t>
            </a:r>
            <a:r>
              <a:rPr lang="en-US" altLang="zh-CN" sz="1600"/>
              <a:t>/</a:t>
            </a:r>
            <a:r>
              <a:rPr lang="zh-CN" altLang="en-US" sz="1600"/>
              <a:t>报表的具体作用、填写规则、处理要求；用户界面</a:t>
            </a:r>
            <a:r>
              <a:rPr lang="en-US" altLang="zh-CN" sz="1600"/>
              <a:t>(UI)</a:t>
            </a:r>
            <a:r>
              <a:rPr lang="zh-CN" altLang="en-US" sz="1600"/>
              <a:t>交互习惯、痛点及效率需求；具体的性能期望。此阶段是定义详细功能需求、用户故事、数据字典条目和用户体验</a:t>
            </a:r>
            <a:r>
              <a:rPr lang="en-US" altLang="zh-CN" sz="1600"/>
              <a:t>(UX)</a:t>
            </a:r>
            <a:r>
              <a:rPr lang="zh-CN" altLang="en-US" sz="1600"/>
              <a:t>需求的主要来源。</a:t>
            </a:r>
            <a:endParaRPr lang="zh-CN" altLang="en-US" sz="1600"/>
          </a:p>
          <a:p>
            <a:r>
              <a:rPr lang="zh-CN" altLang="en-US" sz="1600"/>
              <a:t>实现手段：</a:t>
            </a:r>
            <a:r>
              <a:rPr lang="en-US" altLang="zh-CN" sz="1600"/>
              <a:t> </a:t>
            </a:r>
            <a:r>
              <a:rPr lang="zh-CN" altLang="en-US" sz="1600"/>
              <a:t>主要采用观察（</a:t>
            </a:r>
            <a:r>
              <a:rPr lang="en-US" altLang="zh-CN" sz="1600"/>
              <a:t>Observation</a:t>
            </a:r>
            <a:r>
              <a:rPr lang="zh-CN" altLang="en-US" sz="1600"/>
              <a:t>）、任务分析（</a:t>
            </a:r>
            <a:r>
              <a:rPr lang="en-US" altLang="zh-CN" sz="1600"/>
              <a:t>Task Analysis</a:t>
            </a:r>
            <a:r>
              <a:rPr lang="zh-CN" altLang="en-US" sz="1600"/>
              <a:t>）和深度访谈。在前期流程理解基础上，可适时引入低保真原型（如线框图）</a:t>
            </a:r>
            <a:r>
              <a:rPr lang="en-US" altLang="zh-CN" sz="1600"/>
              <a:t> </a:t>
            </a:r>
            <a:r>
              <a:rPr lang="zh-CN" altLang="en-US" sz="1600"/>
              <a:t>辅助沟通，澄清操作细节。</a:t>
            </a:r>
            <a:endParaRPr lang="zh-CN" altLang="en-US" sz="1600"/>
          </a:p>
          <a:p>
            <a:r>
              <a:rPr lang="zh-CN" altLang="en-US" sz="1600"/>
              <a:t>输出成果：</a:t>
            </a:r>
            <a:r>
              <a:rPr lang="en-US" altLang="zh-CN" sz="1600"/>
              <a:t> </a:t>
            </a:r>
            <a:r>
              <a:rPr lang="zh-CN" altLang="en-US" sz="1600"/>
              <a:t>操作观察记录、一线人员访谈纪要、详细业务流程（含数据流）、用户故事</a:t>
            </a:r>
            <a:r>
              <a:rPr lang="en-US" altLang="zh-CN" sz="1600"/>
              <a:t>/</a:t>
            </a:r>
            <a:r>
              <a:rPr lang="zh-CN" altLang="en-US" sz="1600"/>
              <a:t>用例初稿、数据项定义表、原型反馈记录。</a:t>
            </a:r>
            <a:endParaRPr lang="zh-CN" altLang="en-US" sz="160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执行要点与注意事项：</a:t>
            </a:r>
            <a:endParaRPr lang="zh-CN" altLang="en-US"/>
          </a:p>
        </p:txBody>
      </p:sp>
      <p:sp>
        <p:nvSpPr>
          <p:cNvPr id="3" name="内容占位符 2"/>
          <p:cNvSpPr>
            <a:spLocks noGrp="1"/>
          </p:cNvSpPr>
          <p:nvPr>
            <p:ph idx="1"/>
          </p:nvPr>
        </p:nvSpPr>
        <p:spPr/>
        <p:txBody>
          <a:bodyPr>
            <a:normAutofit fontScale="60000"/>
          </a:bodyPr>
          <a:p>
            <a:r>
              <a:rPr lang="zh-CN" altLang="en-US"/>
              <a:t>迭代与反馈：</a:t>
            </a:r>
            <a:r>
              <a:rPr lang="en-US" altLang="zh-CN"/>
              <a:t> </a:t>
            </a:r>
            <a:r>
              <a:rPr lang="zh-CN" altLang="en-US"/>
              <a:t>业务层面（</a:t>
            </a:r>
            <a:r>
              <a:rPr lang="en-US" altLang="zh-CN"/>
              <a:t>2</a:t>
            </a:r>
            <a:r>
              <a:rPr lang="zh-CN" altLang="en-US"/>
              <a:t>）与操作层面（</a:t>
            </a:r>
            <a:r>
              <a:rPr lang="en-US" altLang="zh-CN"/>
              <a:t>3</a:t>
            </a:r>
            <a:r>
              <a:rPr lang="zh-CN" altLang="en-US"/>
              <a:t>）的调研往往是迭代进行的。对部门流程的初步理解指导一线细节的挖掘，而一线细节的发现可能反过来修正或细化对整体流程和规则的理解。</a:t>
            </a:r>
            <a:endParaRPr lang="zh-CN" altLang="en-US"/>
          </a:p>
          <a:p>
            <a:r>
              <a:rPr lang="zh-CN" altLang="en-US"/>
              <a:t>精心准备：</a:t>
            </a:r>
            <a:r>
              <a:rPr lang="en-US" altLang="zh-CN"/>
              <a:t> </a:t>
            </a:r>
            <a:r>
              <a:rPr lang="zh-CN" altLang="en-US"/>
              <a:t>每次调研前必须制定详细的调查提纲或观察计划，明确目标问题或关注点。</a:t>
            </a:r>
            <a:endParaRPr lang="zh-CN" altLang="en-US"/>
          </a:p>
          <a:p>
            <a:r>
              <a:rPr lang="zh-CN" altLang="en-US"/>
              <a:t>准确记录：</a:t>
            </a:r>
            <a:r>
              <a:rPr lang="en-US" altLang="zh-CN"/>
              <a:t> </a:t>
            </a:r>
            <a:r>
              <a:rPr lang="zh-CN" altLang="en-US"/>
              <a:t>每次调研后需及时、客观、准确地记录调研过程和发现的关键信息。</a:t>
            </a:r>
            <a:endParaRPr lang="zh-CN" altLang="en-US"/>
          </a:p>
          <a:p>
            <a:r>
              <a:rPr lang="zh-CN" altLang="en-US"/>
              <a:t>用户确认：</a:t>
            </a:r>
            <a:r>
              <a:rPr lang="en-US" altLang="zh-CN"/>
              <a:t> </a:t>
            </a:r>
            <a:r>
              <a:rPr lang="zh-CN" altLang="en-US"/>
              <a:t>所有调研记录和初步成果（如纪要、流程草图、需求列表）必须提交给相关被调研对象或其代表进行审查、核实与确认。这是保证所获取需求信息真实性、准确性和完整性的关键步骤。</a:t>
            </a:r>
            <a:endParaRPr lang="zh-CN" altLang="en-US"/>
          </a:p>
        </p:txBody>
      </p:sp>
      <p:sp>
        <p:nvSpPr>
          <p:cNvPr id="4" name="日期占位符 3"/>
          <p:cNvSpPr>
            <a:spLocks noGrp="1"/>
          </p:cNvSpPr>
          <p:nvPr>
            <p:ph type="dt" sz="half" idx="10"/>
          </p:nvPr>
        </p:nvSpPr>
        <p:spPr/>
        <p:txBody>
          <a:bodyPr/>
          <a:p>
            <a:fld id="{D7326FFE-7CCA-4C0D-B453-625569992FB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需求调研方式</a:t>
            </a:r>
            <a:endParaRPr lang="zh-CN" altLang="en-US"/>
          </a:p>
        </p:txBody>
      </p:sp>
      <p:sp>
        <p:nvSpPr>
          <p:cNvPr id="3" name="内容占位符 2"/>
          <p:cNvSpPr>
            <a:spLocks noGrp="1"/>
          </p:cNvSpPr>
          <p:nvPr>
            <p:ph idx="1"/>
          </p:nvPr>
        </p:nvSpPr>
        <p:spPr/>
        <p:txBody>
          <a:bodyPr>
            <a:normAutofit fontScale="60000"/>
          </a:bodyPr>
          <a:p>
            <a:pPr marL="0" indent="0">
              <a:buNone/>
            </a:pPr>
            <a:r>
              <a:rPr lang="en-US" altLang="zh-CN"/>
              <a:t>  </a:t>
            </a:r>
            <a:r>
              <a:rPr lang="zh-CN" altLang="en-US"/>
              <a:t>在需求调研过程中，开发人员与用户的有效沟通可以通过以下几种主要方式进行：</a:t>
            </a:r>
            <a:endParaRPr lang="zh-CN" altLang="en-US"/>
          </a:p>
          <a:p>
            <a:pPr marL="0" indent="0">
              <a:buNone/>
            </a:pPr>
            <a:r>
              <a:rPr lang="en-US" altLang="zh-CN"/>
              <a:t>1. </a:t>
            </a:r>
            <a:r>
              <a:rPr lang="zh-CN" altLang="en-US"/>
              <a:t>座谈会（专题会议）</a:t>
            </a:r>
            <a:endParaRPr lang="zh-CN" altLang="en-US"/>
          </a:p>
          <a:p>
            <a:pPr lvl="0"/>
            <a:r>
              <a:rPr lang="en-US" altLang="zh-CN"/>
              <a:t> </a:t>
            </a:r>
            <a:r>
              <a:rPr lang="zh-CN" altLang="en-US"/>
              <a:t>形式与目的：</a:t>
            </a:r>
            <a:r>
              <a:rPr lang="en-US" altLang="zh-CN"/>
              <a:t> </a:t>
            </a:r>
            <a:r>
              <a:rPr lang="zh-CN" altLang="en-US"/>
              <a:t>通过组织范围较广的会议或聚焦特定主题的专题会议，深入探讨探索性需求、复杂的业务逻辑以及需要跨部门协作的场景。</a:t>
            </a:r>
            <a:endParaRPr lang="zh-CN" altLang="en-US"/>
          </a:p>
          <a:p>
            <a:pPr lvl="0"/>
            <a:r>
              <a:rPr lang="zh-CN" altLang="en-US"/>
              <a:t>会前准备：</a:t>
            </a:r>
            <a:r>
              <a:rPr lang="en-US" altLang="zh-CN"/>
              <a:t> </a:t>
            </a:r>
            <a:r>
              <a:rPr lang="zh-CN" altLang="en-US"/>
              <a:t>提前制定清晰的会议提纲，明确讨论重点，提升会议效率。确保邀请到关键决策者和实际执行工作的一线操作人员共同参与。</a:t>
            </a:r>
            <a:endParaRPr lang="zh-CN" altLang="en-US"/>
          </a:p>
          <a:p>
            <a:pPr lvl="0"/>
            <a:r>
              <a:rPr lang="zh-CN" altLang="en-US"/>
              <a:t>会中引导：</a:t>
            </a:r>
            <a:r>
              <a:rPr lang="en-US" altLang="zh-CN"/>
              <a:t> </a:t>
            </a:r>
            <a:r>
              <a:rPr lang="zh-CN" altLang="en-US"/>
              <a:t>引导会议围绕核心议题展开讨论。</a:t>
            </a:r>
            <a:endParaRPr lang="zh-CN" altLang="en-US"/>
          </a:p>
          <a:p>
            <a:pPr lvl="0"/>
            <a:r>
              <a:rPr lang="zh-CN" altLang="en-US"/>
              <a:t>会后确认：</a:t>
            </a:r>
            <a:r>
              <a:rPr lang="en-US" altLang="zh-CN"/>
              <a:t> </a:t>
            </a:r>
            <a:r>
              <a:rPr lang="zh-CN" altLang="en-US"/>
              <a:t>详细记录会议纪要，并在讨论过程中或会后及时与用户确认对需求的理解是否准确（例如：</a:t>
            </a:r>
            <a:r>
              <a:rPr lang="en-US" altLang="zh-CN"/>
              <a:t>“</a:t>
            </a:r>
            <a:r>
              <a:rPr lang="zh-CN" altLang="en-US"/>
              <a:t>您刚才提到的</a:t>
            </a:r>
            <a:r>
              <a:rPr lang="en-US" altLang="zh-CN"/>
              <a:t>XX</a:t>
            </a:r>
            <a:r>
              <a:rPr lang="zh-CN" altLang="en-US"/>
              <a:t>，是否可以理解为</a:t>
            </a:r>
            <a:r>
              <a:rPr lang="en-US" altLang="zh-CN"/>
              <a:t>YY</a:t>
            </a:r>
            <a:r>
              <a:rPr lang="zh-CN" altLang="en-US"/>
              <a:t>？</a:t>
            </a:r>
            <a:r>
              <a:rPr lang="en-US" altLang="zh-CN"/>
              <a:t>”</a:t>
            </a:r>
            <a:r>
              <a:rPr lang="zh-CN" altLang="en-US"/>
              <a:t>）。</a:t>
            </a:r>
            <a:endParaRPr lang="zh-CN" altLang="en-US"/>
          </a:p>
        </p:txBody>
      </p:sp>
      <p:sp>
        <p:nvSpPr>
          <p:cNvPr id="4" name="日期占位符 3"/>
          <p:cNvSpPr>
            <a:spLocks noGrp="1"/>
          </p:cNvSpPr>
          <p:nvPr>
            <p:ph type="dt" sz="half" idx="10"/>
          </p:nvPr>
        </p:nvSpPr>
        <p:spPr/>
        <p:txBody>
          <a:bodyPr/>
          <a:p>
            <a:fld id="{D7326FFE-7CCA-4C0D-B453-625569992FB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需求调研方式</a:t>
            </a:r>
            <a:endParaRPr lang="zh-CN" altLang="en-US"/>
          </a:p>
        </p:txBody>
      </p:sp>
      <p:sp>
        <p:nvSpPr>
          <p:cNvPr id="3" name="内容占位符 2"/>
          <p:cNvSpPr>
            <a:spLocks noGrp="1"/>
          </p:cNvSpPr>
          <p:nvPr>
            <p:ph idx="1"/>
          </p:nvPr>
        </p:nvSpPr>
        <p:spPr/>
        <p:txBody>
          <a:bodyPr>
            <a:normAutofit fontScale="60000"/>
          </a:bodyPr>
          <a:p>
            <a:pPr marL="0" indent="0">
              <a:buNone/>
            </a:pPr>
            <a:r>
              <a:rPr lang="en-US" altLang="zh-CN"/>
              <a:t>2. </a:t>
            </a:r>
            <a:r>
              <a:rPr lang="zh-CN" altLang="en-US"/>
              <a:t>书面咨询</a:t>
            </a:r>
            <a:endParaRPr lang="zh-CN" altLang="en-US"/>
          </a:p>
          <a:p>
            <a:pPr lvl="0"/>
            <a:r>
              <a:rPr lang="zh-CN" altLang="en-US"/>
              <a:t>形式与目的：</a:t>
            </a:r>
            <a:r>
              <a:rPr lang="en-US" altLang="zh-CN"/>
              <a:t> </a:t>
            </a:r>
            <a:r>
              <a:rPr lang="zh-CN" altLang="en-US"/>
              <a:t>开发人员将需要用户澄清或关心的具体问题，以结构化的书面形式（如问卷、需求清单）提交给用户。这种方式有助于系统性地理解用户的业务过程和操作细节。</a:t>
            </a:r>
            <a:endParaRPr lang="zh-CN" altLang="en-US"/>
          </a:p>
          <a:p>
            <a:pPr lvl="0"/>
            <a:r>
              <a:rPr lang="zh-CN" altLang="en-US"/>
              <a:t>核心价值：</a:t>
            </a:r>
            <a:r>
              <a:rPr lang="en-US" altLang="zh-CN"/>
              <a:t> </a:t>
            </a:r>
            <a:r>
              <a:rPr lang="zh-CN" altLang="en-US"/>
              <a:t>通过精心设计的问题，引导用户清晰描述：</a:t>
            </a:r>
            <a:endParaRPr lang="zh-CN" altLang="en-US"/>
          </a:p>
          <a:p>
            <a:pPr lvl="0"/>
            <a:r>
              <a:rPr lang="zh-CN" altLang="en-US"/>
              <a:t>特定功能的执行步骤。</a:t>
            </a:r>
            <a:endParaRPr lang="zh-CN" altLang="en-US"/>
          </a:p>
          <a:p>
            <a:pPr lvl="0"/>
            <a:r>
              <a:rPr lang="zh-CN" altLang="en-US"/>
              <a:t>执行过程中所需输入的数据和产生输出的数据。</a:t>
            </a:r>
            <a:endParaRPr lang="zh-CN" altLang="en-US"/>
          </a:p>
          <a:p>
            <a:pPr lvl="0"/>
            <a:r>
              <a:rPr lang="zh-CN" altLang="en-US"/>
              <a:t>涉及的计算规则或公式。</a:t>
            </a:r>
            <a:endParaRPr lang="zh-CN" altLang="en-US"/>
          </a:p>
          <a:p>
            <a:pPr lvl="0"/>
            <a:r>
              <a:rPr lang="zh-CN" altLang="en-US"/>
              <a:t>企业必须遵守的特殊业务规则或约束。</a:t>
            </a:r>
            <a:endParaRPr lang="zh-CN" altLang="en-US"/>
          </a:p>
          <a:p>
            <a:endParaRPr lang="en-US" altLang="zh-CN"/>
          </a:p>
        </p:txBody>
      </p:sp>
      <p:sp>
        <p:nvSpPr>
          <p:cNvPr id="4" name="日期占位符 3"/>
          <p:cNvSpPr>
            <a:spLocks noGrp="1"/>
          </p:cNvSpPr>
          <p:nvPr>
            <p:ph type="dt" sz="half" idx="10"/>
          </p:nvPr>
        </p:nvSpPr>
        <p:spPr/>
        <p:txBody>
          <a:bodyPr/>
          <a:p>
            <a:fld id="{D7326FFE-7CCA-4C0D-B453-625569992FB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需求调研方式</a:t>
            </a:r>
            <a:endParaRPr lang="zh-CN" altLang="en-US"/>
          </a:p>
        </p:txBody>
      </p:sp>
      <p:sp>
        <p:nvSpPr>
          <p:cNvPr id="3" name="内容占位符 2"/>
          <p:cNvSpPr>
            <a:spLocks noGrp="1"/>
          </p:cNvSpPr>
          <p:nvPr>
            <p:ph idx="1"/>
          </p:nvPr>
        </p:nvSpPr>
        <p:spPr/>
        <p:txBody>
          <a:bodyPr>
            <a:normAutofit fontScale="60000"/>
          </a:bodyPr>
          <a:p>
            <a:r>
              <a:rPr lang="en-US" altLang="zh-CN" sz="2800">
                <a:sym typeface="+mn-ea"/>
              </a:rPr>
              <a:t> </a:t>
            </a:r>
            <a:r>
              <a:rPr lang="zh-CN" altLang="en-US" sz="2800">
                <a:sym typeface="+mn-ea"/>
              </a:rPr>
              <a:t>典型问题示例（引导用户描述）：</a:t>
            </a:r>
            <a:endParaRPr lang="zh-CN" altLang="en-US" sz="2800"/>
          </a:p>
          <a:p>
            <a:pPr lvl="1"/>
            <a:r>
              <a:rPr lang="zh-CN" altLang="en-US" sz="2800">
                <a:sym typeface="+mn-ea"/>
              </a:rPr>
              <a:t>您日常负责的主要工作任务有哪些？</a:t>
            </a:r>
            <a:endParaRPr lang="en-US" altLang="zh-CN" sz="2800"/>
          </a:p>
          <a:p>
            <a:pPr lvl="1"/>
            <a:r>
              <a:rPr lang="zh-CN" altLang="en-US" sz="2800">
                <a:sym typeface="+mn-ea"/>
              </a:rPr>
              <a:t>您是如何完成</a:t>
            </a:r>
            <a:r>
              <a:rPr lang="en-US" altLang="zh-CN" sz="2800">
                <a:sym typeface="+mn-ea"/>
              </a:rPr>
              <a:t>[</a:t>
            </a:r>
            <a:r>
              <a:rPr lang="zh-CN" altLang="en-US" sz="2800">
                <a:sym typeface="+mn-ea"/>
              </a:rPr>
              <a:t>某项具体任务</a:t>
            </a:r>
            <a:r>
              <a:rPr lang="en-US" altLang="zh-CN" sz="2800">
                <a:sym typeface="+mn-ea"/>
              </a:rPr>
              <a:t>]</a:t>
            </a:r>
            <a:r>
              <a:rPr lang="zh-CN" altLang="en-US" sz="2800">
                <a:sym typeface="+mn-ea"/>
              </a:rPr>
              <a:t>的？能否简单描述或演示一下关键步骤？</a:t>
            </a:r>
            <a:endParaRPr lang="en-US" altLang="zh-CN" sz="2800"/>
          </a:p>
          <a:p>
            <a:pPr lvl="1"/>
            <a:r>
              <a:rPr lang="zh-CN" altLang="en-US" sz="2800">
                <a:sym typeface="+mn-ea"/>
              </a:rPr>
              <a:t>完成这些步骤需要用到哪些信息（数据）？最终会生成或更新哪些信息（数据）？</a:t>
            </a:r>
            <a:endParaRPr lang="en-US" altLang="zh-CN" sz="2800"/>
          </a:p>
          <a:p>
            <a:pPr lvl="1"/>
            <a:r>
              <a:rPr lang="zh-CN" altLang="en-US" sz="2800">
                <a:sym typeface="+mn-ea"/>
              </a:rPr>
              <a:t>对于</a:t>
            </a:r>
            <a:r>
              <a:rPr lang="en-US" altLang="zh-CN" sz="2800">
                <a:sym typeface="+mn-ea"/>
              </a:rPr>
              <a:t>[</a:t>
            </a:r>
            <a:r>
              <a:rPr lang="zh-CN" altLang="en-US" sz="2800">
                <a:sym typeface="+mn-ea"/>
              </a:rPr>
              <a:t>某个数值型数据项</a:t>
            </a:r>
            <a:r>
              <a:rPr lang="en-US" altLang="zh-CN" sz="2800">
                <a:sym typeface="+mn-ea"/>
              </a:rPr>
              <a:t>]</a:t>
            </a:r>
            <a:r>
              <a:rPr lang="zh-CN" altLang="en-US" sz="2800">
                <a:sym typeface="+mn-ea"/>
              </a:rPr>
              <a:t>，可接受的范围是多少（最大值、最小值）？对于</a:t>
            </a:r>
            <a:r>
              <a:rPr lang="en-US" altLang="zh-CN" sz="2800">
                <a:sym typeface="+mn-ea"/>
              </a:rPr>
              <a:t>[</a:t>
            </a:r>
            <a:r>
              <a:rPr lang="zh-CN" altLang="en-US" sz="2800">
                <a:sym typeface="+mn-ea"/>
              </a:rPr>
              <a:t>某个文本型数据项</a:t>
            </a:r>
            <a:r>
              <a:rPr lang="en-US" altLang="zh-CN" sz="2800">
                <a:sym typeface="+mn-ea"/>
              </a:rPr>
              <a:t>]</a:t>
            </a:r>
            <a:r>
              <a:rPr lang="zh-CN" altLang="en-US" sz="2800">
                <a:sym typeface="+mn-ea"/>
              </a:rPr>
              <a:t>，长度限制是多少（最长、最短）？</a:t>
            </a:r>
            <a:endParaRPr lang="en-US" altLang="zh-CN" sz="2800"/>
          </a:p>
          <a:p>
            <a:pPr lvl="1"/>
            <a:r>
              <a:rPr lang="zh-CN" altLang="en-US" sz="2800">
                <a:sym typeface="+mn-ea"/>
              </a:rPr>
              <a:t>在执行</a:t>
            </a:r>
            <a:r>
              <a:rPr lang="en-US" altLang="zh-CN" sz="2800">
                <a:sym typeface="+mn-ea"/>
              </a:rPr>
              <a:t>[</a:t>
            </a:r>
            <a:r>
              <a:rPr lang="zh-CN" altLang="en-US" sz="2800">
                <a:sym typeface="+mn-ea"/>
              </a:rPr>
              <a:t>某个特定操作</a:t>
            </a:r>
            <a:r>
              <a:rPr lang="en-US" altLang="zh-CN" sz="2800">
                <a:sym typeface="+mn-ea"/>
              </a:rPr>
              <a:t>]</a:t>
            </a:r>
            <a:r>
              <a:rPr lang="zh-CN" altLang="en-US" sz="2800">
                <a:sym typeface="+mn-ea"/>
              </a:rPr>
              <a:t>时，有哪些必须注意或遵守的重要规则或限制条件？</a:t>
            </a:r>
            <a:endParaRPr lang="en-US" altLang="zh-CN" sz="2800"/>
          </a:p>
          <a:p>
            <a:endParaRPr lang="zh-CN" altLang="en-US"/>
          </a:p>
        </p:txBody>
      </p:sp>
      <p:sp>
        <p:nvSpPr>
          <p:cNvPr id="4" name="日期占位符 3"/>
          <p:cNvSpPr>
            <a:spLocks noGrp="1"/>
          </p:cNvSpPr>
          <p:nvPr>
            <p:ph type="dt" sz="half" idx="10"/>
          </p:nvPr>
        </p:nvSpPr>
        <p:spPr/>
        <p:txBody>
          <a:bodyPr/>
          <a:p>
            <a:fld id="{D7326FFE-7CCA-4C0D-B453-625569992FB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需求调研方式</a:t>
            </a:r>
            <a:endParaRPr lang="zh-CN" altLang="en-US"/>
          </a:p>
        </p:txBody>
      </p:sp>
      <p:sp>
        <p:nvSpPr>
          <p:cNvPr id="3" name="内容占位符 2"/>
          <p:cNvSpPr>
            <a:spLocks noGrp="1"/>
          </p:cNvSpPr>
          <p:nvPr>
            <p:ph idx="1"/>
          </p:nvPr>
        </p:nvSpPr>
        <p:spPr/>
        <p:txBody>
          <a:bodyPr>
            <a:normAutofit fontScale="50000"/>
          </a:bodyPr>
          <a:p>
            <a:pPr marL="0" indent="0">
              <a:buNone/>
            </a:pPr>
            <a:r>
              <a:rPr lang="en-US" altLang="zh-CN"/>
              <a:t>3. </a:t>
            </a:r>
            <a:r>
              <a:rPr lang="zh-CN" altLang="en-US"/>
              <a:t>可视化呈现</a:t>
            </a:r>
            <a:endParaRPr lang="zh-CN" altLang="en-US"/>
          </a:p>
          <a:p>
            <a:pPr lvl="0"/>
            <a:r>
              <a:rPr lang="zh-CN" altLang="en-US"/>
              <a:t>目的：</a:t>
            </a:r>
            <a:r>
              <a:rPr lang="en-US" altLang="zh-CN"/>
              <a:t> </a:t>
            </a:r>
            <a:r>
              <a:rPr lang="zh-CN" altLang="en-US"/>
              <a:t>运用图形化工具清晰展示业务流程和系统功能，有效澄清需求细节，降低理解偏差。</a:t>
            </a:r>
            <a:endParaRPr lang="zh-CN" altLang="en-US"/>
          </a:p>
          <a:p>
            <a:pPr lvl="0"/>
            <a:r>
              <a:rPr lang="zh-CN" altLang="en-US"/>
              <a:t>常用工具与作用：</a:t>
            </a:r>
            <a:endParaRPr lang="zh-CN" altLang="en-US"/>
          </a:p>
          <a:p>
            <a:pPr lvl="0"/>
            <a:r>
              <a:rPr lang="en-US" altLang="zh-CN"/>
              <a:t>UML </a:t>
            </a:r>
            <a:r>
              <a:rPr lang="zh-CN" altLang="en-US"/>
              <a:t>表示：</a:t>
            </a:r>
            <a:endParaRPr lang="zh-CN" altLang="en-US"/>
          </a:p>
          <a:p>
            <a:pPr lvl="1"/>
            <a:r>
              <a:rPr lang="zh-CN" altLang="en-US"/>
              <a:t>用例图：</a:t>
            </a:r>
            <a:r>
              <a:rPr lang="en-US" altLang="zh-CN"/>
              <a:t> </a:t>
            </a:r>
            <a:r>
              <a:rPr lang="zh-CN" altLang="en-US"/>
              <a:t>清晰展示系统包含哪些核心功能，以及不同角色（执行者）能够使用哪些功能，帮助界定系统功能边界。</a:t>
            </a:r>
            <a:endParaRPr lang="zh-CN" altLang="en-US"/>
          </a:p>
          <a:p>
            <a:pPr lvl="1"/>
            <a:r>
              <a:rPr lang="zh-CN" altLang="en-US"/>
              <a:t>顺序图：</a:t>
            </a:r>
            <a:r>
              <a:rPr lang="en-US" altLang="zh-CN"/>
              <a:t> </a:t>
            </a:r>
            <a:r>
              <a:rPr lang="zh-CN" altLang="en-US"/>
              <a:t>动态描述参与者（用户、系统组件）之间如何交互协作，以完成一个具体的功能或业务流程。</a:t>
            </a:r>
            <a:endParaRPr lang="zh-CN" altLang="en-US"/>
          </a:p>
          <a:p>
            <a:pPr lvl="1"/>
            <a:r>
              <a:rPr lang="zh-CN" altLang="en-US"/>
              <a:t>活动图：</a:t>
            </a:r>
            <a:r>
              <a:rPr lang="en-US" altLang="zh-CN"/>
              <a:t> </a:t>
            </a:r>
            <a:r>
              <a:rPr lang="zh-CN" altLang="en-US"/>
              <a:t>直观呈现完成一个功能或业务流程所涉及的步骤、决策点和活动流转，是梳理业务流程的有效工具。</a:t>
            </a:r>
            <a:endParaRPr lang="zh-CN" altLang="en-US"/>
          </a:p>
          <a:p>
            <a:pPr lvl="0"/>
            <a:r>
              <a:rPr lang="zh-CN" altLang="en-US"/>
              <a:t>原型图：</a:t>
            </a:r>
            <a:r>
              <a:rPr lang="en-US" altLang="zh-CN"/>
              <a:t> </a:t>
            </a:r>
            <a:r>
              <a:rPr lang="zh-CN" altLang="en-US"/>
              <a:t>快速构建界面草图（线框图或低保真原型），让用户更直观地感受未来的系统界面和操作逻辑，便于早期验证和反馈。</a:t>
            </a:r>
            <a:endParaRPr lang="zh-CN" altLang="en-US"/>
          </a:p>
        </p:txBody>
      </p:sp>
      <p:sp>
        <p:nvSpPr>
          <p:cNvPr id="4" name="日期占位符 3"/>
          <p:cNvSpPr>
            <a:spLocks noGrp="1"/>
          </p:cNvSpPr>
          <p:nvPr>
            <p:ph type="dt" sz="half" idx="10"/>
          </p:nvPr>
        </p:nvSpPr>
        <p:spPr/>
        <p:txBody>
          <a:bodyPr/>
          <a:p>
            <a:fld id="{D7326FFE-7CCA-4C0D-B453-625569992FB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768096" y="969700"/>
            <a:ext cx="8032892" cy="3053144"/>
          </a:xfrm>
          <a:prstGeom prst="rect">
            <a:avLst/>
          </a:prstGeom>
        </p:spPr>
        <p:txBody>
          <a:bodyPr wrap="square">
            <a:spAutoFit/>
          </a:bodyPr>
          <a:lstStyle/>
          <a:p>
            <a:pPr marL="342900" indent="-342900">
              <a:lnSpc>
                <a:spcPct val="120000"/>
              </a:lnSpc>
              <a:spcBef>
                <a:spcPts val="1200"/>
              </a:spcBef>
              <a:buClr>
                <a:srgbClr val="00B050"/>
              </a:buClr>
              <a:buFont typeface="Wingdings" panose="05000000000000000000" pitchFamily="2" charset="2"/>
              <a:buChar char=""/>
            </a:pPr>
            <a:r>
              <a:rPr lang="zh-CN" altLang="en-US" sz="2400" b="1" dirty="0">
                <a:solidFill>
                  <a:srgbClr val="686868"/>
                </a:solidFill>
                <a:latin typeface="+mj-ea"/>
                <a:ea typeface="+mj-ea"/>
              </a:rPr>
              <a:t>通过提出一些问题，可以使得系统分析员获知系统某一功能执行步骤，所需或者产生的数据，计算公式，以及企业的特殊约束。</a:t>
            </a:r>
            <a:endParaRPr lang="en-US" altLang="zh-CN" sz="2400" b="1" dirty="0">
              <a:solidFill>
                <a:srgbClr val="686868"/>
              </a:solidFill>
              <a:latin typeface="+mj-ea"/>
              <a:ea typeface="+mj-ea"/>
            </a:endParaRPr>
          </a:p>
          <a:p>
            <a:pPr lvl="1">
              <a:lnSpc>
                <a:spcPct val="120000"/>
              </a:lnSpc>
              <a:spcBef>
                <a:spcPts val="1200"/>
              </a:spcBef>
              <a:buClr>
                <a:srgbClr val="00B050"/>
              </a:buClr>
            </a:pPr>
            <a:r>
              <a:rPr lang="zh-CN" altLang="en-US" sz="2000" dirty="0">
                <a:solidFill>
                  <a:srgbClr val="686868"/>
                </a:solidFill>
                <a:latin typeface="+mj-ea"/>
                <a:ea typeface="+mj-ea"/>
              </a:rPr>
              <a:t>例如：您（业务人员）平时的工作是什么？怎么完成这些工作的呢？能稍微演示一下么？执行这些步骤会用到什么数据？以及会产生什么数据？在执行某操作时，有没有什么重要的约束需要注意或遵守的？</a:t>
            </a:r>
            <a:endParaRPr lang="zh-CN" altLang="en-US" sz="2000" dirty="0">
              <a:solidFill>
                <a:srgbClr val="686868"/>
              </a:solidFill>
              <a:latin typeface="+mj-ea"/>
              <a:ea typeface="+mj-ea"/>
            </a:endParaRPr>
          </a:p>
        </p:txBody>
      </p:sp>
      <p:sp>
        <p:nvSpPr>
          <p:cNvPr id="8" name="文本框 7"/>
          <p:cNvSpPr txBox="1"/>
          <p:nvPr/>
        </p:nvSpPr>
        <p:spPr>
          <a:xfrm>
            <a:off x="870439" y="3020158"/>
            <a:ext cx="184731" cy="300082"/>
          </a:xfrm>
          <a:prstGeom prst="rect">
            <a:avLst/>
          </a:prstGeom>
          <a:noFill/>
        </p:spPr>
        <p:txBody>
          <a:bodyPr wrap="none" rtlCol="0">
            <a:spAutoFit/>
          </a:bodyPr>
          <a:lstStyle/>
          <a:p>
            <a:endParaRPr lang="zh-CN" altLang="en-US" sz="1350"/>
          </a:p>
        </p:txBody>
      </p:sp>
      <p:sp>
        <p:nvSpPr>
          <p:cNvPr id="4" name="标题 3"/>
          <p:cNvSpPr>
            <a:spLocks noGrp="1"/>
          </p:cNvSpPr>
          <p:nvPr>
            <p:ph type="title"/>
          </p:nvPr>
        </p:nvSpPr>
        <p:spPr/>
        <p:txBody>
          <a:bodyPr/>
          <a:lstStyle/>
          <a:p>
            <a:r>
              <a:rPr lang="zh-CN" altLang="en-US" kern="100" dirty="0">
                <a:latin typeface="+mn-ea"/>
                <a:cs typeface="Times New Roman" panose="02020603050405020304" pitchFamily="18" charset="0"/>
              </a:rPr>
              <a:t>需求获取的技巧</a:t>
            </a:r>
            <a:endParaRPr lang="zh-CN" altLang="en-US" dirty="0"/>
          </a:p>
        </p:txBody>
      </p:sp>
      <p:sp>
        <p:nvSpPr>
          <p:cNvPr id="5" name="日期占位符 4"/>
          <p:cNvSpPr>
            <a:spLocks noGrp="1"/>
          </p:cNvSpPr>
          <p:nvPr>
            <p:ph type="dt" sz="half" idx="10"/>
          </p:nvPr>
        </p:nvSpPr>
        <p:spPr/>
        <p:txBody>
          <a:bodyPr/>
          <a:lstStyle/>
          <a:p>
            <a:fld id="{208B4307-49CA-471B-82F5-00EAF3732B3E}"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软件工程</a:t>
            </a:r>
            <a:endParaRPr lang="zh-CN" altLang="en-US"/>
          </a:p>
        </p:txBody>
      </p:sp>
      <p:sp>
        <p:nvSpPr>
          <p:cNvPr id="7" name="灯片编号占位符 6"/>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up)">
                                      <p:cBhvr>
                                        <p:cTn id="7" dur="500"/>
                                        <p:tgtEl>
                                          <p:spTgt spid="12">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2">
                                            <p:txEl>
                                              <p:pRg st="1" end="1"/>
                                            </p:txEl>
                                          </p:spTgt>
                                        </p:tgtEl>
                                        <p:attrNameLst>
                                          <p:attrName>style.visibility</p:attrName>
                                        </p:attrNameLst>
                                      </p:cBhvr>
                                      <p:to>
                                        <p:strVal val="visible"/>
                                      </p:to>
                                    </p:set>
                                    <p:animEffect transition="in" filter="wipe(up)">
                                      <p:cBhvr>
                                        <p:cTn id="10" dur="500"/>
                                        <p:tgtEl>
                                          <p:spTgt spid="1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825358" y="1007269"/>
            <a:ext cx="8032892" cy="941155"/>
          </a:xfrm>
          <a:prstGeom prst="rect">
            <a:avLst/>
          </a:prstGeom>
        </p:spPr>
        <p:txBody>
          <a:bodyPr wrap="square">
            <a:spAutoFit/>
          </a:bodyPr>
          <a:lstStyle/>
          <a:p>
            <a:pPr marL="257175" indent="-257175">
              <a:lnSpc>
                <a:spcPct val="120000"/>
              </a:lnSpc>
              <a:buClr>
                <a:srgbClr val="00B050"/>
              </a:buClr>
              <a:buFont typeface="Wingdings" panose="05000000000000000000" pitchFamily="2" charset="2"/>
              <a:buChar char="¬"/>
            </a:pPr>
            <a:r>
              <a:rPr lang="zh-CN" altLang="en-US" sz="2400" b="1" dirty="0">
                <a:solidFill>
                  <a:srgbClr val="686868"/>
                </a:solidFill>
                <a:latin typeface="+mj-ea"/>
                <a:ea typeface="+mj-ea"/>
              </a:rPr>
              <a:t>在系统中，必不可少的会用到数据，那么系统中的数据及数据属性如何被发现呢？</a:t>
            </a:r>
            <a:endParaRPr lang="zh-CN" altLang="en-US" sz="2400" b="1" dirty="0">
              <a:solidFill>
                <a:srgbClr val="686868"/>
              </a:solidFill>
              <a:latin typeface="+mj-ea"/>
              <a:ea typeface="+mj-ea"/>
            </a:endParaRPr>
          </a:p>
        </p:txBody>
      </p:sp>
      <p:sp>
        <p:nvSpPr>
          <p:cNvPr id="8" name="文本框 7"/>
          <p:cNvSpPr txBox="1"/>
          <p:nvPr/>
        </p:nvSpPr>
        <p:spPr>
          <a:xfrm>
            <a:off x="870439" y="3020158"/>
            <a:ext cx="184731" cy="300082"/>
          </a:xfrm>
          <a:prstGeom prst="rect">
            <a:avLst/>
          </a:prstGeom>
          <a:noFill/>
        </p:spPr>
        <p:txBody>
          <a:bodyPr wrap="none" rtlCol="0">
            <a:spAutoFit/>
          </a:bodyPr>
          <a:lstStyle/>
          <a:p>
            <a:endParaRPr lang="zh-CN" altLang="en-US" sz="1350"/>
          </a:p>
        </p:txBody>
      </p:sp>
      <p:sp>
        <p:nvSpPr>
          <p:cNvPr id="2" name="文本框 1"/>
          <p:cNvSpPr txBox="1"/>
          <p:nvPr/>
        </p:nvSpPr>
        <p:spPr>
          <a:xfrm>
            <a:off x="1192901" y="2126780"/>
            <a:ext cx="5624668" cy="2321148"/>
          </a:xfrm>
          <a:prstGeom prst="rect">
            <a:avLst/>
          </a:prstGeom>
          <a:noFill/>
        </p:spPr>
        <p:txBody>
          <a:bodyPr wrap="square" rtlCol="0">
            <a:spAutoFit/>
          </a:bodyPr>
          <a:lstStyle/>
          <a:p>
            <a:pPr>
              <a:lnSpc>
                <a:spcPct val="120000"/>
              </a:lnSpc>
              <a:buClr>
                <a:srgbClr val="00B050"/>
              </a:buClr>
            </a:pPr>
            <a:r>
              <a:rPr lang="zh-CN" altLang="en-US" sz="2000" dirty="0">
                <a:solidFill>
                  <a:srgbClr val="686868"/>
                </a:solidFill>
                <a:latin typeface="+mj-ea"/>
                <a:ea typeface="+mj-ea"/>
              </a:rPr>
              <a:t>例如：可以通过类似以下问题来进行访谈</a:t>
            </a:r>
            <a:endParaRPr lang="zh-CN" altLang="en-US" sz="2000" dirty="0">
              <a:solidFill>
                <a:srgbClr val="686868"/>
              </a:solidFill>
              <a:latin typeface="+mj-ea"/>
              <a:ea typeface="+mj-ea"/>
            </a:endParaRPr>
          </a:p>
          <a:p>
            <a:pPr lvl="1">
              <a:spcBef>
                <a:spcPts val="450"/>
              </a:spcBef>
              <a:buClr>
                <a:srgbClr val="00B050"/>
              </a:buClr>
            </a:pPr>
            <a:r>
              <a:rPr lang="zh-CN" altLang="en-US" sz="2000" dirty="0">
                <a:solidFill>
                  <a:srgbClr val="686868"/>
                </a:solidFill>
                <a:latin typeface="+mj-ea"/>
                <a:ea typeface="+mj-ea"/>
              </a:rPr>
              <a:t>某物会记录什么数据呢？</a:t>
            </a:r>
            <a:endParaRPr lang="zh-CN" altLang="en-US" sz="2000" dirty="0">
              <a:solidFill>
                <a:srgbClr val="686868"/>
              </a:solidFill>
              <a:latin typeface="+mj-ea"/>
              <a:ea typeface="+mj-ea"/>
            </a:endParaRPr>
          </a:p>
          <a:p>
            <a:pPr lvl="1">
              <a:spcBef>
                <a:spcPts val="450"/>
              </a:spcBef>
              <a:buClr>
                <a:srgbClr val="00B050"/>
              </a:buClr>
            </a:pPr>
            <a:r>
              <a:rPr lang="zh-CN" altLang="en-US" sz="2000" dirty="0">
                <a:solidFill>
                  <a:srgbClr val="686868"/>
                </a:solidFill>
                <a:latin typeface="+mj-ea"/>
                <a:ea typeface="+mj-ea"/>
              </a:rPr>
              <a:t>某物可以提供我们哪些数据呢？</a:t>
            </a:r>
            <a:endParaRPr lang="zh-CN" altLang="en-US" sz="2000" dirty="0">
              <a:solidFill>
                <a:srgbClr val="686868"/>
              </a:solidFill>
              <a:latin typeface="+mj-ea"/>
              <a:ea typeface="+mj-ea"/>
            </a:endParaRPr>
          </a:p>
          <a:p>
            <a:pPr lvl="1">
              <a:spcBef>
                <a:spcPts val="450"/>
              </a:spcBef>
              <a:buClr>
                <a:srgbClr val="00B050"/>
              </a:buClr>
            </a:pPr>
            <a:r>
              <a:rPr lang="zh-CN" altLang="en-US" sz="2000" dirty="0">
                <a:solidFill>
                  <a:srgbClr val="686868"/>
                </a:solidFill>
                <a:latin typeface="+mj-ea"/>
                <a:ea typeface="+mj-ea"/>
              </a:rPr>
              <a:t>某物的某属性有范围吗？</a:t>
            </a:r>
            <a:endParaRPr lang="zh-CN" altLang="en-US" sz="2000" dirty="0">
              <a:solidFill>
                <a:srgbClr val="686868"/>
              </a:solidFill>
              <a:latin typeface="+mj-ea"/>
              <a:ea typeface="+mj-ea"/>
            </a:endParaRPr>
          </a:p>
          <a:p>
            <a:pPr lvl="1">
              <a:spcBef>
                <a:spcPts val="450"/>
              </a:spcBef>
              <a:buClr>
                <a:srgbClr val="00B050"/>
              </a:buClr>
            </a:pPr>
            <a:r>
              <a:rPr lang="zh-CN" altLang="en-US" sz="2000" dirty="0">
                <a:solidFill>
                  <a:srgbClr val="686868"/>
                </a:solidFill>
                <a:latin typeface="+mj-ea"/>
                <a:ea typeface="+mj-ea"/>
              </a:rPr>
              <a:t>可被接受的数字，最大最小是多少？</a:t>
            </a:r>
            <a:endParaRPr lang="zh-CN" altLang="en-US" sz="2000" dirty="0">
              <a:solidFill>
                <a:srgbClr val="686868"/>
              </a:solidFill>
              <a:latin typeface="+mj-ea"/>
              <a:ea typeface="+mj-ea"/>
            </a:endParaRPr>
          </a:p>
          <a:p>
            <a:pPr lvl="1">
              <a:spcBef>
                <a:spcPts val="450"/>
              </a:spcBef>
              <a:buClr>
                <a:srgbClr val="00B050"/>
              </a:buClr>
            </a:pPr>
            <a:r>
              <a:rPr lang="zh-CN" altLang="en-US" sz="2000" dirty="0">
                <a:solidFill>
                  <a:srgbClr val="686868"/>
                </a:solidFill>
                <a:latin typeface="+mj-ea"/>
                <a:ea typeface="+mj-ea"/>
              </a:rPr>
              <a:t>可被接受的字符串，最长最短是多少？</a:t>
            </a:r>
            <a:endParaRPr lang="zh-CN" altLang="en-US" sz="2000" dirty="0">
              <a:solidFill>
                <a:srgbClr val="686868"/>
              </a:solidFill>
              <a:latin typeface="+mj-ea"/>
              <a:ea typeface="+mj-ea"/>
            </a:endParaRPr>
          </a:p>
        </p:txBody>
      </p:sp>
      <p:sp>
        <p:nvSpPr>
          <p:cNvPr id="4" name="标题 3"/>
          <p:cNvSpPr>
            <a:spLocks noGrp="1"/>
          </p:cNvSpPr>
          <p:nvPr>
            <p:ph type="title"/>
          </p:nvPr>
        </p:nvSpPr>
        <p:spPr/>
        <p:txBody>
          <a:bodyPr/>
          <a:lstStyle/>
          <a:p>
            <a:r>
              <a:rPr lang="zh-CN" altLang="en-US" kern="100" dirty="0">
                <a:latin typeface="+mn-ea"/>
                <a:cs typeface="Times New Roman" panose="02020603050405020304" pitchFamily="18" charset="0"/>
              </a:rPr>
              <a:t>需求获取的技巧</a:t>
            </a:r>
            <a:endParaRPr lang="zh-CN" altLang="en-US" dirty="0"/>
          </a:p>
        </p:txBody>
      </p:sp>
      <p:sp>
        <p:nvSpPr>
          <p:cNvPr id="5" name="日期占位符 4"/>
          <p:cNvSpPr>
            <a:spLocks noGrp="1"/>
          </p:cNvSpPr>
          <p:nvPr>
            <p:ph type="dt" sz="half" idx="10"/>
          </p:nvPr>
        </p:nvSpPr>
        <p:spPr/>
        <p:txBody>
          <a:bodyPr/>
          <a:lstStyle/>
          <a:p>
            <a:fld id="{208B4307-49CA-471B-82F5-00EAF3732B3E}"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软件工程</a:t>
            </a:r>
            <a:endParaRPr lang="zh-CN" altLang="en-US"/>
          </a:p>
        </p:txBody>
      </p:sp>
      <p:sp>
        <p:nvSpPr>
          <p:cNvPr id="7" name="灯片编号占位符 6"/>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14" name="图片 13"/>
          <p:cNvPicPr>
            <a:picLocks noChangeAspect="1"/>
          </p:cNvPicPr>
          <p:nvPr/>
        </p:nvPicPr>
        <p:blipFill>
          <a:blip r:embed="rId1">
            <a:clrChange>
              <a:clrFrom>
                <a:srgbClr val="FFFFFF"/>
              </a:clrFrom>
              <a:clrTo>
                <a:srgbClr val="FFFFFF">
                  <a:alpha val="0"/>
                </a:srgbClr>
              </a:clrTo>
            </a:clrChange>
          </a:blip>
          <a:stretch>
            <a:fillRect/>
          </a:stretch>
        </p:blipFill>
        <p:spPr>
          <a:xfrm>
            <a:off x="6012530" y="2492684"/>
            <a:ext cx="3038475" cy="21336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up)">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2"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800018" y="2110916"/>
            <a:ext cx="4954055" cy="922020"/>
          </a:xfrm>
          <a:prstGeom prst="rect">
            <a:avLst/>
          </a:prstGeom>
        </p:spPr>
        <p:txBody>
          <a:bodyPr wrap="square">
            <a:spAutoFit/>
          </a:bodyPr>
          <a:lstStyle/>
          <a:p>
            <a:pPr>
              <a:lnSpc>
                <a:spcPct val="120000"/>
              </a:lnSpc>
              <a:spcBef>
                <a:spcPts val="900"/>
              </a:spcBef>
              <a:buClr>
                <a:srgbClr val="00B050"/>
              </a:buClr>
            </a:pPr>
            <a:r>
              <a:rPr lang="zh-CN" altLang="en-US" sz="4500" b="1" dirty="0">
                <a:solidFill>
                  <a:srgbClr val="686868"/>
                </a:solidFill>
              </a:rPr>
              <a:t>分析建模</a:t>
            </a:r>
            <a:endParaRPr lang="zh-CN" altLang="en-US" sz="4500" b="1" dirty="0">
              <a:solidFill>
                <a:srgbClr val="686868"/>
              </a:solidFill>
            </a:endParaRPr>
          </a:p>
        </p:txBody>
      </p:sp>
      <p:sp>
        <p:nvSpPr>
          <p:cNvPr id="3" name="页脚占位符 2"/>
          <p:cNvSpPr>
            <a:spLocks noGrp="1"/>
          </p:cNvSpPr>
          <p:nvPr>
            <p:ph type="ftr" sz="quarter" idx="11"/>
          </p:nvPr>
        </p:nvSpPr>
        <p:spPr/>
        <p:txBody>
          <a:bodyPr/>
          <a:lstStyle/>
          <a:p>
            <a:r>
              <a:rPr lang="zh-CN" altLang="en-US"/>
              <a:t>软件工程</a:t>
            </a:r>
            <a:endParaRPr lang="zh-CN" altLang="en-US"/>
          </a:p>
        </p:txBody>
      </p:sp>
      <p:sp>
        <p:nvSpPr>
          <p:cNvPr id="4" name="灯片编号占位符 3"/>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870439" y="937424"/>
            <a:ext cx="7944451" cy="3485570"/>
          </a:xfrm>
          <a:prstGeom prst="rect">
            <a:avLst/>
          </a:prstGeom>
        </p:spPr>
        <p:txBody>
          <a:bodyPr wrap="square">
            <a:spAutoFit/>
          </a:bodyPr>
          <a:lstStyle/>
          <a:p>
            <a:pPr marL="257175" indent="-257175">
              <a:spcBef>
                <a:spcPts val="900"/>
              </a:spcBef>
              <a:buClr>
                <a:srgbClr val="00B050"/>
              </a:buClr>
              <a:buFont typeface="Wingdings" panose="05000000000000000000" pitchFamily="2" charset="2"/>
              <a:buChar char="¬"/>
            </a:pPr>
            <a:r>
              <a:rPr lang="zh-CN" altLang="en-US" sz="2200" dirty="0">
                <a:solidFill>
                  <a:schemeClr val="tx1">
                    <a:lumMod val="65000"/>
                    <a:lumOff val="35000"/>
                  </a:schemeClr>
                </a:solidFill>
                <a:latin typeface="+mj-ea"/>
                <a:ea typeface="+mj-ea"/>
              </a:rPr>
              <a:t>为了更好的理解复杂事物，人们常常借助于模型。模型是为了理解事物而对事物做出的一种抽象，通常模型由一组图形符号和组织这些符号的规则组成。</a:t>
            </a:r>
            <a:endParaRPr lang="zh-CN" altLang="en-US" sz="2200" dirty="0">
              <a:solidFill>
                <a:schemeClr val="tx1">
                  <a:lumMod val="65000"/>
                  <a:lumOff val="35000"/>
                </a:schemeClr>
              </a:solidFill>
              <a:latin typeface="+mj-ea"/>
              <a:ea typeface="+mj-ea"/>
            </a:endParaRPr>
          </a:p>
          <a:p>
            <a:pPr marL="257175" indent="-257175">
              <a:spcBef>
                <a:spcPts val="900"/>
              </a:spcBef>
              <a:buClr>
                <a:srgbClr val="00B050"/>
              </a:buClr>
              <a:buFont typeface="Wingdings" panose="05000000000000000000" pitchFamily="2" charset="2"/>
              <a:buChar char="¬"/>
            </a:pPr>
            <a:r>
              <a:rPr lang="zh-CN" altLang="en-US" sz="2200" dirty="0">
                <a:solidFill>
                  <a:schemeClr val="tx1">
                    <a:lumMod val="65000"/>
                    <a:lumOff val="35000"/>
                  </a:schemeClr>
                </a:solidFill>
                <a:latin typeface="+mj-ea"/>
                <a:ea typeface="+mj-ea"/>
              </a:rPr>
              <a:t>模型不能简单的理解就是一些图，也包括文字的描述、数理方程、表格等表达方式。</a:t>
            </a:r>
            <a:endParaRPr lang="zh-CN" altLang="en-US" sz="2200" dirty="0">
              <a:solidFill>
                <a:schemeClr val="tx1">
                  <a:lumMod val="65000"/>
                  <a:lumOff val="35000"/>
                </a:schemeClr>
              </a:solidFill>
              <a:latin typeface="+mj-ea"/>
              <a:ea typeface="+mj-ea"/>
            </a:endParaRPr>
          </a:p>
          <a:p>
            <a:pPr marL="257175" indent="-257175">
              <a:spcBef>
                <a:spcPts val="900"/>
              </a:spcBef>
              <a:buClr>
                <a:srgbClr val="00B050"/>
              </a:buClr>
              <a:buFont typeface="Wingdings" panose="05000000000000000000" pitchFamily="2" charset="2"/>
              <a:buChar char="¬"/>
            </a:pPr>
            <a:r>
              <a:rPr lang="zh-CN" altLang="en-US" sz="2200" dirty="0">
                <a:solidFill>
                  <a:schemeClr val="tx1">
                    <a:lumMod val="65000"/>
                    <a:lumOff val="35000"/>
                  </a:schemeClr>
                </a:solidFill>
                <a:latin typeface="+mj-ea"/>
                <a:ea typeface="+mj-ea"/>
              </a:rPr>
              <a:t>需求分析的过程也是需求建模的过程，最终用户所看到的系统的一个概念模型，是对需求的抽象描述。</a:t>
            </a:r>
            <a:endParaRPr lang="en-US" altLang="zh-CN" sz="2200" dirty="0">
              <a:solidFill>
                <a:schemeClr val="tx1">
                  <a:lumMod val="65000"/>
                  <a:lumOff val="35000"/>
                </a:schemeClr>
              </a:solidFill>
              <a:latin typeface="+mj-ea"/>
              <a:ea typeface="+mj-ea"/>
            </a:endParaRPr>
          </a:p>
          <a:p>
            <a:pPr marL="257175" indent="-257175">
              <a:spcBef>
                <a:spcPts val="900"/>
              </a:spcBef>
              <a:buClr>
                <a:srgbClr val="00B050"/>
              </a:buClr>
              <a:buFont typeface="Wingdings" panose="05000000000000000000" pitchFamily="2" charset="2"/>
              <a:buChar char="¬"/>
            </a:pPr>
            <a:r>
              <a:rPr lang="zh-CN" altLang="en-US" sz="2200" dirty="0">
                <a:solidFill>
                  <a:schemeClr val="tx1">
                    <a:lumMod val="65000"/>
                    <a:lumOff val="35000"/>
                  </a:schemeClr>
                </a:solidFill>
                <a:latin typeface="+mj-ea"/>
                <a:ea typeface="+mj-ea"/>
              </a:rPr>
              <a:t>需求分析模型是系统的第一个技术表示。分析模型在系统级描述和软件设计之间建立了桥梁。</a:t>
            </a:r>
            <a:endParaRPr lang="en-US" altLang="zh-CN" sz="2200" dirty="0">
              <a:solidFill>
                <a:schemeClr val="tx1">
                  <a:lumMod val="65000"/>
                  <a:lumOff val="35000"/>
                </a:schemeClr>
              </a:solidFill>
              <a:latin typeface="+mj-ea"/>
              <a:ea typeface="+mj-ea"/>
            </a:endParaRPr>
          </a:p>
        </p:txBody>
      </p:sp>
      <p:sp>
        <p:nvSpPr>
          <p:cNvPr id="8" name="文本框 7"/>
          <p:cNvSpPr txBox="1"/>
          <p:nvPr/>
        </p:nvSpPr>
        <p:spPr>
          <a:xfrm>
            <a:off x="870439" y="3020158"/>
            <a:ext cx="184731" cy="300082"/>
          </a:xfrm>
          <a:prstGeom prst="rect">
            <a:avLst/>
          </a:prstGeom>
          <a:noFill/>
        </p:spPr>
        <p:txBody>
          <a:bodyPr wrap="none" rtlCol="0">
            <a:spAutoFit/>
          </a:bodyPr>
          <a:lstStyle/>
          <a:p>
            <a:endParaRPr lang="zh-CN" altLang="en-US" sz="1350"/>
          </a:p>
        </p:txBody>
      </p:sp>
      <p:sp>
        <p:nvSpPr>
          <p:cNvPr id="2" name="标题 1"/>
          <p:cNvSpPr>
            <a:spLocks noGrp="1"/>
          </p:cNvSpPr>
          <p:nvPr>
            <p:ph type="title"/>
          </p:nvPr>
        </p:nvSpPr>
        <p:spPr/>
        <p:txBody>
          <a:bodyPr/>
          <a:lstStyle/>
          <a:p>
            <a:r>
              <a:rPr lang="zh-CN" altLang="en-US" kern="100" dirty="0">
                <a:latin typeface="+mn-ea"/>
                <a:cs typeface="Times New Roman" panose="02020603050405020304" pitchFamily="18" charset="0"/>
              </a:rPr>
              <a:t>需求分析建模</a:t>
            </a:r>
            <a:endParaRPr lang="zh-CN" altLang="en-US" dirty="0"/>
          </a:p>
        </p:txBody>
      </p:sp>
      <p:sp>
        <p:nvSpPr>
          <p:cNvPr id="4" name="日期占位符 3"/>
          <p:cNvSpPr>
            <a:spLocks noGrp="1"/>
          </p:cNvSpPr>
          <p:nvPr>
            <p:ph type="dt" sz="half" idx="10"/>
          </p:nvPr>
        </p:nvSpPr>
        <p:spPr/>
        <p:txBody>
          <a:bodyPr/>
          <a:lstStyle/>
          <a:p>
            <a:fld id="{F3E8F083-CD7F-466B-8F49-C463652AD6F9}"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软件工程</a:t>
            </a:r>
            <a:endParaRPr lang="zh-CN" altLang="en-US"/>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up)">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wipe(up)">
                                      <p:cBhvr>
                                        <p:cTn id="12" dur="50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wipe(up)">
                                      <p:cBhvr>
                                        <p:cTn id="17" dur="500"/>
                                        <p:tgtEl>
                                          <p:spTgt spid="1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2">
                                            <p:txEl>
                                              <p:pRg st="3" end="3"/>
                                            </p:txEl>
                                          </p:spTgt>
                                        </p:tgtEl>
                                        <p:attrNameLst>
                                          <p:attrName>style.visibility</p:attrName>
                                        </p:attrNameLst>
                                      </p:cBhvr>
                                      <p:to>
                                        <p:strVal val="visible"/>
                                      </p:to>
                                    </p:set>
                                    <p:animEffect transition="in" filter="wipe(up)">
                                      <p:cBhvr>
                                        <p:cTn id="22" dur="500"/>
                                        <p:tgtEl>
                                          <p:spTgt spid="1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需求分析模型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3" name="文本占位符 2"/>
          <p:cNvSpPr>
            <a:spLocks noGrp="1"/>
          </p:cNvSpPr>
          <p:nvPr>
            <p:ph type="body" sz="quarter" idx="4294967295"/>
          </p:nvPr>
        </p:nvSpPr>
        <p:spPr>
          <a:xfrm>
            <a:off x="853685" y="955136"/>
            <a:ext cx="5385490" cy="3771669"/>
          </a:xfrm>
        </p:spPr>
        <p:txBody>
          <a:bodyPr>
            <a:noAutofit/>
          </a:bodyPr>
          <a:lstStyle/>
          <a:p>
            <a:pPr>
              <a:lnSpc>
                <a:spcPct val="100000"/>
              </a:lnSpc>
              <a:spcBef>
                <a:spcPts val="600"/>
              </a:spcBef>
            </a:pPr>
            <a:r>
              <a:rPr lang="zh-CN" altLang="zh-CN" sz="2400" dirty="0"/>
              <a:t>需求模型起到承上启下的作用。</a:t>
            </a:r>
            <a:endParaRPr lang="zh-CN" altLang="zh-CN" sz="2400" dirty="0"/>
          </a:p>
          <a:p>
            <a:pPr>
              <a:lnSpc>
                <a:spcPct val="100000"/>
              </a:lnSpc>
              <a:spcBef>
                <a:spcPts val="600"/>
              </a:spcBef>
            </a:pPr>
            <a:r>
              <a:rPr lang="zh-CN" altLang="zh-CN" sz="2000" b="1" dirty="0">
                <a:solidFill>
                  <a:srgbClr val="FF0000"/>
                </a:solidFill>
              </a:rPr>
              <a:t>承上：</a:t>
            </a:r>
            <a:r>
              <a:rPr lang="zh-CN" altLang="zh-CN" sz="2000" dirty="0"/>
              <a:t>面向用户，指与领域专家的沟通，反映用户的需求。通过建立需求模型进一步清除用户需求的模糊性、歧义性和不一致性，也就是对需求获取的校验。如果需求获取不完整、不清楚，建立模型就会有所反应，甚至无法进行。这就要重新调研，完善需求获取。</a:t>
            </a:r>
            <a:endParaRPr lang="zh-CN" altLang="zh-CN" sz="2000" dirty="0"/>
          </a:p>
          <a:p>
            <a:pPr>
              <a:lnSpc>
                <a:spcPct val="100000"/>
              </a:lnSpc>
              <a:spcBef>
                <a:spcPts val="600"/>
              </a:spcBef>
            </a:pPr>
            <a:r>
              <a:rPr lang="zh-CN" altLang="zh-CN" sz="2000" b="1" dirty="0">
                <a:solidFill>
                  <a:srgbClr val="FF0000"/>
                </a:solidFill>
              </a:rPr>
              <a:t>启下：</a:t>
            </a:r>
            <a:r>
              <a:rPr lang="zh-CN" altLang="zh-CN" sz="2000" dirty="0"/>
              <a:t>面向设计，指需求模型作为设计阶段的输入，反映系统要实现的功能。模型细化的下一步就是设计，设计的依据就是这里的需求模型。</a:t>
            </a:r>
            <a:endParaRPr lang="en-US" altLang="zh-CN" sz="2000" dirty="0"/>
          </a:p>
        </p:txBody>
      </p:sp>
      <p:grpSp>
        <p:nvGrpSpPr>
          <p:cNvPr id="8" name="组合 7"/>
          <p:cNvGrpSpPr/>
          <p:nvPr/>
        </p:nvGrpSpPr>
        <p:grpSpPr>
          <a:xfrm>
            <a:off x="6542976" y="780783"/>
            <a:ext cx="2131793" cy="3812701"/>
            <a:chOff x="5095646" y="1178103"/>
            <a:chExt cx="2075544" cy="4613097"/>
          </a:xfrm>
        </p:grpSpPr>
        <p:sp>
          <p:nvSpPr>
            <p:cNvPr id="9" name="椭圆 8"/>
            <p:cNvSpPr/>
            <p:nvPr/>
          </p:nvSpPr>
          <p:spPr>
            <a:xfrm>
              <a:off x="5095647" y="1178103"/>
              <a:ext cx="2075543" cy="1727200"/>
            </a:xfrm>
            <a:prstGeom prst="ellipse">
              <a:avLst/>
            </a:prstGeom>
            <a:solidFill>
              <a:srgbClr val="FF0000">
                <a:alpha val="4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100" dirty="0">
                  <a:solidFill>
                    <a:schemeClr val="tx1"/>
                  </a:solidFill>
                  <a:latin typeface="+mj-ea"/>
                  <a:ea typeface="+mj-ea"/>
                </a:rPr>
                <a:t>系统描述</a:t>
              </a:r>
              <a:endParaRPr lang="zh-CN" altLang="en-US" sz="2100" dirty="0">
                <a:solidFill>
                  <a:schemeClr val="tx1"/>
                </a:solidFill>
                <a:latin typeface="+mj-ea"/>
                <a:ea typeface="+mj-ea"/>
              </a:endParaRPr>
            </a:p>
          </p:txBody>
        </p:sp>
        <p:sp>
          <p:nvSpPr>
            <p:cNvPr id="10" name="椭圆 9"/>
            <p:cNvSpPr/>
            <p:nvPr/>
          </p:nvSpPr>
          <p:spPr>
            <a:xfrm>
              <a:off x="5095647" y="4064000"/>
              <a:ext cx="2075543" cy="1727200"/>
            </a:xfrm>
            <a:prstGeom prst="ellipse">
              <a:avLst/>
            </a:prstGeom>
            <a:solidFill>
              <a:srgbClr val="00B0F0">
                <a:alpha val="4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100" dirty="0">
                  <a:solidFill>
                    <a:schemeClr val="tx1"/>
                  </a:solidFill>
                  <a:latin typeface="+mj-ea"/>
                  <a:ea typeface="+mj-ea"/>
                </a:rPr>
                <a:t>设计模型</a:t>
              </a:r>
              <a:endParaRPr lang="zh-CN" altLang="en-US" sz="2100" dirty="0">
                <a:solidFill>
                  <a:schemeClr val="tx1"/>
                </a:solidFill>
                <a:latin typeface="+mj-ea"/>
                <a:ea typeface="+mj-ea"/>
              </a:endParaRPr>
            </a:p>
          </p:txBody>
        </p:sp>
        <p:sp>
          <p:nvSpPr>
            <p:cNvPr id="11" name="椭圆 10"/>
            <p:cNvSpPr/>
            <p:nvPr/>
          </p:nvSpPr>
          <p:spPr>
            <a:xfrm>
              <a:off x="5095646" y="2656442"/>
              <a:ext cx="2075543" cy="1656420"/>
            </a:xfrm>
            <a:prstGeom prst="ellipse">
              <a:avLst/>
            </a:prstGeom>
            <a:solidFill>
              <a:srgbClr val="FFC000">
                <a:alpha val="4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100" dirty="0">
                  <a:solidFill>
                    <a:schemeClr val="tx1"/>
                  </a:solidFill>
                  <a:latin typeface="+mj-ea"/>
                  <a:ea typeface="+mj-ea"/>
                </a:rPr>
                <a:t>分析模型</a:t>
              </a:r>
              <a:endParaRPr lang="zh-CN" altLang="en-US" sz="2100" dirty="0">
                <a:solidFill>
                  <a:schemeClr val="tx1"/>
                </a:solidFill>
                <a:latin typeface="+mj-ea"/>
                <a:ea typeface="+mj-ea"/>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up)">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up)">
                                      <p:cBhvr>
                                        <p:cTn id="12" dur="500"/>
                                        <p:tgtEl>
                                          <p:spTgt spid="3">
                                            <p:txEl>
                                              <p:pRg st="2" end="2"/>
                                            </p:txEl>
                                          </p:spTgt>
                                        </p:tgtEl>
                                      </p:cBhvr>
                                    </p:animEffect>
                                  </p:childTnLst>
                                </p:cTn>
                              </p:par>
                            </p:childTnLst>
                          </p:cTn>
                        </p:par>
                        <p:par>
                          <p:cTn id="13" fill="hold">
                            <p:stCondLst>
                              <p:cond delay="500"/>
                            </p:stCondLst>
                            <p:childTnLst>
                              <p:par>
                                <p:cTn id="14" presetID="21" presetClass="entr" presetSubtype="1" fill="hold"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heel(1)">
                                      <p:cBhvr>
                                        <p:cTn id="16"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需求分析建模的过程</a:t>
            </a:r>
            <a:endParaRPr lang="zh-CN" altLang="en-US" dirty="0"/>
          </a:p>
        </p:txBody>
      </p:sp>
      <p:sp>
        <p:nvSpPr>
          <p:cNvPr id="3" name="日期占位符 2"/>
          <p:cNvSpPr>
            <a:spLocks noGrp="1"/>
          </p:cNvSpPr>
          <p:nvPr>
            <p:ph type="dt" sz="half" idx="10"/>
          </p:nvPr>
        </p:nvSpPr>
        <p:spPr/>
        <p:txBody>
          <a:bodyPr/>
          <a:lstStyle/>
          <a:p>
            <a:fld id="{5902FD77-8323-485D-87E2-91A0E9C84954}"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a:p>
        </p:txBody>
      </p:sp>
      <p:sp>
        <p:nvSpPr>
          <p:cNvPr id="5" name="灯片编号占位符 4"/>
          <p:cNvSpPr>
            <a:spLocks noGrp="1"/>
          </p:cNvSpPr>
          <p:nvPr>
            <p:ph type="sldNum" sz="quarter" idx="12"/>
          </p:nvPr>
        </p:nvSpPr>
        <p:spPr/>
        <p:txBody>
          <a:bodyPr/>
          <a:lstStyle/>
          <a:p>
            <a:fld id="{F528F39D-B5E5-4CA7-906C-979D5A62978D}" type="slidenum">
              <a:rPr lang="zh-CN" altLang="en-US" smtClean="0"/>
            </a:fld>
            <a:endParaRPr lang="zh-CN" altLang="en-US"/>
          </a:p>
        </p:txBody>
      </p:sp>
      <p:grpSp>
        <p:nvGrpSpPr>
          <p:cNvPr id="6" name="Group 24"/>
          <p:cNvGrpSpPr/>
          <p:nvPr/>
        </p:nvGrpSpPr>
        <p:grpSpPr bwMode="auto">
          <a:xfrm>
            <a:off x="4013200" y="1049020"/>
            <a:ext cx="4845050" cy="3514090"/>
            <a:chOff x="2837" y="5896"/>
            <a:chExt cx="5195" cy="2414"/>
          </a:xfrm>
        </p:grpSpPr>
        <p:pic>
          <p:nvPicPr>
            <p:cNvPr id="7" name="Picture 25"/>
            <p:cNvPicPr>
              <a:picLocks noChangeAspect="1" noChangeArrowheads="1"/>
            </p:cNvPicPr>
            <p:nvPr/>
          </p:nvPicPr>
          <p:blipFill>
            <a:blip r:embed="rId1"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837" y="5896"/>
              <a:ext cx="5195" cy="2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26"/>
            <p:cNvSpPr>
              <a:spLocks noChangeArrowheads="1"/>
            </p:cNvSpPr>
            <p:nvPr/>
          </p:nvSpPr>
          <p:spPr bwMode="auto">
            <a:xfrm>
              <a:off x="3696" y="6795"/>
              <a:ext cx="1460" cy="46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lIns="54864" tIns="0" rIns="54864" bIns="27432"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chemeClr val="bg1"/>
                  </a:solidFill>
                  <a:latin typeface="+mj-ea"/>
                  <a:ea typeface="+mj-ea"/>
                </a:rPr>
                <a:t>问题定义、可行性</a:t>
              </a:r>
              <a:endParaRPr lang="zh-CN" altLang="en-US" sz="1400" dirty="0">
                <a:solidFill>
                  <a:schemeClr val="bg1"/>
                </a:solidFill>
                <a:latin typeface="+mj-ea"/>
                <a:ea typeface="+mj-ea"/>
              </a:endParaRPr>
            </a:p>
            <a:p>
              <a:pPr algn="ctr" eaLnBrk="1" hangingPunct="1"/>
              <a:r>
                <a:rPr lang="en-US" altLang="zh-CN" sz="1400" dirty="0">
                  <a:solidFill>
                    <a:schemeClr val="bg1"/>
                  </a:solidFill>
                  <a:latin typeface="+mj-ea"/>
                  <a:ea typeface="+mj-ea"/>
                </a:rPr>
                <a:t>(</a:t>
              </a:r>
              <a:r>
                <a:rPr lang="zh-CN" altLang="en-US" sz="1400" dirty="0">
                  <a:solidFill>
                    <a:schemeClr val="bg1"/>
                  </a:solidFill>
                  <a:latin typeface="+mj-ea"/>
                  <a:ea typeface="+mj-ea"/>
                </a:rPr>
                <a:t>系统规格说明</a:t>
              </a:r>
              <a:r>
                <a:rPr lang="en-US" altLang="zh-CN" sz="1400" dirty="0">
                  <a:solidFill>
                    <a:schemeClr val="bg1"/>
                  </a:solidFill>
                  <a:latin typeface="+mj-ea"/>
                  <a:ea typeface="+mj-ea"/>
                </a:rPr>
                <a:t>)</a:t>
              </a:r>
              <a:endParaRPr lang="en-US" altLang="zh-CN" sz="1400" dirty="0">
                <a:solidFill>
                  <a:schemeClr val="bg1"/>
                </a:solidFill>
                <a:latin typeface="+mj-ea"/>
                <a:ea typeface="+mj-ea"/>
              </a:endParaRPr>
            </a:p>
          </p:txBody>
        </p:sp>
        <p:sp>
          <p:nvSpPr>
            <p:cNvPr id="9" name="Text Box 27"/>
            <p:cNvSpPr txBox="1">
              <a:spLocks noChangeArrowheads="1"/>
            </p:cNvSpPr>
            <p:nvPr/>
          </p:nvSpPr>
          <p:spPr bwMode="auto">
            <a:xfrm>
              <a:off x="5634" y="6750"/>
              <a:ext cx="1200" cy="46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lIns="54864" tIns="0" rIns="54864" bIns="27432"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chemeClr val="bg1"/>
                  </a:solidFill>
                  <a:latin typeface="+mj-ea"/>
                  <a:ea typeface="+mj-ea"/>
                </a:rPr>
                <a:t>需求分析</a:t>
              </a:r>
              <a:endParaRPr lang="zh-CN" altLang="en-US" sz="1400" dirty="0">
                <a:solidFill>
                  <a:schemeClr val="bg1"/>
                </a:solidFill>
                <a:latin typeface="+mj-ea"/>
                <a:ea typeface="+mj-ea"/>
              </a:endParaRPr>
            </a:p>
            <a:p>
              <a:pPr algn="ctr" eaLnBrk="1" hangingPunct="1"/>
              <a:r>
                <a:rPr lang="en-US" altLang="zh-CN" sz="1400" dirty="0">
                  <a:solidFill>
                    <a:schemeClr val="bg1"/>
                  </a:solidFill>
                  <a:latin typeface="+mj-ea"/>
                  <a:ea typeface="+mj-ea"/>
                </a:rPr>
                <a:t>(</a:t>
              </a:r>
              <a:r>
                <a:rPr lang="zh-CN" altLang="en-US" sz="1400" dirty="0">
                  <a:solidFill>
                    <a:schemeClr val="bg1"/>
                  </a:solidFill>
                  <a:latin typeface="+mj-ea"/>
                  <a:ea typeface="+mj-ea"/>
                </a:rPr>
                <a:t>需求规格说明</a:t>
              </a:r>
              <a:r>
                <a:rPr lang="en-US" altLang="zh-CN" sz="1400" dirty="0">
                  <a:solidFill>
                    <a:schemeClr val="bg1"/>
                  </a:solidFill>
                  <a:latin typeface="+mj-ea"/>
                  <a:ea typeface="+mj-ea"/>
                </a:rPr>
                <a:t>)</a:t>
              </a:r>
              <a:endParaRPr lang="en-US" altLang="zh-CN" sz="1400" dirty="0">
                <a:solidFill>
                  <a:schemeClr val="bg1"/>
                </a:solidFill>
                <a:latin typeface="+mj-ea"/>
                <a:ea typeface="+mj-ea"/>
              </a:endParaRPr>
            </a:p>
          </p:txBody>
        </p:sp>
        <p:sp>
          <p:nvSpPr>
            <p:cNvPr id="10" name="Text Box 28"/>
            <p:cNvSpPr txBox="1">
              <a:spLocks noChangeArrowheads="1"/>
            </p:cNvSpPr>
            <p:nvPr/>
          </p:nvSpPr>
          <p:spPr bwMode="auto">
            <a:xfrm>
              <a:off x="5658" y="7839"/>
              <a:ext cx="1165" cy="47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lIns="54864" tIns="0" rIns="54864" bIns="27432"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dirty="0">
                  <a:solidFill>
                    <a:schemeClr val="bg1"/>
                  </a:solidFill>
                  <a:latin typeface="+mj-ea"/>
                  <a:ea typeface="+mj-ea"/>
                </a:rPr>
                <a:t>软件设计</a:t>
              </a:r>
              <a:endParaRPr lang="zh-CN" altLang="en-US" sz="1600" dirty="0">
                <a:solidFill>
                  <a:schemeClr val="bg1"/>
                </a:solidFill>
                <a:latin typeface="+mj-ea"/>
                <a:ea typeface="+mj-ea"/>
              </a:endParaRPr>
            </a:p>
            <a:p>
              <a:pPr algn="ctr" eaLnBrk="1" hangingPunct="1"/>
              <a:r>
                <a:rPr lang="en-US" altLang="zh-CN" sz="1600" dirty="0">
                  <a:solidFill>
                    <a:schemeClr val="bg1"/>
                  </a:solidFill>
                  <a:latin typeface="+mj-ea"/>
                  <a:ea typeface="+mj-ea"/>
                </a:rPr>
                <a:t>(</a:t>
              </a:r>
              <a:r>
                <a:rPr lang="zh-CN" altLang="en-US" sz="1600" dirty="0">
                  <a:solidFill>
                    <a:schemeClr val="bg1"/>
                  </a:solidFill>
                  <a:latin typeface="+mj-ea"/>
                  <a:ea typeface="+mj-ea"/>
                </a:rPr>
                <a:t>设计说明</a:t>
              </a:r>
              <a:r>
                <a:rPr lang="en-US" altLang="zh-CN" sz="1600" dirty="0">
                  <a:solidFill>
                    <a:schemeClr val="bg1"/>
                  </a:solidFill>
                  <a:latin typeface="+mj-ea"/>
                  <a:ea typeface="+mj-ea"/>
                </a:rPr>
                <a:t>)</a:t>
              </a:r>
              <a:endParaRPr lang="en-US" altLang="zh-CN" sz="1600" dirty="0">
                <a:solidFill>
                  <a:schemeClr val="bg1"/>
                </a:solidFill>
                <a:latin typeface="+mj-ea"/>
                <a:ea typeface="+mj-ea"/>
              </a:endParaRPr>
            </a:p>
          </p:txBody>
        </p:sp>
        <p:sp>
          <p:nvSpPr>
            <p:cNvPr id="11" name="Text Box 29"/>
            <p:cNvSpPr txBox="1">
              <a:spLocks noChangeArrowheads="1"/>
            </p:cNvSpPr>
            <p:nvPr/>
          </p:nvSpPr>
          <p:spPr bwMode="auto">
            <a:xfrm>
              <a:off x="3803" y="7839"/>
              <a:ext cx="1206" cy="46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lIns="54864" tIns="0" rIns="54864" bIns="27432"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dirty="0">
                  <a:solidFill>
                    <a:schemeClr val="bg1"/>
                  </a:solidFill>
                  <a:latin typeface="+mj-ea"/>
                  <a:ea typeface="+mj-ea"/>
                </a:rPr>
                <a:t>实现</a:t>
              </a:r>
              <a:endParaRPr lang="zh-CN" altLang="en-US" dirty="0">
                <a:solidFill>
                  <a:schemeClr val="bg1"/>
                </a:solidFill>
                <a:latin typeface="+mj-ea"/>
                <a:ea typeface="+mj-ea"/>
              </a:endParaRPr>
            </a:p>
            <a:p>
              <a:pPr algn="ctr" eaLnBrk="1" hangingPunct="1"/>
              <a:r>
                <a:rPr lang="en-US" altLang="zh-CN" dirty="0">
                  <a:solidFill>
                    <a:schemeClr val="bg1"/>
                  </a:solidFill>
                  <a:latin typeface="+mj-ea"/>
                  <a:ea typeface="+mj-ea"/>
                </a:rPr>
                <a:t>(</a:t>
              </a:r>
              <a:r>
                <a:rPr lang="zh-CN" altLang="en-US" dirty="0">
                  <a:solidFill>
                    <a:schemeClr val="bg1"/>
                  </a:solidFill>
                  <a:latin typeface="+mj-ea"/>
                  <a:ea typeface="+mj-ea"/>
                </a:rPr>
                <a:t>程序代码</a:t>
              </a:r>
              <a:r>
                <a:rPr lang="en-US" altLang="zh-CN" dirty="0">
                  <a:solidFill>
                    <a:schemeClr val="bg1"/>
                  </a:solidFill>
                  <a:latin typeface="+mj-ea"/>
                  <a:ea typeface="+mj-ea"/>
                </a:rPr>
                <a:t>)</a:t>
              </a:r>
              <a:endParaRPr lang="en-US" altLang="zh-CN" dirty="0">
                <a:solidFill>
                  <a:schemeClr val="bg1"/>
                </a:solidFill>
                <a:latin typeface="+mj-ea"/>
                <a:ea typeface="+mj-ea"/>
              </a:endParaRPr>
            </a:p>
          </p:txBody>
        </p:sp>
      </p:grpSp>
      <p:sp>
        <p:nvSpPr>
          <p:cNvPr id="12" name="文本框 11"/>
          <p:cNvSpPr txBox="1"/>
          <p:nvPr/>
        </p:nvSpPr>
        <p:spPr>
          <a:xfrm>
            <a:off x="242570" y="1616075"/>
            <a:ext cx="4126865" cy="1353185"/>
          </a:xfrm>
          <a:prstGeom prst="rect">
            <a:avLst/>
          </a:prstGeom>
          <a:noFill/>
        </p:spPr>
        <p:txBody>
          <a:bodyPr wrap="square" rtlCol="0" anchor="t">
            <a:spAutoFit/>
          </a:bodyPr>
          <a:p>
            <a:pPr indent="0" algn="l">
              <a:spcBef>
                <a:spcPct val="55000"/>
              </a:spcBef>
              <a:buFont typeface="Arial" panose="020B0604020202020204" pitchFamily="34" charset="0"/>
              <a:buNone/>
            </a:pPr>
            <a:r>
              <a:rPr lang="zh-CN" altLang="zh-CN" sz="2000" b="1" dirty="0">
                <a:latin typeface="Arial" panose="020B0604020202020204" pitchFamily="34" charset="0"/>
                <a:sym typeface="+mn-ea"/>
              </a:rPr>
              <a:t>（1）获得当前系统的物理模型 </a:t>
            </a:r>
            <a:endParaRPr lang="zh-CN" altLang="zh-CN" sz="2000" b="1" dirty="0">
              <a:latin typeface="Arial" panose="020B0604020202020204" pitchFamily="34" charset="0"/>
            </a:endParaRPr>
          </a:p>
          <a:p>
            <a:pPr indent="0" algn="l">
              <a:spcBef>
                <a:spcPct val="55000"/>
              </a:spcBef>
              <a:buFont typeface="Arial" panose="020B0604020202020204" pitchFamily="34" charset="0"/>
              <a:buNone/>
            </a:pPr>
            <a:r>
              <a:rPr lang="zh-CN" altLang="zh-CN" sz="2000" b="1" dirty="0">
                <a:latin typeface="Arial" panose="020B0604020202020204" pitchFamily="34" charset="0"/>
                <a:sym typeface="+mn-ea"/>
              </a:rPr>
              <a:t>（2）抽象出当前系统的逻辑模型。 </a:t>
            </a:r>
            <a:endParaRPr lang="zh-CN" altLang="zh-CN" sz="2000" b="1" dirty="0">
              <a:latin typeface="Arial" panose="020B0604020202020204" pitchFamily="34" charset="0"/>
            </a:endParaRPr>
          </a:p>
          <a:p>
            <a:pPr indent="0" algn="l">
              <a:spcBef>
                <a:spcPct val="55000"/>
              </a:spcBef>
              <a:buFont typeface="Arial" panose="020B0604020202020204" pitchFamily="34" charset="0"/>
              <a:buNone/>
            </a:pPr>
            <a:r>
              <a:rPr lang="zh-CN" altLang="zh-CN" sz="2000" b="1" dirty="0">
                <a:latin typeface="Arial" panose="020B0604020202020204" pitchFamily="34" charset="0"/>
                <a:sym typeface="+mn-ea"/>
              </a:rPr>
              <a:t>（3）建立目标系统的逻辑模型。</a:t>
            </a:r>
            <a:endParaRPr lang="zh-CN" altLang="zh-CN" sz="2000" b="1" dirty="0">
              <a:latin typeface="Arial" panose="020B0604020202020204" pitchFamily="3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870439" y="3020158"/>
            <a:ext cx="184731" cy="300082"/>
          </a:xfrm>
          <a:prstGeom prst="rect">
            <a:avLst/>
          </a:prstGeom>
          <a:noFill/>
        </p:spPr>
        <p:txBody>
          <a:bodyPr wrap="none" rtlCol="0">
            <a:spAutoFit/>
          </a:bodyPr>
          <a:lstStyle/>
          <a:p>
            <a:endParaRPr lang="zh-CN" altLang="en-US" sz="1350"/>
          </a:p>
        </p:txBody>
      </p:sp>
      <p:grpSp>
        <p:nvGrpSpPr>
          <p:cNvPr id="13" name="组合 12"/>
          <p:cNvGrpSpPr/>
          <p:nvPr/>
        </p:nvGrpSpPr>
        <p:grpSpPr>
          <a:xfrm>
            <a:off x="870439" y="828913"/>
            <a:ext cx="7486298" cy="3857827"/>
            <a:chOff x="337638" y="1468348"/>
            <a:chExt cx="8684809" cy="5143770"/>
          </a:xfrm>
        </p:grpSpPr>
        <p:sp>
          <p:nvSpPr>
            <p:cNvPr id="14" name="圆角矩形 13"/>
            <p:cNvSpPr/>
            <p:nvPr/>
          </p:nvSpPr>
          <p:spPr>
            <a:xfrm>
              <a:off x="3507190" y="2738821"/>
              <a:ext cx="1436914" cy="595086"/>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dirty="0">
                  <a:latin typeface="+mj-ea"/>
                  <a:ea typeface="+mj-ea"/>
                </a:rPr>
                <a:t>需求检查</a:t>
              </a:r>
              <a:endParaRPr lang="zh-CN" altLang="en-US" dirty="0">
                <a:latin typeface="+mj-ea"/>
                <a:ea typeface="+mj-ea"/>
              </a:endParaRPr>
            </a:p>
          </p:txBody>
        </p:sp>
        <p:sp>
          <p:nvSpPr>
            <p:cNvPr id="15" name="圆角矩形 14"/>
            <p:cNvSpPr/>
            <p:nvPr/>
          </p:nvSpPr>
          <p:spPr>
            <a:xfrm>
              <a:off x="1302493" y="3606801"/>
              <a:ext cx="1436914" cy="595086"/>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dirty="0">
                  <a:latin typeface="+mj-ea"/>
                  <a:ea typeface="+mj-ea"/>
                </a:rPr>
                <a:t>领域了解</a:t>
              </a:r>
              <a:endParaRPr lang="zh-CN" altLang="en-US" dirty="0">
                <a:latin typeface="+mj-ea"/>
                <a:ea typeface="+mj-ea"/>
              </a:endParaRPr>
            </a:p>
          </p:txBody>
        </p:sp>
        <p:sp>
          <p:nvSpPr>
            <p:cNvPr id="16" name="圆角矩形 15"/>
            <p:cNvSpPr/>
            <p:nvPr/>
          </p:nvSpPr>
          <p:spPr>
            <a:xfrm>
              <a:off x="5646679" y="3581178"/>
              <a:ext cx="1436914" cy="595086"/>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dirty="0">
                  <a:latin typeface="+mj-ea"/>
                  <a:ea typeface="+mj-ea"/>
                </a:rPr>
                <a:t>优先排序</a:t>
              </a:r>
              <a:endParaRPr lang="zh-CN" altLang="en-US" dirty="0">
                <a:latin typeface="+mj-ea"/>
                <a:ea typeface="+mj-ea"/>
              </a:endParaRPr>
            </a:p>
          </p:txBody>
        </p:sp>
        <p:sp>
          <p:nvSpPr>
            <p:cNvPr id="17" name="圆角矩形 16"/>
            <p:cNvSpPr/>
            <p:nvPr/>
          </p:nvSpPr>
          <p:spPr>
            <a:xfrm>
              <a:off x="1302493" y="4894945"/>
              <a:ext cx="1436914" cy="595086"/>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dirty="0">
                  <a:latin typeface="+mj-ea"/>
                  <a:ea typeface="+mj-ea"/>
                </a:rPr>
                <a:t>需求收集</a:t>
              </a:r>
              <a:endParaRPr lang="zh-CN" altLang="en-US" dirty="0">
                <a:latin typeface="+mj-ea"/>
                <a:ea typeface="+mj-ea"/>
              </a:endParaRPr>
            </a:p>
          </p:txBody>
        </p:sp>
        <p:sp>
          <p:nvSpPr>
            <p:cNvPr id="18" name="圆角矩形 17"/>
            <p:cNvSpPr/>
            <p:nvPr/>
          </p:nvSpPr>
          <p:spPr>
            <a:xfrm>
              <a:off x="5711887" y="4894945"/>
              <a:ext cx="1436914" cy="595086"/>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dirty="0">
                  <a:latin typeface="+mj-ea"/>
                  <a:ea typeface="+mj-ea"/>
                </a:rPr>
                <a:t>冲突解决</a:t>
              </a:r>
              <a:endParaRPr lang="zh-CN" altLang="en-US" dirty="0">
                <a:latin typeface="+mj-ea"/>
                <a:ea typeface="+mj-ea"/>
              </a:endParaRPr>
            </a:p>
          </p:txBody>
        </p:sp>
        <p:sp>
          <p:nvSpPr>
            <p:cNvPr id="19" name="圆角矩形 18"/>
            <p:cNvSpPr/>
            <p:nvPr/>
          </p:nvSpPr>
          <p:spPr>
            <a:xfrm>
              <a:off x="3507190" y="5809348"/>
              <a:ext cx="1436914" cy="595086"/>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dirty="0">
                  <a:latin typeface="+mj-ea"/>
                  <a:ea typeface="+mj-ea"/>
                </a:rPr>
                <a:t>分类</a:t>
              </a:r>
              <a:endParaRPr lang="zh-CN" altLang="en-US" dirty="0">
                <a:latin typeface="+mj-ea"/>
                <a:ea typeface="+mj-ea"/>
              </a:endParaRPr>
            </a:p>
          </p:txBody>
        </p:sp>
        <p:sp>
          <p:nvSpPr>
            <p:cNvPr id="20" name="圆角矩形 19"/>
            <p:cNvSpPr/>
            <p:nvPr/>
          </p:nvSpPr>
          <p:spPr>
            <a:xfrm>
              <a:off x="7585533" y="4299859"/>
              <a:ext cx="1436914" cy="595086"/>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dirty="0">
                  <a:latin typeface="+mj-ea"/>
                  <a:ea typeface="+mj-ea"/>
                </a:rPr>
                <a:t>需求文档</a:t>
              </a:r>
              <a:endParaRPr lang="zh-CN" altLang="en-US" dirty="0">
                <a:latin typeface="+mj-ea"/>
                <a:ea typeface="+mj-ea"/>
              </a:endParaRPr>
            </a:p>
          </p:txBody>
        </p:sp>
        <p:sp>
          <p:nvSpPr>
            <p:cNvPr id="21" name="圆角矩形 20"/>
            <p:cNvSpPr/>
            <p:nvPr/>
          </p:nvSpPr>
          <p:spPr>
            <a:xfrm>
              <a:off x="5711887" y="1674585"/>
              <a:ext cx="1436914" cy="595086"/>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dirty="0">
                  <a:latin typeface="+mj-ea"/>
                  <a:ea typeface="+mj-ea"/>
                </a:rPr>
                <a:t>需求描述</a:t>
              </a:r>
              <a:endParaRPr lang="zh-CN" altLang="en-US" dirty="0">
                <a:latin typeface="+mj-ea"/>
                <a:ea typeface="+mj-ea"/>
              </a:endParaRPr>
            </a:p>
          </p:txBody>
        </p:sp>
        <p:cxnSp>
          <p:nvCxnSpPr>
            <p:cNvPr id="22" name="直接箭头连接符 21"/>
            <p:cNvCxnSpPr>
              <a:endCxn id="15" idx="1"/>
            </p:cNvCxnSpPr>
            <p:nvPr/>
          </p:nvCxnSpPr>
          <p:spPr>
            <a:xfrm>
              <a:off x="337638" y="3904344"/>
              <a:ext cx="964855"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342254" y="3510938"/>
              <a:ext cx="861775" cy="861775"/>
            </a:xfrm>
            <a:prstGeom prst="rect">
              <a:avLst/>
            </a:prstGeom>
            <a:noFill/>
          </p:spPr>
          <p:txBody>
            <a:bodyPr wrap="none" rtlCol="0">
              <a:spAutoFit/>
            </a:bodyPr>
            <a:lstStyle/>
            <a:p>
              <a:r>
                <a:rPr lang="zh-CN" altLang="en-US" dirty="0">
                  <a:latin typeface="+mj-ea"/>
                  <a:ea typeface="+mj-ea"/>
                </a:rPr>
                <a:t>过程</a:t>
              </a:r>
              <a:endParaRPr lang="en-US" altLang="zh-CN" dirty="0">
                <a:latin typeface="+mj-ea"/>
                <a:ea typeface="+mj-ea"/>
              </a:endParaRPr>
            </a:p>
            <a:p>
              <a:r>
                <a:rPr lang="zh-CN" altLang="en-US" dirty="0">
                  <a:latin typeface="+mj-ea"/>
                  <a:ea typeface="+mj-ea"/>
                </a:rPr>
                <a:t>入口</a:t>
              </a:r>
              <a:endParaRPr lang="zh-CN" altLang="en-US" dirty="0">
                <a:latin typeface="+mj-ea"/>
                <a:ea typeface="+mj-ea"/>
              </a:endParaRPr>
            </a:p>
          </p:txBody>
        </p:sp>
        <p:cxnSp>
          <p:nvCxnSpPr>
            <p:cNvPr id="24" name="直接箭头连接符 23"/>
            <p:cNvCxnSpPr/>
            <p:nvPr/>
          </p:nvCxnSpPr>
          <p:spPr>
            <a:xfrm flipH="1">
              <a:off x="1721932" y="4188959"/>
              <a:ext cx="15990" cy="70598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flipH="1">
              <a:off x="2367541" y="4226490"/>
              <a:ext cx="15990" cy="705986"/>
            </a:xfrm>
            <a:prstGeom prst="straightConnector1">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flipH="1">
              <a:off x="6067423" y="4200868"/>
              <a:ext cx="15990" cy="70598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flipH="1">
              <a:off x="6713032" y="4200868"/>
              <a:ext cx="15990" cy="705986"/>
            </a:xfrm>
            <a:prstGeom prst="straightConnector1">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肘形连接符 27"/>
            <p:cNvCxnSpPr>
              <a:stCxn id="14" idx="1"/>
              <a:endCxn id="15" idx="0"/>
            </p:cNvCxnSpPr>
            <p:nvPr/>
          </p:nvCxnSpPr>
          <p:spPr>
            <a:xfrm rot="10800000" flipV="1">
              <a:off x="2020950" y="3036363"/>
              <a:ext cx="1486240" cy="570437"/>
            </a:xfrm>
            <a:prstGeom prst="bentConnector2">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9" name="肘形连接符 28"/>
            <p:cNvCxnSpPr>
              <a:stCxn id="21" idx="1"/>
            </p:cNvCxnSpPr>
            <p:nvPr/>
          </p:nvCxnSpPr>
          <p:spPr>
            <a:xfrm rot="10800000" flipV="1">
              <a:off x="1749035" y="1972127"/>
              <a:ext cx="3962853" cy="1646997"/>
            </a:xfrm>
            <a:prstGeom prst="bentConnector3">
              <a:avLst>
                <a:gd name="adj1" fmla="val 9981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0" name="肘形连接符 29"/>
            <p:cNvCxnSpPr>
              <a:stCxn id="14" idx="2"/>
              <a:endCxn id="15" idx="3"/>
            </p:cNvCxnSpPr>
            <p:nvPr/>
          </p:nvCxnSpPr>
          <p:spPr>
            <a:xfrm rot="5400000">
              <a:off x="3197309" y="2876005"/>
              <a:ext cx="570437" cy="1486240"/>
            </a:xfrm>
            <a:prstGeom prst="bentConnector2">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肘形连接符 30"/>
            <p:cNvCxnSpPr>
              <a:stCxn id="19" idx="0"/>
              <a:endCxn id="17" idx="3"/>
            </p:cNvCxnSpPr>
            <p:nvPr/>
          </p:nvCxnSpPr>
          <p:spPr>
            <a:xfrm rot="16200000" flipV="1">
              <a:off x="3174097" y="4757798"/>
              <a:ext cx="616860" cy="1486240"/>
            </a:xfrm>
            <a:prstGeom prst="bentConnector2">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2" name="肘形连接符 31"/>
            <p:cNvCxnSpPr>
              <a:stCxn id="19" idx="1"/>
              <a:endCxn id="17" idx="2"/>
            </p:cNvCxnSpPr>
            <p:nvPr/>
          </p:nvCxnSpPr>
          <p:spPr>
            <a:xfrm rot="10800000">
              <a:off x="2020950" y="5490031"/>
              <a:ext cx="1486240" cy="616860"/>
            </a:xfrm>
            <a:prstGeom prst="bentConnector2">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肘形连接符 32"/>
            <p:cNvCxnSpPr>
              <a:stCxn id="18" idx="1"/>
            </p:cNvCxnSpPr>
            <p:nvPr/>
          </p:nvCxnSpPr>
          <p:spPr>
            <a:xfrm rot="10800000" flipV="1">
              <a:off x="4507373" y="5192488"/>
              <a:ext cx="1204515" cy="616860"/>
            </a:xfrm>
            <a:prstGeom prst="bentConnector3">
              <a:avLst>
                <a:gd name="adj1" fmla="val 99405"/>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肘形连接符 33"/>
            <p:cNvCxnSpPr>
              <a:stCxn id="18" idx="2"/>
              <a:endCxn id="19" idx="3"/>
            </p:cNvCxnSpPr>
            <p:nvPr/>
          </p:nvCxnSpPr>
          <p:spPr>
            <a:xfrm rot="5400000">
              <a:off x="5378794" y="5055341"/>
              <a:ext cx="616860" cy="1486240"/>
            </a:xfrm>
            <a:prstGeom prst="bentConnector2">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肘形连接符 34"/>
            <p:cNvCxnSpPr>
              <a:stCxn id="16" idx="1"/>
            </p:cNvCxnSpPr>
            <p:nvPr/>
          </p:nvCxnSpPr>
          <p:spPr>
            <a:xfrm rot="10800000">
              <a:off x="4494163" y="3351141"/>
              <a:ext cx="1152517" cy="527581"/>
            </a:xfrm>
            <a:prstGeom prst="bentConnector3">
              <a:avLst>
                <a:gd name="adj1" fmla="val 97855"/>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肘形连接符 35"/>
            <p:cNvCxnSpPr>
              <a:stCxn id="16" idx="0"/>
            </p:cNvCxnSpPr>
            <p:nvPr/>
          </p:nvCxnSpPr>
          <p:spPr>
            <a:xfrm rot="16200000" flipV="1">
              <a:off x="5365592" y="2581633"/>
              <a:ext cx="559179" cy="1439911"/>
            </a:xfrm>
            <a:prstGeom prst="bentConnector2">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肘形连接符 36"/>
            <p:cNvCxnSpPr>
              <a:stCxn id="20" idx="0"/>
              <a:endCxn id="21" idx="3"/>
            </p:cNvCxnSpPr>
            <p:nvPr/>
          </p:nvCxnSpPr>
          <p:spPr>
            <a:xfrm rot="16200000" flipV="1">
              <a:off x="6562531" y="2558399"/>
              <a:ext cx="2327731" cy="1155189"/>
            </a:xfrm>
            <a:prstGeom prst="bentConnector2">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肘形连接符 37"/>
            <p:cNvCxnSpPr>
              <a:stCxn id="21" idx="2"/>
              <a:endCxn id="14" idx="0"/>
            </p:cNvCxnSpPr>
            <p:nvPr/>
          </p:nvCxnSpPr>
          <p:spPr>
            <a:xfrm rot="5400000">
              <a:off x="5093421" y="1401898"/>
              <a:ext cx="469150" cy="2204697"/>
            </a:xfrm>
            <a:prstGeom prst="bentConnector3">
              <a:avLst>
                <a:gd name="adj1" fmla="val 50000"/>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9" name="文本框 38"/>
            <p:cNvSpPr txBox="1"/>
            <p:nvPr/>
          </p:nvSpPr>
          <p:spPr>
            <a:xfrm>
              <a:off x="972291" y="4392912"/>
              <a:ext cx="1041311" cy="492443"/>
            </a:xfrm>
            <a:prstGeom prst="rect">
              <a:avLst/>
            </a:prstGeom>
            <a:noFill/>
          </p:spPr>
          <p:txBody>
            <a:bodyPr wrap="none" rtlCol="0">
              <a:spAutoFit/>
            </a:bodyPr>
            <a:lstStyle/>
            <a:p>
              <a:r>
                <a:rPr lang="zh-CN" altLang="en-US" dirty="0">
                  <a:latin typeface="+mj-ea"/>
                  <a:ea typeface="+mj-ea"/>
                </a:rPr>
                <a:t>（</a:t>
              </a:r>
              <a:r>
                <a:rPr lang="en-US" altLang="zh-CN" dirty="0">
                  <a:latin typeface="+mj-ea"/>
                  <a:ea typeface="+mj-ea"/>
                </a:rPr>
                <a:t>1</a:t>
              </a:r>
              <a:r>
                <a:rPr lang="zh-CN" altLang="en-US" dirty="0">
                  <a:latin typeface="+mj-ea"/>
                  <a:ea typeface="+mj-ea"/>
                </a:rPr>
                <a:t>）</a:t>
              </a:r>
              <a:endParaRPr lang="zh-CN" altLang="en-US" dirty="0">
                <a:latin typeface="+mj-ea"/>
                <a:ea typeface="+mj-ea"/>
              </a:endParaRPr>
            </a:p>
          </p:txBody>
        </p:sp>
        <p:sp>
          <p:nvSpPr>
            <p:cNvPr id="40" name="文本框 39"/>
            <p:cNvSpPr txBox="1"/>
            <p:nvPr/>
          </p:nvSpPr>
          <p:spPr>
            <a:xfrm>
              <a:off x="2235285" y="4399337"/>
              <a:ext cx="1041311" cy="492443"/>
            </a:xfrm>
            <a:prstGeom prst="rect">
              <a:avLst/>
            </a:prstGeom>
            <a:noFill/>
          </p:spPr>
          <p:txBody>
            <a:bodyPr wrap="none" rtlCol="0">
              <a:spAutoFit/>
            </a:bodyPr>
            <a:lstStyle/>
            <a:p>
              <a:r>
                <a:rPr lang="zh-CN" altLang="en-US" dirty="0">
                  <a:latin typeface="+mj-ea"/>
                  <a:ea typeface="+mj-ea"/>
                </a:rPr>
                <a:t>（</a:t>
              </a:r>
              <a:r>
                <a:rPr lang="en-US" altLang="zh-CN" dirty="0">
                  <a:latin typeface="+mj-ea"/>
                  <a:ea typeface="+mj-ea"/>
                </a:rPr>
                <a:t>2</a:t>
              </a:r>
              <a:r>
                <a:rPr lang="zh-CN" altLang="en-US" dirty="0">
                  <a:latin typeface="+mj-ea"/>
                  <a:ea typeface="+mj-ea"/>
                </a:rPr>
                <a:t>）</a:t>
              </a:r>
              <a:endParaRPr lang="zh-CN" altLang="en-US" dirty="0">
                <a:latin typeface="+mj-ea"/>
                <a:ea typeface="+mj-ea"/>
              </a:endParaRPr>
            </a:p>
          </p:txBody>
        </p:sp>
        <p:sp>
          <p:nvSpPr>
            <p:cNvPr id="41" name="文本框 40"/>
            <p:cNvSpPr txBox="1"/>
            <p:nvPr/>
          </p:nvSpPr>
          <p:spPr>
            <a:xfrm>
              <a:off x="2244197" y="6119675"/>
              <a:ext cx="1041311" cy="492443"/>
            </a:xfrm>
            <a:prstGeom prst="rect">
              <a:avLst/>
            </a:prstGeom>
            <a:noFill/>
          </p:spPr>
          <p:txBody>
            <a:bodyPr wrap="none" rtlCol="0">
              <a:spAutoFit/>
            </a:bodyPr>
            <a:lstStyle/>
            <a:p>
              <a:r>
                <a:rPr lang="zh-CN" altLang="en-US" dirty="0">
                  <a:latin typeface="+mj-ea"/>
                  <a:ea typeface="+mj-ea"/>
                </a:rPr>
                <a:t>（</a:t>
              </a:r>
              <a:r>
                <a:rPr lang="en-US" altLang="zh-CN" dirty="0">
                  <a:latin typeface="+mj-ea"/>
                  <a:ea typeface="+mj-ea"/>
                </a:rPr>
                <a:t>3</a:t>
              </a:r>
              <a:r>
                <a:rPr lang="zh-CN" altLang="en-US" dirty="0">
                  <a:latin typeface="+mj-ea"/>
                  <a:ea typeface="+mj-ea"/>
                </a:rPr>
                <a:t>）</a:t>
              </a:r>
              <a:endParaRPr lang="zh-CN" altLang="en-US" dirty="0">
                <a:latin typeface="+mj-ea"/>
                <a:ea typeface="+mj-ea"/>
              </a:endParaRPr>
            </a:p>
          </p:txBody>
        </p:sp>
        <p:sp>
          <p:nvSpPr>
            <p:cNvPr id="42" name="文本框 41"/>
            <p:cNvSpPr txBox="1"/>
            <p:nvPr/>
          </p:nvSpPr>
          <p:spPr>
            <a:xfrm>
              <a:off x="3054173" y="5235691"/>
              <a:ext cx="1041311" cy="492443"/>
            </a:xfrm>
            <a:prstGeom prst="rect">
              <a:avLst/>
            </a:prstGeom>
            <a:noFill/>
          </p:spPr>
          <p:txBody>
            <a:bodyPr wrap="none" rtlCol="0">
              <a:spAutoFit/>
            </a:bodyPr>
            <a:lstStyle/>
            <a:p>
              <a:r>
                <a:rPr lang="zh-CN" altLang="en-US" dirty="0">
                  <a:latin typeface="+mj-ea"/>
                  <a:ea typeface="+mj-ea"/>
                </a:rPr>
                <a:t>（</a:t>
              </a:r>
              <a:r>
                <a:rPr lang="en-US" altLang="zh-CN" dirty="0">
                  <a:latin typeface="+mj-ea"/>
                  <a:ea typeface="+mj-ea"/>
                </a:rPr>
                <a:t>4</a:t>
              </a:r>
              <a:r>
                <a:rPr lang="zh-CN" altLang="en-US" dirty="0">
                  <a:latin typeface="+mj-ea"/>
                  <a:ea typeface="+mj-ea"/>
                </a:rPr>
                <a:t>）</a:t>
              </a:r>
              <a:endParaRPr lang="zh-CN" altLang="en-US" dirty="0">
                <a:latin typeface="+mj-ea"/>
                <a:ea typeface="+mj-ea"/>
              </a:endParaRPr>
            </a:p>
          </p:txBody>
        </p:sp>
        <p:sp>
          <p:nvSpPr>
            <p:cNvPr id="43" name="文本框 42"/>
            <p:cNvSpPr txBox="1"/>
            <p:nvPr/>
          </p:nvSpPr>
          <p:spPr>
            <a:xfrm>
              <a:off x="5296732" y="6119675"/>
              <a:ext cx="1041311" cy="492443"/>
            </a:xfrm>
            <a:prstGeom prst="rect">
              <a:avLst/>
            </a:prstGeom>
            <a:noFill/>
          </p:spPr>
          <p:txBody>
            <a:bodyPr wrap="none" rtlCol="0">
              <a:spAutoFit/>
            </a:bodyPr>
            <a:lstStyle/>
            <a:p>
              <a:r>
                <a:rPr lang="zh-CN" altLang="en-US" dirty="0">
                  <a:latin typeface="+mj-ea"/>
                  <a:ea typeface="+mj-ea"/>
                </a:rPr>
                <a:t>（</a:t>
              </a:r>
              <a:r>
                <a:rPr lang="en-US" altLang="zh-CN" dirty="0">
                  <a:latin typeface="+mj-ea"/>
                  <a:ea typeface="+mj-ea"/>
                </a:rPr>
                <a:t>5</a:t>
              </a:r>
              <a:r>
                <a:rPr lang="zh-CN" altLang="en-US" dirty="0">
                  <a:latin typeface="+mj-ea"/>
                  <a:ea typeface="+mj-ea"/>
                </a:rPr>
                <a:t>）</a:t>
              </a:r>
              <a:endParaRPr lang="zh-CN" altLang="en-US" dirty="0">
                <a:latin typeface="+mj-ea"/>
                <a:ea typeface="+mj-ea"/>
              </a:endParaRPr>
            </a:p>
          </p:txBody>
        </p:sp>
        <p:sp>
          <p:nvSpPr>
            <p:cNvPr id="44" name="文本框 43"/>
            <p:cNvSpPr txBox="1"/>
            <p:nvPr/>
          </p:nvSpPr>
          <p:spPr>
            <a:xfrm>
              <a:off x="4776859" y="5255352"/>
              <a:ext cx="1041311" cy="492443"/>
            </a:xfrm>
            <a:prstGeom prst="rect">
              <a:avLst/>
            </a:prstGeom>
            <a:noFill/>
          </p:spPr>
          <p:txBody>
            <a:bodyPr wrap="none" rtlCol="0">
              <a:spAutoFit/>
            </a:bodyPr>
            <a:lstStyle/>
            <a:p>
              <a:r>
                <a:rPr lang="zh-CN" altLang="en-US" dirty="0">
                  <a:latin typeface="+mj-ea"/>
                  <a:ea typeface="+mj-ea"/>
                </a:rPr>
                <a:t>（</a:t>
              </a:r>
              <a:r>
                <a:rPr lang="en-US" altLang="zh-CN" dirty="0">
                  <a:latin typeface="+mj-ea"/>
                  <a:ea typeface="+mj-ea"/>
                </a:rPr>
                <a:t>6</a:t>
              </a:r>
              <a:r>
                <a:rPr lang="zh-CN" altLang="en-US" dirty="0">
                  <a:latin typeface="+mj-ea"/>
                  <a:ea typeface="+mj-ea"/>
                </a:rPr>
                <a:t>）</a:t>
              </a:r>
              <a:endParaRPr lang="zh-CN" altLang="en-US" dirty="0">
                <a:latin typeface="+mj-ea"/>
                <a:ea typeface="+mj-ea"/>
              </a:endParaRPr>
            </a:p>
          </p:txBody>
        </p:sp>
        <p:sp>
          <p:nvSpPr>
            <p:cNvPr id="45" name="文本框 44"/>
            <p:cNvSpPr txBox="1"/>
            <p:nvPr/>
          </p:nvSpPr>
          <p:spPr>
            <a:xfrm>
              <a:off x="6630584" y="4378435"/>
              <a:ext cx="1041311" cy="492443"/>
            </a:xfrm>
            <a:prstGeom prst="rect">
              <a:avLst/>
            </a:prstGeom>
            <a:noFill/>
          </p:spPr>
          <p:txBody>
            <a:bodyPr wrap="none" rtlCol="0">
              <a:spAutoFit/>
            </a:bodyPr>
            <a:lstStyle/>
            <a:p>
              <a:r>
                <a:rPr lang="zh-CN" altLang="en-US" dirty="0">
                  <a:latin typeface="+mj-ea"/>
                  <a:ea typeface="+mj-ea"/>
                </a:rPr>
                <a:t>（</a:t>
              </a:r>
              <a:r>
                <a:rPr lang="en-US" altLang="zh-CN" dirty="0">
                  <a:latin typeface="+mj-ea"/>
                  <a:ea typeface="+mj-ea"/>
                </a:rPr>
                <a:t>7</a:t>
              </a:r>
              <a:r>
                <a:rPr lang="zh-CN" altLang="en-US" dirty="0">
                  <a:latin typeface="+mj-ea"/>
                  <a:ea typeface="+mj-ea"/>
                </a:rPr>
                <a:t>）</a:t>
              </a:r>
              <a:endParaRPr lang="zh-CN" altLang="en-US" dirty="0">
                <a:latin typeface="+mj-ea"/>
                <a:ea typeface="+mj-ea"/>
              </a:endParaRPr>
            </a:p>
          </p:txBody>
        </p:sp>
        <p:sp>
          <p:nvSpPr>
            <p:cNvPr id="46" name="文本框 45"/>
            <p:cNvSpPr txBox="1"/>
            <p:nvPr/>
          </p:nvSpPr>
          <p:spPr>
            <a:xfrm>
              <a:off x="5276176" y="4388323"/>
              <a:ext cx="1041311" cy="492443"/>
            </a:xfrm>
            <a:prstGeom prst="rect">
              <a:avLst/>
            </a:prstGeom>
            <a:noFill/>
          </p:spPr>
          <p:txBody>
            <a:bodyPr wrap="none" rtlCol="0">
              <a:spAutoFit/>
            </a:bodyPr>
            <a:lstStyle/>
            <a:p>
              <a:r>
                <a:rPr lang="zh-CN" altLang="en-US" dirty="0">
                  <a:latin typeface="+mj-ea"/>
                  <a:ea typeface="+mj-ea"/>
                </a:rPr>
                <a:t>（</a:t>
              </a:r>
              <a:r>
                <a:rPr lang="en-US" altLang="zh-CN" dirty="0">
                  <a:latin typeface="+mj-ea"/>
                  <a:ea typeface="+mj-ea"/>
                </a:rPr>
                <a:t>8</a:t>
              </a:r>
              <a:r>
                <a:rPr lang="zh-CN" altLang="en-US" dirty="0">
                  <a:latin typeface="+mj-ea"/>
                  <a:ea typeface="+mj-ea"/>
                </a:rPr>
                <a:t>）</a:t>
              </a:r>
              <a:endParaRPr lang="zh-CN" altLang="en-US" dirty="0">
                <a:latin typeface="+mj-ea"/>
                <a:ea typeface="+mj-ea"/>
              </a:endParaRPr>
            </a:p>
          </p:txBody>
        </p:sp>
        <p:sp>
          <p:nvSpPr>
            <p:cNvPr id="47" name="文本框 46"/>
            <p:cNvSpPr txBox="1"/>
            <p:nvPr/>
          </p:nvSpPr>
          <p:spPr>
            <a:xfrm>
              <a:off x="5153594" y="3041559"/>
              <a:ext cx="1041311" cy="492443"/>
            </a:xfrm>
            <a:prstGeom prst="rect">
              <a:avLst/>
            </a:prstGeom>
            <a:noFill/>
          </p:spPr>
          <p:txBody>
            <a:bodyPr wrap="none" rtlCol="0">
              <a:spAutoFit/>
            </a:bodyPr>
            <a:lstStyle/>
            <a:p>
              <a:r>
                <a:rPr lang="zh-CN" altLang="en-US" dirty="0">
                  <a:latin typeface="+mj-ea"/>
                  <a:ea typeface="+mj-ea"/>
                </a:rPr>
                <a:t>（</a:t>
              </a:r>
              <a:r>
                <a:rPr lang="en-US" altLang="zh-CN" dirty="0">
                  <a:latin typeface="+mj-ea"/>
                  <a:ea typeface="+mj-ea"/>
                </a:rPr>
                <a:t>9</a:t>
              </a:r>
              <a:r>
                <a:rPr lang="zh-CN" altLang="en-US" dirty="0">
                  <a:latin typeface="+mj-ea"/>
                  <a:ea typeface="+mj-ea"/>
                </a:rPr>
                <a:t>）</a:t>
              </a:r>
              <a:endParaRPr lang="zh-CN" altLang="en-US" dirty="0">
                <a:latin typeface="+mj-ea"/>
                <a:ea typeface="+mj-ea"/>
              </a:endParaRPr>
            </a:p>
          </p:txBody>
        </p:sp>
        <p:sp>
          <p:nvSpPr>
            <p:cNvPr id="48" name="文本框 47"/>
            <p:cNvSpPr txBox="1"/>
            <p:nvPr/>
          </p:nvSpPr>
          <p:spPr>
            <a:xfrm>
              <a:off x="4538054" y="3900470"/>
              <a:ext cx="1220847" cy="492443"/>
            </a:xfrm>
            <a:prstGeom prst="rect">
              <a:avLst/>
            </a:prstGeom>
            <a:noFill/>
          </p:spPr>
          <p:txBody>
            <a:bodyPr wrap="none" rtlCol="0">
              <a:spAutoFit/>
            </a:bodyPr>
            <a:lstStyle/>
            <a:p>
              <a:r>
                <a:rPr lang="zh-CN" altLang="en-US" dirty="0">
                  <a:latin typeface="+mj-ea"/>
                  <a:ea typeface="+mj-ea"/>
                </a:rPr>
                <a:t>（</a:t>
              </a:r>
              <a:r>
                <a:rPr lang="en-US" altLang="zh-CN" dirty="0">
                  <a:latin typeface="+mj-ea"/>
                  <a:ea typeface="+mj-ea"/>
                </a:rPr>
                <a:t>10</a:t>
              </a:r>
              <a:r>
                <a:rPr lang="zh-CN" altLang="en-US" dirty="0">
                  <a:latin typeface="+mj-ea"/>
                  <a:ea typeface="+mj-ea"/>
                </a:rPr>
                <a:t>）</a:t>
              </a:r>
              <a:endParaRPr lang="zh-CN" altLang="en-US" dirty="0">
                <a:latin typeface="+mj-ea"/>
                <a:ea typeface="+mj-ea"/>
              </a:endParaRPr>
            </a:p>
          </p:txBody>
        </p:sp>
        <p:sp>
          <p:nvSpPr>
            <p:cNvPr id="49" name="文本框 48"/>
            <p:cNvSpPr txBox="1"/>
            <p:nvPr/>
          </p:nvSpPr>
          <p:spPr>
            <a:xfrm>
              <a:off x="2401447" y="3064204"/>
              <a:ext cx="1220847" cy="492443"/>
            </a:xfrm>
            <a:prstGeom prst="rect">
              <a:avLst/>
            </a:prstGeom>
            <a:noFill/>
          </p:spPr>
          <p:txBody>
            <a:bodyPr wrap="none" rtlCol="0">
              <a:spAutoFit/>
            </a:bodyPr>
            <a:lstStyle/>
            <a:p>
              <a:r>
                <a:rPr lang="zh-CN" altLang="en-US" dirty="0">
                  <a:latin typeface="+mj-ea"/>
                  <a:ea typeface="+mj-ea"/>
                </a:rPr>
                <a:t>（</a:t>
              </a:r>
              <a:r>
                <a:rPr lang="en-US" altLang="zh-CN" dirty="0">
                  <a:latin typeface="+mj-ea"/>
                  <a:ea typeface="+mj-ea"/>
                </a:rPr>
                <a:t>11</a:t>
              </a:r>
              <a:r>
                <a:rPr lang="zh-CN" altLang="en-US" dirty="0">
                  <a:latin typeface="+mj-ea"/>
                  <a:ea typeface="+mj-ea"/>
                </a:rPr>
                <a:t>）</a:t>
              </a:r>
              <a:endParaRPr lang="zh-CN" altLang="en-US" dirty="0">
                <a:latin typeface="+mj-ea"/>
                <a:ea typeface="+mj-ea"/>
              </a:endParaRPr>
            </a:p>
          </p:txBody>
        </p:sp>
        <p:sp>
          <p:nvSpPr>
            <p:cNvPr id="50" name="文本框 49"/>
            <p:cNvSpPr txBox="1"/>
            <p:nvPr/>
          </p:nvSpPr>
          <p:spPr>
            <a:xfrm>
              <a:off x="3000915" y="3927017"/>
              <a:ext cx="1220847" cy="492443"/>
            </a:xfrm>
            <a:prstGeom prst="rect">
              <a:avLst/>
            </a:prstGeom>
            <a:noFill/>
          </p:spPr>
          <p:txBody>
            <a:bodyPr wrap="none" rtlCol="0">
              <a:spAutoFit/>
            </a:bodyPr>
            <a:lstStyle/>
            <a:p>
              <a:r>
                <a:rPr lang="zh-CN" altLang="en-US" dirty="0">
                  <a:latin typeface="+mj-ea"/>
                  <a:ea typeface="+mj-ea"/>
                </a:rPr>
                <a:t>（</a:t>
              </a:r>
              <a:r>
                <a:rPr lang="en-US" altLang="zh-CN" dirty="0">
                  <a:latin typeface="+mj-ea"/>
                  <a:ea typeface="+mj-ea"/>
                </a:rPr>
                <a:t>12</a:t>
              </a:r>
              <a:r>
                <a:rPr lang="zh-CN" altLang="en-US" dirty="0">
                  <a:latin typeface="+mj-ea"/>
                  <a:ea typeface="+mj-ea"/>
                </a:rPr>
                <a:t>）</a:t>
              </a:r>
              <a:endParaRPr lang="zh-CN" altLang="en-US" dirty="0">
                <a:latin typeface="+mj-ea"/>
                <a:ea typeface="+mj-ea"/>
              </a:endParaRPr>
            </a:p>
          </p:txBody>
        </p:sp>
        <p:sp>
          <p:nvSpPr>
            <p:cNvPr id="51" name="文本框 50"/>
            <p:cNvSpPr txBox="1"/>
            <p:nvPr/>
          </p:nvSpPr>
          <p:spPr>
            <a:xfrm>
              <a:off x="4686308" y="2030935"/>
              <a:ext cx="1220847" cy="492443"/>
            </a:xfrm>
            <a:prstGeom prst="rect">
              <a:avLst/>
            </a:prstGeom>
            <a:noFill/>
          </p:spPr>
          <p:txBody>
            <a:bodyPr wrap="none" rtlCol="0">
              <a:spAutoFit/>
            </a:bodyPr>
            <a:lstStyle/>
            <a:p>
              <a:r>
                <a:rPr lang="zh-CN" altLang="en-US" dirty="0">
                  <a:latin typeface="+mj-ea"/>
                  <a:ea typeface="+mj-ea"/>
                </a:rPr>
                <a:t>（</a:t>
              </a:r>
              <a:r>
                <a:rPr lang="en-US" altLang="zh-CN" dirty="0">
                  <a:latin typeface="+mj-ea"/>
                  <a:ea typeface="+mj-ea"/>
                </a:rPr>
                <a:t>13</a:t>
              </a:r>
              <a:r>
                <a:rPr lang="zh-CN" altLang="en-US" dirty="0">
                  <a:latin typeface="+mj-ea"/>
                  <a:ea typeface="+mj-ea"/>
                </a:rPr>
                <a:t>）</a:t>
              </a:r>
              <a:endParaRPr lang="zh-CN" altLang="en-US" dirty="0">
                <a:latin typeface="+mj-ea"/>
                <a:ea typeface="+mj-ea"/>
              </a:endParaRPr>
            </a:p>
          </p:txBody>
        </p:sp>
        <p:sp>
          <p:nvSpPr>
            <p:cNvPr id="52" name="文本框 51"/>
            <p:cNvSpPr txBox="1"/>
            <p:nvPr/>
          </p:nvSpPr>
          <p:spPr>
            <a:xfrm>
              <a:off x="3507190" y="1468348"/>
              <a:ext cx="1220847" cy="492443"/>
            </a:xfrm>
            <a:prstGeom prst="rect">
              <a:avLst/>
            </a:prstGeom>
            <a:noFill/>
          </p:spPr>
          <p:txBody>
            <a:bodyPr wrap="none" rtlCol="0">
              <a:spAutoFit/>
            </a:bodyPr>
            <a:lstStyle/>
            <a:p>
              <a:r>
                <a:rPr lang="zh-CN" altLang="en-US" dirty="0">
                  <a:latin typeface="+mj-ea"/>
                  <a:ea typeface="+mj-ea"/>
                </a:rPr>
                <a:t>（</a:t>
              </a:r>
              <a:r>
                <a:rPr lang="en-US" altLang="zh-CN" dirty="0">
                  <a:latin typeface="+mj-ea"/>
                  <a:ea typeface="+mj-ea"/>
                </a:rPr>
                <a:t>14</a:t>
              </a:r>
              <a:r>
                <a:rPr lang="zh-CN" altLang="en-US" dirty="0">
                  <a:latin typeface="+mj-ea"/>
                  <a:ea typeface="+mj-ea"/>
                </a:rPr>
                <a:t>）</a:t>
              </a:r>
              <a:endParaRPr lang="zh-CN" altLang="en-US" dirty="0">
                <a:latin typeface="+mj-ea"/>
                <a:ea typeface="+mj-ea"/>
              </a:endParaRPr>
            </a:p>
          </p:txBody>
        </p:sp>
        <p:sp>
          <p:nvSpPr>
            <p:cNvPr id="53" name="文本框 52"/>
            <p:cNvSpPr txBox="1"/>
            <p:nvPr/>
          </p:nvSpPr>
          <p:spPr>
            <a:xfrm>
              <a:off x="7306088" y="2827875"/>
              <a:ext cx="1220847" cy="492443"/>
            </a:xfrm>
            <a:prstGeom prst="rect">
              <a:avLst/>
            </a:prstGeom>
            <a:noFill/>
          </p:spPr>
          <p:txBody>
            <a:bodyPr wrap="none" rtlCol="0">
              <a:spAutoFit/>
            </a:bodyPr>
            <a:lstStyle/>
            <a:p>
              <a:r>
                <a:rPr lang="zh-CN" altLang="en-US" dirty="0">
                  <a:latin typeface="+mj-ea"/>
                  <a:ea typeface="+mj-ea"/>
                </a:rPr>
                <a:t>（</a:t>
              </a:r>
              <a:r>
                <a:rPr lang="en-US" altLang="zh-CN" dirty="0">
                  <a:latin typeface="+mj-ea"/>
                  <a:ea typeface="+mj-ea"/>
                </a:rPr>
                <a:t>15</a:t>
              </a:r>
              <a:r>
                <a:rPr lang="zh-CN" altLang="en-US" dirty="0">
                  <a:latin typeface="+mj-ea"/>
                  <a:ea typeface="+mj-ea"/>
                </a:rPr>
                <a:t>）</a:t>
              </a:r>
              <a:endParaRPr lang="zh-CN" altLang="en-US" dirty="0">
                <a:latin typeface="+mj-ea"/>
                <a:ea typeface="+mj-ea"/>
              </a:endParaRPr>
            </a:p>
          </p:txBody>
        </p:sp>
      </p:grpSp>
      <p:sp>
        <p:nvSpPr>
          <p:cNvPr id="2" name="标题 1"/>
          <p:cNvSpPr>
            <a:spLocks noGrp="1"/>
          </p:cNvSpPr>
          <p:nvPr>
            <p:ph type="title"/>
          </p:nvPr>
        </p:nvSpPr>
        <p:spPr/>
        <p:txBody>
          <a:bodyPr/>
          <a:lstStyle/>
          <a:p>
            <a:r>
              <a:rPr lang="zh-CN" altLang="en-US" dirty="0">
                <a:latin typeface="+mj-ea"/>
              </a:rPr>
              <a:t>需求导出和分析过程的模型</a:t>
            </a:r>
            <a:endParaRPr lang="zh-CN" altLang="en-US" dirty="0"/>
          </a:p>
        </p:txBody>
      </p:sp>
      <p:sp>
        <p:nvSpPr>
          <p:cNvPr id="4" name="日期占位符 3"/>
          <p:cNvSpPr>
            <a:spLocks noGrp="1"/>
          </p:cNvSpPr>
          <p:nvPr>
            <p:ph type="dt" sz="half" idx="10"/>
          </p:nvPr>
        </p:nvSpPr>
        <p:spPr/>
        <p:txBody>
          <a:bodyPr/>
          <a:lstStyle/>
          <a:p>
            <a:fld id="{4E1FEEB7-2BC0-4D67-AF39-BB6444402BCB}"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软件工程</a:t>
            </a:r>
            <a:endParaRPr lang="zh-CN" altLang="en-US"/>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outVertical)">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597059" y="1270197"/>
            <a:ext cx="4374553" cy="2202141"/>
          </a:xfrm>
          <a:prstGeom prst="rect">
            <a:avLst/>
          </a:prstGeom>
        </p:spPr>
        <p:txBody>
          <a:bodyPr wrap="square">
            <a:spAutoFit/>
          </a:bodyPr>
          <a:lstStyle/>
          <a:p>
            <a:pPr marL="386080" indent="-386080">
              <a:lnSpc>
                <a:spcPct val="120000"/>
              </a:lnSpc>
              <a:spcBef>
                <a:spcPts val="900"/>
              </a:spcBef>
              <a:buClr>
                <a:srgbClr val="00B050"/>
              </a:buClr>
              <a:buFont typeface="+mj-lt"/>
              <a:buAutoNum type="arabicPeriod"/>
            </a:pPr>
            <a:r>
              <a:rPr lang="zh-CN" altLang="zh-CN" sz="2400" b="1" dirty="0">
                <a:solidFill>
                  <a:srgbClr val="FF8900"/>
                </a:solidFill>
                <a:latin typeface="+mj-ea"/>
                <a:ea typeface="+mj-ea"/>
              </a:rPr>
              <a:t>结构化分析建模 SA </a:t>
            </a:r>
            <a:r>
              <a:rPr lang="zh-CN" altLang="zh-CN" sz="2000" dirty="0">
                <a:latin typeface="+mj-ea"/>
                <a:ea typeface="+mj-ea"/>
              </a:rPr>
              <a:t>（Structured  </a:t>
            </a:r>
            <a:r>
              <a:rPr lang="en-US" altLang="zh-CN" sz="2000" dirty="0">
                <a:latin typeface="+mj-ea"/>
                <a:ea typeface="+mj-ea"/>
              </a:rPr>
              <a:t> </a:t>
            </a:r>
            <a:r>
              <a:rPr lang="zh-CN" altLang="zh-CN" sz="2000" dirty="0">
                <a:latin typeface="+mj-ea"/>
                <a:ea typeface="+mj-ea"/>
              </a:rPr>
              <a:t>Analysis），又分面向数据建模和面向数据流建模。</a:t>
            </a:r>
            <a:endParaRPr lang="en-US" altLang="zh-CN" sz="2000" dirty="0">
              <a:latin typeface="+mj-ea"/>
              <a:ea typeface="+mj-ea"/>
            </a:endParaRPr>
          </a:p>
          <a:p>
            <a:pPr marL="386080" indent="-386080">
              <a:lnSpc>
                <a:spcPct val="120000"/>
              </a:lnSpc>
              <a:spcBef>
                <a:spcPts val="900"/>
              </a:spcBef>
              <a:buClr>
                <a:srgbClr val="00B050"/>
              </a:buClr>
              <a:buFont typeface="+mj-lt"/>
              <a:buAutoNum type="arabicPeriod"/>
            </a:pPr>
            <a:r>
              <a:rPr lang="zh-CN" altLang="zh-CN" sz="2400" b="1" dirty="0">
                <a:solidFill>
                  <a:srgbClr val="FF8900"/>
                </a:solidFill>
                <a:latin typeface="+mj-ea"/>
                <a:ea typeface="+mj-ea"/>
              </a:rPr>
              <a:t>面</a:t>
            </a:r>
            <a:r>
              <a:rPr lang="zh-CN" altLang="en-US" sz="2400" b="1" dirty="0">
                <a:solidFill>
                  <a:srgbClr val="FF8900"/>
                </a:solidFill>
                <a:latin typeface="+mj-ea"/>
                <a:ea typeface="+mj-ea"/>
              </a:rPr>
              <a:t>向</a:t>
            </a:r>
            <a:r>
              <a:rPr lang="zh-CN" altLang="zh-CN" sz="2400" b="1" dirty="0">
                <a:solidFill>
                  <a:srgbClr val="FF8900"/>
                </a:solidFill>
                <a:latin typeface="+mj-ea"/>
                <a:ea typeface="+mj-ea"/>
              </a:rPr>
              <a:t>对象分析建模OOA</a:t>
            </a:r>
            <a:r>
              <a:rPr lang="zh-CN" altLang="zh-CN" sz="2000" dirty="0">
                <a:latin typeface="+mj-ea"/>
                <a:ea typeface="+mj-ea"/>
              </a:rPr>
              <a:t>（Object-Oriented Analysis）</a:t>
            </a:r>
            <a:endParaRPr lang="zh-CN" altLang="zh-CN" sz="2000" dirty="0">
              <a:latin typeface="+mj-ea"/>
              <a:ea typeface="+mj-ea"/>
            </a:endParaRPr>
          </a:p>
        </p:txBody>
      </p:sp>
      <p:sp>
        <p:nvSpPr>
          <p:cNvPr id="8" name="文本框 7"/>
          <p:cNvSpPr txBox="1"/>
          <p:nvPr/>
        </p:nvSpPr>
        <p:spPr>
          <a:xfrm>
            <a:off x="870439" y="3020158"/>
            <a:ext cx="184731" cy="300082"/>
          </a:xfrm>
          <a:prstGeom prst="rect">
            <a:avLst/>
          </a:prstGeom>
          <a:noFill/>
        </p:spPr>
        <p:txBody>
          <a:bodyPr wrap="none" rtlCol="0">
            <a:spAutoFit/>
          </a:bodyPr>
          <a:lstStyle/>
          <a:p>
            <a:endParaRPr lang="zh-CN" altLang="en-US" sz="1350"/>
          </a:p>
        </p:txBody>
      </p:sp>
      <p:grpSp>
        <p:nvGrpSpPr>
          <p:cNvPr id="54" name="组合 53"/>
          <p:cNvGrpSpPr/>
          <p:nvPr/>
        </p:nvGrpSpPr>
        <p:grpSpPr>
          <a:xfrm>
            <a:off x="4932394" y="613335"/>
            <a:ext cx="4101612" cy="4008800"/>
            <a:chOff x="2399286" y="869421"/>
            <a:chExt cx="6485377" cy="5709707"/>
          </a:xfrm>
        </p:grpSpPr>
        <p:sp>
          <p:nvSpPr>
            <p:cNvPr id="55" name="Oval 13"/>
            <p:cNvSpPr>
              <a:spLocks noChangeArrowheads="1"/>
            </p:cNvSpPr>
            <p:nvPr/>
          </p:nvSpPr>
          <p:spPr bwMode="auto">
            <a:xfrm>
              <a:off x="2399286" y="869421"/>
              <a:ext cx="6485377" cy="5709707"/>
            </a:xfrm>
            <a:prstGeom prst="ellipse">
              <a:avLst/>
            </a:prstGeom>
            <a:solidFill>
              <a:srgbClr val="00B050"/>
            </a:solidFill>
            <a:ln>
              <a:headEnd type="none" w="sm" len="sm"/>
              <a:tailEnd type="none" w="sm" len="sm"/>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defRPr/>
              </a:pPr>
              <a:endParaRPr lang="zh-CN" altLang="en-US" sz="1350">
                <a:latin typeface="+mj-ea"/>
                <a:ea typeface="+mj-ea"/>
              </a:endParaRPr>
            </a:p>
          </p:txBody>
        </p:sp>
        <p:sp>
          <p:nvSpPr>
            <p:cNvPr id="56" name="Oval 14"/>
            <p:cNvSpPr>
              <a:spLocks noChangeArrowheads="1"/>
            </p:cNvSpPr>
            <p:nvPr/>
          </p:nvSpPr>
          <p:spPr bwMode="auto">
            <a:xfrm>
              <a:off x="3348038" y="1628775"/>
              <a:ext cx="4600575" cy="4191000"/>
            </a:xfrm>
            <a:prstGeom prst="ellipse">
              <a:avLst/>
            </a:prstGeom>
            <a:solidFill>
              <a:srgbClr val="FFC000"/>
            </a:solidFill>
            <a:ln w="12700">
              <a:solidFill>
                <a:schemeClr val="tx1"/>
              </a:solidFill>
              <a:round/>
              <a:headEnd type="none" w="sm" len="sm"/>
              <a:tailEnd type="none" w="sm" len="sm"/>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350">
                <a:latin typeface="+mj-ea"/>
                <a:ea typeface="+mj-ea"/>
              </a:endParaRPr>
            </a:p>
          </p:txBody>
        </p:sp>
        <p:sp>
          <p:nvSpPr>
            <p:cNvPr id="57" name="Line 15"/>
            <p:cNvSpPr>
              <a:spLocks noChangeShapeType="1"/>
            </p:cNvSpPr>
            <p:nvPr/>
          </p:nvSpPr>
          <p:spPr bwMode="auto">
            <a:xfrm>
              <a:off x="5641975" y="869422"/>
              <a:ext cx="0" cy="1788055"/>
            </a:xfrm>
            <a:prstGeom prst="line">
              <a:avLst/>
            </a:prstGeom>
            <a:noFill/>
            <a:ln w="28575">
              <a:solidFill>
                <a:schemeClr val="bg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latin typeface="+mj-ea"/>
                <a:ea typeface="+mj-ea"/>
              </a:endParaRPr>
            </a:p>
          </p:txBody>
        </p:sp>
        <p:sp>
          <p:nvSpPr>
            <p:cNvPr id="58" name="Line 16"/>
            <p:cNvSpPr>
              <a:spLocks noChangeShapeType="1"/>
            </p:cNvSpPr>
            <p:nvPr/>
          </p:nvSpPr>
          <p:spPr bwMode="auto">
            <a:xfrm>
              <a:off x="6586538" y="4246563"/>
              <a:ext cx="1825625" cy="1196975"/>
            </a:xfrm>
            <a:prstGeom prst="line">
              <a:avLst/>
            </a:prstGeom>
            <a:noFill/>
            <a:ln w="28575">
              <a:solidFill>
                <a:schemeClr val="bg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latin typeface="+mj-ea"/>
                <a:ea typeface="+mj-ea"/>
              </a:endParaRPr>
            </a:p>
          </p:txBody>
        </p:sp>
        <p:sp>
          <p:nvSpPr>
            <p:cNvPr id="59" name="Line 17"/>
            <p:cNvSpPr>
              <a:spLocks noChangeShapeType="1"/>
            </p:cNvSpPr>
            <p:nvPr/>
          </p:nvSpPr>
          <p:spPr bwMode="auto">
            <a:xfrm flipH="1">
              <a:off x="3063875" y="4256088"/>
              <a:ext cx="1636713" cy="1330325"/>
            </a:xfrm>
            <a:prstGeom prst="line">
              <a:avLst/>
            </a:prstGeom>
            <a:noFill/>
            <a:ln w="28575">
              <a:solidFill>
                <a:schemeClr val="bg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latin typeface="+mj-ea"/>
                <a:ea typeface="+mj-ea"/>
              </a:endParaRPr>
            </a:p>
          </p:txBody>
        </p:sp>
        <p:sp>
          <p:nvSpPr>
            <p:cNvPr id="60" name="Text Box 19"/>
            <p:cNvSpPr txBox="1">
              <a:spLocks noChangeArrowheads="1"/>
            </p:cNvSpPr>
            <p:nvPr/>
          </p:nvSpPr>
          <p:spPr bwMode="auto">
            <a:xfrm>
              <a:off x="3609798" y="2656836"/>
              <a:ext cx="1715603" cy="460282"/>
            </a:xfrm>
            <a:prstGeom prst="rect">
              <a:avLst/>
            </a:prstGeom>
            <a:noFill/>
            <a:ln w="12700">
              <a:noFill/>
              <a:miter lim="800000"/>
              <a:headEnd type="none" w="sm" len="sm"/>
              <a:tailEnd type="none" w="sm" len="sm"/>
            </a:ln>
            <a:effectLst/>
          </p:spPr>
          <p:txBody>
            <a:bodyPr wrap="square">
              <a:spAutoFit/>
            </a:bodyPr>
            <a:lstStyle/>
            <a:p>
              <a:pPr algn="l" eaLnBrk="0" hangingPunct="0">
                <a:defRPr/>
              </a:pPr>
              <a:r>
                <a:rPr kumimoji="1" lang="en-US" altLang="zh-CN" sz="1500" b="1" dirty="0">
                  <a:latin typeface="+mj-ea"/>
                  <a:ea typeface="+mj-ea"/>
                </a:rPr>
                <a:t>E-R</a:t>
              </a:r>
              <a:r>
                <a:rPr kumimoji="1" lang="zh-CN" altLang="en-US" sz="1500" b="1" dirty="0">
                  <a:latin typeface="+mj-ea"/>
                  <a:ea typeface="+mj-ea"/>
                </a:rPr>
                <a:t>图</a:t>
              </a:r>
              <a:endParaRPr kumimoji="1" lang="zh-CN" altLang="en-US" sz="1500" dirty="0">
                <a:latin typeface="+mj-ea"/>
                <a:ea typeface="+mj-ea"/>
              </a:endParaRPr>
            </a:p>
          </p:txBody>
        </p:sp>
        <p:sp>
          <p:nvSpPr>
            <p:cNvPr id="61" name="Text Box 20"/>
            <p:cNvSpPr txBox="1">
              <a:spLocks noChangeArrowheads="1"/>
            </p:cNvSpPr>
            <p:nvPr/>
          </p:nvSpPr>
          <p:spPr bwMode="auto">
            <a:xfrm>
              <a:off x="4601689" y="4763130"/>
              <a:ext cx="2270127" cy="789056"/>
            </a:xfrm>
            <a:prstGeom prst="rect">
              <a:avLst/>
            </a:prstGeom>
            <a:noFill/>
            <a:ln w="12700">
              <a:noFill/>
              <a:miter lim="800000"/>
              <a:headEnd type="none" w="sm" len="sm"/>
              <a:tailEnd type="none" w="sm" len="sm"/>
            </a:ln>
            <a:effectLst/>
          </p:spPr>
          <p:txBody>
            <a:bodyPr>
              <a:spAutoFit/>
            </a:bodyPr>
            <a:lstStyle/>
            <a:p>
              <a:pPr algn="ctr" eaLnBrk="0" hangingPunct="0">
                <a:defRPr/>
              </a:pPr>
              <a:r>
                <a:rPr kumimoji="1" lang="zh-CN" altLang="en-US" sz="1500" b="1" dirty="0">
                  <a:latin typeface="+mj-ea"/>
                  <a:ea typeface="+mj-ea"/>
                </a:rPr>
                <a:t>状态变迁图</a:t>
              </a:r>
              <a:endParaRPr kumimoji="1" lang="zh-CN" altLang="en-US" sz="1500" b="1" dirty="0">
                <a:latin typeface="+mj-ea"/>
                <a:ea typeface="+mj-ea"/>
              </a:endParaRPr>
            </a:p>
            <a:p>
              <a:pPr algn="ctr" eaLnBrk="0" hangingPunct="0">
                <a:defRPr/>
              </a:pPr>
              <a:r>
                <a:rPr kumimoji="1" lang="en-US" altLang="zh-CN" sz="1500" b="1" dirty="0">
                  <a:latin typeface="+mj-ea"/>
                  <a:ea typeface="+mj-ea"/>
                </a:rPr>
                <a:t>(STD</a:t>
              </a:r>
              <a:r>
                <a:rPr kumimoji="1" lang="zh-CN" altLang="en-US" sz="1500" b="1" dirty="0">
                  <a:latin typeface="+mj-ea"/>
                  <a:ea typeface="+mj-ea"/>
                </a:rPr>
                <a:t>图</a:t>
              </a:r>
              <a:r>
                <a:rPr kumimoji="1" lang="en-US" altLang="zh-CN" sz="1500" b="1" dirty="0">
                  <a:latin typeface="+mj-ea"/>
                  <a:ea typeface="+mj-ea"/>
                </a:rPr>
                <a:t>)</a:t>
              </a:r>
              <a:endParaRPr kumimoji="1" lang="en-US" altLang="zh-CN" sz="1500" dirty="0">
                <a:latin typeface="+mj-ea"/>
                <a:ea typeface="+mj-ea"/>
              </a:endParaRPr>
            </a:p>
          </p:txBody>
        </p:sp>
        <p:sp>
          <p:nvSpPr>
            <p:cNvPr id="62" name="Text Box 21"/>
            <p:cNvSpPr txBox="1">
              <a:spLocks noChangeArrowheads="1"/>
            </p:cNvSpPr>
            <p:nvPr/>
          </p:nvSpPr>
          <p:spPr bwMode="auto">
            <a:xfrm>
              <a:off x="7680388" y="2115171"/>
              <a:ext cx="659512" cy="526037"/>
            </a:xfrm>
            <a:prstGeom prst="rect">
              <a:avLst/>
            </a:prstGeom>
            <a:noFill/>
            <a:ln w="12700">
              <a:noFill/>
              <a:miter lim="800000"/>
              <a:headEnd type="none" w="sm" len="sm"/>
              <a:tailEnd type="none" w="sm" len="sm"/>
            </a:ln>
            <a:effectLst/>
          </p:spPr>
          <p:txBody>
            <a:bodyPr wrap="none">
              <a:spAutoFit/>
            </a:bodyPr>
            <a:lstStyle/>
            <a:p>
              <a:pPr algn="l" eaLnBrk="0" hangingPunct="0">
                <a:defRPr/>
              </a:pPr>
              <a:r>
                <a:rPr kumimoji="1" lang="zh-CN" altLang="en-US" b="1" dirty="0">
                  <a:solidFill>
                    <a:schemeClr val="bg1"/>
                  </a:solidFill>
                  <a:latin typeface="+mj-ea"/>
                  <a:ea typeface="+mj-ea"/>
                </a:rPr>
                <a:t>加</a:t>
              </a:r>
              <a:endParaRPr kumimoji="1" lang="zh-CN" altLang="en-US" dirty="0">
                <a:solidFill>
                  <a:schemeClr val="bg1"/>
                </a:solidFill>
                <a:latin typeface="+mj-ea"/>
                <a:ea typeface="+mj-ea"/>
              </a:endParaRPr>
            </a:p>
          </p:txBody>
        </p:sp>
        <p:sp>
          <p:nvSpPr>
            <p:cNvPr id="63" name="Text Box 22"/>
            <p:cNvSpPr txBox="1">
              <a:spLocks noChangeArrowheads="1"/>
            </p:cNvSpPr>
            <p:nvPr/>
          </p:nvSpPr>
          <p:spPr bwMode="auto">
            <a:xfrm>
              <a:off x="7998585" y="2699708"/>
              <a:ext cx="659512" cy="526037"/>
            </a:xfrm>
            <a:prstGeom prst="rect">
              <a:avLst/>
            </a:prstGeom>
            <a:noFill/>
            <a:ln w="12700">
              <a:noFill/>
              <a:miter lim="800000"/>
              <a:headEnd type="none" w="sm" len="sm"/>
              <a:tailEnd type="none" w="sm" len="sm"/>
            </a:ln>
            <a:effectLst/>
          </p:spPr>
          <p:txBody>
            <a:bodyPr wrap="none">
              <a:spAutoFit/>
            </a:bodyPr>
            <a:lstStyle/>
            <a:p>
              <a:pPr algn="l" eaLnBrk="0" hangingPunct="0">
                <a:defRPr/>
              </a:pPr>
              <a:r>
                <a:rPr kumimoji="1" lang="zh-CN" altLang="en-US" b="1" dirty="0">
                  <a:solidFill>
                    <a:schemeClr val="bg1"/>
                  </a:solidFill>
                  <a:latin typeface="+mj-ea"/>
                  <a:ea typeface="+mj-ea"/>
                </a:rPr>
                <a:t>工</a:t>
              </a:r>
              <a:endParaRPr kumimoji="1" lang="zh-CN" altLang="en-US" dirty="0">
                <a:solidFill>
                  <a:schemeClr val="bg1"/>
                </a:solidFill>
                <a:latin typeface="+mj-ea"/>
                <a:ea typeface="+mj-ea"/>
              </a:endParaRPr>
            </a:p>
          </p:txBody>
        </p:sp>
        <p:sp>
          <p:nvSpPr>
            <p:cNvPr id="64" name="Text Box 23"/>
            <p:cNvSpPr txBox="1">
              <a:spLocks noChangeArrowheads="1"/>
            </p:cNvSpPr>
            <p:nvPr/>
          </p:nvSpPr>
          <p:spPr bwMode="auto">
            <a:xfrm>
              <a:off x="8114150" y="3363830"/>
              <a:ext cx="659512" cy="526037"/>
            </a:xfrm>
            <a:prstGeom prst="rect">
              <a:avLst/>
            </a:prstGeom>
            <a:noFill/>
            <a:ln w="12700">
              <a:noFill/>
              <a:miter lim="800000"/>
              <a:headEnd type="none" w="sm" len="sm"/>
              <a:tailEnd type="none" w="sm" len="sm"/>
            </a:ln>
            <a:effectLst/>
          </p:spPr>
          <p:txBody>
            <a:bodyPr wrap="none">
              <a:spAutoFit/>
            </a:bodyPr>
            <a:lstStyle/>
            <a:p>
              <a:pPr algn="l" eaLnBrk="0" hangingPunct="0">
                <a:defRPr/>
              </a:pPr>
              <a:r>
                <a:rPr kumimoji="1" lang="zh-CN" altLang="en-US" b="1">
                  <a:solidFill>
                    <a:schemeClr val="bg1"/>
                  </a:solidFill>
                  <a:latin typeface="+mj-ea"/>
                  <a:ea typeface="+mj-ea"/>
                </a:rPr>
                <a:t>说</a:t>
              </a:r>
              <a:endParaRPr kumimoji="1" lang="zh-CN" altLang="en-US">
                <a:solidFill>
                  <a:schemeClr val="bg1"/>
                </a:solidFill>
                <a:latin typeface="+mj-ea"/>
                <a:ea typeface="+mj-ea"/>
              </a:endParaRPr>
            </a:p>
          </p:txBody>
        </p:sp>
        <p:sp>
          <p:nvSpPr>
            <p:cNvPr id="65" name="Text Box 24"/>
            <p:cNvSpPr txBox="1">
              <a:spLocks noChangeArrowheads="1"/>
            </p:cNvSpPr>
            <p:nvPr/>
          </p:nvSpPr>
          <p:spPr bwMode="auto">
            <a:xfrm>
              <a:off x="8038973" y="4000830"/>
              <a:ext cx="555624" cy="526037"/>
            </a:xfrm>
            <a:prstGeom prst="rect">
              <a:avLst/>
            </a:prstGeom>
            <a:noFill/>
            <a:ln w="12700">
              <a:noFill/>
              <a:miter lim="800000"/>
              <a:headEnd type="none" w="sm" len="sm"/>
              <a:tailEnd type="none" w="sm" len="sm"/>
            </a:ln>
            <a:effectLst/>
          </p:spPr>
          <p:txBody>
            <a:bodyPr>
              <a:spAutoFit/>
            </a:bodyPr>
            <a:lstStyle/>
            <a:p>
              <a:pPr algn="l" eaLnBrk="0" hangingPunct="0">
                <a:defRPr/>
              </a:pPr>
              <a:r>
                <a:rPr kumimoji="1" lang="zh-CN" altLang="en-US" b="1" dirty="0">
                  <a:solidFill>
                    <a:schemeClr val="bg1"/>
                  </a:solidFill>
                  <a:latin typeface="+mj-ea"/>
                  <a:ea typeface="+mj-ea"/>
                </a:rPr>
                <a:t>明</a:t>
              </a:r>
              <a:endParaRPr kumimoji="1" lang="zh-CN" altLang="en-US" dirty="0">
                <a:solidFill>
                  <a:schemeClr val="bg1"/>
                </a:solidFill>
                <a:latin typeface="+mj-ea"/>
                <a:ea typeface="+mj-ea"/>
              </a:endParaRPr>
            </a:p>
          </p:txBody>
        </p:sp>
        <p:sp>
          <p:nvSpPr>
            <p:cNvPr id="66" name="Text Box 26"/>
            <p:cNvSpPr txBox="1">
              <a:spLocks noChangeArrowheads="1"/>
            </p:cNvSpPr>
            <p:nvPr/>
          </p:nvSpPr>
          <p:spPr bwMode="auto">
            <a:xfrm>
              <a:off x="3708400" y="1557338"/>
              <a:ext cx="659512" cy="526037"/>
            </a:xfrm>
            <a:prstGeom prst="rect">
              <a:avLst/>
            </a:prstGeom>
            <a:noFill/>
            <a:ln w="12700">
              <a:noFill/>
              <a:miter lim="800000"/>
              <a:headEnd type="none" w="sm" len="sm"/>
              <a:tailEnd type="none" w="sm" len="sm"/>
            </a:ln>
            <a:effectLst/>
          </p:spPr>
          <p:txBody>
            <a:bodyPr wrap="none">
              <a:spAutoFit/>
            </a:bodyPr>
            <a:lstStyle/>
            <a:p>
              <a:pPr algn="l" eaLnBrk="0" hangingPunct="0">
                <a:defRPr/>
              </a:pPr>
              <a:r>
                <a:rPr kumimoji="1" lang="zh-CN" altLang="en-US" b="1" dirty="0">
                  <a:solidFill>
                    <a:schemeClr val="bg1"/>
                  </a:solidFill>
                  <a:latin typeface="+mj-ea"/>
                  <a:ea typeface="+mj-ea"/>
                </a:rPr>
                <a:t>数</a:t>
              </a:r>
              <a:endParaRPr kumimoji="1" lang="zh-CN" altLang="en-US" dirty="0">
                <a:solidFill>
                  <a:schemeClr val="bg1"/>
                </a:solidFill>
                <a:latin typeface="+mj-ea"/>
                <a:ea typeface="+mj-ea"/>
              </a:endParaRPr>
            </a:p>
          </p:txBody>
        </p:sp>
        <p:sp>
          <p:nvSpPr>
            <p:cNvPr id="67" name="Text Box 27"/>
            <p:cNvSpPr txBox="1">
              <a:spLocks noChangeArrowheads="1"/>
            </p:cNvSpPr>
            <p:nvPr/>
          </p:nvSpPr>
          <p:spPr bwMode="auto">
            <a:xfrm>
              <a:off x="3276599" y="1916113"/>
              <a:ext cx="659512" cy="526037"/>
            </a:xfrm>
            <a:prstGeom prst="rect">
              <a:avLst/>
            </a:prstGeom>
            <a:noFill/>
            <a:ln w="12700">
              <a:noFill/>
              <a:miter lim="800000"/>
              <a:headEnd type="none" w="sm" len="sm"/>
              <a:tailEnd type="none" w="sm" len="sm"/>
            </a:ln>
            <a:effectLst/>
          </p:spPr>
          <p:txBody>
            <a:bodyPr wrap="none">
              <a:spAutoFit/>
            </a:bodyPr>
            <a:lstStyle/>
            <a:p>
              <a:pPr algn="l" eaLnBrk="0" hangingPunct="0">
                <a:defRPr/>
              </a:pPr>
              <a:r>
                <a:rPr kumimoji="1" lang="zh-CN" altLang="en-US" b="1" dirty="0">
                  <a:solidFill>
                    <a:schemeClr val="bg1"/>
                  </a:solidFill>
                  <a:latin typeface="+mj-ea"/>
                  <a:ea typeface="+mj-ea"/>
                </a:rPr>
                <a:t>据</a:t>
              </a:r>
              <a:endParaRPr kumimoji="1" lang="zh-CN" altLang="en-US" dirty="0">
                <a:solidFill>
                  <a:schemeClr val="bg1"/>
                </a:solidFill>
                <a:latin typeface="+mj-ea"/>
                <a:ea typeface="+mj-ea"/>
              </a:endParaRPr>
            </a:p>
          </p:txBody>
        </p:sp>
        <p:sp>
          <p:nvSpPr>
            <p:cNvPr id="68" name="Text Box 28"/>
            <p:cNvSpPr txBox="1">
              <a:spLocks noChangeArrowheads="1"/>
            </p:cNvSpPr>
            <p:nvPr/>
          </p:nvSpPr>
          <p:spPr bwMode="auto">
            <a:xfrm>
              <a:off x="2714865" y="2640110"/>
              <a:ext cx="659512" cy="920565"/>
            </a:xfrm>
            <a:prstGeom prst="rect">
              <a:avLst/>
            </a:prstGeom>
            <a:noFill/>
            <a:ln w="12700">
              <a:noFill/>
              <a:miter lim="800000"/>
              <a:headEnd type="none" w="sm" len="sm"/>
              <a:tailEnd type="none" w="sm" len="sm"/>
            </a:ln>
            <a:effectLst/>
          </p:spPr>
          <p:txBody>
            <a:bodyPr wrap="none">
              <a:spAutoFit/>
            </a:bodyPr>
            <a:lstStyle/>
            <a:p>
              <a:pPr algn="l" eaLnBrk="0" hangingPunct="0">
                <a:defRPr/>
              </a:pPr>
              <a:r>
                <a:rPr kumimoji="1" lang="zh-CN" altLang="en-US" b="1" dirty="0">
                  <a:solidFill>
                    <a:schemeClr val="bg1"/>
                  </a:solidFill>
                  <a:latin typeface="+mj-ea"/>
                  <a:ea typeface="+mj-ea"/>
                </a:rPr>
                <a:t>对</a:t>
              </a:r>
              <a:endParaRPr kumimoji="1" lang="zh-CN" altLang="en-US" b="1" dirty="0">
                <a:solidFill>
                  <a:schemeClr val="bg1"/>
                </a:solidFill>
                <a:latin typeface="+mj-ea"/>
                <a:ea typeface="+mj-ea"/>
              </a:endParaRPr>
            </a:p>
            <a:p>
              <a:pPr algn="l" eaLnBrk="0" hangingPunct="0">
                <a:defRPr/>
              </a:pPr>
              <a:r>
                <a:rPr kumimoji="1" lang="zh-CN" altLang="en-US" b="1" dirty="0">
                  <a:solidFill>
                    <a:schemeClr val="bg1"/>
                  </a:solidFill>
                  <a:latin typeface="+mj-ea"/>
                  <a:ea typeface="+mj-ea"/>
                </a:rPr>
                <a:t>象</a:t>
              </a:r>
              <a:endParaRPr kumimoji="1" lang="zh-CN" altLang="en-US" dirty="0">
                <a:solidFill>
                  <a:schemeClr val="bg1"/>
                </a:solidFill>
                <a:latin typeface="+mj-ea"/>
                <a:ea typeface="+mj-ea"/>
              </a:endParaRPr>
            </a:p>
          </p:txBody>
        </p:sp>
        <p:sp>
          <p:nvSpPr>
            <p:cNvPr id="69" name="Text Box 29"/>
            <p:cNvSpPr txBox="1">
              <a:spLocks noChangeArrowheads="1"/>
            </p:cNvSpPr>
            <p:nvPr/>
          </p:nvSpPr>
          <p:spPr bwMode="auto">
            <a:xfrm>
              <a:off x="2583164" y="3817118"/>
              <a:ext cx="765967" cy="920565"/>
            </a:xfrm>
            <a:prstGeom prst="rect">
              <a:avLst/>
            </a:prstGeom>
            <a:noFill/>
            <a:ln w="12700">
              <a:noFill/>
              <a:miter lim="800000"/>
              <a:headEnd type="none" w="sm" len="sm"/>
              <a:tailEnd type="none" w="sm" len="sm"/>
            </a:ln>
            <a:effectLst/>
          </p:spPr>
          <p:txBody>
            <a:bodyPr wrap="none">
              <a:spAutoFit/>
            </a:bodyPr>
            <a:lstStyle/>
            <a:p>
              <a:pPr algn="l" eaLnBrk="0" hangingPunct="0">
                <a:defRPr/>
              </a:pPr>
              <a:r>
                <a:rPr kumimoji="1" lang="zh-CN" altLang="en-US" b="1" dirty="0">
                  <a:solidFill>
                    <a:schemeClr val="bg1"/>
                  </a:solidFill>
                  <a:latin typeface="+mj-ea"/>
                  <a:ea typeface="+mj-ea"/>
                </a:rPr>
                <a:t>说</a:t>
              </a:r>
              <a:endParaRPr kumimoji="1" lang="zh-CN" altLang="en-US" b="1" dirty="0">
                <a:solidFill>
                  <a:schemeClr val="bg1"/>
                </a:solidFill>
                <a:latin typeface="+mj-ea"/>
                <a:ea typeface="+mj-ea"/>
              </a:endParaRPr>
            </a:p>
            <a:p>
              <a:pPr algn="l" eaLnBrk="0" hangingPunct="0">
                <a:defRPr/>
              </a:pPr>
              <a:r>
                <a:rPr kumimoji="1" lang="zh-CN" altLang="en-US" b="1" dirty="0">
                  <a:solidFill>
                    <a:schemeClr val="bg1"/>
                  </a:solidFill>
                  <a:latin typeface="+mj-ea"/>
                  <a:ea typeface="+mj-ea"/>
                </a:rPr>
                <a:t> 明</a:t>
              </a:r>
              <a:endParaRPr kumimoji="1" lang="zh-CN" altLang="en-US" dirty="0">
                <a:solidFill>
                  <a:schemeClr val="bg1"/>
                </a:solidFill>
                <a:latin typeface="+mj-ea"/>
                <a:ea typeface="+mj-ea"/>
              </a:endParaRPr>
            </a:p>
          </p:txBody>
        </p:sp>
        <p:sp>
          <p:nvSpPr>
            <p:cNvPr id="70" name="Oval 30"/>
            <p:cNvSpPr>
              <a:spLocks noChangeArrowheads="1"/>
            </p:cNvSpPr>
            <p:nvPr/>
          </p:nvSpPr>
          <p:spPr bwMode="auto">
            <a:xfrm>
              <a:off x="4480494" y="2561235"/>
              <a:ext cx="2391321" cy="2075860"/>
            </a:xfrm>
            <a:prstGeom prst="ellipse">
              <a:avLst/>
            </a:prstGeom>
            <a:solidFill>
              <a:srgbClr val="00B0F0"/>
            </a:solidFill>
            <a:ln w="12700">
              <a:solidFill>
                <a:schemeClr val="tx1"/>
              </a:solidFill>
              <a:round/>
              <a:headEnd type="none" w="sm" len="sm"/>
              <a:tailEnd type="none" w="sm" len="sm"/>
            </a:ln>
            <a:effectLst/>
          </p:spPr>
          <p:txBody>
            <a:bodyPr wrap="none" anchor="ctr"/>
            <a:lstStyle/>
            <a:p>
              <a:pPr algn="ctr" eaLnBrk="0" hangingPunct="0">
                <a:spcBef>
                  <a:spcPct val="50000"/>
                </a:spcBef>
                <a:defRPr/>
              </a:pPr>
              <a:r>
                <a:rPr kumimoji="1" lang="zh-CN" altLang="en-US" b="1" dirty="0">
                  <a:solidFill>
                    <a:schemeClr val="bg1"/>
                  </a:solidFill>
                  <a:latin typeface="+mj-ea"/>
                  <a:ea typeface="+mj-ea"/>
                </a:rPr>
                <a:t>数据字典</a:t>
              </a:r>
              <a:endParaRPr kumimoji="1" lang="zh-CN" altLang="en-US" b="1" dirty="0">
                <a:solidFill>
                  <a:schemeClr val="bg1"/>
                </a:solidFill>
                <a:latin typeface="+mj-ea"/>
                <a:ea typeface="+mj-ea"/>
              </a:endParaRPr>
            </a:p>
            <a:p>
              <a:pPr algn="ctr" eaLnBrk="0" hangingPunct="0">
                <a:defRPr/>
              </a:pPr>
              <a:r>
                <a:rPr kumimoji="1" lang="zh-CN" altLang="en-US" b="1" dirty="0">
                  <a:solidFill>
                    <a:schemeClr val="bg1"/>
                  </a:solidFill>
                  <a:latin typeface="+mj-ea"/>
                  <a:ea typeface="+mj-ea"/>
                </a:rPr>
                <a:t>（</a:t>
              </a:r>
              <a:r>
                <a:rPr kumimoji="1" lang="en-US" altLang="zh-CN" b="1" dirty="0">
                  <a:solidFill>
                    <a:schemeClr val="bg1"/>
                  </a:solidFill>
                  <a:latin typeface="+mj-ea"/>
                  <a:ea typeface="+mj-ea"/>
                </a:rPr>
                <a:t>DD</a:t>
              </a:r>
              <a:r>
                <a:rPr kumimoji="1" lang="zh-CN" altLang="en-US" b="1" dirty="0">
                  <a:solidFill>
                    <a:schemeClr val="bg1"/>
                  </a:solidFill>
                  <a:latin typeface="+mj-ea"/>
                  <a:ea typeface="+mj-ea"/>
                </a:rPr>
                <a:t>）</a:t>
              </a:r>
              <a:endParaRPr kumimoji="1" lang="zh-CN" altLang="en-US" dirty="0">
                <a:solidFill>
                  <a:schemeClr val="bg1"/>
                </a:solidFill>
                <a:latin typeface="+mj-ea"/>
                <a:ea typeface="+mj-ea"/>
              </a:endParaRPr>
            </a:p>
          </p:txBody>
        </p:sp>
        <p:sp>
          <p:nvSpPr>
            <p:cNvPr id="71" name="Text Box 18"/>
            <p:cNvSpPr txBox="1">
              <a:spLocks noChangeArrowheads="1"/>
            </p:cNvSpPr>
            <p:nvPr/>
          </p:nvSpPr>
          <p:spPr bwMode="auto">
            <a:xfrm>
              <a:off x="6326284" y="2506519"/>
              <a:ext cx="1955800" cy="789056"/>
            </a:xfrm>
            <a:prstGeom prst="rect">
              <a:avLst/>
            </a:prstGeom>
            <a:noFill/>
            <a:ln w="12700">
              <a:noFill/>
              <a:miter lim="800000"/>
              <a:headEnd type="none" w="sm" len="sm"/>
              <a:tailEnd type="none" w="sm" len="sm"/>
            </a:ln>
            <a:effectLst/>
          </p:spPr>
          <p:txBody>
            <a:bodyPr>
              <a:spAutoFit/>
            </a:bodyPr>
            <a:lstStyle/>
            <a:p>
              <a:pPr algn="l" eaLnBrk="0" hangingPunct="0">
                <a:defRPr/>
              </a:pPr>
              <a:r>
                <a:rPr kumimoji="1" lang="zh-CN" altLang="en-US" sz="1500" b="1" dirty="0">
                  <a:latin typeface="+mj-ea"/>
                  <a:ea typeface="+mj-ea"/>
                </a:rPr>
                <a:t>数据流图</a:t>
              </a:r>
              <a:endParaRPr kumimoji="1" lang="zh-CN" altLang="en-US" sz="1500" b="1" dirty="0">
                <a:latin typeface="+mj-ea"/>
                <a:ea typeface="+mj-ea"/>
              </a:endParaRPr>
            </a:p>
            <a:p>
              <a:pPr algn="l" eaLnBrk="0" hangingPunct="0">
                <a:defRPr/>
              </a:pPr>
              <a:r>
                <a:rPr kumimoji="1" lang="zh-CN" altLang="en-US" sz="1500" b="1" dirty="0">
                  <a:latin typeface="+mj-ea"/>
                  <a:ea typeface="+mj-ea"/>
                </a:rPr>
                <a:t>  </a:t>
              </a:r>
              <a:r>
                <a:rPr kumimoji="1" lang="en-US" altLang="zh-CN" sz="1500" b="1" dirty="0">
                  <a:latin typeface="+mj-ea"/>
                  <a:ea typeface="+mj-ea"/>
                </a:rPr>
                <a:t>(DFD)</a:t>
              </a:r>
              <a:endParaRPr kumimoji="1" lang="en-US" altLang="zh-CN" sz="1500" dirty="0">
                <a:latin typeface="+mj-ea"/>
                <a:ea typeface="+mj-ea"/>
              </a:endParaRPr>
            </a:p>
          </p:txBody>
        </p:sp>
      </p:grpSp>
      <p:grpSp>
        <p:nvGrpSpPr>
          <p:cNvPr id="72" name="Group 54"/>
          <p:cNvGrpSpPr/>
          <p:nvPr/>
        </p:nvGrpSpPr>
        <p:grpSpPr bwMode="auto">
          <a:xfrm>
            <a:off x="4932012" y="523188"/>
            <a:ext cx="4101994" cy="4095753"/>
            <a:chOff x="487" y="365"/>
            <a:chExt cx="4546" cy="4054"/>
          </a:xfrm>
        </p:grpSpPr>
        <p:sp>
          <p:nvSpPr>
            <p:cNvPr id="73" name="Oval 42"/>
            <p:cNvSpPr>
              <a:spLocks noChangeArrowheads="1"/>
            </p:cNvSpPr>
            <p:nvPr/>
          </p:nvSpPr>
          <p:spPr bwMode="auto">
            <a:xfrm>
              <a:off x="487" y="365"/>
              <a:ext cx="4546" cy="4054"/>
            </a:xfrm>
            <a:prstGeom prst="ellipse">
              <a:avLst/>
            </a:prstGeom>
            <a:solidFill>
              <a:srgbClr val="0070C0"/>
            </a:solidFill>
            <a:ln>
              <a:headEnd type="none" w="sm" len="sm"/>
              <a:tailEnd type="none" w="sm" len="sm"/>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defRPr/>
              </a:pPr>
              <a:endParaRPr lang="zh-CN" altLang="en-US" sz="1350" b="1">
                <a:latin typeface="+mj-ea"/>
                <a:ea typeface="+mj-ea"/>
              </a:endParaRPr>
            </a:p>
          </p:txBody>
        </p:sp>
        <p:sp>
          <p:nvSpPr>
            <p:cNvPr id="74" name="Oval 43"/>
            <p:cNvSpPr>
              <a:spLocks noChangeArrowheads="1"/>
            </p:cNvSpPr>
            <p:nvPr/>
          </p:nvSpPr>
          <p:spPr bwMode="auto">
            <a:xfrm>
              <a:off x="1074" y="897"/>
              <a:ext cx="3379" cy="2991"/>
            </a:xfrm>
            <a:prstGeom prst="ellipse">
              <a:avLst/>
            </a:prstGeom>
            <a:solidFill>
              <a:srgbClr val="FFC000"/>
            </a:solidFill>
            <a:ln w="12700">
              <a:solidFill>
                <a:schemeClr val="tx1"/>
              </a:solidFill>
              <a:round/>
              <a:headEnd type="none" w="sm" len="sm"/>
              <a:tailEnd type="none" w="sm" len="sm"/>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350" b="1">
                <a:latin typeface="+mj-ea"/>
                <a:ea typeface="+mj-ea"/>
              </a:endParaRPr>
            </a:p>
          </p:txBody>
        </p:sp>
        <p:sp>
          <p:nvSpPr>
            <p:cNvPr id="75" name="Line 44"/>
            <p:cNvSpPr>
              <a:spLocks noChangeShapeType="1"/>
            </p:cNvSpPr>
            <p:nvPr/>
          </p:nvSpPr>
          <p:spPr bwMode="auto">
            <a:xfrm>
              <a:off x="2784" y="895"/>
              <a:ext cx="0" cy="864"/>
            </a:xfrm>
            <a:prstGeom prst="line">
              <a:avLst/>
            </a:prstGeom>
            <a:noFill/>
            <a:ln w="28575">
              <a:solidFill>
                <a:schemeClr val="bg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b="1">
                <a:latin typeface="+mj-ea"/>
                <a:ea typeface="+mj-ea"/>
              </a:endParaRPr>
            </a:p>
          </p:txBody>
        </p:sp>
        <p:sp>
          <p:nvSpPr>
            <p:cNvPr id="76" name="Line 45"/>
            <p:cNvSpPr>
              <a:spLocks noChangeShapeType="1"/>
            </p:cNvSpPr>
            <p:nvPr/>
          </p:nvSpPr>
          <p:spPr bwMode="auto">
            <a:xfrm>
              <a:off x="3264" y="2688"/>
              <a:ext cx="846" cy="509"/>
            </a:xfrm>
            <a:prstGeom prst="line">
              <a:avLst/>
            </a:prstGeom>
            <a:noFill/>
            <a:ln w="28575">
              <a:solidFill>
                <a:schemeClr val="bg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b="1">
                <a:latin typeface="+mj-ea"/>
                <a:ea typeface="+mj-ea"/>
              </a:endParaRPr>
            </a:p>
          </p:txBody>
        </p:sp>
        <p:sp>
          <p:nvSpPr>
            <p:cNvPr id="77" name="Line 46"/>
            <p:cNvSpPr>
              <a:spLocks noChangeShapeType="1"/>
            </p:cNvSpPr>
            <p:nvPr/>
          </p:nvSpPr>
          <p:spPr bwMode="auto">
            <a:xfrm flipH="1">
              <a:off x="1423" y="2688"/>
              <a:ext cx="881" cy="622"/>
            </a:xfrm>
            <a:prstGeom prst="line">
              <a:avLst/>
            </a:prstGeom>
            <a:noFill/>
            <a:ln w="28575">
              <a:solidFill>
                <a:schemeClr val="bg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b="1">
                <a:latin typeface="+mj-ea"/>
                <a:ea typeface="+mj-ea"/>
              </a:endParaRPr>
            </a:p>
          </p:txBody>
        </p:sp>
        <p:sp>
          <p:nvSpPr>
            <p:cNvPr id="78" name="Text Box 47"/>
            <p:cNvSpPr txBox="1">
              <a:spLocks noChangeArrowheads="1"/>
            </p:cNvSpPr>
            <p:nvPr/>
          </p:nvSpPr>
          <p:spPr bwMode="auto">
            <a:xfrm>
              <a:off x="3101" y="1707"/>
              <a:ext cx="1451" cy="548"/>
            </a:xfrm>
            <a:prstGeom prst="rect">
              <a:avLst/>
            </a:prstGeom>
            <a:noFill/>
            <a:ln w="12700">
              <a:noFill/>
              <a:miter lim="800000"/>
              <a:headEnd type="none" w="sm" len="sm"/>
              <a:tailEnd type="none" w="sm" len="sm"/>
            </a:ln>
            <a:effectLst/>
          </p:spPr>
          <p:txBody>
            <a:bodyPr wrap="square">
              <a:spAutoFit/>
            </a:bodyPr>
            <a:lstStyle/>
            <a:p>
              <a:pPr algn="ctr" eaLnBrk="0" hangingPunct="0">
                <a:defRPr/>
              </a:pPr>
              <a:r>
                <a:rPr kumimoji="1" lang="zh-CN" altLang="en-US" sz="1500" b="1" dirty="0">
                  <a:latin typeface="+mj-ea"/>
                  <a:ea typeface="+mj-ea"/>
                </a:rPr>
                <a:t>对象</a:t>
              </a:r>
              <a:r>
                <a:rPr kumimoji="1" lang="en-US" altLang="zh-CN" sz="1500" b="1">
                  <a:latin typeface="+mj-ea"/>
                  <a:ea typeface="+mj-ea"/>
                </a:rPr>
                <a:t>-</a:t>
              </a:r>
              <a:r>
                <a:rPr kumimoji="1" lang="zh-CN" altLang="en-US" sz="1500" b="1">
                  <a:latin typeface="+mj-ea"/>
                  <a:ea typeface="+mj-ea"/>
                </a:rPr>
                <a:t>关系</a:t>
              </a:r>
              <a:endParaRPr kumimoji="1" lang="en-US" altLang="zh-CN" sz="1500" b="1">
                <a:latin typeface="+mj-ea"/>
                <a:ea typeface="+mj-ea"/>
              </a:endParaRPr>
            </a:p>
            <a:p>
              <a:pPr algn="ctr" eaLnBrk="0" hangingPunct="0">
                <a:defRPr/>
              </a:pPr>
              <a:r>
                <a:rPr kumimoji="1" lang="zh-CN" altLang="en-US" sz="1500" b="1">
                  <a:latin typeface="+mj-ea"/>
                  <a:ea typeface="+mj-ea"/>
                </a:rPr>
                <a:t>模型</a:t>
              </a:r>
              <a:endParaRPr kumimoji="1" lang="zh-CN" altLang="en-US" sz="1500" b="1" dirty="0">
                <a:latin typeface="+mj-ea"/>
                <a:ea typeface="+mj-ea"/>
              </a:endParaRPr>
            </a:p>
          </p:txBody>
        </p:sp>
        <p:sp>
          <p:nvSpPr>
            <p:cNvPr id="79" name="Text Box 48"/>
            <p:cNvSpPr txBox="1">
              <a:spLocks noChangeArrowheads="1"/>
            </p:cNvSpPr>
            <p:nvPr/>
          </p:nvSpPr>
          <p:spPr bwMode="auto">
            <a:xfrm>
              <a:off x="1087" y="1746"/>
              <a:ext cx="1306" cy="548"/>
            </a:xfrm>
            <a:prstGeom prst="rect">
              <a:avLst/>
            </a:prstGeom>
            <a:noFill/>
            <a:ln w="12700">
              <a:noFill/>
              <a:miter lim="800000"/>
              <a:headEnd type="none" w="sm" len="sm"/>
              <a:tailEnd type="none" w="sm" len="sm"/>
            </a:ln>
            <a:effectLst/>
          </p:spPr>
          <p:txBody>
            <a:bodyPr wrap="square">
              <a:spAutoFit/>
            </a:bodyPr>
            <a:lstStyle/>
            <a:p>
              <a:pPr algn="ctr" eaLnBrk="0" hangingPunct="0">
                <a:defRPr/>
              </a:pPr>
              <a:r>
                <a:rPr kumimoji="1" lang="zh-CN" altLang="en-US" sz="1500" b="1" dirty="0">
                  <a:latin typeface="+mj-ea"/>
                  <a:ea typeface="+mj-ea"/>
                </a:rPr>
                <a:t>对象</a:t>
              </a:r>
              <a:r>
                <a:rPr kumimoji="1" lang="en-US" altLang="zh-CN" sz="1500" b="1">
                  <a:latin typeface="+mj-ea"/>
                  <a:ea typeface="+mj-ea"/>
                </a:rPr>
                <a:t>-</a:t>
              </a:r>
              <a:r>
                <a:rPr kumimoji="1" lang="zh-CN" altLang="en-US" sz="1500" b="1">
                  <a:latin typeface="+mj-ea"/>
                  <a:ea typeface="+mj-ea"/>
                </a:rPr>
                <a:t>封装</a:t>
              </a:r>
              <a:endParaRPr kumimoji="1" lang="en-US" altLang="zh-CN" sz="1500" b="1">
                <a:latin typeface="+mj-ea"/>
                <a:ea typeface="+mj-ea"/>
              </a:endParaRPr>
            </a:p>
            <a:p>
              <a:pPr algn="ctr" eaLnBrk="0" hangingPunct="0">
                <a:defRPr/>
              </a:pPr>
              <a:r>
                <a:rPr kumimoji="1" lang="zh-CN" altLang="en-US" sz="1500" b="1">
                  <a:latin typeface="+mj-ea"/>
                  <a:ea typeface="+mj-ea"/>
                </a:rPr>
                <a:t>模型</a:t>
              </a:r>
              <a:endParaRPr kumimoji="1" lang="zh-CN" altLang="en-US" sz="1500" b="1" dirty="0">
                <a:latin typeface="+mj-ea"/>
                <a:ea typeface="+mj-ea"/>
              </a:endParaRPr>
            </a:p>
          </p:txBody>
        </p:sp>
        <p:sp>
          <p:nvSpPr>
            <p:cNvPr id="80" name="Text Box 49"/>
            <p:cNvSpPr txBox="1">
              <a:spLocks noChangeArrowheads="1"/>
            </p:cNvSpPr>
            <p:nvPr/>
          </p:nvSpPr>
          <p:spPr bwMode="auto">
            <a:xfrm>
              <a:off x="1776" y="3100"/>
              <a:ext cx="2112" cy="548"/>
            </a:xfrm>
            <a:prstGeom prst="rect">
              <a:avLst/>
            </a:prstGeom>
            <a:noFill/>
            <a:ln w="12700">
              <a:noFill/>
              <a:miter lim="800000"/>
              <a:headEnd type="none" w="sm" len="sm"/>
              <a:tailEnd type="none" w="sm" len="sm"/>
            </a:ln>
            <a:effectLst/>
          </p:spPr>
          <p:txBody>
            <a:bodyPr>
              <a:spAutoFit/>
            </a:bodyPr>
            <a:lstStyle/>
            <a:p>
              <a:pPr algn="ctr" eaLnBrk="0" hangingPunct="0">
                <a:defRPr/>
              </a:pPr>
              <a:r>
                <a:rPr kumimoji="1" lang="zh-CN" altLang="en-US" sz="1500" b="1" dirty="0">
                  <a:latin typeface="+mj-ea"/>
                  <a:ea typeface="+mj-ea"/>
                </a:rPr>
                <a:t>对象</a:t>
              </a:r>
              <a:r>
                <a:rPr kumimoji="1" lang="en-US" altLang="zh-CN" sz="1500" b="1" dirty="0">
                  <a:latin typeface="+mj-ea"/>
                  <a:ea typeface="+mj-ea"/>
                </a:rPr>
                <a:t>-</a:t>
              </a:r>
              <a:r>
                <a:rPr kumimoji="1" lang="zh-CN" altLang="en-US" sz="1500" b="1" dirty="0">
                  <a:latin typeface="+mj-ea"/>
                  <a:ea typeface="+mj-ea"/>
                </a:rPr>
                <a:t>行为</a:t>
              </a:r>
              <a:endParaRPr kumimoji="1" lang="en-US" altLang="zh-CN" sz="1500" b="1" dirty="0">
                <a:latin typeface="+mj-ea"/>
                <a:ea typeface="+mj-ea"/>
              </a:endParaRPr>
            </a:p>
            <a:p>
              <a:pPr algn="ctr" eaLnBrk="0" hangingPunct="0">
                <a:defRPr/>
              </a:pPr>
              <a:r>
                <a:rPr kumimoji="1" lang="zh-CN" altLang="en-US" sz="1500" b="1" dirty="0">
                  <a:latin typeface="+mj-ea"/>
                  <a:ea typeface="+mj-ea"/>
                </a:rPr>
                <a:t>模型</a:t>
              </a:r>
              <a:endParaRPr kumimoji="1" lang="zh-CN" altLang="en-US" sz="1500" b="1" dirty="0">
                <a:latin typeface="+mj-ea"/>
                <a:ea typeface="+mj-ea"/>
              </a:endParaRPr>
            </a:p>
          </p:txBody>
        </p:sp>
        <p:sp>
          <p:nvSpPr>
            <p:cNvPr id="81" name="Oval 50"/>
            <p:cNvSpPr>
              <a:spLocks noChangeArrowheads="1"/>
            </p:cNvSpPr>
            <p:nvPr/>
          </p:nvSpPr>
          <p:spPr bwMode="auto">
            <a:xfrm>
              <a:off x="2043" y="1680"/>
              <a:ext cx="1467" cy="1247"/>
            </a:xfrm>
            <a:prstGeom prst="ellipse">
              <a:avLst/>
            </a:prstGeom>
            <a:solidFill>
              <a:srgbClr val="00B050"/>
            </a:solidFill>
            <a:ln w="12700">
              <a:solidFill>
                <a:schemeClr val="tx1"/>
              </a:solidFill>
              <a:round/>
              <a:headEnd type="none" w="sm" len="sm"/>
              <a:tailEnd type="none" w="sm" len="sm"/>
            </a:ln>
            <a:effectLst/>
          </p:spPr>
          <p:txBody>
            <a:bodyPr wrap="none" anchor="ctr"/>
            <a:lstStyle/>
            <a:p>
              <a:pPr algn="ctr" eaLnBrk="0" hangingPunct="0">
                <a:defRPr/>
              </a:pPr>
              <a:r>
                <a:rPr kumimoji="1" lang="zh-CN" altLang="en-US" sz="1500" b="1" dirty="0">
                  <a:solidFill>
                    <a:schemeClr val="bg1"/>
                  </a:solidFill>
                  <a:latin typeface="+mj-ea"/>
                  <a:ea typeface="+mj-ea"/>
                </a:rPr>
                <a:t>使用实例</a:t>
              </a:r>
              <a:endParaRPr kumimoji="1" lang="zh-CN" altLang="en-US" sz="1500" b="1" dirty="0">
                <a:solidFill>
                  <a:schemeClr val="bg1"/>
                </a:solidFill>
                <a:latin typeface="+mj-ea"/>
                <a:ea typeface="+mj-ea"/>
              </a:endParaRPr>
            </a:p>
            <a:p>
              <a:pPr algn="ctr" eaLnBrk="0" hangingPunct="0">
                <a:defRPr/>
              </a:pPr>
              <a:r>
                <a:rPr kumimoji="1" lang="en-US" altLang="zh-CN" sz="1500" b="1" dirty="0">
                  <a:solidFill>
                    <a:schemeClr val="bg1"/>
                  </a:solidFill>
                  <a:latin typeface="+mj-ea"/>
                  <a:ea typeface="+mj-ea"/>
                </a:rPr>
                <a:t>(Use Case)</a:t>
              </a:r>
              <a:endParaRPr kumimoji="1" lang="en-US" altLang="zh-CN" sz="1500" b="1" dirty="0">
                <a:solidFill>
                  <a:schemeClr val="bg1"/>
                </a:solidFill>
                <a:latin typeface="+mj-ea"/>
                <a:ea typeface="+mj-ea"/>
              </a:endParaRPr>
            </a:p>
          </p:txBody>
        </p:sp>
        <p:sp>
          <p:nvSpPr>
            <p:cNvPr id="82" name="Rectangle 51"/>
            <p:cNvSpPr>
              <a:spLocks noChangeArrowheads="1"/>
            </p:cNvSpPr>
            <p:nvPr/>
          </p:nvSpPr>
          <p:spPr bwMode="auto">
            <a:xfrm>
              <a:off x="2424" y="512"/>
              <a:ext cx="977" cy="366"/>
            </a:xfrm>
            <a:prstGeom prst="rect">
              <a:avLst/>
            </a:prstGeom>
            <a:noFill/>
            <a:ln w="12700">
              <a:noFill/>
              <a:miter lim="800000"/>
              <a:headEnd type="none" w="sm" len="sm"/>
              <a:tailEnd type="none" w="sm" len="sm"/>
            </a:ln>
            <a:effectLst/>
          </p:spPr>
          <p:txBody>
            <a:bodyPr wrap="none">
              <a:spAutoFit/>
            </a:bodyPr>
            <a:lstStyle/>
            <a:p>
              <a:pPr algn="l" eaLnBrk="0" hangingPunct="0">
                <a:defRPr/>
              </a:pPr>
              <a:r>
                <a:rPr kumimoji="1" lang="zh-CN" altLang="en-US" b="1" dirty="0">
                  <a:solidFill>
                    <a:schemeClr val="bg1"/>
                  </a:solidFill>
                  <a:latin typeface="+mj-ea"/>
                  <a:ea typeface="+mj-ea"/>
                </a:rPr>
                <a:t>操作、</a:t>
              </a:r>
              <a:endParaRPr kumimoji="1" lang="zh-CN" altLang="en-US" b="1" dirty="0">
                <a:solidFill>
                  <a:schemeClr val="bg1"/>
                </a:solidFill>
                <a:latin typeface="+mj-ea"/>
                <a:ea typeface="+mj-ea"/>
              </a:endParaRPr>
            </a:p>
          </p:txBody>
        </p:sp>
        <p:sp>
          <p:nvSpPr>
            <p:cNvPr id="83" name="Rectangle 52"/>
            <p:cNvSpPr>
              <a:spLocks noChangeArrowheads="1"/>
            </p:cNvSpPr>
            <p:nvPr/>
          </p:nvSpPr>
          <p:spPr bwMode="auto">
            <a:xfrm rot="20488567">
              <a:off x="1639" y="605"/>
              <a:ext cx="977" cy="366"/>
            </a:xfrm>
            <a:prstGeom prst="rect">
              <a:avLst/>
            </a:prstGeom>
            <a:noFill/>
            <a:ln w="12700">
              <a:noFill/>
              <a:miter lim="800000"/>
              <a:headEnd type="none" w="sm" len="sm"/>
              <a:tailEnd type="none" w="sm" len="sm"/>
            </a:ln>
            <a:effectLst/>
          </p:spPr>
          <p:txBody>
            <a:bodyPr wrap="none">
              <a:spAutoFit/>
            </a:bodyPr>
            <a:lstStyle/>
            <a:p>
              <a:pPr algn="l" eaLnBrk="0" hangingPunct="0">
                <a:defRPr/>
              </a:pPr>
              <a:r>
                <a:rPr kumimoji="1" lang="zh-CN" altLang="en-US" b="1" dirty="0">
                  <a:solidFill>
                    <a:schemeClr val="bg1"/>
                  </a:solidFill>
                  <a:latin typeface="+mj-ea"/>
                  <a:ea typeface="+mj-ea"/>
                </a:rPr>
                <a:t>属性、</a:t>
              </a:r>
              <a:endParaRPr kumimoji="1" lang="zh-CN" altLang="en-US" b="1" dirty="0">
                <a:solidFill>
                  <a:schemeClr val="bg1"/>
                </a:solidFill>
                <a:latin typeface="+mj-ea"/>
                <a:ea typeface="+mj-ea"/>
              </a:endParaRPr>
            </a:p>
          </p:txBody>
        </p:sp>
        <p:sp>
          <p:nvSpPr>
            <p:cNvPr id="84" name="Rectangle 53"/>
            <p:cNvSpPr>
              <a:spLocks noChangeArrowheads="1"/>
            </p:cNvSpPr>
            <p:nvPr/>
          </p:nvSpPr>
          <p:spPr bwMode="auto">
            <a:xfrm rot="1360059">
              <a:off x="3203" y="714"/>
              <a:ext cx="977" cy="366"/>
            </a:xfrm>
            <a:prstGeom prst="rect">
              <a:avLst/>
            </a:prstGeom>
            <a:noFill/>
            <a:ln w="12700">
              <a:noFill/>
              <a:miter lim="800000"/>
              <a:headEnd type="none" w="sm" len="sm"/>
              <a:tailEnd type="none" w="sm" len="sm"/>
            </a:ln>
            <a:effectLst/>
          </p:spPr>
          <p:txBody>
            <a:bodyPr wrap="none">
              <a:spAutoFit/>
            </a:bodyPr>
            <a:lstStyle/>
            <a:p>
              <a:pPr algn="l" eaLnBrk="0" hangingPunct="0">
                <a:defRPr/>
              </a:pPr>
              <a:r>
                <a:rPr kumimoji="1" lang="zh-CN" altLang="en-US" b="1" dirty="0">
                  <a:solidFill>
                    <a:schemeClr val="bg1"/>
                  </a:solidFill>
                  <a:latin typeface="+mj-ea"/>
                  <a:ea typeface="+mj-ea"/>
                </a:rPr>
                <a:t>协作者</a:t>
              </a:r>
              <a:endParaRPr kumimoji="1" lang="zh-CN" altLang="en-US" b="1" dirty="0">
                <a:solidFill>
                  <a:schemeClr val="bg1"/>
                </a:solidFill>
                <a:latin typeface="+mj-ea"/>
                <a:ea typeface="+mj-ea"/>
              </a:endParaRPr>
            </a:p>
          </p:txBody>
        </p:sp>
      </p:grpSp>
      <p:sp>
        <p:nvSpPr>
          <p:cNvPr id="2" name="标题 1"/>
          <p:cNvSpPr>
            <a:spLocks noGrp="1"/>
          </p:cNvSpPr>
          <p:nvPr>
            <p:ph type="title"/>
          </p:nvPr>
        </p:nvSpPr>
        <p:spPr/>
        <p:txBody>
          <a:bodyPr/>
          <a:lstStyle/>
          <a:p>
            <a:r>
              <a:rPr lang="zh-CN" altLang="en-US" kern="100" dirty="0">
                <a:latin typeface="+mn-ea"/>
                <a:cs typeface="Times New Roman" panose="02020603050405020304" pitchFamily="18" charset="0"/>
              </a:rPr>
              <a:t>需求建模技术</a:t>
            </a:r>
            <a:endParaRPr lang="zh-CN" altLang="en-US" dirty="0"/>
          </a:p>
        </p:txBody>
      </p:sp>
      <p:sp>
        <p:nvSpPr>
          <p:cNvPr id="4" name="日期占位符 3"/>
          <p:cNvSpPr>
            <a:spLocks noGrp="1"/>
          </p:cNvSpPr>
          <p:nvPr>
            <p:ph type="dt" sz="half" idx="10"/>
          </p:nvPr>
        </p:nvSpPr>
        <p:spPr/>
        <p:txBody>
          <a:bodyPr/>
          <a:lstStyle/>
          <a:p>
            <a:fld id="{E6634D61-1304-454A-9EDE-4A3263F31150}"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软件工程</a:t>
            </a:r>
            <a:endParaRPr lang="zh-CN" altLang="en-US"/>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up)">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wipe(up)">
                                      <p:cBhvr>
                                        <p:cTn id="12" dur="50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54"/>
                                        </p:tgtEl>
                                        <p:attrNameLst>
                                          <p:attrName>style.visibility</p:attrName>
                                        </p:attrNameLst>
                                      </p:cBhvr>
                                      <p:to>
                                        <p:strVal val="visible"/>
                                      </p:to>
                                    </p:set>
                                    <p:animEffect transition="in" filter="randombar(horizontal)">
                                      <p:cBhvr>
                                        <p:cTn id="17" dur="500"/>
                                        <p:tgtEl>
                                          <p:spTgt spid="54"/>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72"/>
                                        </p:tgtEl>
                                        <p:attrNameLst>
                                          <p:attrName>style.visibility</p:attrName>
                                        </p:attrNameLst>
                                      </p:cBhvr>
                                      <p:to>
                                        <p:strVal val="visible"/>
                                      </p:to>
                                    </p:set>
                                    <p:animEffect transition="in" filter="randombar(horizontal)">
                                      <p:cBhvr>
                                        <p:cTn id="22"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需求建模技术</a:t>
            </a:r>
            <a:endParaRPr lang="zh-CN" altLang="en-US"/>
          </a:p>
        </p:txBody>
      </p:sp>
      <p:sp>
        <p:nvSpPr>
          <p:cNvPr id="8" name="任意多边形: 形状 16"/>
          <p:cNvSpPr/>
          <p:nvPr>
            <p:custDataLst>
              <p:tags r:id="rId2"/>
            </p:custDataLst>
          </p:nvPr>
        </p:nvSpPr>
        <p:spPr>
          <a:xfrm>
            <a:off x="2454593" y="1756886"/>
            <a:ext cx="1772126" cy="2377440"/>
          </a:xfrm>
          <a:custGeom>
            <a:avLst/>
            <a:gdLst>
              <a:gd name="connsiteX0" fmla="*/ 608952 w 609123"/>
              <a:gd name="connsiteY0" fmla="*/ 276658 h 716375"/>
              <a:gd name="connsiteX1" fmla="*/ -171 w 609123"/>
              <a:gd name="connsiteY1" fmla="*/ -234 h 716375"/>
              <a:gd name="connsiteX2" fmla="*/ -171 w 609123"/>
              <a:gd name="connsiteY2" fmla="*/ 716141 h 716375"/>
              <a:gd name="connsiteX3" fmla="*/ 608952 w 609123"/>
              <a:gd name="connsiteY3" fmla="*/ 439250 h 716375"/>
            </a:gdLst>
            <a:ahLst/>
            <a:cxnLst>
              <a:cxn ang="0">
                <a:pos x="connsiteX0" y="connsiteY0"/>
              </a:cxn>
              <a:cxn ang="0">
                <a:pos x="connsiteX1" y="connsiteY1"/>
              </a:cxn>
              <a:cxn ang="0">
                <a:pos x="connsiteX2" y="connsiteY2"/>
              </a:cxn>
              <a:cxn ang="0">
                <a:pos x="connsiteX3" y="connsiteY3"/>
              </a:cxn>
            </a:cxnLst>
            <a:rect l="l" t="t" r="r" b="b"/>
            <a:pathLst>
              <a:path w="609123" h="716375">
                <a:moveTo>
                  <a:pt x="608952" y="276658"/>
                </a:moveTo>
                <a:cubicBezTo>
                  <a:pt x="376333" y="272667"/>
                  <a:pt x="155781" y="172407"/>
                  <a:pt x="-171" y="-234"/>
                </a:cubicBezTo>
                <a:lnTo>
                  <a:pt x="-171" y="716141"/>
                </a:lnTo>
                <a:cubicBezTo>
                  <a:pt x="155781" y="543501"/>
                  <a:pt x="376333" y="443240"/>
                  <a:pt x="608952" y="439250"/>
                </a:cubicBezTo>
                <a:close/>
              </a:path>
            </a:pathLst>
          </a:custGeom>
          <a:gradFill>
            <a:gsLst>
              <a:gs pos="0">
                <a:schemeClr val="accent1">
                  <a:lumMod val="60000"/>
                  <a:lumOff val="40000"/>
                  <a:alpha val="0"/>
                </a:schemeClr>
              </a:gs>
              <a:gs pos="98000">
                <a:schemeClr val="accent1">
                  <a:alpha val="67000"/>
                </a:schemeClr>
              </a:gs>
            </a:gsLst>
            <a:lin ang="0" scaled="0"/>
          </a:gradFill>
          <a:ln w="9525" cap="flat">
            <a:noFill/>
            <a:prstDash val="solid"/>
            <a:miter/>
          </a:ln>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p>
        </p:txBody>
      </p:sp>
      <p:sp>
        <p:nvSpPr>
          <p:cNvPr id="41" name="任意多边形: 形状 16"/>
          <p:cNvSpPr/>
          <p:nvPr>
            <p:custDataLst>
              <p:tags r:id="rId3"/>
            </p:custDataLst>
          </p:nvPr>
        </p:nvSpPr>
        <p:spPr>
          <a:xfrm flipH="1">
            <a:off x="4917281" y="1756886"/>
            <a:ext cx="1772126" cy="2377440"/>
          </a:xfrm>
          <a:custGeom>
            <a:avLst/>
            <a:gdLst>
              <a:gd name="connsiteX0" fmla="*/ 608952 w 609123"/>
              <a:gd name="connsiteY0" fmla="*/ 276658 h 716375"/>
              <a:gd name="connsiteX1" fmla="*/ -171 w 609123"/>
              <a:gd name="connsiteY1" fmla="*/ -234 h 716375"/>
              <a:gd name="connsiteX2" fmla="*/ -171 w 609123"/>
              <a:gd name="connsiteY2" fmla="*/ 716141 h 716375"/>
              <a:gd name="connsiteX3" fmla="*/ 608952 w 609123"/>
              <a:gd name="connsiteY3" fmla="*/ 439250 h 716375"/>
            </a:gdLst>
            <a:ahLst/>
            <a:cxnLst>
              <a:cxn ang="0">
                <a:pos x="connsiteX0" y="connsiteY0"/>
              </a:cxn>
              <a:cxn ang="0">
                <a:pos x="connsiteX1" y="connsiteY1"/>
              </a:cxn>
              <a:cxn ang="0">
                <a:pos x="connsiteX2" y="connsiteY2"/>
              </a:cxn>
              <a:cxn ang="0">
                <a:pos x="connsiteX3" y="connsiteY3"/>
              </a:cxn>
            </a:cxnLst>
            <a:rect l="l" t="t" r="r" b="b"/>
            <a:pathLst>
              <a:path w="609123" h="716375">
                <a:moveTo>
                  <a:pt x="608952" y="276658"/>
                </a:moveTo>
                <a:cubicBezTo>
                  <a:pt x="376333" y="272667"/>
                  <a:pt x="155781" y="172407"/>
                  <a:pt x="-171" y="-234"/>
                </a:cubicBezTo>
                <a:lnTo>
                  <a:pt x="-171" y="716141"/>
                </a:lnTo>
                <a:cubicBezTo>
                  <a:pt x="155781" y="543501"/>
                  <a:pt x="376333" y="443240"/>
                  <a:pt x="608952" y="439250"/>
                </a:cubicBezTo>
                <a:close/>
              </a:path>
            </a:pathLst>
          </a:custGeom>
          <a:gradFill>
            <a:gsLst>
              <a:gs pos="0">
                <a:schemeClr val="accent1">
                  <a:lumMod val="60000"/>
                  <a:lumOff val="40000"/>
                  <a:alpha val="0"/>
                </a:schemeClr>
              </a:gs>
              <a:gs pos="98000">
                <a:schemeClr val="accent1">
                  <a:alpha val="67000"/>
                </a:schemeClr>
              </a:gs>
            </a:gsLst>
            <a:lin ang="0" scaled="0"/>
          </a:gradFill>
          <a:ln w="9525" cap="flat">
            <a:noFill/>
            <a:prstDash val="solid"/>
            <a:miter/>
          </a:ln>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p>
        </p:txBody>
      </p:sp>
      <p:sp useBgFill="1">
        <p:nvSpPr>
          <p:cNvPr id="3" name="椭圆 2"/>
          <p:cNvSpPr/>
          <p:nvPr>
            <p:custDataLst>
              <p:tags r:id="rId4"/>
            </p:custDataLst>
          </p:nvPr>
        </p:nvSpPr>
        <p:spPr>
          <a:xfrm>
            <a:off x="3259931" y="1618298"/>
            <a:ext cx="2624138" cy="2624138"/>
          </a:xfrm>
          <a:prstGeom prst="ellipse">
            <a:avLst/>
          </a:prstGeom>
          <a:ln w="3175">
            <a:solidFill>
              <a:schemeClr val="accent1">
                <a:alpha val="35000"/>
              </a:schemeClr>
            </a:solidFill>
          </a:ln>
          <a:effectLst>
            <a:outerShdw blurRad="508000" dist="38100" dir="2700000" algn="tl" rotWithShape="0">
              <a:prstClr val="black">
                <a:alpha val="13000"/>
              </a:prstClr>
            </a:outerShdw>
          </a:effec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lstStyle/>
          <a:p>
            <a:pPr algn="ctr"/>
            <a:r>
              <a:rPr lang="zh-CN" altLang="en-US" b="1">
                <a:solidFill>
                  <a:schemeClr val="accent1"/>
                </a:solidFill>
                <a:latin typeface="+mn-ea"/>
              </a:rPr>
              <a:t>添加</a:t>
            </a:r>
            <a:endParaRPr lang="zh-CN" altLang="en-US" b="1">
              <a:solidFill>
                <a:schemeClr val="accent1"/>
              </a:solidFill>
              <a:latin typeface="+mn-ea"/>
            </a:endParaRPr>
          </a:p>
          <a:p>
            <a:pPr algn="ctr"/>
            <a:r>
              <a:rPr lang="zh-CN" altLang="en-US" b="1">
                <a:solidFill>
                  <a:schemeClr val="accent1"/>
                </a:solidFill>
                <a:latin typeface="+mn-ea"/>
              </a:rPr>
              <a:t>标题</a:t>
            </a:r>
            <a:endParaRPr lang="zh-CN" altLang="en-US" b="1">
              <a:solidFill>
                <a:schemeClr val="accent1"/>
              </a:solidFill>
              <a:latin typeface="+mn-ea"/>
            </a:endParaRPr>
          </a:p>
        </p:txBody>
      </p:sp>
      <p:sp>
        <p:nvSpPr>
          <p:cNvPr id="6" name="同心圆 5"/>
          <p:cNvSpPr/>
          <p:nvPr>
            <p:custDataLst>
              <p:tags r:id="rId5"/>
            </p:custDataLst>
          </p:nvPr>
        </p:nvSpPr>
        <p:spPr>
          <a:xfrm>
            <a:off x="3523774" y="1882616"/>
            <a:ext cx="2095500" cy="2095500"/>
          </a:xfrm>
          <a:prstGeom prst="donut">
            <a:avLst>
              <a:gd name="adj" fmla="val 21884"/>
            </a:avLst>
          </a:prstGeom>
          <a:gradFill>
            <a:gsLst>
              <a:gs pos="0">
                <a:schemeClr val="accent1">
                  <a:alpha val="59000"/>
                </a:schemeClr>
              </a:gs>
              <a:gs pos="100000">
                <a:schemeClr val="accent1">
                  <a:alpha val="100000"/>
                </a:schemeClr>
              </a:gs>
            </a:gsLst>
            <a:lin ang="10800000" scaled="0"/>
          </a:gradFill>
          <a:ln>
            <a:noFill/>
          </a:ln>
          <a:effectLst>
            <a:outerShdw blurRad="317500" dist="76200" dir="5400000" algn="t" rotWithShape="0">
              <a:srgbClr val="333333">
                <a:alpha val="4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solidFill>
                <a:schemeClr val="tx1"/>
              </a:solidFill>
            </a:endParaRPr>
          </a:p>
        </p:txBody>
      </p:sp>
      <p:sp>
        <p:nvSpPr>
          <p:cNvPr id="10" name="椭圆 9"/>
          <p:cNvSpPr/>
          <p:nvPr>
            <p:custDataLst>
              <p:tags r:id="rId6"/>
            </p:custDataLst>
          </p:nvPr>
        </p:nvSpPr>
        <p:spPr>
          <a:xfrm>
            <a:off x="3810476" y="2169319"/>
            <a:ext cx="1521619" cy="1521619"/>
          </a:xfrm>
          <a:prstGeom prst="ellipse">
            <a:avLst/>
          </a:prstGeom>
          <a:noFill/>
          <a:ln w="9525">
            <a:solidFill>
              <a:srgbClr val="FFFFFF">
                <a:alpha val="70000"/>
              </a:srgb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4" name="圆角矩形 3"/>
          <p:cNvSpPr/>
          <p:nvPr>
            <p:custDataLst>
              <p:tags r:id="rId7"/>
            </p:custDataLst>
          </p:nvPr>
        </p:nvSpPr>
        <p:spPr>
          <a:xfrm>
            <a:off x="521494" y="1487329"/>
            <a:ext cx="1947386" cy="2885123"/>
          </a:xfrm>
          <a:prstGeom prst="roundRect">
            <a:avLst>
              <a:gd name="adj" fmla="val 4696"/>
            </a:avLst>
          </a:prstGeom>
          <a:solidFill>
            <a:schemeClr val="accent1">
              <a:lumMod val="60000"/>
              <a:lumOff val="40000"/>
              <a:alpha val="10000"/>
            </a:schemeClr>
          </a:solidFill>
          <a:ln w="6350">
            <a:noFill/>
          </a:ln>
          <a:effectLst>
            <a:outerShdw blurRad="317500" dist="38100" dir="5400000" algn="t" rotWithShape="0">
              <a:prstClr val="black">
                <a:alpha val="15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useBgFill="1">
        <p:nvSpPr>
          <p:cNvPr id="12" name="圆角矩形 11"/>
          <p:cNvSpPr/>
          <p:nvPr>
            <p:custDataLst>
              <p:tags r:id="rId8"/>
            </p:custDataLst>
          </p:nvPr>
        </p:nvSpPr>
        <p:spPr>
          <a:xfrm>
            <a:off x="629603" y="1726406"/>
            <a:ext cx="1731645" cy="650558"/>
          </a:xfrm>
          <a:prstGeom prst="roundRect">
            <a:avLst>
              <a:gd name="adj" fmla="val 14132"/>
            </a:avLst>
          </a:prstGeom>
          <a:ln w="6350">
            <a:solidFill>
              <a:schemeClr val="accent1">
                <a:alpha val="20000"/>
              </a:schemeClr>
            </a:solidFill>
          </a:ln>
          <a:effectLst>
            <a:outerShdw blurRad="508000" dist="38100" dir="5400000" algn="t" rotWithShape="0">
              <a:schemeClr val="accent1">
                <a:lumMod val="75000"/>
                <a:alpha val="25000"/>
              </a:schemeClr>
            </a:outerShdw>
          </a:effectLst>
        </p:spPr>
        <p:style>
          <a:lnRef idx="2">
            <a:schemeClr val="accent1">
              <a:lumMod val="75000"/>
            </a:schemeClr>
          </a:lnRef>
          <a:fillRef idx="1">
            <a:schemeClr val="accent1"/>
          </a:fillRef>
          <a:effectRef idx="0">
            <a:srgbClr val="FFFFFF"/>
          </a:effectRef>
          <a:fontRef idx="minor">
            <a:schemeClr val="lt1"/>
          </a:fontRef>
        </p:style>
        <p:txBody>
          <a:bodyPr lIns="67627" tIns="35242" rIns="67627" bIns="35242" rtlCol="0" anchor="ctr"/>
          <a:lstStyle/>
          <a:p>
            <a:pPr algn="ctr"/>
            <a:r>
              <a:rPr lang="zh-CN" altLang="en-US" sz="1200">
                <a:solidFill>
                  <a:schemeClr val="tx1">
                    <a:lumMod val="85000"/>
                    <a:lumOff val="15000"/>
                  </a:schemeClr>
                </a:solidFill>
              </a:rPr>
              <a:t>单击添加文本</a:t>
            </a:r>
            <a:endParaRPr lang="zh-CN" altLang="en-US" sz="1200">
              <a:solidFill>
                <a:schemeClr val="tx1">
                  <a:lumMod val="85000"/>
                  <a:lumOff val="15000"/>
                </a:schemeClr>
              </a:solidFill>
            </a:endParaRPr>
          </a:p>
        </p:txBody>
      </p:sp>
      <p:sp useBgFill="1">
        <p:nvSpPr>
          <p:cNvPr id="37" name="圆角矩形 36"/>
          <p:cNvSpPr/>
          <p:nvPr>
            <p:custDataLst>
              <p:tags r:id="rId9"/>
            </p:custDataLst>
          </p:nvPr>
        </p:nvSpPr>
        <p:spPr>
          <a:xfrm>
            <a:off x="629603" y="2605088"/>
            <a:ext cx="1731645" cy="650558"/>
          </a:xfrm>
          <a:prstGeom prst="roundRect">
            <a:avLst>
              <a:gd name="adj" fmla="val 14132"/>
            </a:avLst>
          </a:prstGeom>
          <a:ln w="6350">
            <a:solidFill>
              <a:schemeClr val="accent1">
                <a:alpha val="20000"/>
              </a:schemeClr>
            </a:solidFill>
          </a:ln>
          <a:effectLst>
            <a:outerShdw blurRad="508000" dist="38100" dir="5400000" algn="t" rotWithShape="0">
              <a:schemeClr val="accent1">
                <a:lumMod val="75000"/>
                <a:alpha val="25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67627" tIns="35242" rIns="67627" bIns="35242" numCol="1" spcCol="0" rtlCol="0" fromWordArt="0" anchor="ctr" anchorCtr="0" forceAA="0" compatLnSpc="1">
            <a:noAutofit/>
          </a:bodyPr>
          <a:lstStyle/>
          <a:p>
            <a:pPr lvl="0" algn="ctr">
              <a:buClrTx/>
              <a:buSzTx/>
              <a:buFontTx/>
            </a:pPr>
            <a:r>
              <a:rPr lang="zh-CN" altLang="en-US" sz="1200">
                <a:solidFill>
                  <a:schemeClr val="tx1">
                    <a:lumMod val="85000"/>
                    <a:lumOff val="15000"/>
                  </a:schemeClr>
                </a:solidFill>
                <a:sym typeface="+mn-ea"/>
              </a:rPr>
              <a:t>单击添加文本</a:t>
            </a:r>
            <a:endParaRPr lang="zh-CN" altLang="en-US" sz="1200">
              <a:solidFill>
                <a:schemeClr val="tx1">
                  <a:lumMod val="85000"/>
                  <a:lumOff val="15000"/>
                </a:schemeClr>
              </a:solidFill>
              <a:sym typeface="+mn-ea"/>
            </a:endParaRPr>
          </a:p>
        </p:txBody>
      </p:sp>
      <p:sp useBgFill="1">
        <p:nvSpPr>
          <p:cNvPr id="38" name="圆角矩形 37"/>
          <p:cNvSpPr/>
          <p:nvPr>
            <p:custDataLst>
              <p:tags r:id="rId10"/>
            </p:custDataLst>
          </p:nvPr>
        </p:nvSpPr>
        <p:spPr>
          <a:xfrm>
            <a:off x="629603" y="3483769"/>
            <a:ext cx="1731645" cy="650558"/>
          </a:xfrm>
          <a:prstGeom prst="roundRect">
            <a:avLst>
              <a:gd name="adj" fmla="val 14132"/>
            </a:avLst>
          </a:prstGeom>
          <a:ln w="6350">
            <a:solidFill>
              <a:schemeClr val="accent1">
                <a:alpha val="20000"/>
              </a:schemeClr>
            </a:solidFill>
          </a:ln>
          <a:effectLst>
            <a:outerShdw blurRad="508000" dist="38100" dir="5400000" algn="t" rotWithShape="0">
              <a:schemeClr val="accent1">
                <a:lumMod val="75000"/>
                <a:alpha val="25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67627" tIns="35242" rIns="67627" bIns="35242" numCol="1" spcCol="0" rtlCol="0" fromWordArt="0" anchor="ctr" anchorCtr="0" forceAA="0" compatLnSpc="1">
            <a:noAutofit/>
          </a:bodyPr>
          <a:lstStyle/>
          <a:p>
            <a:pPr lvl="0" algn="ctr">
              <a:buClrTx/>
              <a:buSzTx/>
              <a:buFontTx/>
            </a:pPr>
            <a:r>
              <a:rPr lang="zh-CN" altLang="en-US" sz="1200">
                <a:solidFill>
                  <a:schemeClr val="tx1">
                    <a:lumMod val="85000"/>
                    <a:lumOff val="15000"/>
                  </a:schemeClr>
                </a:solidFill>
                <a:sym typeface="+mn-ea"/>
              </a:rPr>
              <a:t>单击添加文本</a:t>
            </a:r>
            <a:endParaRPr lang="zh-CN" altLang="en-US" sz="1200">
              <a:solidFill>
                <a:schemeClr val="tx1">
                  <a:lumMod val="85000"/>
                  <a:lumOff val="15000"/>
                </a:schemeClr>
              </a:solidFill>
              <a:sym typeface="+mn-ea"/>
            </a:endParaRPr>
          </a:p>
        </p:txBody>
      </p:sp>
      <p:sp>
        <p:nvSpPr>
          <p:cNvPr id="46" name="圆角矩形 45"/>
          <p:cNvSpPr/>
          <p:nvPr>
            <p:custDataLst>
              <p:tags r:id="rId11"/>
            </p:custDataLst>
          </p:nvPr>
        </p:nvSpPr>
        <p:spPr>
          <a:xfrm>
            <a:off x="6674644" y="1487329"/>
            <a:ext cx="1947386" cy="2885123"/>
          </a:xfrm>
          <a:prstGeom prst="roundRect">
            <a:avLst>
              <a:gd name="adj" fmla="val 4696"/>
            </a:avLst>
          </a:prstGeom>
          <a:solidFill>
            <a:schemeClr val="accent1">
              <a:lumMod val="60000"/>
              <a:lumOff val="40000"/>
              <a:alpha val="10000"/>
            </a:schemeClr>
          </a:solidFill>
          <a:ln w="6350">
            <a:noFill/>
          </a:ln>
          <a:effectLst>
            <a:outerShdw blurRad="317500" dist="38100" dir="5400000" algn="t" rotWithShape="0">
              <a:prstClr val="black">
                <a:alpha val="15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useBgFill="1">
        <p:nvSpPr>
          <p:cNvPr id="47" name="圆角矩形 46"/>
          <p:cNvSpPr/>
          <p:nvPr>
            <p:custDataLst>
              <p:tags r:id="rId12"/>
            </p:custDataLst>
          </p:nvPr>
        </p:nvSpPr>
        <p:spPr>
          <a:xfrm>
            <a:off x="6782753" y="1726406"/>
            <a:ext cx="1731645" cy="650558"/>
          </a:xfrm>
          <a:prstGeom prst="roundRect">
            <a:avLst>
              <a:gd name="adj" fmla="val 14132"/>
            </a:avLst>
          </a:prstGeom>
          <a:ln w="6350">
            <a:solidFill>
              <a:schemeClr val="accent1">
                <a:alpha val="20000"/>
              </a:schemeClr>
            </a:solidFill>
          </a:ln>
          <a:effectLst>
            <a:outerShdw blurRad="508000" dist="38100" dir="5400000" algn="t" rotWithShape="0">
              <a:schemeClr val="accent1">
                <a:lumMod val="75000"/>
                <a:alpha val="25000"/>
              </a:schemeClr>
            </a:outerShdw>
          </a:effectLst>
        </p:spPr>
        <p:style>
          <a:lnRef idx="2">
            <a:schemeClr val="accent1">
              <a:lumMod val="75000"/>
            </a:schemeClr>
          </a:lnRef>
          <a:fillRef idx="1">
            <a:schemeClr val="accent1"/>
          </a:fillRef>
          <a:effectRef idx="0">
            <a:srgbClr val="FFFFFF"/>
          </a:effectRef>
          <a:fontRef idx="minor">
            <a:schemeClr val="lt1"/>
          </a:fontRef>
        </p:style>
        <p:txBody>
          <a:bodyPr lIns="67627" tIns="35242" rIns="67627" bIns="35242" rtlCol="0" anchor="ctr"/>
          <a:lstStyle/>
          <a:p>
            <a:pPr algn="ctr"/>
            <a:r>
              <a:rPr lang="zh-CN" altLang="en-US" sz="1200">
                <a:solidFill>
                  <a:schemeClr val="tx1">
                    <a:lumMod val="85000"/>
                    <a:lumOff val="15000"/>
                  </a:schemeClr>
                </a:solidFill>
              </a:rPr>
              <a:t>单击添加文本</a:t>
            </a:r>
            <a:endParaRPr lang="zh-CN" altLang="en-US" sz="1200">
              <a:solidFill>
                <a:schemeClr val="tx1">
                  <a:lumMod val="85000"/>
                  <a:lumOff val="15000"/>
                </a:schemeClr>
              </a:solidFill>
            </a:endParaRPr>
          </a:p>
        </p:txBody>
      </p:sp>
      <p:sp useBgFill="1">
        <p:nvSpPr>
          <p:cNvPr id="48" name="圆角矩形 47"/>
          <p:cNvSpPr/>
          <p:nvPr>
            <p:custDataLst>
              <p:tags r:id="rId13"/>
            </p:custDataLst>
          </p:nvPr>
        </p:nvSpPr>
        <p:spPr>
          <a:xfrm>
            <a:off x="6782753" y="2605088"/>
            <a:ext cx="1731645" cy="650558"/>
          </a:xfrm>
          <a:prstGeom prst="roundRect">
            <a:avLst>
              <a:gd name="adj" fmla="val 14132"/>
            </a:avLst>
          </a:prstGeom>
          <a:ln w="6350">
            <a:solidFill>
              <a:schemeClr val="accent1">
                <a:alpha val="20000"/>
              </a:schemeClr>
            </a:solidFill>
          </a:ln>
          <a:effectLst>
            <a:outerShdw blurRad="508000" dist="38100" dir="5400000" algn="t" rotWithShape="0">
              <a:schemeClr val="accent1">
                <a:lumMod val="75000"/>
                <a:alpha val="25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67627" tIns="35242" rIns="67627" bIns="35242" numCol="1" spcCol="0" rtlCol="0" fromWordArt="0" anchor="ctr" anchorCtr="0" forceAA="0" compatLnSpc="1">
            <a:noAutofit/>
          </a:bodyPr>
          <a:lstStyle/>
          <a:p>
            <a:pPr lvl="0" algn="ctr">
              <a:buClrTx/>
              <a:buSzTx/>
              <a:buFontTx/>
            </a:pPr>
            <a:r>
              <a:rPr lang="zh-CN" altLang="en-US" sz="1200">
                <a:solidFill>
                  <a:schemeClr val="tx1">
                    <a:lumMod val="85000"/>
                    <a:lumOff val="15000"/>
                  </a:schemeClr>
                </a:solidFill>
                <a:sym typeface="+mn-ea"/>
              </a:rPr>
              <a:t>单击添加文本</a:t>
            </a:r>
            <a:endParaRPr lang="zh-CN" altLang="en-US" sz="1200">
              <a:solidFill>
                <a:schemeClr val="tx1">
                  <a:lumMod val="85000"/>
                  <a:lumOff val="15000"/>
                </a:schemeClr>
              </a:solidFill>
              <a:sym typeface="+mn-ea"/>
            </a:endParaRPr>
          </a:p>
        </p:txBody>
      </p:sp>
      <p:sp useBgFill="1">
        <p:nvSpPr>
          <p:cNvPr id="49" name="圆角矩形 48"/>
          <p:cNvSpPr/>
          <p:nvPr>
            <p:custDataLst>
              <p:tags r:id="rId14"/>
            </p:custDataLst>
          </p:nvPr>
        </p:nvSpPr>
        <p:spPr>
          <a:xfrm>
            <a:off x="6782753" y="3483769"/>
            <a:ext cx="1731645" cy="650558"/>
          </a:xfrm>
          <a:prstGeom prst="roundRect">
            <a:avLst>
              <a:gd name="adj" fmla="val 14132"/>
            </a:avLst>
          </a:prstGeom>
          <a:ln w="6350">
            <a:solidFill>
              <a:schemeClr val="accent1">
                <a:alpha val="20000"/>
              </a:schemeClr>
            </a:solidFill>
          </a:ln>
          <a:effectLst>
            <a:outerShdw blurRad="508000" dist="38100" dir="5400000" algn="t" rotWithShape="0">
              <a:schemeClr val="accent1">
                <a:lumMod val="75000"/>
                <a:alpha val="25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67627" tIns="35242" rIns="67627" bIns="35242" numCol="1" spcCol="0" rtlCol="0" fromWordArt="0" anchor="ctr" anchorCtr="0" forceAA="0" compatLnSpc="1">
            <a:noAutofit/>
          </a:bodyPr>
          <a:lstStyle/>
          <a:p>
            <a:pPr lvl="0" algn="ctr">
              <a:buClrTx/>
              <a:buSzTx/>
              <a:buFontTx/>
            </a:pPr>
            <a:r>
              <a:rPr lang="zh-CN" altLang="en-US" sz="1200">
                <a:solidFill>
                  <a:schemeClr val="tx1">
                    <a:lumMod val="85000"/>
                    <a:lumOff val="15000"/>
                  </a:schemeClr>
                </a:solidFill>
                <a:sym typeface="+mn-ea"/>
              </a:rPr>
              <a:t>单击添加文本</a:t>
            </a:r>
            <a:endParaRPr lang="zh-CN" altLang="en-US" sz="1200">
              <a:solidFill>
                <a:schemeClr val="tx1">
                  <a:lumMod val="85000"/>
                  <a:lumOff val="15000"/>
                </a:schemeClr>
              </a:solidFill>
              <a:sym typeface="+mn-ea"/>
            </a:endParaRPr>
          </a:p>
        </p:txBody>
      </p:sp>
      <p:sp>
        <p:nvSpPr>
          <p:cNvPr id="40" name="左箭头 39"/>
          <p:cNvSpPr/>
          <p:nvPr>
            <p:custDataLst>
              <p:tags r:id="rId15"/>
            </p:custDataLst>
          </p:nvPr>
        </p:nvSpPr>
        <p:spPr>
          <a:xfrm flipH="1">
            <a:off x="5113496" y="2470785"/>
            <a:ext cx="1623060" cy="919163"/>
          </a:xfrm>
          <a:prstGeom prst="leftArrow">
            <a:avLst/>
          </a:prstGeom>
          <a:gradFill>
            <a:gsLst>
              <a:gs pos="0">
                <a:schemeClr val="accent1">
                  <a:lumMod val="20000"/>
                  <a:lumOff val="80000"/>
                  <a:alpha val="0"/>
                </a:schemeClr>
              </a:gs>
              <a:gs pos="68000">
                <a:schemeClr val="accent1"/>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tIns="0" bIns="0" rtlCol="0" anchor="ctr"/>
          <a:lstStyle/>
          <a:p>
            <a:pPr algn="r"/>
            <a:r>
              <a:rPr lang="zh-CN" altLang="en-US" sz="1050" b="1">
                <a:solidFill>
                  <a:srgbClr val="FFFFFF"/>
                </a:solidFill>
              </a:rPr>
              <a:t>单击添加标题</a:t>
            </a:r>
            <a:endParaRPr lang="zh-CN" altLang="en-US" sz="1050" b="1">
              <a:solidFill>
                <a:srgbClr val="FFFFFF"/>
              </a:solidFill>
            </a:endParaRPr>
          </a:p>
        </p:txBody>
      </p:sp>
      <p:sp>
        <p:nvSpPr>
          <p:cNvPr id="18" name="左箭头 17"/>
          <p:cNvSpPr/>
          <p:nvPr>
            <p:custDataLst>
              <p:tags r:id="rId16"/>
            </p:custDataLst>
          </p:nvPr>
        </p:nvSpPr>
        <p:spPr>
          <a:xfrm>
            <a:off x="2406968" y="2470785"/>
            <a:ext cx="1623060" cy="919163"/>
          </a:xfrm>
          <a:prstGeom prst="leftArrow">
            <a:avLst/>
          </a:prstGeom>
          <a:gradFill>
            <a:gsLst>
              <a:gs pos="0">
                <a:schemeClr val="accent1">
                  <a:lumMod val="20000"/>
                  <a:lumOff val="80000"/>
                  <a:alpha val="0"/>
                </a:schemeClr>
              </a:gs>
              <a:gs pos="68000">
                <a:schemeClr val="accent1"/>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tIns="0" bIns="0" rtlCol="0" anchor="ctr"/>
          <a:lstStyle/>
          <a:p>
            <a:pPr algn="l"/>
            <a:r>
              <a:rPr lang="zh-CN" altLang="en-US" sz="1050" b="1">
                <a:solidFill>
                  <a:srgbClr val="FFFFFF"/>
                </a:solidFill>
              </a:rPr>
              <a:t>单击添加标题</a:t>
            </a:r>
            <a:endParaRPr lang="zh-CN" altLang="en-US" sz="1050" b="1">
              <a:solidFill>
                <a:srgbClr val="FFFFFF"/>
              </a:solidFill>
            </a:endParaRPr>
          </a:p>
        </p:txBody>
      </p:sp>
      <p:sp>
        <p:nvSpPr>
          <p:cNvPr id="2" name="日期占位符 1"/>
          <p:cNvSpPr>
            <a:spLocks noGrp="1"/>
          </p:cNvSpPr>
          <p:nvPr>
            <p:ph type="dt" sz="half" idx="10"/>
          </p:nvPr>
        </p:nvSpPr>
        <p:spPr/>
        <p:txBody>
          <a:bodyPr/>
          <a:p>
            <a:fld id="{5902FD77-8323-485D-87E2-91A0E9C84954}" type="datetime1">
              <a:rPr lang="zh-CN" altLang="en-US" smtClean="0"/>
            </a:fld>
            <a:endParaRPr lang="zh-CN" altLang="en-US"/>
          </a:p>
        </p:txBody>
      </p:sp>
      <p:sp>
        <p:nvSpPr>
          <p:cNvPr id="5" name="页脚占位符 4"/>
          <p:cNvSpPr>
            <a:spLocks noGrp="1"/>
          </p:cNvSpPr>
          <p:nvPr>
            <p:ph type="ftr" sz="quarter" idx="11"/>
          </p:nvPr>
        </p:nvSpPr>
        <p:spPr/>
        <p:txBody>
          <a:bodyPr/>
          <a:p>
            <a:r>
              <a:rPr lang="zh-CN" altLang="en-US"/>
              <a:t>软件工程</a:t>
            </a:r>
            <a:endParaRPr lang="zh-CN" altLang="en-US"/>
          </a:p>
        </p:txBody>
      </p:sp>
      <p:sp>
        <p:nvSpPr>
          <p:cNvPr id="7" name="灯片编号占位符 6"/>
          <p:cNvSpPr>
            <a:spLocks noGrp="1"/>
          </p:cNvSpPr>
          <p:nvPr>
            <p:ph type="sldNum" sz="quarter" idx="12"/>
          </p:nvPr>
        </p:nvSpPr>
        <p:spPr/>
        <p:txBody>
          <a:bodyPr/>
          <a:p>
            <a:fld id="{F528F39D-B5E5-4CA7-906C-979D5A62978D}" type="slidenum">
              <a:rPr lang="zh-CN" altLang="en-US" smtClean="0"/>
            </a:fld>
            <a:endParaRPr lang="zh-CN" altLang="en-US"/>
          </a:p>
        </p:txBody>
      </p:sp>
    </p:spTree>
    <p:custDataLst>
      <p:tags r:id="rId17"/>
    </p:custData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需求建模技术</a:t>
            </a:r>
            <a:endParaRPr lang="zh-CN" altLang="en-US"/>
          </a:p>
        </p:txBody>
      </p:sp>
      <p:sp>
        <p:nvSpPr>
          <p:cNvPr id="4" name="任意多边形: 形状 3"/>
          <p:cNvSpPr/>
          <p:nvPr>
            <p:custDataLst>
              <p:tags r:id="rId2"/>
            </p:custDataLst>
          </p:nvPr>
        </p:nvSpPr>
        <p:spPr>
          <a:xfrm>
            <a:off x="2748439" y="1950244"/>
            <a:ext cx="982504" cy="967740"/>
          </a:xfrm>
          <a:custGeom>
            <a:avLst/>
            <a:gdLst>
              <a:gd name="connsiteX0" fmla="*/ 1012393 w 1023385"/>
              <a:gd name="connsiteY0" fmla="*/ 457215 h 1008195"/>
              <a:gd name="connsiteX1" fmla="*/ 886635 w 1023385"/>
              <a:gd name="connsiteY1" fmla="*/ 73779 h 1008195"/>
              <a:gd name="connsiteX2" fmla="*/ 803048 w 1023385"/>
              <a:gd name="connsiteY2" fmla="*/ 1 h 1008195"/>
              <a:gd name="connsiteX3" fmla="*/ 83503 w 1023385"/>
              <a:gd name="connsiteY3" fmla="*/ 3271 h 1008195"/>
              <a:gd name="connsiteX4" fmla="*/ 209 w 1023385"/>
              <a:gd name="connsiteY4" fmla="*/ 92768 h 1008195"/>
              <a:gd name="connsiteX5" fmla="*/ 288656 w 1023385"/>
              <a:gd name="connsiteY5" fmla="*/ 969553 h 1008195"/>
              <a:gd name="connsiteX6" fmla="*/ 408839 w 1023385"/>
              <a:gd name="connsiteY6" fmla="*/ 991896 h 1008195"/>
              <a:gd name="connsiteX7" fmla="*/ 989170 w 1023385"/>
              <a:gd name="connsiteY7" fmla="*/ 566247 h 1008195"/>
              <a:gd name="connsiteX8" fmla="*/ 1012393 w 1023385"/>
              <a:gd name="connsiteY8" fmla="*/ 457215 h 1008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3385" h="1008195">
                <a:moveTo>
                  <a:pt x="1012393" y="457215"/>
                </a:moveTo>
                <a:cubicBezTo>
                  <a:pt x="946245" y="341434"/>
                  <a:pt x="902481" y="211568"/>
                  <a:pt x="886635" y="73779"/>
                </a:cubicBezTo>
                <a:cubicBezTo>
                  <a:pt x="881773" y="31482"/>
                  <a:pt x="845596" y="-209"/>
                  <a:pt x="803048" y="1"/>
                </a:cubicBezTo>
                <a:lnTo>
                  <a:pt x="83503" y="3271"/>
                </a:lnTo>
                <a:cubicBezTo>
                  <a:pt x="35128" y="3480"/>
                  <a:pt x="-3186" y="44519"/>
                  <a:pt x="209" y="92768"/>
                </a:cubicBezTo>
                <a:cubicBezTo>
                  <a:pt x="22762" y="412445"/>
                  <a:pt x="125255" y="711749"/>
                  <a:pt x="288656" y="969553"/>
                </a:cubicBezTo>
                <a:cubicBezTo>
                  <a:pt x="314562" y="1010424"/>
                  <a:pt x="369812" y="1020527"/>
                  <a:pt x="408839" y="991896"/>
                </a:cubicBezTo>
                <a:lnTo>
                  <a:pt x="989170" y="566247"/>
                </a:lnTo>
                <a:cubicBezTo>
                  <a:pt x="1023418" y="541095"/>
                  <a:pt x="1033479" y="494188"/>
                  <a:pt x="1012393" y="457215"/>
                </a:cubicBezTo>
                <a:close/>
              </a:path>
            </a:pathLst>
          </a:custGeom>
          <a:solidFill>
            <a:schemeClr val="bg2"/>
          </a:solidFill>
          <a:ln w="9525">
            <a:noFill/>
          </a:ln>
          <a:effectLst>
            <a:outerShdw blurRad="63500" algn="ctr" rotWithShape="0">
              <a:schemeClr val="accent1">
                <a:lumMod val="60000"/>
                <a:lumOff val="40000"/>
                <a:alpha val="7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sz="1350">
              <a:solidFill>
                <a:schemeClr val="lt1"/>
              </a:solidFill>
            </a:endParaRPr>
          </a:p>
        </p:txBody>
      </p:sp>
      <p:pic>
        <p:nvPicPr>
          <p:cNvPr id="28" name="图片 11" descr="343439383331313b343532303032373bbfcdbba7b5b5b0b8"/>
          <p:cNvPicPr>
            <a:picLocks noChangeAspect="1"/>
          </p:cNvPicPr>
          <p:nvPr>
            <p:custDataLst>
              <p:tags r:id="rId3"/>
            </p:custDataLst>
          </p:nvPr>
        </p:nvPicPr>
        <p:blipFill>
          <a:blip r:embed="rId4">
            <a:extLst>
              <a:ext uri="{96DAC541-7B7A-43D3-8B79-37D633B846F1}">
                <asvg:svgBlip xmlns:asvg="http://schemas.microsoft.com/office/drawing/2016/SVG/main" r:embed="rId5"/>
              </a:ext>
            </a:extLst>
          </a:blip>
          <a:stretch>
            <a:fillRect/>
          </a:stretch>
        </p:blipFill>
        <p:spPr>
          <a:xfrm>
            <a:off x="3119832" y="2212701"/>
            <a:ext cx="243000" cy="243000"/>
          </a:xfrm>
          <a:prstGeom prst="rect">
            <a:avLst/>
          </a:prstGeom>
          <a:effectLst>
            <a:outerShdw blurRad="50800" dist="38100" dir="2700000" algn="tl" rotWithShape="0">
              <a:schemeClr val="accent1">
                <a:lumMod val="75000"/>
                <a:alpha val="20000"/>
              </a:schemeClr>
            </a:outerShdw>
          </a:effectLst>
        </p:spPr>
      </p:pic>
      <p:sp>
        <p:nvSpPr>
          <p:cNvPr id="5" name="任意多边形: 形状 4"/>
          <p:cNvSpPr/>
          <p:nvPr>
            <p:custDataLst>
              <p:tags r:id="rId6"/>
            </p:custDataLst>
          </p:nvPr>
        </p:nvSpPr>
        <p:spPr>
          <a:xfrm>
            <a:off x="4921568" y="2533174"/>
            <a:ext cx="1059656" cy="1065848"/>
          </a:xfrm>
          <a:custGeom>
            <a:avLst/>
            <a:gdLst>
              <a:gd name="connsiteX0" fmla="*/ 373923 w 1103904"/>
              <a:gd name="connsiteY0" fmla="*/ 27378 h 1110445"/>
              <a:gd name="connsiteX1" fmla="*/ 48336 w 1103904"/>
              <a:gd name="connsiteY1" fmla="*/ 266905 h 1110445"/>
              <a:gd name="connsiteX2" fmla="*/ 4237 w 1103904"/>
              <a:gd name="connsiteY2" fmla="*/ 369104 h 1110445"/>
              <a:gd name="connsiteX3" fmla="*/ 229804 w 1103904"/>
              <a:gd name="connsiteY3" fmla="*/ 1052766 h 1110445"/>
              <a:gd name="connsiteX4" fmla="*/ 340849 w 1103904"/>
              <a:gd name="connsiteY4" fmla="*/ 1104243 h 1110445"/>
              <a:gd name="connsiteX5" fmla="*/ 1084791 w 1103904"/>
              <a:gd name="connsiteY5" fmla="*/ 557406 h 1110445"/>
              <a:gd name="connsiteX6" fmla="*/ 1068945 w 1103904"/>
              <a:gd name="connsiteY6" fmla="*/ 436133 h 1110445"/>
              <a:gd name="connsiteX7" fmla="*/ 484799 w 1103904"/>
              <a:gd name="connsiteY7" fmla="*/ 15808 h 1110445"/>
              <a:gd name="connsiteX8" fmla="*/ 373923 w 1103904"/>
              <a:gd name="connsiteY8" fmla="*/ 27378 h 1110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3904" h="1110445">
                <a:moveTo>
                  <a:pt x="373923" y="27378"/>
                </a:moveTo>
                <a:cubicBezTo>
                  <a:pt x="283000" y="127775"/>
                  <a:pt x="172291" y="209601"/>
                  <a:pt x="48336" y="266905"/>
                </a:cubicBezTo>
                <a:cubicBezTo>
                  <a:pt x="9812" y="284721"/>
                  <a:pt x="-9052" y="328778"/>
                  <a:pt x="4237" y="369104"/>
                </a:cubicBezTo>
                <a:lnTo>
                  <a:pt x="229804" y="1052766"/>
                </a:lnTo>
                <a:cubicBezTo>
                  <a:pt x="244979" y="1098794"/>
                  <a:pt x="295995" y="1122562"/>
                  <a:pt x="340849" y="1104243"/>
                </a:cubicBezTo>
                <a:cubicBezTo>
                  <a:pt x="631308" y="985570"/>
                  <a:pt x="886680" y="796514"/>
                  <a:pt x="1084791" y="557406"/>
                </a:cubicBezTo>
                <a:cubicBezTo>
                  <a:pt x="1115685" y="520140"/>
                  <a:pt x="1108224" y="464429"/>
                  <a:pt x="1068945" y="436133"/>
                </a:cubicBezTo>
                <a:lnTo>
                  <a:pt x="484799" y="15808"/>
                </a:lnTo>
                <a:cubicBezTo>
                  <a:pt x="450258" y="-9050"/>
                  <a:pt x="402470" y="-4145"/>
                  <a:pt x="373923" y="27378"/>
                </a:cubicBezTo>
                <a:close/>
              </a:path>
            </a:pathLst>
          </a:custGeom>
          <a:solidFill>
            <a:schemeClr val="bg2"/>
          </a:solidFill>
          <a:ln w="9525">
            <a:noFill/>
          </a:ln>
          <a:effectLst>
            <a:outerShdw blurRad="63500" algn="ctr" rotWithShape="0">
              <a:schemeClr val="accent1">
                <a:lumMod val="60000"/>
                <a:lumOff val="40000"/>
                <a:alpha val="7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sz="1350">
              <a:solidFill>
                <a:schemeClr val="lt1"/>
              </a:solidFill>
            </a:endParaRPr>
          </a:p>
        </p:txBody>
      </p:sp>
      <p:sp>
        <p:nvSpPr>
          <p:cNvPr id="6" name="任意多边形: 形状 5"/>
          <p:cNvSpPr/>
          <p:nvPr>
            <p:custDataLst>
              <p:tags r:id="rId7"/>
            </p:custDataLst>
          </p:nvPr>
        </p:nvSpPr>
        <p:spPr>
          <a:xfrm>
            <a:off x="4065746" y="2856071"/>
            <a:ext cx="1007745" cy="871061"/>
          </a:xfrm>
          <a:custGeom>
            <a:avLst/>
            <a:gdLst>
              <a:gd name="connsiteX0" fmla="*/ 820152 w 1049963"/>
              <a:gd name="connsiteY0" fmla="*/ 57539 h 907389"/>
              <a:gd name="connsiteX1" fmla="*/ 723319 w 1049963"/>
              <a:gd name="connsiteY1" fmla="*/ 1786 h 907389"/>
              <a:gd name="connsiteX2" fmla="*/ 468617 w 1049963"/>
              <a:gd name="connsiteY2" fmla="*/ 21740 h 907389"/>
              <a:gd name="connsiteX3" fmla="*/ 319803 w 1049963"/>
              <a:gd name="connsiteY3" fmla="*/ 3547 h 907389"/>
              <a:gd name="connsiteX4" fmla="*/ 223389 w 1049963"/>
              <a:gd name="connsiteY4" fmla="*/ 60180 h 907389"/>
              <a:gd name="connsiteX5" fmla="*/ 4025 w 1049963"/>
              <a:gd name="connsiteY5" fmla="*/ 745770 h 907389"/>
              <a:gd name="connsiteX6" fmla="*/ 63425 w 1049963"/>
              <a:gd name="connsiteY6" fmla="*/ 852623 h 907389"/>
              <a:gd name="connsiteX7" fmla="*/ 426320 w 1049963"/>
              <a:gd name="connsiteY7" fmla="*/ 905190 h 907389"/>
              <a:gd name="connsiteX8" fmla="*/ 987285 w 1049963"/>
              <a:gd name="connsiteY8" fmla="*/ 848473 h 907389"/>
              <a:gd name="connsiteX9" fmla="*/ 1045720 w 1049963"/>
              <a:gd name="connsiteY9" fmla="*/ 741075 h 907389"/>
              <a:gd name="connsiteX10" fmla="*/ 820152 w 1049963"/>
              <a:gd name="connsiteY10" fmla="*/ 57539 h 907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49963" h="907389">
                <a:moveTo>
                  <a:pt x="820152" y="57539"/>
                </a:moveTo>
                <a:cubicBezTo>
                  <a:pt x="806780" y="17003"/>
                  <a:pt x="765112" y="-6933"/>
                  <a:pt x="723319" y="1786"/>
                </a:cubicBezTo>
                <a:cubicBezTo>
                  <a:pt x="641408" y="18848"/>
                  <a:pt x="556061" y="25932"/>
                  <a:pt x="468617" y="21740"/>
                </a:cubicBezTo>
                <a:cubicBezTo>
                  <a:pt x="417853" y="19309"/>
                  <a:pt x="368178" y="13147"/>
                  <a:pt x="319803" y="3547"/>
                </a:cubicBezTo>
                <a:cubicBezTo>
                  <a:pt x="277884" y="-4753"/>
                  <a:pt x="236384" y="19476"/>
                  <a:pt x="223389" y="60180"/>
                </a:cubicBezTo>
                <a:lnTo>
                  <a:pt x="4025" y="745770"/>
                </a:lnTo>
                <a:cubicBezTo>
                  <a:pt x="-10730" y="791840"/>
                  <a:pt x="16433" y="841095"/>
                  <a:pt x="63425" y="852623"/>
                </a:cubicBezTo>
                <a:cubicBezTo>
                  <a:pt x="180296" y="881295"/>
                  <a:pt x="301610" y="899195"/>
                  <a:pt x="426320" y="905190"/>
                </a:cubicBezTo>
                <a:cubicBezTo>
                  <a:pt x="620155" y="914454"/>
                  <a:pt x="808583" y="894249"/>
                  <a:pt x="987285" y="848473"/>
                </a:cubicBezTo>
                <a:cubicBezTo>
                  <a:pt x="1034150" y="836484"/>
                  <a:pt x="1060853" y="787019"/>
                  <a:pt x="1045720" y="741075"/>
                </a:cubicBezTo>
                <a:lnTo>
                  <a:pt x="820152" y="57539"/>
                </a:lnTo>
                <a:close/>
              </a:path>
            </a:pathLst>
          </a:custGeom>
          <a:solidFill>
            <a:schemeClr val="bg2"/>
          </a:solidFill>
          <a:ln w="9525">
            <a:noFill/>
          </a:ln>
          <a:effectLst>
            <a:outerShdw blurRad="63500" algn="ctr" rotWithShape="0">
              <a:schemeClr val="accent1">
                <a:lumMod val="60000"/>
                <a:lumOff val="40000"/>
                <a:alpha val="7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sz="1350">
              <a:solidFill>
                <a:schemeClr val="lt1"/>
              </a:solidFill>
            </a:endParaRPr>
          </a:p>
        </p:txBody>
      </p:sp>
      <p:sp>
        <p:nvSpPr>
          <p:cNvPr id="7" name="任意多边形: 形状 6"/>
          <p:cNvSpPr/>
          <p:nvPr>
            <p:custDataLst>
              <p:tags r:id="rId8"/>
            </p:custDataLst>
          </p:nvPr>
        </p:nvSpPr>
        <p:spPr>
          <a:xfrm>
            <a:off x="3152775" y="2540318"/>
            <a:ext cx="1058228" cy="1064895"/>
          </a:xfrm>
          <a:custGeom>
            <a:avLst/>
            <a:gdLst>
              <a:gd name="connsiteX0" fmla="*/ 1053391 w 1102427"/>
              <a:gd name="connsiteY0" fmla="*/ 263504 h 1109291"/>
              <a:gd name="connsiteX1" fmla="*/ 725624 w 1102427"/>
              <a:gd name="connsiteY1" fmla="*/ 26870 h 1109291"/>
              <a:gd name="connsiteX2" fmla="*/ 614580 w 1102427"/>
              <a:gd name="connsiteY2" fmla="*/ 16264 h 1109291"/>
              <a:gd name="connsiteX3" fmla="*/ 34333 w 1102427"/>
              <a:gd name="connsiteY3" fmla="*/ 441829 h 1109291"/>
              <a:gd name="connsiteX4" fmla="*/ 19577 w 1102427"/>
              <a:gd name="connsiteY4" fmla="*/ 563186 h 1109291"/>
              <a:gd name="connsiteX5" fmla="*/ 768592 w 1102427"/>
              <a:gd name="connsiteY5" fmla="*/ 1103400 h 1109291"/>
              <a:gd name="connsiteX6" fmla="*/ 879091 w 1102427"/>
              <a:gd name="connsiteY6" fmla="*/ 1050875 h 1109291"/>
              <a:gd name="connsiteX7" fmla="*/ 1098413 w 1102427"/>
              <a:gd name="connsiteY7" fmla="*/ 365285 h 1109291"/>
              <a:gd name="connsiteX8" fmla="*/ 1053391 w 1102427"/>
              <a:gd name="connsiteY8" fmla="*/ 263504 h 1109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2427" h="1109291">
                <a:moveTo>
                  <a:pt x="1053391" y="263504"/>
                </a:moveTo>
                <a:cubicBezTo>
                  <a:pt x="928262" y="207123"/>
                  <a:pt x="817050" y="126093"/>
                  <a:pt x="725624" y="26870"/>
                </a:cubicBezTo>
                <a:cubicBezTo>
                  <a:pt x="696784" y="-4444"/>
                  <a:pt x="648912" y="-8929"/>
                  <a:pt x="614580" y="16264"/>
                </a:cubicBezTo>
                <a:lnTo>
                  <a:pt x="34333" y="441829"/>
                </a:lnTo>
                <a:cubicBezTo>
                  <a:pt x="-4694" y="470460"/>
                  <a:pt x="-11611" y="526213"/>
                  <a:pt x="19577" y="563186"/>
                </a:cubicBezTo>
                <a:cubicBezTo>
                  <a:pt x="218778" y="799443"/>
                  <a:pt x="475114" y="986864"/>
                  <a:pt x="768592" y="1103400"/>
                </a:cubicBezTo>
                <a:cubicBezTo>
                  <a:pt x="813613" y="1121258"/>
                  <a:pt x="864335" y="1097028"/>
                  <a:pt x="879091" y="1050875"/>
                </a:cubicBezTo>
                <a:lnTo>
                  <a:pt x="1098413" y="365285"/>
                </a:lnTo>
                <a:cubicBezTo>
                  <a:pt x="1111366" y="324874"/>
                  <a:pt x="1092083" y="280943"/>
                  <a:pt x="1053391" y="263504"/>
                </a:cubicBezTo>
                <a:close/>
              </a:path>
            </a:pathLst>
          </a:custGeom>
          <a:solidFill>
            <a:schemeClr val="bg2"/>
          </a:solidFill>
          <a:ln w="9525">
            <a:noFill/>
          </a:ln>
          <a:effectLst>
            <a:outerShdw blurRad="63500" algn="ctr" rotWithShape="0">
              <a:schemeClr val="accent1">
                <a:lumMod val="60000"/>
                <a:lumOff val="40000"/>
                <a:alpha val="7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sz="1350"/>
          </a:p>
        </p:txBody>
      </p:sp>
      <p:sp>
        <p:nvSpPr>
          <p:cNvPr id="8" name="任意多边形: 形状 7"/>
          <p:cNvSpPr/>
          <p:nvPr>
            <p:custDataLst>
              <p:tags r:id="rId9"/>
            </p:custDataLst>
          </p:nvPr>
        </p:nvSpPr>
        <p:spPr>
          <a:xfrm>
            <a:off x="5408771" y="1950720"/>
            <a:ext cx="982504" cy="967740"/>
          </a:xfrm>
          <a:custGeom>
            <a:avLst/>
            <a:gdLst>
              <a:gd name="connsiteX0" fmla="*/ 11019 w 1023412"/>
              <a:gd name="connsiteY0" fmla="*/ 457215 h 1008195"/>
              <a:gd name="connsiteX1" fmla="*/ 136777 w 1023412"/>
              <a:gd name="connsiteY1" fmla="*/ 73779 h 1008195"/>
              <a:gd name="connsiteX2" fmla="*/ 220364 w 1023412"/>
              <a:gd name="connsiteY2" fmla="*/ 1 h 1008195"/>
              <a:gd name="connsiteX3" fmla="*/ 939909 w 1023412"/>
              <a:gd name="connsiteY3" fmla="*/ 3271 h 1008195"/>
              <a:gd name="connsiteX4" fmla="*/ 1023203 w 1023412"/>
              <a:gd name="connsiteY4" fmla="*/ 92769 h 1008195"/>
              <a:gd name="connsiteX5" fmla="*/ 734756 w 1023412"/>
              <a:gd name="connsiteY5" fmla="*/ 969553 h 1008195"/>
              <a:gd name="connsiteX6" fmla="*/ 614573 w 1023412"/>
              <a:gd name="connsiteY6" fmla="*/ 991896 h 1008195"/>
              <a:gd name="connsiteX7" fmla="*/ 34284 w 1023412"/>
              <a:gd name="connsiteY7" fmla="*/ 566247 h 1008195"/>
              <a:gd name="connsiteX8" fmla="*/ 11019 w 1023412"/>
              <a:gd name="connsiteY8" fmla="*/ 457215 h 1008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3412" h="1008195">
                <a:moveTo>
                  <a:pt x="11019" y="457215"/>
                </a:moveTo>
                <a:cubicBezTo>
                  <a:pt x="77168" y="341434"/>
                  <a:pt x="120932" y="211568"/>
                  <a:pt x="136777" y="73779"/>
                </a:cubicBezTo>
                <a:cubicBezTo>
                  <a:pt x="141640" y="31482"/>
                  <a:pt x="177816" y="-209"/>
                  <a:pt x="220364" y="1"/>
                </a:cubicBezTo>
                <a:lnTo>
                  <a:pt x="939909" y="3271"/>
                </a:lnTo>
                <a:cubicBezTo>
                  <a:pt x="988284" y="3480"/>
                  <a:pt x="1026599" y="44519"/>
                  <a:pt x="1023203" y="92769"/>
                </a:cubicBezTo>
                <a:cubicBezTo>
                  <a:pt x="1000651" y="412445"/>
                  <a:pt x="898158" y="711749"/>
                  <a:pt x="734756" y="969553"/>
                </a:cubicBezTo>
                <a:cubicBezTo>
                  <a:pt x="708850" y="1010424"/>
                  <a:pt x="653600" y="1020527"/>
                  <a:pt x="614573" y="991896"/>
                </a:cubicBezTo>
                <a:lnTo>
                  <a:pt x="34284" y="566247"/>
                </a:lnTo>
                <a:cubicBezTo>
                  <a:pt x="-48" y="541054"/>
                  <a:pt x="-10108" y="494146"/>
                  <a:pt x="11019" y="457215"/>
                </a:cubicBezTo>
                <a:close/>
              </a:path>
            </a:pathLst>
          </a:custGeom>
          <a:solidFill>
            <a:schemeClr val="bg2"/>
          </a:solidFill>
          <a:ln w="9525">
            <a:noFill/>
          </a:ln>
          <a:effectLst>
            <a:outerShdw blurRad="63500" algn="ctr" rotWithShape="0">
              <a:schemeClr val="accent1">
                <a:lumMod val="60000"/>
                <a:lumOff val="40000"/>
                <a:alpha val="7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sz="1350">
              <a:solidFill>
                <a:schemeClr val="lt1"/>
              </a:solidFill>
            </a:endParaRPr>
          </a:p>
        </p:txBody>
      </p:sp>
      <p:sp>
        <p:nvSpPr>
          <p:cNvPr id="16" name="文本框 15"/>
          <p:cNvSpPr txBox="1"/>
          <p:nvPr>
            <p:custDataLst>
              <p:tags r:id="rId10"/>
            </p:custDataLst>
          </p:nvPr>
        </p:nvSpPr>
        <p:spPr>
          <a:xfrm>
            <a:off x="2187216" y="3271863"/>
            <a:ext cx="1168241" cy="276225"/>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1350" b="1" spc="100" dirty="0">
                <a:solidFill>
                  <a:schemeClr val="accent1"/>
                </a:solidFill>
              </a:rPr>
              <a:t>添加项标题</a:t>
            </a:r>
            <a:endParaRPr lang="zh-CN" altLang="en-US" sz="1350" b="1" spc="100" dirty="0">
              <a:solidFill>
                <a:schemeClr val="accent1"/>
              </a:solidFill>
            </a:endParaRPr>
          </a:p>
        </p:txBody>
      </p:sp>
      <p:sp>
        <p:nvSpPr>
          <p:cNvPr id="17" name="文本框 16"/>
          <p:cNvSpPr txBox="1"/>
          <p:nvPr>
            <p:custDataLst>
              <p:tags r:id="rId11"/>
            </p:custDataLst>
          </p:nvPr>
        </p:nvSpPr>
        <p:spPr>
          <a:xfrm>
            <a:off x="1706204" y="3553694"/>
            <a:ext cx="1649254" cy="607695"/>
          </a:xfrm>
          <a:prstGeom prst="rect">
            <a:avLst/>
          </a:prstGeom>
          <a:noFill/>
        </p:spPr>
        <p:txBody>
          <a:bodyPr wrap="square"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lnSpc>
                <a:spcPct val="130000"/>
              </a:lnSpc>
              <a:spcBef>
                <a:spcPts val="0"/>
              </a:spcBef>
              <a:spcAft>
                <a:spcPts val="0"/>
              </a:spcAft>
              <a:buClrTx/>
              <a:buSzTx/>
              <a:buFontTx/>
            </a:pPr>
            <a:r>
              <a:rPr lang="zh-CN" altLang="en-US" sz="900" kern="0" dirty="0">
                <a:ln>
                  <a:noFill/>
                  <a:prstDash val="sysDot"/>
                </a:ln>
                <a:solidFill>
                  <a:schemeClr val="tx1">
                    <a:lumMod val="85000"/>
                    <a:lumOff val="15000"/>
                  </a:schemeClr>
                </a:solidFill>
                <a:latin typeface="+mn-ea"/>
                <a:sym typeface="+mn-ea"/>
              </a:rPr>
              <a:t>单击此处添加文本内容，简明扼要地阐述观点。根据需要可酌增减文字</a:t>
            </a:r>
            <a:endParaRPr lang="zh-CN" altLang="en-US" sz="900" kern="0" dirty="0">
              <a:ln>
                <a:noFill/>
                <a:prstDash val="sysDot"/>
              </a:ln>
              <a:solidFill>
                <a:schemeClr val="tx1">
                  <a:lumMod val="85000"/>
                  <a:lumOff val="15000"/>
                </a:schemeClr>
              </a:solidFill>
              <a:latin typeface="+mn-ea"/>
              <a:sym typeface="+mn-ea"/>
            </a:endParaRPr>
          </a:p>
        </p:txBody>
      </p:sp>
      <p:sp>
        <p:nvSpPr>
          <p:cNvPr id="18" name="文本框 17"/>
          <p:cNvSpPr txBox="1"/>
          <p:nvPr>
            <p:custDataLst>
              <p:tags r:id="rId12"/>
            </p:custDataLst>
          </p:nvPr>
        </p:nvSpPr>
        <p:spPr>
          <a:xfrm>
            <a:off x="1397614" y="2115536"/>
            <a:ext cx="1157222" cy="276999"/>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1350" b="1" spc="100" dirty="0">
                <a:solidFill>
                  <a:schemeClr val="accent1"/>
                </a:solidFill>
              </a:rPr>
              <a:t>添加项标题</a:t>
            </a:r>
            <a:endParaRPr lang="zh-CN" altLang="en-US" sz="1350" b="1" spc="100" dirty="0">
              <a:solidFill>
                <a:schemeClr val="accent1"/>
              </a:solidFill>
            </a:endParaRPr>
          </a:p>
        </p:txBody>
      </p:sp>
      <p:sp>
        <p:nvSpPr>
          <p:cNvPr id="19" name="文本框 18"/>
          <p:cNvSpPr txBox="1"/>
          <p:nvPr>
            <p:custDataLst>
              <p:tags r:id="rId13"/>
            </p:custDataLst>
          </p:nvPr>
        </p:nvSpPr>
        <p:spPr>
          <a:xfrm>
            <a:off x="921138" y="2386885"/>
            <a:ext cx="1633697" cy="601963"/>
          </a:xfrm>
          <a:prstGeom prst="rect">
            <a:avLst/>
          </a:prstGeom>
          <a:noFill/>
        </p:spPr>
        <p:txBody>
          <a:bodyPr wrap="square"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lnSpc>
                <a:spcPct val="130000"/>
              </a:lnSpc>
              <a:spcBef>
                <a:spcPts val="0"/>
              </a:spcBef>
              <a:spcAft>
                <a:spcPts val="0"/>
              </a:spcAft>
              <a:buClrTx/>
              <a:buSzTx/>
              <a:buFontTx/>
            </a:pPr>
            <a:r>
              <a:rPr lang="zh-CN" altLang="en-US" sz="900" kern="0" dirty="0">
                <a:ln>
                  <a:noFill/>
                  <a:prstDash val="sysDot"/>
                </a:ln>
                <a:solidFill>
                  <a:schemeClr val="tx1">
                    <a:lumMod val="85000"/>
                    <a:lumOff val="15000"/>
                  </a:schemeClr>
                </a:solidFill>
                <a:latin typeface="+mn-ea"/>
                <a:sym typeface="+mn-ea"/>
              </a:rPr>
              <a:t>单击此处添加文本内容，简明扼要地阐述观点。根据需要可酌增减文字</a:t>
            </a:r>
            <a:endParaRPr lang="zh-CN" altLang="en-US" sz="900" kern="0" dirty="0">
              <a:ln>
                <a:noFill/>
                <a:prstDash val="sysDot"/>
              </a:ln>
              <a:solidFill>
                <a:schemeClr val="tx1">
                  <a:lumMod val="85000"/>
                  <a:lumOff val="15000"/>
                </a:schemeClr>
              </a:solidFill>
              <a:latin typeface="+mn-ea"/>
              <a:sym typeface="+mn-ea"/>
            </a:endParaRPr>
          </a:p>
        </p:txBody>
      </p:sp>
      <p:sp>
        <p:nvSpPr>
          <p:cNvPr id="20" name="文本框 19"/>
          <p:cNvSpPr txBox="1"/>
          <p:nvPr>
            <p:custDataLst>
              <p:tags r:id="rId14"/>
            </p:custDataLst>
          </p:nvPr>
        </p:nvSpPr>
        <p:spPr>
          <a:xfrm>
            <a:off x="3989821" y="3898070"/>
            <a:ext cx="1168241" cy="276225"/>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350" b="1" spc="100" dirty="0">
                <a:solidFill>
                  <a:schemeClr val="accent1"/>
                </a:solidFill>
              </a:rPr>
              <a:t>添加项标题</a:t>
            </a:r>
            <a:endParaRPr lang="zh-CN" altLang="en-US" sz="1350" b="1" spc="100" dirty="0">
              <a:solidFill>
                <a:schemeClr val="accent1"/>
              </a:solidFill>
            </a:endParaRPr>
          </a:p>
        </p:txBody>
      </p:sp>
      <p:sp>
        <p:nvSpPr>
          <p:cNvPr id="21" name="文本框 20"/>
          <p:cNvSpPr txBox="1"/>
          <p:nvPr>
            <p:custDataLst>
              <p:tags r:id="rId15"/>
            </p:custDataLst>
          </p:nvPr>
        </p:nvSpPr>
        <p:spPr>
          <a:xfrm>
            <a:off x="3749315" y="4174320"/>
            <a:ext cx="1649254" cy="607695"/>
          </a:xfrm>
          <a:prstGeom prst="rect">
            <a:avLst/>
          </a:prstGeom>
          <a:noFill/>
        </p:spPr>
        <p:txBody>
          <a:bodyPr wrap="square"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30000"/>
              </a:lnSpc>
              <a:spcBef>
                <a:spcPts val="0"/>
              </a:spcBef>
              <a:spcAft>
                <a:spcPts val="0"/>
              </a:spcAft>
              <a:buClrTx/>
              <a:buSzTx/>
              <a:buFontTx/>
            </a:pPr>
            <a:r>
              <a:rPr lang="zh-CN" altLang="en-US" sz="900" kern="0" dirty="0">
                <a:ln>
                  <a:noFill/>
                  <a:prstDash val="sysDot"/>
                </a:ln>
                <a:solidFill>
                  <a:schemeClr val="tx1">
                    <a:lumMod val="85000"/>
                    <a:lumOff val="15000"/>
                  </a:schemeClr>
                </a:solidFill>
                <a:latin typeface="+mn-ea"/>
                <a:sym typeface="+mn-ea"/>
              </a:rPr>
              <a:t>单击此处添加文本内容，简明扼要地阐述观点。根据需要可酌增减文字</a:t>
            </a:r>
            <a:endParaRPr lang="zh-CN" altLang="en-US" sz="900" kern="0" dirty="0">
              <a:ln>
                <a:noFill/>
                <a:prstDash val="sysDot"/>
              </a:ln>
              <a:solidFill>
                <a:schemeClr val="tx1">
                  <a:lumMod val="85000"/>
                  <a:lumOff val="15000"/>
                </a:schemeClr>
              </a:solidFill>
              <a:latin typeface="+mn-ea"/>
              <a:sym typeface="+mn-ea"/>
            </a:endParaRPr>
          </a:p>
        </p:txBody>
      </p:sp>
      <p:sp>
        <p:nvSpPr>
          <p:cNvPr id="24" name="文本框 23"/>
          <p:cNvSpPr txBox="1"/>
          <p:nvPr>
            <p:custDataLst>
              <p:tags r:id="rId16"/>
            </p:custDataLst>
          </p:nvPr>
        </p:nvSpPr>
        <p:spPr>
          <a:xfrm>
            <a:off x="5788543" y="3271863"/>
            <a:ext cx="1168241" cy="276225"/>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350" b="1" spc="100" dirty="0">
                <a:solidFill>
                  <a:schemeClr val="accent1"/>
                </a:solidFill>
              </a:rPr>
              <a:t>添加项标题</a:t>
            </a:r>
            <a:endParaRPr lang="zh-CN" altLang="en-US" sz="1350" b="1" spc="100" dirty="0">
              <a:solidFill>
                <a:schemeClr val="accent1"/>
              </a:solidFill>
            </a:endParaRPr>
          </a:p>
        </p:txBody>
      </p:sp>
      <p:sp>
        <p:nvSpPr>
          <p:cNvPr id="25" name="文本框 24"/>
          <p:cNvSpPr txBox="1"/>
          <p:nvPr>
            <p:custDataLst>
              <p:tags r:id="rId17"/>
            </p:custDataLst>
          </p:nvPr>
        </p:nvSpPr>
        <p:spPr>
          <a:xfrm>
            <a:off x="5788543" y="3553694"/>
            <a:ext cx="1649254" cy="607695"/>
          </a:xfrm>
          <a:prstGeom prst="rect">
            <a:avLst/>
          </a:prstGeom>
          <a:noFill/>
        </p:spPr>
        <p:txBody>
          <a:bodyPr wrap="square"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ct val="130000"/>
              </a:lnSpc>
              <a:spcBef>
                <a:spcPts val="0"/>
              </a:spcBef>
              <a:spcAft>
                <a:spcPts val="0"/>
              </a:spcAft>
              <a:buClrTx/>
              <a:buSzTx/>
              <a:buFontTx/>
            </a:pPr>
            <a:r>
              <a:rPr lang="zh-CN" altLang="en-US" sz="900" kern="0" dirty="0">
                <a:ln>
                  <a:noFill/>
                  <a:prstDash val="sysDot"/>
                </a:ln>
                <a:solidFill>
                  <a:schemeClr val="tx1">
                    <a:lumMod val="85000"/>
                    <a:lumOff val="15000"/>
                  </a:schemeClr>
                </a:solidFill>
                <a:latin typeface="+mn-ea"/>
                <a:sym typeface="+mn-ea"/>
              </a:rPr>
              <a:t>单击此处添加文本内容，简明扼要地阐述观点。根据需要可酌增减文字</a:t>
            </a:r>
            <a:endParaRPr lang="zh-CN" altLang="en-US" sz="900" kern="0" dirty="0">
              <a:ln>
                <a:noFill/>
                <a:prstDash val="sysDot"/>
              </a:ln>
              <a:solidFill>
                <a:schemeClr val="tx1">
                  <a:lumMod val="85000"/>
                  <a:lumOff val="15000"/>
                </a:schemeClr>
              </a:solidFill>
              <a:latin typeface="+mn-ea"/>
              <a:sym typeface="+mn-ea"/>
            </a:endParaRPr>
          </a:p>
        </p:txBody>
      </p:sp>
      <p:sp>
        <p:nvSpPr>
          <p:cNvPr id="26" name="文本框 25"/>
          <p:cNvSpPr txBox="1"/>
          <p:nvPr>
            <p:custDataLst>
              <p:tags r:id="rId18"/>
            </p:custDataLst>
          </p:nvPr>
        </p:nvSpPr>
        <p:spPr>
          <a:xfrm>
            <a:off x="6475010" y="2115536"/>
            <a:ext cx="1157222" cy="276999"/>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350" b="1" spc="100" dirty="0">
                <a:solidFill>
                  <a:schemeClr val="accent1"/>
                </a:solidFill>
              </a:rPr>
              <a:t>添加项标题</a:t>
            </a:r>
            <a:endParaRPr lang="zh-CN" altLang="en-US" sz="1350" b="1" spc="100" dirty="0">
              <a:solidFill>
                <a:schemeClr val="accent1"/>
              </a:solidFill>
            </a:endParaRPr>
          </a:p>
        </p:txBody>
      </p:sp>
      <p:sp>
        <p:nvSpPr>
          <p:cNvPr id="27" name="文本框 26"/>
          <p:cNvSpPr txBox="1"/>
          <p:nvPr>
            <p:custDataLst>
              <p:tags r:id="rId19"/>
            </p:custDataLst>
          </p:nvPr>
        </p:nvSpPr>
        <p:spPr>
          <a:xfrm>
            <a:off x="6475010" y="2386885"/>
            <a:ext cx="1633697" cy="601963"/>
          </a:xfrm>
          <a:prstGeom prst="rect">
            <a:avLst/>
          </a:prstGeom>
          <a:noFill/>
        </p:spPr>
        <p:txBody>
          <a:bodyPr wrap="square"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ct val="130000"/>
              </a:lnSpc>
              <a:spcBef>
                <a:spcPts val="0"/>
              </a:spcBef>
              <a:spcAft>
                <a:spcPts val="0"/>
              </a:spcAft>
              <a:buClrTx/>
              <a:buSzTx/>
              <a:buFontTx/>
            </a:pPr>
            <a:r>
              <a:rPr lang="zh-CN" altLang="en-US" sz="900" kern="0" dirty="0">
                <a:ln>
                  <a:noFill/>
                  <a:prstDash val="sysDot"/>
                </a:ln>
                <a:solidFill>
                  <a:schemeClr val="tx1">
                    <a:lumMod val="85000"/>
                    <a:lumOff val="15000"/>
                  </a:schemeClr>
                </a:solidFill>
                <a:latin typeface="+mn-ea"/>
                <a:sym typeface="+mn-ea"/>
              </a:rPr>
              <a:t>单击此处添加文本内容，简明扼要地阐述观点。根据需要可酌增减文字</a:t>
            </a:r>
            <a:endParaRPr lang="zh-CN" altLang="en-US" sz="900" kern="0" dirty="0">
              <a:ln>
                <a:noFill/>
                <a:prstDash val="sysDot"/>
              </a:ln>
              <a:solidFill>
                <a:schemeClr val="tx1">
                  <a:lumMod val="85000"/>
                  <a:lumOff val="15000"/>
                </a:schemeClr>
              </a:solidFill>
              <a:latin typeface="+mn-ea"/>
              <a:sym typeface="+mn-ea"/>
            </a:endParaRPr>
          </a:p>
        </p:txBody>
      </p:sp>
      <p:sp>
        <p:nvSpPr>
          <p:cNvPr id="29" name="椭圆 28"/>
          <p:cNvSpPr/>
          <p:nvPr>
            <p:custDataLst>
              <p:tags r:id="rId20"/>
            </p:custDataLst>
          </p:nvPr>
        </p:nvSpPr>
        <p:spPr>
          <a:xfrm>
            <a:off x="3793535" y="1119950"/>
            <a:ext cx="1553378" cy="1553378"/>
          </a:xfrm>
          <a:prstGeom prst="ellipse">
            <a:avLst/>
          </a:prstGeom>
          <a:gradFill flip="none" rotWithShape="1">
            <a:gsLst>
              <a:gs pos="0">
                <a:schemeClr val="accent1">
                  <a:alpha val="5000"/>
                </a:schemeClr>
              </a:gs>
              <a:gs pos="100000">
                <a:schemeClr val="accent1">
                  <a:alpha val="20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p>
        </p:txBody>
      </p:sp>
      <p:sp>
        <p:nvSpPr>
          <p:cNvPr id="30" name="椭圆 29"/>
          <p:cNvSpPr/>
          <p:nvPr>
            <p:custDataLst>
              <p:tags r:id="rId21"/>
            </p:custDataLst>
          </p:nvPr>
        </p:nvSpPr>
        <p:spPr>
          <a:xfrm>
            <a:off x="3876371" y="1202786"/>
            <a:ext cx="1387707" cy="1387707"/>
          </a:xfrm>
          <a:prstGeom prst="ellipse">
            <a:avLst/>
          </a:prstGeom>
          <a:gradFill flip="none" rotWithShape="1">
            <a:gsLst>
              <a:gs pos="0">
                <a:schemeClr val="accent1">
                  <a:alpha val="5000"/>
                </a:schemeClr>
              </a:gs>
              <a:gs pos="100000">
                <a:schemeClr val="accent1">
                  <a:alpha val="20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p>
        </p:txBody>
      </p:sp>
      <p:sp>
        <p:nvSpPr>
          <p:cNvPr id="31" name="任意多边形: 形状 27"/>
          <p:cNvSpPr/>
          <p:nvPr>
            <p:custDataLst>
              <p:tags r:id="rId22"/>
            </p:custDataLst>
          </p:nvPr>
        </p:nvSpPr>
        <p:spPr>
          <a:xfrm>
            <a:off x="3969986" y="1296401"/>
            <a:ext cx="1200476" cy="1200476"/>
          </a:xfrm>
          <a:custGeom>
            <a:avLst/>
            <a:gdLst>
              <a:gd name="connsiteX0" fmla="*/ 1864997 w 1864996"/>
              <a:gd name="connsiteY0" fmla="*/ 932499 h 1864997"/>
              <a:gd name="connsiteX1" fmla="*/ 932498 w 1864996"/>
              <a:gd name="connsiteY1" fmla="*/ 1864997 h 1864997"/>
              <a:gd name="connsiteX2" fmla="*/ 0 w 1864996"/>
              <a:gd name="connsiteY2" fmla="*/ 932499 h 1864997"/>
              <a:gd name="connsiteX3" fmla="*/ 932498 w 1864996"/>
              <a:gd name="connsiteY3" fmla="*/ 0 h 1864997"/>
              <a:gd name="connsiteX4" fmla="*/ 1864997 w 1864996"/>
              <a:gd name="connsiteY4" fmla="*/ 932499 h 1864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4996" h="1864997">
                <a:moveTo>
                  <a:pt x="1864997" y="932499"/>
                </a:moveTo>
                <a:cubicBezTo>
                  <a:pt x="1864997" y="1447503"/>
                  <a:pt x="1447503" y="1864997"/>
                  <a:pt x="932498" y="1864997"/>
                </a:cubicBezTo>
                <a:cubicBezTo>
                  <a:pt x="417494" y="1864997"/>
                  <a:pt x="0" y="1447503"/>
                  <a:pt x="0" y="932499"/>
                </a:cubicBezTo>
                <a:cubicBezTo>
                  <a:pt x="0" y="417494"/>
                  <a:pt x="417494" y="0"/>
                  <a:pt x="932498" y="0"/>
                </a:cubicBezTo>
                <a:cubicBezTo>
                  <a:pt x="1447503" y="0"/>
                  <a:pt x="1864997" y="417494"/>
                  <a:pt x="1864997" y="932499"/>
                </a:cubicBezTo>
                <a:close/>
              </a:path>
            </a:pathLst>
          </a:custGeom>
          <a:gradFill flip="none" rotWithShape="1">
            <a:gsLst>
              <a:gs pos="0">
                <a:schemeClr val="accent1">
                  <a:lumMod val="60000"/>
                  <a:lumOff val="40000"/>
                </a:schemeClr>
              </a:gs>
              <a:gs pos="70000">
                <a:schemeClr val="accent1"/>
              </a:gs>
            </a:gsLst>
            <a:lin ang="2700000"/>
          </a:gradFill>
          <a:ln>
            <a:noFill/>
          </a:ln>
          <a:effectLst>
            <a:outerShdw blurRad="101600" dist="38100" dir="2700000" algn="tl" rotWithShape="0">
              <a:schemeClr val="accent1">
                <a:lumMod val="75000"/>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650" b="1" spc="100" dirty="0">
                <a:solidFill>
                  <a:srgbClr val="FFFFFF"/>
                </a:solidFill>
                <a:latin typeface="+mn-ea"/>
              </a:rPr>
              <a:t>添加标题</a:t>
            </a:r>
            <a:endParaRPr lang="zh-CN" altLang="en-US" sz="1650" b="1" spc="100" dirty="0">
              <a:solidFill>
                <a:srgbClr val="FFFFFF"/>
              </a:solidFill>
              <a:latin typeface="+mn-ea"/>
            </a:endParaRPr>
          </a:p>
        </p:txBody>
      </p:sp>
      <p:pic>
        <p:nvPicPr>
          <p:cNvPr id="32" name="图片 15" descr="343439383331313b343532303033313bd3a6d3c3c9ccb3c7"/>
          <p:cNvPicPr>
            <a:picLocks noChangeAspect="1"/>
          </p:cNvPicPr>
          <p:nvPr>
            <p:custDataLst>
              <p:tags r:id="rId23"/>
            </p:custDataLst>
          </p:nvPr>
        </p:nvPicPr>
        <p:blipFill>
          <a:blip r:embed="rId24">
            <a:extLst>
              <a:ext uri="{96DAC541-7B7A-43D3-8B79-37D633B846F1}">
                <asvg:svgBlip xmlns:asvg="http://schemas.microsoft.com/office/drawing/2016/SVG/main" r:embed="rId25"/>
              </a:ext>
            </a:extLst>
          </a:blip>
          <a:stretch>
            <a:fillRect/>
          </a:stretch>
        </p:blipFill>
        <p:spPr>
          <a:xfrm>
            <a:off x="3632900" y="2908841"/>
            <a:ext cx="229500" cy="229500"/>
          </a:xfrm>
          <a:prstGeom prst="rect">
            <a:avLst/>
          </a:prstGeom>
        </p:spPr>
      </p:pic>
      <p:pic>
        <p:nvPicPr>
          <p:cNvPr id="33" name="图片 16" descr="343439383331313b343532303033323bd3a6d3c3b9dcc0ed"/>
          <p:cNvPicPr>
            <a:picLocks noChangeAspect="1"/>
          </p:cNvPicPr>
          <p:nvPr>
            <p:custDataLst>
              <p:tags r:id="rId26"/>
            </p:custDataLst>
          </p:nvPr>
        </p:nvPicPr>
        <p:blipFill>
          <a:blip r:embed="rId27">
            <a:extLst>
              <a:ext uri="{96DAC541-7B7A-43D3-8B79-37D633B846F1}">
                <asvg:svgBlip xmlns:asvg="http://schemas.microsoft.com/office/drawing/2016/SVG/main" r:embed="rId28"/>
              </a:ext>
            </a:extLst>
          </a:blip>
          <a:stretch>
            <a:fillRect/>
          </a:stretch>
        </p:blipFill>
        <p:spPr>
          <a:xfrm>
            <a:off x="4450925" y="3179348"/>
            <a:ext cx="243000" cy="243000"/>
          </a:xfrm>
          <a:prstGeom prst="rect">
            <a:avLst/>
          </a:prstGeom>
        </p:spPr>
      </p:pic>
      <p:pic>
        <p:nvPicPr>
          <p:cNvPr id="34" name="图片 3" descr="343439383331313b343532303031393bd2b5bca8b9dcc0ed"/>
          <p:cNvPicPr>
            <a:picLocks noChangeAspect="1"/>
          </p:cNvPicPr>
          <p:nvPr>
            <p:custDataLst>
              <p:tags r:id="rId29"/>
            </p:custDataLst>
          </p:nvPr>
        </p:nvPicPr>
        <p:blipFill>
          <a:blip r:embed="rId30">
            <a:extLst>
              <a:ext uri="{96DAC541-7B7A-43D3-8B79-37D633B846F1}">
                <asvg:svgBlip xmlns:asvg="http://schemas.microsoft.com/office/drawing/2016/SVG/main" r:embed="rId31"/>
              </a:ext>
            </a:extLst>
          </a:blip>
          <a:stretch>
            <a:fillRect/>
          </a:stretch>
        </p:blipFill>
        <p:spPr>
          <a:xfrm>
            <a:off x="5276037" y="2910270"/>
            <a:ext cx="243000" cy="243000"/>
          </a:xfrm>
          <a:prstGeom prst="rect">
            <a:avLst/>
          </a:prstGeom>
        </p:spPr>
      </p:pic>
      <p:pic>
        <p:nvPicPr>
          <p:cNvPr id="35" name="图片 27" descr="333639373138363b343435303831343bb9b5cda8b9dcc0ed"/>
          <p:cNvPicPr>
            <a:picLocks noChangeAspect="1"/>
          </p:cNvPicPr>
          <p:nvPr>
            <p:custDataLst>
              <p:tags r:id="rId32"/>
            </p:custDataLst>
          </p:nvPr>
        </p:nvPicPr>
        <p:blipFill>
          <a:blip r:embed="rId33">
            <a:extLst>
              <a:ext uri="{96DAC541-7B7A-43D3-8B79-37D633B846F1}">
                <asvg:svgBlip xmlns:asvg="http://schemas.microsoft.com/office/drawing/2016/SVG/main" r:embed="rId34"/>
              </a:ext>
            </a:extLst>
          </a:blip>
          <a:stretch>
            <a:fillRect/>
          </a:stretch>
        </p:blipFill>
        <p:spPr>
          <a:xfrm>
            <a:off x="5819118" y="2231926"/>
            <a:ext cx="243000" cy="243000"/>
          </a:xfrm>
          <a:prstGeom prst="rect">
            <a:avLst/>
          </a:prstGeom>
        </p:spPr>
      </p:pic>
      <p:sp>
        <p:nvSpPr>
          <p:cNvPr id="3" name="日期占位符 2"/>
          <p:cNvSpPr>
            <a:spLocks noGrp="1"/>
          </p:cNvSpPr>
          <p:nvPr>
            <p:ph type="dt" sz="half" idx="10"/>
          </p:nvPr>
        </p:nvSpPr>
        <p:spPr/>
        <p:txBody>
          <a:bodyPr/>
          <a:p>
            <a:fld id="{5902FD77-8323-485D-87E2-91A0E9C84954}" type="datetime1">
              <a:rPr lang="zh-CN" altLang="en-US" smtClean="0"/>
            </a:fld>
            <a:endParaRPr lang="zh-CN" altLang="en-US"/>
          </a:p>
        </p:txBody>
      </p:sp>
      <p:sp>
        <p:nvSpPr>
          <p:cNvPr id="9" name="页脚占位符 8"/>
          <p:cNvSpPr>
            <a:spLocks noGrp="1"/>
          </p:cNvSpPr>
          <p:nvPr>
            <p:ph type="ftr" sz="quarter" idx="11"/>
          </p:nvPr>
        </p:nvSpPr>
        <p:spPr/>
        <p:txBody>
          <a:bodyPr/>
          <a:p>
            <a:r>
              <a:rPr lang="zh-CN" altLang="en-US"/>
              <a:t>软件工程</a:t>
            </a:r>
            <a:endParaRPr lang="zh-CN" altLang="en-US"/>
          </a:p>
        </p:txBody>
      </p:sp>
      <p:sp>
        <p:nvSpPr>
          <p:cNvPr id="10" name="灯片编号占位符 9"/>
          <p:cNvSpPr>
            <a:spLocks noGrp="1"/>
          </p:cNvSpPr>
          <p:nvPr>
            <p:ph type="sldNum" sz="quarter" idx="12"/>
          </p:nvPr>
        </p:nvSpPr>
        <p:spPr/>
        <p:txBody>
          <a:bodyPr/>
          <a:p>
            <a:fld id="{F528F39D-B5E5-4CA7-906C-979D5A62978D}" type="slidenum">
              <a:rPr lang="zh-CN" altLang="en-US" smtClean="0"/>
            </a:fld>
            <a:endParaRPr lang="zh-CN" altLang="en-US"/>
          </a:p>
        </p:txBody>
      </p:sp>
    </p:spTree>
    <p:custDataLst>
      <p:tags r:id="rId35"/>
    </p:custData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800018" y="2110916"/>
            <a:ext cx="4954055" cy="922020"/>
          </a:xfrm>
          <a:prstGeom prst="rect">
            <a:avLst/>
          </a:prstGeom>
        </p:spPr>
        <p:txBody>
          <a:bodyPr wrap="square">
            <a:spAutoFit/>
          </a:bodyPr>
          <a:lstStyle/>
          <a:p>
            <a:pPr>
              <a:lnSpc>
                <a:spcPct val="120000"/>
              </a:lnSpc>
              <a:spcBef>
                <a:spcPts val="900"/>
              </a:spcBef>
              <a:buClr>
                <a:srgbClr val="00B050"/>
              </a:buClr>
            </a:pPr>
            <a:r>
              <a:rPr lang="zh-CN" altLang="en-US" sz="4500" b="1" dirty="0">
                <a:solidFill>
                  <a:srgbClr val="686868"/>
                </a:solidFill>
              </a:rPr>
              <a:t>文档编写</a:t>
            </a:r>
            <a:endParaRPr lang="zh-CN" altLang="en-US" sz="4500" b="1" dirty="0">
              <a:solidFill>
                <a:srgbClr val="686868"/>
              </a:solidFill>
            </a:endParaRPr>
          </a:p>
        </p:txBody>
      </p:sp>
      <p:sp>
        <p:nvSpPr>
          <p:cNvPr id="3" name="页脚占位符 2"/>
          <p:cNvSpPr>
            <a:spLocks noGrp="1"/>
          </p:cNvSpPr>
          <p:nvPr>
            <p:ph type="ftr" sz="quarter" idx="11"/>
          </p:nvPr>
        </p:nvSpPr>
        <p:spPr/>
        <p:txBody>
          <a:bodyPr/>
          <a:lstStyle/>
          <a:p>
            <a:r>
              <a:rPr lang="zh-CN" altLang="en-US"/>
              <a:t>软件工程</a:t>
            </a:r>
            <a:endParaRPr lang="zh-CN" altLang="en-US"/>
          </a:p>
        </p:txBody>
      </p:sp>
      <p:sp>
        <p:nvSpPr>
          <p:cNvPr id="4" name="灯片编号占位符 3"/>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1055171" y="1003652"/>
            <a:ext cx="7803080" cy="3425553"/>
          </a:xfrm>
          <a:prstGeom prst="rect">
            <a:avLst/>
          </a:prstGeom>
        </p:spPr>
        <p:txBody>
          <a:bodyPr wrap="square">
            <a:spAutoFit/>
          </a:bodyPr>
          <a:lstStyle/>
          <a:p>
            <a:pPr marL="257175" indent="-257175">
              <a:lnSpc>
                <a:spcPct val="120000"/>
              </a:lnSpc>
              <a:spcBef>
                <a:spcPts val="900"/>
              </a:spcBef>
              <a:buClr>
                <a:srgbClr val="00B050"/>
              </a:buClr>
              <a:buFont typeface="Wingdings" panose="05000000000000000000" pitchFamily="2" charset="2"/>
              <a:buChar char="¬"/>
            </a:pPr>
            <a:r>
              <a:rPr lang="zh-CN" altLang="en-US" sz="2100" b="1" dirty="0">
                <a:solidFill>
                  <a:srgbClr val="FF8900"/>
                </a:solidFill>
                <a:latin typeface="+mj-ea"/>
                <a:ea typeface="+mj-ea"/>
              </a:rPr>
              <a:t>需求规格说明</a:t>
            </a:r>
            <a:r>
              <a:rPr lang="zh-CN" altLang="en-US" sz="2100" dirty="0">
                <a:solidFill>
                  <a:srgbClr val="686868"/>
                </a:solidFill>
                <a:latin typeface="+mj-ea"/>
                <a:ea typeface="+mj-ea"/>
              </a:rPr>
              <a:t>（</a:t>
            </a:r>
            <a:r>
              <a:rPr lang="en-US" altLang="zh-CN" sz="2100" dirty="0">
                <a:solidFill>
                  <a:srgbClr val="686868"/>
                </a:solidFill>
                <a:latin typeface="+mj-ea"/>
                <a:ea typeface="+mj-ea"/>
              </a:rPr>
              <a:t>Software Requirement Specification</a:t>
            </a:r>
            <a:r>
              <a:rPr lang="zh-CN" altLang="en-US" sz="2100" dirty="0">
                <a:solidFill>
                  <a:srgbClr val="686868"/>
                </a:solidFill>
                <a:latin typeface="+mj-ea"/>
                <a:ea typeface="+mj-ea"/>
              </a:rPr>
              <a:t>，</a:t>
            </a:r>
            <a:r>
              <a:rPr lang="en-US" altLang="zh-CN" sz="2100" b="1" dirty="0">
                <a:solidFill>
                  <a:srgbClr val="FF8900"/>
                </a:solidFill>
                <a:latin typeface="+mj-ea"/>
                <a:ea typeface="+mj-ea"/>
              </a:rPr>
              <a:t>SRS</a:t>
            </a:r>
            <a:r>
              <a:rPr lang="zh-CN" altLang="en-US" sz="2100" dirty="0">
                <a:solidFill>
                  <a:srgbClr val="686868"/>
                </a:solidFill>
                <a:latin typeface="+mj-ea"/>
                <a:ea typeface="+mj-ea"/>
              </a:rPr>
              <a:t>）是需求分析的最终结果。</a:t>
            </a:r>
            <a:endParaRPr lang="en-US" altLang="zh-CN" sz="2100" dirty="0">
              <a:solidFill>
                <a:srgbClr val="686868"/>
              </a:solidFill>
              <a:latin typeface="+mj-ea"/>
              <a:ea typeface="+mj-ea"/>
            </a:endParaRPr>
          </a:p>
          <a:p>
            <a:pPr marL="257175" indent="-257175">
              <a:lnSpc>
                <a:spcPct val="120000"/>
              </a:lnSpc>
              <a:spcBef>
                <a:spcPts val="900"/>
              </a:spcBef>
              <a:buClr>
                <a:srgbClr val="00B050"/>
              </a:buClr>
              <a:buFont typeface="Wingdings" panose="05000000000000000000" pitchFamily="2" charset="2"/>
              <a:buChar char="¬"/>
            </a:pPr>
            <a:r>
              <a:rPr lang="en-US" altLang="zh-CN" sz="2100" dirty="0">
                <a:solidFill>
                  <a:srgbClr val="686868"/>
                </a:solidFill>
                <a:latin typeface="+mj-ea"/>
                <a:ea typeface="+mj-ea"/>
              </a:rPr>
              <a:t>SRS</a:t>
            </a:r>
            <a:r>
              <a:rPr lang="zh-CN" altLang="en-US" sz="2100" dirty="0">
                <a:solidFill>
                  <a:srgbClr val="686868"/>
                </a:solidFill>
                <a:latin typeface="+mj-ea"/>
                <a:ea typeface="+mj-ea"/>
              </a:rPr>
              <a:t>是软件项目的一个关键性文档，需要指明软件的基本特征和性质（功能需求和非功能需求），以及期望和选择的特征和性质，和其他系统元素的接口，建立软件必须满足的约束。</a:t>
            </a:r>
            <a:endParaRPr lang="zh-CN" altLang="en-US" sz="2100" dirty="0">
              <a:solidFill>
                <a:srgbClr val="686868"/>
              </a:solidFill>
              <a:latin typeface="+mj-ea"/>
              <a:ea typeface="+mj-ea"/>
            </a:endParaRPr>
          </a:p>
          <a:p>
            <a:pPr marL="257175" indent="-257175">
              <a:lnSpc>
                <a:spcPct val="120000"/>
              </a:lnSpc>
              <a:spcBef>
                <a:spcPts val="900"/>
              </a:spcBef>
              <a:buClr>
                <a:srgbClr val="00B050"/>
              </a:buClr>
              <a:buFont typeface="Wingdings" panose="05000000000000000000" pitchFamily="2" charset="2"/>
              <a:buChar char="¬"/>
            </a:pPr>
            <a:r>
              <a:rPr lang="zh-CN" altLang="en-US" sz="2100" dirty="0">
                <a:solidFill>
                  <a:srgbClr val="686868"/>
                </a:solidFill>
                <a:latin typeface="+mj-ea"/>
                <a:ea typeface="+mj-ea"/>
              </a:rPr>
              <a:t>当客户和开发团队对要开发的产品达成一致的协议时，即产生需求规格说明文档。它是整个开发工作的基础，要具有准确性和一致性，并且直观易读，易于修改。</a:t>
            </a:r>
            <a:endParaRPr lang="zh-CN" altLang="en-US" sz="2100" dirty="0">
              <a:solidFill>
                <a:srgbClr val="686868"/>
              </a:solidFill>
              <a:latin typeface="+mj-ea"/>
              <a:ea typeface="+mj-ea"/>
            </a:endParaRPr>
          </a:p>
        </p:txBody>
      </p:sp>
      <p:sp>
        <p:nvSpPr>
          <p:cNvPr id="8" name="文本框 7"/>
          <p:cNvSpPr txBox="1"/>
          <p:nvPr/>
        </p:nvSpPr>
        <p:spPr>
          <a:xfrm>
            <a:off x="870439" y="3020158"/>
            <a:ext cx="184731" cy="300082"/>
          </a:xfrm>
          <a:prstGeom prst="rect">
            <a:avLst/>
          </a:prstGeom>
          <a:noFill/>
        </p:spPr>
        <p:txBody>
          <a:bodyPr wrap="none" rtlCol="0">
            <a:spAutoFit/>
          </a:bodyPr>
          <a:lstStyle/>
          <a:p>
            <a:endParaRPr lang="zh-CN" altLang="en-US" sz="1350"/>
          </a:p>
        </p:txBody>
      </p:sp>
      <p:sp>
        <p:nvSpPr>
          <p:cNvPr id="2" name="标题 1"/>
          <p:cNvSpPr>
            <a:spLocks noGrp="1"/>
          </p:cNvSpPr>
          <p:nvPr>
            <p:ph type="title"/>
          </p:nvPr>
        </p:nvSpPr>
        <p:spPr/>
        <p:txBody>
          <a:bodyPr/>
          <a:lstStyle/>
          <a:p>
            <a:r>
              <a:rPr lang="zh-CN" altLang="en-US" kern="100" dirty="0">
                <a:latin typeface="+mn-ea"/>
                <a:cs typeface="Times New Roman" panose="02020603050405020304" pitchFamily="18" charset="0"/>
              </a:rPr>
              <a:t>需求规格说明</a:t>
            </a:r>
            <a:endParaRPr lang="zh-CN" altLang="en-US" dirty="0"/>
          </a:p>
        </p:txBody>
      </p:sp>
      <p:sp>
        <p:nvSpPr>
          <p:cNvPr id="4" name="日期占位符 3"/>
          <p:cNvSpPr>
            <a:spLocks noGrp="1"/>
          </p:cNvSpPr>
          <p:nvPr>
            <p:ph type="dt" sz="half" idx="10"/>
          </p:nvPr>
        </p:nvSpPr>
        <p:spPr/>
        <p:txBody>
          <a:bodyPr/>
          <a:lstStyle/>
          <a:p>
            <a:fld id="{76CD4129-9A6B-46F7-AD6E-D58911756DDC}"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软件工程</a:t>
            </a:r>
            <a:endParaRPr lang="zh-CN" altLang="en-US"/>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up)">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wipe(up)">
                                      <p:cBhvr>
                                        <p:cTn id="12" dur="50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wipe(up)">
                                      <p:cBhvr>
                                        <p:cTn id="17" dur="500"/>
                                        <p:tgtEl>
                                          <p:spTgt spid="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1055170" y="1073466"/>
            <a:ext cx="7342872" cy="1222835"/>
          </a:xfrm>
          <a:prstGeom prst="rect">
            <a:avLst/>
          </a:prstGeom>
        </p:spPr>
        <p:txBody>
          <a:bodyPr wrap="square">
            <a:spAutoFit/>
          </a:bodyPr>
          <a:lstStyle/>
          <a:p>
            <a:pPr marL="257175" indent="-257175">
              <a:lnSpc>
                <a:spcPct val="120000"/>
              </a:lnSpc>
              <a:spcBef>
                <a:spcPts val="900"/>
              </a:spcBef>
              <a:buClr>
                <a:srgbClr val="00B050"/>
              </a:buClr>
              <a:buFont typeface="Wingdings" panose="05000000000000000000" pitchFamily="2" charset="2"/>
              <a:buChar char="¬"/>
            </a:pPr>
            <a:r>
              <a:rPr lang="en-US" altLang="zh-CN" sz="2100" dirty="0">
                <a:solidFill>
                  <a:srgbClr val="686868"/>
                </a:solidFill>
                <a:latin typeface="+mj-ea"/>
                <a:ea typeface="+mj-ea"/>
              </a:rPr>
              <a:t>SRS</a:t>
            </a:r>
            <a:r>
              <a:rPr lang="zh-CN" altLang="en-US" sz="2100" dirty="0">
                <a:solidFill>
                  <a:srgbClr val="686868"/>
                </a:solidFill>
                <a:latin typeface="+mj-ea"/>
                <a:ea typeface="+mj-ea"/>
              </a:rPr>
              <a:t>要达到质量要求，也是需求分析要达到明确</a:t>
            </a:r>
            <a:r>
              <a:rPr lang="en-US" altLang="zh-CN" sz="2100" dirty="0">
                <a:solidFill>
                  <a:srgbClr val="686868"/>
                </a:solidFill>
                <a:latin typeface="+mj-ea"/>
                <a:ea typeface="+mj-ea"/>
              </a:rPr>
              <a:t>(Clear)</a:t>
            </a:r>
            <a:r>
              <a:rPr lang="zh-CN" altLang="en-US" sz="2100" dirty="0">
                <a:solidFill>
                  <a:srgbClr val="686868"/>
                </a:solidFill>
                <a:latin typeface="+mj-ea"/>
                <a:ea typeface="+mj-ea"/>
              </a:rPr>
              <a:t>、         完整</a:t>
            </a:r>
            <a:r>
              <a:rPr lang="en-US" altLang="zh-CN" sz="2100" dirty="0">
                <a:solidFill>
                  <a:srgbClr val="686868"/>
                </a:solidFill>
                <a:latin typeface="+mj-ea"/>
                <a:ea typeface="+mj-ea"/>
              </a:rPr>
              <a:t>(Complete)</a:t>
            </a:r>
            <a:r>
              <a:rPr lang="zh-CN" altLang="en-US" sz="2100" dirty="0">
                <a:solidFill>
                  <a:srgbClr val="686868"/>
                </a:solidFill>
                <a:latin typeface="+mj-ea"/>
                <a:ea typeface="+mj-ea"/>
              </a:rPr>
              <a:t>、一致</a:t>
            </a:r>
            <a:r>
              <a:rPr lang="en-US" altLang="zh-CN" sz="2100" dirty="0">
                <a:solidFill>
                  <a:srgbClr val="686868"/>
                </a:solidFill>
                <a:latin typeface="+mj-ea"/>
                <a:ea typeface="+mj-ea"/>
              </a:rPr>
              <a:t>(Consistent)</a:t>
            </a:r>
            <a:r>
              <a:rPr lang="zh-CN" altLang="en-US" sz="2100" dirty="0">
                <a:solidFill>
                  <a:srgbClr val="686868"/>
                </a:solidFill>
                <a:latin typeface="+mj-ea"/>
                <a:ea typeface="+mj-ea"/>
              </a:rPr>
              <a:t>、可测试 </a:t>
            </a:r>
            <a:r>
              <a:rPr lang="en-US" altLang="zh-CN" sz="2100" dirty="0">
                <a:solidFill>
                  <a:srgbClr val="686868"/>
                </a:solidFill>
                <a:latin typeface="+mj-ea"/>
                <a:ea typeface="+mj-ea"/>
              </a:rPr>
              <a:t>(Testable)</a:t>
            </a:r>
            <a:r>
              <a:rPr lang="zh-CN" altLang="en-US" sz="2100" dirty="0">
                <a:solidFill>
                  <a:srgbClr val="686868"/>
                </a:solidFill>
                <a:latin typeface="+mj-ea"/>
                <a:ea typeface="+mj-ea"/>
              </a:rPr>
              <a:t>、可跟踪（</a:t>
            </a:r>
            <a:r>
              <a:rPr lang="en-US" altLang="zh-CN" sz="2100" dirty="0">
                <a:solidFill>
                  <a:srgbClr val="686868"/>
                </a:solidFill>
                <a:latin typeface="+mj-ea"/>
                <a:ea typeface="+mj-ea"/>
              </a:rPr>
              <a:t>Traceability</a:t>
            </a:r>
            <a:r>
              <a:rPr lang="zh-CN" altLang="en-US" sz="2100" dirty="0">
                <a:solidFill>
                  <a:srgbClr val="686868"/>
                </a:solidFill>
                <a:latin typeface="+mj-ea"/>
                <a:ea typeface="+mj-ea"/>
              </a:rPr>
              <a:t>）、可修改（</a:t>
            </a:r>
            <a:r>
              <a:rPr lang="en-US" altLang="zh-CN" sz="2100" dirty="0">
                <a:solidFill>
                  <a:srgbClr val="686868"/>
                </a:solidFill>
                <a:latin typeface="+mj-ea"/>
                <a:ea typeface="+mj-ea"/>
              </a:rPr>
              <a:t>modifiability</a:t>
            </a:r>
            <a:r>
              <a:rPr lang="zh-CN" altLang="en-US" sz="2100" dirty="0">
                <a:solidFill>
                  <a:srgbClr val="686868"/>
                </a:solidFill>
                <a:latin typeface="+mj-ea"/>
                <a:ea typeface="+mj-ea"/>
              </a:rPr>
              <a:t>）等标准。</a:t>
            </a:r>
            <a:endParaRPr lang="zh-CN" altLang="en-US" sz="2100" dirty="0">
              <a:solidFill>
                <a:srgbClr val="686868"/>
              </a:solidFill>
              <a:latin typeface="+mj-ea"/>
              <a:ea typeface="+mj-ea"/>
            </a:endParaRPr>
          </a:p>
        </p:txBody>
      </p:sp>
      <p:sp>
        <p:nvSpPr>
          <p:cNvPr id="8" name="文本框 7"/>
          <p:cNvSpPr txBox="1"/>
          <p:nvPr/>
        </p:nvSpPr>
        <p:spPr>
          <a:xfrm>
            <a:off x="870439" y="3020158"/>
            <a:ext cx="184731" cy="300082"/>
          </a:xfrm>
          <a:prstGeom prst="rect">
            <a:avLst/>
          </a:prstGeom>
          <a:noFill/>
        </p:spPr>
        <p:txBody>
          <a:bodyPr wrap="none" rtlCol="0">
            <a:spAutoFit/>
          </a:bodyPr>
          <a:lstStyle/>
          <a:p>
            <a:endParaRPr lang="zh-CN" altLang="en-US" sz="1350"/>
          </a:p>
        </p:txBody>
      </p:sp>
      <p:sp>
        <p:nvSpPr>
          <p:cNvPr id="2" name="文本框 1"/>
          <p:cNvSpPr txBox="1"/>
          <p:nvPr/>
        </p:nvSpPr>
        <p:spPr>
          <a:xfrm>
            <a:off x="2051159" y="2502105"/>
            <a:ext cx="2046971" cy="1731243"/>
          </a:xfrm>
          <a:prstGeom prst="rect">
            <a:avLst/>
          </a:prstGeom>
          <a:noFill/>
        </p:spPr>
        <p:txBody>
          <a:bodyPr wrap="square" rtlCol="0">
            <a:spAutoFit/>
          </a:bodyPr>
          <a:lstStyle/>
          <a:p>
            <a:pPr algn="just">
              <a:spcBef>
                <a:spcPts val="900"/>
              </a:spcBef>
              <a:buClr>
                <a:srgbClr val="00B050"/>
              </a:buClr>
              <a:buFont typeface="Wingdings" panose="05000000000000000000" pitchFamily="2" charset="2"/>
              <a:buChar char="ü"/>
            </a:pPr>
            <a:r>
              <a:rPr lang="zh-CN" altLang="en-US" sz="2100" dirty="0">
                <a:solidFill>
                  <a:srgbClr val="686868"/>
                </a:solidFill>
                <a:latin typeface="+mj-ea"/>
                <a:ea typeface="+mj-ea"/>
              </a:rPr>
              <a:t>正确性</a:t>
            </a:r>
            <a:endParaRPr lang="zh-CN" altLang="en-US" sz="2100" dirty="0">
              <a:solidFill>
                <a:srgbClr val="686868"/>
              </a:solidFill>
              <a:latin typeface="+mj-ea"/>
              <a:ea typeface="+mj-ea"/>
            </a:endParaRPr>
          </a:p>
          <a:p>
            <a:pPr algn="just">
              <a:spcBef>
                <a:spcPts val="900"/>
              </a:spcBef>
              <a:buClr>
                <a:srgbClr val="00B050"/>
              </a:buClr>
              <a:buFont typeface="Wingdings" panose="05000000000000000000" pitchFamily="2" charset="2"/>
              <a:buChar char="ü"/>
            </a:pPr>
            <a:r>
              <a:rPr lang="zh-CN" altLang="en-US" sz="2100" dirty="0">
                <a:solidFill>
                  <a:srgbClr val="686868"/>
                </a:solidFill>
                <a:latin typeface="+mj-ea"/>
                <a:ea typeface="+mj-ea"/>
              </a:rPr>
              <a:t>无歧义性</a:t>
            </a:r>
            <a:endParaRPr lang="zh-CN" altLang="en-US" sz="2100" dirty="0">
              <a:solidFill>
                <a:srgbClr val="686868"/>
              </a:solidFill>
              <a:latin typeface="+mj-ea"/>
              <a:ea typeface="+mj-ea"/>
            </a:endParaRPr>
          </a:p>
          <a:p>
            <a:pPr algn="just">
              <a:spcBef>
                <a:spcPts val="900"/>
              </a:spcBef>
              <a:buClr>
                <a:srgbClr val="00B050"/>
              </a:buClr>
              <a:buFont typeface="Wingdings" panose="05000000000000000000" pitchFamily="2" charset="2"/>
              <a:buChar char="ü"/>
            </a:pPr>
            <a:r>
              <a:rPr lang="zh-CN" altLang="en-US" sz="2100" dirty="0">
                <a:solidFill>
                  <a:srgbClr val="686868"/>
                </a:solidFill>
                <a:latin typeface="+mj-ea"/>
                <a:ea typeface="+mj-ea"/>
              </a:rPr>
              <a:t>完整性</a:t>
            </a:r>
            <a:endParaRPr lang="zh-CN" altLang="en-US" sz="2100" dirty="0">
              <a:solidFill>
                <a:srgbClr val="686868"/>
              </a:solidFill>
              <a:latin typeface="+mj-ea"/>
              <a:ea typeface="+mj-ea"/>
            </a:endParaRPr>
          </a:p>
          <a:p>
            <a:pPr algn="just">
              <a:spcBef>
                <a:spcPts val="900"/>
              </a:spcBef>
              <a:buClr>
                <a:srgbClr val="00B050"/>
              </a:buClr>
              <a:buFont typeface="Wingdings" panose="05000000000000000000" pitchFamily="2" charset="2"/>
              <a:buChar char="ü"/>
            </a:pPr>
            <a:r>
              <a:rPr lang="zh-CN" altLang="en-US" sz="2100" dirty="0">
                <a:solidFill>
                  <a:srgbClr val="686868"/>
                </a:solidFill>
                <a:latin typeface="+mj-ea"/>
                <a:ea typeface="+mj-ea"/>
              </a:rPr>
              <a:t>一致性</a:t>
            </a:r>
            <a:endParaRPr lang="zh-CN" altLang="en-US" sz="2100" dirty="0">
              <a:solidFill>
                <a:srgbClr val="686868"/>
              </a:solidFill>
              <a:latin typeface="+mj-ea"/>
              <a:ea typeface="+mj-ea"/>
            </a:endParaRPr>
          </a:p>
        </p:txBody>
      </p:sp>
      <p:sp>
        <p:nvSpPr>
          <p:cNvPr id="6" name="文本框 5"/>
          <p:cNvSpPr txBox="1"/>
          <p:nvPr/>
        </p:nvSpPr>
        <p:spPr>
          <a:xfrm>
            <a:off x="4202405" y="2502105"/>
            <a:ext cx="3047370" cy="1731243"/>
          </a:xfrm>
          <a:prstGeom prst="rect">
            <a:avLst/>
          </a:prstGeom>
          <a:noFill/>
        </p:spPr>
        <p:txBody>
          <a:bodyPr wrap="square" rtlCol="0">
            <a:spAutoFit/>
          </a:bodyPr>
          <a:lstStyle/>
          <a:p>
            <a:pPr algn="just">
              <a:spcBef>
                <a:spcPts val="900"/>
              </a:spcBef>
              <a:buClr>
                <a:srgbClr val="00B050"/>
              </a:buClr>
              <a:buFont typeface="Wingdings" panose="05000000000000000000" pitchFamily="2" charset="2"/>
              <a:buChar char="ü"/>
            </a:pPr>
            <a:r>
              <a:rPr lang="zh-CN" altLang="en-US" sz="2100" dirty="0">
                <a:solidFill>
                  <a:srgbClr val="686868"/>
                </a:solidFill>
                <a:latin typeface="+mj-ea"/>
                <a:ea typeface="+mj-ea"/>
              </a:rPr>
              <a:t>重要性</a:t>
            </a:r>
            <a:r>
              <a:rPr lang="en-US" altLang="zh-CN" sz="2100" dirty="0">
                <a:solidFill>
                  <a:srgbClr val="686868"/>
                </a:solidFill>
                <a:latin typeface="+mj-ea"/>
                <a:ea typeface="+mj-ea"/>
              </a:rPr>
              <a:t>/</a:t>
            </a:r>
            <a:r>
              <a:rPr lang="zh-CN" altLang="en-US" sz="2100" dirty="0">
                <a:solidFill>
                  <a:srgbClr val="686868"/>
                </a:solidFill>
                <a:latin typeface="+mj-ea"/>
                <a:ea typeface="+mj-ea"/>
              </a:rPr>
              <a:t>稳定性分级</a:t>
            </a:r>
            <a:endParaRPr lang="en-US" altLang="zh-CN" sz="2100" dirty="0">
              <a:solidFill>
                <a:srgbClr val="686868"/>
              </a:solidFill>
              <a:latin typeface="+mj-ea"/>
              <a:ea typeface="+mj-ea"/>
            </a:endParaRPr>
          </a:p>
          <a:p>
            <a:pPr algn="just">
              <a:spcBef>
                <a:spcPts val="900"/>
              </a:spcBef>
              <a:buClr>
                <a:srgbClr val="00B050"/>
              </a:buClr>
              <a:buFont typeface="Wingdings" panose="05000000000000000000" pitchFamily="2" charset="2"/>
              <a:buChar char="ü"/>
            </a:pPr>
            <a:r>
              <a:rPr lang="zh-CN" altLang="en-US" sz="2100" dirty="0">
                <a:solidFill>
                  <a:srgbClr val="686868"/>
                </a:solidFill>
                <a:latin typeface="+mj-ea"/>
                <a:ea typeface="+mj-ea"/>
              </a:rPr>
              <a:t>可验证性</a:t>
            </a:r>
            <a:endParaRPr lang="zh-CN" altLang="en-US" sz="2100" dirty="0">
              <a:solidFill>
                <a:srgbClr val="686868"/>
              </a:solidFill>
              <a:latin typeface="+mj-ea"/>
              <a:ea typeface="+mj-ea"/>
            </a:endParaRPr>
          </a:p>
          <a:p>
            <a:pPr algn="just">
              <a:spcBef>
                <a:spcPts val="900"/>
              </a:spcBef>
              <a:buClr>
                <a:srgbClr val="00B050"/>
              </a:buClr>
              <a:buFont typeface="Wingdings" panose="05000000000000000000" pitchFamily="2" charset="2"/>
              <a:buChar char="ü"/>
            </a:pPr>
            <a:r>
              <a:rPr lang="zh-CN" altLang="en-US" sz="2100" dirty="0">
                <a:solidFill>
                  <a:srgbClr val="686868"/>
                </a:solidFill>
                <a:latin typeface="+mj-ea"/>
                <a:ea typeface="+mj-ea"/>
              </a:rPr>
              <a:t>可修改性</a:t>
            </a:r>
            <a:endParaRPr lang="zh-CN" altLang="en-US" sz="2100" dirty="0">
              <a:solidFill>
                <a:srgbClr val="686868"/>
              </a:solidFill>
              <a:latin typeface="+mj-ea"/>
              <a:ea typeface="+mj-ea"/>
            </a:endParaRPr>
          </a:p>
          <a:p>
            <a:pPr algn="just">
              <a:spcBef>
                <a:spcPts val="900"/>
              </a:spcBef>
              <a:buClr>
                <a:srgbClr val="00B050"/>
              </a:buClr>
              <a:buFont typeface="Wingdings" panose="05000000000000000000" pitchFamily="2" charset="2"/>
              <a:buChar char="ü"/>
            </a:pPr>
            <a:r>
              <a:rPr lang="zh-CN" altLang="en-US" sz="2100" dirty="0">
                <a:solidFill>
                  <a:srgbClr val="686868"/>
                </a:solidFill>
                <a:latin typeface="+mj-ea"/>
                <a:ea typeface="+mj-ea"/>
              </a:rPr>
              <a:t>可追踪性</a:t>
            </a:r>
            <a:endParaRPr lang="zh-CN" altLang="en-US" sz="2100" dirty="0">
              <a:solidFill>
                <a:srgbClr val="686868"/>
              </a:solidFill>
              <a:latin typeface="+mj-ea"/>
              <a:ea typeface="+mj-ea"/>
            </a:endParaRPr>
          </a:p>
        </p:txBody>
      </p:sp>
      <p:sp>
        <p:nvSpPr>
          <p:cNvPr id="4" name="标题 3"/>
          <p:cNvSpPr>
            <a:spLocks noGrp="1"/>
          </p:cNvSpPr>
          <p:nvPr>
            <p:ph type="title"/>
          </p:nvPr>
        </p:nvSpPr>
        <p:spPr/>
        <p:txBody>
          <a:bodyPr/>
          <a:lstStyle/>
          <a:p>
            <a:r>
              <a:rPr lang="zh-CN" altLang="en-US" kern="100" dirty="0">
                <a:latin typeface="+mn-ea"/>
                <a:cs typeface="Times New Roman" panose="02020603050405020304" pitchFamily="18" charset="0"/>
              </a:rPr>
              <a:t>需求规格说明</a:t>
            </a:r>
            <a:endParaRPr lang="zh-CN" altLang="en-US" dirty="0"/>
          </a:p>
        </p:txBody>
      </p:sp>
      <p:sp>
        <p:nvSpPr>
          <p:cNvPr id="5" name="日期占位符 4"/>
          <p:cNvSpPr>
            <a:spLocks noGrp="1"/>
          </p:cNvSpPr>
          <p:nvPr>
            <p:ph type="dt" sz="half" idx="10"/>
          </p:nvPr>
        </p:nvSpPr>
        <p:spPr/>
        <p:txBody>
          <a:bodyPr/>
          <a:lstStyle/>
          <a:p>
            <a:fld id="{C637B262-74B9-421C-97B1-A65F439EBFE4}" type="datetime1">
              <a:rPr lang="zh-CN" altLang="en-US" smtClean="0"/>
            </a:fld>
            <a:endParaRPr lang="zh-CN" altLang="en-US"/>
          </a:p>
        </p:txBody>
      </p:sp>
      <p:sp>
        <p:nvSpPr>
          <p:cNvPr id="7" name="页脚占位符 6"/>
          <p:cNvSpPr>
            <a:spLocks noGrp="1"/>
          </p:cNvSpPr>
          <p:nvPr>
            <p:ph type="ftr" sz="quarter" idx="11"/>
          </p:nvPr>
        </p:nvSpPr>
        <p:spPr/>
        <p:txBody>
          <a:bodyPr/>
          <a:lstStyle/>
          <a:p>
            <a:r>
              <a:rPr lang="zh-CN" altLang="en-US"/>
              <a:t>软件工程</a:t>
            </a:r>
            <a:endParaRPr lang="zh-CN" altLang="en-US"/>
          </a:p>
        </p:txBody>
      </p:sp>
      <p:sp>
        <p:nvSpPr>
          <p:cNvPr id="9" name="灯片编号占位符 8"/>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800018" y="2110916"/>
            <a:ext cx="4954055" cy="922020"/>
          </a:xfrm>
          <a:prstGeom prst="rect">
            <a:avLst/>
          </a:prstGeom>
        </p:spPr>
        <p:txBody>
          <a:bodyPr wrap="square">
            <a:spAutoFit/>
          </a:bodyPr>
          <a:lstStyle/>
          <a:p>
            <a:pPr>
              <a:lnSpc>
                <a:spcPct val="120000"/>
              </a:lnSpc>
              <a:spcBef>
                <a:spcPts val="900"/>
              </a:spcBef>
              <a:buClr>
                <a:srgbClr val="00B050"/>
              </a:buClr>
            </a:pPr>
            <a:r>
              <a:rPr lang="zh-CN" altLang="en-US" sz="4500" b="1" dirty="0">
                <a:solidFill>
                  <a:srgbClr val="686868"/>
                </a:solidFill>
              </a:rPr>
              <a:t>需求验证</a:t>
            </a:r>
            <a:endParaRPr lang="zh-CN" altLang="en-US" sz="4500" b="1" dirty="0">
              <a:solidFill>
                <a:srgbClr val="686868"/>
              </a:solidFill>
            </a:endParaRPr>
          </a:p>
        </p:txBody>
      </p:sp>
      <p:sp>
        <p:nvSpPr>
          <p:cNvPr id="3" name="页脚占位符 2"/>
          <p:cNvSpPr>
            <a:spLocks noGrp="1"/>
          </p:cNvSpPr>
          <p:nvPr>
            <p:ph type="ftr" sz="quarter" idx="11"/>
          </p:nvPr>
        </p:nvSpPr>
        <p:spPr/>
        <p:txBody>
          <a:bodyPr/>
          <a:lstStyle/>
          <a:p>
            <a:r>
              <a:rPr lang="zh-CN" altLang="en-US"/>
              <a:t>软件工程</a:t>
            </a:r>
            <a:endParaRPr lang="zh-CN" altLang="en-US"/>
          </a:p>
        </p:txBody>
      </p:sp>
      <p:sp>
        <p:nvSpPr>
          <p:cNvPr id="4" name="灯片编号占位符 3"/>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clrChange>
              <a:clrFrom>
                <a:srgbClr val="F6F6F6"/>
              </a:clrFrom>
              <a:clrTo>
                <a:srgbClr val="F6F6F6">
                  <a:alpha val="0"/>
                </a:srgbClr>
              </a:clrTo>
            </a:clrChange>
          </a:blip>
          <a:stretch>
            <a:fillRect/>
          </a:stretch>
        </p:blipFill>
        <p:spPr>
          <a:xfrm>
            <a:off x="5935709" y="1072721"/>
            <a:ext cx="3098189" cy="3253099"/>
          </a:xfrm>
          <a:prstGeom prst="rect">
            <a:avLst/>
          </a:prstGeom>
          <a:noFill/>
          <a:ln>
            <a:noFill/>
          </a:ln>
        </p:spPr>
      </p:pic>
      <p:sp>
        <p:nvSpPr>
          <p:cNvPr id="12" name="矩形 11"/>
          <p:cNvSpPr/>
          <p:nvPr/>
        </p:nvSpPr>
        <p:spPr>
          <a:xfrm>
            <a:off x="726442" y="1015683"/>
            <a:ext cx="5257391" cy="3310137"/>
          </a:xfrm>
          <a:prstGeom prst="rect">
            <a:avLst/>
          </a:prstGeom>
        </p:spPr>
        <p:txBody>
          <a:bodyPr wrap="square">
            <a:spAutoFit/>
          </a:bodyPr>
          <a:lstStyle/>
          <a:p>
            <a:pPr marL="257175" indent="-257175" algn="just">
              <a:lnSpc>
                <a:spcPct val="120000"/>
              </a:lnSpc>
              <a:spcBef>
                <a:spcPts val="900"/>
              </a:spcBef>
              <a:buClr>
                <a:srgbClr val="00B050"/>
              </a:buClr>
              <a:buFont typeface="Wingdings" panose="05000000000000000000" pitchFamily="2" charset="2"/>
              <a:buChar char="¬"/>
            </a:pPr>
            <a:r>
              <a:rPr lang="zh-CN" altLang="en-US" sz="2100" dirty="0">
                <a:solidFill>
                  <a:srgbClr val="686868"/>
                </a:solidFill>
                <a:latin typeface="+mj-ea"/>
                <a:ea typeface="+mj-ea"/>
              </a:rPr>
              <a:t>需求规格说明提交后，开发人员要与客户对需求分析的结果进行验证，以</a:t>
            </a:r>
            <a:r>
              <a:rPr lang="en-US" altLang="zh-CN" sz="2100" dirty="0">
                <a:solidFill>
                  <a:srgbClr val="686868"/>
                </a:solidFill>
                <a:latin typeface="+mj-ea"/>
                <a:ea typeface="+mj-ea"/>
              </a:rPr>
              <a:t>SRS</a:t>
            </a:r>
            <a:r>
              <a:rPr lang="zh-CN" altLang="en-US" sz="2100" dirty="0">
                <a:solidFill>
                  <a:srgbClr val="686868"/>
                </a:solidFill>
                <a:latin typeface="+mj-ea"/>
                <a:ea typeface="+mj-ea"/>
              </a:rPr>
              <a:t>为输入，通过符号执行，模拟或快速原型等途径，分析需求的正确性和可行性。验证过后需要进行签字确认。</a:t>
            </a:r>
            <a:endParaRPr lang="zh-CN" altLang="en-US" sz="2100" dirty="0">
              <a:solidFill>
                <a:srgbClr val="686868"/>
              </a:solidFill>
              <a:latin typeface="+mj-ea"/>
              <a:ea typeface="+mj-ea"/>
            </a:endParaRPr>
          </a:p>
          <a:p>
            <a:pPr marL="257175" indent="-257175" algn="just">
              <a:lnSpc>
                <a:spcPct val="120000"/>
              </a:lnSpc>
              <a:spcBef>
                <a:spcPts val="900"/>
              </a:spcBef>
              <a:buClr>
                <a:srgbClr val="00B050"/>
              </a:buClr>
              <a:buFont typeface="Wingdings" panose="05000000000000000000" pitchFamily="2" charset="2"/>
              <a:buChar char="¬"/>
            </a:pPr>
            <a:r>
              <a:rPr lang="zh-CN" altLang="en-US" sz="2100" dirty="0">
                <a:solidFill>
                  <a:srgbClr val="686868"/>
                </a:solidFill>
                <a:latin typeface="+mj-ea"/>
                <a:ea typeface="+mj-ea"/>
              </a:rPr>
              <a:t>需求评审是为了及早消除隐藏的错误，经验和研究表明，在需求开发阶段纠正这个错误会节省相当多的时间和金钱。</a:t>
            </a:r>
            <a:endParaRPr lang="zh-CN" altLang="en-US" sz="2100" dirty="0">
              <a:solidFill>
                <a:srgbClr val="686868"/>
              </a:solidFill>
              <a:latin typeface="+mj-ea"/>
              <a:ea typeface="+mj-ea"/>
            </a:endParaRPr>
          </a:p>
        </p:txBody>
      </p:sp>
      <p:sp>
        <p:nvSpPr>
          <p:cNvPr id="8" name="文本框 7"/>
          <p:cNvSpPr txBox="1"/>
          <p:nvPr/>
        </p:nvSpPr>
        <p:spPr>
          <a:xfrm>
            <a:off x="870439" y="3020158"/>
            <a:ext cx="184731" cy="300082"/>
          </a:xfrm>
          <a:prstGeom prst="rect">
            <a:avLst/>
          </a:prstGeom>
          <a:noFill/>
        </p:spPr>
        <p:txBody>
          <a:bodyPr wrap="none" rtlCol="0">
            <a:spAutoFit/>
          </a:bodyPr>
          <a:lstStyle/>
          <a:p>
            <a:endParaRPr lang="zh-CN" altLang="en-US" sz="1350"/>
          </a:p>
        </p:txBody>
      </p:sp>
      <p:sp>
        <p:nvSpPr>
          <p:cNvPr id="2" name="标题 1"/>
          <p:cNvSpPr>
            <a:spLocks noGrp="1"/>
          </p:cNvSpPr>
          <p:nvPr>
            <p:ph type="title"/>
          </p:nvPr>
        </p:nvSpPr>
        <p:spPr/>
        <p:txBody>
          <a:bodyPr/>
          <a:lstStyle/>
          <a:p>
            <a:r>
              <a:rPr lang="zh-CN" altLang="en-US" kern="100" dirty="0">
                <a:latin typeface="+mn-ea"/>
                <a:cs typeface="Times New Roman" panose="02020603050405020304" pitchFamily="18" charset="0"/>
              </a:rPr>
              <a:t>需求验证</a:t>
            </a:r>
            <a:endParaRPr lang="zh-CN" altLang="en-US" dirty="0"/>
          </a:p>
        </p:txBody>
      </p:sp>
      <p:sp>
        <p:nvSpPr>
          <p:cNvPr id="5" name="日期占位符 4"/>
          <p:cNvSpPr>
            <a:spLocks noGrp="1"/>
          </p:cNvSpPr>
          <p:nvPr>
            <p:ph type="dt" sz="half" idx="10"/>
          </p:nvPr>
        </p:nvSpPr>
        <p:spPr/>
        <p:txBody>
          <a:bodyPr/>
          <a:lstStyle/>
          <a:p>
            <a:fld id="{B7D8E8D1-A95B-4D6F-905A-CDB791A83E78}"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软件工程</a:t>
            </a:r>
            <a:endParaRPr lang="zh-CN" altLang="en-US"/>
          </a:p>
        </p:txBody>
      </p:sp>
      <p:sp>
        <p:nvSpPr>
          <p:cNvPr id="7" name="灯片编号占位符 6"/>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up)">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wipe(up)">
                                      <p:cBhvr>
                                        <p:cTn id="12" dur="500"/>
                                        <p:tgtEl>
                                          <p:spTgt spid="1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en-US" dirty="0"/>
              <a:t>需求验证的方法</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3" name="文本占位符 2"/>
          <p:cNvSpPr>
            <a:spLocks noGrp="1"/>
          </p:cNvSpPr>
          <p:nvPr>
            <p:ph type="body" sz="quarter" idx="4294967295"/>
          </p:nvPr>
        </p:nvSpPr>
        <p:spPr>
          <a:xfrm>
            <a:off x="842210" y="850245"/>
            <a:ext cx="8016040" cy="3981450"/>
          </a:xfrm>
        </p:spPr>
        <p:txBody>
          <a:bodyPr>
            <a:noAutofit/>
          </a:bodyPr>
          <a:lstStyle/>
          <a:p>
            <a:pPr marL="342900" indent="-342900">
              <a:spcBef>
                <a:spcPts val="600"/>
              </a:spcBef>
              <a:buFont typeface="+mj-lt"/>
              <a:buAutoNum type="arabicPeriod"/>
            </a:pPr>
            <a:r>
              <a:rPr lang="zh-CN" altLang="zh-CN" sz="2000" b="1" dirty="0"/>
              <a:t>规格说明书评审</a:t>
            </a:r>
            <a:endParaRPr lang="en-US" altLang="zh-CN" sz="2000" b="1" dirty="0"/>
          </a:p>
          <a:p>
            <a:pPr marL="600075" lvl="1" indent="-342900">
              <a:spcBef>
                <a:spcPts val="600"/>
              </a:spcBef>
              <a:buFont typeface="+mj-ea"/>
              <a:buAutoNum type="circleNumDbPlain"/>
            </a:pPr>
            <a:r>
              <a:rPr lang="zh-CN" altLang="zh-CN" sz="2000" dirty="0"/>
              <a:t>用户评审和同行评审</a:t>
            </a:r>
            <a:endParaRPr lang="zh-CN" altLang="en-US" sz="2000" dirty="0"/>
          </a:p>
          <a:p>
            <a:pPr marL="600075" lvl="1" indent="-342900">
              <a:spcBef>
                <a:spcPts val="600"/>
              </a:spcBef>
              <a:buFont typeface="+mj-ea"/>
              <a:buAutoNum type="circleNumDbPlain"/>
            </a:pPr>
            <a:r>
              <a:rPr lang="zh-CN" altLang="zh-CN" sz="2000" dirty="0"/>
              <a:t>正式与非正式</a:t>
            </a:r>
            <a:endParaRPr lang="zh-CN" altLang="en-US" sz="2000" dirty="0"/>
          </a:p>
          <a:p>
            <a:pPr marL="342900" indent="-342900">
              <a:spcBef>
                <a:spcPts val="600"/>
              </a:spcBef>
              <a:buFont typeface="+mj-lt"/>
              <a:buAutoNum type="arabicPeriod"/>
            </a:pPr>
            <a:r>
              <a:rPr lang="zh-CN" altLang="en-US" sz="2000" b="1" dirty="0"/>
              <a:t>编写辅助文档也属需求验证</a:t>
            </a:r>
            <a:endParaRPr lang="en-US" altLang="zh-CN" sz="2000" b="1" dirty="0"/>
          </a:p>
          <a:p>
            <a:pPr marL="600075" lvl="1" indent="-342900">
              <a:spcBef>
                <a:spcPts val="600"/>
              </a:spcBef>
              <a:buFont typeface="+mj-ea"/>
              <a:buAutoNum type="circleNumDbPlain"/>
            </a:pPr>
            <a:r>
              <a:rPr lang="zh-CN" altLang="zh-CN" sz="2000" dirty="0"/>
              <a:t>初始测试用例：根据用户需求所要求的产品特性写出黑盒功能测试用例。通过使用测试用例以确认是否达到了期望的要求，从测试用例追溯回功能需求以确保没有需求被疏忽，并且确保所有测试结果与测试用例相一致。</a:t>
            </a:r>
            <a:endParaRPr lang="zh-CN" altLang="en-US" sz="2000" dirty="0"/>
          </a:p>
          <a:p>
            <a:pPr marL="600075" lvl="1" indent="-342900">
              <a:spcBef>
                <a:spcPts val="600"/>
              </a:spcBef>
              <a:buFont typeface="+mj-ea"/>
              <a:buAutoNum type="circleNumDbPlain"/>
            </a:pPr>
            <a:r>
              <a:rPr lang="zh-CN" altLang="en-US" sz="2000" dirty="0"/>
              <a:t>初始用户手册：在需求开发早期即可起草一份用户手册，用它作为需求规格说明的参考并辅助需求分析。</a:t>
            </a:r>
            <a:endParaRPr lang="zh-CN" altLang="zh-CN" sz="2000" dirty="0"/>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up)">
                                      <p:cBhvr>
                                        <p:cTn id="10" dur="500"/>
                                        <p:tgtEl>
                                          <p:spTgt spid="3">
                                            <p:txEl>
                                              <p:pRg st="1" end="1"/>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up)">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up)">
                                      <p:cBhvr>
                                        <p:cTn id="18" dur="500"/>
                                        <p:tgtEl>
                                          <p:spTgt spid="3">
                                            <p:txEl>
                                              <p:pRg st="3" end="3"/>
                                            </p:txEl>
                                          </p:spTgt>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wipe(up)">
                                      <p:cBhvr>
                                        <p:cTn id="21" dur="500"/>
                                        <p:tgtEl>
                                          <p:spTgt spid="3">
                                            <p:txEl>
                                              <p:pRg st="4" end="4"/>
                                            </p:txEl>
                                          </p:spTgt>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wipe(up)">
                                      <p:cBhvr>
                                        <p:cTn id="24"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kern="100" dirty="0">
                <a:latin typeface="+mn-ea"/>
                <a:cs typeface="Times New Roman" panose="02020603050405020304" pitchFamily="18" charset="0"/>
                <a:sym typeface="+mn-ea"/>
              </a:rPr>
              <a:t>需求评审的标准</a:t>
            </a:r>
            <a:endParaRPr lang="en-US" altLang="zh-CN" kern="100" dirty="0">
              <a:latin typeface="+mn-ea"/>
              <a:cs typeface="Times New Roman" panose="02020603050405020304" pitchFamily="18" charset="0"/>
              <a:sym typeface="+mn-ea"/>
            </a:endParaRPr>
          </a:p>
        </p:txBody>
      </p:sp>
      <p:sp>
        <p:nvSpPr>
          <p:cNvPr id="4" name="页脚占位符 3"/>
          <p:cNvSpPr>
            <a:spLocks noGrp="1"/>
          </p:cNvSpPr>
          <p:nvPr>
            <p:ph type="ftr" sz="quarter" idx="11"/>
          </p:nvPr>
        </p:nvSpPr>
        <p:spPr/>
        <p:txBody>
          <a:bodyPr/>
          <a:p>
            <a:r>
              <a:rPr lang="zh-CN" altLang="en-US"/>
              <a:t>软件工程</a:t>
            </a:r>
            <a:endParaRPr lang="zh-CN" altLang="en-US"/>
          </a:p>
        </p:txBody>
      </p:sp>
      <p:sp>
        <p:nvSpPr>
          <p:cNvPr id="5" name="灯片编号占位符 4"/>
          <p:cNvSpPr>
            <a:spLocks noGrp="1"/>
          </p:cNvSpPr>
          <p:nvPr>
            <p:ph type="sldNum" sz="quarter" idx="12"/>
          </p:nvPr>
        </p:nvSpPr>
        <p:spPr/>
        <p:txBody>
          <a:bodyPr/>
          <a:p>
            <a:fld id="{F528F39D-B5E5-4CA7-906C-979D5A62978D}" type="slidenum">
              <a:rPr lang="zh-CN" altLang="en-US" smtClean="0"/>
            </a:fld>
            <a:endParaRPr lang="zh-CN" altLang="en-US"/>
          </a:p>
        </p:txBody>
      </p:sp>
      <p:sp>
        <p:nvSpPr>
          <p:cNvPr id="6" name="内容占位符 5"/>
          <p:cNvSpPr>
            <a:spLocks noGrp="1"/>
          </p:cNvSpPr>
          <p:nvPr>
            <p:ph idx="1"/>
            <p:custDataLst>
              <p:tags r:id="rId1"/>
            </p:custDataLst>
          </p:nvPr>
        </p:nvSpPr>
        <p:spPr>
          <a:xfrm>
            <a:off x="596265" y="828675"/>
            <a:ext cx="8261985" cy="3806825"/>
          </a:xfrm>
        </p:spPr>
        <p:txBody>
          <a:bodyPr>
            <a:noAutofit/>
          </a:bodyPr>
          <a:p>
            <a:pPr marL="0" indent="0" algn="l" fontAlgn="auto">
              <a:lnSpc>
                <a:spcPct val="100000"/>
              </a:lnSpc>
              <a:spcBef>
                <a:spcPct val="55000"/>
              </a:spcBef>
              <a:buFont typeface="Arial" panose="020B0604020202020204" pitchFamily="34" charset="0"/>
              <a:buNone/>
            </a:pPr>
            <a:r>
              <a:rPr lang="en-US" altLang="zh-CN" sz="1600" b="1" err="1">
                <a:solidFill>
                  <a:srgbClr val="660066"/>
                </a:solidFill>
                <a:latin typeface="隶书" panose="02010509060101010101" pitchFamily="49" charset="-122"/>
                <a:ea typeface="隶书" panose="02010509060101010101" pitchFamily="49" charset="-122"/>
                <a:sym typeface="+mn-ea"/>
              </a:rPr>
              <a:t>需求规格说明的质量特性</a:t>
            </a:r>
            <a:r>
              <a:rPr lang="zh-CN" altLang="en-US" sz="1600" b="1" dirty="0">
                <a:solidFill>
                  <a:srgbClr val="660066"/>
                </a:solidFill>
                <a:latin typeface="隶书" panose="02010509060101010101" pitchFamily="49" charset="-122"/>
                <a:ea typeface="隶书" panose="02010509060101010101" pitchFamily="49" charset="-122"/>
                <a:sym typeface="+mn-ea"/>
              </a:rPr>
              <a:t>作为评审的标准</a:t>
            </a:r>
            <a:endParaRPr lang="zh-CN" altLang="zh-CN" sz="1600">
              <a:sym typeface="+mn-ea"/>
            </a:endParaRPr>
          </a:p>
          <a:p>
            <a:pPr marL="171450" indent="-171450" algn="l" fontAlgn="auto">
              <a:lnSpc>
                <a:spcPct val="100000"/>
              </a:lnSpc>
              <a:spcBef>
                <a:spcPct val="55000"/>
              </a:spcBef>
              <a:buFont typeface="Arial" panose="020B0604020202020204" pitchFamily="34" charset="0"/>
              <a:buChar char="•"/>
            </a:pPr>
            <a:r>
              <a:rPr lang="zh-CN" altLang="zh-CN" sz="1600">
                <a:sym typeface="+mn-ea"/>
              </a:rPr>
              <a:t>正确性：对系统功能、行为、性能等的描述必须与用户的期望相吻合，代表了用户的真正需求。</a:t>
            </a:r>
            <a:endParaRPr lang="zh-CN" altLang="zh-CN" sz="1600" b="0"/>
          </a:p>
          <a:p>
            <a:pPr marL="171450" indent="-171450" algn="l" fontAlgn="auto">
              <a:lnSpc>
                <a:spcPct val="100000"/>
              </a:lnSpc>
              <a:spcBef>
                <a:spcPct val="55000"/>
              </a:spcBef>
              <a:buFont typeface="Arial" panose="020B0604020202020204" pitchFamily="34" charset="0"/>
              <a:buChar char="•"/>
            </a:pPr>
            <a:r>
              <a:rPr lang="zh-CN" altLang="zh-CN" sz="1600">
                <a:sym typeface="+mn-ea"/>
              </a:rPr>
              <a:t>完整性：需求规格说明应该包括软件要完成的全部任务，不能遗漏任何必要的需求信息，注重用户的任务而不是系统的功能将有助于你避免不完整性</a:t>
            </a:r>
            <a:endParaRPr lang="zh-CN" altLang="zh-CN" sz="1600" b="0"/>
          </a:p>
          <a:p>
            <a:pPr marL="171450" indent="-171450" algn="l" fontAlgn="auto">
              <a:lnSpc>
                <a:spcPct val="100000"/>
              </a:lnSpc>
              <a:spcBef>
                <a:spcPct val="55000"/>
              </a:spcBef>
              <a:buFont typeface="Arial" panose="020B0604020202020204" pitchFamily="34" charset="0"/>
              <a:buChar char="•"/>
            </a:pPr>
            <a:r>
              <a:rPr lang="zh-CN" altLang="zh-CN" sz="1600">
                <a:sym typeface="+mn-ea"/>
              </a:rPr>
              <a:t> 一致性：需求规格说明对各种需求的描述不能存在矛盾，如术语使用冲突、功能和行为特性方面的矛盾以及时序上的不一致等。</a:t>
            </a:r>
            <a:endParaRPr lang="zh-CN" altLang="zh-CN" sz="1600" b="0"/>
          </a:p>
          <a:p>
            <a:pPr marL="171450" indent="-171450" algn="l" fontAlgn="auto">
              <a:lnSpc>
                <a:spcPct val="100000"/>
              </a:lnSpc>
              <a:spcBef>
                <a:spcPct val="55000"/>
              </a:spcBef>
              <a:buFont typeface="Arial" panose="020B0604020202020204" pitchFamily="34" charset="0"/>
              <a:buChar char="•"/>
            </a:pPr>
            <a:r>
              <a:rPr lang="zh-CN" altLang="zh-CN" sz="1600">
                <a:sym typeface="+mn-ea"/>
              </a:rPr>
              <a:t>可修改性：格式和组织方式应保证后续的修改能够比较容易和协调一致。我们可以使用软件工具，或者使用目录表、索引和相互参照列表等方法使软件需求规格说明更容易修改。</a:t>
            </a:r>
            <a:endParaRPr lang="zh-CN" altLang="zh-CN" sz="1600" b="0"/>
          </a:p>
          <a:p>
            <a:pPr marL="171450" indent="-171450" algn="l" fontAlgn="auto">
              <a:lnSpc>
                <a:spcPct val="100000"/>
              </a:lnSpc>
              <a:spcBef>
                <a:spcPct val="55000"/>
              </a:spcBef>
              <a:buFont typeface="Arial" panose="020B0604020202020204" pitchFamily="34" charset="0"/>
              <a:buChar char="•"/>
            </a:pPr>
            <a:r>
              <a:rPr lang="zh-CN" altLang="zh-CN" sz="1600">
                <a:sym typeface="+mn-ea"/>
              </a:rPr>
              <a:t>可跟踪性：可跟踪性意味着每项需求都能与其对应的来源、设计、源代码和测试用例联系起来。</a:t>
            </a:r>
            <a:endParaRPr lang="zh-CN" altLang="zh-CN" sz="1600" b="0"/>
          </a:p>
          <a:p>
            <a:pPr marL="171450" indent="-171450" algn="l" fontAlgn="auto">
              <a:lnSpc>
                <a:spcPct val="100000"/>
              </a:lnSpc>
              <a:spcBef>
                <a:spcPct val="55000"/>
              </a:spcBef>
              <a:buFont typeface="Arial" panose="020B0604020202020204" pitchFamily="34" charset="0"/>
              <a:buChar char="•"/>
            </a:pPr>
            <a:r>
              <a:rPr lang="zh-CN" altLang="zh-CN" sz="1600">
                <a:sym typeface="+mn-ea"/>
              </a:rPr>
              <a:t>可验证性：描述的需求都可以运用一些可行的手段对其进行验证和确认。</a:t>
            </a:r>
            <a:endParaRPr lang="zh-CN" altLang="zh-CN" sz="1600" b="0"/>
          </a:p>
          <a:p>
            <a:pPr marL="0" indent="0" fontAlgn="auto">
              <a:lnSpc>
                <a:spcPct val="100000"/>
              </a:lnSpc>
              <a:buNone/>
            </a:pPr>
            <a:endParaRPr lang="zh-CN" altLang="zh-CN" sz="1600" b="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0"/>
          <p:cNvSpPr>
            <a:spLocks noGrp="1"/>
          </p:cNvSpPr>
          <p:nvPr>
            <p:ph type="title"/>
          </p:nvPr>
        </p:nvSpPr>
        <p:spPr/>
        <p:txBody>
          <a:bodyPr/>
          <a:lstStyle/>
          <a:p>
            <a:r>
              <a:rPr lang="zh-CN" altLang="en-US" dirty="0"/>
              <a:t>需求文档的陈述与改进举例一</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5" name="Rectangle 19"/>
          <p:cNvSpPr>
            <a:spLocks noChangeArrowheads="1"/>
          </p:cNvSpPr>
          <p:nvPr/>
        </p:nvSpPr>
        <p:spPr bwMode="auto">
          <a:xfrm>
            <a:off x="445169" y="1607492"/>
            <a:ext cx="2638322" cy="120032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zh-CN" altLang="en-US" dirty="0">
                <a:latin typeface="+mj-ea"/>
                <a:ea typeface="+mj-ea"/>
              </a:rPr>
              <a:t>产品必须在固定的时间间隔内提供状态消息，并且每次时间间隔不得小于</a:t>
            </a:r>
            <a:r>
              <a:rPr lang="en-US" altLang="zh-CN" dirty="0">
                <a:latin typeface="+mj-ea"/>
                <a:ea typeface="+mj-ea"/>
              </a:rPr>
              <a:t>60</a:t>
            </a:r>
            <a:r>
              <a:rPr lang="zh-CN" altLang="en-US" dirty="0">
                <a:latin typeface="+mj-ea"/>
                <a:ea typeface="+mj-ea"/>
              </a:rPr>
              <a:t>秒。</a:t>
            </a:r>
            <a:endParaRPr lang="zh-CN" altLang="en-US" dirty="0">
              <a:latin typeface="+mj-ea"/>
              <a:ea typeface="+mj-ea"/>
            </a:endParaRPr>
          </a:p>
        </p:txBody>
      </p:sp>
      <p:sp>
        <p:nvSpPr>
          <p:cNvPr id="7" name="Rectangle 22"/>
          <p:cNvSpPr>
            <a:spLocks noChangeArrowheads="1"/>
          </p:cNvSpPr>
          <p:nvPr/>
        </p:nvSpPr>
        <p:spPr bwMode="auto">
          <a:xfrm>
            <a:off x="3937376" y="1010653"/>
            <a:ext cx="5050213" cy="3610614"/>
          </a:xfrm>
          <a:prstGeom prst="rect">
            <a:avLst/>
          </a:prstGeom>
        </p:spPr>
        <p:style>
          <a:lnRef idx="2">
            <a:schemeClr val="accent1"/>
          </a:lnRef>
          <a:fillRef idx="1">
            <a:schemeClr val="lt1"/>
          </a:fillRef>
          <a:effectRef idx="0">
            <a:schemeClr val="accent1"/>
          </a:effectRef>
          <a:fontRef idx="minor">
            <a:schemeClr val="dk1"/>
          </a:fontRef>
        </p:style>
        <p:txBody>
          <a:bodyPr lIns="69056" tIns="34529" rIns="69056" bIns="34529"/>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ts val="900"/>
              </a:spcBef>
              <a:buClr>
                <a:schemeClr val="tx1"/>
              </a:buClr>
              <a:buSzPct val="75000"/>
              <a:buFont typeface="Arial" panose="020B0604020202020204" pitchFamily="34" charset="0"/>
              <a:buChar char="•"/>
            </a:pPr>
            <a:r>
              <a:rPr kumimoji="1" lang="zh-CN" altLang="en-US" dirty="0">
                <a:latin typeface="+mj-ea"/>
                <a:ea typeface="+mj-ea"/>
              </a:rPr>
              <a:t>后台任务管理器</a:t>
            </a:r>
            <a:r>
              <a:rPr kumimoji="1" lang="en-US" altLang="zh-CN" dirty="0">
                <a:latin typeface="+mj-ea"/>
                <a:ea typeface="+mj-ea"/>
              </a:rPr>
              <a:t>(BTM)</a:t>
            </a:r>
            <a:r>
              <a:rPr kumimoji="1" lang="zh-CN" altLang="en-US" dirty="0">
                <a:latin typeface="+mj-ea"/>
                <a:ea typeface="+mj-ea"/>
              </a:rPr>
              <a:t>应该在用户界面的指定区域显示状态消息。</a:t>
            </a:r>
            <a:endParaRPr kumimoji="1" lang="zh-CN" altLang="en-US" dirty="0">
              <a:latin typeface="+mj-ea"/>
              <a:ea typeface="+mj-ea"/>
            </a:endParaRPr>
          </a:p>
          <a:p>
            <a:pPr algn="just">
              <a:spcBef>
                <a:spcPts val="900"/>
              </a:spcBef>
              <a:buClr>
                <a:schemeClr val="tx1"/>
              </a:buClr>
              <a:buSzPct val="75000"/>
            </a:pPr>
            <a:r>
              <a:rPr kumimoji="1" lang="en-US" altLang="zh-CN" dirty="0">
                <a:solidFill>
                  <a:schemeClr val="tx2"/>
                </a:solidFill>
                <a:latin typeface="+mj-ea"/>
                <a:ea typeface="+mj-ea"/>
              </a:rPr>
              <a:t>a.</a:t>
            </a:r>
            <a:r>
              <a:rPr kumimoji="1" lang="en-US" altLang="zh-CN" dirty="0">
                <a:latin typeface="+mj-ea"/>
                <a:ea typeface="+mj-ea"/>
              </a:rPr>
              <a:t> </a:t>
            </a:r>
            <a:r>
              <a:rPr kumimoji="1" lang="zh-CN" altLang="en-US" dirty="0">
                <a:latin typeface="+mj-ea"/>
                <a:ea typeface="+mj-ea"/>
              </a:rPr>
              <a:t>在后台任务进程启动之后，消息必须每隔</a:t>
            </a:r>
            <a:r>
              <a:rPr kumimoji="1" lang="en-US" altLang="zh-CN" dirty="0">
                <a:latin typeface="+mj-ea"/>
                <a:ea typeface="+mj-ea"/>
              </a:rPr>
              <a:t>60 (</a:t>
            </a:r>
            <a:r>
              <a:rPr kumimoji="1" lang="en-US" altLang="zh-CN" dirty="0">
                <a:latin typeface="+mj-ea"/>
                <a:ea typeface="+mj-ea"/>
                <a:sym typeface="Symbol" panose="05050102010706020507" pitchFamily="18" charset="2"/>
              </a:rPr>
              <a:t>10</a:t>
            </a:r>
            <a:r>
              <a:rPr kumimoji="1" lang="en-US" altLang="zh-CN" dirty="0">
                <a:latin typeface="+mj-ea"/>
                <a:ea typeface="+mj-ea"/>
              </a:rPr>
              <a:t>)</a:t>
            </a:r>
            <a:r>
              <a:rPr kumimoji="1" lang="zh-CN" altLang="en-US" dirty="0">
                <a:latin typeface="+mj-ea"/>
                <a:ea typeface="+mj-ea"/>
              </a:rPr>
              <a:t>秒更新一次，并且保持连续的可见性。</a:t>
            </a:r>
            <a:endParaRPr kumimoji="1" lang="zh-CN" altLang="en-US" dirty="0">
              <a:latin typeface="+mj-ea"/>
              <a:ea typeface="+mj-ea"/>
            </a:endParaRPr>
          </a:p>
          <a:p>
            <a:pPr algn="just">
              <a:spcBef>
                <a:spcPts val="900"/>
              </a:spcBef>
              <a:buClr>
                <a:schemeClr val="tx1"/>
              </a:buClr>
              <a:buSzPct val="75000"/>
            </a:pPr>
            <a:r>
              <a:rPr kumimoji="1" lang="en-US" altLang="zh-CN" dirty="0">
                <a:solidFill>
                  <a:schemeClr val="tx2"/>
                </a:solidFill>
                <a:latin typeface="+mj-ea"/>
                <a:ea typeface="+mj-ea"/>
              </a:rPr>
              <a:t>b.</a:t>
            </a:r>
            <a:r>
              <a:rPr kumimoji="1" lang="en-US" altLang="zh-CN" dirty="0">
                <a:latin typeface="+mj-ea"/>
                <a:ea typeface="+mj-ea"/>
              </a:rPr>
              <a:t>  </a:t>
            </a:r>
            <a:r>
              <a:rPr kumimoji="1" lang="zh-CN" altLang="en-US" dirty="0">
                <a:latin typeface="+mj-ea"/>
                <a:ea typeface="+mj-ea"/>
              </a:rPr>
              <a:t>如果正在正常处理后台任务进程，那么后台任务管理器</a:t>
            </a:r>
            <a:r>
              <a:rPr kumimoji="1" lang="en-US" altLang="zh-CN" dirty="0">
                <a:latin typeface="+mj-ea"/>
                <a:ea typeface="+mj-ea"/>
              </a:rPr>
              <a:t>(BTM)</a:t>
            </a:r>
            <a:r>
              <a:rPr kumimoji="1" lang="zh-CN" altLang="en-US" dirty="0">
                <a:latin typeface="+mj-ea"/>
                <a:ea typeface="+mj-ea"/>
              </a:rPr>
              <a:t>必须显示后台任务进程已完成的百分比。</a:t>
            </a:r>
            <a:endParaRPr kumimoji="1" lang="zh-CN" altLang="en-US" dirty="0">
              <a:latin typeface="+mj-ea"/>
              <a:ea typeface="+mj-ea"/>
            </a:endParaRPr>
          </a:p>
          <a:p>
            <a:pPr algn="just">
              <a:spcBef>
                <a:spcPts val="900"/>
              </a:spcBef>
              <a:buClr>
                <a:schemeClr val="tx1"/>
              </a:buClr>
              <a:buSzPct val="75000"/>
            </a:pPr>
            <a:r>
              <a:rPr kumimoji="1" lang="en-US" altLang="zh-CN" dirty="0">
                <a:solidFill>
                  <a:schemeClr val="tx2"/>
                </a:solidFill>
                <a:latin typeface="+mj-ea"/>
                <a:ea typeface="+mj-ea"/>
              </a:rPr>
              <a:t>c.</a:t>
            </a:r>
            <a:r>
              <a:rPr kumimoji="1" lang="en-US" altLang="zh-CN" dirty="0">
                <a:latin typeface="+mj-ea"/>
                <a:ea typeface="+mj-ea"/>
              </a:rPr>
              <a:t> </a:t>
            </a:r>
            <a:r>
              <a:rPr kumimoji="1" lang="zh-CN" altLang="en-US" dirty="0">
                <a:latin typeface="+mj-ea"/>
                <a:ea typeface="+mj-ea"/>
              </a:rPr>
              <a:t>当完成后台任务时，后台任务管理器</a:t>
            </a:r>
            <a:r>
              <a:rPr kumimoji="1" lang="en-US" altLang="zh-CN" dirty="0">
                <a:latin typeface="+mj-ea"/>
                <a:ea typeface="+mj-ea"/>
              </a:rPr>
              <a:t>(BTM)</a:t>
            </a:r>
            <a:r>
              <a:rPr kumimoji="1" lang="zh-CN" altLang="en-US" dirty="0">
                <a:latin typeface="+mj-ea"/>
                <a:ea typeface="+mj-ea"/>
              </a:rPr>
              <a:t>必须显示一个“已完成”的消息。</a:t>
            </a:r>
            <a:endParaRPr kumimoji="1" lang="zh-CN" altLang="en-US" dirty="0">
              <a:latin typeface="+mj-ea"/>
              <a:ea typeface="+mj-ea"/>
            </a:endParaRPr>
          </a:p>
          <a:p>
            <a:pPr algn="just">
              <a:spcBef>
                <a:spcPts val="900"/>
              </a:spcBef>
              <a:buClr>
                <a:schemeClr val="tx1"/>
              </a:buClr>
              <a:buSzPct val="75000"/>
            </a:pPr>
            <a:r>
              <a:rPr kumimoji="1" lang="en-US" altLang="zh-CN" dirty="0">
                <a:solidFill>
                  <a:schemeClr val="tx2"/>
                </a:solidFill>
                <a:latin typeface="+mj-ea"/>
                <a:ea typeface="+mj-ea"/>
              </a:rPr>
              <a:t>d.</a:t>
            </a:r>
            <a:r>
              <a:rPr kumimoji="1" lang="en-US" altLang="zh-CN" dirty="0">
                <a:latin typeface="+mj-ea"/>
                <a:ea typeface="+mj-ea"/>
              </a:rPr>
              <a:t> </a:t>
            </a:r>
            <a:r>
              <a:rPr kumimoji="1" lang="zh-CN" altLang="en-US" dirty="0">
                <a:latin typeface="+mj-ea"/>
                <a:ea typeface="+mj-ea"/>
              </a:rPr>
              <a:t>如果后台任务中止执行，那么后台任务管理器</a:t>
            </a:r>
            <a:r>
              <a:rPr kumimoji="1" lang="en-US" altLang="zh-CN" dirty="0">
                <a:latin typeface="+mj-ea"/>
                <a:ea typeface="+mj-ea"/>
              </a:rPr>
              <a:t>(BTM)</a:t>
            </a:r>
            <a:r>
              <a:rPr kumimoji="1" lang="zh-CN" altLang="en-US" dirty="0">
                <a:latin typeface="+mj-ea"/>
                <a:ea typeface="+mj-ea"/>
              </a:rPr>
              <a:t>必须显示一个出错信息。</a:t>
            </a:r>
            <a:endParaRPr kumimoji="1" lang="zh-CN" altLang="en-US" dirty="0">
              <a:latin typeface="+mj-ea"/>
              <a:ea typeface="+mj-ea"/>
            </a:endParaRPr>
          </a:p>
        </p:txBody>
      </p:sp>
      <p:sp>
        <p:nvSpPr>
          <p:cNvPr id="8" name="Rectangle 33"/>
          <p:cNvSpPr>
            <a:spLocks noChangeArrowheads="1"/>
          </p:cNvSpPr>
          <p:nvPr/>
        </p:nvSpPr>
        <p:spPr bwMode="ltGray">
          <a:xfrm>
            <a:off x="393797" y="3431559"/>
            <a:ext cx="2689694" cy="646331"/>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lvl1pPr eaLnBrk="0" hangingPunct="0">
              <a:tabLst>
                <a:tab pos="374650" algn="l"/>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374650" algn="l"/>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374650" algn="l"/>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374650" algn="l"/>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374650" algn="l"/>
              </a:tabLst>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tabLst>
                <a:tab pos="374650" algn="l"/>
              </a:tabLs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tabLst>
                <a:tab pos="374650" algn="l"/>
              </a:tabLs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tabLst>
                <a:tab pos="374650" algn="l"/>
              </a:tabLs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tabLst>
                <a:tab pos="374650" algn="l"/>
              </a:tabLst>
              <a:defRPr>
                <a:solidFill>
                  <a:schemeClr val="tx1"/>
                </a:solidFill>
                <a:latin typeface="Arial" panose="020B0604020202020204" pitchFamily="34" charset="0"/>
                <a:ea typeface="宋体" panose="02010600030101010101" pitchFamily="2" charset="-122"/>
              </a:defRPr>
            </a:lvl9pPr>
          </a:lstStyle>
          <a:p>
            <a:pPr algn="l" eaLnBrk="1" hangingPunct="1"/>
            <a:r>
              <a:rPr lang="zh-CN" altLang="en-US" dirty="0">
                <a:solidFill>
                  <a:schemeClr val="bg1"/>
                </a:solidFill>
                <a:latin typeface="+mj-ea"/>
                <a:ea typeface="+mj-ea"/>
              </a:rPr>
              <a:t>这个需求是不完整的、不准确的、不可验证的。 </a:t>
            </a:r>
            <a:endParaRPr lang="zh-CN" altLang="en-US" dirty="0">
              <a:solidFill>
                <a:schemeClr val="bg1"/>
              </a:solidFill>
              <a:latin typeface="+mj-ea"/>
              <a:ea typeface="+mj-ea"/>
            </a:endParaRPr>
          </a:p>
        </p:txBody>
      </p:sp>
      <p:grpSp>
        <p:nvGrpSpPr>
          <p:cNvPr id="3" name="组合 2"/>
          <p:cNvGrpSpPr/>
          <p:nvPr/>
        </p:nvGrpSpPr>
        <p:grpSpPr>
          <a:xfrm>
            <a:off x="3245622" y="2046984"/>
            <a:ext cx="691754" cy="1384575"/>
            <a:chOff x="2991757" y="2702151"/>
            <a:chExt cx="922338" cy="1846101"/>
          </a:xfrm>
          <a:solidFill>
            <a:schemeClr val="accent2"/>
          </a:solidFill>
        </p:grpSpPr>
        <p:sp>
          <p:nvSpPr>
            <p:cNvPr id="6" name="Text Box 21"/>
            <p:cNvSpPr txBox="1">
              <a:spLocks noChangeArrowheads="1"/>
            </p:cNvSpPr>
            <p:nvPr/>
          </p:nvSpPr>
          <p:spPr bwMode="auto">
            <a:xfrm>
              <a:off x="3080657" y="3440256"/>
              <a:ext cx="656590" cy="1107996"/>
            </a:xfrm>
            <a:prstGeom prst="rect">
              <a:avLst/>
            </a:prstGeom>
            <a:grpFill/>
            <a:ln>
              <a:headEnd type="none" w="sm" len="sm"/>
              <a:tailEnd type="none" w="sm" len="sm"/>
            </a:ln>
          </p:spPr>
          <p:style>
            <a:lnRef idx="2">
              <a:schemeClr val="accent1">
                <a:shade val="50000"/>
              </a:schemeClr>
            </a:lnRef>
            <a:fillRef idx="1">
              <a:schemeClr val="accent1"/>
            </a:fillRef>
            <a:effectRef idx="0">
              <a:schemeClr val="accent1"/>
            </a:effectRef>
            <a:fontRef idx="minor">
              <a:schemeClr val="lt1"/>
            </a:fontRef>
          </p:style>
          <p:txBody>
            <a:bodyPr wrap="none">
              <a:spAutoFit/>
            </a:bodyPr>
            <a:lstStyle/>
            <a:p>
              <a:pPr algn="l" eaLnBrk="0" hangingPunct="0">
                <a:defRPr/>
              </a:pPr>
              <a:r>
                <a:rPr kumimoji="1" lang="zh-CN" altLang="en-US" sz="2400" dirty="0">
                  <a:solidFill>
                    <a:schemeClr val="bg1"/>
                  </a:solidFill>
                  <a:latin typeface="+mj-ea"/>
                  <a:ea typeface="+mj-ea"/>
                </a:rPr>
                <a:t>改</a:t>
              </a:r>
              <a:endParaRPr kumimoji="1" lang="zh-CN" altLang="en-US" sz="2400" dirty="0">
                <a:solidFill>
                  <a:schemeClr val="bg1"/>
                </a:solidFill>
                <a:latin typeface="+mj-ea"/>
                <a:ea typeface="+mj-ea"/>
              </a:endParaRPr>
            </a:p>
            <a:p>
              <a:pPr algn="l" eaLnBrk="0" hangingPunct="0">
                <a:defRPr/>
              </a:pPr>
              <a:r>
                <a:rPr kumimoji="1" lang="zh-CN" altLang="en-US" sz="2400" dirty="0">
                  <a:solidFill>
                    <a:schemeClr val="bg1"/>
                  </a:solidFill>
                  <a:latin typeface="+mj-ea"/>
                  <a:ea typeface="+mj-ea"/>
                </a:rPr>
                <a:t>进</a:t>
              </a:r>
              <a:endParaRPr kumimoji="1" lang="zh-CN" altLang="en-US" sz="2400" dirty="0">
                <a:solidFill>
                  <a:schemeClr val="bg1"/>
                </a:solidFill>
                <a:latin typeface="+mj-ea"/>
                <a:ea typeface="+mj-ea"/>
              </a:endParaRPr>
            </a:p>
          </p:txBody>
        </p:sp>
        <p:sp>
          <p:nvSpPr>
            <p:cNvPr id="9" name="AutoShape 20"/>
            <p:cNvSpPr>
              <a:spLocks noChangeArrowheads="1"/>
            </p:cNvSpPr>
            <p:nvPr/>
          </p:nvSpPr>
          <p:spPr bwMode="auto">
            <a:xfrm>
              <a:off x="2991757" y="2702151"/>
              <a:ext cx="922338" cy="457200"/>
            </a:xfrm>
            <a:prstGeom prst="rightArrow">
              <a:avLst>
                <a:gd name="adj1" fmla="val 50000"/>
                <a:gd name="adj2" fmla="val 50434"/>
              </a:avLst>
            </a:prstGeom>
            <a:grpFill/>
            <a:ln>
              <a:headEnd type="none" w="sm" len="sm"/>
              <a:tailEnd type="none" w="sm" len="sm"/>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eaLnBrk="0" hangingPunct="0">
                <a:defRPr/>
              </a:pPr>
              <a:endParaRPr kumimoji="1" lang="zh-CN" altLang="en-US">
                <a:solidFill>
                  <a:schemeClr val="tx2"/>
                </a:solidFill>
                <a:effectLst>
                  <a:outerShdw blurRad="38100" dist="38100" dir="2700000" algn="tl">
                    <a:srgbClr val="FFFFFF"/>
                  </a:outerShdw>
                </a:effectLst>
                <a:latin typeface="+mj-ea"/>
                <a:ea typeface="+mj-ea"/>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ppt_x"/>
                                          </p:val>
                                        </p:tav>
                                        <p:tav tm="100000">
                                          <p:val>
                                            <p:strVal val="#ppt_x"/>
                                          </p:val>
                                        </p:tav>
                                      </p:tavLst>
                                    </p:anim>
                                    <p:anim calcmode="lin" valueType="num">
                                      <p:cBhvr additive="base">
                                        <p:cTn id="2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autoUpdateAnimBg="0"/>
      <p:bldP spid="8"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需求文档的陈述与改进举例二</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16" name="Rectangle 22"/>
          <p:cNvSpPr>
            <a:spLocks noChangeArrowheads="1"/>
          </p:cNvSpPr>
          <p:nvPr/>
        </p:nvSpPr>
        <p:spPr bwMode="auto">
          <a:xfrm>
            <a:off x="961098" y="1319335"/>
            <a:ext cx="7673933" cy="46166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ts val="900"/>
              </a:spcBef>
            </a:pPr>
            <a:r>
              <a:rPr lang="zh-CN" altLang="en-US" sz="2400" dirty="0">
                <a:latin typeface="+mj-ea"/>
                <a:ea typeface="+mj-ea"/>
              </a:rPr>
              <a:t>产品必须在显示和隐藏非打印字符之间进行瞬间切换。</a:t>
            </a:r>
            <a:endParaRPr lang="zh-CN" altLang="en-US" sz="2400" dirty="0">
              <a:latin typeface="+mj-ea"/>
              <a:ea typeface="+mj-ea"/>
            </a:endParaRPr>
          </a:p>
        </p:txBody>
      </p:sp>
      <p:sp>
        <p:nvSpPr>
          <p:cNvPr id="18" name="Text Box 24"/>
          <p:cNvSpPr txBox="1">
            <a:spLocks noChangeArrowheads="1"/>
          </p:cNvSpPr>
          <p:nvPr/>
        </p:nvSpPr>
        <p:spPr bwMode="auto">
          <a:xfrm>
            <a:off x="1641596" y="2071367"/>
            <a:ext cx="6312936" cy="400110"/>
          </a:xfrm>
          <a:prstGeom prst="rect">
            <a:avLst/>
          </a:prstGeom>
          <a:ln>
            <a:headEnd type="none" w="sm" len="sm"/>
            <a:tailEnd type="none" w="sm" len="sm"/>
          </a:ln>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eaLnBrk="0" hangingPunct="0">
              <a:defRPr/>
            </a:pPr>
            <a:r>
              <a:rPr kumimoji="1" lang="zh-CN" altLang="en-US" sz="2000" dirty="0">
                <a:solidFill>
                  <a:schemeClr val="bg1"/>
                </a:solidFill>
                <a:latin typeface="+mj-ea"/>
                <a:ea typeface="+mj-ea"/>
              </a:rPr>
              <a:t>需求不可行、不完整、不确定性，导致需求不可验证</a:t>
            </a:r>
            <a:endParaRPr kumimoji="1" lang="zh-CN" altLang="en-US" sz="2000" dirty="0">
              <a:solidFill>
                <a:schemeClr val="bg1"/>
              </a:solidFill>
              <a:latin typeface="+mj-ea"/>
              <a:ea typeface="+mj-ea"/>
            </a:endParaRPr>
          </a:p>
        </p:txBody>
      </p:sp>
      <p:grpSp>
        <p:nvGrpSpPr>
          <p:cNvPr id="3" name="组合 2"/>
          <p:cNvGrpSpPr/>
          <p:nvPr/>
        </p:nvGrpSpPr>
        <p:grpSpPr>
          <a:xfrm>
            <a:off x="727196" y="2975269"/>
            <a:ext cx="914400" cy="1143000"/>
            <a:chOff x="789100" y="3327249"/>
            <a:chExt cx="1219200" cy="1524000"/>
          </a:xfrm>
        </p:grpSpPr>
        <p:sp>
          <p:nvSpPr>
            <p:cNvPr id="19" name="AutoShape 25"/>
            <p:cNvSpPr>
              <a:spLocks noChangeArrowheads="1"/>
            </p:cNvSpPr>
            <p:nvPr/>
          </p:nvSpPr>
          <p:spPr bwMode="auto">
            <a:xfrm>
              <a:off x="789100" y="4394049"/>
              <a:ext cx="1219200" cy="457200"/>
            </a:xfrm>
            <a:prstGeom prst="rightArrow">
              <a:avLst>
                <a:gd name="adj1" fmla="val 50000"/>
                <a:gd name="adj2" fmla="val 66667"/>
              </a:avLst>
            </a:prstGeom>
            <a:ln>
              <a:headEnd type="none" w="sm" len="sm"/>
              <a:tailEnd type="none" w="sm" len="sm"/>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eaLnBrk="0" hangingPunct="0">
                <a:defRPr/>
              </a:pPr>
              <a:endParaRPr kumimoji="1" lang="zh-CN" altLang="en-US">
                <a:solidFill>
                  <a:schemeClr val="bg1"/>
                </a:solidFill>
                <a:latin typeface="+mj-ea"/>
                <a:ea typeface="+mj-ea"/>
              </a:endParaRPr>
            </a:p>
          </p:txBody>
        </p:sp>
        <p:sp>
          <p:nvSpPr>
            <p:cNvPr id="20" name="Text Box 26"/>
            <p:cNvSpPr txBox="1">
              <a:spLocks noChangeArrowheads="1"/>
            </p:cNvSpPr>
            <p:nvPr/>
          </p:nvSpPr>
          <p:spPr bwMode="auto">
            <a:xfrm>
              <a:off x="986063" y="3327249"/>
              <a:ext cx="656591" cy="1107996"/>
            </a:xfrm>
            <a:prstGeom prst="rect">
              <a:avLst/>
            </a:prstGeom>
            <a:ln>
              <a:headEnd type="none" w="sm" len="sm"/>
              <a:tailEnd type="none" w="sm" len="sm"/>
            </a:ln>
          </p:spPr>
          <p:style>
            <a:lnRef idx="2">
              <a:schemeClr val="accent1">
                <a:shade val="50000"/>
              </a:schemeClr>
            </a:lnRef>
            <a:fillRef idx="1">
              <a:schemeClr val="accent1"/>
            </a:fillRef>
            <a:effectRef idx="0">
              <a:schemeClr val="accent1"/>
            </a:effectRef>
            <a:fontRef idx="minor">
              <a:schemeClr val="lt1"/>
            </a:fontRef>
          </p:style>
          <p:txBody>
            <a:bodyPr wrap="none">
              <a:spAutoFit/>
            </a:bodyPr>
            <a:lstStyle/>
            <a:p>
              <a:pPr algn="l" eaLnBrk="0" hangingPunct="0">
                <a:defRPr/>
              </a:pPr>
              <a:r>
                <a:rPr kumimoji="1" lang="zh-CN" altLang="en-US" sz="2400">
                  <a:solidFill>
                    <a:schemeClr val="bg1"/>
                  </a:solidFill>
                  <a:latin typeface="+mj-ea"/>
                  <a:ea typeface="+mj-ea"/>
                </a:rPr>
                <a:t>改</a:t>
              </a:r>
              <a:endParaRPr kumimoji="1" lang="zh-CN" altLang="en-US" sz="2400">
                <a:solidFill>
                  <a:schemeClr val="bg1"/>
                </a:solidFill>
                <a:latin typeface="+mj-ea"/>
                <a:ea typeface="+mj-ea"/>
              </a:endParaRPr>
            </a:p>
            <a:p>
              <a:pPr algn="l" eaLnBrk="0" hangingPunct="0">
                <a:defRPr/>
              </a:pPr>
              <a:r>
                <a:rPr kumimoji="1" lang="zh-CN" altLang="en-US" sz="2400">
                  <a:solidFill>
                    <a:schemeClr val="bg1"/>
                  </a:solidFill>
                  <a:latin typeface="+mj-ea"/>
                  <a:ea typeface="+mj-ea"/>
                </a:rPr>
                <a:t>进</a:t>
              </a:r>
              <a:endParaRPr kumimoji="1" lang="zh-CN" altLang="en-US" sz="2400">
                <a:solidFill>
                  <a:schemeClr val="bg1"/>
                </a:solidFill>
                <a:latin typeface="+mj-ea"/>
                <a:ea typeface="+mj-ea"/>
              </a:endParaRPr>
            </a:p>
          </p:txBody>
        </p:sp>
      </p:grpSp>
      <p:sp>
        <p:nvSpPr>
          <p:cNvPr id="21" name="Rectangle 27"/>
          <p:cNvSpPr>
            <a:spLocks noChangeArrowheads="1"/>
          </p:cNvSpPr>
          <p:nvPr/>
        </p:nvSpPr>
        <p:spPr bwMode="auto">
          <a:xfrm>
            <a:off x="1897089" y="3225386"/>
            <a:ext cx="6596036" cy="892883"/>
          </a:xfrm>
          <a:prstGeom prst="rect">
            <a:avLst/>
          </a:prstGeom>
        </p:spPr>
        <p:style>
          <a:lnRef idx="2">
            <a:schemeClr val="accent1"/>
          </a:lnRef>
          <a:fillRef idx="1">
            <a:schemeClr val="lt1"/>
          </a:fillRef>
          <a:effectRef idx="0">
            <a:schemeClr val="accent1"/>
          </a:effectRef>
          <a:fontRef idx="minor">
            <a:schemeClr val="dk1"/>
          </a:fontRef>
        </p:style>
        <p:txBody>
          <a:bodyPr lIns="69056" tIns="34529" rIns="69056" bIns="34529"/>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gn="just">
              <a:spcBef>
                <a:spcPts val="450"/>
              </a:spcBef>
              <a:buClr>
                <a:schemeClr val="tx1"/>
              </a:buClr>
              <a:buSzPct val="75000"/>
            </a:pPr>
            <a:r>
              <a:rPr kumimoji="1" lang="zh-CN" altLang="en-US" sz="2400" dirty="0">
                <a:latin typeface="+mj-ea"/>
                <a:ea typeface="+mj-ea"/>
              </a:rPr>
              <a:t>用户在编辑文档时，通过激活特定的机制，可以在显示和隐藏所有</a:t>
            </a:r>
            <a:r>
              <a:rPr kumimoji="1" lang="en-US" altLang="zh-CN" sz="2400" dirty="0">
                <a:latin typeface="+mj-ea"/>
                <a:ea typeface="+mj-ea"/>
              </a:rPr>
              <a:t>HTML</a:t>
            </a:r>
            <a:r>
              <a:rPr kumimoji="1" lang="zh-CN" altLang="en-US" sz="2400" dirty="0">
                <a:latin typeface="+mj-ea"/>
                <a:ea typeface="+mj-ea"/>
              </a:rPr>
              <a:t>标记之间进行切换。</a:t>
            </a:r>
            <a:endParaRPr kumimoji="1" lang="zh-CN" altLang="en-US" sz="2400" dirty="0">
              <a:latin typeface="+mj-ea"/>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 calcmode="lin" valueType="num">
                                      <p:cBhvr additive="base">
                                        <p:cTn id="22" dur="500" fill="hold"/>
                                        <p:tgtEl>
                                          <p:spTgt spid="21"/>
                                        </p:tgtEl>
                                        <p:attrNameLst>
                                          <p:attrName>ppt_x</p:attrName>
                                        </p:attrNameLst>
                                      </p:cBhvr>
                                      <p:tavLst>
                                        <p:tav tm="0">
                                          <p:val>
                                            <p:strVal val="#ppt_x"/>
                                          </p:val>
                                        </p:tav>
                                        <p:tav tm="100000">
                                          <p:val>
                                            <p:strVal val="#ppt_x"/>
                                          </p:val>
                                        </p:tav>
                                      </p:tavLst>
                                    </p:anim>
                                    <p:anim calcmode="lin" valueType="num">
                                      <p:cBhvr additive="base">
                                        <p:cTn id="23"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8" grpId="0" animBg="1"/>
      <p:bldP spid="21" grpId="0" animBg="1" autoUpdateAnimBg="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800018" y="2110916"/>
            <a:ext cx="4954055" cy="922020"/>
          </a:xfrm>
          <a:prstGeom prst="rect">
            <a:avLst/>
          </a:prstGeom>
        </p:spPr>
        <p:txBody>
          <a:bodyPr wrap="square">
            <a:spAutoFit/>
          </a:bodyPr>
          <a:lstStyle/>
          <a:p>
            <a:pPr>
              <a:lnSpc>
                <a:spcPct val="120000"/>
              </a:lnSpc>
              <a:spcBef>
                <a:spcPts val="900"/>
              </a:spcBef>
              <a:buClr>
                <a:srgbClr val="00B050"/>
              </a:buClr>
            </a:pPr>
            <a:r>
              <a:rPr lang="zh-CN" altLang="en-US" sz="4500" b="1" dirty="0">
                <a:solidFill>
                  <a:srgbClr val="686868"/>
                </a:solidFill>
              </a:rPr>
              <a:t>需求变更</a:t>
            </a:r>
            <a:endParaRPr lang="zh-CN" altLang="en-US" sz="4500" b="1" dirty="0">
              <a:solidFill>
                <a:srgbClr val="686868"/>
              </a:solidFill>
            </a:endParaRPr>
          </a:p>
        </p:txBody>
      </p:sp>
      <p:sp>
        <p:nvSpPr>
          <p:cNvPr id="3" name="页脚占位符 2"/>
          <p:cNvSpPr>
            <a:spLocks noGrp="1"/>
          </p:cNvSpPr>
          <p:nvPr>
            <p:ph type="ftr" sz="quarter" idx="11"/>
          </p:nvPr>
        </p:nvSpPr>
        <p:spPr/>
        <p:txBody>
          <a:bodyPr/>
          <a:lstStyle/>
          <a:p>
            <a:r>
              <a:rPr lang="zh-CN" altLang="en-US"/>
              <a:t>软件工程</a:t>
            </a:r>
            <a:endParaRPr lang="zh-CN" altLang="en-US"/>
          </a:p>
        </p:txBody>
      </p:sp>
      <p:sp>
        <p:nvSpPr>
          <p:cNvPr id="4" name="灯片编号占位符 3"/>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793784" y="854374"/>
            <a:ext cx="8105118" cy="3808735"/>
          </a:xfrm>
          <a:prstGeom prst="rect">
            <a:avLst/>
          </a:prstGeom>
        </p:spPr>
        <p:txBody>
          <a:bodyPr wrap="square">
            <a:spAutoFit/>
          </a:bodyPr>
          <a:lstStyle/>
          <a:p>
            <a:pPr marL="342900" indent="-342900" algn="just">
              <a:spcBef>
                <a:spcPts val="900"/>
              </a:spcBef>
              <a:buClr>
                <a:srgbClr val="00B050"/>
              </a:buClr>
              <a:buFont typeface="Wingdings" panose="05000000000000000000" pitchFamily="2" charset="2"/>
              <a:buChar char="¬"/>
            </a:pPr>
            <a:r>
              <a:rPr lang="zh-CN" altLang="en-US" sz="2400" dirty="0">
                <a:latin typeface="+mj-ea"/>
                <a:ea typeface="+mj-ea"/>
              </a:rPr>
              <a:t>需求变更是指增加或改进软件的功能。</a:t>
            </a:r>
            <a:endParaRPr lang="en-US" altLang="zh-CN" sz="2400" dirty="0">
              <a:latin typeface="+mj-ea"/>
              <a:ea typeface="+mj-ea"/>
            </a:endParaRPr>
          </a:p>
          <a:p>
            <a:pPr marL="342900" indent="-342900" algn="just">
              <a:spcBef>
                <a:spcPts val="900"/>
              </a:spcBef>
              <a:buClr>
                <a:srgbClr val="00B050"/>
              </a:buClr>
              <a:buFont typeface="Wingdings" panose="05000000000000000000" pitchFamily="2" charset="2"/>
              <a:buChar char="¬"/>
            </a:pPr>
            <a:r>
              <a:rPr lang="zh-CN" altLang="en-US" sz="2400" dirty="0">
                <a:latin typeface="+mj-ea"/>
                <a:ea typeface="+mj-ea"/>
              </a:rPr>
              <a:t>在进行需求分析时要防患于未然，尽可能的分析清楚哪些是稳定的需求，哪些是易变的需求，以便在进行系统设计时，将软件的核心建立在稳定的需求上，同时留出变更空间。</a:t>
            </a:r>
            <a:endParaRPr lang="en-US" altLang="zh-CN" sz="2400" dirty="0">
              <a:latin typeface="+mj-ea"/>
              <a:ea typeface="+mj-ea"/>
            </a:endParaRPr>
          </a:p>
          <a:p>
            <a:pPr marL="342900" indent="-342900" algn="just">
              <a:spcBef>
                <a:spcPts val="900"/>
              </a:spcBef>
              <a:buClr>
                <a:srgbClr val="00B050"/>
              </a:buClr>
              <a:buFont typeface="Wingdings" panose="05000000000000000000" pitchFamily="2" charset="2"/>
              <a:buChar char="¬"/>
            </a:pPr>
            <a:r>
              <a:rPr lang="zh-CN" altLang="en-US" sz="2400" dirty="0">
                <a:latin typeface="+mj-ea"/>
                <a:ea typeface="+mj-ea"/>
              </a:rPr>
              <a:t>需求变更大致来源于</a:t>
            </a:r>
            <a:r>
              <a:rPr lang="en-US" altLang="zh-CN" sz="2400" dirty="0">
                <a:latin typeface="+mj-ea"/>
                <a:ea typeface="+mj-ea"/>
              </a:rPr>
              <a:t>3</a:t>
            </a:r>
            <a:r>
              <a:rPr lang="zh-CN" altLang="en-US" sz="2400" dirty="0">
                <a:latin typeface="+mj-ea"/>
                <a:ea typeface="+mj-ea"/>
              </a:rPr>
              <a:t>种情况：</a:t>
            </a:r>
            <a:endParaRPr lang="zh-CN" altLang="en-US" sz="2400" dirty="0">
              <a:latin typeface="+mj-ea"/>
              <a:ea typeface="+mj-ea"/>
            </a:endParaRPr>
          </a:p>
          <a:p>
            <a:pPr marL="600075" lvl="1" indent="-342900" algn="just">
              <a:spcBef>
                <a:spcPts val="900"/>
              </a:spcBef>
              <a:buFont typeface="+mj-lt"/>
              <a:buAutoNum type="arabicPeriod"/>
            </a:pPr>
            <a:r>
              <a:rPr lang="zh-CN" altLang="en-US" sz="2000" dirty="0">
                <a:latin typeface="+mj-ea"/>
                <a:ea typeface="+mj-ea"/>
              </a:rPr>
              <a:t>客户提出来要进行修改、增加需求等；</a:t>
            </a:r>
            <a:endParaRPr lang="zh-CN" altLang="en-US" sz="2000" dirty="0">
              <a:latin typeface="+mj-ea"/>
              <a:ea typeface="+mj-ea"/>
            </a:endParaRPr>
          </a:p>
          <a:p>
            <a:pPr marL="600075" lvl="1" indent="-342900" algn="just">
              <a:spcBef>
                <a:spcPts val="900"/>
              </a:spcBef>
              <a:buFont typeface="+mj-lt"/>
              <a:buAutoNum type="arabicPeriod"/>
            </a:pPr>
            <a:r>
              <a:rPr lang="zh-CN" altLang="en-US" sz="2000" dirty="0">
                <a:latin typeface="+mj-ea"/>
                <a:ea typeface="+mj-ea"/>
              </a:rPr>
              <a:t>公司内部人员提交的建议；</a:t>
            </a:r>
            <a:endParaRPr lang="zh-CN" altLang="en-US" sz="2000" dirty="0">
              <a:latin typeface="+mj-ea"/>
              <a:ea typeface="+mj-ea"/>
            </a:endParaRPr>
          </a:p>
          <a:p>
            <a:pPr marL="600075" lvl="1" indent="-342900" algn="just">
              <a:spcBef>
                <a:spcPts val="900"/>
              </a:spcBef>
              <a:buFont typeface="+mj-lt"/>
              <a:buAutoNum type="arabicPeriod"/>
            </a:pPr>
            <a:r>
              <a:rPr lang="zh-CN" altLang="en-US" sz="2000" dirty="0">
                <a:latin typeface="+mj-ea"/>
                <a:ea typeface="+mj-ea"/>
              </a:rPr>
              <a:t>开发人员自己修改</a:t>
            </a:r>
            <a:r>
              <a:rPr lang="en-US" altLang="zh-CN" sz="2000" dirty="0">
                <a:latin typeface="+mj-ea"/>
                <a:ea typeface="+mj-ea"/>
              </a:rPr>
              <a:t>(</a:t>
            </a:r>
            <a:r>
              <a:rPr lang="zh-CN" altLang="en-US" sz="2000" dirty="0">
                <a:latin typeface="+mj-ea"/>
                <a:ea typeface="+mj-ea"/>
              </a:rPr>
              <a:t>修改后的效果比前面的更加好</a:t>
            </a:r>
            <a:r>
              <a:rPr lang="en-US" altLang="zh-CN" sz="2000" dirty="0">
                <a:latin typeface="+mj-ea"/>
                <a:ea typeface="+mj-ea"/>
              </a:rPr>
              <a:t>)</a:t>
            </a:r>
            <a:r>
              <a:rPr lang="zh-CN" altLang="en-US" sz="2000" dirty="0">
                <a:latin typeface="+mj-ea"/>
                <a:ea typeface="+mj-ea"/>
              </a:rPr>
              <a:t>。</a:t>
            </a:r>
            <a:endParaRPr lang="zh-CN" altLang="en-US" sz="2000" dirty="0">
              <a:latin typeface="+mj-ea"/>
              <a:ea typeface="+mj-ea"/>
            </a:endParaRPr>
          </a:p>
        </p:txBody>
      </p:sp>
      <p:sp>
        <p:nvSpPr>
          <p:cNvPr id="4" name="标题 3"/>
          <p:cNvSpPr>
            <a:spLocks noGrp="1"/>
          </p:cNvSpPr>
          <p:nvPr>
            <p:ph type="title"/>
          </p:nvPr>
        </p:nvSpPr>
        <p:spPr/>
        <p:txBody>
          <a:bodyPr/>
          <a:lstStyle/>
          <a:p>
            <a:r>
              <a:rPr lang="zh-CN" altLang="en-US" kern="100" dirty="0">
                <a:latin typeface="+mn-ea"/>
                <a:cs typeface="Times New Roman" panose="02020603050405020304" pitchFamily="18" charset="0"/>
              </a:rPr>
              <a:t>需求变更</a:t>
            </a:r>
            <a:endParaRPr lang="zh-CN" altLang="en-US" dirty="0"/>
          </a:p>
        </p:txBody>
      </p:sp>
      <p:sp>
        <p:nvSpPr>
          <p:cNvPr id="5" name="日期占位符 4"/>
          <p:cNvSpPr>
            <a:spLocks noGrp="1"/>
          </p:cNvSpPr>
          <p:nvPr>
            <p:ph type="dt" sz="half" idx="10"/>
          </p:nvPr>
        </p:nvSpPr>
        <p:spPr/>
        <p:txBody>
          <a:bodyPr/>
          <a:lstStyle/>
          <a:p>
            <a:fld id="{4D895EA1-06CF-4112-B024-22A9C1F0D0F6}"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软件工程</a:t>
            </a:r>
            <a:endParaRPr lang="zh-CN" altLang="en-US"/>
          </a:p>
        </p:txBody>
      </p:sp>
      <p:sp>
        <p:nvSpPr>
          <p:cNvPr id="7" name="灯片编号占位符 6"/>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up)">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wipe(up)">
                                      <p:cBhvr>
                                        <p:cTn id="12" dur="50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wipe(up)">
                                      <p:cBhvr>
                                        <p:cTn id="17" dur="500"/>
                                        <p:tgtEl>
                                          <p:spTgt spid="12">
                                            <p:txEl>
                                              <p:pRg st="2" end="2"/>
                                            </p:txEl>
                                          </p:spTgt>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12">
                                            <p:txEl>
                                              <p:pRg st="3" end="3"/>
                                            </p:txEl>
                                          </p:spTgt>
                                        </p:tgtEl>
                                        <p:attrNameLst>
                                          <p:attrName>style.visibility</p:attrName>
                                        </p:attrNameLst>
                                      </p:cBhvr>
                                      <p:to>
                                        <p:strVal val="visible"/>
                                      </p:to>
                                    </p:set>
                                    <p:animEffect transition="in" filter="wipe(up)">
                                      <p:cBhvr>
                                        <p:cTn id="20" dur="500"/>
                                        <p:tgtEl>
                                          <p:spTgt spid="12">
                                            <p:txEl>
                                              <p:pRg st="3" end="3"/>
                                            </p:txEl>
                                          </p:spTgt>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animEffect transition="in" filter="wipe(up)">
                                      <p:cBhvr>
                                        <p:cTn id="23" dur="500"/>
                                        <p:tgtEl>
                                          <p:spTgt spid="12">
                                            <p:txEl>
                                              <p:pRg st="4" end="4"/>
                                            </p:txEl>
                                          </p:spTgt>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12">
                                            <p:txEl>
                                              <p:pRg st="5" end="5"/>
                                            </p:txEl>
                                          </p:spTgt>
                                        </p:tgtEl>
                                        <p:attrNameLst>
                                          <p:attrName>style.visibility</p:attrName>
                                        </p:attrNameLst>
                                      </p:cBhvr>
                                      <p:to>
                                        <p:strVal val="visible"/>
                                      </p:to>
                                    </p:set>
                                    <p:animEffect transition="in" filter="wipe(up)">
                                      <p:cBhvr>
                                        <p:cTn id="26" dur="500"/>
                                        <p:tgtEl>
                                          <p:spTgt spid="1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870439" y="3020158"/>
            <a:ext cx="184731" cy="300082"/>
          </a:xfrm>
          <a:prstGeom prst="rect">
            <a:avLst/>
          </a:prstGeom>
          <a:noFill/>
        </p:spPr>
        <p:txBody>
          <a:bodyPr wrap="none" rtlCol="0">
            <a:spAutoFit/>
          </a:bodyPr>
          <a:lstStyle/>
          <a:p>
            <a:endParaRPr lang="zh-CN" altLang="en-US" sz="1350"/>
          </a:p>
        </p:txBody>
      </p:sp>
      <p:sp>
        <p:nvSpPr>
          <p:cNvPr id="2" name="文本框 1"/>
          <p:cNvSpPr txBox="1"/>
          <p:nvPr/>
        </p:nvSpPr>
        <p:spPr>
          <a:xfrm>
            <a:off x="768096" y="834236"/>
            <a:ext cx="8090154" cy="3924151"/>
          </a:xfrm>
          <a:prstGeom prst="rect">
            <a:avLst/>
          </a:prstGeom>
          <a:noFill/>
        </p:spPr>
        <p:txBody>
          <a:bodyPr wrap="square" rtlCol="0">
            <a:spAutoFit/>
          </a:bodyPr>
          <a:lstStyle/>
          <a:p>
            <a:pPr marL="257175" indent="-257175">
              <a:spcBef>
                <a:spcPts val="600"/>
              </a:spcBef>
              <a:buClr>
                <a:srgbClr val="00B050"/>
              </a:buClr>
              <a:buFont typeface="Wingdings" panose="05000000000000000000" pitchFamily="2" charset="2"/>
              <a:buChar char="¬"/>
            </a:pPr>
            <a:r>
              <a:rPr lang="zh-CN" altLang="en-US" sz="2200" dirty="0">
                <a:latin typeface="+mj-ea"/>
                <a:ea typeface="+mj-ea"/>
              </a:rPr>
              <a:t>有的需求变更可能是比较小的改动，有的可能涉及到整个产品流程，这就是比较大的需求改动。</a:t>
            </a:r>
            <a:endParaRPr lang="en-US" altLang="zh-CN" sz="2200" dirty="0">
              <a:latin typeface="+mj-ea"/>
              <a:ea typeface="+mj-ea"/>
            </a:endParaRPr>
          </a:p>
          <a:p>
            <a:pPr marL="257175" indent="-257175">
              <a:spcBef>
                <a:spcPts val="600"/>
              </a:spcBef>
              <a:buClr>
                <a:srgbClr val="00B050"/>
              </a:buClr>
              <a:buFont typeface="Wingdings" panose="05000000000000000000" pitchFamily="2" charset="2"/>
              <a:buChar char="¬"/>
            </a:pPr>
            <a:r>
              <a:rPr lang="zh-CN" altLang="en-US" sz="2200" dirty="0">
                <a:latin typeface="+mj-ea"/>
                <a:ea typeface="+mj-ea"/>
              </a:rPr>
              <a:t>需求变更管理是组织、控制和文档化需求的系统方法。需求管理过程有三项主要活动：</a:t>
            </a:r>
            <a:endParaRPr lang="zh-CN" altLang="en-US" sz="2200" dirty="0">
              <a:latin typeface="+mj-ea"/>
              <a:ea typeface="+mj-ea"/>
            </a:endParaRPr>
          </a:p>
          <a:p>
            <a:pPr marL="342900" lvl="1" indent="0">
              <a:spcBef>
                <a:spcPts val="600"/>
              </a:spcBef>
              <a:buNone/>
            </a:pPr>
            <a:r>
              <a:rPr lang="zh-CN" altLang="en-US" sz="2000" dirty="0">
                <a:latin typeface="+mj-ea"/>
                <a:ea typeface="+mj-ea"/>
              </a:rPr>
              <a:t>① 需求确认</a:t>
            </a:r>
            <a:endParaRPr lang="zh-CN" altLang="en-US" sz="2000" dirty="0">
              <a:latin typeface="+mj-ea"/>
              <a:ea typeface="+mj-ea"/>
            </a:endParaRPr>
          </a:p>
          <a:p>
            <a:pPr marL="342900" lvl="1" indent="0">
              <a:spcBef>
                <a:spcPts val="600"/>
              </a:spcBef>
              <a:buNone/>
            </a:pPr>
            <a:r>
              <a:rPr lang="zh-CN" altLang="en-US" sz="2000" dirty="0">
                <a:latin typeface="+mj-ea"/>
                <a:ea typeface="+mj-ea"/>
              </a:rPr>
              <a:t>② 需求跟踪</a:t>
            </a:r>
            <a:endParaRPr lang="zh-CN" altLang="en-US" sz="2000" dirty="0">
              <a:latin typeface="+mj-ea"/>
              <a:ea typeface="+mj-ea"/>
            </a:endParaRPr>
          </a:p>
          <a:p>
            <a:pPr marL="342900" lvl="1" indent="0">
              <a:spcBef>
                <a:spcPts val="600"/>
              </a:spcBef>
              <a:buNone/>
            </a:pPr>
            <a:r>
              <a:rPr lang="zh-CN" altLang="en-US" sz="2000" dirty="0">
                <a:latin typeface="+mj-ea"/>
                <a:ea typeface="+mj-ea"/>
              </a:rPr>
              <a:t>③ 需求变更控制</a:t>
            </a:r>
            <a:endParaRPr lang="zh-CN" altLang="en-US" sz="2000" dirty="0">
              <a:latin typeface="+mj-ea"/>
              <a:ea typeface="+mj-ea"/>
            </a:endParaRPr>
          </a:p>
          <a:p>
            <a:pPr marL="257175" indent="-257175" algn="just">
              <a:spcBef>
                <a:spcPts val="600"/>
              </a:spcBef>
              <a:buClr>
                <a:srgbClr val="00B050"/>
              </a:buClr>
              <a:buFont typeface="Wingdings" panose="05000000000000000000" pitchFamily="2" charset="2"/>
              <a:buChar char="¬"/>
            </a:pPr>
            <a:r>
              <a:rPr lang="zh-CN" altLang="en-US" sz="2200" dirty="0">
                <a:latin typeface="+mj-ea"/>
                <a:ea typeface="+mj-ea"/>
              </a:rPr>
              <a:t>需求变更控制的流程是：申请、审批、实施、重新确认。</a:t>
            </a:r>
            <a:endParaRPr lang="en-US" altLang="zh-CN" sz="2200" dirty="0">
              <a:latin typeface="+mj-ea"/>
              <a:ea typeface="+mj-ea"/>
            </a:endParaRPr>
          </a:p>
          <a:p>
            <a:pPr marL="257175" indent="-257175" algn="just">
              <a:spcBef>
                <a:spcPts val="600"/>
              </a:spcBef>
              <a:buClr>
                <a:srgbClr val="00B050"/>
              </a:buClr>
              <a:buFont typeface="Wingdings" panose="05000000000000000000" pitchFamily="2" charset="2"/>
              <a:buChar char="¬"/>
            </a:pPr>
            <a:r>
              <a:rPr lang="zh-CN" altLang="en-US" sz="2200" dirty="0">
                <a:latin typeface="+mj-ea"/>
                <a:ea typeface="+mj-ea"/>
              </a:rPr>
              <a:t>需求管理过程中产生的文档有</a:t>
            </a:r>
            <a:r>
              <a:rPr lang="en-US" altLang="zh-CN" sz="2200" dirty="0">
                <a:latin typeface="+mj-ea"/>
                <a:ea typeface="+mj-ea"/>
              </a:rPr>
              <a:t>《</a:t>
            </a:r>
            <a:r>
              <a:rPr lang="zh-CN" altLang="en-US" sz="2200" dirty="0">
                <a:latin typeface="+mj-ea"/>
                <a:ea typeface="+mj-ea"/>
              </a:rPr>
              <a:t>需求评审报告</a:t>
            </a:r>
            <a:r>
              <a:rPr lang="en-US" altLang="zh-CN" sz="2200" dirty="0">
                <a:latin typeface="+mj-ea"/>
                <a:ea typeface="+mj-ea"/>
              </a:rPr>
              <a:t>》</a:t>
            </a:r>
            <a:r>
              <a:rPr lang="zh-CN" altLang="en-US" sz="2200" dirty="0">
                <a:latin typeface="+mj-ea"/>
                <a:ea typeface="+mj-ea"/>
              </a:rPr>
              <a:t>、</a:t>
            </a:r>
            <a:r>
              <a:rPr lang="en-US" altLang="zh-CN" sz="2200" dirty="0">
                <a:latin typeface="+mj-ea"/>
                <a:ea typeface="+mj-ea"/>
              </a:rPr>
              <a:t>《</a:t>
            </a:r>
            <a:r>
              <a:rPr lang="zh-CN" altLang="en-US" sz="2200" dirty="0">
                <a:latin typeface="+mj-ea"/>
                <a:ea typeface="+mj-ea"/>
              </a:rPr>
              <a:t>需求跟踪报告</a:t>
            </a:r>
            <a:r>
              <a:rPr lang="en-US" altLang="zh-CN" sz="2200" dirty="0">
                <a:latin typeface="+mj-ea"/>
                <a:ea typeface="+mj-ea"/>
              </a:rPr>
              <a:t>》</a:t>
            </a:r>
            <a:r>
              <a:rPr lang="zh-CN" altLang="en-US" sz="2200" dirty="0">
                <a:latin typeface="+mj-ea"/>
                <a:ea typeface="+mj-ea"/>
              </a:rPr>
              <a:t>、</a:t>
            </a:r>
            <a:r>
              <a:rPr lang="en-US" altLang="zh-CN" sz="2200" dirty="0">
                <a:latin typeface="+mj-ea"/>
                <a:ea typeface="+mj-ea"/>
              </a:rPr>
              <a:t>《</a:t>
            </a:r>
            <a:r>
              <a:rPr lang="zh-CN" altLang="en-US" sz="2200" dirty="0">
                <a:latin typeface="+mj-ea"/>
                <a:ea typeface="+mj-ea"/>
              </a:rPr>
              <a:t>需求变更控制报告</a:t>
            </a:r>
            <a:r>
              <a:rPr lang="en-US" altLang="zh-CN" sz="2200" dirty="0">
                <a:latin typeface="+mj-ea"/>
                <a:ea typeface="+mj-ea"/>
              </a:rPr>
              <a:t>》</a:t>
            </a:r>
            <a:r>
              <a:rPr lang="zh-CN" altLang="en-US" sz="2200" dirty="0">
                <a:latin typeface="+mj-ea"/>
                <a:ea typeface="+mj-ea"/>
              </a:rPr>
              <a:t>等。</a:t>
            </a:r>
            <a:endParaRPr lang="zh-CN" altLang="en-US" sz="2200" dirty="0">
              <a:latin typeface="+mj-ea"/>
              <a:ea typeface="+mj-ea"/>
            </a:endParaRPr>
          </a:p>
        </p:txBody>
      </p:sp>
      <p:sp>
        <p:nvSpPr>
          <p:cNvPr id="4" name="标题 3"/>
          <p:cNvSpPr>
            <a:spLocks noGrp="1"/>
          </p:cNvSpPr>
          <p:nvPr>
            <p:ph type="title"/>
          </p:nvPr>
        </p:nvSpPr>
        <p:spPr/>
        <p:txBody>
          <a:bodyPr/>
          <a:lstStyle/>
          <a:p>
            <a:r>
              <a:rPr lang="zh-CN" altLang="en-US" kern="100" dirty="0">
                <a:latin typeface="+mn-ea"/>
                <a:cs typeface="Times New Roman" panose="02020603050405020304" pitchFamily="18" charset="0"/>
              </a:rPr>
              <a:t>需求变更管理</a:t>
            </a:r>
            <a:endParaRPr lang="zh-CN" altLang="en-US" dirty="0"/>
          </a:p>
        </p:txBody>
      </p:sp>
      <p:sp>
        <p:nvSpPr>
          <p:cNvPr id="5" name="日期占位符 4"/>
          <p:cNvSpPr>
            <a:spLocks noGrp="1"/>
          </p:cNvSpPr>
          <p:nvPr>
            <p:ph type="dt" sz="half" idx="10"/>
          </p:nvPr>
        </p:nvSpPr>
        <p:spPr/>
        <p:txBody>
          <a:bodyPr/>
          <a:lstStyle/>
          <a:p>
            <a:fld id="{4D895EA1-06CF-4112-B024-22A9C1F0D0F6}"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dirty="0"/>
              <a:t>软件工程</a:t>
            </a:r>
            <a:endParaRPr lang="zh-CN" altLang="en-US" dirty="0"/>
          </a:p>
        </p:txBody>
      </p:sp>
      <p:sp>
        <p:nvSpPr>
          <p:cNvPr id="7" name="灯片编号占位符 6"/>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34723" y="1732474"/>
            <a:ext cx="8034318" cy="2922338"/>
          </a:xfrm>
          <a:prstGeom prst="rect">
            <a:avLst/>
          </a:prstGeom>
          <a:noFill/>
        </p:spPr>
        <p:txBody>
          <a:bodyPr wrap="square" rtlCol="0">
            <a:spAutoFit/>
          </a:bodyPr>
          <a:lstStyle/>
          <a:p>
            <a:pPr marL="342900" indent="-342900" algn="just">
              <a:lnSpc>
                <a:spcPct val="120000"/>
              </a:lnSpc>
              <a:spcBef>
                <a:spcPts val="900"/>
              </a:spcBef>
              <a:buClr>
                <a:srgbClr val="0091EA"/>
              </a:buClr>
              <a:buSzPct val="80000"/>
              <a:buFont typeface="Arial" panose="020B0604020202020204" pitchFamily="34" charset="0"/>
              <a:buChar char="►"/>
              <a:defRPr/>
            </a:pPr>
            <a:r>
              <a:rPr lang="zh-CN" altLang="en-US" sz="2100" dirty="0">
                <a:solidFill>
                  <a:srgbClr val="686868"/>
                </a:solidFill>
                <a:latin typeface="+mj-ea"/>
                <a:ea typeface="+mj-ea"/>
              </a:rPr>
              <a:t>项目背景：一直没有一款网上报名系统，全依赖人工管理，各省队参赛报名以</a:t>
            </a:r>
            <a:r>
              <a:rPr lang="en-US" altLang="zh-CN" sz="2100" dirty="0">
                <a:solidFill>
                  <a:srgbClr val="686868"/>
                </a:solidFill>
                <a:latin typeface="+mj-ea"/>
                <a:ea typeface="+mj-ea"/>
              </a:rPr>
              <a:t>excel</a:t>
            </a:r>
            <a:r>
              <a:rPr lang="zh-CN" altLang="en-US" sz="2100" dirty="0">
                <a:solidFill>
                  <a:srgbClr val="686868"/>
                </a:solidFill>
                <a:latin typeface="+mj-ea"/>
                <a:ea typeface="+mj-ea"/>
              </a:rPr>
              <a:t>文件提交给赛艇协会，由工作人员整理报名信息。</a:t>
            </a:r>
            <a:endParaRPr lang="zh-CN" altLang="en-US" sz="2100" dirty="0">
              <a:solidFill>
                <a:srgbClr val="686868"/>
              </a:solidFill>
              <a:latin typeface="+mj-ea"/>
              <a:ea typeface="+mj-ea"/>
            </a:endParaRPr>
          </a:p>
          <a:p>
            <a:pPr marL="342900" indent="-342900" algn="just">
              <a:lnSpc>
                <a:spcPct val="120000"/>
              </a:lnSpc>
              <a:spcBef>
                <a:spcPts val="900"/>
              </a:spcBef>
              <a:buClr>
                <a:srgbClr val="0091EA"/>
              </a:buClr>
              <a:buSzPct val="80000"/>
              <a:buFont typeface="Arial" panose="020B0604020202020204" pitchFamily="34" charset="0"/>
              <a:buChar char="►"/>
              <a:defRPr/>
            </a:pPr>
            <a:r>
              <a:rPr lang="zh-CN" altLang="en-US" sz="2100" dirty="0">
                <a:solidFill>
                  <a:srgbClr val="686868"/>
                </a:solidFill>
                <a:latin typeface="+mj-ea"/>
                <a:ea typeface="+mj-ea"/>
              </a:rPr>
              <a:t>用户基本需求概述：开发一个网上报名系统，用于各省对运动员参赛报名，以及中国赛艇协会发布赛事信息和统计整理报名信息。该系统可以用来代替目前中国赛艇协会人工管理的日常工作，提高办公自动化水平，减少人力成本，提高办公效率。</a:t>
            </a:r>
            <a:endParaRPr lang="zh-CN" altLang="en-US" sz="2100" dirty="0">
              <a:solidFill>
                <a:srgbClr val="686868"/>
              </a:solidFill>
              <a:latin typeface="+mj-ea"/>
              <a:ea typeface="+mj-ea"/>
            </a:endParaRPr>
          </a:p>
        </p:txBody>
      </p:sp>
      <p:sp>
        <p:nvSpPr>
          <p:cNvPr id="4" name="标题 3"/>
          <p:cNvSpPr>
            <a:spLocks noGrp="1"/>
          </p:cNvSpPr>
          <p:nvPr>
            <p:ph type="title"/>
          </p:nvPr>
        </p:nvSpPr>
        <p:spPr/>
        <p:txBody>
          <a:bodyPr/>
          <a:lstStyle/>
          <a:p>
            <a:r>
              <a:rPr lang="zh-CN" altLang="en-US" kern="100" dirty="0">
                <a:latin typeface="+mn-ea"/>
                <a:cs typeface="Times New Roman" panose="02020603050405020304" pitchFamily="18" charset="0"/>
              </a:rPr>
              <a:t>需求分析案例</a:t>
            </a:r>
            <a:endParaRPr lang="zh-CN" altLang="en-US" dirty="0"/>
          </a:p>
        </p:txBody>
      </p:sp>
      <p:sp>
        <p:nvSpPr>
          <p:cNvPr id="5" name="日期占位符 4"/>
          <p:cNvSpPr>
            <a:spLocks noGrp="1"/>
          </p:cNvSpPr>
          <p:nvPr>
            <p:ph type="dt" sz="half" idx="10"/>
          </p:nvPr>
        </p:nvSpPr>
        <p:spPr/>
        <p:txBody>
          <a:bodyPr/>
          <a:lstStyle/>
          <a:p>
            <a:fld id="{AA18A41C-A1AA-4196-AE22-64DE71DC1411}"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软件工程</a:t>
            </a:r>
            <a:endParaRPr lang="zh-CN" altLang="en-US"/>
          </a:p>
        </p:txBody>
      </p:sp>
      <p:sp>
        <p:nvSpPr>
          <p:cNvPr id="7" name="灯片编号占位符 6"/>
          <p:cNvSpPr>
            <a:spLocks noGrp="1"/>
          </p:cNvSpPr>
          <p:nvPr>
            <p:ph type="sldNum" sz="quarter" idx="12"/>
          </p:nvPr>
        </p:nvSpPr>
        <p:spPr/>
        <p:txBody>
          <a:bodyPr/>
          <a:lstStyle/>
          <a:p>
            <a:fld id="{F528F39D-B5E5-4CA7-906C-979D5A62978D}" type="slidenum">
              <a:rPr lang="zh-CN" altLang="en-US" smtClean="0"/>
            </a:fld>
            <a:endParaRPr lang="zh-CN" altLang="en-US"/>
          </a:p>
        </p:txBody>
      </p:sp>
      <p:grpSp>
        <p:nvGrpSpPr>
          <p:cNvPr id="18" name="组合 17"/>
          <p:cNvGrpSpPr/>
          <p:nvPr/>
        </p:nvGrpSpPr>
        <p:grpSpPr>
          <a:xfrm>
            <a:off x="768096" y="786149"/>
            <a:ext cx="7646540" cy="1034558"/>
            <a:chOff x="931155" y="3687565"/>
            <a:chExt cx="7646540" cy="1034558"/>
          </a:xfrm>
        </p:grpSpPr>
        <p:sp>
          <p:nvSpPr>
            <p:cNvPr id="14" name="圆"/>
            <p:cNvSpPr/>
            <p:nvPr/>
          </p:nvSpPr>
          <p:spPr>
            <a:xfrm>
              <a:off x="931155" y="3722894"/>
              <a:ext cx="963905" cy="963905"/>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accent2"/>
                </a:solidFill>
              </a:endParaRPr>
            </a:p>
          </p:txBody>
        </p:sp>
        <p:sp>
          <p:nvSpPr>
            <p:cNvPr id="15" name="文本"/>
            <p:cNvSpPr txBox="1"/>
            <p:nvPr/>
          </p:nvSpPr>
          <p:spPr>
            <a:xfrm>
              <a:off x="1895058" y="3847053"/>
              <a:ext cx="6039766" cy="715581"/>
            </a:xfrm>
            <a:prstGeom prst="rect">
              <a:avLst/>
            </a:prstGeom>
            <a:noFill/>
          </p:spPr>
          <p:txBody>
            <a:bodyPr wrap="square" rtlCol="0" anchor="ctr">
              <a:spAutoFit/>
            </a:bodyPr>
            <a:lstStyle/>
            <a:p>
              <a:pPr indent="351155">
                <a:lnSpc>
                  <a:spcPct val="150000"/>
                </a:lnSpc>
              </a:pPr>
              <a:r>
                <a:rPr lang="zh-CN" altLang="en-US" sz="3200" dirty="0">
                  <a:solidFill>
                    <a:srgbClr val="0070C0"/>
                  </a:solidFill>
                </a:rPr>
                <a:t>中国赛艇协会网上报名系统</a:t>
              </a:r>
              <a:endParaRPr lang="zh-CN" altLang="en-US" sz="3200" spc="113" dirty="0">
                <a:solidFill>
                  <a:srgbClr val="0070C0"/>
                </a:solidFill>
                <a:latin typeface="+mn-ea"/>
              </a:endParaRPr>
            </a:p>
          </p:txBody>
        </p:sp>
        <p:sp>
          <p:nvSpPr>
            <p:cNvPr id="16" name="图标"/>
            <p:cNvSpPr>
              <a:spLocks noEditPoints="1"/>
            </p:cNvSpPr>
            <p:nvPr/>
          </p:nvSpPr>
          <p:spPr bwMode="auto">
            <a:xfrm>
              <a:off x="1110263" y="3921111"/>
              <a:ext cx="605687" cy="567472"/>
            </a:xfrm>
            <a:custGeom>
              <a:avLst/>
              <a:gdLst>
                <a:gd name="T0" fmla="*/ 339915 w 154"/>
                <a:gd name="T1" fmla="*/ 225712 h 144"/>
                <a:gd name="T2" fmla="*/ 375868 w 154"/>
                <a:gd name="T3" fmla="*/ 215899 h 144"/>
                <a:gd name="T4" fmla="*/ 486994 w 154"/>
                <a:gd name="T5" fmla="*/ 19627 h 144"/>
                <a:gd name="T6" fmla="*/ 421626 w 154"/>
                <a:gd name="T7" fmla="*/ 19627 h 144"/>
                <a:gd name="T8" fmla="*/ 388941 w 154"/>
                <a:gd name="T9" fmla="*/ 19627 h 144"/>
                <a:gd name="T10" fmla="*/ 388941 w 154"/>
                <a:gd name="T11" fmla="*/ 0 h 144"/>
                <a:gd name="T12" fmla="*/ 114395 w 154"/>
                <a:gd name="T13" fmla="*/ 0 h 144"/>
                <a:gd name="T14" fmla="*/ 114395 w 154"/>
                <a:gd name="T15" fmla="*/ 19627 h 144"/>
                <a:gd name="T16" fmla="*/ 81710 w 154"/>
                <a:gd name="T17" fmla="*/ 19627 h 144"/>
                <a:gd name="T18" fmla="*/ 16342 w 154"/>
                <a:gd name="T19" fmla="*/ 19627 h 144"/>
                <a:gd name="T20" fmla="*/ 127468 w 154"/>
                <a:gd name="T21" fmla="*/ 215899 h 144"/>
                <a:gd name="T22" fmla="*/ 163421 w 154"/>
                <a:gd name="T23" fmla="*/ 225712 h 144"/>
                <a:gd name="T24" fmla="*/ 232058 w 154"/>
                <a:gd name="T25" fmla="*/ 271509 h 144"/>
                <a:gd name="T26" fmla="*/ 232058 w 154"/>
                <a:gd name="T27" fmla="*/ 412171 h 144"/>
                <a:gd name="T28" fmla="*/ 114395 w 154"/>
                <a:gd name="T29" fmla="*/ 471052 h 144"/>
                <a:gd name="T30" fmla="*/ 388941 w 154"/>
                <a:gd name="T31" fmla="*/ 471052 h 144"/>
                <a:gd name="T32" fmla="*/ 271278 w 154"/>
                <a:gd name="T33" fmla="*/ 412171 h 144"/>
                <a:gd name="T34" fmla="*/ 271278 w 154"/>
                <a:gd name="T35" fmla="*/ 271509 h 144"/>
                <a:gd name="T36" fmla="*/ 339915 w 154"/>
                <a:gd name="T37" fmla="*/ 225712 h 144"/>
                <a:gd name="T38" fmla="*/ 388941 w 154"/>
                <a:gd name="T39" fmla="*/ 85051 h 144"/>
                <a:gd name="T40" fmla="*/ 388941 w 154"/>
                <a:gd name="T41" fmla="*/ 39254 h 144"/>
                <a:gd name="T42" fmla="*/ 421626 w 154"/>
                <a:gd name="T43" fmla="*/ 39254 h 144"/>
                <a:gd name="T44" fmla="*/ 467383 w 154"/>
                <a:gd name="T45" fmla="*/ 39254 h 144"/>
                <a:gd name="T46" fmla="*/ 369331 w 154"/>
                <a:gd name="T47" fmla="*/ 196272 h 144"/>
                <a:gd name="T48" fmla="*/ 356257 w 154"/>
                <a:gd name="T49" fmla="*/ 202814 h 144"/>
                <a:gd name="T50" fmla="*/ 388941 w 154"/>
                <a:gd name="T51" fmla="*/ 85051 h 144"/>
                <a:gd name="T52" fmla="*/ 134005 w 154"/>
                <a:gd name="T53" fmla="*/ 196272 h 144"/>
                <a:gd name="T54" fmla="*/ 35953 w 154"/>
                <a:gd name="T55" fmla="*/ 39254 h 144"/>
                <a:gd name="T56" fmla="*/ 81710 w 154"/>
                <a:gd name="T57" fmla="*/ 39254 h 144"/>
                <a:gd name="T58" fmla="*/ 114395 w 154"/>
                <a:gd name="T59" fmla="*/ 39254 h 144"/>
                <a:gd name="T60" fmla="*/ 114395 w 154"/>
                <a:gd name="T61" fmla="*/ 85051 h 144"/>
                <a:gd name="T62" fmla="*/ 147079 w 154"/>
                <a:gd name="T63" fmla="*/ 202814 h 144"/>
                <a:gd name="T64" fmla="*/ 134005 w 154"/>
                <a:gd name="T65" fmla="*/ 196272 h 144"/>
                <a:gd name="T66" fmla="*/ 251668 w 154"/>
                <a:gd name="T67" fmla="*/ 173373 h 144"/>
                <a:gd name="T68" fmla="*/ 189568 w 154"/>
                <a:gd name="T69" fmla="*/ 215899 h 144"/>
                <a:gd name="T70" fmla="*/ 212447 w 154"/>
                <a:gd name="T71" fmla="*/ 143933 h 144"/>
                <a:gd name="T72" fmla="*/ 153616 w 154"/>
                <a:gd name="T73" fmla="*/ 101407 h 144"/>
                <a:gd name="T74" fmla="*/ 228789 w 154"/>
                <a:gd name="T75" fmla="*/ 98136 h 144"/>
                <a:gd name="T76" fmla="*/ 251668 w 154"/>
                <a:gd name="T77" fmla="*/ 29441 h 144"/>
                <a:gd name="T78" fmla="*/ 274547 w 154"/>
                <a:gd name="T79" fmla="*/ 98136 h 144"/>
                <a:gd name="T80" fmla="*/ 349720 w 154"/>
                <a:gd name="T81" fmla="*/ 101407 h 144"/>
                <a:gd name="T82" fmla="*/ 290889 w 154"/>
                <a:gd name="T83" fmla="*/ 143933 h 144"/>
                <a:gd name="T84" fmla="*/ 313768 w 154"/>
                <a:gd name="T85" fmla="*/ 215899 h 144"/>
                <a:gd name="T86" fmla="*/ 251668 w 154"/>
                <a:gd name="T87" fmla="*/ 173373 h 14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54" h="144">
                  <a:moveTo>
                    <a:pt x="104" y="69"/>
                  </a:moveTo>
                  <a:cubicBezTo>
                    <a:pt x="107" y="69"/>
                    <a:pt x="110" y="68"/>
                    <a:pt x="115" y="66"/>
                  </a:cubicBezTo>
                  <a:cubicBezTo>
                    <a:pt x="154" y="54"/>
                    <a:pt x="149" y="6"/>
                    <a:pt x="149" y="6"/>
                  </a:cubicBezTo>
                  <a:cubicBezTo>
                    <a:pt x="129" y="6"/>
                    <a:pt x="129" y="6"/>
                    <a:pt x="129" y="6"/>
                  </a:cubicBezTo>
                  <a:cubicBezTo>
                    <a:pt x="119" y="6"/>
                    <a:pt x="119" y="6"/>
                    <a:pt x="119" y="6"/>
                  </a:cubicBezTo>
                  <a:cubicBezTo>
                    <a:pt x="119" y="0"/>
                    <a:pt x="119" y="0"/>
                    <a:pt x="119" y="0"/>
                  </a:cubicBezTo>
                  <a:cubicBezTo>
                    <a:pt x="35" y="0"/>
                    <a:pt x="35" y="0"/>
                    <a:pt x="35" y="0"/>
                  </a:cubicBezTo>
                  <a:cubicBezTo>
                    <a:pt x="35" y="6"/>
                    <a:pt x="35" y="6"/>
                    <a:pt x="35" y="6"/>
                  </a:cubicBezTo>
                  <a:cubicBezTo>
                    <a:pt x="25" y="6"/>
                    <a:pt x="25" y="6"/>
                    <a:pt x="25" y="6"/>
                  </a:cubicBezTo>
                  <a:cubicBezTo>
                    <a:pt x="5" y="6"/>
                    <a:pt x="5" y="6"/>
                    <a:pt x="5" y="6"/>
                  </a:cubicBezTo>
                  <a:cubicBezTo>
                    <a:pt x="5" y="6"/>
                    <a:pt x="0" y="54"/>
                    <a:pt x="39" y="66"/>
                  </a:cubicBezTo>
                  <a:cubicBezTo>
                    <a:pt x="43" y="67"/>
                    <a:pt x="47" y="69"/>
                    <a:pt x="50" y="69"/>
                  </a:cubicBezTo>
                  <a:cubicBezTo>
                    <a:pt x="56" y="76"/>
                    <a:pt x="63" y="82"/>
                    <a:pt x="71" y="83"/>
                  </a:cubicBezTo>
                  <a:cubicBezTo>
                    <a:pt x="71" y="126"/>
                    <a:pt x="71" y="126"/>
                    <a:pt x="71" y="126"/>
                  </a:cubicBezTo>
                  <a:cubicBezTo>
                    <a:pt x="51" y="127"/>
                    <a:pt x="35" y="135"/>
                    <a:pt x="35" y="144"/>
                  </a:cubicBezTo>
                  <a:cubicBezTo>
                    <a:pt x="119" y="144"/>
                    <a:pt x="119" y="144"/>
                    <a:pt x="119" y="144"/>
                  </a:cubicBezTo>
                  <a:cubicBezTo>
                    <a:pt x="119" y="135"/>
                    <a:pt x="103" y="127"/>
                    <a:pt x="83" y="126"/>
                  </a:cubicBezTo>
                  <a:cubicBezTo>
                    <a:pt x="83" y="83"/>
                    <a:pt x="83" y="83"/>
                    <a:pt x="83" y="83"/>
                  </a:cubicBezTo>
                  <a:cubicBezTo>
                    <a:pt x="91" y="82"/>
                    <a:pt x="98" y="77"/>
                    <a:pt x="104" y="69"/>
                  </a:cubicBezTo>
                  <a:moveTo>
                    <a:pt x="119" y="26"/>
                  </a:moveTo>
                  <a:cubicBezTo>
                    <a:pt x="119" y="12"/>
                    <a:pt x="119" y="12"/>
                    <a:pt x="119" y="12"/>
                  </a:cubicBezTo>
                  <a:cubicBezTo>
                    <a:pt x="129" y="12"/>
                    <a:pt x="129" y="12"/>
                    <a:pt x="129" y="12"/>
                  </a:cubicBezTo>
                  <a:cubicBezTo>
                    <a:pt x="143" y="12"/>
                    <a:pt x="143" y="12"/>
                    <a:pt x="143" y="12"/>
                  </a:cubicBezTo>
                  <a:cubicBezTo>
                    <a:pt x="143" y="24"/>
                    <a:pt x="140" y="52"/>
                    <a:pt x="113" y="60"/>
                  </a:cubicBezTo>
                  <a:cubicBezTo>
                    <a:pt x="112" y="61"/>
                    <a:pt x="111" y="61"/>
                    <a:pt x="109" y="62"/>
                  </a:cubicBezTo>
                  <a:cubicBezTo>
                    <a:pt x="115" y="51"/>
                    <a:pt x="119" y="38"/>
                    <a:pt x="119" y="26"/>
                  </a:cubicBezTo>
                  <a:close/>
                  <a:moveTo>
                    <a:pt x="41" y="60"/>
                  </a:moveTo>
                  <a:cubicBezTo>
                    <a:pt x="14" y="52"/>
                    <a:pt x="11" y="24"/>
                    <a:pt x="11" y="12"/>
                  </a:cubicBezTo>
                  <a:cubicBezTo>
                    <a:pt x="25" y="12"/>
                    <a:pt x="25" y="12"/>
                    <a:pt x="25" y="12"/>
                  </a:cubicBezTo>
                  <a:cubicBezTo>
                    <a:pt x="35" y="12"/>
                    <a:pt x="35" y="12"/>
                    <a:pt x="35" y="12"/>
                  </a:cubicBezTo>
                  <a:cubicBezTo>
                    <a:pt x="35" y="26"/>
                    <a:pt x="35" y="26"/>
                    <a:pt x="35" y="26"/>
                  </a:cubicBezTo>
                  <a:cubicBezTo>
                    <a:pt x="35" y="38"/>
                    <a:pt x="39" y="51"/>
                    <a:pt x="45" y="62"/>
                  </a:cubicBezTo>
                  <a:cubicBezTo>
                    <a:pt x="43" y="61"/>
                    <a:pt x="42" y="61"/>
                    <a:pt x="41" y="60"/>
                  </a:cubicBezTo>
                  <a:moveTo>
                    <a:pt x="77" y="53"/>
                  </a:moveTo>
                  <a:cubicBezTo>
                    <a:pt x="58" y="66"/>
                    <a:pt x="58" y="66"/>
                    <a:pt x="58" y="66"/>
                  </a:cubicBezTo>
                  <a:cubicBezTo>
                    <a:pt x="65" y="44"/>
                    <a:pt x="65" y="44"/>
                    <a:pt x="65" y="44"/>
                  </a:cubicBezTo>
                  <a:cubicBezTo>
                    <a:pt x="47" y="31"/>
                    <a:pt x="47" y="31"/>
                    <a:pt x="47" y="31"/>
                  </a:cubicBezTo>
                  <a:cubicBezTo>
                    <a:pt x="70" y="30"/>
                    <a:pt x="70" y="30"/>
                    <a:pt x="70" y="30"/>
                  </a:cubicBezTo>
                  <a:cubicBezTo>
                    <a:pt x="77" y="9"/>
                    <a:pt x="77" y="9"/>
                    <a:pt x="77" y="9"/>
                  </a:cubicBezTo>
                  <a:cubicBezTo>
                    <a:pt x="84" y="30"/>
                    <a:pt x="84" y="30"/>
                    <a:pt x="84" y="30"/>
                  </a:cubicBezTo>
                  <a:cubicBezTo>
                    <a:pt x="107" y="31"/>
                    <a:pt x="107" y="31"/>
                    <a:pt x="107" y="31"/>
                  </a:cubicBezTo>
                  <a:cubicBezTo>
                    <a:pt x="89" y="44"/>
                    <a:pt x="89" y="44"/>
                    <a:pt x="89" y="44"/>
                  </a:cubicBezTo>
                  <a:cubicBezTo>
                    <a:pt x="96" y="66"/>
                    <a:pt x="96" y="66"/>
                    <a:pt x="96" y="66"/>
                  </a:cubicBezTo>
                  <a:lnTo>
                    <a:pt x="77" y="53"/>
                  </a:lnTo>
                  <a:close/>
                </a:path>
              </a:pathLst>
            </a:custGeom>
            <a:solidFill>
              <a:schemeClr val="bg1"/>
            </a:solidFill>
            <a:ln>
              <a:noFill/>
            </a:ln>
          </p:spPr>
          <p:txBody>
            <a:bodyPr/>
            <a:lstStyle/>
            <a:p>
              <a:pPr>
                <a:defRPr/>
              </a:pPr>
              <a:endParaRPr lang="zh-CN" altLang="en-US" sz="1350">
                <a:solidFill>
                  <a:schemeClr val="bg1"/>
                </a:solidFill>
              </a:endParaRPr>
            </a:p>
          </p:txBody>
        </p:sp>
        <p:pic>
          <p:nvPicPr>
            <p:cNvPr id="17" name="图片 16"/>
            <p:cNvPicPr>
              <a:picLocks noChangeAspect="1"/>
            </p:cNvPicPr>
            <p:nvPr/>
          </p:nvPicPr>
          <p:blipFill>
            <a:blip r:embed="rId1" cstate="print">
              <a:clrChange>
                <a:clrFrom>
                  <a:srgbClr val="FFFFFF"/>
                </a:clrFrom>
                <a:clrTo>
                  <a:srgbClr val="FFFFFF">
                    <a:alpha val="0"/>
                  </a:srgbClr>
                </a:clrTo>
              </a:clrChange>
            </a:blip>
            <a:stretch>
              <a:fillRect/>
            </a:stretch>
          </p:blipFill>
          <p:spPr>
            <a:xfrm>
              <a:off x="7537325" y="3687565"/>
              <a:ext cx="1040370" cy="1034558"/>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94321" y="804846"/>
            <a:ext cx="6858553" cy="3970318"/>
          </a:xfrm>
          <a:prstGeom prst="rect">
            <a:avLst/>
          </a:prstGeom>
          <a:noFill/>
        </p:spPr>
        <p:txBody>
          <a:bodyPr wrap="square" rtlCol="0">
            <a:spAutoFit/>
          </a:bodyPr>
          <a:lstStyle/>
          <a:p>
            <a:pPr marL="386080" indent="-386080">
              <a:spcBef>
                <a:spcPts val="900"/>
              </a:spcBef>
              <a:buFont typeface="+mj-lt"/>
              <a:buAutoNum type="arabicPeriod"/>
              <a:defRPr/>
            </a:pPr>
            <a:r>
              <a:rPr lang="zh-CN" altLang="en-US" sz="2100" dirty="0">
                <a:solidFill>
                  <a:srgbClr val="686868"/>
                </a:solidFill>
                <a:latin typeface="+mj-ea"/>
                <a:ea typeface="+mj-ea"/>
              </a:rPr>
              <a:t>业务访谈</a:t>
            </a:r>
            <a:endParaRPr lang="en-US" altLang="zh-CN" sz="2100" dirty="0">
              <a:solidFill>
                <a:srgbClr val="686868"/>
              </a:solidFill>
              <a:latin typeface="+mj-ea"/>
              <a:ea typeface="+mj-ea"/>
            </a:endParaRPr>
          </a:p>
          <a:p>
            <a:pPr marL="728980" lvl="1" indent="-386080">
              <a:spcBef>
                <a:spcPts val="900"/>
              </a:spcBef>
              <a:buClr>
                <a:srgbClr val="0091EA"/>
              </a:buClr>
              <a:buSzPct val="80000"/>
              <a:buFont typeface="Arial" panose="020B0604020202020204" pitchFamily="34" charset="0"/>
              <a:buChar char="►"/>
              <a:defRPr/>
            </a:pPr>
            <a:r>
              <a:rPr lang="zh-CN" altLang="en-US" sz="2100" dirty="0">
                <a:solidFill>
                  <a:srgbClr val="686868"/>
                </a:solidFill>
                <a:latin typeface="+mj-ea"/>
                <a:ea typeface="+mj-ea"/>
              </a:rPr>
              <a:t>列出访谈提纲、做好访谈记录</a:t>
            </a:r>
            <a:endParaRPr lang="en-US" altLang="zh-CN" sz="2100" dirty="0">
              <a:solidFill>
                <a:srgbClr val="686868"/>
              </a:solidFill>
              <a:latin typeface="+mj-ea"/>
              <a:ea typeface="+mj-ea"/>
            </a:endParaRPr>
          </a:p>
          <a:p>
            <a:pPr marL="728980" lvl="1" indent="-386080">
              <a:spcBef>
                <a:spcPts val="900"/>
              </a:spcBef>
              <a:buClr>
                <a:srgbClr val="0091EA"/>
              </a:buClr>
              <a:buSzPct val="80000"/>
              <a:buFont typeface="Arial" panose="020B0604020202020204" pitchFamily="34" charset="0"/>
              <a:buChar char="►"/>
              <a:defRPr/>
            </a:pPr>
            <a:r>
              <a:rPr lang="zh-CN" altLang="en-US" sz="2100" dirty="0">
                <a:solidFill>
                  <a:srgbClr val="686868"/>
                </a:solidFill>
                <a:latin typeface="+mj-ea"/>
                <a:ea typeface="+mj-ea"/>
              </a:rPr>
              <a:t>总结业务分析报告</a:t>
            </a:r>
            <a:endParaRPr lang="en-US" altLang="zh-CN" sz="2100" dirty="0">
              <a:solidFill>
                <a:srgbClr val="686868"/>
              </a:solidFill>
              <a:latin typeface="+mj-ea"/>
              <a:ea typeface="+mj-ea"/>
            </a:endParaRPr>
          </a:p>
          <a:p>
            <a:pPr marL="386080" indent="-386080">
              <a:spcBef>
                <a:spcPts val="900"/>
              </a:spcBef>
              <a:buFont typeface="+mj-lt"/>
              <a:buAutoNum type="arabicPeriod"/>
              <a:defRPr/>
            </a:pPr>
            <a:r>
              <a:rPr lang="zh-CN" altLang="en-US" sz="2100" dirty="0">
                <a:solidFill>
                  <a:srgbClr val="686868"/>
                </a:solidFill>
                <a:latin typeface="+mj-ea"/>
                <a:ea typeface="+mj-ea"/>
              </a:rPr>
              <a:t>业务需求建模</a:t>
            </a:r>
            <a:endParaRPr lang="en-US" altLang="zh-CN" sz="2100" dirty="0">
              <a:solidFill>
                <a:srgbClr val="686868"/>
              </a:solidFill>
              <a:latin typeface="+mj-ea"/>
              <a:ea typeface="+mj-ea"/>
            </a:endParaRPr>
          </a:p>
          <a:p>
            <a:pPr marL="685800" lvl="1" indent="-342900">
              <a:spcBef>
                <a:spcPts val="900"/>
              </a:spcBef>
              <a:buClr>
                <a:srgbClr val="0091EA"/>
              </a:buClr>
              <a:buSzPct val="80000"/>
              <a:buFont typeface="Arial" panose="020B0604020202020204" pitchFamily="34" charset="0"/>
              <a:buChar char="►"/>
              <a:defRPr/>
            </a:pPr>
            <a:r>
              <a:rPr lang="zh-CN" altLang="en-US" sz="2100" dirty="0">
                <a:solidFill>
                  <a:srgbClr val="686868"/>
                </a:solidFill>
                <a:latin typeface="+mj-ea"/>
                <a:ea typeface="+mj-ea"/>
              </a:rPr>
              <a:t>使用</a:t>
            </a:r>
            <a:r>
              <a:rPr lang="en-US" altLang="zh-CN" sz="2100" dirty="0">
                <a:solidFill>
                  <a:srgbClr val="686868"/>
                </a:solidFill>
                <a:latin typeface="+mj-ea"/>
                <a:ea typeface="+mj-ea"/>
              </a:rPr>
              <a:t>UML</a:t>
            </a:r>
            <a:r>
              <a:rPr lang="zh-CN" altLang="en-US" sz="2100" dirty="0">
                <a:solidFill>
                  <a:srgbClr val="686868"/>
                </a:solidFill>
                <a:latin typeface="+mj-ea"/>
                <a:ea typeface="+mj-ea"/>
              </a:rPr>
              <a:t>用例图建立业务用例模型</a:t>
            </a:r>
            <a:endParaRPr lang="en-US" altLang="zh-CN" sz="2100" dirty="0">
              <a:solidFill>
                <a:srgbClr val="686868"/>
              </a:solidFill>
              <a:latin typeface="+mj-ea"/>
              <a:ea typeface="+mj-ea"/>
            </a:endParaRPr>
          </a:p>
          <a:p>
            <a:pPr marL="386080" indent="-386080">
              <a:spcBef>
                <a:spcPts val="900"/>
              </a:spcBef>
              <a:buFont typeface="+mj-lt"/>
              <a:buAutoNum type="arabicPeriod"/>
              <a:defRPr/>
            </a:pPr>
            <a:r>
              <a:rPr lang="zh-CN" altLang="en-US" sz="2100" dirty="0">
                <a:solidFill>
                  <a:srgbClr val="686868"/>
                </a:solidFill>
                <a:latin typeface="+mj-ea"/>
                <a:ea typeface="+mj-ea"/>
              </a:rPr>
              <a:t>业务流程建模</a:t>
            </a:r>
            <a:endParaRPr lang="en-US" altLang="zh-CN" sz="2100" dirty="0">
              <a:solidFill>
                <a:srgbClr val="686868"/>
              </a:solidFill>
              <a:latin typeface="+mj-ea"/>
              <a:ea typeface="+mj-ea"/>
            </a:endParaRPr>
          </a:p>
          <a:p>
            <a:pPr marL="728980" lvl="1" indent="-386080">
              <a:spcBef>
                <a:spcPts val="900"/>
              </a:spcBef>
              <a:buClr>
                <a:srgbClr val="0091EA"/>
              </a:buClr>
              <a:buSzPct val="80000"/>
              <a:buFont typeface="Arial" panose="020B0604020202020204" pitchFamily="34" charset="0"/>
              <a:buChar char="►"/>
              <a:defRPr/>
            </a:pPr>
            <a:r>
              <a:rPr lang="zh-CN" altLang="en-US" sz="2100" dirty="0">
                <a:solidFill>
                  <a:srgbClr val="686868"/>
                </a:solidFill>
                <a:latin typeface="+mj-ea"/>
                <a:ea typeface="+mj-ea"/>
              </a:rPr>
              <a:t>使用</a:t>
            </a:r>
            <a:r>
              <a:rPr lang="en-US" altLang="zh-CN" sz="2100" dirty="0">
                <a:solidFill>
                  <a:srgbClr val="686868"/>
                </a:solidFill>
                <a:latin typeface="+mj-ea"/>
                <a:ea typeface="+mj-ea"/>
              </a:rPr>
              <a:t>UML</a:t>
            </a:r>
            <a:r>
              <a:rPr lang="zh-CN" altLang="zh-CN" sz="2100" dirty="0">
                <a:solidFill>
                  <a:srgbClr val="686868"/>
                </a:solidFill>
                <a:latin typeface="+mj-ea"/>
                <a:ea typeface="+mj-ea"/>
              </a:rPr>
              <a:t>活动图</a:t>
            </a:r>
            <a:r>
              <a:rPr lang="zh-CN" altLang="en-US" sz="2100" dirty="0">
                <a:solidFill>
                  <a:srgbClr val="686868"/>
                </a:solidFill>
                <a:latin typeface="+mj-ea"/>
                <a:ea typeface="+mj-ea"/>
              </a:rPr>
              <a:t>建立业务流程模型</a:t>
            </a:r>
            <a:endParaRPr lang="en-US" altLang="zh-CN" sz="2100" dirty="0">
              <a:solidFill>
                <a:srgbClr val="686868"/>
              </a:solidFill>
              <a:latin typeface="+mj-ea"/>
              <a:ea typeface="+mj-ea"/>
            </a:endParaRPr>
          </a:p>
          <a:p>
            <a:pPr marL="386080" indent="-386080">
              <a:spcBef>
                <a:spcPts val="900"/>
              </a:spcBef>
              <a:buFont typeface="+mj-lt"/>
              <a:buAutoNum type="arabicPeriod"/>
              <a:defRPr/>
            </a:pPr>
            <a:r>
              <a:rPr lang="zh-CN" altLang="en-US" sz="2100" dirty="0">
                <a:solidFill>
                  <a:srgbClr val="686868"/>
                </a:solidFill>
                <a:latin typeface="+mj-ea"/>
                <a:ea typeface="+mj-ea"/>
              </a:rPr>
              <a:t>针对模型与用户进行沟通确认</a:t>
            </a:r>
            <a:endParaRPr lang="en-US" altLang="zh-CN" sz="2100" dirty="0">
              <a:solidFill>
                <a:srgbClr val="686868"/>
              </a:solidFill>
              <a:latin typeface="+mj-ea"/>
              <a:ea typeface="+mj-ea"/>
            </a:endParaRPr>
          </a:p>
          <a:p>
            <a:pPr marL="386080" indent="-386080">
              <a:spcBef>
                <a:spcPts val="900"/>
              </a:spcBef>
              <a:buFont typeface="+mj-lt"/>
              <a:buAutoNum type="arabicPeriod"/>
              <a:defRPr/>
            </a:pPr>
            <a:r>
              <a:rPr lang="zh-CN" altLang="en-US" sz="2100" dirty="0">
                <a:solidFill>
                  <a:srgbClr val="686868"/>
                </a:solidFill>
                <a:latin typeface="+mj-ea"/>
                <a:ea typeface="+mj-ea"/>
              </a:rPr>
              <a:t>数据建模</a:t>
            </a:r>
            <a:endParaRPr lang="zh-CN" altLang="en-US" sz="2100" dirty="0">
              <a:solidFill>
                <a:srgbClr val="686868"/>
              </a:solidFill>
              <a:latin typeface="+mj-ea"/>
              <a:ea typeface="+mj-ea"/>
            </a:endParaRPr>
          </a:p>
        </p:txBody>
      </p:sp>
      <p:sp>
        <p:nvSpPr>
          <p:cNvPr id="4" name="标题 3"/>
          <p:cNvSpPr>
            <a:spLocks noGrp="1"/>
          </p:cNvSpPr>
          <p:nvPr>
            <p:ph type="title"/>
          </p:nvPr>
        </p:nvSpPr>
        <p:spPr/>
        <p:txBody>
          <a:bodyPr/>
          <a:lstStyle/>
          <a:p>
            <a:r>
              <a:rPr lang="zh-CN" altLang="en-US" kern="100" dirty="0">
                <a:latin typeface="+mn-ea"/>
                <a:cs typeface="Times New Roman" panose="02020603050405020304" pitchFamily="18" charset="0"/>
              </a:rPr>
              <a:t>需求分析步骤</a:t>
            </a:r>
            <a:endParaRPr lang="zh-CN" altLang="en-US" dirty="0"/>
          </a:p>
        </p:txBody>
      </p:sp>
      <p:sp>
        <p:nvSpPr>
          <p:cNvPr id="5" name="日期占位符 4"/>
          <p:cNvSpPr>
            <a:spLocks noGrp="1"/>
          </p:cNvSpPr>
          <p:nvPr>
            <p:ph type="dt" sz="half" idx="10"/>
          </p:nvPr>
        </p:nvSpPr>
        <p:spPr/>
        <p:txBody>
          <a:bodyPr/>
          <a:lstStyle/>
          <a:p>
            <a:fld id="{48FC4207-DE9D-40F8-81CF-55B5CE583D62}"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软件工程</a:t>
            </a:r>
            <a:endParaRPr lang="zh-CN" altLang="en-US"/>
          </a:p>
        </p:txBody>
      </p:sp>
      <p:sp>
        <p:nvSpPr>
          <p:cNvPr id="7" name="灯片编号占位符 6"/>
          <p:cNvSpPr>
            <a:spLocks noGrp="1"/>
          </p:cNvSpPr>
          <p:nvPr>
            <p:ph type="sldNum" sz="quarter" idx="12"/>
          </p:nvPr>
        </p:nvSpPr>
        <p:spPr/>
        <p:txBody>
          <a:bodyPr/>
          <a:lstStyle/>
          <a:p>
            <a:fld id="{F528F39D-B5E5-4CA7-906C-979D5A62978D}" type="slidenum">
              <a:rPr lang="zh-CN" altLang="en-US" smtClean="0"/>
            </a:fld>
            <a:endParaRPr lang="zh-CN" altLang="en-US"/>
          </a:p>
        </p:txBody>
      </p:sp>
      <p:grpSp>
        <p:nvGrpSpPr>
          <p:cNvPr id="11" name="组合 10"/>
          <p:cNvGrpSpPr/>
          <p:nvPr/>
        </p:nvGrpSpPr>
        <p:grpSpPr>
          <a:xfrm>
            <a:off x="6773779" y="1633759"/>
            <a:ext cx="1888958" cy="1888958"/>
            <a:chOff x="957941" y="4484915"/>
            <a:chExt cx="682171" cy="682171"/>
          </a:xfrm>
        </p:grpSpPr>
        <p:sp>
          <p:nvSpPr>
            <p:cNvPr id="12" name="椭圆 11"/>
            <p:cNvSpPr/>
            <p:nvPr/>
          </p:nvSpPr>
          <p:spPr>
            <a:xfrm>
              <a:off x="957941" y="4484915"/>
              <a:ext cx="682171" cy="682171"/>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图标"/>
            <p:cNvSpPr>
              <a:spLocks noChangeAspect="1"/>
            </p:cNvSpPr>
            <p:nvPr/>
          </p:nvSpPr>
          <p:spPr bwMode="auto">
            <a:xfrm>
              <a:off x="1157730" y="4651708"/>
              <a:ext cx="380990" cy="332145"/>
            </a:xfrm>
            <a:custGeom>
              <a:avLst/>
              <a:gdLst>
                <a:gd name="connsiteX0" fmla="*/ 55385 w 432000"/>
                <a:gd name="connsiteY0" fmla="*/ 268616 h 376615"/>
                <a:gd name="connsiteX1" fmla="*/ 177231 w 432000"/>
                <a:gd name="connsiteY1" fmla="*/ 268616 h 376615"/>
                <a:gd name="connsiteX2" fmla="*/ 177231 w 432000"/>
                <a:gd name="connsiteY2" fmla="*/ 288001 h 376615"/>
                <a:gd name="connsiteX3" fmla="*/ 55385 w 432000"/>
                <a:gd name="connsiteY3" fmla="*/ 288001 h 376615"/>
                <a:gd name="connsiteX4" fmla="*/ 207691 w 432000"/>
                <a:gd name="connsiteY4" fmla="*/ 243691 h 376615"/>
                <a:gd name="connsiteX5" fmla="*/ 229845 w 432000"/>
                <a:gd name="connsiteY5" fmla="*/ 260307 h 376615"/>
                <a:gd name="connsiteX6" fmla="*/ 191076 w 432000"/>
                <a:gd name="connsiteY6" fmla="*/ 279692 h 376615"/>
                <a:gd name="connsiteX7" fmla="*/ 55385 w 432000"/>
                <a:gd name="connsiteY7" fmla="*/ 221538 h 376615"/>
                <a:gd name="connsiteX8" fmla="*/ 177231 w 432000"/>
                <a:gd name="connsiteY8" fmla="*/ 221538 h 376615"/>
                <a:gd name="connsiteX9" fmla="*/ 177231 w 432000"/>
                <a:gd name="connsiteY9" fmla="*/ 238154 h 376615"/>
                <a:gd name="connsiteX10" fmla="*/ 55385 w 432000"/>
                <a:gd name="connsiteY10" fmla="*/ 238154 h 376615"/>
                <a:gd name="connsiteX11" fmla="*/ 232615 w 432000"/>
                <a:gd name="connsiteY11" fmla="*/ 180000 h 376615"/>
                <a:gd name="connsiteX12" fmla="*/ 288000 w 432000"/>
                <a:gd name="connsiteY12" fmla="*/ 235385 h 376615"/>
                <a:gd name="connsiteX13" fmla="*/ 235384 w 432000"/>
                <a:gd name="connsiteY13" fmla="*/ 257539 h 376615"/>
                <a:gd name="connsiteX14" fmla="*/ 210461 w 432000"/>
                <a:gd name="connsiteY14" fmla="*/ 235385 h 376615"/>
                <a:gd name="connsiteX15" fmla="*/ 55385 w 432000"/>
                <a:gd name="connsiteY15" fmla="*/ 171692 h 376615"/>
                <a:gd name="connsiteX16" fmla="*/ 177231 w 432000"/>
                <a:gd name="connsiteY16" fmla="*/ 171692 h 376615"/>
                <a:gd name="connsiteX17" fmla="*/ 177231 w 432000"/>
                <a:gd name="connsiteY17" fmla="*/ 191077 h 376615"/>
                <a:gd name="connsiteX18" fmla="*/ 55385 w 432000"/>
                <a:gd name="connsiteY18" fmla="*/ 191077 h 376615"/>
                <a:gd name="connsiteX19" fmla="*/ 55385 w 432000"/>
                <a:gd name="connsiteY19" fmla="*/ 127385 h 376615"/>
                <a:gd name="connsiteX20" fmla="*/ 177231 w 432000"/>
                <a:gd name="connsiteY20" fmla="*/ 127385 h 376615"/>
                <a:gd name="connsiteX21" fmla="*/ 177231 w 432000"/>
                <a:gd name="connsiteY21" fmla="*/ 146770 h 376615"/>
                <a:gd name="connsiteX22" fmla="*/ 55385 w 432000"/>
                <a:gd name="connsiteY22" fmla="*/ 146770 h 376615"/>
                <a:gd name="connsiteX23" fmla="*/ 396001 w 432000"/>
                <a:gd name="connsiteY23" fmla="*/ 113538 h 376615"/>
                <a:gd name="connsiteX24" fmla="*/ 401539 w 432000"/>
                <a:gd name="connsiteY24" fmla="*/ 121846 h 376615"/>
                <a:gd name="connsiteX25" fmla="*/ 296308 w 432000"/>
                <a:gd name="connsiteY25" fmla="*/ 227078 h 376615"/>
                <a:gd name="connsiteX26" fmla="*/ 288000 w 432000"/>
                <a:gd name="connsiteY26" fmla="*/ 221540 h 376615"/>
                <a:gd name="connsiteX27" fmla="*/ 365536 w 432000"/>
                <a:gd name="connsiteY27" fmla="*/ 83076 h 376615"/>
                <a:gd name="connsiteX28" fmla="*/ 384921 w 432000"/>
                <a:gd name="connsiteY28" fmla="*/ 105230 h 376615"/>
                <a:gd name="connsiteX29" fmla="*/ 279690 w 432000"/>
                <a:gd name="connsiteY29" fmla="*/ 210461 h 376615"/>
                <a:gd name="connsiteX30" fmla="*/ 263075 w 432000"/>
                <a:gd name="connsiteY30" fmla="*/ 191076 h 376615"/>
                <a:gd name="connsiteX31" fmla="*/ 346153 w 432000"/>
                <a:gd name="connsiteY31" fmla="*/ 66461 h 376615"/>
                <a:gd name="connsiteX32" fmla="*/ 357230 w 432000"/>
                <a:gd name="connsiteY32" fmla="*/ 77538 h 376615"/>
                <a:gd name="connsiteX33" fmla="*/ 251999 w 432000"/>
                <a:gd name="connsiteY33" fmla="*/ 182769 h 376615"/>
                <a:gd name="connsiteX34" fmla="*/ 240922 w 432000"/>
                <a:gd name="connsiteY34" fmla="*/ 171692 h 376615"/>
                <a:gd name="connsiteX35" fmla="*/ 373846 w 432000"/>
                <a:gd name="connsiteY35" fmla="*/ 38769 h 376615"/>
                <a:gd name="connsiteX36" fmla="*/ 432000 w 432000"/>
                <a:gd name="connsiteY36" fmla="*/ 94154 h 376615"/>
                <a:gd name="connsiteX37" fmla="*/ 409846 w 432000"/>
                <a:gd name="connsiteY37" fmla="*/ 116308 h 376615"/>
                <a:gd name="connsiteX38" fmla="*/ 354461 w 432000"/>
                <a:gd name="connsiteY38" fmla="*/ 60923 h 376615"/>
                <a:gd name="connsiteX39" fmla="*/ 47077 w 432000"/>
                <a:gd name="connsiteY39" fmla="*/ 0 h 376615"/>
                <a:gd name="connsiteX40" fmla="*/ 63692 w 432000"/>
                <a:gd name="connsiteY40" fmla="*/ 0 h 376615"/>
                <a:gd name="connsiteX41" fmla="*/ 63692 w 432000"/>
                <a:gd name="connsiteY41" fmla="*/ 55384 h 376615"/>
                <a:gd name="connsiteX42" fmla="*/ 69231 w 432000"/>
                <a:gd name="connsiteY42" fmla="*/ 55384 h 376615"/>
                <a:gd name="connsiteX43" fmla="*/ 69231 w 432000"/>
                <a:gd name="connsiteY43" fmla="*/ 16615 h 376615"/>
                <a:gd name="connsiteX44" fmla="*/ 88615 w 432000"/>
                <a:gd name="connsiteY44" fmla="*/ 16615 h 376615"/>
                <a:gd name="connsiteX45" fmla="*/ 88615 w 432000"/>
                <a:gd name="connsiteY45" fmla="*/ 55384 h 376615"/>
                <a:gd name="connsiteX46" fmla="*/ 96923 w 432000"/>
                <a:gd name="connsiteY46" fmla="*/ 55384 h 376615"/>
                <a:gd name="connsiteX47" fmla="*/ 96923 w 432000"/>
                <a:gd name="connsiteY47" fmla="*/ 0 h 376615"/>
                <a:gd name="connsiteX48" fmla="*/ 110769 w 432000"/>
                <a:gd name="connsiteY48" fmla="*/ 0 h 376615"/>
                <a:gd name="connsiteX49" fmla="*/ 110769 w 432000"/>
                <a:gd name="connsiteY49" fmla="*/ 55384 h 376615"/>
                <a:gd name="connsiteX50" fmla="*/ 119077 w 432000"/>
                <a:gd name="connsiteY50" fmla="*/ 55384 h 376615"/>
                <a:gd name="connsiteX51" fmla="*/ 119077 w 432000"/>
                <a:gd name="connsiteY51" fmla="*/ 16615 h 376615"/>
                <a:gd name="connsiteX52" fmla="*/ 141230 w 432000"/>
                <a:gd name="connsiteY52" fmla="*/ 16615 h 376615"/>
                <a:gd name="connsiteX53" fmla="*/ 141230 w 432000"/>
                <a:gd name="connsiteY53" fmla="*/ 55384 h 376615"/>
                <a:gd name="connsiteX54" fmla="*/ 146769 w 432000"/>
                <a:gd name="connsiteY54" fmla="*/ 55384 h 376615"/>
                <a:gd name="connsiteX55" fmla="*/ 146769 w 432000"/>
                <a:gd name="connsiteY55" fmla="*/ 0 h 376615"/>
                <a:gd name="connsiteX56" fmla="*/ 157846 w 432000"/>
                <a:gd name="connsiteY56" fmla="*/ 0 h 376615"/>
                <a:gd name="connsiteX57" fmla="*/ 157846 w 432000"/>
                <a:gd name="connsiteY57" fmla="*/ 55384 h 376615"/>
                <a:gd name="connsiteX58" fmla="*/ 166153 w 432000"/>
                <a:gd name="connsiteY58" fmla="*/ 55384 h 376615"/>
                <a:gd name="connsiteX59" fmla="*/ 166153 w 432000"/>
                <a:gd name="connsiteY59" fmla="*/ 16615 h 376615"/>
                <a:gd name="connsiteX60" fmla="*/ 188307 w 432000"/>
                <a:gd name="connsiteY60" fmla="*/ 16615 h 376615"/>
                <a:gd name="connsiteX61" fmla="*/ 188307 w 432000"/>
                <a:gd name="connsiteY61" fmla="*/ 55384 h 376615"/>
                <a:gd name="connsiteX62" fmla="*/ 199384 w 432000"/>
                <a:gd name="connsiteY62" fmla="*/ 55384 h 376615"/>
                <a:gd name="connsiteX63" fmla="*/ 199384 w 432000"/>
                <a:gd name="connsiteY63" fmla="*/ 0 h 376615"/>
                <a:gd name="connsiteX64" fmla="*/ 210461 w 432000"/>
                <a:gd name="connsiteY64" fmla="*/ 0 h 376615"/>
                <a:gd name="connsiteX65" fmla="*/ 210461 w 432000"/>
                <a:gd name="connsiteY65" fmla="*/ 55384 h 376615"/>
                <a:gd name="connsiteX66" fmla="*/ 218769 w 432000"/>
                <a:gd name="connsiteY66" fmla="*/ 55384 h 376615"/>
                <a:gd name="connsiteX67" fmla="*/ 218769 w 432000"/>
                <a:gd name="connsiteY67" fmla="*/ 16615 h 376615"/>
                <a:gd name="connsiteX68" fmla="*/ 240922 w 432000"/>
                <a:gd name="connsiteY68" fmla="*/ 16615 h 376615"/>
                <a:gd name="connsiteX69" fmla="*/ 240922 w 432000"/>
                <a:gd name="connsiteY69" fmla="*/ 55384 h 376615"/>
                <a:gd name="connsiteX70" fmla="*/ 246461 w 432000"/>
                <a:gd name="connsiteY70" fmla="*/ 55384 h 376615"/>
                <a:gd name="connsiteX71" fmla="*/ 246461 w 432000"/>
                <a:gd name="connsiteY71" fmla="*/ 0 h 376615"/>
                <a:gd name="connsiteX72" fmla="*/ 263076 w 432000"/>
                <a:gd name="connsiteY72" fmla="*/ 0 h 376615"/>
                <a:gd name="connsiteX73" fmla="*/ 263076 w 432000"/>
                <a:gd name="connsiteY73" fmla="*/ 55384 h 376615"/>
                <a:gd name="connsiteX74" fmla="*/ 268615 w 432000"/>
                <a:gd name="connsiteY74" fmla="*/ 55384 h 376615"/>
                <a:gd name="connsiteX75" fmla="*/ 268615 w 432000"/>
                <a:gd name="connsiteY75" fmla="*/ 16615 h 376615"/>
                <a:gd name="connsiteX76" fmla="*/ 310153 w 432000"/>
                <a:gd name="connsiteY76" fmla="*/ 16615 h 376615"/>
                <a:gd name="connsiteX77" fmla="*/ 310153 w 432000"/>
                <a:gd name="connsiteY77" fmla="*/ 88615 h 376615"/>
                <a:gd name="connsiteX78" fmla="*/ 287999 w 432000"/>
                <a:gd name="connsiteY78" fmla="*/ 110769 h 376615"/>
                <a:gd name="connsiteX79" fmla="*/ 287999 w 432000"/>
                <a:gd name="connsiteY79" fmla="*/ 88615 h 376615"/>
                <a:gd name="connsiteX80" fmla="*/ 19384 w 432000"/>
                <a:gd name="connsiteY80" fmla="*/ 88615 h 376615"/>
                <a:gd name="connsiteX81" fmla="*/ 19384 w 432000"/>
                <a:gd name="connsiteY81" fmla="*/ 357231 h 376615"/>
                <a:gd name="connsiteX82" fmla="*/ 229845 w 432000"/>
                <a:gd name="connsiteY82" fmla="*/ 357231 h 376615"/>
                <a:gd name="connsiteX83" fmla="*/ 229845 w 432000"/>
                <a:gd name="connsiteY83" fmla="*/ 279692 h 376615"/>
                <a:gd name="connsiteX84" fmla="*/ 287999 w 432000"/>
                <a:gd name="connsiteY84" fmla="*/ 279692 h 376615"/>
                <a:gd name="connsiteX85" fmla="*/ 287999 w 432000"/>
                <a:gd name="connsiteY85" fmla="*/ 254769 h 376615"/>
                <a:gd name="connsiteX86" fmla="*/ 310153 w 432000"/>
                <a:gd name="connsiteY86" fmla="*/ 232615 h 376615"/>
                <a:gd name="connsiteX87" fmla="*/ 310153 w 432000"/>
                <a:gd name="connsiteY87" fmla="*/ 304615 h 376615"/>
                <a:gd name="connsiteX88" fmla="*/ 246461 w 432000"/>
                <a:gd name="connsiteY88" fmla="*/ 376615 h 376615"/>
                <a:gd name="connsiteX89" fmla="*/ 0 w 432000"/>
                <a:gd name="connsiteY89" fmla="*/ 376615 h 376615"/>
                <a:gd name="connsiteX90" fmla="*/ 0 w 432000"/>
                <a:gd name="connsiteY90" fmla="*/ 77538 h 376615"/>
                <a:gd name="connsiteX91" fmla="*/ 0 w 432000"/>
                <a:gd name="connsiteY91" fmla="*/ 66461 h 376615"/>
                <a:gd name="connsiteX92" fmla="*/ 0 w 432000"/>
                <a:gd name="connsiteY92" fmla="*/ 16615 h 376615"/>
                <a:gd name="connsiteX93" fmla="*/ 41538 w 432000"/>
                <a:gd name="connsiteY93" fmla="*/ 16615 h 376615"/>
                <a:gd name="connsiteX94" fmla="*/ 41538 w 432000"/>
                <a:gd name="connsiteY94" fmla="*/ 55384 h 376615"/>
                <a:gd name="connsiteX95" fmla="*/ 47077 w 432000"/>
                <a:gd name="connsiteY95" fmla="*/ 55384 h 376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432000" h="376615">
                  <a:moveTo>
                    <a:pt x="55385" y="268616"/>
                  </a:moveTo>
                  <a:lnTo>
                    <a:pt x="177231" y="268616"/>
                  </a:lnTo>
                  <a:lnTo>
                    <a:pt x="177231" y="288001"/>
                  </a:lnTo>
                  <a:lnTo>
                    <a:pt x="55385" y="288001"/>
                  </a:lnTo>
                  <a:close/>
                  <a:moveTo>
                    <a:pt x="207691" y="243691"/>
                  </a:moveTo>
                  <a:lnTo>
                    <a:pt x="229845" y="260307"/>
                  </a:lnTo>
                  <a:lnTo>
                    <a:pt x="191076" y="279692"/>
                  </a:lnTo>
                  <a:close/>
                  <a:moveTo>
                    <a:pt x="55385" y="221538"/>
                  </a:moveTo>
                  <a:lnTo>
                    <a:pt x="177231" y="221538"/>
                  </a:lnTo>
                  <a:lnTo>
                    <a:pt x="177231" y="238154"/>
                  </a:lnTo>
                  <a:lnTo>
                    <a:pt x="55385" y="238154"/>
                  </a:lnTo>
                  <a:close/>
                  <a:moveTo>
                    <a:pt x="232615" y="180000"/>
                  </a:moveTo>
                  <a:lnTo>
                    <a:pt x="288000" y="235385"/>
                  </a:lnTo>
                  <a:lnTo>
                    <a:pt x="235384" y="257539"/>
                  </a:lnTo>
                  <a:lnTo>
                    <a:pt x="210461" y="235385"/>
                  </a:lnTo>
                  <a:close/>
                  <a:moveTo>
                    <a:pt x="55385" y="171692"/>
                  </a:moveTo>
                  <a:lnTo>
                    <a:pt x="177231" y="171692"/>
                  </a:lnTo>
                  <a:lnTo>
                    <a:pt x="177231" y="191077"/>
                  </a:lnTo>
                  <a:lnTo>
                    <a:pt x="55385" y="191077"/>
                  </a:lnTo>
                  <a:close/>
                  <a:moveTo>
                    <a:pt x="55385" y="127385"/>
                  </a:moveTo>
                  <a:lnTo>
                    <a:pt x="177231" y="127385"/>
                  </a:lnTo>
                  <a:lnTo>
                    <a:pt x="177231" y="146770"/>
                  </a:lnTo>
                  <a:lnTo>
                    <a:pt x="55385" y="146770"/>
                  </a:lnTo>
                  <a:close/>
                  <a:moveTo>
                    <a:pt x="396001" y="113538"/>
                  </a:moveTo>
                  <a:lnTo>
                    <a:pt x="401539" y="121846"/>
                  </a:lnTo>
                  <a:lnTo>
                    <a:pt x="296308" y="227078"/>
                  </a:lnTo>
                  <a:lnTo>
                    <a:pt x="288000" y="221540"/>
                  </a:lnTo>
                  <a:close/>
                  <a:moveTo>
                    <a:pt x="365536" y="83076"/>
                  </a:moveTo>
                  <a:lnTo>
                    <a:pt x="384921" y="105230"/>
                  </a:lnTo>
                  <a:lnTo>
                    <a:pt x="279690" y="210461"/>
                  </a:lnTo>
                  <a:lnTo>
                    <a:pt x="263075" y="191076"/>
                  </a:lnTo>
                  <a:close/>
                  <a:moveTo>
                    <a:pt x="346153" y="66461"/>
                  </a:moveTo>
                  <a:lnTo>
                    <a:pt x="357230" y="77538"/>
                  </a:lnTo>
                  <a:lnTo>
                    <a:pt x="251999" y="182769"/>
                  </a:lnTo>
                  <a:lnTo>
                    <a:pt x="240922" y="171692"/>
                  </a:lnTo>
                  <a:close/>
                  <a:moveTo>
                    <a:pt x="373846" y="38769"/>
                  </a:moveTo>
                  <a:lnTo>
                    <a:pt x="432000" y="94154"/>
                  </a:lnTo>
                  <a:lnTo>
                    <a:pt x="409846" y="116308"/>
                  </a:lnTo>
                  <a:lnTo>
                    <a:pt x="354461" y="60923"/>
                  </a:lnTo>
                  <a:close/>
                  <a:moveTo>
                    <a:pt x="47077" y="0"/>
                  </a:moveTo>
                  <a:lnTo>
                    <a:pt x="63692" y="0"/>
                  </a:lnTo>
                  <a:lnTo>
                    <a:pt x="63692" y="55384"/>
                  </a:lnTo>
                  <a:lnTo>
                    <a:pt x="69231" y="55384"/>
                  </a:lnTo>
                  <a:lnTo>
                    <a:pt x="69231" y="16615"/>
                  </a:lnTo>
                  <a:lnTo>
                    <a:pt x="88615" y="16615"/>
                  </a:lnTo>
                  <a:lnTo>
                    <a:pt x="88615" y="55384"/>
                  </a:lnTo>
                  <a:lnTo>
                    <a:pt x="96923" y="55384"/>
                  </a:lnTo>
                  <a:lnTo>
                    <a:pt x="96923" y="0"/>
                  </a:lnTo>
                  <a:lnTo>
                    <a:pt x="110769" y="0"/>
                  </a:lnTo>
                  <a:lnTo>
                    <a:pt x="110769" y="55384"/>
                  </a:lnTo>
                  <a:lnTo>
                    <a:pt x="119077" y="55384"/>
                  </a:lnTo>
                  <a:lnTo>
                    <a:pt x="119077" y="16615"/>
                  </a:lnTo>
                  <a:lnTo>
                    <a:pt x="141230" y="16615"/>
                  </a:lnTo>
                  <a:lnTo>
                    <a:pt x="141230" y="55384"/>
                  </a:lnTo>
                  <a:lnTo>
                    <a:pt x="146769" y="55384"/>
                  </a:lnTo>
                  <a:lnTo>
                    <a:pt x="146769" y="0"/>
                  </a:lnTo>
                  <a:lnTo>
                    <a:pt x="157846" y="0"/>
                  </a:lnTo>
                  <a:lnTo>
                    <a:pt x="157846" y="55384"/>
                  </a:lnTo>
                  <a:lnTo>
                    <a:pt x="166153" y="55384"/>
                  </a:lnTo>
                  <a:lnTo>
                    <a:pt x="166153" y="16615"/>
                  </a:lnTo>
                  <a:lnTo>
                    <a:pt x="188307" y="16615"/>
                  </a:lnTo>
                  <a:lnTo>
                    <a:pt x="188307" y="55384"/>
                  </a:lnTo>
                  <a:lnTo>
                    <a:pt x="199384" y="55384"/>
                  </a:lnTo>
                  <a:lnTo>
                    <a:pt x="199384" y="0"/>
                  </a:lnTo>
                  <a:lnTo>
                    <a:pt x="210461" y="0"/>
                  </a:lnTo>
                  <a:lnTo>
                    <a:pt x="210461" y="55384"/>
                  </a:lnTo>
                  <a:lnTo>
                    <a:pt x="218769" y="55384"/>
                  </a:lnTo>
                  <a:lnTo>
                    <a:pt x="218769" y="16615"/>
                  </a:lnTo>
                  <a:lnTo>
                    <a:pt x="240922" y="16615"/>
                  </a:lnTo>
                  <a:lnTo>
                    <a:pt x="240922" y="55384"/>
                  </a:lnTo>
                  <a:lnTo>
                    <a:pt x="246461" y="55384"/>
                  </a:lnTo>
                  <a:lnTo>
                    <a:pt x="246461" y="0"/>
                  </a:lnTo>
                  <a:lnTo>
                    <a:pt x="263076" y="0"/>
                  </a:lnTo>
                  <a:lnTo>
                    <a:pt x="263076" y="55384"/>
                  </a:lnTo>
                  <a:lnTo>
                    <a:pt x="268615" y="55384"/>
                  </a:lnTo>
                  <a:lnTo>
                    <a:pt x="268615" y="16615"/>
                  </a:lnTo>
                  <a:lnTo>
                    <a:pt x="310153" y="16615"/>
                  </a:lnTo>
                  <a:lnTo>
                    <a:pt x="310153" y="88615"/>
                  </a:lnTo>
                  <a:lnTo>
                    <a:pt x="287999" y="110769"/>
                  </a:lnTo>
                  <a:lnTo>
                    <a:pt x="287999" y="88615"/>
                  </a:lnTo>
                  <a:lnTo>
                    <a:pt x="19384" y="88615"/>
                  </a:lnTo>
                  <a:lnTo>
                    <a:pt x="19384" y="357231"/>
                  </a:lnTo>
                  <a:lnTo>
                    <a:pt x="229845" y="357231"/>
                  </a:lnTo>
                  <a:lnTo>
                    <a:pt x="229845" y="279692"/>
                  </a:lnTo>
                  <a:lnTo>
                    <a:pt x="287999" y="279692"/>
                  </a:lnTo>
                  <a:lnTo>
                    <a:pt x="287999" y="254769"/>
                  </a:lnTo>
                  <a:lnTo>
                    <a:pt x="310153" y="232615"/>
                  </a:lnTo>
                  <a:lnTo>
                    <a:pt x="310153" y="304615"/>
                  </a:lnTo>
                  <a:lnTo>
                    <a:pt x="246461" y="376615"/>
                  </a:lnTo>
                  <a:lnTo>
                    <a:pt x="0" y="376615"/>
                  </a:lnTo>
                  <a:lnTo>
                    <a:pt x="0" y="77538"/>
                  </a:lnTo>
                  <a:lnTo>
                    <a:pt x="0" y="66461"/>
                  </a:lnTo>
                  <a:lnTo>
                    <a:pt x="0" y="16615"/>
                  </a:lnTo>
                  <a:lnTo>
                    <a:pt x="41538" y="16615"/>
                  </a:lnTo>
                  <a:lnTo>
                    <a:pt x="41538" y="55384"/>
                  </a:lnTo>
                  <a:lnTo>
                    <a:pt x="47077" y="55384"/>
                  </a:lnTo>
                  <a:close/>
                </a:path>
              </a:pathLst>
            </a:custGeom>
            <a:solidFill>
              <a:schemeClr val="bg1"/>
            </a:solidFill>
            <a:ln>
              <a:noFill/>
            </a:ln>
          </p:spPr>
          <p:txBody>
            <a:bodyPr vert="horz" wrap="square" lIns="121920" tIns="60960" rIns="121920" bIns="60960" numCol="1" anchor="t" anchorCtr="0" compatLnSpc="1">
              <a:noAutofit/>
            </a:bodyPr>
            <a:lstStyle/>
            <a:p>
              <a:endParaRPr lang="en-US" sz="1400">
                <a:solidFill>
                  <a:schemeClr val="accent1"/>
                </a:solidFill>
                <a:latin typeface="+mn-ea"/>
              </a:endParaRPr>
            </a:p>
          </p:txBody>
        </p:sp>
      </p:gr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wipe(up)">
                                      <p:cBhvr>
                                        <p:cTn id="10" dur="500"/>
                                        <p:tgtEl>
                                          <p:spTgt spid="2">
                                            <p:txEl>
                                              <p:pRg st="1" end="1"/>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wipe(up)">
                                      <p:cBhvr>
                                        <p:cTn id="13" dur="500"/>
                                        <p:tgtEl>
                                          <p:spTgt spid="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2">
                                            <p:txEl>
                                              <p:pRg st="3" end="3"/>
                                            </p:txEl>
                                          </p:spTgt>
                                        </p:tgtEl>
                                        <p:attrNameLst>
                                          <p:attrName>style.visibility</p:attrName>
                                        </p:attrNameLst>
                                      </p:cBhvr>
                                      <p:to>
                                        <p:strVal val="visible"/>
                                      </p:to>
                                    </p:set>
                                    <p:animEffect transition="in" filter="wipe(up)">
                                      <p:cBhvr>
                                        <p:cTn id="18" dur="500"/>
                                        <p:tgtEl>
                                          <p:spTgt spid="2">
                                            <p:txEl>
                                              <p:pRg st="3" end="3"/>
                                            </p:txEl>
                                          </p:spTgt>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wipe(up)">
                                      <p:cBhvr>
                                        <p:cTn id="21" dur="500"/>
                                        <p:tgtEl>
                                          <p:spTgt spid="2">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2">
                                            <p:txEl>
                                              <p:pRg st="5" end="5"/>
                                            </p:txEl>
                                          </p:spTgt>
                                        </p:tgtEl>
                                        <p:attrNameLst>
                                          <p:attrName>style.visibility</p:attrName>
                                        </p:attrNameLst>
                                      </p:cBhvr>
                                      <p:to>
                                        <p:strVal val="visible"/>
                                      </p:to>
                                    </p:set>
                                    <p:animEffect transition="in" filter="wipe(up)">
                                      <p:cBhvr>
                                        <p:cTn id="26" dur="500"/>
                                        <p:tgtEl>
                                          <p:spTgt spid="2">
                                            <p:txEl>
                                              <p:pRg st="5" end="5"/>
                                            </p:txEl>
                                          </p:spTgt>
                                        </p:tgtEl>
                                      </p:cBhvr>
                                    </p:animEffect>
                                  </p:childTnLst>
                                </p:cTn>
                              </p:par>
                              <p:par>
                                <p:cTn id="27" presetID="22" presetClass="entr" presetSubtype="1" fill="hold" grpId="0" nodeType="withEffect">
                                  <p:stCondLst>
                                    <p:cond delay="0"/>
                                  </p:stCondLst>
                                  <p:childTnLst>
                                    <p:set>
                                      <p:cBhvr>
                                        <p:cTn id="28" dur="1" fill="hold">
                                          <p:stCondLst>
                                            <p:cond delay="0"/>
                                          </p:stCondLst>
                                        </p:cTn>
                                        <p:tgtEl>
                                          <p:spTgt spid="2">
                                            <p:txEl>
                                              <p:pRg st="6" end="6"/>
                                            </p:txEl>
                                          </p:spTgt>
                                        </p:tgtEl>
                                        <p:attrNameLst>
                                          <p:attrName>style.visibility</p:attrName>
                                        </p:attrNameLst>
                                      </p:cBhvr>
                                      <p:to>
                                        <p:strVal val="visible"/>
                                      </p:to>
                                    </p:set>
                                    <p:animEffect transition="in" filter="wipe(up)">
                                      <p:cBhvr>
                                        <p:cTn id="29" dur="500"/>
                                        <p:tgtEl>
                                          <p:spTgt spid="2">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2">
                                            <p:txEl>
                                              <p:pRg st="7" end="7"/>
                                            </p:txEl>
                                          </p:spTgt>
                                        </p:tgtEl>
                                        <p:attrNameLst>
                                          <p:attrName>style.visibility</p:attrName>
                                        </p:attrNameLst>
                                      </p:cBhvr>
                                      <p:to>
                                        <p:strVal val="visible"/>
                                      </p:to>
                                    </p:set>
                                    <p:animEffect transition="in" filter="wipe(up)">
                                      <p:cBhvr>
                                        <p:cTn id="34" dur="500"/>
                                        <p:tgtEl>
                                          <p:spTgt spid="2">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animEffect transition="in" filter="wipe(up)">
                                      <p:cBhvr>
                                        <p:cTn id="39" dur="500"/>
                                        <p:tgtEl>
                                          <p:spTgt spid="2">
                                            <p:txEl>
                                              <p:pRg st="8" end="8"/>
                                            </p:txEl>
                                          </p:spTgt>
                                        </p:tgtEl>
                                      </p:cBhvr>
                                    </p:animEffect>
                                  </p:childTnLst>
                                </p:cTn>
                              </p:par>
                              <p:par>
                                <p:cTn id="40" presetID="1" presetClass="entr" presetSubtype="0" fill="hold" nodeType="withEffect">
                                  <p:stCondLst>
                                    <p:cond delay="0"/>
                                  </p:stCondLst>
                                  <p:childTnLst>
                                    <p:set>
                                      <p:cBhvr>
                                        <p:cTn id="41"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网上报名系统的第一次访谈提纲</a:t>
            </a:r>
            <a:endParaRPr lang="zh-CN" altLang="en-US" dirty="0"/>
          </a:p>
        </p:txBody>
      </p:sp>
      <p:sp>
        <p:nvSpPr>
          <p:cNvPr id="6" name="内容占位符 5"/>
          <p:cNvSpPr>
            <a:spLocks noGrp="1"/>
          </p:cNvSpPr>
          <p:nvPr>
            <p:ph idx="1"/>
          </p:nvPr>
        </p:nvSpPr>
        <p:spPr>
          <a:xfrm>
            <a:off x="768096" y="913479"/>
            <a:ext cx="8090154" cy="3806854"/>
          </a:xfrm>
        </p:spPr>
        <p:txBody>
          <a:bodyPr>
            <a:noAutofit/>
          </a:bodyPr>
          <a:lstStyle/>
          <a:p>
            <a:pPr>
              <a:lnSpc>
                <a:spcPct val="100000"/>
              </a:lnSpc>
              <a:spcBef>
                <a:spcPts val="600"/>
              </a:spcBef>
            </a:pPr>
            <a:r>
              <a:rPr lang="zh-CN" altLang="en-US" sz="2000" b="1" dirty="0"/>
              <a:t>访谈对象：中国赛艇协会工作人员</a:t>
            </a:r>
            <a:endParaRPr lang="zh-CN" altLang="en-US" sz="2000" b="1" dirty="0"/>
          </a:p>
          <a:p>
            <a:pPr marL="0" indent="0">
              <a:lnSpc>
                <a:spcPct val="100000"/>
              </a:lnSpc>
              <a:spcBef>
                <a:spcPts val="600"/>
              </a:spcBef>
              <a:buNone/>
            </a:pPr>
            <a:r>
              <a:rPr lang="en-US" altLang="zh-CN" sz="2000" b="1" dirty="0">
                <a:solidFill>
                  <a:srgbClr val="FF6600"/>
                </a:solidFill>
              </a:rPr>
              <a:t>Q1</a:t>
            </a:r>
            <a:r>
              <a:rPr lang="zh-CN" altLang="en-US" sz="2000" b="1" dirty="0">
                <a:solidFill>
                  <a:srgbClr val="FF6600"/>
                </a:solidFill>
              </a:rPr>
              <a:t>：请问您平时主要有哪些工作要做呢？</a:t>
            </a:r>
            <a:endParaRPr lang="zh-CN" altLang="en-US" sz="2000" b="1" dirty="0">
              <a:solidFill>
                <a:srgbClr val="FF6600"/>
              </a:solidFill>
            </a:endParaRPr>
          </a:p>
          <a:p>
            <a:pPr marL="0" indent="0">
              <a:lnSpc>
                <a:spcPct val="100000"/>
              </a:lnSpc>
              <a:spcBef>
                <a:spcPts val="600"/>
              </a:spcBef>
              <a:buNone/>
            </a:pPr>
            <a:r>
              <a:rPr lang="en-US" altLang="zh-CN" sz="2000" dirty="0"/>
              <a:t>A1</a:t>
            </a:r>
            <a:r>
              <a:rPr lang="zh-CN" altLang="en-US" sz="2000" dirty="0"/>
              <a:t>：我的日常工作主要是发布赛事信息，整理各省队提交的报名信息。一般来说，</a:t>
            </a:r>
            <a:r>
              <a:rPr lang="zh-CN" altLang="zh-CN" sz="2000" dirty="0"/>
              <a:t>我们会先将赛事信息发布出来，然后各省赛艇队根据赛事要求报名参加相关赛事的比赛项目，各省赛艇队将参赛运动员的信息提交到赛艇协会，最后由我们统计整理参赛运动员信息。</a:t>
            </a:r>
            <a:endParaRPr lang="en-US" altLang="zh-CN" sz="2000" dirty="0"/>
          </a:p>
          <a:p>
            <a:pPr marL="0" indent="0">
              <a:lnSpc>
                <a:spcPct val="100000"/>
              </a:lnSpc>
              <a:spcBef>
                <a:spcPts val="600"/>
              </a:spcBef>
              <a:buNone/>
            </a:pPr>
            <a:r>
              <a:rPr lang="en-US" altLang="zh-CN" sz="2000" b="1" dirty="0">
                <a:solidFill>
                  <a:srgbClr val="FF6600"/>
                </a:solidFill>
              </a:rPr>
              <a:t>Q2</a:t>
            </a:r>
            <a:r>
              <a:rPr lang="zh-CN" altLang="en-US" sz="2000" b="1" dirty="0">
                <a:solidFill>
                  <a:srgbClr val="FF6600"/>
                </a:solidFill>
              </a:rPr>
              <a:t>：您能谈一下发布赛事信息的流程么？</a:t>
            </a:r>
            <a:endParaRPr lang="zh-CN" altLang="en-US" sz="2000" b="1" dirty="0">
              <a:solidFill>
                <a:srgbClr val="FF6600"/>
              </a:solidFill>
            </a:endParaRPr>
          </a:p>
          <a:p>
            <a:pPr marL="0" indent="0">
              <a:lnSpc>
                <a:spcPct val="100000"/>
              </a:lnSpc>
              <a:spcBef>
                <a:spcPts val="600"/>
              </a:spcBef>
              <a:buNone/>
            </a:pPr>
            <a:r>
              <a:rPr lang="en-US" altLang="zh-CN" sz="2000" dirty="0"/>
              <a:t>A2</a:t>
            </a:r>
            <a:r>
              <a:rPr lang="zh-CN" altLang="en-US" sz="2000" dirty="0"/>
              <a:t>：一般来讲，每次比赛之前我们会先将赛事信息发布出来，包括</a:t>
            </a:r>
            <a:r>
              <a:rPr lang="zh-CN" altLang="zh-CN" sz="2000" dirty="0"/>
              <a:t>赛事名称，赛事年份，主办单位，协办单位，主办单位联系人，协办单位联系人，比赛时间，比赛地点，报名时间，报名方法，竞赛项目，竞赛办法，参赛服装和器材，奖励与计分办法</a:t>
            </a:r>
            <a:r>
              <a:rPr lang="zh-CN" altLang="en-US" sz="2000" dirty="0"/>
              <a:t>，</a:t>
            </a:r>
            <a:r>
              <a:rPr lang="zh-CN" altLang="zh-CN" sz="2000" dirty="0"/>
              <a:t>相关附件</a:t>
            </a:r>
            <a:r>
              <a:rPr lang="zh-CN" altLang="en-US" sz="2000" dirty="0"/>
              <a:t>，其他等。</a:t>
            </a:r>
            <a:endParaRPr lang="zh-CN" altLang="en-US" sz="2000" dirty="0"/>
          </a:p>
        </p:txBody>
      </p:sp>
      <p:sp>
        <p:nvSpPr>
          <p:cNvPr id="3" name="日期占位符 2"/>
          <p:cNvSpPr>
            <a:spLocks noGrp="1"/>
          </p:cNvSpPr>
          <p:nvPr>
            <p:ph type="dt" sz="half" idx="10"/>
          </p:nvPr>
        </p:nvSpPr>
        <p:spPr/>
        <p:txBody>
          <a:bodyPr/>
          <a:lstStyle/>
          <a:p>
            <a:fld id="{5902FD77-8323-485D-87E2-91A0E9C84954}"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a:p>
        </p:txBody>
      </p:sp>
      <p:sp>
        <p:nvSpPr>
          <p:cNvPr id="5" name="灯片编号占位符 4"/>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网上报名系统的第一次访谈提纲</a:t>
            </a:r>
            <a:endParaRPr lang="zh-CN" altLang="en-US" dirty="0"/>
          </a:p>
        </p:txBody>
      </p:sp>
      <p:sp>
        <p:nvSpPr>
          <p:cNvPr id="6" name="内容占位符 5"/>
          <p:cNvSpPr>
            <a:spLocks noGrp="1"/>
          </p:cNvSpPr>
          <p:nvPr>
            <p:ph idx="1"/>
          </p:nvPr>
        </p:nvSpPr>
        <p:spPr>
          <a:xfrm>
            <a:off x="768096" y="913479"/>
            <a:ext cx="8090154" cy="3806854"/>
          </a:xfrm>
        </p:spPr>
        <p:txBody>
          <a:bodyPr>
            <a:noAutofit/>
          </a:bodyPr>
          <a:lstStyle/>
          <a:p>
            <a:pPr>
              <a:lnSpc>
                <a:spcPct val="100000"/>
              </a:lnSpc>
              <a:spcBef>
                <a:spcPts val="600"/>
              </a:spcBef>
            </a:pPr>
            <a:r>
              <a:rPr lang="zh-CN" altLang="en-US" sz="2000" b="1" dirty="0"/>
              <a:t>访谈对象：中国赛艇协会工作人员</a:t>
            </a:r>
            <a:endParaRPr lang="zh-CN" altLang="en-US" sz="2000" b="1" dirty="0"/>
          </a:p>
          <a:p>
            <a:pPr marL="0" indent="0">
              <a:lnSpc>
                <a:spcPct val="100000"/>
              </a:lnSpc>
              <a:spcBef>
                <a:spcPts val="1800"/>
              </a:spcBef>
              <a:buNone/>
            </a:pPr>
            <a:r>
              <a:rPr lang="en-US" altLang="zh-CN" sz="2000" b="1" dirty="0">
                <a:solidFill>
                  <a:srgbClr val="FF6600"/>
                </a:solidFill>
              </a:rPr>
              <a:t>Q3</a:t>
            </a:r>
            <a:r>
              <a:rPr lang="zh-CN" altLang="en-US" sz="2000" b="1" dirty="0">
                <a:solidFill>
                  <a:srgbClr val="FF6600"/>
                </a:solidFill>
              </a:rPr>
              <a:t>：各省队提交的报名信息包括哪些内容呢？</a:t>
            </a:r>
            <a:endParaRPr lang="zh-CN" altLang="en-US" sz="2000" b="1" dirty="0">
              <a:solidFill>
                <a:srgbClr val="FF6600"/>
              </a:solidFill>
            </a:endParaRPr>
          </a:p>
          <a:p>
            <a:pPr marL="0" indent="0">
              <a:lnSpc>
                <a:spcPct val="100000"/>
              </a:lnSpc>
              <a:spcBef>
                <a:spcPts val="600"/>
              </a:spcBef>
              <a:buNone/>
            </a:pPr>
            <a:r>
              <a:rPr lang="en-US" altLang="zh-CN" sz="2000" dirty="0"/>
              <a:t>A3</a:t>
            </a:r>
            <a:r>
              <a:rPr lang="zh-CN" altLang="en-US" sz="2000" dirty="0"/>
              <a:t>：</a:t>
            </a:r>
            <a:r>
              <a:rPr lang="zh-CN" altLang="zh-CN" sz="2000" dirty="0"/>
              <a:t>各参赛单位提交的报名信息</a:t>
            </a:r>
            <a:r>
              <a:rPr lang="zh-CN" altLang="en-US" sz="2000" dirty="0"/>
              <a:t>包括两部分，</a:t>
            </a:r>
            <a:r>
              <a:rPr lang="zh-CN" altLang="zh-CN" sz="2000" dirty="0"/>
              <a:t>参赛单位的信息和运动员的信息。</a:t>
            </a:r>
            <a:endParaRPr lang="en-US" altLang="zh-CN" sz="2000" dirty="0"/>
          </a:p>
          <a:p>
            <a:pPr marL="0" indent="0">
              <a:lnSpc>
                <a:spcPct val="100000"/>
              </a:lnSpc>
              <a:spcBef>
                <a:spcPts val="600"/>
              </a:spcBef>
              <a:buNone/>
            </a:pPr>
            <a:r>
              <a:rPr lang="en-US" altLang="zh-CN" sz="2000" b="1" dirty="0">
                <a:solidFill>
                  <a:srgbClr val="FF6600"/>
                </a:solidFill>
              </a:rPr>
              <a:t>Q4</a:t>
            </a:r>
            <a:r>
              <a:rPr lang="zh-CN" altLang="en-US" sz="2000" b="1" dirty="0">
                <a:solidFill>
                  <a:srgbClr val="FF6600"/>
                </a:solidFill>
              </a:rPr>
              <a:t>：您刚才提到的“各参赛单位” 是不是指“各省队”？</a:t>
            </a:r>
            <a:endParaRPr lang="zh-CN" altLang="en-US" sz="2000" b="1" dirty="0">
              <a:solidFill>
                <a:srgbClr val="FF6600"/>
              </a:solidFill>
            </a:endParaRPr>
          </a:p>
          <a:p>
            <a:pPr marL="0" indent="0">
              <a:lnSpc>
                <a:spcPct val="100000"/>
              </a:lnSpc>
              <a:spcBef>
                <a:spcPts val="600"/>
              </a:spcBef>
              <a:buNone/>
            </a:pPr>
            <a:r>
              <a:rPr lang="en-US" altLang="zh-CN" sz="2000" dirty="0"/>
              <a:t>A4</a:t>
            </a:r>
            <a:r>
              <a:rPr lang="zh-CN" altLang="en-US" sz="2000" dirty="0"/>
              <a:t>：是的</a:t>
            </a:r>
            <a:endParaRPr lang="zh-CN" altLang="zh-CN" sz="2000" dirty="0"/>
          </a:p>
          <a:p>
            <a:pPr marL="0" indent="0">
              <a:lnSpc>
                <a:spcPct val="100000"/>
              </a:lnSpc>
              <a:spcBef>
                <a:spcPts val="600"/>
              </a:spcBef>
              <a:buNone/>
            </a:pPr>
            <a:r>
              <a:rPr lang="en-US" altLang="zh-CN" sz="2000" b="1" dirty="0">
                <a:solidFill>
                  <a:srgbClr val="FF6600"/>
                </a:solidFill>
              </a:rPr>
              <a:t>Q5</a:t>
            </a:r>
            <a:r>
              <a:rPr lang="zh-CN" altLang="en-US" sz="2000" b="1" dirty="0">
                <a:solidFill>
                  <a:srgbClr val="FF6600"/>
                </a:solidFill>
              </a:rPr>
              <a:t>：参赛单位信息包括哪些内容呢？</a:t>
            </a:r>
            <a:endParaRPr lang="zh-CN" altLang="en-US" sz="2000" b="1" dirty="0">
              <a:solidFill>
                <a:srgbClr val="FF6600"/>
              </a:solidFill>
            </a:endParaRPr>
          </a:p>
          <a:p>
            <a:pPr marL="0" indent="0">
              <a:lnSpc>
                <a:spcPct val="100000"/>
              </a:lnSpc>
              <a:spcBef>
                <a:spcPts val="600"/>
              </a:spcBef>
              <a:buNone/>
            </a:pPr>
            <a:r>
              <a:rPr lang="en-US" altLang="zh-CN" sz="2000" dirty="0"/>
              <a:t>A5</a:t>
            </a:r>
            <a:r>
              <a:rPr lang="zh-CN" altLang="en-US" sz="2000" dirty="0"/>
              <a:t>：</a:t>
            </a:r>
            <a:r>
              <a:rPr lang="zh-CN" altLang="zh-CN" sz="2000" dirty="0"/>
              <a:t>参赛单位信息有：赛事名称，参赛单位名称，领队，教练，医生，工作人员，填报人，填报时间，联系电话，传真</a:t>
            </a:r>
            <a:r>
              <a:rPr lang="zh-CN" altLang="en-US" sz="2000" dirty="0"/>
              <a:t>。</a:t>
            </a:r>
            <a:endParaRPr lang="zh-CN" altLang="en-US" sz="2000" dirty="0"/>
          </a:p>
        </p:txBody>
      </p:sp>
      <p:sp>
        <p:nvSpPr>
          <p:cNvPr id="3" name="日期占位符 2"/>
          <p:cNvSpPr>
            <a:spLocks noGrp="1"/>
          </p:cNvSpPr>
          <p:nvPr>
            <p:ph type="dt" sz="half" idx="10"/>
          </p:nvPr>
        </p:nvSpPr>
        <p:spPr/>
        <p:txBody>
          <a:bodyPr/>
          <a:lstStyle/>
          <a:p>
            <a:fld id="{5902FD77-8323-485D-87E2-91A0E9C84954}"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a:p>
        </p:txBody>
      </p:sp>
      <p:sp>
        <p:nvSpPr>
          <p:cNvPr id="5" name="灯片编号占位符 4"/>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网上报名系统的第一次访谈提纲</a:t>
            </a:r>
            <a:endParaRPr lang="zh-CN" altLang="en-US" dirty="0"/>
          </a:p>
        </p:txBody>
      </p:sp>
      <p:sp>
        <p:nvSpPr>
          <p:cNvPr id="6" name="内容占位符 5"/>
          <p:cNvSpPr>
            <a:spLocks noGrp="1"/>
          </p:cNvSpPr>
          <p:nvPr>
            <p:ph idx="1"/>
          </p:nvPr>
        </p:nvSpPr>
        <p:spPr>
          <a:xfrm>
            <a:off x="768096" y="913479"/>
            <a:ext cx="8090154" cy="3806854"/>
          </a:xfrm>
        </p:spPr>
        <p:txBody>
          <a:bodyPr>
            <a:noAutofit/>
          </a:bodyPr>
          <a:lstStyle/>
          <a:p>
            <a:pPr>
              <a:lnSpc>
                <a:spcPct val="100000"/>
              </a:lnSpc>
              <a:spcBef>
                <a:spcPts val="600"/>
              </a:spcBef>
            </a:pPr>
            <a:r>
              <a:rPr lang="zh-CN" altLang="en-US" sz="2000" b="1" dirty="0"/>
              <a:t>访谈对象：中国赛艇协会工作人员</a:t>
            </a:r>
            <a:endParaRPr lang="zh-CN" altLang="en-US" sz="2000" b="1" dirty="0"/>
          </a:p>
          <a:p>
            <a:pPr marL="0" indent="0">
              <a:lnSpc>
                <a:spcPct val="100000"/>
              </a:lnSpc>
              <a:spcBef>
                <a:spcPts val="1800"/>
              </a:spcBef>
              <a:buNone/>
            </a:pPr>
            <a:r>
              <a:rPr lang="en-US" altLang="zh-CN" sz="2000" b="1" dirty="0">
                <a:solidFill>
                  <a:srgbClr val="FF6600"/>
                </a:solidFill>
              </a:rPr>
              <a:t>Q6</a:t>
            </a:r>
            <a:r>
              <a:rPr lang="zh-CN" altLang="en-US" sz="2000" b="1" dirty="0">
                <a:solidFill>
                  <a:srgbClr val="FF6600"/>
                </a:solidFill>
              </a:rPr>
              <a:t>：参赛运动员的信息包括哪些内容呢？</a:t>
            </a:r>
            <a:endParaRPr lang="zh-CN" altLang="en-US" sz="2000" b="1" dirty="0">
              <a:solidFill>
                <a:srgbClr val="FF6600"/>
              </a:solidFill>
            </a:endParaRPr>
          </a:p>
          <a:p>
            <a:pPr marL="0" indent="0">
              <a:lnSpc>
                <a:spcPct val="100000"/>
              </a:lnSpc>
              <a:spcBef>
                <a:spcPts val="600"/>
              </a:spcBef>
              <a:buNone/>
            </a:pPr>
            <a:r>
              <a:rPr lang="en-US" altLang="zh-CN" sz="2000" dirty="0"/>
              <a:t>A6</a:t>
            </a:r>
            <a:r>
              <a:rPr lang="zh-CN" altLang="en-US" sz="2000" dirty="0"/>
              <a:t>：</a:t>
            </a:r>
            <a:r>
              <a:rPr lang="zh-CN" altLang="zh-CN" sz="2000" dirty="0"/>
              <a:t>参赛运动员的信息有：姓名，性别，年龄，赛事名称，参赛单位，运动员注册证号，竞赛项目名称，备注</a:t>
            </a:r>
            <a:r>
              <a:rPr lang="zh-CN" altLang="en-US" sz="2000" dirty="0"/>
              <a:t>。</a:t>
            </a:r>
            <a:endParaRPr lang="en-US" altLang="zh-CN" sz="2000" dirty="0"/>
          </a:p>
          <a:p>
            <a:pPr marL="0" indent="0">
              <a:lnSpc>
                <a:spcPct val="100000"/>
              </a:lnSpc>
              <a:spcBef>
                <a:spcPts val="600"/>
              </a:spcBef>
              <a:buNone/>
            </a:pPr>
            <a:r>
              <a:rPr lang="en-US" altLang="zh-CN" sz="2000" b="1" dirty="0">
                <a:solidFill>
                  <a:srgbClr val="FF6600"/>
                </a:solidFill>
              </a:rPr>
              <a:t>Q7</a:t>
            </a:r>
            <a:r>
              <a:rPr lang="zh-CN" altLang="en-US" sz="2000" b="1" dirty="0">
                <a:solidFill>
                  <a:srgbClr val="FF6600"/>
                </a:solidFill>
              </a:rPr>
              <a:t>：各省队提交的报名信息有时间限制么？</a:t>
            </a:r>
            <a:endParaRPr lang="zh-CN" altLang="en-US" sz="2000" b="1" dirty="0">
              <a:solidFill>
                <a:srgbClr val="FF6600"/>
              </a:solidFill>
            </a:endParaRPr>
          </a:p>
          <a:p>
            <a:pPr marL="0" indent="0">
              <a:lnSpc>
                <a:spcPct val="100000"/>
              </a:lnSpc>
              <a:spcBef>
                <a:spcPts val="600"/>
              </a:spcBef>
              <a:buNone/>
            </a:pPr>
            <a:r>
              <a:rPr lang="en-US" altLang="zh-CN" sz="2000" dirty="0"/>
              <a:t>A7</a:t>
            </a:r>
            <a:r>
              <a:rPr lang="zh-CN" altLang="en-US" sz="2000" dirty="0"/>
              <a:t>：在赛事报名截止时间之前都可以提交</a:t>
            </a:r>
            <a:r>
              <a:rPr lang="zh-CN" altLang="zh-CN" sz="2000" dirty="0"/>
              <a:t>。</a:t>
            </a:r>
            <a:endParaRPr lang="en-US" altLang="zh-CN" sz="2000" dirty="0"/>
          </a:p>
          <a:p>
            <a:pPr marL="0" indent="0">
              <a:lnSpc>
                <a:spcPct val="100000"/>
              </a:lnSpc>
              <a:spcBef>
                <a:spcPts val="600"/>
              </a:spcBef>
              <a:buNone/>
            </a:pPr>
            <a:r>
              <a:rPr lang="en-US" altLang="zh-CN" sz="2000" b="1" dirty="0">
                <a:solidFill>
                  <a:srgbClr val="FF6600"/>
                </a:solidFill>
              </a:rPr>
              <a:t>Q8</a:t>
            </a:r>
            <a:r>
              <a:rPr lang="zh-CN" altLang="en-US" sz="2000" b="1" dirty="0">
                <a:solidFill>
                  <a:srgbClr val="FF6600"/>
                </a:solidFill>
              </a:rPr>
              <a:t>：如果有运动员报名之后临时无法参加比赛可以取消报名么？</a:t>
            </a:r>
            <a:endParaRPr lang="zh-CN" altLang="en-US" sz="2000" b="1" dirty="0">
              <a:solidFill>
                <a:srgbClr val="FF6600"/>
              </a:solidFill>
            </a:endParaRPr>
          </a:p>
          <a:p>
            <a:pPr marL="0" indent="0">
              <a:lnSpc>
                <a:spcPct val="100000"/>
              </a:lnSpc>
              <a:spcBef>
                <a:spcPts val="600"/>
              </a:spcBef>
              <a:buNone/>
            </a:pPr>
            <a:r>
              <a:rPr lang="en-US" altLang="zh-CN" sz="2000" dirty="0"/>
              <a:t>A8</a:t>
            </a:r>
            <a:r>
              <a:rPr lang="zh-CN" altLang="en-US" sz="2000" dirty="0"/>
              <a:t>：如果无法参赛，在赛事报名截止时间之前可以取消报名。</a:t>
            </a:r>
            <a:endParaRPr lang="zh-CN" altLang="zh-CN" sz="2000" dirty="0"/>
          </a:p>
        </p:txBody>
      </p:sp>
      <p:sp>
        <p:nvSpPr>
          <p:cNvPr id="3" name="日期占位符 2"/>
          <p:cNvSpPr>
            <a:spLocks noGrp="1"/>
          </p:cNvSpPr>
          <p:nvPr>
            <p:ph type="dt" sz="half" idx="10"/>
          </p:nvPr>
        </p:nvSpPr>
        <p:spPr/>
        <p:txBody>
          <a:bodyPr/>
          <a:lstStyle/>
          <a:p>
            <a:fld id="{5902FD77-8323-485D-87E2-91A0E9C84954}"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a:p>
        </p:txBody>
      </p:sp>
      <p:sp>
        <p:nvSpPr>
          <p:cNvPr id="5" name="灯片编号占位符 4"/>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网上报名系统的第一次访谈提纲</a:t>
            </a:r>
            <a:endParaRPr lang="zh-CN" altLang="en-US" dirty="0"/>
          </a:p>
        </p:txBody>
      </p:sp>
      <p:sp>
        <p:nvSpPr>
          <p:cNvPr id="6" name="内容占位符 5"/>
          <p:cNvSpPr>
            <a:spLocks noGrp="1"/>
          </p:cNvSpPr>
          <p:nvPr>
            <p:ph idx="1"/>
          </p:nvPr>
        </p:nvSpPr>
        <p:spPr>
          <a:xfrm>
            <a:off x="768096" y="913479"/>
            <a:ext cx="8090154" cy="3806854"/>
          </a:xfrm>
        </p:spPr>
        <p:txBody>
          <a:bodyPr>
            <a:noAutofit/>
          </a:bodyPr>
          <a:lstStyle/>
          <a:p>
            <a:pPr>
              <a:lnSpc>
                <a:spcPct val="100000"/>
              </a:lnSpc>
              <a:spcBef>
                <a:spcPts val="600"/>
              </a:spcBef>
            </a:pPr>
            <a:r>
              <a:rPr lang="zh-CN" altLang="en-US" sz="2000" b="1" dirty="0"/>
              <a:t>访谈对象：中国赛艇协会工作人员</a:t>
            </a:r>
            <a:endParaRPr lang="zh-CN" altLang="en-US" sz="2000" b="1" dirty="0"/>
          </a:p>
          <a:p>
            <a:pPr marL="0" indent="0">
              <a:spcBef>
                <a:spcPts val="1800"/>
              </a:spcBef>
              <a:buNone/>
            </a:pPr>
            <a:r>
              <a:rPr lang="en-US" altLang="zh-CN" sz="2000" b="1" dirty="0">
                <a:solidFill>
                  <a:srgbClr val="FF6600"/>
                </a:solidFill>
              </a:rPr>
              <a:t>Q9</a:t>
            </a:r>
            <a:r>
              <a:rPr lang="zh-CN" altLang="en-US" sz="2000" b="1" dirty="0">
                <a:solidFill>
                  <a:srgbClr val="FF6600"/>
                </a:solidFill>
              </a:rPr>
              <a:t>：参赛单位信息也可以修改么？比如某医生或者某工作人员无法到达比赛现场？</a:t>
            </a:r>
            <a:endParaRPr lang="zh-CN" altLang="en-US" sz="2000" b="1" dirty="0">
              <a:solidFill>
                <a:srgbClr val="FF6600"/>
              </a:solidFill>
            </a:endParaRPr>
          </a:p>
          <a:p>
            <a:pPr marL="0" indent="0">
              <a:spcBef>
                <a:spcPts val="600"/>
              </a:spcBef>
              <a:buNone/>
            </a:pPr>
            <a:r>
              <a:rPr lang="en-US" altLang="zh-CN" sz="2000" dirty="0"/>
              <a:t>A9</a:t>
            </a:r>
            <a:r>
              <a:rPr lang="zh-CN" altLang="en-US" sz="2000" dirty="0"/>
              <a:t>：在赛事报名截止时间之前可以修改。</a:t>
            </a:r>
            <a:endParaRPr lang="en-US" altLang="zh-CN" sz="2000" dirty="0"/>
          </a:p>
          <a:p>
            <a:pPr marL="0" indent="0">
              <a:spcBef>
                <a:spcPts val="600"/>
              </a:spcBef>
              <a:buNone/>
            </a:pPr>
            <a:r>
              <a:rPr lang="en-US" altLang="zh-CN" sz="2000" b="1" dirty="0">
                <a:solidFill>
                  <a:srgbClr val="FF6600"/>
                </a:solidFill>
              </a:rPr>
              <a:t>Q10</a:t>
            </a:r>
            <a:r>
              <a:rPr lang="zh-CN" altLang="en-US" sz="2000" b="1" dirty="0">
                <a:solidFill>
                  <a:srgbClr val="FF6600"/>
                </a:solidFill>
              </a:rPr>
              <a:t>：各省队把报名信息提交给您之后，需要做哪些整理呢？</a:t>
            </a:r>
            <a:endParaRPr lang="zh-CN" altLang="en-US" sz="2000" b="1" dirty="0">
              <a:solidFill>
                <a:srgbClr val="FF6600"/>
              </a:solidFill>
            </a:endParaRPr>
          </a:p>
          <a:p>
            <a:pPr marL="0" indent="0">
              <a:spcBef>
                <a:spcPts val="600"/>
              </a:spcBef>
              <a:buNone/>
            </a:pPr>
            <a:r>
              <a:rPr lang="en-US" altLang="zh-CN" sz="2000" dirty="0"/>
              <a:t>A10</a:t>
            </a:r>
            <a:r>
              <a:rPr lang="zh-CN" altLang="en-US" sz="2000" dirty="0"/>
              <a:t>：我们会按照竞赛的项目、组别、参赛单位分别整理运动员报名表，根据赛事名称来整理参赛单位报名表。</a:t>
            </a:r>
            <a:endParaRPr lang="en-US" altLang="zh-CN" sz="2000" dirty="0"/>
          </a:p>
        </p:txBody>
      </p:sp>
      <p:sp>
        <p:nvSpPr>
          <p:cNvPr id="3" name="日期占位符 2"/>
          <p:cNvSpPr>
            <a:spLocks noGrp="1"/>
          </p:cNvSpPr>
          <p:nvPr>
            <p:ph type="dt" sz="half" idx="10"/>
          </p:nvPr>
        </p:nvSpPr>
        <p:spPr/>
        <p:txBody>
          <a:bodyPr/>
          <a:lstStyle/>
          <a:p>
            <a:fld id="{5902FD77-8323-485D-87E2-91A0E9C84954}"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a:p>
        </p:txBody>
      </p:sp>
      <p:sp>
        <p:nvSpPr>
          <p:cNvPr id="5" name="灯片编号占位符 4"/>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网上报名系统的第一次访谈提纲</a:t>
            </a:r>
            <a:endParaRPr lang="zh-CN" altLang="en-US" dirty="0"/>
          </a:p>
        </p:txBody>
      </p:sp>
      <p:sp>
        <p:nvSpPr>
          <p:cNvPr id="6" name="内容占位符 5"/>
          <p:cNvSpPr>
            <a:spLocks noGrp="1"/>
          </p:cNvSpPr>
          <p:nvPr>
            <p:ph idx="1"/>
          </p:nvPr>
        </p:nvSpPr>
        <p:spPr>
          <a:xfrm>
            <a:off x="768096" y="913479"/>
            <a:ext cx="8090154" cy="3806854"/>
          </a:xfrm>
        </p:spPr>
        <p:txBody>
          <a:bodyPr>
            <a:noAutofit/>
          </a:bodyPr>
          <a:lstStyle/>
          <a:p>
            <a:r>
              <a:rPr lang="zh-CN" altLang="en-US" sz="2000" b="1" dirty="0"/>
              <a:t>访谈对象：项目委托者</a:t>
            </a:r>
            <a:endParaRPr lang="zh-CN" altLang="en-US" sz="2000" b="1" dirty="0"/>
          </a:p>
          <a:p>
            <a:pPr marL="0" indent="0">
              <a:lnSpc>
                <a:spcPct val="100000"/>
              </a:lnSpc>
              <a:spcBef>
                <a:spcPts val="1800"/>
              </a:spcBef>
              <a:buNone/>
            </a:pPr>
            <a:r>
              <a:rPr lang="en-US" altLang="zh-CN" sz="2000" b="1" dirty="0">
                <a:solidFill>
                  <a:srgbClr val="FF6600"/>
                </a:solidFill>
              </a:rPr>
              <a:t>Q1</a:t>
            </a:r>
            <a:r>
              <a:rPr lang="zh-CN" altLang="en-US" sz="2000" b="1" dirty="0">
                <a:solidFill>
                  <a:srgbClr val="FF6600"/>
                </a:solidFill>
              </a:rPr>
              <a:t>：你好，我们想问一下您关于系统的一些情况。这个系统开发出来之后，供谁使用呢？</a:t>
            </a:r>
            <a:endParaRPr lang="zh-CN" altLang="en-US" sz="2000" b="1" dirty="0">
              <a:solidFill>
                <a:srgbClr val="FF6600"/>
              </a:solidFill>
            </a:endParaRPr>
          </a:p>
          <a:p>
            <a:pPr marL="0" indent="0">
              <a:spcBef>
                <a:spcPts val="600"/>
              </a:spcBef>
              <a:buNone/>
            </a:pPr>
            <a:r>
              <a:rPr lang="en-US" altLang="zh-CN" sz="2000" dirty="0"/>
              <a:t>A1</a:t>
            </a:r>
            <a:r>
              <a:rPr lang="zh-CN" altLang="en-US" sz="2000" dirty="0"/>
              <a:t>：各省队参赛报名负责人可以使用该系统进行网上报名，赛艇协会管理人员可以使用该系统发布赛事信息和做一些相应的管理工作，比如竞赛项目和运动员的管理工作。</a:t>
            </a:r>
            <a:endParaRPr lang="en-US" altLang="zh-CN" sz="2000" dirty="0"/>
          </a:p>
          <a:p>
            <a:pPr marL="0" indent="0">
              <a:spcBef>
                <a:spcPts val="600"/>
              </a:spcBef>
              <a:buNone/>
            </a:pPr>
            <a:r>
              <a:rPr lang="en-US" altLang="zh-CN" sz="2000" b="1" dirty="0">
                <a:solidFill>
                  <a:srgbClr val="FF6600"/>
                </a:solidFill>
              </a:rPr>
              <a:t>Q2</a:t>
            </a:r>
            <a:r>
              <a:rPr lang="zh-CN" altLang="en-US" sz="2000" b="1" dirty="0">
                <a:solidFill>
                  <a:srgbClr val="FF6600"/>
                </a:solidFill>
              </a:rPr>
              <a:t>：竞赛项目包括哪些内容呢？</a:t>
            </a:r>
            <a:endParaRPr lang="zh-CN" altLang="en-US" sz="2000" b="1" dirty="0">
              <a:solidFill>
                <a:srgbClr val="FF6600"/>
              </a:solidFill>
            </a:endParaRPr>
          </a:p>
          <a:p>
            <a:pPr marL="0" indent="0">
              <a:spcBef>
                <a:spcPts val="600"/>
              </a:spcBef>
              <a:buNone/>
            </a:pPr>
            <a:r>
              <a:rPr lang="en-US" altLang="zh-CN" sz="2000" dirty="0"/>
              <a:t>A2</a:t>
            </a:r>
            <a:r>
              <a:rPr lang="zh-CN" altLang="en-US" sz="2000" dirty="0"/>
              <a:t>：竞赛项目主要包括：竞赛项目名称，项目缩写，组别（男子，女子，男子轻量级，女子轻量级）</a:t>
            </a:r>
            <a:r>
              <a:rPr lang="zh-CN" altLang="zh-CN" sz="2000" dirty="0"/>
              <a:t>。</a:t>
            </a:r>
            <a:endParaRPr lang="zh-CN" altLang="en-US" sz="2000" dirty="0"/>
          </a:p>
        </p:txBody>
      </p:sp>
      <p:sp>
        <p:nvSpPr>
          <p:cNvPr id="3" name="日期占位符 2"/>
          <p:cNvSpPr>
            <a:spLocks noGrp="1"/>
          </p:cNvSpPr>
          <p:nvPr>
            <p:ph type="dt" sz="half" idx="10"/>
          </p:nvPr>
        </p:nvSpPr>
        <p:spPr/>
        <p:txBody>
          <a:bodyPr/>
          <a:lstStyle/>
          <a:p>
            <a:fld id="{5902FD77-8323-485D-87E2-91A0E9C84954}"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a:p>
        </p:txBody>
      </p:sp>
      <p:sp>
        <p:nvSpPr>
          <p:cNvPr id="5" name="灯片编号占位符 4"/>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网上报名系统的第一次访谈提纲</a:t>
            </a:r>
            <a:endParaRPr lang="zh-CN" altLang="en-US" dirty="0"/>
          </a:p>
        </p:txBody>
      </p:sp>
      <p:sp>
        <p:nvSpPr>
          <p:cNvPr id="6" name="内容占位符 5"/>
          <p:cNvSpPr>
            <a:spLocks noGrp="1"/>
          </p:cNvSpPr>
          <p:nvPr>
            <p:ph idx="1"/>
          </p:nvPr>
        </p:nvSpPr>
        <p:spPr>
          <a:xfrm>
            <a:off x="768096" y="913479"/>
            <a:ext cx="8090154" cy="3806854"/>
          </a:xfrm>
        </p:spPr>
        <p:txBody>
          <a:bodyPr>
            <a:noAutofit/>
          </a:bodyPr>
          <a:lstStyle/>
          <a:p>
            <a:r>
              <a:rPr lang="zh-CN" altLang="en-US" sz="2000" b="1" dirty="0"/>
              <a:t>访谈对象：项目委托者</a:t>
            </a:r>
            <a:endParaRPr lang="zh-CN" altLang="en-US" sz="2000" b="1" dirty="0"/>
          </a:p>
          <a:p>
            <a:pPr marL="0" indent="0">
              <a:lnSpc>
                <a:spcPct val="100000"/>
              </a:lnSpc>
              <a:spcBef>
                <a:spcPts val="1800"/>
              </a:spcBef>
              <a:buNone/>
            </a:pPr>
            <a:r>
              <a:rPr lang="en-US" altLang="zh-CN" sz="2000" b="1" dirty="0">
                <a:solidFill>
                  <a:srgbClr val="FF6600"/>
                </a:solidFill>
              </a:rPr>
              <a:t>Q3</a:t>
            </a:r>
            <a:r>
              <a:rPr lang="zh-CN" altLang="en-US" sz="2000" b="1" dirty="0">
                <a:solidFill>
                  <a:srgbClr val="FF6600"/>
                </a:solidFill>
              </a:rPr>
              <a:t>：运动员信息包括哪些呢？</a:t>
            </a:r>
            <a:endParaRPr lang="en-US" altLang="zh-CN" sz="2000" b="1" dirty="0">
              <a:solidFill>
                <a:srgbClr val="FF6600"/>
              </a:solidFill>
            </a:endParaRPr>
          </a:p>
          <a:p>
            <a:pPr marL="0" indent="0">
              <a:lnSpc>
                <a:spcPct val="100000"/>
              </a:lnSpc>
              <a:spcBef>
                <a:spcPts val="600"/>
              </a:spcBef>
              <a:buNone/>
            </a:pPr>
            <a:r>
              <a:rPr lang="en-US" altLang="zh-CN" sz="2000" dirty="0"/>
              <a:t>A3</a:t>
            </a:r>
            <a:r>
              <a:rPr lang="zh-CN" altLang="en-US" sz="2000" dirty="0"/>
              <a:t>：运动员信息包括：注册证号，姓名，性别，出生日期，所属单位，身份证号等</a:t>
            </a:r>
            <a:r>
              <a:rPr lang="zh-CN" altLang="zh-CN" sz="2000" dirty="0"/>
              <a:t>。</a:t>
            </a:r>
            <a:endParaRPr lang="zh-CN" altLang="en-US" sz="2000" dirty="0"/>
          </a:p>
          <a:p>
            <a:pPr marL="0" indent="0">
              <a:lnSpc>
                <a:spcPct val="100000"/>
              </a:lnSpc>
              <a:spcBef>
                <a:spcPts val="300"/>
              </a:spcBef>
              <a:buNone/>
            </a:pPr>
            <a:r>
              <a:rPr lang="en-US" altLang="zh-CN" sz="2000" b="1" dirty="0">
                <a:solidFill>
                  <a:srgbClr val="FF6600"/>
                </a:solidFill>
              </a:rPr>
              <a:t>Q4</a:t>
            </a:r>
            <a:r>
              <a:rPr lang="zh-CN" altLang="en-US" sz="2000" b="1" dirty="0">
                <a:solidFill>
                  <a:srgbClr val="FF6600"/>
                </a:solidFill>
              </a:rPr>
              <a:t>：各省队用户需要了解哪些信息呢？</a:t>
            </a:r>
            <a:endParaRPr lang="zh-CN" altLang="en-US" sz="2000" b="1" dirty="0">
              <a:solidFill>
                <a:srgbClr val="FF6600"/>
              </a:solidFill>
            </a:endParaRPr>
          </a:p>
          <a:p>
            <a:pPr marL="0" indent="0">
              <a:lnSpc>
                <a:spcPct val="100000"/>
              </a:lnSpc>
              <a:spcBef>
                <a:spcPts val="300"/>
              </a:spcBef>
              <a:buNone/>
            </a:pPr>
            <a:r>
              <a:rPr lang="en-US" altLang="zh-CN" sz="2000" dirty="0"/>
              <a:t>A4</a:t>
            </a:r>
            <a:r>
              <a:rPr lang="zh-CN" altLang="en-US" sz="2000" dirty="0"/>
              <a:t>：各省队参赛报名负责人的</a:t>
            </a:r>
            <a:r>
              <a:rPr lang="zh-CN" altLang="zh-CN" sz="2000" dirty="0"/>
              <a:t>真实姓名，联系电话，所属单位名称，单位地址，</a:t>
            </a:r>
            <a:r>
              <a:rPr lang="zh-CN" altLang="en-US" sz="2000" dirty="0"/>
              <a:t>单位</a:t>
            </a:r>
            <a:r>
              <a:rPr lang="zh-CN" altLang="zh-CN" sz="2000" dirty="0"/>
              <a:t>联系人，</a:t>
            </a:r>
            <a:r>
              <a:rPr lang="zh-CN" altLang="en-US" sz="2000" dirty="0"/>
              <a:t>单位</a:t>
            </a:r>
            <a:r>
              <a:rPr lang="zh-CN" altLang="zh-CN" sz="2000" dirty="0"/>
              <a:t>联系电话，邮编，传真。</a:t>
            </a:r>
            <a:endParaRPr lang="zh-CN" altLang="en-US" sz="2000" dirty="0"/>
          </a:p>
          <a:p>
            <a:pPr marL="0" indent="0">
              <a:lnSpc>
                <a:spcPct val="100000"/>
              </a:lnSpc>
              <a:spcBef>
                <a:spcPts val="300"/>
              </a:spcBef>
              <a:buNone/>
            </a:pPr>
            <a:r>
              <a:rPr lang="en-US" altLang="zh-CN" sz="2000" b="1" dirty="0">
                <a:solidFill>
                  <a:srgbClr val="FF6600"/>
                </a:solidFill>
              </a:rPr>
              <a:t>Q5</a:t>
            </a:r>
            <a:r>
              <a:rPr lang="zh-CN" altLang="en-US" sz="2000" b="1" dirty="0">
                <a:solidFill>
                  <a:srgbClr val="FF6600"/>
                </a:solidFill>
              </a:rPr>
              <a:t>：由各省队运动员的信息是由协会管理人员统一管理吗？</a:t>
            </a:r>
            <a:endParaRPr lang="zh-CN" altLang="en-US" sz="2000" b="1" dirty="0">
              <a:solidFill>
                <a:srgbClr val="FF6600"/>
              </a:solidFill>
            </a:endParaRPr>
          </a:p>
          <a:p>
            <a:pPr marL="0" indent="0">
              <a:lnSpc>
                <a:spcPct val="100000"/>
              </a:lnSpc>
              <a:spcBef>
                <a:spcPts val="300"/>
              </a:spcBef>
              <a:buNone/>
            </a:pPr>
            <a:r>
              <a:rPr lang="en-US" altLang="zh-CN" sz="2000" dirty="0"/>
              <a:t>A5</a:t>
            </a:r>
            <a:r>
              <a:rPr lang="zh-CN" altLang="en-US" sz="2000" dirty="0"/>
              <a:t>：各省运动员数量较多，如果全部由协会管理难度有点大，各省队用户可以添加运动员信息，协会管理人员也可以添加。</a:t>
            </a:r>
            <a:endParaRPr lang="en-US" altLang="zh-CN" sz="2000" dirty="0"/>
          </a:p>
        </p:txBody>
      </p:sp>
      <p:sp>
        <p:nvSpPr>
          <p:cNvPr id="3" name="日期占位符 2"/>
          <p:cNvSpPr>
            <a:spLocks noGrp="1"/>
          </p:cNvSpPr>
          <p:nvPr>
            <p:ph type="dt" sz="half" idx="10"/>
          </p:nvPr>
        </p:nvSpPr>
        <p:spPr/>
        <p:txBody>
          <a:bodyPr/>
          <a:lstStyle/>
          <a:p>
            <a:fld id="{5902FD77-8323-485D-87E2-91A0E9C84954}"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a:p>
        </p:txBody>
      </p:sp>
      <p:sp>
        <p:nvSpPr>
          <p:cNvPr id="5" name="灯片编号占位符 4"/>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99361" y="1007876"/>
            <a:ext cx="6831623" cy="461665"/>
          </a:xfrm>
          <a:prstGeom prst="rect">
            <a:avLst/>
          </a:prstGeom>
          <a:noFill/>
        </p:spPr>
        <p:txBody>
          <a:bodyPr wrap="square" rtlCol="0">
            <a:spAutoFit/>
          </a:bodyPr>
          <a:lstStyle/>
          <a:p>
            <a:pPr marL="386080" indent="-386080">
              <a:spcBef>
                <a:spcPts val="900"/>
              </a:spcBef>
              <a:buFont typeface="+mj-lt"/>
              <a:buAutoNum type="arabicPeriod"/>
              <a:defRPr/>
            </a:pPr>
            <a:r>
              <a:rPr lang="zh-CN" altLang="en-US" sz="2400" dirty="0">
                <a:solidFill>
                  <a:schemeClr val="accent2"/>
                </a:solidFill>
                <a:latin typeface="+mj-ea"/>
                <a:ea typeface="+mj-ea"/>
              </a:rPr>
              <a:t>业务访谈</a:t>
            </a:r>
            <a:endParaRPr lang="en-US" altLang="zh-CN" sz="2400" dirty="0">
              <a:solidFill>
                <a:schemeClr val="accent2"/>
              </a:solidFill>
              <a:latin typeface="+mj-ea"/>
              <a:ea typeface="+mj-ea"/>
            </a:endParaRPr>
          </a:p>
        </p:txBody>
      </p:sp>
      <p:sp>
        <p:nvSpPr>
          <p:cNvPr id="6" name="文本框 5"/>
          <p:cNvSpPr txBox="1"/>
          <p:nvPr/>
        </p:nvSpPr>
        <p:spPr>
          <a:xfrm>
            <a:off x="610904" y="1648504"/>
            <a:ext cx="4365381" cy="2893421"/>
          </a:xfrm>
          <a:prstGeom prst="rect">
            <a:avLst/>
          </a:prstGeom>
          <a:noFill/>
        </p:spPr>
        <p:txBody>
          <a:bodyPr wrap="square" rtlCol="0">
            <a:spAutoFit/>
          </a:bodyPr>
          <a:lstStyle/>
          <a:p>
            <a:pPr>
              <a:lnSpc>
                <a:spcPct val="110000"/>
              </a:lnSpc>
              <a:spcBef>
                <a:spcPts val="450"/>
              </a:spcBef>
            </a:pPr>
            <a:r>
              <a:rPr lang="zh-CN" altLang="en-US" dirty="0">
                <a:latin typeface="+mj-ea"/>
                <a:ea typeface="+mj-ea"/>
              </a:rPr>
              <a:t>网上报名系统的访谈记录如下：</a:t>
            </a:r>
            <a:endParaRPr lang="zh-CN" altLang="en-US" dirty="0">
              <a:latin typeface="+mj-ea"/>
              <a:ea typeface="+mj-ea"/>
            </a:endParaRPr>
          </a:p>
          <a:p>
            <a:pPr>
              <a:lnSpc>
                <a:spcPct val="110000"/>
              </a:lnSpc>
              <a:spcBef>
                <a:spcPts val="450"/>
              </a:spcBef>
            </a:pPr>
            <a:r>
              <a:rPr lang="en-US" altLang="zh-CN" dirty="0">
                <a:latin typeface="+mj-ea"/>
                <a:ea typeface="+mj-ea"/>
              </a:rPr>
              <a:t>1. </a:t>
            </a:r>
            <a:r>
              <a:rPr lang="zh-CN" altLang="en-US" dirty="0">
                <a:latin typeface="+mj-ea"/>
                <a:ea typeface="+mj-ea"/>
              </a:rPr>
              <a:t>用户：各省队参赛报名负责人和中国皮划艇协会管理人员。</a:t>
            </a:r>
            <a:endParaRPr lang="en-US" altLang="zh-CN" dirty="0">
              <a:latin typeface="+mj-ea"/>
              <a:ea typeface="+mj-ea"/>
            </a:endParaRPr>
          </a:p>
          <a:p>
            <a:pPr>
              <a:lnSpc>
                <a:spcPct val="110000"/>
              </a:lnSpc>
              <a:spcBef>
                <a:spcPts val="450"/>
              </a:spcBef>
            </a:pPr>
            <a:r>
              <a:rPr lang="en-US" altLang="zh-CN" dirty="0">
                <a:latin typeface="+mj-ea"/>
                <a:ea typeface="+mj-ea"/>
              </a:rPr>
              <a:t>2. </a:t>
            </a:r>
            <a:r>
              <a:rPr lang="zh-CN" altLang="en-US" dirty="0">
                <a:latin typeface="+mj-ea"/>
                <a:ea typeface="+mj-ea"/>
              </a:rPr>
              <a:t>各省队参赛报名负责人的主要业务：</a:t>
            </a:r>
            <a:endParaRPr lang="en-US" altLang="zh-CN" dirty="0">
              <a:latin typeface="+mj-ea"/>
              <a:ea typeface="+mj-ea"/>
            </a:endParaRPr>
          </a:p>
          <a:p>
            <a:pPr>
              <a:lnSpc>
                <a:spcPct val="110000"/>
              </a:lnSpc>
              <a:spcBef>
                <a:spcPts val="450"/>
              </a:spcBef>
            </a:pPr>
            <a:r>
              <a:rPr lang="zh-CN" altLang="zh-CN" dirty="0">
                <a:latin typeface="+mj-ea"/>
                <a:ea typeface="+mj-ea"/>
              </a:rPr>
              <a:t>（</a:t>
            </a:r>
            <a:r>
              <a:rPr lang="en-US" altLang="zh-CN" dirty="0">
                <a:latin typeface="+mj-ea"/>
                <a:ea typeface="+mj-ea"/>
              </a:rPr>
              <a:t>1</a:t>
            </a:r>
            <a:r>
              <a:rPr lang="zh-CN" altLang="zh-CN" dirty="0">
                <a:latin typeface="+mj-ea"/>
                <a:ea typeface="+mj-ea"/>
              </a:rPr>
              <a:t>）</a:t>
            </a:r>
            <a:r>
              <a:rPr lang="zh-CN" altLang="en-US" dirty="0">
                <a:latin typeface="+mj-ea"/>
                <a:ea typeface="+mj-ea"/>
              </a:rPr>
              <a:t>查看赛事信息</a:t>
            </a:r>
            <a:endParaRPr lang="en-US" altLang="zh-CN" dirty="0">
              <a:latin typeface="+mj-ea"/>
              <a:ea typeface="+mj-ea"/>
            </a:endParaRPr>
          </a:p>
          <a:p>
            <a:pPr>
              <a:lnSpc>
                <a:spcPct val="110000"/>
              </a:lnSpc>
              <a:spcBef>
                <a:spcPts val="450"/>
              </a:spcBef>
            </a:pPr>
            <a:r>
              <a:rPr lang="zh-CN" altLang="zh-CN" dirty="0">
                <a:latin typeface="+mj-ea"/>
                <a:ea typeface="+mj-ea"/>
              </a:rPr>
              <a:t>（</a:t>
            </a:r>
            <a:r>
              <a:rPr lang="en-US" altLang="zh-CN" dirty="0">
                <a:latin typeface="+mj-ea"/>
                <a:ea typeface="+mj-ea"/>
              </a:rPr>
              <a:t>2</a:t>
            </a:r>
            <a:r>
              <a:rPr lang="zh-CN" altLang="zh-CN" dirty="0">
                <a:latin typeface="+mj-ea"/>
                <a:ea typeface="+mj-ea"/>
              </a:rPr>
              <a:t>）</a:t>
            </a:r>
            <a:r>
              <a:rPr lang="zh-CN" altLang="en-US" dirty="0">
                <a:latin typeface="+mj-ea"/>
                <a:ea typeface="+mj-ea"/>
              </a:rPr>
              <a:t>报名</a:t>
            </a:r>
            <a:r>
              <a:rPr lang="zh-CN" altLang="zh-CN" dirty="0">
                <a:latin typeface="+mj-ea"/>
                <a:ea typeface="+mj-ea"/>
              </a:rPr>
              <a:t>：</a:t>
            </a:r>
            <a:endParaRPr lang="en-US" altLang="zh-CN" dirty="0">
              <a:latin typeface="+mj-ea"/>
              <a:ea typeface="+mj-ea"/>
            </a:endParaRPr>
          </a:p>
          <a:p>
            <a:pPr marL="82550">
              <a:lnSpc>
                <a:spcPct val="110000"/>
              </a:lnSpc>
              <a:spcBef>
                <a:spcPts val="450"/>
              </a:spcBef>
            </a:pPr>
            <a:r>
              <a:rPr lang="en-US" altLang="zh-CN" dirty="0">
                <a:latin typeface="+mj-ea"/>
                <a:ea typeface="+mj-ea"/>
              </a:rPr>
              <a:t>          </a:t>
            </a:r>
            <a:r>
              <a:rPr lang="en-US" altLang="zh-CN" dirty="0" err="1">
                <a:latin typeface="+mj-ea"/>
                <a:ea typeface="+mj-ea"/>
              </a:rPr>
              <a:t>i</a:t>
            </a:r>
            <a:r>
              <a:rPr lang="zh-CN" altLang="en-US" dirty="0">
                <a:latin typeface="+mj-ea"/>
                <a:ea typeface="+mj-ea"/>
              </a:rPr>
              <a:t>）参赛单位信息填报和修改</a:t>
            </a:r>
            <a:endParaRPr lang="en-US" altLang="zh-CN" dirty="0">
              <a:latin typeface="+mj-ea"/>
              <a:ea typeface="+mj-ea"/>
            </a:endParaRPr>
          </a:p>
          <a:p>
            <a:pPr marL="82550">
              <a:lnSpc>
                <a:spcPct val="110000"/>
              </a:lnSpc>
              <a:spcBef>
                <a:spcPts val="450"/>
              </a:spcBef>
            </a:pPr>
            <a:r>
              <a:rPr lang="en-US" altLang="zh-CN" dirty="0">
                <a:latin typeface="+mj-ea"/>
                <a:ea typeface="+mj-ea"/>
              </a:rPr>
              <a:t>          ii</a:t>
            </a:r>
            <a:r>
              <a:rPr lang="zh-CN" altLang="en-US" dirty="0">
                <a:latin typeface="+mj-ea"/>
                <a:ea typeface="+mj-ea"/>
              </a:rPr>
              <a:t>）参赛运动员信息填报和修改</a:t>
            </a:r>
            <a:endParaRPr lang="en-US" altLang="zh-CN" dirty="0">
              <a:latin typeface="+mj-ea"/>
              <a:ea typeface="+mj-ea"/>
            </a:endParaRPr>
          </a:p>
        </p:txBody>
      </p:sp>
      <p:sp>
        <p:nvSpPr>
          <p:cNvPr id="7" name="文本框 6"/>
          <p:cNvSpPr txBox="1"/>
          <p:nvPr/>
        </p:nvSpPr>
        <p:spPr>
          <a:xfrm>
            <a:off x="4976285" y="1147721"/>
            <a:ext cx="3683977" cy="3262240"/>
          </a:xfrm>
          <a:prstGeom prst="rect">
            <a:avLst/>
          </a:prstGeom>
          <a:noFill/>
        </p:spPr>
        <p:txBody>
          <a:bodyPr wrap="square" rtlCol="0">
            <a:spAutoFit/>
          </a:bodyPr>
          <a:lstStyle/>
          <a:p>
            <a:pPr>
              <a:lnSpc>
                <a:spcPct val="110000"/>
              </a:lnSpc>
              <a:spcBef>
                <a:spcPts val="450"/>
              </a:spcBef>
            </a:pPr>
            <a:r>
              <a:rPr lang="en-US" altLang="zh-CN" dirty="0">
                <a:latin typeface="+mj-ea"/>
                <a:ea typeface="+mj-ea"/>
              </a:rPr>
              <a:t>3. </a:t>
            </a:r>
            <a:r>
              <a:rPr lang="zh-CN" altLang="en-US" dirty="0">
                <a:latin typeface="+mj-ea"/>
                <a:ea typeface="+mj-ea"/>
              </a:rPr>
              <a:t>中国皮划艇协会管理人员的主要业务：</a:t>
            </a:r>
            <a:endParaRPr lang="zh-CN" altLang="en-US" dirty="0">
              <a:latin typeface="+mj-ea"/>
              <a:ea typeface="+mj-ea"/>
            </a:endParaRPr>
          </a:p>
          <a:p>
            <a:pPr>
              <a:lnSpc>
                <a:spcPct val="110000"/>
              </a:lnSpc>
              <a:spcBef>
                <a:spcPts val="450"/>
              </a:spcBef>
            </a:pPr>
            <a:r>
              <a:rPr lang="zh-CN" altLang="en-US" dirty="0">
                <a:latin typeface="+mj-ea"/>
                <a:ea typeface="+mj-ea"/>
              </a:rPr>
              <a:t>（</a:t>
            </a:r>
            <a:r>
              <a:rPr lang="en-US" altLang="zh-CN" dirty="0">
                <a:latin typeface="+mj-ea"/>
                <a:ea typeface="+mj-ea"/>
              </a:rPr>
              <a:t>1</a:t>
            </a:r>
            <a:r>
              <a:rPr lang="zh-CN" altLang="en-US" dirty="0">
                <a:latin typeface="+mj-ea"/>
                <a:ea typeface="+mj-ea"/>
              </a:rPr>
              <a:t>）各省队用户管理</a:t>
            </a:r>
            <a:endParaRPr lang="zh-CN" altLang="en-US" dirty="0">
              <a:latin typeface="+mj-ea"/>
              <a:ea typeface="+mj-ea"/>
            </a:endParaRPr>
          </a:p>
          <a:p>
            <a:pPr>
              <a:lnSpc>
                <a:spcPct val="110000"/>
              </a:lnSpc>
              <a:spcBef>
                <a:spcPts val="450"/>
              </a:spcBef>
            </a:pPr>
            <a:r>
              <a:rPr lang="zh-CN" altLang="en-US" dirty="0">
                <a:latin typeface="+mj-ea"/>
                <a:ea typeface="+mj-ea"/>
              </a:rPr>
              <a:t>（</a:t>
            </a:r>
            <a:r>
              <a:rPr lang="en-US" altLang="zh-CN" dirty="0">
                <a:latin typeface="+mj-ea"/>
                <a:ea typeface="+mj-ea"/>
              </a:rPr>
              <a:t>2</a:t>
            </a:r>
            <a:r>
              <a:rPr lang="zh-CN" altLang="en-US" dirty="0">
                <a:latin typeface="+mj-ea"/>
                <a:ea typeface="+mj-ea"/>
              </a:rPr>
              <a:t>）运动员管理</a:t>
            </a:r>
            <a:endParaRPr lang="zh-CN" altLang="en-US" dirty="0">
              <a:latin typeface="+mj-ea"/>
              <a:ea typeface="+mj-ea"/>
            </a:endParaRPr>
          </a:p>
          <a:p>
            <a:pPr>
              <a:lnSpc>
                <a:spcPct val="110000"/>
              </a:lnSpc>
              <a:spcBef>
                <a:spcPts val="450"/>
              </a:spcBef>
            </a:pPr>
            <a:r>
              <a:rPr lang="zh-CN" altLang="en-US" dirty="0">
                <a:latin typeface="+mj-ea"/>
                <a:ea typeface="+mj-ea"/>
              </a:rPr>
              <a:t>（</a:t>
            </a:r>
            <a:r>
              <a:rPr lang="en-US" altLang="zh-CN" dirty="0">
                <a:latin typeface="+mj-ea"/>
                <a:ea typeface="+mj-ea"/>
              </a:rPr>
              <a:t>3</a:t>
            </a:r>
            <a:r>
              <a:rPr lang="zh-CN" altLang="en-US" dirty="0">
                <a:latin typeface="+mj-ea"/>
                <a:ea typeface="+mj-ea"/>
              </a:rPr>
              <a:t>）报名管理</a:t>
            </a:r>
            <a:endParaRPr lang="zh-CN" altLang="en-US" dirty="0">
              <a:latin typeface="+mj-ea"/>
              <a:ea typeface="+mj-ea"/>
            </a:endParaRPr>
          </a:p>
          <a:p>
            <a:pPr>
              <a:lnSpc>
                <a:spcPct val="110000"/>
              </a:lnSpc>
              <a:spcBef>
                <a:spcPts val="450"/>
              </a:spcBef>
            </a:pPr>
            <a:r>
              <a:rPr lang="zh-CN" altLang="en-US" dirty="0">
                <a:latin typeface="+mj-ea"/>
                <a:ea typeface="+mj-ea"/>
              </a:rPr>
              <a:t>          </a:t>
            </a:r>
            <a:r>
              <a:rPr lang="en-US" altLang="zh-CN" dirty="0" err="1">
                <a:latin typeface="+mj-ea"/>
                <a:ea typeface="+mj-ea"/>
              </a:rPr>
              <a:t>i</a:t>
            </a:r>
            <a:r>
              <a:rPr lang="zh-CN" altLang="en-US" dirty="0">
                <a:latin typeface="+mj-ea"/>
                <a:ea typeface="+mj-ea"/>
              </a:rPr>
              <a:t>）报名单位信息</a:t>
            </a:r>
            <a:endParaRPr lang="zh-CN" altLang="en-US" dirty="0">
              <a:latin typeface="+mj-ea"/>
              <a:ea typeface="+mj-ea"/>
            </a:endParaRPr>
          </a:p>
          <a:p>
            <a:pPr>
              <a:lnSpc>
                <a:spcPct val="110000"/>
              </a:lnSpc>
              <a:spcBef>
                <a:spcPts val="450"/>
              </a:spcBef>
            </a:pPr>
            <a:r>
              <a:rPr lang="zh-CN" altLang="en-US" dirty="0">
                <a:latin typeface="+mj-ea"/>
                <a:ea typeface="+mj-ea"/>
              </a:rPr>
              <a:t>          </a:t>
            </a:r>
            <a:r>
              <a:rPr lang="en-US" altLang="zh-CN" dirty="0">
                <a:latin typeface="+mj-ea"/>
                <a:ea typeface="+mj-ea"/>
              </a:rPr>
              <a:t>ii</a:t>
            </a:r>
            <a:r>
              <a:rPr lang="zh-CN" altLang="en-US" dirty="0">
                <a:latin typeface="+mj-ea"/>
                <a:ea typeface="+mj-ea"/>
              </a:rPr>
              <a:t>）报名运动员信息</a:t>
            </a:r>
            <a:endParaRPr lang="zh-CN" altLang="en-US" dirty="0">
              <a:latin typeface="+mj-ea"/>
              <a:ea typeface="+mj-ea"/>
            </a:endParaRPr>
          </a:p>
          <a:p>
            <a:pPr>
              <a:lnSpc>
                <a:spcPct val="110000"/>
              </a:lnSpc>
              <a:spcBef>
                <a:spcPts val="450"/>
              </a:spcBef>
            </a:pPr>
            <a:r>
              <a:rPr lang="zh-CN" altLang="en-US" dirty="0">
                <a:latin typeface="+mj-ea"/>
                <a:ea typeface="+mj-ea"/>
              </a:rPr>
              <a:t>（</a:t>
            </a:r>
            <a:r>
              <a:rPr lang="en-US" altLang="zh-CN" dirty="0">
                <a:latin typeface="+mj-ea"/>
                <a:ea typeface="+mj-ea"/>
              </a:rPr>
              <a:t>4</a:t>
            </a:r>
            <a:r>
              <a:rPr lang="zh-CN" altLang="en-US" dirty="0">
                <a:latin typeface="+mj-ea"/>
                <a:ea typeface="+mj-ea"/>
              </a:rPr>
              <a:t>）赛事管理</a:t>
            </a:r>
            <a:endParaRPr lang="zh-CN" altLang="en-US" dirty="0">
              <a:latin typeface="+mj-ea"/>
              <a:ea typeface="+mj-ea"/>
            </a:endParaRPr>
          </a:p>
          <a:p>
            <a:pPr>
              <a:lnSpc>
                <a:spcPct val="110000"/>
              </a:lnSpc>
              <a:spcBef>
                <a:spcPts val="450"/>
              </a:spcBef>
            </a:pPr>
            <a:r>
              <a:rPr lang="zh-CN" altLang="en-US" dirty="0">
                <a:latin typeface="+mj-ea"/>
                <a:ea typeface="+mj-ea"/>
              </a:rPr>
              <a:t>          </a:t>
            </a:r>
            <a:r>
              <a:rPr lang="en-US" altLang="zh-CN" dirty="0" err="1">
                <a:latin typeface="+mj-ea"/>
                <a:ea typeface="+mj-ea"/>
              </a:rPr>
              <a:t>i</a:t>
            </a:r>
            <a:r>
              <a:rPr lang="zh-CN" altLang="en-US" dirty="0">
                <a:latin typeface="+mj-ea"/>
                <a:ea typeface="+mj-ea"/>
              </a:rPr>
              <a:t>）赛事基本信息</a:t>
            </a:r>
            <a:endParaRPr lang="zh-CN" altLang="en-US" dirty="0">
              <a:latin typeface="+mj-ea"/>
              <a:ea typeface="+mj-ea"/>
            </a:endParaRPr>
          </a:p>
        </p:txBody>
      </p:sp>
      <p:sp>
        <p:nvSpPr>
          <p:cNvPr id="4" name="标题 3"/>
          <p:cNvSpPr>
            <a:spLocks noGrp="1"/>
          </p:cNvSpPr>
          <p:nvPr>
            <p:ph type="title"/>
          </p:nvPr>
        </p:nvSpPr>
        <p:spPr/>
        <p:txBody>
          <a:bodyPr/>
          <a:lstStyle/>
          <a:p>
            <a:r>
              <a:rPr lang="zh-CN" altLang="en-US" kern="100" dirty="0">
                <a:latin typeface="+mn-ea"/>
                <a:cs typeface="Times New Roman" panose="02020603050405020304" pitchFamily="18" charset="0"/>
              </a:rPr>
              <a:t>网上报名系统的第一次访谈记录（节选）</a:t>
            </a:r>
            <a:endParaRPr lang="zh-CN" altLang="en-US" dirty="0"/>
          </a:p>
        </p:txBody>
      </p:sp>
      <p:sp>
        <p:nvSpPr>
          <p:cNvPr id="5" name="日期占位符 4"/>
          <p:cNvSpPr>
            <a:spLocks noGrp="1"/>
          </p:cNvSpPr>
          <p:nvPr>
            <p:ph type="dt" sz="half" idx="10"/>
          </p:nvPr>
        </p:nvSpPr>
        <p:spPr/>
        <p:txBody>
          <a:bodyPr/>
          <a:lstStyle/>
          <a:p>
            <a:fld id="{37333D0E-4F84-40A7-BEE1-01ACAF56FD80}" type="datetime1">
              <a:rPr lang="zh-CN" altLang="en-US" smtClean="0"/>
            </a:fld>
            <a:endParaRPr lang="zh-CN" altLang="en-US"/>
          </a:p>
        </p:txBody>
      </p:sp>
      <p:sp>
        <p:nvSpPr>
          <p:cNvPr id="8" name="页脚占位符 7"/>
          <p:cNvSpPr>
            <a:spLocks noGrp="1"/>
          </p:cNvSpPr>
          <p:nvPr>
            <p:ph type="ftr" sz="quarter" idx="11"/>
          </p:nvPr>
        </p:nvSpPr>
        <p:spPr/>
        <p:txBody>
          <a:bodyPr/>
          <a:lstStyle/>
          <a:p>
            <a:r>
              <a:rPr lang="zh-CN" altLang="en-US"/>
              <a:t>软件工程</a:t>
            </a:r>
            <a:endParaRPr lang="zh-CN" altLang="en-US"/>
          </a:p>
        </p:txBody>
      </p:sp>
      <p:sp>
        <p:nvSpPr>
          <p:cNvPr id="9" name="灯片编号占位符 8"/>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99364" y="1010859"/>
            <a:ext cx="6831623" cy="461665"/>
          </a:xfrm>
          <a:prstGeom prst="rect">
            <a:avLst/>
          </a:prstGeom>
          <a:noFill/>
        </p:spPr>
        <p:txBody>
          <a:bodyPr wrap="square" rtlCol="0">
            <a:spAutoFit/>
          </a:bodyPr>
          <a:lstStyle/>
          <a:p>
            <a:pPr marL="386080" indent="-386080">
              <a:spcBef>
                <a:spcPts val="900"/>
              </a:spcBef>
              <a:buFont typeface="+mj-lt"/>
              <a:buAutoNum type="arabicPeriod"/>
              <a:defRPr/>
            </a:pPr>
            <a:r>
              <a:rPr lang="zh-CN" altLang="en-US" sz="2400" dirty="0">
                <a:solidFill>
                  <a:schemeClr val="accent2"/>
                </a:solidFill>
                <a:latin typeface="+mj-ea"/>
                <a:ea typeface="+mj-ea"/>
              </a:rPr>
              <a:t>业务访谈</a:t>
            </a:r>
            <a:endParaRPr lang="en-US" altLang="zh-CN" sz="2400" dirty="0">
              <a:solidFill>
                <a:schemeClr val="accent2"/>
              </a:solidFill>
              <a:latin typeface="+mj-ea"/>
              <a:ea typeface="+mj-ea"/>
            </a:endParaRPr>
          </a:p>
        </p:txBody>
      </p:sp>
      <p:pic>
        <p:nvPicPr>
          <p:cNvPr id="6" name="图片 5"/>
          <p:cNvPicPr>
            <a:picLocks noChangeAspect="1"/>
          </p:cNvPicPr>
          <p:nvPr/>
        </p:nvPicPr>
        <p:blipFill>
          <a:blip r:embed="rId1">
            <a:clrChange>
              <a:clrFrom>
                <a:srgbClr val="FFFFFF"/>
              </a:clrFrom>
              <a:clrTo>
                <a:srgbClr val="FFFFFF">
                  <a:alpha val="0"/>
                </a:srgbClr>
              </a:clrTo>
            </a:clrChange>
          </a:blip>
          <a:stretch>
            <a:fillRect/>
          </a:stretch>
        </p:blipFill>
        <p:spPr>
          <a:xfrm>
            <a:off x="174557" y="1608303"/>
            <a:ext cx="5502900" cy="2903539"/>
          </a:xfrm>
          <a:prstGeom prst="rect">
            <a:avLst/>
          </a:prstGeom>
        </p:spPr>
      </p:pic>
      <p:pic>
        <p:nvPicPr>
          <p:cNvPr id="8" name="图片 7"/>
          <p:cNvPicPr>
            <a:picLocks noChangeAspect="1"/>
          </p:cNvPicPr>
          <p:nvPr/>
        </p:nvPicPr>
        <p:blipFill>
          <a:blip r:embed="rId2">
            <a:clrChange>
              <a:clrFrom>
                <a:srgbClr val="FFFFFF"/>
              </a:clrFrom>
              <a:clrTo>
                <a:srgbClr val="FFFFFF">
                  <a:alpha val="0"/>
                </a:srgbClr>
              </a:clrTo>
            </a:clrChange>
          </a:blip>
          <a:stretch>
            <a:fillRect/>
          </a:stretch>
        </p:blipFill>
        <p:spPr>
          <a:xfrm>
            <a:off x="5569173" y="1218608"/>
            <a:ext cx="3466543" cy="1944199"/>
          </a:xfrm>
          <a:prstGeom prst="rect">
            <a:avLst/>
          </a:prstGeom>
        </p:spPr>
      </p:pic>
      <p:sp>
        <p:nvSpPr>
          <p:cNvPr id="4" name="标题 3"/>
          <p:cNvSpPr>
            <a:spLocks noGrp="1"/>
          </p:cNvSpPr>
          <p:nvPr>
            <p:ph type="title"/>
          </p:nvPr>
        </p:nvSpPr>
        <p:spPr/>
        <p:txBody>
          <a:bodyPr/>
          <a:lstStyle/>
          <a:p>
            <a:r>
              <a:rPr lang="zh-CN" altLang="en-US" kern="100" dirty="0">
                <a:latin typeface="+mn-ea"/>
                <a:cs typeface="Times New Roman" panose="02020603050405020304" pitchFamily="18" charset="0"/>
              </a:rPr>
              <a:t>网上报名系统的第一次访谈记录（节选）</a:t>
            </a:r>
            <a:endParaRPr lang="zh-CN" altLang="en-US" dirty="0"/>
          </a:p>
        </p:txBody>
      </p:sp>
      <p:sp>
        <p:nvSpPr>
          <p:cNvPr id="5" name="日期占位符 4"/>
          <p:cNvSpPr>
            <a:spLocks noGrp="1"/>
          </p:cNvSpPr>
          <p:nvPr>
            <p:ph type="dt" sz="half" idx="10"/>
          </p:nvPr>
        </p:nvSpPr>
        <p:spPr/>
        <p:txBody>
          <a:bodyPr/>
          <a:lstStyle/>
          <a:p>
            <a:fld id="{ED46E9C7-745E-40B1-A7F0-FD96A0AAC0A4}" type="datetime1">
              <a:rPr lang="zh-CN" altLang="en-US" smtClean="0"/>
            </a:fld>
            <a:endParaRPr lang="zh-CN" altLang="en-US"/>
          </a:p>
        </p:txBody>
      </p:sp>
      <p:sp>
        <p:nvSpPr>
          <p:cNvPr id="7" name="页脚占位符 6"/>
          <p:cNvSpPr>
            <a:spLocks noGrp="1"/>
          </p:cNvSpPr>
          <p:nvPr>
            <p:ph type="ftr" sz="quarter" idx="11"/>
          </p:nvPr>
        </p:nvSpPr>
        <p:spPr/>
        <p:txBody>
          <a:bodyPr/>
          <a:lstStyle/>
          <a:p>
            <a:r>
              <a:rPr lang="zh-CN" altLang="en-US"/>
              <a:t>软件工程</a:t>
            </a:r>
            <a:endParaRPr lang="zh-CN" altLang="en-US"/>
          </a:p>
        </p:txBody>
      </p:sp>
      <p:sp>
        <p:nvSpPr>
          <p:cNvPr id="9" name="灯片编号占位符 8"/>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访谈需要注意的是</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5" name="文本占位符 4"/>
          <p:cNvSpPr>
            <a:spLocks noGrp="1"/>
          </p:cNvSpPr>
          <p:nvPr>
            <p:ph type="body" sz="quarter" idx="4294967295"/>
          </p:nvPr>
        </p:nvSpPr>
        <p:spPr>
          <a:xfrm>
            <a:off x="757988" y="1009650"/>
            <a:ext cx="8100262" cy="3546475"/>
          </a:xfrm>
        </p:spPr>
        <p:txBody>
          <a:bodyPr>
            <a:normAutofit/>
          </a:bodyPr>
          <a:lstStyle/>
          <a:p>
            <a:pPr>
              <a:lnSpc>
                <a:spcPct val="130000"/>
              </a:lnSpc>
              <a:spcBef>
                <a:spcPts val="900"/>
              </a:spcBef>
            </a:pPr>
            <a:r>
              <a:rPr lang="zh-CN" altLang="en-US" sz="2400" dirty="0"/>
              <a:t>选择关键人物进行访谈。</a:t>
            </a:r>
            <a:endParaRPr lang="zh-CN" altLang="en-US" sz="2400" dirty="0"/>
          </a:p>
          <a:p>
            <a:pPr>
              <a:lnSpc>
                <a:spcPct val="130000"/>
              </a:lnSpc>
              <a:spcBef>
                <a:spcPts val="900"/>
              </a:spcBef>
            </a:pPr>
            <a:r>
              <a:rPr lang="zh-CN" altLang="en-US" sz="2400" dirty="0"/>
              <a:t>访谈的记录要条例清晰，真实有效。</a:t>
            </a:r>
            <a:endParaRPr lang="en-US" altLang="zh-CN" sz="2400" dirty="0"/>
          </a:p>
          <a:p>
            <a:pPr>
              <a:lnSpc>
                <a:spcPct val="130000"/>
              </a:lnSpc>
              <a:spcBef>
                <a:spcPts val="900"/>
              </a:spcBef>
            </a:pPr>
            <a:r>
              <a:rPr lang="zh-CN" altLang="en-US" sz="2400" dirty="0"/>
              <a:t>根据实际的情况，访谈可能会进行很多次，直到</a:t>
            </a:r>
            <a:r>
              <a:rPr lang="zh-CN" altLang="en-US" sz="2400" b="1" dirty="0">
                <a:solidFill>
                  <a:srgbClr val="FF0000"/>
                </a:solidFill>
              </a:rPr>
              <a:t>确实明确用户的需求</a:t>
            </a:r>
            <a:r>
              <a:rPr lang="zh-CN" altLang="en-US" sz="2400" dirty="0"/>
              <a:t>。</a:t>
            </a:r>
            <a:endParaRPr lang="zh-CN" altLang="en-US" sz="2400" dirty="0"/>
          </a:p>
          <a:p>
            <a:pPr>
              <a:lnSpc>
                <a:spcPct val="130000"/>
              </a:lnSpc>
              <a:spcBef>
                <a:spcPts val="900"/>
              </a:spcBef>
            </a:pPr>
            <a:r>
              <a:rPr lang="zh-CN" altLang="en-US" sz="2400" dirty="0"/>
              <a:t>注意应对需求的变化。</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up)">
                                      <p:cBhvr>
                                        <p:cTn id="7" dur="500"/>
                                        <p:tgtEl>
                                          <p:spTgt spid="5">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Effect transition="in" filter="wipe(up)">
                                      <p:cBhvr>
                                        <p:cTn id="11" dur="500"/>
                                        <p:tgtEl>
                                          <p:spTgt spid="5">
                                            <p:txEl>
                                              <p:pRg st="1" end="1"/>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wipe(up)">
                                      <p:cBhvr>
                                        <p:cTn id="15" dur="500"/>
                                        <p:tgtEl>
                                          <p:spTgt spid="5">
                                            <p:txEl>
                                              <p:pRg st="2" end="2"/>
                                            </p:txEl>
                                          </p:spTgt>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Effect transition="in" filter="wipe(up)">
                                      <p:cBhvr>
                                        <p:cTn id="19"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本项目中增加的需求</a:t>
            </a:r>
            <a:endParaRPr lang="zh-CN" altLang="en-US" dirty="0"/>
          </a:p>
        </p:txBody>
      </p:sp>
      <p:sp>
        <p:nvSpPr>
          <p:cNvPr id="7" name="内容占位符 6"/>
          <p:cNvSpPr>
            <a:spLocks noGrp="1"/>
          </p:cNvSpPr>
          <p:nvPr>
            <p:ph idx="1"/>
          </p:nvPr>
        </p:nvSpPr>
        <p:spPr>
          <a:xfrm>
            <a:off x="938463" y="1070811"/>
            <a:ext cx="7662467" cy="3284621"/>
          </a:xfrm>
        </p:spPr>
        <p:txBody>
          <a:bodyPr/>
          <a:lstStyle/>
          <a:p>
            <a:r>
              <a:rPr lang="zh-CN" altLang="en-US" dirty="0"/>
              <a:t>协会管理员</a:t>
            </a:r>
            <a:r>
              <a:rPr lang="en-US" altLang="zh-CN" dirty="0"/>
              <a:t>——</a:t>
            </a:r>
            <a:r>
              <a:rPr lang="zh-CN" altLang="en-US" dirty="0"/>
              <a:t>赛事管理</a:t>
            </a:r>
            <a:endParaRPr lang="en-US" altLang="zh-CN" dirty="0"/>
          </a:p>
          <a:p>
            <a:pPr marL="800100" lvl="1" indent="-457200">
              <a:buFont typeface="+mj-lt"/>
              <a:buAutoNum type="arabicPeriod"/>
            </a:pPr>
            <a:r>
              <a:rPr lang="zh-CN" altLang="en-US" dirty="0"/>
              <a:t>主要比赛项目</a:t>
            </a:r>
            <a:endParaRPr lang="en-US" altLang="zh-CN" dirty="0"/>
          </a:p>
          <a:p>
            <a:pPr marL="800100" lvl="1" indent="-457200">
              <a:buFont typeface="+mj-lt"/>
              <a:buAutoNum type="arabicPeriod"/>
            </a:pPr>
            <a:r>
              <a:rPr lang="zh-CN" altLang="en-US" dirty="0"/>
              <a:t>赛事新闻（需进一步确定）</a:t>
            </a:r>
            <a:endParaRPr lang="en-US" altLang="zh-CN" dirty="0"/>
          </a:p>
          <a:p>
            <a:pPr>
              <a:spcBef>
                <a:spcPts val="2400"/>
              </a:spcBef>
            </a:pPr>
            <a:r>
              <a:rPr lang="zh-CN" altLang="en-US" dirty="0"/>
              <a:t>省队用户</a:t>
            </a:r>
            <a:endParaRPr lang="en-US" altLang="zh-CN" dirty="0"/>
          </a:p>
          <a:p>
            <a:pPr lvl="1"/>
            <a:r>
              <a:rPr lang="zh-CN" altLang="en-US" dirty="0"/>
              <a:t>参赛人员统计（需进一步确定）</a:t>
            </a:r>
            <a:endParaRPr lang="zh-CN" altLang="en-US" dirty="0"/>
          </a:p>
        </p:txBody>
      </p:sp>
      <p:sp>
        <p:nvSpPr>
          <p:cNvPr id="3" name="日期占位符 2"/>
          <p:cNvSpPr>
            <a:spLocks noGrp="1"/>
          </p:cNvSpPr>
          <p:nvPr>
            <p:ph type="dt" sz="half" idx="10"/>
          </p:nvPr>
        </p:nvSpPr>
        <p:spPr/>
        <p:txBody>
          <a:bodyPr/>
          <a:lstStyle/>
          <a:p>
            <a:fld id="{5902FD77-8323-485D-87E2-91A0E9C84954}"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a:p>
        </p:txBody>
      </p:sp>
      <p:sp>
        <p:nvSpPr>
          <p:cNvPr id="5" name="灯片编号占位符 4"/>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kern="100" dirty="0">
                <a:latin typeface="+mn-ea"/>
                <a:cs typeface="Times New Roman" panose="02020603050405020304" pitchFamily="18" charset="0"/>
              </a:rPr>
              <a:t>网上报名系统的需求模型</a:t>
            </a:r>
            <a:endParaRPr lang="zh-CN" altLang="en-US" dirty="0"/>
          </a:p>
        </p:txBody>
      </p:sp>
      <p:sp>
        <p:nvSpPr>
          <p:cNvPr id="6" name="内容占位符 5"/>
          <p:cNvSpPr>
            <a:spLocks noGrp="1"/>
          </p:cNvSpPr>
          <p:nvPr>
            <p:ph idx="1"/>
          </p:nvPr>
        </p:nvSpPr>
        <p:spPr/>
        <p:txBody>
          <a:bodyPr>
            <a:normAutofit fontScale="85000" lnSpcReduction="20000"/>
          </a:bodyPr>
          <a:lstStyle/>
          <a:p>
            <a:pPr marL="151130" indent="-514350">
              <a:buFont typeface="+mj-lt"/>
              <a:buAutoNum type="arabicPeriod" startAt="4"/>
            </a:pPr>
            <a:r>
              <a:rPr lang="zh-CN" altLang="en-US" dirty="0">
                <a:solidFill>
                  <a:schemeClr val="accent2"/>
                </a:solidFill>
              </a:rPr>
              <a:t>需求模型</a:t>
            </a:r>
            <a:r>
              <a:rPr lang="en-US" altLang="zh-CN" dirty="0">
                <a:solidFill>
                  <a:schemeClr val="accent2"/>
                </a:solidFill>
              </a:rPr>
              <a:t>——</a:t>
            </a:r>
            <a:r>
              <a:rPr lang="zh-CN" altLang="en-US" dirty="0">
                <a:solidFill>
                  <a:schemeClr val="accent2"/>
                </a:solidFill>
              </a:rPr>
              <a:t>快速原型</a:t>
            </a:r>
            <a:endParaRPr lang="en-US" altLang="zh-CN" dirty="0">
              <a:solidFill>
                <a:schemeClr val="accent2"/>
              </a:solidFill>
            </a:endParaRPr>
          </a:p>
          <a:p>
            <a:pPr>
              <a:lnSpc>
                <a:spcPct val="130000"/>
              </a:lnSpc>
            </a:pPr>
            <a:r>
              <a:rPr lang="en-US" altLang="zh-CN" dirty="0" err="1"/>
              <a:t>Axure</a:t>
            </a:r>
            <a:r>
              <a:rPr lang="en-US" altLang="zh-CN" dirty="0"/>
              <a:t> RP</a:t>
            </a:r>
            <a:r>
              <a:rPr lang="zh-CN" altLang="en-US" dirty="0"/>
              <a:t>是美国</a:t>
            </a:r>
            <a:r>
              <a:rPr lang="en-US" altLang="zh-CN" dirty="0" err="1"/>
              <a:t>Axure</a:t>
            </a:r>
            <a:r>
              <a:rPr lang="en-US" altLang="zh-CN" dirty="0"/>
              <a:t> Software Solution </a:t>
            </a:r>
            <a:r>
              <a:rPr lang="zh-CN" altLang="en-US" dirty="0"/>
              <a:t>公司的旗舰产品，该原型设计工具可以专业快速地帮助完成定义需求规格，负责设计功能和界面的原型。设计者可以快速创建应用软件或</a:t>
            </a:r>
            <a:r>
              <a:rPr lang="en-US" altLang="zh-CN" dirty="0"/>
              <a:t>Web</a:t>
            </a:r>
            <a:r>
              <a:rPr lang="zh-CN" altLang="en-US" dirty="0"/>
              <a:t>网站线框图、原型、规格说明书等。</a:t>
            </a:r>
            <a:endParaRPr lang="en-US" altLang="zh-CN" dirty="0"/>
          </a:p>
          <a:p>
            <a:pPr>
              <a:lnSpc>
                <a:spcPct val="130000"/>
              </a:lnSpc>
            </a:pPr>
            <a:r>
              <a:rPr lang="en-US" altLang="zh-CN" dirty="0" err="1"/>
              <a:t>Axure</a:t>
            </a:r>
            <a:r>
              <a:rPr lang="zh-CN" altLang="en-US" dirty="0"/>
              <a:t>所针对的用户包括用户体验设计师（</a:t>
            </a:r>
            <a:r>
              <a:rPr lang="en-US" altLang="zh-CN" dirty="0"/>
              <a:t>UX</a:t>
            </a:r>
            <a:r>
              <a:rPr lang="zh-CN" altLang="en-US" dirty="0"/>
              <a:t>）、交互设计师（</a:t>
            </a:r>
            <a:r>
              <a:rPr lang="en-US" altLang="zh-CN" dirty="0"/>
              <a:t>UI</a:t>
            </a:r>
            <a:r>
              <a:rPr lang="zh-CN" altLang="en-US" dirty="0"/>
              <a:t>）、业务分析师（</a:t>
            </a:r>
            <a:r>
              <a:rPr lang="en-US" altLang="zh-CN" dirty="0"/>
              <a:t>BA</a:t>
            </a:r>
            <a:r>
              <a:rPr lang="zh-CN" altLang="en-US" dirty="0"/>
              <a:t>）、信息架构师（</a:t>
            </a:r>
            <a:r>
              <a:rPr lang="en-US" altLang="zh-CN" dirty="0"/>
              <a:t>IA</a:t>
            </a:r>
            <a:r>
              <a:rPr lang="zh-CN" altLang="en-US" dirty="0"/>
              <a:t>）、可用性专家（</a:t>
            </a:r>
            <a:r>
              <a:rPr lang="en-US" altLang="zh-CN" dirty="0"/>
              <a:t>UE</a:t>
            </a:r>
            <a:r>
              <a:rPr lang="zh-CN" altLang="en-US" dirty="0"/>
              <a:t>）和产品经理（</a:t>
            </a:r>
            <a:r>
              <a:rPr lang="en-US" altLang="zh-CN" dirty="0"/>
              <a:t>PM</a:t>
            </a:r>
            <a:r>
              <a:rPr lang="zh-CN" altLang="en-US" dirty="0"/>
              <a:t>）等等。</a:t>
            </a:r>
            <a:endParaRPr lang="en-US" altLang="zh-CN" dirty="0"/>
          </a:p>
          <a:p>
            <a:pPr>
              <a:lnSpc>
                <a:spcPct val="130000"/>
              </a:lnSpc>
            </a:pPr>
            <a:endParaRPr lang="zh-CN" altLang="en-US" dirty="0"/>
          </a:p>
          <a:p>
            <a:endParaRPr lang="zh-CN" altLang="en-US" dirty="0">
              <a:solidFill>
                <a:schemeClr val="accent2"/>
              </a:solidFill>
            </a:endParaRPr>
          </a:p>
        </p:txBody>
      </p:sp>
      <p:sp>
        <p:nvSpPr>
          <p:cNvPr id="3" name="日期占位符 2"/>
          <p:cNvSpPr>
            <a:spLocks noGrp="1"/>
          </p:cNvSpPr>
          <p:nvPr>
            <p:ph type="dt" sz="half" idx="10"/>
          </p:nvPr>
        </p:nvSpPr>
        <p:spPr/>
        <p:txBody>
          <a:bodyPr/>
          <a:lstStyle/>
          <a:p>
            <a:fld id="{5902FD77-8323-485D-87E2-91A0E9C84954}"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a:p>
        </p:txBody>
      </p:sp>
      <p:sp>
        <p:nvSpPr>
          <p:cNvPr id="5" name="灯片编号占位符 4"/>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rotWithShape="1">
          <a:blip r:embed="rId1" cstate="print"/>
          <a:srcRect t="7778"/>
          <a:stretch>
            <a:fillRect/>
          </a:stretch>
        </p:blipFill>
        <p:spPr>
          <a:xfrm>
            <a:off x="920859" y="30832"/>
            <a:ext cx="6156901" cy="4993104"/>
          </a:xfrm>
          <a:prstGeom prst="rect">
            <a:avLst/>
          </a:prstGeom>
        </p:spPr>
      </p:pic>
      <p:pic>
        <p:nvPicPr>
          <p:cNvPr id="8" name="图片 7"/>
          <p:cNvPicPr>
            <a:picLocks noChangeAspect="1"/>
          </p:cNvPicPr>
          <p:nvPr/>
        </p:nvPicPr>
        <p:blipFill>
          <a:blip r:embed="rId2" cstate="print"/>
          <a:stretch>
            <a:fillRect/>
          </a:stretch>
        </p:blipFill>
        <p:spPr>
          <a:xfrm>
            <a:off x="0" y="213546"/>
            <a:ext cx="9144000" cy="4696958"/>
          </a:xfrm>
          <a:prstGeom prst="rect">
            <a:avLst/>
          </a:prstGeom>
        </p:spPr>
      </p:pic>
      <p:pic>
        <p:nvPicPr>
          <p:cNvPr id="9" name="图片 8"/>
          <p:cNvPicPr>
            <a:picLocks noChangeAspect="1"/>
          </p:cNvPicPr>
          <p:nvPr/>
        </p:nvPicPr>
        <p:blipFill>
          <a:blip r:embed="rId3" cstate="print"/>
          <a:stretch>
            <a:fillRect/>
          </a:stretch>
        </p:blipFill>
        <p:spPr>
          <a:xfrm>
            <a:off x="0" y="123587"/>
            <a:ext cx="9144000" cy="480759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randombar(horizont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768096" y="1012752"/>
            <a:ext cx="7832833" cy="3429280"/>
          </a:xfrm>
        </p:spPr>
        <p:txBody>
          <a:bodyPr>
            <a:normAutofit/>
          </a:bodyPr>
          <a:lstStyle/>
          <a:p>
            <a:pPr>
              <a:lnSpc>
                <a:spcPct val="120000"/>
              </a:lnSpc>
              <a:spcBef>
                <a:spcPts val="450"/>
              </a:spcBef>
            </a:pPr>
            <a:r>
              <a:rPr lang="zh-CN" altLang="en-US" sz="2400" b="1" dirty="0"/>
              <a:t>需求分析阶段的工作</a:t>
            </a:r>
            <a:endParaRPr lang="en-US" altLang="zh-CN" sz="2400" b="1" dirty="0"/>
          </a:p>
          <a:p>
            <a:pPr marL="994410" lvl="1" indent="-342900">
              <a:lnSpc>
                <a:spcPct val="120000"/>
              </a:lnSpc>
              <a:spcBef>
                <a:spcPts val="900"/>
              </a:spcBef>
              <a:buClr>
                <a:srgbClr val="CA0098"/>
              </a:buClr>
              <a:buFont typeface="Arial" panose="020B0604020202020204" pitchFamily="34" charset="0"/>
              <a:buChar char="♥"/>
            </a:pPr>
            <a:r>
              <a:rPr lang="zh-CN" altLang="en-US" sz="2000" dirty="0"/>
              <a:t>认识到需求的重要性</a:t>
            </a:r>
            <a:endParaRPr lang="en-US" altLang="zh-CN" sz="2000" dirty="0"/>
          </a:p>
          <a:p>
            <a:pPr marL="994410" lvl="1" indent="-342900">
              <a:lnSpc>
                <a:spcPct val="120000"/>
              </a:lnSpc>
              <a:spcBef>
                <a:spcPts val="900"/>
              </a:spcBef>
              <a:buClr>
                <a:srgbClr val="CA0098"/>
              </a:buClr>
              <a:buFont typeface="Arial" panose="020B0604020202020204" pitchFamily="34" charset="0"/>
              <a:buChar char="♥"/>
            </a:pPr>
            <a:r>
              <a:rPr lang="zh-CN" altLang="en-US" sz="2000" dirty="0"/>
              <a:t>了解需求分析的任务、内容、过程</a:t>
            </a:r>
            <a:endParaRPr lang="en-US" altLang="zh-CN" sz="2000" dirty="0"/>
          </a:p>
          <a:p>
            <a:pPr marL="994410" lvl="1" indent="-342900">
              <a:lnSpc>
                <a:spcPct val="120000"/>
              </a:lnSpc>
              <a:spcBef>
                <a:spcPts val="900"/>
              </a:spcBef>
              <a:buClr>
                <a:srgbClr val="CA0098"/>
              </a:buClr>
              <a:buFont typeface="Arial" panose="020B0604020202020204" pitchFamily="34" charset="0"/>
              <a:buChar char="♥"/>
            </a:pPr>
            <a:r>
              <a:rPr lang="zh-CN" altLang="en-US" sz="2000" dirty="0"/>
              <a:t>学会需求获取，与人沟通的方法</a:t>
            </a:r>
            <a:endParaRPr lang="en-US" altLang="zh-CN" sz="2000"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4" name="标题 3"/>
          <p:cNvSpPr>
            <a:spLocks noGrp="1"/>
          </p:cNvSpPr>
          <p:nvPr>
            <p:ph type="title"/>
          </p:nvPr>
        </p:nvSpPr>
        <p:spPr/>
        <p:txBody>
          <a:bodyPr/>
          <a:lstStyle/>
          <a:p>
            <a:r>
              <a:rPr lang="zh-CN" altLang="en-US" dirty="0"/>
              <a:t>本课小结</a:t>
            </a:r>
            <a:endParaRPr lang="zh-CN" altLang="en-US" dirty="0"/>
          </a:p>
        </p:txBody>
      </p:sp>
      <p:grpSp>
        <p:nvGrpSpPr>
          <p:cNvPr id="7" name="Group 6"/>
          <p:cNvGrpSpPr/>
          <p:nvPr/>
        </p:nvGrpSpPr>
        <p:grpSpPr>
          <a:xfrm>
            <a:off x="5567279" y="1461741"/>
            <a:ext cx="3209575" cy="3270280"/>
            <a:chOff x="3827463" y="1565275"/>
            <a:chExt cx="1195388" cy="1271588"/>
          </a:xfrm>
          <a:solidFill>
            <a:srgbClr val="92D050"/>
          </a:solidFill>
        </p:grpSpPr>
        <p:sp>
          <p:nvSpPr>
            <p:cNvPr id="8" name="Freeform 70"/>
            <p:cNvSpPr/>
            <p:nvPr/>
          </p:nvSpPr>
          <p:spPr bwMode="auto">
            <a:xfrm>
              <a:off x="4010026" y="1708150"/>
              <a:ext cx="835025" cy="1128713"/>
            </a:xfrm>
            <a:custGeom>
              <a:avLst/>
              <a:gdLst/>
              <a:ahLst/>
              <a:cxnLst>
                <a:cxn ang="0">
                  <a:pos x="104" y="385"/>
                </a:cxn>
                <a:cxn ang="0">
                  <a:pos x="112" y="230"/>
                </a:cxn>
                <a:cxn ang="0">
                  <a:pos x="6" y="164"/>
                </a:cxn>
                <a:cxn ang="0">
                  <a:pos x="121" y="191"/>
                </a:cxn>
                <a:cxn ang="0">
                  <a:pos x="126" y="93"/>
                </a:cxn>
                <a:cxn ang="0">
                  <a:pos x="76" y="29"/>
                </a:cxn>
                <a:cxn ang="0">
                  <a:pos x="132" y="61"/>
                </a:cxn>
                <a:cxn ang="0">
                  <a:pos x="174" y="5"/>
                </a:cxn>
                <a:cxn ang="0">
                  <a:pos x="149" y="79"/>
                </a:cxn>
                <a:cxn ang="0">
                  <a:pos x="171" y="196"/>
                </a:cxn>
                <a:cxn ang="0">
                  <a:pos x="277" y="149"/>
                </a:cxn>
                <a:cxn ang="0">
                  <a:pos x="177" y="228"/>
                </a:cxn>
                <a:cxn ang="0">
                  <a:pos x="178" y="385"/>
                </a:cxn>
                <a:cxn ang="0">
                  <a:pos x="104" y="385"/>
                </a:cxn>
              </a:cxnLst>
              <a:rect l="0" t="0" r="r" b="b"/>
              <a:pathLst>
                <a:path w="285" h="385">
                  <a:moveTo>
                    <a:pt x="104" y="385"/>
                  </a:moveTo>
                  <a:cubicBezTo>
                    <a:pt x="104" y="385"/>
                    <a:pt x="139" y="260"/>
                    <a:pt x="112" y="230"/>
                  </a:cubicBezTo>
                  <a:cubicBezTo>
                    <a:pt x="64" y="179"/>
                    <a:pt x="0" y="166"/>
                    <a:pt x="6" y="164"/>
                  </a:cubicBezTo>
                  <a:cubicBezTo>
                    <a:pt x="44" y="154"/>
                    <a:pt x="105" y="205"/>
                    <a:pt x="121" y="191"/>
                  </a:cubicBezTo>
                  <a:cubicBezTo>
                    <a:pt x="134" y="180"/>
                    <a:pt x="136" y="117"/>
                    <a:pt x="126" y="93"/>
                  </a:cubicBezTo>
                  <a:cubicBezTo>
                    <a:pt x="107" y="46"/>
                    <a:pt x="60" y="29"/>
                    <a:pt x="76" y="29"/>
                  </a:cubicBezTo>
                  <a:cubicBezTo>
                    <a:pt x="98" y="29"/>
                    <a:pt x="128" y="66"/>
                    <a:pt x="132" y="61"/>
                  </a:cubicBezTo>
                  <a:cubicBezTo>
                    <a:pt x="137" y="57"/>
                    <a:pt x="164" y="0"/>
                    <a:pt x="174" y="5"/>
                  </a:cubicBezTo>
                  <a:cubicBezTo>
                    <a:pt x="177" y="7"/>
                    <a:pt x="149" y="36"/>
                    <a:pt x="149" y="79"/>
                  </a:cubicBezTo>
                  <a:cubicBezTo>
                    <a:pt x="149" y="121"/>
                    <a:pt x="154" y="206"/>
                    <a:pt x="171" y="196"/>
                  </a:cubicBezTo>
                  <a:cubicBezTo>
                    <a:pt x="200" y="178"/>
                    <a:pt x="257" y="147"/>
                    <a:pt x="277" y="149"/>
                  </a:cubicBezTo>
                  <a:cubicBezTo>
                    <a:pt x="285" y="150"/>
                    <a:pt x="196" y="185"/>
                    <a:pt x="177" y="228"/>
                  </a:cubicBezTo>
                  <a:cubicBezTo>
                    <a:pt x="161" y="264"/>
                    <a:pt x="170" y="373"/>
                    <a:pt x="178" y="385"/>
                  </a:cubicBezTo>
                  <a:lnTo>
                    <a:pt x="104" y="385"/>
                  </a:lnTo>
                  <a:close/>
                </a:path>
              </a:pathLst>
            </a:custGeom>
            <a:solidFill>
              <a:srgbClr val="B65310"/>
            </a:solid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9" name="Freeform 71"/>
            <p:cNvSpPr/>
            <p:nvPr/>
          </p:nvSpPr>
          <p:spPr bwMode="auto">
            <a:xfrm>
              <a:off x="4495801" y="2089150"/>
              <a:ext cx="166688" cy="114300"/>
            </a:xfrm>
            <a:custGeom>
              <a:avLst/>
              <a:gdLst/>
              <a:ahLst/>
              <a:cxnLst>
                <a:cxn ang="0">
                  <a:pos x="27" y="39"/>
                </a:cxn>
                <a:cxn ang="0">
                  <a:pos x="20" y="0"/>
                </a:cxn>
                <a:cxn ang="0">
                  <a:pos x="27" y="39"/>
                </a:cxn>
              </a:cxnLst>
              <a:rect l="0" t="0" r="r" b="b"/>
              <a:pathLst>
                <a:path w="57" h="39">
                  <a:moveTo>
                    <a:pt x="27" y="39"/>
                  </a:moveTo>
                  <a:cubicBezTo>
                    <a:pt x="27" y="39"/>
                    <a:pt x="0" y="36"/>
                    <a:pt x="20" y="0"/>
                  </a:cubicBezTo>
                  <a:cubicBezTo>
                    <a:pt x="20" y="0"/>
                    <a:pt x="57" y="26"/>
                    <a:pt x="27" y="39"/>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0" name="Freeform 72"/>
            <p:cNvSpPr/>
            <p:nvPr/>
          </p:nvSpPr>
          <p:spPr bwMode="auto">
            <a:xfrm>
              <a:off x="4621213" y="2025650"/>
              <a:ext cx="161925" cy="117475"/>
            </a:xfrm>
            <a:custGeom>
              <a:avLst/>
              <a:gdLst/>
              <a:ahLst/>
              <a:cxnLst>
                <a:cxn ang="0">
                  <a:pos x="23" y="40"/>
                </a:cxn>
                <a:cxn ang="0">
                  <a:pos x="27" y="0"/>
                </a:cxn>
                <a:cxn ang="0">
                  <a:pos x="23" y="40"/>
                </a:cxn>
              </a:cxnLst>
              <a:rect l="0" t="0" r="r" b="b"/>
              <a:pathLst>
                <a:path w="55" h="40">
                  <a:moveTo>
                    <a:pt x="23" y="40"/>
                  </a:moveTo>
                  <a:cubicBezTo>
                    <a:pt x="23" y="40"/>
                    <a:pt x="0" y="32"/>
                    <a:pt x="27" y="0"/>
                  </a:cubicBezTo>
                  <a:cubicBezTo>
                    <a:pt x="27" y="0"/>
                    <a:pt x="55" y="35"/>
                    <a:pt x="23" y="40"/>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1" name="Freeform 73"/>
            <p:cNvSpPr/>
            <p:nvPr/>
          </p:nvSpPr>
          <p:spPr bwMode="auto">
            <a:xfrm>
              <a:off x="4718051" y="1971675"/>
              <a:ext cx="173038" cy="138113"/>
            </a:xfrm>
            <a:custGeom>
              <a:avLst/>
              <a:gdLst/>
              <a:ahLst/>
              <a:cxnLst>
                <a:cxn ang="0">
                  <a:pos x="22" y="47"/>
                </a:cxn>
                <a:cxn ang="0">
                  <a:pos x="40" y="0"/>
                </a:cxn>
                <a:cxn ang="0">
                  <a:pos x="22" y="47"/>
                </a:cxn>
              </a:cxnLst>
              <a:rect l="0" t="0" r="r" b="b"/>
              <a:pathLst>
                <a:path w="59" h="47">
                  <a:moveTo>
                    <a:pt x="22" y="47"/>
                  </a:moveTo>
                  <a:cubicBezTo>
                    <a:pt x="22" y="47"/>
                    <a:pt x="0" y="25"/>
                    <a:pt x="40" y="0"/>
                  </a:cubicBezTo>
                  <a:cubicBezTo>
                    <a:pt x="40" y="0"/>
                    <a:pt x="59" y="43"/>
                    <a:pt x="22" y="47"/>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2" name="Freeform 74"/>
            <p:cNvSpPr/>
            <p:nvPr/>
          </p:nvSpPr>
          <p:spPr bwMode="auto">
            <a:xfrm>
              <a:off x="4873626" y="2009775"/>
              <a:ext cx="149225" cy="117475"/>
            </a:xfrm>
            <a:custGeom>
              <a:avLst/>
              <a:gdLst/>
              <a:ahLst/>
              <a:cxnLst>
                <a:cxn ang="0">
                  <a:pos x="4" y="24"/>
                </a:cxn>
                <a:cxn ang="0">
                  <a:pos x="51" y="10"/>
                </a:cxn>
                <a:cxn ang="0">
                  <a:pos x="39" y="25"/>
                </a:cxn>
                <a:cxn ang="0">
                  <a:pos x="4" y="24"/>
                </a:cxn>
              </a:cxnLst>
              <a:rect l="0" t="0" r="r" b="b"/>
              <a:pathLst>
                <a:path w="51" h="40">
                  <a:moveTo>
                    <a:pt x="4" y="24"/>
                  </a:moveTo>
                  <a:cubicBezTo>
                    <a:pt x="4" y="24"/>
                    <a:pt x="0" y="0"/>
                    <a:pt x="51" y="10"/>
                  </a:cubicBezTo>
                  <a:cubicBezTo>
                    <a:pt x="51" y="10"/>
                    <a:pt x="46" y="15"/>
                    <a:pt x="39" y="25"/>
                  </a:cubicBezTo>
                  <a:cubicBezTo>
                    <a:pt x="32" y="34"/>
                    <a:pt x="11" y="40"/>
                    <a:pt x="4" y="2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3" name="Freeform 75"/>
            <p:cNvSpPr/>
            <p:nvPr/>
          </p:nvSpPr>
          <p:spPr bwMode="auto">
            <a:xfrm>
              <a:off x="4827588" y="2165350"/>
              <a:ext cx="131763" cy="92075"/>
            </a:xfrm>
            <a:custGeom>
              <a:avLst/>
              <a:gdLst/>
              <a:ahLst/>
              <a:cxnLst>
                <a:cxn ang="0">
                  <a:pos x="14" y="0"/>
                </a:cxn>
                <a:cxn ang="0">
                  <a:pos x="45" y="20"/>
                </a:cxn>
                <a:cxn ang="0">
                  <a:pos x="9" y="16"/>
                </a:cxn>
                <a:cxn ang="0">
                  <a:pos x="14" y="0"/>
                </a:cxn>
              </a:cxnLst>
              <a:rect l="0" t="0" r="r" b="b"/>
              <a:pathLst>
                <a:path w="45" h="31">
                  <a:moveTo>
                    <a:pt x="14" y="0"/>
                  </a:moveTo>
                  <a:cubicBezTo>
                    <a:pt x="14" y="0"/>
                    <a:pt x="40" y="3"/>
                    <a:pt x="45" y="20"/>
                  </a:cubicBezTo>
                  <a:cubicBezTo>
                    <a:pt x="45" y="20"/>
                    <a:pt x="28" y="31"/>
                    <a:pt x="9" y="16"/>
                  </a:cubicBezTo>
                  <a:cubicBezTo>
                    <a:pt x="0" y="8"/>
                    <a:pt x="6" y="1"/>
                    <a:pt x="14" y="0"/>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4" name="Freeform 76"/>
            <p:cNvSpPr/>
            <p:nvPr/>
          </p:nvSpPr>
          <p:spPr bwMode="auto">
            <a:xfrm>
              <a:off x="4751388" y="2212975"/>
              <a:ext cx="104775" cy="111125"/>
            </a:xfrm>
            <a:custGeom>
              <a:avLst/>
              <a:gdLst/>
              <a:ahLst/>
              <a:cxnLst>
                <a:cxn ang="0">
                  <a:pos x="6" y="8"/>
                </a:cxn>
                <a:cxn ang="0">
                  <a:pos x="27" y="11"/>
                </a:cxn>
                <a:cxn ang="0">
                  <a:pos x="36" y="38"/>
                </a:cxn>
                <a:cxn ang="0">
                  <a:pos x="5" y="23"/>
                </a:cxn>
                <a:cxn ang="0">
                  <a:pos x="6" y="8"/>
                </a:cxn>
              </a:cxnLst>
              <a:rect l="0" t="0" r="r" b="b"/>
              <a:pathLst>
                <a:path w="36" h="38">
                  <a:moveTo>
                    <a:pt x="6" y="8"/>
                  </a:moveTo>
                  <a:cubicBezTo>
                    <a:pt x="6" y="8"/>
                    <a:pt x="17" y="0"/>
                    <a:pt x="27" y="11"/>
                  </a:cubicBezTo>
                  <a:cubicBezTo>
                    <a:pt x="36" y="21"/>
                    <a:pt x="34" y="33"/>
                    <a:pt x="36" y="38"/>
                  </a:cubicBezTo>
                  <a:cubicBezTo>
                    <a:pt x="36" y="38"/>
                    <a:pt x="14" y="35"/>
                    <a:pt x="5" y="23"/>
                  </a:cubicBezTo>
                  <a:cubicBezTo>
                    <a:pt x="0" y="16"/>
                    <a:pt x="4" y="11"/>
                    <a:pt x="6" y="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5" name="Freeform 77"/>
            <p:cNvSpPr/>
            <p:nvPr/>
          </p:nvSpPr>
          <p:spPr bwMode="auto">
            <a:xfrm>
              <a:off x="4638676" y="2279650"/>
              <a:ext cx="138113" cy="111125"/>
            </a:xfrm>
            <a:custGeom>
              <a:avLst/>
              <a:gdLst/>
              <a:ahLst/>
              <a:cxnLst>
                <a:cxn ang="0">
                  <a:pos x="15" y="5"/>
                </a:cxn>
                <a:cxn ang="0">
                  <a:pos x="39" y="12"/>
                </a:cxn>
                <a:cxn ang="0">
                  <a:pos x="47" y="35"/>
                </a:cxn>
                <a:cxn ang="0">
                  <a:pos x="15" y="5"/>
                </a:cxn>
              </a:cxnLst>
              <a:rect l="0" t="0" r="r" b="b"/>
              <a:pathLst>
                <a:path w="47" h="38">
                  <a:moveTo>
                    <a:pt x="15" y="5"/>
                  </a:moveTo>
                  <a:cubicBezTo>
                    <a:pt x="15" y="5"/>
                    <a:pt x="31" y="0"/>
                    <a:pt x="39" y="12"/>
                  </a:cubicBezTo>
                  <a:cubicBezTo>
                    <a:pt x="47" y="23"/>
                    <a:pt x="44" y="31"/>
                    <a:pt x="47" y="35"/>
                  </a:cubicBezTo>
                  <a:cubicBezTo>
                    <a:pt x="47" y="35"/>
                    <a:pt x="0" y="38"/>
                    <a:pt x="15" y="5"/>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6" name="Freeform 78"/>
            <p:cNvSpPr/>
            <p:nvPr/>
          </p:nvSpPr>
          <p:spPr bwMode="auto">
            <a:xfrm>
              <a:off x="4132263" y="2089150"/>
              <a:ext cx="123825" cy="117475"/>
            </a:xfrm>
            <a:custGeom>
              <a:avLst/>
              <a:gdLst/>
              <a:ahLst/>
              <a:cxnLst>
                <a:cxn ang="0">
                  <a:pos x="22" y="35"/>
                </a:cxn>
                <a:cxn ang="0">
                  <a:pos x="40" y="0"/>
                </a:cxn>
                <a:cxn ang="0">
                  <a:pos x="40" y="17"/>
                </a:cxn>
                <a:cxn ang="0">
                  <a:pos x="22" y="35"/>
                </a:cxn>
              </a:cxnLst>
              <a:rect l="0" t="0" r="r" b="b"/>
              <a:pathLst>
                <a:path w="42" h="40">
                  <a:moveTo>
                    <a:pt x="22" y="35"/>
                  </a:moveTo>
                  <a:cubicBezTo>
                    <a:pt x="22" y="35"/>
                    <a:pt x="0" y="19"/>
                    <a:pt x="40" y="0"/>
                  </a:cubicBezTo>
                  <a:cubicBezTo>
                    <a:pt x="40" y="0"/>
                    <a:pt x="39" y="8"/>
                    <a:pt x="40" y="17"/>
                  </a:cubicBezTo>
                  <a:cubicBezTo>
                    <a:pt x="42" y="25"/>
                    <a:pt x="36" y="40"/>
                    <a:pt x="22" y="35"/>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7" name="Freeform 79"/>
            <p:cNvSpPr/>
            <p:nvPr/>
          </p:nvSpPr>
          <p:spPr bwMode="auto">
            <a:xfrm>
              <a:off x="4067176" y="2036763"/>
              <a:ext cx="112713" cy="123825"/>
            </a:xfrm>
            <a:custGeom>
              <a:avLst/>
              <a:gdLst/>
              <a:ahLst/>
              <a:cxnLst>
                <a:cxn ang="0">
                  <a:pos x="11" y="36"/>
                </a:cxn>
                <a:cxn ang="0">
                  <a:pos x="17" y="6"/>
                </a:cxn>
                <a:cxn ang="0">
                  <a:pos x="28" y="0"/>
                </a:cxn>
                <a:cxn ang="0">
                  <a:pos x="25" y="39"/>
                </a:cxn>
                <a:cxn ang="0">
                  <a:pos x="11" y="36"/>
                </a:cxn>
              </a:cxnLst>
              <a:rect l="0" t="0" r="r" b="b"/>
              <a:pathLst>
                <a:path w="38" h="42">
                  <a:moveTo>
                    <a:pt x="11" y="36"/>
                  </a:moveTo>
                  <a:cubicBezTo>
                    <a:pt x="11" y="36"/>
                    <a:pt x="0" y="21"/>
                    <a:pt x="17" y="6"/>
                  </a:cubicBezTo>
                  <a:cubicBezTo>
                    <a:pt x="21" y="3"/>
                    <a:pt x="28" y="0"/>
                    <a:pt x="28" y="0"/>
                  </a:cubicBezTo>
                  <a:cubicBezTo>
                    <a:pt x="28" y="0"/>
                    <a:pt x="38" y="31"/>
                    <a:pt x="25" y="39"/>
                  </a:cubicBezTo>
                  <a:cubicBezTo>
                    <a:pt x="20" y="42"/>
                    <a:pt x="14" y="41"/>
                    <a:pt x="11" y="36"/>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8" name="Freeform 80"/>
            <p:cNvSpPr/>
            <p:nvPr/>
          </p:nvSpPr>
          <p:spPr bwMode="auto">
            <a:xfrm>
              <a:off x="3956051" y="2019300"/>
              <a:ext cx="109538" cy="125413"/>
            </a:xfrm>
            <a:custGeom>
              <a:avLst/>
              <a:gdLst/>
              <a:ahLst/>
              <a:cxnLst>
                <a:cxn ang="0">
                  <a:pos x="19" y="42"/>
                </a:cxn>
                <a:cxn ang="0">
                  <a:pos x="9" y="15"/>
                </a:cxn>
                <a:cxn ang="0">
                  <a:pos x="17" y="0"/>
                </a:cxn>
                <a:cxn ang="0">
                  <a:pos x="24" y="11"/>
                </a:cxn>
                <a:cxn ang="0">
                  <a:pos x="19" y="42"/>
                </a:cxn>
              </a:cxnLst>
              <a:rect l="0" t="0" r="r" b="b"/>
              <a:pathLst>
                <a:path w="37" h="43">
                  <a:moveTo>
                    <a:pt x="19" y="42"/>
                  </a:moveTo>
                  <a:cubicBezTo>
                    <a:pt x="9" y="43"/>
                    <a:pt x="0" y="30"/>
                    <a:pt x="9" y="15"/>
                  </a:cubicBezTo>
                  <a:cubicBezTo>
                    <a:pt x="17" y="0"/>
                    <a:pt x="17" y="0"/>
                    <a:pt x="17" y="0"/>
                  </a:cubicBezTo>
                  <a:cubicBezTo>
                    <a:pt x="17" y="0"/>
                    <a:pt x="21" y="7"/>
                    <a:pt x="24" y="11"/>
                  </a:cubicBezTo>
                  <a:cubicBezTo>
                    <a:pt x="30" y="20"/>
                    <a:pt x="37" y="42"/>
                    <a:pt x="19" y="42"/>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9" name="Freeform 81"/>
            <p:cNvSpPr/>
            <p:nvPr/>
          </p:nvSpPr>
          <p:spPr bwMode="auto">
            <a:xfrm>
              <a:off x="3827463" y="2106613"/>
              <a:ext cx="146050" cy="100013"/>
            </a:xfrm>
            <a:custGeom>
              <a:avLst/>
              <a:gdLst/>
              <a:ahLst/>
              <a:cxnLst>
                <a:cxn ang="0">
                  <a:pos x="49" y="24"/>
                </a:cxn>
                <a:cxn ang="0">
                  <a:pos x="9" y="12"/>
                </a:cxn>
                <a:cxn ang="0">
                  <a:pos x="0" y="19"/>
                </a:cxn>
                <a:cxn ang="0">
                  <a:pos x="23" y="33"/>
                </a:cxn>
                <a:cxn ang="0">
                  <a:pos x="49" y="24"/>
                </a:cxn>
              </a:cxnLst>
              <a:rect l="0" t="0" r="r" b="b"/>
              <a:pathLst>
                <a:path w="50" h="34">
                  <a:moveTo>
                    <a:pt x="49" y="24"/>
                  </a:moveTo>
                  <a:cubicBezTo>
                    <a:pt x="49" y="24"/>
                    <a:pt x="30" y="0"/>
                    <a:pt x="9" y="12"/>
                  </a:cubicBezTo>
                  <a:cubicBezTo>
                    <a:pt x="9" y="12"/>
                    <a:pt x="3" y="17"/>
                    <a:pt x="0" y="19"/>
                  </a:cubicBezTo>
                  <a:cubicBezTo>
                    <a:pt x="0" y="19"/>
                    <a:pt x="10" y="32"/>
                    <a:pt x="23" y="33"/>
                  </a:cubicBezTo>
                  <a:cubicBezTo>
                    <a:pt x="35" y="34"/>
                    <a:pt x="50" y="33"/>
                    <a:pt x="49" y="2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0" name="Freeform 82"/>
            <p:cNvSpPr/>
            <p:nvPr/>
          </p:nvSpPr>
          <p:spPr bwMode="auto">
            <a:xfrm>
              <a:off x="3948113" y="2220913"/>
              <a:ext cx="119063" cy="109538"/>
            </a:xfrm>
            <a:custGeom>
              <a:avLst/>
              <a:gdLst/>
              <a:ahLst/>
              <a:cxnLst>
                <a:cxn ang="0">
                  <a:pos x="28" y="1"/>
                </a:cxn>
                <a:cxn ang="0">
                  <a:pos x="7" y="19"/>
                </a:cxn>
                <a:cxn ang="0">
                  <a:pos x="0" y="37"/>
                </a:cxn>
                <a:cxn ang="0">
                  <a:pos x="38" y="20"/>
                </a:cxn>
                <a:cxn ang="0">
                  <a:pos x="28" y="1"/>
                </a:cxn>
              </a:cxnLst>
              <a:rect l="0" t="0" r="r" b="b"/>
              <a:pathLst>
                <a:path w="41" h="37">
                  <a:moveTo>
                    <a:pt x="28" y="1"/>
                  </a:moveTo>
                  <a:cubicBezTo>
                    <a:pt x="23" y="1"/>
                    <a:pt x="8" y="5"/>
                    <a:pt x="7" y="19"/>
                  </a:cubicBezTo>
                  <a:cubicBezTo>
                    <a:pt x="5" y="32"/>
                    <a:pt x="0" y="37"/>
                    <a:pt x="0" y="37"/>
                  </a:cubicBezTo>
                  <a:cubicBezTo>
                    <a:pt x="0" y="37"/>
                    <a:pt x="35" y="35"/>
                    <a:pt x="38" y="20"/>
                  </a:cubicBezTo>
                  <a:cubicBezTo>
                    <a:pt x="41" y="4"/>
                    <a:pt x="33" y="0"/>
                    <a:pt x="28" y="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1" name="Freeform 83"/>
            <p:cNvSpPr/>
            <p:nvPr/>
          </p:nvSpPr>
          <p:spPr bwMode="auto">
            <a:xfrm>
              <a:off x="4056063" y="2265363"/>
              <a:ext cx="179388" cy="128588"/>
            </a:xfrm>
            <a:custGeom>
              <a:avLst/>
              <a:gdLst/>
              <a:ahLst/>
              <a:cxnLst>
                <a:cxn ang="0">
                  <a:pos x="30" y="7"/>
                </a:cxn>
                <a:cxn ang="0">
                  <a:pos x="10" y="44"/>
                </a:cxn>
                <a:cxn ang="0">
                  <a:pos x="30" y="7"/>
                </a:cxn>
              </a:cxnLst>
              <a:rect l="0" t="0" r="r" b="b"/>
              <a:pathLst>
                <a:path w="61" h="44">
                  <a:moveTo>
                    <a:pt x="30" y="7"/>
                  </a:moveTo>
                  <a:cubicBezTo>
                    <a:pt x="18" y="0"/>
                    <a:pt x="0" y="12"/>
                    <a:pt x="10" y="44"/>
                  </a:cubicBezTo>
                  <a:cubicBezTo>
                    <a:pt x="10" y="44"/>
                    <a:pt x="61" y="26"/>
                    <a:pt x="30" y="7"/>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2" name="Freeform 84"/>
            <p:cNvSpPr/>
            <p:nvPr/>
          </p:nvSpPr>
          <p:spPr bwMode="auto">
            <a:xfrm>
              <a:off x="4457701" y="1565275"/>
              <a:ext cx="138113" cy="155575"/>
            </a:xfrm>
            <a:custGeom>
              <a:avLst/>
              <a:gdLst/>
              <a:ahLst/>
              <a:cxnLst>
                <a:cxn ang="0">
                  <a:pos x="23" y="44"/>
                </a:cxn>
                <a:cxn ang="0">
                  <a:pos x="42" y="0"/>
                </a:cxn>
                <a:cxn ang="0">
                  <a:pos x="46" y="17"/>
                </a:cxn>
                <a:cxn ang="0">
                  <a:pos x="23" y="44"/>
                </a:cxn>
              </a:cxnLst>
              <a:rect l="0" t="0" r="r" b="b"/>
              <a:pathLst>
                <a:path w="47" h="53">
                  <a:moveTo>
                    <a:pt x="23" y="44"/>
                  </a:moveTo>
                  <a:cubicBezTo>
                    <a:pt x="23" y="44"/>
                    <a:pt x="0" y="21"/>
                    <a:pt x="42" y="0"/>
                  </a:cubicBezTo>
                  <a:cubicBezTo>
                    <a:pt x="42" y="0"/>
                    <a:pt x="45" y="8"/>
                    <a:pt x="46" y="17"/>
                  </a:cubicBezTo>
                  <a:cubicBezTo>
                    <a:pt x="47" y="26"/>
                    <a:pt x="43" y="53"/>
                    <a:pt x="23" y="4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3" name="Freeform 85"/>
            <p:cNvSpPr/>
            <p:nvPr/>
          </p:nvSpPr>
          <p:spPr bwMode="auto">
            <a:xfrm>
              <a:off x="4398963" y="1609725"/>
              <a:ext cx="103188" cy="133350"/>
            </a:xfrm>
            <a:custGeom>
              <a:avLst/>
              <a:gdLst/>
              <a:ahLst/>
              <a:cxnLst>
                <a:cxn ang="0">
                  <a:pos x="24" y="41"/>
                </a:cxn>
                <a:cxn ang="0">
                  <a:pos x="14" y="11"/>
                </a:cxn>
                <a:cxn ang="0">
                  <a:pos x="1" y="0"/>
                </a:cxn>
                <a:cxn ang="0">
                  <a:pos x="1" y="19"/>
                </a:cxn>
                <a:cxn ang="0">
                  <a:pos x="10" y="43"/>
                </a:cxn>
                <a:cxn ang="0">
                  <a:pos x="24" y="41"/>
                </a:cxn>
              </a:cxnLst>
              <a:rect l="0" t="0" r="r" b="b"/>
              <a:pathLst>
                <a:path w="35" h="46">
                  <a:moveTo>
                    <a:pt x="24" y="41"/>
                  </a:moveTo>
                  <a:cubicBezTo>
                    <a:pt x="24" y="41"/>
                    <a:pt x="35" y="25"/>
                    <a:pt x="14" y="11"/>
                  </a:cubicBezTo>
                  <a:cubicBezTo>
                    <a:pt x="3" y="3"/>
                    <a:pt x="1" y="0"/>
                    <a:pt x="1" y="0"/>
                  </a:cubicBezTo>
                  <a:cubicBezTo>
                    <a:pt x="1" y="0"/>
                    <a:pt x="0" y="14"/>
                    <a:pt x="1" y="19"/>
                  </a:cubicBezTo>
                  <a:cubicBezTo>
                    <a:pt x="1" y="24"/>
                    <a:pt x="0" y="38"/>
                    <a:pt x="10" y="43"/>
                  </a:cubicBezTo>
                  <a:cubicBezTo>
                    <a:pt x="17" y="46"/>
                    <a:pt x="24" y="41"/>
                    <a:pt x="24" y="4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4" name="Freeform 86"/>
            <p:cNvSpPr/>
            <p:nvPr/>
          </p:nvSpPr>
          <p:spPr bwMode="auto">
            <a:xfrm>
              <a:off x="4527551" y="1682750"/>
              <a:ext cx="138113" cy="131763"/>
            </a:xfrm>
            <a:custGeom>
              <a:avLst/>
              <a:gdLst/>
              <a:ahLst/>
              <a:cxnLst>
                <a:cxn ang="0">
                  <a:pos x="6" y="21"/>
                </a:cxn>
                <a:cxn ang="0">
                  <a:pos x="47" y="34"/>
                </a:cxn>
                <a:cxn ang="0">
                  <a:pos x="9" y="35"/>
                </a:cxn>
                <a:cxn ang="0">
                  <a:pos x="6" y="21"/>
                </a:cxn>
              </a:cxnLst>
              <a:rect l="0" t="0" r="r" b="b"/>
              <a:pathLst>
                <a:path w="47" h="45">
                  <a:moveTo>
                    <a:pt x="6" y="21"/>
                  </a:moveTo>
                  <a:cubicBezTo>
                    <a:pt x="6" y="21"/>
                    <a:pt x="31" y="0"/>
                    <a:pt x="47" y="34"/>
                  </a:cubicBezTo>
                  <a:cubicBezTo>
                    <a:pt x="47" y="34"/>
                    <a:pt x="28" y="45"/>
                    <a:pt x="9" y="35"/>
                  </a:cubicBezTo>
                  <a:cubicBezTo>
                    <a:pt x="0" y="31"/>
                    <a:pt x="6" y="23"/>
                    <a:pt x="6" y="2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5" name="Freeform 87"/>
            <p:cNvSpPr/>
            <p:nvPr/>
          </p:nvSpPr>
          <p:spPr bwMode="auto">
            <a:xfrm>
              <a:off x="4475163" y="1814513"/>
              <a:ext cx="138113" cy="117475"/>
            </a:xfrm>
            <a:custGeom>
              <a:avLst/>
              <a:gdLst/>
              <a:ahLst/>
              <a:cxnLst>
                <a:cxn ang="0">
                  <a:pos x="1" y="20"/>
                </a:cxn>
                <a:cxn ang="0">
                  <a:pos x="47" y="14"/>
                </a:cxn>
                <a:cxn ang="0">
                  <a:pos x="33" y="24"/>
                </a:cxn>
                <a:cxn ang="0">
                  <a:pos x="1" y="20"/>
                </a:cxn>
              </a:cxnLst>
              <a:rect l="0" t="0" r="r" b="b"/>
              <a:pathLst>
                <a:path w="47" h="40">
                  <a:moveTo>
                    <a:pt x="1" y="20"/>
                  </a:moveTo>
                  <a:cubicBezTo>
                    <a:pt x="0" y="15"/>
                    <a:pt x="9" y="0"/>
                    <a:pt x="47" y="14"/>
                  </a:cubicBezTo>
                  <a:cubicBezTo>
                    <a:pt x="47" y="14"/>
                    <a:pt x="38" y="21"/>
                    <a:pt x="33" y="24"/>
                  </a:cubicBezTo>
                  <a:cubicBezTo>
                    <a:pt x="28" y="28"/>
                    <a:pt x="2" y="40"/>
                    <a:pt x="1" y="20"/>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6" name="Freeform 88"/>
            <p:cNvSpPr/>
            <p:nvPr/>
          </p:nvSpPr>
          <p:spPr bwMode="auto">
            <a:xfrm>
              <a:off x="4481513" y="1946275"/>
              <a:ext cx="122238" cy="111125"/>
            </a:xfrm>
            <a:custGeom>
              <a:avLst/>
              <a:gdLst/>
              <a:ahLst/>
              <a:cxnLst>
                <a:cxn ang="0">
                  <a:pos x="1" y="19"/>
                </a:cxn>
                <a:cxn ang="0">
                  <a:pos x="35" y="0"/>
                </a:cxn>
                <a:cxn ang="0">
                  <a:pos x="42" y="0"/>
                </a:cxn>
                <a:cxn ang="0">
                  <a:pos x="24" y="31"/>
                </a:cxn>
                <a:cxn ang="0">
                  <a:pos x="1" y="19"/>
                </a:cxn>
              </a:cxnLst>
              <a:rect l="0" t="0" r="r" b="b"/>
              <a:pathLst>
                <a:path w="42" h="38">
                  <a:moveTo>
                    <a:pt x="1" y="19"/>
                  </a:moveTo>
                  <a:cubicBezTo>
                    <a:pt x="0" y="14"/>
                    <a:pt x="2" y="0"/>
                    <a:pt x="35" y="0"/>
                  </a:cubicBezTo>
                  <a:cubicBezTo>
                    <a:pt x="35" y="0"/>
                    <a:pt x="40" y="1"/>
                    <a:pt x="42" y="0"/>
                  </a:cubicBezTo>
                  <a:cubicBezTo>
                    <a:pt x="42" y="0"/>
                    <a:pt x="36" y="23"/>
                    <a:pt x="24" y="31"/>
                  </a:cubicBezTo>
                  <a:cubicBezTo>
                    <a:pt x="12" y="38"/>
                    <a:pt x="2" y="27"/>
                    <a:pt x="1" y="19"/>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7" name="Freeform 89"/>
            <p:cNvSpPr/>
            <p:nvPr/>
          </p:nvSpPr>
          <p:spPr bwMode="auto">
            <a:xfrm>
              <a:off x="4232276" y="1990725"/>
              <a:ext cx="139700" cy="93663"/>
            </a:xfrm>
            <a:custGeom>
              <a:avLst/>
              <a:gdLst/>
              <a:ahLst/>
              <a:cxnLst>
                <a:cxn ang="0">
                  <a:pos x="46" y="18"/>
                </a:cxn>
                <a:cxn ang="0">
                  <a:pos x="15" y="3"/>
                </a:cxn>
                <a:cxn ang="0">
                  <a:pos x="0" y="5"/>
                </a:cxn>
                <a:cxn ang="0">
                  <a:pos x="24" y="30"/>
                </a:cxn>
                <a:cxn ang="0">
                  <a:pos x="46" y="18"/>
                </a:cxn>
              </a:cxnLst>
              <a:rect l="0" t="0" r="r" b="b"/>
              <a:pathLst>
                <a:path w="48" h="32">
                  <a:moveTo>
                    <a:pt x="46" y="18"/>
                  </a:moveTo>
                  <a:cubicBezTo>
                    <a:pt x="46" y="18"/>
                    <a:pt x="44" y="0"/>
                    <a:pt x="15" y="3"/>
                  </a:cubicBezTo>
                  <a:cubicBezTo>
                    <a:pt x="15" y="3"/>
                    <a:pt x="2" y="6"/>
                    <a:pt x="0" y="5"/>
                  </a:cubicBezTo>
                  <a:cubicBezTo>
                    <a:pt x="0" y="5"/>
                    <a:pt x="10" y="27"/>
                    <a:pt x="24" y="30"/>
                  </a:cubicBezTo>
                  <a:cubicBezTo>
                    <a:pt x="38" y="32"/>
                    <a:pt x="48" y="27"/>
                    <a:pt x="46" y="1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8" name="Freeform 90"/>
            <p:cNvSpPr/>
            <p:nvPr/>
          </p:nvSpPr>
          <p:spPr bwMode="auto">
            <a:xfrm>
              <a:off x="4170363" y="1870075"/>
              <a:ext cx="131763" cy="87313"/>
            </a:xfrm>
            <a:custGeom>
              <a:avLst/>
              <a:gdLst/>
              <a:ahLst/>
              <a:cxnLst>
                <a:cxn ang="0">
                  <a:pos x="41" y="11"/>
                </a:cxn>
                <a:cxn ang="0">
                  <a:pos x="7" y="8"/>
                </a:cxn>
                <a:cxn ang="0">
                  <a:pos x="0" y="18"/>
                </a:cxn>
                <a:cxn ang="0">
                  <a:pos x="19" y="24"/>
                </a:cxn>
                <a:cxn ang="0">
                  <a:pos x="41" y="11"/>
                </a:cxn>
              </a:cxnLst>
              <a:rect l="0" t="0" r="r" b="b"/>
              <a:pathLst>
                <a:path w="45" h="30">
                  <a:moveTo>
                    <a:pt x="41" y="11"/>
                  </a:moveTo>
                  <a:cubicBezTo>
                    <a:pt x="37" y="5"/>
                    <a:pt x="22" y="0"/>
                    <a:pt x="7" y="8"/>
                  </a:cubicBezTo>
                  <a:cubicBezTo>
                    <a:pt x="1" y="12"/>
                    <a:pt x="0" y="18"/>
                    <a:pt x="0" y="18"/>
                  </a:cubicBezTo>
                  <a:cubicBezTo>
                    <a:pt x="0" y="18"/>
                    <a:pt x="13" y="21"/>
                    <a:pt x="19" y="24"/>
                  </a:cubicBezTo>
                  <a:cubicBezTo>
                    <a:pt x="32" y="30"/>
                    <a:pt x="45" y="18"/>
                    <a:pt x="41" y="1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9" name="Freeform 91"/>
            <p:cNvSpPr/>
            <p:nvPr/>
          </p:nvSpPr>
          <p:spPr bwMode="auto">
            <a:xfrm>
              <a:off x="4122738" y="1682750"/>
              <a:ext cx="120650" cy="114300"/>
            </a:xfrm>
            <a:custGeom>
              <a:avLst/>
              <a:gdLst/>
              <a:ahLst/>
              <a:cxnLst>
                <a:cxn ang="0">
                  <a:pos x="30" y="34"/>
                </a:cxn>
                <a:cxn ang="0">
                  <a:pos x="23" y="9"/>
                </a:cxn>
                <a:cxn ang="0">
                  <a:pos x="8" y="0"/>
                </a:cxn>
                <a:cxn ang="0">
                  <a:pos x="9" y="27"/>
                </a:cxn>
                <a:cxn ang="0">
                  <a:pos x="30" y="34"/>
                </a:cxn>
              </a:cxnLst>
              <a:rect l="0" t="0" r="r" b="b"/>
              <a:pathLst>
                <a:path w="41" h="39">
                  <a:moveTo>
                    <a:pt x="30" y="34"/>
                  </a:moveTo>
                  <a:cubicBezTo>
                    <a:pt x="30" y="34"/>
                    <a:pt x="41" y="17"/>
                    <a:pt x="23" y="9"/>
                  </a:cubicBezTo>
                  <a:cubicBezTo>
                    <a:pt x="10" y="3"/>
                    <a:pt x="8" y="0"/>
                    <a:pt x="8" y="0"/>
                  </a:cubicBezTo>
                  <a:cubicBezTo>
                    <a:pt x="8" y="0"/>
                    <a:pt x="0" y="15"/>
                    <a:pt x="9" y="27"/>
                  </a:cubicBezTo>
                  <a:cubicBezTo>
                    <a:pt x="18" y="39"/>
                    <a:pt x="27" y="35"/>
                    <a:pt x="30" y="3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0" name="Freeform 92"/>
            <p:cNvSpPr/>
            <p:nvPr/>
          </p:nvSpPr>
          <p:spPr bwMode="auto">
            <a:xfrm>
              <a:off x="4246563" y="1670050"/>
              <a:ext cx="125413" cy="134938"/>
            </a:xfrm>
            <a:custGeom>
              <a:avLst/>
              <a:gdLst/>
              <a:ahLst/>
              <a:cxnLst>
                <a:cxn ang="0">
                  <a:pos x="14" y="41"/>
                </a:cxn>
                <a:cxn ang="0">
                  <a:pos x="12" y="17"/>
                </a:cxn>
                <a:cxn ang="0">
                  <a:pos x="31" y="0"/>
                </a:cxn>
                <a:cxn ang="0">
                  <a:pos x="35" y="38"/>
                </a:cxn>
                <a:cxn ang="0">
                  <a:pos x="14" y="41"/>
                </a:cxn>
              </a:cxnLst>
              <a:rect l="0" t="0" r="r" b="b"/>
              <a:pathLst>
                <a:path w="43" h="46">
                  <a:moveTo>
                    <a:pt x="14" y="41"/>
                  </a:moveTo>
                  <a:cubicBezTo>
                    <a:pt x="14" y="41"/>
                    <a:pt x="0" y="28"/>
                    <a:pt x="12" y="17"/>
                  </a:cubicBezTo>
                  <a:cubicBezTo>
                    <a:pt x="24" y="5"/>
                    <a:pt x="31" y="4"/>
                    <a:pt x="31" y="0"/>
                  </a:cubicBezTo>
                  <a:cubicBezTo>
                    <a:pt x="31" y="0"/>
                    <a:pt x="43" y="30"/>
                    <a:pt x="35" y="38"/>
                  </a:cubicBezTo>
                  <a:cubicBezTo>
                    <a:pt x="28" y="46"/>
                    <a:pt x="19" y="44"/>
                    <a:pt x="14" y="4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1" name="Freeform 93"/>
            <p:cNvSpPr/>
            <p:nvPr/>
          </p:nvSpPr>
          <p:spPr bwMode="auto">
            <a:xfrm>
              <a:off x="4654551" y="1831975"/>
              <a:ext cx="128588" cy="134938"/>
            </a:xfrm>
            <a:custGeom>
              <a:avLst/>
              <a:gdLst/>
              <a:ahLst/>
              <a:cxnLst>
                <a:cxn ang="0">
                  <a:pos x="8" y="38"/>
                </a:cxn>
                <a:cxn ang="0">
                  <a:pos x="16" y="12"/>
                </a:cxn>
                <a:cxn ang="0">
                  <a:pos x="38" y="0"/>
                </a:cxn>
                <a:cxn ang="0">
                  <a:pos x="35" y="39"/>
                </a:cxn>
                <a:cxn ang="0">
                  <a:pos x="8" y="38"/>
                </a:cxn>
              </a:cxnLst>
              <a:rect l="0" t="0" r="r" b="b"/>
              <a:pathLst>
                <a:path w="44" h="46">
                  <a:moveTo>
                    <a:pt x="8" y="38"/>
                  </a:moveTo>
                  <a:cubicBezTo>
                    <a:pt x="8" y="38"/>
                    <a:pt x="0" y="19"/>
                    <a:pt x="16" y="12"/>
                  </a:cubicBezTo>
                  <a:cubicBezTo>
                    <a:pt x="33" y="5"/>
                    <a:pt x="38" y="0"/>
                    <a:pt x="38" y="0"/>
                  </a:cubicBezTo>
                  <a:cubicBezTo>
                    <a:pt x="38" y="0"/>
                    <a:pt x="44" y="32"/>
                    <a:pt x="35" y="39"/>
                  </a:cubicBezTo>
                  <a:cubicBezTo>
                    <a:pt x="25" y="45"/>
                    <a:pt x="13" y="46"/>
                    <a:pt x="8" y="3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2" name="Freeform 94"/>
            <p:cNvSpPr/>
            <p:nvPr/>
          </p:nvSpPr>
          <p:spPr bwMode="auto">
            <a:xfrm>
              <a:off x="4668838" y="1649413"/>
              <a:ext cx="84138" cy="120650"/>
            </a:xfrm>
            <a:custGeom>
              <a:avLst/>
              <a:gdLst/>
              <a:ahLst/>
              <a:cxnLst>
                <a:cxn ang="0">
                  <a:pos x="14" y="41"/>
                </a:cxn>
                <a:cxn ang="0">
                  <a:pos x="2" y="21"/>
                </a:cxn>
                <a:cxn ang="0">
                  <a:pos x="15" y="0"/>
                </a:cxn>
                <a:cxn ang="0">
                  <a:pos x="27" y="20"/>
                </a:cxn>
                <a:cxn ang="0">
                  <a:pos x="14" y="41"/>
                </a:cxn>
              </a:cxnLst>
              <a:rect l="0" t="0" r="r" b="b"/>
              <a:pathLst>
                <a:path w="29" h="41">
                  <a:moveTo>
                    <a:pt x="14" y="41"/>
                  </a:moveTo>
                  <a:cubicBezTo>
                    <a:pt x="14" y="41"/>
                    <a:pt x="0" y="31"/>
                    <a:pt x="2" y="21"/>
                  </a:cubicBezTo>
                  <a:cubicBezTo>
                    <a:pt x="4" y="11"/>
                    <a:pt x="15" y="3"/>
                    <a:pt x="15" y="0"/>
                  </a:cubicBezTo>
                  <a:cubicBezTo>
                    <a:pt x="15" y="0"/>
                    <a:pt x="26" y="13"/>
                    <a:pt x="27" y="20"/>
                  </a:cubicBezTo>
                  <a:cubicBezTo>
                    <a:pt x="29" y="26"/>
                    <a:pt x="27" y="40"/>
                    <a:pt x="14" y="4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3" name="Freeform 95"/>
            <p:cNvSpPr/>
            <p:nvPr/>
          </p:nvSpPr>
          <p:spPr bwMode="auto">
            <a:xfrm>
              <a:off x="3976688" y="1876425"/>
              <a:ext cx="141288" cy="122238"/>
            </a:xfrm>
            <a:custGeom>
              <a:avLst/>
              <a:gdLst/>
              <a:ahLst/>
              <a:cxnLst>
                <a:cxn ang="0">
                  <a:pos x="31" y="42"/>
                </a:cxn>
                <a:cxn ang="0">
                  <a:pos x="23" y="0"/>
                </a:cxn>
                <a:cxn ang="0">
                  <a:pos x="34" y="11"/>
                </a:cxn>
                <a:cxn ang="0">
                  <a:pos x="31" y="42"/>
                </a:cxn>
              </a:cxnLst>
              <a:rect l="0" t="0" r="r" b="b"/>
              <a:pathLst>
                <a:path w="48" h="42">
                  <a:moveTo>
                    <a:pt x="31" y="42"/>
                  </a:moveTo>
                  <a:cubicBezTo>
                    <a:pt x="31" y="42"/>
                    <a:pt x="0" y="34"/>
                    <a:pt x="23" y="0"/>
                  </a:cubicBezTo>
                  <a:cubicBezTo>
                    <a:pt x="23" y="0"/>
                    <a:pt x="27" y="6"/>
                    <a:pt x="34" y="11"/>
                  </a:cubicBezTo>
                  <a:cubicBezTo>
                    <a:pt x="41" y="16"/>
                    <a:pt x="48" y="42"/>
                    <a:pt x="31" y="42"/>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4" name="Freeform 96"/>
            <p:cNvSpPr/>
            <p:nvPr/>
          </p:nvSpPr>
          <p:spPr bwMode="auto">
            <a:xfrm>
              <a:off x="3830638" y="1901825"/>
              <a:ext cx="169863" cy="128588"/>
            </a:xfrm>
            <a:custGeom>
              <a:avLst/>
              <a:gdLst/>
              <a:ahLst/>
              <a:cxnLst>
                <a:cxn ang="0">
                  <a:pos x="26" y="44"/>
                </a:cxn>
                <a:cxn ang="0">
                  <a:pos x="20" y="0"/>
                </a:cxn>
                <a:cxn ang="0">
                  <a:pos x="28" y="7"/>
                </a:cxn>
                <a:cxn ang="0">
                  <a:pos x="26" y="44"/>
                </a:cxn>
              </a:cxnLst>
              <a:rect l="0" t="0" r="r" b="b"/>
              <a:pathLst>
                <a:path w="58" h="44">
                  <a:moveTo>
                    <a:pt x="26" y="44"/>
                  </a:moveTo>
                  <a:cubicBezTo>
                    <a:pt x="26" y="44"/>
                    <a:pt x="0" y="31"/>
                    <a:pt x="20" y="0"/>
                  </a:cubicBezTo>
                  <a:cubicBezTo>
                    <a:pt x="20" y="0"/>
                    <a:pt x="24" y="5"/>
                    <a:pt x="28" y="7"/>
                  </a:cubicBezTo>
                  <a:cubicBezTo>
                    <a:pt x="41" y="15"/>
                    <a:pt x="58" y="35"/>
                    <a:pt x="26" y="4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5" name="Freeform 97"/>
            <p:cNvSpPr/>
            <p:nvPr/>
          </p:nvSpPr>
          <p:spPr bwMode="auto">
            <a:xfrm>
              <a:off x="3997326" y="1724025"/>
              <a:ext cx="146050" cy="111125"/>
            </a:xfrm>
            <a:custGeom>
              <a:avLst/>
              <a:gdLst/>
              <a:ahLst/>
              <a:cxnLst>
                <a:cxn ang="0">
                  <a:pos x="30" y="38"/>
                </a:cxn>
                <a:cxn ang="0">
                  <a:pos x="18" y="0"/>
                </a:cxn>
                <a:cxn ang="0">
                  <a:pos x="26" y="9"/>
                </a:cxn>
                <a:cxn ang="0">
                  <a:pos x="30" y="38"/>
                </a:cxn>
              </a:cxnLst>
              <a:rect l="0" t="0" r="r" b="b"/>
              <a:pathLst>
                <a:path w="50" h="38">
                  <a:moveTo>
                    <a:pt x="30" y="38"/>
                  </a:moveTo>
                  <a:cubicBezTo>
                    <a:pt x="30" y="38"/>
                    <a:pt x="0" y="38"/>
                    <a:pt x="18" y="0"/>
                  </a:cubicBezTo>
                  <a:cubicBezTo>
                    <a:pt x="18" y="0"/>
                    <a:pt x="22" y="7"/>
                    <a:pt x="26" y="9"/>
                  </a:cubicBezTo>
                  <a:cubicBezTo>
                    <a:pt x="30" y="11"/>
                    <a:pt x="50" y="31"/>
                    <a:pt x="30" y="3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sp>
        <p:nvSpPr>
          <p:cNvPr id="36" name="日期占位符 35"/>
          <p:cNvSpPr>
            <a:spLocks noGrp="1"/>
          </p:cNvSpPr>
          <p:nvPr>
            <p:ph type="dt" sz="half" idx="10"/>
          </p:nvPr>
        </p:nvSpPr>
        <p:spPr/>
        <p:txBody>
          <a:bodyPr/>
          <a:lstStyle/>
          <a:p>
            <a:fld id="{7801F108-86F6-4EBD-A4E5-C398F4533A33}" type="datetime1">
              <a:rPr lang="zh-CN" altLang="en-US" smtClean="0"/>
            </a:fld>
            <a:endParaRPr lang="zh-CN" altLang="en-US" dirty="0"/>
          </a:p>
        </p:txBody>
      </p:sp>
      <p:sp>
        <p:nvSpPr>
          <p:cNvPr id="37" name="页脚占位符 36"/>
          <p:cNvSpPr>
            <a:spLocks noGrp="1"/>
          </p:cNvSpPr>
          <p:nvPr>
            <p:ph type="ftr" sz="quarter" idx="11"/>
          </p:nvPr>
        </p:nvSpPr>
        <p:spPr/>
        <p:txBody>
          <a:bodyPr/>
          <a:lstStyle/>
          <a:p>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课后作业</a:t>
            </a:r>
            <a:endParaRPr lang="zh-CN" altLang="en-US" dirty="0"/>
          </a:p>
        </p:txBody>
      </p:sp>
      <p:sp>
        <p:nvSpPr>
          <p:cNvPr id="3" name="内容占位符 2"/>
          <p:cNvSpPr>
            <a:spLocks noGrp="1"/>
          </p:cNvSpPr>
          <p:nvPr>
            <p:ph idx="1"/>
          </p:nvPr>
        </p:nvSpPr>
        <p:spPr>
          <a:xfrm>
            <a:off x="961753" y="1034143"/>
            <a:ext cx="7640810" cy="3440974"/>
          </a:xfrm>
        </p:spPr>
        <p:txBody>
          <a:bodyPr>
            <a:normAutofit/>
          </a:bodyPr>
          <a:lstStyle/>
          <a:p>
            <a:pPr>
              <a:lnSpc>
                <a:spcPct val="120000"/>
              </a:lnSpc>
              <a:spcBef>
                <a:spcPts val="1200"/>
              </a:spcBef>
              <a:spcAft>
                <a:spcPts val="0"/>
              </a:spcAft>
            </a:pPr>
            <a:r>
              <a:rPr lang="zh-CN" altLang="en-US" sz="2400" dirty="0">
                <a:solidFill>
                  <a:schemeClr val="accent2">
                    <a:lumMod val="75000"/>
                  </a:schemeClr>
                </a:solidFill>
                <a:latin typeface="+mj-ea"/>
                <a:ea typeface="+mj-ea"/>
              </a:rPr>
              <a:t>学习相关技术</a:t>
            </a:r>
            <a:endParaRPr lang="en-US" altLang="zh-CN" sz="2400" dirty="0">
              <a:solidFill>
                <a:schemeClr val="accent2">
                  <a:lumMod val="75000"/>
                </a:schemeClr>
              </a:solidFill>
              <a:latin typeface="+mj-ea"/>
              <a:ea typeface="+mj-ea"/>
            </a:endParaRPr>
          </a:p>
          <a:p>
            <a:pPr>
              <a:lnSpc>
                <a:spcPct val="120000"/>
              </a:lnSpc>
              <a:spcBef>
                <a:spcPts val="1200"/>
              </a:spcBef>
              <a:spcAft>
                <a:spcPts val="0"/>
              </a:spcAft>
            </a:pPr>
            <a:r>
              <a:rPr lang="zh-CN" altLang="en-US" sz="2400" dirty="0">
                <a:solidFill>
                  <a:schemeClr val="accent2">
                    <a:lumMod val="75000"/>
                  </a:schemeClr>
                </a:solidFill>
                <a:latin typeface="+mj-ea"/>
                <a:ea typeface="+mj-ea"/>
              </a:rPr>
              <a:t>学习慕课视频</a:t>
            </a:r>
            <a:endParaRPr lang="en-US" altLang="zh-CN" sz="2400" dirty="0">
              <a:solidFill>
                <a:schemeClr val="accent2">
                  <a:lumMod val="75000"/>
                </a:schemeClr>
              </a:solidFill>
              <a:latin typeface="+mj-ea"/>
              <a:ea typeface="+mj-ea"/>
            </a:endParaRPr>
          </a:p>
          <a:p>
            <a:pPr>
              <a:lnSpc>
                <a:spcPct val="120000"/>
              </a:lnSpc>
            </a:pPr>
            <a:r>
              <a:rPr lang="zh-CN" altLang="en-US" sz="2400" dirty="0">
                <a:solidFill>
                  <a:schemeClr val="accent2">
                    <a:lumMod val="75000"/>
                  </a:schemeClr>
                </a:solidFill>
              </a:rPr>
              <a:t>学习相关软件如</a:t>
            </a:r>
            <a:r>
              <a:rPr lang="en-US" altLang="zh-CN" sz="2400" dirty="0" err="1">
                <a:solidFill>
                  <a:schemeClr val="accent2">
                    <a:lumMod val="75000"/>
                  </a:schemeClr>
                </a:solidFill>
              </a:rPr>
              <a:t>Axure</a:t>
            </a:r>
            <a:r>
              <a:rPr lang="zh-CN" altLang="en-US" sz="2400" dirty="0">
                <a:solidFill>
                  <a:schemeClr val="accent2">
                    <a:lumMod val="75000"/>
                  </a:schemeClr>
                </a:solidFill>
              </a:rPr>
              <a:t>、</a:t>
            </a:r>
            <a:r>
              <a:rPr lang="en-US" altLang="zh-CN" sz="2400" dirty="0">
                <a:solidFill>
                  <a:schemeClr val="accent2">
                    <a:lumMod val="75000"/>
                  </a:schemeClr>
                </a:solidFill>
              </a:rPr>
              <a:t>GitHub</a:t>
            </a:r>
            <a:r>
              <a:rPr lang="zh-CN" altLang="en-US" sz="2400" dirty="0">
                <a:solidFill>
                  <a:schemeClr val="accent2">
                    <a:lumMod val="75000"/>
                  </a:schemeClr>
                </a:solidFill>
              </a:rPr>
              <a:t>、</a:t>
            </a:r>
            <a:r>
              <a:rPr lang="en-US" altLang="zh-CN" sz="2400" dirty="0">
                <a:solidFill>
                  <a:schemeClr val="accent2">
                    <a:lumMod val="75000"/>
                  </a:schemeClr>
                </a:solidFill>
              </a:rPr>
              <a:t>Rational Rose</a:t>
            </a:r>
            <a:r>
              <a:rPr lang="zh-CN" altLang="en-US" sz="2400" dirty="0">
                <a:solidFill>
                  <a:schemeClr val="accent2">
                    <a:lumMod val="75000"/>
                  </a:schemeClr>
                </a:solidFill>
              </a:rPr>
              <a:t>、</a:t>
            </a:r>
            <a:r>
              <a:rPr lang="en-US" altLang="zh-CN" sz="2400" dirty="0" err="1">
                <a:solidFill>
                  <a:schemeClr val="accent2">
                    <a:lumMod val="75000"/>
                  </a:schemeClr>
                </a:solidFill>
              </a:rPr>
              <a:t>Viso</a:t>
            </a:r>
            <a:r>
              <a:rPr lang="zh-CN" altLang="en-US" sz="2400" dirty="0">
                <a:solidFill>
                  <a:schemeClr val="accent2">
                    <a:lumMod val="75000"/>
                  </a:schemeClr>
                </a:solidFill>
              </a:rPr>
              <a:t>、</a:t>
            </a:r>
            <a:r>
              <a:rPr lang="en-US" altLang="zh-CN" sz="2400" dirty="0" err="1">
                <a:solidFill>
                  <a:srgbClr val="FF0000"/>
                </a:solidFill>
              </a:rPr>
              <a:t>StarUML</a:t>
            </a:r>
            <a:r>
              <a:rPr lang="zh-CN" altLang="en-US" sz="2400" dirty="0">
                <a:solidFill>
                  <a:schemeClr val="accent2">
                    <a:lumMod val="75000"/>
                  </a:schemeClr>
                </a:solidFill>
              </a:rPr>
              <a:t>等</a:t>
            </a:r>
            <a:endParaRPr lang="en-US" altLang="zh-CN" sz="2400" dirty="0">
              <a:solidFill>
                <a:schemeClr val="accent2">
                  <a:lumMod val="75000"/>
                </a:schemeClr>
              </a:solidFill>
            </a:endParaRPr>
          </a:p>
          <a:p>
            <a:pPr>
              <a:lnSpc>
                <a:spcPct val="120000"/>
              </a:lnSpc>
              <a:spcBef>
                <a:spcPts val="1200"/>
              </a:spcBef>
              <a:spcAft>
                <a:spcPts val="0"/>
              </a:spcAft>
            </a:pPr>
            <a:r>
              <a:rPr lang="zh-CN" altLang="en-US" sz="2400" dirty="0">
                <a:solidFill>
                  <a:schemeClr val="accent2">
                    <a:lumMod val="75000"/>
                  </a:schemeClr>
                </a:solidFill>
              </a:rPr>
              <a:t>完成学堂云中第</a:t>
            </a:r>
            <a:r>
              <a:rPr lang="en-US" altLang="zh-CN" sz="2400" dirty="0">
                <a:solidFill>
                  <a:schemeClr val="accent2">
                    <a:lumMod val="75000"/>
                  </a:schemeClr>
                </a:solidFill>
              </a:rPr>
              <a:t>1</a:t>
            </a:r>
            <a:r>
              <a:rPr lang="zh-CN" altLang="en-US" sz="2400" dirty="0">
                <a:solidFill>
                  <a:schemeClr val="accent2">
                    <a:lumMod val="75000"/>
                  </a:schemeClr>
                </a:solidFill>
              </a:rPr>
              <a:t>章、第</a:t>
            </a:r>
            <a:r>
              <a:rPr lang="en-US" altLang="zh-CN" sz="2400" dirty="0">
                <a:solidFill>
                  <a:schemeClr val="accent2">
                    <a:lumMod val="75000"/>
                  </a:schemeClr>
                </a:solidFill>
              </a:rPr>
              <a:t>4</a:t>
            </a:r>
            <a:r>
              <a:rPr lang="zh-CN" altLang="en-US" sz="2400" dirty="0">
                <a:solidFill>
                  <a:schemeClr val="accent2">
                    <a:lumMod val="75000"/>
                  </a:schemeClr>
                </a:solidFill>
              </a:rPr>
              <a:t>章</a:t>
            </a:r>
            <a:r>
              <a:rPr lang="en-US" altLang="zh-CN" sz="2400" dirty="0">
                <a:solidFill>
                  <a:schemeClr val="accent2">
                    <a:lumMod val="75000"/>
                  </a:schemeClr>
                </a:solidFill>
              </a:rPr>
              <a:t>~</a:t>
            </a:r>
            <a:r>
              <a:rPr lang="zh-CN" altLang="en-US" sz="2400" dirty="0">
                <a:solidFill>
                  <a:schemeClr val="accent2">
                    <a:lumMod val="75000"/>
                  </a:schemeClr>
                </a:solidFill>
              </a:rPr>
              <a:t>第</a:t>
            </a:r>
            <a:r>
              <a:rPr lang="en-US" altLang="zh-CN" sz="2400" dirty="0">
                <a:solidFill>
                  <a:schemeClr val="accent2">
                    <a:lumMod val="75000"/>
                  </a:schemeClr>
                </a:solidFill>
              </a:rPr>
              <a:t>6</a:t>
            </a:r>
            <a:r>
              <a:rPr lang="zh-CN" altLang="en-US" sz="2400" dirty="0">
                <a:solidFill>
                  <a:schemeClr val="accent2">
                    <a:lumMod val="75000"/>
                  </a:schemeClr>
                </a:solidFill>
              </a:rPr>
              <a:t>章的测试题。</a:t>
            </a:r>
            <a:endParaRPr lang="en-US" altLang="zh-CN" sz="2400" dirty="0">
              <a:solidFill>
                <a:schemeClr val="accent2">
                  <a:lumMod val="75000"/>
                </a:schemeClr>
              </a:solidFill>
            </a:endParaRPr>
          </a:p>
        </p:txBody>
      </p:sp>
      <p:sp>
        <p:nvSpPr>
          <p:cNvPr id="4" name="日期占位符 3"/>
          <p:cNvSpPr>
            <a:spLocks noGrp="1"/>
          </p:cNvSpPr>
          <p:nvPr>
            <p:ph type="dt" sz="half" idx="10"/>
          </p:nvPr>
        </p:nvSpPr>
        <p:spPr/>
        <p:txBody>
          <a:bodyPr/>
          <a:lstStyle/>
          <a:p>
            <a:fld id="{D9D7D9F0-05D8-4D77-AC63-7DA3C7A28427}"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8" name="图片 7"/>
          <p:cNvPicPr>
            <a:picLocks noChangeAspect="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494357" y="940043"/>
            <a:ext cx="1267285" cy="126728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982833" y="1099039"/>
            <a:ext cx="7631777" cy="2654573"/>
          </a:xfrm>
          <a:prstGeom prst="rect">
            <a:avLst/>
          </a:prstGeom>
          <a:noFill/>
        </p:spPr>
        <p:txBody>
          <a:bodyPr wrap="square" rtlCol="0">
            <a:spAutoFit/>
          </a:bodyPr>
          <a:lstStyle/>
          <a:p>
            <a:pPr>
              <a:lnSpc>
                <a:spcPct val="120000"/>
              </a:lnSpc>
              <a:spcBef>
                <a:spcPts val="900"/>
              </a:spcBef>
            </a:pPr>
            <a:r>
              <a:rPr lang="zh-CN" altLang="en-US" sz="2400" dirty="0">
                <a:solidFill>
                  <a:schemeClr val="accent2">
                    <a:lumMod val="75000"/>
                  </a:schemeClr>
                </a:solidFill>
                <a:latin typeface="+mj-ea"/>
                <a:ea typeface="+mj-ea"/>
              </a:rPr>
              <a:t>本周的实验需要大家开始进行需求分析工作，具体任务如下：</a:t>
            </a:r>
            <a:endParaRPr lang="en-US" altLang="zh-CN" sz="2400" dirty="0">
              <a:solidFill>
                <a:schemeClr val="accent2">
                  <a:lumMod val="75000"/>
                </a:schemeClr>
              </a:solidFill>
              <a:latin typeface="+mj-ea"/>
              <a:ea typeface="+mj-ea"/>
            </a:endParaRPr>
          </a:p>
          <a:p>
            <a:pPr marL="386080" indent="-386080">
              <a:lnSpc>
                <a:spcPct val="120000"/>
              </a:lnSpc>
              <a:spcBef>
                <a:spcPts val="900"/>
              </a:spcBef>
              <a:buFont typeface="+mj-lt"/>
              <a:buAutoNum type="arabicPeriod"/>
            </a:pPr>
            <a:r>
              <a:rPr lang="zh-CN" altLang="en-US" sz="2400" dirty="0">
                <a:solidFill>
                  <a:schemeClr val="accent2">
                    <a:lumMod val="75000"/>
                  </a:schemeClr>
                </a:solidFill>
                <a:latin typeface="+mj-ea"/>
                <a:ea typeface="+mj-ea"/>
              </a:rPr>
              <a:t>与用户进行沟通，获取需求；</a:t>
            </a:r>
            <a:endParaRPr lang="en-US" altLang="zh-CN" sz="2400" dirty="0">
              <a:solidFill>
                <a:schemeClr val="accent2">
                  <a:lumMod val="75000"/>
                </a:schemeClr>
              </a:solidFill>
              <a:latin typeface="+mj-ea"/>
              <a:ea typeface="+mj-ea"/>
            </a:endParaRPr>
          </a:p>
          <a:p>
            <a:pPr marL="386080" indent="-386080">
              <a:lnSpc>
                <a:spcPct val="120000"/>
              </a:lnSpc>
              <a:spcBef>
                <a:spcPts val="900"/>
              </a:spcBef>
              <a:buFont typeface="+mj-lt"/>
              <a:buAutoNum type="arabicPeriod"/>
            </a:pPr>
            <a:r>
              <a:rPr lang="zh-CN" altLang="en-US" sz="2400" dirty="0">
                <a:solidFill>
                  <a:schemeClr val="accent2">
                    <a:lumMod val="75000"/>
                  </a:schemeClr>
                </a:solidFill>
                <a:latin typeface="+mj-ea"/>
                <a:ea typeface="+mj-ea"/>
              </a:rPr>
              <a:t>对系统的业务、流程和数据进行分析；</a:t>
            </a:r>
            <a:endParaRPr lang="en-US" altLang="zh-CN" sz="2400" dirty="0">
              <a:solidFill>
                <a:schemeClr val="accent2">
                  <a:lumMod val="75000"/>
                </a:schemeClr>
              </a:solidFill>
              <a:latin typeface="+mj-ea"/>
              <a:ea typeface="+mj-ea"/>
            </a:endParaRPr>
          </a:p>
          <a:p>
            <a:pPr marL="386080" indent="-386080">
              <a:lnSpc>
                <a:spcPct val="120000"/>
              </a:lnSpc>
              <a:spcBef>
                <a:spcPts val="900"/>
              </a:spcBef>
              <a:buFont typeface="+mj-lt"/>
              <a:buAutoNum type="arabicPeriod"/>
            </a:pPr>
            <a:r>
              <a:rPr lang="zh-CN" altLang="en-US" sz="2400" dirty="0">
                <a:solidFill>
                  <a:schemeClr val="accent2">
                    <a:lumMod val="75000"/>
                  </a:schemeClr>
                </a:solidFill>
                <a:latin typeface="+mj-ea"/>
                <a:ea typeface="+mj-ea"/>
              </a:rPr>
              <a:t>整理出业务分析报告。</a:t>
            </a:r>
            <a:endParaRPr lang="en-US" altLang="zh-CN" sz="2400" dirty="0">
              <a:solidFill>
                <a:schemeClr val="accent2">
                  <a:lumMod val="75000"/>
                </a:schemeClr>
              </a:solidFill>
              <a:latin typeface="+mj-ea"/>
              <a:ea typeface="+mj-ea"/>
            </a:endParaRPr>
          </a:p>
        </p:txBody>
      </p:sp>
      <p:sp>
        <p:nvSpPr>
          <p:cNvPr id="4" name="标题 3"/>
          <p:cNvSpPr>
            <a:spLocks noGrp="1"/>
          </p:cNvSpPr>
          <p:nvPr>
            <p:ph type="title"/>
          </p:nvPr>
        </p:nvSpPr>
        <p:spPr/>
        <p:txBody>
          <a:bodyPr/>
          <a:lstStyle/>
          <a:p>
            <a:r>
              <a:rPr lang="zh-CN" altLang="en-US" kern="100" dirty="0">
                <a:latin typeface="+mn-ea"/>
                <a:cs typeface="Times New Roman" panose="02020603050405020304" pitchFamily="18" charset="0"/>
              </a:rPr>
              <a:t>实验任务</a:t>
            </a:r>
            <a:endParaRPr lang="zh-CN" altLang="en-US" dirty="0"/>
          </a:p>
        </p:txBody>
      </p:sp>
      <p:grpSp>
        <p:nvGrpSpPr>
          <p:cNvPr id="5" name="组合 4"/>
          <p:cNvGrpSpPr/>
          <p:nvPr/>
        </p:nvGrpSpPr>
        <p:grpSpPr>
          <a:xfrm>
            <a:off x="6858001" y="2211541"/>
            <a:ext cx="1891966" cy="1999512"/>
            <a:chOff x="1516062" y="3403601"/>
            <a:chExt cx="2560638" cy="2846387"/>
          </a:xfrm>
          <a:solidFill>
            <a:schemeClr val="tx1">
              <a:lumMod val="65000"/>
              <a:lumOff val="35000"/>
            </a:schemeClr>
          </a:solidFill>
        </p:grpSpPr>
        <p:sp>
          <p:nvSpPr>
            <p:cNvPr id="6" name="Freeform 6"/>
            <p:cNvSpPr/>
            <p:nvPr/>
          </p:nvSpPr>
          <p:spPr bwMode="auto">
            <a:xfrm>
              <a:off x="1516062" y="3403601"/>
              <a:ext cx="2405063" cy="2846387"/>
            </a:xfrm>
            <a:custGeom>
              <a:avLst/>
              <a:gdLst>
                <a:gd name="T0" fmla="*/ 2572 w 2702"/>
                <a:gd name="T1" fmla="*/ 0 h 3200"/>
                <a:gd name="T2" fmla="*/ 2606 w 2702"/>
                <a:gd name="T3" fmla="*/ 11 h 3200"/>
                <a:gd name="T4" fmla="*/ 2700 w 2702"/>
                <a:gd name="T5" fmla="*/ 145 h 3200"/>
                <a:gd name="T6" fmla="*/ 2700 w 2702"/>
                <a:gd name="T7" fmla="*/ 885 h 3200"/>
                <a:gd name="T8" fmla="*/ 2699 w 2702"/>
                <a:gd name="T9" fmla="*/ 898 h 3200"/>
                <a:gd name="T10" fmla="*/ 2604 w 2702"/>
                <a:gd name="T11" fmla="*/ 803 h 3200"/>
                <a:gd name="T12" fmla="*/ 2601 w 2702"/>
                <a:gd name="T13" fmla="*/ 780 h 3200"/>
                <a:gd name="T14" fmla="*/ 2600 w 2702"/>
                <a:gd name="T15" fmla="*/ 164 h 3200"/>
                <a:gd name="T16" fmla="*/ 2536 w 2702"/>
                <a:gd name="T17" fmla="*/ 100 h 3200"/>
                <a:gd name="T18" fmla="*/ 164 w 2702"/>
                <a:gd name="T19" fmla="*/ 100 h 3200"/>
                <a:gd name="T20" fmla="*/ 100 w 2702"/>
                <a:gd name="T21" fmla="*/ 163 h 3200"/>
                <a:gd name="T22" fmla="*/ 100 w 2702"/>
                <a:gd name="T23" fmla="*/ 3037 h 3200"/>
                <a:gd name="T24" fmla="*/ 162 w 2702"/>
                <a:gd name="T25" fmla="*/ 3100 h 3200"/>
                <a:gd name="T26" fmla="*/ 2538 w 2702"/>
                <a:gd name="T27" fmla="*/ 3100 h 3200"/>
                <a:gd name="T28" fmla="*/ 2600 w 2702"/>
                <a:gd name="T29" fmla="*/ 3037 h 3200"/>
                <a:gd name="T30" fmla="*/ 2600 w 2702"/>
                <a:gd name="T31" fmla="*/ 1674 h 3200"/>
                <a:gd name="T32" fmla="*/ 2615 w 2702"/>
                <a:gd name="T33" fmla="*/ 1637 h 3200"/>
                <a:gd name="T34" fmla="*/ 2696 w 2702"/>
                <a:gd name="T35" fmla="*/ 1555 h 3200"/>
                <a:gd name="T36" fmla="*/ 2700 w 2702"/>
                <a:gd name="T37" fmla="*/ 1558 h 3200"/>
                <a:gd name="T38" fmla="*/ 2700 w 2702"/>
                <a:gd name="T39" fmla="*/ 1581 h 3200"/>
                <a:gd name="T40" fmla="*/ 2702 w 2702"/>
                <a:gd name="T41" fmla="*/ 3019 h 3200"/>
                <a:gd name="T42" fmla="*/ 2572 w 2702"/>
                <a:gd name="T43" fmla="*/ 3200 h 3200"/>
                <a:gd name="T44" fmla="*/ 128 w 2702"/>
                <a:gd name="T45" fmla="*/ 3200 h 3200"/>
                <a:gd name="T46" fmla="*/ 36 w 2702"/>
                <a:gd name="T47" fmla="*/ 3146 h 3200"/>
                <a:gd name="T48" fmla="*/ 0 w 2702"/>
                <a:gd name="T49" fmla="*/ 3072 h 3200"/>
                <a:gd name="T50" fmla="*/ 0 w 2702"/>
                <a:gd name="T51" fmla="*/ 128 h 3200"/>
                <a:gd name="T52" fmla="*/ 36 w 2702"/>
                <a:gd name="T53" fmla="*/ 54 h 3200"/>
                <a:gd name="T54" fmla="*/ 128 w 2702"/>
                <a:gd name="T55" fmla="*/ 0 h 3200"/>
                <a:gd name="T56" fmla="*/ 2572 w 2702"/>
                <a:gd name="T57" fmla="*/ 0 h 3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702" h="3200">
                  <a:moveTo>
                    <a:pt x="2572" y="0"/>
                  </a:moveTo>
                  <a:cubicBezTo>
                    <a:pt x="2583" y="4"/>
                    <a:pt x="2595" y="6"/>
                    <a:pt x="2606" y="11"/>
                  </a:cubicBezTo>
                  <a:cubicBezTo>
                    <a:pt x="2664" y="37"/>
                    <a:pt x="2699" y="81"/>
                    <a:pt x="2700" y="145"/>
                  </a:cubicBezTo>
                  <a:cubicBezTo>
                    <a:pt x="2701" y="392"/>
                    <a:pt x="2700" y="639"/>
                    <a:pt x="2700" y="885"/>
                  </a:cubicBezTo>
                  <a:cubicBezTo>
                    <a:pt x="2700" y="888"/>
                    <a:pt x="2700" y="891"/>
                    <a:pt x="2699" y="898"/>
                  </a:cubicBezTo>
                  <a:cubicBezTo>
                    <a:pt x="2666" y="865"/>
                    <a:pt x="2634" y="834"/>
                    <a:pt x="2604" y="803"/>
                  </a:cubicBezTo>
                  <a:cubicBezTo>
                    <a:pt x="2600" y="798"/>
                    <a:pt x="2601" y="788"/>
                    <a:pt x="2601" y="780"/>
                  </a:cubicBezTo>
                  <a:cubicBezTo>
                    <a:pt x="2600" y="575"/>
                    <a:pt x="2600" y="370"/>
                    <a:pt x="2600" y="164"/>
                  </a:cubicBezTo>
                  <a:cubicBezTo>
                    <a:pt x="2600" y="115"/>
                    <a:pt x="2585" y="100"/>
                    <a:pt x="2536" y="100"/>
                  </a:cubicBezTo>
                  <a:cubicBezTo>
                    <a:pt x="1745" y="100"/>
                    <a:pt x="955" y="100"/>
                    <a:pt x="164" y="100"/>
                  </a:cubicBezTo>
                  <a:cubicBezTo>
                    <a:pt x="117" y="100"/>
                    <a:pt x="100" y="116"/>
                    <a:pt x="100" y="163"/>
                  </a:cubicBezTo>
                  <a:cubicBezTo>
                    <a:pt x="100" y="1121"/>
                    <a:pt x="100" y="2079"/>
                    <a:pt x="100" y="3037"/>
                  </a:cubicBezTo>
                  <a:cubicBezTo>
                    <a:pt x="100" y="3083"/>
                    <a:pt x="117" y="3100"/>
                    <a:pt x="162" y="3100"/>
                  </a:cubicBezTo>
                  <a:cubicBezTo>
                    <a:pt x="954" y="3100"/>
                    <a:pt x="1746" y="3100"/>
                    <a:pt x="2538" y="3100"/>
                  </a:cubicBezTo>
                  <a:cubicBezTo>
                    <a:pt x="2584" y="3100"/>
                    <a:pt x="2600" y="3084"/>
                    <a:pt x="2600" y="3037"/>
                  </a:cubicBezTo>
                  <a:cubicBezTo>
                    <a:pt x="2600" y="2583"/>
                    <a:pt x="2600" y="2128"/>
                    <a:pt x="2600" y="1674"/>
                  </a:cubicBezTo>
                  <a:cubicBezTo>
                    <a:pt x="2600" y="1658"/>
                    <a:pt x="2604" y="1647"/>
                    <a:pt x="2615" y="1637"/>
                  </a:cubicBezTo>
                  <a:cubicBezTo>
                    <a:pt x="2643" y="1610"/>
                    <a:pt x="2669" y="1582"/>
                    <a:pt x="2696" y="1555"/>
                  </a:cubicBezTo>
                  <a:cubicBezTo>
                    <a:pt x="2697" y="1556"/>
                    <a:pt x="2699" y="1557"/>
                    <a:pt x="2700" y="1558"/>
                  </a:cubicBezTo>
                  <a:cubicBezTo>
                    <a:pt x="2700" y="1565"/>
                    <a:pt x="2700" y="1573"/>
                    <a:pt x="2700" y="1581"/>
                  </a:cubicBezTo>
                  <a:cubicBezTo>
                    <a:pt x="2700" y="2060"/>
                    <a:pt x="2699" y="2539"/>
                    <a:pt x="2702" y="3019"/>
                  </a:cubicBezTo>
                  <a:cubicBezTo>
                    <a:pt x="2702" y="3120"/>
                    <a:pt x="2654" y="3182"/>
                    <a:pt x="2572" y="3200"/>
                  </a:cubicBezTo>
                  <a:cubicBezTo>
                    <a:pt x="1757" y="3200"/>
                    <a:pt x="943" y="3200"/>
                    <a:pt x="128" y="3200"/>
                  </a:cubicBezTo>
                  <a:cubicBezTo>
                    <a:pt x="92" y="3191"/>
                    <a:pt x="58" y="3177"/>
                    <a:pt x="36" y="3146"/>
                  </a:cubicBezTo>
                  <a:cubicBezTo>
                    <a:pt x="21" y="3123"/>
                    <a:pt x="12" y="3097"/>
                    <a:pt x="0" y="3072"/>
                  </a:cubicBezTo>
                  <a:cubicBezTo>
                    <a:pt x="0" y="2091"/>
                    <a:pt x="0" y="1109"/>
                    <a:pt x="0" y="128"/>
                  </a:cubicBezTo>
                  <a:cubicBezTo>
                    <a:pt x="12" y="103"/>
                    <a:pt x="21" y="77"/>
                    <a:pt x="36" y="54"/>
                  </a:cubicBezTo>
                  <a:cubicBezTo>
                    <a:pt x="58" y="23"/>
                    <a:pt x="92" y="9"/>
                    <a:pt x="128" y="0"/>
                  </a:cubicBezTo>
                  <a:cubicBezTo>
                    <a:pt x="943" y="0"/>
                    <a:pt x="1757" y="0"/>
                    <a:pt x="257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 name="Freeform 7"/>
            <p:cNvSpPr/>
            <p:nvPr/>
          </p:nvSpPr>
          <p:spPr bwMode="auto">
            <a:xfrm>
              <a:off x="3448050" y="4132263"/>
              <a:ext cx="628650" cy="633412"/>
            </a:xfrm>
            <a:custGeom>
              <a:avLst/>
              <a:gdLst>
                <a:gd name="T0" fmla="*/ 706 w 706"/>
                <a:gd name="T1" fmla="*/ 410 h 714"/>
                <a:gd name="T2" fmla="*/ 682 w 706"/>
                <a:gd name="T3" fmla="*/ 441 h 714"/>
                <a:gd name="T4" fmla="*/ 441 w 706"/>
                <a:gd name="T5" fmla="*/ 681 h 714"/>
                <a:gd name="T6" fmla="*/ 357 w 706"/>
                <a:gd name="T7" fmla="*/ 682 h 714"/>
                <a:gd name="T8" fmla="*/ 31 w 706"/>
                <a:gd name="T9" fmla="*/ 356 h 714"/>
                <a:gd name="T10" fmla="*/ 31 w 706"/>
                <a:gd name="T11" fmla="*/ 274 h 714"/>
                <a:gd name="T12" fmla="*/ 274 w 706"/>
                <a:gd name="T13" fmla="*/ 31 h 714"/>
                <a:gd name="T14" fmla="*/ 357 w 706"/>
                <a:gd name="T15" fmla="*/ 32 h 714"/>
                <a:gd name="T16" fmla="*/ 677 w 706"/>
                <a:gd name="T17" fmla="*/ 351 h 714"/>
                <a:gd name="T18" fmla="*/ 706 w 706"/>
                <a:gd name="T19" fmla="*/ 386 h 714"/>
                <a:gd name="T20" fmla="*/ 706 w 706"/>
                <a:gd name="T21" fmla="*/ 410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06" h="714">
                  <a:moveTo>
                    <a:pt x="706" y="410"/>
                  </a:moveTo>
                  <a:cubicBezTo>
                    <a:pt x="698" y="420"/>
                    <a:pt x="691" y="432"/>
                    <a:pt x="682" y="441"/>
                  </a:cubicBezTo>
                  <a:cubicBezTo>
                    <a:pt x="602" y="521"/>
                    <a:pt x="522" y="601"/>
                    <a:pt x="441" y="681"/>
                  </a:cubicBezTo>
                  <a:cubicBezTo>
                    <a:pt x="409" y="714"/>
                    <a:pt x="389" y="714"/>
                    <a:pt x="357" y="682"/>
                  </a:cubicBezTo>
                  <a:cubicBezTo>
                    <a:pt x="248" y="573"/>
                    <a:pt x="139" y="465"/>
                    <a:pt x="31" y="356"/>
                  </a:cubicBezTo>
                  <a:cubicBezTo>
                    <a:pt x="0" y="326"/>
                    <a:pt x="0" y="305"/>
                    <a:pt x="31" y="274"/>
                  </a:cubicBezTo>
                  <a:cubicBezTo>
                    <a:pt x="112" y="193"/>
                    <a:pt x="193" y="112"/>
                    <a:pt x="274" y="31"/>
                  </a:cubicBezTo>
                  <a:cubicBezTo>
                    <a:pt x="305" y="0"/>
                    <a:pt x="326" y="0"/>
                    <a:pt x="357" y="32"/>
                  </a:cubicBezTo>
                  <a:cubicBezTo>
                    <a:pt x="464" y="138"/>
                    <a:pt x="570" y="245"/>
                    <a:pt x="677" y="351"/>
                  </a:cubicBezTo>
                  <a:cubicBezTo>
                    <a:pt x="687" y="362"/>
                    <a:pt x="696" y="374"/>
                    <a:pt x="706" y="386"/>
                  </a:cubicBezTo>
                  <a:cubicBezTo>
                    <a:pt x="706" y="394"/>
                    <a:pt x="706" y="402"/>
                    <a:pt x="706" y="410"/>
                  </a:cubicBezTo>
                  <a:close/>
                </a:path>
              </a:pathLst>
            </a:custGeom>
            <a:solidFill>
              <a:srgbClr val="FF94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 name="Freeform 10"/>
            <p:cNvSpPr/>
            <p:nvPr/>
          </p:nvSpPr>
          <p:spPr bwMode="auto">
            <a:xfrm>
              <a:off x="2587625" y="4483100"/>
              <a:ext cx="1139825" cy="1143000"/>
            </a:xfrm>
            <a:custGeom>
              <a:avLst/>
              <a:gdLst>
                <a:gd name="T0" fmla="*/ 1281 w 1281"/>
                <a:gd name="T1" fmla="*/ 396 h 1285"/>
                <a:gd name="T2" fmla="*/ 1267 w 1281"/>
                <a:gd name="T3" fmla="*/ 426 h 1285"/>
                <a:gd name="T4" fmla="*/ 1252 w 1281"/>
                <a:gd name="T5" fmla="*/ 442 h 1285"/>
                <a:gd name="T6" fmla="*/ 443 w 1281"/>
                <a:gd name="T7" fmla="*/ 1251 h 1285"/>
                <a:gd name="T8" fmla="*/ 356 w 1281"/>
                <a:gd name="T9" fmla="*/ 1251 h 1285"/>
                <a:gd name="T10" fmla="*/ 32 w 1281"/>
                <a:gd name="T11" fmla="*/ 927 h 1285"/>
                <a:gd name="T12" fmla="*/ 32 w 1281"/>
                <a:gd name="T13" fmla="*/ 844 h 1285"/>
                <a:gd name="T14" fmla="*/ 846 w 1281"/>
                <a:gd name="T15" fmla="*/ 30 h 1285"/>
                <a:gd name="T16" fmla="*/ 928 w 1281"/>
                <a:gd name="T17" fmla="*/ 30 h 1285"/>
                <a:gd name="T18" fmla="*/ 1256 w 1281"/>
                <a:gd name="T19" fmla="*/ 358 h 1285"/>
                <a:gd name="T20" fmla="*/ 1281 w 1281"/>
                <a:gd name="T21" fmla="*/ 396 h 1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1" h="1285">
                  <a:moveTo>
                    <a:pt x="1281" y="396"/>
                  </a:moveTo>
                  <a:cubicBezTo>
                    <a:pt x="1275" y="409"/>
                    <a:pt x="1272" y="418"/>
                    <a:pt x="1267" y="426"/>
                  </a:cubicBezTo>
                  <a:cubicBezTo>
                    <a:pt x="1263" y="432"/>
                    <a:pt x="1257" y="437"/>
                    <a:pt x="1252" y="442"/>
                  </a:cubicBezTo>
                  <a:cubicBezTo>
                    <a:pt x="982" y="712"/>
                    <a:pt x="712" y="981"/>
                    <a:pt x="443" y="1251"/>
                  </a:cubicBezTo>
                  <a:cubicBezTo>
                    <a:pt x="409" y="1285"/>
                    <a:pt x="390" y="1285"/>
                    <a:pt x="356" y="1251"/>
                  </a:cubicBezTo>
                  <a:cubicBezTo>
                    <a:pt x="248" y="1143"/>
                    <a:pt x="140" y="1035"/>
                    <a:pt x="32" y="927"/>
                  </a:cubicBezTo>
                  <a:cubicBezTo>
                    <a:pt x="0" y="895"/>
                    <a:pt x="0" y="876"/>
                    <a:pt x="32" y="844"/>
                  </a:cubicBezTo>
                  <a:cubicBezTo>
                    <a:pt x="303" y="573"/>
                    <a:pt x="575" y="301"/>
                    <a:pt x="846" y="30"/>
                  </a:cubicBezTo>
                  <a:cubicBezTo>
                    <a:pt x="876" y="0"/>
                    <a:pt x="898" y="0"/>
                    <a:pt x="928" y="30"/>
                  </a:cubicBezTo>
                  <a:cubicBezTo>
                    <a:pt x="1037" y="139"/>
                    <a:pt x="1147" y="248"/>
                    <a:pt x="1256" y="358"/>
                  </a:cubicBezTo>
                  <a:cubicBezTo>
                    <a:pt x="1266" y="369"/>
                    <a:pt x="1273" y="383"/>
                    <a:pt x="1281" y="396"/>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 name="Freeform 11"/>
            <p:cNvSpPr/>
            <p:nvPr/>
          </p:nvSpPr>
          <p:spPr bwMode="auto">
            <a:xfrm>
              <a:off x="2332038" y="5340350"/>
              <a:ext cx="538163" cy="539750"/>
            </a:xfrm>
            <a:custGeom>
              <a:avLst/>
              <a:gdLst>
                <a:gd name="T0" fmla="*/ 21 w 604"/>
                <a:gd name="T1" fmla="*/ 606 h 606"/>
                <a:gd name="T2" fmla="*/ 1 w 604"/>
                <a:gd name="T3" fmla="*/ 584 h 606"/>
                <a:gd name="T4" fmla="*/ 8 w 604"/>
                <a:gd name="T5" fmla="*/ 561 h 606"/>
                <a:gd name="T6" fmla="*/ 183 w 604"/>
                <a:gd name="T7" fmla="*/ 35 h 606"/>
                <a:gd name="T8" fmla="*/ 231 w 604"/>
                <a:gd name="T9" fmla="*/ 23 h 606"/>
                <a:gd name="T10" fmla="*/ 581 w 604"/>
                <a:gd name="T11" fmla="*/ 374 h 606"/>
                <a:gd name="T12" fmla="*/ 569 w 604"/>
                <a:gd name="T13" fmla="*/ 425 h 606"/>
                <a:gd name="T14" fmla="*/ 35 w 604"/>
                <a:gd name="T15" fmla="*/ 602 h 606"/>
                <a:gd name="T16" fmla="*/ 21 w 604"/>
                <a:gd name="T17" fmla="*/ 606 h 6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4" h="606">
                  <a:moveTo>
                    <a:pt x="21" y="606"/>
                  </a:moveTo>
                  <a:cubicBezTo>
                    <a:pt x="5" y="606"/>
                    <a:pt x="0" y="596"/>
                    <a:pt x="1" y="584"/>
                  </a:cubicBezTo>
                  <a:cubicBezTo>
                    <a:pt x="2" y="576"/>
                    <a:pt x="5" y="568"/>
                    <a:pt x="8" y="561"/>
                  </a:cubicBezTo>
                  <a:cubicBezTo>
                    <a:pt x="66" y="385"/>
                    <a:pt x="124" y="210"/>
                    <a:pt x="183" y="35"/>
                  </a:cubicBezTo>
                  <a:cubicBezTo>
                    <a:pt x="193" y="3"/>
                    <a:pt x="207" y="0"/>
                    <a:pt x="231" y="23"/>
                  </a:cubicBezTo>
                  <a:cubicBezTo>
                    <a:pt x="348" y="140"/>
                    <a:pt x="464" y="257"/>
                    <a:pt x="581" y="374"/>
                  </a:cubicBezTo>
                  <a:cubicBezTo>
                    <a:pt x="604" y="397"/>
                    <a:pt x="600" y="415"/>
                    <a:pt x="569" y="425"/>
                  </a:cubicBezTo>
                  <a:cubicBezTo>
                    <a:pt x="391" y="484"/>
                    <a:pt x="213" y="543"/>
                    <a:pt x="35" y="602"/>
                  </a:cubicBezTo>
                  <a:cubicBezTo>
                    <a:pt x="30" y="604"/>
                    <a:pt x="25" y="605"/>
                    <a:pt x="21" y="60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 name="Freeform 12"/>
            <p:cNvSpPr/>
            <p:nvPr/>
          </p:nvSpPr>
          <p:spPr bwMode="auto">
            <a:xfrm>
              <a:off x="1990725" y="4032250"/>
              <a:ext cx="1454150" cy="42862"/>
            </a:xfrm>
            <a:custGeom>
              <a:avLst/>
              <a:gdLst>
                <a:gd name="T0" fmla="*/ 1634 w 1634"/>
                <a:gd name="T1" fmla="*/ 0 h 48"/>
                <a:gd name="T2" fmla="*/ 1634 w 1634"/>
                <a:gd name="T3" fmla="*/ 48 h 48"/>
                <a:gd name="T4" fmla="*/ 0 w 1634"/>
                <a:gd name="T5" fmla="*/ 48 h 48"/>
                <a:gd name="T6" fmla="*/ 0 w 1634"/>
                <a:gd name="T7" fmla="*/ 0 h 48"/>
                <a:gd name="T8" fmla="*/ 1634 w 1634"/>
                <a:gd name="T9" fmla="*/ 0 h 48"/>
              </a:gdLst>
              <a:ahLst/>
              <a:cxnLst>
                <a:cxn ang="0">
                  <a:pos x="T0" y="T1"/>
                </a:cxn>
                <a:cxn ang="0">
                  <a:pos x="T2" y="T3"/>
                </a:cxn>
                <a:cxn ang="0">
                  <a:pos x="T4" y="T5"/>
                </a:cxn>
                <a:cxn ang="0">
                  <a:pos x="T6" y="T7"/>
                </a:cxn>
                <a:cxn ang="0">
                  <a:pos x="T8" y="T9"/>
                </a:cxn>
              </a:cxnLst>
              <a:rect l="0" t="0" r="r" b="b"/>
              <a:pathLst>
                <a:path w="1634" h="48">
                  <a:moveTo>
                    <a:pt x="1634" y="0"/>
                  </a:moveTo>
                  <a:cubicBezTo>
                    <a:pt x="1634" y="17"/>
                    <a:pt x="1634" y="32"/>
                    <a:pt x="1634" y="48"/>
                  </a:cubicBezTo>
                  <a:cubicBezTo>
                    <a:pt x="1090" y="48"/>
                    <a:pt x="546" y="48"/>
                    <a:pt x="0" y="48"/>
                  </a:cubicBezTo>
                  <a:cubicBezTo>
                    <a:pt x="0" y="32"/>
                    <a:pt x="0" y="17"/>
                    <a:pt x="0" y="0"/>
                  </a:cubicBezTo>
                  <a:cubicBezTo>
                    <a:pt x="544" y="0"/>
                    <a:pt x="1088" y="0"/>
                    <a:pt x="16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Freeform 13"/>
            <p:cNvSpPr/>
            <p:nvPr/>
          </p:nvSpPr>
          <p:spPr bwMode="auto">
            <a:xfrm>
              <a:off x="1992313" y="4548188"/>
              <a:ext cx="1184275" cy="44450"/>
            </a:xfrm>
            <a:custGeom>
              <a:avLst/>
              <a:gdLst>
                <a:gd name="T0" fmla="*/ 1331 w 1331"/>
                <a:gd name="T1" fmla="*/ 0 h 51"/>
                <a:gd name="T2" fmla="*/ 1245 w 1331"/>
                <a:gd name="T3" fmla="*/ 51 h 51"/>
                <a:gd name="T4" fmla="*/ 28 w 1331"/>
                <a:gd name="T5" fmla="*/ 50 h 51"/>
                <a:gd name="T6" fmla="*/ 0 w 1331"/>
                <a:gd name="T7" fmla="*/ 50 h 51"/>
                <a:gd name="T8" fmla="*/ 0 w 1331"/>
                <a:gd name="T9" fmla="*/ 0 h 51"/>
                <a:gd name="T10" fmla="*/ 1331 w 1331"/>
                <a:gd name="T11" fmla="*/ 0 h 51"/>
              </a:gdLst>
              <a:ahLst/>
              <a:cxnLst>
                <a:cxn ang="0">
                  <a:pos x="T0" y="T1"/>
                </a:cxn>
                <a:cxn ang="0">
                  <a:pos x="T2" y="T3"/>
                </a:cxn>
                <a:cxn ang="0">
                  <a:pos x="T4" y="T5"/>
                </a:cxn>
                <a:cxn ang="0">
                  <a:pos x="T6" y="T7"/>
                </a:cxn>
                <a:cxn ang="0">
                  <a:pos x="T8" y="T9"/>
                </a:cxn>
                <a:cxn ang="0">
                  <a:pos x="T10" y="T11"/>
                </a:cxn>
              </a:cxnLst>
              <a:rect l="0" t="0" r="r" b="b"/>
              <a:pathLst>
                <a:path w="1331" h="51">
                  <a:moveTo>
                    <a:pt x="1331" y="0"/>
                  </a:moveTo>
                  <a:cubicBezTo>
                    <a:pt x="1304" y="25"/>
                    <a:pt x="1287" y="51"/>
                    <a:pt x="1245" y="51"/>
                  </a:cubicBezTo>
                  <a:cubicBezTo>
                    <a:pt x="839" y="49"/>
                    <a:pt x="433" y="50"/>
                    <a:pt x="28" y="50"/>
                  </a:cubicBezTo>
                  <a:cubicBezTo>
                    <a:pt x="19" y="50"/>
                    <a:pt x="10" y="50"/>
                    <a:pt x="0" y="50"/>
                  </a:cubicBezTo>
                  <a:cubicBezTo>
                    <a:pt x="0" y="33"/>
                    <a:pt x="0" y="17"/>
                    <a:pt x="0" y="0"/>
                  </a:cubicBezTo>
                  <a:cubicBezTo>
                    <a:pt x="442" y="0"/>
                    <a:pt x="884" y="0"/>
                    <a:pt x="133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 name="Freeform 14"/>
            <p:cNvSpPr/>
            <p:nvPr/>
          </p:nvSpPr>
          <p:spPr bwMode="auto">
            <a:xfrm>
              <a:off x="1990725" y="5062538"/>
              <a:ext cx="668338" cy="44450"/>
            </a:xfrm>
            <a:custGeom>
              <a:avLst/>
              <a:gdLst>
                <a:gd name="T0" fmla="*/ 751 w 751"/>
                <a:gd name="T1" fmla="*/ 4 h 49"/>
                <a:gd name="T2" fmla="*/ 710 w 751"/>
                <a:gd name="T3" fmla="*/ 42 h 49"/>
                <a:gd name="T4" fmla="*/ 692 w 751"/>
                <a:gd name="T5" fmla="*/ 49 h 49"/>
                <a:gd name="T6" fmla="*/ 11 w 751"/>
                <a:gd name="T7" fmla="*/ 49 h 49"/>
                <a:gd name="T8" fmla="*/ 0 w 751"/>
                <a:gd name="T9" fmla="*/ 48 h 49"/>
                <a:gd name="T10" fmla="*/ 0 w 751"/>
                <a:gd name="T11" fmla="*/ 0 h 49"/>
                <a:gd name="T12" fmla="*/ 748 w 751"/>
                <a:gd name="T13" fmla="*/ 0 h 49"/>
                <a:gd name="T14" fmla="*/ 751 w 751"/>
                <a:gd name="T15" fmla="*/ 4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1" h="49">
                  <a:moveTo>
                    <a:pt x="751" y="4"/>
                  </a:moveTo>
                  <a:cubicBezTo>
                    <a:pt x="737" y="17"/>
                    <a:pt x="724" y="30"/>
                    <a:pt x="710" y="42"/>
                  </a:cubicBezTo>
                  <a:cubicBezTo>
                    <a:pt x="705" y="46"/>
                    <a:pt x="698" y="49"/>
                    <a:pt x="692" y="49"/>
                  </a:cubicBezTo>
                  <a:cubicBezTo>
                    <a:pt x="465" y="49"/>
                    <a:pt x="238" y="49"/>
                    <a:pt x="11" y="49"/>
                  </a:cubicBezTo>
                  <a:cubicBezTo>
                    <a:pt x="8" y="49"/>
                    <a:pt x="4" y="48"/>
                    <a:pt x="0" y="48"/>
                  </a:cubicBezTo>
                  <a:cubicBezTo>
                    <a:pt x="0" y="32"/>
                    <a:pt x="0" y="17"/>
                    <a:pt x="0" y="0"/>
                  </a:cubicBezTo>
                  <a:cubicBezTo>
                    <a:pt x="250" y="0"/>
                    <a:pt x="499" y="0"/>
                    <a:pt x="748" y="0"/>
                  </a:cubicBezTo>
                  <a:cubicBezTo>
                    <a:pt x="749" y="2"/>
                    <a:pt x="750" y="3"/>
                    <a:pt x="75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 name="Freeform 15"/>
            <p:cNvSpPr/>
            <p:nvPr/>
          </p:nvSpPr>
          <p:spPr bwMode="auto">
            <a:xfrm>
              <a:off x="3081338" y="5575300"/>
              <a:ext cx="363538" cy="46037"/>
            </a:xfrm>
            <a:custGeom>
              <a:avLst/>
              <a:gdLst>
                <a:gd name="T0" fmla="*/ 0 w 407"/>
                <a:gd name="T1" fmla="*/ 52 h 52"/>
                <a:gd name="T2" fmla="*/ 86 w 407"/>
                <a:gd name="T3" fmla="*/ 1 h 52"/>
                <a:gd name="T4" fmla="*/ 384 w 407"/>
                <a:gd name="T5" fmla="*/ 3 h 52"/>
                <a:gd name="T6" fmla="*/ 407 w 407"/>
                <a:gd name="T7" fmla="*/ 3 h 52"/>
                <a:gd name="T8" fmla="*/ 407 w 407"/>
                <a:gd name="T9" fmla="*/ 52 h 52"/>
                <a:gd name="T10" fmla="*/ 0 w 407"/>
                <a:gd name="T11" fmla="*/ 52 h 52"/>
              </a:gdLst>
              <a:ahLst/>
              <a:cxnLst>
                <a:cxn ang="0">
                  <a:pos x="T0" y="T1"/>
                </a:cxn>
                <a:cxn ang="0">
                  <a:pos x="T2" y="T3"/>
                </a:cxn>
                <a:cxn ang="0">
                  <a:pos x="T4" y="T5"/>
                </a:cxn>
                <a:cxn ang="0">
                  <a:pos x="T6" y="T7"/>
                </a:cxn>
                <a:cxn ang="0">
                  <a:pos x="T8" y="T9"/>
                </a:cxn>
                <a:cxn ang="0">
                  <a:pos x="T10" y="T11"/>
                </a:cxn>
              </a:cxnLst>
              <a:rect l="0" t="0" r="r" b="b"/>
              <a:pathLst>
                <a:path w="407" h="52">
                  <a:moveTo>
                    <a:pt x="0" y="52"/>
                  </a:moveTo>
                  <a:cubicBezTo>
                    <a:pt x="26" y="26"/>
                    <a:pt x="43" y="0"/>
                    <a:pt x="86" y="1"/>
                  </a:cubicBezTo>
                  <a:cubicBezTo>
                    <a:pt x="185" y="6"/>
                    <a:pt x="285" y="3"/>
                    <a:pt x="384" y="3"/>
                  </a:cubicBezTo>
                  <a:cubicBezTo>
                    <a:pt x="391" y="3"/>
                    <a:pt x="398" y="3"/>
                    <a:pt x="407" y="3"/>
                  </a:cubicBezTo>
                  <a:cubicBezTo>
                    <a:pt x="407" y="19"/>
                    <a:pt x="407" y="35"/>
                    <a:pt x="407" y="52"/>
                  </a:cubicBezTo>
                  <a:cubicBezTo>
                    <a:pt x="273" y="52"/>
                    <a:pt x="139" y="52"/>
                    <a:pt x="0" y="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 name="Freeform 16"/>
            <p:cNvSpPr/>
            <p:nvPr/>
          </p:nvSpPr>
          <p:spPr bwMode="auto">
            <a:xfrm>
              <a:off x="1990725" y="5578475"/>
              <a:ext cx="339725" cy="44450"/>
            </a:xfrm>
            <a:custGeom>
              <a:avLst/>
              <a:gdLst>
                <a:gd name="T0" fmla="*/ 0 w 381"/>
                <a:gd name="T1" fmla="*/ 49 h 49"/>
                <a:gd name="T2" fmla="*/ 0 w 381"/>
                <a:gd name="T3" fmla="*/ 0 h 49"/>
                <a:gd name="T4" fmla="*/ 381 w 381"/>
                <a:gd name="T5" fmla="*/ 0 h 49"/>
                <a:gd name="T6" fmla="*/ 367 w 381"/>
                <a:gd name="T7" fmla="*/ 43 h 49"/>
                <a:gd name="T8" fmla="*/ 356 w 381"/>
                <a:gd name="T9" fmla="*/ 49 h 49"/>
                <a:gd name="T10" fmla="*/ 0 w 381"/>
                <a:gd name="T11" fmla="*/ 49 h 49"/>
              </a:gdLst>
              <a:ahLst/>
              <a:cxnLst>
                <a:cxn ang="0">
                  <a:pos x="T0" y="T1"/>
                </a:cxn>
                <a:cxn ang="0">
                  <a:pos x="T2" y="T3"/>
                </a:cxn>
                <a:cxn ang="0">
                  <a:pos x="T4" y="T5"/>
                </a:cxn>
                <a:cxn ang="0">
                  <a:pos x="T6" y="T7"/>
                </a:cxn>
                <a:cxn ang="0">
                  <a:pos x="T8" y="T9"/>
                </a:cxn>
                <a:cxn ang="0">
                  <a:pos x="T10" y="T11"/>
                </a:cxn>
              </a:cxnLst>
              <a:rect l="0" t="0" r="r" b="b"/>
              <a:pathLst>
                <a:path w="381" h="49">
                  <a:moveTo>
                    <a:pt x="0" y="49"/>
                  </a:moveTo>
                  <a:cubicBezTo>
                    <a:pt x="0" y="32"/>
                    <a:pt x="0" y="17"/>
                    <a:pt x="0" y="0"/>
                  </a:cubicBezTo>
                  <a:cubicBezTo>
                    <a:pt x="126" y="0"/>
                    <a:pt x="252" y="0"/>
                    <a:pt x="381" y="0"/>
                  </a:cubicBezTo>
                  <a:cubicBezTo>
                    <a:pt x="376" y="15"/>
                    <a:pt x="372" y="29"/>
                    <a:pt x="367" y="43"/>
                  </a:cubicBezTo>
                  <a:cubicBezTo>
                    <a:pt x="366" y="46"/>
                    <a:pt x="360" y="49"/>
                    <a:pt x="356" y="49"/>
                  </a:cubicBezTo>
                  <a:cubicBezTo>
                    <a:pt x="238" y="49"/>
                    <a:pt x="120" y="49"/>
                    <a:pt x="0"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15" name="日期占位符 14"/>
          <p:cNvSpPr>
            <a:spLocks noGrp="1"/>
          </p:cNvSpPr>
          <p:nvPr>
            <p:ph type="dt" sz="half" idx="10"/>
          </p:nvPr>
        </p:nvSpPr>
        <p:spPr/>
        <p:txBody>
          <a:bodyPr/>
          <a:lstStyle/>
          <a:p>
            <a:fld id="{33CD694D-610E-402B-8C24-BCC4D3FBCB73}" type="datetime1">
              <a:rPr lang="zh-CN" altLang="en-US" smtClean="0"/>
            </a:fld>
            <a:endParaRPr lang="zh-CN" altLang="en-US"/>
          </a:p>
        </p:txBody>
      </p:sp>
      <p:sp>
        <p:nvSpPr>
          <p:cNvPr id="16" name="页脚占位符 15"/>
          <p:cNvSpPr>
            <a:spLocks noGrp="1"/>
          </p:cNvSpPr>
          <p:nvPr>
            <p:ph type="ftr" sz="quarter" idx="11"/>
          </p:nvPr>
        </p:nvSpPr>
        <p:spPr/>
        <p:txBody>
          <a:bodyPr/>
          <a:lstStyle/>
          <a:p>
            <a:r>
              <a:rPr lang="zh-CN" altLang="en-US"/>
              <a:t>软件工程</a:t>
            </a:r>
            <a:endParaRPr lang="zh-CN" altLang="en-US"/>
          </a:p>
        </p:txBody>
      </p:sp>
      <p:sp>
        <p:nvSpPr>
          <p:cNvPr id="17" name="灯片编号占位符 16"/>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286FA9E-E811-4918-8CB8-517C9550212D}"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233B410F-ED3A-420F-9009-9AC68EA6698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tags/tag1.xml><?xml version="1.0" encoding="utf-8"?>
<p:tagLst xmlns:p="http://schemas.openxmlformats.org/presentationml/2006/main">
  <p:tag name="MH" val="20160830110146"/>
  <p:tag name="MH_LIBRARY" val="CONTENTS"/>
  <p:tag name="MH_TYPE" val="OTHERS"/>
  <p:tag name="ID" val="553512"/>
</p:tagLst>
</file>

<file path=ppt/tags/tag2.xml><?xml version="1.0" encoding="utf-8"?>
<p:tagLst xmlns:p="http://schemas.openxmlformats.org/presentationml/2006/main">
  <p:tag name="MH" val="20160830110146"/>
  <p:tag name="MH_LIBRARY" val="CONTENTS"/>
  <p:tag name="MH_TYPE" val="OTHERS"/>
  <p:tag name="ID" val="553512"/>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RAINPROBLEM" val="ProblemBody"/>
</p:tagLst>
</file>

<file path=ppt/tags/tag12.xml><?xml version="1.0" encoding="utf-8"?>
<p:tagLst xmlns:p="http://schemas.openxmlformats.org/presentationml/2006/main">
  <p:tag name="RAINPROBLEM" val="ProblemItem"/>
</p:tagLst>
</file>

<file path=ppt/tags/tag13.xml><?xml version="1.0" encoding="utf-8"?>
<p:tagLst xmlns:p="http://schemas.openxmlformats.org/presentationml/2006/main">
  <p:tag name="RAINPROBLEM" val="ProblemItem"/>
</p:tagLst>
</file>

<file path=ppt/tags/tag14.xml><?xml version="1.0" encoding="utf-8"?>
<p:tagLst xmlns:p="http://schemas.openxmlformats.org/presentationml/2006/main">
  <p:tag name="RAINPROBLEM" val="ProblemItem"/>
</p:tagLst>
</file>

<file path=ppt/tags/tag15.xml><?xml version="1.0" encoding="utf-8"?>
<p:tagLst xmlns:p="http://schemas.openxmlformats.org/presentationml/2006/main">
  <p:tag name="RAINPROBLEM" val="ProblemItem"/>
</p:tagLst>
</file>

<file path=ppt/tags/tag16.xml><?xml version="1.0" encoding="utf-8"?>
<p:tagLst xmlns:p="http://schemas.openxmlformats.org/presentationml/2006/main">
  <p:tag name="RAINPROBLEM" val="ProblemBullet"/>
  <p:tag name="RAINPROBLEMTYPE" val="MultipleChoice"/>
  <p:tag name="RAINBULLET" val="Wrong"/>
</p:tagLst>
</file>

<file path=ppt/tags/tag17.xml><?xml version="1.0" encoding="utf-8"?>
<p:tagLst xmlns:p="http://schemas.openxmlformats.org/presentationml/2006/main">
  <p:tag name="RAINPROBLEM" val="ProblemBullet"/>
  <p:tag name="RAINPROBLEMTYPE" val="MultipleChoice"/>
  <p:tag name="RAINBULLET" val="Wrong"/>
</p:tagLst>
</file>

<file path=ppt/tags/tag18.xml><?xml version="1.0" encoding="utf-8"?>
<p:tagLst xmlns:p="http://schemas.openxmlformats.org/presentationml/2006/main">
  <p:tag name="RAINPROBLEM" val="ProblemBullet"/>
  <p:tag name="RAINPROBLEMTYPE" val="MultipleChoice"/>
  <p:tag name="RAINBULLET" val="Correct"/>
</p:tagLst>
</file>

<file path=ppt/tags/tag19.xml><?xml version="1.0" encoding="utf-8"?>
<p:tagLst xmlns:p="http://schemas.openxmlformats.org/presentationml/2006/main">
  <p:tag name="RAINPROBLEM" val="ProblemBullet"/>
  <p:tag name="RAINPROBLEMTYPE" val="MultipleChoice"/>
  <p:tag name="RAINBULLET" val="Wrong"/>
</p:tagLst>
</file>

<file path=ppt/tags/tag20.xml><?xml version="1.0" encoding="utf-8"?>
<p:tagLst xmlns:p="http://schemas.openxmlformats.org/presentationml/2006/main">
  <p:tag name="RAINPROBLEM" val="ProblemSubmit"/>
  <p:tag name="RAINPROBLEMTYPE" val="MultipleChoice"/>
</p:tagLst>
</file>

<file path=ppt/tags/tag21.xml><?xml version="1.0" encoding="utf-8"?>
<p:tagLst xmlns:p="http://schemas.openxmlformats.org/presentationml/2006/main">
  <p:tag name="RAINPROBLEMTYPE" val="ProblemTypeMarker"/>
</p:tagLst>
</file>

<file path=ppt/tags/tag22.xml><?xml version="1.0" encoding="utf-8"?>
<p:tagLst xmlns:p="http://schemas.openxmlformats.org/presentationml/2006/main">
  <p:tag name="RAINPROBLEMTYPE" val="ProblemTypeMarker"/>
</p:tagLst>
</file>

<file path=ppt/tags/tag23.xml><?xml version="1.0" encoding="utf-8"?>
<p:tagLst xmlns:p="http://schemas.openxmlformats.org/presentationml/2006/main">
  <p:tag name="RAINPROBLEMTYPE" val="ProblemTypeMarker"/>
</p:tagLst>
</file>

<file path=ppt/tags/tag24.xml><?xml version="1.0" encoding="utf-8"?>
<p:tagLst xmlns:p="http://schemas.openxmlformats.org/presentationml/2006/main">
  <p:tag name="RAINPROBLEMTYPE" val="ProblemTypeMarker"/>
</p:tagLst>
</file>

<file path=ppt/tags/tag25.xml><?xml version="1.0" encoding="utf-8"?>
<p:tagLst xmlns:p="http://schemas.openxmlformats.org/presentationml/2006/main">
  <p:tag name="RAINPROBLEMTYPE" val="ProblemTypeMarker"/>
</p:tagLst>
</file>

<file path=ppt/tags/tag26.xml><?xml version="1.0" encoding="utf-8"?>
<p:tagLst xmlns:p="http://schemas.openxmlformats.org/presentationml/2006/main">
  <p:tag name="RAINPROBLEM" val="ProblemSetting"/>
  <p:tag name="RAINPROBLEMTYPE" val="MultipleChoice"/>
</p:tagLst>
</file>

<file path=ppt/tags/tag27.xml><?xml version="1.0" encoding="utf-8"?>
<p:tagLst xmlns:p="http://schemas.openxmlformats.org/presentationml/2006/main">
  <p:tag name="RAINPROBLEM" val="MultipleChoice"/>
  <p:tag name="PROBLEMSCORE" val="1.0"/>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DIAGRAM_VIRTUALLY_FRAME" val="{&quot;height&quot;:208.99519685039368,&quot;left&quot;:0,&quot;top&quot;:112.82716535433072,&quot;width&quot;:720}"/>
</p:tagLst>
</file>

<file path=ppt/tags/tag33.xml><?xml version="1.0" encoding="utf-8"?>
<p:tagLst xmlns:p="http://schemas.openxmlformats.org/presentationml/2006/main">
  <p:tag name="KSO_WM_DIAGRAM_VIRTUALLY_FRAME" val="{&quot;height&quot;:208.99519685039368,&quot;left&quot;:0,&quot;top&quot;:112.82716535433072,&quot;width&quot;:720}"/>
</p:tagLst>
</file>

<file path=ppt/tags/tag34.xml><?xml version="1.0" encoding="utf-8"?>
<p:tagLst xmlns:p="http://schemas.openxmlformats.org/presentationml/2006/main">
  <p:tag name="KSO_WM_DIAGRAM_VIRTUALLY_FRAME" val="{&quot;height&quot;:208.99519685039368,&quot;left&quot;:0,&quot;top&quot;:112.82716535433072,&quot;width&quot;:720}"/>
</p:tagLst>
</file>

<file path=ppt/tags/tag35.xml><?xml version="1.0" encoding="utf-8"?>
<p:tagLst xmlns:p="http://schemas.openxmlformats.org/presentationml/2006/main">
  <p:tag name="KSO_WM_DIAGRAM_VIRTUALLY_FRAME" val="{&quot;height&quot;:208.99519685039368,&quot;left&quot;:0,&quot;top&quot;:112.82716535433072,&quot;width&quot;:720}"/>
</p:tagLst>
</file>

<file path=ppt/tags/tag36.xml><?xml version="1.0" encoding="utf-8"?>
<p:tagLst xmlns:p="http://schemas.openxmlformats.org/presentationml/2006/main">
  <p:tag name="KSO_WM_DIAGRAM_VIRTUALLY_FRAME" val="{&quot;height&quot;:208.99519685039368,&quot;left&quot;:0,&quot;top&quot;:112.82716535433072,&quot;width&quot;:720}"/>
</p:tagLst>
</file>

<file path=ppt/tags/tag37.xml><?xml version="1.0" encoding="utf-8"?>
<p:tagLst xmlns:p="http://schemas.openxmlformats.org/presentationml/2006/main">
  <p:tag name="KSO_WM_DIAGRAM_VIRTUALLY_FRAME" val="{&quot;height&quot;:208.99519685039368,&quot;left&quot;:0,&quot;top&quot;:112.82716535433072,&quot;width&quot;:720}"/>
</p:tagLst>
</file>

<file path=ppt/tags/tag38.xml><?xml version="1.0" encoding="utf-8"?>
<p:tagLst xmlns:p="http://schemas.openxmlformats.org/presentationml/2006/main">
  <p:tag name="KSO_WM_DIAGRAM_VIRTUALLY_FRAME" val="{&quot;height&quot;:208.99519685039368,&quot;left&quot;:0,&quot;top&quot;:112.82716535433072,&quot;width&quot;:720}"/>
</p:tagLst>
</file>

<file path=ppt/tags/tag39.xml><?xml version="1.0" encoding="utf-8"?>
<p:tagLst xmlns:p="http://schemas.openxmlformats.org/presentationml/2006/main">
  <p:tag name="KSO_WM_DIAGRAM_VIRTUALLY_FRAME" val="{&quot;height&quot;:208.99519685039368,&quot;left&quot;:0,&quot;top&quot;:112.82716535433072,&quot;width&quot;:720}"/>
</p:tagLst>
</file>

<file path=ppt/tags/tag40.xml><?xml version="1.0" encoding="utf-8"?>
<p:tagLst xmlns:p="http://schemas.openxmlformats.org/presentationml/2006/main">
  <p:tag name="KSO_WM_DIAGRAM_VIRTUALLY_FRAME" val="{&quot;height&quot;:208.99519685039368,&quot;left&quot;:0,&quot;top&quot;:112.82716535433072,&quot;width&quot;:720}"/>
</p:tagLst>
</file>

<file path=ppt/tags/tag41.xml><?xml version="1.0" encoding="utf-8"?>
<p:tagLst xmlns:p="http://schemas.openxmlformats.org/presentationml/2006/main">
  <p:tag name="KSO_WM_DIAGRAM_VIRTUALLY_FRAME" val="{&quot;height&quot;:208.99519685039368,&quot;left&quot;:0,&quot;top&quot;:112.82716535433072,&quot;width&quot;:720}"/>
</p:tagLst>
</file>

<file path=ppt/tags/tag42.xml><?xml version="1.0" encoding="utf-8"?>
<p:tagLst xmlns:p="http://schemas.openxmlformats.org/presentationml/2006/main">
  <p:tag name="KSO_WM_DIAGRAM_VIRTUALLY_FRAME" val="{&quot;height&quot;:208.99519685039368,&quot;left&quot;:0,&quot;top&quot;:112.82716535433072,&quot;width&quot;:720}"/>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h_i"/>
  <p:tag name="KSO_WM_UNIT_INDEX" val="1_1"/>
  <p:tag name="KSO_WM_UNIT_ID" val="custom20234837_1*h_i*1_1"/>
  <p:tag name="KSO_WM_TEMPLATE_CATEGORY" val="custom"/>
  <p:tag name="KSO_WM_TEMPLATE_INDEX" val="20234837"/>
  <p:tag name="KSO_WM_UNIT_LAYERLEVEL" val="1_1"/>
  <p:tag name="KSO_WM_TAG_VERSION" val="3.0"/>
  <p:tag name="KSO_WM_BEAUTIFY_FLAG" val="#wm#"/>
</p:tagLst>
</file>

<file path=ppt/tags/tag4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4837_1*a*1"/>
  <p:tag name="KSO_WM_TEMPLATE_CATEGORY" val="custom"/>
  <p:tag name="KSO_WM_TEMPLATE_INDEX" val="20234837"/>
  <p:tag name="KSO_WM_UNIT_LAYERLEVEL" val="1"/>
  <p:tag name="KSO_WM_TAG_VERSION" val="3.0"/>
  <p:tag name="KSO_WM_BEAUTIFY_FLAG" val="#wm#"/>
  <p:tag name="KSO_WM_UNIT_VALUE" val="26"/>
  <p:tag name="KSO_WM_UNIT_PRESET_TEXT" val="单击此处添加标题"/>
</p:tagLst>
</file>

<file path=ppt/tags/tag47.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h_f"/>
  <p:tag name="KSO_WM_UNIT_INDEX" val="1_1"/>
  <p:tag name="KSO_WM_UNIT_ID" val="custom20234837_1*h_f*1_1"/>
  <p:tag name="KSO_WM_TEMPLATE_CATEGORY" val="custom"/>
  <p:tag name="KSO_WM_TEMPLATE_INDEX" val="20234837"/>
  <p:tag name="KSO_WM_UNIT_LAYERLEVEL" val="1_1"/>
  <p:tag name="KSO_WM_TAG_VERSION" val="3.0"/>
  <p:tag name="KSO_WM_BEAUTIFY_FLAG" val="#wm#"/>
  <p:tag name="KSO_WM_UNIT_VALUE" val="341"/>
  <p:tag name="KSO_WM_UNIT_PRESET_TEXT" val="单击此处输入你的项正文，文字是您思想的提炼，请尽量言简意赅的阐述观点，单击此处输入你的项正文，请尽量言简意赅的阐述观点。单击此处输入你的项正文，文字是您思想的提炼，请尽量言简意赅的阐述观点，单击此处输入你的项正文，请尽量言简意赅的阐述观点。单击此处输入你的项正文，文字是您思想的提炼，请尽量言简意赅的阐述观点，单击此处输入你的项正文，请尽量言简意赅的阐述观点。文字是您思想的提炼，请尽量言简意赅的阐述观点，单击此处输入你的项正文，请尽量言简意赅的阐述观点。&#10;"/>
</p:tagLst>
</file>

<file path=ppt/tags/tag48.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h_a"/>
  <p:tag name="KSO_WM_UNIT_INDEX" val="1_1"/>
  <p:tag name="KSO_WM_UNIT_ID" val="custom20234837_1*h_a*1_1"/>
  <p:tag name="KSO_WM_TEMPLATE_CATEGORY" val="custom"/>
  <p:tag name="KSO_WM_TEMPLATE_INDEX" val="20234837"/>
  <p:tag name="KSO_WM_UNIT_LAYERLEVEL" val="1_1"/>
  <p:tag name="KSO_WM_TAG_VERSION" val="3.0"/>
  <p:tag name="KSO_WM_BEAUTIFY_FLAG" val="#wm#"/>
  <p:tag name="KSO_WM_UNIT_VALUE" val="25"/>
  <p:tag name="KSO_WM_UNIT_PRESET_TEXT" val="单击此处添加项标题"/>
</p:tagLst>
</file>

<file path=ppt/tags/tag49.xml><?xml version="1.0" encoding="utf-8"?>
<p:tagLst xmlns:p="http://schemas.openxmlformats.org/presentationml/2006/main">
  <p:tag name="KSO_WM_UNIT_VALUE" val="879*905"/>
  <p:tag name="KSO_WM_UNIT_HIGHLIGHT" val="0"/>
  <p:tag name="KSO_WM_UNIT_COMPATIBLE" val="0"/>
  <p:tag name="KSO_WM_UNIT_DIAGRAM_ISNUMVISUAL" val="0"/>
  <p:tag name="KSO_WM_UNIT_DIAGRAM_ISREFERUNIT" val="0"/>
  <p:tag name="KSO_WM_UNIT_TYPE" val="d"/>
  <p:tag name="KSO_WM_UNIT_INDEX" val="1"/>
  <p:tag name="KSO_WM_UNIT_ID" val="custom20234837_1*d*1"/>
  <p:tag name="KSO_WM_TEMPLATE_CATEGORY" val="custom"/>
  <p:tag name="KSO_WM_TEMPLATE_INDEX" val="20234837"/>
  <p:tag name="KSO_WM_UNIT_LAYERLEVEL" val="1"/>
  <p:tag name="KSO_WM_TAG_VERSION" val="3.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4837_1*i*1"/>
  <p:tag name="KSO_WM_TEMPLATE_CATEGORY" val="custom"/>
  <p:tag name="KSO_WM_TEMPLATE_INDEX" val="20234837"/>
  <p:tag name="KSO_WM_UNIT_LAYERLEVEL" val="1"/>
  <p:tag name="KSO_WM_TAG_VERSION" val="3.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4837_1*i*2"/>
  <p:tag name="KSO_WM_TEMPLATE_CATEGORY" val="custom"/>
  <p:tag name="KSO_WM_TEMPLATE_INDEX" val="20234837"/>
  <p:tag name="KSO_WM_UNIT_LAYERLEVEL" val="1"/>
  <p:tag name="KSO_WM_TAG_VERSION" val="3.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4837_1*i*3"/>
  <p:tag name="KSO_WM_TEMPLATE_CATEGORY" val="custom"/>
  <p:tag name="KSO_WM_TEMPLATE_INDEX" val="20234837"/>
  <p:tag name="KSO_WM_UNIT_LAYERLEVEL" val="1"/>
  <p:tag name="KSO_WM_TAG_VERSION" val="3.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4837_1*i*4"/>
  <p:tag name="KSO_WM_TEMPLATE_CATEGORY" val="custom"/>
  <p:tag name="KSO_WM_TEMPLATE_INDEX" val="20234837"/>
  <p:tag name="KSO_WM_UNIT_LAYERLEVEL" val="1"/>
  <p:tag name="KSO_WM_TAG_VERSION" val="3.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custom20234837_1*i*5"/>
  <p:tag name="KSO_WM_TEMPLATE_CATEGORY" val="custom"/>
  <p:tag name="KSO_WM_TEMPLATE_INDEX" val="20234837"/>
  <p:tag name="KSO_WM_UNIT_LAYERLEVEL" val="1"/>
  <p:tag name="KSO_WM_TAG_VERSION" val="3.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custom20234837_1*i*6"/>
  <p:tag name="KSO_WM_TEMPLATE_CATEGORY" val="custom"/>
  <p:tag name="KSO_WM_TEMPLATE_INDEX" val="20234837"/>
  <p:tag name="KSO_WM_UNIT_LAYERLEVEL" val="1"/>
  <p:tag name="KSO_WM_TAG_VERSION" val="3.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custom20234837_1*i*7"/>
  <p:tag name="KSO_WM_TEMPLATE_CATEGORY" val="custom"/>
  <p:tag name="KSO_WM_TEMPLATE_INDEX" val="20234837"/>
  <p:tag name="KSO_WM_UNIT_LAYERLEVEL" val="1"/>
  <p:tag name="KSO_WM_TAG_VERSION" val="3.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custom20234837_1*i*8"/>
  <p:tag name="KSO_WM_TEMPLATE_CATEGORY" val="custom"/>
  <p:tag name="KSO_WM_TEMPLATE_INDEX" val="20234837"/>
  <p:tag name="KSO_WM_UNIT_LAYERLEVEL" val="1"/>
  <p:tag name="KSO_WM_TAG_VERSION" val="3.0"/>
  <p:tag name="KSO_WM_BEAUTIFY_FLAG" val="#wm#"/>
</p:tagLst>
</file>

<file path=ppt/tags/tag58.xml><?xml version="1.0" encoding="utf-8"?>
<p:tagLst xmlns:p="http://schemas.openxmlformats.org/presentationml/2006/main">
  <p:tag name="KSO_WM_SLIDE_ID" val="custom20234837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540.15*329.65"/>
  <p:tag name="KSO_WM_SLIDE_POSITION" val="357.55*168.4"/>
  <p:tag name="KSO_WM_TAG_VERSION" val="3.0"/>
  <p:tag name="KSO_WM_BEAUTIFY_FLAG" val="#wm#"/>
  <p:tag name="KSO_WM_TEMPLATE_CATEGORY" val="custom"/>
  <p:tag name="KSO_WM_TEMPLATE_INDEX" val="20234837"/>
  <p:tag name="KSO_WM_SLIDE_LAYOUT" val="a_d_h"/>
  <p:tag name="KSO_WM_SLIDE_LAYOUT_CNT" val="1_1_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h_i"/>
  <p:tag name="KSO_WM_UNIT_INDEX" val="1_1"/>
  <p:tag name="KSO_WM_UNIT_ID" val="custom20234837_1*h_i*1_1"/>
  <p:tag name="KSO_WM_TEMPLATE_CATEGORY" val="custom"/>
  <p:tag name="KSO_WM_TEMPLATE_INDEX" val="20234837"/>
  <p:tag name="KSO_WM_UNIT_LAYERLEVEL" val="1_1"/>
  <p:tag name="KSO_WM_TAG_VERSION" val="3.0"/>
  <p:tag name="KSO_WM_BEAUTIFY_FLAG" val="#wm#"/>
</p:tagLst>
</file>

<file path=ppt/tags/tag60.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4837_1*a*1"/>
  <p:tag name="KSO_WM_TEMPLATE_CATEGORY" val="custom"/>
  <p:tag name="KSO_WM_TEMPLATE_INDEX" val="20234837"/>
  <p:tag name="KSO_WM_UNIT_LAYERLEVEL" val="1"/>
  <p:tag name="KSO_WM_TAG_VERSION" val="3.0"/>
  <p:tag name="KSO_WM_BEAUTIFY_FLAG" val="#wm#"/>
  <p:tag name="KSO_WM_UNIT_VALUE" val="26"/>
  <p:tag name="KSO_WM_UNIT_PRESET_TEXT" val="单击此处添加标题"/>
</p:tagLst>
</file>

<file path=ppt/tags/tag61.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h_f"/>
  <p:tag name="KSO_WM_UNIT_INDEX" val="1_1"/>
  <p:tag name="KSO_WM_UNIT_ID" val="custom20234837_1*h_f*1_1"/>
  <p:tag name="KSO_WM_TEMPLATE_CATEGORY" val="custom"/>
  <p:tag name="KSO_WM_TEMPLATE_INDEX" val="20234837"/>
  <p:tag name="KSO_WM_UNIT_LAYERLEVEL" val="1_1"/>
  <p:tag name="KSO_WM_TAG_VERSION" val="3.0"/>
  <p:tag name="KSO_WM_BEAUTIFY_FLAG" val="#wm#"/>
  <p:tag name="KSO_WM_UNIT_VALUE" val="341"/>
  <p:tag name="KSO_WM_UNIT_PRESET_TEXT" val="单击此处输入你的项正文，文字是您思想的提炼，请尽量言简意赅的阐述观点，单击此处输入你的项正文，请尽量言简意赅的阐述观点。单击此处输入你的项正文，文字是您思想的提炼，请尽量言简意赅的阐述观点，单击此处输入你的项正文，请尽量言简意赅的阐述观点。单击此处输入你的项正文，文字是您思想的提炼，请尽量言简意赅的阐述观点，单击此处输入你的项正文，请尽量言简意赅的阐述观点。文字是您思想的提炼，请尽量言简意赅的阐述观点，单击此处输入你的项正文，请尽量言简意赅的阐述观点。&#10;"/>
</p:tagLst>
</file>

<file path=ppt/tags/tag62.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h_a"/>
  <p:tag name="KSO_WM_UNIT_INDEX" val="1_1"/>
  <p:tag name="KSO_WM_UNIT_ID" val="custom20234837_1*h_a*1_1"/>
  <p:tag name="KSO_WM_TEMPLATE_CATEGORY" val="custom"/>
  <p:tag name="KSO_WM_TEMPLATE_INDEX" val="20234837"/>
  <p:tag name="KSO_WM_UNIT_LAYERLEVEL" val="1_1"/>
  <p:tag name="KSO_WM_TAG_VERSION" val="3.0"/>
  <p:tag name="KSO_WM_BEAUTIFY_FLAG" val="#wm#"/>
  <p:tag name="KSO_WM_UNIT_VALUE" val="25"/>
  <p:tag name="KSO_WM_UNIT_PRESET_TEXT" val="单击此处添加项标题"/>
</p:tagLst>
</file>

<file path=ppt/tags/tag63.xml><?xml version="1.0" encoding="utf-8"?>
<p:tagLst xmlns:p="http://schemas.openxmlformats.org/presentationml/2006/main">
  <p:tag name="KSO_WM_UNIT_VALUE" val="879*905"/>
  <p:tag name="KSO_WM_UNIT_HIGHLIGHT" val="0"/>
  <p:tag name="KSO_WM_UNIT_COMPATIBLE" val="0"/>
  <p:tag name="KSO_WM_UNIT_DIAGRAM_ISNUMVISUAL" val="0"/>
  <p:tag name="KSO_WM_UNIT_DIAGRAM_ISREFERUNIT" val="0"/>
  <p:tag name="KSO_WM_UNIT_TYPE" val="d"/>
  <p:tag name="KSO_WM_UNIT_INDEX" val="1"/>
  <p:tag name="KSO_WM_UNIT_ID" val="custom20234837_1*d*1"/>
  <p:tag name="KSO_WM_TEMPLATE_CATEGORY" val="custom"/>
  <p:tag name="KSO_WM_TEMPLATE_INDEX" val="20234837"/>
  <p:tag name="KSO_WM_UNIT_LAYERLEVEL" val="1"/>
  <p:tag name="KSO_WM_TAG_VERSION" val="3.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4837_1*i*1"/>
  <p:tag name="KSO_WM_TEMPLATE_CATEGORY" val="custom"/>
  <p:tag name="KSO_WM_TEMPLATE_INDEX" val="20234837"/>
  <p:tag name="KSO_WM_UNIT_LAYERLEVEL" val="1"/>
  <p:tag name="KSO_WM_TAG_VERSION" val="3.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4837_1*i*2"/>
  <p:tag name="KSO_WM_TEMPLATE_CATEGORY" val="custom"/>
  <p:tag name="KSO_WM_TEMPLATE_INDEX" val="20234837"/>
  <p:tag name="KSO_WM_UNIT_LAYERLEVEL" val="1"/>
  <p:tag name="KSO_WM_TAG_VERSION" val="3.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4837_1*i*3"/>
  <p:tag name="KSO_WM_TEMPLATE_CATEGORY" val="custom"/>
  <p:tag name="KSO_WM_TEMPLATE_INDEX" val="20234837"/>
  <p:tag name="KSO_WM_UNIT_LAYERLEVEL" val="1"/>
  <p:tag name="KSO_WM_TAG_VERSION" val="3.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4837_1*i*4"/>
  <p:tag name="KSO_WM_TEMPLATE_CATEGORY" val="custom"/>
  <p:tag name="KSO_WM_TEMPLATE_INDEX" val="20234837"/>
  <p:tag name="KSO_WM_UNIT_LAYERLEVEL" val="1"/>
  <p:tag name="KSO_WM_TAG_VERSION" val="3.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custom20234837_1*i*5"/>
  <p:tag name="KSO_WM_TEMPLATE_CATEGORY" val="custom"/>
  <p:tag name="KSO_WM_TEMPLATE_INDEX" val="20234837"/>
  <p:tag name="KSO_WM_UNIT_LAYERLEVEL" val="1"/>
  <p:tag name="KSO_WM_TAG_VERSION" val="3.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custom20234837_1*i*6"/>
  <p:tag name="KSO_WM_TEMPLATE_CATEGORY" val="custom"/>
  <p:tag name="KSO_WM_TEMPLATE_INDEX" val="20234837"/>
  <p:tag name="KSO_WM_UNIT_LAYERLEVEL" val="1"/>
  <p:tag name="KSO_WM_TAG_VERSION" val="3.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custom20234837_1*i*7"/>
  <p:tag name="KSO_WM_TEMPLATE_CATEGORY" val="custom"/>
  <p:tag name="KSO_WM_TEMPLATE_INDEX" val="20234837"/>
  <p:tag name="KSO_WM_UNIT_LAYERLEVEL" val="1"/>
  <p:tag name="KSO_WM_TAG_VERSION" val="3.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custom20234837_1*i*8"/>
  <p:tag name="KSO_WM_TEMPLATE_CATEGORY" val="custom"/>
  <p:tag name="KSO_WM_TEMPLATE_INDEX" val="20234837"/>
  <p:tag name="KSO_WM_UNIT_LAYERLEVEL" val="1"/>
  <p:tag name="KSO_WM_TAG_VERSION" val="3.0"/>
  <p:tag name="KSO_WM_BEAUTIFY_FLAG" val="#wm#"/>
</p:tagLst>
</file>

<file path=ppt/tags/tag72.xml><?xml version="1.0" encoding="utf-8"?>
<p:tagLst xmlns:p="http://schemas.openxmlformats.org/presentationml/2006/main">
  <p:tag name="KSO_WM_SLIDE_ID" val="custom20234837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540.15*329.65"/>
  <p:tag name="KSO_WM_SLIDE_POSITION" val="357.55*168.4"/>
  <p:tag name="KSO_WM_TAG_VERSION" val="3.0"/>
  <p:tag name="KSO_WM_BEAUTIFY_FLAG" val="#wm#"/>
  <p:tag name="KSO_WM_TEMPLATE_CATEGORY" val="custom"/>
  <p:tag name="KSO_WM_TEMPLATE_INDEX" val="20234837"/>
  <p:tag name="KSO_WM_SLIDE_LAYOUT" val="a_d_h"/>
  <p:tag name="KSO_WM_SLIDE_LAYOUT_CNT" val="1_1_1"/>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4974_1*a*1"/>
  <p:tag name="KSO_WM_TEMPLATE_CATEGORY" val="custom"/>
  <p:tag name="KSO_WM_TEMPLATE_INDEX" val="20234974"/>
  <p:tag name="KSO_WM_UNIT_LAYERLEVEL" val="1"/>
  <p:tag name="KSO_WM_TAG_VERSION" val="3.0"/>
  <p:tag name="KSO_WM_BEAUTIFY_FLAG" val="#wm#"/>
  <p:tag name="KSO_WM_UNIT_PRESET_TEXT" val="单击此处添加标题"/>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h_h_i"/>
  <p:tag name="KSO_WM_UNIT_INDEX" val="1_1_1"/>
  <p:tag name="KSO_WM_UNIT_ID" val="custom20234974_1*h_i*1_1"/>
  <p:tag name="KSO_WM_TEMPLATE_CATEGORY" val="custom"/>
  <p:tag name="KSO_WM_TEMPLATE_INDEX" val="20234974"/>
  <p:tag name="KSO_WM_UNIT_LAYERLEVEL" val="1_1_1"/>
  <p:tag name="KSO_WM_TAG_VERSION" val="3.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h_h_i"/>
  <p:tag name="KSO_WM_UNIT_INDEX" val="1_2_1"/>
  <p:tag name="KSO_WM_UNIT_ID" val="custom20234974_1*h_i*2_1"/>
  <p:tag name="KSO_WM_TEMPLATE_CATEGORY" val="custom"/>
  <p:tag name="KSO_WM_TEMPLATE_INDEX" val="20234974"/>
  <p:tag name="KSO_WM_UNIT_LAYERLEVEL" val="1_1_1"/>
  <p:tag name="KSO_WM_TAG_VERSION" val="3.0"/>
  <p:tag name="KSO_WM_BEAUTIFY_FLAG" val="#wm#"/>
</p:tagLst>
</file>

<file path=ppt/tags/tag8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h_a"/>
  <p:tag name="KSO_WM_UNIT_INDEX" val="1_1"/>
  <p:tag name="KSO_WM_UNIT_ID" val="custom20234974_1*h_a*1_1"/>
  <p:tag name="KSO_WM_TEMPLATE_CATEGORY" val="custom"/>
  <p:tag name="KSO_WM_TEMPLATE_INDEX" val="20234974"/>
  <p:tag name="KSO_WM_UNIT_LAYERLEVEL" val="1_1"/>
  <p:tag name="KSO_WM_TAG_VERSION" val="3.0"/>
  <p:tag name="KSO_WM_BEAUTIFY_FLAG" val="#wm#"/>
  <p:tag name="KSO_WM_UNIT_VALUE" val="117"/>
  <p:tag name="KSO_WM_UNIT_PRESET_TEXT" val="添加&#10;标题"/>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h_i"/>
  <p:tag name="KSO_WM_UNIT_INDEX" val="1_1"/>
  <p:tag name="KSO_WM_UNIT_ID" val="custom20234974_1*h_i*1_1"/>
  <p:tag name="KSO_WM_TEMPLATE_CATEGORY" val="custom"/>
  <p:tag name="KSO_WM_TEMPLATE_INDEX" val="20234974"/>
  <p:tag name="KSO_WM_UNIT_LAYERLEVEL" val="1_1"/>
  <p:tag name="KSO_WM_TAG_VERSION" val="3.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h_i"/>
  <p:tag name="KSO_WM_UNIT_INDEX" val="1_2"/>
  <p:tag name="KSO_WM_UNIT_ID" val="custom20234974_1*h_i*1_2"/>
  <p:tag name="KSO_WM_TEMPLATE_CATEGORY" val="custom"/>
  <p:tag name="KSO_WM_TEMPLATE_INDEX" val="20234974"/>
  <p:tag name="KSO_WM_UNIT_LAYERLEVEL" val="1_1"/>
  <p:tag name="KSO_WM_TAG_VERSION" val="3.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h_h_i"/>
  <p:tag name="KSO_WM_UNIT_INDEX" val="1_1_2"/>
  <p:tag name="KSO_WM_UNIT_ID" val="custom20234974_1*h_i*1_2"/>
  <p:tag name="KSO_WM_TEMPLATE_CATEGORY" val="custom"/>
  <p:tag name="KSO_WM_TEMPLATE_INDEX" val="20234974"/>
  <p:tag name="KSO_WM_UNIT_LAYERLEVEL" val="1_1_1"/>
  <p:tag name="KSO_WM_TAG_VERSION" val="3.0"/>
  <p:tag name="KSO_WM_BEAUTIFY_FLAG" val="#wm#"/>
</p:tagLst>
</file>

<file path=ppt/tags/tag93.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h_h_f"/>
  <p:tag name="KSO_WM_UNIT_INDEX" val="1_1_1"/>
  <p:tag name="KSO_WM_UNIT_ID" val="custom20234974_1*h_f*1_1"/>
  <p:tag name="KSO_WM_TEMPLATE_CATEGORY" val="custom"/>
  <p:tag name="KSO_WM_TEMPLATE_INDEX" val="20234974"/>
  <p:tag name="KSO_WM_UNIT_LAYERLEVEL" val="1_1_1"/>
  <p:tag name="KSO_WM_TAG_VERSION" val="3.0"/>
  <p:tag name="KSO_WM_BEAUTIFY_FLAG" val="#wm#"/>
  <p:tag name="KSO_WM_UNIT_VALUE" val="30"/>
  <p:tag name="KSO_WM_UNIT_PRESET_TEXT" val="单击添加文本"/>
</p:tagLst>
</file>

<file path=ppt/tags/tag94.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h_h_f"/>
  <p:tag name="KSO_WM_UNIT_INDEX" val="1_1_2"/>
  <p:tag name="KSO_WM_UNIT_ID" val="custom20234974_1*h_f*1_2"/>
  <p:tag name="KSO_WM_TEMPLATE_CATEGORY" val="custom"/>
  <p:tag name="KSO_WM_TEMPLATE_INDEX" val="20234974"/>
  <p:tag name="KSO_WM_UNIT_LAYERLEVEL" val="1_1_1"/>
  <p:tag name="KSO_WM_TAG_VERSION" val="3.0"/>
  <p:tag name="KSO_WM_BEAUTIFY_FLAG" val="#wm#"/>
  <p:tag name="KSO_WM_UNIT_VALUE" val="30"/>
  <p:tag name="KSO_WM_UNIT_PRESET_TEXT" val="单击添加文本"/>
</p:tagLst>
</file>

<file path=ppt/tags/tag95.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h_h_f"/>
  <p:tag name="KSO_WM_UNIT_INDEX" val="1_1_3"/>
  <p:tag name="KSO_WM_UNIT_ID" val="custom20234974_1*h_f*1_3"/>
  <p:tag name="KSO_WM_TEMPLATE_CATEGORY" val="custom"/>
  <p:tag name="KSO_WM_TEMPLATE_INDEX" val="20234974"/>
  <p:tag name="KSO_WM_UNIT_LAYERLEVEL" val="1_1_1"/>
  <p:tag name="KSO_WM_TAG_VERSION" val="3.0"/>
  <p:tag name="KSO_WM_BEAUTIFY_FLAG" val="#wm#"/>
  <p:tag name="KSO_WM_UNIT_VALUE" val="30"/>
  <p:tag name="KSO_WM_UNIT_PRESET_TEXT" val="单击添加文本"/>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h_h_i"/>
  <p:tag name="KSO_WM_UNIT_INDEX" val="1_2_2"/>
  <p:tag name="KSO_WM_UNIT_ID" val="custom20234974_1*h_i*2_2"/>
  <p:tag name="KSO_WM_TEMPLATE_CATEGORY" val="custom"/>
  <p:tag name="KSO_WM_TEMPLATE_INDEX" val="20234974"/>
  <p:tag name="KSO_WM_UNIT_LAYERLEVEL" val="1_1_1"/>
  <p:tag name="KSO_WM_TAG_VERSION" val="3.0"/>
  <p:tag name="KSO_WM_BEAUTIFY_FLAG" val="#wm#"/>
</p:tagLst>
</file>

<file path=ppt/tags/tag97.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h_h_f"/>
  <p:tag name="KSO_WM_UNIT_INDEX" val="1_2_1"/>
  <p:tag name="KSO_WM_UNIT_ID" val="custom20234974_1*h_f*2_1"/>
  <p:tag name="KSO_WM_TEMPLATE_CATEGORY" val="custom"/>
  <p:tag name="KSO_WM_TEMPLATE_INDEX" val="20234974"/>
  <p:tag name="KSO_WM_UNIT_LAYERLEVEL" val="1_1_1"/>
  <p:tag name="KSO_WM_TAG_VERSION" val="3.0"/>
  <p:tag name="KSO_WM_BEAUTIFY_FLAG" val="#wm#"/>
  <p:tag name="KSO_WM_UNIT_VALUE" val="30"/>
  <p:tag name="KSO_WM_UNIT_PRESET_TEXT" val="单击添加文本"/>
</p:tagLst>
</file>

<file path=ppt/tags/tag98.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h_h_f"/>
  <p:tag name="KSO_WM_UNIT_INDEX" val="1_2_2"/>
  <p:tag name="KSO_WM_UNIT_ID" val="custom20234974_1*h_f*2_2"/>
  <p:tag name="KSO_WM_TEMPLATE_CATEGORY" val="custom"/>
  <p:tag name="KSO_WM_TEMPLATE_INDEX" val="20234974"/>
  <p:tag name="KSO_WM_UNIT_LAYERLEVEL" val="1_1_1"/>
  <p:tag name="KSO_WM_TAG_VERSION" val="3.0"/>
  <p:tag name="KSO_WM_BEAUTIFY_FLAG" val="#wm#"/>
  <p:tag name="KSO_WM_UNIT_VALUE" val="30"/>
  <p:tag name="KSO_WM_UNIT_PRESET_TEXT" val="单击添加文本"/>
</p:tagLst>
</file>

<file path=ppt/tags/tag99.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h_h_f"/>
  <p:tag name="KSO_WM_UNIT_INDEX" val="1_2_3"/>
  <p:tag name="KSO_WM_UNIT_ID" val="custom20234974_1*h_f*2_3"/>
  <p:tag name="KSO_WM_TEMPLATE_CATEGORY" val="custom"/>
  <p:tag name="KSO_WM_TEMPLATE_INDEX" val="20234974"/>
  <p:tag name="KSO_WM_UNIT_LAYERLEVEL" val="1_1_1"/>
  <p:tag name="KSO_WM_TAG_VERSION" val="3.0"/>
  <p:tag name="KSO_WM_BEAUTIFY_FLAG" val="#wm#"/>
  <p:tag name="KSO_WM_UNIT_VALUE" val="30"/>
  <p:tag name="KSO_WM_UNIT_PRESET_TEXT" val="单击添加文本"/>
</p:tagLst>
</file>

<file path=ppt/tags/tag100.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h_h_a"/>
  <p:tag name="KSO_WM_UNIT_INDEX" val="1_2_1"/>
  <p:tag name="KSO_WM_UNIT_ID" val="custom20234974_1*h_a*2_1"/>
  <p:tag name="KSO_WM_TEMPLATE_CATEGORY" val="custom"/>
  <p:tag name="KSO_WM_TEMPLATE_INDEX" val="20234974"/>
  <p:tag name="KSO_WM_UNIT_LAYERLEVEL" val="1_1_1"/>
  <p:tag name="KSO_WM_TAG_VERSION" val="3.0"/>
  <p:tag name="KSO_WM_BEAUTIFY_FLAG" val="#wm#"/>
  <p:tag name="KSO_WM_UNIT_VALUE" val="66"/>
  <p:tag name="KSO_WM_UNIT_PRESET_TEXT" val="单击添加标题"/>
</p:tagLst>
</file>

<file path=ppt/tags/tag101.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h_h_a"/>
  <p:tag name="KSO_WM_UNIT_INDEX" val="1_1_1"/>
  <p:tag name="KSO_WM_UNIT_ID" val="custom20234974_1*h_a*1_1"/>
  <p:tag name="KSO_WM_TEMPLATE_CATEGORY" val="custom"/>
  <p:tag name="KSO_WM_TEMPLATE_INDEX" val="20234974"/>
  <p:tag name="KSO_WM_UNIT_LAYERLEVEL" val="1_1_1"/>
  <p:tag name="KSO_WM_TAG_VERSION" val="3.0"/>
  <p:tag name="KSO_WM_BEAUTIFY_FLAG" val="#wm#"/>
  <p:tag name="KSO_WM_UNIT_VALUE" val="66"/>
  <p:tag name="KSO_WM_UNIT_PRESET_TEXT" val="单击添加标题"/>
</p:tagLst>
</file>

<file path=ppt/tags/tag102.xml><?xml version="1.0" encoding="utf-8"?>
<p:tagLst xmlns:p="http://schemas.openxmlformats.org/presentationml/2006/main">
  <p:tag name="KSO_WM_SLIDE_ID" val="custom20234974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4974"/>
  <p:tag name="KSO_WM_SLIDE_TYPE" val="text"/>
  <p:tag name="KSO_WM_SLIDE_SUBTYPE" val="picTxt"/>
  <p:tag name="KSO_WM_SLIDE_SIZE" val="850.45*302.9"/>
  <p:tag name="KSO_WM_SLIDE_POSITION" val="54.75*156.15"/>
  <p:tag name="KSO_WM_SLIDE_LAYOUT" val="a_h"/>
  <p:tag name="KSO_WM_SLIDE_LAYOUT_CNT" val="1_1"/>
  <p:tag name="KSO_WM_SPECIAL_SOURCE" val="bdnull"/>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6924_3*a*1"/>
  <p:tag name="KSO_WM_TEMPLATE_CATEGORY" val="diagram"/>
  <p:tag name="KSO_WM_TEMPLATE_INDEX" val="20236924"/>
  <p:tag name="KSO_WM_UNIT_LAYERLEVEL" val="1"/>
  <p:tag name="KSO_WM_TAG_VERSION" val="3.0"/>
  <p:tag name="KSO_WM_BEAUTIFY_FLAG" val="#wm#"/>
  <p:tag name="KSO_WM_UNIT_ISCONTENTSTITLE" val="0"/>
  <p:tag name="KSO_WM_UNIT_ISNUMDGMTITLE" val="0"/>
  <p:tag name="KSO_WM_UNIT_NOCLEAR" val="0"/>
  <p:tag name="KSO_WM_DIAGRAM_GROUP_CODE" val="n1-1"/>
  <p:tag name="KSO_WM_UNIT_TYPE" val="a"/>
  <p:tag name="KSO_WM_UNIT_INDEX" val="1"/>
  <p:tag name="KSO_WM_UNIT_PRESET_TEXT" val="单击此处添加标题"/>
  <p:tag name="KSO_WM_UNIT_TEXT_TYPE" val="1"/>
  <p:tag name="KSO_WM_UNIT_TEXT_FILL_FORE_SCHEMECOLOR_INDEX" val="14"/>
  <p:tag name="KSO_WM_UNIT_TEXT_FILL_TYPE" val="1"/>
  <p:tag name="KSO_WM_UNIT_USESOURCEFORMAT_APPLY" val="1"/>
</p:tagLst>
</file>

<file path=ppt/tags/tag104.xml><?xml version="1.0" encoding="utf-8"?>
<p:tagLst xmlns:p="http://schemas.openxmlformats.org/presentationml/2006/main">
  <p:tag name="KSO_WM_DIAGRAM_VIRTUALLY_FRAME" val="{&quot;height&quot;:384.46875,&quot;width&quot;:764.2032470703125}"/>
  <p:tag name="KSO_WM_UNIT_HIGHLIGHT" val="0"/>
  <p:tag name="KSO_WM_UNIT_COMPATIBLE" val="0"/>
  <p:tag name="KSO_WM_UNIT_DIAGRAM_ISNUMVISUAL" val="0"/>
  <p:tag name="KSO_WM_UNIT_DIAGRAM_ISREFERUNIT" val="0"/>
  <p:tag name="KSO_WM_UNIT_ID" val="diagram20236924_3*n_h_h_i*1_2_1_1"/>
  <p:tag name="KSO_WM_TEMPLATE_CATEGORY" val="diagram"/>
  <p:tag name="KSO_WM_TEMPLATE_INDEX" val="20236924"/>
  <p:tag name="KSO_WM_UNIT_LAYERLEVEL" val="1_1_1_1"/>
  <p:tag name="KSO_WM_TAG_VERSION" val="3.0"/>
  <p:tag name="KSO_WM_BEAUTIFY_FLAG" val="#wm#"/>
  <p:tag name="KSO_WM_DIAGRAM_GROUP_CODE" val="n1-1"/>
  <p:tag name="KSO_WM_UNIT_TYPE" val="n_h_h_i"/>
  <p:tag name="KSO_WM_UNIT_INDEX" val="1_2_1_1"/>
  <p:tag name="KSO_WM_DIAGRAM_VERSION" val="3"/>
  <p:tag name="KSO_WM_DIAGRAM_COLOR_TRICK" val="1"/>
  <p:tag name="KSO_WM_DIAGRAM_COLOR_TEXT_CAN_REMOVE" val="n"/>
  <p:tag name="KSO_WM_DIAGRAM_MAX_ITEMCNT" val="5"/>
  <p:tag name="KSO_WM_DIAGRAM_MIN_ITEMCNT" val="3"/>
  <p:tag name="KSO_WM_DIAGRAM_COLOR_MATCH_VALUE" val="{&quot;shape&quot;:{&quot;fill&quot;:{&quot;solid&quot;:{&quot;brightness&quot;:0,&quot;colorType&quot;:1,&quot;foreColorIndex&quot;:16,&quot;transparency&quot;:0},&quot;type&quot;:1},&quot;glow&quot;:{&quot;colorType&quot;:0},&quot;line&quot;:{&quot;type&quot;:0},&quot;shadow&quot;:{&quot;brightness&quot;:0.4000000059604645,&quot;colorType&quot;:1,&quot;foreColorIndex&quot;:5,&quot;transparency&quot;:0.30000001192092896},&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6"/>
  <p:tag name="KSO_WM_UNIT_FILL_FORE_SCHEMECOLOR_INDEX_BRIGHTNESS" val="0"/>
  <p:tag name="KSO_WM_UNIT_SHADOW_SCHEMECOLOR_INDEX" val="5"/>
  <p:tag name="KSO_WM_UNIT_TEXT_FILL_FORE_SCHEMECOLOR_INDEX" val="2"/>
  <p:tag name="KSO_WM_UNIT_TEXT_FILL_TYPE" val="1"/>
  <p:tag name="KSO_WM_UNIT_USESOURCEFORMAT_APPLY" val="1"/>
</p:tagLst>
</file>

<file path=ppt/tags/tag105.xml><?xml version="1.0" encoding="utf-8"?>
<p:tagLst xmlns:p="http://schemas.openxmlformats.org/presentationml/2006/main">
  <p:tag name="KSO_WM_DIAGRAM_VIRTUALLY_FRAME" val="{&quot;height&quot;:384.46875,&quot;width&quot;:764.2032470703125}"/>
  <p:tag name="KSO_WM_UNIT_HIGHLIGHT" val="0"/>
  <p:tag name="KSO_WM_UNIT_COMPATIBLE" val="0"/>
  <p:tag name="KSO_WM_UNIT_DIAGRAM_ISNUMVISUAL" val="0"/>
  <p:tag name="KSO_WM_UNIT_DIAGRAM_ISREFERUNIT" val="0"/>
  <p:tag name="KSO_WM_UNIT_ID" val="diagram20236924_3*n_h_h_x*1_2_1_1"/>
  <p:tag name="KSO_WM_TEMPLATE_CATEGORY" val="diagram"/>
  <p:tag name="KSO_WM_TEMPLATE_INDEX" val="20236924"/>
  <p:tag name="KSO_WM_UNIT_LAYERLEVEL" val="1_1_1_1"/>
  <p:tag name="KSO_WM_TAG_VERSION" val="3.0"/>
  <p:tag name="KSO_WM_BEAUTIFY_FLAG" val="#wm#"/>
  <p:tag name="KSO_WM_UNIT_VALUE" val="82*88"/>
  <p:tag name="KSO_WM_DIAGRAM_GROUP_CODE" val="n1-1"/>
  <p:tag name="KSO_WM_UNIT_TYPE" val="n_h_h_x"/>
  <p:tag name="KSO_WM_UNIT_INDEX" val="1_2_1_1"/>
  <p:tag name="KSO_WM_DIAGRAM_VERSION" val="3"/>
  <p:tag name="KSO_WM_DIAGRAM_COLOR_TRICK" val="1"/>
  <p:tag name="KSO_WM_DIAGRAM_COLOR_TEXT_CAN_REMOVE" val="n"/>
  <p:tag name="KSO_WM_DIAGRAM_MAX_ITEMCNT" val="5"/>
  <p:tag name="KSO_WM_DIAGRAM_MIN_ITEMCNT" val="3"/>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TYPE" val="1"/>
  <p:tag name="KSO_WM_UNIT_SHADOW_SCHEMECOLOR_INDEX" val="5"/>
  <p:tag name="KSO_WM_UNIT_USESOURCEFORMAT_APPLY" val="1"/>
</p:tagLst>
</file>

<file path=ppt/tags/tag106.xml><?xml version="1.0" encoding="utf-8"?>
<p:tagLst xmlns:p="http://schemas.openxmlformats.org/presentationml/2006/main">
  <p:tag name="KSO_WM_DIAGRAM_VIRTUALLY_FRAME" val="{&quot;height&quot;:384.46875,&quot;width&quot;:764.2032470703125}"/>
  <p:tag name="KSO_WM_UNIT_HIGHLIGHT" val="0"/>
  <p:tag name="KSO_WM_UNIT_COMPATIBLE" val="0"/>
  <p:tag name="KSO_WM_UNIT_DIAGRAM_ISNUMVISUAL" val="0"/>
  <p:tag name="KSO_WM_UNIT_DIAGRAM_ISREFERUNIT" val="0"/>
  <p:tag name="KSO_WM_UNIT_ID" val="diagram20236924_3*n_h_h_i*1_2_4_1"/>
  <p:tag name="KSO_WM_TEMPLATE_CATEGORY" val="diagram"/>
  <p:tag name="KSO_WM_TEMPLATE_INDEX" val="20236924"/>
  <p:tag name="KSO_WM_UNIT_LAYERLEVEL" val="1_1_1_1"/>
  <p:tag name="KSO_WM_TAG_VERSION" val="3.0"/>
  <p:tag name="KSO_WM_BEAUTIFY_FLAG" val="#wm#"/>
  <p:tag name="KSO_WM_DIAGRAM_GROUP_CODE" val="n1-1"/>
  <p:tag name="KSO_WM_UNIT_TYPE" val="n_h_h_i"/>
  <p:tag name="KSO_WM_UNIT_INDEX" val="1_2_4_1"/>
  <p:tag name="KSO_WM_DIAGRAM_VERSION" val="3"/>
  <p:tag name="KSO_WM_DIAGRAM_COLOR_TRICK" val="1"/>
  <p:tag name="KSO_WM_DIAGRAM_COLOR_TEXT_CAN_REMOVE" val="n"/>
  <p:tag name="KSO_WM_DIAGRAM_MAX_ITEMCNT" val="5"/>
  <p:tag name="KSO_WM_DIAGRAM_MIN_ITEMCNT" val="3"/>
  <p:tag name="KSO_WM_DIAGRAM_COLOR_MATCH_VALUE" val="{&quot;shape&quot;:{&quot;fill&quot;:{&quot;solid&quot;:{&quot;brightness&quot;:0,&quot;colorType&quot;:1,&quot;foreColorIndex&quot;:16,&quot;transparency&quot;:0},&quot;type&quot;:1},&quot;glow&quot;:{&quot;colorType&quot;:0},&quot;line&quot;:{&quot;type&quot;:0},&quot;shadow&quot;:{&quot;brightness&quot;:0.4000000059604645,&quot;colorType&quot;:1,&quot;foreColorIndex&quot;:5,&quot;transparency&quot;:0.30000001192092896},&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6"/>
  <p:tag name="KSO_WM_UNIT_FILL_FORE_SCHEMECOLOR_INDEX_BRIGHTNESS" val="0"/>
  <p:tag name="KSO_WM_UNIT_SHADOW_SCHEMECOLOR_INDEX" val="5"/>
  <p:tag name="KSO_WM_UNIT_TEXT_FILL_FORE_SCHEMECOLOR_INDEX" val="2"/>
  <p:tag name="KSO_WM_UNIT_TEXT_FILL_TYPE" val="1"/>
  <p:tag name="KSO_WM_UNIT_USESOURCEFORMAT_APPLY" val="1"/>
</p:tagLst>
</file>

<file path=ppt/tags/tag107.xml><?xml version="1.0" encoding="utf-8"?>
<p:tagLst xmlns:p="http://schemas.openxmlformats.org/presentationml/2006/main">
  <p:tag name="KSO_WM_DIAGRAM_VIRTUALLY_FRAME" val="{&quot;height&quot;:384.46875,&quot;width&quot;:764.2032470703125}"/>
  <p:tag name="KSO_WM_UNIT_HIGHLIGHT" val="0"/>
  <p:tag name="KSO_WM_UNIT_COMPATIBLE" val="0"/>
  <p:tag name="KSO_WM_UNIT_DIAGRAM_ISNUMVISUAL" val="0"/>
  <p:tag name="KSO_WM_UNIT_DIAGRAM_ISREFERUNIT" val="0"/>
  <p:tag name="KSO_WM_UNIT_ID" val="diagram20236924_3*n_h_h_i*1_2_3_1"/>
  <p:tag name="KSO_WM_TEMPLATE_CATEGORY" val="diagram"/>
  <p:tag name="KSO_WM_TEMPLATE_INDEX" val="20236924"/>
  <p:tag name="KSO_WM_UNIT_LAYERLEVEL" val="1_1_1_1"/>
  <p:tag name="KSO_WM_TAG_VERSION" val="3.0"/>
  <p:tag name="KSO_WM_BEAUTIFY_FLAG" val="#wm#"/>
  <p:tag name="KSO_WM_DIAGRAM_GROUP_CODE" val="n1-1"/>
  <p:tag name="KSO_WM_UNIT_TYPE" val="n_h_h_i"/>
  <p:tag name="KSO_WM_UNIT_INDEX" val="1_2_3_1"/>
  <p:tag name="KSO_WM_DIAGRAM_VERSION" val="3"/>
  <p:tag name="KSO_WM_DIAGRAM_COLOR_TRICK" val="1"/>
  <p:tag name="KSO_WM_DIAGRAM_COLOR_TEXT_CAN_REMOVE" val="n"/>
  <p:tag name="KSO_WM_DIAGRAM_MAX_ITEMCNT" val="5"/>
  <p:tag name="KSO_WM_DIAGRAM_MIN_ITEMCNT" val="3"/>
  <p:tag name="KSO_WM_DIAGRAM_COLOR_MATCH_VALUE" val="{&quot;shape&quot;:{&quot;fill&quot;:{&quot;solid&quot;:{&quot;brightness&quot;:0,&quot;colorType&quot;:1,&quot;foreColorIndex&quot;:16,&quot;transparency&quot;:0},&quot;type&quot;:1},&quot;glow&quot;:{&quot;colorType&quot;:0},&quot;line&quot;:{&quot;type&quot;:0},&quot;shadow&quot;:{&quot;brightness&quot;:0.4000000059604645,&quot;colorType&quot;:1,&quot;foreColorIndex&quot;:5,&quot;transparency&quot;:0.30000001192092896},&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6"/>
  <p:tag name="KSO_WM_UNIT_FILL_FORE_SCHEMECOLOR_INDEX_BRIGHTNESS" val="0"/>
  <p:tag name="KSO_WM_UNIT_SHADOW_SCHEMECOLOR_INDEX" val="5"/>
  <p:tag name="KSO_WM_UNIT_TEXT_FILL_FORE_SCHEMECOLOR_INDEX" val="2"/>
  <p:tag name="KSO_WM_UNIT_TEXT_FILL_TYPE" val="1"/>
  <p:tag name="KSO_WM_UNIT_USESOURCEFORMAT_APPLY" val="1"/>
</p:tagLst>
</file>

<file path=ppt/tags/tag108.xml><?xml version="1.0" encoding="utf-8"?>
<p:tagLst xmlns:p="http://schemas.openxmlformats.org/presentationml/2006/main">
  <p:tag name="KSO_WM_DIAGRAM_VIRTUALLY_FRAME" val="{&quot;height&quot;:384.46875,&quot;width&quot;:764.2032470703125}"/>
  <p:tag name="KSO_WM_UNIT_HIGHLIGHT" val="0"/>
  <p:tag name="KSO_WM_UNIT_COMPATIBLE" val="0"/>
  <p:tag name="KSO_WM_UNIT_DIAGRAM_ISNUMVISUAL" val="0"/>
  <p:tag name="KSO_WM_UNIT_DIAGRAM_ISREFERUNIT" val="0"/>
  <p:tag name="KSO_WM_UNIT_ID" val="diagram20236924_3*n_h_h_i*1_2_2_1"/>
  <p:tag name="KSO_WM_TEMPLATE_CATEGORY" val="diagram"/>
  <p:tag name="KSO_WM_TEMPLATE_INDEX" val="20236924"/>
  <p:tag name="KSO_WM_UNIT_LAYERLEVEL" val="1_1_1_1"/>
  <p:tag name="KSO_WM_TAG_VERSION" val="3.0"/>
  <p:tag name="KSO_WM_BEAUTIFY_FLAG" val="#wm#"/>
  <p:tag name="KSO_WM_DIAGRAM_GROUP_CODE" val="n1-1"/>
  <p:tag name="KSO_WM_UNIT_TYPE" val="n_h_h_i"/>
  <p:tag name="KSO_WM_UNIT_INDEX" val="1_2_2_1"/>
  <p:tag name="KSO_WM_DIAGRAM_VERSION" val="3"/>
  <p:tag name="KSO_WM_DIAGRAM_COLOR_TRICK" val="1"/>
  <p:tag name="KSO_WM_DIAGRAM_COLOR_TEXT_CAN_REMOVE" val="n"/>
  <p:tag name="KSO_WM_DIAGRAM_MAX_ITEMCNT" val="5"/>
  <p:tag name="KSO_WM_DIAGRAM_MIN_ITEMCNT" val="3"/>
  <p:tag name="KSO_WM_DIAGRAM_COLOR_MATCH_VALUE" val="{&quot;shape&quot;:{&quot;fill&quot;:{&quot;solid&quot;:{&quot;brightness&quot;:0,&quot;colorType&quot;:1,&quot;foreColorIndex&quot;:16,&quot;transparency&quot;:0},&quot;type&quot;:1},&quot;glow&quot;:{&quot;colorType&quot;:0},&quot;line&quot;:{&quot;type&quot;:0},&quot;shadow&quot;:{&quot;brightness&quot;:0.4000000059604645,&quot;colorType&quot;:1,&quot;foreColorIndex&quot;:5,&quot;transparency&quot;:0.30000001192092896},&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6"/>
  <p:tag name="KSO_WM_UNIT_FILL_FORE_SCHEMECOLOR_INDEX_BRIGHTNESS" val="0"/>
  <p:tag name="KSO_WM_UNIT_SHADOW_SCHEMECOLOR_INDEX" val="5"/>
  <p:tag name="KSO_WM_UNIT_TEXT_FILL_FORE_SCHEMECOLOR_INDEX" val="2"/>
  <p:tag name="KSO_WM_UNIT_TEXT_FILL_TYPE" val="1"/>
  <p:tag name="KSO_WM_UNIT_USESOURCEFORMAT_APPLY" val="1"/>
</p:tagLst>
</file>

<file path=ppt/tags/tag109.xml><?xml version="1.0" encoding="utf-8"?>
<p:tagLst xmlns:p="http://schemas.openxmlformats.org/presentationml/2006/main">
  <p:tag name="KSO_WM_DIAGRAM_VIRTUALLY_FRAME" val="{&quot;height&quot;:384.46875,&quot;width&quot;:764.2032470703125}"/>
  <p:tag name="KSO_WM_UNIT_HIGHLIGHT" val="0"/>
  <p:tag name="KSO_WM_UNIT_COMPATIBLE" val="0"/>
  <p:tag name="KSO_WM_UNIT_DIAGRAM_ISNUMVISUAL" val="0"/>
  <p:tag name="KSO_WM_UNIT_DIAGRAM_ISREFERUNIT" val="0"/>
  <p:tag name="KSO_WM_UNIT_ID" val="diagram20236924_3*n_h_h_i*1_2_5_1"/>
  <p:tag name="KSO_WM_TEMPLATE_CATEGORY" val="diagram"/>
  <p:tag name="KSO_WM_TEMPLATE_INDEX" val="20236924"/>
  <p:tag name="KSO_WM_UNIT_LAYERLEVEL" val="1_1_1_1"/>
  <p:tag name="KSO_WM_TAG_VERSION" val="3.0"/>
  <p:tag name="KSO_WM_BEAUTIFY_FLAG" val="#wm#"/>
  <p:tag name="KSO_WM_DIAGRAM_GROUP_CODE" val="n1-1"/>
  <p:tag name="KSO_WM_UNIT_TYPE" val="n_h_h_i"/>
  <p:tag name="KSO_WM_UNIT_INDEX" val="1_2_5_1"/>
  <p:tag name="KSO_WM_DIAGRAM_VERSION" val="3"/>
  <p:tag name="KSO_WM_DIAGRAM_COLOR_TRICK" val="1"/>
  <p:tag name="KSO_WM_DIAGRAM_COLOR_TEXT_CAN_REMOVE" val="n"/>
  <p:tag name="KSO_WM_DIAGRAM_MAX_ITEMCNT" val="5"/>
  <p:tag name="KSO_WM_DIAGRAM_MIN_ITEMCNT" val="3"/>
  <p:tag name="KSO_WM_DIAGRAM_COLOR_MATCH_VALUE" val="{&quot;shape&quot;:{&quot;fill&quot;:{&quot;solid&quot;:{&quot;brightness&quot;:0,&quot;colorType&quot;:1,&quot;foreColorIndex&quot;:16,&quot;transparency&quot;:0},&quot;type&quot;:1},&quot;glow&quot;:{&quot;colorType&quot;:0},&quot;line&quot;:{&quot;type&quot;:0},&quot;shadow&quot;:{&quot;brightness&quot;:0.4000000059604645,&quot;colorType&quot;:1,&quot;foreColorIndex&quot;:5,&quot;transparency&quot;:0.30000001192092896},&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6"/>
  <p:tag name="KSO_WM_UNIT_FILL_FORE_SCHEMECOLOR_INDEX_BRIGHTNESS" val="0"/>
  <p:tag name="KSO_WM_UNIT_SHADOW_SCHEMECOLOR_INDEX" val="5"/>
  <p:tag name="KSO_WM_UNIT_TEXT_FILL_FORE_SCHEMECOLOR_INDEX" val="2"/>
  <p:tag name="KSO_WM_UNIT_TEXT_FILL_TYPE" val="1"/>
  <p:tag name="KSO_WM_UNIT_USESOURCEFORMAT_APPLY" val="1"/>
</p:tagLst>
</file>

<file path=ppt/tags/tag110.xml><?xml version="1.0" encoding="utf-8"?>
<p:tagLst xmlns:p="http://schemas.openxmlformats.org/presentationml/2006/main">
  <p:tag name="KSO_WM_DIAGRAM_VIRTUALLY_FRAME" val="{&quot;height&quot;:384.46875,&quot;width&quot;:764.2032470703125}"/>
  <p:tag name="KSO_WM_UNIT_HIGHLIGHT" val="0"/>
  <p:tag name="KSO_WM_UNIT_COMPATIBLE" val="0"/>
  <p:tag name="KSO_WM_UNIT_DIAGRAM_ISNUMVISUAL" val="0"/>
  <p:tag name="KSO_WM_UNIT_DIAGRAM_ISREFERUNIT" val="0"/>
  <p:tag name="KSO_WM_UNIT_ID" val="diagram20236924_3*n_h_h_a*1_2_2_1"/>
  <p:tag name="KSO_WM_TEMPLATE_CATEGORY" val="diagram"/>
  <p:tag name="KSO_WM_TEMPLATE_INDEX" val="20236924"/>
  <p:tag name="KSO_WM_UNIT_LAYERLEVEL" val="1_1_1_1"/>
  <p:tag name="KSO_WM_TAG_VERSION" val="3.0"/>
  <p:tag name="KSO_WM_BEAUTIFY_FLAG" val="#wm#"/>
  <p:tag name="KSO_WM_UNIT_ISCONTENTSTITLE" val="0"/>
  <p:tag name="KSO_WM_UNIT_ISNUMDGMTITLE" val="0"/>
  <p:tag name="KSO_WM_UNIT_NOCLEAR" val="0"/>
  <p:tag name="KSO_WM_UNIT_VALUE" val="6"/>
  <p:tag name="KSO_WM_DIAGRAM_GROUP_CODE" val="n1-1"/>
  <p:tag name="KSO_WM_UNIT_TYPE" val="n_h_h_a"/>
  <p:tag name="KSO_WM_UNIT_INDEX" val="1_2_2_1"/>
  <p:tag name="KSO_WM_DIAGRAM_VERSION" val="3"/>
  <p:tag name="KSO_WM_DIAGRAM_COLOR_TRICK" val="1"/>
  <p:tag name="KSO_WM_DIAGRAM_COLOR_TEXT_CAN_REMOVE" val="n"/>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项标题"/>
  <p:tag name="KSO_WM_UNIT_TEXT_FILL_FORE_SCHEMECOLOR_INDEX" val="1"/>
  <p:tag name="KSO_WM_UNIT_TEXT_FILL_TYPE" val="1"/>
  <p:tag name="KSO_WM_UNIT_TEXT_TYPE" val="1"/>
  <p:tag name="KSO_WM_UNIT_USESOURCEFORMAT_APPLY" val="1"/>
</p:tagLst>
</file>

<file path=ppt/tags/tag111.xml><?xml version="1.0" encoding="utf-8"?>
<p:tagLst xmlns:p="http://schemas.openxmlformats.org/presentationml/2006/main">
  <p:tag name="KSO_WM_DIAGRAM_VIRTUALLY_FRAME" val="{&quot;height&quot;:384.46875,&quot;width&quot;:764.2032470703125}"/>
  <p:tag name="KSO_WM_UNIT_HIGHLIGHT" val="0"/>
  <p:tag name="KSO_WM_UNIT_COMPATIBLE" val="0"/>
  <p:tag name="KSO_WM_UNIT_DIAGRAM_ISNUMVISUAL" val="0"/>
  <p:tag name="KSO_WM_UNIT_DIAGRAM_ISREFERUNIT" val="0"/>
  <p:tag name="KSO_WM_UNIT_ID" val="diagram20236924_3*n_h_h_f*1_2_2_1"/>
  <p:tag name="KSO_WM_TEMPLATE_CATEGORY" val="diagram"/>
  <p:tag name="KSO_WM_TEMPLATE_INDEX" val="20236924"/>
  <p:tag name="KSO_WM_UNIT_LAYERLEVEL" val="1_1_1_1"/>
  <p:tag name="KSO_WM_TAG_VERSION" val="3.0"/>
  <p:tag name="KSO_WM_BEAUTIFY_FLAG" val="#wm#"/>
  <p:tag name="KSO_WM_UNIT_SUBTYPE" val="a"/>
  <p:tag name="KSO_WM_UNIT_NOCLEAR" val="0"/>
  <p:tag name="KSO_WM_UNIT_VALUE" val="39"/>
  <p:tag name="KSO_WM_DIAGRAM_GROUP_CODE" val="n1-1"/>
  <p:tag name="KSO_WM_UNIT_TYPE" val="n_h_h_f"/>
  <p:tag name="KSO_WM_UNIT_INDEX" val="1_2_2_1"/>
  <p:tag name="KSO_WM_DIAGRAM_VERSION" val="3"/>
  <p:tag name="KSO_WM_DIAGRAM_COLOR_TRICK" val="1"/>
  <p:tag name="KSO_WM_DIAGRAM_COLOR_TEXT_CAN_REMOVE" val="n"/>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内容，简明扼要地阐述观点。根据需要可酌增减文字"/>
  <p:tag name="KSO_WM_UNIT_TEXT_FILL_FORE_SCHEMECOLOR_INDEX" val="1"/>
  <p:tag name="KSO_WM_UNIT_TEXT_FILL_TYPE" val="1"/>
  <p:tag name="KSO_WM_UNIT_TEXT_TYPE" val="1"/>
  <p:tag name="KSO_WM_UNIT_USESOURCEFORMAT_APPLY" val="1"/>
</p:tagLst>
</file>

<file path=ppt/tags/tag112.xml><?xml version="1.0" encoding="utf-8"?>
<p:tagLst xmlns:p="http://schemas.openxmlformats.org/presentationml/2006/main">
  <p:tag name="KSO_WM_DIAGRAM_VIRTUALLY_FRAME" val="{&quot;height&quot;:384.46875,&quot;width&quot;:764.2032470703125}"/>
  <p:tag name="KSO_WM_UNIT_HIGHLIGHT" val="0"/>
  <p:tag name="KSO_WM_UNIT_COMPATIBLE" val="0"/>
  <p:tag name="KSO_WM_UNIT_DIAGRAM_ISNUMVISUAL" val="0"/>
  <p:tag name="KSO_WM_UNIT_DIAGRAM_ISREFERUNIT" val="0"/>
  <p:tag name="KSO_WM_UNIT_ID" val="diagram20236924_3*n_h_h_a*1_2_1_1"/>
  <p:tag name="KSO_WM_TEMPLATE_CATEGORY" val="diagram"/>
  <p:tag name="KSO_WM_TEMPLATE_INDEX" val="20236924"/>
  <p:tag name="KSO_WM_UNIT_LAYERLEVEL" val="1_1_1_1"/>
  <p:tag name="KSO_WM_TAG_VERSION" val="3.0"/>
  <p:tag name="KSO_WM_BEAUTIFY_FLAG" val="#wm#"/>
  <p:tag name="KSO_WM_UNIT_ISCONTENTSTITLE" val="0"/>
  <p:tag name="KSO_WM_UNIT_ISNUMDGMTITLE" val="0"/>
  <p:tag name="KSO_WM_UNIT_NOCLEAR" val="0"/>
  <p:tag name="KSO_WM_UNIT_VALUE" val="5"/>
  <p:tag name="KSO_WM_DIAGRAM_GROUP_CODE" val="n1-1"/>
  <p:tag name="KSO_WM_UNIT_TYPE" val="n_h_h_a"/>
  <p:tag name="KSO_WM_UNIT_INDEX" val="1_2_1_1"/>
  <p:tag name="KSO_WM_DIAGRAM_VERSION" val="3"/>
  <p:tag name="KSO_WM_DIAGRAM_COLOR_TRICK" val="1"/>
  <p:tag name="KSO_WM_DIAGRAM_COLOR_TEXT_CAN_REMOVE" val="n"/>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项标题"/>
  <p:tag name="KSO_WM_UNIT_TEXT_FILL_FORE_SCHEMECOLOR_INDEX" val="1"/>
  <p:tag name="KSO_WM_UNIT_TEXT_FILL_TYPE" val="1"/>
  <p:tag name="KSO_WM_UNIT_TEXT_TYPE" val="1"/>
  <p:tag name="KSO_WM_UNIT_USESOURCEFORMAT_APPLY" val="1"/>
</p:tagLst>
</file>

<file path=ppt/tags/tag113.xml><?xml version="1.0" encoding="utf-8"?>
<p:tagLst xmlns:p="http://schemas.openxmlformats.org/presentationml/2006/main">
  <p:tag name="KSO_WM_DIAGRAM_VIRTUALLY_FRAME" val="{&quot;height&quot;:384.46875,&quot;width&quot;:764.2032470703125}"/>
  <p:tag name="KSO_WM_UNIT_HIGHLIGHT" val="0"/>
  <p:tag name="KSO_WM_UNIT_COMPATIBLE" val="0"/>
  <p:tag name="KSO_WM_UNIT_DIAGRAM_ISNUMVISUAL" val="0"/>
  <p:tag name="KSO_WM_UNIT_DIAGRAM_ISREFERUNIT" val="0"/>
  <p:tag name="KSO_WM_UNIT_ID" val="diagram20236924_3*n_h_h_f*1_2_1_1"/>
  <p:tag name="KSO_WM_TEMPLATE_CATEGORY" val="diagram"/>
  <p:tag name="KSO_WM_TEMPLATE_INDEX" val="20236924"/>
  <p:tag name="KSO_WM_UNIT_LAYERLEVEL" val="1_1_1_1"/>
  <p:tag name="KSO_WM_TAG_VERSION" val="3.0"/>
  <p:tag name="KSO_WM_BEAUTIFY_FLAG" val="#wm#"/>
  <p:tag name="KSO_WM_UNIT_SUBTYPE" val="a"/>
  <p:tag name="KSO_WM_UNIT_NOCLEAR" val="0"/>
  <p:tag name="KSO_WM_UNIT_VALUE" val="39"/>
  <p:tag name="KSO_WM_DIAGRAM_GROUP_CODE" val="n1-1"/>
  <p:tag name="KSO_WM_UNIT_TYPE" val="n_h_h_f"/>
  <p:tag name="KSO_WM_UNIT_INDEX" val="1_2_1_1"/>
  <p:tag name="KSO_WM_DIAGRAM_VERSION" val="3"/>
  <p:tag name="KSO_WM_DIAGRAM_COLOR_TRICK" val="1"/>
  <p:tag name="KSO_WM_DIAGRAM_COLOR_TEXT_CAN_REMOVE" val="n"/>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内容，简明扼要地阐述观点。根据需要可酌增减文字"/>
  <p:tag name="KSO_WM_UNIT_TEXT_FILL_FORE_SCHEMECOLOR_INDEX" val="1"/>
  <p:tag name="KSO_WM_UNIT_TEXT_FILL_TYPE" val="1"/>
  <p:tag name="KSO_WM_UNIT_TEXT_TYPE" val="1"/>
  <p:tag name="KSO_WM_UNIT_USESOURCEFORMAT_APPLY" val="1"/>
</p:tagLst>
</file>

<file path=ppt/tags/tag114.xml><?xml version="1.0" encoding="utf-8"?>
<p:tagLst xmlns:p="http://schemas.openxmlformats.org/presentationml/2006/main">
  <p:tag name="KSO_WM_DIAGRAM_VIRTUALLY_FRAME" val="{&quot;height&quot;:384.46875,&quot;width&quot;:764.2032470703125}"/>
  <p:tag name="KSO_WM_UNIT_HIGHLIGHT" val="0"/>
  <p:tag name="KSO_WM_UNIT_COMPATIBLE" val="0"/>
  <p:tag name="KSO_WM_UNIT_DIAGRAM_ISNUMVISUAL" val="0"/>
  <p:tag name="KSO_WM_UNIT_DIAGRAM_ISREFERUNIT" val="0"/>
  <p:tag name="KSO_WM_UNIT_ID" val="diagram20236924_3*n_h_h_a*1_2_3_1"/>
  <p:tag name="KSO_WM_TEMPLATE_CATEGORY" val="diagram"/>
  <p:tag name="KSO_WM_TEMPLATE_INDEX" val="20236924"/>
  <p:tag name="KSO_WM_UNIT_LAYERLEVEL" val="1_1_1_1"/>
  <p:tag name="KSO_WM_TAG_VERSION" val="3.0"/>
  <p:tag name="KSO_WM_BEAUTIFY_FLAG" val="#wm#"/>
  <p:tag name="KSO_WM_UNIT_ISCONTENTSTITLE" val="0"/>
  <p:tag name="KSO_WM_UNIT_ISNUMDGMTITLE" val="0"/>
  <p:tag name="KSO_WM_UNIT_NOCLEAR" val="0"/>
  <p:tag name="KSO_WM_UNIT_VALUE" val="6"/>
  <p:tag name="KSO_WM_DIAGRAM_GROUP_CODE" val="n1-1"/>
  <p:tag name="KSO_WM_UNIT_TYPE" val="n_h_h_a"/>
  <p:tag name="KSO_WM_UNIT_INDEX" val="1_2_3_1"/>
  <p:tag name="KSO_WM_DIAGRAM_VERSION" val="3"/>
  <p:tag name="KSO_WM_DIAGRAM_COLOR_TRICK" val="1"/>
  <p:tag name="KSO_WM_DIAGRAM_COLOR_TEXT_CAN_REMOVE" val="n"/>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项标题"/>
  <p:tag name="KSO_WM_UNIT_TEXT_FILL_FORE_SCHEMECOLOR_INDEX" val="1"/>
  <p:tag name="KSO_WM_UNIT_TEXT_FILL_TYPE" val="1"/>
  <p:tag name="KSO_WM_UNIT_TEXT_TYPE" val="1"/>
  <p:tag name="KSO_WM_UNIT_USESOURCEFORMAT_APPLY" val="1"/>
</p:tagLst>
</file>

<file path=ppt/tags/tag115.xml><?xml version="1.0" encoding="utf-8"?>
<p:tagLst xmlns:p="http://schemas.openxmlformats.org/presentationml/2006/main">
  <p:tag name="KSO_WM_DIAGRAM_VIRTUALLY_FRAME" val="{&quot;height&quot;:384.46875,&quot;width&quot;:764.2032470703125}"/>
  <p:tag name="KSO_WM_UNIT_HIGHLIGHT" val="0"/>
  <p:tag name="KSO_WM_UNIT_COMPATIBLE" val="0"/>
  <p:tag name="KSO_WM_UNIT_DIAGRAM_ISNUMVISUAL" val="0"/>
  <p:tag name="KSO_WM_UNIT_DIAGRAM_ISREFERUNIT" val="0"/>
  <p:tag name="KSO_WM_UNIT_ID" val="diagram20236924_3*n_h_h_f*1_2_3_1"/>
  <p:tag name="KSO_WM_TEMPLATE_CATEGORY" val="diagram"/>
  <p:tag name="KSO_WM_TEMPLATE_INDEX" val="20236924"/>
  <p:tag name="KSO_WM_UNIT_LAYERLEVEL" val="1_1_1_1"/>
  <p:tag name="KSO_WM_TAG_VERSION" val="3.0"/>
  <p:tag name="KSO_WM_BEAUTIFY_FLAG" val="#wm#"/>
  <p:tag name="KSO_WM_UNIT_SUBTYPE" val="a"/>
  <p:tag name="KSO_WM_UNIT_NOCLEAR" val="0"/>
  <p:tag name="KSO_WM_UNIT_VALUE" val="39"/>
  <p:tag name="KSO_WM_DIAGRAM_GROUP_CODE" val="n1-1"/>
  <p:tag name="KSO_WM_UNIT_TYPE" val="n_h_h_f"/>
  <p:tag name="KSO_WM_UNIT_INDEX" val="1_2_3_1"/>
  <p:tag name="KSO_WM_DIAGRAM_VERSION" val="3"/>
  <p:tag name="KSO_WM_DIAGRAM_COLOR_TRICK" val="1"/>
  <p:tag name="KSO_WM_DIAGRAM_COLOR_TEXT_CAN_REMOVE" val="n"/>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内容，简明扼要地阐述观点。根据需要可酌增减文字"/>
  <p:tag name="KSO_WM_UNIT_TEXT_FILL_FORE_SCHEMECOLOR_INDEX" val="1"/>
  <p:tag name="KSO_WM_UNIT_TEXT_FILL_TYPE" val="1"/>
  <p:tag name="KSO_WM_UNIT_TEXT_TYPE" val="1"/>
  <p:tag name="KSO_WM_UNIT_USESOURCEFORMAT_APPLY" val="1"/>
</p:tagLst>
</file>

<file path=ppt/tags/tag116.xml><?xml version="1.0" encoding="utf-8"?>
<p:tagLst xmlns:p="http://schemas.openxmlformats.org/presentationml/2006/main">
  <p:tag name="KSO_WM_DIAGRAM_VIRTUALLY_FRAME" val="{&quot;height&quot;:384.46875,&quot;width&quot;:764.2032470703125}"/>
  <p:tag name="KSO_WM_UNIT_HIGHLIGHT" val="0"/>
  <p:tag name="KSO_WM_UNIT_COMPATIBLE" val="0"/>
  <p:tag name="KSO_WM_UNIT_DIAGRAM_ISNUMVISUAL" val="0"/>
  <p:tag name="KSO_WM_UNIT_DIAGRAM_ISREFERUNIT" val="0"/>
  <p:tag name="KSO_WM_UNIT_ID" val="diagram20236924_3*n_h_h_a*1_2_4_1"/>
  <p:tag name="KSO_WM_TEMPLATE_CATEGORY" val="diagram"/>
  <p:tag name="KSO_WM_TEMPLATE_INDEX" val="20236924"/>
  <p:tag name="KSO_WM_UNIT_LAYERLEVEL" val="1_1_1_1"/>
  <p:tag name="KSO_WM_TAG_VERSION" val="3.0"/>
  <p:tag name="KSO_WM_BEAUTIFY_FLAG" val="#wm#"/>
  <p:tag name="KSO_WM_UNIT_ISCONTENTSTITLE" val="0"/>
  <p:tag name="KSO_WM_UNIT_ISNUMDGMTITLE" val="0"/>
  <p:tag name="KSO_WM_UNIT_NOCLEAR" val="0"/>
  <p:tag name="KSO_WM_UNIT_VALUE" val="6"/>
  <p:tag name="KSO_WM_DIAGRAM_GROUP_CODE" val="n1-1"/>
  <p:tag name="KSO_WM_UNIT_TYPE" val="n_h_h_a"/>
  <p:tag name="KSO_WM_UNIT_INDEX" val="1_2_4_1"/>
  <p:tag name="KSO_WM_DIAGRAM_VERSION" val="3"/>
  <p:tag name="KSO_WM_DIAGRAM_COLOR_TRICK" val="1"/>
  <p:tag name="KSO_WM_DIAGRAM_COLOR_TEXT_CAN_REMOVE" val="n"/>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项标题"/>
  <p:tag name="KSO_WM_UNIT_TEXT_FILL_FORE_SCHEMECOLOR_INDEX" val="1"/>
  <p:tag name="KSO_WM_UNIT_TEXT_FILL_TYPE" val="1"/>
  <p:tag name="KSO_WM_UNIT_TEXT_TYPE" val="1"/>
  <p:tag name="KSO_WM_UNIT_USESOURCEFORMAT_APPLY" val="1"/>
</p:tagLst>
</file>

<file path=ppt/tags/tag117.xml><?xml version="1.0" encoding="utf-8"?>
<p:tagLst xmlns:p="http://schemas.openxmlformats.org/presentationml/2006/main">
  <p:tag name="KSO_WM_DIAGRAM_VIRTUALLY_FRAME" val="{&quot;height&quot;:384.46875,&quot;width&quot;:764.2032470703125}"/>
  <p:tag name="KSO_WM_UNIT_HIGHLIGHT" val="0"/>
  <p:tag name="KSO_WM_UNIT_COMPATIBLE" val="0"/>
  <p:tag name="KSO_WM_UNIT_DIAGRAM_ISNUMVISUAL" val="0"/>
  <p:tag name="KSO_WM_UNIT_DIAGRAM_ISREFERUNIT" val="0"/>
  <p:tag name="KSO_WM_UNIT_ID" val="diagram20236924_3*n_h_h_f*1_2_4_1"/>
  <p:tag name="KSO_WM_TEMPLATE_CATEGORY" val="diagram"/>
  <p:tag name="KSO_WM_TEMPLATE_INDEX" val="20236924"/>
  <p:tag name="KSO_WM_UNIT_LAYERLEVEL" val="1_1_1_1"/>
  <p:tag name="KSO_WM_TAG_VERSION" val="3.0"/>
  <p:tag name="KSO_WM_BEAUTIFY_FLAG" val="#wm#"/>
  <p:tag name="KSO_WM_UNIT_SUBTYPE" val="a"/>
  <p:tag name="KSO_WM_UNIT_NOCLEAR" val="0"/>
  <p:tag name="KSO_WM_UNIT_VALUE" val="39"/>
  <p:tag name="KSO_WM_DIAGRAM_GROUP_CODE" val="n1-1"/>
  <p:tag name="KSO_WM_UNIT_TYPE" val="n_h_h_f"/>
  <p:tag name="KSO_WM_UNIT_INDEX" val="1_2_4_1"/>
  <p:tag name="KSO_WM_DIAGRAM_VERSION" val="3"/>
  <p:tag name="KSO_WM_DIAGRAM_COLOR_TRICK" val="1"/>
  <p:tag name="KSO_WM_DIAGRAM_COLOR_TEXT_CAN_REMOVE" val="n"/>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内容，简明扼要地阐述观点。根据需要可酌增减文字"/>
  <p:tag name="KSO_WM_UNIT_TEXT_FILL_FORE_SCHEMECOLOR_INDEX" val="1"/>
  <p:tag name="KSO_WM_UNIT_TEXT_FILL_TYPE" val="1"/>
  <p:tag name="KSO_WM_UNIT_TEXT_TYPE" val="1"/>
  <p:tag name="KSO_WM_UNIT_USESOURCEFORMAT_APPLY" val="1"/>
</p:tagLst>
</file>

<file path=ppt/tags/tag118.xml><?xml version="1.0" encoding="utf-8"?>
<p:tagLst xmlns:p="http://schemas.openxmlformats.org/presentationml/2006/main">
  <p:tag name="KSO_WM_DIAGRAM_VIRTUALLY_FRAME" val="{&quot;height&quot;:384.46875,&quot;width&quot;:764.2032470703125}"/>
  <p:tag name="KSO_WM_UNIT_HIGHLIGHT" val="0"/>
  <p:tag name="KSO_WM_UNIT_COMPATIBLE" val="0"/>
  <p:tag name="KSO_WM_UNIT_DIAGRAM_ISNUMVISUAL" val="0"/>
  <p:tag name="KSO_WM_UNIT_DIAGRAM_ISREFERUNIT" val="0"/>
  <p:tag name="KSO_WM_UNIT_ID" val="diagram20236924_3*n_h_h_a*1_2_5_1"/>
  <p:tag name="KSO_WM_TEMPLATE_CATEGORY" val="diagram"/>
  <p:tag name="KSO_WM_TEMPLATE_INDEX" val="20236924"/>
  <p:tag name="KSO_WM_UNIT_LAYERLEVEL" val="1_1_1_1"/>
  <p:tag name="KSO_WM_TAG_VERSION" val="3.0"/>
  <p:tag name="KSO_WM_BEAUTIFY_FLAG" val="#wm#"/>
  <p:tag name="KSO_WM_UNIT_ISCONTENTSTITLE" val="0"/>
  <p:tag name="KSO_WM_UNIT_ISNUMDGMTITLE" val="0"/>
  <p:tag name="KSO_WM_UNIT_NOCLEAR" val="0"/>
  <p:tag name="KSO_WM_UNIT_VALUE" val="5"/>
  <p:tag name="KSO_WM_DIAGRAM_GROUP_CODE" val="n1-1"/>
  <p:tag name="KSO_WM_UNIT_TYPE" val="n_h_h_a"/>
  <p:tag name="KSO_WM_UNIT_INDEX" val="1_2_5_1"/>
  <p:tag name="KSO_WM_DIAGRAM_VERSION" val="3"/>
  <p:tag name="KSO_WM_DIAGRAM_COLOR_TRICK" val="1"/>
  <p:tag name="KSO_WM_DIAGRAM_COLOR_TEXT_CAN_REMOVE" val="n"/>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项标题"/>
  <p:tag name="KSO_WM_UNIT_TEXT_FILL_FORE_SCHEMECOLOR_INDEX" val="1"/>
  <p:tag name="KSO_WM_UNIT_TEXT_FILL_TYPE" val="1"/>
  <p:tag name="KSO_WM_UNIT_TEXT_TYPE" val="1"/>
  <p:tag name="KSO_WM_UNIT_USESOURCEFORMAT_APPLY" val="1"/>
</p:tagLst>
</file>

<file path=ppt/tags/tag119.xml><?xml version="1.0" encoding="utf-8"?>
<p:tagLst xmlns:p="http://schemas.openxmlformats.org/presentationml/2006/main">
  <p:tag name="KSO_WM_DIAGRAM_VIRTUALLY_FRAME" val="{&quot;height&quot;:384.46875,&quot;width&quot;:764.2032470703125}"/>
  <p:tag name="KSO_WM_UNIT_HIGHLIGHT" val="0"/>
  <p:tag name="KSO_WM_UNIT_COMPATIBLE" val="0"/>
  <p:tag name="KSO_WM_UNIT_DIAGRAM_ISNUMVISUAL" val="0"/>
  <p:tag name="KSO_WM_UNIT_DIAGRAM_ISREFERUNIT" val="0"/>
  <p:tag name="KSO_WM_UNIT_ID" val="diagram20236924_3*n_h_h_f*1_2_5_1"/>
  <p:tag name="KSO_WM_TEMPLATE_CATEGORY" val="diagram"/>
  <p:tag name="KSO_WM_TEMPLATE_INDEX" val="20236924"/>
  <p:tag name="KSO_WM_UNIT_LAYERLEVEL" val="1_1_1_1"/>
  <p:tag name="KSO_WM_TAG_VERSION" val="3.0"/>
  <p:tag name="KSO_WM_BEAUTIFY_FLAG" val="#wm#"/>
  <p:tag name="KSO_WM_UNIT_SUBTYPE" val="a"/>
  <p:tag name="KSO_WM_UNIT_NOCLEAR" val="0"/>
  <p:tag name="KSO_WM_UNIT_VALUE" val="39"/>
  <p:tag name="KSO_WM_DIAGRAM_GROUP_CODE" val="n1-1"/>
  <p:tag name="KSO_WM_UNIT_TYPE" val="n_h_h_f"/>
  <p:tag name="KSO_WM_UNIT_INDEX" val="1_2_5_1"/>
  <p:tag name="KSO_WM_DIAGRAM_VERSION" val="3"/>
  <p:tag name="KSO_WM_DIAGRAM_COLOR_TRICK" val="1"/>
  <p:tag name="KSO_WM_DIAGRAM_COLOR_TEXT_CAN_REMOVE" val="n"/>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内容，简明扼要地阐述观点。根据需要可酌增减文字"/>
  <p:tag name="KSO_WM_UNIT_TEXT_FILL_FORE_SCHEMECOLOR_INDEX" val="1"/>
  <p:tag name="KSO_WM_UNIT_TEXT_FILL_TYPE" val="1"/>
  <p:tag name="KSO_WM_UNIT_TEXT_TYPE" val="1"/>
  <p:tag name="KSO_WM_UNIT_USESOURCEFORMAT_APPLY" val="1"/>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6924_3*n_h_i*1_1_1"/>
  <p:tag name="KSO_WM_TEMPLATE_CATEGORY" val="diagram"/>
  <p:tag name="KSO_WM_TEMPLATE_INDEX" val="20236924"/>
  <p:tag name="KSO_WM_UNIT_LAYERLEVEL" val="1_1_1"/>
  <p:tag name="KSO_WM_TAG_VERSION" val="3.0"/>
  <p:tag name="KSO_WM_BEAUTIFY_FLAG" val="#wm#"/>
  <p:tag name="KSO_WM_DIAGRAM_GROUP_CODE" val="n1-1"/>
  <p:tag name="KSO_WM_UNIT_TYPE" val="n_h_i"/>
  <p:tag name="KSO_WM_UNIT_INDEX" val="1_1_1"/>
  <p:tag name="KSO_WM_DIAGRAM_VERSION" val="3"/>
  <p:tag name="KSO_WM_DIAGRAM_COLOR_TRICK" val="1"/>
  <p:tag name="KSO_WM_DIAGRAM_COLOR_TEXT_CAN_REMOVE" val="n"/>
  <p:tag name="KSO_WM_DIAGRAM_MAX_ITEMCNT" val="5"/>
  <p:tag name="KSO_WM_DIAGRAM_MIN_ITEMCNT" val="3"/>
  <p:tag name="KSO_WM_DIAGRAM_VIRTUALLY_FRAME" val="{&quot;height&quot;:384.46875,&quot;width&quot;:764.2032470703125}"/>
  <p:tag name="KSO_WM_DIAGRAM_COLOR_MATCH_VALUE" val="{&quot;shape&quot;:{&quot;fill&quot;:{&quot;gradient&quot;:[{&quot;brightness&quot;:0,&quot;colorType&quot;:1,&quot;foreColorIndex&quot;:5,&quot;pos&quot;:0,&quot;transparency&quot;:0.949999988079071},{&quot;brightness&quot;:0,&quot;colorType&quot;:1,&quot;foreColorIndex&quot;:5,&quot;pos&quot;:1,&quot;transparency&quot;:0.800000011920929}],&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1"/>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6924_3*n_h_i*1_1_2"/>
  <p:tag name="KSO_WM_TEMPLATE_CATEGORY" val="diagram"/>
  <p:tag name="KSO_WM_TEMPLATE_INDEX" val="20236924"/>
  <p:tag name="KSO_WM_UNIT_LAYERLEVEL" val="1_1_1"/>
  <p:tag name="KSO_WM_TAG_VERSION" val="3.0"/>
  <p:tag name="KSO_WM_BEAUTIFY_FLAG" val="#wm#"/>
  <p:tag name="KSO_WM_DIAGRAM_GROUP_CODE" val="n1-1"/>
  <p:tag name="KSO_WM_UNIT_TYPE" val="n_h_i"/>
  <p:tag name="KSO_WM_UNIT_INDEX" val="1_1_2"/>
  <p:tag name="KSO_WM_DIAGRAM_VERSION" val="3"/>
  <p:tag name="KSO_WM_DIAGRAM_COLOR_TRICK" val="1"/>
  <p:tag name="KSO_WM_DIAGRAM_COLOR_TEXT_CAN_REMOVE" val="n"/>
  <p:tag name="KSO_WM_DIAGRAM_MAX_ITEMCNT" val="5"/>
  <p:tag name="KSO_WM_DIAGRAM_MIN_ITEMCNT" val="3"/>
  <p:tag name="KSO_WM_DIAGRAM_VIRTUALLY_FRAME" val="{&quot;height&quot;:384.46875,&quot;width&quot;:764.2032470703125}"/>
  <p:tag name="KSO_WM_DIAGRAM_COLOR_MATCH_VALUE" val="{&quot;shape&quot;:{&quot;fill&quot;:{&quot;gradient&quot;:[{&quot;brightness&quot;:0,&quot;colorType&quot;:1,&quot;foreColorIndex&quot;:5,&quot;pos&quot;:0,&quot;transparency&quot;:0.949999988079071},{&quot;brightness&quot;:0,&quot;colorType&quot;:1,&quot;foreColorIndex&quot;:5,&quot;pos&quot;:1,&quot;transparency&quot;:0.800000011920929}],&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1"/>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6924_3*n_h_a*1_1_1"/>
  <p:tag name="KSO_WM_TEMPLATE_CATEGORY" val="diagram"/>
  <p:tag name="KSO_WM_TEMPLATE_INDEX" val="20236924"/>
  <p:tag name="KSO_WM_UNIT_LAYERLEVEL" val="1_1_1"/>
  <p:tag name="KSO_WM_TAG_VERSION" val="3.0"/>
  <p:tag name="KSO_WM_BEAUTIFY_FLAG" val="#wm#"/>
  <p:tag name="KSO_WM_UNIT_ISCONTENTSTITLE" val="0"/>
  <p:tag name="KSO_WM_UNIT_ISNUMDGMTITLE" val="0"/>
  <p:tag name="KSO_WM_UNIT_NOCLEAR" val="0"/>
  <p:tag name="KSO_WM_UNIT_VALUE" val="20"/>
  <p:tag name="KSO_WM_DIAGRAM_GROUP_CODE" val="n1-1"/>
  <p:tag name="KSO_WM_UNIT_TYPE" val="n_h_a"/>
  <p:tag name="KSO_WM_UNIT_INDEX" val="1_1_1"/>
  <p:tag name="KSO_WM_DIAGRAM_VERSION" val="3"/>
  <p:tag name="KSO_WM_DIAGRAM_COLOR_TRICK" val="1"/>
  <p:tag name="KSO_WM_DIAGRAM_COLOR_TEXT_CAN_REMOVE" val="n"/>
  <p:tag name="KSO_WM_DIAGRAM_MAX_ITEMCNT" val="5"/>
  <p:tag name="KSO_WM_DIAGRAM_MIN_ITEMCNT" val="3"/>
  <p:tag name="KSO_WM_DIAGRAM_VIRTUALLY_FRAME" val="{&quot;height&quot;:384.46875,&quot;width&quot;:764.2032470703125}"/>
  <p:tag name="KSO_WM_DIAGRAM_COLOR_MATCH_VALUE" val="{&quot;shape&quot;:{&quot;fill&quot;:{&quot;gradient&quot;:[{&quot;brightness&quot;:0.4000000059604645,&quot;colorType&quot;:1,&quot;foreColorIndex&quot;:5,&quot;pos&quot;:0,&quot;transparency&quot;:0},{&quot;brightness&quot;:0,&quot;colorType&quot;:1,&quot;foreColorIndex&quot;:5,&quot;pos&quot;:0.699999988079071,&quot;transparency&quot;:0}],&quot;type&quot;:3},&quot;glow&quot;:{&quot;colorType&quot;:0},&quot;line&quot;:{&quot;type&quot;:0},&quot;shadow&quot;:{&quot;brightness&quot;:-0.25,&quot;colorType&quot;:1,&quot;foreColorIndex&quot;:5,&quot;transparency&quot;:0.699999988079071},&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FILL_TYPE" val="3"/>
  <p:tag name="KSO_WM_UNIT_TEXT_TYPE" val="1"/>
  <p:tag name="KSO_WM_UNIT_SHADOW_SCHEMECOLOR_INDEX" val="5"/>
  <p:tag name="KSO_WM_UNIT_USESOURCEFORMAT_APPLY" val="1"/>
</p:tagLst>
</file>

<file path=ppt/tags/tag123.xml><?xml version="1.0" encoding="utf-8"?>
<p:tagLst xmlns:p="http://schemas.openxmlformats.org/presentationml/2006/main">
  <p:tag name="KSO_WM_DIAGRAM_VIRTUALLY_FRAME" val="{&quot;height&quot;:384.46875,&quot;width&quot;:764.2032470703125}"/>
  <p:tag name="KSO_WM_UNIT_HIGHLIGHT" val="0"/>
  <p:tag name="KSO_WM_UNIT_COMPATIBLE" val="0"/>
  <p:tag name="KSO_WM_UNIT_DIAGRAM_ISNUMVISUAL" val="0"/>
  <p:tag name="KSO_WM_UNIT_DIAGRAM_ISREFERUNIT" val="0"/>
  <p:tag name="KSO_WM_UNIT_ID" val="diagram20236924_3*n_h_h_x*1_2_2_1"/>
  <p:tag name="KSO_WM_TEMPLATE_CATEGORY" val="diagram"/>
  <p:tag name="KSO_WM_TEMPLATE_INDEX" val="20236924"/>
  <p:tag name="KSO_WM_UNIT_LAYERLEVEL" val="1_1_1_1"/>
  <p:tag name="KSO_WM_TAG_VERSION" val="3.0"/>
  <p:tag name="KSO_WM_BEAUTIFY_FLAG" val="#wm#"/>
  <p:tag name="KSO_WM_UNIT_VALUE" val="88*82"/>
  <p:tag name="KSO_WM_DIAGRAM_GROUP_CODE" val="n1-1"/>
  <p:tag name="KSO_WM_UNIT_TYPE" val="n_h_h_x"/>
  <p:tag name="KSO_WM_UNIT_INDEX" val="1_2_2_1"/>
  <p:tag name="KSO_WM_DIAGRAM_VERSION" val="3"/>
  <p:tag name="KSO_WM_DIAGRAM_COLOR_TRICK" val="1"/>
  <p:tag name="KSO_WM_DIAGRAM_COLOR_TEXT_CAN_REMOVE" val="n"/>
  <p:tag name="KSO_WM_DIAGRAM_MAX_ITEMCNT" val="5"/>
  <p:tag name="KSO_WM_DIAGRAM_MIN_ITEMCNT" val="3"/>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TYPE" val="1"/>
  <p:tag name="KSO_WM_UNIT_USESOURCEFORMAT_APPLY" val="1"/>
</p:tagLst>
</file>

<file path=ppt/tags/tag124.xml><?xml version="1.0" encoding="utf-8"?>
<p:tagLst xmlns:p="http://schemas.openxmlformats.org/presentationml/2006/main">
  <p:tag name="KSO_WM_DIAGRAM_VIRTUALLY_FRAME" val="{&quot;height&quot;:384.46875,&quot;width&quot;:764.2032470703125}"/>
  <p:tag name="KSO_WM_UNIT_HIGHLIGHT" val="0"/>
  <p:tag name="KSO_WM_UNIT_COMPATIBLE" val="0"/>
  <p:tag name="KSO_WM_UNIT_DIAGRAM_ISNUMVISUAL" val="0"/>
  <p:tag name="KSO_WM_UNIT_DIAGRAM_ISREFERUNIT" val="0"/>
  <p:tag name="KSO_WM_UNIT_ID" val="diagram20236924_3*n_h_h_x*1_2_3_1"/>
  <p:tag name="KSO_WM_TEMPLATE_CATEGORY" val="diagram"/>
  <p:tag name="KSO_WM_TEMPLATE_INDEX" val="20236924"/>
  <p:tag name="KSO_WM_UNIT_LAYERLEVEL" val="1_1_1_1"/>
  <p:tag name="KSO_WM_TAG_VERSION" val="3.0"/>
  <p:tag name="KSO_WM_BEAUTIFY_FLAG" val="#wm#"/>
  <p:tag name="KSO_WM_UNIT_VALUE" val="88*88"/>
  <p:tag name="KSO_WM_DIAGRAM_GROUP_CODE" val="n1-1"/>
  <p:tag name="KSO_WM_UNIT_TYPE" val="n_h_h_x"/>
  <p:tag name="KSO_WM_UNIT_INDEX" val="1_2_3_1"/>
  <p:tag name="KSO_WM_DIAGRAM_VERSION" val="3"/>
  <p:tag name="KSO_WM_DIAGRAM_COLOR_TRICK" val="1"/>
  <p:tag name="KSO_WM_DIAGRAM_COLOR_TEXT_CAN_REMOVE" val="n"/>
  <p:tag name="KSO_WM_DIAGRAM_MAX_ITEMCNT" val="5"/>
  <p:tag name="KSO_WM_DIAGRAM_MIN_ITEMCNT" val="3"/>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TYPE" val="1"/>
  <p:tag name="KSO_WM_UNIT_USESOURCEFORMAT_APPLY" val="1"/>
</p:tagLst>
</file>

<file path=ppt/tags/tag125.xml><?xml version="1.0" encoding="utf-8"?>
<p:tagLst xmlns:p="http://schemas.openxmlformats.org/presentationml/2006/main">
  <p:tag name="KSO_WM_DIAGRAM_VIRTUALLY_FRAME" val="{&quot;height&quot;:384.46875,&quot;width&quot;:764.2032470703125}"/>
  <p:tag name="KSO_WM_UNIT_HIGHLIGHT" val="0"/>
  <p:tag name="KSO_WM_UNIT_COMPATIBLE" val="0"/>
  <p:tag name="KSO_WM_UNIT_DIAGRAM_ISNUMVISUAL" val="0"/>
  <p:tag name="KSO_WM_UNIT_DIAGRAM_ISREFERUNIT" val="0"/>
  <p:tag name="KSO_WM_UNIT_ID" val="diagram20236924_3*n_h_h_x*1_2_4_1"/>
  <p:tag name="KSO_WM_TEMPLATE_CATEGORY" val="diagram"/>
  <p:tag name="KSO_WM_TEMPLATE_INDEX" val="20236924"/>
  <p:tag name="KSO_WM_UNIT_LAYERLEVEL" val="1_1_1_1"/>
  <p:tag name="KSO_WM_TAG_VERSION" val="3.0"/>
  <p:tag name="KSO_WM_BEAUTIFY_FLAG" val="#wm#"/>
  <p:tag name="KSO_WM_UNIT_VALUE" val="82*88"/>
  <p:tag name="KSO_WM_DIAGRAM_GROUP_CODE" val="n1-1"/>
  <p:tag name="KSO_WM_UNIT_TYPE" val="n_h_h_x"/>
  <p:tag name="KSO_WM_UNIT_INDEX" val="1_2_4_1"/>
  <p:tag name="KSO_WM_DIAGRAM_VERSION" val="3"/>
  <p:tag name="KSO_WM_DIAGRAM_COLOR_TRICK" val="1"/>
  <p:tag name="KSO_WM_DIAGRAM_COLOR_TEXT_CAN_REMOVE" val="n"/>
  <p:tag name="KSO_WM_DIAGRAM_MAX_ITEMCNT" val="5"/>
  <p:tag name="KSO_WM_DIAGRAM_MIN_ITEMCNT" val="3"/>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TYPE" val="1"/>
  <p:tag name="KSO_WM_UNIT_USESOURCEFORMAT_APPLY" val="1"/>
</p:tagLst>
</file>

<file path=ppt/tags/tag126.xml><?xml version="1.0" encoding="utf-8"?>
<p:tagLst xmlns:p="http://schemas.openxmlformats.org/presentationml/2006/main">
  <p:tag name="KSO_WM_DIAGRAM_VIRTUALLY_FRAME" val="{&quot;height&quot;:384.46875,&quot;width&quot;:764.2032470703125}"/>
  <p:tag name="KSO_WM_UNIT_HIGHLIGHT" val="0"/>
  <p:tag name="KSO_WM_UNIT_COMPATIBLE" val="0"/>
  <p:tag name="KSO_WM_UNIT_DIAGRAM_ISNUMVISUAL" val="0"/>
  <p:tag name="KSO_WM_UNIT_DIAGRAM_ISREFERUNIT" val="0"/>
  <p:tag name="KSO_WM_UNIT_ID" val="diagram20236924_3*n_h_h_x*1_2_5_1"/>
  <p:tag name="KSO_WM_TEMPLATE_CATEGORY" val="diagram"/>
  <p:tag name="KSO_WM_TEMPLATE_INDEX" val="20236924"/>
  <p:tag name="KSO_WM_UNIT_LAYERLEVEL" val="1_1_1_1"/>
  <p:tag name="KSO_WM_TAG_VERSION" val="3.0"/>
  <p:tag name="KSO_WM_BEAUTIFY_FLAG" val="#wm#"/>
  <p:tag name="KSO_WM_UNIT_VALUE" val="78*84"/>
  <p:tag name="KSO_WM_DIAGRAM_GROUP_CODE" val="n1-1"/>
  <p:tag name="KSO_WM_UNIT_TYPE" val="n_h_h_x"/>
  <p:tag name="KSO_WM_UNIT_INDEX" val="1_2_5_1"/>
  <p:tag name="KSO_WM_DIAGRAM_VERSION" val="3"/>
  <p:tag name="KSO_WM_DIAGRAM_COLOR_TRICK" val="1"/>
  <p:tag name="KSO_WM_DIAGRAM_COLOR_TEXT_CAN_REMOVE" val="n"/>
  <p:tag name="KSO_WM_DIAGRAM_MAX_ITEMCNT" val="5"/>
  <p:tag name="KSO_WM_DIAGRAM_MIN_ITEMCNT" val="3"/>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TYPE" val="1"/>
  <p:tag name="KSO_WM_UNIT_USESOURCEFORMAT_APPLY" val="1"/>
</p:tagLst>
</file>

<file path=ppt/tags/tag127.xml><?xml version="1.0" encoding="utf-8"?>
<p:tagLst xmlns:p="http://schemas.openxmlformats.org/presentationml/2006/main">
  <p:tag name="KSO_WM_SLIDE_ID" val="diagram20236924_3"/>
  <p:tag name="KSO_WM_TEMPLATE_SUBCATEGORY" val="0"/>
  <p:tag name="KSO_WM_TEMPLATE_MASTER_TYPE" val="0"/>
  <p:tag name="KSO_WM_TEMPLATE_COLOR_TYPE" val="0"/>
  <p:tag name="KSO_WM_SLIDE_TYPE" val="text"/>
  <p:tag name="KSO_WM_SLIDE_SUBTYPE" val="diag"/>
  <p:tag name="KSO_WM_SLIDE_ITEM_CNT" val="5"/>
  <p:tag name="KSO_WM_SLIDE_INDEX" val="3"/>
  <p:tag name="KSO_WM_SLIDE_SIZE" val="754.6*384.469"/>
  <p:tag name="KSO_WM_SLIDE_POSITION" val="96.7074*117.58"/>
  <p:tag name="KSO_WM_TAG_VERSION" val="3.0"/>
  <p:tag name="KSO_WM_BEAUTIFY_FLAG" val="#wm#"/>
  <p:tag name="KSO_WM_TEMPLATE_CATEGORY" val="diagram"/>
  <p:tag name="KSO_WM_TEMPLATE_INDEX" val="20236924"/>
  <p:tag name="KSO_WM_DIAGRAM_GROUP_CODE" val="n1-1"/>
  <p:tag name="KSO_WM_SLIDE_DIAGTYPE" val="n"/>
  <p:tag name="KSO_WM_SLIDE_LAYOUT" val="a_n"/>
  <p:tag name="KSO_WM_SLIDE_LAYOUT_CNT" val="1_1"/>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PP_MARK_KEY" val="c1a56755-7a4e-4dd4-a45a-b5cf36d9aec7"/>
  <p:tag name="COMMONDATA" val="eyJoZGlkIjoiZDhmZjM3ZTZiYzVhZjRkYzFlNzUwYmM2YTkxODQ5OTUifQ=="/>
</p:tagLst>
</file>

<file path=ppt/theme/_rels/them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image" Target="../media/image4.jpeg"/></Relationships>
</file>

<file path=ppt/theme/theme1.xml><?xml version="1.0" encoding="utf-8"?>
<a:theme xmlns:a="http://schemas.openxmlformats.org/drawingml/2006/main" name="积分">
  <a:themeElements>
    <a:clrScheme name="蓝色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积分">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blipFill rotWithShape="1">
          <a:blip xmlns:r="http://schemas.openxmlformats.org/officeDocument/2006/relationships" r:embed="rId1">
            <a:duotone>
              <a:schemeClr val="phClr">
                <a:tint val="98000"/>
              </a:schemeClr>
              <a:schemeClr val="phClr">
                <a:shade val="89000"/>
                <a:satMod val="145000"/>
              </a:schemeClr>
            </a:duotone>
          </a:blip>
          <a:tile tx="0" ty="0" sx="32000" sy="32000" flip="none" algn="tl"/>
        </a:blipFill>
        <a:blipFill rotWithShape="1">
          <a:blip xmlns:r="http://schemas.openxmlformats.org/officeDocument/2006/relationships" r:embed="rId2">
            <a:duotone>
              <a:schemeClr val="phClr">
                <a:tint val="98000"/>
              </a:schemeClr>
              <a:schemeClr val="phClr">
                <a:shade val="95000"/>
              </a:schemeClr>
            </a:duotone>
          </a:blip>
          <a:tile tx="0" ty="0" sx="32000" sy="32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14877</Words>
  <Application>WPS 演示</Application>
  <PresentationFormat>全屏显示(16:9)</PresentationFormat>
  <Paragraphs>1635</Paragraphs>
  <Slides>109</Slides>
  <Notes>40</Notes>
  <HiddenSlides>0</HiddenSlides>
  <MMClips>0</MMClips>
  <ScaleCrop>false</ScaleCrop>
  <HeadingPairs>
    <vt:vector size="8" baseType="variant">
      <vt:variant>
        <vt:lpstr>已用的字体</vt:lpstr>
      </vt:variant>
      <vt:variant>
        <vt:i4>21</vt:i4>
      </vt:variant>
      <vt:variant>
        <vt:lpstr>主题</vt:lpstr>
      </vt:variant>
      <vt:variant>
        <vt:i4>1</vt:i4>
      </vt:variant>
      <vt:variant>
        <vt:lpstr>嵌入 OLE 服务器</vt:lpstr>
      </vt:variant>
      <vt:variant>
        <vt:i4>0</vt:i4>
      </vt:variant>
      <vt:variant>
        <vt:lpstr>幻灯片标题</vt:lpstr>
      </vt:variant>
      <vt:variant>
        <vt:i4>109</vt:i4>
      </vt:variant>
    </vt:vector>
  </HeadingPairs>
  <TitlesOfParts>
    <vt:vector size="131" baseType="lpstr">
      <vt:lpstr>Arial</vt:lpstr>
      <vt:lpstr>宋体</vt:lpstr>
      <vt:lpstr>Wingdings</vt:lpstr>
      <vt:lpstr>Wingdings 3</vt:lpstr>
      <vt:lpstr>Symbol</vt:lpstr>
      <vt:lpstr>微软雅黑</vt:lpstr>
      <vt:lpstr>华康俪金黑W8(P)</vt:lpstr>
      <vt:lpstr>黑体</vt:lpstr>
      <vt:lpstr>经典繁仿黑</vt:lpstr>
      <vt:lpstr>华文中宋</vt:lpstr>
      <vt:lpstr>Times New Roman</vt:lpstr>
      <vt:lpstr>Arial Black</vt:lpstr>
      <vt:lpstr>Arial Unicode MS</vt:lpstr>
      <vt:lpstr>等线</vt:lpstr>
      <vt:lpstr>Calibri</vt:lpstr>
      <vt:lpstr>隶书</vt:lpstr>
      <vt:lpstr>思源黑体 CN Normal</vt:lpstr>
      <vt:lpstr>MiSans Normal</vt:lpstr>
      <vt:lpstr>华文楷体</vt:lpstr>
      <vt:lpstr>Wingdings</vt:lpstr>
      <vt:lpstr>Symbol</vt:lpstr>
      <vt:lpstr>积分</vt:lpstr>
      <vt:lpstr>软件工程 ——需求分析</vt:lpstr>
      <vt:lpstr>前情回顾</vt:lpstr>
      <vt:lpstr>知识回顾</vt:lpstr>
      <vt:lpstr>新课引入</vt:lpstr>
      <vt:lpstr>本次课程速递</vt:lpstr>
      <vt:lpstr>PowerPoint 演示文稿</vt:lpstr>
      <vt:lpstr>案例：输入法</vt:lpstr>
      <vt:lpstr>软件的需求</vt:lpstr>
      <vt:lpstr>软件需求的类型</vt:lpstr>
      <vt:lpstr>需求的层次</vt:lpstr>
      <vt:lpstr>需求的层次案例</vt:lpstr>
      <vt:lpstr>需求的层次案例</vt:lpstr>
      <vt:lpstr>需求的层次案例</vt:lpstr>
      <vt:lpstr>需求的层次案例</vt:lpstr>
      <vt:lpstr>需求的层次案例</vt:lpstr>
      <vt:lpstr>需求的层次案例</vt:lpstr>
      <vt:lpstr>PowerPoint 演示文稿</vt:lpstr>
      <vt:lpstr>PowerPoint 演示文稿</vt:lpstr>
      <vt:lpstr>需求分析</vt:lpstr>
      <vt:lpstr>软件需求分析的任务</vt:lpstr>
      <vt:lpstr>PowerPoint 演示文稿</vt:lpstr>
      <vt:lpstr>思考</vt:lpstr>
      <vt:lpstr>案例：</vt:lpstr>
      <vt:lpstr>需求分析的困难</vt:lpstr>
      <vt:lpstr>需求分析的困难</vt:lpstr>
      <vt:lpstr>需求分析的困难</vt:lpstr>
      <vt:lpstr>需求分析的重要性</vt:lpstr>
      <vt:lpstr>需求分析的重要性</vt:lpstr>
      <vt:lpstr>需求分析的原则</vt:lpstr>
      <vt:lpstr>PowerPoint 演示文稿</vt:lpstr>
      <vt:lpstr>需求工程</vt:lpstr>
      <vt:lpstr>需求工程过程</vt:lpstr>
      <vt:lpstr>需求工程过程</vt:lpstr>
      <vt:lpstr>需求的内容</vt:lpstr>
      <vt:lpstr>需求的内容</vt:lpstr>
      <vt:lpstr>需求的内容</vt:lpstr>
      <vt:lpstr>需求内容的来源</vt:lpstr>
      <vt:lpstr>干系人(stakeholders)</vt:lpstr>
      <vt:lpstr>干系人(stakeholders)</vt:lpstr>
      <vt:lpstr>干系人	</vt:lpstr>
      <vt:lpstr>业务过程</vt:lpstr>
      <vt:lpstr>组织规章制度</vt:lpstr>
      <vt:lpstr>现有系统</vt:lpstr>
      <vt:lpstr>PowerPoint 演示文稿</vt:lpstr>
      <vt:lpstr>需求获取</vt:lpstr>
      <vt:lpstr>需求获取技术</vt:lpstr>
      <vt:lpstr>软件需求获取方法应用现状调查</vt:lpstr>
      <vt:lpstr>需求获取的方法</vt:lpstr>
      <vt:lpstr>面谈技巧</vt:lpstr>
      <vt:lpstr>面谈的优缺点</vt:lpstr>
      <vt:lpstr>群体诱导技术</vt:lpstr>
      <vt:lpstr>群体诱导技术的优缺点</vt:lpstr>
      <vt:lpstr>问卷调查</vt:lpstr>
      <vt:lpstr>需求研讨会</vt:lpstr>
      <vt:lpstr>会议</vt:lpstr>
      <vt:lpstr>原型</vt:lpstr>
      <vt:lpstr>情景分析</vt:lpstr>
      <vt:lpstr>需求获取的方法</vt:lpstr>
      <vt:lpstr>需求获取的方法</vt:lpstr>
      <vt:lpstr>需求获取的方法</vt:lpstr>
      <vt:lpstr>需求获取的内容</vt:lpstr>
      <vt:lpstr>展开需求调研，收集需求</vt:lpstr>
      <vt:lpstr>需求调研的三个层次</vt:lpstr>
      <vt:lpstr>需求调研的三个层次</vt:lpstr>
      <vt:lpstr>需求调研的三个层次</vt:lpstr>
      <vt:lpstr>执行要点与注意事项：</vt:lpstr>
      <vt:lpstr>需求调研方式</vt:lpstr>
      <vt:lpstr>需求调研方式</vt:lpstr>
      <vt:lpstr>需求调研方式</vt:lpstr>
      <vt:lpstr>需求调研方式</vt:lpstr>
      <vt:lpstr>需求获取的技巧</vt:lpstr>
      <vt:lpstr>需求获取的技巧</vt:lpstr>
      <vt:lpstr>PowerPoint 演示文稿</vt:lpstr>
      <vt:lpstr>需求分析建模</vt:lpstr>
      <vt:lpstr>需求分析模型</vt:lpstr>
      <vt:lpstr>需求分析建模的过程</vt:lpstr>
      <vt:lpstr>需求导出和分析过程的模型</vt:lpstr>
      <vt:lpstr>需求建模技术</vt:lpstr>
      <vt:lpstr>需求建模技术</vt:lpstr>
      <vt:lpstr>需求建模技术</vt:lpstr>
      <vt:lpstr>PowerPoint 演示文稿</vt:lpstr>
      <vt:lpstr>需求规格说明</vt:lpstr>
      <vt:lpstr>需求规格说明</vt:lpstr>
      <vt:lpstr>PowerPoint 演示文稿</vt:lpstr>
      <vt:lpstr>需求验证</vt:lpstr>
      <vt:lpstr>需求验证的方法</vt:lpstr>
      <vt:lpstr>需求评审的标准</vt:lpstr>
      <vt:lpstr>需求文档的陈述与改进举例一</vt:lpstr>
      <vt:lpstr>需求文档的陈述与改进举例二</vt:lpstr>
      <vt:lpstr>PowerPoint 演示文稿</vt:lpstr>
      <vt:lpstr>需求变更</vt:lpstr>
      <vt:lpstr>需求变更管理</vt:lpstr>
      <vt:lpstr>需求分析案例</vt:lpstr>
      <vt:lpstr>需求分析步骤</vt:lpstr>
      <vt:lpstr>网上报名系统的第一次访谈提纲</vt:lpstr>
      <vt:lpstr>网上报名系统的第一次访谈提纲</vt:lpstr>
      <vt:lpstr>网上报名系统的第一次访谈提纲</vt:lpstr>
      <vt:lpstr>网上报名系统的第一次访谈提纲</vt:lpstr>
      <vt:lpstr>网上报名系统的第一次访谈提纲</vt:lpstr>
      <vt:lpstr>网上报名系统的第一次访谈提纲</vt:lpstr>
      <vt:lpstr>网上报名系统的第一次访谈记录（节选）</vt:lpstr>
      <vt:lpstr>网上报名系统的第一次访谈记录（节选）</vt:lpstr>
      <vt:lpstr>访谈需要注意的是</vt:lpstr>
      <vt:lpstr>本项目中增加的需求</vt:lpstr>
      <vt:lpstr>网上报名系统的需求模型</vt:lpstr>
      <vt:lpstr>本课小结</vt:lpstr>
      <vt:lpstr>课后作业</vt:lpstr>
      <vt:lpstr>实验任务</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试播内容</dc:title>
  <dc:creator>HUAWEI</dc:creator>
  <cp:lastModifiedBy>957</cp:lastModifiedBy>
  <cp:revision>805</cp:revision>
  <dcterms:created xsi:type="dcterms:W3CDTF">2020-02-07T06:58:00Z</dcterms:created>
  <dcterms:modified xsi:type="dcterms:W3CDTF">2026-04-14T10:41:18Z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3D7290F03C7B41BFB8215014FDE51C12</vt:lpwstr>
  </property>
  <property fmtid="{D5CDD505-2E9C-101B-9397-08002B2CF9AE}" pid="3" name="KSOProductBuildVer">
    <vt:lpwstr>2052-12.1.0.25225</vt:lpwstr>
  </property>
</Properties>
</file>